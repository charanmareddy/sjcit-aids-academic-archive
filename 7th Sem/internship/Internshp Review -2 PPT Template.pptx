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5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403" y="2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0AAFE-5452-404D-A5EF-BBD2A843F00E}" type="datetimeFigureOut">
              <a:rPr lang="en-US" smtClean="0"/>
              <a:pPr/>
              <a:t>5/20/2026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3170F-3F13-40C3-AA99-9606C33C3A9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8190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912B9-0EAB-4013-A65A-55D4015770A9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2FEE1-51CA-43C9-938B-49AF2900FD4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915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8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2C447C-AB27-5626-922D-47BD899A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CD0A0E2-4D95-9D85-CB90-C6E68371E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1AE3F52-F84A-6DA3-756E-9411FDB25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68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5B98AC7-04B6-F8B7-93B1-1690F5D0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12D4F58-2E0F-C191-8C1C-F7167B3CE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E76A75B-28E8-4874-DE5E-1323EA488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41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10A90E7-A6A7-A101-5B13-B47D2CF7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9935700-0CCF-92ED-A361-02927E930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276BD38-073D-32C9-7BF3-79B0D8CFE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42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F890E91-80B9-A8AD-F22B-4EEF6B06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239CCF3-5633-8B97-311F-E5677253F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B11F54D-CE08-5812-2B96-5766E81FC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31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53D4AE-33D9-7E49-D96A-5155975B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485F06A3-1D85-6FB9-D818-BBA1A25D8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DBF701FB-2910-3304-C266-F4EFF6678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66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EE3B5F3-B55E-3EC7-8F70-BDDAC24B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1A45EBE-F52F-5EFC-9EA8-E74E3A2D1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9043DF9-90BD-4A75-3805-5FE1A9B21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25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4985BEF-4543-6253-A876-594FCCA8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53BE216-10EA-884F-E797-E55BF8735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8FE44B4-C6A7-C284-91E6-EAAD2F53A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82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CD34FD9-754E-1002-E8C5-BCDF1061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4B6FFCE-20DC-0D9F-07C6-9C1109BDF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6B8B65B-4FBB-4863-CF6E-560BFB3A7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6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253A02-97B4-91E1-0A8F-FE9B25AA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4AA4E6-E1DD-7D0D-D954-63DE7C4E8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DB06E686-4053-5E11-A5C8-9FCBD6AD1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83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39F697-B834-9C90-6200-C6A43BA3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C9CF07ED-727B-43E3-1B0F-B1F23657D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D8C1FF5-E2AE-F50D-EEC9-FC468DEA5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10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D986F1-A6D1-7804-ACBB-124D977F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8CF7D83-918E-15BB-E10B-44FF7527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3CE45D0-B941-A49A-B588-62091DFB5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6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A606932-6DF3-E9EC-90A8-D465FBA1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80375CD9-A729-CFA4-A814-67A48AD19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5A5471BD-B031-CF2C-BD12-284FBE8E7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518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2507-6A90-4441-9DE6-04502E4C8D10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91A3-4767-4FBA-97F1-C927D9BFFEBD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1D45-6859-4450-95BA-E575A5543F0A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57C-2CFA-47BC-B64C-DF082C20AF59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D561-30F8-429F-BADD-82BA53767AB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FBFE-1F71-4879-B5CC-7E04AD84EBF1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746D-5BB5-4D72-B0CB-535866C8FEDE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D7BF-433D-4A8B-A1CA-418DA45F99AE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2EFD-9D1D-4AE2-B095-84AA2EB4BF6B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97BC-9650-466D-BC7C-36FD76B45B25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7E25-06DA-4381-997C-F840345CDA26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F48D-CB33-4391-A693-4F49D4BBB3FF}" type="datetime1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96" y="2786058"/>
            <a:ext cx="11737304" cy="857256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chemeClr val="bg1"/>
                </a:solidFill>
              </a:rPr>
              <a:t>Python with Data </a:t>
            </a:r>
            <a:r>
              <a:rPr lang="en-IN" sz="3600" b="1" dirty="0" err="1" smtClean="0">
                <a:solidFill>
                  <a:schemeClr val="bg1"/>
                </a:solidFill>
              </a:rPr>
              <a:t>SCience</a:t>
            </a:r>
            <a:endParaRPr lang="en-IN" sz="3600" dirty="0">
              <a:solidFill>
                <a:schemeClr val="bg1"/>
              </a:solidFill>
              <a:latin typeface="Bahnschrift SemiBold SemiConde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084" y="5500702"/>
            <a:ext cx="11762572" cy="1121058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n-IN" sz="2000" dirty="0">
                <a:solidFill>
                  <a:schemeClr val="tx1"/>
                </a:solidFill>
                <a:latin typeface="Bahnschrift Light" pitchFamily="34" charset="0"/>
              </a:rPr>
              <a:t>Under the Guidance of </a:t>
            </a:r>
          </a:p>
          <a:p>
            <a:r>
              <a:rPr lang="en-IN" sz="2000" dirty="0" err="1" smtClean="0">
                <a:solidFill>
                  <a:schemeClr val="tx1"/>
                </a:solidFill>
                <a:latin typeface="Arial Black" pitchFamily="34" charset="0"/>
              </a:rPr>
              <a:t>Badrinath</a:t>
            </a:r>
            <a:r>
              <a:rPr lang="en-IN" sz="2000" dirty="0" smtClean="0">
                <a:solidFill>
                  <a:schemeClr val="tx1"/>
                </a:solidFill>
                <a:latin typeface="Arial Black" pitchFamily="34" charset="0"/>
              </a:rPr>
              <a:t> K</a:t>
            </a:r>
            <a:endParaRPr lang="en-IN" sz="1400" dirty="0">
              <a:solidFill>
                <a:schemeClr val="tx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IN" sz="14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Assistant Professor, </a:t>
            </a:r>
            <a:r>
              <a:rPr lang="en-IN" sz="14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Dept</a:t>
            </a:r>
            <a:r>
              <a:rPr lang="en-IN" sz="14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of AI&amp;DS</a:t>
            </a:r>
            <a:endParaRPr lang="en-IN" sz="1400" dirty="0">
              <a:solidFill>
                <a:schemeClr val="tx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SJC Institute of Technology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28601"/>
            <a:ext cx="11737304" cy="19042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52926" y="2273357"/>
            <a:ext cx="270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Internship : </a:t>
            </a:r>
            <a:r>
              <a:rPr lang="en-IN" sz="2400" b="1" dirty="0" smtClean="0">
                <a:solidFill>
                  <a:srgbClr val="FFC000"/>
                </a:solidFill>
              </a:rPr>
              <a:t>Review</a:t>
            </a:r>
            <a:endParaRPr lang="en-IN" sz="2400" b="1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78319" y="3786190"/>
            <a:ext cx="4307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C000"/>
                </a:solidFill>
              </a:rPr>
              <a:t>Presented By</a:t>
            </a:r>
          </a:p>
          <a:p>
            <a:r>
              <a:rPr lang="en-IN" b="1" dirty="0" smtClean="0">
                <a:solidFill>
                  <a:schemeClr val="bg1"/>
                </a:solidFill>
              </a:rPr>
              <a:t>Mareddy Charan </a:t>
            </a:r>
            <a:r>
              <a:rPr lang="en-IN" b="1" dirty="0">
                <a:solidFill>
                  <a:schemeClr val="bg1"/>
                </a:solidFill>
              </a:rPr>
              <a:t>	                    </a:t>
            </a:r>
            <a:r>
              <a:rPr lang="en-IN" b="1" dirty="0" smtClean="0">
                <a:solidFill>
                  <a:schemeClr val="bg1"/>
                </a:solidFill>
              </a:rPr>
              <a:t>1SJ22AD024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45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/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 smtClean="0">
                  <a:solidFill>
                    <a:schemeClr val="bg1"/>
                  </a:solidFill>
                </a:rPr>
                <a:t>Python with Data Science</a:t>
              </a:r>
              <a:r>
                <a:rPr lang="en-IN" sz="2000" b="1" dirty="0">
                  <a:solidFill>
                    <a:schemeClr val="bg1"/>
                  </a:solidFill>
                </a:rPr>
                <a:t>										</a:t>
              </a:r>
              <a:r>
                <a:rPr lang="en-IN" sz="2000" b="1" dirty="0" smtClean="0">
                  <a:solidFill>
                    <a:schemeClr val="bg1"/>
                  </a:solidFill>
                  <a:latin typeface="Agency FB" pitchFamily="34" charset="0"/>
                </a:rPr>
                <a:t>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/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2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b="1" dirty="0">
                <a:solidFill>
                  <a:schemeClr val="tx1"/>
                </a:solidFill>
              </a:rPr>
              <a:t>Contents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IN" sz="2300" dirty="0">
                <a:solidFill>
                  <a:schemeClr val="tx1"/>
                </a:solidFill>
              </a:rPr>
              <a:t>Organization Overview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IN" sz="2300" dirty="0">
                <a:solidFill>
                  <a:schemeClr val="tx1"/>
                </a:solidFill>
              </a:rPr>
              <a:t>Internship Details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IN" sz="2300" dirty="0">
                <a:solidFill>
                  <a:schemeClr val="tx1"/>
                </a:solidFill>
              </a:rPr>
              <a:t>Objectives of Internship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IN" sz="2300" dirty="0">
                <a:solidFill>
                  <a:schemeClr val="tx1"/>
                </a:solidFill>
              </a:rPr>
              <a:t>Technologies &amp; Tools Used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Project Title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Project Description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System Architecture / Design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Methodology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Implementation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Results &amp; Outcomes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Conclusion</a:t>
            </a:r>
          </a:p>
          <a:p>
            <a:pPr marL="914400" lvl="1" indent="-457200" algn="l" fontAlgn="base">
              <a:buFont typeface="+mj-lt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Future Work</a:t>
            </a:r>
          </a:p>
          <a:p>
            <a:pPr marL="914400" lvl="1" indent="-457200" algn="l" fontAlgn="base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CC0E9AD4-896C-62E1-263B-4434348A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47C42D1A-315A-53F5-0353-9D9FB7366E0C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256542AC-4FAD-55B2-E54A-E3C16AA1AB1A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 smtClean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9349D346-3550-FA0B-29E0-1F6E7B987983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3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4BA5ADF2-A120-3A09-D716-2D1C00843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 lnSpcReduction="10000"/>
          </a:bodyPr>
          <a:lstStyle/>
          <a:p>
            <a:pPr algn="l" fontAlgn="base"/>
            <a:r>
              <a:rPr lang="en-IN" sz="2700" b="1" dirty="0">
                <a:solidFill>
                  <a:schemeClr val="tx1"/>
                </a:solidFill>
              </a:rPr>
              <a:t>Organization </a:t>
            </a:r>
            <a:r>
              <a:rPr lang="en-IN" sz="2700" b="1" dirty="0" smtClean="0">
                <a:solidFill>
                  <a:schemeClr val="tx1"/>
                </a:solidFill>
              </a:rPr>
              <a:t>Overview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PySpiders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PySpiders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training institute based in Bengaluru, focused on providing industry-oriented education in Python and software development, helping students bridge the gap between academics and real-world IT skills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Focus: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Development, Data Science, Software Testing, and Industrial Training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Services:</a:t>
            </a:r>
          </a:p>
          <a:p>
            <a:pPr lvl="1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IT internships and academic projects Corporate training and placement incubation.</a:t>
            </a:r>
          </a:p>
          <a:p>
            <a:pPr lvl="1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Specialized training in Python, Data Science, Machine Learning, and Full Stack Development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 &amp; Recognition: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of the </a:t>
            </a: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QSpiders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</a:t>
            </a:r>
          </a:p>
          <a:p>
            <a:pPr lvl="1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Recognized globally as one of the largest software training and placement organizations </a:t>
            </a:r>
          </a:p>
          <a:p>
            <a:pPr lvl="1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Extensive global network of training centers with thousands of successful student placements annually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Headquarters / Branch: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Basavanagudi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Bengaluru</a:t>
            </a:r>
          </a:p>
          <a:p>
            <a:pPr lvl="1" algn="l" fontAlgn="base"/>
            <a:endParaRPr lang="en-IN" sz="23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DF0A3A5-0B4F-303F-3043-5EE61DD92F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22548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A35D9F1F-9D0E-3D6E-1513-60F55ED6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186E5694-009F-8590-A888-BA0ECA9C9B31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5C0BBFEC-30DA-1998-6336-AD452F75CD55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 smtClean="0">
                  <a:solidFill>
                    <a:schemeClr val="bg1"/>
                  </a:solidFill>
                </a:rPr>
                <a:t> Python </a:t>
              </a:r>
              <a:r>
                <a:rPr lang="en-IN" sz="2000" b="1" dirty="0">
                  <a:solidFill>
                    <a:schemeClr val="bg1"/>
                  </a:solidFill>
                </a:rPr>
                <a:t>with Data Science 					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433EED08-3203-DDB2-E438-CDCF61D19039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4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418A2FC3-A0E9-C6B7-EDFD-370DA3B80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/>
          </a:bodyPr>
          <a:lstStyle/>
          <a:p>
            <a:pPr algn="l" fontAlgn="base"/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lang="en-IN" sz="3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PySpiders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with Data Science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Months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 Trainee</a:t>
            </a:r>
          </a:p>
          <a:p>
            <a:pPr lvl="1" algn="l" fontAlgn="base"/>
            <a:endParaRPr lang="en-US" sz="2000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927FB6D-EF29-8DE0-F7BA-205DEBFE14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89023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9B58EBD1-61EA-83C4-072B-E3CE0D19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07A12604-9121-6CDA-3020-56720D7CD5D5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098D39D5-55AB-CFDA-B028-A62EC1012C20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									</a:t>
              </a:r>
              <a:r>
                <a:rPr lang="en-IN" sz="2000" b="1" dirty="0" smtClean="0">
                  <a:solidFill>
                    <a:schemeClr val="bg1"/>
                  </a:solidFill>
                  <a:latin typeface="Agency FB" pitchFamily="34" charset="0"/>
                </a:rPr>
                <a:t>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D9754979-C076-788F-7395-C871A9016234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5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C6E4EC5E-DC53-9C84-B0DB-B9B841C13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/>
          </a:bodyPr>
          <a:lstStyle/>
          <a:p>
            <a:pPr algn="l" fontAlgn="base"/>
            <a:r>
              <a:rPr lang="en-IN" sz="2700" b="1" dirty="0">
                <a:solidFill>
                  <a:schemeClr val="tx1"/>
                </a:solidFill>
              </a:rPr>
              <a:t>Objectives of </a:t>
            </a:r>
            <a:r>
              <a:rPr lang="en-IN" sz="2700" b="1" dirty="0" smtClean="0">
                <a:solidFill>
                  <a:schemeClr val="tx1"/>
                </a:solidFill>
              </a:rPr>
              <a:t>Internship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Core Python: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Gain hands-on proficiency in Python programming and logic building.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 to effectively use libraries like Pandas and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clean, structure, and process raw data.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 the ability to analyze datasets and uncover hidden patterns.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 clear and meaningful visual representations of data using tools like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ML: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the necessary data wrangling skills required to train Machine Learning models in the next phase of the internship.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 relational database concepts and master writing queries to extract and manipulate data using Oracle SQL.</a:t>
            </a:r>
          </a:p>
          <a:p>
            <a:pPr algn="just">
              <a:lnSpc>
                <a:spcPct val="16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fontAlgn="base"/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B84E917-73A3-E280-B07B-D4A9BCC669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679" y="188640"/>
            <a:ext cx="2621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Python with Data Science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994689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61AE4F8F-17B7-B5C2-91A6-4FB66550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09BECD0E-72D2-F24E-021D-A9D896BBB601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C5CA9CC2-0BDE-249D-C628-68B6B238D5AC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 smtClean="0">
                  <a:solidFill>
                    <a:schemeClr val="bg1"/>
                  </a:solidFill>
                </a:rPr>
                <a:t>Python with Data Science</a:t>
              </a:r>
              <a:r>
                <a:rPr lang="en-IN" sz="2000" b="1" dirty="0">
                  <a:solidFill>
                    <a:schemeClr val="bg1"/>
                  </a:solidFill>
                </a:rPr>
                <a:t>										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F9CF4F87-FC55-1D5F-1EF2-A2C8D081A9B2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6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784C10AA-60A4-AA41-B551-D2A834A58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 fontScale="92500" lnSpcReduction="10000"/>
          </a:bodyPr>
          <a:lstStyle/>
          <a:p>
            <a:pPr algn="l" fontAlgn="base"/>
            <a:r>
              <a:rPr lang="en-IN" sz="3000" b="1" dirty="0">
                <a:solidFill>
                  <a:schemeClr val="tx1"/>
                </a:solidFill>
              </a:rPr>
              <a:t>Technologies &amp; Tools Used</a:t>
            </a:r>
          </a:p>
          <a:p>
            <a:pPr marL="914400" lvl="1" indent="-457200" algn="l" fontAlgn="base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Language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Python (3.10+)</a:t>
            </a: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Frontend/UI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</a:t>
            </a:r>
            <a:r>
              <a:rPr lang="en-IN" sz="2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(LLM &amp; Vectorization)</a:t>
            </a: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Pandas,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Parsers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PyPDF2 (PDF) and python-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(Word)</a:t>
            </a: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Tiktoken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(Token-aware document chunking)</a:t>
            </a:r>
          </a:p>
          <a:p>
            <a:pPr algn="l">
              <a:lnSpc>
                <a:spcPct val="150000"/>
              </a:lnSpc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fontAlgn="base"/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BB6EC0A-4C83-AFB8-E5C7-08F45649B5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53278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98BD3FDF-86DF-F24D-91FA-130667DD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F8304650-9232-B9AB-C63C-8E1553018193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231B7746-6798-2C85-3E32-7C03EAF9BE9B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F5394EC6-241B-19D5-6E89-A65DF68C147F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7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B43232A0-9017-8295-D986-53777AC93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algn="l">
              <a:lnSpc>
                <a:spcPct val="150000"/>
              </a:lnSpc>
            </a:pPr>
            <a:r>
              <a:rPr lang="en-IN" sz="2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Data Analyst </a:t>
            </a:r>
            <a:r>
              <a:rPr lang="en-IN" sz="2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IN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lightweight, high-accuracy conversational assistant for data interpretation. </a:t>
            </a:r>
            <a:endParaRPr lang="en-US" sz="25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IN" sz="2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Highlights: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</a:pPr>
            <a:r>
              <a:rPr lang="en-IN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IN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 Retrieval-Augmented Generation (RAG)</a:t>
            </a:r>
          </a:p>
          <a:p>
            <a:pPr lvl="1" algn="l">
              <a:lnSpc>
                <a:spcPct val="150000"/>
              </a:lnSpc>
            </a:pPr>
            <a:r>
              <a:rPr lang="en-IN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IN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Multi-format support (PDF, CSV, TXT, DOCX)</a:t>
            </a:r>
          </a:p>
          <a:p>
            <a:pPr lvl="1" algn="l">
              <a:lnSpc>
                <a:spcPct val="150000"/>
              </a:lnSpc>
            </a:pPr>
            <a:r>
              <a:rPr lang="en-IN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IN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Token-aware processing and source-cited data reliability</a:t>
            </a:r>
          </a:p>
          <a:p>
            <a:pPr lvl="1" algn="l" fontAlgn="base"/>
            <a:endParaRPr lang="en-US" sz="2000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EDCD592-7792-BB10-2D4B-463EAC83BB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43382"/>
      </p:ext>
    </p:extLst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1AD08216-1D4F-678C-FAC9-F7784A80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FB8FA484-16FB-DAFA-2246-A43F6E4A0D77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059CCAF4-68DF-E0D6-0F56-2FE6BC74DE5A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B8BF8304-5804-8E1C-8041-24B20F124F05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8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CCB924DB-2675-E8EE-CA25-194CBCB0D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/>
          </a:bodyPr>
          <a:lstStyle/>
          <a:p>
            <a:pPr lvl="1" algn="l" fontAlgn="base"/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914400" lvl="1" indent="-45720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</a:t>
            </a:r>
            <a:r>
              <a:rPr lang="en-IN" sz="2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built to act as a conversational data assistant.</a:t>
            </a:r>
          </a:p>
          <a:p>
            <a:pPr marL="914400" lvl="1" indent="-45720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file formats including PDF, CSV, TXT, and </a:t>
            </a: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DOCX.</a:t>
            </a:r>
          </a:p>
          <a:p>
            <a:pPr marL="914400" lvl="1" indent="-45720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custom embedding and retrieval pipeline to ensure fast, reliable performance without heavy frameworks.</a:t>
            </a:r>
          </a:p>
          <a:p>
            <a:pPr lvl="1" algn="l" fontAlgn="base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CBD3655-48B1-6C38-0274-1EB06A3BAF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00277"/>
      </p:ext>
    </p:extLst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23F0774A-E12D-1AED-CA7B-DB0EB937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99FFE6A3-AD8D-5958-17D5-FCCDF50F1D0D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F8484DE5-16F4-26B4-F719-BDE075F81D19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41137660-F801-1530-0AA3-B391A0E9F6A4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9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5ADE5E27-141F-4C5A-85A4-841F9396C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/>
          </a:bodyPr>
          <a:lstStyle/>
          <a:p>
            <a:pPr lvl="1" algn="l" fontAlgn="base"/>
            <a:r>
              <a:rPr lang="en-US" sz="2300" b="1" dirty="0">
                <a:solidFill>
                  <a:schemeClr val="tx1"/>
                </a:solidFill>
              </a:rPr>
              <a:t>System Architecture / Design</a:t>
            </a:r>
          </a:p>
          <a:p>
            <a:pPr lvl="1" algn="l" fontAlgn="base"/>
            <a:endParaRPr lang="en-US" sz="2000" dirty="0" smtClean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6CBF1ED-5A7B-D4E2-F9D2-17E94CF59C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340768"/>
            <a:ext cx="7469188" cy="504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7926777"/>
      </p:ext>
    </p:extLst>
  </p:cSld>
  <p:clrMapOvr>
    <a:masterClrMapping/>
  </p:clrMapOvr>
  <p:transition spd="med"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355516-D56A-25E3-946E-FBDEB4DD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C5983942-3A3B-BF01-A95B-BE939CF1A931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DEEF8EBE-E083-3D1A-7137-4D018A8D9FEE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730FA591-C2E5-B562-A3AD-330D3C82A26C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10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4B59DC1A-C122-A7B4-ADC8-FB0F459C1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538122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300" b="1" dirty="0" smtClean="0">
                <a:solidFill>
                  <a:schemeClr val="tx1"/>
                </a:solidFill>
              </a:rPr>
              <a:t>Methodology</a:t>
            </a:r>
          </a:p>
          <a:p>
            <a:pPr algn="just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Setting the 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a clean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connection to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AI power and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user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interface.</a:t>
            </a:r>
          </a:p>
          <a:p>
            <a:pPr algn="just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Smart Data 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"parsers" to read text from different files like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docs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make sure data from spreadsheets was handled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correctly.</a:t>
            </a:r>
          </a:p>
          <a:p>
            <a:pPr algn="just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Breaking Down Documents (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Chunking)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Tiktoken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cut long documents into smaller, exact pieces called "chunks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the AI never gets "overwhelmed" by too much text at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once.</a:t>
            </a:r>
          </a:p>
          <a:p>
            <a:pPr algn="just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The Search Engine (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RAG)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Turned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chunks into mathematical "vectors" using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quickly find which part of the document matches the user's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question.</a:t>
            </a:r>
          </a:p>
          <a:p>
            <a:pPr algn="just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 Generating the 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the most relevant document parts to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 System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tells the user exactly which page or chunk the answer came from.</a:t>
            </a:r>
          </a:p>
          <a:p>
            <a:pPr algn="just">
              <a:lnSpc>
                <a:spcPct val="120000"/>
              </a:lnSpc>
            </a:pPr>
            <a:endParaRPr lang="en-US" sz="2300" b="1" dirty="0">
              <a:solidFill>
                <a:schemeClr val="tx1"/>
              </a:solidFill>
            </a:endParaRPr>
          </a:p>
          <a:p>
            <a:pPr lvl="1" algn="l" fontAlgn="base"/>
            <a:endParaRPr lang="en-US" sz="2000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263A69B-C67D-BC5D-B63D-C83FDB2E2D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83943"/>
      </p:ext>
    </p:extLst>
  </p:cSld>
  <p:clrMapOvr>
    <a:masterClrMapping/>
  </p:clrMapOvr>
  <p:transition spd="med"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FD30796C-D75B-9DD5-51D8-4C78D5F4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D7BD6006-7022-DE2F-B683-CAD63F2F2E21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C43E4F23-CF63-76C3-8794-FEFB11A2593C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04BB66F6-2B53-0CD7-0488-3A9F859D1319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11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CA01E563-F4F8-C3DA-4AFC-2E1F98D55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 fontScale="77500" lnSpcReduction="20000"/>
          </a:bodyPr>
          <a:lstStyle/>
          <a:p>
            <a:pPr algn="l" fontAlgn="base"/>
            <a:r>
              <a:rPr lang="en-US" sz="29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l" fontAlgn="base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Building the 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simple web page where users can upload files and chat with the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AI.</a:t>
            </a:r>
          </a:p>
          <a:p>
            <a:pPr algn="l" fontAlgn="base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Processing 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PyPDF2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"read" text from PDFs and Word documents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automatically.</a:t>
            </a:r>
          </a:p>
          <a:p>
            <a:pPr algn="l" fontAlgn="base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Creating the Search 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build a fast search system that finds the right information in a split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second.</a:t>
            </a:r>
          </a:p>
          <a:p>
            <a:pPr algn="l" fontAlgn="base">
              <a:lnSpc>
                <a:spcPct val="120000"/>
              </a:lnSpc>
            </a:pP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Connecting the AI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the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backend so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"understand" questions and give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human-like answers</a:t>
            </a:r>
          </a:p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Testing and Quality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run automatic checks, making sure the code doesn't crash when a user uploads a weird or empty file.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sz="29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0D99336-C020-4FA7-F287-48DC3111F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222"/>
      </p:ext>
    </p:extLst>
  </p:cSld>
  <p:clrMapOvr>
    <a:masterClrMapping/>
  </p:clrMapOvr>
  <p:transition spd="med">
    <p:pull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10D476EF-7D5B-4F73-1A37-69E79CF8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81A34C26-9E09-F254-4FE4-FF7C34360283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D16DF3C6-C62A-B751-C90D-EFCA5DFC1095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F4DD0AC6-9DAD-3A66-A478-C23C204D9166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12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06CB2945-B469-67EE-33BB-296BD129B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/>
          </a:bodyPr>
          <a:lstStyle/>
          <a:p>
            <a:pPr algn="l" fontAlgn="base"/>
            <a:r>
              <a:rPr lang="en-US" sz="2700" b="1" dirty="0">
                <a:solidFill>
                  <a:schemeClr val="tx1"/>
                </a:solidFill>
              </a:rPr>
              <a:t>Results &amp; Outcomes</a:t>
            </a:r>
          </a:p>
          <a:p>
            <a:pPr lvl="1" algn="l" fontAlgn="base"/>
            <a:endParaRPr lang="en-US" sz="2000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502307F-8E50-A197-0425-D163161BE2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4" y="1628800"/>
            <a:ext cx="5415411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668" y="1025836"/>
            <a:ext cx="5172795" cy="254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715" y="3573016"/>
            <a:ext cx="5028699" cy="277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663206"/>
      </p:ext>
    </p:extLst>
  </p:cSld>
  <p:clrMapOvr>
    <a:masterClrMapping/>
  </p:clrMapOvr>
  <p:transition spd="med"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50B22B15-06D9-978C-D493-4D3E02F6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F4F6452E-8C7E-5C4D-E90A-70922907A19F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671CFBC1-9ECB-C85F-9516-3825BD5D9944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2AD63C39-DA2D-6E0A-02B5-17F479E738C2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 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13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E0B9D0BF-86D8-ECC2-698F-C136B20DB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Conclusion: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Development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Built a lightweight, high-accuracy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Data Analyst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 custom RAG pipeline.</a:t>
            </a:r>
          </a:p>
          <a:p>
            <a:pPr marL="914400" lvl="1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Reliability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Eliminated AI hallucinations by implementing a strict source-citation system.</a:t>
            </a:r>
          </a:p>
          <a:p>
            <a:pPr marL="914400" lvl="1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Proved that a modular approach using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Tiktoken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faster and more transparent than using heavy frameworks.</a:t>
            </a:r>
          </a:p>
          <a:p>
            <a:pPr algn="l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Conclusion: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Mastery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Gained professional-level proficiency in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(3.10+)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vector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semantic search logic.</a:t>
            </a:r>
          </a:p>
          <a:p>
            <a:pPr marL="914400" lvl="1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Readiness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Successfully bridged the gap between academic theory at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SJCIT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real-world AI development requirements.</a:t>
            </a:r>
          </a:p>
          <a:p>
            <a:pPr marL="914400" lvl="1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Impact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4-month duration at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PySpiders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provided deep exposure to the full Data Science life cycle, from document parsing to building interactive user interfaces.</a:t>
            </a:r>
          </a:p>
          <a:p>
            <a:pPr marL="1257300" lvl="2" indent="-3429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 fontAlgn="base">
              <a:lnSpc>
                <a:spcPct val="120000"/>
              </a:lnSpc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D61D5F7-E879-0C13-9578-5243851887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18804"/>
      </p:ext>
    </p:extLst>
  </p:cSld>
  <p:clrMapOvr>
    <a:masterClrMapping/>
  </p:clrMapOvr>
  <p:transition spd="med">
    <p:pull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003BC733-2682-57A8-A626-DBEC421B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1592728-35FC-1E42-BA72-AFE5155783CD}"/>
              </a:ext>
            </a:extLst>
          </p:cNvPr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>
              <a:extLst>
                <a:ext uri="{FF2B5EF4-FFF2-40B4-BE49-F238E27FC236}">
                  <a16:creationId xmlns="" xmlns:a16="http://schemas.microsoft.com/office/drawing/2014/main" id="{3216F7EA-2928-B6D8-EA28-4CF5F000600E}"/>
                </a:ext>
              </a:extLst>
            </p:cNvPr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>
              <a:extLst>
                <a:ext uri="{FF2B5EF4-FFF2-40B4-BE49-F238E27FC236}">
                  <a16:creationId xmlns="" xmlns:a16="http://schemas.microsoft.com/office/drawing/2014/main" id="{639FAFBF-7D60-87E1-C5EC-A6A63C54F79A}"/>
                </a:ext>
              </a:extLst>
            </p:cNvPr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</a:rPr>
                <a:t>AI&amp;DS,SJCIT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</a:t>
              </a:r>
              <a:r>
                <a:rPr lang="en-IN" sz="4400" b="1" dirty="0" smtClean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14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01ECA30B-A96B-5125-7B41-144164110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52" y="1000108"/>
            <a:ext cx="11809312" cy="4786346"/>
          </a:xfrm>
        </p:spPr>
        <p:txBody>
          <a:bodyPr>
            <a:normAutofit fontScale="55000" lnSpcReduction="20000"/>
          </a:bodyPr>
          <a:lstStyle/>
          <a:p>
            <a:pPr algn="l" fontAlgn="base"/>
            <a:r>
              <a:rPr lang="en-US" sz="2700" b="1" dirty="0">
                <a:solidFill>
                  <a:schemeClr val="tx1"/>
                </a:solidFill>
              </a:rPr>
              <a:t>Future </a:t>
            </a:r>
            <a:r>
              <a:rPr lang="en-US" sz="2700" b="1" dirty="0" smtClean="0">
                <a:solidFill>
                  <a:schemeClr val="tx1"/>
                </a:solidFill>
              </a:rPr>
              <a:t>Work</a:t>
            </a: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Database Integration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Transition from static file uploads (PDF/CSV) to connecting the </a:t>
            </a:r>
            <a:r>
              <a:rPr lang="en-US" sz="3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directly to live SQL or NoSQL databases for real-time data analysis.</a:t>
            </a: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Voice-Enabled Interaction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Integrate speech-to-text and text-to-speech capabilities to allow users to interact with the data assistant using voice commands.</a:t>
            </a: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Multi-File Comparative Analytics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Develop features that allow the AI to compare data across multiple documents simultaneously, such as analyzing year-over-year financial reports.</a:t>
            </a: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On-Premise Privacy Support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Implement local Large Language Models (LLMs) to enable private data processing for sensitive corporate information without relying on external APIs.</a:t>
            </a: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Data Visualization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Enhance the </a:t>
            </a:r>
            <a:r>
              <a:rPr lang="en-US" sz="3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chatbot's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ability to automatically generate and display complex, interactive charts (like </a:t>
            </a:r>
            <a:r>
              <a:rPr lang="en-US" sz="3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3D scatter plots) directly in the </a:t>
            </a:r>
            <a:r>
              <a:rPr lang="en-US" sz="3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UI.</a:t>
            </a:r>
          </a:p>
          <a:p>
            <a:pPr lvl="1" algn="l" fontAlgn="base"/>
            <a:endParaRPr lang="en-US" sz="2300" b="1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914400" lvl="1" indent="-457200" algn="l" fontAlgn="base">
              <a:buFont typeface="+mj-lt"/>
              <a:buAutoNum type="arabicPeriod"/>
            </a:pPr>
            <a:endParaRPr lang="en-IN" sz="2000" dirty="0">
              <a:solidFill>
                <a:schemeClr val="tx1"/>
              </a:solidFill>
            </a:endParaRPr>
          </a:p>
          <a:p>
            <a:pPr marL="514350" indent="-514350"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1D6D4EE-0B56-75D1-AE57-244A1E4D8C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4586"/>
      </p:ext>
    </p:extLst>
  </p:cSld>
  <p:clrMapOvr>
    <a:masterClrMapping/>
  </p:clrMapOvr>
  <p:transition spd="med"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/>
          <p:nvPr/>
        </p:nvGrpSpPr>
        <p:grpSpPr>
          <a:xfrm>
            <a:off x="71668" y="-24"/>
            <a:ext cx="11953686" cy="6858024"/>
            <a:chOff x="71668" y="-24"/>
            <a:chExt cx="11953686" cy="6858024"/>
          </a:xfrm>
        </p:grpSpPr>
        <p:sp>
          <p:nvSpPr>
            <p:cNvPr id="4" name="Title 1"/>
            <p:cNvSpPr txBox="1">
              <a:spLocks/>
            </p:cNvSpPr>
            <p:nvPr/>
          </p:nvSpPr>
          <p:spPr>
            <a:xfrm>
              <a:off x="71668" y="-24"/>
              <a:ext cx="11953328" cy="900000"/>
            </a:xfrm>
            <a:prstGeom prst="rect">
              <a:avLst/>
            </a:prstGeom>
            <a:solidFill>
              <a:srgbClr val="002060"/>
            </a:solidFill>
            <a:ln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Python with Data Science 										</a:t>
              </a:r>
              <a:r>
                <a:rPr lang="en-IN" sz="2000" b="1" dirty="0">
                  <a:solidFill>
                    <a:schemeClr val="bg1"/>
                  </a:solidFill>
                  <a:latin typeface="Agency FB" pitchFamily="34" charset="0"/>
                </a:rPr>
                <a:t>Group -1 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  <a:ea typeface="+mj-ea"/>
                <a:cs typeface="Courier New" pitchFamily="49" charset="0"/>
              </a:endParaRPr>
            </a:p>
          </p:txBody>
        </p:sp>
        <p:sp>
          <p:nvSpPr>
            <p:cNvPr id="5" name="Title 1"/>
            <p:cNvSpPr txBox="1">
              <a:spLocks/>
            </p:cNvSpPr>
            <p:nvPr/>
          </p:nvSpPr>
          <p:spPr>
            <a:xfrm>
              <a:off x="72026" y="6498000"/>
              <a:ext cx="11953328" cy="360000"/>
            </a:xfrm>
            <a:prstGeom prst="rect">
              <a:avLst/>
            </a:prstGeom>
            <a:solidFill>
              <a:srgbClr val="002060"/>
            </a:solidFill>
            <a:ln cap="rnd" cmpd="sng"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rmAutofit fontScale="47500" lnSpcReduction="20000"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</a:rPr>
                <a:t> Dept. of ISE,SJCIT </a:t>
              </a:r>
              <a:r>
                <a:rPr lang="en-IN" sz="4400" b="1" dirty="0">
                  <a:solidFill>
                    <a:schemeClr val="bg1"/>
                  </a:solidFill>
                  <a:latin typeface="Agency FB" pitchFamily="34" charset="0"/>
                  <a:ea typeface="+mj-ea"/>
                  <a:cs typeface="+mj-cs"/>
                </a:rPr>
                <a:t>	                            			2026					        &lt;&lt;Slide No.&gt;&gt;</a:t>
              </a:r>
              <a:endParaRPr lang="en-US" sz="4200" b="1" dirty="0">
                <a:solidFill>
                  <a:schemeClr val="bg1"/>
                </a:solidFill>
                <a:latin typeface="Agency FB" pitchFamily="34" charset="0"/>
                <a:ea typeface="+mj-ea"/>
                <a:cs typeface="+mj-cs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280" y="0"/>
            <a:ext cx="909720" cy="9385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95604" y="2643182"/>
            <a:ext cx="547260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8480" y="4786322"/>
            <a:ext cx="547260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p:transition spd="med">
    <p:pull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2959</TotalTime>
  <Words>1185</Words>
  <Application>Microsoft Office PowerPoint</Application>
  <PresentationFormat>Custom</PresentationFormat>
  <Paragraphs>150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with Data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SatishR</dc:creator>
  <cp:lastModifiedBy>mareddy charan</cp:lastModifiedBy>
  <cp:revision>255</cp:revision>
  <dcterms:created xsi:type="dcterms:W3CDTF">2006-08-16T00:00:00Z</dcterms:created>
  <dcterms:modified xsi:type="dcterms:W3CDTF">2026-05-20T06:46:30Z</dcterms:modified>
</cp:coreProperties>
</file>
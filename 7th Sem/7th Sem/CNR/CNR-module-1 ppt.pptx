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6"/>
  </p:notesMasterIdLst>
  <p:sldIdLst>
    <p:sldId id="256" r:id="rId2"/>
    <p:sldId id="257" r:id="rId3"/>
    <p:sldId id="258" r:id="rId4"/>
    <p:sldId id="259" r:id="rId5"/>
    <p:sldId id="260" r:id="rId6"/>
    <p:sldId id="261" r:id="rId7"/>
    <p:sldId id="262" r:id="rId8"/>
    <p:sldId id="263" r:id="rId9"/>
    <p:sldId id="292" r:id="rId10"/>
    <p:sldId id="291"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301" r:id="rId28"/>
    <p:sldId id="280" r:id="rId29"/>
    <p:sldId id="281" r:id="rId30"/>
    <p:sldId id="282" r:id="rId31"/>
    <p:sldId id="283" r:id="rId32"/>
    <p:sldId id="284" r:id="rId33"/>
    <p:sldId id="285" r:id="rId34"/>
    <p:sldId id="288" r:id="rId35"/>
    <p:sldId id="286" r:id="rId36"/>
    <p:sldId id="287" r:id="rId37"/>
    <p:sldId id="289" r:id="rId38"/>
    <p:sldId id="290" r:id="rId39"/>
    <p:sldId id="293" r:id="rId40"/>
    <p:sldId id="294" r:id="rId41"/>
    <p:sldId id="295" r:id="rId42"/>
    <p:sldId id="296" r:id="rId43"/>
    <p:sldId id="297" r:id="rId44"/>
    <p:sldId id="298" r:id="rId45"/>
    <p:sldId id="299" r:id="rId46"/>
    <p:sldId id="300" r:id="rId47"/>
    <p:sldId id="302" r:id="rId48"/>
    <p:sldId id="303" r:id="rId49"/>
    <p:sldId id="304" r:id="rId50"/>
    <p:sldId id="305" r:id="rId51"/>
    <p:sldId id="306" r:id="rId52"/>
    <p:sldId id="307" r:id="rId53"/>
    <p:sldId id="308" r:id="rId54"/>
    <p:sldId id="309" r:id="rId5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6" d="100"/>
          <a:sy n="66" d="100"/>
        </p:scale>
        <p:origin x="-1506"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ACC2C61-4DFB-43A0-83FA-26283D747FB7}" type="datetimeFigureOut">
              <a:rPr lang="en-US" smtClean="0"/>
              <a:t>9/2/2025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C105AF4-FC99-4BFA-8CBD-906690BDFDCC}" type="slidenum">
              <a:rPr lang="en-US" smtClean="0"/>
              <a:t>‹#›</a:t>
            </a:fld>
            <a:endParaRPr lang="en-US"/>
          </a:p>
        </p:txBody>
      </p:sp>
    </p:spTree>
    <p:extLst>
      <p:ext uri="{BB962C8B-B14F-4D97-AF65-F5344CB8AC3E}">
        <p14:creationId xmlns:p14="http://schemas.microsoft.com/office/powerpoint/2010/main" val="25362782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C105AF4-FC99-4BFA-8CBD-906690BDFDCC}" type="slidenum">
              <a:rPr lang="en-US" smtClean="0"/>
              <a:t>23</a:t>
            </a:fld>
            <a:endParaRPr lang="en-US"/>
          </a:p>
        </p:txBody>
      </p:sp>
    </p:spTree>
    <p:extLst>
      <p:ext uri="{BB962C8B-B14F-4D97-AF65-F5344CB8AC3E}">
        <p14:creationId xmlns:p14="http://schemas.microsoft.com/office/powerpoint/2010/main" val="16154917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9/2/2025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9/2/2025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9/2/2025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oilquality.org/functions/nutrient_cycling.html" TargetMode="External"/><Relationship Id="rId7" Type="http://schemas.openxmlformats.org/officeDocument/2006/relationships/hyperlink" Target="http://soilquality.org/functions/physical_support.html"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soilquality.org/functions/filter_buffer.html" TargetMode="External"/><Relationship Id="rId5" Type="http://schemas.openxmlformats.org/officeDocument/2006/relationships/hyperlink" Target="http://soilquality.org/functions/biodiversity.html" TargetMode="External"/><Relationship Id="rId4" Type="http://schemas.openxmlformats.org/officeDocument/2006/relationships/hyperlink" Target="http://soilquality.org/functions/water_relations.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2800" b="1" dirty="0">
                <a:solidFill>
                  <a:schemeClr val="accent6">
                    <a:lumMod val="75000"/>
                  </a:schemeClr>
                </a:solidFill>
                <a:latin typeface="Bookman Old Style" pitchFamily="18" charset="0"/>
              </a:rPr>
              <a:t>CONSERVATION OF NATURAL RESOURCES BCV755B </a:t>
            </a:r>
          </a:p>
        </p:txBody>
      </p:sp>
      <p:sp>
        <p:nvSpPr>
          <p:cNvPr id="3" name="Subtitle 2"/>
          <p:cNvSpPr>
            <a:spLocks noGrp="1"/>
          </p:cNvSpPr>
          <p:nvPr>
            <p:ph type="subTitle" idx="1"/>
          </p:nvPr>
        </p:nvSpPr>
        <p:spPr/>
        <p:txBody>
          <a:bodyPr/>
          <a:lstStyle/>
          <a:p>
            <a:r>
              <a:rPr lang="en-US" b="1" dirty="0" smtClean="0">
                <a:solidFill>
                  <a:srgbClr val="0070C0"/>
                </a:solidFill>
                <a:latin typeface="Bookman Old Style" pitchFamily="18" charset="0"/>
              </a:rPr>
              <a:t>Module-1</a:t>
            </a:r>
            <a:endParaRPr lang="en-US" b="1" dirty="0">
              <a:solidFill>
                <a:srgbClr val="0070C0"/>
              </a:solidFill>
              <a:latin typeface="Bookman Old Style" pitchFamily="18" charset="0"/>
            </a:endParaRPr>
          </a:p>
        </p:txBody>
      </p:sp>
    </p:spTree>
    <p:extLst>
      <p:ext uri="{BB962C8B-B14F-4D97-AF65-F5344CB8AC3E}">
        <p14:creationId xmlns:p14="http://schemas.microsoft.com/office/powerpoint/2010/main" val="230210320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762000"/>
            <a:ext cx="8458200" cy="5364163"/>
          </a:xfrm>
        </p:spPr>
        <p:style>
          <a:lnRef idx="2">
            <a:schemeClr val="accent1"/>
          </a:lnRef>
          <a:fillRef idx="1">
            <a:schemeClr val="lt1"/>
          </a:fillRef>
          <a:effectRef idx="0">
            <a:schemeClr val="accent1"/>
          </a:effectRef>
          <a:fontRef idx="minor">
            <a:schemeClr val="dk1"/>
          </a:fontRef>
        </p:style>
        <p:txBody>
          <a:bodyPr>
            <a:normAutofit/>
          </a:bodyPr>
          <a:lstStyle/>
          <a:p>
            <a:pPr marL="0" indent="0" algn="ctr">
              <a:buNone/>
            </a:pPr>
            <a:r>
              <a:rPr lang="en-US" sz="2800" b="1" u="sng" dirty="0">
                <a:solidFill>
                  <a:srgbClr val="002060"/>
                </a:solidFill>
                <a:latin typeface="Bookman Old Style" pitchFamily="18" charset="0"/>
              </a:rPr>
              <a:t>CONSERVATION OF NATURAL RESOURCES </a:t>
            </a:r>
            <a:r>
              <a:rPr lang="en-US" sz="2800" b="1" u="sng" dirty="0" smtClean="0">
                <a:solidFill>
                  <a:srgbClr val="002060"/>
                </a:solidFill>
                <a:latin typeface="Bookman Old Style" pitchFamily="18" charset="0"/>
              </a:rPr>
              <a:t> BCV755B –Syllabus</a:t>
            </a:r>
          </a:p>
          <a:p>
            <a:pPr marL="0" indent="0" algn="ctr">
              <a:buNone/>
            </a:pPr>
            <a:endParaRPr lang="en-US" sz="2400" b="1" u="sng" dirty="0" smtClean="0">
              <a:solidFill>
                <a:srgbClr val="002060"/>
              </a:solidFill>
              <a:latin typeface="Bookman Old Style" pitchFamily="18" charset="0"/>
            </a:endParaRPr>
          </a:p>
          <a:p>
            <a:pPr algn="just"/>
            <a:r>
              <a:rPr lang="en-US" sz="2800" dirty="0">
                <a:solidFill>
                  <a:srgbClr val="FF0000"/>
                </a:solidFill>
                <a:latin typeface="Bookman Old Style" pitchFamily="18" charset="0"/>
              </a:rPr>
              <a:t>Land: Land as a resource, types of lands, conservation of land forms, deforestation, effect of land use changes. </a:t>
            </a:r>
            <a:endParaRPr lang="en-US" sz="2800" dirty="0" smtClean="0">
              <a:solidFill>
                <a:srgbClr val="FF0000"/>
              </a:solidFill>
              <a:latin typeface="Bookman Old Style" pitchFamily="18" charset="0"/>
            </a:endParaRPr>
          </a:p>
          <a:p>
            <a:pPr algn="just"/>
            <a:r>
              <a:rPr lang="en-US" sz="2800" dirty="0" smtClean="0">
                <a:solidFill>
                  <a:srgbClr val="002060"/>
                </a:solidFill>
                <a:latin typeface="Bookman Old Style" pitchFamily="18" charset="0"/>
              </a:rPr>
              <a:t>Soil </a:t>
            </a:r>
            <a:r>
              <a:rPr lang="en-US" sz="2800" dirty="0">
                <a:solidFill>
                  <a:srgbClr val="002060"/>
                </a:solidFill>
                <a:latin typeface="Bookman Old Style" pitchFamily="18" charset="0"/>
              </a:rPr>
              <a:t>health, ecological and economic importance of soil, impact of soil degradation on agriculture and food security, need for soil conservation, sustainable land use planning. </a:t>
            </a:r>
          </a:p>
        </p:txBody>
      </p:sp>
    </p:spTree>
    <p:extLst>
      <p:ext uri="{BB962C8B-B14F-4D97-AF65-F5344CB8AC3E}">
        <p14:creationId xmlns:p14="http://schemas.microsoft.com/office/powerpoint/2010/main" val="138615326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763000" cy="6477000"/>
          </a:xfrm>
        </p:spPr>
        <p:txBody>
          <a:bodyPr>
            <a:normAutofit fontScale="85000" lnSpcReduction="20000"/>
          </a:bodyPr>
          <a:lstStyle/>
          <a:p>
            <a:pPr algn="just"/>
            <a:r>
              <a:rPr lang="en-US" b="1" u="sng" dirty="0">
                <a:solidFill>
                  <a:srgbClr val="FF0000"/>
                </a:solidFill>
                <a:latin typeface="Bookman Old Style" pitchFamily="18" charset="0"/>
              </a:rPr>
              <a:t>Natural resources</a:t>
            </a:r>
            <a:r>
              <a:rPr lang="en-US" dirty="0">
                <a:latin typeface="Bookman Old Style" pitchFamily="18" charset="0"/>
              </a:rPr>
              <a:t>: - </a:t>
            </a:r>
            <a:r>
              <a:rPr lang="en-US" dirty="0">
                <a:solidFill>
                  <a:schemeClr val="tx2"/>
                </a:solidFill>
                <a:latin typeface="Bookman Old Style" pitchFamily="18" charset="0"/>
              </a:rPr>
              <a:t>Natural resources are materials from the Earth that are used to support life and meet people's needs. </a:t>
            </a:r>
            <a:r>
              <a:rPr lang="en-US" dirty="0">
                <a:solidFill>
                  <a:srgbClr val="FF0000"/>
                </a:solidFill>
                <a:latin typeface="Bookman Old Style" pitchFamily="18" charset="0"/>
              </a:rPr>
              <a:t>Any natural substance that humans use can be considered a natural resource. </a:t>
            </a:r>
            <a:r>
              <a:rPr lang="en-US" dirty="0">
                <a:solidFill>
                  <a:schemeClr val="tx2"/>
                </a:solidFill>
                <a:latin typeface="Bookman Old Style" pitchFamily="18" charset="0"/>
              </a:rPr>
              <a:t>Oil, coal, natural gas, metals, stone and sand are natural resources. Other natural resources are air, sunlight, soil and water. </a:t>
            </a:r>
            <a:endParaRPr lang="en-US" dirty="0" smtClean="0">
              <a:solidFill>
                <a:schemeClr val="tx2"/>
              </a:solidFill>
              <a:latin typeface="Bookman Old Style" pitchFamily="18" charset="0"/>
            </a:endParaRPr>
          </a:p>
          <a:p>
            <a:pPr algn="just"/>
            <a:r>
              <a:rPr lang="en-US" dirty="0" smtClean="0">
                <a:solidFill>
                  <a:srgbClr val="FF0000"/>
                </a:solidFill>
                <a:latin typeface="Bookman Old Style" pitchFamily="18" charset="0"/>
              </a:rPr>
              <a:t>Natural </a:t>
            </a:r>
            <a:r>
              <a:rPr lang="en-US" dirty="0">
                <a:solidFill>
                  <a:srgbClr val="FF0000"/>
                </a:solidFill>
                <a:latin typeface="Bookman Old Style" pitchFamily="18" charset="0"/>
              </a:rPr>
              <a:t>resources can be part of our natural heritage or protected in nature reserves. Particular areas often feature </a:t>
            </a:r>
            <a:r>
              <a:rPr lang="en-US" b="1" dirty="0">
                <a:solidFill>
                  <a:srgbClr val="FF0000"/>
                </a:solidFill>
                <a:latin typeface="Bookman Old Style" pitchFamily="18" charset="0"/>
              </a:rPr>
              <a:t>biodiversity</a:t>
            </a:r>
            <a:r>
              <a:rPr lang="en-US" dirty="0">
                <a:solidFill>
                  <a:srgbClr val="FF0000"/>
                </a:solidFill>
                <a:latin typeface="Bookman Old Style" pitchFamily="18" charset="0"/>
              </a:rPr>
              <a:t> </a:t>
            </a:r>
            <a:r>
              <a:rPr lang="en-US" dirty="0" smtClean="0">
                <a:solidFill>
                  <a:srgbClr val="FF0000"/>
                </a:solidFill>
                <a:latin typeface="Bookman Old Style" pitchFamily="18" charset="0"/>
              </a:rPr>
              <a:t>and </a:t>
            </a:r>
            <a:r>
              <a:rPr lang="en-US" b="1" dirty="0">
                <a:solidFill>
                  <a:srgbClr val="FF0000"/>
                </a:solidFill>
                <a:latin typeface="Bookman Old Style" pitchFamily="18" charset="0"/>
              </a:rPr>
              <a:t>geodiversity</a:t>
            </a:r>
            <a:r>
              <a:rPr lang="en-US" dirty="0">
                <a:solidFill>
                  <a:srgbClr val="FF0000"/>
                </a:solidFill>
                <a:latin typeface="Bookman Old Style" pitchFamily="18" charset="0"/>
              </a:rPr>
              <a:t> in their ecosystems. </a:t>
            </a:r>
            <a:endParaRPr lang="en-US" dirty="0" smtClean="0">
              <a:solidFill>
                <a:srgbClr val="FF0000"/>
              </a:solidFill>
              <a:latin typeface="Bookman Old Style" pitchFamily="18" charset="0"/>
            </a:endParaRPr>
          </a:p>
          <a:p>
            <a:pPr algn="just"/>
            <a:r>
              <a:rPr lang="en-US" dirty="0" smtClean="0">
                <a:solidFill>
                  <a:schemeClr val="accent6">
                    <a:lumMod val="75000"/>
                  </a:schemeClr>
                </a:solidFill>
                <a:latin typeface="Bookman Old Style" pitchFamily="18" charset="0"/>
              </a:rPr>
              <a:t>Natural </a:t>
            </a:r>
            <a:r>
              <a:rPr lang="en-US" dirty="0">
                <a:solidFill>
                  <a:schemeClr val="accent6">
                    <a:lumMod val="75000"/>
                  </a:schemeClr>
                </a:solidFill>
                <a:latin typeface="Bookman Old Style" pitchFamily="18" charset="0"/>
              </a:rPr>
              <a:t>resources may be classified in different ways. Natural resources are materials and components (something that can be used) that can be found within the environment</a:t>
            </a:r>
            <a:r>
              <a:rPr lang="en-US" dirty="0" smtClean="0">
                <a:solidFill>
                  <a:schemeClr val="accent6">
                    <a:lumMod val="75000"/>
                  </a:schemeClr>
                </a:solidFill>
                <a:latin typeface="Bookman Old Style" pitchFamily="18" charset="0"/>
              </a:rPr>
              <a:t>.</a:t>
            </a:r>
          </a:p>
          <a:p>
            <a:pPr algn="just"/>
            <a:r>
              <a:rPr lang="en-US" dirty="0" smtClean="0">
                <a:latin typeface="Bookman Old Style" pitchFamily="18" charset="0"/>
              </a:rPr>
              <a:t> </a:t>
            </a:r>
            <a:r>
              <a:rPr lang="en-US" dirty="0">
                <a:solidFill>
                  <a:srgbClr val="7030A0"/>
                </a:solidFill>
                <a:latin typeface="Bookman Old Style" pitchFamily="18" charset="0"/>
              </a:rPr>
              <a:t>Every man-made product is composed of natural resources (at its fundamental level).</a:t>
            </a:r>
          </a:p>
        </p:txBody>
      </p:sp>
    </p:spTree>
    <p:extLst>
      <p:ext uri="{BB962C8B-B14F-4D97-AF65-F5344CB8AC3E}">
        <p14:creationId xmlns:p14="http://schemas.microsoft.com/office/powerpoint/2010/main" val="61234544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Autofit/>
          </a:bodyPr>
          <a:lstStyle/>
          <a:p>
            <a:pPr algn="l"/>
            <a:r>
              <a:rPr lang="en-US" sz="2800" b="1" u="sng" dirty="0">
                <a:solidFill>
                  <a:srgbClr val="7030A0"/>
                </a:solidFill>
                <a:latin typeface="Bookman Old Style" pitchFamily="18" charset="0"/>
              </a:rPr>
              <a:t>Conservation of Land Resource</a:t>
            </a:r>
          </a:p>
        </p:txBody>
      </p:sp>
      <p:sp>
        <p:nvSpPr>
          <p:cNvPr id="3" name="Content Placeholder 2"/>
          <p:cNvSpPr>
            <a:spLocks noGrp="1"/>
          </p:cNvSpPr>
          <p:nvPr>
            <p:ph idx="1"/>
          </p:nvPr>
        </p:nvSpPr>
        <p:spPr>
          <a:xfrm>
            <a:off x="457200" y="990600"/>
            <a:ext cx="8458200" cy="5135563"/>
          </a:xfrm>
        </p:spPr>
        <p:txBody>
          <a:bodyPr>
            <a:normAutofit/>
          </a:bodyPr>
          <a:lstStyle/>
          <a:p>
            <a:pPr algn="just"/>
            <a:r>
              <a:rPr lang="en-US" sz="2800" dirty="0" smtClean="0">
                <a:solidFill>
                  <a:schemeClr val="accent1"/>
                </a:solidFill>
                <a:latin typeface="Bookman Old Style" pitchFamily="18" charset="0"/>
              </a:rPr>
              <a:t>Growing </a:t>
            </a:r>
            <a:r>
              <a:rPr lang="en-US" sz="2800" dirty="0">
                <a:solidFill>
                  <a:schemeClr val="accent1"/>
                </a:solidFill>
                <a:latin typeface="Bookman Old Style" pitchFamily="18" charset="0"/>
              </a:rPr>
              <a:t>population and their ever growing demand has led to a large scale destruction of </a:t>
            </a:r>
            <a:r>
              <a:rPr lang="en-US" sz="2800" b="1" dirty="0">
                <a:solidFill>
                  <a:schemeClr val="accent1"/>
                </a:solidFill>
                <a:latin typeface="Bookman Old Style" pitchFamily="18" charset="0"/>
              </a:rPr>
              <a:t>forest cover </a:t>
            </a:r>
            <a:r>
              <a:rPr lang="en-US" sz="2800" dirty="0">
                <a:solidFill>
                  <a:schemeClr val="accent1"/>
                </a:solidFill>
                <a:latin typeface="Bookman Old Style" pitchFamily="18" charset="0"/>
              </a:rPr>
              <a:t>and </a:t>
            </a:r>
            <a:r>
              <a:rPr lang="en-US" sz="2800" b="1" dirty="0">
                <a:solidFill>
                  <a:schemeClr val="accent1"/>
                </a:solidFill>
                <a:latin typeface="Bookman Old Style" pitchFamily="18" charset="0"/>
              </a:rPr>
              <a:t>arable land </a:t>
            </a:r>
            <a:r>
              <a:rPr lang="en-US" sz="2800" dirty="0">
                <a:solidFill>
                  <a:schemeClr val="accent1"/>
                </a:solidFill>
                <a:latin typeface="Bookman Old Style" pitchFamily="18" charset="0"/>
              </a:rPr>
              <a:t>and has created a fear of losing this natural resource. </a:t>
            </a:r>
            <a:endParaRPr lang="en-US" sz="2800" dirty="0" smtClean="0">
              <a:solidFill>
                <a:schemeClr val="accent1"/>
              </a:solidFill>
              <a:latin typeface="Bookman Old Style" pitchFamily="18" charset="0"/>
            </a:endParaRPr>
          </a:p>
          <a:p>
            <a:pPr algn="just"/>
            <a:r>
              <a:rPr lang="en-US" sz="2800" dirty="0" smtClean="0">
                <a:solidFill>
                  <a:schemeClr val="accent2"/>
                </a:solidFill>
                <a:latin typeface="Bookman Old Style" pitchFamily="18" charset="0"/>
              </a:rPr>
              <a:t>Therefore</a:t>
            </a:r>
            <a:r>
              <a:rPr lang="en-US" sz="2800" dirty="0">
                <a:solidFill>
                  <a:schemeClr val="accent2"/>
                </a:solidFill>
                <a:latin typeface="Bookman Old Style" pitchFamily="18" charset="0"/>
              </a:rPr>
              <a:t>, the present rate of degradation of land must be checked. Afforestation, land reclamation, regulated use of chemical pesticide and fertilisers and checks on overgrazing are some of the common methods used to conserve land resources.</a:t>
            </a:r>
          </a:p>
        </p:txBody>
      </p:sp>
    </p:spTree>
    <p:extLst>
      <p:ext uri="{BB962C8B-B14F-4D97-AF65-F5344CB8AC3E}">
        <p14:creationId xmlns:p14="http://schemas.microsoft.com/office/powerpoint/2010/main" val="66286691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304800"/>
            <a:ext cx="8763000" cy="5821363"/>
          </a:xfrm>
        </p:spPr>
        <p:txBody>
          <a:bodyPr>
            <a:normAutofit/>
          </a:bodyPr>
          <a:lstStyle/>
          <a:p>
            <a:pPr algn="just"/>
            <a:r>
              <a:rPr lang="en-US" sz="2800" b="1" u="sng" dirty="0" smtClean="0">
                <a:solidFill>
                  <a:srgbClr val="FF0000"/>
                </a:solidFill>
                <a:latin typeface="Bookman Old Style" pitchFamily="18" charset="0"/>
              </a:rPr>
              <a:t>Definition:</a:t>
            </a:r>
            <a:r>
              <a:rPr lang="en-US" sz="2800" b="1" dirty="0" smtClean="0">
                <a:latin typeface="Bookman Old Style" pitchFamily="18" charset="0"/>
              </a:rPr>
              <a:t> </a:t>
            </a:r>
            <a:r>
              <a:rPr lang="en-US" sz="2400" dirty="0" smtClean="0">
                <a:latin typeface="Bookman Old Style" pitchFamily="18" charset="0"/>
              </a:rPr>
              <a:t>Conservation </a:t>
            </a:r>
            <a:r>
              <a:rPr lang="en-US" sz="2400" dirty="0">
                <a:latin typeface="Bookman Old Style" pitchFamily="18" charset="0"/>
              </a:rPr>
              <a:t>of land resources is the </a:t>
            </a:r>
            <a:r>
              <a:rPr lang="en-US" sz="2400" b="1" i="1" dirty="0">
                <a:latin typeface="Bookman Old Style" pitchFamily="18" charset="0"/>
              </a:rPr>
              <a:t>sustainable use </a:t>
            </a:r>
            <a:r>
              <a:rPr lang="en-US" sz="2400" dirty="0">
                <a:latin typeface="Bookman Old Style" pitchFamily="18" charset="0"/>
              </a:rPr>
              <a:t>and management of land resources. </a:t>
            </a:r>
            <a:endParaRPr lang="en-US" sz="2400" dirty="0" smtClean="0">
              <a:latin typeface="Bookman Old Style" pitchFamily="18" charset="0"/>
            </a:endParaRPr>
          </a:p>
          <a:p>
            <a:pPr algn="just"/>
            <a:r>
              <a:rPr lang="en-US" sz="2400" dirty="0" smtClean="0">
                <a:latin typeface="Bookman Old Style" pitchFamily="18" charset="0"/>
              </a:rPr>
              <a:t>It </a:t>
            </a:r>
            <a:r>
              <a:rPr lang="en-US" sz="2400" dirty="0">
                <a:latin typeface="Bookman Old Style" pitchFamily="18" charset="0"/>
              </a:rPr>
              <a:t>includes the conservation of soil, water, plants, and animals. Conservation of land resources helps to protect the environment and to ensure that there is enough food and water for future generations.</a:t>
            </a:r>
          </a:p>
        </p:txBody>
      </p:sp>
      <p:sp>
        <p:nvSpPr>
          <p:cNvPr id="4" name="AutoShape 2" descr="management of natural resourc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29" name="Picture 5" descr="Visually search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0375" y="2667000"/>
            <a:ext cx="8378825" cy="4191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487191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3581400" cy="639762"/>
          </a:xfrm>
        </p:spPr>
        <p:txBody>
          <a:bodyPr>
            <a:normAutofit/>
          </a:bodyPr>
          <a:lstStyle/>
          <a:p>
            <a:pPr algn="l"/>
            <a:r>
              <a:rPr lang="en-US" sz="2800" b="1" dirty="0">
                <a:latin typeface="Bookman Old Style" pitchFamily="18" charset="0"/>
              </a:rPr>
              <a:t>Types of lands</a:t>
            </a:r>
          </a:p>
        </p:txBody>
      </p:sp>
      <p:pic>
        <p:nvPicPr>
          <p:cNvPr id="2050" name="Picture 2" descr="Visually searched image"/>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185" t="20138" r="3756" b="15787"/>
          <a:stretch/>
        </p:blipFill>
        <p:spPr bwMode="auto">
          <a:xfrm>
            <a:off x="4114800" y="152400"/>
            <a:ext cx="4953000" cy="38862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228600" y="762000"/>
            <a:ext cx="3810000" cy="3170099"/>
          </a:xfrm>
          <a:prstGeom prst="rect">
            <a:avLst/>
          </a:prstGeom>
        </p:spPr>
        <p:txBody>
          <a:bodyPr wrap="square">
            <a:spAutoFit/>
          </a:bodyPr>
          <a:lstStyle/>
          <a:p>
            <a:pPr marL="342900" indent="-342900" algn="just">
              <a:buFont typeface="Wingdings" pitchFamily="2" charset="2"/>
              <a:buChar char="Ø"/>
            </a:pPr>
            <a:r>
              <a:rPr lang="en-US" sz="2000" b="1" dirty="0" smtClean="0">
                <a:solidFill>
                  <a:schemeClr val="accent2"/>
                </a:solidFill>
                <a:latin typeface="Bookman Old Style" pitchFamily="18" charset="0"/>
              </a:rPr>
              <a:t>Agricultural </a:t>
            </a:r>
            <a:r>
              <a:rPr lang="en-US" sz="2000" b="1" dirty="0">
                <a:solidFill>
                  <a:schemeClr val="accent2"/>
                </a:solidFill>
                <a:latin typeface="Bookman Old Style" pitchFamily="18" charset="0"/>
              </a:rPr>
              <a:t>Land</a:t>
            </a:r>
          </a:p>
          <a:p>
            <a:pPr algn="just"/>
            <a:r>
              <a:rPr lang="en-US" sz="2000" dirty="0">
                <a:solidFill>
                  <a:srgbClr val="0070C0"/>
                </a:solidFill>
                <a:latin typeface="Bookman Old Style" pitchFamily="18" charset="0"/>
              </a:rPr>
              <a:t>Used for farming and cultivation of crops.</a:t>
            </a:r>
          </a:p>
          <a:p>
            <a:pPr algn="just"/>
            <a:r>
              <a:rPr lang="en-US" sz="2000" dirty="0">
                <a:latin typeface="Bookman Old Style" pitchFamily="18" charset="0"/>
              </a:rPr>
              <a:t>Includes:</a:t>
            </a:r>
          </a:p>
          <a:p>
            <a:pPr marL="800100" lvl="1" indent="-342900">
              <a:buFont typeface="Arial" pitchFamily="34" charset="0"/>
              <a:buChar char="•"/>
            </a:pPr>
            <a:r>
              <a:rPr lang="en-US" sz="2000" dirty="0">
                <a:solidFill>
                  <a:srgbClr val="C00000"/>
                </a:solidFill>
                <a:latin typeface="Bookman Old Style" pitchFamily="18" charset="0"/>
              </a:rPr>
              <a:t>Arable land (for plowing and </a:t>
            </a:r>
            <a:r>
              <a:rPr lang="en-US" sz="2000" dirty="0" smtClean="0">
                <a:solidFill>
                  <a:srgbClr val="C00000"/>
                </a:solidFill>
                <a:latin typeface="Bookman Old Style" pitchFamily="18" charset="0"/>
              </a:rPr>
              <a:t>planting)</a:t>
            </a:r>
          </a:p>
          <a:p>
            <a:pPr marL="800100" lvl="1" indent="-342900">
              <a:buFont typeface="Arial" pitchFamily="34" charset="0"/>
              <a:buChar char="•"/>
            </a:pPr>
            <a:r>
              <a:rPr lang="en-US" sz="2000" dirty="0" smtClean="0">
                <a:solidFill>
                  <a:srgbClr val="0070C0"/>
                </a:solidFill>
                <a:latin typeface="Bookman Old Style" pitchFamily="18" charset="0"/>
              </a:rPr>
              <a:t>Pastures </a:t>
            </a:r>
            <a:r>
              <a:rPr lang="en-US" sz="2000" dirty="0">
                <a:solidFill>
                  <a:srgbClr val="0070C0"/>
                </a:solidFill>
                <a:latin typeface="Bookman Old Style" pitchFamily="18" charset="0"/>
              </a:rPr>
              <a:t>(for </a:t>
            </a:r>
            <a:r>
              <a:rPr lang="en-US" sz="2000" dirty="0" smtClean="0">
                <a:solidFill>
                  <a:srgbClr val="0070C0"/>
                </a:solidFill>
                <a:latin typeface="Bookman Old Style" pitchFamily="18" charset="0"/>
              </a:rPr>
              <a:t>grazing animals)</a:t>
            </a:r>
            <a:endParaRPr lang="en-US" sz="2000" dirty="0">
              <a:solidFill>
                <a:srgbClr val="0070C0"/>
              </a:solidFill>
              <a:latin typeface="Bookman Old Style" pitchFamily="18" charset="0"/>
            </a:endParaRPr>
          </a:p>
          <a:p>
            <a:pPr marL="800100" lvl="1" indent="-342900">
              <a:buFont typeface="Arial" pitchFamily="34" charset="0"/>
              <a:buChar char="•"/>
            </a:pPr>
            <a:r>
              <a:rPr lang="en-US" sz="2000" dirty="0" smtClean="0">
                <a:solidFill>
                  <a:srgbClr val="7030A0"/>
                </a:solidFill>
                <a:latin typeface="Bookman Old Style" pitchFamily="18" charset="0"/>
              </a:rPr>
              <a:t>Orchards </a:t>
            </a:r>
            <a:r>
              <a:rPr lang="en-US" sz="2000" dirty="0">
                <a:solidFill>
                  <a:srgbClr val="7030A0"/>
                </a:solidFill>
                <a:latin typeface="Bookman Old Style" pitchFamily="18" charset="0"/>
              </a:rPr>
              <a:t>and </a:t>
            </a:r>
            <a:r>
              <a:rPr lang="en-US" sz="2000" dirty="0" smtClean="0">
                <a:solidFill>
                  <a:srgbClr val="7030A0"/>
                </a:solidFill>
                <a:latin typeface="Bookman Old Style" pitchFamily="18" charset="0"/>
              </a:rPr>
              <a:t>vineyards.</a:t>
            </a:r>
            <a:endParaRPr lang="en-US" sz="2000" dirty="0">
              <a:solidFill>
                <a:srgbClr val="7030A0"/>
              </a:solidFill>
              <a:latin typeface="Bookman Old Style" pitchFamily="18" charset="0"/>
            </a:endParaRPr>
          </a:p>
        </p:txBody>
      </p:sp>
      <p:sp>
        <p:nvSpPr>
          <p:cNvPr id="3" name="Rectangle 2"/>
          <p:cNvSpPr/>
          <p:nvPr/>
        </p:nvSpPr>
        <p:spPr>
          <a:xfrm>
            <a:off x="124691" y="4178966"/>
            <a:ext cx="8915400" cy="830997"/>
          </a:xfrm>
          <a:prstGeom prst="rect">
            <a:avLst/>
          </a:prstGeom>
        </p:spPr>
        <p:txBody>
          <a:bodyPr wrap="square">
            <a:spAutoFit/>
          </a:bodyPr>
          <a:lstStyle/>
          <a:p>
            <a:pPr algn="just"/>
            <a:r>
              <a:rPr lang="en-US" sz="2400" dirty="0">
                <a:solidFill>
                  <a:srgbClr val="002060"/>
                </a:solidFill>
                <a:latin typeface="Times New Roman" pitchFamily="18" charset="0"/>
                <a:cs typeface="Times New Roman" pitchFamily="18" charset="0"/>
              </a:rPr>
              <a:t>Agricultural land is defined as the land area that is either arable, under permanent crops, or under permanent pastures. </a:t>
            </a:r>
          </a:p>
        </p:txBody>
      </p:sp>
      <p:sp>
        <p:nvSpPr>
          <p:cNvPr id="5" name="Rectangle 4"/>
          <p:cNvSpPr/>
          <p:nvPr/>
        </p:nvSpPr>
        <p:spPr>
          <a:xfrm>
            <a:off x="187037" y="5105400"/>
            <a:ext cx="8832272" cy="1569660"/>
          </a:xfrm>
          <a:prstGeom prst="rect">
            <a:avLst/>
          </a:prstGeom>
        </p:spPr>
        <p:txBody>
          <a:bodyPr wrap="square">
            <a:spAutoFit/>
          </a:bodyPr>
          <a:lstStyle/>
          <a:p>
            <a:pPr algn="just"/>
            <a:r>
              <a:rPr lang="en-US" sz="2400" dirty="0">
                <a:solidFill>
                  <a:srgbClr val="C00000"/>
                </a:solidFill>
                <a:latin typeface="Times New Roman" pitchFamily="18" charset="0"/>
                <a:cs typeface="Times New Roman" pitchFamily="18" charset="0"/>
              </a:rPr>
              <a:t>Non-agricultural land is dedicated to residential, commercial, industrial and non-farming activities. The land use is mainly for residential buildings, commercial complexes, industrial estates, and infrastructure such as roads, railways, and public utilities.</a:t>
            </a:r>
          </a:p>
        </p:txBody>
      </p:sp>
    </p:spTree>
    <p:extLst>
      <p:ext uri="{BB962C8B-B14F-4D97-AF65-F5344CB8AC3E}">
        <p14:creationId xmlns:p14="http://schemas.microsoft.com/office/powerpoint/2010/main" val="210577218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381000"/>
            <a:ext cx="8763000" cy="5745163"/>
          </a:xfrm>
        </p:spPr>
        <p:txBody>
          <a:bodyPr/>
          <a:lstStyle/>
          <a:p>
            <a:r>
              <a:rPr lang="en-US" sz="2400" b="1" u="sng" dirty="0" smtClean="0">
                <a:solidFill>
                  <a:srgbClr val="7030A0"/>
                </a:solidFill>
                <a:latin typeface="Bookman Old Style" pitchFamily="18" charset="0"/>
              </a:rPr>
              <a:t>Residential </a:t>
            </a:r>
            <a:r>
              <a:rPr lang="en-US" sz="2400" b="1" u="sng" dirty="0">
                <a:solidFill>
                  <a:srgbClr val="7030A0"/>
                </a:solidFill>
                <a:latin typeface="Bookman Old Style" pitchFamily="18" charset="0"/>
              </a:rPr>
              <a:t>Land</a:t>
            </a:r>
          </a:p>
          <a:p>
            <a:r>
              <a:rPr lang="en-US" sz="2400" dirty="0">
                <a:solidFill>
                  <a:schemeClr val="accent6">
                    <a:lumMod val="75000"/>
                  </a:schemeClr>
                </a:solidFill>
                <a:latin typeface="Bookman Old Style" pitchFamily="18" charset="0"/>
              </a:rPr>
              <a:t>Land designated for housing and human settlement.</a:t>
            </a:r>
          </a:p>
          <a:p>
            <a:r>
              <a:rPr lang="en-US" sz="2400" dirty="0">
                <a:solidFill>
                  <a:schemeClr val="accent6">
                    <a:lumMod val="75000"/>
                  </a:schemeClr>
                </a:solidFill>
                <a:latin typeface="Bookman Old Style" pitchFamily="18" charset="0"/>
              </a:rPr>
              <a:t>Includes:</a:t>
            </a:r>
          </a:p>
          <a:p>
            <a:pPr lvl="1"/>
            <a:r>
              <a:rPr lang="en-US" sz="2400" dirty="0">
                <a:solidFill>
                  <a:srgbClr val="0070C0"/>
                </a:solidFill>
                <a:latin typeface="Bookman Old Style" pitchFamily="18" charset="0"/>
              </a:rPr>
              <a:t>Urban plots</a:t>
            </a:r>
          </a:p>
          <a:p>
            <a:pPr lvl="1"/>
            <a:r>
              <a:rPr lang="en-US" sz="2400" dirty="0">
                <a:solidFill>
                  <a:srgbClr val="0070C0"/>
                </a:solidFill>
                <a:latin typeface="Bookman Old Style" pitchFamily="18" charset="0"/>
              </a:rPr>
              <a:t>Suburban neighborhoods</a:t>
            </a:r>
          </a:p>
          <a:p>
            <a:pPr lvl="1"/>
            <a:r>
              <a:rPr lang="en-US" sz="2400" dirty="0">
                <a:solidFill>
                  <a:srgbClr val="0070C0"/>
                </a:solidFill>
                <a:latin typeface="Bookman Old Style" pitchFamily="18" charset="0"/>
              </a:rPr>
              <a:t>Rural homesteads</a:t>
            </a:r>
          </a:p>
          <a:p>
            <a:endParaRPr lang="en-US" dirty="0"/>
          </a:p>
        </p:txBody>
      </p:sp>
      <p:pic>
        <p:nvPicPr>
          <p:cNvPr id="3074" name="Picture 2" descr="Visually searched image"/>
          <p:cNvPicPr>
            <a:picLocks noChangeAspect="1" noChangeArrowheads="1"/>
          </p:cNvPicPr>
          <p:nvPr/>
        </p:nvPicPr>
        <p:blipFill rotWithShape="1">
          <a:blip r:embed="rId2">
            <a:extLst>
              <a:ext uri="{28A0092B-C50C-407E-A947-70E740481C1C}">
                <a14:useLocalDpi xmlns:a14="http://schemas.microsoft.com/office/drawing/2010/main" val="0"/>
              </a:ext>
            </a:extLst>
          </a:blip>
          <a:srcRect b="8849"/>
          <a:stretch/>
        </p:blipFill>
        <p:spPr bwMode="auto">
          <a:xfrm>
            <a:off x="5029200" y="1219200"/>
            <a:ext cx="4031672" cy="54102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228600" y="3200400"/>
            <a:ext cx="4800600" cy="2677656"/>
          </a:xfrm>
          <a:prstGeom prst="rect">
            <a:avLst/>
          </a:prstGeom>
        </p:spPr>
        <p:txBody>
          <a:bodyPr wrap="square">
            <a:spAutoFit/>
          </a:bodyPr>
          <a:lstStyle/>
          <a:p>
            <a:pPr marL="342900" indent="-342900" algn="just">
              <a:buFont typeface="Arial" pitchFamily="34" charset="0"/>
              <a:buChar char="•"/>
            </a:pPr>
            <a:r>
              <a:rPr lang="en-US" sz="2400" b="1" u="sng" dirty="0">
                <a:solidFill>
                  <a:srgbClr val="7030A0"/>
                </a:solidFill>
                <a:latin typeface="Bookman Old Style" pitchFamily="18" charset="0"/>
              </a:rPr>
              <a:t>Commercial Land</a:t>
            </a:r>
          </a:p>
          <a:p>
            <a:pPr algn="just"/>
            <a:r>
              <a:rPr lang="en-US" sz="2400" dirty="0">
                <a:solidFill>
                  <a:srgbClr val="002060"/>
                </a:solidFill>
                <a:latin typeface="Bookman Old Style" pitchFamily="18" charset="0"/>
              </a:rPr>
              <a:t>Used for business and commercial purposes.</a:t>
            </a:r>
          </a:p>
          <a:p>
            <a:pPr algn="just"/>
            <a:r>
              <a:rPr lang="en-US" sz="2400" dirty="0">
                <a:latin typeface="Bookman Old Style" pitchFamily="18" charset="0"/>
              </a:rPr>
              <a:t>Examples:</a:t>
            </a:r>
          </a:p>
          <a:p>
            <a:pPr marL="800100" lvl="1" indent="-342900" algn="just">
              <a:buFont typeface="Arial" pitchFamily="34" charset="0"/>
              <a:buChar char="•"/>
            </a:pPr>
            <a:r>
              <a:rPr lang="en-US" sz="2400" dirty="0">
                <a:solidFill>
                  <a:srgbClr val="C00000"/>
                </a:solidFill>
                <a:latin typeface="Bookman Old Style" pitchFamily="18" charset="0"/>
              </a:rPr>
              <a:t>Retail stores</a:t>
            </a:r>
          </a:p>
          <a:p>
            <a:pPr marL="800100" lvl="1" indent="-342900" algn="just">
              <a:buFont typeface="Arial" pitchFamily="34" charset="0"/>
              <a:buChar char="•"/>
            </a:pPr>
            <a:r>
              <a:rPr lang="en-US" sz="2400" dirty="0">
                <a:solidFill>
                  <a:srgbClr val="C00000"/>
                </a:solidFill>
                <a:latin typeface="Bookman Old Style" pitchFamily="18" charset="0"/>
              </a:rPr>
              <a:t>Office buildings</a:t>
            </a:r>
          </a:p>
          <a:p>
            <a:pPr marL="800100" lvl="1" indent="-342900" algn="just">
              <a:buFont typeface="Arial" pitchFamily="34" charset="0"/>
              <a:buChar char="•"/>
            </a:pPr>
            <a:r>
              <a:rPr lang="en-US" sz="2400" dirty="0">
                <a:solidFill>
                  <a:srgbClr val="C00000"/>
                </a:solidFill>
                <a:latin typeface="Bookman Old Style" pitchFamily="18" charset="0"/>
              </a:rPr>
              <a:t>Shopping malls</a:t>
            </a:r>
          </a:p>
        </p:txBody>
      </p:sp>
    </p:spTree>
    <p:extLst>
      <p:ext uri="{BB962C8B-B14F-4D97-AF65-F5344CB8AC3E}">
        <p14:creationId xmlns:p14="http://schemas.microsoft.com/office/powerpoint/2010/main" val="42388577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04800"/>
            <a:ext cx="8686800" cy="6400800"/>
          </a:xfrm>
        </p:spPr>
        <p:txBody>
          <a:bodyPr/>
          <a:lstStyle/>
          <a:p>
            <a:pPr marL="0" indent="0" algn="just">
              <a:buNone/>
            </a:pPr>
            <a:r>
              <a:rPr lang="en-US" sz="2800" b="1" u="sng" dirty="0">
                <a:solidFill>
                  <a:srgbClr val="FF0000"/>
                </a:solidFill>
                <a:latin typeface="Bookman Old Style" pitchFamily="18" charset="0"/>
              </a:rPr>
              <a:t>Industrial Land</a:t>
            </a:r>
          </a:p>
          <a:p>
            <a:pPr algn="just"/>
            <a:r>
              <a:rPr lang="en-US" sz="2800" dirty="0">
                <a:solidFill>
                  <a:schemeClr val="tx2"/>
                </a:solidFill>
                <a:latin typeface="Bookman Old Style" pitchFamily="18" charset="0"/>
              </a:rPr>
              <a:t>Used for factories, warehouses, and production facilities.</a:t>
            </a:r>
          </a:p>
          <a:p>
            <a:pPr algn="just"/>
            <a:r>
              <a:rPr lang="en-US" sz="2800" dirty="0">
                <a:solidFill>
                  <a:schemeClr val="accent2">
                    <a:lumMod val="75000"/>
                  </a:schemeClr>
                </a:solidFill>
                <a:latin typeface="Bookman Old Style" pitchFamily="18" charset="0"/>
              </a:rPr>
              <a:t>Often located outside residential areas due to noise or pollution concerns.</a:t>
            </a:r>
          </a:p>
          <a:p>
            <a:pPr marL="0" indent="0">
              <a:buNone/>
            </a:pPr>
            <a:r>
              <a:rPr lang="en-US" sz="2800" b="1" u="sng" dirty="0">
                <a:solidFill>
                  <a:srgbClr val="C00000"/>
                </a:solidFill>
                <a:latin typeface="Bookman Old Style" pitchFamily="18" charset="0"/>
              </a:rPr>
              <a:t>Forest Land</a:t>
            </a:r>
          </a:p>
          <a:p>
            <a:r>
              <a:rPr lang="en-US" sz="2800" dirty="0">
                <a:solidFill>
                  <a:srgbClr val="0070C0"/>
                </a:solidFill>
                <a:latin typeface="Bookman Old Style" pitchFamily="18" charset="0"/>
              </a:rPr>
              <a:t>Covered with trees and vegetation.</a:t>
            </a:r>
          </a:p>
          <a:p>
            <a:r>
              <a:rPr lang="en-US" sz="2800" dirty="0">
                <a:latin typeface="Bookman Old Style" pitchFamily="18" charset="0"/>
              </a:rPr>
              <a:t>Important for:</a:t>
            </a:r>
          </a:p>
          <a:p>
            <a:pPr lvl="1"/>
            <a:r>
              <a:rPr lang="en-US" dirty="0">
                <a:solidFill>
                  <a:srgbClr val="00B050"/>
                </a:solidFill>
                <a:latin typeface="Bookman Old Style" pitchFamily="18" charset="0"/>
              </a:rPr>
              <a:t>Timber production</a:t>
            </a:r>
          </a:p>
          <a:p>
            <a:pPr lvl="1"/>
            <a:r>
              <a:rPr lang="en-US" dirty="0">
                <a:solidFill>
                  <a:srgbClr val="00B050"/>
                </a:solidFill>
                <a:latin typeface="Bookman Old Style" pitchFamily="18" charset="0"/>
              </a:rPr>
              <a:t>Wildlife habitat</a:t>
            </a:r>
          </a:p>
          <a:p>
            <a:pPr lvl="1"/>
            <a:r>
              <a:rPr lang="en-US" dirty="0">
                <a:solidFill>
                  <a:srgbClr val="00B050"/>
                </a:solidFill>
                <a:latin typeface="Bookman Old Style" pitchFamily="18" charset="0"/>
              </a:rPr>
              <a:t>Climate regulation</a:t>
            </a:r>
          </a:p>
          <a:p>
            <a:endParaRPr lang="en-US" dirty="0"/>
          </a:p>
        </p:txBody>
      </p:sp>
    </p:spTree>
    <p:extLst>
      <p:ext uri="{BB962C8B-B14F-4D97-AF65-F5344CB8AC3E}">
        <p14:creationId xmlns:p14="http://schemas.microsoft.com/office/powerpoint/2010/main" val="75219964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limate change beneath the World's forests: Tropical forests are  experiencing entirely new temperature regimes. | Research Communities by  Springer Natur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600" y="0"/>
            <a:ext cx="8763000" cy="670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53967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2400"/>
            <a:ext cx="8229600" cy="563562"/>
          </a:xfrm>
        </p:spPr>
        <p:txBody>
          <a:bodyPr>
            <a:normAutofit fontScale="90000"/>
          </a:bodyPr>
          <a:lstStyle/>
          <a:p>
            <a:r>
              <a:rPr lang="en-US" dirty="0" smtClean="0"/>
              <a:t>Types of forests</a:t>
            </a:r>
            <a:endParaRPr lang="en-US" dirty="0"/>
          </a:p>
        </p:txBody>
      </p:sp>
      <p:pic>
        <p:nvPicPr>
          <p:cNvPr id="1026" name="Picture 2" descr="Boreal Forest/Taiga Biome - Let's Talk Scien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57800" y="609600"/>
            <a:ext cx="3886200" cy="35052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381000" y="854517"/>
            <a:ext cx="3733800" cy="1200329"/>
          </a:xfrm>
          <a:prstGeom prst="rect">
            <a:avLst/>
          </a:prstGeom>
          <a:noFill/>
        </p:spPr>
        <p:txBody>
          <a:bodyPr wrap="square" rtlCol="0">
            <a:spAutoFit/>
          </a:bodyPr>
          <a:lstStyle/>
          <a:p>
            <a:pPr marL="342900" indent="-342900">
              <a:buAutoNum type="arabicPeriod"/>
            </a:pPr>
            <a:r>
              <a:rPr lang="en-US" sz="2400" dirty="0" smtClean="0">
                <a:latin typeface="Times New Roman" pitchFamily="18" charset="0"/>
                <a:cs typeface="Times New Roman" pitchFamily="18" charset="0"/>
              </a:rPr>
              <a:t>Tropical forests</a:t>
            </a:r>
          </a:p>
          <a:p>
            <a:pPr marL="342900" indent="-342900">
              <a:buAutoNum type="arabicPeriod"/>
            </a:pPr>
            <a:r>
              <a:rPr lang="en-US" sz="2400" dirty="0" smtClean="0">
                <a:latin typeface="Times New Roman" pitchFamily="18" charset="0"/>
                <a:cs typeface="Times New Roman" pitchFamily="18" charset="0"/>
              </a:rPr>
              <a:t>Temperature forests</a:t>
            </a:r>
          </a:p>
          <a:p>
            <a:pPr marL="342900" indent="-342900">
              <a:buAutoNum type="arabicPeriod"/>
            </a:pPr>
            <a:r>
              <a:rPr lang="en-US" sz="2400" dirty="0" smtClean="0">
                <a:latin typeface="Times New Roman" pitchFamily="18" charset="0"/>
                <a:cs typeface="Times New Roman" pitchFamily="18" charset="0"/>
              </a:rPr>
              <a:t>Boreal forests</a:t>
            </a:r>
            <a:endParaRPr lang="en-US" sz="2400" dirty="0">
              <a:latin typeface="Times New Roman" pitchFamily="18" charset="0"/>
              <a:cs typeface="Times New Roman" pitchFamily="18" charset="0"/>
            </a:endParaRPr>
          </a:p>
        </p:txBody>
      </p:sp>
      <p:pic>
        <p:nvPicPr>
          <p:cNvPr id="1028" name="Picture 4" descr="Types of Forests in India - Evergreen, Deciduous, Thorny, Montane, Littoral  Swamp"/>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 y="2054846"/>
            <a:ext cx="4495800" cy="244095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37+ Thousand Temperate Forest Royalty-Free Images, Stock Photos &amp; Pictures  | Shutterstock"/>
          <p:cNvPicPr>
            <a:picLocks noChangeAspect="1" noChangeArrowheads="1"/>
          </p:cNvPicPr>
          <p:nvPr/>
        </p:nvPicPr>
        <p:blipFill rotWithShape="1">
          <a:blip r:embed="rId4">
            <a:extLst>
              <a:ext uri="{28A0092B-C50C-407E-A947-70E740481C1C}">
                <a14:useLocalDpi xmlns:a14="http://schemas.microsoft.com/office/drawing/2010/main" val="0"/>
              </a:ext>
            </a:extLst>
          </a:blip>
          <a:srcRect l="99" t="12789" r="-99" b="7075"/>
          <a:stretch/>
        </p:blipFill>
        <p:spPr bwMode="auto">
          <a:xfrm>
            <a:off x="3352800" y="4561115"/>
            <a:ext cx="4810125" cy="2333171"/>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6259739" y="4128923"/>
            <a:ext cx="1542089" cy="369332"/>
          </a:xfrm>
          <a:prstGeom prst="rect">
            <a:avLst/>
          </a:prstGeom>
        </p:spPr>
        <p:txBody>
          <a:bodyPr wrap="none">
            <a:spAutoFit/>
          </a:bodyPr>
          <a:lstStyle/>
          <a:p>
            <a:r>
              <a:rPr lang="en-US" b="1" dirty="0">
                <a:solidFill>
                  <a:srgbClr val="FF0000"/>
                </a:solidFill>
                <a:latin typeface="Times New Roman" pitchFamily="18" charset="0"/>
                <a:cs typeface="Times New Roman" pitchFamily="18" charset="0"/>
              </a:rPr>
              <a:t>Boreal forests</a:t>
            </a:r>
          </a:p>
        </p:txBody>
      </p:sp>
      <p:sp>
        <p:nvSpPr>
          <p:cNvPr id="6" name="Rectangle 5"/>
          <p:cNvSpPr/>
          <p:nvPr/>
        </p:nvSpPr>
        <p:spPr>
          <a:xfrm>
            <a:off x="838200" y="6400800"/>
            <a:ext cx="2392899" cy="400110"/>
          </a:xfrm>
          <a:prstGeom prst="rect">
            <a:avLst/>
          </a:prstGeom>
        </p:spPr>
        <p:txBody>
          <a:bodyPr wrap="none">
            <a:spAutoFit/>
          </a:bodyPr>
          <a:lstStyle/>
          <a:p>
            <a:r>
              <a:rPr lang="en-US" sz="2000" b="1" dirty="0">
                <a:solidFill>
                  <a:srgbClr val="FF0000"/>
                </a:solidFill>
                <a:latin typeface="Times New Roman" pitchFamily="18" charset="0"/>
                <a:cs typeface="Times New Roman" pitchFamily="18" charset="0"/>
              </a:rPr>
              <a:t>Temperature forests</a:t>
            </a:r>
          </a:p>
        </p:txBody>
      </p:sp>
      <p:sp>
        <p:nvSpPr>
          <p:cNvPr id="7" name="Rectangle 6"/>
          <p:cNvSpPr/>
          <p:nvPr/>
        </p:nvSpPr>
        <p:spPr>
          <a:xfrm>
            <a:off x="609600" y="4589752"/>
            <a:ext cx="1884427" cy="400110"/>
          </a:xfrm>
          <a:prstGeom prst="rect">
            <a:avLst/>
          </a:prstGeom>
        </p:spPr>
        <p:txBody>
          <a:bodyPr wrap="none">
            <a:spAutoFit/>
          </a:bodyPr>
          <a:lstStyle/>
          <a:p>
            <a:r>
              <a:rPr lang="en-US" sz="2000" b="1" dirty="0">
                <a:solidFill>
                  <a:srgbClr val="FF0000"/>
                </a:solidFill>
                <a:latin typeface="Times New Roman" pitchFamily="18" charset="0"/>
                <a:cs typeface="Times New Roman" pitchFamily="18" charset="0"/>
              </a:rPr>
              <a:t>Tropical forests</a:t>
            </a:r>
          </a:p>
        </p:txBody>
      </p:sp>
    </p:spTree>
    <p:extLst>
      <p:ext uri="{BB962C8B-B14F-4D97-AF65-F5344CB8AC3E}">
        <p14:creationId xmlns:p14="http://schemas.microsoft.com/office/powerpoint/2010/main" val="780824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2400" y="304800"/>
            <a:ext cx="4572000" cy="2677656"/>
          </a:xfrm>
          <a:prstGeom prst="rect">
            <a:avLst/>
          </a:prstGeom>
        </p:spPr>
        <p:txBody>
          <a:bodyPr>
            <a:spAutoFit/>
          </a:bodyPr>
          <a:lstStyle/>
          <a:p>
            <a:pPr marL="342900" indent="-342900" algn="just">
              <a:buFont typeface="Wingdings" pitchFamily="2" charset="2"/>
              <a:buChar char="Ø"/>
            </a:pPr>
            <a:r>
              <a:rPr lang="en-US" sz="2400" b="1" u="sng" dirty="0">
                <a:solidFill>
                  <a:schemeClr val="accent2"/>
                </a:solidFill>
                <a:latin typeface="Bookman Old Style" pitchFamily="18" charset="0"/>
              </a:rPr>
              <a:t>Recreational </a:t>
            </a:r>
            <a:r>
              <a:rPr lang="en-US" sz="2400" b="1" u="sng" dirty="0" smtClean="0">
                <a:solidFill>
                  <a:schemeClr val="accent2"/>
                </a:solidFill>
                <a:latin typeface="Bookman Old Style" pitchFamily="18" charset="0"/>
              </a:rPr>
              <a:t>Land</a:t>
            </a:r>
          </a:p>
          <a:p>
            <a:pPr algn="just"/>
            <a:r>
              <a:rPr lang="en-US" sz="2400" dirty="0" smtClean="0">
                <a:solidFill>
                  <a:srgbClr val="C00000"/>
                </a:solidFill>
                <a:latin typeface="Bookman Old Style" pitchFamily="18" charset="0"/>
              </a:rPr>
              <a:t>Set </a:t>
            </a:r>
            <a:r>
              <a:rPr lang="en-US" sz="2400" dirty="0">
                <a:solidFill>
                  <a:srgbClr val="C00000"/>
                </a:solidFill>
                <a:latin typeface="Bookman Old Style" pitchFamily="18" charset="0"/>
              </a:rPr>
              <a:t>aside for leisure and </a:t>
            </a:r>
            <a:r>
              <a:rPr lang="en-US" sz="2400" dirty="0" smtClean="0">
                <a:solidFill>
                  <a:srgbClr val="C00000"/>
                </a:solidFill>
                <a:latin typeface="Bookman Old Style" pitchFamily="18" charset="0"/>
              </a:rPr>
              <a:t>public use.</a:t>
            </a:r>
          </a:p>
          <a:p>
            <a:pPr algn="just"/>
            <a:r>
              <a:rPr lang="en-US" sz="2400" dirty="0" smtClean="0">
                <a:latin typeface="Bookman Old Style" pitchFamily="18" charset="0"/>
              </a:rPr>
              <a:t>Includes:</a:t>
            </a:r>
          </a:p>
          <a:p>
            <a:pPr marL="285750" indent="-285750" algn="just">
              <a:buFont typeface="Wingdings" pitchFamily="2" charset="2"/>
              <a:buChar char="v"/>
            </a:pPr>
            <a:r>
              <a:rPr lang="en-US" sz="2400" dirty="0" smtClean="0">
                <a:solidFill>
                  <a:srgbClr val="0070C0"/>
                </a:solidFill>
                <a:latin typeface="Bookman Old Style" pitchFamily="18" charset="0"/>
              </a:rPr>
              <a:t>Parks</a:t>
            </a:r>
          </a:p>
          <a:p>
            <a:pPr marL="285750" indent="-285750" algn="just">
              <a:buFont typeface="Wingdings" pitchFamily="2" charset="2"/>
              <a:buChar char="v"/>
            </a:pPr>
            <a:r>
              <a:rPr lang="en-US" sz="2400" dirty="0" smtClean="0">
                <a:solidFill>
                  <a:srgbClr val="0070C0"/>
                </a:solidFill>
                <a:latin typeface="Bookman Old Style" pitchFamily="18" charset="0"/>
              </a:rPr>
              <a:t>Sports fields</a:t>
            </a:r>
          </a:p>
          <a:p>
            <a:pPr marL="285750" indent="-285750" algn="just">
              <a:buFont typeface="Wingdings" pitchFamily="2" charset="2"/>
              <a:buChar char="v"/>
            </a:pPr>
            <a:r>
              <a:rPr lang="en-US" sz="2400" dirty="0" smtClean="0">
                <a:solidFill>
                  <a:srgbClr val="0070C0"/>
                </a:solidFill>
                <a:latin typeface="Bookman Old Style" pitchFamily="18" charset="0"/>
              </a:rPr>
              <a:t>Nature </a:t>
            </a:r>
            <a:r>
              <a:rPr lang="en-US" sz="2400" dirty="0">
                <a:solidFill>
                  <a:srgbClr val="0070C0"/>
                </a:solidFill>
                <a:latin typeface="Bookman Old Style" pitchFamily="18" charset="0"/>
              </a:rPr>
              <a:t>reserves</a:t>
            </a:r>
          </a:p>
        </p:txBody>
      </p:sp>
      <p:sp>
        <p:nvSpPr>
          <p:cNvPr id="5" name="Rectangle 4"/>
          <p:cNvSpPr/>
          <p:nvPr/>
        </p:nvSpPr>
        <p:spPr>
          <a:xfrm>
            <a:off x="4724400" y="381000"/>
            <a:ext cx="4191000" cy="3416320"/>
          </a:xfrm>
          <a:prstGeom prst="rect">
            <a:avLst/>
          </a:prstGeom>
        </p:spPr>
        <p:txBody>
          <a:bodyPr wrap="square">
            <a:spAutoFit/>
          </a:bodyPr>
          <a:lstStyle/>
          <a:p>
            <a:pPr marL="342900" indent="-342900" algn="just">
              <a:buFont typeface="Wingdings" pitchFamily="2" charset="2"/>
              <a:buChar char="Ø"/>
            </a:pPr>
            <a:r>
              <a:rPr lang="en-US" sz="2400" b="1" u="sng" dirty="0">
                <a:solidFill>
                  <a:srgbClr val="0070C0"/>
                </a:solidFill>
                <a:latin typeface="Bookman Old Style" pitchFamily="18" charset="0"/>
              </a:rPr>
              <a:t>Desert and Barren Land</a:t>
            </a:r>
          </a:p>
          <a:p>
            <a:pPr algn="just"/>
            <a:r>
              <a:rPr lang="en-US" sz="2400" dirty="0">
                <a:solidFill>
                  <a:srgbClr val="C00000"/>
                </a:solidFill>
                <a:latin typeface="Bookman Old Style" pitchFamily="18" charset="0"/>
              </a:rPr>
              <a:t>Land with little or no vegetation.</a:t>
            </a:r>
          </a:p>
          <a:p>
            <a:pPr algn="just"/>
            <a:r>
              <a:rPr lang="en-US" sz="2400" dirty="0">
                <a:latin typeface="Bookman Old Style" pitchFamily="18" charset="0"/>
              </a:rPr>
              <a:t>Includes:</a:t>
            </a:r>
          </a:p>
          <a:p>
            <a:pPr marL="800100" lvl="1" indent="-342900" algn="just">
              <a:buFont typeface="Wingdings" pitchFamily="2" charset="2"/>
              <a:buChar char="v"/>
            </a:pPr>
            <a:r>
              <a:rPr lang="en-US" sz="2400" dirty="0">
                <a:solidFill>
                  <a:srgbClr val="0070C0"/>
                </a:solidFill>
                <a:latin typeface="Bookman Old Style" pitchFamily="18" charset="0"/>
              </a:rPr>
              <a:t>Deserts</a:t>
            </a:r>
          </a:p>
          <a:p>
            <a:pPr marL="800100" lvl="1" indent="-342900" algn="just">
              <a:buFont typeface="Wingdings" pitchFamily="2" charset="2"/>
              <a:buChar char="v"/>
            </a:pPr>
            <a:r>
              <a:rPr lang="en-US" sz="2400" dirty="0">
                <a:solidFill>
                  <a:srgbClr val="0070C0"/>
                </a:solidFill>
                <a:latin typeface="Bookman Old Style" pitchFamily="18" charset="0"/>
              </a:rPr>
              <a:t>Rocky areas</a:t>
            </a:r>
          </a:p>
          <a:p>
            <a:pPr marL="800100" lvl="1" indent="-342900" algn="just">
              <a:buFont typeface="Wingdings" pitchFamily="2" charset="2"/>
              <a:buChar char="v"/>
            </a:pPr>
            <a:r>
              <a:rPr lang="en-US" sz="2400" dirty="0">
                <a:solidFill>
                  <a:srgbClr val="0070C0"/>
                </a:solidFill>
                <a:latin typeface="Bookman Old Style" pitchFamily="18" charset="0"/>
              </a:rPr>
              <a:t>Land not suitable for cultivation</a:t>
            </a:r>
          </a:p>
        </p:txBody>
      </p:sp>
      <p:sp>
        <p:nvSpPr>
          <p:cNvPr id="6" name="Rectangle 5"/>
          <p:cNvSpPr/>
          <p:nvPr/>
        </p:nvSpPr>
        <p:spPr>
          <a:xfrm>
            <a:off x="173182" y="3581400"/>
            <a:ext cx="4856018" cy="2677656"/>
          </a:xfrm>
          <a:prstGeom prst="rect">
            <a:avLst/>
          </a:prstGeom>
        </p:spPr>
        <p:txBody>
          <a:bodyPr wrap="square">
            <a:spAutoFit/>
          </a:bodyPr>
          <a:lstStyle/>
          <a:p>
            <a:pPr marL="342900" indent="-342900" algn="just">
              <a:buFont typeface="Wingdings" pitchFamily="2" charset="2"/>
              <a:buChar char="Ø"/>
            </a:pPr>
            <a:r>
              <a:rPr lang="en-US" sz="2400" b="1" u="sng" dirty="0">
                <a:solidFill>
                  <a:srgbClr val="002060"/>
                </a:solidFill>
                <a:latin typeface="Bookman Old Style" pitchFamily="18" charset="0"/>
              </a:rPr>
              <a:t>Mining and Resource </a:t>
            </a:r>
            <a:r>
              <a:rPr lang="en-US" sz="2400" b="1" u="sng" dirty="0" smtClean="0">
                <a:solidFill>
                  <a:srgbClr val="002060"/>
                </a:solidFill>
                <a:latin typeface="Bookman Old Style" pitchFamily="18" charset="0"/>
              </a:rPr>
              <a:t>Land</a:t>
            </a:r>
          </a:p>
          <a:p>
            <a:pPr algn="just"/>
            <a:r>
              <a:rPr lang="en-US" sz="2400" dirty="0" smtClean="0">
                <a:solidFill>
                  <a:srgbClr val="C00000"/>
                </a:solidFill>
                <a:latin typeface="Bookman Old Style" pitchFamily="18" charset="0"/>
              </a:rPr>
              <a:t>Land </a:t>
            </a:r>
            <a:r>
              <a:rPr lang="en-US" sz="2400" dirty="0">
                <a:solidFill>
                  <a:srgbClr val="C00000"/>
                </a:solidFill>
                <a:latin typeface="Bookman Old Style" pitchFamily="18" charset="0"/>
              </a:rPr>
              <a:t>used for extracting natural resources</a:t>
            </a:r>
            <a:r>
              <a:rPr lang="en-US" sz="2400" dirty="0" smtClean="0">
                <a:solidFill>
                  <a:srgbClr val="C00000"/>
                </a:solidFill>
                <a:latin typeface="Bookman Old Style" pitchFamily="18" charset="0"/>
              </a:rPr>
              <a:t>.</a:t>
            </a:r>
          </a:p>
          <a:p>
            <a:pPr algn="just"/>
            <a:r>
              <a:rPr lang="en-US" sz="2400" dirty="0" smtClean="0">
                <a:latin typeface="Bookman Old Style" pitchFamily="18" charset="0"/>
              </a:rPr>
              <a:t>Examples:</a:t>
            </a:r>
          </a:p>
          <a:p>
            <a:pPr marL="285750" indent="-285750" algn="just">
              <a:buFont typeface="Wingdings" pitchFamily="2" charset="2"/>
              <a:buChar char="§"/>
            </a:pPr>
            <a:r>
              <a:rPr lang="en-US" sz="2400" dirty="0" smtClean="0">
                <a:solidFill>
                  <a:srgbClr val="0070C0"/>
                </a:solidFill>
                <a:latin typeface="Bookman Old Style" pitchFamily="18" charset="0"/>
              </a:rPr>
              <a:t>Coal mines</a:t>
            </a:r>
          </a:p>
          <a:p>
            <a:pPr marL="285750" indent="-285750" algn="just">
              <a:buFont typeface="Wingdings" pitchFamily="2" charset="2"/>
              <a:buChar char="§"/>
            </a:pPr>
            <a:r>
              <a:rPr lang="en-US" sz="2400" dirty="0" smtClean="0">
                <a:solidFill>
                  <a:srgbClr val="0070C0"/>
                </a:solidFill>
                <a:latin typeface="Bookman Old Style" pitchFamily="18" charset="0"/>
              </a:rPr>
              <a:t>Oil fields</a:t>
            </a:r>
          </a:p>
          <a:p>
            <a:pPr marL="285750" indent="-285750" algn="just">
              <a:buFont typeface="Wingdings" pitchFamily="2" charset="2"/>
              <a:buChar char="§"/>
            </a:pPr>
            <a:r>
              <a:rPr lang="en-US" sz="2400" dirty="0" smtClean="0">
                <a:solidFill>
                  <a:srgbClr val="0070C0"/>
                </a:solidFill>
                <a:latin typeface="Bookman Old Style" pitchFamily="18" charset="0"/>
              </a:rPr>
              <a:t>Quarries</a:t>
            </a:r>
            <a:endParaRPr lang="en-US" sz="2400" dirty="0">
              <a:solidFill>
                <a:srgbClr val="0070C0"/>
              </a:solidFill>
              <a:latin typeface="Bookman Old Style" pitchFamily="18" charset="0"/>
            </a:endParaRPr>
          </a:p>
        </p:txBody>
      </p:sp>
    </p:spTree>
    <p:extLst>
      <p:ext uri="{BB962C8B-B14F-4D97-AF65-F5344CB8AC3E}">
        <p14:creationId xmlns:p14="http://schemas.microsoft.com/office/powerpoint/2010/main" val="354877853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undefined"/>
          <p:cNvPicPr>
            <a:picLocks noChangeAspect="1" noChangeArrowheads="1"/>
          </p:cNvPicPr>
          <p:nvPr/>
        </p:nvPicPr>
        <p:blipFill rotWithShape="1">
          <a:blip r:embed="rId2">
            <a:extLst>
              <a:ext uri="{28A0092B-C50C-407E-A947-70E740481C1C}">
                <a14:useLocalDpi xmlns:a14="http://schemas.microsoft.com/office/drawing/2010/main" val="0"/>
              </a:ext>
            </a:extLst>
          </a:blip>
          <a:srcRect b="7529"/>
          <a:stretch/>
        </p:blipFill>
        <p:spPr bwMode="auto">
          <a:xfrm>
            <a:off x="152400" y="152400"/>
            <a:ext cx="8839200" cy="670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218618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229600" cy="715962"/>
          </a:xfrm>
        </p:spPr>
        <p:txBody>
          <a:bodyPr>
            <a:normAutofit/>
          </a:bodyPr>
          <a:lstStyle/>
          <a:p>
            <a:pPr algn="l"/>
            <a:r>
              <a:rPr lang="en-US" sz="2400" b="1" u="sng" dirty="0" smtClean="0">
                <a:solidFill>
                  <a:schemeClr val="accent2"/>
                </a:solidFill>
                <a:latin typeface="Bookman Old Style" pitchFamily="18" charset="0"/>
              </a:rPr>
              <a:t>CONSERVATION OF LAND FORMS</a:t>
            </a:r>
            <a:endParaRPr lang="en-US" sz="2400" b="1" u="sng" dirty="0">
              <a:solidFill>
                <a:schemeClr val="accent2"/>
              </a:solidFill>
              <a:latin typeface="Bookman Old Style" pitchFamily="18" charset="0"/>
            </a:endParaRPr>
          </a:p>
        </p:txBody>
      </p:sp>
      <p:sp>
        <p:nvSpPr>
          <p:cNvPr id="3" name="Content Placeholder 2"/>
          <p:cNvSpPr>
            <a:spLocks noGrp="1"/>
          </p:cNvSpPr>
          <p:nvPr>
            <p:ph idx="1"/>
          </p:nvPr>
        </p:nvSpPr>
        <p:spPr>
          <a:xfrm>
            <a:off x="228600" y="762000"/>
            <a:ext cx="8686800" cy="5562600"/>
          </a:xfrm>
        </p:spPr>
        <p:txBody>
          <a:bodyPr>
            <a:normAutofit/>
          </a:bodyPr>
          <a:lstStyle/>
          <a:p>
            <a:pPr algn="just"/>
            <a:r>
              <a:rPr lang="en-US" sz="2400" b="1" u="sng" dirty="0">
                <a:solidFill>
                  <a:srgbClr val="FF0000"/>
                </a:solidFill>
                <a:latin typeface="Bookman Old Style" pitchFamily="18" charset="0"/>
              </a:rPr>
              <a:t>Conservation of landforms</a:t>
            </a:r>
            <a:r>
              <a:rPr lang="en-US" sz="2400" u="sng" dirty="0">
                <a:solidFill>
                  <a:srgbClr val="FF0000"/>
                </a:solidFill>
                <a:latin typeface="Bookman Old Style" pitchFamily="18" charset="0"/>
              </a:rPr>
              <a:t> </a:t>
            </a:r>
            <a:r>
              <a:rPr lang="en-US" sz="2400" dirty="0">
                <a:solidFill>
                  <a:srgbClr val="0070C0"/>
                </a:solidFill>
                <a:latin typeface="Bookman Old Style" pitchFamily="18" charset="0"/>
              </a:rPr>
              <a:t>refers to the protection and sustainable management of natural physical features of the Earth, such as mountains, valleys, plateaus, hills, deserts, and coastal areas, to prevent degradation, preserve ecosystems, and maintain natural beauty</a:t>
            </a:r>
            <a:r>
              <a:rPr lang="en-US" sz="2400" dirty="0" smtClean="0">
                <a:solidFill>
                  <a:srgbClr val="0070C0"/>
                </a:solidFill>
                <a:latin typeface="Bookman Old Style" pitchFamily="18" charset="0"/>
              </a:rPr>
              <a:t>.</a:t>
            </a:r>
          </a:p>
          <a:p>
            <a:pPr marL="0" indent="0">
              <a:buNone/>
            </a:pPr>
            <a:r>
              <a:rPr lang="en-US" sz="2400" b="1" u="sng" dirty="0">
                <a:solidFill>
                  <a:srgbClr val="FF0000"/>
                </a:solidFill>
                <a:latin typeface="Bookman Old Style" pitchFamily="18" charset="0"/>
              </a:rPr>
              <a:t>Why Conservation of Landforms Is Important:</a:t>
            </a:r>
          </a:p>
          <a:p>
            <a:r>
              <a:rPr lang="en-US" sz="2400" dirty="0">
                <a:solidFill>
                  <a:srgbClr val="0070C0"/>
                </a:solidFill>
                <a:latin typeface="Bookman Old Style" pitchFamily="18" charset="0"/>
              </a:rPr>
              <a:t>Prevents erosion and degradation</a:t>
            </a:r>
          </a:p>
          <a:p>
            <a:r>
              <a:rPr lang="en-US" sz="2400" dirty="0">
                <a:solidFill>
                  <a:srgbClr val="002060"/>
                </a:solidFill>
                <a:latin typeface="Bookman Old Style" pitchFamily="18" charset="0"/>
              </a:rPr>
              <a:t>Protects biodiversity and habitats</a:t>
            </a:r>
          </a:p>
          <a:p>
            <a:r>
              <a:rPr lang="en-US" sz="2400" dirty="0">
                <a:solidFill>
                  <a:srgbClr val="C00000"/>
                </a:solidFill>
                <a:latin typeface="Bookman Old Style" pitchFamily="18" charset="0"/>
              </a:rPr>
              <a:t>Preserves natural beauty and cultural heritage</a:t>
            </a:r>
          </a:p>
          <a:p>
            <a:r>
              <a:rPr lang="en-US" sz="2400" dirty="0">
                <a:solidFill>
                  <a:srgbClr val="002060"/>
                </a:solidFill>
                <a:latin typeface="Bookman Old Style" pitchFamily="18" charset="0"/>
              </a:rPr>
              <a:t>Supports sustainable tourism and livelihoods</a:t>
            </a:r>
          </a:p>
          <a:p>
            <a:r>
              <a:rPr lang="en-US" sz="2400" dirty="0">
                <a:latin typeface="Bookman Old Style" pitchFamily="18" charset="0"/>
              </a:rPr>
              <a:t>Reduces impact of climate change and natural disasters</a:t>
            </a:r>
          </a:p>
          <a:p>
            <a:pPr algn="just"/>
            <a:endParaRPr lang="en-US" sz="2400" dirty="0">
              <a:solidFill>
                <a:srgbClr val="0070C0"/>
              </a:solidFill>
              <a:latin typeface="Bookman Old Style" pitchFamily="18" charset="0"/>
            </a:endParaRPr>
          </a:p>
        </p:txBody>
      </p:sp>
    </p:spTree>
    <p:extLst>
      <p:ext uri="{BB962C8B-B14F-4D97-AF65-F5344CB8AC3E}">
        <p14:creationId xmlns:p14="http://schemas.microsoft.com/office/powerpoint/2010/main" val="22961481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Autofit/>
          </a:bodyPr>
          <a:lstStyle/>
          <a:p>
            <a:r>
              <a:rPr lang="en-US" sz="2800" b="1" dirty="0">
                <a:solidFill>
                  <a:srgbClr val="FF0000"/>
                </a:solidFill>
                <a:latin typeface="Bookman Old Style" pitchFamily="18" charset="0"/>
              </a:rPr>
              <a:t>Major Landforms &amp; Their Conservation </a:t>
            </a:r>
            <a:r>
              <a:rPr lang="en-US" sz="2800" b="1" dirty="0" smtClean="0">
                <a:solidFill>
                  <a:srgbClr val="FF0000"/>
                </a:solidFill>
                <a:latin typeface="Bookman Old Style" pitchFamily="18" charset="0"/>
              </a:rPr>
              <a:t>Methods</a:t>
            </a:r>
            <a:endParaRPr lang="en-US" sz="2800" b="1" dirty="0">
              <a:solidFill>
                <a:srgbClr val="FF0000"/>
              </a:solidFill>
              <a:latin typeface="Bookman Old Style" pitchFamily="18" charset="0"/>
            </a:endParaRPr>
          </a:p>
        </p:txBody>
      </p:sp>
      <p:sp>
        <p:nvSpPr>
          <p:cNvPr id="4" name="Rectangle 3"/>
          <p:cNvSpPr/>
          <p:nvPr/>
        </p:nvSpPr>
        <p:spPr>
          <a:xfrm>
            <a:off x="304800" y="1219200"/>
            <a:ext cx="4038600" cy="4154984"/>
          </a:xfrm>
          <a:prstGeom prst="rect">
            <a:avLst/>
          </a:prstGeom>
        </p:spPr>
        <p:txBody>
          <a:bodyPr wrap="square">
            <a:spAutoFit/>
          </a:bodyPr>
          <a:lstStyle/>
          <a:p>
            <a:pPr algn="just"/>
            <a:r>
              <a:rPr lang="en-US" sz="2400" b="1" dirty="0">
                <a:latin typeface="Bookman Old Style" pitchFamily="18" charset="0"/>
              </a:rPr>
              <a:t>1. Mountains</a:t>
            </a:r>
          </a:p>
          <a:p>
            <a:pPr algn="just"/>
            <a:r>
              <a:rPr lang="en-US" sz="2400" b="1" dirty="0">
                <a:solidFill>
                  <a:schemeClr val="accent6">
                    <a:lumMod val="75000"/>
                  </a:schemeClr>
                </a:solidFill>
                <a:latin typeface="Bookman Old Style" pitchFamily="18" charset="0"/>
              </a:rPr>
              <a:t>Threats:</a:t>
            </a:r>
            <a:r>
              <a:rPr lang="en-US" sz="2400" dirty="0">
                <a:solidFill>
                  <a:schemeClr val="accent6">
                    <a:lumMod val="75000"/>
                  </a:schemeClr>
                </a:solidFill>
                <a:latin typeface="Bookman Old Style" pitchFamily="18" charset="0"/>
              </a:rPr>
              <a:t> Deforestation, landslides, mining</a:t>
            </a:r>
          </a:p>
          <a:p>
            <a:pPr algn="just"/>
            <a:r>
              <a:rPr lang="en-US" sz="2400" b="1" dirty="0">
                <a:latin typeface="Bookman Old Style" pitchFamily="18" charset="0"/>
              </a:rPr>
              <a:t>Conservation Methods:</a:t>
            </a:r>
            <a:endParaRPr lang="en-US" sz="2400" dirty="0">
              <a:latin typeface="Bookman Old Style" pitchFamily="18" charset="0"/>
            </a:endParaRPr>
          </a:p>
          <a:p>
            <a:pPr marL="800100" lvl="1" indent="-342900" algn="just">
              <a:buFont typeface="Wingdings" pitchFamily="2" charset="2"/>
              <a:buChar char="Ø"/>
            </a:pPr>
            <a:r>
              <a:rPr lang="en-US" sz="2400" dirty="0">
                <a:solidFill>
                  <a:srgbClr val="002060"/>
                </a:solidFill>
                <a:latin typeface="Bookman Old Style" pitchFamily="18" charset="0"/>
              </a:rPr>
              <a:t>Reforestation and afforestation</a:t>
            </a:r>
          </a:p>
          <a:p>
            <a:pPr marL="800100" lvl="1" indent="-342900" algn="just">
              <a:buFont typeface="Wingdings" pitchFamily="2" charset="2"/>
              <a:buChar char="Ø"/>
            </a:pPr>
            <a:r>
              <a:rPr lang="en-US" sz="2400" dirty="0">
                <a:solidFill>
                  <a:srgbClr val="002060"/>
                </a:solidFill>
                <a:latin typeface="Bookman Old Style" pitchFamily="18" charset="0"/>
              </a:rPr>
              <a:t>Controlled tourism</a:t>
            </a:r>
          </a:p>
          <a:p>
            <a:pPr marL="800100" lvl="1" indent="-342900" algn="just">
              <a:buFont typeface="Wingdings" pitchFamily="2" charset="2"/>
              <a:buChar char="Ø"/>
            </a:pPr>
            <a:r>
              <a:rPr lang="en-US" sz="2400" dirty="0">
                <a:solidFill>
                  <a:srgbClr val="002060"/>
                </a:solidFill>
                <a:latin typeface="Bookman Old Style" pitchFamily="18" charset="0"/>
              </a:rPr>
              <a:t>Terracing to prevent erosion</a:t>
            </a:r>
          </a:p>
          <a:p>
            <a:pPr marL="800100" lvl="1" indent="-342900" algn="just">
              <a:buFont typeface="Wingdings" pitchFamily="2" charset="2"/>
              <a:buChar char="Ø"/>
            </a:pPr>
            <a:r>
              <a:rPr lang="en-US" sz="2400" dirty="0">
                <a:solidFill>
                  <a:srgbClr val="002060"/>
                </a:solidFill>
                <a:latin typeface="Bookman Old Style" pitchFamily="18" charset="0"/>
              </a:rPr>
              <a:t>Banning harmful mining practices</a:t>
            </a:r>
          </a:p>
        </p:txBody>
      </p:sp>
      <p:sp>
        <p:nvSpPr>
          <p:cNvPr id="5" name="Rectangle 4"/>
          <p:cNvSpPr/>
          <p:nvPr/>
        </p:nvSpPr>
        <p:spPr>
          <a:xfrm>
            <a:off x="4495800" y="1220213"/>
            <a:ext cx="4419600" cy="3785652"/>
          </a:xfrm>
          <a:prstGeom prst="rect">
            <a:avLst/>
          </a:prstGeom>
        </p:spPr>
        <p:txBody>
          <a:bodyPr wrap="square">
            <a:spAutoFit/>
          </a:bodyPr>
          <a:lstStyle/>
          <a:p>
            <a:pPr algn="just"/>
            <a:r>
              <a:rPr lang="en-US" sz="2400" b="1" dirty="0" smtClean="0">
                <a:latin typeface="Bookman Old Style" pitchFamily="18" charset="0"/>
              </a:rPr>
              <a:t>2. Plains</a:t>
            </a:r>
            <a:endParaRPr lang="en-US" sz="2400" b="1" dirty="0">
              <a:latin typeface="Bookman Old Style" pitchFamily="18" charset="0"/>
            </a:endParaRPr>
          </a:p>
          <a:p>
            <a:pPr algn="just"/>
            <a:r>
              <a:rPr lang="en-US" sz="2400" b="1" dirty="0">
                <a:solidFill>
                  <a:schemeClr val="tx2"/>
                </a:solidFill>
                <a:latin typeface="Bookman Old Style" pitchFamily="18" charset="0"/>
              </a:rPr>
              <a:t>Threats:</a:t>
            </a:r>
            <a:r>
              <a:rPr lang="en-US" sz="2400" dirty="0">
                <a:solidFill>
                  <a:schemeClr val="tx2"/>
                </a:solidFill>
                <a:latin typeface="Bookman Old Style" pitchFamily="18" charset="0"/>
              </a:rPr>
              <a:t> Urban sprawl, intensive agriculture, </a:t>
            </a:r>
            <a:r>
              <a:rPr lang="en-US" sz="2400" dirty="0" smtClean="0">
                <a:solidFill>
                  <a:schemeClr val="tx2"/>
                </a:solidFill>
                <a:latin typeface="Bookman Old Style" pitchFamily="18" charset="0"/>
              </a:rPr>
              <a:t>pollution.</a:t>
            </a:r>
            <a:endParaRPr lang="en-US" sz="2400" dirty="0">
              <a:solidFill>
                <a:schemeClr val="tx2"/>
              </a:solidFill>
              <a:latin typeface="Bookman Old Style" pitchFamily="18" charset="0"/>
            </a:endParaRPr>
          </a:p>
          <a:p>
            <a:pPr algn="just"/>
            <a:r>
              <a:rPr lang="en-US" sz="2400" b="1" dirty="0">
                <a:latin typeface="Bookman Old Style" pitchFamily="18" charset="0"/>
              </a:rPr>
              <a:t>Conservation Methods:</a:t>
            </a:r>
            <a:endParaRPr lang="en-US" sz="2400" dirty="0">
              <a:latin typeface="Bookman Old Style" pitchFamily="18" charset="0"/>
            </a:endParaRPr>
          </a:p>
          <a:p>
            <a:pPr marL="800100" lvl="1" indent="-342900" algn="just">
              <a:buFont typeface="Wingdings" pitchFamily="2" charset="2"/>
              <a:buChar char="Ø"/>
            </a:pPr>
            <a:r>
              <a:rPr lang="en-US" sz="2400" dirty="0">
                <a:solidFill>
                  <a:srgbClr val="00B0F0"/>
                </a:solidFill>
                <a:latin typeface="Bookman Old Style" pitchFamily="18" charset="0"/>
              </a:rPr>
              <a:t>Sustainable farming practices</a:t>
            </a:r>
          </a:p>
          <a:p>
            <a:pPr marL="800100" lvl="1" indent="-342900" algn="just">
              <a:buFont typeface="Wingdings" pitchFamily="2" charset="2"/>
              <a:buChar char="Ø"/>
            </a:pPr>
            <a:r>
              <a:rPr lang="en-US" sz="2400" dirty="0">
                <a:solidFill>
                  <a:srgbClr val="00B0F0"/>
                </a:solidFill>
                <a:latin typeface="Bookman Old Style" pitchFamily="18" charset="0"/>
              </a:rPr>
              <a:t>Land-use planning</a:t>
            </a:r>
          </a:p>
          <a:p>
            <a:pPr marL="800100" lvl="1" indent="-342900" algn="just">
              <a:buFont typeface="Wingdings" pitchFamily="2" charset="2"/>
              <a:buChar char="Ø"/>
            </a:pPr>
            <a:r>
              <a:rPr lang="en-US" sz="2400" dirty="0">
                <a:solidFill>
                  <a:srgbClr val="00B0F0"/>
                </a:solidFill>
                <a:latin typeface="Bookman Old Style" pitchFamily="18" charset="0"/>
              </a:rPr>
              <a:t>Soil conservation techniques</a:t>
            </a:r>
          </a:p>
        </p:txBody>
      </p:sp>
    </p:spTree>
    <p:extLst>
      <p:ext uri="{BB962C8B-B14F-4D97-AF65-F5344CB8AC3E}">
        <p14:creationId xmlns:p14="http://schemas.microsoft.com/office/powerpoint/2010/main" val="36811668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half" idx="1"/>
          </p:nvPr>
        </p:nvSpPr>
        <p:spPr>
          <a:xfrm>
            <a:off x="533400" y="762000"/>
            <a:ext cx="3962400" cy="5364163"/>
          </a:xfrm>
        </p:spPr>
        <p:txBody>
          <a:bodyPr>
            <a:normAutofit/>
          </a:bodyPr>
          <a:lstStyle/>
          <a:p>
            <a:pPr marL="0" indent="0">
              <a:buNone/>
            </a:pPr>
            <a:r>
              <a:rPr lang="en-US" sz="2400" b="1" u="sng" dirty="0">
                <a:solidFill>
                  <a:srgbClr val="C00000"/>
                </a:solidFill>
                <a:latin typeface="Bookman Old Style" pitchFamily="18" charset="0"/>
              </a:rPr>
              <a:t>3. Deserts</a:t>
            </a:r>
          </a:p>
          <a:p>
            <a:pPr algn="just"/>
            <a:r>
              <a:rPr lang="en-US" sz="2400" b="1" dirty="0">
                <a:latin typeface="Bookman Old Style" pitchFamily="18" charset="0"/>
              </a:rPr>
              <a:t>Threats:</a:t>
            </a:r>
            <a:r>
              <a:rPr lang="en-US" sz="2400" dirty="0">
                <a:latin typeface="Bookman Old Style" pitchFamily="18" charset="0"/>
              </a:rPr>
              <a:t> </a:t>
            </a:r>
            <a:r>
              <a:rPr lang="en-US" sz="2400" dirty="0">
                <a:solidFill>
                  <a:srgbClr val="00B0F0"/>
                </a:solidFill>
                <a:latin typeface="Bookman Old Style" pitchFamily="18" charset="0"/>
              </a:rPr>
              <a:t>Desertification, overgrazing, </a:t>
            </a:r>
            <a:r>
              <a:rPr lang="en-US" sz="2400" dirty="0" smtClean="0">
                <a:solidFill>
                  <a:srgbClr val="00B0F0"/>
                </a:solidFill>
                <a:latin typeface="Bookman Old Style" pitchFamily="18" charset="0"/>
              </a:rPr>
              <a:t>mining.</a:t>
            </a:r>
            <a:endParaRPr lang="en-US" sz="2400" dirty="0">
              <a:solidFill>
                <a:srgbClr val="00B0F0"/>
              </a:solidFill>
              <a:latin typeface="Bookman Old Style" pitchFamily="18" charset="0"/>
            </a:endParaRPr>
          </a:p>
          <a:p>
            <a:pPr algn="just"/>
            <a:r>
              <a:rPr lang="en-US" sz="2400" b="1" dirty="0">
                <a:solidFill>
                  <a:srgbClr val="002060"/>
                </a:solidFill>
                <a:latin typeface="Bookman Old Style" pitchFamily="18" charset="0"/>
              </a:rPr>
              <a:t>Conservation Methods:</a:t>
            </a:r>
            <a:endParaRPr lang="en-US" sz="2400" dirty="0">
              <a:solidFill>
                <a:srgbClr val="002060"/>
              </a:solidFill>
              <a:latin typeface="Bookman Old Style" pitchFamily="18" charset="0"/>
            </a:endParaRPr>
          </a:p>
          <a:p>
            <a:pPr lvl="1" algn="just"/>
            <a:r>
              <a:rPr lang="en-US" dirty="0">
                <a:solidFill>
                  <a:srgbClr val="FF0000"/>
                </a:solidFill>
                <a:latin typeface="Bookman Old Style" pitchFamily="18" charset="0"/>
              </a:rPr>
              <a:t>Planting drought-resistant vegetation</a:t>
            </a:r>
          </a:p>
          <a:p>
            <a:pPr lvl="1" algn="just"/>
            <a:r>
              <a:rPr lang="en-US" dirty="0">
                <a:solidFill>
                  <a:srgbClr val="FF0000"/>
                </a:solidFill>
                <a:latin typeface="Bookman Old Style" pitchFamily="18" charset="0"/>
              </a:rPr>
              <a:t>Limiting grazing and overuse of water</a:t>
            </a:r>
          </a:p>
          <a:p>
            <a:pPr lvl="1" algn="just"/>
            <a:r>
              <a:rPr lang="en-US" dirty="0">
                <a:solidFill>
                  <a:srgbClr val="FF0000"/>
                </a:solidFill>
                <a:latin typeface="Bookman Old Style" pitchFamily="18" charset="0"/>
              </a:rPr>
              <a:t>Sand dune stabilization</a:t>
            </a:r>
          </a:p>
          <a:p>
            <a:endParaRPr lang="en-US" dirty="0"/>
          </a:p>
        </p:txBody>
      </p:sp>
      <p:sp>
        <p:nvSpPr>
          <p:cNvPr id="6" name="Content Placeholder 5"/>
          <p:cNvSpPr>
            <a:spLocks noGrp="1"/>
          </p:cNvSpPr>
          <p:nvPr>
            <p:ph sz="half" idx="2"/>
          </p:nvPr>
        </p:nvSpPr>
        <p:spPr>
          <a:xfrm>
            <a:off x="4648200" y="762000"/>
            <a:ext cx="4267200" cy="5638800"/>
          </a:xfrm>
        </p:spPr>
        <p:txBody>
          <a:bodyPr>
            <a:normAutofit/>
          </a:bodyPr>
          <a:lstStyle/>
          <a:p>
            <a:pPr marL="0" indent="0" algn="just">
              <a:buNone/>
            </a:pPr>
            <a:r>
              <a:rPr lang="en-US" sz="2400" b="1" u="sng" dirty="0">
                <a:solidFill>
                  <a:schemeClr val="accent1"/>
                </a:solidFill>
                <a:latin typeface="Bookman Old Style" pitchFamily="18" charset="0"/>
              </a:rPr>
              <a:t>4. Coastal Areas</a:t>
            </a:r>
          </a:p>
          <a:p>
            <a:pPr algn="just"/>
            <a:r>
              <a:rPr lang="en-US" sz="2400" b="1" dirty="0">
                <a:latin typeface="Bookman Old Style" pitchFamily="18" charset="0"/>
              </a:rPr>
              <a:t>Threats:</a:t>
            </a:r>
            <a:r>
              <a:rPr lang="en-US" sz="2400" dirty="0">
                <a:latin typeface="Bookman Old Style" pitchFamily="18" charset="0"/>
              </a:rPr>
              <a:t> Erosion, tourism, industrial </a:t>
            </a:r>
            <a:r>
              <a:rPr lang="en-US" sz="2400" dirty="0" smtClean="0">
                <a:latin typeface="Bookman Old Style" pitchFamily="18" charset="0"/>
              </a:rPr>
              <a:t>waste.</a:t>
            </a:r>
            <a:endParaRPr lang="en-US" sz="2400" dirty="0">
              <a:latin typeface="Bookman Old Style" pitchFamily="18" charset="0"/>
            </a:endParaRPr>
          </a:p>
          <a:p>
            <a:pPr algn="just"/>
            <a:r>
              <a:rPr lang="en-US" sz="2400" b="1" dirty="0">
                <a:latin typeface="Bookman Old Style" pitchFamily="18" charset="0"/>
              </a:rPr>
              <a:t>Conservation Methods:</a:t>
            </a:r>
            <a:endParaRPr lang="en-US" sz="2400" dirty="0">
              <a:latin typeface="Bookman Old Style" pitchFamily="18" charset="0"/>
            </a:endParaRPr>
          </a:p>
          <a:p>
            <a:pPr lvl="1" algn="just"/>
            <a:r>
              <a:rPr lang="en-US" dirty="0">
                <a:solidFill>
                  <a:srgbClr val="0070C0"/>
                </a:solidFill>
                <a:latin typeface="Bookman Old Style" pitchFamily="18" charset="0"/>
              </a:rPr>
              <a:t>Building sea walls or natural barriers like mangroves</a:t>
            </a:r>
          </a:p>
          <a:p>
            <a:pPr lvl="1" algn="just"/>
            <a:r>
              <a:rPr lang="en-US" dirty="0">
                <a:solidFill>
                  <a:srgbClr val="0070C0"/>
                </a:solidFill>
                <a:latin typeface="Bookman Old Style" pitchFamily="18" charset="0"/>
              </a:rPr>
              <a:t>Regulating construction and tourism</a:t>
            </a:r>
          </a:p>
          <a:p>
            <a:pPr lvl="1" algn="just"/>
            <a:r>
              <a:rPr lang="en-US" dirty="0">
                <a:solidFill>
                  <a:srgbClr val="0070C0"/>
                </a:solidFill>
                <a:latin typeface="Bookman Old Style" pitchFamily="18" charset="0"/>
              </a:rPr>
              <a:t>Beach clean-up campaigns</a:t>
            </a:r>
          </a:p>
          <a:p>
            <a:endParaRPr lang="en-US" dirty="0"/>
          </a:p>
        </p:txBody>
      </p:sp>
    </p:spTree>
    <p:extLst>
      <p:ext uri="{BB962C8B-B14F-4D97-AF65-F5344CB8AC3E}">
        <p14:creationId xmlns:p14="http://schemas.microsoft.com/office/powerpoint/2010/main" val="6405279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idx="1"/>
          </p:nvPr>
        </p:nvSpPr>
        <p:spPr>
          <a:xfrm>
            <a:off x="457200" y="304800"/>
            <a:ext cx="8229600" cy="5821363"/>
          </a:xfrm>
        </p:spPr>
        <p:txBody>
          <a:bodyPr/>
          <a:lstStyle/>
          <a:p>
            <a:pPr marL="0" indent="0">
              <a:buNone/>
            </a:pPr>
            <a:r>
              <a:rPr lang="en-US" sz="2400" b="1" dirty="0">
                <a:solidFill>
                  <a:srgbClr val="FF0000"/>
                </a:solidFill>
                <a:latin typeface="Bookman Old Style" pitchFamily="18" charset="0"/>
              </a:rPr>
              <a:t>5. River Valleys</a:t>
            </a:r>
          </a:p>
          <a:p>
            <a:r>
              <a:rPr lang="en-US" sz="2400" b="1" dirty="0">
                <a:latin typeface="Bookman Old Style" pitchFamily="18" charset="0"/>
              </a:rPr>
              <a:t>Threats:</a:t>
            </a:r>
            <a:r>
              <a:rPr lang="en-US" sz="2400" dirty="0">
                <a:latin typeface="Bookman Old Style" pitchFamily="18" charset="0"/>
              </a:rPr>
              <a:t> Dams, pollution, overuse of water</a:t>
            </a:r>
          </a:p>
          <a:p>
            <a:r>
              <a:rPr lang="en-US" sz="2400" b="1" dirty="0">
                <a:solidFill>
                  <a:schemeClr val="tx2"/>
                </a:solidFill>
                <a:latin typeface="Bookman Old Style" pitchFamily="18" charset="0"/>
              </a:rPr>
              <a:t>Conservation Methods:</a:t>
            </a:r>
            <a:endParaRPr lang="en-US" sz="2400" dirty="0">
              <a:solidFill>
                <a:schemeClr val="tx2"/>
              </a:solidFill>
              <a:latin typeface="Bookman Old Style" pitchFamily="18" charset="0"/>
            </a:endParaRPr>
          </a:p>
          <a:p>
            <a:pPr lvl="1"/>
            <a:r>
              <a:rPr lang="en-US" sz="2400" dirty="0">
                <a:solidFill>
                  <a:schemeClr val="tx2"/>
                </a:solidFill>
                <a:latin typeface="Bookman Old Style" pitchFamily="18" charset="0"/>
              </a:rPr>
              <a:t>Riverbank afforestation</a:t>
            </a:r>
          </a:p>
          <a:p>
            <a:pPr lvl="1"/>
            <a:r>
              <a:rPr lang="en-US" sz="2400" dirty="0">
                <a:solidFill>
                  <a:schemeClr val="tx2"/>
                </a:solidFill>
                <a:latin typeface="Bookman Old Style" pitchFamily="18" charset="0"/>
              </a:rPr>
              <a:t>Pollution control measures</a:t>
            </a:r>
          </a:p>
          <a:p>
            <a:pPr lvl="1"/>
            <a:r>
              <a:rPr lang="en-US" sz="2400" dirty="0">
                <a:solidFill>
                  <a:schemeClr val="tx2"/>
                </a:solidFill>
                <a:latin typeface="Bookman Old Style" pitchFamily="18" charset="0"/>
              </a:rPr>
              <a:t>Watershed management</a:t>
            </a:r>
          </a:p>
          <a:p>
            <a:endParaRPr lang="en-US" dirty="0"/>
          </a:p>
        </p:txBody>
      </p:sp>
      <p:pic>
        <p:nvPicPr>
          <p:cNvPr id="1026" name="Picture 2" descr="Soil Conservation: Sustaining Agriculture and Protecting the Plan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3219450"/>
            <a:ext cx="8610600" cy="3638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40618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534400" cy="5973763"/>
          </a:xfrm>
        </p:spPr>
        <p:txBody>
          <a:bodyPr>
            <a:normAutofit/>
          </a:bodyPr>
          <a:lstStyle/>
          <a:p>
            <a:pPr marL="0" indent="0" algn="just">
              <a:buNone/>
            </a:pPr>
            <a:r>
              <a:rPr lang="en-US" sz="2800" b="1" u="sng" dirty="0" smtClean="0">
                <a:solidFill>
                  <a:srgbClr val="C00000"/>
                </a:solidFill>
                <a:latin typeface="Bookman Old Style" pitchFamily="18" charset="0"/>
              </a:rPr>
              <a:t>Deforestation:</a:t>
            </a:r>
            <a:r>
              <a:rPr lang="en-US" sz="2800" dirty="0" smtClean="0">
                <a:solidFill>
                  <a:srgbClr val="C00000"/>
                </a:solidFill>
                <a:latin typeface="Bookman Old Style" pitchFamily="18" charset="0"/>
              </a:rPr>
              <a:t> </a:t>
            </a:r>
            <a:r>
              <a:rPr lang="en-US" sz="2400" dirty="0">
                <a:solidFill>
                  <a:srgbClr val="002060"/>
                </a:solidFill>
                <a:latin typeface="Bookman Old Style" pitchFamily="18" charset="0"/>
              </a:rPr>
              <a:t>Deforestation or forest clearance is the removal and destruction of a forest or stand of trees from land that is then converted to non-forest use. </a:t>
            </a:r>
            <a:endParaRPr lang="en-US" sz="2400" dirty="0" smtClean="0">
              <a:solidFill>
                <a:srgbClr val="002060"/>
              </a:solidFill>
              <a:latin typeface="Bookman Old Style" pitchFamily="18" charset="0"/>
            </a:endParaRPr>
          </a:p>
          <a:p>
            <a:pPr algn="just"/>
            <a:r>
              <a:rPr lang="en-US" sz="2400" dirty="0" smtClean="0">
                <a:solidFill>
                  <a:srgbClr val="7030A0"/>
                </a:solidFill>
                <a:latin typeface="Bookman Old Style" pitchFamily="18" charset="0"/>
              </a:rPr>
              <a:t>Deforestation </a:t>
            </a:r>
            <a:r>
              <a:rPr lang="en-US" sz="2400" dirty="0">
                <a:solidFill>
                  <a:srgbClr val="7030A0"/>
                </a:solidFill>
                <a:latin typeface="Bookman Old Style" pitchFamily="18" charset="0"/>
              </a:rPr>
              <a:t>can involve conversion of forest land to farms, ranches, or urban use.</a:t>
            </a:r>
            <a:endParaRPr lang="en-US" sz="2400" b="1" u="sng" dirty="0">
              <a:solidFill>
                <a:srgbClr val="7030A0"/>
              </a:solidFill>
              <a:latin typeface="Bookman Old Style" pitchFamily="18" charset="0"/>
            </a:endParaRPr>
          </a:p>
        </p:txBody>
      </p:sp>
      <p:pic>
        <p:nvPicPr>
          <p:cNvPr id="2050" name="Picture 2" descr="Effects of Deforestation Infographic"/>
          <p:cNvPicPr>
            <a:picLocks noChangeAspect="1" noChangeArrowheads="1"/>
          </p:cNvPicPr>
          <p:nvPr/>
        </p:nvPicPr>
        <p:blipFill rotWithShape="1">
          <a:blip r:embed="rId2">
            <a:extLst>
              <a:ext uri="{28A0092B-C50C-407E-A947-70E740481C1C}">
                <a14:useLocalDpi xmlns:a14="http://schemas.microsoft.com/office/drawing/2010/main" val="0"/>
              </a:ext>
            </a:extLst>
          </a:blip>
          <a:srcRect l="3261" t="2794" r="3656" b="15728"/>
          <a:stretch/>
        </p:blipFill>
        <p:spPr bwMode="auto">
          <a:xfrm>
            <a:off x="609600" y="2514600"/>
            <a:ext cx="7467600" cy="4191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50586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304800"/>
            <a:ext cx="8839200" cy="6477000"/>
          </a:xfrm>
        </p:spPr>
        <p:txBody>
          <a:bodyPr>
            <a:normAutofit lnSpcReduction="10000"/>
          </a:bodyPr>
          <a:lstStyle/>
          <a:p>
            <a:pPr marL="0" indent="0">
              <a:buNone/>
            </a:pPr>
            <a:r>
              <a:rPr lang="en-US" sz="2800" b="1" u="sng" dirty="0">
                <a:solidFill>
                  <a:srgbClr val="00B050"/>
                </a:solidFill>
                <a:latin typeface="Bookman Old Style" pitchFamily="18" charset="0"/>
              </a:rPr>
              <a:t>Effect of land use </a:t>
            </a:r>
            <a:r>
              <a:rPr lang="en-US" sz="2800" b="1" u="sng" dirty="0" smtClean="0">
                <a:solidFill>
                  <a:srgbClr val="00B050"/>
                </a:solidFill>
                <a:latin typeface="Bookman Old Style" pitchFamily="18" charset="0"/>
              </a:rPr>
              <a:t>changes:</a:t>
            </a:r>
            <a:r>
              <a:rPr lang="en-US" sz="2800" b="1" dirty="0" smtClean="0">
                <a:solidFill>
                  <a:srgbClr val="00B050"/>
                </a:solidFill>
                <a:latin typeface="Bookman Old Style" pitchFamily="18" charset="0"/>
              </a:rPr>
              <a:t> </a:t>
            </a:r>
            <a:endParaRPr lang="en-US" sz="2800" dirty="0" smtClean="0">
              <a:solidFill>
                <a:srgbClr val="00B050"/>
              </a:solidFill>
              <a:latin typeface="Bookman Old Style" pitchFamily="18" charset="0"/>
            </a:endParaRPr>
          </a:p>
          <a:p>
            <a:pPr algn="just"/>
            <a:r>
              <a:rPr lang="en-US" sz="2400" dirty="0">
                <a:solidFill>
                  <a:srgbClr val="0070C0"/>
                </a:solidFill>
                <a:latin typeface="Bookman Old Style" pitchFamily="18" charset="0"/>
              </a:rPr>
              <a:t>Land use and land cover changes have significant environmental consequences at local, regional, and global scales. </a:t>
            </a:r>
            <a:endParaRPr lang="en-US" sz="2400" dirty="0" smtClean="0">
              <a:solidFill>
                <a:srgbClr val="0070C0"/>
              </a:solidFill>
              <a:latin typeface="Bookman Old Style" pitchFamily="18" charset="0"/>
            </a:endParaRPr>
          </a:p>
          <a:p>
            <a:pPr algn="just"/>
            <a:r>
              <a:rPr lang="en-US" sz="2400" dirty="0" smtClean="0">
                <a:solidFill>
                  <a:srgbClr val="002060"/>
                </a:solidFill>
                <a:latin typeface="Bookman Old Style" pitchFamily="18" charset="0"/>
              </a:rPr>
              <a:t>These </a:t>
            </a:r>
            <a:r>
              <a:rPr lang="en-US" sz="2400" dirty="0">
                <a:solidFill>
                  <a:srgbClr val="002060"/>
                </a:solidFill>
                <a:latin typeface="Bookman Old Style" pitchFamily="18" charset="0"/>
              </a:rPr>
              <a:t>changes have intense implications at the regional and global scales for global loss of biodiversity, distresses in hydrological cycles, increase in soil erosion, and sediment </a:t>
            </a:r>
            <a:r>
              <a:rPr lang="en-US" sz="2400" dirty="0" smtClean="0">
                <a:solidFill>
                  <a:srgbClr val="002060"/>
                </a:solidFill>
                <a:latin typeface="Bookman Old Style" pitchFamily="18" charset="0"/>
              </a:rPr>
              <a:t>loads.</a:t>
            </a:r>
          </a:p>
          <a:p>
            <a:pPr algn="just"/>
            <a:r>
              <a:rPr lang="en-US" sz="2400" dirty="0">
                <a:solidFill>
                  <a:srgbClr val="7030A0"/>
                </a:solidFill>
                <a:latin typeface="Bookman Old Style" pitchFamily="18" charset="0"/>
              </a:rPr>
              <a:t>“Land use” is the term used to describe the human use of land. It represents the economic and cultural activities (e.g., agricultural, residential, industrial, mining, and recreational uses) that are practiced at a given place. </a:t>
            </a:r>
            <a:endParaRPr lang="en-US" sz="2400" dirty="0" smtClean="0">
              <a:solidFill>
                <a:srgbClr val="7030A0"/>
              </a:solidFill>
              <a:latin typeface="Bookman Old Style" pitchFamily="18" charset="0"/>
            </a:endParaRPr>
          </a:p>
          <a:p>
            <a:pPr algn="just"/>
            <a:r>
              <a:rPr lang="en-US" sz="2400" dirty="0" smtClean="0">
                <a:solidFill>
                  <a:srgbClr val="FF0000"/>
                </a:solidFill>
                <a:latin typeface="Bookman Old Style" pitchFamily="18" charset="0"/>
              </a:rPr>
              <a:t>Public </a:t>
            </a:r>
            <a:r>
              <a:rPr lang="en-US" sz="2400" dirty="0">
                <a:solidFill>
                  <a:srgbClr val="FF0000"/>
                </a:solidFill>
                <a:latin typeface="Bookman Old Style" pitchFamily="18" charset="0"/>
              </a:rPr>
              <a:t>and private lands frequently represent very different uses. For example, urban development seldom occurs on publicly owned lands (e.g., parks, wilderness areas), while privately owned lands are infrequently protected for wilderness uses. </a:t>
            </a:r>
            <a:endParaRPr lang="en-US" sz="2400" b="1" u="sng" dirty="0">
              <a:solidFill>
                <a:srgbClr val="FF0000"/>
              </a:solidFill>
              <a:latin typeface="Bookman Old Style" pitchFamily="18" charset="0"/>
            </a:endParaRPr>
          </a:p>
        </p:txBody>
      </p:sp>
    </p:spTree>
    <p:extLst>
      <p:ext uri="{BB962C8B-B14F-4D97-AF65-F5344CB8AC3E}">
        <p14:creationId xmlns:p14="http://schemas.microsoft.com/office/powerpoint/2010/main" val="18986400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8" name="Picture 6" descr="Overview of Land Use and Land Cover Change and Its Impacts on Natural  Resources | SpringerLin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159327"/>
            <a:ext cx="5635625" cy="5467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640777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304800"/>
            <a:ext cx="8839200" cy="6324600"/>
          </a:xfrm>
        </p:spPr>
        <p:txBody>
          <a:bodyPr>
            <a:normAutofit lnSpcReduction="10000"/>
          </a:bodyPr>
          <a:lstStyle/>
          <a:p>
            <a:r>
              <a:rPr lang="en-US" sz="2800" b="1" u="sng" dirty="0">
                <a:solidFill>
                  <a:srgbClr val="002060"/>
                </a:solidFill>
                <a:latin typeface="Bookman Old Style" pitchFamily="18" charset="0"/>
              </a:rPr>
              <a:t>Land </a:t>
            </a:r>
            <a:r>
              <a:rPr lang="en-US" sz="2800" b="1" u="sng" dirty="0" smtClean="0">
                <a:solidFill>
                  <a:srgbClr val="002060"/>
                </a:solidFill>
                <a:latin typeface="Bookman Old Style" pitchFamily="18" charset="0"/>
              </a:rPr>
              <a:t>Development</a:t>
            </a:r>
          </a:p>
          <a:p>
            <a:pPr algn="just">
              <a:buFont typeface="Wingdings" pitchFamily="2" charset="2"/>
              <a:buChar char="Ø"/>
            </a:pPr>
            <a:r>
              <a:rPr lang="en-US" sz="2600" b="1" dirty="0">
                <a:solidFill>
                  <a:srgbClr val="FF0000"/>
                </a:solidFill>
                <a:latin typeface="Bookman Old Style" pitchFamily="18" charset="0"/>
              </a:rPr>
              <a:t>Impervious surfaces: </a:t>
            </a:r>
            <a:r>
              <a:rPr lang="en-US" sz="2600" dirty="0" smtClean="0">
                <a:latin typeface="Bookman Old Style" pitchFamily="18" charset="0"/>
              </a:rPr>
              <a:t>Land </a:t>
            </a:r>
            <a:r>
              <a:rPr lang="en-US" sz="2600" dirty="0">
                <a:latin typeface="Bookman Old Style" pitchFamily="18" charset="0"/>
              </a:rPr>
              <a:t>development creates impervious surfaces through construction of roads, parking lots, and other structures. </a:t>
            </a:r>
            <a:endParaRPr lang="en-US" sz="2600" dirty="0" smtClean="0">
              <a:latin typeface="Bookman Old Style" pitchFamily="18" charset="0"/>
            </a:endParaRPr>
          </a:p>
          <a:p>
            <a:pPr algn="just">
              <a:buFont typeface="Wingdings" pitchFamily="2" charset="2"/>
              <a:buChar char="v"/>
            </a:pPr>
            <a:r>
              <a:rPr lang="en-US" sz="2600" dirty="0" smtClean="0">
                <a:solidFill>
                  <a:srgbClr val="7030A0"/>
                </a:solidFill>
                <a:latin typeface="Bookman Old Style" pitchFamily="18" charset="0"/>
              </a:rPr>
              <a:t>Contribute </a:t>
            </a:r>
            <a:r>
              <a:rPr lang="en-US" sz="2600" dirty="0">
                <a:solidFill>
                  <a:srgbClr val="7030A0"/>
                </a:solidFill>
                <a:latin typeface="Bookman Old Style" pitchFamily="18" charset="0"/>
              </a:rPr>
              <a:t>to nonpoint source water pollution by limiting the capacity of soils to filter runoff</a:t>
            </a:r>
            <a:r>
              <a:rPr lang="en-US" sz="2600" dirty="0" smtClean="0">
                <a:solidFill>
                  <a:srgbClr val="7030A0"/>
                </a:solidFill>
                <a:latin typeface="Bookman Old Style" pitchFamily="18" charset="0"/>
              </a:rPr>
              <a:t>.</a:t>
            </a:r>
            <a:endParaRPr lang="en-US" sz="2600" dirty="0">
              <a:solidFill>
                <a:srgbClr val="7030A0"/>
              </a:solidFill>
              <a:latin typeface="Bookman Old Style" pitchFamily="18" charset="0"/>
            </a:endParaRPr>
          </a:p>
          <a:p>
            <a:pPr algn="just">
              <a:buFont typeface="Wingdings" pitchFamily="2" charset="2"/>
              <a:buChar char="v"/>
            </a:pPr>
            <a:r>
              <a:rPr lang="en-US" sz="2600" dirty="0" smtClean="0">
                <a:solidFill>
                  <a:srgbClr val="FF0000"/>
                </a:solidFill>
                <a:latin typeface="Bookman Old Style" pitchFamily="18" charset="0"/>
              </a:rPr>
              <a:t>Affect </a:t>
            </a:r>
            <a:r>
              <a:rPr lang="en-US" sz="2600" dirty="0">
                <a:solidFill>
                  <a:srgbClr val="FF0000"/>
                </a:solidFill>
                <a:latin typeface="Bookman Old Style" pitchFamily="18" charset="0"/>
              </a:rPr>
              <a:t>peak flow and water volume, which heighten erosion potential and affect habitat and water </a:t>
            </a:r>
            <a:r>
              <a:rPr lang="en-US" sz="2600" dirty="0" smtClean="0">
                <a:solidFill>
                  <a:srgbClr val="FF0000"/>
                </a:solidFill>
                <a:latin typeface="Bookman Old Style" pitchFamily="18" charset="0"/>
              </a:rPr>
              <a:t>quality.</a:t>
            </a:r>
            <a:endParaRPr lang="en-US" sz="2600" dirty="0">
              <a:solidFill>
                <a:srgbClr val="FF0000"/>
              </a:solidFill>
              <a:latin typeface="Bookman Old Style" pitchFamily="18" charset="0"/>
            </a:endParaRPr>
          </a:p>
          <a:p>
            <a:pPr algn="just">
              <a:buFont typeface="Wingdings" pitchFamily="2" charset="2"/>
              <a:buChar char="v"/>
            </a:pPr>
            <a:r>
              <a:rPr lang="en-US" sz="2600" dirty="0" smtClean="0">
                <a:solidFill>
                  <a:srgbClr val="00B050"/>
                </a:solidFill>
                <a:latin typeface="Bookman Old Style" pitchFamily="18" charset="0"/>
              </a:rPr>
              <a:t>Increase </a:t>
            </a:r>
            <a:r>
              <a:rPr lang="en-US" sz="2600" dirty="0">
                <a:solidFill>
                  <a:srgbClr val="00B050"/>
                </a:solidFill>
                <a:latin typeface="Bookman Old Style" pitchFamily="18" charset="0"/>
              </a:rPr>
              <a:t>storm water runoff, which can deliver more pollutants to water bodies that residents may rely on for drinking and </a:t>
            </a:r>
            <a:r>
              <a:rPr lang="en-US" sz="2600" dirty="0" smtClean="0">
                <a:solidFill>
                  <a:srgbClr val="00B050"/>
                </a:solidFill>
                <a:latin typeface="Bookman Old Style" pitchFamily="18" charset="0"/>
              </a:rPr>
              <a:t>recreation.</a:t>
            </a:r>
          </a:p>
          <a:p>
            <a:pPr algn="just">
              <a:buFont typeface="Wingdings" pitchFamily="2" charset="2"/>
              <a:buChar char="v"/>
            </a:pPr>
            <a:r>
              <a:rPr lang="en-US" sz="2600" dirty="0" smtClean="0">
                <a:solidFill>
                  <a:srgbClr val="0070C0"/>
                </a:solidFill>
                <a:latin typeface="Bookman Old Style" pitchFamily="18" charset="0"/>
              </a:rPr>
              <a:t>Storm </a:t>
            </a:r>
            <a:r>
              <a:rPr lang="en-US" sz="2600" dirty="0">
                <a:solidFill>
                  <a:srgbClr val="0070C0"/>
                </a:solidFill>
                <a:latin typeface="Bookman Old Style" pitchFamily="18" charset="0"/>
              </a:rPr>
              <a:t>runoff from urban and suburban areas contains dirt, oils from road surfaces, nutrients from fertilizers, and various toxic compounds</a:t>
            </a:r>
            <a:r>
              <a:rPr lang="en-US" sz="2600" dirty="0" smtClean="0">
                <a:solidFill>
                  <a:srgbClr val="0070C0"/>
                </a:solidFill>
                <a:latin typeface="Bookman Old Style" pitchFamily="18" charset="0"/>
              </a:rPr>
              <a:t>.</a:t>
            </a:r>
            <a:endParaRPr lang="en-US" sz="2600" dirty="0">
              <a:solidFill>
                <a:srgbClr val="0070C0"/>
              </a:solidFill>
              <a:latin typeface="Bookman Old Style" pitchFamily="18" charset="0"/>
            </a:endParaRPr>
          </a:p>
          <a:p>
            <a:pPr algn="just">
              <a:buFont typeface="Wingdings" pitchFamily="2" charset="2"/>
              <a:buChar char="v"/>
            </a:pPr>
            <a:r>
              <a:rPr lang="en-US" sz="2600" dirty="0" smtClean="0">
                <a:latin typeface="Bookman Old Style" pitchFamily="18" charset="0"/>
              </a:rPr>
              <a:t> </a:t>
            </a:r>
            <a:r>
              <a:rPr lang="en-US" sz="2600" dirty="0">
                <a:latin typeface="Bookman Old Style" pitchFamily="18" charset="0"/>
              </a:rPr>
              <a:t>Affect ground water aquifer recharge</a:t>
            </a:r>
            <a:r>
              <a:rPr lang="en-US" sz="2600" dirty="0" smtClean="0">
                <a:latin typeface="Bookman Old Style" pitchFamily="18" charset="0"/>
              </a:rPr>
              <a:t>.</a:t>
            </a:r>
            <a:endParaRPr lang="en-US" sz="2600" dirty="0">
              <a:latin typeface="Bookman Old Style" pitchFamily="18" charset="0"/>
            </a:endParaRPr>
          </a:p>
        </p:txBody>
      </p:sp>
    </p:spTree>
    <p:extLst>
      <p:ext uri="{BB962C8B-B14F-4D97-AF65-F5344CB8AC3E}">
        <p14:creationId xmlns:p14="http://schemas.microsoft.com/office/powerpoint/2010/main" val="166366056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half" idx="2"/>
          </p:nvPr>
        </p:nvSpPr>
        <p:spPr>
          <a:xfrm>
            <a:off x="228600" y="838200"/>
            <a:ext cx="3276600" cy="4691063"/>
          </a:xfrm>
        </p:spPr>
        <p:txBody>
          <a:bodyPr/>
          <a:lstStyle/>
          <a:p>
            <a:pPr algn="just">
              <a:buFont typeface="Wingdings" pitchFamily="2" charset="2"/>
              <a:buChar char="Ø"/>
            </a:pPr>
            <a:r>
              <a:rPr lang="en-US" sz="2400" dirty="0">
                <a:solidFill>
                  <a:srgbClr val="00B0F0"/>
                </a:solidFill>
                <a:latin typeface="Bookman Old Style" pitchFamily="18" charset="0"/>
              </a:rPr>
              <a:t>Soil is not an inert growing medium – it is a living and life-giving natural resource. </a:t>
            </a:r>
          </a:p>
          <a:p>
            <a:pPr algn="just">
              <a:buFont typeface="Wingdings" pitchFamily="2" charset="2"/>
              <a:buChar char="Ø"/>
            </a:pPr>
            <a:r>
              <a:rPr lang="en-US" sz="2400" dirty="0">
                <a:solidFill>
                  <a:srgbClr val="C00000"/>
                </a:solidFill>
                <a:latin typeface="Bookman Old Style" pitchFamily="18" charset="0"/>
              </a:rPr>
              <a:t>It is teaming with billions of bacteria, fungi, and other microbes that are the foundation of an elegant symbiotic ecosystem.</a:t>
            </a:r>
          </a:p>
          <a:p>
            <a:endParaRPr lang="en-US" dirty="0"/>
          </a:p>
        </p:txBody>
      </p:sp>
      <p:pic>
        <p:nvPicPr>
          <p:cNvPr id="4098" name="Picture 2" descr="Guidance Note: Soil health – critical to addressing climate change and  realising Africa's agricultural potential | AUDA-NEPA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81400" y="228600"/>
            <a:ext cx="5410200" cy="6400800"/>
          </a:xfrm>
          <a:prstGeom prst="rect">
            <a:avLst/>
          </a:prstGeom>
          <a:noFill/>
          <a:extLst>
            <a:ext uri="{909E8E84-426E-40DD-AFC4-6F175D3DCCD1}">
              <a14:hiddenFill xmlns:a14="http://schemas.microsoft.com/office/drawing/2010/main">
                <a:solidFill>
                  <a:srgbClr val="FFFFFF"/>
                </a:solidFill>
              </a14:hiddenFill>
            </a:ext>
          </a:extLst>
        </p:spPr>
      </p:pic>
      <p:sp>
        <p:nvSpPr>
          <p:cNvPr id="6" name="Title 5"/>
          <p:cNvSpPr>
            <a:spLocks noGrp="1"/>
          </p:cNvSpPr>
          <p:nvPr>
            <p:ph type="title"/>
          </p:nvPr>
        </p:nvSpPr>
        <p:spPr>
          <a:xfrm>
            <a:off x="457200" y="273050"/>
            <a:ext cx="3008313" cy="717550"/>
          </a:xfrm>
        </p:spPr>
        <p:txBody>
          <a:bodyPr>
            <a:normAutofit fontScale="90000"/>
          </a:bodyPr>
          <a:lstStyle/>
          <a:p>
            <a:r>
              <a:rPr lang="en-US" sz="2400" u="sng" dirty="0">
                <a:solidFill>
                  <a:srgbClr val="002060"/>
                </a:solidFill>
                <a:latin typeface="Bookman Old Style" pitchFamily="18" charset="0"/>
              </a:rPr>
              <a:t>SOIL HEALTH:</a:t>
            </a:r>
            <a:r>
              <a:rPr lang="en-US" u="sng" dirty="0">
                <a:solidFill>
                  <a:srgbClr val="002060"/>
                </a:solidFill>
                <a:latin typeface="Bookman Old Style" pitchFamily="18" charset="0"/>
              </a:rPr>
              <a:t/>
            </a:r>
            <a:br>
              <a:rPr lang="en-US" u="sng" dirty="0">
                <a:solidFill>
                  <a:srgbClr val="002060"/>
                </a:solidFill>
                <a:latin typeface="Bookman Old Style" pitchFamily="18" charset="0"/>
              </a:rPr>
            </a:br>
            <a:endParaRPr lang="en-US" dirty="0"/>
          </a:p>
        </p:txBody>
      </p:sp>
    </p:spTree>
    <p:extLst>
      <p:ext uri="{BB962C8B-B14F-4D97-AF65-F5344CB8AC3E}">
        <p14:creationId xmlns:p14="http://schemas.microsoft.com/office/powerpoint/2010/main" val="414983558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152400" y="152400"/>
            <a:ext cx="8839200" cy="5973763"/>
          </a:xfrm>
        </p:spPr>
        <p:txBody>
          <a:bodyPr>
            <a:normAutofit/>
          </a:bodyPr>
          <a:lstStyle/>
          <a:p>
            <a:pPr algn="just"/>
            <a:r>
              <a:rPr lang="en-US" sz="2400" dirty="0">
                <a:solidFill>
                  <a:srgbClr val="00B050"/>
                </a:solidFill>
                <a:latin typeface="Bookman Old Style" pitchFamily="18" charset="0"/>
              </a:rPr>
              <a:t>Soil health is defined as the continued capacity of soil to function as a vital living ecosystem that sustains plants, animals, and humans</a:t>
            </a:r>
            <a:r>
              <a:rPr lang="en-US" sz="2400" dirty="0" smtClean="0">
                <a:solidFill>
                  <a:srgbClr val="00B050"/>
                </a:solidFill>
                <a:latin typeface="Bookman Old Style" pitchFamily="18" charset="0"/>
              </a:rPr>
              <a:t>.</a:t>
            </a:r>
          </a:p>
          <a:p>
            <a:pPr algn="just"/>
            <a:r>
              <a:rPr lang="en-US" sz="2400" dirty="0" smtClean="0">
                <a:solidFill>
                  <a:srgbClr val="002060"/>
                </a:solidFill>
                <a:latin typeface="Bookman Old Style" pitchFamily="18" charset="0"/>
              </a:rPr>
              <a:t>Healthy </a:t>
            </a:r>
            <a:r>
              <a:rPr lang="en-US" sz="2400" dirty="0">
                <a:solidFill>
                  <a:srgbClr val="002060"/>
                </a:solidFill>
                <a:latin typeface="Bookman Old Style" pitchFamily="18" charset="0"/>
              </a:rPr>
              <a:t>soil gives us clean air and water, bountiful crops and forests, productive grazing lands, diverse wildlife, and beautiful landscapes. </a:t>
            </a:r>
            <a:endParaRPr lang="en-US" sz="2400" dirty="0" smtClean="0">
              <a:solidFill>
                <a:srgbClr val="002060"/>
              </a:solidFill>
              <a:latin typeface="Bookman Old Style" pitchFamily="18" charset="0"/>
            </a:endParaRPr>
          </a:p>
          <a:p>
            <a:pPr algn="just"/>
            <a:r>
              <a:rPr lang="en-US" sz="2400" dirty="0">
                <a:solidFill>
                  <a:srgbClr val="002060"/>
                </a:solidFill>
                <a:latin typeface="Bookman Old Style" pitchFamily="18" charset="0"/>
              </a:rPr>
              <a:t> Soil </a:t>
            </a:r>
            <a:r>
              <a:rPr lang="en-US" sz="2400" dirty="0" smtClean="0">
                <a:solidFill>
                  <a:srgbClr val="002060"/>
                </a:solidFill>
                <a:latin typeface="Bookman Old Style" pitchFamily="18" charset="0"/>
              </a:rPr>
              <a:t>performing </a:t>
            </a:r>
            <a:r>
              <a:rPr lang="en-US" sz="2400" dirty="0">
                <a:solidFill>
                  <a:srgbClr val="002060"/>
                </a:solidFill>
                <a:latin typeface="Bookman Old Style" pitchFamily="18" charset="0"/>
              </a:rPr>
              <a:t>five essential functions:</a:t>
            </a:r>
          </a:p>
        </p:txBody>
      </p:sp>
      <p:sp>
        <p:nvSpPr>
          <p:cNvPr id="7" name="AutoShape 2" descr="Five functions of soil provided by healthy soil. Source: The...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4" descr="Five functions of soil provided by healthy soil. Source: The... | Download  Scientific Diagram"/>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127" name="Picture 7" descr="Soil health – Soil MI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2895600"/>
            <a:ext cx="6934200" cy="39901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851654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76200"/>
            <a:ext cx="8839200" cy="6705600"/>
          </a:xfrm>
        </p:spPr>
        <p:txBody>
          <a:bodyPr>
            <a:normAutofit fontScale="32500" lnSpcReduction="20000"/>
          </a:bodyPr>
          <a:lstStyle/>
          <a:p>
            <a:pPr marL="0" indent="0" algn="just">
              <a:buNone/>
            </a:pPr>
            <a:r>
              <a:rPr lang="en-US" sz="7400" b="1" u="sng" dirty="0" smtClean="0">
                <a:solidFill>
                  <a:schemeClr val="accent2"/>
                </a:solidFill>
                <a:latin typeface="Bookman Old Style" pitchFamily="18" charset="0"/>
              </a:rPr>
              <a:t>Soil </a:t>
            </a:r>
            <a:r>
              <a:rPr lang="en-US" sz="7400" b="1" u="sng" dirty="0">
                <a:solidFill>
                  <a:schemeClr val="accent2"/>
                </a:solidFill>
                <a:latin typeface="Bookman Old Style" pitchFamily="18" charset="0"/>
              </a:rPr>
              <a:t>performing five essential functions</a:t>
            </a:r>
            <a:r>
              <a:rPr lang="en-US" sz="7400" b="1" u="sng" dirty="0" smtClean="0">
                <a:solidFill>
                  <a:schemeClr val="accent2"/>
                </a:solidFill>
                <a:latin typeface="Bookman Old Style" pitchFamily="18" charset="0"/>
              </a:rPr>
              <a:t>.</a:t>
            </a:r>
          </a:p>
          <a:p>
            <a:pPr marL="0" indent="0" algn="just">
              <a:buNone/>
            </a:pPr>
            <a:endParaRPr lang="en-US" b="1" u="sng" dirty="0">
              <a:solidFill>
                <a:schemeClr val="accent2"/>
              </a:solidFill>
              <a:latin typeface="Bookman Old Style" pitchFamily="18" charset="0"/>
            </a:endParaRPr>
          </a:p>
          <a:p>
            <a:pPr algn="just"/>
            <a:r>
              <a:rPr lang="en-US" sz="6000" b="1" dirty="0">
                <a:latin typeface="Bookman Old Style" pitchFamily="18" charset="0"/>
                <a:hlinkClick r:id="rId3"/>
              </a:rPr>
              <a:t>Nutrient Cycling</a:t>
            </a:r>
            <a:r>
              <a:rPr lang="en-US" sz="6000" dirty="0">
                <a:latin typeface="Bookman Old Style" pitchFamily="18" charset="0"/>
              </a:rPr>
              <a:t> - Soil stores, moderates the release of, and cycles nutrients and other elements. During these biogeochemical processes, analogous to the water cycle, nutrients can be transformed into plant available forms, held in the soil, or even lost to air or water.</a:t>
            </a:r>
          </a:p>
          <a:p>
            <a:pPr algn="just"/>
            <a:r>
              <a:rPr lang="en-US" sz="6000" b="1" dirty="0">
                <a:latin typeface="Bookman Old Style" pitchFamily="18" charset="0"/>
                <a:hlinkClick r:id="rId4"/>
              </a:rPr>
              <a:t>Water Relations</a:t>
            </a:r>
            <a:r>
              <a:rPr lang="en-US" sz="6000" dirty="0">
                <a:latin typeface="Bookman Old Style" pitchFamily="18" charset="0"/>
              </a:rPr>
              <a:t> - Soil can regulate the drainage, flow and storage of water and solutes, which includes nitrogen, phosphorus, pesticides, and other nutrients and compounds dissolved in the water. With proper functioning, soil partitions water for groundwater recharge and for use by plants and soil animals.</a:t>
            </a:r>
          </a:p>
          <a:p>
            <a:pPr algn="just"/>
            <a:r>
              <a:rPr lang="en-US" sz="6000" b="1" dirty="0">
                <a:latin typeface="Bookman Old Style" pitchFamily="18" charset="0"/>
                <a:hlinkClick r:id="rId5"/>
              </a:rPr>
              <a:t>Biodiversity and Habitat</a:t>
            </a:r>
            <a:r>
              <a:rPr lang="en-US" sz="6000" dirty="0">
                <a:latin typeface="Bookman Old Style" pitchFamily="18" charset="0"/>
              </a:rPr>
              <a:t> - Soil supports the growth of a variety of plants, animals, and soil microorganisms, usually by providing a diverse physical, chemical, and biological habitat.</a:t>
            </a:r>
          </a:p>
          <a:p>
            <a:pPr algn="just"/>
            <a:r>
              <a:rPr lang="en-US" sz="6000" b="1" dirty="0">
                <a:latin typeface="Bookman Old Style" pitchFamily="18" charset="0"/>
                <a:hlinkClick r:id="rId6"/>
              </a:rPr>
              <a:t>Filtering and Buffering</a:t>
            </a:r>
            <a:r>
              <a:rPr lang="en-US" sz="6000" dirty="0">
                <a:latin typeface="Bookman Old Style" pitchFamily="18" charset="0"/>
              </a:rPr>
              <a:t> - Soil acts as a filter to protect the quality of water, air, and other resources. Toxic compounds or excess nutrients can be degraded or otherwise made unavailable to plants and animals.</a:t>
            </a:r>
          </a:p>
          <a:p>
            <a:pPr algn="just"/>
            <a:r>
              <a:rPr lang="en-US" sz="6000" b="1" dirty="0">
                <a:latin typeface="Bookman Old Style" pitchFamily="18" charset="0"/>
                <a:hlinkClick r:id="rId7"/>
              </a:rPr>
              <a:t>Physical Stability and Support</a:t>
            </a:r>
            <a:r>
              <a:rPr lang="en-US" sz="6000" dirty="0">
                <a:latin typeface="Bookman Old Style" pitchFamily="18" charset="0"/>
              </a:rPr>
              <a:t> - Soil has the ability to maintain its porous structure to allow passage of air and water, withstand erosive forces, and provide a medium for plant roots. Soils also provide anchoring support for human structures and protect archeological treasures.</a:t>
            </a:r>
          </a:p>
          <a:p>
            <a:endParaRPr lang="en-US" dirty="0"/>
          </a:p>
        </p:txBody>
      </p:sp>
    </p:spTree>
    <p:extLst>
      <p:ext uri="{BB962C8B-B14F-4D97-AF65-F5344CB8AC3E}">
        <p14:creationId xmlns:p14="http://schemas.microsoft.com/office/powerpoint/2010/main" val="98558031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457200"/>
            <a:ext cx="8839200" cy="6248400"/>
          </a:xfrm>
        </p:spPr>
        <p:txBody>
          <a:bodyPr>
            <a:normAutofit fontScale="32500" lnSpcReduction="20000"/>
          </a:bodyPr>
          <a:lstStyle/>
          <a:p>
            <a:pPr marL="0" indent="0">
              <a:buNone/>
            </a:pPr>
            <a:r>
              <a:rPr lang="en-US" sz="6200" b="1" u="sng" dirty="0">
                <a:solidFill>
                  <a:schemeClr val="accent2"/>
                </a:solidFill>
                <a:latin typeface="Bookman Old Style" pitchFamily="18" charset="0"/>
              </a:rPr>
              <a:t>Ecological Importance of </a:t>
            </a:r>
            <a:r>
              <a:rPr lang="en-US" sz="6200" b="1" u="sng" dirty="0" smtClean="0">
                <a:solidFill>
                  <a:schemeClr val="accent2"/>
                </a:solidFill>
                <a:latin typeface="Bookman Old Style" pitchFamily="18" charset="0"/>
              </a:rPr>
              <a:t>Soil</a:t>
            </a:r>
          </a:p>
          <a:p>
            <a:pPr marL="0" indent="0">
              <a:buNone/>
            </a:pPr>
            <a:endParaRPr lang="en-US" sz="6200" b="1" u="sng" dirty="0">
              <a:solidFill>
                <a:schemeClr val="accent2"/>
              </a:solidFill>
              <a:latin typeface="Bookman Old Style" pitchFamily="18" charset="0"/>
            </a:endParaRPr>
          </a:p>
          <a:p>
            <a:r>
              <a:rPr lang="en-US" sz="6200" b="1" dirty="0">
                <a:latin typeface="Bookman Old Style" pitchFamily="18" charset="0"/>
              </a:rPr>
              <a:t>Plant Growth &amp; Food Chains</a:t>
            </a:r>
            <a:endParaRPr lang="en-US" sz="6200" dirty="0">
              <a:latin typeface="Bookman Old Style" pitchFamily="18" charset="0"/>
            </a:endParaRPr>
          </a:p>
          <a:p>
            <a:pPr lvl="1"/>
            <a:r>
              <a:rPr lang="en-US" sz="6200" dirty="0">
                <a:latin typeface="Bookman Old Style" pitchFamily="18" charset="0"/>
              </a:rPr>
              <a:t>Soil provides essential nutrients, water, and support for plants, which are the base of most terrestrial food chains.</a:t>
            </a:r>
          </a:p>
          <a:p>
            <a:r>
              <a:rPr lang="en-US" sz="6200" b="1" dirty="0">
                <a:latin typeface="Bookman Old Style" pitchFamily="18" charset="0"/>
              </a:rPr>
              <a:t>Habitat for Organisms</a:t>
            </a:r>
            <a:endParaRPr lang="en-US" sz="6200" dirty="0">
              <a:latin typeface="Bookman Old Style" pitchFamily="18" charset="0"/>
            </a:endParaRPr>
          </a:p>
          <a:p>
            <a:pPr lvl="1"/>
            <a:r>
              <a:rPr lang="en-US" sz="6200" dirty="0">
                <a:latin typeface="Bookman Old Style" pitchFamily="18" charset="0"/>
              </a:rPr>
              <a:t>Millions of microorganisms, insects, and burrowing animals live in soil, contributing to biodiversity and ecological balance.</a:t>
            </a:r>
          </a:p>
          <a:p>
            <a:r>
              <a:rPr lang="en-US" sz="6200" b="1" dirty="0">
                <a:latin typeface="Bookman Old Style" pitchFamily="18" charset="0"/>
              </a:rPr>
              <a:t>Water Filtration &amp; Purification</a:t>
            </a:r>
            <a:endParaRPr lang="en-US" sz="6200" dirty="0">
              <a:latin typeface="Bookman Old Style" pitchFamily="18" charset="0"/>
            </a:endParaRPr>
          </a:p>
          <a:p>
            <a:pPr lvl="1"/>
            <a:r>
              <a:rPr lang="en-US" sz="6200" dirty="0">
                <a:latin typeface="Bookman Old Style" pitchFamily="18" charset="0"/>
              </a:rPr>
              <a:t>Soil acts as a natural filter, removing contaminants from water as it percolates through layers, replenishing groundwater with cleaner water.</a:t>
            </a:r>
          </a:p>
          <a:p>
            <a:r>
              <a:rPr lang="en-US" sz="6200" b="1" dirty="0">
                <a:latin typeface="Bookman Old Style" pitchFamily="18" charset="0"/>
              </a:rPr>
              <a:t>Carbon Storage</a:t>
            </a:r>
            <a:endParaRPr lang="en-US" sz="6200" dirty="0">
              <a:latin typeface="Bookman Old Style" pitchFamily="18" charset="0"/>
            </a:endParaRPr>
          </a:p>
          <a:p>
            <a:pPr lvl="1"/>
            <a:r>
              <a:rPr lang="en-US" sz="6200" dirty="0">
                <a:latin typeface="Bookman Old Style" pitchFamily="18" charset="0"/>
              </a:rPr>
              <a:t>Soil stores vast amounts of carbon as organic matter, helping regulate atmospheric CO₂ levels and mitigate climate change.</a:t>
            </a:r>
          </a:p>
          <a:p>
            <a:r>
              <a:rPr lang="en-US" sz="6200" b="1" dirty="0">
                <a:latin typeface="Bookman Old Style" pitchFamily="18" charset="0"/>
              </a:rPr>
              <a:t>Nutrient Cycling</a:t>
            </a:r>
            <a:endParaRPr lang="en-US" sz="6200" dirty="0">
              <a:latin typeface="Bookman Old Style" pitchFamily="18" charset="0"/>
            </a:endParaRPr>
          </a:p>
          <a:p>
            <a:pPr lvl="1"/>
            <a:r>
              <a:rPr lang="en-US" sz="6200" dirty="0">
                <a:latin typeface="Bookman Old Style" pitchFamily="18" charset="0"/>
              </a:rPr>
              <a:t>Soil organisms decompose organic matter, recycling nutrients like nitrogen and phosphorus, making them available to plants.</a:t>
            </a:r>
          </a:p>
          <a:p>
            <a:r>
              <a:rPr lang="en-US" sz="6200" b="1" dirty="0">
                <a:latin typeface="Bookman Old Style" pitchFamily="18" charset="0"/>
              </a:rPr>
              <a:t>Erosion Control &amp; Landscape Stability</a:t>
            </a:r>
            <a:endParaRPr lang="en-US" sz="6200" dirty="0">
              <a:latin typeface="Bookman Old Style" pitchFamily="18" charset="0"/>
            </a:endParaRPr>
          </a:p>
          <a:p>
            <a:pPr lvl="1"/>
            <a:r>
              <a:rPr lang="en-US" sz="6200" dirty="0">
                <a:latin typeface="Bookman Old Style" pitchFamily="18" charset="0"/>
              </a:rPr>
              <a:t>Vegetation anchored in soil prevents erosion, landslides, and desertification.</a:t>
            </a:r>
          </a:p>
          <a:p>
            <a:endParaRPr lang="en-US" dirty="0"/>
          </a:p>
        </p:txBody>
      </p:sp>
    </p:spTree>
    <p:extLst>
      <p:ext uri="{BB962C8B-B14F-4D97-AF65-F5344CB8AC3E}">
        <p14:creationId xmlns:p14="http://schemas.microsoft.com/office/powerpoint/2010/main" val="420636558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81000"/>
            <a:ext cx="8686800" cy="6248400"/>
          </a:xfrm>
        </p:spPr>
        <p:txBody>
          <a:bodyPr>
            <a:normAutofit fontScale="62500" lnSpcReduction="20000"/>
          </a:bodyPr>
          <a:lstStyle/>
          <a:p>
            <a:pPr marL="0" indent="0" algn="just">
              <a:buNone/>
            </a:pPr>
            <a:r>
              <a:rPr lang="en-US" b="1" u="sng" dirty="0">
                <a:solidFill>
                  <a:schemeClr val="accent2"/>
                </a:solidFill>
                <a:latin typeface="Bookman Old Style" pitchFamily="18" charset="0"/>
              </a:rPr>
              <a:t>Economic Importance of Soil</a:t>
            </a:r>
          </a:p>
          <a:p>
            <a:pPr algn="just">
              <a:buFont typeface="Wingdings" pitchFamily="2" charset="2"/>
              <a:buChar char="Ø"/>
            </a:pPr>
            <a:r>
              <a:rPr lang="en-US" sz="3100" b="1" dirty="0">
                <a:solidFill>
                  <a:srgbClr val="0070C0"/>
                </a:solidFill>
                <a:latin typeface="Bookman Old Style" pitchFamily="18" charset="0"/>
              </a:rPr>
              <a:t>Agriculture &amp; Food Production</a:t>
            </a:r>
            <a:endParaRPr lang="en-US" sz="3100" dirty="0">
              <a:solidFill>
                <a:srgbClr val="0070C0"/>
              </a:solidFill>
              <a:latin typeface="Bookman Old Style" pitchFamily="18" charset="0"/>
            </a:endParaRPr>
          </a:p>
          <a:p>
            <a:pPr marL="457200" lvl="1" indent="0" algn="just">
              <a:buNone/>
            </a:pPr>
            <a:r>
              <a:rPr lang="en-US" sz="3100" dirty="0">
                <a:latin typeface="Bookman Old Style" pitchFamily="18" charset="0"/>
              </a:rPr>
              <a:t>Soil is the foundation of agriculture, supporting crop and livestock production, which feeds populations and drives economies.</a:t>
            </a:r>
          </a:p>
          <a:p>
            <a:pPr algn="just">
              <a:buFont typeface="Wingdings" pitchFamily="2" charset="2"/>
              <a:buChar char="Ø"/>
            </a:pPr>
            <a:r>
              <a:rPr lang="en-US" sz="3100" b="1" dirty="0">
                <a:solidFill>
                  <a:srgbClr val="0070C0"/>
                </a:solidFill>
                <a:latin typeface="Bookman Old Style" pitchFamily="18" charset="0"/>
              </a:rPr>
              <a:t>Forestry</a:t>
            </a:r>
            <a:endParaRPr lang="en-US" sz="3100" dirty="0">
              <a:solidFill>
                <a:srgbClr val="0070C0"/>
              </a:solidFill>
              <a:latin typeface="Bookman Old Style" pitchFamily="18" charset="0"/>
            </a:endParaRPr>
          </a:p>
          <a:p>
            <a:pPr marL="457200" lvl="1" indent="0" algn="just">
              <a:buNone/>
            </a:pPr>
            <a:r>
              <a:rPr lang="en-US" sz="3100" dirty="0">
                <a:latin typeface="Bookman Old Style" pitchFamily="18" charset="0"/>
              </a:rPr>
              <a:t>Healthy soils support timber production, which contributes to building materials, paper, and other wood-based industries.</a:t>
            </a:r>
          </a:p>
          <a:p>
            <a:pPr algn="just">
              <a:buFont typeface="Wingdings" pitchFamily="2" charset="2"/>
              <a:buChar char="Ø"/>
            </a:pPr>
            <a:r>
              <a:rPr lang="en-US" sz="3100" b="1" dirty="0">
                <a:solidFill>
                  <a:srgbClr val="0070C0"/>
                </a:solidFill>
                <a:latin typeface="Bookman Old Style" pitchFamily="18" charset="0"/>
              </a:rPr>
              <a:t>Construction &amp; Infrastructure</a:t>
            </a:r>
            <a:endParaRPr lang="en-US" sz="3100" dirty="0">
              <a:solidFill>
                <a:srgbClr val="0070C0"/>
              </a:solidFill>
              <a:latin typeface="Bookman Old Style" pitchFamily="18" charset="0"/>
            </a:endParaRPr>
          </a:p>
          <a:p>
            <a:pPr marL="457200" lvl="1" indent="0" algn="just">
              <a:buNone/>
            </a:pPr>
            <a:r>
              <a:rPr lang="en-US" sz="3100" dirty="0">
                <a:latin typeface="Bookman Old Style" pitchFamily="18" charset="0"/>
              </a:rPr>
              <a:t>Soil properties affect the stability of buildings, roads, and infrastructure. It is also a source of raw materials like clay, sand, and gravel.</a:t>
            </a:r>
          </a:p>
          <a:p>
            <a:pPr algn="just">
              <a:buFont typeface="Wingdings" pitchFamily="2" charset="2"/>
              <a:buChar char="Ø"/>
            </a:pPr>
            <a:r>
              <a:rPr lang="en-US" sz="3100" b="1" dirty="0">
                <a:solidFill>
                  <a:srgbClr val="0070C0"/>
                </a:solidFill>
                <a:latin typeface="Bookman Old Style" pitchFamily="18" charset="0"/>
              </a:rPr>
              <a:t>Pharmaceuticals &amp; </a:t>
            </a:r>
            <a:r>
              <a:rPr lang="en-US" sz="3100" b="1" dirty="0" smtClean="0">
                <a:solidFill>
                  <a:srgbClr val="0070C0"/>
                </a:solidFill>
                <a:latin typeface="Bookman Old Style" pitchFamily="18" charset="0"/>
              </a:rPr>
              <a:t>Bio products</a:t>
            </a:r>
            <a:endParaRPr lang="en-US" sz="3100" dirty="0">
              <a:solidFill>
                <a:srgbClr val="0070C0"/>
              </a:solidFill>
              <a:latin typeface="Bookman Old Style" pitchFamily="18" charset="0"/>
            </a:endParaRPr>
          </a:p>
          <a:p>
            <a:pPr marL="457200" lvl="1" indent="0" algn="just">
              <a:buNone/>
            </a:pPr>
            <a:r>
              <a:rPr lang="en-US" sz="3100" dirty="0">
                <a:latin typeface="Bookman Old Style" pitchFamily="18" charset="0"/>
              </a:rPr>
              <a:t>Soil microbes are a source of antibiotics (like streptomycin) and other valuable biochemicals.</a:t>
            </a:r>
          </a:p>
          <a:p>
            <a:pPr algn="just">
              <a:buFont typeface="Wingdings" pitchFamily="2" charset="2"/>
              <a:buChar char="Ø"/>
            </a:pPr>
            <a:r>
              <a:rPr lang="en-US" sz="3100" b="1" dirty="0">
                <a:solidFill>
                  <a:srgbClr val="0070C0"/>
                </a:solidFill>
                <a:latin typeface="Bookman Old Style" pitchFamily="18" charset="0"/>
              </a:rPr>
              <a:t>Tourism &amp; Recreation</a:t>
            </a:r>
            <a:endParaRPr lang="en-US" sz="3100" dirty="0">
              <a:solidFill>
                <a:srgbClr val="0070C0"/>
              </a:solidFill>
              <a:latin typeface="Bookman Old Style" pitchFamily="18" charset="0"/>
            </a:endParaRPr>
          </a:p>
          <a:p>
            <a:pPr marL="457200" lvl="1" indent="0" algn="just">
              <a:buNone/>
            </a:pPr>
            <a:r>
              <a:rPr lang="en-US" sz="3100" dirty="0">
                <a:latin typeface="Bookman Old Style" pitchFamily="18" charset="0"/>
              </a:rPr>
              <a:t>Fertile landscapes, forests, and green areas supported by healthy soil enhance ecotourism and recreational value.</a:t>
            </a:r>
          </a:p>
          <a:p>
            <a:pPr algn="just">
              <a:buFont typeface="Wingdings" pitchFamily="2" charset="2"/>
              <a:buChar char="Ø"/>
            </a:pPr>
            <a:r>
              <a:rPr lang="en-US" sz="3100" b="1" dirty="0">
                <a:solidFill>
                  <a:srgbClr val="0070C0"/>
                </a:solidFill>
                <a:latin typeface="Bookman Old Style" pitchFamily="18" charset="0"/>
              </a:rPr>
              <a:t>Environmental Services</a:t>
            </a:r>
            <a:endParaRPr lang="en-US" sz="3100" dirty="0">
              <a:solidFill>
                <a:srgbClr val="0070C0"/>
              </a:solidFill>
              <a:latin typeface="Bookman Old Style" pitchFamily="18" charset="0"/>
            </a:endParaRPr>
          </a:p>
          <a:p>
            <a:pPr marL="457200" lvl="1" indent="0" algn="just">
              <a:buNone/>
            </a:pPr>
            <a:r>
              <a:rPr lang="en-US" sz="3100" dirty="0">
                <a:latin typeface="Bookman Old Style" pitchFamily="18" charset="0"/>
              </a:rPr>
              <a:t>Soil management can reduce the costs of water treatment, flood control, and land rehabilitation.</a:t>
            </a:r>
          </a:p>
          <a:p>
            <a:endParaRPr lang="en-US" dirty="0"/>
          </a:p>
        </p:txBody>
      </p:sp>
    </p:spTree>
    <p:extLst>
      <p:ext uri="{BB962C8B-B14F-4D97-AF65-F5344CB8AC3E}">
        <p14:creationId xmlns:p14="http://schemas.microsoft.com/office/powerpoint/2010/main" val="409427885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228600"/>
            <a:ext cx="8763000" cy="6477000"/>
          </a:xfrm>
        </p:spPr>
        <p:txBody>
          <a:bodyPr>
            <a:normAutofit fontScale="92500" lnSpcReduction="20000"/>
          </a:bodyPr>
          <a:lstStyle/>
          <a:p>
            <a:pPr marL="0" indent="0" algn="just">
              <a:buNone/>
            </a:pPr>
            <a:r>
              <a:rPr lang="en-US" sz="2600" b="1" u="sng" dirty="0">
                <a:solidFill>
                  <a:schemeClr val="accent6">
                    <a:lumMod val="50000"/>
                  </a:schemeClr>
                </a:solidFill>
                <a:latin typeface="Bookman Old Style" pitchFamily="18" charset="0"/>
              </a:rPr>
              <a:t>What is Soil Degradation?</a:t>
            </a:r>
          </a:p>
          <a:p>
            <a:pPr algn="just"/>
            <a:r>
              <a:rPr lang="en-US" sz="2600" b="1" dirty="0">
                <a:solidFill>
                  <a:srgbClr val="FF0000"/>
                </a:solidFill>
                <a:latin typeface="Bookman Old Style" pitchFamily="18" charset="0"/>
              </a:rPr>
              <a:t>Soil degradation</a:t>
            </a:r>
            <a:r>
              <a:rPr lang="en-US" sz="2600" dirty="0">
                <a:solidFill>
                  <a:srgbClr val="FF0000"/>
                </a:solidFill>
                <a:latin typeface="Bookman Old Style" pitchFamily="18" charset="0"/>
              </a:rPr>
              <a:t> is the </a:t>
            </a:r>
            <a:r>
              <a:rPr lang="en-US" sz="2600" b="1" dirty="0">
                <a:solidFill>
                  <a:srgbClr val="FF0000"/>
                </a:solidFill>
                <a:latin typeface="Bookman Old Style" pitchFamily="18" charset="0"/>
              </a:rPr>
              <a:t>decline in soil quality and productivity</a:t>
            </a:r>
            <a:r>
              <a:rPr lang="en-US" sz="2600" dirty="0">
                <a:solidFill>
                  <a:srgbClr val="FF0000"/>
                </a:solidFill>
                <a:latin typeface="Bookman Old Style" pitchFamily="18" charset="0"/>
              </a:rPr>
              <a:t> caused by natural or human-induced processes. </a:t>
            </a:r>
            <a:endParaRPr lang="en-US" sz="2600" dirty="0" smtClean="0">
              <a:solidFill>
                <a:srgbClr val="FF0000"/>
              </a:solidFill>
              <a:latin typeface="Bookman Old Style" pitchFamily="18" charset="0"/>
            </a:endParaRPr>
          </a:p>
          <a:p>
            <a:pPr algn="just"/>
            <a:r>
              <a:rPr lang="en-US" sz="2600" dirty="0" smtClean="0">
                <a:solidFill>
                  <a:schemeClr val="accent2">
                    <a:lumMod val="75000"/>
                  </a:schemeClr>
                </a:solidFill>
                <a:latin typeface="Bookman Old Style" pitchFamily="18" charset="0"/>
              </a:rPr>
              <a:t>It </a:t>
            </a:r>
            <a:r>
              <a:rPr lang="en-US" sz="2600" dirty="0">
                <a:solidFill>
                  <a:schemeClr val="accent2">
                    <a:lumMod val="75000"/>
                  </a:schemeClr>
                </a:solidFill>
                <a:latin typeface="Bookman Old Style" pitchFamily="18" charset="0"/>
              </a:rPr>
              <a:t>means the soil is losing its ability to function properly — to support plant growth, store water, recycle nutrients, and sustain life.</a:t>
            </a:r>
          </a:p>
          <a:p>
            <a:pPr marL="0" indent="0" algn="just">
              <a:buNone/>
            </a:pPr>
            <a:r>
              <a:rPr lang="en-US" sz="2600" b="1" u="sng" dirty="0">
                <a:solidFill>
                  <a:srgbClr val="002060"/>
                </a:solidFill>
                <a:latin typeface="Bookman Old Style" pitchFamily="18" charset="0"/>
              </a:rPr>
              <a:t>Main Causes of Soil Degradation</a:t>
            </a:r>
          </a:p>
          <a:p>
            <a:pPr algn="just">
              <a:buFont typeface="Wingdings" pitchFamily="2" charset="2"/>
              <a:buChar char="Ø"/>
            </a:pPr>
            <a:r>
              <a:rPr lang="en-US" sz="2600" b="1" dirty="0">
                <a:latin typeface="Bookman Old Style" pitchFamily="18" charset="0"/>
              </a:rPr>
              <a:t>Erosion</a:t>
            </a:r>
            <a:r>
              <a:rPr lang="en-US" sz="2600" dirty="0">
                <a:latin typeface="Bookman Old Style" pitchFamily="18" charset="0"/>
              </a:rPr>
              <a:t> – Removal of topsoil by wind or water.</a:t>
            </a:r>
          </a:p>
          <a:p>
            <a:pPr algn="just">
              <a:buFont typeface="Wingdings" pitchFamily="2" charset="2"/>
              <a:buChar char="Ø"/>
            </a:pPr>
            <a:r>
              <a:rPr lang="en-US" sz="2600" b="1" dirty="0">
                <a:latin typeface="Bookman Old Style" pitchFamily="18" charset="0"/>
              </a:rPr>
              <a:t>Nutrient Depletion</a:t>
            </a:r>
            <a:r>
              <a:rPr lang="en-US" sz="2600" dirty="0">
                <a:latin typeface="Bookman Old Style" pitchFamily="18" charset="0"/>
              </a:rPr>
              <a:t> – Loss of essential nutrients due to over-farming or poor soil management.</a:t>
            </a:r>
          </a:p>
          <a:p>
            <a:pPr algn="just">
              <a:buFont typeface="Wingdings" pitchFamily="2" charset="2"/>
              <a:buChar char="Ø"/>
            </a:pPr>
            <a:r>
              <a:rPr lang="en-US" sz="2600" b="1" dirty="0">
                <a:latin typeface="Bookman Old Style" pitchFamily="18" charset="0"/>
              </a:rPr>
              <a:t>Salinization</a:t>
            </a:r>
            <a:r>
              <a:rPr lang="en-US" sz="2600" dirty="0">
                <a:latin typeface="Bookman Old Style" pitchFamily="18" charset="0"/>
              </a:rPr>
              <a:t> – Build-up of salt in soil, often from over-irrigation with poor drainage.</a:t>
            </a:r>
          </a:p>
          <a:p>
            <a:pPr algn="just">
              <a:buFont typeface="Wingdings" pitchFamily="2" charset="2"/>
              <a:buChar char="Ø"/>
            </a:pPr>
            <a:r>
              <a:rPr lang="en-US" sz="2600" b="1" dirty="0">
                <a:latin typeface="Bookman Old Style" pitchFamily="18" charset="0"/>
              </a:rPr>
              <a:t>Pollution</a:t>
            </a:r>
            <a:r>
              <a:rPr lang="en-US" sz="2600" dirty="0">
                <a:latin typeface="Bookman Old Style" pitchFamily="18" charset="0"/>
              </a:rPr>
              <a:t> – Contamination by industrial waste, pesticides, or chemicals.</a:t>
            </a:r>
          </a:p>
          <a:p>
            <a:pPr algn="just">
              <a:buFont typeface="Wingdings" pitchFamily="2" charset="2"/>
              <a:buChar char="Ø"/>
            </a:pPr>
            <a:r>
              <a:rPr lang="en-US" sz="2600" b="1" dirty="0">
                <a:latin typeface="Bookman Old Style" pitchFamily="18" charset="0"/>
              </a:rPr>
              <a:t>Compaction</a:t>
            </a:r>
            <a:r>
              <a:rPr lang="en-US" sz="2600" dirty="0">
                <a:latin typeface="Bookman Old Style" pitchFamily="18" charset="0"/>
              </a:rPr>
              <a:t> – Soil becomes hard and dense, limiting air, water, and root growth.</a:t>
            </a:r>
          </a:p>
          <a:p>
            <a:pPr algn="just">
              <a:buFont typeface="Wingdings" pitchFamily="2" charset="2"/>
              <a:buChar char="Ø"/>
            </a:pPr>
            <a:r>
              <a:rPr lang="en-US" sz="2600" b="1" dirty="0">
                <a:latin typeface="Bookman Old Style" pitchFamily="18" charset="0"/>
              </a:rPr>
              <a:t>Deforestation</a:t>
            </a:r>
            <a:r>
              <a:rPr lang="en-US" sz="2600" dirty="0">
                <a:latin typeface="Bookman Old Style" pitchFamily="18" charset="0"/>
              </a:rPr>
              <a:t> – Tree removal exposes soil to erosion and nutrient loss.</a:t>
            </a:r>
          </a:p>
          <a:p>
            <a:endParaRPr lang="en-US" dirty="0"/>
          </a:p>
        </p:txBody>
      </p:sp>
    </p:spTree>
    <p:extLst>
      <p:ext uri="{BB962C8B-B14F-4D97-AF65-F5344CB8AC3E}">
        <p14:creationId xmlns:p14="http://schemas.microsoft.com/office/powerpoint/2010/main" val="214048416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Land Degradation in Indi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83" y="0"/>
            <a:ext cx="3636817" cy="355282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762000" y="3531177"/>
            <a:ext cx="2757486" cy="461665"/>
          </a:xfrm>
          <a:prstGeom prst="rect">
            <a:avLst/>
          </a:prstGeom>
        </p:spPr>
        <p:txBody>
          <a:bodyPr wrap="none">
            <a:spAutoFit/>
          </a:bodyPr>
          <a:lstStyle/>
          <a:p>
            <a:r>
              <a:rPr lang="en-US" sz="2400" b="1" dirty="0" smtClean="0">
                <a:solidFill>
                  <a:srgbClr val="002060"/>
                </a:solidFill>
              </a:rPr>
              <a:t>Fig: soil </a:t>
            </a:r>
            <a:r>
              <a:rPr lang="en-US" sz="2400" b="1" dirty="0">
                <a:solidFill>
                  <a:srgbClr val="002060"/>
                </a:solidFill>
              </a:rPr>
              <a:t>degradation</a:t>
            </a:r>
          </a:p>
        </p:txBody>
      </p:sp>
      <p:sp>
        <p:nvSpPr>
          <p:cNvPr id="5" name="AutoShape 4" descr="Soil nutrient depletion and its impacts on soil quality, crop...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2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0" y="80167"/>
            <a:ext cx="5257800" cy="3472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4683740" y="3625880"/>
            <a:ext cx="3618106" cy="461665"/>
          </a:xfrm>
          <a:prstGeom prst="rect">
            <a:avLst/>
          </a:prstGeom>
        </p:spPr>
        <p:txBody>
          <a:bodyPr wrap="none">
            <a:spAutoFit/>
          </a:bodyPr>
          <a:lstStyle/>
          <a:p>
            <a:r>
              <a:rPr lang="en-US" sz="2400" b="1" dirty="0" smtClean="0">
                <a:solidFill>
                  <a:srgbClr val="002060"/>
                </a:solidFill>
              </a:rPr>
              <a:t>Fig: soil Nutrient </a:t>
            </a:r>
            <a:r>
              <a:rPr lang="en-US" sz="2400" b="1" dirty="0">
                <a:solidFill>
                  <a:srgbClr val="002060"/>
                </a:solidFill>
              </a:rPr>
              <a:t>Depletion</a:t>
            </a:r>
          </a:p>
        </p:txBody>
      </p:sp>
      <p:pic>
        <p:nvPicPr>
          <p:cNvPr id="1031" name="Picture 7" descr="drought, ground, arid, droughts, dry, dryness, aridity, drouth, grounds  Stock Photo - Alamy"/>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b="9122"/>
          <a:stretch/>
        </p:blipFill>
        <p:spPr bwMode="auto">
          <a:xfrm>
            <a:off x="1818409" y="4055084"/>
            <a:ext cx="3809751" cy="2451141"/>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2431708" y="6443983"/>
            <a:ext cx="3196452" cy="461665"/>
          </a:xfrm>
          <a:prstGeom prst="rect">
            <a:avLst/>
          </a:prstGeom>
        </p:spPr>
        <p:txBody>
          <a:bodyPr wrap="none">
            <a:spAutoFit/>
          </a:bodyPr>
          <a:lstStyle/>
          <a:p>
            <a:r>
              <a:rPr lang="en-US" sz="2400" b="1" dirty="0" smtClean="0">
                <a:solidFill>
                  <a:srgbClr val="002060"/>
                </a:solidFill>
              </a:rPr>
              <a:t>Fig: Drought </a:t>
            </a:r>
            <a:r>
              <a:rPr lang="en-US" sz="2400" b="1" dirty="0">
                <a:solidFill>
                  <a:srgbClr val="002060"/>
                </a:solidFill>
              </a:rPr>
              <a:t>and aridity</a:t>
            </a:r>
          </a:p>
        </p:txBody>
      </p:sp>
    </p:spTree>
    <p:extLst>
      <p:ext uri="{BB962C8B-B14F-4D97-AF65-F5344CB8AC3E}">
        <p14:creationId xmlns:p14="http://schemas.microsoft.com/office/powerpoint/2010/main" val="17354681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304800"/>
            <a:ext cx="8763000" cy="6400800"/>
          </a:xfrm>
        </p:spPr>
        <p:txBody>
          <a:bodyPr>
            <a:normAutofit fontScale="70000" lnSpcReduction="20000"/>
          </a:bodyPr>
          <a:lstStyle/>
          <a:p>
            <a:pPr marL="0" indent="0" algn="just">
              <a:buNone/>
            </a:pPr>
            <a:r>
              <a:rPr lang="en-US" b="1" u="sng" dirty="0" smtClean="0">
                <a:solidFill>
                  <a:srgbClr val="002060"/>
                </a:solidFill>
                <a:latin typeface="Bookman Old Style" pitchFamily="18" charset="0"/>
              </a:rPr>
              <a:t>Fatal </a:t>
            </a:r>
            <a:r>
              <a:rPr lang="en-US" b="1" u="sng" dirty="0">
                <a:solidFill>
                  <a:srgbClr val="002060"/>
                </a:solidFill>
                <a:latin typeface="Bookman Old Style" pitchFamily="18" charset="0"/>
              </a:rPr>
              <a:t>Effects of Soil Degradation </a:t>
            </a:r>
            <a:endParaRPr lang="en-US" b="1" u="sng" dirty="0" smtClean="0">
              <a:solidFill>
                <a:srgbClr val="002060"/>
              </a:solidFill>
              <a:latin typeface="Bookman Old Style" pitchFamily="18" charset="0"/>
            </a:endParaRPr>
          </a:p>
          <a:p>
            <a:pPr algn="just">
              <a:buFont typeface="Wingdings" pitchFamily="2" charset="2"/>
              <a:buChar char="Ø"/>
            </a:pPr>
            <a:r>
              <a:rPr lang="en-US" b="1" u="sng" dirty="0" smtClean="0">
                <a:solidFill>
                  <a:schemeClr val="accent2"/>
                </a:solidFill>
                <a:latin typeface="Bookman Old Style" pitchFamily="18" charset="0"/>
              </a:rPr>
              <a:t>Land </a:t>
            </a:r>
            <a:r>
              <a:rPr lang="en-US" b="1" u="sng" dirty="0">
                <a:solidFill>
                  <a:schemeClr val="accent2"/>
                </a:solidFill>
                <a:latin typeface="Bookman Old Style" pitchFamily="18" charset="0"/>
              </a:rPr>
              <a:t>degradation </a:t>
            </a:r>
            <a:r>
              <a:rPr lang="en-US" b="1" u="sng" dirty="0" smtClean="0">
                <a:solidFill>
                  <a:schemeClr val="accent2"/>
                </a:solidFill>
                <a:latin typeface="Bookman Old Style" pitchFamily="18" charset="0"/>
              </a:rPr>
              <a:t>: </a:t>
            </a:r>
            <a:r>
              <a:rPr lang="en-US" dirty="0" smtClean="0">
                <a:latin typeface="Bookman Old Style" pitchFamily="18" charset="0"/>
              </a:rPr>
              <a:t>Soil </a:t>
            </a:r>
            <a:r>
              <a:rPr lang="en-US" dirty="0">
                <a:latin typeface="Bookman Old Style" pitchFamily="18" charset="0"/>
              </a:rPr>
              <a:t>quality decline is one of the main causes of land degradation and is considered to be responsible for 84% of the ever-diminishing acreage. Year after year, huge acres of land lost due to soil erosion, contamination, and pollution. </a:t>
            </a:r>
          </a:p>
          <a:p>
            <a:pPr algn="just">
              <a:buFont typeface="Wingdings" pitchFamily="2" charset="2"/>
              <a:buChar char="Ø"/>
            </a:pPr>
            <a:r>
              <a:rPr lang="en-US" dirty="0" smtClean="0">
                <a:latin typeface="Bookman Old Style" pitchFamily="18" charset="0"/>
              </a:rPr>
              <a:t>About </a:t>
            </a:r>
            <a:r>
              <a:rPr lang="en-US" dirty="0">
                <a:latin typeface="Bookman Old Style" pitchFamily="18" charset="0"/>
              </a:rPr>
              <a:t>40% of the world’s agricultural land is severely diminished in quality because of erosion and the use of chemical fertilizers, which prevent the land from regenerating. </a:t>
            </a:r>
            <a:endParaRPr lang="en-US" dirty="0" smtClean="0">
              <a:latin typeface="Bookman Old Style" pitchFamily="18" charset="0"/>
            </a:endParaRPr>
          </a:p>
          <a:p>
            <a:pPr algn="just">
              <a:buFont typeface="Wingdings" pitchFamily="2" charset="2"/>
              <a:buChar char="Ø"/>
            </a:pPr>
            <a:r>
              <a:rPr lang="en-US" dirty="0" smtClean="0">
                <a:latin typeface="Bookman Old Style" pitchFamily="18" charset="0"/>
              </a:rPr>
              <a:t>The </a:t>
            </a:r>
            <a:r>
              <a:rPr lang="en-US" dirty="0">
                <a:latin typeface="Bookman Old Style" pitchFamily="18" charset="0"/>
              </a:rPr>
              <a:t>decline in soil quality as a result of agricultural chemical fertilizers also further leads to water and land pollution thereby lowering the land’s worth on earth</a:t>
            </a:r>
            <a:r>
              <a:rPr lang="en-US" dirty="0" smtClean="0">
                <a:latin typeface="Bookman Old Style" pitchFamily="18" charset="0"/>
              </a:rPr>
              <a:t>.</a:t>
            </a:r>
          </a:p>
          <a:p>
            <a:pPr marL="0" indent="0" algn="just">
              <a:buNone/>
            </a:pPr>
            <a:r>
              <a:rPr lang="en-US" dirty="0" smtClean="0">
                <a:latin typeface="Bookman Old Style" pitchFamily="18" charset="0"/>
              </a:rPr>
              <a:t> </a:t>
            </a:r>
          </a:p>
          <a:p>
            <a:pPr algn="just">
              <a:buFont typeface="Wingdings" pitchFamily="2" charset="2"/>
              <a:buChar char="Ø"/>
            </a:pPr>
            <a:r>
              <a:rPr lang="en-US" b="1" u="sng" dirty="0" smtClean="0">
                <a:solidFill>
                  <a:srgbClr val="002060"/>
                </a:solidFill>
                <a:latin typeface="Bookman Old Style" pitchFamily="18" charset="0"/>
              </a:rPr>
              <a:t>Drought </a:t>
            </a:r>
            <a:r>
              <a:rPr lang="en-US" b="1" u="sng" dirty="0">
                <a:solidFill>
                  <a:srgbClr val="002060"/>
                </a:solidFill>
                <a:latin typeface="Bookman Old Style" pitchFamily="18" charset="0"/>
              </a:rPr>
              <a:t>and </a:t>
            </a:r>
            <a:r>
              <a:rPr lang="en-US" b="1" u="sng" dirty="0" smtClean="0">
                <a:solidFill>
                  <a:srgbClr val="002060"/>
                </a:solidFill>
                <a:latin typeface="Bookman Old Style" pitchFamily="18" charset="0"/>
              </a:rPr>
              <a:t>aridity:</a:t>
            </a:r>
            <a:r>
              <a:rPr lang="en-US" b="1" dirty="0" smtClean="0">
                <a:solidFill>
                  <a:srgbClr val="002060"/>
                </a:solidFill>
                <a:latin typeface="Bookman Old Style" pitchFamily="18" charset="0"/>
              </a:rPr>
              <a:t> </a:t>
            </a:r>
            <a:r>
              <a:rPr lang="en-US" dirty="0" smtClean="0">
                <a:latin typeface="Bookman Old Style" pitchFamily="18" charset="0"/>
              </a:rPr>
              <a:t>Drought </a:t>
            </a:r>
            <a:r>
              <a:rPr lang="en-US" dirty="0">
                <a:latin typeface="Bookman Old Style" pitchFamily="18" charset="0"/>
              </a:rPr>
              <a:t>and aridity are problems highly influenced and amplified by soil degradation</a:t>
            </a:r>
            <a:r>
              <a:rPr lang="en-US" dirty="0" smtClean="0">
                <a:latin typeface="Bookman Old Style" pitchFamily="18" charset="0"/>
              </a:rPr>
              <a:t>.</a:t>
            </a:r>
          </a:p>
          <a:p>
            <a:pPr algn="just">
              <a:buFont typeface="Wingdings" pitchFamily="2" charset="2"/>
              <a:buChar char="Ø"/>
            </a:pPr>
            <a:r>
              <a:rPr lang="en-US" dirty="0" smtClean="0">
                <a:latin typeface="Bookman Old Style" pitchFamily="18" charset="0"/>
              </a:rPr>
              <a:t> </a:t>
            </a:r>
            <a:r>
              <a:rPr lang="en-US" dirty="0">
                <a:latin typeface="Bookman Old Style" pitchFamily="18" charset="0"/>
              </a:rPr>
              <a:t>As much as it’s a concern associated with natural environments in arid and semi-arid areas, the UN recognizes the fact that drought and aridity are anthropogenic induced factors especially as an outcome of soil degradation.</a:t>
            </a:r>
          </a:p>
        </p:txBody>
      </p:sp>
    </p:spTree>
    <p:extLst>
      <p:ext uri="{BB962C8B-B14F-4D97-AF65-F5344CB8AC3E}">
        <p14:creationId xmlns:p14="http://schemas.microsoft.com/office/powerpoint/2010/main" val="412841972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228600"/>
            <a:ext cx="8839200" cy="6477000"/>
          </a:xfrm>
        </p:spPr>
        <p:txBody>
          <a:bodyPr>
            <a:normAutofit lnSpcReduction="10000"/>
          </a:bodyPr>
          <a:lstStyle/>
          <a:p>
            <a:pPr algn="just">
              <a:buFont typeface="Wingdings" pitchFamily="2" charset="2"/>
              <a:buChar char="Ø"/>
            </a:pPr>
            <a:r>
              <a:rPr lang="en-US" sz="2400" b="1" u="sng" dirty="0" smtClean="0">
                <a:solidFill>
                  <a:srgbClr val="C00000"/>
                </a:solidFill>
                <a:latin typeface="Bookman Old Style" pitchFamily="18" charset="0"/>
              </a:rPr>
              <a:t>Loss </a:t>
            </a:r>
            <a:r>
              <a:rPr lang="en-US" sz="2400" b="1" u="sng" dirty="0">
                <a:solidFill>
                  <a:srgbClr val="C00000"/>
                </a:solidFill>
                <a:latin typeface="Bookman Old Style" pitchFamily="18" charset="0"/>
              </a:rPr>
              <a:t>of arable </a:t>
            </a:r>
            <a:r>
              <a:rPr lang="en-US" sz="2400" b="1" u="sng" dirty="0" smtClean="0">
                <a:solidFill>
                  <a:srgbClr val="C00000"/>
                </a:solidFill>
                <a:latin typeface="Bookman Old Style" pitchFamily="18" charset="0"/>
              </a:rPr>
              <a:t>land</a:t>
            </a:r>
            <a:r>
              <a:rPr lang="en-US" sz="2400" b="1" dirty="0" smtClean="0">
                <a:solidFill>
                  <a:srgbClr val="C00000"/>
                </a:solidFill>
                <a:latin typeface="Bookman Old Style" pitchFamily="18" charset="0"/>
              </a:rPr>
              <a:t> </a:t>
            </a:r>
            <a:r>
              <a:rPr lang="en-US" sz="2400" dirty="0" smtClean="0">
                <a:latin typeface="Bookman Old Style" pitchFamily="18" charset="0"/>
              </a:rPr>
              <a:t>Because </a:t>
            </a:r>
            <a:r>
              <a:rPr lang="en-US" sz="2400" dirty="0">
                <a:latin typeface="Bookman Old Style" pitchFamily="18" charset="0"/>
              </a:rPr>
              <a:t>soil degradation contributes to land degradation, it also means that it creates a significant loss of arable land. </a:t>
            </a:r>
            <a:endParaRPr lang="en-US" sz="2400" dirty="0" smtClean="0">
              <a:latin typeface="Bookman Old Style" pitchFamily="18" charset="0"/>
            </a:endParaRPr>
          </a:p>
          <a:p>
            <a:pPr algn="just">
              <a:buFont typeface="Wingdings" pitchFamily="2" charset="2"/>
              <a:buChar char="Ø"/>
            </a:pPr>
            <a:r>
              <a:rPr lang="en-US" sz="2400" dirty="0" smtClean="0">
                <a:latin typeface="Bookman Old Style" pitchFamily="18" charset="0"/>
              </a:rPr>
              <a:t>As </a:t>
            </a:r>
            <a:r>
              <a:rPr lang="en-US" sz="2400" dirty="0">
                <a:latin typeface="Bookman Old Style" pitchFamily="18" charset="0"/>
              </a:rPr>
              <a:t>stated earlier, about 40% of the world’s agricultural land is lost on the account of soil quality depreciation caused by agrochemicals and soil erosion. </a:t>
            </a:r>
            <a:endParaRPr lang="en-US" sz="2400" dirty="0" smtClean="0">
              <a:latin typeface="Bookman Old Style" pitchFamily="18" charset="0"/>
            </a:endParaRPr>
          </a:p>
          <a:p>
            <a:pPr algn="just">
              <a:buFont typeface="Wingdings" pitchFamily="2" charset="2"/>
              <a:buChar char="Ø"/>
            </a:pPr>
            <a:r>
              <a:rPr lang="en-US" sz="2400" dirty="0" smtClean="0">
                <a:latin typeface="Bookman Old Style" pitchFamily="18" charset="0"/>
              </a:rPr>
              <a:t>Most </a:t>
            </a:r>
            <a:r>
              <a:rPr lang="en-US" sz="2400" dirty="0">
                <a:latin typeface="Bookman Old Style" pitchFamily="18" charset="0"/>
              </a:rPr>
              <a:t>of the crop production practices </a:t>
            </a:r>
            <a:r>
              <a:rPr lang="en-US" sz="2400" dirty="0" smtClean="0">
                <a:latin typeface="Bookman Old Style" pitchFamily="18" charset="0"/>
              </a:rPr>
              <a:t>result </a:t>
            </a:r>
            <a:r>
              <a:rPr lang="en-US" sz="2400" dirty="0">
                <a:latin typeface="Bookman Old Style" pitchFamily="18" charset="0"/>
              </a:rPr>
              <a:t>in the topsoil loss and the damage of soil’s natural composition that makes agriculture possible. </a:t>
            </a:r>
            <a:endParaRPr lang="en-US" sz="2400" dirty="0" smtClean="0">
              <a:latin typeface="Bookman Old Style" pitchFamily="18" charset="0"/>
            </a:endParaRPr>
          </a:p>
          <a:p>
            <a:pPr algn="just">
              <a:buFont typeface="Wingdings" pitchFamily="2" charset="2"/>
              <a:buChar char="Ø"/>
            </a:pPr>
            <a:r>
              <a:rPr lang="en-US" sz="2400" b="1" u="sng" dirty="0" smtClean="0">
                <a:solidFill>
                  <a:schemeClr val="tx2"/>
                </a:solidFill>
                <a:latin typeface="Bookman Old Style" pitchFamily="18" charset="0"/>
              </a:rPr>
              <a:t>Increased </a:t>
            </a:r>
            <a:r>
              <a:rPr lang="en-US" sz="2400" b="1" u="sng" dirty="0">
                <a:solidFill>
                  <a:schemeClr val="tx2"/>
                </a:solidFill>
                <a:latin typeface="Bookman Old Style" pitchFamily="18" charset="0"/>
              </a:rPr>
              <a:t>flooding </a:t>
            </a:r>
            <a:r>
              <a:rPr lang="en-US" sz="2400" dirty="0">
                <a:latin typeface="Bookman Old Style" pitchFamily="18" charset="0"/>
              </a:rPr>
              <a:t>The land is commonly altered from its natural landscape when it rids its physical composition from soil degradation. For this reason, the transformed land is unable to soak up water, making flooding more frequent. </a:t>
            </a:r>
            <a:endParaRPr lang="en-US" sz="2400" dirty="0" smtClean="0">
              <a:latin typeface="Bookman Old Style" pitchFamily="18" charset="0"/>
            </a:endParaRPr>
          </a:p>
          <a:p>
            <a:pPr algn="just">
              <a:buFont typeface="Wingdings" pitchFamily="2" charset="2"/>
              <a:buChar char="Ø"/>
            </a:pPr>
            <a:r>
              <a:rPr lang="en-US" sz="2400" dirty="0" smtClean="0">
                <a:latin typeface="Bookman Old Style" pitchFamily="18" charset="0"/>
              </a:rPr>
              <a:t>In </a:t>
            </a:r>
            <a:r>
              <a:rPr lang="en-US" sz="2400" dirty="0">
                <a:latin typeface="Bookman Old Style" pitchFamily="18" charset="0"/>
              </a:rPr>
              <a:t>other words, soil degradation takes away the soil’s natural capability of holding water thus contributing to more and more cases of flooding. </a:t>
            </a:r>
          </a:p>
        </p:txBody>
      </p:sp>
    </p:spTree>
    <p:extLst>
      <p:ext uri="{BB962C8B-B14F-4D97-AF65-F5344CB8AC3E}">
        <p14:creationId xmlns:p14="http://schemas.microsoft.com/office/powerpoint/2010/main" val="1405456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52400"/>
            <a:ext cx="8686800" cy="5821363"/>
          </a:xfrm>
        </p:spPr>
        <p:txBody>
          <a:bodyPr>
            <a:noAutofit/>
          </a:bodyPr>
          <a:lstStyle/>
          <a:p>
            <a:pPr algn="just">
              <a:buFont typeface="Wingdings" pitchFamily="2" charset="2"/>
              <a:buChar char="Ø"/>
            </a:pPr>
            <a:r>
              <a:rPr lang="en-US" sz="2400" b="1" u="sng" dirty="0">
                <a:solidFill>
                  <a:srgbClr val="7030A0"/>
                </a:solidFill>
                <a:latin typeface="Bookman Old Style" pitchFamily="18" charset="0"/>
              </a:rPr>
              <a:t>Pollution and clogging of waterways </a:t>
            </a:r>
            <a:endParaRPr lang="en-US" sz="2400" b="1" u="sng" dirty="0" smtClean="0">
              <a:solidFill>
                <a:srgbClr val="7030A0"/>
              </a:solidFill>
              <a:latin typeface="Bookman Old Style" pitchFamily="18" charset="0"/>
            </a:endParaRPr>
          </a:p>
          <a:p>
            <a:pPr algn="just"/>
            <a:r>
              <a:rPr lang="en-US" sz="2400" dirty="0" smtClean="0">
                <a:solidFill>
                  <a:srgbClr val="002060"/>
                </a:solidFill>
                <a:latin typeface="Bookman Old Style" pitchFamily="18" charset="0"/>
              </a:rPr>
              <a:t>Most </a:t>
            </a:r>
            <a:r>
              <a:rPr lang="en-US" sz="2400" dirty="0">
                <a:solidFill>
                  <a:srgbClr val="002060"/>
                </a:solidFill>
                <a:latin typeface="Bookman Old Style" pitchFamily="18" charset="0"/>
              </a:rPr>
              <a:t>of the soil eroded from the land together with the chemical fertilizers and pesticides utilized in agricultural fields are discharged into waterways and streams. With time, the sedimentation process can clog waterways, resulting in water scarcity. </a:t>
            </a:r>
            <a:endParaRPr lang="en-US" sz="2400" dirty="0" smtClean="0">
              <a:solidFill>
                <a:srgbClr val="002060"/>
              </a:solidFill>
              <a:latin typeface="Bookman Old Style" pitchFamily="18" charset="0"/>
            </a:endParaRPr>
          </a:p>
          <a:p>
            <a:pPr algn="just"/>
            <a:r>
              <a:rPr lang="en-US" sz="2400" dirty="0" smtClean="0">
                <a:solidFill>
                  <a:srgbClr val="C00000"/>
                </a:solidFill>
                <a:latin typeface="Bookman Old Style" pitchFamily="18" charset="0"/>
              </a:rPr>
              <a:t>The </a:t>
            </a:r>
            <a:r>
              <a:rPr lang="en-US" sz="2400" dirty="0">
                <a:solidFill>
                  <a:srgbClr val="C00000"/>
                </a:solidFill>
                <a:latin typeface="Bookman Old Style" pitchFamily="18" charset="0"/>
              </a:rPr>
              <a:t>agricultural fertilizers and pesticides also damage marine and freshwater ecosystems and limit the domestic uses of the water for the populations that depend on them for survival. </a:t>
            </a:r>
          </a:p>
        </p:txBody>
      </p:sp>
      <p:pic>
        <p:nvPicPr>
          <p:cNvPr id="2050" name="Picture 2" descr="What's clogging Jakarta's waterways? You name it - TODAY"/>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400" y="4087091"/>
            <a:ext cx="4648200" cy="27432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Water pollution - Wikipedi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29200" y="4087091"/>
            <a:ext cx="4114800" cy="27016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954825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228600"/>
            <a:ext cx="8763000" cy="6400800"/>
          </a:xfrm>
        </p:spPr>
        <p:txBody>
          <a:bodyPr>
            <a:normAutofit/>
          </a:bodyPr>
          <a:lstStyle/>
          <a:p>
            <a:pPr marL="0" indent="0" algn="just">
              <a:buNone/>
            </a:pPr>
            <a:r>
              <a:rPr lang="en-US" sz="2400" b="1" u="sng" dirty="0">
                <a:solidFill>
                  <a:srgbClr val="C00000"/>
                </a:solidFill>
                <a:latin typeface="Bookman Old Style" pitchFamily="18" charset="0"/>
              </a:rPr>
              <a:t>Need for Soil Conservation</a:t>
            </a:r>
          </a:p>
          <a:p>
            <a:pPr algn="just"/>
            <a:r>
              <a:rPr lang="en-US" sz="2400" b="1" dirty="0">
                <a:latin typeface="Bookman Old Style" pitchFamily="18" charset="0"/>
              </a:rPr>
              <a:t>Soil conservation</a:t>
            </a:r>
            <a:r>
              <a:rPr lang="en-US" sz="2400" dirty="0">
                <a:latin typeface="Bookman Old Style" pitchFamily="18" charset="0"/>
              </a:rPr>
              <a:t> is essential because soil is a </a:t>
            </a:r>
            <a:r>
              <a:rPr lang="en-US" sz="2400" b="1" dirty="0">
                <a:latin typeface="Bookman Old Style" pitchFamily="18" charset="0"/>
              </a:rPr>
              <a:t>non-renewable</a:t>
            </a:r>
            <a:r>
              <a:rPr lang="en-US" sz="2400" dirty="0">
                <a:latin typeface="Bookman Old Style" pitchFamily="18" charset="0"/>
              </a:rPr>
              <a:t> resource on a human timescale — it takes hundreds to thousands of years to form just a few centimeters of healthy topsoil.</a:t>
            </a:r>
          </a:p>
          <a:p>
            <a:pPr marL="0" indent="0" algn="just">
              <a:buNone/>
            </a:pPr>
            <a:r>
              <a:rPr lang="en-US" sz="2400" b="1" dirty="0">
                <a:solidFill>
                  <a:schemeClr val="tx2"/>
                </a:solidFill>
                <a:latin typeface="Bookman Old Style" pitchFamily="18" charset="0"/>
              </a:rPr>
              <a:t>1. To Maintain Agricultural Productivity</a:t>
            </a:r>
          </a:p>
          <a:p>
            <a:pPr algn="just">
              <a:buFont typeface="Wingdings" pitchFamily="2" charset="2"/>
              <a:buChar char="Ø"/>
            </a:pPr>
            <a:r>
              <a:rPr lang="en-US" sz="2400" dirty="0">
                <a:latin typeface="Bookman Old Style" pitchFamily="18" charset="0"/>
              </a:rPr>
              <a:t>Healthy soil is the foundation of farming.</a:t>
            </a:r>
          </a:p>
          <a:p>
            <a:pPr algn="just">
              <a:buFont typeface="Wingdings" pitchFamily="2" charset="2"/>
              <a:buChar char="Ø"/>
            </a:pPr>
            <a:r>
              <a:rPr lang="en-US" sz="2400" dirty="0">
                <a:latin typeface="Bookman Old Style" pitchFamily="18" charset="0"/>
              </a:rPr>
              <a:t>Conserving soil ensures long-term food production by preserving nutrients and structure needed for crop growth.</a:t>
            </a:r>
          </a:p>
          <a:p>
            <a:pPr marL="0" indent="0" algn="just">
              <a:buNone/>
            </a:pPr>
            <a:r>
              <a:rPr lang="en-US" sz="2400" b="1" dirty="0" smtClean="0">
                <a:solidFill>
                  <a:srgbClr val="7030A0"/>
                </a:solidFill>
                <a:latin typeface="Bookman Old Style" pitchFamily="18" charset="0"/>
              </a:rPr>
              <a:t>2</a:t>
            </a:r>
            <a:r>
              <a:rPr lang="en-US" sz="2400" b="1" dirty="0">
                <a:solidFill>
                  <a:srgbClr val="7030A0"/>
                </a:solidFill>
                <a:latin typeface="Bookman Old Style" pitchFamily="18" charset="0"/>
              </a:rPr>
              <a:t>. To Prevent Land Degradation</a:t>
            </a:r>
          </a:p>
          <a:p>
            <a:pPr algn="just">
              <a:buFont typeface="Wingdings" pitchFamily="2" charset="2"/>
              <a:buChar char="Ø"/>
            </a:pPr>
            <a:r>
              <a:rPr lang="en-US" sz="2400" dirty="0">
                <a:latin typeface="Bookman Old Style" pitchFamily="18" charset="0"/>
              </a:rPr>
              <a:t>Without conservation, soil is easily eroded, compacted, or polluted, leading to unproductive land and desertification.</a:t>
            </a:r>
          </a:p>
          <a:p>
            <a:endParaRPr lang="en-US" dirty="0"/>
          </a:p>
        </p:txBody>
      </p:sp>
    </p:spTree>
    <p:extLst>
      <p:ext uri="{BB962C8B-B14F-4D97-AF65-F5344CB8AC3E}">
        <p14:creationId xmlns:p14="http://schemas.microsoft.com/office/powerpoint/2010/main" val="24532874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228600"/>
            <a:ext cx="8839200" cy="6400800"/>
          </a:xfrm>
        </p:spPr>
        <p:txBody>
          <a:bodyPr>
            <a:normAutofit fontScale="70000" lnSpcReduction="20000"/>
          </a:bodyPr>
          <a:lstStyle/>
          <a:p>
            <a:pPr marL="0" indent="0" algn="just">
              <a:buNone/>
            </a:pPr>
            <a:r>
              <a:rPr lang="en-US" sz="3400" b="1" dirty="0">
                <a:solidFill>
                  <a:srgbClr val="7030A0"/>
                </a:solidFill>
                <a:latin typeface="Bookman Old Style" pitchFamily="18" charset="0"/>
              </a:rPr>
              <a:t>3. To Ensure Food Security</a:t>
            </a:r>
          </a:p>
          <a:p>
            <a:pPr algn="just">
              <a:buFont typeface="Wingdings" pitchFamily="2" charset="2"/>
              <a:buChar char="Ø"/>
            </a:pPr>
            <a:r>
              <a:rPr lang="en-US" sz="3400" dirty="0">
                <a:latin typeface="Bookman Old Style" pitchFamily="18" charset="0"/>
              </a:rPr>
              <a:t>A growing population needs more food — which depends on fertile soil.</a:t>
            </a:r>
          </a:p>
          <a:p>
            <a:pPr algn="just">
              <a:buFont typeface="Wingdings" pitchFamily="2" charset="2"/>
              <a:buChar char="Ø"/>
            </a:pPr>
            <a:r>
              <a:rPr lang="en-US" sz="3400" dirty="0">
                <a:latin typeface="Bookman Old Style" pitchFamily="18" charset="0"/>
              </a:rPr>
              <a:t>Conserved soil supports reliable harvests, helping reduce hunger and malnutrition.</a:t>
            </a:r>
          </a:p>
          <a:p>
            <a:pPr marL="0" indent="0" algn="just">
              <a:buNone/>
            </a:pPr>
            <a:r>
              <a:rPr lang="en-US" sz="3400" b="1" dirty="0" smtClean="0">
                <a:solidFill>
                  <a:schemeClr val="accent2"/>
                </a:solidFill>
                <a:latin typeface="Bookman Old Style" pitchFamily="18" charset="0"/>
              </a:rPr>
              <a:t>4</a:t>
            </a:r>
            <a:r>
              <a:rPr lang="en-US" sz="3400" b="1" dirty="0">
                <a:solidFill>
                  <a:schemeClr val="accent2"/>
                </a:solidFill>
                <a:latin typeface="Bookman Old Style" pitchFamily="18" charset="0"/>
              </a:rPr>
              <a:t>. To Protect Water Resources</a:t>
            </a:r>
          </a:p>
          <a:p>
            <a:pPr algn="just">
              <a:buFont typeface="Wingdings" pitchFamily="2" charset="2"/>
              <a:buChar char="Ø"/>
            </a:pPr>
            <a:r>
              <a:rPr lang="en-US" sz="3400" dirty="0">
                <a:latin typeface="Bookman Old Style" pitchFamily="18" charset="0"/>
              </a:rPr>
              <a:t>Soil filters and stores water.</a:t>
            </a:r>
          </a:p>
          <a:p>
            <a:pPr algn="just">
              <a:buFont typeface="Wingdings" pitchFamily="2" charset="2"/>
              <a:buChar char="Ø"/>
            </a:pPr>
            <a:r>
              <a:rPr lang="en-US" sz="3400" dirty="0">
                <a:latin typeface="Bookman Old Style" pitchFamily="18" charset="0"/>
              </a:rPr>
              <a:t>Conserving it reduces runoff and pollution in rivers, lakes, and groundwater.</a:t>
            </a:r>
          </a:p>
          <a:p>
            <a:pPr marL="0" indent="0" algn="just">
              <a:buNone/>
            </a:pPr>
            <a:r>
              <a:rPr lang="en-US" sz="3400" b="1" dirty="0" smtClean="0">
                <a:solidFill>
                  <a:srgbClr val="0070C0"/>
                </a:solidFill>
                <a:latin typeface="Bookman Old Style" pitchFamily="18" charset="0"/>
              </a:rPr>
              <a:t>5</a:t>
            </a:r>
            <a:r>
              <a:rPr lang="en-US" sz="3400" b="1" dirty="0">
                <a:solidFill>
                  <a:srgbClr val="0070C0"/>
                </a:solidFill>
                <a:latin typeface="Bookman Old Style" pitchFamily="18" charset="0"/>
              </a:rPr>
              <a:t>. To Combat Climate Change</a:t>
            </a:r>
          </a:p>
          <a:p>
            <a:pPr algn="just">
              <a:buFont typeface="Wingdings" pitchFamily="2" charset="2"/>
              <a:buChar char="Ø"/>
            </a:pPr>
            <a:r>
              <a:rPr lang="en-US" sz="3400" dirty="0">
                <a:latin typeface="Bookman Old Style" pitchFamily="18" charset="0"/>
              </a:rPr>
              <a:t>Soil stores large amounts of carbon.</a:t>
            </a:r>
          </a:p>
          <a:p>
            <a:pPr algn="just">
              <a:buFont typeface="Wingdings" pitchFamily="2" charset="2"/>
              <a:buChar char="Ø"/>
            </a:pPr>
            <a:r>
              <a:rPr lang="en-US" sz="3400" dirty="0">
                <a:latin typeface="Bookman Old Style" pitchFamily="18" charset="0"/>
              </a:rPr>
              <a:t>Proper soil management helps reduce greenhouse gases and enhances carbon sequestration.</a:t>
            </a:r>
          </a:p>
          <a:p>
            <a:pPr marL="0" indent="0" algn="just">
              <a:buNone/>
            </a:pPr>
            <a:r>
              <a:rPr lang="en-US" sz="3400" b="1" dirty="0" smtClean="0">
                <a:solidFill>
                  <a:schemeClr val="accent6">
                    <a:lumMod val="75000"/>
                  </a:schemeClr>
                </a:solidFill>
                <a:latin typeface="Bookman Old Style" pitchFamily="18" charset="0"/>
              </a:rPr>
              <a:t>6</a:t>
            </a:r>
            <a:r>
              <a:rPr lang="en-US" sz="3400" b="1" dirty="0">
                <a:solidFill>
                  <a:schemeClr val="accent6">
                    <a:lumMod val="75000"/>
                  </a:schemeClr>
                </a:solidFill>
                <a:latin typeface="Bookman Old Style" pitchFamily="18" charset="0"/>
              </a:rPr>
              <a:t>. To Preserve Biodiversity</a:t>
            </a:r>
          </a:p>
          <a:p>
            <a:pPr algn="just">
              <a:buFont typeface="Wingdings" pitchFamily="2" charset="2"/>
              <a:buChar char="Ø"/>
            </a:pPr>
            <a:r>
              <a:rPr lang="en-US" sz="3400" dirty="0">
                <a:latin typeface="Bookman Old Style" pitchFamily="18" charset="0"/>
              </a:rPr>
              <a:t>Soil hosts millions of organisms essential for ecosystem health.</a:t>
            </a:r>
          </a:p>
          <a:p>
            <a:pPr algn="just">
              <a:buFont typeface="Wingdings" pitchFamily="2" charset="2"/>
              <a:buChar char="Ø"/>
            </a:pPr>
            <a:r>
              <a:rPr lang="en-US" sz="3400" dirty="0">
                <a:latin typeface="Bookman Old Style" pitchFamily="18" charset="0"/>
              </a:rPr>
              <a:t>Conservation protects these life forms and the ecological services they provide.</a:t>
            </a:r>
          </a:p>
          <a:p>
            <a:endParaRPr lang="en-US" dirty="0"/>
          </a:p>
        </p:txBody>
      </p:sp>
    </p:spTree>
    <p:extLst>
      <p:ext uri="{BB962C8B-B14F-4D97-AF65-F5344CB8AC3E}">
        <p14:creationId xmlns:p14="http://schemas.microsoft.com/office/powerpoint/2010/main" val="37072173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610600" cy="563562"/>
          </a:xfrm>
        </p:spPr>
        <p:txBody>
          <a:bodyPr>
            <a:noAutofit/>
          </a:bodyPr>
          <a:lstStyle/>
          <a:p>
            <a:pPr algn="l"/>
            <a:r>
              <a:rPr lang="en-US" sz="2400" b="1" u="sng" dirty="0" smtClean="0">
                <a:solidFill>
                  <a:srgbClr val="002060"/>
                </a:solidFill>
                <a:latin typeface="Bookman Old Style" pitchFamily="18" charset="0"/>
              </a:rPr>
              <a:t>ECOLOGICAL AND ECONOMIC IMPORTANCE OF SOIL</a:t>
            </a:r>
            <a:endParaRPr lang="en-US" sz="2400" b="1" u="sng" dirty="0">
              <a:solidFill>
                <a:srgbClr val="002060"/>
              </a:solidFill>
              <a:latin typeface="Bookman Old Style" pitchFamily="18" charset="0"/>
            </a:endParaRPr>
          </a:p>
        </p:txBody>
      </p:sp>
      <p:sp>
        <p:nvSpPr>
          <p:cNvPr id="3" name="Content Placeholder 2"/>
          <p:cNvSpPr>
            <a:spLocks noGrp="1"/>
          </p:cNvSpPr>
          <p:nvPr>
            <p:ph idx="1"/>
          </p:nvPr>
        </p:nvSpPr>
        <p:spPr>
          <a:xfrm>
            <a:off x="228600" y="914400"/>
            <a:ext cx="8763000" cy="5715000"/>
          </a:xfrm>
        </p:spPr>
        <p:txBody>
          <a:bodyPr>
            <a:normAutofit/>
          </a:bodyPr>
          <a:lstStyle/>
          <a:p>
            <a:pPr algn="just"/>
            <a:r>
              <a:rPr lang="en-US" sz="2000" dirty="0">
                <a:solidFill>
                  <a:srgbClr val="0070C0"/>
                </a:solidFill>
                <a:latin typeface="Bookman Old Style" pitchFamily="18" charset="0"/>
              </a:rPr>
              <a:t>Soil provides ecosystem services critical for life: soil acts as a water filter and a growing medium; provides habitat for billions of organisms, contributing to biodiversity; and supplies most of the antibiotics used to fight diseases. </a:t>
            </a:r>
            <a:endParaRPr lang="en-US" sz="2000" dirty="0" smtClean="0">
              <a:solidFill>
                <a:srgbClr val="0070C0"/>
              </a:solidFill>
              <a:latin typeface="Bookman Old Style" pitchFamily="18" charset="0"/>
            </a:endParaRPr>
          </a:p>
          <a:p>
            <a:pPr algn="just"/>
            <a:r>
              <a:rPr lang="en-US" sz="2000" dirty="0" smtClean="0">
                <a:solidFill>
                  <a:srgbClr val="C00000"/>
                </a:solidFill>
                <a:latin typeface="Bookman Old Style" pitchFamily="18" charset="0"/>
              </a:rPr>
              <a:t>Humans </a:t>
            </a:r>
            <a:r>
              <a:rPr lang="en-US" sz="2000" dirty="0">
                <a:solidFill>
                  <a:srgbClr val="C00000"/>
                </a:solidFill>
                <a:latin typeface="Bookman Old Style" pitchFamily="18" charset="0"/>
              </a:rPr>
              <a:t>use soil as a holding facility for solid waste, filter for wastewater, and foundation for our cities and towns.</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895600"/>
            <a:ext cx="8534400"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434910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What are the advantages and disadvantages of the soil? - Quor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0"/>
            <a:ext cx="8686800" cy="6781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68939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76200"/>
            <a:ext cx="8686800" cy="6705600"/>
          </a:xfrm>
        </p:spPr>
        <p:txBody>
          <a:bodyPr>
            <a:normAutofit fontScale="85000" lnSpcReduction="10000"/>
          </a:bodyPr>
          <a:lstStyle/>
          <a:p>
            <a:pPr marL="0" indent="0">
              <a:buNone/>
            </a:pPr>
            <a:r>
              <a:rPr lang="en-US" sz="2400" b="1" u="sng" dirty="0">
                <a:solidFill>
                  <a:srgbClr val="0070C0"/>
                </a:solidFill>
                <a:latin typeface="Bookman Old Style" pitchFamily="18" charset="0"/>
              </a:rPr>
              <a:t>Ecological Importance of </a:t>
            </a:r>
            <a:r>
              <a:rPr lang="en-US" sz="2400" b="1" u="sng" dirty="0" smtClean="0">
                <a:solidFill>
                  <a:srgbClr val="0070C0"/>
                </a:solidFill>
                <a:latin typeface="Bookman Old Style" pitchFamily="18" charset="0"/>
              </a:rPr>
              <a:t>Soil:</a:t>
            </a:r>
          </a:p>
          <a:p>
            <a:pPr marL="0" indent="0" algn="just">
              <a:buNone/>
            </a:pPr>
            <a:r>
              <a:rPr lang="en-US" sz="2400" b="1" dirty="0">
                <a:latin typeface="Bookman Old Style" pitchFamily="18" charset="0"/>
              </a:rPr>
              <a:t>Supports Plant Growth</a:t>
            </a:r>
            <a:endParaRPr lang="en-US" sz="2400" dirty="0">
              <a:latin typeface="Bookman Old Style" pitchFamily="18" charset="0"/>
            </a:endParaRPr>
          </a:p>
          <a:p>
            <a:pPr algn="just">
              <a:buFont typeface="Wingdings" pitchFamily="2" charset="2"/>
              <a:buChar char="Ø"/>
            </a:pPr>
            <a:r>
              <a:rPr lang="en-US" sz="2400" dirty="0" smtClean="0">
                <a:latin typeface="Bookman Old Style" pitchFamily="18" charset="0"/>
              </a:rPr>
              <a:t>Provides </a:t>
            </a:r>
            <a:r>
              <a:rPr lang="en-US" sz="2400" dirty="0">
                <a:latin typeface="Bookman Old Style" pitchFamily="18" charset="0"/>
              </a:rPr>
              <a:t>nutrients, water, and physical support for plants.</a:t>
            </a:r>
          </a:p>
          <a:p>
            <a:pPr algn="just">
              <a:buFont typeface="Wingdings" pitchFamily="2" charset="2"/>
              <a:buChar char="Ø"/>
            </a:pPr>
            <a:r>
              <a:rPr lang="en-US" sz="2400" dirty="0" smtClean="0">
                <a:latin typeface="Bookman Old Style" pitchFamily="18" charset="0"/>
              </a:rPr>
              <a:t>Essential </a:t>
            </a:r>
            <a:r>
              <a:rPr lang="en-US" sz="2400" dirty="0">
                <a:latin typeface="Bookman Old Style" pitchFamily="18" charset="0"/>
              </a:rPr>
              <a:t>for agriculture, forests, and natural vegetation.</a:t>
            </a:r>
          </a:p>
          <a:p>
            <a:pPr marL="0" indent="0" algn="just">
              <a:buNone/>
            </a:pPr>
            <a:r>
              <a:rPr lang="en-US" sz="2400" b="1" dirty="0">
                <a:latin typeface="Bookman Old Style" pitchFamily="18" charset="0"/>
              </a:rPr>
              <a:t>Habitat for Organisms</a:t>
            </a:r>
            <a:endParaRPr lang="en-US" sz="2400" dirty="0">
              <a:latin typeface="Bookman Old Style" pitchFamily="18" charset="0"/>
            </a:endParaRPr>
          </a:p>
          <a:p>
            <a:pPr algn="just">
              <a:buFont typeface="Wingdings" pitchFamily="2" charset="2"/>
              <a:buChar char="Ø"/>
            </a:pPr>
            <a:r>
              <a:rPr lang="en-US" sz="2400" dirty="0">
                <a:latin typeface="Bookman Old Style" pitchFamily="18" charset="0"/>
              </a:rPr>
              <a:t>Home to billions of microorganisms, insects, fungi, and small animals.</a:t>
            </a:r>
          </a:p>
          <a:p>
            <a:pPr algn="just">
              <a:buFont typeface="Wingdings" pitchFamily="2" charset="2"/>
              <a:buChar char="Ø"/>
            </a:pPr>
            <a:r>
              <a:rPr lang="en-US" sz="2400" dirty="0">
                <a:latin typeface="Bookman Old Style" pitchFamily="18" charset="0"/>
              </a:rPr>
              <a:t>These organisms help decompose organic matter and recycle nutrients.</a:t>
            </a:r>
          </a:p>
          <a:p>
            <a:pPr marL="0" indent="0" algn="just">
              <a:buNone/>
            </a:pPr>
            <a:r>
              <a:rPr lang="en-US" sz="2400" b="1" dirty="0">
                <a:latin typeface="Bookman Old Style" pitchFamily="18" charset="0"/>
              </a:rPr>
              <a:t>Nutrient Cycling</a:t>
            </a:r>
            <a:endParaRPr lang="en-US" sz="2400" dirty="0">
              <a:latin typeface="Bookman Old Style" pitchFamily="18" charset="0"/>
            </a:endParaRPr>
          </a:p>
          <a:p>
            <a:pPr algn="just">
              <a:buFont typeface="Wingdings" pitchFamily="2" charset="2"/>
              <a:buChar char="Ø"/>
            </a:pPr>
            <a:r>
              <a:rPr lang="en-US" sz="2400" dirty="0">
                <a:latin typeface="Bookman Old Style" pitchFamily="18" charset="0"/>
              </a:rPr>
              <a:t>Plays a key role in the biogeochemical cycles (carbon, nitrogen, phosphorus).</a:t>
            </a:r>
          </a:p>
          <a:p>
            <a:pPr algn="just">
              <a:buFont typeface="Wingdings" pitchFamily="2" charset="2"/>
              <a:buChar char="Ø"/>
            </a:pPr>
            <a:r>
              <a:rPr lang="en-US" sz="2400" dirty="0">
                <a:latin typeface="Bookman Old Style" pitchFamily="18" charset="0"/>
              </a:rPr>
              <a:t>Stores and releases nutrients needed for plant and microbial life.</a:t>
            </a:r>
          </a:p>
          <a:p>
            <a:pPr marL="0" indent="0" algn="just">
              <a:buNone/>
            </a:pPr>
            <a:r>
              <a:rPr lang="en-US" sz="2400" b="1" dirty="0">
                <a:latin typeface="Bookman Old Style" pitchFamily="18" charset="0"/>
              </a:rPr>
              <a:t>Water Regulation</a:t>
            </a:r>
            <a:endParaRPr lang="en-US" sz="2400" dirty="0">
              <a:latin typeface="Bookman Old Style" pitchFamily="18" charset="0"/>
            </a:endParaRPr>
          </a:p>
          <a:p>
            <a:pPr algn="just">
              <a:buFont typeface="Wingdings" pitchFamily="2" charset="2"/>
              <a:buChar char="Ø"/>
            </a:pPr>
            <a:r>
              <a:rPr lang="en-US" sz="2400" dirty="0">
                <a:latin typeface="Bookman Old Style" pitchFamily="18" charset="0"/>
              </a:rPr>
              <a:t>Filters, stores, and distributes water in the environment.</a:t>
            </a:r>
          </a:p>
          <a:p>
            <a:pPr algn="just">
              <a:buFont typeface="Wingdings" pitchFamily="2" charset="2"/>
              <a:buChar char="Ø"/>
            </a:pPr>
            <a:r>
              <a:rPr lang="en-US" sz="2400" dirty="0">
                <a:latin typeface="Bookman Old Style" pitchFamily="18" charset="0"/>
              </a:rPr>
              <a:t>Reduces flooding and helps recharge groundwater.</a:t>
            </a:r>
          </a:p>
          <a:p>
            <a:pPr marL="0" indent="0" algn="just">
              <a:buNone/>
            </a:pPr>
            <a:r>
              <a:rPr lang="en-US" sz="2400" b="1" dirty="0">
                <a:latin typeface="Bookman Old Style" pitchFamily="18" charset="0"/>
              </a:rPr>
              <a:t>Climate Regulation</a:t>
            </a:r>
            <a:endParaRPr lang="en-US" sz="2400" dirty="0">
              <a:latin typeface="Bookman Old Style" pitchFamily="18" charset="0"/>
            </a:endParaRPr>
          </a:p>
          <a:p>
            <a:pPr algn="just">
              <a:buFont typeface="Wingdings" pitchFamily="2" charset="2"/>
              <a:buChar char="Ø"/>
            </a:pPr>
            <a:r>
              <a:rPr lang="en-US" sz="2400" dirty="0">
                <a:latin typeface="Bookman Old Style" pitchFamily="18" charset="0"/>
              </a:rPr>
              <a:t>Stores large amounts of carbon (more than the atmosphere and vegetation combined).</a:t>
            </a:r>
          </a:p>
          <a:p>
            <a:pPr algn="just">
              <a:buFont typeface="Wingdings" pitchFamily="2" charset="2"/>
              <a:buChar char="Ø"/>
            </a:pPr>
            <a:r>
              <a:rPr lang="en-US" sz="2400" dirty="0">
                <a:latin typeface="Bookman Old Style" pitchFamily="18" charset="0"/>
              </a:rPr>
              <a:t>Helps mitigate climate change by sequestering CO₂.</a:t>
            </a:r>
          </a:p>
          <a:p>
            <a:endParaRPr lang="en-US" sz="2400" b="1" u="sng" dirty="0">
              <a:latin typeface="Bookman Old Style" pitchFamily="18" charset="0"/>
            </a:endParaRPr>
          </a:p>
        </p:txBody>
      </p:sp>
    </p:spTree>
    <p:extLst>
      <p:ext uri="{BB962C8B-B14F-4D97-AF65-F5344CB8AC3E}">
        <p14:creationId xmlns:p14="http://schemas.microsoft.com/office/powerpoint/2010/main" val="14090247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81000"/>
            <a:ext cx="8763000" cy="6248400"/>
          </a:xfrm>
        </p:spPr>
        <p:txBody>
          <a:bodyPr>
            <a:normAutofit fontScale="62500" lnSpcReduction="20000"/>
          </a:bodyPr>
          <a:lstStyle/>
          <a:p>
            <a:pPr marL="0" indent="0" algn="just">
              <a:buNone/>
            </a:pPr>
            <a:r>
              <a:rPr lang="en-US" sz="3400" b="1" u="sng" dirty="0">
                <a:solidFill>
                  <a:srgbClr val="0070C0"/>
                </a:solidFill>
                <a:latin typeface="Bookman Old Style" pitchFamily="18" charset="0"/>
              </a:rPr>
              <a:t>Economic Importance of Soil</a:t>
            </a:r>
          </a:p>
          <a:p>
            <a:pPr algn="just"/>
            <a:r>
              <a:rPr lang="en-US" sz="3400" b="1" dirty="0">
                <a:latin typeface="Bookman Old Style" pitchFamily="18" charset="0"/>
              </a:rPr>
              <a:t>Agricultural Productivity</a:t>
            </a:r>
            <a:endParaRPr lang="en-US" sz="3400" dirty="0">
              <a:latin typeface="Bookman Old Style" pitchFamily="18" charset="0"/>
            </a:endParaRPr>
          </a:p>
          <a:p>
            <a:pPr lvl="1" algn="just"/>
            <a:r>
              <a:rPr lang="en-US" sz="3400" dirty="0">
                <a:latin typeface="Bookman Old Style" pitchFamily="18" charset="0"/>
              </a:rPr>
              <a:t>Basis for farming and food production.</a:t>
            </a:r>
          </a:p>
          <a:p>
            <a:pPr lvl="1" algn="just"/>
            <a:r>
              <a:rPr lang="en-US" sz="3400" dirty="0">
                <a:latin typeface="Bookman Old Style" pitchFamily="18" charset="0"/>
              </a:rPr>
              <a:t>Fertile soil is vital for crop yields, livestock feed, and overall food security.</a:t>
            </a:r>
          </a:p>
          <a:p>
            <a:pPr algn="just"/>
            <a:r>
              <a:rPr lang="en-US" sz="3400" b="1" dirty="0">
                <a:latin typeface="Bookman Old Style" pitchFamily="18" charset="0"/>
              </a:rPr>
              <a:t>Forestry and Timber Industry</a:t>
            </a:r>
            <a:endParaRPr lang="en-US" sz="3400" dirty="0">
              <a:latin typeface="Bookman Old Style" pitchFamily="18" charset="0"/>
            </a:endParaRPr>
          </a:p>
          <a:p>
            <a:pPr lvl="1" algn="just"/>
            <a:r>
              <a:rPr lang="en-US" sz="3400" dirty="0">
                <a:latin typeface="Bookman Old Style" pitchFamily="18" charset="0"/>
              </a:rPr>
              <a:t>Healthy soils support forest ecosystems, which provide wood and other resources.</a:t>
            </a:r>
          </a:p>
          <a:p>
            <a:pPr algn="just"/>
            <a:r>
              <a:rPr lang="en-US" sz="3400" b="1" dirty="0">
                <a:latin typeface="Bookman Old Style" pitchFamily="18" charset="0"/>
              </a:rPr>
              <a:t>Construction and Infrastructure</a:t>
            </a:r>
            <a:endParaRPr lang="en-US" sz="3400" dirty="0">
              <a:latin typeface="Bookman Old Style" pitchFamily="18" charset="0"/>
            </a:endParaRPr>
          </a:p>
          <a:p>
            <a:pPr lvl="1" algn="just"/>
            <a:r>
              <a:rPr lang="en-US" sz="3400" dirty="0">
                <a:latin typeface="Bookman Old Style" pitchFamily="18" charset="0"/>
              </a:rPr>
              <a:t>Soil is used as a foundation for buildings, roads, and other infrastructure.</a:t>
            </a:r>
          </a:p>
          <a:p>
            <a:pPr lvl="1" algn="just"/>
            <a:r>
              <a:rPr lang="en-US" sz="3400" dirty="0">
                <a:latin typeface="Bookman Old Style" pitchFamily="18" charset="0"/>
              </a:rPr>
              <a:t>Its properties determine construction suitability and cost.</a:t>
            </a:r>
          </a:p>
          <a:p>
            <a:pPr algn="just"/>
            <a:r>
              <a:rPr lang="en-US" sz="3400" b="1" dirty="0">
                <a:latin typeface="Bookman Old Style" pitchFamily="18" charset="0"/>
              </a:rPr>
              <a:t>Raw Materials</a:t>
            </a:r>
            <a:endParaRPr lang="en-US" sz="3400" dirty="0">
              <a:latin typeface="Bookman Old Style" pitchFamily="18" charset="0"/>
            </a:endParaRPr>
          </a:p>
          <a:p>
            <a:pPr lvl="1" algn="just"/>
            <a:r>
              <a:rPr lang="en-US" sz="3400" dirty="0">
                <a:latin typeface="Bookman Old Style" pitchFamily="18" charset="0"/>
              </a:rPr>
              <a:t>Source of materials like clay, sand, gravel, and minerals used in manufacturing.</a:t>
            </a:r>
          </a:p>
          <a:p>
            <a:pPr algn="just"/>
            <a:r>
              <a:rPr lang="en-US" sz="3400" b="1" dirty="0">
                <a:latin typeface="Bookman Old Style" pitchFamily="18" charset="0"/>
              </a:rPr>
              <a:t>Water Supply</a:t>
            </a:r>
            <a:endParaRPr lang="en-US" sz="3400" dirty="0">
              <a:latin typeface="Bookman Old Style" pitchFamily="18" charset="0"/>
            </a:endParaRPr>
          </a:p>
          <a:p>
            <a:pPr lvl="1" algn="just"/>
            <a:r>
              <a:rPr lang="en-US" sz="3400" dirty="0">
                <a:latin typeface="Bookman Old Style" pitchFamily="18" charset="0"/>
              </a:rPr>
              <a:t>Helps maintain clean water supplies by filtering pollutants and recharging aquifers.</a:t>
            </a:r>
          </a:p>
          <a:p>
            <a:endParaRPr lang="en-US" dirty="0"/>
          </a:p>
        </p:txBody>
      </p:sp>
    </p:spTree>
    <p:extLst>
      <p:ext uri="{BB962C8B-B14F-4D97-AF65-F5344CB8AC3E}">
        <p14:creationId xmlns:p14="http://schemas.microsoft.com/office/powerpoint/2010/main" val="2695130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74638"/>
            <a:ext cx="8229600" cy="639762"/>
          </a:xfrm>
        </p:spPr>
        <p:txBody>
          <a:bodyPr>
            <a:normAutofit fontScale="90000"/>
          </a:bodyPr>
          <a:lstStyle/>
          <a:p>
            <a:pPr algn="l"/>
            <a:r>
              <a:rPr lang="en-US" sz="2700" b="1" u="sng" dirty="0">
                <a:latin typeface="Bookman Old Style" pitchFamily="18" charset="0"/>
              </a:rPr>
              <a:t>Ecological Importance of Soil</a:t>
            </a:r>
            <a:r>
              <a:rPr lang="en-US" b="1" u="sng" dirty="0">
                <a:latin typeface="Bookman Old Style" pitchFamily="18" charset="0"/>
              </a:rPr>
              <a:t/>
            </a:r>
            <a:br>
              <a:rPr lang="en-US" b="1" u="sng" dirty="0">
                <a:latin typeface="Bookman Old Style" pitchFamily="18" charset="0"/>
              </a:rPr>
            </a:br>
            <a:endParaRPr lang="en-US" dirty="0"/>
          </a:p>
        </p:txBody>
      </p:sp>
      <p:sp>
        <p:nvSpPr>
          <p:cNvPr id="3" name="Content Placeholder 2"/>
          <p:cNvSpPr>
            <a:spLocks noGrp="1"/>
          </p:cNvSpPr>
          <p:nvPr>
            <p:ph sz="half" idx="1"/>
          </p:nvPr>
        </p:nvSpPr>
        <p:spPr>
          <a:xfrm>
            <a:off x="152400" y="762000"/>
            <a:ext cx="4343400" cy="5364163"/>
          </a:xfrm>
        </p:spPr>
        <p:txBody>
          <a:bodyPr>
            <a:normAutofit fontScale="85000" lnSpcReduction="20000"/>
          </a:bodyPr>
          <a:lstStyle/>
          <a:p>
            <a:pPr marL="0" indent="0" algn="just">
              <a:buNone/>
            </a:pPr>
            <a:r>
              <a:rPr lang="en-US" sz="2200" b="1" u="sng" dirty="0" smtClean="0">
                <a:latin typeface="Bookman Old Style" pitchFamily="18" charset="0"/>
              </a:rPr>
              <a:t>Advantages</a:t>
            </a:r>
            <a:r>
              <a:rPr lang="en-US" sz="2200" b="1" u="sng" dirty="0">
                <a:latin typeface="Bookman Old Style" pitchFamily="18" charset="0"/>
              </a:rPr>
              <a:t>:</a:t>
            </a:r>
          </a:p>
          <a:p>
            <a:pPr algn="just"/>
            <a:r>
              <a:rPr lang="en-US" sz="2200" b="1" dirty="0">
                <a:solidFill>
                  <a:schemeClr val="accent2"/>
                </a:solidFill>
                <a:latin typeface="Bookman Old Style" pitchFamily="18" charset="0"/>
              </a:rPr>
              <a:t>Supports Plant Life:</a:t>
            </a:r>
            <a:endParaRPr lang="en-US" sz="2200" dirty="0">
              <a:solidFill>
                <a:schemeClr val="accent2"/>
              </a:solidFill>
              <a:latin typeface="Bookman Old Style" pitchFamily="18" charset="0"/>
            </a:endParaRPr>
          </a:p>
          <a:p>
            <a:pPr lvl="1" algn="just"/>
            <a:r>
              <a:rPr lang="en-US" sz="2200" dirty="0">
                <a:solidFill>
                  <a:schemeClr val="accent2"/>
                </a:solidFill>
                <a:latin typeface="Bookman Old Style" pitchFamily="18" charset="0"/>
              </a:rPr>
              <a:t>Provides nutrients, water, and structure for plants to grow.</a:t>
            </a:r>
          </a:p>
          <a:p>
            <a:pPr algn="just"/>
            <a:r>
              <a:rPr lang="en-US" sz="2200" b="1" dirty="0">
                <a:solidFill>
                  <a:schemeClr val="accent2"/>
                </a:solidFill>
                <a:latin typeface="Bookman Old Style" pitchFamily="18" charset="0"/>
              </a:rPr>
              <a:t>Biodiversity:</a:t>
            </a:r>
            <a:endParaRPr lang="en-US" sz="2200" dirty="0">
              <a:solidFill>
                <a:schemeClr val="accent2"/>
              </a:solidFill>
              <a:latin typeface="Bookman Old Style" pitchFamily="18" charset="0"/>
            </a:endParaRPr>
          </a:p>
          <a:p>
            <a:pPr lvl="1" algn="just"/>
            <a:r>
              <a:rPr lang="en-US" sz="2200" dirty="0">
                <a:solidFill>
                  <a:schemeClr val="accent2"/>
                </a:solidFill>
                <a:latin typeface="Bookman Old Style" pitchFamily="18" charset="0"/>
              </a:rPr>
              <a:t>Hosts diverse organisms (bacteria, fungi, insects) vital for nutrient cycling.</a:t>
            </a:r>
          </a:p>
          <a:p>
            <a:pPr algn="just"/>
            <a:r>
              <a:rPr lang="en-US" sz="2200" b="1" dirty="0">
                <a:solidFill>
                  <a:schemeClr val="accent2"/>
                </a:solidFill>
                <a:latin typeface="Bookman Old Style" pitchFamily="18" charset="0"/>
              </a:rPr>
              <a:t>Water Filtration &amp; Storage:</a:t>
            </a:r>
            <a:endParaRPr lang="en-US" sz="2200" dirty="0">
              <a:solidFill>
                <a:schemeClr val="accent2"/>
              </a:solidFill>
              <a:latin typeface="Bookman Old Style" pitchFamily="18" charset="0"/>
            </a:endParaRPr>
          </a:p>
          <a:p>
            <a:pPr lvl="1" algn="just"/>
            <a:r>
              <a:rPr lang="en-US" sz="2200" dirty="0">
                <a:solidFill>
                  <a:schemeClr val="accent2"/>
                </a:solidFill>
                <a:latin typeface="Bookman Old Style" pitchFamily="18" charset="0"/>
              </a:rPr>
              <a:t>Filters pollutants and stores water for ecosystems.</a:t>
            </a:r>
          </a:p>
          <a:p>
            <a:pPr algn="just"/>
            <a:r>
              <a:rPr lang="en-US" sz="2200" b="1" dirty="0">
                <a:solidFill>
                  <a:schemeClr val="accent2"/>
                </a:solidFill>
                <a:latin typeface="Bookman Old Style" pitchFamily="18" charset="0"/>
              </a:rPr>
              <a:t>Carbon Storage:</a:t>
            </a:r>
            <a:endParaRPr lang="en-US" sz="2200" dirty="0">
              <a:solidFill>
                <a:schemeClr val="accent2"/>
              </a:solidFill>
              <a:latin typeface="Bookman Old Style" pitchFamily="18" charset="0"/>
            </a:endParaRPr>
          </a:p>
          <a:p>
            <a:pPr lvl="1" algn="just"/>
            <a:r>
              <a:rPr lang="en-US" sz="2200" dirty="0">
                <a:solidFill>
                  <a:schemeClr val="accent2"/>
                </a:solidFill>
                <a:latin typeface="Bookman Old Style" pitchFamily="18" charset="0"/>
              </a:rPr>
              <a:t>Sequesters carbon, helping to reduce greenhouse gases.</a:t>
            </a:r>
          </a:p>
          <a:p>
            <a:pPr algn="just"/>
            <a:r>
              <a:rPr lang="en-US" sz="2200" b="1" dirty="0">
                <a:solidFill>
                  <a:schemeClr val="accent2"/>
                </a:solidFill>
                <a:latin typeface="Bookman Old Style" pitchFamily="18" charset="0"/>
              </a:rPr>
              <a:t>Erosion Control:</a:t>
            </a:r>
            <a:endParaRPr lang="en-US" sz="2200" dirty="0">
              <a:solidFill>
                <a:schemeClr val="accent2"/>
              </a:solidFill>
              <a:latin typeface="Bookman Old Style" pitchFamily="18" charset="0"/>
            </a:endParaRPr>
          </a:p>
          <a:p>
            <a:pPr lvl="1" algn="just"/>
            <a:r>
              <a:rPr lang="en-US" sz="2200" dirty="0">
                <a:solidFill>
                  <a:schemeClr val="accent2"/>
                </a:solidFill>
                <a:latin typeface="Bookman Old Style" pitchFamily="18" charset="0"/>
              </a:rPr>
              <a:t>Anchors plant roots, preventing erosion and land degradation.</a:t>
            </a:r>
          </a:p>
          <a:p>
            <a:endParaRPr lang="en-US" sz="2200" dirty="0"/>
          </a:p>
        </p:txBody>
      </p:sp>
      <p:sp>
        <p:nvSpPr>
          <p:cNvPr id="5" name="Content Placeholder 4"/>
          <p:cNvSpPr>
            <a:spLocks noGrp="1"/>
          </p:cNvSpPr>
          <p:nvPr>
            <p:ph sz="half" idx="2"/>
          </p:nvPr>
        </p:nvSpPr>
        <p:spPr>
          <a:xfrm>
            <a:off x="4953000" y="685800"/>
            <a:ext cx="3962400" cy="5440363"/>
          </a:xfrm>
        </p:spPr>
        <p:txBody>
          <a:bodyPr>
            <a:noAutofit/>
          </a:bodyPr>
          <a:lstStyle/>
          <a:p>
            <a:pPr marL="0" indent="0" algn="just">
              <a:buNone/>
            </a:pPr>
            <a:r>
              <a:rPr lang="en-US" sz="2000" b="1" u="sng" dirty="0">
                <a:solidFill>
                  <a:schemeClr val="accent4"/>
                </a:solidFill>
                <a:latin typeface="Bookman Old Style" pitchFamily="18" charset="0"/>
              </a:rPr>
              <a:t>Disadvantages:</a:t>
            </a:r>
          </a:p>
          <a:p>
            <a:pPr algn="just"/>
            <a:r>
              <a:rPr lang="en-US" sz="2000" b="1" dirty="0">
                <a:solidFill>
                  <a:schemeClr val="accent4"/>
                </a:solidFill>
                <a:latin typeface="Bookman Old Style" pitchFamily="18" charset="0"/>
              </a:rPr>
              <a:t>Vulnerability to Degradation:</a:t>
            </a:r>
            <a:endParaRPr lang="en-US" sz="2000" dirty="0">
              <a:solidFill>
                <a:schemeClr val="accent4"/>
              </a:solidFill>
              <a:latin typeface="Bookman Old Style" pitchFamily="18" charset="0"/>
            </a:endParaRPr>
          </a:p>
          <a:p>
            <a:pPr lvl="1" algn="just"/>
            <a:r>
              <a:rPr lang="en-US" sz="2000" dirty="0">
                <a:solidFill>
                  <a:schemeClr val="accent4"/>
                </a:solidFill>
                <a:latin typeface="Bookman Old Style" pitchFamily="18" charset="0"/>
              </a:rPr>
              <a:t>Easily damaged by deforestation, overgrazing, and unsustainable farming.</a:t>
            </a:r>
          </a:p>
          <a:p>
            <a:pPr algn="just"/>
            <a:r>
              <a:rPr lang="en-US" sz="2000" b="1" dirty="0">
                <a:solidFill>
                  <a:schemeClr val="accent4"/>
                </a:solidFill>
                <a:latin typeface="Bookman Old Style" pitchFamily="18" charset="0"/>
              </a:rPr>
              <a:t>Pollution Accumulation:</a:t>
            </a:r>
            <a:endParaRPr lang="en-US" sz="2000" dirty="0">
              <a:solidFill>
                <a:schemeClr val="accent4"/>
              </a:solidFill>
              <a:latin typeface="Bookman Old Style" pitchFamily="18" charset="0"/>
            </a:endParaRPr>
          </a:p>
          <a:p>
            <a:pPr lvl="1" algn="just"/>
            <a:r>
              <a:rPr lang="en-US" sz="2000" dirty="0">
                <a:solidFill>
                  <a:schemeClr val="accent4"/>
                </a:solidFill>
                <a:latin typeface="Bookman Old Style" pitchFamily="18" charset="0"/>
              </a:rPr>
              <a:t>Can absorb and store harmful pollutants (pesticides, heavy metals), affecting ecosystems.</a:t>
            </a:r>
          </a:p>
          <a:p>
            <a:pPr algn="just"/>
            <a:r>
              <a:rPr lang="en-US" sz="2000" b="1" dirty="0">
                <a:solidFill>
                  <a:schemeClr val="accent4"/>
                </a:solidFill>
                <a:latin typeface="Bookman Old Style" pitchFamily="18" charset="0"/>
              </a:rPr>
              <a:t>Limited Regeneration:</a:t>
            </a:r>
            <a:endParaRPr lang="en-US" sz="2000" dirty="0">
              <a:solidFill>
                <a:schemeClr val="accent4"/>
              </a:solidFill>
              <a:latin typeface="Bookman Old Style" pitchFamily="18" charset="0"/>
            </a:endParaRPr>
          </a:p>
          <a:p>
            <a:pPr lvl="1" algn="just"/>
            <a:r>
              <a:rPr lang="en-US" sz="2000" dirty="0">
                <a:solidFill>
                  <a:schemeClr val="accent4"/>
                </a:solidFill>
                <a:latin typeface="Bookman Old Style" pitchFamily="18" charset="0"/>
              </a:rPr>
              <a:t>Natural soil formation is slow; recovery from damage can take decades or centuries.</a:t>
            </a:r>
          </a:p>
          <a:p>
            <a:endParaRPr lang="en-US" sz="2200" dirty="0"/>
          </a:p>
        </p:txBody>
      </p:sp>
    </p:spTree>
    <p:extLst>
      <p:ext uri="{BB962C8B-B14F-4D97-AF65-F5344CB8AC3E}">
        <p14:creationId xmlns:p14="http://schemas.microsoft.com/office/powerpoint/2010/main" val="26983637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34962"/>
          </a:xfrm>
        </p:spPr>
        <p:txBody>
          <a:bodyPr>
            <a:normAutofit fontScale="90000"/>
          </a:bodyPr>
          <a:lstStyle/>
          <a:p>
            <a:pPr algn="l"/>
            <a:r>
              <a:rPr lang="en-US" sz="2400" b="1" dirty="0">
                <a:solidFill>
                  <a:schemeClr val="accent4"/>
                </a:solidFill>
                <a:latin typeface="Bookman Old Style" pitchFamily="18" charset="0"/>
              </a:rPr>
              <a:t>Economic Importance of Soil</a:t>
            </a:r>
          </a:p>
        </p:txBody>
      </p:sp>
      <p:sp>
        <p:nvSpPr>
          <p:cNvPr id="3" name="Content Placeholder 2"/>
          <p:cNvSpPr>
            <a:spLocks noGrp="1"/>
          </p:cNvSpPr>
          <p:nvPr>
            <p:ph sz="half" idx="1"/>
          </p:nvPr>
        </p:nvSpPr>
        <p:spPr>
          <a:xfrm>
            <a:off x="228600" y="838200"/>
            <a:ext cx="4267200" cy="5791200"/>
          </a:xfrm>
        </p:spPr>
        <p:txBody>
          <a:bodyPr>
            <a:normAutofit fontScale="70000" lnSpcReduction="20000"/>
          </a:bodyPr>
          <a:lstStyle/>
          <a:p>
            <a:pPr marL="0" indent="0" algn="just">
              <a:buNone/>
            </a:pPr>
            <a:r>
              <a:rPr lang="en-US" b="1" u="sng" dirty="0">
                <a:solidFill>
                  <a:schemeClr val="accent4"/>
                </a:solidFill>
                <a:latin typeface="Bookman Old Style" pitchFamily="18" charset="0"/>
              </a:rPr>
              <a:t>Advantages:</a:t>
            </a:r>
          </a:p>
          <a:p>
            <a:pPr algn="just"/>
            <a:r>
              <a:rPr lang="en-US" b="1" dirty="0">
                <a:solidFill>
                  <a:srgbClr val="C00000"/>
                </a:solidFill>
                <a:latin typeface="Bookman Old Style" pitchFamily="18" charset="0"/>
              </a:rPr>
              <a:t>Foundation of Agriculture:</a:t>
            </a:r>
            <a:endParaRPr lang="en-US" dirty="0">
              <a:solidFill>
                <a:srgbClr val="C00000"/>
              </a:solidFill>
              <a:latin typeface="Bookman Old Style" pitchFamily="18" charset="0"/>
            </a:endParaRPr>
          </a:p>
          <a:p>
            <a:pPr lvl="1" algn="just"/>
            <a:r>
              <a:rPr lang="en-US" sz="2800" dirty="0">
                <a:solidFill>
                  <a:srgbClr val="C00000"/>
                </a:solidFill>
                <a:latin typeface="Bookman Old Style" pitchFamily="18" charset="0"/>
              </a:rPr>
              <a:t>Essential for food, fiber, and fuel production.</a:t>
            </a:r>
          </a:p>
          <a:p>
            <a:pPr algn="just"/>
            <a:r>
              <a:rPr lang="en-US" b="1" dirty="0">
                <a:solidFill>
                  <a:srgbClr val="C00000"/>
                </a:solidFill>
                <a:latin typeface="Bookman Old Style" pitchFamily="18" charset="0"/>
              </a:rPr>
              <a:t>Source of Raw Materials:</a:t>
            </a:r>
            <a:endParaRPr lang="en-US" dirty="0">
              <a:solidFill>
                <a:srgbClr val="C00000"/>
              </a:solidFill>
              <a:latin typeface="Bookman Old Style" pitchFamily="18" charset="0"/>
            </a:endParaRPr>
          </a:p>
          <a:p>
            <a:pPr lvl="1" algn="just"/>
            <a:r>
              <a:rPr lang="en-US" sz="2800" dirty="0">
                <a:solidFill>
                  <a:srgbClr val="C00000"/>
                </a:solidFill>
                <a:latin typeface="Bookman Old Style" pitchFamily="18" charset="0"/>
              </a:rPr>
              <a:t>Provides sand, clay, and minerals for construction and manufacturing.</a:t>
            </a:r>
          </a:p>
          <a:p>
            <a:pPr algn="just"/>
            <a:r>
              <a:rPr lang="en-US" b="1" dirty="0">
                <a:solidFill>
                  <a:srgbClr val="C00000"/>
                </a:solidFill>
                <a:latin typeface="Bookman Old Style" pitchFamily="18" charset="0"/>
              </a:rPr>
              <a:t>Water Resource Management:</a:t>
            </a:r>
            <a:endParaRPr lang="en-US" dirty="0">
              <a:solidFill>
                <a:srgbClr val="C00000"/>
              </a:solidFill>
              <a:latin typeface="Bookman Old Style" pitchFamily="18" charset="0"/>
            </a:endParaRPr>
          </a:p>
          <a:p>
            <a:pPr lvl="1" algn="just"/>
            <a:r>
              <a:rPr lang="en-US" sz="2800" dirty="0">
                <a:solidFill>
                  <a:srgbClr val="C00000"/>
                </a:solidFill>
                <a:latin typeface="Bookman Old Style" pitchFamily="18" charset="0"/>
              </a:rPr>
              <a:t>Helps regulate freshwater availability and quality.</a:t>
            </a:r>
          </a:p>
          <a:p>
            <a:pPr algn="just"/>
            <a:r>
              <a:rPr lang="en-US" b="1" dirty="0">
                <a:solidFill>
                  <a:srgbClr val="C00000"/>
                </a:solidFill>
                <a:latin typeface="Bookman Old Style" pitchFamily="18" charset="0"/>
              </a:rPr>
              <a:t>Supports Industries:</a:t>
            </a:r>
            <a:endParaRPr lang="en-US" dirty="0">
              <a:solidFill>
                <a:srgbClr val="C00000"/>
              </a:solidFill>
              <a:latin typeface="Bookman Old Style" pitchFamily="18" charset="0"/>
            </a:endParaRPr>
          </a:p>
          <a:p>
            <a:pPr lvl="1" algn="just"/>
            <a:r>
              <a:rPr lang="en-US" sz="2800" dirty="0">
                <a:solidFill>
                  <a:srgbClr val="C00000"/>
                </a:solidFill>
                <a:latin typeface="Bookman Old Style" pitchFamily="18" charset="0"/>
              </a:rPr>
              <a:t>Forestry, construction, and pharmaceuticals depend on soil resources.</a:t>
            </a:r>
          </a:p>
          <a:p>
            <a:endParaRPr lang="en-US" dirty="0"/>
          </a:p>
        </p:txBody>
      </p:sp>
      <p:sp>
        <p:nvSpPr>
          <p:cNvPr id="4" name="Content Placeholder 3"/>
          <p:cNvSpPr>
            <a:spLocks noGrp="1"/>
          </p:cNvSpPr>
          <p:nvPr>
            <p:ph sz="half" idx="2"/>
          </p:nvPr>
        </p:nvSpPr>
        <p:spPr>
          <a:xfrm>
            <a:off x="4648200" y="838200"/>
            <a:ext cx="4267200" cy="5287963"/>
          </a:xfrm>
        </p:spPr>
        <p:txBody>
          <a:bodyPr>
            <a:normAutofit fontScale="70000" lnSpcReduction="20000"/>
          </a:bodyPr>
          <a:lstStyle/>
          <a:p>
            <a:pPr marL="0" indent="0" algn="just">
              <a:buNone/>
            </a:pPr>
            <a:r>
              <a:rPr lang="en-US" sz="3200" b="1" u="sng" dirty="0">
                <a:solidFill>
                  <a:schemeClr val="accent4"/>
                </a:solidFill>
                <a:latin typeface="Bookman Old Style" pitchFamily="18" charset="0"/>
              </a:rPr>
              <a:t>Disadvantages:</a:t>
            </a:r>
          </a:p>
          <a:p>
            <a:pPr algn="just"/>
            <a:r>
              <a:rPr lang="en-US" sz="3200" b="1" dirty="0">
                <a:solidFill>
                  <a:schemeClr val="accent4"/>
                </a:solidFill>
                <a:latin typeface="Bookman Old Style" pitchFamily="18" charset="0"/>
              </a:rPr>
              <a:t>Productivity Decline from Misuse:</a:t>
            </a:r>
            <a:endParaRPr lang="en-US" sz="3200" dirty="0">
              <a:solidFill>
                <a:schemeClr val="accent4"/>
              </a:solidFill>
              <a:latin typeface="Bookman Old Style" pitchFamily="18" charset="0"/>
            </a:endParaRPr>
          </a:p>
          <a:p>
            <a:pPr lvl="1" algn="just"/>
            <a:r>
              <a:rPr lang="en-US" sz="2900" dirty="0">
                <a:solidFill>
                  <a:schemeClr val="accent4"/>
                </a:solidFill>
                <a:latin typeface="Bookman Old Style" pitchFamily="18" charset="0"/>
              </a:rPr>
              <a:t>Overuse, erosion, and salinization reduce long-term soil fertility.</a:t>
            </a:r>
          </a:p>
          <a:p>
            <a:pPr algn="just"/>
            <a:r>
              <a:rPr lang="en-US" sz="2900" b="1" dirty="0">
                <a:solidFill>
                  <a:schemeClr val="accent4"/>
                </a:solidFill>
                <a:latin typeface="Bookman Old Style" pitchFamily="18" charset="0"/>
              </a:rPr>
              <a:t>High Restoration Costs:</a:t>
            </a:r>
            <a:endParaRPr lang="en-US" sz="2900" dirty="0">
              <a:solidFill>
                <a:schemeClr val="accent4"/>
              </a:solidFill>
              <a:latin typeface="Bookman Old Style" pitchFamily="18" charset="0"/>
            </a:endParaRPr>
          </a:p>
          <a:p>
            <a:pPr lvl="1" algn="just"/>
            <a:r>
              <a:rPr lang="en-US" sz="2900" dirty="0">
                <a:solidFill>
                  <a:schemeClr val="accent4"/>
                </a:solidFill>
                <a:latin typeface="Bookman Old Style" pitchFamily="18" charset="0"/>
              </a:rPr>
              <a:t>Rehabilitating degraded soil (e.g. through fertilizers, reforestation) is expensive.</a:t>
            </a:r>
          </a:p>
          <a:p>
            <a:pPr algn="just"/>
            <a:r>
              <a:rPr lang="en-US" sz="2900" b="1" dirty="0">
                <a:solidFill>
                  <a:schemeClr val="accent4"/>
                </a:solidFill>
                <a:latin typeface="Bookman Old Style" pitchFamily="18" charset="0"/>
              </a:rPr>
              <a:t>Land Conflicts &amp; Shortages:</a:t>
            </a:r>
            <a:endParaRPr lang="en-US" sz="2900" dirty="0">
              <a:solidFill>
                <a:schemeClr val="accent4"/>
              </a:solidFill>
              <a:latin typeface="Bookman Old Style" pitchFamily="18" charset="0"/>
            </a:endParaRPr>
          </a:p>
          <a:p>
            <a:pPr lvl="1" algn="just"/>
            <a:r>
              <a:rPr lang="en-US" sz="2900" dirty="0">
                <a:solidFill>
                  <a:schemeClr val="accent4"/>
                </a:solidFill>
                <a:latin typeface="Bookman Old Style" pitchFamily="18" charset="0"/>
              </a:rPr>
              <a:t>Fertile land is limited and can lead to competition or conflict over usage.</a:t>
            </a:r>
          </a:p>
          <a:p>
            <a:endParaRPr lang="en-US" dirty="0"/>
          </a:p>
        </p:txBody>
      </p:sp>
    </p:spTree>
    <p:extLst>
      <p:ext uri="{BB962C8B-B14F-4D97-AF65-F5344CB8AC3E}">
        <p14:creationId xmlns:p14="http://schemas.microsoft.com/office/powerpoint/2010/main" val="16399612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274638"/>
            <a:ext cx="8229600" cy="639762"/>
          </a:xfrm>
        </p:spPr>
        <p:txBody>
          <a:bodyPr>
            <a:normAutofit fontScale="90000"/>
          </a:bodyPr>
          <a:lstStyle/>
          <a:p>
            <a:pPr algn="l"/>
            <a:r>
              <a:rPr lang="en-US" sz="3100" b="1" dirty="0">
                <a:latin typeface="Times New Roman" pitchFamily="18" charset="0"/>
                <a:cs typeface="Times New Roman" pitchFamily="18" charset="0"/>
              </a:rPr>
              <a:t>Impact of Soil Degradation on Agriculture</a:t>
            </a:r>
            <a:r>
              <a:rPr lang="en-US" b="1" dirty="0"/>
              <a:t/>
            </a:r>
            <a:br>
              <a:rPr lang="en-US" b="1" dirty="0"/>
            </a:br>
            <a:endParaRPr lang="en-US" dirty="0"/>
          </a:p>
        </p:txBody>
      </p:sp>
      <p:sp>
        <p:nvSpPr>
          <p:cNvPr id="6" name="Content Placeholder 5"/>
          <p:cNvSpPr>
            <a:spLocks noGrp="1"/>
          </p:cNvSpPr>
          <p:nvPr>
            <p:ph idx="1"/>
          </p:nvPr>
        </p:nvSpPr>
        <p:spPr>
          <a:xfrm>
            <a:off x="304800" y="533400"/>
            <a:ext cx="8610600" cy="6248400"/>
          </a:xfrm>
        </p:spPr>
        <p:txBody>
          <a:bodyPr>
            <a:normAutofit fontScale="32500" lnSpcReduction="20000"/>
          </a:bodyPr>
          <a:lstStyle/>
          <a:p>
            <a:pPr marL="0" indent="0" algn="just">
              <a:buNone/>
            </a:pPr>
            <a:r>
              <a:rPr lang="en-US" sz="7400" dirty="0" smtClean="0">
                <a:solidFill>
                  <a:srgbClr val="002060"/>
                </a:solidFill>
                <a:latin typeface="Times New Roman" pitchFamily="18" charset="0"/>
                <a:cs typeface="Times New Roman" pitchFamily="18" charset="0"/>
              </a:rPr>
              <a:t>Soil </a:t>
            </a:r>
            <a:r>
              <a:rPr lang="en-US" sz="7400" dirty="0">
                <a:solidFill>
                  <a:srgbClr val="002060"/>
                </a:solidFill>
                <a:latin typeface="Times New Roman" pitchFamily="18" charset="0"/>
                <a:cs typeface="Times New Roman" pitchFamily="18" charset="0"/>
              </a:rPr>
              <a:t>degradation refers to the decline in soil quality due to factors such as erosion, salinization, nutrient depletion, pollution, and loss of organic matter. This has multiple negative effects on agricultural productivity:</a:t>
            </a:r>
          </a:p>
          <a:p>
            <a:pPr marL="0" indent="0" algn="just">
              <a:buNone/>
            </a:pPr>
            <a:r>
              <a:rPr lang="en-US" sz="7400" b="1" dirty="0" smtClean="0">
                <a:latin typeface="Times New Roman" pitchFamily="18" charset="0"/>
                <a:cs typeface="Times New Roman" pitchFamily="18" charset="0"/>
              </a:rPr>
              <a:t> </a:t>
            </a:r>
            <a:r>
              <a:rPr lang="en-US" sz="7400" b="1" u="sng" dirty="0">
                <a:solidFill>
                  <a:schemeClr val="accent2"/>
                </a:solidFill>
                <a:latin typeface="Times New Roman" pitchFamily="18" charset="0"/>
                <a:cs typeface="Times New Roman" pitchFamily="18" charset="0"/>
              </a:rPr>
              <a:t>Reduced Crop Yields</a:t>
            </a:r>
          </a:p>
          <a:p>
            <a:pPr algn="just"/>
            <a:r>
              <a:rPr lang="en-US" sz="7400" dirty="0">
                <a:latin typeface="Times New Roman" pitchFamily="18" charset="0"/>
                <a:cs typeface="Times New Roman" pitchFamily="18" charset="0"/>
              </a:rPr>
              <a:t>Degraded soils have lower fertility and less capacity to hold water and nutrients.</a:t>
            </a:r>
          </a:p>
          <a:p>
            <a:pPr algn="just"/>
            <a:r>
              <a:rPr lang="en-US" sz="7400" dirty="0">
                <a:latin typeface="Times New Roman" pitchFamily="18" charset="0"/>
                <a:cs typeface="Times New Roman" pitchFamily="18" charset="0"/>
              </a:rPr>
              <a:t>Crops grown in such soils produce smaller yields or fail entirely.</a:t>
            </a:r>
          </a:p>
          <a:p>
            <a:pPr marL="0" indent="0" algn="just">
              <a:buNone/>
            </a:pPr>
            <a:r>
              <a:rPr lang="en-US" sz="7400" b="1" u="sng" dirty="0" smtClean="0">
                <a:solidFill>
                  <a:schemeClr val="accent1">
                    <a:lumMod val="75000"/>
                  </a:schemeClr>
                </a:solidFill>
                <a:latin typeface="Times New Roman" pitchFamily="18" charset="0"/>
                <a:cs typeface="Times New Roman" pitchFamily="18" charset="0"/>
              </a:rPr>
              <a:t>Loss </a:t>
            </a:r>
            <a:r>
              <a:rPr lang="en-US" sz="7400" b="1" u="sng" dirty="0">
                <a:solidFill>
                  <a:schemeClr val="accent1">
                    <a:lumMod val="75000"/>
                  </a:schemeClr>
                </a:solidFill>
                <a:latin typeface="Times New Roman" pitchFamily="18" charset="0"/>
                <a:cs typeface="Times New Roman" pitchFamily="18" charset="0"/>
              </a:rPr>
              <a:t>of Arable Land</a:t>
            </a:r>
          </a:p>
          <a:p>
            <a:pPr algn="just"/>
            <a:r>
              <a:rPr lang="en-US" sz="7400" dirty="0">
                <a:latin typeface="Times New Roman" pitchFamily="18" charset="0"/>
                <a:cs typeface="Times New Roman" pitchFamily="18" charset="0"/>
              </a:rPr>
              <a:t>Severe degradation (like desertification) can render land completely unfit for farming.</a:t>
            </a:r>
          </a:p>
          <a:p>
            <a:pPr algn="just"/>
            <a:r>
              <a:rPr lang="en-US" sz="7400" dirty="0">
                <a:latin typeface="Times New Roman" pitchFamily="18" charset="0"/>
                <a:cs typeface="Times New Roman" pitchFamily="18" charset="0"/>
              </a:rPr>
              <a:t>This reduces the total available land for agricultural use.</a:t>
            </a:r>
          </a:p>
          <a:p>
            <a:pPr marL="0" indent="0" algn="just">
              <a:buNone/>
            </a:pPr>
            <a:r>
              <a:rPr lang="en-US" sz="7400" b="1" u="sng" dirty="0" smtClean="0">
                <a:solidFill>
                  <a:schemeClr val="accent1">
                    <a:lumMod val="75000"/>
                  </a:schemeClr>
                </a:solidFill>
                <a:latin typeface="Times New Roman" pitchFamily="18" charset="0"/>
                <a:cs typeface="Times New Roman" pitchFamily="18" charset="0"/>
              </a:rPr>
              <a:t>Increased </a:t>
            </a:r>
            <a:r>
              <a:rPr lang="en-US" sz="7400" b="1" u="sng" dirty="0">
                <a:solidFill>
                  <a:schemeClr val="accent1">
                    <a:lumMod val="75000"/>
                  </a:schemeClr>
                </a:solidFill>
                <a:latin typeface="Times New Roman" pitchFamily="18" charset="0"/>
                <a:cs typeface="Times New Roman" pitchFamily="18" charset="0"/>
              </a:rPr>
              <a:t>Dependency on Inputs</a:t>
            </a:r>
          </a:p>
          <a:p>
            <a:pPr algn="just"/>
            <a:r>
              <a:rPr lang="en-US" sz="7400" dirty="0">
                <a:latin typeface="Times New Roman" pitchFamily="18" charset="0"/>
                <a:cs typeface="Times New Roman" pitchFamily="18" charset="0"/>
              </a:rPr>
              <a:t>Farmers may need to use more fertilizers, pesticides, and irrigation to compensate for poor soil quality.</a:t>
            </a:r>
          </a:p>
          <a:p>
            <a:pPr algn="just"/>
            <a:r>
              <a:rPr lang="en-US" sz="7400" dirty="0">
                <a:latin typeface="Times New Roman" pitchFamily="18" charset="0"/>
                <a:cs typeface="Times New Roman" pitchFamily="18" charset="0"/>
              </a:rPr>
              <a:t>This increases production costs and can lead to further environmental harm.</a:t>
            </a:r>
          </a:p>
          <a:p>
            <a:endParaRPr lang="en-US" dirty="0"/>
          </a:p>
        </p:txBody>
      </p:sp>
    </p:spTree>
    <p:extLst>
      <p:ext uri="{BB962C8B-B14F-4D97-AF65-F5344CB8AC3E}">
        <p14:creationId xmlns:p14="http://schemas.microsoft.com/office/powerpoint/2010/main" val="3807040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304800"/>
            <a:ext cx="8763000" cy="6096000"/>
          </a:xfrm>
        </p:spPr>
        <p:txBody>
          <a:bodyPr>
            <a:normAutofit/>
          </a:bodyPr>
          <a:lstStyle/>
          <a:p>
            <a:pPr marL="0" indent="0" algn="just">
              <a:buNone/>
            </a:pPr>
            <a:r>
              <a:rPr lang="en-US" sz="2400" b="1" u="sng" dirty="0">
                <a:solidFill>
                  <a:schemeClr val="accent6">
                    <a:lumMod val="50000"/>
                  </a:schemeClr>
                </a:solidFill>
                <a:latin typeface="Times New Roman" pitchFamily="18" charset="0"/>
                <a:cs typeface="Times New Roman" pitchFamily="18" charset="0"/>
              </a:rPr>
              <a:t>Poor Soil Structure</a:t>
            </a:r>
          </a:p>
          <a:p>
            <a:pPr algn="just"/>
            <a:r>
              <a:rPr lang="en-US" sz="2400" dirty="0">
                <a:latin typeface="Times New Roman" pitchFamily="18" charset="0"/>
                <a:cs typeface="Times New Roman" pitchFamily="18" charset="0"/>
              </a:rPr>
              <a:t>Soil compaction and erosion destroy soil structure, affecting root growth and water infiltration.</a:t>
            </a:r>
          </a:p>
          <a:p>
            <a:pPr algn="just"/>
            <a:r>
              <a:rPr lang="en-US" sz="2400" dirty="0">
                <a:latin typeface="Times New Roman" pitchFamily="18" charset="0"/>
                <a:cs typeface="Times New Roman" pitchFamily="18" charset="0"/>
              </a:rPr>
              <a:t>This reduces plant health and increases vulnerability to drought and pests</a:t>
            </a:r>
            <a:r>
              <a:rPr lang="en-US" sz="2400" dirty="0" smtClean="0">
                <a:latin typeface="Times New Roman" pitchFamily="18" charset="0"/>
                <a:cs typeface="Times New Roman" pitchFamily="18" charset="0"/>
              </a:rPr>
              <a:t>.</a:t>
            </a:r>
          </a:p>
          <a:p>
            <a:pPr marL="0" indent="0" algn="just">
              <a:buNone/>
            </a:pPr>
            <a:endParaRPr lang="en-US" sz="2400" dirty="0">
              <a:latin typeface="Times New Roman" pitchFamily="18" charset="0"/>
              <a:cs typeface="Times New Roman" pitchFamily="18" charset="0"/>
            </a:endParaRPr>
          </a:p>
          <a:p>
            <a:pPr marL="0" indent="0" algn="just">
              <a:buNone/>
            </a:pPr>
            <a:r>
              <a:rPr lang="en-US" sz="2400" b="1" u="sng" dirty="0">
                <a:solidFill>
                  <a:srgbClr val="C00000"/>
                </a:solidFill>
                <a:latin typeface="Bookman Old Style" pitchFamily="18" charset="0"/>
                <a:cs typeface="Times New Roman" pitchFamily="18" charset="0"/>
              </a:rPr>
              <a:t>Impact on Food Security</a:t>
            </a:r>
          </a:p>
          <a:p>
            <a:pPr algn="just"/>
            <a:r>
              <a:rPr lang="en-US" sz="2400" dirty="0">
                <a:latin typeface="Bookman Old Style" pitchFamily="18" charset="0"/>
                <a:cs typeface="Times New Roman" pitchFamily="18" charset="0"/>
              </a:rPr>
              <a:t>Food security is defined as the availability, access, utilization, and stability of food. Soil degradation threatens all four pillars:</a:t>
            </a:r>
          </a:p>
          <a:p>
            <a:pPr marL="0" indent="0" algn="just">
              <a:buNone/>
            </a:pPr>
            <a:r>
              <a:rPr lang="en-US" sz="2400" b="1" u="sng" dirty="0">
                <a:solidFill>
                  <a:srgbClr val="FF0000"/>
                </a:solidFill>
                <a:latin typeface="Bookman Old Style" pitchFamily="18" charset="0"/>
              </a:rPr>
              <a:t>1. Availability</a:t>
            </a:r>
          </a:p>
          <a:p>
            <a:pPr algn="just"/>
            <a:r>
              <a:rPr lang="en-US" sz="2400" dirty="0">
                <a:latin typeface="Bookman Old Style" pitchFamily="18" charset="0"/>
              </a:rPr>
              <a:t>Decreased agricultural productivity leads to lower food production, threatening supply, especially in regions heavily reliant on agriculture.</a:t>
            </a:r>
          </a:p>
          <a:p>
            <a:pPr marL="0" indent="0" algn="just">
              <a:buNone/>
            </a:pP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3930042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763000" cy="6629400"/>
          </a:xfrm>
        </p:spPr>
        <p:txBody>
          <a:bodyPr>
            <a:normAutofit fontScale="92500" lnSpcReduction="10000"/>
          </a:bodyPr>
          <a:lstStyle/>
          <a:p>
            <a:pPr marL="0" indent="0" algn="just">
              <a:buNone/>
            </a:pPr>
            <a:r>
              <a:rPr lang="en-US" sz="2400" b="1" u="sng" dirty="0">
                <a:solidFill>
                  <a:srgbClr val="FFC000"/>
                </a:solidFill>
                <a:latin typeface="Bookman Old Style" pitchFamily="18" charset="0"/>
              </a:rPr>
              <a:t>2. Access</a:t>
            </a:r>
          </a:p>
          <a:p>
            <a:pPr algn="just"/>
            <a:r>
              <a:rPr lang="en-US" sz="2400" dirty="0">
                <a:solidFill>
                  <a:srgbClr val="7030A0"/>
                </a:solidFill>
                <a:latin typeface="Bookman Old Style" pitchFamily="18" charset="0"/>
              </a:rPr>
              <a:t>Lower yields can drive up food prices, making it harder for low-income populations to afford nutritious food.</a:t>
            </a:r>
          </a:p>
          <a:p>
            <a:pPr marL="0" indent="0" algn="just">
              <a:buNone/>
            </a:pPr>
            <a:r>
              <a:rPr lang="en-US" sz="2400" b="1" u="sng" dirty="0">
                <a:solidFill>
                  <a:srgbClr val="92D050"/>
                </a:solidFill>
                <a:latin typeface="Bookman Old Style" pitchFamily="18" charset="0"/>
              </a:rPr>
              <a:t>3. Utilization</a:t>
            </a:r>
          </a:p>
          <a:p>
            <a:pPr algn="just"/>
            <a:r>
              <a:rPr lang="en-US" sz="2400" dirty="0">
                <a:solidFill>
                  <a:srgbClr val="002060"/>
                </a:solidFill>
                <a:latin typeface="Bookman Old Style" pitchFamily="18" charset="0"/>
              </a:rPr>
              <a:t>Nutrient-depleted soils grow less nutritious crops, affecting the quality of food and leading to deficiencies in human diets.</a:t>
            </a:r>
          </a:p>
          <a:p>
            <a:pPr marL="0" indent="0" algn="just">
              <a:buNone/>
            </a:pPr>
            <a:r>
              <a:rPr lang="en-US" sz="2400" b="1" u="sng" dirty="0">
                <a:solidFill>
                  <a:srgbClr val="00B050"/>
                </a:solidFill>
                <a:latin typeface="Bookman Old Style" pitchFamily="18" charset="0"/>
              </a:rPr>
              <a:t>4. Stability</a:t>
            </a:r>
          </a:p>
          <a:p>
            <a:pPr algn="just"/>
            <a:r>
              <a:rPr lang="en-US" sz="2400" dirty="0">
                <a:solidFill>
                  <a:srgbClr val="00B0F0"/>
                </a:solidFill>
                <a:latin typeface="Bookman Old Style" pitchFamily="18" charset="0"/>
              </a:rPr>
              <a:t>Soil degradation reduces the resilience of food systems to climate change, droughts, and other shocks, increasing the risk of food crises.</a:t>
            </a:r>
          </a:p>
          <a:p>
            <a:pPr marL="0" indent="0" algn="just">
              <a:buNone/>
            </a:pPr>
            <a:endParaRPr lang="en-US" sz="2200" b="1" dirty="0" smtClean="0">
              <a:latin typeface="Bookman Old Style" pitchFamily="18" charset="0"/>
            </a:endParaRPr>
          </a:p>
          <a:p>
            <a:pPr marL="0" indent="0" algn="just">
              <a:buNone/>
            </a:pPr>
            <a:r>
              <a:rPr lang="en-US" sz="2200" b="1" u="sng" dirty="0" smtClean="0">
                <a:latin typeface="Bookman Old Style" pitchFamily="18" charset="0"/>
              </a:rPr>
              <a:t>Examples </a:t>
            </a:r>
            <a:r>
              <a:rPr lang="en-US" sz="2200" b="1" u="sng" dirty="0">
                <a:latin typeface="Bookman Old Style" pitchFamily="18" charset="0"/>
              </a:rPr>
              <a:t>and Global Context</a:t>
            </a:r>
          </a:p>
          <a:p>
            <a:pPr algn="just"/>
            <a:r>
              <a:rPr lang="en-US" sz="2200" b="1" dirty="0">
                <a:latin typeface="Bookman Old Style" pitchFamily="18" charset="0"/>
              </a:rPr>
              <a:t>Sub-Saharan Africa</a:t>
            </a:r>
            <a:r>
              <a:rPr lang="en-US" sz="2200" dirty="0">
                <a:latin typeface="Bookman Old Style" pitchFamily="18" charset="0"/>
              </a:rPr>
              <a:t>: Soil erosion and nutrient depletion have caused major drops in crop productivity, worsening hunger in already vulnerable communities.</a:t>
            </a:r>
          </a:p>
          <a:p>
            <a:pPr algn="just"/>
            <a:r>
              <a:rPr lang="en-US" sz="2200" b="1" dirty="0">
                <a:latin typeface="Bookman Old Style" pitchFamily="18" charset="0"/>
              </a:rPr>
              <a:t>South Asia</a:t>
            </a:r>
            <a:r>
              <a:rPr lang="en-US" sz="2200" dirty="0">
                <a:latin typeface="Bookman Old Style" pitchFamily="18" charset="0"/>
              </a:rPr>
              <a:t>: Overuse of chemical fertilizers has degraded soils, affecting long-term sustainability.</a:t>
            </a:r>
          </a:p>
          <a:p>
            <a:pPr algn="just"/>
            <a:r>
              <a:rPr lang="en-US" sz="2200" b="1" dirty="0">
                <a:latin typeface="Bookman Old Style" pitchFamily="18" charset="0"/>
              </a:rPr>
              <a:t>Latin America</a:t>
            </a:r>
            <a:r>
              <a:rPr lang="en-US" sz="2200" dirty="0">
                <a:latin typeface="Bookman Old Style" pitchFamily="18" charset="0"/>
              </a:rPr>
              <a:t>: Deforestation for agriculture has led to rapid erosion and reduced land fertility.</a:t>
            </a:r>
          </a:p>
          <a:p>
            <a:endParaRPr lang="en-US" dirty="0"/>
          </a:p>
        </p:txBody>
      </p:sp>
    </p:spTree>
    <p:extLst>
      <p:ext uri="{BB962C8B-B14F-4D97-AF65-F5344CB8AC3E}">
        <p14:creationId xmlns:p14="http://schemas.microsoft.com/office/powerpoint/2010/main" val="19564338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304800"/>
            <a:ext cx="8839200" cy="5821363"/>
          </a:xfrm>
        </p:spPr>
        <p:txBody>
          <a:bodyPr/>
          <a:lstStyle/>
          <a:p>
            <a:pPr marL="0" indent="0" algn="just">
              <a:buNone/>
            </a:pPr>
            <a:r>
              <a:rPr lang="en-US" sz="2200" b="1" u="sng" dirty="0">
                <a:solidFill>
                  <a:schemeClr val="accent6">
                    <a:lumMod val="50000"/>
                  </a:schemeClr>
                </a:solidFill>
                <a:latin typeface="Bookman Old Style" pitchFamily="18" charset="0"/>
              </a:rPr>
              <a:t>Solutions</a:t>
            </a:r>
          </a:p>
          <a:p>
            <a:pPr algn="just"/>
            <a:r>
              <a:rPr lang="en-US" sz="2200" b="1" dirty="0">
                <a:latin typeface="Bookman Old Style" pitchFamily="18" charset="0"/>
              </a:rPr>
              <a:t>Sustainable farming practices</a:t>
            </a:r>
            <a:r>
              <a:rPr lang="en-US" sz="2200" dirty="0">
                <a:latin typeface="Bookman Old Style" pitchFamily="18" charset="0"/>
              </a:rPr>
              <a:t> (e.g., crop rotation, conservation tillage)</a:t>
            </a:r>
          </a:p>
          <a:p>
            <a:pPr algn="just"/>
            <a:r>
              <a:rPr lang="en-US" sz="2200" b="1" dirty="0">
                <a:latin typeface="Bookman Old Style" pitchFamily="18" charset="0"/>
              </a:rPr>
              <a:t>Soil restoration and reforestation</a:t>
            </a:r>
            <a:endParaRPr lang="en-US" sz="2200" dirty="0">
              <a:latin typeface="Bookman Old Style" pitchFamily="18" charset="0"/>
            </a:endParaRPr>
          </a:p>
          <a:p>
            <a:pPr algn="just"/>
            <a:r>
              <a:rPr lang="en-US" sz="2200" b="1" dirty="0">
                <a:latin typeface="Bookman Old Style" pitchFamily="18" charset="0"/>
              </a:rPr>
              <a:t>Integrated nutrient management</a:t>
            </a:r>
            <a:endParaRPr lang="en-US" sz="2200" dirty="0">
              <a:latin typeface="Bookman Old Style" pitchFamily="18" charset="0"/>
            </a:endParaRPr>
          </a:p>
          <a:p>
            <a:pPr algn="just"/>
            <a:r>
              <a:rPr lang="en-US" sz="2200" b="1" dirty="0">
                <a:latin typeface="Bookman Old Style" pitchFamily="18" charset="0"/>
              </a:rPr>
              <a:t>Education and policy reforms</a:t>
            </a:r>
            <a:r>
              <a:rPr lang="en-US" sz="2200" dirty="0">
                <a:latin typeface="Bookman Old Style" pitchFamily="18" charset="0"/>
              </a:rPr>
              <a:t> supporting soil health</a:t>
            </a:r>
          </a:p>
          <a:p>
            <a:pPr marL="0" indent="0">
              <a:buNone/>
            </a:pPr>
            <a:endParaRPr lang="en-US" dirty="0"/>
          </a:p>
        </p:txBody>
      </p:sp>
      <p:pic>
        <p:nvPicPr>
          <p:cNvPr id="1026" name="Picture 2" descr="Soil and the intensification of agriculture for global food security -  ScienceDirec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2743200"/>
            <a:ext cx="8534400" cy="4114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33404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763000" cy="6477000"/>
          </a:xfrm>
        </p:spPr>
        <p:txBody>
          <a:bodyPr>
            <a:normAutofit lnSpcReduction="10000"/>
          </a:bodyPr>
          <a:lstStyle/>
          <a:p>
            <a:pPr marL="0" indent="0">
              <a:buNone/>
            </a:pPr>
            <a:r>
              <a:rPr lang="en-US" sz="2400" b="1" u="sng" dirty="0">
                <a:solidFill>
                  <a:schemeClr val="accent6">
                    <a:lumMod val="50000"/>
                  </a:schemeClr>
                </a:solidFill>
                <a:latin typeface="Bookman Old Style" pitchFamily="18" charset="0"/>
              </a:rPr>
              <a:t>Need </a:t>
            </a:r>
            <a:r>
              <a:rPr lang="en-US" sz="2400" b="1" u="sng" dirty="0" smtClean="0">
                <a:solidFill>
                  <a:schemeClr val="accent6">
                    <a:lumMod val="50000"/>
                  </a:schemeClr>
                </a:solidFill>
                <a:latin typeface="Bookman Old Style" pitchFamily="18" charset="0"/>
              </a:rPr>
              <a:t>for </a:t>
            </a:r>
            <a:r>
              <a:rPr lang="en-US" sz="2400" b="1" u="sng" dirty="0">
                <a:solidFill>
                  <a:schemeClr val="accent6">
                    <a:lumMod val="50000"/>
                  </a:schemeClr>
                </a:solidFill>
                <a:latin typeface="Bookman Old Style" pitchFamily="18" charset="0"/>
              </a:rPr>
              <a:t>Soil </a:t>
            </a:r>
            <a:r>
              <a:rPr lang="en-US" sz="2400" b="1" u="sng" dirty="0" smtClean="0">
                <a:solidFill>
                  <a:schemeClr val="accent6">
                    <a:lumMod val="50000"/>
                  </a:schemeClr>
                </a:solidFill>
                <a:latin typeface="Bookman Old Style" pitchFamily="18" charset="0"/>
              </a:rPr>
              <a:t>Conservation</a:t>
            </a:r>
          </a:p>
          <a:p>
            <a:pPr marL="0" indent="0" algn="just">
              <a:buNone/>
            </a:pPr>
            <a:r>
              <a:rPr lang="en-US" sz="2400" b="1" dirty="0">
                <a:latin typeface="Bookman Old Style" pitchFamily="18" charset="0"/>
              </a:rPr>
              <a:t>Why Soil Conservation is Important</a:t>
            </a:r>
          </a:p>
          <a:p>
            <a:pPr marL="0" indent="0" algn="just">
              <a:buNone/>
            </a:pPr>
            <a:r>
              <a:rPr lang="en-US" sz="2400" b="1" dirty="0">
                <a:latin typeface="Bookman Old Style" pitchFamily="18" charset="0"/>
              </a:rPr>
              <a:t>1. Supports Agricultural Productivity</a:t>
            </a:r>
          </a:p>
          <a:p>
            <a:pPr algn="just"/>
            <a:r>
              <a:rPr lang="en-US" sz="2400" dirty="0">
                <a:latin typeface="Bookman Old Style" pitchFamily="18" charset="0"/>
              </a:rPr>
              <a:t>Healthy soil is essential for growing crops and maintaining high yields.</a:t>
            </a:r>
          </a:p>
          <a:p>
            <a:pPr algn="just"/>
            <a:r>
              <a:rPr lang="en-US" sz="2400" dirty="0">
                <a:latin typeface="Bookman Old Style" pitchFamily="18" charset="0"/>
              </a:rPr>
              <a:t>Soil conservation maintains fertility, structure, and moisture—key factors for plant growth.</a:t>
            </a:r>
          </a:p>
          <a:p>
            <a:pPr marL="0" indent="0" algn="just">
              <a:buNone/>
            </a:pPr>
            <a:r>
              <a:rPr lang="en-US" sz="2400" b="1" dirty="0">
                <a:latin typeface="Bookman Old Style" pitchFamily="18" charset="0"/>
              </a:rPr>
              <a:t>2. Ensures Food Security</a:t>
            </a:r>
          </a:p>
          <a:p>
            <a:pPr algn="just"/>
            <a:r>
              <a:rPr lang="en-US" sz="2400" dirty="0">
                <a:latin typeface="Bookman Old Style" pitchFamily="18" charset="0"/>
              </a:rPr>
              <a:t>Conserved soil leads to stable and sustainable food production.</a:t>
            </a:r>
          </a:p>
          <a:p>
            <a:pPr algn="just"/>
            <a:r>
              <a:rPr lang="en-US" sz="2400" dirty="0">
                <a:latin typeface="Bookman Old Style" pitchFamily="18" charset="0"/>
              </a:rPr>
              <a:t>Prevents loss of arable land, reducing the risk of hunger and malnutrition.</a:t>
            </a:r>
          </a:p>
          <a:p>
            <a:pPr marL="0" indent="0" algn="just">
              <a:buNone/>
            </a:pPr>
            <a:r>
              <a:rPr lang="en-US" sz="2400" b="1" dirty="0">
                <a:latin typeface="Bookman Old Style" pitchFamily="18" charset="0"/>
              </a:rPr>
              <a:t>3. Prevents Land Degradation and Desertification</a:t>
            </a:r>
          </a:p>
          <a:p>
            <a:pPr algn="just"/>
            <a:r>
              <a:rPr lang="en-US" sz="2400" dirty="0">
                <a:latin typeface="Bookman Old Style" pitchFamily="18" charset="0"/>
              </a:rPr>
              <a:t>Soil erosion and nutrient loss can turn fertile land into barren deserts.</a:t>
            </a:r>
          </a:p>
          <a:p>
            <a:pPr algn="just"/>
            <a:r>
              <a:rPr lang="en-US" sz="2400" dirty="0">
                <a:latin typeface="Bookman Old Style" pitchFamily="18" charset="0"/>
              </a:rPr>
              <a:t>Conservation helps protect against irreversible land degradation.</a:t>
            </a:r>
          </a:p>
          <a:p>
            <a:endParaRPr lang="en-US" sz="2400" b="1" dirty="0">
              <a:solidFill>
                <a:schemeClr val="accent6">
                  <a:lumMod val="50000"/>
                </a:schemeClr>
              </a:solidFill>
              <a:latin typeface="Bookman Old Style" pitchFamily="18" charset="0"/>
            </a:endParaRPr>
          </a:p>
        </p:txBody>
      </p:sp>
    </p:spTree>
    <p:extLst>
      <p:ext uri="{BB962C8B-B14F-4D97-AF65-F5344CB8AC3E}">
        <p14:creationId xmlns:p14="http://schemas.microsoft.com/office/powerpoint/2010/main" val="10574238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228600"/>
            <a:ext cx="8763000" cy="6400800"/>
          </a:xfrm>
        </p:spPr>
        <p:txBody>
          <a:bodyPr>
            <a:normAutofit fontScale="92500"/>
          </a:bodyPr>
          <a:lstStyle/>
          <a:p>
            <a:pPr marL="0" indent="0" algn="just">
              <a:buNone/>
            </a:pPr>
            <a:r>
              <a:rPr lang="en-US" sz="2600" b="1" dirty="0">
                <a:solidFill>
                  <a:schemeClr val="accent6">
                    <a:lumMod val="50000"/>
                  </a:schemeClr>
                </a:solidFill>
                <a:latin typeface="Bookman Old Style" pitchFamily="18" charset="0"/>
              </a:rPr>
              <a:t>4. Combats Climate Change</a:t>
            </a:r>
          </a:p>
          <a:p>
            <a:pPr algn="just"/>
            <a:r>
              <a:rPr lang="en-US" sz="2600" dirty="0">
                <a:latin typeface="Bookman Old Style" pitchFamily="18" charset="0"/>
              </a:rPr>
              <a:t>Soils store large amounts of carbon. When degraded, they release CO₂.</a:t>
            </a:r>
          </a:p>
          <a:p>
            <a:pPr algn="just"/>
            <a:r>
              <a:rPr lang="en-US" sz="2600" dirty="0">
                <a:latin typeface="Bookman Old Style" pitchFamily="18" charset="0"/>
              </a:rPr>
              <a:t>Healthy soils act as carbon sinks, helping to mitigate global warming</a:t>
            </a:r>
            <a:r>
              <a:rPr lang="en-US" sz="2600" dirty="0" smtClean="0">
                <a:latin typeface="Bookman Old Style" pitchFamily="18" charset="0"/>
              </a:rPr>
              <a:t>.</a:t>
            </a:r>
            <a:endParaRPr lang="en-US" sz="2600" b="1" dirty="0" smtClean="0">
              <a:latin typeface="Bookman Old Style" pitchFamily="18" charset="0"/>
            </a:endParaRPr>
          </a:p>
          <a:p>
            <a:pPr marL="0" indent="0" algn="just">
              <a:buNone/>
            </a:pPr>
            <a:r>
              <a:rPr lang="en-US" sz="2600" b="1" dirty="0" smtClean="0">
                <a:solidFill>
                  <a:srgbClr val="FF0000"/>
                </a:solidFill>
                <a:latin typeface="Bookman Old Style" pitchFamily="18" charset="0"/>
              </a:rPr>
              <a:t>5</a:t>
            </a:r>
            <a:r>
              <a:rPr lang="en-US" sz="2600" b="1" dirty="0">
                <a:solidFill>
                  <a:srgbClr val="FF0000"/>
                </a:solidFill>
                <a:latin typeface="Bookman Old Style" pitchFamily="18" charset="0"/>
              </a:rPr>
              <a:t>. Protects Water Resources</a:t>
            </a:r>
          </a:p>
          <a:p>
            <a:pPr algn="just"/>
            <a:r>
              <a:rPr lang="en-US" sz="2600" dirty="0">
                <a:latin typeface="Bookman Old Style" pitchFamily="18" charset="0"/>
              </a:rPr>
              <a:t>Soil filters and stores water, reducing runoff and pollution.</a:t>
            </a:r>
          </a:p>
          <a:p>
            <a:pPr algn="just"/>
            <a:r>
              <a:rPr lang="en-US" sz="2600" dirty="0">
                <a:latin typeface="Bookman Old Style" pitchFamily="18" charset="0"/>
              </a:rPr>
              <a:t>Conservation practices improve water infiltration and reduce flooding and sedimentation in rivers.</a:t>
            </a:r>
          </a:p>
          <a:p>
            <a:pPr marL="0" indent="0" algn="just">
              <a:buNone/>
            </a:pPr>
            <a:r>
              <a:rPr lang="en-US" sz="2600" b="1" dirty="0">
                <a:solidFill>
                  <a:srgbClr val="00B050"/>
                </a:solidFill>
                <a:latin typeface="Bookman Old Style" pitchFamily="18" charset="0"/>
              </a:rPr>
              <a:t>6. Preserves Biodiversity</a:t>
            </a:r>
          </a:p>
          <a:p>
            <a:pPr algn="just"/>
            <a:r>
              <a:rPr lang="en-US" sz="2600" dirty="0">
                <a:latin typeface="Bookman Old Style" pitchFamily="18" charset="0"/>
              </a:rPr>
              <a:t>Soil is home to billions of organisms that maintain ecological balance.</a:t>
            </a:r>
          </a:p>
          <a:p>
            <a:pPr algn="just"/>
            <a:r>
              <a:rPr lang="en-US" sz="2600" dirty="0">
                <a:latin typeface="Bookman Old Style" pitchFamily="18" charset="0"/>
              </a:rPr>
              <a:t>Conserving soil protects this underground biodiversity, essential for nutrient cycling and plant health.</a:t>
            </a:r>
          </a:p>
          <a:p>
            <a:endParaRPr lang="en-US" dirty="0"/>
          </a:p>
        </p:txBody>
      </p:sp>
    </p:spTree>
    <p:extLst>
      <p:ext uri="{BB962C8B-B14F-4D97-AF65-F5344CB8AC3E}">
        <p14:creationId xmlns:p14="http://schemas.microsoft.com/office/powerpoint/2010/main" val="1567440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457200"/>
            <a:ext cx="8686800" cy="5668963"/>
          </a:xfrm>
        </p:spPr>
        <p:txBody>
          <a:bodyPr>
            <a:normAutofit/>
          </a:bodyPr>
          <a:lstStyle/>
          <a:p>
            <a:pPr marL="0" indent="0">
              <a:buNone/>
            </a:pPr>
            <a:r>
              <a:rPr lang="en-US" sz="2400" b="1" u="sng" dirty="0">
                <a:latin typeface="Bookman Old Style" pitchFamily="18" charset="0"/>
              </a:rPr>
              <a:t>Soil Conservation Practices</a:t>
            </a:r>
          </a:p>
          <a:p>
            <a:pPr algn="just"/>
            <a:r>
              <a:rPr lang="en-US" sz="2400" b="1" dirty="0">
                <a:latin typeface="Bookman Old Style" pitchFamily="18" charset="0"/>
              </a:rPr>
              <a:t>Contour plowing and terracing</a:t>
            </a:r>
            <a:r>
              <a:rPr lang="en-US" sz="2400" dirty="0">
                <a:latin typeface="Bookman Old Style" pitchFamily="18" charset="0"/>
              </a:rPr>
              <a:t> – to prevent erosion on slopes.</a:t>
            </a:r>
          </a:p>
          <a:p>
            <a:pPr algn="just"/>
            <a:r>
              <a:rPr lang="en-US" sz="2400" b="1" dirty="0">
                <a:latin typeface="Bookman Old Style" pitchFamily="18" charset="0"/>
              </a:rPr>
              <a:t>Cover cropping and crop rotation</a:t>
            </a:r>
            <a:r>
              <a:rPr lang="en-US" sz="2400" dirty="0">
                <a:latin typeface="Bookman Old Style" pitchFamily="18" charset="0"/>
              </a:rPr>
              <a:t> – to maintain soil fertility.</a:t>
            </a:r>
          </a:p>
          <a:p>
            <a:pPr algn="just"/>
            <a:r>
              <a:rPr lang="en-US" sz="2400" b="1" dirty="0">
                <a:latin typeface="Bookman Old Style" pitchFamily="18" charset="0"/>
              </a:rPr>
              <a:t>Agroforestry and afforestation</a:t>
            </a:r>
            <a:r>
              <a:rPr lang="en-US" sz="2400" dirty="0">
                <a:latin typeface="Bookman Old Style" pitchFamily="18" charset="0"/>
              </a:rPr>
              <a:t> – to protect soil from wind and water erosion.</a:t>
            </a:r>
          </a:p>
          <a:p>
            <a:pPr algn="just"/>
            <a:r>
              <a:rPr lang="en-US" sz="2400" b="1" dirty="0">
                <a:latin typeface="Bookman Old Style" pitchFamily="18" charset="0"/>
              </a:rPr>
              <a:t>Organic farming</a:t>
            </a:r>
            <a:r>
              <a:rPr lang="en-US" sz="2400" dirty="0">
                <a:latin typeface="Bookman Old Style" pitchFamily="18" charset="0"/>
              </a:rPr>
              <a:t> – to improve soil structure and microbial health.</a:t>
            </a:r>
          </a:p>
          <a:p>
            <a:pPr algn="just"/>
            <a:r>
              <a:rPr lang="en-US" sz="2400" b="1" dirty="0">
                <a:latin typeface="Bookman Old Style" pitchFamily="18" charset="0"/>
              </a:rPr>
              <a:t>Reduced chemical use</a:t>
            </a:r>
            <a:r>
              <a:rPr lang="en-US" sz="2400" dirty="0">
                <a:latin typeface="Bookman Old Style" pitchFamily="18" charset="0"/>
              </a:rPr>
              <a:t> – to prevent contamination and maintain natural soil composition.</a:t>
            </a:r>
          </a:p>
          <a:p>
            <a:endParaRPr lang="en-US" dirty="0"/>
          </a:p>
        </p:txBody>
      </p:sp>
    </p:spTree>
    <p:extLst>
      <p:ext uri="{BB962C8B-B14F-4D97-AF65-F5344CB8AC3E}">
        <p14:creationId xmlns:p14="http://schemas.microsoft.com/office/powerpoint/2010/main" val="9031915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Soil Conservation- Methods and Importance - GeeksforGeek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304800"/>
            <a:ext cx="8912225" cy="6248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664769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81000"/>
            <a:ext cx="8686800" cy="5745163"/>
          </a:xfrm>
        </p:spPr>
        <p:txBody>
          <a:bodyPr>
            <a:normAutofit/>
          </a:bodyPr>
          <a:lstStyle/>
          <a:p>
            <a:pPr algn="just"/>
            <a:r>
              <a:rPr lang="en-US" sz="2800" b="1" u="sng" dirty="0">
                <a:solidFill>
                  <a:srgbClr val="002060"/>
                </a:solidFill>
              </a:rPr>
              <a:t>Sustainable Land Use Planning</a:t>
            </a:r>
            <a:r>
              <a:rPr lang="en-US" sz="2800" u="sng" dirty="0">
                <a:solidFill>
                  <a:srgbClr val="002060"/>
                </a:solidFill>
              </a:rPr>
              <a:t> </a:t>
            </a:r>
            <a:r>
              <a:rPr lang="en-US" sz="2800" dirty="0"/>
              <a:t>is a strategic approach to managing land resources in a way that balances environmental, social, and economic needs—both for present and future generations. </a:t>
            </a:r>
            <a:endParaRPr lang="en-US" sz="2800" dirty="0" smtClean="0"/>
          </a:p>
          <a:p>
            <a:pPr algn="just"/>
            <a:r>
              <a:rPr lang="en-US" sz="2800" dirty="0" smtClean="0"/>
              <a:t>It </a:t>
            </a:r>
            <a:r>
              <a:rPr lang="en-US" sz="2800" dirty="0"/>
              <a:t>aims to use land efficiently, minimize environmental impact, and support sustainable development.</a:t>
            </a:r>
          </a:p>
        </p:txBody>
      </p:sp>
      <p:sp>
        <p:nvSpPr>
          <p:cNvPr id="4" name="AutoShape 2" descr="How effective, affordable, and socially just land use planning can...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3144114"/>
            <a:ext cx="5867507" cy="3686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771915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Land use planning and spatial land use planning as a sub-set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0375" y="138113"/>
            <a:ext cx="8226425" cy="658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094073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763000" cy="6477000"/>
          </a:xfrm>
        </p:spPr>
        <p:txBody>
          <a:bodyPr>
            <a:normAutofit/>
          </a:bodyPr>
          <a:lstStyle/>
          <a:p>
            <a:pPr marL="0" indent="0" algn="just">
              <a:buNone/>
            </a:pPr>
            <a:r>
              <a:rPr lang="en-US" sz="2600" b="1" u="sng" dirty="0">
                <a:solidFill>
                  <a:srgbClr val="002060"/>
                </a:solidFill>
              </a:rPr>
              <a:t>Principles of Sustainable Land Use Planning</a:t>
            </a:r>
          </a:p>
          <a:p>
            <a:pPr algn="just"/>
            <a:r>
              <a:rPr lang="en-US" sz="2600" b="1" dirty="0">
                <a:solidFill>
                  <a:srgbClr val="002060"/>
                </a:solidFill>
              </a:rPr>
              <a:t>Environmental Protection</a:t>
            </a:r>
            <a:endParaRPr lang="en-US" sz="2600" dirty="0">
              <a:solidFill>
                <a:srgbClr val="002060"/>
              </a:solidFill>
            </a:endParaRPr>
          </a:p>
          <a:p>
            <a:pPr lvl="1" algn="just"/>
            <a:r>
              <a:rPr lang="en-US" sz="2600" dirty="0"/>
              <a:t>Preserve natural habitats, biodiversity, and ecosystems</a:t>
            </a:r>
          </a:p>
          <a:p>
            <a:pPr lvl="1" algn="just"/>
            <a:r>
              <a:rPr lang="en-US" sz="2600" dirty="0"/>
              <a:t>Prevent land degradation and pollution</a:t>
            </a:r>
          </a:p>
          <a:p>
            <a:pPr lvl="1" algn="just"/>
            <a:r>
              <a:rPr lang="en-US" sz="2600" dirty="0"/>
              <a:t>Protect water resources and soil health</a:t>
            </a:r>
          </a:p>
          <a:p>
            <a:pPr algn="just"/>
            <a:r>
              <a:rPr lang="en-US" sz="2600" b="1" dirty="0">
                <a:solidFill>
                  <a:srgbClr val="00B050"/>
                </a:solidFill>
              </a:rPr>
              <a:t>Social Equity</a:t>
            </a:r>
            <a:endParaRPr lang="en-US" sz="2600" dirty="0">
              <a:solidFill>
                <a:srgbClr val="00B050"/>
              </a:solidFill>
            </a:endParaRPr>
          </a:p>
          <a:p>
            <a:pPr lvl="1" algn="just"/>
            <a:r>
              <a:rPr lang="en-US" sz="2600" dirty="0"/>
              <a:t>Ensure access to land and resources for all communities</a:t>
            </a:r>
          </a:p>
          <a:p>
            <a:pPr lvl="1" algn="just"/>
            <a:r>
              <a:rPr lang="en-US" sz="2600" dirty="0"/>
              <a:t>Promote inclusive participation in planning processes</a:t>
            </a:r>
          </a:p>
          <a:p>
            <a:pPr lvl="1" algn="just"/>
            <a:r>
              <a:rPr lang="en-US" sz="2600" dirty="0"/>
              <a:t>Protect cultural heritage and indigenous rights</a:t>
            </a:r>
          </a:p>
          <a:p>
            <a:pPr algn="just"/>
            <a:r>
              <a:rPr lang="en-US" sz="2600" b="1" dirty="0">
                <a:solidFill>
                  <a:srgbClr val="C00000"/>
                </a:solidFill>
              </a:rPr>
              <a:t>Economic Viability</a:t>
            </a:r>
            <a:endParaRPr lang="en-US" sz="2600" dirty="0">
              <a:solidFill>
                <a:srgbClr val="C00000"/>
              </a:solidFill>
            </a:endParaRPr>
          </a:p>
          <a:p>
            <a:pPr lvl="1" algn="just"/>
            <a:r>
              <a:rPr lang="en-US" sz="2600" dirty="0"/>
              <a:t>Support productive use of land (agriculture, forestry, etc.)</a:t>
            </a:r>
          </a:p>
          <a:p>
            <a:pPr lvl="1" algn="just"/>
            <a:r>
              <a:rPr lang="en-US" sz="2600" dirty="0"/>
              <a:t>Encourage sustainable urban development</a:t>
            </a:r>
          </a:p>
          <a:p>
            <a:pPr lvl="1" algn="just"/>
            <a:r>
              <a:rPr lang="en-US" sz="2600" dirty="0"/>
              <a:t>Promote local economic development and job creation</a:t>
            </a:r>
          </a:p>
          <a:p>
            <a:endParaRPr lang="en-US" dirty="0"/>
          </a:p>
        </p:txBody>
      </p:sp>
    </p:spTree>
    <p:extLst>
      <p:ext uri="{BB962C8B-B14F-4D97-AF65-F5344CB8AC3E}">
        <p14:creationId xmlns:p14="http://schemas.microsoft.com/office/powerpoint/2010/main" val="292199842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04800"/>
            <a:ext cx="8763000" cy="5821363"/>
          </a:xfrm>
        </p:spPr>
        <p:txBody>
          <a:bodyPr>
            <a:normAutofit/>
          </a:bodyPr>
          <a:lstStyle/>
          <a:p>
            <a:pPr algn="just"/>
            <a:r>
              <a:rPr lang="en-US" sz="2800" b="1" u="sng" dirty="0">
                <a:solidFill>
                  <a:srgbClr val="00B0F0"/>
                </a:solidFill>
              </a:rPr>
              <a:t>Integrated Planning</a:t>
            </a:r>
            <a:endParaRPr lang="en-US" sz="2800" u="sng" dirty="0">
              <a:solidFill>
                <a:srgbClr val="00B0F0"/>
              </a:solidFill>
            </a:endParaRPr>
          </a:p>
          <a:p>
            <a:pPr lvl="1" algn="just"/>
            <a:r>
              <a:rPr lang="en-US" sz="2400" dirty="0"/>
              <a:t>Coordinate land use with transportation, energy, and water systems</a:t>
            </a:r>
          </a:p>
          <a:p>
            <a:pPr lvl="1" algn="just"/>
            <a:r>
              <a:rPr lang="en-US" sz="2400" dirty="0"/>
              <a:t>Plan at multiple scales—local, regional, national</a:t>
            </a:r>
          </a:p>
          <a:p>
            <a:pPr lvl="1" algn="just"/>
            <a:r>
              <a:rPr lang="en-US" sz="2400" dirty="0"/>
              <a:t>Align with climate change mitigation and adaptation strategies</a:t>
            </a:r>
          </a:p>
          <a:p>
            <a:pPr algn="just"/>
            <a:r>
              <a:rPr lang="en-US" sz="2800" b="1" u="sng" dirty="0">
                <a:solidFill>
                  <a:srgbClr val="002060"/>
                </a:solidFill>
              </a:rPr>
              <a:t>Resilience and Adaptability</a:t>
            </a:r>
            <a:endParaRPr lang="en-US" sz="2800" u="sng" dirty="0">
              <a:solidFill>
                <a:srgbClr val="002060"/>
              </a:solidFill>
            </a:endParaRPr>
          </a:p>
          <a:p>
            <a:pPr lvl="1" algn="just"/>
            <a:r>
              <a:rPr lang="en-US" sz="2400" dirty="0"/>
              <a:t>Incorporate risk management for natural disasters and climate change</a:t>
            </a:r>
          </a:p>
          <a:p>
            <a:pPr lvl="1" algn="just"/>
            <a:r>
              <a:rPr lang="en-US" sz="2400" dirty="0"/>
              <a:t>Promote adaptive reuse and circular economy principles</a:t>
            </a:r>
          </a:p>
          <a:p>
            <a:pPr lvl="1" algn="just"/>
            <a:r>
              <a:rPr lang="en-US" sz="2400" dirty="0"/>
              <a:t>Support long-term monitoring and flexible policies</a:t>
            </a:r>
          </a:p>
          <a:p>
            <a:endParaRPr lang="en-US" dirty="0"/>
          </a:p>
        </p:txBody>
      </p:sp>
    </p:spTree>
    <p:extLst>
      <p:ext uri="{BB962C8B-B14F-4D97-AF65-F5344CB8AC3E}">
        <p14:creationId xmlns:p14="http://schemas.microsoft.com/office/powerpoint/2010/main" val="375816882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half" idx="2"/>
          </p:nvPr>
        </p:nvSpPr>
        <p:spPr>
          <a:xfrm>
            <a:off x="215900" y="381000"/>
            <a:ext cx="3213100" cy="4691063"/>
          </a:xfrm>
        </p:spPr>
        <p:txBody>
          <a:bodyPr>
            <a:normAutofit fontScale="92500" lnSpcReduction="10000"/>
          </a:bodyPr>
          <a:lstStyle/>
          <a:p>
            <a:r>
              <a:rPr lang="en-US" sz="2600" b="1" u="sng" dirty="0"/>
              <a:t>Tools &amp; Techniques Used</a:t>
            </a:r>
          </a:p>
          <a:p>
            <a:pPr marL="285750" indent="-285750" algn="just">
              <a:buFont typeface="Wingdings" pitchFamily="2" charset="2"/>
              <a:buChar char="Ø"/>
            </a:pPr>
            <a:r>
              <a:rPr lang="en-US" sz="2400" dirty="0"/>
              <a:t>Zoning Regulations</a:t>
            </a:r>
          </a:p>
          <a:p>
            <a:pPr marL="285750" indent="-285750" algn="just">
              <a:buFont typeface="Wingdings" pitchFamily="2" charset="2"/>
              <a:buChar char="Ø"/>
            </a:pPr>
            <a:r>
              <a:rPr lang="en-US" sz="2400" dirty="0"/>
              <a:t>Geographic Information Systems (GIS)</a:t>
            </a:r>
          </a:p>
          <a:p>
            <a:pPr marL="285750" indent="-285750" algn="just">
              <a:buFont typeface="Wingdings" pitchFamily="2" charset="2"/>
              <a:buChar char="Ø"/>
            </a:pPr>
            <a:r>
              <a:rPr lang="en-US" sz="2400" dirty="0"/>
              <a:t>Environmental Impact Assessments (EIA)</a:t>
            </a:r>
          </a:p>
          <a:p>
            <a:pPr marL="285750" indent="-285750" algn="just">
              <a:buFont typeface="Wingdings" pitchFamily="2" charset="2"/>
              <a:buChar char="Ø"/>
            </a:pPr>
            <a:r>
              <a:rPr lang="en-US" sz="2400" dirty="0"/>
              <a:t>Participatory Planning Workshops</a:t>
            </a:r>
          </a:p>
          <a:p>
            <a:pPr marL="285750" indent="-285750" algn="just">
              <a:buFont typeface="Wingdings" pitchFamily="2" charset="2"/>
              <a:buChar char="Ø"/>
            </a:pPr>
            <a:r>
              <a:rPr lang="en-US" sz="2400" dirty="0"/>
              <a:t>Urban Growth Boundaries</a:t>
            </a:r>
          </a:p>
          <a:p>
            <a:pPr marL="285750" indent="-285750" algn="just">
              <a:buFont typeface="Wingdings" pitchFamily="2" charset="2"/>
              <a:buChar char="Ø"/>
            </a:pPr>
            <a:r>
              <a:rPr lang="en-US" sz="2400" dirty="0"/>
              <a:t>Carrying Capacity Analysis</a:t>
            </a:r>
          </a:p>
          <a:p>
            <a:endParaRPr lang="en-US" dirty="0"/>
          </a:p>
        </p:txBody>
      </p:sp>
      <p:sp>
        <p:nvSpPr>
          <p:cNvPr id="4" name="AutoShape 2" descr="Efficient Land Use Planning - FasterCapital"/>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2" descr="Efficient Land Use Planning - FasterCapita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27"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2525" r="19444" b="3346"/>
          <a:stretch/>
        </p:blipFill>
        <p:spPr bwMode="auto">
          <a:xfrm>
            <a:off x="3643744" y="168276"/>
            <a:ext cx="5347855" cy="5803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2994935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extLst>
              <p:ext uri="{D42A27DB-BD31-4B8C-83A1-F6EECF244321}">
                <p14:modId xmlns:p14="http://schemas.microsoft.com/office/powerpoint/2010/main" val="1700431250"/>
              </p:ext>
            </p:extLst>
          </p:nvPr>
        </p:nvGraphicFramePr>
        <p:xfrm>
          <a:off x="228600" y="685800"/>
          <a:ext cx="8763000" cy="4572000"/>
        </p:xfrm>
        <a:graphic>
          <a:graphicData uri="http://schemas.openxmlformats.org/drawingml/2006/table">
            <a:tbl>
              <a:tblPr>
                <a:tableStyleId>{3C2FFA5D-87B4-456A-9821-1D502468CF0F}</a:tableStyleId>
              </a:tblPr>
              <a:tblGrid>
                <a:gridCol w="2758722"/>
                <a:gridCol w="6004278"/>
              </a:tblGrid>
              <a:tr h="0">
                <a:tc>
                  <a:txBody>
                    <a:bodyPr/>
                    <a:lstStyle/>
                    <a:p>
                      <a:pPr algn="ctr"/>
                      <a:r>
                        <a:rPr lang="en-US" sz="2400" b="1" dirty="0"/>
                        <a:t>Practice</a:t>
                      </a:r>
                    </a:p>
                  </a:txBody>
                  <a:tcPr anchor="ctr"/>
                </a:tc>
                <a:tc>
                  <a:txBody>
                    <a:bodyPr/>
                    <a:lstStyle/>
                    <a:p>
                      <a:pPr algn="ctr"/>
                      <a:r>
                        <a:rPr lang="en-US" sz="2400" b="1" dirty="0"/>
                        <a:t>Description</a:t>
                      </a:r>
                    </a:p>
                  </a:txBody>
                  <a:tcPr anchor="ctr"/>
                </a:tc>
              </a:tr>
              <a:tr h="0">
                <a:tc>
                  <a:txBody>
                    <a:bodyPr/>
                    <a:lstStyle/>
                    <a:p>
                      <a:pPr algn="just"/>
                      <a:r>
                        <a:rPr lang="en-US" sz="2400"/>
                        <a:t>Smart Growth</a:t>
                      </a:r>
                    </a:p>
                  </a:txBody>
                  <a:tcPr anchor="ctr"/>
                </a:tc>
                <a:tc>
                  <a:txBody>
                    <a:bodyPr/>
                    <a:lstStyle/>
                    <a:p>
                      <a:pPr algn="just"/>
                      <a:r>
                        <a:rPr lang="en-US" sz="2400" dirty="0"/>
                        <a:t>Compact, transit-oriented urban design to reduce sprawl</a:t>
                      </a:r>
                    </a:p>
                  </a:txBody>
                  <a:tcPr anchor="ctr"/>
                </a:tc>
              </a:tr>
              <a:tr h="0">
                <a:tc>
                  <a:txBody>
                    <a:bodyPr/>
                    <a:lstStyle/>
                    <a:p>
                      <a:pPr algn="just"/>
                      <a:r>
                        <a:rPr lang="en-US" sz="2400"/>
                        <a:t>Agroforestry</a:t>
                      </a:r>
                    </a:p>
                  </a:txBody>
                  <a:tcPr anchor="ctr"/>
                </a:tc>
                <a:tc>
                  <a:txBody>
                    <a:bodyPr/>
                    <a:lstStyle/>
                    <a:p>
                      <a:pPr algn="just"/>
                      <a:r>
                        <a:rPr lang="en-US" sz="2400" dirty="0"/>
                        <a:t>Integrating trees into agricultural land to enhance productivity and biodiversity</a:t>
                      </a:r>
                    </a:p>
                  </a:txBody>
                  <a:tcPr anchor="ctr"/>
                </a:tc>
              </a:tr>
              <a:tr h="0">
                <a:tc>
                  <a:txBody>
                    <a:bodyPr/>
                    <a:lstStyle/>
                    <a:p>
                      <a:pPr algn="just"/>
                      <a:r>
                        <a:rPr lang="en-US" sz="2400"/>
                        <a:t>Green Infrastructure</a:t>
                      </a:r>
                    </a:p>
                  </a:txBody>
                  <a:tcPr anchor="ctr"/>
                </a:tc>
                <a:tc>
                  <a:txBody>
                    <a:bodyPr/>
                    <a:lstStyle/>
                    <a:p>
                      <a:pPr algn="just"/>
                      <a:r>
                        <a:rPr lang="en-US" sz="2400" dirty="0"/>
                        <a:t>Using natural systems (like wetlands) to manage stormwater and reduce heat</a:t>
                      </a:r>
                    </a:p>
                  </a:txBody>
                  <a:tcPr anchor="ctr"/>
                </a:tc>
              </a:tr>
              <a:tr h="0">
                <a:tc>
                  <a:txBody>
                    <a:bodyPr/>
                    <a:lstStyle/>
                    <a:p>
                      <a:pPr algn="just"/>
                      <a:r>
                        <a:rPr lang="en-US" sz="2400"/>
                        <a:t>Land Restoration</a:t>
                      </a:r>
                    </a:p>
                  </a:txBody>
                  <a:tcPr anchor="ctr"/>
                </a:tc>
                <a:tc>
                  <a:txBody>
                    <a:bodyPr/>
                    <a:lstStyle/>
                    <a:p>
                      <a:pPr algn="just"/>
                      <a:r>
                        <a:rPr lang="en-US" sz="2400" dirty="0"/>
                        <a:t>Rehabilitating degraded land for agriculture or conservation</a:t>
                      </a:r>
                    </a:p>
                  </a:txBody>
                  <a:tcPr anchor="ctr"/>
                </a:tc>
              </a:tr>
              <a:tr h="0">
                <a:tc>
                  <a:txBody>
                    <a:bodyPr/>
                    <a:lstStyle/>
                    <a:p>
                      <a:pPr algn="just"/>
                      <a:r>
                        <a:rPr lang="en-US" sz="2400"/>
                        <a:t>Mixed-Use Development</a:t>
                      </a:r>
                    </a:p>
                  </a:txBody>
                  <a:tcPr anchor="ctr"/>
                </a:tc>
                <a:tc>
                  <a:txBody>
                    <a:bodyPr/>
                    <a:lstStyle/>
                    <a:p>
                      <a:pPr algn="just"/>
                      <a:r>
                        <a:rPr lang="en-US" sz="2400" dirty="0"/>
                        <a:t>Combining residential, commercial, and recreational land uses</a:t>
                      </a:r>
                    </a:p>
                  </a:txBody>
                  <a:tcPr anchor="ctr"/>
                </a:tc>
              </a:tr>
            </a:tbl>
          </a:graphicData>
        </a:graphic>
      </p:graphicFrame>
    </p:spTree>
    <p:extLst>
      <p:ext uri="{BB962C8B-B14F-4D97-AF65-F5344CB8AC3E}">
        <p14:creationId xmlns:p14="http://schemas.microsoft.com/office/powerpoint/2010/main" val="105601152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610600" cy="5745163"/>
          </a:xfrm>
        </p:spPr>
        <p:txBody>
          <a:bodyPr/>
          <a:lstStyle/>
          <a:p>
            <a:pPr marL="0" indent="0">
              <a:buNone/>
            </a:pPr>
            <a:r>
              <a:rPr lang="en-US" b="1" u="sng" dirty="0">
                <a:solidFill>
                  <a:srgbClr val="FF0000"/>
                </a:solidFill>
              </a:rPr>
              <a:t>Benefits</a:t>
            </a:r>
          </a:p>
          <a:p>
            <a:r>
              <a:rPr lang="en-US" dirty="0"/>
              <a:t>Reduced greenhouse gas emissions</a:t>
            </a:r>
          </a:p>
          <a:p>
            <a:r>
              <a:rPr lang="en-US" dirty="0"/>
              <a:t>Enhanced food and water security</a:t>
            </a:r>
          </a:p>
          <a:p>
            <a:r>
              <a:rPr lang="en-US" dirty="0"/>
              <a:t>Improved public health and quality of life</a:t>
            </a:r>
          </a:p>
          <a:p>
            <a:r>
              <a:rPr lang="en-US" dirty="0"/>
              <a:t>Economic opportunities and sustainable livelihoods</a:t>
            </a:r>
          </a:p>
          <a:p>
            <a:r>
              <a:rPr lang="en-US" dirty="0"/>
              <a:t>Preservation of natural and cultural heritage</a:t>
            </a:r>
          </a:p>
          <a:p>
            <a:endParaRPr lang="en-US" dirty="0"/>
          </a:p>
        </p:txBody>
      </p:sp>
    </p:spTree>
    <p:extLst>
      <p:ext uri="{BB962C8B-B14F-4D97-AF65-F5344CB8AC3E}">
        <p14:creationId xmlns:p14="http://schemas.microsoft.com/office/powerpoint/2010/main" val="61445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descr="Green Environmental Greeting 3d Graphic With Eco Thank You Symbol On Grass  Stock Photo, Picture and Royalty Free Image. Image 2081245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781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21546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545</TotalTime>
  <Words>3597</Words>
  <Application>Microsoft Office PowerPoint</Application>
  <PresentationFormat>On-screen Show (4:3)</PresentationFormat>
  <Paragraphs>389</Paragraphs>
  <Slides>54</Slides>
  <Notes>1</Notes>
  <HiddenSlides>0</HiddenSlides>
  <MMClips>0</MMClips>
  <ScaleCrop>false</ScaleCrop>
  <HeadingPairs>
    <vt:vector size="4" baseType="variant">
      <vt:variant>
        <vt:lpstr>Theme</vt:lpstr>
      </vt:variant>
      <vt:variant>
        <vt:i4>1</vt:i4>
      </vt:variant>
      <vt:variant>
        <vt:lpstr>Slide Titles</vt:lpstr>
      </vt:variant>
      <vt:variant>
        <vt:i4>54</vt:i4>
      </vt:variant>
    </vt:vector>
  </HeadingPairs>
  <TitlesOfParts>
    <vt:vector size="55" baseType="lpstr">
      <vt:lpstr>Office Theme</vt:lpstr>
      <vt:lpstr>CONSERVATION OF NATURAL RESOURCES BCV755B </vt:lpstr>
      <vt:lpstr>PowerPoint Presentation</vt:lpstr>
      <vt:lpstr>PowerPoint Presentation</vt:lpstr>
      <vt:lpstr>Conservation of Land Resource</vt:lpstr>
      <vt:lpstr>PowerPoint Presentation</vt:lpstr>
      <vt:lpstr>Types of lands</vt:lpstr>
      <vt:lpstr>PowerPoint Presentation</vt:lpstr>
      <vt:lpstr>PowerPoint Presentation</vt:lpstr>
      <vt:lpstr>PowerPoint Presentation</vt:lpstr>
      <vt:lpstr>Types of forests</vt:lpstr>
      <vt:lpstr>PowerPoint Presentation</vt:lpstr>
      <vt:lpstr>PowerPoint Presentation</vt:lpstr>
      <vt:lpstr>CONSERVATION OF LAND FORMS</vt:lpstr>
      <vt:lpstr>Major Landforms &amp; Their Conservation Methods</vt:lpstr>
      <vt:lpstr>PowerPoint Presentation</vt:lpstr>
      <vt:lpstr>PowerPoint Presentation</vt:lpstr>
      <vt:lpstr>PowerPoint Presentation</vt:lpstr>
      <vt:lpstr>PowerPoint Presentation</vt:lpstr>
      <vt:lpstr>PowerPoint Presentation</vt:lpstr>
      <vt:lpstr>PowerPoint Presentation</vt:lpstr>
      <vt:lpstr>SOIL HEALTH: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ECOLOGICAL AND ECONOMIC IMPORTANCE OF SOIL</vt:lpstr>
      <vt:lpstr>PowerPoint Presentation</vt:lpstr>
      <vt:lpstr>PowerPoint Presentation</vt:lpstr>
      <vt:lpstr>PowerPoint Presentation</vt:lpstr>
      <vt:lpstr>Ecological Importance of Soil </vt:lpstr>
      <vt:lpstr>Economic Importance of Soil</vt:lpstr>
      <vt:lpstr>Impact of Soil Degradation on Agriculture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CONSERVATION OF NATURAL RESOURCES BCV755B </dc:title>
  <dc:creator>MANJUNATH N</dc:creator>
  <cp:lastModifiedBy>LENOVO</cp:lastModifiedBy>
  <cp:revision>57</cp:revision>
  <dcterms:created xsi:type="dcterms:W3CDTF">2006-08-16T00:00:00Z</dcterms:created>
  <dcterms:modified xsi:type="dcterms:W3CDTF">2025-09-02T17:36:27Z</dcterms:modified>
</cp:coreProperties>
</file>
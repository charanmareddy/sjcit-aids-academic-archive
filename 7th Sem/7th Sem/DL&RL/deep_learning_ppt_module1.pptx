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7" r:id="rId3"/>
    <p:sldId id="256" r:id="rId4"/>
    <p:sldId id="259" r:id="rId5"/>
    <p:sldId id="260" r:id="rId6"/>
    <p:sldId id="258" r:id="rId7"/>
    <p:sldId id="261" r:id="rId8"/>
    <p:sldId id="262" r:id="rId9"/>
    <p:sldId id="264" r:id="rId10"/>
    <p:sldId id="265" r:id="rId11"/>
    <p:sldId id="267" r:id="rId12"/>
    <p:sldId id="266" r:id="rId13"/>
    <p:sldId id="268" r:id="rId14"/>
    <p:sldId id="281" r:id="rId15"/>
    <p:sldId id="269" r:id="rId16"/>
    <p:sldId id="270" r:id="rId17"/>
    <p:sldId id="271" r:id="rId18"/>
    <p:sldId id="279" r:id="rId19"/>
    <p:sldId id="280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84" r:id="rId28"/>
    <p:sldId id="282" r:id="rId29"/>
    <p:sldId id="283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4" r:id="rId39"/>
    <p:sldId id="293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4" r:id="rId59"/>
    <p:sldId id="313" r:id="rId60"/>
    <p:sldId id="315" r:id="rId61"/>
    <p:sldId id="316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55" autoAdjust="0"/>
    <p:restoredTop sz="94660"/>
  </p:normalViewPr>
  <p:slideViewPr>
    <p:cSldViewPr snapToGrid="0">
      <p:cViewPr varScale="1">
        <p:scale>
          <a:sx n="71" d="100"/>
          <a:sy n="71" d="100"/>
        </p:scale>
        <p:origin x="70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CFC48-F298-4E65-BF85-E682B8CC74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BBB414-18D4-43E6-ADE1-AE2FA69263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BB8070-F978-4973-92F2-668BF79F1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444F-1D5C-46DA-AC03-853A7EA11ABF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0F37C-624F-42E2-A67E-428A24060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33584-5180-47F3-8835-2236DD666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9F1B2-0C69-49EC-9CAA-6FE5431E6E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7152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A2EC0-FCA4-40A5-B629-D6FDDE647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E50C5-36C3-4F24-B255-4C5F890A4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FD915-1E7B-42E5-83A6-0400ABFD3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444F-1D5C-46DA-AC03-853A7EA11ABF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F9FA7-7D24-43D4-90D9-E1FB923E7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0B80C-6D6B-4468-96B1-E27FD829A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9F1B2-0C69-49EC-9CAA-6FE5431E6E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0352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86E56-AAF8-4EDB-A3BA-0A9E2AB7A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D5F795-9E4B-47A3-8566-9E7B98FB7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F4ED9-092D-4B9E-A2F7-91420461C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444F-1D5C-46DA-AC03-853A7EA11ABF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CF0DC-D59B-4CA2-AD2F-EA71E0809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07B56-A6E9-4768-957C-46888D250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9F1B2-0C69-49EC-9CAA-6FE5431E6E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5633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89DBA-7F35-4188-A2CE-1C67C4E64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F858B-C34A-4CA3-819F-DBCBCA8D28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D46C4-6FA3-4B6F-B811-E997712EC7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628DC9-5CEF-4CEC-9B1F-F7E406246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444F-1D5C-46DA-AC03-853A7EA11ABF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DC4F5E-FCF3-446B-8F4E-9C35E19F0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D1A6E6-CF58-4D0D-88C4-BB6744C7C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9F1B2-0C69-49EC-9CAA-6FE5431E6E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245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33ED0-82B0-4C05-924B-B552F1037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C039A-E2FD-4BFD-B073-E1D9AE167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1BFC9-D0BB-4D13-A861-5822A47101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E7BD8C-F63A-427D-B800-396B8E9A6C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267425-4EE7-4114-8488-65DC21DB69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74AFA4-B098-43AA-A2D8-5A21DBBD4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444F-1D5C-46DA-AC03-853A7EA11ABF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205AB7-0A19-46EA-B108-89CD98606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766BF8-5CEA-47B6-856B-EA82E9991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9F1B2-0C69-49EC-9CAA-6FE5431E6E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389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F15F5-7790-481B-BCFC-C05A1D969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FF9E4B-B96A-4C7C-8A2F-6E1F74E5C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444F-1D5C-46DA-AC03-853A7EA11ABF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1FF752-212B-4780-B5F2-42A2E540D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B93FFE-149A-4454-A2A3-4E044A34F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9F1B2-0C69-49EC-9CAA-6FE5431E6E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4079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80AB06-36C9-4518-B3FE-F7A2BB44A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444F-1D5C-46DA-AC03-853A7EA11ABF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C50164-54DE-460E-A732-EB60870E0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0C0175-860D-49D1-B19C-96A3693A6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9F1B2-0C69-49EC-9CAA-6FE5431E6E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054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188F2-2462-4C47-B3E8-C2DA79259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0C64E-5DE5-4CEC-8957-9BC354DC8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3B2A3E-1151-4A52-B11F-1253DC97A2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99E46D-59D5-4A0C-BB6A-8CC95947E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444F-1D5C-46DA-AC03-853A7EA11ABF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7327E5-4F5E-4F70-A5D8-562D875BE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2D8FEC-FEA1-454B-AA8A-27B95D2F1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9F1B2-0C69-49EC-9CAA-6FE5431E6E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4130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E98F4-660F-43B5-A752-C400C19F9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D3E3E0-3976-4E3A-A676-413ED94431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1AB277-0913-497B-BB9F-B46D6ED838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847565-DDDA-4A76-B5B8-23948D447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444F-1D5C-46DA-AC03-853A7EA11ABF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423D34-5153-4123-8369-76F59B71A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D974CA-AB79-443E-B23D-BC69F4CFC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9F1B2-0C69-49EC-9CAA-6FE5431E6E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900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5F2C0-697A-4B8B-A386-24B50CDA2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818122-71E9-4026-9A6B-2614919A8A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479FB-1010-4B15-BE83-2EC4F044E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444F-1D5C-46DA-AC03-853A7EA11ABF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85EC7-C11A-49EB-9ECB-CA851C5BF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D85760-A999-403B-BCCD-47D8A1F5A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9F1B2-0C69-49EC-9CAA-6FE5431E6E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9017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542FEC-3CD5-4B25-9F96-2C830DCA3A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768C5E-0DFA-4B93-BE4D-6965FA4B08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17979-FA41-42DE-AA5D-59F4B4B25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444F-1D5C-46DA-AC03-853A7EA11ABF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F249C-4875-4BCD-9551-6B896DA9A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021CE1-2EC2-4193-88D3-DBE1F363C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9F1B2-0C69-49EC-9CAA-6FE5431E6E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4758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730BB9-84E4-42CD-B5BD-336F7324C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E84B7A-D970-4C11-80FB-32B01D6DDE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2FA93-45F0-444B-A750-9C5D3A8613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9D444F-1D5C-46DA-AC03-853A7EA11ABF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0C463-BD11-41F9-9611-4D08B8388C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09DABA-D923-4FF0-8C77-A1F55DC20D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79F1B2-0C69-49EC-9CAA-6FE5431E6E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5462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machine-learning/unsupervised-learning/" TargetMode="External"/><Relationship Id="rId2" Type="http://schemas.openxmlformats.org/officeDocument/2006/relationships/hyperlink" Target="https://www.geeksforgeeks.org/machine-learning/supervised-machine-learning/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hyperlink" Target="https://www.geeksforgeeks.org/machine-learning/what-is-reinforcement-learning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www.geeksforgeeks.org/machine-learning/derivative-of-the-sigmoid-function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www.geeksforgeeks.org/deep-learning/relu-activation-function-in-deep-learning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12BF20A-56A1-4381-AB5C-54112821C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134778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Deep Learning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C54588-80C0-434A-B761-FD35475FF0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6113" y="3241676"/>
            <a:ext cx="10515600" cy="1500187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Module-1</a:t>
            </a:r>
            <a:endParaRPr lang="en-IN" sz="5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5953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D7070-ADA4-482C-9CE6-5C4799724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F99A6-056D-4DCC-A0B6-588378502B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Machine learning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 is a branch of Artificial Intelligence that focuses on developing models and algorithms.</a:t>
            </a:r>
          </a:p>
          <a:p>
            <a:pPr marL="0" indent="0">
              <a:buNone/>
            </a:pPr>
            <a:r>
              <a:rPr lang="en-US" dirty="0">
                <a:solidFill>
                  <a:srgbClr val="273239"/>
                </a:solidFill>
                <a:latin typeface="Nunito" pitchFamily="2" charset="0"/>
              </a:rPr>
              <a:t>T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hat let </a:t>
            </a: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computers learn from historical data with certain pattern 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without being explicitly programmed for every task.</a:t>
            </a:r>
          </a:p>
          <a:p>
            <a:pPr marL="0" indent="0">
              <a:buNone/>
            </a:pPr>
            <a:endParaRPr lang="en-US" dirty="0">
              <a:solidFill>
                <a:srgbClr val="273239"/>
              </a:solidFill>
              <a:latin typeface="Nunito" pitchFamily="2" charset="0"/>
            </a:endParaRPr>
          </a:p>
          <a:p>
            <a:pPr marL="0" indent="0">
              <a:buNone/>
            </a:pPr>
            <a:endParaRPr lang="en-US" b="0" i="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0" indent="0">
              <a:buNone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5803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27F07EB-3E50-48E1-934D-39E85FA9DD7D}"/>
              </a:ext>
            </a:extLst>
          </p:cNvPr>
          <p:cNvSpPr txBox="1"/>
          <p:nvPr/>
        </p:nvSpPr>
        <p:spPr>
          <a:xfrm>
            <a:off x="246458" y="916365"/>
            <a:ext cx="7525941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/>
            <a:r>
              <a:rPr lang="en-US" sz="2400" b="0" i="0" dirty="0">
                <a:solidFill>
                  <a:srgbClr val="273239"/>
                </a:solidFill>
                <a:effectLst/>
                <a:latin typeface="Nunito" pitchFamily="2" charset="0"/>
              </a:rPr>
              <a:t>Machine Learning is mainly divided into three core types: Supervised, Unsupervised and Reinforcement Learning </a:t>
            </a:r>
          </a:p>
          <a:p>
            <a:pPr algn="just" rtl="0" fontAlgn="base"/>
            <a:r>
              <a:rPr lang="en-US" sz="2400" b="1" i="0" u="sng" dirty="0">
                <a:solidFill>
                  <a:srgbClr val="357960"/>
                </a:solidFill>
                <a:effectLst/>
                <a:latin typeface="Nunito" pitchFamily="2" charset="0"/>
                <a:hlinkClick r:id="rId2"/>
              </a:rPr>
              <a:t>Supervised Learning</a:t>
            </a:r>
            <a:r>
              <a:rPr lang="en-US" sz="2400" b="1" i="0" dirty="0">
                <a:solidFill>
                  <a:srgbClr val="273239"/>
                </a:solidFill>
                <a:effectLst/>
                <a:latin typeface="Nunito" pitchFamily="2" charset="0"/>
              </a:rPr>
              <a:t>: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Nunito" pitchFamily="2" charset="0"/>
              </a:rPr>
              <a:t> Trains models on labeled data to predict or classify new, unseen data.</a:t>
            </a:r>
          </a:p>
          <a:p>
            <a:pPr algn="just" rtl="0" fontAlgn="base"/>
            <a:endParaRPr lang="en-US" sz="2400" b="0" i="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sz="2400" b="1" i="0" u="sng" dirty="0">
                <a:solidFill>
                  <a:srgbClr val="357960"/>
                </a:solidFill>
                <a:effectLst/>
                <a:latin typeface="Nunito" pitchFamily="2" charset="0"/>
                <a:hlinkClick r:id="rId3"/>
              </a:rPr>
              <a:t>Unsupervised Learning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Nunito" pitchFamily="2" charset="0"/>
              </a:rPr>
              <a:t>: Finds patterns or groups in unlabeled data, like clustering or dimensionality reduction.</a:t>
            </a:r>
          </a:p>
          <a:p>
            <a:pPr algn="just" fontAlgn="base"/>
            <a:endParaRPr lang="en-US" sz="2400" b="0" i="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sz="2400" b="1" i="0" u="sng" dirty="0">
                <a:solidFill>
                  <a:srgbClr val="357960"/>
                </a:solidFill>
                <a:effectLst/>
                <a:latin typeface="Nunito" pitchFamily="2" charset="0"/>
                <a:hlinkClick r:id="rId4"/>
              </a:rPr>
              <a:t>Reinforcement Learning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Nunito" pitchFamily="2" charset="0"/>
              </a:rPr>
              <a:t>: Learns through trial and error to maximize rewards, ideal for decision-making tasks.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4FFB9F6-7E7A-4206-9570-9C42989DC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399" y="1057275"/>
            <a:ext cx="4419601" cy="4154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9280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14BB1D2-0DAE-4A08-9E55-E1EB2F88A4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5497" y="1157938"/>
            <a:ext cx="4286515" cy="2671112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BFBF811-8057-4E49-9FC1-882ECEF16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849260"/>
            <a:ext cx="4505954" cy="2979790"/>
          </a:xfrm>
          <a:prstGeom prst="rect">
            <a:avLst/>
          </a:prstGeom>
        </p:spPr>
      </p:pic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06C231B9-8166-45D7-9E59-D36F09CDFB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8531401"/>
              </p:ext>
            </p:extLst>
          </p:nvPr>
        </p:nvGraphicFramePr>
        <p:xfrm>
          <a:off x="1717675" y="4682384"/>
          <a:ext cx="8128000" cy="14469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2289035583"/>
                    </a:ext>
                  </a:extLst>
                </a:gridCol>
              </a:tblGrid>
              <a:tr h="1446954">
                <a:tc>
                  <a:txBody>
                    <a:bodyPr/>
                    <a:lstStyle/>
                    <a:p>
                      <a:r>
                        <a:rPr lang="en-US" sz="4000" dirty="0"/>
                        <a:t>Structural data</a:t>
                      </a:r>
                      <a:endParaRPr lang="en-IN" sz="4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6293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4968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A2237-CE91-40F0-B5EE-BEFB99BFD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2CA9B-F865-4F32-ABCC-EDE669233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 algn="ctr">
              <a:buNone/>
            </a:pPr>
            <a:r>
              <a:rPr lang="en-US" dirty="0"/>
              <a:t>Image , video , audio , sensor, text files</a:t>
            </a:r>
            <a:endParaRPr lang="en-IN" dirty="0"/>
          </a:p>
          <a:p>
            <a:endParaRPr lang="en-IN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786432AA-4AD9-44CC-9F72-B3BE075E1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365125"/>
            <a:ext cx="10515599" cy="4147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0193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7F43242D-61DB-420F-8302-033DCCDBDF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8738" y="1385888"/>
            <a:ext cx="9186861" cy="4886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D720E6-9654-4113-88A4-BCEABB973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vs ML vs DL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9520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50215-B1B1-4E6C-99B4-BFB545AB0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Shallow learning</a:t>
            </a:r>
            <a:endParaRPr lang="en-IN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B6B07385-7CAC-41A6-A058-B5024D1AF8B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6419" y="1476583"/>
            <a:ext cx="5929225" cy="4031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ACE7572-66FA-4A1C-BB42-7992453AFF84}"/>
              </a:ext>
            </a:extLst>
          </p:cNvPr>
          <p:cNvSpPr txBox="1"/>
          <p:nvPr/>
        </p:nvSpPr>
        <p:spPr>
          <a:xfrm>
            <a:off x="838200" y="1743368"/>
            <a:ext cx="365610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1)One input layer, one hidden layer and one output layer</a:t>
            </a:r>
          </a:p>
          <a:p>
            <a:r>
              <a:rPr lang="en-US" sz="3200" dirty="0"/>
              <a:t>2)Supervised algorithm</a:t>
            </a:r>
          </a:p>
          <a:p>
            <a:r>
              <a:rPr lang="en-US" sz="3200" dirty="0"/>
              <a:t>3)Store less memory</a:t>
            </a:r>
          </a:p>
          <a:p>
            <a:r>
              <a:rPr lang="en-US" sz="3200" dirty="0"/>
              <a:t>4)Lower dimensional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729659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79205-DE0A-40A6-B461-22430CFCF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Deep learning</a:t>
            </a:r>
            <a:br>
              <a:rPr lang="en-US" dirty="0"/>
            </a:br>
            <a:endParaRPr lang="en-IN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FEB87EDA-F582-4C33-B0B4-2D19F708E9D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525" y="1282937"/>
            <a:ext cx="6318336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4AEEE77-CB8A-41EA-BF64-6D9B7A798726}"/>
              </a:ext>
            </a:extLst>
          </p:cNvPr>
          <p:cNvSpPr txBox="1"/>
          <p:nvPr/>
        </p:nvSpPr>
        <p:spPr>
          <a:xfrm>
            <a:off x="600074" y="1571624"/>
            <a:ext cx="4886325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1)Large </a:t>
            </a:r>
            <a:r>
              <a:rPr lang="en-US" sz="4000"/>
              <a:t>data sample</a:t>
            </a:r>
            <a:endParaRPr lang="en-US" sz="4000" dirty="0"/>
          </a:p>
          <a:p>
            <a:r>
              <a:rPr lang="en-US" sz="4000" dirty="0"/>
              <a:t>2)Many hidden layer</a:t>
            </a:r>
          </a:p>
          <a:p>
            <a:r>
              <a:rPr lang="en-US" sz="4000" dirty="0"/>
              <a:t>3)Unsupervised learning</a:t>
            </a:r>
          </a:p>
          <a:p>
            <a:r>
              <a:rPr lang="en-US" sz="4000" dirty="0"/>
              <a:t>4)More memory space</a:t>
            </a:r>
          </a:p>
          <a:p>
            <a:r>
              <a:rPr lang="en-US" sz="4000" dirty="0"/>
              <a:t>5)High dimensional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4789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8CE4D03-3D97-4515-AFE6-E6419EAEA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Extraction in ML vs DL</a:t>
            </a:r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268C482-6522-42A8-AFFB-C0D04B40D32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963" y="1690687"/>
            <a:ext cx="7081837" cy="4802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390B3B1-12B9-4EBF-8D89-8A1B97D8F2DC}"/>
              </a:ext>
            </a:extLst>
          </p:cNvPr>
          <p:cNvSpPr txBox="1"/>
          <p:nvPr/>
        </p:nvSpPr>
        <p:spPr>
          <a:xfrm>
            <a:off x="371475" y="1814670"/>
            <a:ext cx="3900488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Ml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1)Constructing a pattern recognition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2)Level of abstraction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3)Feature extraction of raw data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4)Classification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Dl: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1)Set of rules and algorithms for feature extraction for raw data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2)Higher and more number of hidden layer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3)Each pixel will detect edge region and corner region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4)Training the data automatically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2796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0FBA31-A9AF-40AE-A014-C94F547640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57613" y="-128588"/>
            <a:ext cx="8329612" cy="698658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208E71-0B7A-466C-ADA1-226D03BC769A}"/>
              </a:ext>
            </a:extLst>
          </p:cNvPr>
          <p:cNvSpPr txBox="1"/>
          <p:nvPr/>
        </p:nvSpPr>
        <p:spPr>
          <a:xfrm>
            <a:off x="700088" y="1028700"/>
            <a:ext cx="30575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Hand-designed feature extraction algorithms of machine learning and deep learning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1648384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7A45CF-CA41-4004-8807-0865DF130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5114925" cy="27717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85E4DC-B148-47EB-9994-021B1FA5E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2541" y="-1"/>
            <a:ext cx="5529459" cy="27717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D3D3D3-8D9D-4D48-B9DE-64AAFFC61B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577" y="3428999"/>
            <a:ext cx="4948347" cy="32875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EEFC69-7284-441C-A314-F86DEA333F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2541" y="3428999"/>
            <a:ext cx="5529459" cy="3287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84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B7C7C-5E71-44EC-95C8-6FE4E20F0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Deep Learning Network For Digit Classification</a:t>
            </a:r>
            <a:endParaRPr lang="en-IN" sz="36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25EB65-7F2F-4642-892C-5F127E6E8C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5875" y="1690688"/>
            <a:ext cx="8201025" cy="4802187"/>
          </a:xfrm>
        </p:spPr>
      </p:pic>
    </p:spTree>
    <p:extLst>
      <p:ext uri="{BB962C8B-B14F-4D97-AF65-F5344CB8AC3E}">
        <p14:creationId xmlns:p14="http://schemas.microsoft.com/office/powerpoint/2010/main" val="1467507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066D33-7557-481F-A89B-1AE7D697A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3389" y="171450"/>
            <a:ext cx="7815262" cy="6686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DF02AD-4A8F-41CE-AA92-BA2B62579102}"/>
              </a:ext>
            </a:extLst>
          </p:cNvPr>
          <p:cNvSpPr txBox="1"/>
          <p:nvPr/>
        </p:nvSpPr>
        <p:spPr>
          <a:xfrm>
            <a:off x="328613" y="528638"/>
            <a:ext cx="424338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1)Constructs features at multiple level with higher features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2)Fast-growing field for problem of feature extraction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3)Multiple filter on the information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4)Mathematical framework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94037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3C680-88F6-49F9-9AF4-978E7C12D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528637"/>
            <a:ext cx="10229850" cy="4657726"/>
          </a:xfrm>
        </p:spPr>
        <p:txBody>
          <a:bodyPr>
            <a:noAutofit/>
          </a:bodyPr>
          <a:lstStyle/>
          <a:p>
            <a:pPr algn="ctr"/>
            <a:r>
              <a:rPr lang="en-US" b="1" dirty="0"/>
              <a:t>Module -2</a:t>
            </a:r>
            <a:br>
              <a:rPr lang="en-US" b="1" dirty="0"/>
            </a:br>
            <a:r>
              <a:rPr lang="en-US" b="1" dirty="0"/>
              <a:t>Convolutional Neural Network Models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9393677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B540A5B-2B5D-40B6-B0E1-5CF25331F1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863" y="1585912"/>
            <a:ext cx="7620000" cy="454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64895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BB865-19DA-4E20-BE4C-E9AE9B379D5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0515600" cy="1357313"/>
          </a:xfrm>
        </p:spPr>
        <p:txBody>
          <a:bodyPr/>
          <a:lstStyle/>
          <a:p>
            <a:r>
              <a:rPr lang="en-US" dirty="0"/>
              <a:t>Deep learning works</a:t>
            </a:r>
            <a:endParaRPr lang="en-IN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84C6ACC-156E-4540-9120-62DD8D45E22A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2350" y="1357313"/>
            <a:ext cx="8629650" cy="528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85156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FF5C6320-DA59-49E1-89CF-26FF41E160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75" y="390525"/>
            <a:ext cx="8096250" cy="607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9728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870AC2-1A46-4314-9D24-EE4F6CEBB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1147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92361B-B122-4C8B-BD25-108C2A940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1" y="1338071"/>
            <a:ext cx="4115059" cy="3876867"/>
          </a:xfrm>
          <a:prstGeom prst="rect">
            <a:avLst/>
          </a:prstGeom>
        </p:spPr>
      </p:pic>
      <p:pic>
        <p:nvPicPr>
          <p:cNvPr id="4" name="Picture 2" descr="Neural networks – TikZ.net">
            <a:extLst>
              <a:ext uri="{FF2B5EF4-FFF2-40B4-BE49-F238E27FC236}">
                <a16:creationId xmlns:a16="http://schemas.microsoft.com/office/drawing/2014/main" id="{0B684C80-DB39-4057-9772-456FFF80C0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1662" y="776287"/>
            <a:ext cx="5824537" cy="5305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988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A6219-6FC3-443E-A208-F50493E5A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Activation Function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5F60D-5E8F-4591-86E1-3A1369A535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Non -linearity into the model, allowing the network to learn and represent complex patterns in the data</a:t>
            </a:r>
          </a:p>
          <a:p>
            <a:pPr marL="514350" indent="-514350">
              <a:buAutoNum type="arabicPeriod"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0"/>
              </a:rPr>
              <a:t>Sigmoid Function</a:t>
            </a:r>
          </a:p>
          <a:p>
            <a:pPr marL="514350" indent="-514350">
              <a:buAutoNum type="arabicPeriod"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0"/>
              </a:rPr>
              <a:t>Tanh Activation Function</a:t>
            </a:r>
          </a:p>
          <a:p>
            <a:pPr marL="514350" indent="-514350">
              <a:buAutoNum type="arabicPeriod"/>
            </a:pPr>
            <a:r>
              <a:rPr lang="en-US" b="1" i="0" dirty="0" err="1">
                <a:solidFill>
                  <a:srgbClr val="273239"/>
                </a:solidFill>
                <a:effectLst/>
                <a:latin typeface="Nunito" pitchFamily="2" charset="0"/>
              </a:rPr>
              <a:t>ReLU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 (Rectified Linear Unit) </a:t>
            </a: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Function</a:t>
            </a:r>
            <a:endParaRPr lang="en-IN" b="1" dirty="0">
              <a:solidFill>
                <a:srgbClr val="273239"/>
              </a:solidFill>
              <a:latin typeface="Nunito" pitchFamily="2" charset="0"/>
            </a:endParaRPr>
          </a:p>
          <a:p>
            <a:pPr marL="514350" indent="-514350">
              <a:buAutoNum type="arabicPeriod"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0"/>
              </a:rPr>
              <a:t>Softmax Function</a:t>
            </a:r>
          </a:p>
          <a:p>
            <a:pPr marL="514350" indent="-514350">
              <a:buAutoNum type="arabicPeriod"/>
            </a:pPr>
            <a:r>
              <a:rPr lang="en-IN" b="1" i="0" dirty="0" err="1">
                <a:solidFill>
                  <a:srgbClr val="273239"/>
                </a:solidFill>
                <a:effectLst/>
                <a:latin typeface="Nunito" pitchFamily="2" charset="0"/>
              </a:rPr>
              <a:t>SoftPlus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0"/>
              </a:rPr>
              <a:t> Function</a:t>
            </a:r>
            <a:endParaRPr lang="en-IN" b="1" dirty="0">
              <a:solidFill>
                <a:srgbClr val="273239"/>
              </a:solidFill>
              <a:latin typeface="Nunito" pitchFamily="2" charset="0"/>
            </a:endParaRPr>
          </a:p>
          <a:p>
            <a:pPr marL="514350" indent="-514350"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73524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FDFC5-64FC-4356-8281-E4993D96F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0"/>
              </a:rPr>
              <a:t>Sigmoid Function</a:t>
            </a:r>
            <a:br>
              <a:rPr lang="en-IN" b="1" i="0" dirty="0">
                <a:solidFill>
                  <a:srgbClr val="273239"/>
                </a:solidFill>
                <a:effectLst/>
                <a:latin typeface="Nunito" pitchFamily="2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71427-C3C3-48C3-BCCD-02D01C5B4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i="0" u="sng" dirty="0">
                <a:solidFill>
                  <a:srgbClr val="357960"/>
                </a:solidFill>
                <a:effectLst/>
                <a:latin typeface="Nunito" pitchFamily="2" charset="0"/>
                <a:hlinkClick r:id="rId2"/>
              </a:rPr>
              <a:t>Sigmoid Activation Function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 is characterized by 'S' shape. It is mathematically defined    </a:t>
            </a:r>
            <a:r>
              <a:rPr lang="en-US" dirty="0">
                <a:latin typeface="KaTeX_Main"/>
              </a:rPr>
              <a:t>.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This formula ensures a smooth and continuous output that is essential for gradient-based optimization methods.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73EF2D-F7A1-41FA-AC69-DF4C60BA2F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057" y="3429000"/>
            <a:ext cx="4737859" cy="21138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672A5A-3F84-46B5-8597-4339BBC2A1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6059" y="3429000"/>
            <a:ext cx="4737859" cy="2021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4965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AB21E-663F-4530-91FB-43884126D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0"/>
              </a:rPr>
              <a:t>Tanh Activation Function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0"/>
              </a:rPr>
              <a:t>(</a:t>
            </a:r>
            <a:r>
              <a:rPr lang="en-IN" sz="2400" b="1" i="0" dirty="0">
                <a:solidFill>
                  <a:srgbClr val="273239"/>
                </a:solidFill>
                <a:effectLst/>
                <a:latin typeface="Nunito" pitchFamily="2" charset="0"/>
              </a:rPr>
              <a:t>hyperbolic tangent function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0"/>
              </a:rPr>
              <a:t>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4048D-68ED-401F-843A-6012F8142D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Value Range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: Outputs values from -1 to +1.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Non-linear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: Enables modeling of complex data patterns.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377C69-025E-4C6E-9C44-AD91F64F7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9910" y="3074366"/>
            <a:ext cx="4720065" cy="31025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51519F-DBFE-4B65-BC48-9007A4721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25" y="3074366"/>
            <a:ext cx="5808521" cy="2124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0698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7B4BE-B098-4AF9-B982-CC8C2505B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 err="1">
                <a:solidFill>
                  <a:srgbClr val="273239"/>
                </a:solidFill>
                <a:effectLst/>
                <a:latin typeface="Nunito" pitchFamily="2" charset="0"/>
              </a:rPr>
              <a:t>ReLU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 (Rectified Linear Unit) </a:t>
            </a: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Function</a:t>
            </a:r>
            <a:br>
              <a:rPr lang="en-IN" b="1" dirty="0">
                <a:solidFill>
                  <a:srgbClr val="273239"/>
                </a:solidFill>
                <a:latin typeface="Nunito" pitchFamily="2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5C440-7A80-4943-8240-8B3DB961F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i="0" u="sng" dirty="0" err="1">
                <a:solidFill>
                  <a:srgbClr val="357960"/>
                </a:solidFill>
                <a:effectLst/>
                <a:latin typeface="Nunito" pitchFamily="2" charset="0"/>
                <a:hlinkClick r:id="rId2"/>
              </a:rPr>
              <a:t>ReLU</a:t>
            </a:r>
            <a:r>
              <a:rPr lang="en-US" sz="2000" b="1" i="0" u="sng" dirty="0">
                <a:solidFill>
                  <a:srgbClr val="357960"/>
                </a:solidFill>
                <a:effectLst/>
                <a:latin typeface="Nunito" pitchFamily="2" charset="0"/>
                <a:hlinkClick r:id="rId2"/>
              </a:rPr>
              <a:t> activation</a:t>
            </a:r>
            <a:r>
              <a:rPr lang="en-US" sz="2000" b="0" i="0" dirty="0">
                <a:solidFill>
                  <a:srgbClr val="273239"/>
                </a:solidFill>
                <a:effectLst/>
                <a:latin typeface="Nunito" pitchFamily="2" charset="0"/>
              </a:rPr>
              <a:t> is defined by </a:t>
            </a:r>
            <a:r>
              <a:rPr lang="en-US" sz="2000" dirty="0">
                <a:effectLst/>
                <a:latin typeface="KaTeX_Main"/>
              </a:rPr>
              <a:t>A(x)=max⁡(0,x)</a:t>
            </a:r>
            <a:r>
              <a:rPr lang="en-US" sz="2000" i="1" dirty="0">
                <a:effectLst/>
                <a:latin typeface="KaTeX_Math"/>
              </a:rPr>
              <a:t> ,</a:t>
            </a:r>
            <a:r>
              <a:rPr lang="en-US" sz="2000" b="0" i="0" dirty="0">
                <a:solidFill>
                  <a:srgbClr val="273239"/>
                </a:solidFill>
                <a:effectLst/>
                <a:latin typeface="Nunito" pitchFamily="2" charset="0"/>
              </a:rPr>
              <a:t>this means that if the input x is positive, </a:t>
            </a:r>
            <a:r>
              <a:rPr lang="en-US" sz="2000" b="0" i="0" dirty="0" err="1">
                <a:solidFill>
                  <a:srgbClr val="273239"/>
                </a:solidFill>
                <a:effectLst/>
                <a:latin typeface="Nunito" pitchFamily="2" charset="0"/>
              </a:rPr>
              <a:t>ReLU</a:t>
            </a:r>
            <a:r>
              <a:rPr lang="en-US" sz="2000" b="0" i="0" dirty="0">
                <a:solidFill>
                  <a:srgbClr val="273239"/>
                </a:solidFill>
                <a:effectLst/>
                <a:latin typeface="Nunito" pitchFamily="2" charset="0"/>
              </a:rPr>
              <a:t> returns x, if the input is negative, it returns 0</a:t>
            </a:r>
          </a:p>
          <a:p>
            <a:pPr marL="0" indent="0" algn="l" fontAlgn="base">
              <a:buNone/>
            </a:pPr>
            <a:r>
              <a:rPr lang="en-US" sz="2400" b="1" i="0" dirty="0">
                <a:solidFill>
                  <a:srgbClr val="273239"/>
                </a:solidFill>
                <a:effectLst/>
                <a:latin typeface="Nunito" pitchFamily="2" charset="0"/>
              </a:rPr>
              <a:t>Value Range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Nunito" pitchFamily="2" charset="0"/>
              </a:rPr>
              <a:t>: </a:t>
            </a:r>
            <a:r>
              <a:rPr lang="en-US" sz="2400" dirty="0">
                <a:solidFill>
                  <a:srgbClr val="273239"/>
                </a:solidFill>
                <a:latin typeface="KaTeX_Main"/>
              </a:rPr>
              <a:t>(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KaTeX_Main"/>
              </a:rPr>
              <a:t>0,∞),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Nunito" pitchFamily="2" charset="0"/>
              </a:rPr>
              <a:t> meaning the function only outputs non-negative values.</a:t>
            </a:r>
          </a:p>
          <a:p>
            <a:pPr marL="0" indent="0" algn="l" fontAlgn="base">
              <a:buNone/>
            </a:pPr>
            <a:r>
              <a:rPr lang="en-US" sz="2400" b="1" i="0" dirty="0">
                <a:solidFill>
                  <a:srgbClr val="273239"/>
                </a:solidFill>
                <a:effectLst/>
                <a:latin typeface="Nunito" pitchFamily="2" charset="0"/>
              </a:rPr>
              <a:t>Nature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Nunito" pitchFamily="2" charset="0"/>
              </a:rPr>
              <a:t>: It is a non-linear activation function, allowing neural networks to learn complex patterns and making backpropagation more efficient</a:t>
            </a:r>
          </a:p>
          <a:p>
            <a:pPr marL="0" indent="0">
              <a:buNone/>
            </a:pP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D27861-2A14-4B85-A261-5318EAD865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0998" y="4001294"/>
            <a:ext cx="4162801" cy="27424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C757BD-5AA6-4496-BB5C-E838573C12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6328" y="4001294"/>
            <a:ext cx="4884941" cy="13255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D010D6-FDD7-4D98-9A42-9A462C38D5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6327" y="4800600"/>
            <a:ext cx="4386262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1396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D73FF-A306-407A-BFDA-6494675EF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0"/>
              </a:rPr>
              <a:t>Softmax Function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D2270-97E3-4CB0-A7DA-FDB0C91E8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The Softmax function ensures that each class is assigned a probability, helping to identify which class the input belongs to.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53AA3E-7259-441D-A7F1-3D5D2FBCF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47920"/>
            <a:ext cx="3319463" cy="29669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4E9C59-4FB1-4821-930A-65EEF53E8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0713" y="3056150"/>
            <a:ext cx="4743450" cy="3255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8941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236EC-6414-4EAE-848D-96A911A24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 err="1">
                <a:solidFill>
                  <a:srgbClr val="273239"/>
                </a:solidFill>
                <a:effectLst/>
                <a:latin typeface="Nunito" pitchFamily="2" charset="0"/>
              </a:rPr>
              <a:t>SoftPlus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0"/>
              </a:rPr>
              <a:t> Function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4074C-23B0-4FD5-A10F-9257A8258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Nature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: The </a:t>
            </a:r>
            <a:r>
              <a:rPr lang="en-US" b="0" i="0" dirty="0" err="1">
                <a:solidFill>
                  <a:srgbClr val="273239"/>
                </a:solidFill>
                <a:effectLst/>
                <a:latin typeface="Nunito" pitchFamily="2" charset="0"/>
              </a:rPr>
              <a:t>Softplus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 function is non-linear.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Range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: The function outputs values in the range </a:t>
            </a:r>
            <a:r>
              <a:rPr lang="en-US" b="0" i="0" dirty="0">
                <a:solidFill>
                  <a:srgbClr val="273239"/>
                </a:solidFill>
                <a:effectLst/>
                <a:latin typeface="KaTeX_Main"/>
              </a:rPr>
              <a:t>(0,∞)(0,∞)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, similar to </a:t>
            </a:r>
            <a:r>
              <a:rPr lang="en-US" b="0" i="0" dirty="0" err="1">
                <a:solidFill>
                  <a:srgbClr val="273239"/>
                </a:solidFill>
                <a:effectLst/>
                <a:latin typeface="Nunito" pitchFamily="2" charset="0"/>
              </a:rPr>
              <a:t>ReLU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, but without the hard zero threshold that </a:t>
            </a:r>
            <a:r>
              <a:rPr lang="en-US" b="0" i="0" dirty="0" err="1">
                <a:solidFill>
                  <a:srgbClr val="273239"/>
                </a:solidFill>
                <a:effectLst/>
                <a:latin typeface="Nunito" pitchFamily="2" charset="0"/>
              </a:rPr>
              <a:t>ReLU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 has.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17DC50-7CDE-4FFC-BF2C-4337F8305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413" y="3767899"/>
            <a:ext cx="3667261" cy="19185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108253-BBC2-4826-9AB4-1A70AE222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4749" y="3029635"/>
            <a:ext cx="5133740" cy="358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7809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210C3-8CB2-4A9E-A951-F3784BC02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2BBC38C-6CE7-48C9-9CCF-9B6E66EC6B3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38551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D89A405-D8FF-442D-8621-94C93E385E30}"/>
              </a:ext>
            </a:extLst>
          </p:cNvPr>
          <p:cNvSpPr txBox="1"/>
          <p:nvPr/>
        </p:nvSpPr>
        <p:spPr>
          <a:xfrm>
            <a:off x="475060" y="509885"/>
            <a:ext cx="10169128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1.The visual cortex has small regions of cells that are sensitive to specific regions of the visual field. Different neurons in the brain respond to </a:t>
            </a:r>
            <a:r>
              <a:rPr lang="en-US" sz="2800" b="1" dirty="0"/>
              <a:t>different features.</a:t>
            </a:r>
          </a:p>
          <a:p>
            <a:endParaRPr lang="en-US" sz="2800" dirty="0"/>
          </a:p>
          <a:p>
            <a:r>
              <a:rPr lang="en-US" sz="2800" dirty="0"/>
              <a:t>2. </a:t>
            </a:r>
            <a:r>
              <a:rPr lang="en-US" sz="2800" dirty="0" err="1"/>
              <a:t>ConvNets</a:t>
            </a:r>
            <a:r>
              <a:rPr lang="en-US" sz="2800" dirty="0"/>
              <a:t> have shown excellent performance on several applications such as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image classification,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object detection,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speech recognition,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natural language processing, and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medical image analysis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59168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C4FF4-D47D-49B8-96DD-39111DD1D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Evolution of Convolutional Neural Network Models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8C935-D8B9-4CC0-8370-389D44B68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</a:t>
            </a:r>
            <a:r>
              <a:rPr lang="en-IN" dirty="0"/>
              <a:t> </a:t>
            </a:r>
            <a:r>
              <a:rPr lang="en-IN" dirty="0" err="1"/>
              <a:t>LeNet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2. </a:t>
            </a:r>
            <a:r>
              <a:rPr lang="en-IN" dirty="0" err="1"/>
              <a:t>AlexNet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3. </a:t>
            </a:r>
            <a:r>
              <a:rPr lang="en-IN" dirty="0" err="1"/>
              <a:t>VGGNet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4. </a:t>
            </a:r>
            <a:r>
              <a:rPr lang="en-IN" dirty="0" err="1"/>
              <a:t>GoogLeNet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5. </a:t>
            </a:r>
            <a:r>
              <a:rPr lang="en-IN" dirty="0" err="1"/>
              <a:t>ResNet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6. Inception-</a:t>
            </a:r>
            <a:r>
              <a:rPr lang="en-IN" dirty="0" err="1"/>
              <a:t>ResNet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7. </a:t>
            </a:r>
            <a:r>
              <a:rPr lang="en-IN" dirty="0" err="1"/>
              <a:t>Xception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97407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F56DB-C9E9-4CF7-9F23-2F6BA87F7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</a:t>
            </a:r>
            <a:r>
              <a:rPr lang="en-IN" dirty="0"/>
              <a:t> </a:t>
            </a:r>
            <a:r>
              <a:rPr lang="en-IN" dirty="0" err="1"/>
              <a:t>LeNet</a:t>
            </a:r>
            <a:br>
              <a:rPr lang="en-IN" dirty="0"/>
            </a:br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EA3E258-BE56-4AEE-95CB-686DDF2A907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28700"/>
            <a:ext cx="12191999" cy="582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02260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7E8F8EA-DF4A-4B83-834D-F38D4DECFA9F}"/>
              </a:ext>
            </a:extLst>
          </p:cNvPr>
          <p:cNvSpPr txBox="1"/>
          <p:nvPr/>
        </p:nvSpPr>
        <p:spPr>
          <a:xfrm>
            <a:off x="632221" y="948423"/>
            <a:ext cx="11297841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1.The first practical convolution-based architecture was </a:t>
            </a:r>
            <a:r>
              <a:rPr lang="en-US" sz="2800" dirty="0" err="1"/>
              <a:t>LeNet</a:t>
            </a:r>
            <a:r>
              <a:rPr lang="en-US" sz="2800" dirty="0"/>
              <a:t> which used backpropagation for training the network.</a:t>
            </a:r>
          </a:p>
          <a:p>
            <a:endParaRPr lang="en-US" sz="2800" dirty="0"/>
          </a:p>
          <a:p>
            <a:r>
              <a:rPr lang="en-US" sz="2800" dirty="0"/>
              <a:t>2. The approach did not get much success as it did not scale well to larger problems</a:t>
            </a:r>
          </a:p>
          <a:p>
            <a:endParaRPr lang="en-US" sz="2800" dirty="0"/>
          </a:p>
          <a:p>
            <a:pPr marL="342900" indent="-342900">
              <a:buAutoNum type="alphaLcPeriod"/>
            </a:pPr>
            <a:r>
              <a:rPr lang="en-US" sz="2800" dirty="0"/>
              <a:t>Small labeled datasets. </a:t>
            </a:r>
          </a:p>
          <a:p>
            <a:pPr marL="342900" indent="-342900">
              <a:buAutoNum type="alphaLcPeriod"/>
            </a:pPr>
            <a:r>
              <a:rPr lang="en-US" sz="2800" dirty="0"/>
              <a:t>Slow computers.</a:t>
            </a:r>
          </a:p>
          <a:p>
            <a:pPr marL="342900" indent="-342900">
              <a:buAutoNum type="alphaLcPeriod"/>
            </a:pPr>
            <a:r>
              <a:rPr lang="en-US" sz="2800" dirty="0"/>
              <a:t>Use of wrong nonlinearity (activation) function.</a:t>
            </a:r>
          </a:p>
          <a:p>
            <a:pPr marL="342900" indent="-342900">
              <a:buAutoNum type="alphaLcPeriod"/>
            </a:pPr>
            <a:endParaRPr lang="en-US" sz="2800" dirty="0"/>
          </a:p>
          <a:p>
            <a:r>
              <a:rPr lang="en-US" sz="2800" dirty="0"/>
              <a:t>3.</a:t>
            </a:r>
            <a:r>
              <a:rPr lang="en-IN" sz="2800" dirty="0"/>
              <a:t> </a:t>
            </a:r>
            <a:r>
              <a:rPr lang="en-IN" sz="2800" b="1" dirty="0"/>
              <a:t>Vanishing gradient:</a:t>
            </a:r>
            <a:r>
              <a:rPr lang="en-IN" sz="2800" dirty="0"/>
              <a:t> </a:t>
            </a:r>
            <a:r>
              <a:rPr lang="en-US" sz="2800" dirty="0"/>
              <a:t>Vanishing gradient makes it hard to train and tune the parameters of the top layers in a neural network.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7079572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F3534-D59C-489D-8FD6-E44D83A13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 </a:t>
            </a:r>
            <a:r>
              <a:rPr lang="en-IN" dirty="0" err="1"/>
              <a:t>AlexNet</a:t>
            </a:r>
            <a:br>
              <a:rPr lang="en-IN" dirty="0"/>
            </a:br>
            <a:endParaRPr lang="en-IN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782E914-F241-448A-90CB-72CDFE3BC3A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43000"/>
            <a:ext cx="12192000" cy="5714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06156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3B2643-5187-4929-A749-531A290F095A}"/>
              </a:ext>
            </a:extLst>
          </p:cNvPr>
          <p:cNvSpPr txBox="1"/>
          <p:nvPr/>
        </p:nvSpPr>
        <p:spPr>
          <a:xfrm>
            <a:off x="646510" y="676960"/>
            <a:ext cx="1154549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fr-FR" sz="2800" dirty="0" err="1"/>
              <a:t>ImageNet</a:t>
            </a:r>
            <a:r>
              <a:rPr lang="fr-FR" sz="2800" dirty="0"/>
              <a:t> Large-</a:t>
            </a:r>
            <a:r>
              <a:rPr lang="fr-FR" sz="2800" dirty="0" err="1"/>
              <a:t>Scale</a:t>
            </a:r>
            <a:r>
              <a:rPr lang="fr-FR" sz="2800" dirty="0"/>
              <a:t> Visual Recognition </a:t>
            </a:r>
            <a:r>
              <a:rPr lang="fr-FR" sz="2800" dirty="0" err="1"/>
              <a:t>Competition</a:t>
            </a:r>
            <a:r>
              <a:rPr lang="fr-FR" sz="2800" dirty="0"/>
              <a:t> (ILSVRC) 2012 </a:t>
            </a:r>
          </a:p>
          <a:p>
            <a:endParaRPr lang="fr-FR" sz="2800" dirty="0"/>
          </a:p>
          <a:p>
            <a:r>
              <a:rPr lang="fr-FR" sz="2800" dirty="0"/>
              <a:t>2.</a:t>
            </a:r>
          </a:p>
          <a:p>
            <a:r>
              <a:rPr lang="en-US" sz="2800" dirty="0"/>
              <a:t> a. Large labeled image database (ImageNet), which contained around 15 million labeled images from a total of over 22,000 categories, was used.</a:t>
            </a:r>
          </a:p>
          <a:p>
            <a:r>
              <a:rPr lang="en-US" sz="2800" dirty="0"/>
              <a:t> b. The model was trained on high-speed GTX 580 GPUs </a:t>
            </a:r>
          </a:p>
          <a:p>
            <a:r>
              <a:rPr lang="en-US" sz="2800" dirty="0"/>
              <a:t> c. </a:t>
            </a:r>
            <a:r>
              <a:rPr lang="en-US" sz="2800" dirty="0" err="1"/>
              <a:t>ReLU</a:t>
            </a:r>
            <a:r>
              <a:rPr lang="en-US" sz="2800" dirty="0"/>
              <a:t> (Rectified Linear Unit) f (x) max(x, 0) activation function was used. This activation function is several times faster than the conventional activation functions like sigmoid and tanh. </a:t>
            </a:r>
          </a:p>
          <a:p>
            <a:endParaRPr lang="en-US" sz="2800" dirty="0"/>
          </a:p>
          <a:p>
            <a:r>
              <a:rPr lang="en-US" sz="2800" b="1" dirty="0"/>
              <a:t>The </a:t>
            </a:r>
            <a:r>
              <a:rPr lang="en-US" sz="2800" b="1" dirty="0" err="1"/>
              <a:t>ReLU</a:t>
            </a:r>
            <a:r>
              <a:rPr lang="en-US" sz="2800" b="1" dirty="0"/>
              <a:t> activation function does not experience the vanishing gradient problem.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14924470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903A9-59DA-4134-8B3B-7025A01E4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</a:t>
            </a:r>
            <a:r>
              <a:rPr lang="en-IN" dirty="0" err="1"/>
              <a:t>VGGNet</a:t>
            </a:r>
            <a:br>
              <a:rPr lang="en-IN" dirty="0"/>
            </a:br>
            <a:endParaRPr lang="en-IN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AE21E2D-4EF7-4DFF-ADBE-E609CF3967B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052" y="2847678"/>
            <a:ext cx="10948748" cy="3645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BAF6C1-0A3B-4394-BD6D-75721F1C9F27}"/>
              </a:ext>
            </a:extLst>
          </p:cNvPr>
          <p:cNvSpPr txBox="1"/>
          <p:nvPr/>
        </p:nvSpPr>
        <p:spPr>
          <a:xfrm>
            <a:off x="1003696" y="1229023"/>
            <a:ext cx="103501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Reducing filter size and increasing the depth of the network resulted in CNN architecture that produced more accurate results</a:t>
            </a:r>
          </a:p>
        </p:txBody>
      </p:sp>
    </p:spTree>
    <p:extLst>
      <p:ext uri="{BB962C8B-B14F-4D97-AF65-F5344CB8AC3E}">
        <p14:creationId xmlns:p14="http://schemas.microsoft.com/office/powerpoint/2010/main" val="41615341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B11AF-C078-43AF-96E1-49AE1BAE3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/>
              <a:t>4. </a:t>
            </a:r>
            <a:r>
              <a:rPr lang="en-IN" sz="2800" b="1" dirty="0" err="1"/>
              <a:t>GoogLeNet</a:t>
            </a:r>
            <a:endParaRPr lang="en-IN" sz="2800" b="1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6679E9F-94F5-4B8F-973B-1897E831984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6" y="3719796"/>
            <a:ext cx="10515600" cy="309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C327A1-7B56-4401-9A44-5ED46F9E9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8" y="1128713"/>
            <a:ext cx="9872662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3000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8B5AB-80C1-4C91-AE34-BE194975D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8625"/>
            <a:ext cx="10515600" cy="5748338"/>
          </a:xfrm>
        </p:spPr>
        <p:txBody>
          <a:bodyPr/>
          <a:lstStyle/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Increasing the number of layers increases the number of features which enhances the accuracy of the network. 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However, there is a practical limitation to that. </a:t>
            </a:r>
          </a:p>
          <a:p>
            <a:pPr marL="0" indent="0">
              <a:buNone/>
            </a:pPr>
            <a:r>
              <a:rPr lang="en-US" dirty="0"/>
              <a:t>a. Vanishing gradients: Some neurons in too deep networks may die during training which can cause loss of useful information and</a:t>
            </a:r>
          </a:p>
          <a:p>
            <a:pPr marL="0" indent="0">
              <a:buNone/>
            </a:pPr>
            <a:r>
              <a:rPr lang="en-US" dirty="0"/>
              <a:t>b. Optimization difficulty: too many parameter </a:t>
            </a:r>
            <a:r>
              <a:rPr lang="en-US" dirty="0" err="1"/>
              <a:t>eters</a:t>
            </a:r>
            <a:r>
              <a:rPr lang="en-US" dirty="0"/>
              <a:t> can make training the network a difficult task.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17869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948A002-963A-4847-B1CB-46FC46D6F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5.ResNet(</a:t>
            </a:r>
            <a:r>
              <a:rPr lang="en-US" sz="2800" dirty="0"/>
              <a:t>Microsoft Research Asia proposed a CNN architecture in 2015</a:t>
            </a:r>
            <a:r>
              <a:rPr lang="en-US" dirty="0"/>
              <a:t>)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5FB33F2-DA1A-4D16-A9D2-2524B0F28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ResNet</a:t>
            </a:r>
            <a:r>
              <a:rPr lang="en-US" dirty="0"/>
              <a:t> introduced residual connections in which the output of a conv-</a:t>
            </a:r>
            <a:r>
              <a:rPr lang="en-US" dirty="0" err="1"/>
              <a:t>relu</a:t>
            </a:r>
            <a:r>
              <a:rPr lang="en-US" dirty="0"/>
              <a:t>-conv series is added to the original input and then passed through Rectified Linear Unit (</a:t>
            </a:r>
            <a:r>
              <a:rPr lang="en-US" dirty="0" err="1"/>
              <a:t>ReLU</a:t>
            </a:r>
            <a:r>
              <a:rPr lang="en-US" dirty="0"/>
              <a:t>)</a:t>
            </a:r>
          </a:p>
          <a:p>
            <a:r>
              <a:rPr lang="en-US" dirty="0"/>
              <a:t>In this way, the information is carried from the previous layer to the next layer and during backpropagation, the gradient flows easily because of the addition operations</a:t>
            </a:r>
          </a:p>
          <a:p>
            <a:r>
              <a:rPr lang="en-US" dirty="0" err="1"/>
              <a:t>ResNet</a:t>
            </a:r>
            <a:r>
              <a:rPr lang="en-US" dirty="0"/>
              <a:t> performed good in classification, detection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19333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3646E74-25B6-43F1-89C8-D5854F960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6.Inception-ResNet</a:t>
            </a: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D2EB3CC-AEAB-406B-AFC5-035F67DDE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37" y="1690688"/>
            <a:ext cx="10515600" cy="4351338"/>
          </a:xfrm>
        </p:spPr>
        <p:txBody>
          <a:bodyPr/>
          <a:lstStyle/>
          <a:p>
            <a:r>
              <a:rPr lang="en-US" dirty="0"/>
              <a:t>This hybrid model called Inception-</a:t>
            </a:r>
            <a:r>
              <a:rPr lang="en-US" dirty="0" err="1"/>
              <a:t>ResNet</a:t>
            </a:r>
            <a:r>
              <a:rPr lang="en-US" dirty="0"/>
              <a:t> dramatically improved the training speed of inception mode</a:t>
            </a:r>
          </a:p>
          <a:p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79D10725-E4DC-4745-8B1C-331F5D5699D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4338E9-4160-41A1-9008-04D9EC4A1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714626"/>
            <a:ext cx="9713353" cy="3611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020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02467-A2BB-4B94-A6E1-1AA0EDA0C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 operation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93557-9E38-4FF8-8667-7ECA32D8FF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Convolution operation can be applied to higher dimensional functions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Example: A two-dimensional filter(</a:t>
            </a:r>
            <a:r>
              <a:rPr lang="en-US" dirty="0"/>
              <a:t>a two-dimensional input, and a two-dimensional feature map)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55B2B6-2B99-476B-A452-2E8DFD50A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281" y="3738563"/>
            <a:ext cx="9215438" cy="3119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2182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8CFE375-91AD-45F1-9E07-39B0CDEC3F0F}"/>
              </a:ext>
            </a:extLst>
          </p:cNvPr>
          <p:cNvSpPr txBox="1"/>
          <p:nvPr/>
        </p:nvSpPr>
        <p:spPr>
          <a:xfrm>
            <a:off x="417910" y="567035"/>
            <a:ext cx="11540728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Let the 2D input (i.e., 2D image) be denoted by A, the 2D filter of size m × n be denoted by K, and the 2D feature map be denoted by F</a:t>
            </a:r>
          </a:p>
          <a:p>
            <a:endParaRPr lang="en-US" sz="2400" dirty="0"/>
          </a:p>
          <a:p>
            <a:r>
              <a:rPr lang="en-US" sz="2400" dirty="0"/>
              <a:t>This convolution operation is denoted by A*K and is mathematically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2FEDB7-7EF9-471F-98CC-CBCB8FDA3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263" y="2049898"/>
            <a:ext cx="10539413" cy="11076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594126C-E65F-42C1-AB3A-EB927D1FE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910" y="3659833"/>
            <a:ext cx="9834784" cy="144080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464E367-4C15-4915-9A06-6ECF631DBF4C}"/>
              </a:ext>
            </a:extLst>
          </p:cNvPr>
          <p:cNvSpPr txBox="1"/>
          <p:nvPr/>
        </p:nvSpPr>
        <p:spPr>
          <a:xfrm>
            <a:off x="576263" y="3198167"/>
            <a:ext cx="95107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The convolution operation is commutative in nature</a:t>
            </a:r>
            <a:endParaRPr lang="en-IN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3A2157-D5D7-4198-A065-DFF85AA962B1}"/>
              </a:ext>
            </a:extLst>
          </p:cNvPr>
          <p:cNvSpPr txBox="1"/>
          <p:nvPr/>
        </p:nvSpPr>
        <p:spPr>
          <a:xfrm>
            <a:off x="576263" y="4731307"/>
            <a:ext cx="6093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cross-correlation operation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15DCE67-B38C-4E97-A7E8-75880DB7CD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262" y="5347990"/>
            <a:ext cx="9834783" cy="1440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6504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D397D6-2830-485C-9A40-8D6AACAA9B8C}"/>
              </a:ext>
            </a:extLst>
          </p:cNvPr>
          <p:cNvSpPr txBox="1"/>
          <p:nvPr/>
        </p:nvSpPr>
        <p:spPr>
          <a:xfrm>
            <a:off x="689373" y="1172646"/>
            <a:ext cx="60936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</a:t>
            </a:r>
          </a:p>
          <a:p>
            <a:endParaRPr lang="en-IN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62C8E3-F502-4E5F-BDCA-FF34D4229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Architecture of CNN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4969C89-45F4-4307-BA96-A8773BD2BD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Layers that sit between the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input layer </a:t>
            </a:r>
            <a:r>
              <a:rPr lang="en-US" dirty="0">
                <a:solidFill>
                  <a:srgbClr val="0070C0"/>
                </a:solidFill>
              </a:rPr>
              <a:t>and output layer </a:t>
            </a:r>
            <a:r>
              <a:rPr lang="en-US" dirty="0"/>
              <a:t>are called </a:t>
            </a:r>
            <a:r>
              <a:rPr lang="en-US" dirty="0">
                <a:solidFill>
                  <a:srgbClr val="00B0F0"/>
                </a:solidFill>
              </a:rPr>
              <a:t>hidden layers</a:t>
            </a:r>
            <a:r>
              <a:rPr lang="en-US" dirty="0"/>
              <a:t>. Each hidden layer is made up of a number of neurons, where each neuron is fully connected to all neurons in the preceding layer</a:t>
            </a:r>
          </a:p>
          <a:p>
            <a:r>
              <a:rPr lang="en-US" dirty="0" err="1"/>
              <a:t>ConvNets</a:t>
            </a:r>
            <a:r>
              <a:rPr lang="en-US" dirty="0"/>
              <a:t> have three key features</a:t>
            </a:r>
            <a:r>
              <a:rPr lang="en-US" dirty="0">
                <a:solidFill>
                  <a:srgbClr val="C00000"/>
                </a:solidFill>
              </a:rPr>
              <a:t>: local receptive field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weight sharing</a:t>
            </a:r>
            <a:r>
              <a:rPr lang="en-US" dirty="0"/>
              <a:t>, and </a:t>
            </a:r>
            <a:r>
              <a:rPr lang="en-US" dirty="0">
                <a:solidFill>
                  <a:srgbClr val="00B050"/>
                </a:solidFill>
              </a:rPr>
              <a:t>subsampling</a:t>
            </a:r>
          </a:p>
          <a:p>
            <a:pPr marL="571500" indent="-571500">
              <a:buAutoNum type="romanLcParenBoth"/>
            </a:pPr>
            <a:r>
              <a:rPr lang="en-IN" dirty="0"/>
              <a:t>Local Receptive Field</a:t>
            </a:r>
            <a:endParaRPr lang="en-US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dirty="0"/>
              <a:t>each hidden unit can only connect to a small region of the input called local receptive field</a:t>
            </a:r>
          </a:p>
          <a:p>
            <a:pPr marL="0" indent="0">
              <a:buNone/>
            </a:pPr>
            <a:r>
              <a:rPr lang="en-US" dirty="0"/>
              <a:t>With local receptive field, neurons can extract elementary visual features like edges, corners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4397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EDE4C-8970-4A06-B5C0-093172816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(ii) Weight Sharing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38103-91D4-4BD6-BBD1-348476527E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ConvNet</a:t>
            </a:r>
            <a:r>
              <a:rPr lang="en-US" dirty="0"/>
              <a:t> consists of a sequence of different types of layers to achieve different tasks</a:t>
            </a:r>
          </a:p>
          <a:p>
            <a:pPr marL="0" indent="0">
              <a:buNone/>
            </a:pPr>
            <a:r>
              <a:rPr lang="en-US" dirty="0"/>
              <a:t>A typical convolutional neural network consists of the following layers: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• Convolutional layer,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• Activation function layer (</a:t>
            </a:r>
            <a:r>
              <a:rPr lang="en-US" dirty="0" err="1">
                <a:solidFill>
                  <a:srgbClr val="FF0000"/>
                </a:solidFill>
              </a:rPr>
              <a:t>ReLU</a:t>
            </a:r>
            <a:r>
              <a:rPr lang="en-US" dirty="0">
                <a:solidFill>
                  <a:srgbClr val="FF0000"/>
                </a:solidFill>
              </a:rPr>
              <a:t>),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• Pooling layer,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• Fully connected layer and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• Dropout layer(</a:t>
            </a:r>
            <a:r>
              <a:rPr lang="en-US" dirty="0"/>
              <a:t>dropout layer to address the overfitting issue)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66785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28674-F361-4371-9538-0809EE89C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(iii) Subsampling (Pooling)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5033F-7B0F-4A5A-86FD-8BCA9F13B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Subsampling reduces the spatial size of the input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Reducing the parameters in the network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most common subsampling technique is max-pooling.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52349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BCD17-D4B8-4AFE-80D2-0AB6BD6B6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Convolution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BE838-37F4-4B61-B6A4-4B4C4057E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Convolution layer is the core building block of a convolutional neural network which uses convolution operation (represented by *) in place of general </a:t>
            </a:r>
            <a:r>
              <a:rPr lang="en-US" dirty="0">
                <a:solidFill>
                  <a:srgbClr val="00B050"/>
                </a:solidFill>
              </a:rPr>
              <a:t>matrix multiplication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Its parameters consist of a </a:t>
            </a:r>
            <a:r>
              <a:rPr lang="en-US" dirty="0">
                <a:solidFill>
                  <a:srgbClr val="00B050"/>
                </a:solidFill>
              </a:rPr>
              <a:t>set of learnable filters </a:t>
            </a:r>
            <a:r>
              <a:rPr lang="en-US" dirty="0"/>
              <a:t>also known as kernels.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feature map is obtained for </a:t>
            </a:r>
            <a:r>
              <a:rPr lang="en-US" dirty="0">
                <a:solidFill>
                  <a:srgbClr val="00B050"/>
                </a:solidFill>
              </a:rPr>
              <a:t>each filter in the layer by repeated </a:t>
            </a:r>
            <a:r>
              <a:rPr lang="en-US" dirty="0"/>
              <a:t>application of the filter across subregions of the complete image,</a:t>
            </a:r>
          </a:p>
        </p:txBody>
      </p:sp>
    </p:spTree>
    <p:extLst>
      <p:ext uri="{BB962C8B-B14F-4D97-AF65-F5344CB8AC3E}">
        <p14:creationId xmlns:p14="http://schemas.microsoft.com/office/powerpoint/2010/main" val="12031814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86FB06-BD84-4CEB-AD11-FE91B3BFF3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8739" y="514848"/>
            <a:ext cx="9515474" cy="5614490"/>
          </a:xfrm>
        </p:spPr>
      </p:pic>
    </p:spTree>
    <p:extLst>
      <p:ext uri="{BB962C8B-B14F-4D97-AF65-F5344CB8AC3E}">
        <p14:creationId xmlns:p14="http://schemas.microsoft.com/office/powerpoint/2010/main" val="39677460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777CE-F11E-464A-80B9-05F0025F2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Hyperparameters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DFFF5-C834-4FD5-961F-F5DD48CA3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Convolutional neural network architecture has many hyperparameters that are </a:t>
            </a:r>
            <a:r>
              <a:rPr lang="en-US" dirty="0">
                <a:solidFill>
                  <a:srgbClr val="00B050"/>
                </a:solidFill>
              </a:rPr>
              <a:t>used to control the behavior of the mode</a:t>
            </a:r>
          </a:p>
          <a:p>
            <a:pPr marL="514350" indent="-514350">
              <a:buAutoNum type="alphaLcPeriod"/>
            </a:pPr>
            <a:r>
              <a:rPr lang="en-US" dirty="0">
                <a:solidFill>
                  <a:srgbClr val="FF0000"/>
                </a:solidFill>
              </a:rPr>
              <a:t>Filter Size</a:t>
            </a:r>
            <a:r>
              <a:rPr lang="en-US" dirty="0"/>
              <a:t>: Filters can be of any size greater than 2 × 2 and less than the size of the input but the conventional size varies from 11 × 11 to 3 × 3. The size of a filter is independent of the size of input.</a:t>
            </a:r>
          </a:p>
          <a:p>
            <a:pPr marL="514350" indent="-514350">
              <a:buAutoNum type="alphaLcPeriod"/>
            </a:pPr>
            <a:r>
              <a:rPr lang="en-IN" dirty="0">
                <a:solidFill>
                  <a:srgbClr val="FF0000"/>
                </a:solidFill>
              </a:rPr>
              <a:t>Stride</a:t>
            </a:r>
            <a:r>
              <a:rPr lang="en-IN" dirty="0"/>
              <a:t>:</a:t>
            </a:r>
            <a:r>
              <a:rPr lang="en-US" dirty="0"/>
              <a:t>The value of stride should not be too small or too large. Too small stride will lead to heavily overlapping receptive fields and too large value will overlap less.</a:t>
            </a:r>
          </a:p>
          <a:p>
            <a:pPr marL="514350" indent="-514350">
              <a:buAutoNum type="alphaLcPeriod"/>
            </a:pPr>
            <a:r>
              <a:rPr lang="en-IN" dirty="0">
                <a:solidFill>
                  <a:srgbClr val="FF0000"/>
                </a:solidFill>
              </a:rPr>
              <a:t>Zero Padding</a:t>
            </a:r>
            <a:r>
              <a:rPr lang="en-IN" dirty="0"/>
              <a:t>:</a:t>
            </a:r>
            <a:r>
              <a:rPr lang="en-US" dirty="0"/>
              <a:t>This hyperparameter describes the number of pixels to pad the input image with zeros.</a:t>
            </a:r>
          </a:p>
          <a:p>
            <a:pPr marL="0" indent="0">
              <a:buNone/>
            </a:pPr>
            <a:endParaRPr lang="en-IN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68149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0848F-B817-431E-8B81-3AD72059C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i="1" u="none" strike="noStrike" baseline="0" dirty="0">
                <a:latin typeface="JtvdftKmxgxyMxmbbvTimes-BoldItalic"/>
              </a:rPr>
              <a:t>Pooling Layer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C100A-B08B-4543-82E2-02F0A4536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latin typeface="BmklrqVvthhwRccrhtTimes-Roman"/>
              </a:rPr>
              <a:t>the sequence of convolution layer and activation function layer is followed by an optional pooling or down-sampling layer to reduce the spatial size of the input and thus reducing the number of parameters in the network</a:t>
            </a:r>
          </a:p>
          <a:p>
            <a:pPr algn="l"/>
            <a:r>
              <a:rPr lang="en-US" sz="1800" b="0" i="0" u="none" strike="noStrike" baseline="0" dirty="0">
                <a:latin typeface="BmklrqVvthhwRccrhtTimes-Roman"/>
              </a:rPr>
              <a:t>Max-pooling simply outputs the maximum value in the input region.</a:t>
            </a:r>
            <a:endParaRPr lang="en-US" sz="1800" dirty="0">
              <a:latin typeface="BmklrqVvthhwRccrhtTimes-Roman"/>
            </a:endParaRPr>
          </a:p>
          <a:p>
            <a:pPr algn="l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204256-ACBB-4BFB-8534-0F5CBA0F1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443" y="3429000"/>
            <a:ext cx="5830114" cy="257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2733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062F9-00FD-446F-B012-442FAEFD7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Connected Layer</a:t>
            </a:r>
            <a:br>
              <a:rPr lang="en-IN" sz="4000" b="1" i="1" u="none" strike="noStrike" baseline="0" dirty="0">
                <a:latin typeface="JtvdftKmxgxyMxmbbvTimes-BoldItalic"/>
              </a:rPr>
            </a:b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A6BBC-C245-4F36-8143-9C6F358F4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2400" b="0" i="0" u="none" strike="noStrike" baseline="0" dirty="0">
                <a:latin typeface="BmklrqVvthhwRccrhtTimes-Roman"/>
              </a:rPr>
              <a:t>Convolutional neural networks are composed of two stages: Feature extraction stage </a:t>
            </a:r>
            <a:r>
              <a:rPr lang="en-IN" sz="2400" b="0" i="0" u="none" strike="noStrike" baseline="0" dirty="0">
                <a:latin typeface="BmklrqVvthhwRccrhtTimes-Roman"/>
              </a:rPr>
              <a:t>and classification stage.</a:t>
            </a:r>
          </a:p>
          <a:p>
            <a:pPr algn="l"/>
            <a:r>
              <a:rPr lang="en-US" sz="2400" b="0" i="0" u="none" strike="noStrike" baseline="0" dirty="0">
                <a:latin typeface="BmklrqVvthhwRccrhtTimes-Roman"/>
              </a:rPr>
              <a:t>the classification stage is composed of one or more fully connected layers followed by a </a:t>
            </a:r>
            <a:r>
              <a:rPr lang="en-US" sz="2400" b="0" i="0" u="none" strike="noStrike" baseline="0" dirty="0" err="1">
                <a:latin typeface="BmklrqVvthhwRccrhtTimes-Roman"/>
              </a:rPr>
              <a:t>softmax</a:t>
            </a:r>
            <a:r>
              <a:rPr lang="en-US" sz="2400" b="0" i="0" u="none" strike="noStrike" baseline="0" dirty="0">
                <a:latin typeface="BmklrqVvthhwRccrhtTimes-Roman"/>
              </a:rPr>
              <a:t> function layer</a:t>
            </a:r>
          </a:p>
          <a:p>
            <a:pPr algn="l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FDFCF4-9DDA-4B85-AFFC-8B8A9C88B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082" y="3429000"/>
            <a:ext cx="7048867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68010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3EAAF-728D-4083-BB04-F40C4E122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i="1" u="none" strike="noStrike" baseline="0" dirty="0">
                <a:latin typeface="JtvdftKmxgxyMxmbbvTimes-BoldItalic"/>
              </a:rPr>
              <a:t>Dropout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2FD34-768B-4B07-9F56-688260DD7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latin typeface="BmklrqVvthhwRccrhtTimes-Roman"/>
              </a:rPr>
              <a:t>A fully connected layer is connected to all features, and it is prone to overfitting. Overfitting refers to the problem when a model is trained and it works so well on training data that it negatively impacts the performance of the model on new data</a:t>
            </a:r>
          </a:p>
          <a:p>
            <a:pPr algn="l"/>
            <a:r>
              <a:rPr lang="en-IN" sz="1800" b="0" i="0" u="none" strike="noStrike" baseline="0" dirty="0">
                <a:latin typeface="BmklrqVvthhwRccrhtTimes-Roman"/>
              </a:rPr>
              <a:t>A reduced network is </a:t>
            </a:r>
            <a:r>
              <a:rPr lang="en-US" sz="1800" b="0" i="0" u="none" strike="noStrike" baseline="0" dirty="0">
                <a:latin typeface="BmklrqVvthhwRccrhtTimes-Roman"/>
              </a:rPr>
              <a:t>left; incoming and outgoing edges to a dropped-out node are also removed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6F4C64-34D8-4D6D-A035-F4D09024F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988" y="3429000"/>
            <a:ext cx="8586787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68576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BB8CC-6C24-4504-B7C2-AE6DA59D6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i="0" u="none" strike="noStrike" baseline="0" dirty="0">
                <a:latin typeface="YpblcnHsccpfLgynjvTimes-Bold"/>
              </a:rPr>
              <a:t>Challenges and Future Research Direction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B7930-432B-4A79-9264-3707522D6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Overfitting</a:t>
            </a:r>
          </a:p>
          <a:p>
            <a:r>
              <a:rPr lang="en-US" dirty="0"/>
              <a:t>Computation speed</a:t>
            </a:r>
          </a:p>
          <a:p>
            <a:r>
              <a:rPr lang="en-US" dirty="0"/>
              <a:t>Large dataset</a:t>
            </a:r>
          </a:p>
          <a:p>
            <a:r>
              <a:rPr lang="en-US" dirty="0"/>
              <a:t>Time complexity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75842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814B09-9ED0-49E1-890F-469E73563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09551"/>
            <a:ext cx="10515600" cy="2852737"/>
          </a:xfrm>
        </p:spPr>
        <p:txBody>
          <a:bodyPr/>
          <a:lstStyle/>
          <a:p>
            <a:pPr algn="ctr"/>
            <a:r>
              <a:rPr lang="en-US" dirty="0"/>
              <a:t>Module-3</a:t>
            </a:r>
            <a:br>
              <a:rPr lang="en-US" dirty="0"/>
            </a:b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0B5A45-C0DE-44C1-984E-53DDDD8CB5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60500" y="2295526"/>
            <a:ext cx="10515600" cy="1500187"/>
          </a:xfrm>
        </p:spPr>
        <p:txBody>
          <a:bodyPr>
            <a:normAutofit/>
          </a:bodyPr>
          <a:lstStyle/>
          <a:p>
            <a:pPr algn="ctr"/>
            <a:r>
              <a:rPr lang="en-IN" sz="3600" b="1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Supervised Deep Learning Networks</a:t>
            </a:r>
            <a:endParaRPr lang="en-IN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210988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563804E-B891-43AB-A629-6CF52903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i="0" u="none" strike="noStrike" baseline="0" dirty="0">
                <a:latin typeface="SskfrcFlxjklLpjcltTimes-Bold"/>
              </a:rPr>
              <a:t>3.1 Introduction</a:t>
            </a:r>
            <a:endParaRPr lang="en-IN" sz="36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2AFD15D-492D-4118-84C0-2590F308F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supervised deep learning networks involves obtaining model parameters using labeled dataset to allow the network to map an input data to a class label.</a:t>
            </a:r>
          </a:p>
          <a:p>
            <a:pPr marL="0" indent="0" algn="l">
              <a:buNone/>
            </a:pPr>
            <a:endParaRPr lang="en-US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deep model parameters allow the network to correctly determine the class labels for unseen instances.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484783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FE68C-6CA4-476C-AA8E-54A10A80E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Convolution Neural Networks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B1F64FA-378B-421E-BCDC-181A21159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3F82E9C-31D2-4D4B-B406-6777D9781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41" y="1825625"/>
            <a:ext cx="1062765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19467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6A61E8-1B28-4831-80D8-5A0AECDD09D7}"/>
              </a:ext>
            </a:extLst>
          </p:cNvPr>
          <p:cNvSpPr txBox="1"/>
          <p:nvPr/>
        </p:nvSpPr>
        <p:spPr>
          <a:xfrm>
            <a:off x="204508" y="304818"/>
            <a:ext cx="1175609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1)Training supervised deep neural network is formulated in terms of minimizing a loss </a:t>
            </a:r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</a:p>
          <a:p>
            <a:pPr algn="l"/>
            <a:endParaRPr lang="en-IN" sz="24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training a supervised deep neural network means searching a set of values of parameters (or weights) of the network at which the loss function </a:t>
            </a:r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minimum value.</a:t>
            </a:r>
          </a:p>
          <a:p>
            <a:pPr algn="l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Gradient descent is an optimization technique which is used to minimize the error by calculating gradients necessary to update the values</a:t>
            </a:r>
          </a:p>
          <a:p>
            <a:pPr algn="l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most common and successful learning algorithm for deep learning models is gradient descent-based backpropagation in which </a:t>
            </a:r>
            <a:r>
              <a:rPr lang="en-US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is propagated backward 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last layer to the first layer</a:t>
            </a:r>
          </a:p>
          <a:p>
            <a:pPr algn="l"/>
            <a:endParaRPr lang="en-US" sz="24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5)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 the weights of a neural network are either initialized randomly or initialized by using probability distribution.</a:t>
            </a:r>
          </a:p>
          <a:p>
            <a:pPr algn="l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input is fed through the network to get the output.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310414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DBB5E6-A1E9-470E-A70A-D3D98DE22D78}"/>
              </a:ext>
            </a:extLst>
          </p:cNvPr>
          <p:cNvSpPr txBox="1"/>
          <p:nvPr/>
        </p:nvSpPr>
        <p:spPr>
          <a:xfrm>
            <a:off x="363071" y="2828836"/>
            <a:ext cx="114972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latin typeface="VxjssdPjfgxtMcgshxTimes-Roman"/>
              </a:rPr>
              <a:t>1)The CNN model </a:t>
            </a:r>
            <a:r>
              <a:rPr lang="en-US" sz="1800" b="0" i="0" u="none" strike="noStrike" baseline="0" dirty="0">
                <a:latin typeface="VxjssdPjfgxtMcgshxTimes-Roman"/>
              </a:rPr>
              <a:t>consists of three convolution layers, two subsampling layers, and one fully connected </a:t>
            </a:r>
            <a:r>
              <a:rPr lang="en-IN" sz="1800" b="0" i="0" u="none" strike="noStrike" baseline="0" dirty="0">
                <a:latin typeface="VxjssdPjfgxtMcgshxTimes-Roman"/>
              </a:rPr>
              <a:t>layer producing 10 outputs.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584584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F7967-B65D-4CBF-9C69-95DCFBEED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Descent-Based Optimization Techniques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B608C-617B-4614-B468-F318D3EEA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descent is an optimization technique used to minimize/maximize the cost function by calculating gradients necessary to update the values of the parameters </a:t>
            </a:r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network.</a:t>
            </a:r>
          </a:p>
          <a:p>
            <a:pPr marL="342900" indent="-342900" algn="l">
              <a:buAutoNum type="arabicParenR"/>
            </a:pPr>
            <a:r>
              <a:rPr lang="en-IN" sz="2000" b="1" i="1" u="none" strike="noStrike" baseline="0" dirty="0">
                <a:latin typeface="JwfdmgSdqkxyYsnhxfTimes-BoldItalic"/>
              </a:rPr>
              <a:t>Gradient Descent Variants</a:t>
            </a:r>
            <a:endParaRPr lang="en-IN" sz="2000" b="1" i="1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AutoNum type="arabicParenR" startAt="2"/>
            </a:pPr>
            <a:r>
              <a:rPr lang="en-IN" sz="2000" b="1" i="0" u="none" strike="noStrike" baseline="0" dirty="0">
                <a:latin typeface="SskfrcFlxjklLpjcltTimes-Bold"/>
              </a:rPr>
              <a:t>Batch Gradient Descent (GD)</a:t>
            </a:r>
          </a:p>
          <a:p>
            <a:pPr marL="342900" indent="-342900" algn="l">
              <a:buAutoNum type="arabicParenR" startAt="3"/>
            </a:pPr>
            <a:r>
              <a:rPr lang="en-IN" sz="2000" b="1" i="0" u="none" strike="noStrike" baseline="0" dirty="0">
                <a:latin typeface="SskfrcFlxjklLpjcltTimes-Bold"/>
              </a:rPr>
              <a:t>Stochastic Gradient Descent (SGD)</a:t>
            </a:r>
          </a:p>
          <a:p>
            <a:pPr marL="342900" indent="-342900" algn="l">
              <a:buAutoNum type="arabicParenR" startAt="4"/>
            </a:pPr>
            <a:r>
              <a:rPr lang="en-IN" sz="2000" b="1" i="0" u="none" strike="noStrike" baseline="0" dirty="0">
                <a:latin typeface="SskfrcFlxjklLpjcltTimes-Bold"/>
              </a:rPr>
              <a:t>Mini-batch Gradient Descent</a:t>
            </a:r>
          </a:p>
          <a:p>
            <a:pPr marL="342900" indent="-342900" algn="l">
              <a:buAutoNum type="arabicParenR" startAt="4"/>
            </a:pPr>
            <a:r>
              <a:rPr lang="en-IN" sz="2000" b="1" i="0" u="none" strike="noStrike" baseline="0" dirty="0" err="1">
                <a:latin typeface="SskfrcFlxjklLpjcltTimes-Bold"/>
              </a:rPr>
              <a:t>AdaGrad</a:t>
            </a:r>
            <a:endParaRPr lang="en-IN" sz="2000" b="1" i="0" u="none" strike="noStrike" baseline="0" dirty="0">
              <a:latin typeface="SskfrcFlxjklLpjcltTimes-Bold"/>
            </a:endParaRPr>
          </a:p>
          <a:p>
            <a:pPr marL="342900" indent="-342900" algn="l">
              <a:buAutoNum type="arabicParenR" startAt="4"/>
            </a:pPr>
            <a:r>
              <a:rPr lang="en-IN" sz="2000" b="1" i="0" u="none" strike="noStrike" baseline="0" dirty="0" err="1">
                <a:latin typeface="SskfrcFlxjklLpjcltTimes-Bold"/>
              </a:rPr>
              <a:t>AdaDelta</a:t>
            </a:r>
            <a:endParaRPr lang="en-IN" sz="2000" b="1" dirty="0">
              <a:latin typeface="SskfrcFlxjklLpjcltTimes-Bold"/>
            </a:endParaRPr>
          </a:p>
          <a:p>
            <a:pPr marL="342900" indent="-342900" algn="l">
              <a:buAutoNum type="arabicParenR" startAt="4"/>
            </a:pPr>
            <a:r>
              <a:rPr lang="en-IN" sz="2000" b="1" i="0" u="none" strike="noStrike" baseline="0" dirty="0" err="1">
                <a:latin typeface="SskfrcFlxjklLpjcltTimes-Bold"/>
              </a:rPr>
              <a:t>RMSProp</a:t>
            </a:r>
            <a:endParaRPr lang="en-IN" sz="2000" b="1" i="0" u="none" strike="noStrike" baseline="0" dirty="0">
              <a:latin typeface="SskfrcFlxjklLpjcltTimes-Bold"/>
            </a:endParaRPr>
          </a:p>
          <a:p>
            <a:pPr marL="342900" indent="-342900" algn="l">
              <a:buAutoNum type="arabicParenR" startAt="4"/>
            </a:pPr>
            <a:r>
              <a:rPr lang="en-IN" sz="2000" b="1" i="0" u="none" strike="noStrike" baseline="0" dirty="0">
                <a:latin typeface="SskfrcFlxjklLpjcltTimes-Bold"/>
              </a:rPr>
              <a:t>Adam</a:t>
            </a:r>
          </a:p>
          <a:p>
            <a:pPr marL="457200" indent="-457200" algn="l">
              <a:buAutoNum type="arabicParenR" startAt="4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285731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E9D08-2571-4C24-94BF-ED33CB6B1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b="1" i="1" u="none" strike="noStrike" baseline="0" dirty="0">
                <a:latin typeface="JwfdmgSdqkxyYsnhxfTimes-BoldItalic"/>
              </a:rPr>
              <a:t>Gradient Descent Variants</a:t>
            </a:r>
            <a:br>
              <a:rPr lang="en-IN" sz="4400" b="1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2281054-C470-431C-815F-A1B1B15DAED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8824" y="1027906"/>
            <a:ext cx="6813176" cy="5830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C16B823-148D-4AFA-9A44-966DE06E1F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12" y="1250576"/>
            <a:ext cx="6181201" cy="5378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643037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A724135-735B-4469-9EC2-BE070D255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sz="4400" b="1" i="1" u="none" strike="noStrike" baseline="0" dirty="0">
                <a:latin typeface="JwfdmgSdqkxyYsnhxfTimes-BoldItalic"/>
              </a:rPr>
              <a:t>Gradient Descent Variants</a:t>
            </a:r>
            <a:br>
              <a:rPr lang="en-IN" sz="4400" b="1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32F5795-D36A-41F7-AA9D-5089F53492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465" y="1892861"/>
            <a:ext cx="10515600" cy="4351338"/>
          </a:xfrm>
        </p:spPr>
        <p:txBody>
          <a:bodyPr/>
          <a:lstStyle/>
          <a:p>
            <a:pPr algn="l"/>
            <a:r>
              <a:rPr lang="en-IN" sz="2400" b="1" i="0" u="none" strike="noStrike" baseline="0" dirty="0">
                <a:latin typeface="SskfrcFlxjklLpjcltTimes-Bold"/>
              </a:rPr>
              <a:t>Batch Gradient Descent (GD):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Depending on the amount of data, we trade off between the accuracy of parameter updates (weights and biases) and the time it takes to perform an update(</a:t>
            </a:r>
            <a:r>
              <a:rPr lang="it-IT" b="1" i="0" dirty="0">
                <a:solidFill>
                  <a:srgbClr val="242424"/>
                </a:solidFill>
                <a:effectLst/>
                <a:latin typeface="source-serif-pro"/>
              </a:rPr>
              <a:t>one parameter update per epoch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)</a:t>
            </a:r>
          </a:p>
          <a:p>
            <a:pPr algn="l"/>
            <a:endParaRPr lang="en-US" dirty="0">
              <a:latin typeface="VxjssdPjfgxtMcgshxTimes-Roman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2DE9F7D-0F4B-41A9-ACB3-2A281E8778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9812" y="3429000"/>
            <a:ext cx="6091518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D3A3FE-9933-4159-8293-206B4F61F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465" y="3429000"/>
            <a:ext cx="4977082" cy="204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54425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5B7B7-7FD3-4959-8A05-6CA15A399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212" y="-3767885"/>
            <a:ext cx="10515600" cy="1325563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38801-CF38-43B8-9BA2-01336F8A3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0" i="0" u="none" strike="noStrike" baseline="0" dirty="0">
                <a:latin typeface="VxjssdPjfgxtMcgshxTimes-Roman"/>
              </a:rPr>
              <a:t>weight parameter </a:t>
            </a:r>
            <a:r>
              <a:rPr lang="en-US" b="0" i="1" u="none" strike="noStrike" baseline="0" dirty="0">
                <a:latin typeface="QvcpbxGcvgykNlmdtbTimes-Italic"/>
              </a:rPr>
              <a:t>w </a:t>
            </a:r>
            <a:r>
              <a:rPr lang="en-US" b="0" i="0" u="none" strike="noStrike" baseline="0" dirty="0">
                <a:latin typeface="VxjssdPjfgxtMcgshxTimes-Roman"/>
              </a:rPr>
              <a:t>is computed for the entire training set</a:t>
            </a:r>
          </a:p>
          <a:p>
            <a:pPr algn="just"/>
            <a:r>
              <a:rPr lang="en-US" b="0" i="0" u="none" strike="noStrike" baseline="0" dirty="0">
                <a:latin typeface="VxjssdPjfgxtMcgshxTimes-Roman"/>
              </a:rPr>
              <a:t>where </a:t>
            </a:r>
            <a:r>
              <a:rPr lang="en-US" b="0" i="0" u="none" strike="noStrike" baseline="0" dirty="0">
                <a:latin typeface="HgtvvmXhbwxnLxwtswMTSYN"/>
              </a:rPr>
              <a:t>∇</a:t>
            </a:r>
            <a:r>
              <a:rPr lang="en-US" b="1" i="0" u="none" strike="noStrike" baseline="0" dirty="0">
                <a:latin typeface="SskfrcFlxjklLpjcltTimes-Bold"/>
              </a:rPr>
              <a:t>E</a:t>
            </a:r>
            <a:r>
              <a:rPr lang="en-US" b="0" i="1" u="none" strike="noStrike" baseline="0" dirty="0">
                <a:latin typeface="StlysrNdgbxrQmydmkMTMI"/>
              </a:rPr>
              <a:t>(</a:t>
            </a:r>
            <a:r>
              <a:rPr lang="en-US" b="1" i="0" u="none" strike="noStrike" baseline="0" dirty="0">
                <a:latin typeface="SskfrcFlxjklLpjcltTimes-Bold"/>
              </a:rPr>
              <a:t>w</a:t>
            </a:r>
            <a:r>
              <a:rPr lang="en-US" b="0" i="1" u="none" strike="noStrike" baseline="0" dirty="0">
                <a:latin typeface="StlysrNdgbxrQmydmkMTMI"/>
              </a:rPr>
              <a:t>) </a:t>
            </a:r>
            <a:r>
              <a:rPr lang="en-US" b="0" i="0" u="none" strike="noStrike" baseline="0" dirty="0">
                <a:latin typeface="VxjssdPjfgxtMcgshxTimes-Roman"/>
              </a:rPr>
              <a:t>is the error gradient with respect to weight </a:t>
            </a:r>
            <a:r>
              <a:rPr lang="en-US" b="0" i="1" u="none" strike="noStrike" baseline="0" dirty="0">
                <a:latin typeface="QvcpbxGcvgykNlmdtbTimes-Italic"/>
              </a:rPr>
              <a:t>w</a:t>
            </a:r>
          </a:p>
          <a:p>
            <a:pPr algn="just"/>
            <a:r>
              <a:rPr lang="en-US" b="1" i="1" u="none" strike="noStrike" baseline="0" dirty="0">
                <a:latin typeface="RnqdkvHcjwjbJqnjdwRMTMIB"/>
              </a:rPr>
              <a:t>μ </a:t>
            </a:r>
            <a:r>
              <a:rPr lang="en-US" b="0" i="0" u="none" strike="noStrike" baseline="0" dirty="0">
                <a:latin typeface="VxjssdPjfgxtMcgshxTimes-Roman"/>
              </a:rPr>
              <a:t>is the learning rate that defines the step size to take along the gradient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learning rate is a hyperparameter which cannot be too high or too low.</a:t>
            </a:r>
          </a:p>
          <a:p>
            <a:pPr algn="just"/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Large value of learning rate can miss the optimum value, and too low learning rate will result in slow training time.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VxjssdPjfgxtMcgshxTimes-Roman"/>
            </a:endParaRPr>
          </a:p>
          <a:p>
            <a:pPr marL="0" indent="0">
              <a:buNone/>
            </a:pPr>
            <a:endParaRPr lang="en-US" sz="1800" b="0" i="0" u="none" strike="noStrike" baseline="0" dirty="0">
              <a:latin typeface="VxjssdPjfgxtMcgshxTimes-Roman"/>
            </a:endParaRPr>
          </a:p>
          <a:p>
            <a:pPr marL="0" indent="0">
              <a:buNone/>
            </a:pPr>
            <a:endParaRPr lang="en-US" sz="1800" b="0" i="0" u="none" strike="noStrike" baseline="0" dirty="0">
              <a:latin typeface="VxjssdPjfgxtMcgshxTimes-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0D2797-60A6-4309-BB0A-0173A5F70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6471" y="292661"/>
            <a:ext cx="4977082" cy="132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57378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7A9A3-1056-4D47-B8E3-2C0F06FFB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b="1" i="0" u="none" strike="noStrike" baseline="0" dirty="0">
                <a:latin typeface="SskfrcFlxjklLpjcltTimes-Bold"/>
              </a:rPr>
              <a:t>Stochastic Gradient Descent (SGD)</a:t>
            </a:r>
            <a:br>
              <a:rPr lang="en-US" sz="4400" b="1" i="0" u="none" strike="noStrike" baseline="0" dirty="0">
                <a:latin typeface="VxjssdPjfgxtMcgshxTimes-Roman"/>
              </a:rPr>
            </a:b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5D353B-987C-420E-9EB9-BF789042E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506" y="1152648"/>
            <a:ext cx="10515600" cy="4351338"/>
          </a:xfrm>
        </p:spPr>
        <p:txBody>
          <a:bodyPr/>
          <a:lstStyle/>
          <a:p>
            <a:pPr algn="l"/>
            <a:r>
              <a:rPr lang="en-US" sz="2400" b="0" i="0" u="none" strike="noStrike" baseline="0" dirty="0">
                <a:latin typeface="VxjssdPjfgxtMcgshxTimes-Roman"/>
              </a:rPr>
              <a:t>The problem can be rectified by using Stochastic Gradient Descent (SGD),also known as </a:t>
            </a:r>
            <a:r>
              <a:rPr lang="en-US" sz="2400" b="0" i="0" u="none" strike="noStrike" baseline="0" dirty="0">
                <a:solidFill>
                  <a:schemeClr val="accent6"/>
                </a:solidFill>
                <a:latin typeface="VxjssdPjfgxtMcgshxTimes-Roman"/>
              </a:rPr>
              <a:t>incremental gradient descent</a:t>
            </a:r>
            <a:r>
              <a:rPr lang="en-US" sz="2400" b="0" i="0" u="none" strike="noStrike" baseline="0" dirty="0">
                <a:latin typeface="VxjssdPjfgxtMcgshxTimes-Roman"/>
              </a:rPr>
              <a:t>, where gradient is computed for one </a:t>
            </a:r>
            <a:r>
              <a:rPr lang="en-US" sz="2400" b="0" i="0" u="none" strike="noStrike" baseline="0" dirty="0">
                <a:solidFill>
                  <a:srgbClr val="002060"/>
                </a:solidFill>
                <a:latin typeface="VxjssdPjfgxtMcgshxTimes-Roman"/>
              </a:rPr>
              <a:t>training example at a time followed by updating of parameter values</a:t>
            </a:r>
            <a:r>
              <a:rPr lang="en-US" sz="2400" b="0" i="0" u="none" strike="noStrike" baseline="0" dirty="0">
                <a:latin typeface="VxjssdPjfgxtMcgshxTimes-Roman"/>
              </a:rPr>
              <a:t>. where </a:t>
            </a:r>
            <a:r>
              <a:rPr lang="en-US" sz="2400" b="0" i="0" u="none" strike="noStrike" baseline="0" dirty="0">
                <a:latin typeface="HgtvvmXhbwxnLxwtswMTSYN"/>
              </a:rPr>
              <a:t>∇</a:t>
            </a:r>
            <a:r>
              <a:rPr lang="en-US" sz="2400" b="1" i="0" u="none" strike="noStrike" baseline="0" dirty="0">
                <a:latin typeface="SskfrcFlxjklLpjcltTimes-Bold"/>
              </a:rPr>
              <a:t>E</a:t>
            </a:r>
            <a:r>
              <a:rPr lang="en-US" sz="2400" b="0" i="1" u="none" strike="noStrike" baseline="0" dirty="0">
                <a:latin typeface="StlysrNdgbxrQmydmkMTMI"/>
              </a:rPr>
              <a:t>(</a:t>
            </a:r>
            <a:r>
              <a:rPr lang="en-US" sz="2400" b="1" i="0" u="none" strike="noStrike" baseline="0" dirty="0">
                <a:latin typeface="SskfrcFlxjklLpjcltTimes-Bold"/>
              </a:rPr>
              <a:t>w</a:t>
            </a:r>
            <a:r>
              <a:rPr lang="en-US" sz="2400" b="0" i="0" u="none" strike="noStrike" baseline="0" dirty="0">
                <a:latin typeface="VxjssdPjfgxtMcgshxTimes-Roman"/>
              </a:rPr>
              <a:t>; </a:t>
            </a:r>
            <a:r>
              <a:rPr lang="en-US" sz="2400" b="1" i="0" u="none" strike="noStrike" baseline="0" dirty="0">
                <a:latin typeface="SskfrcFlxjklLpjcltTimes-Bold"/>
              </a:rPr>
              <a:t>x</a:t>
            </a:r>
            <a:r>
              <a:rPr lang="en-US" sz="2400" b="0" i="1" u="none" strike="noStrike" baseline="0" dirty="0">
                <a:latin typeface="StlysrNdgbxrQmydmkMTMI"/>
              </a:rPr>
              <a:t>(</a:t>
            </a:r>
            <a:r>
              <a:rPr lang="en-US" sz="2400" b="1" i="0" u="none" strike="noStrike" baseline="0" dirty="0" err="1">
                <a:latin typeface="SskfrcFlxjklLpjcltTimes-Bold"/>
              </a:rPr>
              <a:t>i</a:t>
            </a:r>
            <a:r>
              <a:rPr lang="en-US" sz="2400" b="0" i="1" u="none" strike="noStrike" baseline="0" dirty="0">
                <a:latin typeface="StlysrNdgbxrQmydmkMTMI"/>
              </a:rPr>
              <a:t>)</a:t>
            </a:r>
            <a:r>
              <a:rPr lang="en-US" sz="2400" b="0" i="0" u="none" strike="noStrike" baseline="0" dirty="0">
                <a:latin typeface="VxjssdPjfgxtMcgshxTimes-Roman"/>
              </a:rPr>
              <a:t>; </a:t>
            </a:r>
            <a:r>
              <a:rPr lang="en-US" sz="2400" b="1" i="0" u="none" strike="noStrike" baseline="0" dirty="0">
                <a:latin typeface="SskfrcFlxjklLpjcltTimes-Bold"/>
              </a:rPr>
              <a:t>y</a:t>
            </a:r>
            <a:r>
              <a:rPr lang="en-US" sz="2400" b="0" i="1" u="none" strike="noStrike" baseline="0" dirty="0">
                <a:latin typeface="StlysrNdgbxrQmydmkMTMI"/>
              </a:rPr>
              <a:t>(</a:t>
            </a:r>
            <a:r>
              <a:rPr lang="en-US" sz="2400" b="1" i="0" u="none" strike="noStrike" baseline="0" dirty="0" err="1">
                <a:latin typeface="SskfrcFlxjklLpjcltTimes-Bold"/>
              </a:rPr>
              <a:t>i</a:t>
            </a:r>
            <a:r>
              <a:rPr lang="en-US" sz="2400" b="0" i="1" u="none" strike="noStrike" baseline="0" dirty="0">
                <a:latin typeface="StlysrNdgbxrQmydmkMTMI"/>
              </a:rPr>
              <a:t>)) </a:t>
            </a:r>
            <a:r>
              <a:rPr lang="en-US" sz="2400" b="0" i="0" u="none" strike="noStrike" baseline="0" dirty="0">
                <a:latin typeface="VxjssdPjfgxtMcgshxTimes-Roman"/>
              </a:rPr>
              <a:t>is the gradient of loss function—</a:t>
            </a:r>
            <a:r>
              <a:rPr lang="en-US" sz="2400" b="0" i="1" u="none" strike="noStrike" baseline="0" dirty="0">
                <a:solidFill>
                  <a:srgbClr val="FF0000"/>
                </a:solidFill>
                <a:latin typeface="QvcpbxGcvgykNlmdtbTimes-Italic"/>
              </a:rPr>
              <a:t>E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VxjssdPjfgxtMcgshxTimes-Roman"/>
              </a:rPr>
              <a:t>(</a:t>
            </a:r>
            <a:r>
              <a:rPr lang="en-US" sz="2400" b="0" i="1" u="none" strike="noStrike" baseline="0" dirty="0">
                <a:solidFill>
                  <a:srgbClr val="FF0000"/>
                </a:solidFill>
                <a:latin typeface="QvcpbxGcvgykNlmdtbTimes-Italic"/>
              </a:rPr>
              <a:t>w</a:t>
            </a:r>
            <a:r>
              <a:rPr lang="en-US" sz="2400" b="1" i="0" u="none" strike="noStrike" baseline="0" dirty="0">
                <a:solidFill>
                  <a:srgbClr val="FF0000"/>
                </a:solidFill>
                <a:latin typeface="SskfrcFlxjklLpjcltTimes-Bold"/>
              </a:rPr>
              <a:t>) 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VxjssdPjfgxtMcgshxTimes-Roman"/>
              </a:rPr>
              <a:t>w.r.t parameters </a:t>
            </a:r>
            <a:r>
              <a:rPr lang="en-US" sz="2400" b="0" i="1" u="none" strike="noStrike" baseline="0" dirty="0" err="1">
                <a:solidFill>
                  <a:srgbClr val="FF0000"/>
                </a:solidFill>
                <a:latin typeface="QvcpbxGcvgykNlmdtbTimes-Italic"/>
              </a:rPr>
              <a:t>w</a:t>
            </a:r>
            <a:r>
              <a:rPr lang="en-US" sz="2400" b="0" i="0" u="none" strike="noStrike" baseline="0" dirty="0" err="1">
                <a:solidFill>
                  <a:srgbClr val="FF0000"/>
                </a:solidFill>
                <a:latin typeface="VxjssdPjfgxtMcgshxTimes-Roman"/>
              </a:rPr>
              <a:t>,for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VxjssdPjfgxtMcgshxTimes-Roman"/>
              </a:rPr>
              <a:t> the training example {</a:t>
            </a:r>
            <a:r>
              <a:rPr lang="en-US" sz="2400" b="0" i="1" u="none" strike="noStrike" baseline="0" dirty="0">
                <a:solidFill>
                  <a:srgbClr val="FF0000"/>
                </a:solidFill>
                <a:latin typeface="QvcpbxGcvgykNlmdtbTimes-Italic"/>
              </a:rPr>
              <a:t>x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VxjssdPjfgxtMcgshxTimes-Roman"/>
              </a:rPr>
              <a:t>(</a:t>
            </a:r>
            <a:r>
              <a:rPr lang="en-US" sz="2400" b="0" i="1" u="none" strike="noStrike" baseline="0" dirty="0" err="1">
                <a:solidFill>
                  <a:srgbClr val="FF0000"/>
                </a:solidFill>
                <a:latin typeface="QvcpbxGcvgykNlmdtbTimes-Italic"/>
              </a:rPr>
              <a:t>i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VxjssdPjfgxtMcgshxTimes-Roman"/>
              </a:rPr>
              <a:t>), </a:t>
            </a:r>
            <a:r>
              <a:rPr lang="en-US" sz="2400" b="0" i="1" u="none" strike="noStrike" baseline="0" dirty="0">
                <a:solidFill>
                  <a:srgbClr val="FF0000"/>
                </a:solidFill>
                <a:latin typeface="QvcpbxGcvgykNlmdtbTimes-Italic"/>
              </a:rPr>
              <a:t>y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VxjssdPjfgxtMcgshxTimes-Roman"/>
              </a:rPr>
              <a:t>(</a:t>
            </a:r>
            <a:r>
              <a:rPr lang="en-US" sz="2400" b="0" i="1" u="none" strike="noStrike" baseline="0" dirty="0" err="1">
                <a:solidFill>
                  <a:srgbClr val="FF0000"/>
                </a:solidFill>
                <a:latin typeface="QvcpbxGcvgykNlmdtbTimes-Italic"/>
              </a:rPr>
              <a:t>i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VxjssdPjfgxtMcgshxTimes-Roman"/>
              </a:rPr>
              <a:t>)}.</a:t>
            </a:r>
          </a:p>
          <a:p>
            <a:pPr algn="l"/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037958-DFA1-4078-9E6F-300618919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514" y="3599829"/>
            <a:ext cx="5028079" cy="945278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E17F33AD-D4D5-49EA-A8FE-B1712E9032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825" y="2660280"/>
            <a:ext cx="5670175" cy="419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674319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58E5F-B9A5-440E-8DEE-00E3A5557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b="1" i="0" u="none" strike="noStrike" baseline="0" dirty="0">
                <a:latin typeface="SskfrcFlxjklLpjcltTimes-Bold"/>
              </a:rPr>
              <a:t>Mini-batch Gradient Descent</a:t>
            </a:r>
            <a:br>
              <a:rPr lang="en-IN" sz="4400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05395-A7A7-49CE-8E22-EB9C16E1F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b="0" i="0" u="none" strike="noStrike" baseline="0" dirty="0">
                <a:latin typeface="VxjssdPjfgxtMcgshxTimes-Roman"/>
              </a:rPr>
              <a:t>Mini-batch gradient descent also known as mini-batch SGD is a combination of both </a:t>
            </a:r>
            <a:r>
              <a:rPr lang="fr-FR" b="0" i="0" u="none" strike="noStrike" baseline="0" dirty="0">
                <a:latin typeface="VxjssdPjfgxtMcgshxTimes-Roman"/>
              </a:rPr>
              <a:t>standard gradient </a:t>
            </a:r>
            <a:r>
              <a:rPr lang="fr-FR" b="0" i="0" u="none" strike="noStrike" baseline="0" dirty="0" err="1">
                <a:latin typeface="VxjssdPjfgxtMcgshxTimes-Roman"/>
              </a:rPr>
              <a:t>descent</a:t>
            </a:r>
            <a:r>
              <a:rPr lang="fr-FR" b="0" i="0" u="none" strike="noStrike" baseline="0" dirty="0">
                <a:latin typeface="VxjssdPjfgxtMcgshxTimes-Roman"/>
              </a:rPr>
              <a:t> and SGD techniques.</a:t>
            </a:r>
          </a:p>
          <a:p>
            <a:pPr algn="l"/>
            <a:r>
              <a:rPr lang="en-US" b="0" i="0" u="none" strike="noStrike" baseline="0" dirty="0">
                <a:latin typeface="VxjssdPjfgxtMcgshxTimes-Roman"/>
              </a:rPr>
              <a:t>Mini-batch SGD divides the entire training set into mini-batches of </a:t>
            </a:r>
            <a:r>
              <a:rPr lang="en-US" b="0" i="1" u="none" strike="noStrike" baseline="0" dirty="0">
                <a:latin typeface="QvcpbxGcvgykNlmdtbTimes-Italic"/>
              </a:rPr>
              <a:t>n </a:t>
            </a:r>
            <a:r>
              <a:rPr lang="en-US" b="0" i="0" u="none" strike="noStrike" baseline="0" dirty="0">
                <a:latin typeface="VxjssdPjfgxtMcgshxTimes-Roman"/>
              </a:rPr>
              <a:t>training examples and performs the updating of parameter values for each mini-batch.</a:t>
            </a:r>
          </a:p>
          <a:p>
            <a:pPr algn="l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22B380-F75F-4160-808F-D33A60292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587" y="4585447"/>
            <a:ext cx="5136730" cy="1591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36171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BAEC7C9-E1E7-44FD-AB05-888970A45B60}"/>
              </a:ext>
            </a:extLst>
          </p:cNvPr>
          <p:cNvSpPr txBox="1"/>
          <p:nvPr/>
        </p:nvSpPr>
        <p:spPr>
          <a:xfrm>
            <a:off x="161365" y="743234"/>
            <a:ext cx="12192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0" i="0" u="none" strike="noStrike" baseline="0" dirty="0">
                <a:latin typeface="VxjssdPjfgxtMcgshxTimes-Roman"/>
              </a:rPr>
              <a:t>Typical mini-batch size varies from 50 to 256 and should also be chosen sensibly</a:t>
            </a:r>
          </a:p>
          <a:p>
            <a:pPr algn="l"/>
            <a:r>
              <a:rPr lang="en-US" sz="2800" b="0" i="0" u="none" strike="noStrike" baseline="0" dirty="0">
                <a:latin typeface="VxjssdPjfgxtMcgshxTimes-Roman"/>
              </a:rPr>
              <a:t>according to the following factors:</a:t>
            </a:r>
          </a:p>
          <a:p>
            <a:pPr algn="l"/>
            <a:endParaRPr lang="en-US" sz="2800" b="0" i="0" u="none" strike="noStrike" baseline="0" dirty="0">
              <a:latin typeface="VxjssdPjfgxtMcgshxTimes-Roman"/>
            </a:endParaRPr>
          </a:p>
          <a:p>
            <a:pPr algn="l"/>
            <a:r>
              <a:rPr lang="en-US" sz="2800" b="0" i="0" u="none" strike="noStrike" baseline="0" dirty="0">
                <a:latin typeface="HgtvvmXhbwxnLxwtswMTSYN"/>
              </a:rPr>
              <a:t>• </a:t>
            </a:r>
            <a:r>
              <a:rPr lang="en-US" sz="2800" b="0" i="0" u="none" strike="noStrike" baseline="0" dirty="0">
                <a:solidFill>
                  <a:srgbClr val="00B050"/>
                </a:solidFill>
                <a:latin typeface="VxjssdPjfgxtMcgshxTimes-Roman"/>
              </a:rPr>
              <a:t>Large batch sizes </a:t>
            </a:r>
            <a:r>
              <a:rPr lang="en-US" sz="2800" b="0" i="0" u="none" strike="noStrike" baseline="0" dirty="0">
                <a:latin typeface="VxjssdPjfgxtMcgshxTimes-Roman"/>
              </a:rPr>
              <a:t>provide more accurate gradients but </a:t>
            </a:r>
            <a:r>
              <a:rPr lang="en-US" sz="2800" b="0" i="0" u="none" strike="noStrike" baseline="0" dirty="0">
                <a:solidFill>
                  <a:srgbClr val="00B050"/>
                </a:solidFill>
                <a:latin typeface="VxjssdPjfgxtMcgshxTimes-Roman"/>
              </a:rPr>
              <a:t>have high memory requirements.</a:t>
            </a:r>
          </a:p>
          <a:p>
            <a:pPr algn="l"/>
            <a:endParaRPr lang="en-US" sz="2800" b="0" i="0" u="none" strike="noStrike" baseline="0" dirty="0">
              <a:latin typeface="VxjssdPjfgxtMcgshxTimes-Roman"/>
            </a:endParaRPr>
          </a:p>
          <a:p>
            <a:pPr algn="l"/>
            <a:r>
              <a:rPr lang="en-US" sz="2800" b="0" i="0" u="none" strike="noStrike" baseline="0" dirty="0">
                <a:latin typeface="HgtvvmXhbwxnLxwtswMTSYN"/>
              </a:rPr>
              <a:t>• </a:t>
            </a:r>
            <a:r>
              <a:rPr lang="en-US" sz="2800" b="0" i="0" u="none" strike="noStrike" baseline="0" dirty="0">
                <a:solidFill>
                  <a:srgbClr val="00B050"/>
                </a:solidFill>
                <a:latin typeface="VxjssdPjfgxtMcgshxTimes-Roman"/>
              </a:rPr>
              <a:t>Small batch sizes</a:t>
            </a:r>
            <a:r>
              <a:rPr lang="en-US" sz="2800" b="0" i="0" u="none" strike="noStrike" baseline="0" dirty="0">
                <a:latin typeface="VxjssdPjfgxtMcgshxTimes-Roman"/>
              </a:rPr>
              <a:t> can offer a regularizing effect but require a small learning rate to maintain stability owing to the high variance in the estimate of the gradient. </a:t>
            </a:r>
          </a:p>
          <a:p>
            <a:pPr algn="l"/>
            <a:r>
              <a:rPr lang="en-US" sz="2800" b="0" i="0" u="none" strike="noStrike" baseline="0" dirty="0">
                <a:latin typeface="VxjssdPjfgxtMcgshxTimes-Roman"/>
              </a:rPr>
              <a:t>This</a:t>
            </a:r>
            <a:r>
              <a:rPr lang="en-US" sz="2800" dirty="0">
                <a:latin typeface="VxjssdPjfgxtMcgshxTimes-Roman"/>
              </a:rPr>
              <a:t> </a:t>
            </a:r>
            <a:r>
              <a:rPr lang="en-US" sz="2800" b="0" i="0" u="none" strike="noStrike" baseline="0" dirty="0">
                <a:latin typeface="VxjssdPjfgxtMcgshxTimes-Roman"/>
              </a:rPr>
              <a:t>in turn </a:t>
            </a:r>
            <a:r>
              <a:rPr lang="en-US" sz="2800" b="0" i="0" u="none" strike="noStrike" baseline="0" dirty="0">
                <a:solidFill>
                  <a:srgbClr val="00B050"/>
                </a:solidFill>
                <a:latin typeface="VxjssdPjfgxtMcgshxTimes-Roman"/>
              </a:rPr>
              <a:t>increases the training time </a:t>
            </a:r>
            <a:r>
              <a:rPr lang="en-US" sz="2800" b="0" i="0" u="none" strike="noStrike" baseline="0" dirty="0">
                <a:latin typeface="VxjssdPjfgxtMcgshxTimes-Roman"/>
              </a:rPr>
              <a:t>because of the </a:t>
            </a:r>
            <a:r>
              <a:rPr lang="en-US" sz="2800" b="0" i="0" u="none" strike="noStrike" baseline="0" dirty="0">
                <a:solidFill>
                  <a:srgbClr val="00B050"/>
                </a:solidFill>
                <a:latin typeface="VxjssdPjfgxtMcgshxTimes-Roman"/>
              </a:rPr>
              <a:t>reduced learning rate.</a:t>
            </a:r>
            <a:endParaRPr lang="en-IN" sz="28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0871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684</TotalTime>
  <Words>2265</Words>
  <Application>Microsoft Office PowerPoint</Application>
  <PresentationFormat>Widescreen</PresentationFormat>
  <Paragraphs>233</Paragraphs>
  <Slides>61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80" baseType="lpstr">
      <vt:lpstr>Arial</vt:lpstr>
      <vt:lpstr>BmklrqVvthhwRccrhtTimes-Roman</vt:lpstr>
      <vt:lpstr>Calibri</vt:lpstr>
      <vt:lpstr>Calibri Light</vt:lpstr>
      <vt:lpstr>HgtvvmXhbwxnLxwtswMTSYN</vt:lpstr>
      <vt:lpstr>JtvdftKmxgxyMxmbbvTimes-BoldItalic</vt:lpstr>
      <vt:lpstr>JwfdmgSdqkxyYsnhxfTimes-BoldItalic</vt:lpstr>
      <vt:lpstr>KaTeX_Main</vt:lpstr>
      <vt:lpstr>KaTeX_Math</vt:lpstr>
      <vt:lpstr>Nunito</vt:lpstr>
      <vt:lpstr>QvcpbxGcvgykNlmdtbTimes-Italic</vt:lpstr>
      <vt:lpstr>RnqdkvHcjwjbJqnjdwRMTMIB</vt:lpstr>
      <vt:lpstr>source-serif-pro</vt:lpstr>
      <vt:lpstr>SskfrcFlxjklLpjcltTimes-Bold</vt:lpstr>
      <vt:lpstr>StlysrNdgbxrQmydmkMTMI</vt:lpstr>
      <vt:lpstr>Times New Roman</vt:lpstr>
      <vt:lpstr>VxjssdPjfgxtMcgshxTimes-Roman</vt:lpstr>
      <vt:lpstr>YpblcnHsccpfLgynjvTimes-Bold</vt:lpstr>
      <vt:lpstr>Office Theme</vt:lpstr>
      <vt:lpstr>Introduction To Deep Learning</vt:lpstr>
      <vt:lpstr>Machine learning</vt:lpstr>
      <vt:lpstr>PowerPoint Presentation</vt:lpstr>
      <vt:lpstr>PowerPoint Presentation</vt:lpstr>
      <vt:lpstr>PowerPoint Presentation</vt:lpstr>
      <vt:lpstr>AI vs ML vs DL</vt:lpstr>
      <vt:lpstr>Shallow learning</vt:lpstr>
      <vt:lpstr>Deep learning </vt:lpstr>
      <vt:lpstr>Feature Extraction in ML vs DL</vt:lpstr>
      <vt:lpstr>PowerPoint Presentation</vt:lpstr>
      <vt:lpstr>PowerPoint Presentation</vt:lpstr>
      <vt:lpstr>Deep Learning Network For Digit Classification</vt:lpstr>
      <vt:lpstr>PowerPoint Presentation</vt:lpstr>
      <vt:lpstr>Module -2 Convolutional Neural Network Models</vt:lpstr>
      <vt:lpstr>PowerPoint Presentation</vt:lpstr>
      <vt:lpstr>Deep learning works</vt:lpstr>
      <vt:lpstr>PowerPoint Presentation</vt:lpstr>
      <vt:lpstr>PowerPoint Presentation</vt:lpstr>
      <vt:lpstr>PowerPoint Presentation</vt:lpstr>
      <vt:lpstr>Activation Function</vt:lpstr>
      <vt:lpstr>Sigmoid Function </vt:lpstr>
      <vt:lpstr>Tanh Activation Function(hyperbolic tangent function)</vt:lpstr>
      <vt:lpstr>ReLU (Rectified Linear Unit) Function </vt:lpstr>
      <vt:lpstr>Softmax Function</vt:lpstr>
      <vt:lpstr>SoftPlus Function</vt:lpstr>
      <vt:lpstr>PowerPoint Presentation</vt:lpstr>
      <vt:lpstr>PowerPoint Presentation</vt:lpstr>
      <vt:lpstr>Evolution of Convolutional Neural Network Models</vt:lpstr>
      <vt:lpstr>1. LeNet </vt:lpstr>
      <vt:lpstr>PowerPoint Presentation</vt:lpstr>
      <vt:lpstr>2. AlexNet </vt:lpstr>
      <vt:lpstr>PowerPoint Presentation</vt:lpstr>
      <vt:lpstr>3. VGGNet </vt:lpstr>
      <vt:lpstr>4. GoogLeNet</vt:lpstr>
      <vt:lpstr>PowerPoint Presentation</vt:lpstr>
      <vt:lpstr>5.ResNet(Microsoft Research Asia proposed a CNN architecture in 2015)</vt:lpstr>
      <vt:lpstr>6.Inception-ResNet     </vt:lpstr>
      <vt:lpstr>Convolution operation</vt:lpstr>
      <vt:lpstr>PowerPoint Presentation</vt:lpstr>
      <vt:lpstr>Architecture of CNN</vt:lpstr>
      <vt:lpstr>(ii) Weight Sharing</vt:lpstr>
      <vt:lpstr>(iii) Subsampling (Pooling)</vt:lpstr>
      <vt:lpstr>Convolution Layer</vt:lpstr>
      <vt:lpstr>PowerPoint Presentation</vt:lpstr>
      <vt:lpstr>Hyperparameters</vt:lpstr>
      <vt:lpstr>Pooling Layer</vt:lpstr>
      <vt:lpstr>Fully Connected Layer </vt:lpstr>
      <vt:lpstr>Dropout</vt:lpstr>
      <vt:lpstr>Challenges and Future Research Direction</vt:lpstr>
      <vt:lpstr>Module-3 </vt:lpstr>
      <vt:lpstr>3.1 Introduction</vt:lpstr>
      <vt:lpstr>Training Convolution Neural Networks</vt:lpstr>
      <vt:lpstr>PowerPoint Presentation</vt:lpstr>
      <vt:lpstr>PowerPoint Presentation</vt:lpstr>
      <vt:lpstr>Gradient Descent-Based Optimization Techniques</vt:lpstr>
      <vt:lpstr>Gradient Descent Variants </vt:lpstr>
      <vt:lpstr>Gradient Descent Variants </vt:lpstr>
      <vt:lpstr>PowerPoint Presentation</vt:lpstr>
      <vt:lpstr>Stochastic Gradient Descent (SGD) </vt:lpstr>
      <vt:lpstr>Mini-batch Gradient Descent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Deep Learning</dc:title>
  <dc:creator>sandhya r</dc:creator>
  <cp:lastModifiedBy>sandhya r</cp:lastModifiedBy>
  <cp:revision>51</cp:revision>
  <dcterms:created xsi:type="dcterms:W3CDTF">2025-08-20T05:17:30Z</dcterms:created>
  <dcterms:modified xsi:type="dcterms:W3CDTF">2025-09-16T13:04:07Z</dcterms:modified>
</cp:coreProperties>
</file>
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7" r:id="rId2"/>
    <p:sldId id="256"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946" y="6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7E27FF-9B5E-4E92-B6C6-A51424F50A12}"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7E27FF-9B5E-4E92-B6C6-A51424F50A12}"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7E27FF-9B5E-4E92-B6C6-A51424F50A12}"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C7E27FF-9B5E-4E92-B6C6-A51424F50A12}"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8C7E27FF-9B5E-4E92-B6C6-A51424F50A12}"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8C7E27FF-9B5E-4E92-B6C6-A51424F50A12}"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8C7E27FF-9B5E-4E92-B6C6-A51424F50A12}"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C7E27FF-9B5E-4E92-B6C6-A51424F50A12}" type="slidenum">
              <a:rPr lang="en-IN" smtClean="0"/>
              <a:t>‹#›</a:t>
            </a:fld>
            <a:endParaRPr lang="en-IN" dirty="0"/>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9" name="Slide Number Placeholder 8"/>
          <p:cNvSpPr>
            <a:spLocks noGrp="1"/>
          </p:cNvSpPr>
          <p:nvPr>
            <p:ph type="sldNum" sz="quarter" idx="11"/>
          </p:nvPr>
        </p:nvSpPr>
        <p:spPr/>
        <p:txBody>
          <a:bodyPr/>
          <a:lstStyle/>
          <a:p>
            <a:fld id="{8C7E27FF-9B5E-4E92-B6C6-A51424F50A12}" type="slidenum">
              <a:rPr lang="en-IN" smtClean="0"/>
              <a:t>‹#›</a:t>
            </a:fld>
            <a:endParaRPr lang="en-IN" dirty="0"/>
          </a:p>
        </p:txBody>
      </p:sp>
      <p:sp>
        <p:nvSpPr>
          <p:cNvPr id="10" name="Footer Placeholder 9"/>
          <p:cNvSpPr>
            <a:spLocks noGrp="1"/>
          </p:cNvSpPr>
          <p:nvPr>
            <p:ph type="ftr" sz="quarter" idx="12"/>
          </p:nvPr>
        </p:nvSpPr>
        <p:spPr/>
        <p:txBody>
          <a:bodyPr/>
          <a:lstStyle/>
          <a:p>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7E27FF-9B5E-4E92-B6C6-A51424F50A12}"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8C8336-61C5-443E-8E9E-7508D78B1DDF}" type="datetimeFigureOut">
              <a:rPr lang="en-IN" smtClean="0"/>
              <a:t>07-11-2025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7E27FF-9B5E-4E92-B6C6-A51424F50A12}"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8C7E27FF-9B5E-4E92-B6C6-A51424F50A12}" type="slidenum">
              <a:rPr lang="en-IN" smtClean="0"/>
              <a:t>‹#›</a:t>
            </a:fld>
            <a:endParaRPr lang="en-IN"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IN"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B18C8336-61C5-443E-8E9E-7508D78B1DDF}" type="datetimeFigureOut">
              <a:rPr lang="en-IN" smtClean="0"/>
              <a:t>07-11-2025</a:t>
            </a:fld>
            <a:endParaRPr lang="en-IN"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4624"/>
            <a:ext cx="8208912"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251520" y="2204864"/>
            <a:ext cx="8208912" cy="400110"/>
          </a:xfrm>
          <a:prstGeom prst="rect">
            <a:avLst/>
          </a:prstGeom>
        </p:spPr>
        <p:txBody>
          <a:bodyPr wrap="square">
            <a:spAutoFit/>
          </a:bodyPr>
          <a:lstStyle/>
          <a:p>
            <a:r>
              <a:rPr lang="en-US" sz="2000"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2069976" y="2996952"/>
            <a:ext cx="4572000" cy="369332"/>
          </a:xfrm>
          <a:prstGeom prst="rect">
            <a:avLst/>
          </a:prstGeom>
        </p:spPr>
        <p:txBody>
          <a:bodyPr>
            <a:spAutoFit/>
          </a:bodyPr>
          <a:lstStyle/>
          <a:p>
            <a:pPr algn="ctr"/>
            <a:r>
              <a:rPr lang="en-US" altLang="en-US" b="1" dirty="0" smtClean="0">
                <a:solidFill>
                  <a:srgbClr val="7030A0"/>
                </a:solidFill>
                <a:latin typeface="Times New Roman" panose="02020603050405020304" pitchFamily="18" charset="0"/>
                <a:cs typeface="Times New Roman" panose="02020603050405020304" pitchFamily="18" charset="0"/>
              </a:rPr>
              <a:t>Presentation on </a:t>
            </a:r>
            <a:endParaRPr lang="en-US" altLang="en-US" b="1" dirty="0">
              <a:solidFill>
                <a:srgbClr val="7030A0"/>
              </a:solidFill>
              <a:latin typeface="Times New Roman" panose="02020603050405020304" pitchFamily="18" charset="0"/>
              <a:cs typeface="Times New Roman" panose="02020603050405020304" pitchFamily="18" charset="0"/>
            </a:endParaRPr>
          </a:p>
        </p:txBody>
      </p:sp>
      <p:sp>
        <p:nvSpPr>
          <p:cNvPr id="7" name="Rectangle 6"/>
          <p:cNvSpPr/>
          <p:nvPr/>
        </p:nvSpPr>
        <p:spPr>
          <a:xfrm>
            <a:off x="2232862" y="3717032"/>
            <a:ext cx="4246227" cy="430887"/>
          </a:xfrm>
          <a:prstGeom prst="rect">
            <a:avLst/>
          </a:prstGeom>
        </p:spPr>
        <p:txBody>
          <a:bodyPr wrap="none">
            <a:spAutoFit/>
          </a:bodyPr>
          <a:lstStyle/>
          <a:p>
            <a:r>
              <a:rPr lang="en-IN" sz="2200" b="1" dirty="0" smtClean="0">
                <a:solidFill>
                  <a:srgbClr val="FF0000"/>
                </a:solidFill>
              </a:rPr>
              <a:t>MODEL-BASED DECISION MAKING </a:t>
            </a:r>
            <a:endParaRPr lang="en-IN" sz="2200" b="1" dirty="0">
              <a:solidFill>
                <a:srgbClr val="FF0000"/>
              </a:solidFill>
            </a:endParaRPr>
          </a:p>
        </p:txBody>
      </p:sp>
      <p:sp>
        <p:nvSpPr>
          <p:cNvPr id="3" name="Rectangle 2"/>
          <p:cNvSpPr/>
          <p:nvPr/>
        </p:nvSpPr>
        <p:spPr>
          <a:xfrm>
            <a:off x="3290749" y="4725144"/>
            <a:ext cx="2345899" cy="384721"/>
          </a:xfrm>
          <a:prstGeom prst="rect">
            <a:avLst/>
          </a:prstGeom>
        </p:spPr>
        <p:txBody>
          <a:bodyPr wrap="none">
            <a:spAutoFit/>
          </a:bodyPr>
          <a:lstStyle/>
          <a:p>
            <a:pPr algn="ctr"/>
            <a:r>
              <a:rPr lang="en-IN" sz="1900" b="1" dirty="0">
                <a:latin typeface="Times New Roman" pitchFamily="18" charset="0"/>
                <a:cs typeface="Times New Roman" pitchFamily="18" charset="0"/>
              </a:rPr>
              <a:t>By </a:t>
            </a:r>
            <a:r>
              <a:rPr lang="en-IN" sz="1900" b="1" dirty="0" smtClean="0">
                <a:latin typeface="Times New Roman" pitchFamily="18" charset="0"/>
                <a:cs typeface="Times New Roman" pitchFamily="18" charset="0"/>
              </a:rPr>
              <a:t>Mareddy Charan</a:t>
            </a:r>
            <a:endParaRPr lang="en-US" sz="1900" b="1" dirty="0">
              <a:latin typeface="Times New Roman" pitchFamily="18" charset="0"/>
              <a:cs typeface="Times New Roman" pitchFamily="18" charset="0"/>
            </a:endParaRPr>
          </a:p>
        </p:txBody>
      </p:sp>
    </p:spTree>
    <p:extLst>
      <p:ext uri="{BB962C8B-B14F-4D97-AF65-F5344CB8AC3E}">
        <p14:creationId xmlns:p14="http://schemas.microsoft.com/office/powerpoint/2010/main" val="215129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1800" y="484674"/>
            <a:ext cx="4246227" cy="430887"/>
          </a:xfrm>
          <a:prstGeom prst="rect">
            <a:avLst/>
          </a:prstGeom>
        </p:spPr>
        <p:txBody>
          <a:bodyPr wrap="none">
            <a:spAutoFit/>
          </a:bodyPr>
          <a:lstStyle/>
          <a:p>
            <a:r>
              <a:rPr lang="en-IN" sz="2200" b="1" dirty="0">
                <a:solidFill>
                  <a:srgbClr val="002060"/>
                </a:solidFill>
              </a:rPr>
              <a:t>MODEL-BASED DECISION MAKING </a:t>
            </a:r>
          </a:p>
        </p:txBody>
      </p:sp>
      <p:sp>
        <p:nvSpPr>
          <p:cNvPr id="5" name="Rectangle 4"/>
          <p:cNvSpPr/>
          <p:nvPr/>
        </p:nvSpPr>
        <p:spPr>
          <a:xfrm>
            <a:off x="251520" y="1124744"/>
            <a:ext cx="8208912" cy="1704569"/>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Model-based decision making, also known as prescriptive or decision analytics, is the practice of using analytical models to guide, justify, or automate decisions. It leverages historical and predictive insights to recommend the best course of action to achieve a specific goal, such as optimizing profit or minimizing cost.</a:t>
            </a:r>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51520" y="2857521"/>
            <a:ext cx="8280920" cy="3416320"/>
          </a:xfrm>
          <a:prstGeom prst="rect">
            <a:avLst/>
          </a:prstGeom>
        </p:spPr>
        <p:txBody>
          <a:bodyPr wrap="square">
            <a:spAutoFit/>
          </a:bodyPr>
          <a:lstStyle/>
          <a:p>
            <a:pPr marL="285750" lvl="0" indent="-285750" algn="just" fontAlgn="base">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It moves beyond knowing what happened (descriptive) and what might happen (predictive) to determine what </a:t>
            </a:r>
            <a:r>
              <a:rPr lang="en-US" altLang="en-US" i="1" dirty="0">
                <a:latin typeface="Times New Roman" panose="02020603050405020304" pitchFamily="18" charset="0"/>
                <a:cs typeface="Times New Roman" panose="02020603050405020304" pitchFamily="18" charset="0"/>
              </a:rPr>
              <a:t>should</a:t>
            </a:r>
            <a:r>
              <a:rPr lang="en-US" altLang="en-US" dirty="0">
                <a:latin typeface="Times New Roman" panose="02020603050405020304" pitchFamily="18" charset="0"/>
                <a:cs typeface="Times New Roman" panose="02020603050405020304" pitchFamily="18" charset="0"/>
              </a:rPr>
              <a:t> be done.</a:t>
            </a: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 primary goal is often optimization—for example, maximizing revenue, minimizing expenses, or maximizing customer response rates.</a:t>
            </a: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It provides a formal justification for a recommended action, supporting or replacing decisions based on intuition alone.</a:t>
            </a: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Models can either assist a human decision-maker or fully automate the decision-making process</a:t>
            </a:r>
            <a:r>
              <a:rPr lang="en-US" altLang="en-US" dirty="0" smtClean="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193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064896" cy="1728192"/>
          </a:xfrm>
        </p:spPr>
        <p:txBody>
          <a:bodyPr>
            <a:normAutofit lnSpcReduction="10000"/>
          </a:bodyPr>
          <a:lstStyle/>
          <a:p>
            <a:pPr lvl="0" algn="just" eaLnBrk="0" fontAlgn="base" hangingPunct="0">
              <a:lnSpc>
                <a:spcPct val="15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It has broad applications in business, including marketing, supply chain management, finance, and operations.</a:t>
            </a:r>
          </a:p>
          <a:p>
            <a:pPr lvl="0" algn="just" eaLnBrk="0" fontAlgn="base" hangingPunct="0">
              <a:lnSpc>
                <a:spcPct val="15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Successful real-world applications, as cited in publications like </a:t>
            </a:r>
            <a:r>
              <a:rPr lang="en-US" altLang="en-US" sz="1800" i="1" dirty="0">
                <a:latin typeface="Times New Roman" panose="02020603050405020304" pitchFamily="18" charset="0"/>
                <a:cs typeface="Times New Roman" panose="02020603050405020304" pitchFamily="18" charset="0"/>
              </a:rPr>
              <a:t>Interfaces</a:t>
            </a:r>
            <a:r>
              <a:rPr lang="en-US" altLang="en-US" sz="1800" dirty="0">
                <a:latin typeface="Times New Roman" panose="02020603050405020304" pitchFamily="18" charset="0"/>
                <a:cs typeface="Times New Roman" panose="02020603050405020304" pitchFamily="18" charset="0"/>
              </a:rPr>
              <a:t>, have been shown to save or generate millions of dollars</a:t>
            </a:r>
            <a:r>
              <a:rPr lang="en-US" altLang="en-US" sz="1800" dirty="0" smtClean="0">
                <a:latin typeface="Times New Roman" panose="02020603050405020304" pitchFamily="18" charset="0"/>
                <a:cs typeface="Times New Roman" panose="02020603050405020304" pitchFamily="18" charset="0"/>
              </a:rPr>
              <a:t>.</a:t>
            </a:r>
            <a:endParaRPr lang="en-US" altLang="en-US"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395536" y="1801039"/>
            <a:ext cx="8208912" cy="3831818"/>
          </a:xfrm>
          <a:prstGeom prst="rect">
            <a:avLst/>
          </a:prstGeom>
        </p:spPr>
        <p:txBody>
          <a:bodyPr wrap="square">
            <a:spAutoFit/>
          </a:bodyPr>
          <a:lstStyle/>
          <a:p>
            <a:pPr>
              <a:lnSpc>
                <a:spcPct val="150000"/>
              </a:lnSpc>
            </a:pPr>
            <a:r>
              <a:rPr lang="en-US" b="1" dirty="0" smtClean="0">
                <a:latin typeface="Times New Roman" panose="02020603050405020304" pitchFamily="18" charset="0"/>
                <a:cs typeface="Times New Roman" panose="02020603050405020304" pitchFamily="18" charset="0"/>
              </a:rPr>
              <a:t>Examples</a:t>
            </a:r>
            <a:r>
              <a:rPr lang="en-US" b="1"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nSpc>
                <a:spcPct val="150000"/>
              </a:lnSpc>
            </a:pPr>
            <a:r>
              <a:rPr lang="en-US" b="1" dirty="0" smtClean="0">
                <a:latin typeface="Times New Roman" panose="02020603050405020304" pitchFamily="18" charset="0"/>
                <a:cs typeface="Times New Roman" panose="02020603050405020304" pitchFamily="18" charset="0"/>
              </a:rPr>
              <a:t>TurboRouter:</a:t>
            </a:r>
            <a:r>
              <a:rPr lang="en-US" dirty="0" smtClean="0">
                <a:latin typeface="Times New Roman" panose="02020603050405020304" pitchFamily="18" charset="0"/>
                <a:cs typeface="Times New Roman" panose="02020603050405020304" pitchFamily="18" charset="0"/>
              </a:rPr>
              <a:t> A decision support system used by a shipping company for ship routing and scheduling, which reportedly generated $1-2 million in extra profit in just three weeks.</a:t>
            </a:r>
            <a:br>
              <a:rPr lang="en-US" dirty="0" smtClean="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Ride-Sharing Surge Pricing: </a:t>
            </a:r>
            <a:r>
              <a:rPr lang="en-US" dirty="0" smtClean="0">
                <a:latin typeface="Times New Roman" panose="02020603050405020304" pitchFamily="18" charset="0"/>
                <a:cs typeface="Times New Roman" panose="02020603050405020304" pitchFamily="18" charset="0"/>
              </a:rPr>
              <a:t>A ride-sharing app (like Uber or Ola) uses a prescriptive model to automatically set surge pricing in </a:t>
            </a:r>
            <a:r>
              <a:rPr lang="en-US" dirty="0" smtClean="0">
                <a:latin typeface="Times New Roman" panose="02020603050405020304" pitchFamily="18" charset="0"/>
                <a:cs typeface="Times New Roman" panose="02020603050405020304" pitchFamily="18" charset="0"/>
              </a:rPr>
              <a:t>real-time. Instead </a:t>
            </a:r>
            <a:r>
              <a:rPr lang="en-US" dirty="0" smtClean="0">
                <a:latin typeface="Times New Roman" panose="02020603050405020304" pitchFamily="18" charset="0"/>
                <a:cs typeface="Times New Roman" panose="02020603050405020304" pitchFamily="18" charset="0"/>
              </a:rPr>
              <a:t>of just reporting this imbalance, the model </a:t>
            </a:r>
            <a:r>
              <a:rPr lang="en-US" i="1" dirty="0" smtClean="0">
                <a:latin typeface="Times New Roman" panose="02020603050405020304" pitchFamily="18" charset="0"/>
                <a:cs typeface="Times New Roman" panose="02020603050405020304" pitchFamily="18" charset="0"/>
              </a:rPr>
              <a:t>prescribes a solution</a:t>
            </a:r>
            <a:r>
              <a:rPr lang="en-US" dirty="0" smtClean="0">
                <a:latin typeface="Times New Roman" panose="02020603050405020304" pitchFamily="18" charset="0"/>
                <a:cs typeface="Times New Roman" panose="02020603050405020304" pitchFamily="18" charset="0"/>
              </a:rPr>
              <a:t>. It automatically calculates and applies a specific price multiplier (e.g., "Set surge pricing to 1.5x"). This decision is designed to optimize two goals simultaneously: </a:t>
            </a:r>
            <a:r>
              <a:rPr lang="en-US" b="1" dirty="0" smtClean="0">
                <a:latin typeface="Times New Roman" panose="02020603050405020304" pitchFamily="18" charset="0"/>
                <a:cs typeface="Times New Roman" panose="02020603050405020304" pitchFamily="18" charset="0"/>
              </a:rPr>
              <a:t>Increase Supply, Manage Demand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90949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504" y="404664"/>
            <a:ext cx="4752904" cy="430887"/>
          </a:xfrm>
          <a:prstGeom prst="rect">
            <a:avLst/>
          </a:prstGeom>
        </p:spPr>
        <p:txBody>
          <a:bodyPr wrap="none">
            <a:spAutoFit/>
          </a:bodyPr>
          <a:lstStyle/>
          <a:p>
            <a:r>
              <a:rPr lang="en-IN" sz="2200" b="1" dirty="0">
                <a:solidFill>
                  <a:srgbClr val="002060"/>
                </a:solidFill>
              </a:rPr>
              <a:t>Prescriptive Analytics Model Examples </a:t>
            </a:r>
          </a:p>
        </p:txBody>
      </p:sp>
      <p:sp>
        <p:nvSpPr>
          <p:cNvPr id="5" name="Rectangle 4"/>
          <p:cNvSpPr/>
          <p:nvPr/>
        </p:nvSpPr>
        <p:spPr>
          <a:xfrm>
            <a:off x="467544" y="835551"/>
            <a:ext cx="7920880" cy="4662815"/>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Modeling is a </a:t>
            </a:r>
            <a:r>
              <a:rPr lang="en-US" b="1" dirty="0" smtClean="0">
                <a:latin typeface="Times New Roman" panose="02020603050405020304" pitchFamily="18" charset="0"/>
                <a:cs typeface="Times New Roman" panose="02020603050405020304" pitchFamily="18" charset="0"/>
              </a:rPr>
              <a:t>key and essential element</a:t>
            </a:r>
            <a:r>
              <a:rPr lang="en-US" dirty="0" smtClean="0">
                <a:latin typeface="Times New Roman" panose="02020603050405020304" pitchFamily="18" charset="0"/>
                <a:cs typeface="Times New Roman" panose="02020603050405020304" pitchFamily="18" charset="0"/>
              </a:rPr>
              <a:t> of prescriptive analytics. For any realistic problem, such as one involving millions of customers, it is </a:t>
            </a:r>
            <a:r>
              <a:rPr lang="en-US" b="1" dirty="0" smtClean="0">
                <a:latin typeface="Times New Roman" panose="02020603050405020304" pitchFamily="18" charset="0"/>
                <a:cs typeface="Times New Roman" panose="02020603050405020304" pitchFamily="18" charset="0"/>
              </a:rPr>
              <a:t>impossible to find the best decision manually</a:t>
            </a:r>
            <a:r>
              <a:rPr lang="en-US" dirty="0" smtClean="0">
                <a:latin typeface="Times New Roman" panose="02020603050405020304" pitchFamily="18" charset="0"/>
                <a:cs typeface="Times New Roman" panose="02020603050405020304" pitchFamily="18" charset="0"/>
              </a:rPr>
              <a:t>. Therefore, a </a:t>
            </a:r>
            <a:r>
              <a:rPr lang="en-US" b="1" dirty="0" smtClean="0">
                <a:latin typeface="Times New Roman" panose="02020603050405020304" pitchFamily="18" charset="0"/>
                <a:cs typeface="Times New Roman" panose="02020603050405020304" pitchFamily="18" charset="0"/>
              </a:rPr>
              <a:t>mathematical model</a:t>
            </a:r>
            <a:r>
              <a:rPr lang="en-US" dirty="0" smtClean="0">
                <a:latin typeface="Times New Roman" panose="02020603050405020304" pitchFamily="18" charset="0"/>
                <a:cs typeface="Times New Roman" panose="02020603050405020304" pitchFamily="18" charset="0"/>
              </a:rPr>
              <a:t> must be employed to analyze all the variables and recommend an optimal decision that aligns with the business's goals.</a:t>
            </a:r>
          </a:p>
          <a:p>
            <a:pPr algn="just">
              <a:lnSpc>
                <a:spcPct val="150000"/>
              </a:lnSpc>
            </a:pPr>
            <a:r>
              <a:rPr lang="en-US" dirty="0" smtClean="0">
                <a:latin typeface="Times New Roman" panose="02020603050405020304" pitchFamily="18" charset="0"/>
                <a:cs typeface="Times New Roman" panose="02020603050405020304" pitchFamily="18" charset="0"/>
              </a:rPr>
              <a:t>Models are built to solve a specific problem by balancing an </a:t>
            </a:r>
            <a:r>
              <a:rPr lang="en-US" b="1" dirty="0" smtClean="0">
                <a:latin typeface="Times New Roman" panose="02020603050405020304" pitchFamily="18" charset="0"/>
                <a:cs typeface="Times New Roman" panose="02020603050405020304" pitchFamily="18" charset="0"/>
              </a:rPr>
              <a:t>objective</a:t>
            </a:r>
            <a:r>
              <a:rPr lang="en-US" dirty="0" smtClean="0">
                <a:latin typeface="Times New Roman" panose="02020603050405020304" pitchFamily="18" charset="0"/>
                <a:cs typeface="Times New Roman" panose="02020603050405020304" pitchFamily="18" charset="0"/>
              </a:rPr>
              <a:t>, which is the goal you want to achieve (such as "maximizing the overall response value"), with one or more </a:t>
            </a:r>
            <a:r>
              <a:rPr lang="en-US" b="1" dirty="0" smtClean="0">
                <a:latin typeface="Times New Roman" panose="02020603050405020304" pitchFamily="18" charset="0"/>
                <a:cs typeface="Times New Roman" panose="02020603050405020304" pitchFamily="18" charset="0"/>
              </a:rPr>
              <a:t>constraints</a:t>
            </a:r>
            <a:r>
              <a:rPr lang="en-US" dirty="0" smtClean="0">
                <a:latin typeface="Times New Roman" panose="02020603050405020304" pitchFamily="18" charset="0"/>
                <a:cs typeface="Times New Roman" panose="02020603050405020304" pitchFamily="18" charset="0"/>
              </a:rPr>
              <a:t>, which are the limitations or rules you must follow (like "staying within a budget"). There are many classes of models and specialized techniques available to solve these problems, and the application of these mathematical models is often what is referred to as </a:t>
            </a:r>
            <a:r>
              <a:rPr lang="en-US" b="1" dirty="0" smtClean="0">
                <a:latin typeface="Times New Roman" panose="02020603050405020304" pitchFamily="18" charset="0"/>
                <a:cs typeface="Times New Roman" panose="02020603050405020304" pitchFamily="18" charset="0"/>
              </a:rPr>
              <a:t>data science</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11794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296" y="44624"/>
            <a:ext cx="8442136" cy="2631490"/>
          </a:xfrm>
          <a:prstGeom prst="rect">
            <a:avLst/>
          </a:prstGeom>
        </p:spPr>
        <p:txBody>
          <a:bodyPr wrap="square">
            <a:spAutoFit/>
          </a:bodyPr>
          <a:lstStyle/>
          <a:p>
            <a:pPr algn="just">
              <a:lnSpc>
                <a:spcPct val="150000"/>
              </a:lnSpc>
            </a:pPr>
            <a:r>
              <a:rPr lang="en-US" sz="2000" b="1" dirty="0" smtClean="0">
                <a:solidFill>
                  <a:srgbClr val="FF0000"/>
                </a:solidFill>
                <a:latin typeface="Times New Roman" panose="02020603050405020304" pitchFamily="18" charset="0"/>
                <a:cs typeface="Times New Roman" panose="02020603050405020304" pitchFamily="18" charset="0"/>
              </a:rPr>
              <a:t>Application</a:t>
            </a:r>
            <a:r>
              <a:rPr lang="en-US" sz="2000" b="1"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Marketing Promotion</a:t>
            </a:r>
          </a:p>
          <a:p>
            <a:pPr algn="just">
              <a:lnSpc>
                <a:spcPct val="150000"/>
              </a:lnSpc>
            </a:pPr>
            <a:r>
              <a:rPr lang="en-US" b="1" dirty="0" smtClean="0">
                <a:latin typeface="Times New Roman" panose="02020603050405020304" pitchFamily="18" charset="0"/>
                <a:cs typeface="Times New Roman" panose="02020603050405020304" pitchFamily="18" charset="0"/>
              </a:rPr>
              <a:t>The Problem:</a:t>
            </a:r>
            <a:r>
              <a:rPr lang="en-US" dirty="0" smtClean="0">
                <a:latin typeface="Times New Roman" panose="02020603050405020304" pitchFamily="18" charset="0"/>
                <a:cs typeface="Times New Roman" panose="02020603050405020304" pitchFamily="18" charset="0"/>
              </a:rPr>
              <a:t> Deciding which customers (out of millions) should receive a specific promotional offer.</a:t>
            </a:r>
          </a:p>
          <a:p>
            <a:pPr algn="just">
              <a:lnSpc>
                <a:spcPct val="150000"/>
              </a:lnSpc>
            </a:pPr>
            <a:r>
              <a:rPr lang="en-US" b="1" dirty="0" smtClean="0">
                <a:latin typeface="Times New Roman" panose="02020603050405020304" pitchFamily="18" charset="0"/>
                <a:cs typeface="Times New Roman" panose="02020603050405020304" pitchFamily="18" charset="0"/>
              </a:rPr>
              <a:t>Model:</a:t>
            </a:r>
            <a:r>
              <a:rPr lang="en-US" dirty="0" smtClean="0">
                <a:latin typeface="Times New Roman" panose="02020603050405020304" pitchFamily="18" charset="0"/>
                <a:cs typeface="Times New Roman" panose="02020603050405020304" pitchFamily="18" charset="0"/>
              </a:rPr>
              <a:t> A "probability-based response maximization model."</a:t>
            </a:r>
          </a:p>
          <a:p>
            <a:pPr algn="just">
              <a:lnSpc>
                <a:spcPct val="150000"/>
              </a:lnSpc>
            </a:pPr>
            <a:r>
              <a:rPr lang="en-US" b="1" dirty="0" smtClean="0">
                <a:latin typeface="Times New Roman" panose="02020603050405020304" pitchFamily="18" charset="0"/>
                <a:cs typeface="Times New Roman" panose="02020603050405020304" pitchFamily="18" charset="0"/>
              </a:rPr>
              <a:t>Outcome:</a:t>
            </a:r>
            <a:r>
              <a:rPr lang="en-US" dirty="0" smtClean="0">
                <a:latin typeface="Times New Roman" panose="02020603050405020304" pitchFamily="18" charset="0"/>
                <a:cs typeface="Times New Roman" panose="02020603050405020304" pitchFamily="18" charset="0"/>
              </a:rPr>
              <a:t> The model provides the specific information (which customers to target) that maximizes the objective (response value) while respecting the constraint (the budget).</a:t>
            </a: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47268" y="2652189"/>
            <a:ext cx="6108908" cy="430887"/>
          </a:xfrm>
          <a:prstGeom prst="rect">
            <a:avLst/>
          </a:prstGeom>
        </p:spPr>
        <p:txBody>
          <a:bodyPr wrap="square">
            <a:spAutoFit/>
          </a:bodyPr>
          <a:lstStyle/>
          <a:p>
            <a:r>
              <a:rPr lang="en-IN" sz="2200" b="1" dirty="0" smtClean="0">
                <a:solidFill>
                  <a:srgbClr val="002060"/>
                </a:solidFill>
              </a:rPr>
              <a:t>Environmental Analysis &amp; Problem Identification:</a:t>
            </a:r>
            <a:endParaRPr lang="en-IN" sz="2200" b="1" dirty="0">
              <a:solidFill>
                <a:srgbClr val="002060"/>
              </a:solidFill>
            </a:endParaRPr>
          </a:p>
        </p:txBody>
      </p:sp>
      <p:sp>
        <p:nvSpPr>
          <p:cNvPr id="6" name="Rectangle 5"/>
          <p:cNvSpPr/>
          <p:nvPr/>
        </p:nvSpPr>
        <p:spPr>
          <a:xfrm>
            <a:off x="119276" y="3051567"/>
            <a:ext cx="8341156" cy="3782061"/>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No decision is made in a vacuum, so it's essential to analyze the scope of the domain and the forces and dynamics of the environment. This formal process, called </a:t>
            </a:r>
            <a:r>
              <a:rPr lang="en-US" b="1" dirty="0" smtClean="0">
                <a:latin typeface="Times New Roman" panose="02020603050405020304" pitchFamily="18" charset="0"/>
                <a:cs typeface="Times New Roman" panose="02020603050405020304" pitchFamily="18" charset="0"/>
              </a:rPr>
              <a:t>environmental scanning and analysis</a:t>
            </a:r>
            <a:r>
              <a:rPr lang="en-US" dirty="0" smtClean="0">
                <a:latin typeface="Times New Roman" panose="02020603050405020304" pitchFamily="18" charset="0"/>
                <a:cs typeface="Times New Roman" panose="02020603050405020304" pitchFamily="18" charset="0"/>
              </a:rPr>
              <a:t>, involves monitoring and interpreting collected information about factors like organizational culture and corporate decision-making processes. Business Intelligence (BI) and Business Analytics (BA) tools can help identify problems by scanning these environmental factors. It is critical that the problem is clearly understood and that </a:t>
            </a:r>
            <a:r>
              <a:rPr lang="en-US" b="1" dirty="0" smtClean="0">
                <a:latin typeface="Times New Roman" panose="02020603050405020304" pitchFamily="18" charset="0"/>
                <a:cs typeface="Times New Roman" panose="02020603050405020304" pitchFamily="18" charset="0"/>
              </a:rPr>
              <a:t>everyone involved shares the same frame of understanding</a:t>
            </a:r>
            <a:r>
              <a:rPr lang="en-US" dirty="0" smtClean="0">
                <a:latin typeface="Times New Roman" panose="02020603050405020304" pitchFamily="18" charset="0"/>
                <a:cs typeface="Times New Roman" panose="02020603050405020304" pitchFamily="18" charset="0"/>
              </a:rPr>
              <a:t>. This is because the problem will ultimately be represented by the analytical model, and if that model is based on an incorrect understanding, it will not help the decision-maker.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46520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116632"/>
            <a:ext cx="8064896" cy="2585323"/>
          </a:xfrm>
          <a:prstGeom prst="rect">
            <a:avLst/>
          </a:prstGeom>
        </p:spPr>
        <p:txBody>
          <a:bodyPr wrap="square">
            <a:spAutoFit/>
          </a:bodyPr>
          <a:lstStyle/>
          <a:p>
            <a:pPr algn="just">
              <a:lnSpc>
                <a:spcPct val="150000"/>
              </a:lnSpc>
            </a:pPr>
            <a:r>
              <a:rPr lang="en-US" b="1" dirty="0" smtClean="0">
                <a:solidFill>
                  <a:srgbClr val="002060"/>
                </a:solidFill>
                <a:latin typeface="Times New Roman" panose="02020603050405020304" pitchFamily="18" charset="0"/>
                <a:cs typeface="Times New Roman" panose="02020603050405020304" pitchFamily="18" charset="0"/>
              </a:rPr>
              <a:t>VARIABLE IDENTIFICATION: </a:t>
            </a:r>
            <a:r>
              <a:rPr lang="en-US" dirty="0" smtClean="0">
                <a:latin typeface="Times New Roman" panose="02020603050405020304" pitchFamily="18" charset="0"/>
                <a:cs typeface="Times New Roman" panose="02020603050405020304" pitchFamily="18" charset="0"/>
              </a:rPr>
              <a:t>Identification of a model’s variables (e.g., decision, result, uncontrollable) is critical, as are the relationships among the variables. Influence diagrams, which are graphical models of mathematical models, can facilitate the identification process. A more general form of an influence diagram, a cognitive map, can help a decision maker develop a better understanding of a problem, especially of variables and their interactions</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88876" y="2651062"/>
            <a:ext cx="8280920" cy="4247317"/>
          </a:xfrm>
          <a:prstGeom prst="rect">
            <a:avLst/>
          </a:prstGeom>
        </p:spPr>
        <p:txBody>
          <a:bodyPr wrap="square">
            <a:spAutoFit/>
          </a:bodyPr>
          <a:lstStyle/>
          <a:p>
            <a:pPr algn="just">
              <a:lnSpc>
                <a:spcPct val="150000"/>
              </a:lnSpc>
            </a:pPr>
            <a:r>
              <a:rPr lang="en-IN" b="1" dirty="0" smtClean="0">
                <a:solidFill>
                  <a:srgbClr val="002060"/>
                </a:solidFill>
                <a:latin typeface="Times New Roman" panose="02020603050405020304" pitchFamily="18" charset="0"/>
                <a:cs typeface="Times New Roman" panose="02020603050405020304" pitchFamily="18" charset="0"/>
              </a:rPr>
              <a:t>FORECASTING: </a:t>
            </a:r>
            <a:r>
              <a:rPr lang="en-US" dirty="0" smtClean="0">
                <a:latin typeface="Times New Roman" panose="02020603050405020304" pitchFamily="18" charset="0"/>
                <a:cs typeface="Times New Roman" panose="02020603050405020304" pitchFamily="18" charset="0"/>
              </a:rPr>
              <a:t>Forecasting, a form of predictive analytics, is an </a:t>
            </a:r>
            <a:r>
              <a:rPr lang="en-US" b="1" dirty="0" smtClean="0">
                <a:latin typeface="Times New Roman" panose="02020603050405020304" pitchFamily="18" charset="0"/>
                <a:cs typeface="Times New Roman" panose="02020603050405020304" pitchFamily="18" charset="0"/>
              </a:rPr>
              <a:t>essential prerequisite</a:t>
            </a:r>
            <a:r>
              <a:rPr lang="en-US" dirty="0" smtClean="0">
                <a:latin typeface="Times New Roman" panose="02020603050405020304" pitchFamily="18" charset="0"/>
                <a:cs typeface="Times New Roman" panose="02020603050405020304" pitchFamily="18" charset="0"/>
              </a:rPr>
              <a:t> for prescriptive analytics because knowing what is likely to happen is necessary for building and manipulating decision models. Since decisions are implemented to achieve results that </a:t>
            </a:r>
            <a:r>
              <a:rPr lang="en-US" b="1" dirty="0" smtClean="0">
                <a:latin typeface="Times New Roman" panose="02020603050405020304" pitchFamily="18" charset="0"/>
                <a:cs typeface="Times New Roman" panose="02020603050405020304" pitchFamily="18" charset="0"/>
              </a:rPr>
              <a:t>occur in the future</a:t>
            </a:r>
            <a:r>
              <a:rPr lang="en-US" dirty="0" smtClean="0">
                <a:latin typeface="Times New Roman" panose="02020603050405020304" pitchFamily="18" charset="0"/>
                <a:cs typeface="Times New Roman" panose="02020603050405020304" pitchFamily="18" charset="0"/>
              </a:rPr>
              <a:t>, models must be based on future-looking data; running "what-if" analyses on the past is pointless. The rise of online commerce has created both an </a:t>
            </a:r>
            <a:r>
              <a:rPr lang="en-US" b="1" dirty="0" smtClean="0">
                <a:latin typeface="Times New Roman" panose="02020603050405020304" pitchFamily="18" charset="0"/>
                <a:cs typeface="Times New Roman" panose="02020603050405020304" pitchFamily="18" charset="0"/>
              </a:rPr>
              <a:t>immense need</a:t>
            </a:r>
            <a:r>
              <a:rPr lang="en-US" dirty="0" smtClean="0">
                <a:latin typeface="Times New Roman" panose="02020603050405020304" pitchFamily="18" charset="0"/>
                <a:cs typeface="Times New Roman" panose="02020603050405020304" pitchFamily="18" charset="0"/>
              </a:rPr>
              <a:t> for rapid forecasting and an </a:t>
            </a:r>
            <a:r>
              <a:rPr lang="en-US" b="1" dirty="0" smtClean="0">
                <a:latin typeface="Times New Roman" panose="02020603050405020304" pitchFamily="18" charset="0"/>
                <a:cs typeface="Times New Roman" panose="02020603050405020304" pitchFamily="18" charset="0"/>
              </a:rPr>
              <a:t>abundance of available information</a:t>
            </a:r>
            <a:r>
              <a:rPr lang="en-US" dirty="0" smtClean="0">
                <a:latin typeface="Times New Roman" panose="02020603050405020304" pitchFamily="18" charset="0"/>
                <a:cs typeface="Times New Roman" panose="02020603050405020304" pitchFamily="18" charset="0"/>
              </a:rPr>
              <a:t> to perform it. This analysis goes beyond simply predicting demand; effective forecasting models analyze the entire situation, including product life-cycles and consumer behavior, with the ideal goal of leading to additional sales.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5828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16632"/>
            <a:ext cx="8208912" cy="1754326"/>
          </a:xfrm>
          <a:prstGeom prst="rect">
            <a:avLst/>
          </a:prstGeom>
        </p:spPr>
        <p:txBody>
          <a:bodyPr wrap="square">
            <a:spAutoFit/>
          </a:bodyPr>
          <a:lstStyle/>
          <a:p>
            <a:pPr algn="just">
              <a:lnSpc>
                <a:spcPct val="150000"/>
              </a:lnSpc>
            </a:pPr>
            <a:r>
              <a:rPr lang="en-IN" b="1" dirty="0">
                <a:solidFill>
                  <a:srgbClr val="002060"/>
                </a:solidFill>
                <a:latin typeface="Times New Roman" panose="02020603050405020304" pitchFamily="18" charset="0"/>
                <a:cs typeface="Times New Roman" panose="02020603050405020304" pitchFamily="18" charset="0"/>
              </a:rPr>
              <a:t>Model </a:t>
            </a:r>
            <a:r>
              <a:rPr lang="en-IN" b="1" dirty="0" smtClean="0">
                <a:solidFill>
                  <a:srgbClr val="002060"/>
                </a:solidFill>
                <a:latin typeface="Times New Roman" panose="02020603050405020304" pitchFamily="18" charset="0"/>
                <a:cs typeface="Times New Roman" panose="02020603050405020304" pitchFamily="18" charset="0"/>
              </a:rPr>
              <a:t>Categories: </a:t>
            </a:r>
            <a:r>
              <a:rPr lang="en-US" dirty="0" smtClean="0">
                <a:latin typeface="Times New Roman" panose="02020603050405020304" pitchFamily="18" charset="0"/>
                <a:cs typeface="Times New Roman" panose="02020603050405020304" pitchFamily="18" charset="0"/>
              </a:rPr>
              <a:t>Decision models are classified into categories, such as </a:t>
            </a:r>
            <a:r>
              <a:rPr lang="en-US" b="1" dirty="0" smtClean="0">
                <a:latin typeface="Times New Roman" panose="02020603050405020304" pitchFamily="18" charset="0"/>
                <a:cs typeface="Times New Roman" panose="02020603050405020304" pitchFamily="18" charset="0"/>
              </a:rPr>
              <a:t>static</a:t>
            </a:r>
            <a:r>
              <a:rPr lang="en-US" dirty="0" smtClean="0">
                <a:latin typeface="Times New Roman" panose="02020603050405020304" pitchFamily="18" charset="0"/>
                <a:cs typeface="Times New Roman" panose="02020603050405020304" pitchFamily="18" charset="0"/>
              </a:rPr>
              <a:t> or </a:t>
            </a:r>
            <a:r>
              <a:rPr lang="en-US" b="1" dirty="0" smtClean="0">
                <a:latin typeface="Times New Roman" panose="02020603050405020304" pitchFamily="18" charset="0"/>
                <a:cs typeface="Times New Roman" panose="02020603050405020304" pitchFamily="18" charset="0"/>
              </a:rPr>
              <a:t>dynamic</a:t>
            </a:r>
            <a:r>
              <a:rPr lang="en-US" dirty="0" smtClean="0">
                <a:latin typeface="Times New Roman" panose="02020603050405020304" pitchFamily="18" charset="0"/>
                <a:cs typeface="Times New Roman" panose="02020603050405020304" pitchFamily="18" charset="0"/>
              </a:rPr>
              <a:t>, and are built under assumptions of </a:t>
            </a:r>
            <a:r>
              <a:rPr lang="en-US" b="1" dirty="0" smtClean="0">
                <a:latin typeface="Times New Roman" panose="02020603050405020304" pitchFamily="18" charset="0"/>
                <a:cs typeface="Times New Roman" panose="02020603050405020304" pitchFamily="18" charset="0"/>
              </a:rPr>
              <a:t>certainty, uncertainty, or risk</a:t>
            </a:r>
            <a:r>
              <a:rPr lang="en-US" dirty="0" smtClean="0">
                <a:latin typeface="Times New Roman" panose="02020603050405020304" pitchFamily="18" charset="0"/>
                <a:cs typeface="Times New Roman" panose="02020603050405020304" pitchFamily="18" charset="0"/>
              </a:rPr>
              <a:t>. To speed up model construction, analysts use special systems with embedded modeling languages, including spreadsheets, data mining systems, and OLAP tools.</a:t>
            </a:r>
            <a:endParaRPr lang="en-IN"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58" y="1988840"/>
            <a:ext cx="8039666"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0692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1736" y="1052736"/>
            <a:ext cx="7992888" cy="3831818"/>
          </a:xfrm>
          <a:prstGeom prst="rect">
            <a:avLst/>
          </a:prstGeom>
        </p:spPr>
        <p:txBody>
          <a:bodyPr wrap="square">
            <a:spAutoFit/>
          </a:bodyPr>
          <a:lstStyle/>
          <a:p>
            <a:pPr algn="just">
              <a:lnSpc>
                <a:spcPct val="150000"/>
              </a:lnSpc>
            </a:pPr>
            <a:r>
              <a:rPr lang="en-US" b="1" dirty="0" smtClean="0">
                <a:solidFill>
                  <a:srgbClr val="002060"/>
                </a:solidFill>
                <a:latin typeface="Times New Roman" panose="02020603050405020304" pitchFamily="18" charset="0"/>
                <a:cs typeface="Times New Roman" panose="02020603050405020304" pitchFamily="18" charset="0"/>
              </a:rPr>
              <a:t>MODEL MANAGEMENT: </a:t>
            </a:r>
            <a:r>
              <a:rPr lang="en-US" dirty="0" smtClean="0">
                <a:latin typeface="Times New Roman" panose="02020603050405020304" pitchFamily="18" charset="0"/>
                <a:cs typeface="Times New Roman" panose="02020603050405020304" pitchFamily="18" charset="0"/>
              </a:rPr>
              <a:t>Models, like data, must be managed to maintain their integrity, and thus their applicability. Such management is done with the aid of model­-based management systems, which are analogous to database management systems (DBMS).</a:t>
            </a:r>
          </a:p>
          <a:p>
            <a:pPr algn="just">
              <a:lnSpc>
                <a:spcPct val="150000"/>
              </a:lnSpc>
            </a:pPr>
            <a:r>
              <a:rPr lang="en-US" b="1" dirty="0" smtClean="0">
                <a:solidFill>
                  <a:srgbClr val="002060"/>
                </a:solidFill>
                <a:latin typeface="Times New Roman" panose="02020603050405020304" pitchFamily="18" charset="0"/>
                <a:cs typeface="Times New Roman" panose="02020603050405020304" pitchFamily="18" charset="0"/>
              </a:rPr>
              <a:t>KNOWLEDGE-BASED MODELING: </a:t>
            </a:r>
            <a:r>
              <a:rPr lang="en-US" dirty="0" smtClean="0">
                <a:latin typeface="Times New Roman" panose="02020603050405020304" pitchFamily="18" charset="0"/>
                <a:cs typeface="Times New Roman" panose="02020603050405020304" pitchFamily="18" charset="0"/>
              </a:rPr>
              <a:t>DSS uses mostly quantitative models, whereas expert systems use qualitative, knowledge­-based models in their applications. Some knowledge is necessary to construct solvable (and therefore usable) models. Many of the predictive analytics techniques, such as classification and clustering, can be used in building </a:t>
            </a:r>
            <a:r>
              <a:rPr lang="en-IN" dirty="0" smtClean="0">
                <a:latin typeface="Times New Roman" panose="02020603050405020304" pitchFamily="18" charset="0"/>
                <a:cs typeface="Times New Roman" panose="02020603050405020304" pitchFamily="18" charset="0"/>
              </a:rPr>
              <a:t>knowledge-­based models.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619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504" y="692696"/>
            <a:ext cx="8064896" cy="3416320"/>
          </a:xfrm>
          <a:prstGeom prst="rect">
            <a:avLst/>
          </a:prstGeom>
        </p:spPr>
        <p:txBody>
          <a:bodyPr wrap="square">
            <a:spAutoFit/>
          </a:bodyPr>
          <a:lstStyle/>
          <a:p>
            <a:pPr algn="just">
              <a:lnSpc>
                <a:spcPct val="150000"/>
              </a:lnSpc>
            </a:pPr>
            <a:r>
              <a:rPr lang="en-IN" b="1" dirty="0" smtClean="0">
                <a:solidFill>
                  <a:srgbClr val="002060"/>
                </a:solidFill>
                <a:latin typeface="Times New Roman" panose="02020603050405020304" pitchFamily="18" charset="0"/>
                <a:cs typeface="Times New Roman" panose="02020603050405020304" pitchFamily="18" charset="0"/>
              </a:rPr>
              <a:t>CURRENT TRENDS IN MODELING: </a:t>
            </a:r>
            <a:r>
              <a:rPr lang="en-US" dirty="0" smtClean="0">
                <a:latin typeface="Times New Roman" panose="02020603050405020304" pitchFamily="18" charset="0"/>
                <a:cs typeface="Times New Roman" panose="02020603050405020304" pitchFamily="18" charset="0"/>
              </a:rPr>
              <a:t>Current modeling trends show a strong shift toward cloud-based tools and online model libraries (like the NEOS Server), making powerful optimization and simulation more accessible. Another major trend is making models completely transparent to the user, often through familiar spreadsheet or OLAP interfaces. While this simplifies use, it can also hide important solution details and limit the types of models considered. Despite this simplification, effective application for large-scale problems still requires experienced analysts and supporting infrastructure like data warehouses and parallel computing.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4332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a:spLocks noGrp="1"/>
          </p:cNvSpPr>
          <p:nvPr>
            <p:ph type="title"/>
          </p:nvPr>
        </p:nvSpPr>
        <p:spPr>
          <a:xfrm>
            <a:off x="395536" y="2060848"/>
            <a:ext cx="7620000" cy="2154436"/>
          </a:xfrm>
          <a:prstGeom prst="rect">
            <a:avLst/>
          </a:prstGeom>
        </p:spPr>
        <p:txBody>
          <a:bodyPr lIns="0" tIns="0" rIns="0" bIns="0" rtlCol="0" anchor="t">
            <a:spAutoFit/>
          </a:bodyPr>
          <a:lstStyle/>
          <a:p>
            <a:pPr marL="0" lvl="0" indent="0" algn="ctr">
              <a:lnSpc>
                <a:spcPts val="8399"/>
              </a:lnSpc>
              <a:spcBef>
                <a:spcPct val="0"/>
              </a:spcBef>
            </a:pPr>
            <a:r>
              <a:rPr lang="en-US" sz="6999" u="none" dirty="0">
                <a:solidFill>
                  <a:srgbClr val="2B2B2B"/>
                </a:solidFill>
                <a:latin typeface="Goudy Stout" panose="0202090407030B020401" pitchFamily="18" charset="0"/>
                <a:ea typeface="Agrandir"/>
                <a:cs typeface="Agrandir"/>
                <a:sym typeface="Agrandir"/>
              </a:rPr>
              <a:t>Thank you!</a:t>
            </a:r>
          </a:p>
        </p:txBody>
      </p:sp>
    </p:spTree>
    <p:extLst>
      <p:ext uri="{BB962C8B-B14F-4D97-AF65-F5344CB8AC3E}">
        <p14:creationId xmlns:p14="http://schemas.microsoft.com/office/powerpoint/2010/main" val="26648481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367</TotalTime>
  <Words>1025</Words>
  <Application>Microsoft Office PowerPoint</Application>
  <PresentationFormat>On-screen Show (4:3)</PresentationFormat>
  <Paragraphs>30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Adjacency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mareddy charan</dc:creator>
  <cp:lastModifiedBy>mareddy charan</cp:lastModifiedBy>
  <cp:revision>11</cp:revision>
  <dcterms:created xsi:type="dcterms:W3CDTF">2025-11-06T14:50:21Z</dcterms:created>
  <dcterms:modified xsi:type="dcterms:W3CDTF">2025-11-07T06:23:31Z</dcterms:modified>
</cp:coreProperties>
</file>
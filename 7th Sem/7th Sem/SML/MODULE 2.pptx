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39"/>
  </p:notesMasterIdLst>
  <p:sldIdLst>
    <p:sldId id="257" r:id="rId2"/>
    <p:sldId id="256" r:id="rId3"/>
    <p:sldId id="287" r:id="rId4"/>
    <p:sldId id="267" r:id="rId5"/>
    <p:sldId id="270" r:id="rId6"/>
    <p:sldId id="258" r:id="rId7"/>
    <p:sldId id="271" r:id="rId8"/>
    <p:sldId id="259" r:id="rId9"/>
    <p:sldId id="262" r:id="rId10"/>
    <p:sldId id="272" r:id="rId11"/>
    <p:sldId id="276" r:id="rId12"/>
    <p:sldId id="273" r:id="rId13"/>
    <p:sldId id="261" r:id="rId14"/>
    <p:sldId id="288" r:id="rId15"/>
    <p:sldId id="289" r:id="rId16"/>
    <p:sldId id="278" r:id="rId17"/>
    <p:sldId id="290" r:id="rId18"/>
    <p:sldId id="284" r:id="rId19"/>
    <p:sldId id="291" r:id="rId20"/>
    <p:sldId id="292" r:id="rId21"/>
    <p:sldId id="285" r:id="rId22"/>
    <p:sldId id="286" r:id="rId23"/>
    <p:sldId id="283"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BFD3C7-01CE-4057-80F5-758983F743D7}" v="2" dt="2025-09-01T06:28:38.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ma naidu" userId="b2c986f4a4d90319" providerId="LiveId" clId="{3BBFD3C7-01CE-4057-80F5-758983F743D7}"/>
    <pc:docChg chg="undo custSel addSld delSld modSld">
      <pc:chgData name="prema naidu" userId="b2c986f4a4d90319" providerId="LiveId" clId="{3BBFD3C7-01CE-4057-80F5-758983F743D7}" dt="2025-09-08T08:02:52.702" v="114" actId="20577"/>
      <pc:docMkLst>
        <pc:docMk/>
      </pc:docMkLst>
      <pc:sldChg chg="modSp mod">
        <pc:chgData name="prema naidu" userId="b2c986f4a4d90319" providerId="LiveId" clId="{3BBFD3C7-01CE-4057-80F5-758983F743D7}" dt="2025-09-07T14:56:42.719" v="78" actId="20577"/>
        <pc:sldMkLst>
          <pc:docMk/>
          <pc:sldMk cId="1811464160" sldId="256"/>
        </pc:sldMkLst>
        <pc:spChg chg="mod">
          <ac:chgData name="prema naidu" userId="b2c986f4a4d90319" providerId="LiveId" clId="{3BBFD3C7-01CE-4057-80F5-758983F743D7}" dt="2025-09-07T14:56:42.719" v="78" actId="20577"/>
          <ac:spMkLst>
            <pc:docMk/>
            <pc:sldMk cId="1811464160" sldId="256"/>
            <ac:spMk id="4" creationId="{00000000-0000-0000-0000-000000000000}"/>
          </ac:spMkLst>
        </pc:spChg>
      </pc:sldChg>
      <pc:sldChg chg="modSp mod">
        <pc:chgData name="prema naidu" userId="b2c986f4a4d90319" providerId="LiveId" clId="{3BBFD3C7-01CE-4057-80F5-758983F743D7}" dt="2025-09-07T14:57:42.191" v="104" actId="20577"/>
        <pc:sldMkLst>
          <pc:docMk/>
          <pc:sldMk cId="2582245672" sldId="257"/>
        </pc:sldMkLst>
        <pc:spChg chg="mod">
          <ac:chgData name="prema naidu" userId="b2c986f4a4d90319" providerId="LiveId" clId="{3BBFD3C7-01CE-4057-80F5-758983F743D7}" dt="2025-09-07T14:57:42.191" v="104" actId="20577"/>
          <ac:spMkLst>
            <pc:docMk/>
            <pc:sldMk cId="2582245672" sldId="257"/>
            <ac:spMk id="3" creationId="{CCB0DAE5-6A99-03DC-B0A3-539F540B9880}"/>
          </ac:spMkLst>
        </pc:spChg>
      </pc:sldChg>
      <pc:sldChg chg="del">
        <pc:chgData name="prema naidu" userId="b2c986f4a4d90319" providerId="LiveId" clId="{3BBFD3C7-01CE-4057-80F5-758983F743D7}" dt="2025-09-07T14:54:52.499" v="63" actId="2696"/>
        <pc:sldMkLst>
          <pc:docMk/>
          <pc:sldMk cId="843598386" sldId="266"/>
        </pc:sldMkLst>
      </pc:sldChg>
      <pc:sldChg chg="modSp mod">
        <pc:chgData name="prema naidu" userId="b2c986f4a4d90319" providerId="LiveId" clId="{3BBFD3C7-01CE-4057-80F5-758983F743D7}" dt="2025-09-07T14:58:29.881" v="109" actId="20577"/>
        <pc:sldMkLst>
          <pc:docMk/>
          <pc:sldMk cId="3095959434" sldId="267"/>
        </pc:sldMkLst>
        <pc:spChg chg="mod">
          <ac:chgData name="prema naidu" userId="b2c986f4a4d90319" providerId="LiveId" clId="{3BBFD3C7-01CE-4057-80F5-758983F743D7}" dt="2025-09-07T14:58:29.881" v="109" actId="20577"/>
          <ac:spMkLst>
            <pc:docMk/>
            <pc:sldMk cId="3095959434" sldId="267"/>
            <ac:spMk id="3" creationId="{B1604E76-5BA8-9299-FF52-7CFD5B5905CA}"/>
          </ac:spMkLst>
        </pc:spChg>
      </pc:sldChg>
      <pc:sldChg chg="del">
        <pc:chgData name="prema naidu" userId="b2c986f4a4d90319" providerId="LiveId" clId="{3BBFD3C7-01CE-4057-80F5-758983F743D7}" dt="2025-09-01T14:23:26.195" v="37" actId="2696"/>
        <pc:sldMkLst>
          <pc:docMk/>
          <pc:sldMk cId="923853756" sldId="275"/>
        </pc:sldMkLst>
      </pc:sldChg>
      <pc:sldChg chg="modSp mod">
        <pc:chgData name="prema naidu" userId="b2c986f4a4d90319" providerId="LiveId" clId="{3BBFD3C7-01CE-4057-80F5-758983F743D7}" dt="2025-09-08T08:02:52.702" v="114" actId="20577"/>
        <pc:sldMkLst>
          <pc:docMk/>
          <pc:sldMk cId="105907190" sldId="278"/>
        </pc:sldMkLst>
        <pc:spChg chg="mod">
          <ac:chgData name="prema naidu" userId="b2c986f4a4d90319" providerId="LiveId" clId="{3BBFD3C7-01CE-4057-80F5-758983F743D7}" dt="2025-09-08T08:02:52.702" v="114" actId="20577"/>
          <ac:spMkLst>
            <pc:docMk/>
            <pc:sldMk cId="105907190" sldId="278"/>
            <ac:spMk id="3" creationId="{E8E83875-6A4F-7CB5-2B59-F869381FCA97}"/>
          </ac:spMkLst>
        </pc:spChg>
      </pc:sldChg>
      <pc:sldChg chg="addSp modSp new mod">
        <pc:chgData name="prema naidu" userId="b2c986f4a4d90319" providerId="LiveId" clId="{3BBFD3C7-01CE-4057-80F5-758983F743D7}" dt="2025-09-01T06:29:46.665" v="35" actId="115"/>
        <pc:sldMkLst>
          <pc:docMk/>
          <pc:sldMk cId="3546972087" sldId="282"/>
        </pc:sldMkLst>
      </pc:sldChg>
      <pc:sldChg chg="new">
        <pc:chgData name="prema naidu" userId="b2c986f4a4d90319" providerId="LiveId" clId="{3BBFD3C7-01CE-4057-80F5-758983F743D7}" dt="2025-09-01T06:30:10.596" v="36" actId="680"/>
        <pc:sldMkLst>
          <pc:docMk/>
          <pc:sldMk cId="4129463082" sldId="283"/>
        </pc:sldMkLst>
      </pc:sldChg>
      <pc:sldChg chg="addSp modSp new mod">
        <pc:chgData name="prema naidu" userId="b2c986f4a4d90319" providerId="LiveId" clId="{3BBFD3C7-01CE-4057-80F5-758983F743D7}" dt="2025-09-03T08:37:50.515" v="50" actId="20577"/>
        <pc:sldMkLst>
          <pc:docMk/>
          <pc:sldMk cId="3535503380" sldId="284"/>
        </pc:sldMkLst>
        <pc:spChg chg="add mod">
          <ac:chgData name="prema naidu" userId="b2c986f4a4d90319" providerId="LiveId" clId="{3BBFD3C7-01CE-4057-80F5-758983F743D7}" dt="2025-09-03T08:37:50.515" v="50" actId="20577"/>
          <ac:spMkLst>
            <pc:docMk/>
            <pc:sldMk cId="3535503380" sldId="284"/>
            <ac:spMk id="3" creationId="{4A8478A7-0204-FCE9-78CD-581B9D3FF08D}"/>
          </ac:spMkLst>
        </pc:spChg>
      </pc:sldChg>
      <pc:sldChg chg="addSp modSp new mod">
        <pc:chgData name="prema naidu" userId="b2c986f4a4d90319" providerId="LiveId" clId="{3BBFD3C7-01CE-4057-80F5-758983F743D7}" dt="2025-09-03T08:38:19.374" v="52" actId="1076"/>
        <pc:sldMkLst>
          <pc:docMk/>
          <pc:sldMk cId="945269794" sldId="285"/>
        </pc:sldMkLst>
        <pc:picChg chg="add mod">
          <ac:chgData name="prema naidu" userId="b2c986f4a4d90319" providerId="LiveId" clId="{3BBFD3C7-01CE-4057-80F5-758983F743D7}" dt="2025-09-03T08:38:19.374" v="52" actId="1076"/>
          <ac:picMkLst>
            <pc:docMk/>
            <pc:sldMk cId="945269794" sldId="285"/>
            <ac:picMk id="3" creationId="{41A6B652-AFB3-76FA-4AEB-4520916A2365}"/>
          </ac:picMkLst>
        </pc:picChg>
      </pc:sldChg>
      <pc:sldChg chg="addSp modSp new mod">
        <pc:chgData name="prema naidu" userId="b2c986f4a4d90319" providerId="LiveId" clId="{3BBFD3C7-01CE-4057-80F5-758983F743D7}" dt="2025-09-03T08:57:03.375" v="62" actId="1076"/>
        <pc:sldMkLst>
          <pc:docMk/>
          <pc:sldMk cId="2665041029" sldId="286"/>
        </pc:sldMkLst>
        <pc:spChg chg="add mod">
          <ac:chgData name="prema naidu" userId="b2c986f4a4d90319" providerId="LiveId" clId="{3BBFD3C7-01CE-4057-80F5-758983F743D7}" dt="2025-09-03T08:57:03.375" v="62" actId="1076"/>
          <ac:spMkLst>
            <pc:docMk/>
            <pc:sldMk cId="2665041029" sldId="286"/>
            <ac:spMk id="3" creationId="{F0A1007E-8C6F-5373-DE5F-5A007EC1BDA0}"/>
          </ac:spMkLst>
        </pc:spChg>
      </pc:sldChg>
      <pc:sldChg chg="modSp mod">
        <pc:chgData name="prema naidu" userId="b2c986f4a4d90319" providerId="LiveId" clId="{3BBFD3C7-01CE-4057-80F5-758983F743D7}" dt="2025-09-07T14:55:38.249" v="69" actId="123"/>
        <pc:sldMkLst>
          <pc:docMk/>
          <pc:sldMk cId="0" sldId="287"/>
        </pc:sldMkLst>
        <pc:spChg chg="mod">
          <ac:chgData name="prema naidu" userId="b2c986f4a4d90319" providerId="LiveId" clId="{3BBFD3C7-01CE-4057-80F5-758983F743D7}" dt="2025-09-07T14:55:38.249" v="69" actId="123"/>
          <ac:spMkLst>
            <pc:docMk/>
            <pc:sldMk cId="0" sldId="287"/>
            <ac:spMk id="2" creationId="{00000000-0000-0000-0000-000000000000}"/>
          </ac:spMkLst>
        </pc:spChg>
      </pc:sldChg>
      <pc:sldChg chg="modSp mod">
        <pc:chgData name="prema naidu" userId="b2c986f4a4d90319" providerId="LiveId" clId="{3BBFD3C7-01CE-4057-80F5-758983F743D7}" dt="2025-09-08T07:30:47.353" v="110" actId="6549"/>
        <pc:sldMkLst>
          <pc:docMk/>
          <pc:sldMk cId="0" sldId="288"/>
        </pc:sldMkLst>
        <pc:spChg chg="mod">
          <ac:chgData name="prema naidu" userId="b2c986f4a4d90319" providerId="LiveId" clId="{3BBFD3C7-01CE-4057-80F5-758983F743D7}" dt="2025-09-08T07:30:47.353" v="110" actId="6549"/>
          <ac:spMkLst>
            <pc:docMk/>
            <pc:sldMk cId="0" sldId="288"/>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0B0F55-D4F6-45B1-8352-E1540BCC2E29}" type="datetimeFigureOut">
              <a:rPr lang="en-IN" smtClean="0"/>
              <a:t>08-09-2025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B357-E049-494B-AF01-621764A0D28A}" type="slidenum">
              <a:rPr lang="en-IN" smtClean="0"/>
              <a:t>‹#›</a:t>
            </a:fld>
            <a:endParaRPr lang="en-IN"/>
          </a:p>
        </p:txBody>
      </p:sp>
    </p:spTree>
    <p:extLst>
      <p:ext uri="{BB962C8B-B14F-4D97-AF65-F5344CB8AC3E}">
        <p14:creationId xmlns:p14="http://schemas.microsoft.com/office/powerpoint/2010/main" val="315155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D5CB357-E049-494B-AF01-621764A0D28A}" type="slidenum">
              <a:rPr lang="en-IN" smtClean="0"/>
              <a:t>17</a:t>
            </a:fld>
            <a:endParaRPr lang="en-IN"/>
          </a:p>
        </p:txBody>
      </p:sp>
    </p:spTree>
    <p:extLst>
      <p:ext uri="{BB962C8B-B14F-4D97-AF65-F5344CB8AC3E}">
        <p14:creationId xmlns:p14="http://schemas.microsoft.com/office/powerpoint/2010/main" val="2239208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ounded Rectangle 9"/>
          <p:cNvSpPr/>
          <p:nvPr/>
        </p:nvSpPr>
        <p:spPr>
          <a:xfrm>
            <a:off x="558129" y="434162"/>
            <a:ext cx="11075745"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4"/>
          <p:cNvSpPr>
            <a:spLocks noGrp="1"/>
          </p:cNvSpPr>
          <p:nvPr>
            <p:ph type="ctrTitle"/>
          </p:nvPr>
        </p:nvSpPr>
        <p:spPr>
          <a:xfrm>
            <a:off x="963168" y="1820206"/>
            <a:ext cx="103632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a:t>Click to edit Master title style</a:t>
            </a:r>
          </a:p>
        </p:txBody>
      </p:sp>
      <p:sp>
        <p:nvSpPr>
          <p:cNvPr id="20" name="Subtitle 19"/>
          <p:cNvSpPr>
            <a:spLocks noGrp="1"/>
          </p:cNvSpPr>
          <p:nvPr>
            <p:ph type="subTitle" idx="1"/>
          </p:nvPr>
        </p:nvSpPr>
        <p:spPr>
          <a:xfrm>
            <a:off x="963168" y="3685032"/>
            <a:ext cx="103632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19" name="Date Placeholder 18"/>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8" name="Footer Placeholder 7"/>
          <p:cNvSpPr>
            <a:spLocks noGrp="1"/>
          </p:cNvSpPr>
          <p:nvPr>
            <p:ph type="ftr" sz="quarter" idx="11"/>
          </p:nvPr>
        </p:nvSpPr>
        <p:spPr/>
        <p:txBody>
          <a:bodyPr/>
          <a:lstStyle/>
          <a:p>
            <a:endParaRPr lang="en-IN"/>
          </a:p>
        </p:txBody>
      </p:sp>
      <p:sp>
        <p:nvSpPr>
          <p:cNvPr id="11" name="Slide Number Placeholder 10"/>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0560" y="4983480"/>
            <a:ext cx="10911840" cy="1051560"/>
          </a:xfrm>
        </p:spPr>
        <p:txBody>
          <a:bodyPr/>
          <a:lstStyle/>
          <a:p>
            <a:r>
              <a:rPr kumimoji="0" lang="en-US"/>
              <a:t>Click to edit Master title style</a:t>
            </a:r>
          </a:p>
        </p:txBody>
      </p:sp>
      <p:sp>
        <p:nvSpPr>
          <p:cNvPr id="3" name="Content Placeholder 2"/>
          <p:cNvSpPr>
            <a:spLocks noGrp="1"/>
          </p:cNvSpPr>
          <p:nvPr>
            <p:ph idx="1"/>
          </p:nvPr>
        </p:nvSpPr>
        <p:spPr>
          <a:xfrm>
            <a:off x="670560" y="530352"/>
            <a:ext cx="10911840" cy="41879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ed Rectangle 10"/>
          <p:cNvSpPr/>
          <p:nvPr/>
        </p:nvSpPr>
        <p:spPr>
          <a:xfrm>
            <a:off x="558129" y="434163"/>
            <a:ext cx="11075745"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24459" y="4928616"/>
            <a:ext cx="10911840" cy="676656"/>
          </a:xfrm>
        </p:spPr>
        <p:txBody>
          <a:bodyPr lIns="91440" bIns="0" anchor="b"/>
          <a:lstStyle>
            <a:lvl1pPr algn="l">
              <a:buNone/>
              <a:defRPr sz="3600" b="0" cap="none" baseline="0">
                <a:solidFill>
                  <a:schemeClr val="bg2">
                    <a:shade val="25000"/>
                  </a:schemeClr>
                </a:solidFill>
                <a:effectLst/>
              </a:defRPr>
            </a:lvl1pPr>
            <a:extLst/>
          </a:lstStyle>
          <a:p>
            <a:r>
              <a:rPr kumimoji="0" lang="en-US"/>
              <a:t>Click to edit Master title style</a:t>
            </a:r>
          </a:p>
        </p:txBody>
      </p:sp>
      <p:sp>
        <p:nvSpPr>
          <p:cNvPr id="3" name="Text Placeholder 2"/>
          <p:cNvSpPr>
            <a:spLocks noGrp="1"/>
          </p:cNvSpPr>
          <p:nvPr>
            <p:ph type="body" idx="1"/>
          </p:nvPr>
        </p:nvSpPr>
        <p:spPr>
          <a:xfrm>
            <a:off x="624459" y="5624484"/>
            <a:ext cx="1091184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685803" y="530352"/>
            <a:ext cx="524256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340480" y="530352"/>
            <a:ext cx="524256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0560" y="4983480"/>
            <a:ext cx="10911840" cy="1051560"/>
          </a:xfrm>
        </p:spPr>
        <p:txBody>
          <a:bodyPr anchor="b"/>
          <a:lstStyle>
            <a:lvl1pPr>
              <a:defRPr b="1"/>
            </a:lvl1pPr>
            <a:extLst/>
          </a:lstStyle>
          <a:p>
            <a:r>
              <a:rPr kumimoji="0" lang="en-US"/>
              <a:t>Click to edit Master title style</a:t>
            </a:r>
          </a:p>
        </p:txBody>
      </p:sp>
      <p:sp>
        <p:nvSpPr>
          <p:cNvPr id="3" name="Text Placeholder 2"/>
          <p:cNvSpPr>
            <a:spLocks noGrp="1"/>
          </p:cNvSpPr>
          <p:nvPr>
            <p:ph type="body" idx="1"/>
          </p:nvPr>
        </p:nvSpPr>
        <p:spPr>
          <a:xfrm>
            <a:off x="809632" y="579438"/>
            <a:ext cx="524256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02892" y="579438"/>
            <a:ext cx="524256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809632" y="1447800"/>
            <a:ext cx="524256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02892" y="1447800"/>
            <a:ext cx="524256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85045" y="533400"/>
            <a:ext cx="3962400" cy="914400"/>
          </a:xfrm>
        </p:spPr>
        <p:txBody>
          <a:bodyPr anchor="b"/>
          <a:lstStyle>
            <a:lvl1pPr algn="l">
              <a:buNone/>
              <a:defRPr sz="2200" b="1">
                <a:solidFill>
                  <a:schemeClr val="accent1"/>
                </a:solidFill>
              </a:defRPr>
            </a:lvl1pPr>
            <a:extLst/>
          </a:lstStyle>
          <a:p>
            <a:r>
              <a:rPr kumimoji="0" lang="en-US"/>
              <a:t>Click to edit Master title style</a:t>
            </a:r>
          </a:p>
        </p:txBody>
      </p:sp>
      <p:sp>
        <p:nvSpPr>
          <p:cNvPr id="3" name="Text Placeholder 2"/>
          <p:cNvSpPr>
            <a:spLocks noGrp="1"/>
          </p:cNvSpPr>
          <p:nvPr>
            <p:ph type="body" idx="2"/>
          </p:nvPr>
        </p:nvSpPr>
        <p:spPr>
          <a:xfrm>
            <a:off x="7385129" y="1447802"/>
            <a:ext cx="39624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1"/>
          </p:nvPr>
        </p:nvSpPr>
        <p:spPr>
          <a:xfrm>
            <a:off x="1015163" y="930144"/>
            <a:ext cx="6168212"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 Single Corner Rectangle 10"/>
          <p:cNvSpPr/>
          <p:nvPr/>
        </p:nvSpPr>
        <p:spPr>
          <a:xfrm>
            <a:off x="8534401" y="434162"/>
            <a:ext cx="3099473"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09600" y="5012056"/>
            <a:ext cx="10972800" cy="1051560"/>
          </a:xfrm>
        </p:spPr>
        <p:txBody>
          <a:bodyPr anchor="t"/>
          <a:lstStyle>
            <a:lvl1pPr algn="l">
              <a:buNone/>
              <a:defRPr sz="3600" b="0">
                <a:solidFill>
                  <a:schemeClr val="bg2">
                    <a:shade val="25000"/>
                  </a:schemeClr>
                </a:solidFill>
                <a:effectLst/>
              </a:defRPr>
            </a:lvl1pPr>
            <a:extLst/>
          </a:lstStyle>
          <a:p>
            <a:r>
              <a:rPr kumimoji="0" lang="en-US"/>
              <a:t>Click to edit Master title style</a:t>
            </a:r>
          </a:p>
        </p:txBody>
      </p:sp>
      <p:sp>
        <p:nvSpPr>
          <p:cNvPr id="4" name="Text Placeholder 3"/>
          <p:cNvSpPr>
            <a:spLocks noGrp="1"/>
          </p:cNvSpPr>
          <p:nvPr>
            <p:ph type="body" sz="half" idx="2"/>
          </p:nvPr>
        </p:nvSpPr>
        <p:spPr bwMode="grayWhite">
          <a:xfrm>
            <a:off x="8616949" y="533400"/>
            <a:ext cx="298704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20F5B8-535F-46D1-96D1-33E16C07F85E}" type="slidenum">
              <a:rPr lang="en-IN" smtClean="0"/>
              <a:pPr/>
              <a:t>‹#›</a:t>
            </a:fld>
            <a:endParaRPr lang="en-IN"/>
          </a:p>
        </p:txBody>
      </p:sp>
      <p:sp>
        <p:nvSpPr>
          <p:cNvPr id="3" name="Picture Placeholder 2"/>
          <p:cNvSpPr>
            <a:spLocks noGrp="1"/>
          </p:cNvSpPr>
          <p:nvPr>
            <p:ph type="pic" idx="1"/>
          </p:nvPr>
        </p:nvSpPr>
        <p:spPr>
          <a:xfrm>
            <a:off x="561973" y="435768"/>
            <a:ext cx="7900416"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0560" y="4983480"/>
            <a:ext cx="10911840" cy="1051560"/>
          </a:xfrm>
        </p:spPr>
        <p:txBody>
          <a:bodyPr/>
          <a:lstStyle/>
          <a:p>
            <a:r>
              <a:rPr kumimoji="0" lang="en-US"/>
              <a:t>Click to edit Master title style</a:t>
            </a:r>
          </a:p>
        </p:txBody>
      </p:sp>
      <p:sp>
        <p:nvSpPr>
          <p:cNvPr id="3" name="Vertical Text Placeholder 2"/>
          <p:cNvSpPr>
            <a:spLocks noGrp="1"/>
          </p:cNvSpPr>
          <p:nvPr>
            <p:ph type="body" orient="vert" idx="1"/>
          </p:nvPr>
        </p:nvSpPr>
        <p:spPr>
          <a:xfrm>
            <a:off x="670560" y="530352"/>
            <a:ext cx="10911840" cy="4187952"/>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533405"/>
            <a:ext cx="2641600" cy="5257799"/>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711200" y="533403"/>
            <a:ext cx="7924800" cy="525780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5A4E765-A2BE-4158-83A6-DCD2D6054034}" type="datetimeFigureOut">
              <a:rPr lang="en-IN" smtClean="0"/>
              <a:pPr/>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20F5B8-535F-46D1-96D1-33E16C07F85E}"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ounded Rectangle 8"/>
          <p:cNvSpPr/>
          <p:nvPr/>
        </p:nvSpPr>
        <p:spPr>
          <a:xfrm>
            <a:off x="558129" y="434162"/>
            <a:ext cx="11075745"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Title Placeholder 12"/>
          <p:cNvSpPr>
            <a:spLocks noGrp="1"/>
          </p:cNvSpPr>
          <p:nvPr>
            <p:ph type="title"/>
          </p:nvPr>
        </p:nvSpPr>
        <p:spPr>
          <a:xfrm>
            <a:off x="670560" y="4985590"/>
            <a:ext cx="10911840" cy="1051560"/>
          </a:xfrm>
          <a:prstGeom prst="rect">
            <a:avLst/>
          </a:prstGeom>
        </p:spPr>
        <p:txBody>
          <a:bodyPr vert="horz" anchor="b">
            <a:normAutofit/>
          </a:bodyPr>
          <a:lstStyle/>
          <a:p>
            <a:r>
              <a:rPr kumimoji="0" lang="en-US"/>
              <a:t>Click to edit Master title style</a:t>
            </a:r>
          </a:p>
        </p:txBody>
      </p:sp>
      <p:sp>
        <p:nvSpPr>
          <p:cNvPr id="4" name="Text Placeholder 3"/>
          <p:cNvSpPr>
            <a:spLocks noGrp="1"/>
          </p:cNvSpPr>
          <p:nvPr>
            <p:ph type="body" idx="1"/>
          </p:nvPr>
        </p:nvSpPr>
        <p:spPr>
          <a:xfrm>
            <a:off x="670560" y="530352"/>
            <a:ext cx="10911840" cy="4187952"/>
          </a:xfrm>
          <a:prstGeom prst="rect">
            <a:avLst/>
          </a:prstGeom>
        </p:spPr>
        <p:txBody>
          <a:bodyPr vert="horz" lIns="182880" tIns="9144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5" name="Date Placeholder 24"/>
          <p:cNvSpPr>
            <a:spLocks noGrp="1"/>
          </p:cNvSpPr>
          <p:nvPr>
            <p:ph type="dt" sz="half" idx="2"/>
          </p:nvPr>
        </p:nvSpPr>
        <p:spPr>
          <a:xfrm>
            <a:off x="5035104" y="6111876"/>
            <a:ext cx="3048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D5A4E765-A2BE-4158-83A6-DCD2D6054034}" type="datetimeFigureOut">
              <a:rPr lang="en-IN" smtClean="0"/>
              <a:pPr/>
              <a:t>08-09-2025</a:t>
            </a:fld>
            <a:endParaRPr lang="en-IN"/>
          </a:p>
        </p:txBody>
      </p:sp>
      <p:sp>
        <p:nvSpPr>
          <p:cNvPr id="18" name="Footer Placeholder 17"/>
          <p:cNvSpPr>
            <a:spLocks noGrp="1"/>
          </p:cNvSpPr>
          <p:nvPr>
            <p:ph type="ftr" sz="quarter" idx="3"/>
          </p:nvPr>
        </p:nvSpPr>
        <p:spPr>
          <a:xfrm>
            <a:off x="8083104" y="6111876"/>
            <a:ext cx="3048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IN"/>
          </a:p>
        </p:txBody>
      </p:sp>
      <p:sp>
        <p:nvSpPr>
          <p:cNvPr id="5" name="Slide Number Placeholder 4"/>
          <p:cNvSpPr>
            <a:spLocks noGrp="1"/>
          </p:cNvSpPr>
          <p:nvPr>
            <p:ph type="sldNum" sz="quarter" idx="4"/>
          </p:nvPr>
        </p:nvSpPr>
        <p:spPr>
          <a:xfrm>
            <a:off x="11131104" y="6111876"/>
            <a:ext cx="6096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9920F5B8-535F-46D1-96D1-33E16C07F85E}"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www.math.upenn.edu/~deturck/m170/wk4/lecture/case1.html" TargetMode="Externa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B0DAE5-6A99-03DC-B0A3-539F540B9880}"/>
              </a:ext>
            </a:extLst>
          </p:cNvPr>
          <p:cNvSpPr txBox="1"/>
          <p:nvPr/>
        </p:nvSpPr>
        <p:spPr>
          <a:xfrm>
            <a:off x="1573161" y="1484671"/>
            <a:ext cx="7570839" cy="3046988"/>
          </a:xfrm>
          <a:prstGeom prst="rect">
            <a:avLst/>
          </a:prstGeom>
          <a:noFill/>
        </p:spPr>
        <p:txBody>
          <a:bodyPr wrap="square">
            <a:spAutoFit/>
          </a:bodyPr>
          <a:lstStyle/>
          <a:p>
            <a:pPr algn="ctr"/>
            <a:r>
              <a:rPr lang="en-IN" sz="3200" b="1" i="0" u="none" strike="noStrike" baseline="0" dirty="0">
                <a:solidFill>
                  <a:schemeClr val="accent1"/>
                </a:solidFill>
                <a:latin typeface="Times New Roman" panose="02020603050405020304" pitchFamily="18" charset="0"/>
                <a:cs typeface="Times New Roman" panose="02020603050405020304" pitchFamily="18" charset="0"/>
              </a:rPr>
              <a:t>Module 2</a:t>
            </a:r>
          </a:p>
          <a:p>
            <a:pPr algn="ctr"/>
            <a:endParaRPr lang="en-IN" sz="3200" b="1" dirty="0">
              <a:solidFill>
                <a:schemeClr val="accent1"/>
              </a:solidFill>
              <a:latin typeface="Times New Roman" panose="02020603050405020304" pitchFamily="18" charset="0"/>
              <a:cs typeface="Times New Roman" panose="02020603050405020304" pitchFamily="18" charset="0"/>
            </a:endParaRPr>
          </a:p>
          <a:p>
            <a:pPr algn="ctr"/>
            <a:r>
              <a:rPr lang="en-IN" sz="3200" b="1" i="0" u="none" strike="noStrike" baseline="0" dirty="0">
                <a:solidFill>
                  <a:schemeClr val="accent1"/>
                </a:solidFill>
                <a:latin typeface="Times New Roman" panose="02020603050405020304" pitchFamily="18" charset="0"/>
                <a:cs typeface="Times New Roman" panose="02020603050405020304" pitchFamily="18" charset="0"/>
              </a:rPr>
              <a:t>Data and Sampling Distributions</a:t>
            </a:r>
          </a:p>
          <a:p>
            <a:pPr algn="ctr"/>
            <a:endParaRPr lang="en-IN" sz="3200" b="1" i="0" u="none" strike="noStrike" baseline="0" dirty="0">
              <a:solidFill>
                <a:schemeClr val="accent1"/>
              </a:solidFill>
              <a:latin typeface="Times New Roman" panose="02020603050405020304" pitchFamily="18" charset="0"/>
              <a:cs typeface="Times New Roman" panose="02020603050405020304" pitchFamily="18" charset="0"/>
            </a:endParaRPr>
          </a:p>
          <a:p>
            <a:pPr algn="ctr"/>
            <a:r>
              <a:rPr lang="en-IN" sz="3200" b="1" i="0" u="none" strike="noStrike" baseline="0" dirty="0">
                <a:solidFill>
                  <a:schemeClr val="accent1"/>
                </a:solidFill>
                <a:latin typeface="Times New Roman" panose="02020603050405020304" pitchFamily="18" charset="0"/>
                <a:cs typeface="Times New Roman" panose="02020603050405020304" pitchFamily="18" charset="0"/>
              </a:rPr>
              <a:t>B</a:t>
            </a:r>
            <a:r>
              <a:rPr lang="en-IN" sz="3200" b="1" dirty="0">
                <a:solidFill>
                  <a:schemeClr val="accent1"/>
                </a:solidFill>
                <a:latin typeface="Times New Roman" panose="02020603050405020304" pitchFamily="18" charset="0"/>
                <a:cs typeface="Times New Roman" panose="02020603050405020304" pitchFamily="18" charset="0"/>
              </a:rPr>
              <a:t>y Sunil Naidu G R</a:t>
            </a:r>
            <a:r>
              <a:rPr lang="en-IN" sz="3200" b="1" i="0" u="none" strike="noStrike" baseline="0" dirty="0">
                <a:solidFill>
                  <a:schemeClr val="accent1"/>
                </a:solidFill>
                <a:latin typeface="Times New Roman" panose="02020603050405020304" pitchFamily="18" charset="0"/>
                <a:cs typeface="Times New Roman" panose="02020603050405020304" pitchFamily="18" charset="0"/>
              </a:rPr>
              <a:t> </a:t>
            </a:r>
          </a:p>
          <a:p>
            <a:pPr algn="ctr"/>
            <a:endParaRPr lang="en-IN" sz="32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2245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AE2598-67FF-219A-9BBA-B2F4BA74CD72}"/>
              </a:ext>
            </a:extLst>
          </p:cNvPr>
          <p:cNvPicPr>
            <a:picLocks noChangeAspect="1"/>
          </p:cNvPicPr>
          <p:nvPr/>
        </p:nvPicPr>
        <p:blipFill>
          <a:blip r:embed="rId2"/>
          <a:stretch>
            <a:fillRect/>
          </a:stretch>
        </p:blipFill>
        <p:spPr>
          <a:xfrm>
            <a:off x="7254240" y="380910"/>
            <a:ext cx="4528457" cy="3958488"/>
          </a:xfrm>
          <a:prstGeom prst="rect">
            <a:avLst/>
          </a:prstGeom>
        </p:spPr>
      </p:pic>
      <p:sp>
        <p:nvSpPr>
          <p:cNvPr id="5" name="TextBox 4">
            <a:extLst>
              <a:ext uri="{FF2B5EF4-FFF2-40B4-BE49-F238E27FC236}">
                <a16:creationId xmlns:a16="http://schemas.microsoft.com/office/drawing/2014/main" id="{5B205BAB-4534-DD47-AEE0-207FE857D440}"/>
              </a:ext>
            </a:extLst>
          </p:cNvPr>
          <p:cNvSpPr txBox="1"/>
          <p:nvPr/>
        </p:nvSpPr>
        <p:spPr>
          <a:xfrm>
            <a:off x="7689669" y="4844675"/>
            <a:ext cx="4502331" cy="400110"/>
          </a:xfrm>
          <a:prstGeom prst="rect">
            <a:avLst/>
          </a:prstGeom>
          <a:noFill/>
        </p:spPr>
        <p:txBody>
          <a:bodyPr wrap="square">
            <a:spAutoFit/>
          </a:bodyPr>
          <a:lstStyle/>
          <a:p>
            <a:pPr algn="ctr"/>
            <a:r>
              <a:rPr lang="en-IN" sz="2000" b="1" u="none" strike="noStrike" baseline="0" dirty="0">
                <a:latin typeface="Times New Roman" panose="02020603050405020304" pitchFamily="18" charset="0"/>
                <a:cs typeface="Times New Roman" panose="02020603050405020304" pitchFamily="18" charset="0"/>
              </a:rPr>
              <a:t>Population versus sample</a:t>
            </a:r>
            <a:endParaRPr lang="en-IN" sz="2000" b="1" dirty="0">
              <a:latin typeface="Times New Roman" panose="02020603050405020304" pitchFamily="18" charset="0"/>
              <a:cs typeface="Times New Roman" panose="02020603050405020304" pitchFamily="18" charset="0"/>
            </a:endParaRPr>
          </a:p>
        </p:txBody>
      </p:sp>
      <p:sp>
        <p:nvSpPr>
          <p:cNvPr id="4" name="Rectangle 3"/>
          <p:cNvSpPr/>
          <p:nvPr/>
        </p:nvSpPr>
        <p:spPr>
          <a:xfrm>
            <a:off x="409304" y="505098"/>
            <a:ext cx="6670766" cy="2585323"/>
          </a:xfrm>
          <a:prstGeom prst="rect">
            <a:avLst/>
          </a:prstGeom>
        </p:spPr>
        <p:txBody>
          <a:bodyPr wrap="square">
            <a:spAutoFit/>
          </a:bodyPr>
          <a:lstStyle/>
          <a:p>
            <a:pPr algn="just"/>
            <a:r>
              <a:rPr lang="en-US" dirty="0">
                <a:latin typeface="Times New Roman" pitchFamily="18" charset="0"/>
                <a:cs typeface="Times New Roman" pitchFamily="18" charset="0"/>
              </a:rPr>
              <a:t>	The figure left-hand side represents a population that, in statistics, is assumed to follow an underlying but unknown distribution. All that is available is the sample data and its empirical distribution, shown on the right-hand side. To get from the left-hand side to the righthand side, a sampling procedure is used (represented by an arrow). Traditional statistics focused very much on the left-hand side, using theory based on strong assumptions about the population. Modern statistics has moved to the right-hand side, where such assumptions are not needed.</a:t>
            </a:r>
          </a:p>
        </p:txBody>
      </p:sp>
      <p:sp>
        <p:nvSpPr>
          <p:cNvPr id="6" name="Rectangle 5"/>
          <p:cNvSpPr/>
          <p:nvPr/>
        </p:nvSpPr>
        <p:spPr>
          <a:xfrm>
            <a:off x="391886" y="3190076"/>
            <a:ext cx="6714308" cy="3139321"/>
          </a:xfrm>
          <a:prstGeom prst="rect">
            <a:avLst/>
          </a:prstGeom>
        </p:spPr>
        <p:txBody>
          <a:bodyPr wrap="square">
            <a:spAutoFit/>
          </a:bodyPr>
          <a:lstStyle/>
          <a:p>
            <a:pPr algn="just"/>
            <a:r>
              <a:rPr lang="en-US" dirty="0">
                <a:latin typeface="Times New Roman" pitchFamily="18" charset="0"/>
                <a:cs typeface="Times New Roman" pitchFamily="18" charset="0"/>
              </a:rPr>
              <a:t>	The simplest example is flipping a coin: this follows a binomial distribution. Any real-life binomial situation (buy or don’t buy, fraud or no fraud, click or don’t click) can be modeled effectively by a coin (with modified probability of landing heads, of course). In these cases, we can gain additional insight by using our understanding of the population.</a:t>
            </a:r>
          </a:p>
          <a:p>
            <a:pPr algn="just"/>
            <a:endParaRPr lang="en-IN" dirty="0">
              <a:latin typeface="Times New Roman" pitchFamily="18" charset="0"/>
              <a:cs typeface="Times New Roman" pitchFamily="18" charset="0"/>
            </a:endParaRPr>
          </a:p>
          <a:p>
            <a:pPr algn="just"/>
            <a:r>
              <a:rPr lang="en-US" b="1" dirty="0">
                <a:solidFill>
                  <a:srgbClr val="222222"/>
                </a:solidFill>
                <a:latin typeface="Times New Roman" panose="02020603050405020304" pitchFamily="18" charset="0"/>
                <a:cs typeface="Times New Roman" panose="02020603050405020304" pitchFamily="18" charset="0"/>
              </a:rPr>
              <a:t>Definition: </a:t>
            </a:r>
            <a:r>
              <a:rPr lang="en-US" dirty="0">
                <a:solidFill>
                  <a:srgbClr val="222222"/>
                </a:solidFill>
                <a:latin typeface="Times New Roman" panose="02020603050405020304" pitchFamily="18" charset="0"/>
                <a:cs typeface="Times New Roman" panose="02020603050405020304" pitchFamily="18" charset="0"/>
              </a:rPr>
              <a:t>The </a:t>
            </a:r>
            <a:r>
              <a:rPr lang="en-US" b="1" dirty="0">
                <a:solidFill>
                  <a:srgbClr val="222222"/>
                </a:solidFill>
                <a:latin typeface="Times New Roman" panose="02020603050405020304" pitchFamily="18" charset="0"/>
                <a:cs typeface="Times New Roman" panose="02020603050405020304" pitchFamily="18" charset="0"/>
              </a:rPr>
              <a:t>Sampling </a:t>
            </a:r>
            <a:r>
              <a:rPr lang="en-US" dirty="0">
                <a:solidFill>
                  <a:srgbClr val="222222"/>
                </a:solidFill>
                <a:latin typeface="Times New Roman" panose="02020603050405020304" pitchFamily="18" charset="0"/>
                <a:cs typeface="Times New Roman" panose="02020603050405020304" pitchFamily="18" charset="0"/>
              </a:rPr>
              <a:t>is a statistical process of selecting few representatives from the population, called as a sample, on the basis of which the characteristics of the total population can be ascertained.</a:t>
            </a:r>
          </a:p>
          <a:p>
            <a:pPr algn="just"/>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11464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0595" y="692722"/>
            <a:ext cx="11390811" cy="5663089"/>
          </a:xfrm>
          <a:prstGeom prst="rect">
            <a:avLst/>
          </a:prstGeom>
        </p:spPr>
        <p:txBody>
          <a:bodyPr wrap="square">
            <a:spAutoFit/>
          </a:bodyPr>
          <a:lstStyle/>
          <a:p>
            <a:r>
              <a:rPr lang="en-US" sz="2000" b="1" u="sng" dirty="0">
                <a:latin typeface="Times New Roman" pitchFamily="18" charset="0"/>
                <a:cs typeface="Times New Roman" pitchFamily="18" charset="0"/>
              </a:rPr>
              <a:t>Random Sampling and Sample Bias</a:t>
            </a:r>
          </a:p>
          <a:p>
            <a:endParaRPr lang="en-IN" dirty="0"/>
          </a:p>
          <a:p>
            <a:pPr algn="just"/>
            <a:r>
              <a:rPr lang="en-US" dirty="0">
                <a:latin typeface="Times New Roman" pitchFamily="18" charset="0"/>
                <a:cs typeface="Times New Roman" pitchFamily="18" charset="0"/>
              </a:rPr>
              <a:t>	A sample is a subset of data from a larger data set; statisticians call this larger data set the population. A population in statistics is not the same thing as in biology—it is a large, defined (but sometimes theoretical or imaginary) set of data.</a:t>
            </a:r>
          </a:p>
          <a:p>
            <a:pPr algn="just"/>
            <a:r>
              <a:rPr lang="en-US" dirty="0">
                <a:latin typeface="Times New Roman" pitchFamily="18" charset="0"/>
                <a:cs typeface="Times New Roman" pitchFamily="18" charset="0"/>
              </a:rPr>
              <a:t>Random sampling is a process in which each available member of the population being sampled has an equal chance of being chosen for the sample at each draw. The sample that results is called a simple random sample. Sampling can be done with replacement, in which observations are put back in the population after each draw for possible future reselection. Or it can be done without replacement, in which case observations, once selected, are unavailable for future draws.</a:t>
            </a:r>
          </a:p>
          <a:p>
            <a:pPr algn="just"/>
            <a:r>
              <a:rPr lang="en-US" dirty="0">
                <a:latin typeface="Times New Roman" pitchFamily="18" charset="0"/>
                <a:cs typeface="Times New Roman" pitchFamily="18" charset="0"/>
              </a:rPr>
              <a:t>Data quality often matters more than data quantity when making an estimate or a model based on a sample. Data quality in data science involves completeness, consistency of format, cleanliness, and accuracy of individual data points. Statistics adds the notion of representativeness. </a:t>
            </a:r>
          </a:p>
          <a:p>
            <a:pPr algn="just"/>
            <a:endParaRPr lang="en-IN" dirty="0">
              <a:latin typeface="Times New Roman" pitchFamily="18" charset="0"/>
              <a:cs typeface="Times New Roman" pitchFamily="18" charset="0"/>
            </a:endParaRPr>
          </a:p>
          <a:p>
            <a:pPr algn="just"/>
            <a:r>
              <a:rPr lang="en-US" b="1" u="sng" dirty="0">
                <a:latin typeface="Times New Roman" panose="02020603050405020304" pitchFamily="18" charset="0"/>
                <a:cs typeface="Times New Roman" panose="02020603050405020304" pitchFamily="18" charset="0"/>
              </a:rPr>
              <a:t>Simple Random Sampling</a:t>
            </a:r>
          </a:p>
          <a:p>
            <a:pPr algn="just"/>
            <a:endParaRPr lang="en-US" b="1" u="sng"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The Simple Random Sampling is a sampling technique wherein every item of the population has an equal and likely chance of being selected in the sample. Here, the selection of the item solely depends on the chance and therefore, this method is also called as a Method of Chance Selection.</a:t>
            </a:r>
          </a:p>
          <a:p>
            <a:endParaRPr lang="en-IN"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604E76-5BA8-9299-FF52-7CFD5B5905CA}"/>
              </a:ext>
            </a:extLst>
          </p:cNvPr>
          <p:cNvSpPr txBox="1"/>
          <p:nvPr/>
        </p:nvSpPr>
        <p:spPr>
          <a:xfrm>
            <a:off x="444136" y="810890"/>
            <a:ext cx="11338561" cy="5396349"/>
          </a:xfrm>
          <a:prstGeom prst="rect">
            <a:avLst/>
          </a:prstGeom>
          <a:noFill/>
        </p:spPr>
        <p:txBody>
          <a:bodyPr wrap="square">
            <a:spAutoFit/>
          </a:bodyPr>
          <a:lstStyle/>
          <a:p>
            <a:pPr algn="just"/>
            <a:r>
              <a:rPr lang="en-US" b="0" i="0" dirty="0">
                <a:solidFill>
                  <a:srgbClr val="222222"/>
                </a:solidFill>
                <a:effectLst/>
                <a:latin typeface="Times New Roman" panose="02020603050405020304" pitchFamily="18" charset="0"/>
                <a:cs typeface="Times New Roman" panose="02020603050405020304" pitchFamily="18" charset="0"/>
              </a:rPr>
              <a:t>	The most common method used to obtain the random samples from the population is a </a:t>
            </a:r>
            <a:r>
              <a:rPr lang="en-US" b="1" i="0" dirty="0">
                <a:solidFill>
                  <a:srgbClr val="222222"/>
                </a:solidFill>
                <a:effectLst/>
                <a:latin typeface="Times New Roman" panose="02020603050405020304" pitchFamily="18" charset="0"/>
                <a:cs typeface="Times New Roman" panose="02020603050405020304" pitchFamily="18" charset="0"/>
              </a:rPr>
              <a:t>Lottery Method. </a:t>
            </a:r>
            <a:r>
              <a:rPr lang="en-US" b="0" i="0" dirty="0">
                <a:solidFill>
                  <a:srgbClr val="222222"/>
                </a:solidFill>
                <a:effectLst/>
                <a:latin typeface="Times New Roman" panose="02020603050405020304" pitchFamily="18" charset="0"/>
                <a:cs typeface="Times New Roman" panose="02020603050405020304" pitchFamily="18" charset="0"/>
              </a:rPr>
              <a:t>Under this method, all the items of the population are numbered or named on the identical paper slips and then these slips are mixed up in a container. The investigators blindfold himself and select as many slips from the container that constitute the desired sample size.</a:t>
            </a:r>
          </a:p>
          <a:p>
            <a:pPr algn="just"/>
            <a:endParaRPr lang="en-US" dirty="0">
              <a:solidFill>
                <a:srgbClr val="222222"/>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Here, the selection is purely based on a chance and every item has an equal chance of getting selected. This method is very popular in the lottery draws. While using the lottery method, it is essential to check that the slips are of identical size, color, and the shape, otherwise, there is a possibility of personal bias and prejudice.</a:t>
            </a:r>
          </a:p>
          <a:p>
            <a:pPr algn="just"/>
            <a:endParaRPr lang="en-IN" dirty="0">
              <a:latin typeface="Times New Roman" panose="02020603050405020304" pitchFamily="18" charset="0"/>
              <a:cs typeface="Times New Roman" panose="02020603050405020304" pitchFamily="18" charset="0"/>
            </a:endParaRPr>
          </a:p>
          <a:p>
            <a:pPr algn="just">
              <a:spcAft>
                <a:spcPts val="1200"/>
              </a:spcAft>
              <a:buNone/>
            </a:pPr>
            <a:r>
              <a:rPr lang="en-US" b="1" dirty="0">
                <a:latin typeface="Times New Roman" panose="02020603050405020304" pitchFamily="18" charset="0"/>
                <a:cs typeface="Times New Roman" panose="02020603050405020304" pitchFamily="18" charset="0"/>
              </a:rPr>
              <a:t>Stratified Sampling</a:t>
            </a:r>
          </a:p>
          <a:p>
            <a:pPr algn="just">
              <a:spcBef>
                <a:spcPts val="750"/>
              </a:spcBef>
              <a:spcAft>
                <a:spcPts val="1950"/>
              </a:spcAft>
            </a:pPr>
            <a:r>
              <a:rPr lang="en-US" b="1" dirty="0">
                <a:solidFill>
                  <a:srgbClr val="222222"/>
                </a:solidFill>
                <a:latin typeface="Times New Roman" panose="02020603050405020304" pitchFamily="18" charset="0"/>
                <a:cs typeface="Times New Roman" panose="02020603050405020304" pitchFamily="18" charset="0"/>
              </a:rPr>
              <a:t>Definition: </a:t>
            </a:r>
            <a:r>
              <a:rPr lang="en-US" dirty="0">
                <a:solidFill>
                  <a:srgbClr val="222222"/>
                </a:solidFill>
                <a:latin typeface="Times New Roman" panose="02020603050405020304" pitchFamily="18" charset="0"/>
                <a:cs typeface="Times New Roman" panose="02020603050405020304" pitchFamily="18" charset="0"/>
              </a:rPr>
              <a:t>The </a:t>
            </a:r>
            <a:r>
              <a:rPr lang="en-US" b="1" dirty="0">
                <a:solidFill>
                  <a:srgbClr val="222222"/>
                </a:solidFill>
                <a:latin typeface="Times New Roman" panose="02020603050405020304" pitchFamily="18" charset="0"/>
                <a:cs typeface="Times New Roman" panose="02020603050405020304" pitchFamily="18" charset="0"/>
              </a:rPr>
              <a:t>Stratified Sampling</a:t>
            </a:r>
            <a:r>
              <a:rPr lang="en-US" dirty="0">
                <a:solidFill>
                  <a:srgbClr val="222222"/>
                </a:solidFill>
                <a:latin typeface="Times New Roman" panose="02020603050405020304" pitchFamily="18" charset="0"/>
                <a:cs typeface="Times New Roman" panose="02020603050405020304" pitchFamily="18" charset="0"/>
              </a:rPr>
              <a:t> is a sampling technique wherein the population is sub-divided into homogeneous groups, called as </a:t>
            </a:r>
            <a:r>
              <a:rPr lang="en-US" b="1" dirty="0">
                <a:solidFill>
                  <a:srgbClr val="222222"/>
                </a:solidFill>
                <a:latin typeface="Times New Roman" panose="02020603050405020304" pitchFamily="18" charset="0"/>
                <a:cs typeface="Times New Roman" panose="02020603050405020304" pitchFamily="18" charset="0"/>
              </a:rPr>
              <a:t>‘strata’</a:t>
            </a:r>
            <a:r>
              <a:rPr lang="en-US" dirty="0">
                <a:solidFill>
                  <a:srgbClr val="222222"/>
                </a:solidFill>
                <a:latin typeface="Times New Roman" panose="02020603050405020304" pitchFamily="18" charset="0"/>
                <a:cs typeface="Times New Roman" panose="02020603050405020304" pitchFamily="18" charset="0"/>
              </a:rPr>
              <a:t>, from which the samples are selected on a random basis.</a:t>
            </a:r>
          </a:p>
          <a:p>
            <a:pPr algn="just">
              <a:spcBef>
                <a:spcPts val="750"/>
              </a:spcBef>
              <a:spcAft>
                <a:spcPts val="1950"/>
              </a:spcAft>
            </a:pPr>
            <a:r>
              <a:rPr lang="en-US">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strata are formed on the basis of the member’s shared attributes and characteristics. These are mutually exclusive as every item of the population is assigned to a single stratum. The items should be selected from every stratum such that each element has the chance of being selected in a sample, with a probability close to 0.</a:t>
            </a:r>
            <a:endParaRPr lang="en-US" dirty="0">
              <a:solidFill>
                <a:srgbClr val="222222"/>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5959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BED437-6ECD-C4EA-9779-4C38A130924B}"/>
              </a:ext>
            </a:extLst>
          </p:cNvPr>
          <p:cNvSpPr txBox="1"/>
          <p:nvPr/>
        </p:nvSpPr>
        <p:spPr>
          <a:xfrm>
            <a:off x="418010" y="320677"/>
            <a:ext cx="11364687" cy="4288353"/>
          </a:xfrm>
          <a:prstGeom prst="rect">
            <a:avLst/>
          </a:prstGeom>
          <a:noFill/>
        </p:spPr>
        <p:txBody>
          <a:bodyPr wrap="square">
            <a:spAutoFit/>
          </a:bodyPr>
          <a:lstStyle/>
          <a:p>
            <a:pPr algn="l">
              <a:spcBef>
                <a:spcPts val="750"/>
              </a:spcBef>
              <a:spcAft>
                <a:spcPts val="1950"/>
              </a:spcAft>
              <a:buNone/>
            </a:pPr>
            <a:r>
              <a:rPr lang="en-US" b="1" i="0" dirty="0">
                <a:solidFill>
                  <a:srgbClr val="222222"/>
                </a:solidFill>
                <a:effectLst/>
                <a:latin typeface="Times New Roman" panose="02020603050405020304" pitchFamily="18" charset="0"/>
                <a:cs typeface="Times New Roman" panose="02020603050405020304" pitchFamily="18" charset="0"/>
              </a:rPr>
              <a:t>Proportionate Stratified Sampling: </a:t>
            </a:r>
            <a:r>
              <a:rPr lang="en-US" b="0" i="0" dirty="0">
                <a:solidFill>
                  <a:srgbClr val="222222"/>
                </a:solidFill>
                <a:effectLst/>
                <a:latin typeface="Times New Roman" panose="02020603050405020304" pitchFamily="18" charset="0"/>
                <a:cs typeface="Times New Roman" panose="02020603050405020304" pitchFamily="18" charset="0"/>
              </a:rPr>
              <a:t>In this method, the elements from each stratum is selected in proportion to the size of the strata. Hence, there is a same sampling fraction between the strata. For example, if the population is to be divided into five strata with respective sizes 10, 15, 20, 20, 35 percent of the population and the sample of 1000 is to be drawn, then the proportional sample will be obtained as follows</a:t>
            </a:r>
          </a:p>
          <a:p>
            <a:pPr>
              <a:spcBef>
                <a:spcPts val="750"/>
              </a:spcBef>
              <a:spcAft>
                <a:spcPts val="1950"/>
              </a:spcAft>
            </a:pPr>
            <a:r>
              <a:rPr lang="en-US" dirty="0">
                <a:latin typeface="Times New Roman" panose="02020603050405020304" pitchFamily="18" charset="0"/>
                <a:cs typeface="Times New Roman" panose="02020603050405020304" pitchFamily="18" charset="0"/>
              </a:rPr>
              <a:t>Stratum-1: 1000 (0.10) = 100 items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Stratum-2: 1000 (0.15) = 150 items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Stratum-3: 1000 (0.20) = 200 items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|Stratum-4: 1000 (0.20) = 200 items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Startum-5: 1000 (0.35) = 350 items</a:t>
            </a:r>
          </a:p>
          <a:p>
            <a:r>
              <a:rPr lang="en-US" b="1" dirty="0">
                <a:latin typeface="Times New Roman" panose="02020603050405020304" pitchFamily="18" charset="0"/>
                <a:cs typeface="Times New Roman" panose="02020603050405020304" pitchFamily="18" charset="0"/>
              </a:rPr>
              <a:t>On adding the items drawn from each stratum we get the total sample size as 1000.</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method is useful only when there are no significant variations between strata.</a:t>
            </a:r>
          </a:p>
          <a:p>
            <a:pPr>
              <a:spcBef>
                <a:spcPts val="750"/>
              </a:spcBef>
              <a:spcAft>
                <a:spcPts val="1950"/>
              </a:spcAft>
            </a:pPr>
            <a:endParaRPr lang="en-US" sz="2800" b="0" i="0" dirty="0">
              <a:solidFill>
                <a:srgbClr val="222222"/>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883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8BCA90-C302-9352-7A39-DCCD6EEE1635}"/>
              </a:ext>
            </a:extLst>
          </p:cNvPr>
          <p:cNvSpPr txBox="1"/>
          <p:nvPr/>
        </p:nvSpPr>
        <p:spPr>
          <a:xfrm>
            <a:off x="487680" y="313508"/>
            <a:ext cx="10481187" cy="6801862"/>
          </a:xfrm>
          <a:prstGeom prst="rect">
            <a:avLst/>
          </a:prstGeom>
          <a:noFill/>
        </p:spPr>
        <p:txBody>
          <a:bodyPr wrap="square">
            <a:spAutoFit/>
          </a:bodyPr>
          <a:lstStyle/>
          <a:p>
            <a:pPr algn="ctr"/>
            <a:r>
              <a:rPr lang="en-US" sz="2000" b="1" i="0" u="none" strike="noStrike" baseline="0" dirty="0">
                <a:solidFill>
                  <a:schemeClr val="accent2"/>
                </a:solidFill>
                <a:latin typeface="Times New Roman" panose="02020603050405020304" pitchFamily="18" charset="0"/>
                <a:cs typeface="Times New Roman" panose="02020603050405020304" pitchFamily="18" charset="0"/>
              </a:rPr>
              <a:t>Key Terms for Random Sampling</a:t>
            </a:r>
          </a:p>
          <a:p>
            <a:pPr algn="l"/>
            <a:r>
              <a:rPr lang="en-IN" sz="1600" b="1" u="sng" strike="noStrike" baseline="0" dirty="0">
                <a:solidFill>
                  <a:schemeClr val="accent1"/>
                </a:solidFill>
                <a:latin typeface="Times New Roman" panose="02020603050405020304" pitchFamily="18" charset="0"/>
                <a:cs typeface="Times New Roman" panose="02020603050405020304" pitchFamily="18" charset="0"/>
              </a:rPr>
              <a:t>Sample</a:t>
            </a:r>
          </a:p>
          <a:p>
            <a:pPr algn="l"/>
            <a:r>
              <a:rPr lang="en-US" sz="1600" b="0" u="none" strike="noStrike" baseline="0" dirty="0">
                <a:latin typeface="Times New Roman" panose="02020603050405020304" pitchFamily="18" charset="0"/>
                <a:cs typeface="Times New Roman" panose="02020603050405020304" pitchFamily="18" charset="0"/>
              </a:rPr>
              <a:t>A subset from a larger data set.</a:t>
            </a:r>
          </a:p>
          <a:p>
            <a:pPr algn="l"/>
            <a:endParaRPr lang="en-US" sz="1600" b="0" u="none" strike="noStrike" baseline="0" dirty="0">
              <a:latin typeface="Times New Roman" panose="02020603050405020304" pitchFamily="18" charset="0"/>
              <a:cs typeface="Times New Roman" panose="02020603050405020304" pitchFamily="18" charset="0"/>
            </a:endParaRPr>
          </a:p>
          <a:p>
            <a:pPr algn="l"/>
            <a:r>
              <a:rPr lang="en-IN" sz="1600" b="1" u="sng" strike="noStrike" baseline="0" dirty="0">
                <a:solidFill>
                  <a:schemeClr val="accent1"/>
                </a:solidFill>
                <a:latin typeface="Times New Roman" panose="02020603050405020304" pitchFamily="18" charset="0"/>
                <a:cs typeface="Times New Roman" panose="02020603050405020304" pitchFamily="18" charset="0"/>
              </a:rPr>
              <a:t>Population</a:t>
            </a:r>
          </a:p>
          <a:p>
            <a:pPr algn="l"/>
            <a:r>
              <a:rPr lang="en-US" sz="1600" b="0" u="none" strike="noStrike" baseline="0" dirty="0">
                <a:latin typeface="Times New Roman" panose="02020603050405020304" pitchFamily="18" charset="0"/>
                <a:cs typeface="Times New Roman" panose="02020603050405020304" pitchFamily="18" charset="0"/>
              </a:rPr>
              <a:t>The larger data set or idea of a data set.</a:t>
            </a:r>
          </a:p>
          <a:p>
            <a:pPr algn="l"/>
            <a:endParaRPr lang="en-US" sz="1600" b="0" u="none" strike="noStrike" baseline="0" dirty="0">
              <a:latin typeface="Times New Roman" panose="02020603050405020304" pitchFamily="18" charset="0"/>
              <a:cs typeface="Times New Roman" panose="02020603050405020304" pitchFamily="18" charset="0"/>
            </a:endParaRPr>
          </a:p>
          <a:p>
            <a:pPr algn="l"/>
            <a:r>
              <a:rPr lang="en-IN" sz="1600" b="1" u="none" strike="noStrike" baseline="0" dirty="0">
                <a:solidFill>
                  <a:schemeClr val="accent1"/>
                </a:solidFill>
                <a:latin typeface="Times New Roman" panose="02020603050405020304" pitchFamily="18" charset="0"/>
                <a:cs typeface="Times New Roman" panose="02020603050405020304" pitchFamily="18" charset="0"/>
              </a:rPr>
              <a:t>N (n)</a:t>
            </a:r>
          </a:p>
          <a:p>
            <a:pPr algn="l"/>
            <a:r>
              <a:rPr lang="en-US" sz="1600" b="0" u="none" strike="noStrike" baseline="0" dirty="0">
                <a:latin typeface="Times New Roman" panose="02020603050405020304" pitchFamily="18" charset="0"/>
                <a:cs typeface="Times New Roman" panose="02020603050405020304" pitchFamily="18" charset="0"/>
              </a:rPr>
              <a:t>The size of the population (sample).</a:t>
            </a:r>
          </a:p>
          <a:p>
            <a:pPr algn="l"/>
            <a:endParaRPr lang="en-US" sz="1600" b="0" u="none" strike="noStrike" baseline="0" dirty="0">
              <a:latin typeface="Times New Roman" panose="02020603050405020304" pitchFamily="18" charset="0"/>
              <a:cs typeface="Times New Roman" panose="02020603050405020304" pitchFamily="18" charset="0"/>
            </a:endParaRPr>
          </a:p>
          <a:p>
            <a:pPr algn="l"/>
            <a:r>
              <a:rPr lang="en-IN" sz="1600" b="1" u="sng" strike="noStrike" baseline="0" dirty="0">
                <a:solidFill>
                  <a:schemeClr val="accent1"/>
                </a:solidFill>
                <a:latin typeface="Times New Roman" panose="02020603050405020304" pitchFamily="18" charset="0"/>
                <a:cs typeface="Times New Roman" panose="02020603050405020304" pitchFamily="18" charset="0"/>
              </a:rPr>
              <a:t>Random sampling</a:t>
            </a:r>
          </a:p>
          <a:p>
            <a:pPr algn="l"/>
            <a:r>
              <a:rPr lang="en-US" sz="1600" b="0" u="none" strike="noStrike" baseline="0" dirty="0">
                <a:latin typeface="Times New Roman" panose="02020603050405020304" pitchFamily="18" charset="0"/>
                <a:cs typeface="Times New Roman" panose="02020603050405020304" pitchFamily="18" charset="0"/>
              </a:rPr>
              <a:t>Drawing elements into a sample at random.</a:t>
            </a:r>
          </a:p>
          <a:p>
            <a:pPr algn="l"/>
            <a:endParaRPr lang="en-US" sz="1600" b="0" u="none" strike="noStrike" baseline="0" dirty="0">
              <a:latin typeface="Times New Roman" panose="02020603050405020304" pitchFamily="18" charset="0"/>
              <a:cs typeface="Times New Roman" panose="02020603050405020304" pitchFamily="18" charset="0"/>
            </a:endParaRPr>
          </a:p>
          <a:p>
            <a:pPr algn="l"/>
            <a:r>
              <a:rPr lang="en-IN" sz="1600" b="1" u="sng" strike="noStrike" baseline="0" dirty="0">
                <a:solidFill>
                  <a:schemeClr val="accent1"/>
                </a:solidFill>
                <a:latin typeface="Times New Roman" panose="02020603050405020304" pitchFamily="18" charset="0"/>
                <a:cs typeface="Times New Roman" panose="02020603050405020304" pitchFamily="18" charset="0"/>
              </a:rPr>
              <a:t>Stratified sampling</a:t>
            </a:r>
          </a:p>
          <a:p>
            <a:pPr algn="l"/>
            <a:r>
              <a:rPr lang="en-US" sz="1600" b="0" u="none" strike="noStrike" baseline="0" dirty="0">
                <a:latin typeface="Times New Roman" panose="02020603050405020304" pitchFamily="18" charset="0"/>
                <a:cs typeface="Times New Roman" panose="02020603050405020304" pitchFamily="18" charset="0"/>
              </a:rPr>
              <a:t>Dividing the population into strata and randomly sampling from each strata.</a:t>
            </a:r>
          </a:p>
          <a:p>
            <a:pPr algn="l"/>
            <a:endParaRPr lang="en-US" sz="1600" b="0" u="none" strike="noStrike" baseline="0" dirty="0">
              <a:latin typeface="Times New Roman" panose="02020603050405020304" pitchFamily="18" charset="0"/>
              <a:cs typeface="Times New Roman" panose="02020603050405020304" pitchFamily="18" charset="0"/>
            </a:endParaRPr>
          </a:p>
          <a:p>
            <a:r>
              <a:rPr lang="en-IN" sz="1600" b="1" u="sng" dirty="0">
                <a:solidFill>
                  <a:schemeClr val="accent1"/>
                </a:solidFill>
                <a:latin typeface="Times New Roman" panose="02020603050405020304" pitchFamily="18" charset="0"/>
                <a:cs typeface="Times New Roman" panose="02020603050405020304" pitchFamily="18" charset="0"/>
              </a:rPr>
              <a:t>Stratum (pl., strata)</a:t>
            </a:r>
          </a:p>
          <a:p>
            <a:r>
              <a:rPr lang="en-US" sz="1600" dirty="0">
                <a:latin typeface="Times New Roman" panose="02020603050405020304" pitchFamily="18" charset="0"/>
                <a:cs typeface="Times New Roman" panose="02020603050405020304" pitchFamily="18" charset="0"/>
              </a:rPr>
              <a:t>A homogeneous subgroup of a population with common characteristics.</a:t>
            </a:r>
          </a:p>
          <a:p>
            <a:endParaRPr lang="en-US" sz="1600" dirty="0">
              <a:latin typeface="Times New Roman" panose="02020603050405020304" pitchFamily="18" charset="0"/>
              <a:cs typeface="Times New Roman" panose="02020603050405020304" pitchFamily="18" charset="0"/>
            </a:endParaRPr>
          </a:p>
          <a:p>
            <a:r>
              <a:rPr lang="en-IN" sz="1600" b="1" u="sng" dirty="0">
                <a:solidFill>
                  <a:schemeClr val="accent1"/>
                </a:solidFill>
                <a:latin typeface="Times New Roman" panose="02020603050405020304" pitchFamily="18" charset="0"/>
                <a:cs typeface="Times New Roman" panose="02020603050405020304" pitchFamily="18" charset="0"/>
              </a:rPr>
              <a:t>Simple random sample</a:t>
            </a:r>
          </a:p>
          <a:p>
            <a:r>
              <a:rPr lang="en-US" sz="1600" dirty="0">
                <a:latin typeface="Times New Roman" panose="02020603050405020304" pitchFamily="18" charset="0"/>
                <a:cs typeface="Times New Roman" panose="02020603050405020304" pitchFamily="18" charset="0"/>
              </a:rPr>
              <a:t>The sample that results from random sampling without stratifying the </a:t>
            </a:r>
            <a:r>
              <a:rPr lang="en-IN" sz="1600" dirty="0">
                <a:latin typeface="Times New Roman" panose="02020603050405020304" pitchFamily="18" charset="0"/>
                <a:cs typeface="Times New Roman" panose="02020603050405020304" pitchFamily="18" charset="0"/>
              </a:rPr>
              <a:t>population.</a:t>
            </a:r>
          </a:p>
          <a:p>
            <a:r>
              <a:rPr lang="en-IN" sz="1600" b="1" u="sng" dirty="0">
                <a:solidFill>
                  <a:schemeClr val="accent1"/>
                </a:solidFill>
                <a:latin typeface="Times New Roman" panose="02020603050405020304" pitchFamily="18" charset="0"/>
                <a:cs typeface="Times New Roman" panose="02020603050405020304" pitchFamily="18" charset="0"/>
              </a:rPr>
              <a:t>Bias</a:t>
            </a:r>
          </a:p>
          <a:p>
            <a:r>
              <a:rPr lang="en-IN" sz="1600" dirty="0">
                <a:latin typeface="Times New Roman" panose="02020603050405020304" pitchFamily="18" charset="0"/>
                <a:cs typeface="Times New Roman" panose="02020603050405020304" pitchFamily="18" charset="0"/>
              </a:rPr>
              <a:t>Systematic error.</a:t>
            </a:r>
          </a:p>
          <a:p>
            <a:r>
              <a:rPr lang="en-IN" sz="1600" b="1" u="sng" dirty="0">
                <a:solidFill>
                  <a:schemeClr val="accent1"/>
                </a:solidFill>
                <a:latin typeface="Times New Roman" panose="02020603050405020304" pitchFamily="18" charset="0"/>
                <a:cs typeface="Times New Roman" panose="02020603050405020304" pitchFamily="18" charset="0"/>
              </a:rPr>
              <a:t>Sample bias</a:t>
            </a:r>
          </a:p>
          <a:p>
            <a:r>
              <a:rPr lang="en-US" sz="1600" dirty="0">
                <a:latin typeface="Times New Roman" panose="02020603050405020304" pitchFamily="18" charset="0"/>
                <a:cs typeface="Times New Roman" panose="02020603050405020304" pitchFamily="18" charset="0"/>
              </a:rPr>
              <a:t>A sample that misrepresents the population.</a:t>
            </a:r>
            <a:endParaRPr lang="en-IN" sz="1600" dirty="0">
              <a:latin typeface="Times New Roman" panose="02020603050405020304" pitchFamily="18" charset="0"/>
              <a:cs typeface="Times New Roman" panose="02020603050405020304" pitchFamily="18" charset="0"/>
            </a:endParaRPr>
          </a:p>
          <a:p>
            <a:pPr algn="l"/>
            <a:endParaRPr lang="en-US" sz="2400" b="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6423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0EFD5AF-EC63-0D89-260F-4E15E5C80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6782" y="736103"/>
            <a:ext cx="3657538" cy="29911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18DBFC-21A2-E609-B400-DBEDE891EADE}"/>
              </a:ext>
            </a:extLst>
          </p:cNvPr>
          <p:cNvSpPr txBox="1"/>
          <p:nvPr/>
        </p:nvSpPr>
        <p:spPr>
          <a:xfrm>
            <a:off x="409303" y="675143"/>
            <a:ext cx="7480160" cy="3200876"/>
          </a:xfrm>
          <a:prstGeom prst="rect">
            <a:avLst/>
          </a:prstGeom>
          <a:noFill/>
        </p:spPr>
        <p:txBody>
          <a:bodyPr wrap="square">
            <a:spAutoFit/>
          </a:bodyPr>
          <a:lstStyle/>
          <a:p>
            <a:pPr algn="l">
              <a:buNone/>
            </a:pPr>
            <a:r>
              <a:rPr lang="en-US" sz="2000" b="1" i="0" dirty="0">
                <a:solidFill>
                  <a:srgbClr val="000000"/>
                </a:solidFill>
                <a:effectLst/>
                <a:latin typeface="Times New Roman" panose="02020603050405020304" pitchFamily="18" charset="0"/>
              </a:rPr>
              <a:t>Famous Statistical Blunders in History</a:t>
            </a:r>
          </a:p>
          <a:p>
            <a:pPr algn="just">
              <a:buNone/>
            </a:pPr>
            <a:endParaRPr lang="en-US" sz="2000" b="1" dirty="0">
              <a:solidFill>
                <a:srgbClr val="000000"/>
              </a:solidFill>
              <a:latin typeface="Times New Roman" panose="02020603050405020304" pitchFamily="18" charset="0"/>
              <a:hlinkClick r:id="rId3"/>
            </a:endParaRPr>
          </a:p>
          <a:p>
            <a:pPr algn="just">
              <a:buNone/>
            </a:pPr>
            <a:r>
              <a:rPr lang="en-US" b="1" dirty="0">
                <a:solidFill>
                  <a:srgbClr val="000000"/>
                </a:solidFill>
                <a:effectLst/>
                <a:latin typeface="Times New Roman" panose="02020603050405020304" pitchFamily="18" charset="0"/>
                <a:hlinkClick r:id="rId3"/>
              </a:rPr>
              <a:t>Literary Digest, 1936</a:t>
            </a:r>
            <a:endParaRPr lang="en-US" b="1" dirty="0">
              <a:solidFill>
                <a:srgbClr val="000000"/>
              </a:solidFill>
              <a:effectLst/>
              <a:latin typeface="Times New Roman" panose="02020603050405020304" pitchFamily="18" charset="0"/>
            </a:endParaRPr>
          </a:p>
          <a:p>
            <a:pPr algn="just">
              <a:buNone/>
            </a:pPr>
            <a:r>
              <a:rPr lang="en-US" b="0" dirty="0">
                <a:solidFill>
                  <a:srgbClr val="000000"/>
                </a:solidFill>
                <a:effectLst/>
                <a:latin typeface="Times New Roman" panose="02020603050405020304" pitchFamily="18" charset="0"/>
              </a:rPr>
              <a:t>In 1936, Literary Digest, a national magazine of the time, sent out 10 million "straw" ballots asking people to tell them who they planned on voting for in the 1936 presidential election. They received back 2.4 million ballots (not bad for a pre-internet time when polling was still in its infancy, but still only about a 25% return rate, which leaves the door open for voluntary response bias). They predicted Alf Landon would beat Franklin Delanor Roosevelt 57% to 43%. As it turned out, Roosevelt won 62% to 37%.</a:t>
            </a:r>
          </a:p>
          <a:p>
            <a:pPr algn="just">
              <a:buNone/>
            </a:pPr>
            <a:endParaRPr lang="en-US" b="0" dirty="0">
              <a:solidFill>
                <a:srgbClr val="000000"/>
              </a:solidFill>
              <a:effectLst/>
              <a:latin typeface="Times New Roman" panose="02020603050405020304" pitchFamily="18" charset="0"/>
            </a:endParaRPr>
          </a:p>
        </p:txBody>
      </p:sp>
      <p:sp>
        <p:nvSpPr>
          <p:cNvPr id="4" name="Rectangle 3"/>
          <p:cNvSpPr/>
          <p:nvPr/>
        </p:nvSpPr>
        <p:spPr>
          <a:xfrm>
            <a:off x="391886" y="3824633"/>
            <a:ext cx="11268891" cy="2585323"/>
          </a:xfrm>
          <a:prstGeom prst="rect">
            <a:avLst/>
          </a:prstGeom>
        </p:spPr>
        <p:txBody>
          <a:bodyPr wrap="square">
            <a:spAutoFit/>
          </a:bodyPr>
          <a:lstStyle/>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Literary Digest opted for quantity, paying little attention to the method of selection.</a:t>
            </a:r>
          </a:p>
          <a:p>
            <a:endParaRPr lang="en-US" i="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They ended up polling those with relatively high socioeconomic status (their own subscribers, plus those who, by virtue of owning luxuries like telephones and automobiles, appeared in marketers’ lists). The result was sample bias; that is, the sample was different in some meaningful and nonrandom way from the larger population it was meant to represent. The term nonrandom is important—hardly any sample, including random samples, will be exactly representative of the population. Sample bias occurs when the difference is meaningful, and it can be expected to continue for other samples drawn in the same way as the first.</a:t>
            </a:r>
          </a:p>
        </p:txBody>
      </p:sp>
    </p:spTree>
    <p:extLst>
      <p:ext uri="{BB962C8B-B14F-4D97-AF65-F5344CB8AC3E}">
        <p14:creationId xmlns:p14="http://schemas.microsoft.com/office/powerpoint/2010/main" val="3942308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E13A81-9EA5-8220-9A76-229CABB95F97}"/>
              </a:ext>
            </a:extLst>
          </p:cNvPr>
          <p:cNvPicPr>
            <a:picLocks noChangeAspect="1"/>
          </p:cNvPicPr>
          <p:nvPr/>
        </p:nvPicPr>
        <p:blipFill>
          <a:blip r:embed="rId2"/>
          <a:stretch>
            <a:fillRect/>
          </a:stretch>
        </p:blipFill>
        <p:spPr>
          <a:xfrm>
            <a:off x="500040" y="2833937"/>
            <a:ext cx="4646725" cy="2939845"/>
          </a:xfrm>
          <a:prstGeom prst="rect">
            <a:avLst/>
          </a:prstGeom>
        </p:spPr>
      </p:pic>
      <p:sp>
        <p:nvSpPr>
          <p:cNvPr id="5" name="TextBox 4">
            <a:extLst>
              <a:ext uri="{FF2B5EF4-FFF2-40B4-BE49-F238E27FC236}">
                <a16:creationId xmlns:a16="http://schemas.microsoft.com/office/drawing/2014/main" id="{F68E8E35-18F4-8F84-23AD-8A7282ED77AF}"/>
              </a:ext>
            </a:extLst>
          </p:cNvPr>
          <p:cNvSpPr txBox="1"/>
          <p:nvPr/>
        </p:nvSpPr>
        <p:spPr>
          <a:xfrm>
            <a:off x="486275" y="5954875"/>
            <a:ext cx="8264012" cy="400110"/>
          </a:xfrm>
          <a:prstGeom prst="rect">
            <a:avLst/>
          </a:prstGeom>
          <a:noFill/>
        </p:spPr>
        <p:txBody>
          <a:bodyPr wrap="square">
            <a:spAutoFit/>
          </a:bodyPr>
          <a:lstStyle/>
          <a:p>
            <a:r>
              <a:rPr lang="en-US" sz="2000" b="1" i="1" u="none" strike="noStrike" baseline="0" dirty="0">
                <a:latin typeface="Times New Roman" panose="02020603050405020304" pitchFamily="18" charset="0"/>
                <a:cs typeface="Times New Roman" panose="02020603050405020304" pitchFamily="18" charset="0"/>
              </a:rPr>
              <a:t>2-2 Scatterplot of shots from a gun with true aim</a:t>
            </a:r>
            <a:endParaRPr lang="en-IN" sz="20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28689D2-B02F-F8E6-D2A0-6D7840C1F083}"/>
              </a:ext>
            </a:extLst>
          </p:cNvPr>
          <p:cNvSpPr txBox="1"/>
          <p:nvPr/>
        </p:nvSpPr>
        <p:spPr>
          <a:xfrm>
            <a:off x="383176" y="287382"/>
            <a:ext cx="11399521" cy="2339102"/>
          </a:xfrm>
          <a:prstGeom prst="rect">
            <a:avLst/>
          </a:prstGeom>
          <a:noFill/>
        </p:spPr>
        <p:txBody>
          <a:bodyPr wrap="square">
            <a:spAutoFit/>
          </a:bodyPr>
          <a:lstStyle/>
          <a:p>
            <a:pPr algn="l"/>
            <a:r>
              <a:rPr lang="en-IN" sz="3600" b="0" i="0" u="none" strike="noStrike" baseline="0" dirty="0">
                <a:solidFill>
                  <a:srgbClr val="000000"/>
                </a:solidFill>
                <a:latin typeface="MyriadPro-SemiboldCond"/>
              </a:rPr>
              <a:t>Bias</a:t>
            </a:r>
          </a:p>
          <a:p>
            <a:pPr algn="just"/>
            <a:r>
              <a:rPr lang="en-US" b="0" i="0" u="none" strike="noStrike" baseline="0" dirty="0">
                <a:solidFill>
                  <a:srgbClr val="000000"/>
                </a:solidFill>
                <a:latin typeface="Times New Roman" panose="02020603050405020304" pitchFamily="18" charset="0"/>
                <a:cs typeface="Times New Roman" panose="02020603050405020304" pitchFamily="18" charset="0"/>
              </a:rPr>
              <a:t>	Statistical bias refers to measurement or sampling errors that are systematic and produced by the measurement or sampling process. An important distinction should be made between errors due to random chance and errors due to bias. Consider the physical process of a gun shooting at a target. It will not hit the absolute center of the target every time, or even much at all. An unbiased process will produce error, but it is random and does not tend strongly in any direction (see </a:t>
            </a:r>
            <a:r>
              <a:rPr lang="en-US" b="0" i="0" u="none" strike="noStrike" baseline="0" dirty="0">
                <a:solidFill>
                  <a:srgbClr val="9A0000"/>
                </a:solidFill>
                <a:latin typeface="Times New Roman" panose="02020603050405020304" pitchFamily="18" charset="0"/>
                <a:cs typeface="Times New Roman" panose="02020603050405020304" pitchFamily="18" charset="0"/>
              </a:rPr>
              <a:t>Figure 2-2</a:t>
            </a:r>
            <a:r>
              <a:rPr lang="en-US" b="0" i="0" u="none" strike="noStrike" baseline="0" dirty="0">
                <a:solidFill>
                  <a:srgbClr val="000000"/>
                </a:solidFill>
                <a:latin typeface="Times New Roman" panose="02020603050405020304" pitchFamily="18" charset="0"/>
                <a:cs typeface="Times New Roman" panose="02020603050405020304" pitchFamily="18" charset="0"/>
              </a:rPr>
              <a:t>). The results shown in </a:t>
            </a:r>
            <a:r>
              <a:rPr lang="en-US" b="0" i="0" u="none" strike="noStrike" baseline="0" dirty="0">
                <a:solidFill>
                  <a:srgbClr val="9A0000"/>
                </a:solidFill>
                <a:latin typeface="Times New Roman" panose="02020603050405020304" pitchFamily="18" charset="0"/>
                <a:cs typeface="Times New Roman" panose="02020603050405020304" pitchFamily="18" charset="0"/>
              </a:rPr>
              <a:t>Figure 2-3 </a:t>
            </a:r>
            <a:r>
              <a:rPr lang="en-US" b="0" i="0" u="none" strike="noStrike" baseline="0" dirty="0">
                <a:solidFill>
                  <a:srgbClr val="000000"/>
                </a:solidFill>
                <a:latin typeface="Times New Roman" panose="02020603050405020304" pitchFamily="18" charset="0"/>
                <a:cs typeface="Times New Roman" panose="02020603050405020304" pitchFamily="18" charset="0"/>
              </a:rPr>
              <a:t>show a biased process—there is still random error in both the x and y direction, but there is also a bias. Shots tend to fall in the upper-right quadrant</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F6CBAE7-5E24-EA85-BCCD-F9F51ED44EC3}"/>
              </a:ext>
            </a:extLst>
          </p:cNvPr>
          <p:cNvPicPr>
            <a:picLocks noChangeAspect="1"/>
          </p:cNvPicPr>
          <p:nvPr/>
        </p:nvPicPr>
        <p:blipFill>
          <a:blip r:embed="rId3"/>
          <a:stretch>
            <a:fillRect/>
          </a:stretch>
        </p:blipFill>
        <p:spPr>
          <a:xfrm>
            <a:off x="6836229" y="2778034"/>
            <a:ext cx="4734373" cy="3048561"/>
          </a:xfrm>
          <a:prstGeom prst="rect">
            <a:avLst/>
          </a:prstGeom>
        </p:spPr>
      </p:pic>
      <p:sp>
        <p:nvSpPr>
          <p:cNvPr id="7" name="Rectangle 6"/>
          <p:cNvSpPr/>
          <p:nvPr/>
        </p:nvSpPr>
        <p:spPr>
          <a:xfrm>
            <a:off x="6766560" y="6004951"/>
            <a:ext cx="5059680" cy="369332"/>
          </a:xfrm>
          <a:prstGeom prst="rect">
            <a:avLst/>
          </a:prstGeom>
        </p:spPr>
        <p:txBody>
          <a:bodyPr wrap="square">
            <a:spAutoFit/>
          </a:bodyPr>
          <a:lstStyle/>
          <a:p>
            <a:r>
              <a:rPr lang="en-US" b="1" i="1" dirty="0">
                <a:latin typeface="Times New Roman" panose="02020603050405020304" pitchFamily="18" charset="0"/>
                <a:cs typeface="Times New Roman" panose="02020603050405020304" pitchFamily="18" charset="0"/>
              </a:rPr>
              <a:t>2-3 </a:t>
            </a:r>
            <a:r>
              <a:rPr lang="en-US" b="1" i="1" dirty="0" err="1">
                <a:latin typeface="Times New Roman" panose="02020603050405020304" pitchFamily="18" charset="0"/>
                <a:cs typeface="Times New Roman" panose="02020603050405020304" pitchFamily="18" charset="0"/>
              </a:rPr>
              <a:t>Scatterplot</a:t>
            </a:r>
            <a:r>
              <a:rPr lang="en-US" b="1" i="1" dirty="0">
                <a:latin typeface="Times New Roman" panose="02020603050405020304" pitchFamily="18" charset="0"/>
                <a:cs typeface="Times New Roman" panose="02020603050405020304" pitchFamily="18" charset="0"/>
              </a:rPr>
              <a:t> of shots from a gun with biased aim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652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D24F64-16A2-7B36-8B15-4789A05EDE67}"/>
              </a:ext>
            </a:extLst>
          </p:cNvPr>
          <p:cNvSpPr txBox="1"/>
          <p:nvPr/>
        </p:nvSpPr>
        <p:spPr>
          <a:xfrm>
            <a:off x="550325" y="478821"/>
            <a:ext cx="10441858" cy="5632311"/>
          </a:xfrm>
          <a:prstGeom prst="rect">
            <a:avLst/>
          </a:prstGeom>
          <a:noFill/>
        </p:spPr>
        <p:txBody>
          <a:bodyPr wrap="square">
            <a:spAutoFit/>
          </a:bodyPr>
          <a:lstStyle/>
          <a:p>
            <a:pPr algn="just"/>
            <a:r>
              <a:rPr lang="en-US" dirty="0">
                <a:latin typeface="Times New Roman" pitchFamily="18" charset="0"/>
                <a:cs typeface="Times New Roman" pitchFamily="18" charset="0"/>
              </a:rPr>
              <a:t>	Bias comes in different forms, and may be observable or invisible. When a result does suggest bias (e.g., by reference to a benchmark or actual values), it is often an indicator that a statistical or machine learning model has been </a:t>
            </a:r>
            <a:r>
              <a:rPr lang="en-US" dirty="0" err="1">
                <a:latin typeface="Times New Roman" pitchFamily="18" charset="0"/>
                <a:cs typeface="Times New Roman" pitchFamily="18" charset="0"/>
              </a:rPr>
              <a:t>misspecified</a:t>
            </a:r>
            <a:r>
              <a:rPr lang="en-US" dirty="0">
                <a:latin typeface="Times New Roman" pitchFamily="18" charset="0"/>
                <a:cs typeface="Times New Roman" pitchFamily="18" charset="0"/>
              </a:rPr>
              <a:t>, or an important variable left out.</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Random sampling is not always easy. Proper definition of an accessible population is key. Suppose we want to generate a representative profile of customers and we need to conduct a pilot customer survey. The survey needs to be representative but is labor intensive.</a:t>
            </a:r>
            <a:endParaRPr lang="en-IN" b="1" dirty="0">
              <a:solidFill>
                <a:schemeClr val="accent2"/>
              </a:solidFill>
              <a:latin typeface="Times New Roman" pitchFamily="18" charset="0"/>
              <a:cs typeface="Times New Roman" pitchFamily="18" charset="0"/>
            </a:endParaRPr>
          </a:p>
          <a:p>
            <a:pPr algn="just"/>
            <a:endParaRPr lang="en-IN" b="1" dirty="0">
              <a:solidFill>
                <a:schemeClr val="accent2"/>
              </a:solidFill>
              <a:latin typeface="Times New Roman" pitchFamily="18" charset="0"/>
              <a:cs typeface="Times New Roman" pitchFamily="18" charset="0"/>
            </a:endParaRPr>
          </a:p>
          <a:p>
            <a:pPr algn="just"/>
            <a:r>
              <a:rPr lang="en-IN" b="1" u="sng" dirty="0">
                <a:solidFill>
                  <a:schemeClr val="accent2"/>
                </a:solidFill>
                <a:latin typeface="Times New Roman" panose="02020603050405020304" pitchFamily="18" charset="0"/>
                <a:cs typeface="Times New Roman" panose="02020603050405020304" pitchFamily="18" charset="0"/>
              </a:rPr>
              <a:t>Selection Bias</a:t>
            </a:r>
            <a:endParaRPr lang="en-US" b="1" i="0" u="sng" strike="noStrike" baseline="0" dirty="0">
              <a:solidFill>
                <a:schemeClr val="accent2"/>
              </a:solidFill>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ctr"/>
            <a:r>
              <a:rPr lang="en-US" b="1" i="0" u="none" strike="noStrike" baseline="0" dirty="0">
                <a:solidFill>
                  <a:schemeClr val="accent2"/>
                </a:solidFill>
                <a:latin typeface="Times New Roman" panose="02020603050405020304" pitchFamily="18" charset="0"/>
                <a:cs typeface="Times New Roman" panose="02020603050405020304" pitchFamily="18" charset="0"/>
              </a:rPr>
              <a:t>Key Terms for Selection Bias</a:t>
            </a:r>
          </a:p>
          <a:p>
            <a:pPr algn="just"/>
            <a:r>
              <a:rPr lang="en-IN" b="1" u="none" strike="noStrike" baseline="0" dirty="0">
                <a:solidFill>
                  <a:schemeClr val="accent1"/>
                </a:solidFill>
                <a:latin typeface="Times New Roman" panose="02020603050405020304" pitchFamily="18" charset="0"/>
                <a:cs typeface="Times New Roman" panose="02020603050405020304" pitchFamily="18" charset="0"/>
              </a:rPr>
              <a:t>Selection bias</a:t>
            </a:r>
          </a:p>
          <a:p>
            <a:pPr algn="just"/>
            <a:r>
              <a:rPr lang="en-US" b="0" i="0" u="none" strike="noStrike" baseline="0" dirty="0">
                <a:latin typeface="Times New Roman" panose="02020603050405020304" pitchFamily="18" charset="0"/>
                <a:cs typeface="Times New Roman" panose="02020603050405020304" pitchFamily="18" charset="0"/>
              </a:rPr>
              <a:t>Bias resulting from the way in which observations are selected.</a:t>
            </a:r>
          </a:p>
          <a:p>
            <a:pPr algn="just"/>
            <a:endParaRPr lang="en-US" b="0" i="0" u="none" strike="noStrike" baseline="0" dirty="0">
              <a:latin typeface="Times New Roman" panose="02020603050405020304" pitchFamily="18" charset="0"/>
              <a:cs typeface="Times New Roman" panose="02020603050405020304" pitchFamily="18" charset="0"/>
            </a:endParaRPr>
          </a:p>
          <a:p>
            <a:pPr algn="just"/>
            <a:r>
              <a:rPr lang="en-IN" b="1" u="none" strike="noStrike" baseline="0" dirty="0">
                <a:solidFill>
                  <a:schemeClr val="accent1"/>
                </a:solidFill>
                <a:latin typeface="Times New Roman" panose="02020603050405020304" pitchFamily="18" charset="0"/>
                <a:cs typeface="Times New Roman" panose="02020603050405020304" pitchFamily="18" charset="0"/>
              </a:rPr>
              <a:t>Data snooping</a:t>
            </a:r>
          </a:p>
          <a:p>
            <a:pPr algn="just"/>
            <a:r>
              <a:rPr lang="en-US" b="0" i="0" u="none" strike="noStrike" baseline="0" dirty="0">
                <a:latin typeface="Times New Roman" panose="02020603050405020304" pitchFamily="18" charset="0"/>
                <a:cs typeface="Times New Roman" panose="02020603050405020304" pitchFamily="18" charset="0"/>
              </a:rPr>
              <a:t>Extensive hunting through data in search of something interesting.</a:t>
            </a:r>
          </a:p>
          <a:p>
            <a:pPr algn="just"/>
            <a:endParaRPr lang="en-US" b="0" i="0" u="none" strike="noStrike" baseline="0" dirty="0">
              <a:latin typeface="Times New Roman" panose="02020603050405020304" pitchFamily="18" charset="0"/>
              <a:cs typeface="Times New Roman" panose="02020603050405020304" pitchFamily="18" charset="0"/>
            </a:endParaRPr>
          </a:p>
          <a:p>
            <a:pPr algn="just"/>
            <a:r>
              <a:rPr lang="en-IN" b="1" u="none" strike="noStrike" baseline="0" dirty="0">
                <a:solidFill>
                  <a:schemeClr val="accent1"/>
                </a:solidFill>
                <a:latin typeface="Times New Roman" panose="02020603050405020304" pitchFamily="18" charset="0"/>
                <a:cs typeface="Times New Roman" panose="02020603050405020304" pitchFamily="18" charset="0"/>
              </a:rPr>
              <a:t>Vast search effect</a:t>
            </a:r>
          </a:p>
          <a:p>
            <a:pPr algn="just"/>
            <a:r>
              <a:rPr lang="en-US" b="0" i="0" u="none" strike="noStrike" baseline="0" dirty="0">
                <a:latin typeface="Times New Roman" panose="02020603050405020304" pitchFamily="18" charset="0"/>
                <a:cs typeface="Times New Roman" panose="02020603050405020304" pitchFamily="18" charset="0"/>
              </a:rPr>
              <a:t>Bias or non-reproducibility resulting from repeated data modeling, or modeling</a:t>
            </a:r>
          </a:p>
          <a:p>
            <a:pPr algn="just"/>
            <a:r>
              <a:rPr lang="en-US" b="0" i="0" u="none" strike="noStrike" baseline="0" dirty="0">
                <a:latin typeface="Times New Roman" panose="02020603050405020304" pitchFamily="18" charset="0"/>
                <a:cs typeface="Times New Roman" panose="02020603050405020304" pitchFamily="18" charset="0"/>
              </a:rPr>
              <a:t>data with large numbers of predictor variables.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2375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42E7CE-68A8-DA90-47D9-E23E3ED0E119}"/>
              </a:ext>
            </a:extLst>
          </p:cNvPr>
          <p:cNvSpPr txBox="1"/>
          <p:nvPr/>
        </p:nvSpPr>
        <p:spPr>
          <a:xfrm>
            <a:off x="444137" y="268393"/>
            <a:ext cx="11312434" cy="6463308"/>
          </a:xfrm>
          <a:prstGeom prst="rect">
            <a:avLst/>
          </a:prstGeom>
          <a:noFill/>
        </p:spPr>
        <p:txBody>
          <a:bodyPr wrap="square">
            <a:spAutoFit/>
          </a:bodyPr>
          <a:lstStyle/>
          <a:p>
            <a:pPr algn="l"/>
            <a:r>
              <a:rPr lang="en-IN" b="1" i="0" u="sng" strike="noStrike" baseline="0" dirty="0">
                <a:solidFill>
                  <a:schemeClr val="accent1"/>
                </a:solidFill>
                <a:latin typeface="Times New Roman" panose="02020603050405020304" pitchFamily="18" charset="0"/>
                <a:cs typeface="Times New Roman" panose="02020603050405020304" pitchFamily="18" charset="0"/>
              </a:rPr>
              <a:t>Self-Selection Sampling Bias</a:t>
            </a:r>
          </a:p>
          <a:p>
            <a:pPr algn="l"/>
            <a:endParaRPr lang="en-IN" b="1" i="0" u="none" strike="noStrike" baseline="0" dirty="0">
              <a:latin typeface="Times New Roman" panose="02020603050405020304" pitchFamily="18" charset="0"/>
              <a:cs typeface="Times New Roman" panose="02020603050405020304" pitchFamily="18" charset="0"/>
            </a:endParaRPr>
          </a:p>
          <a:p>
            <a:pPr algn="just"/>
            <a:r>
              <a:rPr lang="en-US" b="0" i="0" u="none" strike="noStrike" baseline="0" dirty="0">
                <a:latin typeface="Times New Roman" panose="02020603050405020304" pitchFamily="18" charset="0"/>
                <a:cs typeface="Times New Roman" panose="02020603050405020304" pitchFamily="18" charset="0"/>
              </a:rPr>
              <a:t>	The reviews of restaurants, hotels, cafes, and so on that you read on social media sites like Yelp are prone to bias because the people submitting them are not randomly selected; rather, they themselves have taken the initiative to write. This leads to self-selection bias—the people motivated to write reviews may have had poor experiences, may have an association with the establishment, or may simply be a different type of person from those who do not write reviews.</a:t>
            </a:r>
          </a:p>
          <a:p>
            <a:pPr algn="just"/>
            <a:r>
              <a:rPr lang="en-US" b="0" i="0" u="none" strike="noStrike" baseline="0" dirty="0">
                <a:latin typeface="Times New Roman" panose="02020603050405020304" pitchFamily="18" charset="0"/>
                <a:cs typeface="Times New Roman" panose="02020603050405020304" pitchFamily="18" charset="0"/>
              </a:rPr>
              <a:t>Note that while self-selection samples can be unreliable indicators of the true state of affairs, they may be more reliable in simply comparing one establishment to a similar one; the same self-selection bias might apply to each.</a:t>
            </a:r>
          </a:p>
          <a:p>
            <a:pPr algn="just"/>
            <a:endParaRPr lang="en-IN" dirty="0">
              <a:latin typeface="Times New Roman" panose="02020603050405020304" pitchFamily="18" charset="0"/>
              <a:cs typeface="Times New Roman" panose="02020603050405020304" pitchFamily="18" charset="0"/>
            </a:endParaRPr>
          </a:p>
          <a:p>
            <a:pPr algn="just"/>
            <a:r>
              <a:rPr lang="en-US" b="1" u="sng" dirty="0">
                <a:solidFill>
                  <a:schemeClr val="accent1"/>
                </a:solidFill>
                <a:latin typeface="Times New Roman" panose="02020603050405020304" pitchFamily="18" charset="0"/>
                <a:cs typeface="Times New Roman" panose="02020603050405020304" pitchFamily="18" charset="0"/>
              </a:rPr>
              <a:t>Size Versus Quality: When Does Size Matter?</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In the era of big data, it is sometimes surprising that smaller is better. Time and effort spent on random sampling not only reduces bias but also allows greater attention to data exploration and data quality. For example, missing data and outliers may contain useful information. It might be prohibitively expensive to track down missing values or evaluate outliers in millions of records, but doing so in a sample of several thousand records may be feasible. Data plotting and manual inspection bog down if there </a:t>
            </a:r>
            <a:r>
              <a:rPr lang="en-IN" dirty="0">
                <a:latin typeface="Times New Roman" panose="02020603050405020304" pitchFamily="18" charset="0"/>
                <a:cs typeface="Times New Roman" panose="02020603050405020304" pitchFamily="18" charset="0"/>
              </a:rPr>
              <a:t>is too much data.</a:t>
            </a:r>
          </a:p>
          <a:p>
            <a:pPr algn="just"/>
            <a:r>
              <a:rPr lang="en-US" dirty="0">
                <a:latin typeface="Times New Roman" panose="02020603050405020304" pitchFamily="18" charset="0"/>
                <a:cs typeface="Times New Roman" panose="02020603050405020304" pitchFamily="18" charset="0"/>
              </a:rPr>
              <a:t>So when are massive amounts of data needed?</a:t>
            </a:r>
          </a:p>
          <a:p>
            <a:pPr algn="just"/>
            <a:r>
              <a:rPr lang="en-US" dirty="0">
                <a:latin typeface="Times New Roman" panose="02020603050405020304" pitchFamily="18" charset="0"/>
                <a:cs typeface="Times New Roman" panose="02020603050405020304" pitchFamily="18" charset="0"/>
              </a:rPr>
              <a:t>	The classic scenario for the value of big data is when the data is not only big but sparse as well. Consider the search queries received by Google, where columns are terms, rows are individual search queries, and cell values are either 0 or 1, depending on whether a query contains a term. The goal is to determine the best predicted search destination for a given query. There are over 150,000 words in the English language, and Google processes over one trillion queries per year. This yields a </a:t>
            </a:r>
            <a:r>
              <a:rPr lang="en-US" dirty="0" err="1">
                <a:latin typeface="Times New Roman" pitchFamily="18" charset="0"/>
                <a:cs typeface="Times New Roman" pitchFamily="18" charset="0"/>
              </a:rPr>
              <a:t>hugematrix</a:t>
            </a:r>
            <a:r>
              <a:rPr lang="en-US" dirty="0">
                <a:latin typeface="Times New Roman" pitchFamily="18" charset="0"/>
                <a:cs typeface="Times New Roman" pitchFamily="18" charset="0"/>
              </a:rPr>
              <a:t>, the vast majority of whose entries are “0.”</a:t>
            </a:r>
            <a:endParaRPr lang="en-IN" dirty="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698986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CEE7F1-A3DD-0733-4C33-0E4C06295831}"/>
              </a:ext>
            </a:extLst>
          </p:cNvPr>
          <p:cNvSpPr txBox="1"/>
          <p:nvPr/>
        </p:nvSpPr>
        <p:spPr>
          <a:xfrm>
            <a:off x="452846" y="338304"/>
            <a:ext cx="11321143" cy="5632311"/>
          </a:xfrm>
          <a:prstGeom prst="rect">
            <a:avLst/>
          </a:prstGeom>
          <a:noFill/>
        </p:spPr>
        <p:txBody>
          <a:bodyPr wrap="square">
            <a:spAutoFit/>
          </a:bodyPr>
          <a:lstStyle/>
          <a:p>
            <a:pPr algn="l"/>
            <a:r>
              <a:rPr lang="en-IN" b="1" i="0" u="sng" strike="noStrike" baseline="0" dirty="0">
                <a:solidFill>
                  <a:schemeClr val="accent1"/>
                </a:solidFill>
                <a:latin typeface="Times New Roman" panose="02020603050405020304" pitchFamily="18" charset="0"/>
                <a:cs typeface="Times New Roman" panose="02020603050405020304" pitchFamily="18" charset="0"/>
              </a:rPr>
              <a:t>Regression to the Mean</a:t>
            </a:r>
          </a:p>
          <a:p>
            <a:pPr algn="l"/>
            <a:endParaRPr lang="en-IN" b="0" i="0" u="sng" strike="noStrike" baseline="0" dirty="0">
              <a:latin typeface="Times New Roman" panose="02020603050405020304" pitchFamily="18" charset="0"/>
              <a:cs typeface="Times New Roman" panose="02020603050405020304" pitchFamily="18" charset="0"/>
            </a:endParaRPr>
          </a:p>
          <a:p>
            <a:pPr algn="just"/>
            <a:r>
              <a:rPr lang="en-US" b="0" u="none" strike="noStrike" baseline="0" dirty="0">
                <a:latin typeface="Times New Roman" panose="02020603050405020304" pitchFamily="18" charset="0"/>
                <a:cs typeface="Times New Roman" panose="02020603050405020304" pitchFamily="18" charset="0"/>
              </a:rPr>
              <a:t>Regression to the mean refers to a phenomenon involving successive measurements on a given variable: extreme observations tend to be followed by more central ones.</a:t>
            </a:r>
          </a:p>
          <a:p>
            <a:pPr algn="just"/>
            <a:r>
              <a:rPr lang="en-US" b="0" u="none" strike="noStrike" baseline="0" dirty="0">
                <a:latin typeface="Times New Roman" panose="02020603050405020304" pitchFamily="18" charset="0"/>
                <a:cs typeface="Times New Roman" panose="02020603050405020304" pitchFamily="18" charset="0"/>
              </a:rPr>
              <a:t>Attaching special focus and meaning to the extreme value can lead to a form of selection </a:t>
            </a:r>
            <a:r>
              <a:rPr lang="en-IN" b="0" u="none" strike="noStrike" baseline="0" dirty="0">
                <a:latin typeface="Times New Roman" panose="02020603050405020304" pitchFamily="18" charset="0"/>
                <a:cs typeface="Times New Roman" panose="02020603050405020304" pitchFamily="18" charset="0"/>
              </a:rPr>
              <a:t>bias.</a:t>
            </a:r>
          </a:p>
          <a:p>
            <a:pPr algn="just"/>
            <a:r>
              <a:rPr lang="en-US" b="0" u="none" strike="noStrike" baseline="0" dirty="0">
                <a:latin typeface="Times New Roman" panose="02020603050405020304" pitchFamily="18" charset="0"/>
                <a:cs typeface="Times New Roman" panose="02020603050405020304" pitchFamily="18" charset="0"/>
              </a:rPr>
              <a:t>Sports fans are familiar with the “rookie of the year, sophomore slump” phenomenon.</a:t>
            </a:r>
          </a:p>
          <a:p>
            <a:pPr algn="just"/>
            <a:r>
              <a:rPr lang="en-US" b="0" u="none" strike="noStrike" baseline="0" dirty="0">
                <a:latin typeface="Times New Roman" panose="02020603050405020304" pitchFamily="18" charset="0"/>
                <a:cs typeface="Times New Roman" panose="02020603050405020304" pitchFamily="18" charset="0"/>
              </a:rPr>
              <a:t>Among the athletes who begin their career in a given season (the rookie class), there is always one who performs better than all the rest. Generally, this “rookie of the year” does not do as well in his second year. Why not?</a:t>
            </a:r>
          </a:p>
          <a:p>
            <a:pPr algn="just"/>
            <a:r>
              <a:rPr lang="en-US" b="0" u="none" strike="noStrike" baseline="0" dirty="0">
                <a:latin typeface="Times New Roman" panose="02020603050405020304" pitchFamily="18" charset="0"/>
                <a:cs typeface="Times New Roman" panose="02020603050405020304" pitchFamily="18" charset="0"/>
              </a:rPr>
              <a:t>In nearly all major sports, at least those played with a ball or puck, there are two elements that play a role in overall performance:</a:t>
            </a:r>
          </a:p>
          <a:p>
            <a:pPr algn="just"/>
            <a:r>
              <a:rPr lang="en-IN" b="0" u="none" strike="noStrike" baseline="0" dirty="0">
                <a:latin typeface="Times New Roman" panose="02020603050405020304" pitchFamily="18" charset="0"/>
                <a:cs typeface="Times New Roman" panose="02020603050405020304" pitchFamily="18" charset="0"/>
              </a:rPr>
              <a:t>• Skill</a:t>
            </a:r>
          </a:p>
          <a:p>
            <a:pPr algn="just"/>
            <a:r>
              <a:rPr lang="en-IN" b="0" u="none" strike="noStrike" baseline="0" dirty="0">
                <a:latin typeface="Times New Roman" panose="02020603050405020304" pitchFamily="18" charset="0"/>
                <a:cs typeface="Times New Roman" panose="02020603050405020304" pitchFamily="18" charset="0"/>
              </a:rPr>
              <a:t>• Luck</a:t>
            </a:r>
          </a:p>
          <a:p>
            <a:pPr algn="just"/>
            <a:r>
              <a:rPr lang="en-US" dirty="0">
                <a:latin typeface="Times New Roman" panose="02020603050405020304" pitchFamily="18" charset="0"/>
                <a:cs typeface="Times New Roman" panose="02020603050405020304" pitchFamily="18" charset="0"/>
              </a:rPr>
              <a:t>Regression to the mean is a consequence of a particular form of selection bias. When  we select the rookie with the best performance, skill and good luck are probably contributing.</a:t>
            </a:r>
          </a:p>
          <a:p>
            <a:pPr algn="just"/>
            <a:endParaRPr lang="en-IN" dirty="0">
              <a:latin typeface="Times New Roman" panose="02020603050405020304" pitchFamily="18" charset="0"/>
              <a:cs typeface="Times New Roman" panose="02020603050405020304" pitchFamily="18" charset="0"/>
            </a:endParaRPr>
          </a:p>
          <a:p>
            <a:pPr algn="just"/>
            <a:r>
              <a:rPr lang="en-US" dirty="0">
                <a:latin typeface="Times New Roman" pitchFamily="18" charset="0"/>
                <a:cs typeface="Times New Roman" pitchFamily="18" charset="0"/>
              </a:rPr>
              <a:t>Regression to the mean is a consequence of a particular form of selection bias. When we select the rookie with the best performance, skill and good luck are probably contributing.</a:t>
            </a:r>
          </a:p>
          <a:p>
            <a:pPr algn="just"/>
            <a:r>
              <a:rPr lang="en-US" dirty="0">
                <a:latin typeface="Times New Roman" pitchFamily="18" charset="0"/>
                <a:cs typeface="Times New Roman" pitchFamily="18" charset="0"/>
              </a:rPr>
              <a:t>In his next season, the skill will still be there, but very often the luck will not be, so his performance will decline—it will regress. The phenomenon was first identified by Francis Galton in 1886 [Galton-1886], who wrote of it in connection with genetic tendencies; for example, the children of extremely tall men tend not to be as tall as their father</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9098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E52C0F-3071-0FC9-5023-05E6E4383569}"/>
              </a:ext>
            </a:extLst>
          </p:cNvPr>
          <p:cNvPicPr>
            <a:picLocks noChangeAspect="1"/>
          </p:cNvPicPr>
          <p:nvPr/>
        </p:nvPicPr>
        <p:blipFill>
          <a:blip r:embed="rId2"/>
          <a:stretch>
            <a:fillRect/>
          </a:stretch>
        </p:blipFill>
        <p:spPr>
          <a:xfrm>
            <a:off x="2251586" y="373626"/>
            <a:ext cx="6626943" cy="4965603"/>
          </a:xfrm>
          <a:prstGeom prst="rect">
            <a:avLst/>
          </a:prstGeom>
        </p:spPr>
      </p:pic>
      <p:sp>
        <p:nvSpPr>
          <p:cNvPr id="5" name="TextBox 4">
            <a:extLst>
              <a:ext uri="{FF2B5EF4-FFF2-40B4-BE49-F238E27FC236}">
                <a16:creationId xmlns:a16="http://schemas.microsoft.com/office/drawing/2014/main" id="{D2B949DC-EB19-D2C2-B22D-76383750A1E2}"/>
              </a:ext>
            </a:extLst>
          </p:cNvPr>
          <p:cNvSpPr txBox="1"/>
          <p:nvPr/>
        </p:nvSpPr>
        <p:spPr>
          <a:xfrm>
            <a:off x="1966452" y="5787581"/>
            <a:ext cx="8337754" cy="369332"/>
          </a:xfrm>
          <a:prstGeom prst="rect">
            <a:avLst/>
          </a:prstGeom>
          <a:noFill/>
        </p:spPr>
        <p:txBody>
          <a:bodyPr wrap="square">
            <a:spAutoFit/>
          </a:bodyPr>
          <a:lstStyle/>
          <a:p>
            <a:r>
              <a:rPr lang="en-US" sz="1800" b="0" i="1" u="none" strike="noStrike" baseline="0" dirty="0">
                <a:latin typeface="MinionPro-It"/>
              </a:rPr>
              <a:t>Galton’s study that identified the phenomenon of regression to the mean</a:t>
            </a:r>
            <a:endParaRPr lang="en-IN" dirty="0"/>
          </a:p>
        </p:txBody>
      </p:sp>
    </p:spTree>
    <p:extLst>
      <p:ext uri="{BB962C8B-B14F-4D97-AF65-F5344CB8AC3E}">
        <p14:creationId xmlns:p14="http://schemas.microsoft.com/office/powerpoint/2010/main" val="3638478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8D798C8-806D-05C1-0E13-24289D0224D3}"/>
              </a:ext>
            </a:extLst>
          </p:cNvPr>
          <p:cNvSpPr txBox="1"/>
          <p:nvPr/>
        </p:nvSpPr>
        <p:spPr>
          <a:xfrm>
            <a:off x="391886" y="550675"/>
            <a:ext cx="11347268" cy="1354217"/>
          </a:xfrm>
          <a:prstGeom prst="rect">
            <a:avLst/>
          </a:prstGeom>
          <a:noFill/>
        </p:spPr>
        <p:txBody>
          <a:bodyPr wrap="square">
            <a:spAutoFit/>
          </a:bodyPr>
          <a:lstStyle/>
          <a:p>
            <a:pPr algn="just"/>
            <a:r>
              <a:rPr lang="en-US" sz="2000" b="1" i="0" strike="noStrike" baseline="0" dirty="0">
                <a:solidFill>
                  <a:schemeClr val="accent1"/>
                </a:solidFill>
                <a:latin typeface="Times New Roman" panose="02020603050405020304" pitchFamily="18" charset="0"/>
                <a:cs typeface="Times New Roman" panose="02020603050405020304" pitchFamily="18" charset="0"/>
              </a:rPr>
              <a:t>Sampling Distribution of a Statistic</a:t>
            </a:r>
          </a:p>
          <a:p>
            <a:pPr algn="just"/>
            <a:r>
              <a:rPr lang="en-US" sz="2000" b="1" strike="noStrike" baseline="0" dirty="0">
                <a:solidFill>
                  <a:schemeClr val="accent1"/>
                </a:solidFill>
                <a:latin typeface="Times New Roman" panose="02020603050405020304" pitchFamily="18" charset="0"/>
                <a:cs typeface="Times New Roman" panose="02020603050405020304" pitchFamily="18" charset="0"/>
              </a:rPr>
              <a:t>	</a:t>
            </a:r>
            <a:r>
              <a:rPr lang="en-US" b="0" u="none" strike="noStrike" baseline="0" dirty="0">
                <a:latin typeface="Times New Roman" panose="02020603050405020304" pitchFamily="18" charset="0"/>
                <a:cs typeface="Times New Roman" panose="02020603050405020304" pitchFamily="18" charset="0"/>
              </a:rPr>
              <a:t>The term sampling distribution of a statistic refers to the distribution of some sample statistic over many samples drawn from the same population. Much of classical statistics is concerned with making inferences from (small) samples to (very large) populations</a:t>
            </a:r>
            <a:r>
              <a:rPr lang="en-US" sz="2400" b="0" u="none" strike="noStrike" baseline="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7B4F71A-0A3C-63D5-B23E-663AD35CC593}"/>
              </a:ext>
            </a:extLst>
          </p:cNvPr>
          <p:cNvSpPr txBox="1"/>
          <p:nvPr/>
        </p:nvSpPr>
        <p:spPr>
          <a:xfrm>
            <a:off x="407338" y="2117101"/>
            <a:ext cx="11331818" cy="4247317"/>
          </a:xfrm>
          <a:prstGeom prst="rect">
            <a:avLst/>
          </a:prstGeom>
          <a:noFill/>
        </p:spPr>
        <p:txBody>
          <a:bodyPr wrap="square">
            <a:spAutoFit/>
          </a:bodyPr>
          <a:lstStyle/>
          <a:p>
            <a:pPr algn="l"/>
            <a:r>
              <a:rPr lang="en-IN" b="1" u="none" strike="noStrike" baseline="0" dirty="0">
                <a:latin typeface="Times New Roman" panose="02020603050405020304" pitchFamily="18" charset="0"/>
                <a:cs typeface="Times New Roman" panose="02020603050405020304" pitchFamily="18" charset="0"/>
              </a:rPr>
              <a:t>Sample statistic</a:t>
            </a:r>
          </a:p>
          <a:p>
            <a:pPr algn="l"/>
            <a:r>
              <a:rPr lang="en-US" b="0" u="none" strike="noStrike" baseline="0" dirty="0">
                <a:latin typeface="Times New Roman" panose="02020603050405020304" pitchFamily="18" charset="0"/>
                <a:cs typeface="Times New Roman" panose="02020603050405020304" pitchFamily="18" charset="0"/>
              </a:rPr>
              <a:t>	A metric calculated for a sample of data drawn from a larger population.</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Data distribution</a:t>
            </a:r>
          </a:p>
          <a:p>
            <a:pPr algn="l"/>
            <a:r>
              <a:rPr lang="en-US" b="0" u="none" strike="noStrike" baseline="0" dirty="0">
                <a:latin typeface="Times New Roman" panose="02020603050405020304" pitchFamily="18" charset="0"/>
                <a:cs typeface="Times New Roman" panose="02020603050405020304" pitchFamily="18" charset="0"/>
              </a:rPr>
              <a:t>	The frequency distribution of individual values in a data set.</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Sampling distribution</a:t>
            </a:r>
          </a:p>
          <a:p>
            <a:pPr algn="l"/>
            <a:r>
              <a:rPr lang="en-US" b="0" u="none" strike="noStrike" baseline="0" dirty="0">
                <a:latin typeface="Times New Roman" panose="02020603050405020304" pitchFamily="18" charset="0"/>
                <a:cs typeface="Times New Roman" panose="02020603050405020304" pitchFamily="18" charset="0"/>
              </a:rPr>
              <a:t>	The frequency distribution of a sample statistic over many samples or resamples.</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Central limit theorem</a:t>
            </a:r>
          </a:p>
          <a:p>
            <a:pPr algn="l"/>
            <a:r>
              <a:rPr lang="en-US" b="0" u="none" strike="noStrike" baseline="0" dirty="0">
                <a:latin typeface="Times New Roman" panose="02020603050405020304" pitchFamily="18" charset="0"/>
                <a:cs typeface="Times New Roman" panose="02020603050405020304" pitchFamily="18" charset="0"/>
              </a:rPr>
              <a:t>	The tendency of the sampling distribution to take on a normal shape as sample </a:t>
            </a:r>
            <a:r>
              <a:rPr lang="en-IN" b="0" u="none" strike="noStrike" baseline="0" dirty="0">
                <a:latin typeface="Times New Roman" panose="02020603050405020304" pitchFamily="18" charset="0"/>
                <a:cs typeface="Times New Roman" panose="02020603050405020304" pitchFamily="18" charset="0"/>
              </a:rPr>
              <a:t>size rises.</a:t>
            </a:r>
          </a:p>
          <a:p>
            <a:pPr algn="l"/>
            <a:endParaRPr lang="en-IN"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Standard error</a:t>
            </a:r>
          </a:p>
          <a:p>
            <a:pPr algn="l"/>
            <a:r>
              <a:rPr lang="en-US" b="0" u="none" strike="noStrike" baseline="0" dirty="0">
                <a:latin typeface="Times New Roman" panose="02020603050405020304" pitchFamily="18" charset="0"/>
                <a:cs typeface="Times New Roman" panose="02020603050405020304" pitchFamily="18" charset="0"/>
              </a:rPr>
              <a:t>	The variability (standard deviation) of a sample statistic over many samples (not to be confused with standard deviation, which by itself, refers to variability of </a:t>
            </a:r>
            <a:r>
              <a:rPr lang="en-IN" b="0" u="none" strike="noStrike" baseline="0" dirty="0">
                <a:latin typeface="Times New Roman" panose="02020603050405020304" pitchFamily="18" charset="0"/>
                <a:cs typeface="Times New Roman" panose="02020603050405020304" pitchFamily="18" charset="0"/>
              </a:rPr>
              <a:t>individual data values).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5330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7139939" y="679269"/>
            <a:ext cx="4599215" cy="3117668"/>
          </a:xfrm>
          <a:prstGeom prst="rect">
            <a:avLst/>
          </a:prstGeom>
          <a:noFill/>
          <a:ln w="9525">
            <a:noFill/>
            <a:miter lim="800000"/>
            <a:headEnd/>
            <a:tailEnd/>
          </a:ln>
          <a:effectLst/>
        </p:spPr>
      </p:pic>
      <p:sp>
        <p:nvSpPr>
          <p:cNvPr id="4" name="Rectangle 3"/>
          <p:cNvSpPr/>
          <p:nvPr/>
        </p:nvSpPr>
        <p:spPr>
          <a:xfrm>
            <a:off x="513806" y="410367"/>
            <a:ext cx="6470468" cy="3139321"/>
          </a:xfrm>
          <a:prstGeom prst="rect">
            <a:avLst/>
          </a:prstGeom>
        </p:spPr>
        <p:txBody>
          <a:bodyPr wrap="square">
            <a:spAutoFit/>
          </a:bodyPr>
          <a:lstStyle/>
          <a:p>
            <a:pPr algn="just"/>
            <a:r>
              <a:rPr lang="en-US" dirty="0"/>
              <a:t>	</a:t>
            </a:r>
            <a:r>
              <a:rPr lang="en-US" dirty="0">
                <a:latin typeface="Times New Roman" pitchFamily="18" charset="0"/>
                <a:cs typeface="Times New Roman" pitchFamily="18" charset="0"/>
              </a:rPr>
              <a:t>The distribution of a sample statistic such as the mean is likely to be more regular and bell-shaped than the distribution of the data itself. The larger the sample the statistic is based on, the more this is true. Also, the larger the sample, the narrower the distribution of the sample statistic.</a:t>
            </a:r>
          </a:p>
          <a:p>
            <a:pPr algn="just"/>
            <a:endParaRPr lang="en-IN"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This is illustrated in an example using annual income for loan applicants to Lending‐Club. Take three samples from this data: a sample of 1,000 values, a sample of 1,000 means of 5 values, and a sample of 1,000 means of 20 values. Then plot a histogram of each sample to produce Figure 2-6.</a:t>
            </a:r>
          </a:p>
        </p:txBody>
      </p:sp>
      <p:sp>
        <p:nvSpPr>
          <p:cNvPr id="5" name="Rectangle 4"/>
          <p:cNvSpPr/>
          <p:nvPr/>
        </p:nvSpPr>
        <p:spPr>
          <a:xfrm>
            <a:off x="3309257" y="4030619"/>
            <a:ext cx="8421190" cy="646331"/>
          </a:xfrm>
          <a:prstGeom prst="rect">
            <a:avLst/>
          </a:prstGeom>
        </p:spPr>
        <p:txBody>
          <a:bodyPr wrap="square">
            <a:spAutoFit/>
          </a:bodyPr>
          <a:lstStyle/>
          <a:p>
            <a:r>
              <a:rPr lang="en-US" b="1" dirty="0">
                <a:latin typeface="Times New Roman" pitchFamily="18" charset="0"/>
                <a:cs typeface="Times New Roman" pitchFamily="18" charset="0"/>
              </a:rPr>
              <a:t>Figure 2-6</a:t>
            </a:r>
            <a:r>
              <a:rPr lang="en-US" dirty="0">
                <a:latin typeface="Times New Roman" pitchFamily="18" charset="0"/>
                <a:cs typeface="Times New Roman" pitchFamily="18" charset="0"/>
              </a:rPr>
              <a:t>. Histogram of annual incomes of 1,000 loan applicants (top), then 1,000 means of n=5 applicants (middle), and finally 1,000 means of n=20 applicants (bottom)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520401"/>
            <a:ext cx="11155680" cy="5909310"/>
          </a:xfrm>
          <a:prstGeom prst="rect">
            <a:avLst/>
          </a:prstGeom>
        </p:spPr>
        <p:txBody>
          <a:bodyPr wrap="square">
            <a:spAutoFit/>
          </a:bodyPr>
          <a:lstStyle/>
          <a:p>
            <a:r>
              <a:rPr lang="en-US" dirty="0">
                <a:latin typeface="Times New Roman" pitchFamily="18" charset="0"/>
                <a:cs typeface="Times New Roman" pitchFamily="18" charset="0"/>
              </a:rPr>
              <a:t>The Python code uses </a:t>
            </a:r>
            <a:r>
              <a:rPr lang="en-US" dirty="0" err="1">
                <a:latin typeface="Times New Roman" pitchFamily="18" charset="0"/>
                <a:cs typeface="Times New Roman" pitchFamily="18" charset="0"/>
              </a:rPr>
              <a:t>seaborn’s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FacetGrid</a:t>
            </a:r>
            <a:r>
              <a:rPr lang="en-US" dirty="0">
                <a:latin typeface="Times New Roman" pitchFamily="18" charset="0"/>
                <a:cs typeface="Times New Roman" pitchFamily="18" charset="0"/>
              </a:rPr>
              <a:t> to show the three histograms:</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import pandas as pd</a:t>
            </a:r>
          </a:p>
          <a:p>
            <a:r>
              <a:rPr lang="en-US" b="1" dirty="0">
                <a:latin typeface="Times New Roman" pitchFamily="18" charset="0"/>
                <a:cs typeface="Times New Roman" pitchFamily="18" charset="0"/>
              </a:rPr>
              <a:t>import </a:t>
            </a:r>
            <a:r>
              <a:rPr lang="en-US" b="1" dirty="0" err="1">
                <a:latin typeface="Times New Roman" pitchFamily="18" charset="0"/>
                <a:cs typeface="Times New Roman" pitchFamily="18" charset="0"/>
              </a:rPr>
              <a:t>seaborn</a:t>
            </a:r>
            <a:r>
              <a:rPr lang="en-US" b="1" dirty="0">
                <a:latin typeface="Times New Roman" pitchFamily="18" charset="0"/>
                <a:cs typeface="Times New Roman" pitchFamily="18" charset="0"/>
              </a:rPr>
              <a:t> as </a:t>
            </a:r>
            <a:r>
              <a:rPr lang="en-US" b="1" dirty="0" err="1">
                <a:latin typeface="Times New Roman" pitchFamily="18" charset="0"/>
                <a:cs typeface="Times New Roman" pitchFamily="18" charset="0"/>
              </a:rPr>
              <a:t>sns</a:t>
            </a:r>
            <a:endParaRPr lang="en-US" b="1" dirty="0">
              <a:latin typeface="Times New Roman" pitchFamily="18" charset="0"/>
              <a:cs typeface="Times New Roman" pitchFamily="18" charset="0"/>
            </a:endParaRPr>
          </a:p>
          <a:p>
            <a:r>
              <a:rPr lang="en-US" dirty="0" err="1">
                <a:latin typeface="Times New Roman" pitchFamily="18" charset="0"/>
                <a:cs typeface="Times New Roman" pitchFamily="18" charset="0"/>
              </a:rPr>
              <a:t>sample_data</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pd.DataFrame</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'income': </a:t>
            </a:r>
            <a:r>
              <a:rPr lang="en-US" dirty="0" err="1">
                <a:latin typeface="Times New Roman" pitchFamily="18" charset="0"/>
                <a:cs typeface="Times New Roman" pitchFamily="18" charset="0"/>
              </a:rPr>
              <a:t>loans_income.sample</a:t>
            </a:r>
            <a:r>
              <a:rPr lang="en-US" dirty="0">
                <a:latin typeface="Times New Roman" pitchFamily="18" charset="0"/>
                <a:cs typeface="Times New Roman" pitchFamily="18" charset="0"/>
              </a:rPr>
              <a:t>(1000),</a:t>
            </a:r>
          </a:p>
          <a:p>
            <a:r>
              <a:rPr lang="en-US" dirty="0">
                <a:latin typeface="Times New Roman" pitchFamily="18" charset="0"/>
                <a:cs typeface="Times New Roman" pitchFamily="18" charset="0"/>
              </a:rPr>
              <a:t>'type': 'Data',</a:t>
            </a:r>
          </a:p>
          <a:p>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sample_mean_05 = </a:t>
            </a:r>
            <a:r>
              <a:rPr lang="en-US" dirty="0" err="1">
                <a:latin typeface="Times New Roman" pitchFamily="18" charset="0"/>
                <a:cs typeface="Times New Roman" pitchFamily="18" charset="0"/>
              </a:rPr>
              <a:t>pd.DataFrame</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'income': [</a:t>
            </a:r>
            <a:r>
              <a:rPr lang="en-US" dirty="0" err="1">
                <a:latin typeface="Times New Roman" pitchFamily="18" charset="0"/>
                <a:cs typeface="Times New Roman" pitchFamily="18" charset="0"/>
              </a:rPr>
              <a:t>loans_income.sample</a:t>
            </a:r>
            <a:r>
              <a:rPr lang="en-US" dirty="0">
                <a:latin typeface="Times New Roman" pitchFamily="18" charset="0"/>
                <a:cs typeface="Times New Roman" pitchFamily="18" charset="0"/>
              </a:rPr>
              <a:t>(5).mean() </a:t>
            </a:r>
            <a:r>
              <a:rPr lang="en-US" b="1" dirty="0">
                <a:latin typeface="Times New Roman" pitchFamily="18" charset="0"/>
                <a:cs typeface="Times New Roman" pitchFamily="18" charset="0"/>
              </a:rPr>
              <a:t>for _ in range(1000)],</a:t>
            </a:r>
          </a:p>
          <a:p>
            <a:r>
              <a:rPr lang="en-US" dirty="0">
                <a:latin typeface="Times New Roman" pitchFamily="18" charset="0"/>
                <a:cs typeface="Times New Roman" pitchFamily="18" charset="0"/>
              </a:rPr>
              <a:t>'type': 'Mean of 5',</a:t>
            </a:r>
          </a:p>
          <a:p>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sample_mean_20 = </a:t>
            </a:r>
            <a:r>
              <a:rPr lang="en-US" dirty="0" err="1">
                <a:latin typeface="Times New Roman" pitchFamily="18" charset="0"/>
                <a:cs typeface="Times New Roman" pitchFamily="18" charset="0"/>
              </a:rPr>
              <a:t>pd.DataFrame</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'income': [</a:t>
            </a:r>
            <a:r>
              <a:rPr lang="en-US" dirty="0" err="1">
                <a:latin typeface="Times New Roman" pitchFamily="18" charset="0"/>
                <a:cs typeface="Times New Roman" pitchFamily="18" charset="0"/>
              </a:rPr>
              <a:t>loans_income.sample</a:t>
            </a:r>
            <a:r>
              <a:rPr lang="en-US" dirty="0">
                <a:latin typeface="Times New Roman" pitchFamily="18" charset="0"/>
                <a:cs typeface="Times New Roman" pitchFamily="18" charset="0"/>
              </a:rPr>
              <a:t>(20).mean() </a:t>
            </a:r>
            <a:r>
              <a:rPr lang="en-US" b="1" dirty="0">
                <a:latin typeface="Times New Roman" pitchFamily="18" charset="0"/>
                <a:cs typeface="Times New Roman" pitchFamily="18" charset="0"/>
              </a:rPr>
              <a:t>for _ in range(1000)],</a:t>
            </a:r>
          </a:p>
          <a:p>
            <a:r>
              <a:rPr lang="en-US" dirty="0">
                <a:latin typeface="Times New Roman" pitchFamily="18" charset="0"/>
                <a:cs typeface="Times New Roman" pitchFamily="18" charset="0"/>
              </a:rPr>
              <a:t>'type': 'Mean of 20',</a:t>
            </a:r>
          </a:p>
          <a:p>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results = </a:t>
            </a:r>
            <a:r>
              <a:rPr lang="en-US" dirty="0" err="1">
                <a:latin typeface="Times New Roman" pitchFamily="18" charset="0"/>
                <a:cs typeface="Times New Roman" pitchFamily="18" charset="0"/>
              </a:rPr>
              <a:t>pd.concat</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sample_data</a:t>
            </a:r>
            <a:r>
              <a:rPr lang="en-US" dirty="0">
                <a:latin typeface="Times New Roman" pitchFamily="18" charset="0"/>
                <a:cs typeface="Times New Roman" pitchFamily="18" charset="0"/>
              </a:rPr>
              <a:t>, sample_mean_05, sample_mean_20])</a:t>
            </a:r>
          </a:p>
          <a:p>
            <a:r>
              <a:rPr lang="en-US" dirty="0">
                <a:latin typeface="Times New Roman" pitchFamily="18" charset="0"/>
                <a:cs typeface="Times New Roman" pitchFamily="18" charset="0"/>
              </a:rPr>
              <a:t>g = </a:t>
            </a:r>
            <a:r>
              <a:rPr lang="en-US" dirty="0" err="1">
                <a:latin typeface="Times New Roman" pitchFamily="18" charset="0"/>
                <a:cs typeface="Times New Roman" pitchFamily="18" charset="0"/>
              </a:rPr>
              <a:t>sns.FacetGrid</a:t>
            </a:r>
            <a:r>
              <a:rPr lang="en-US" dirty="0">
                <a:latin typeface="Times New Roman" pitchFamily="18" charset="0"/>
                <a:cs typeface="Times New Roman" pitchFamily="18" charset="0"/>
              </a:rPr>
              <a:t>(results, </a:t>
            </a:r>
            <a:r>
              <a:rPr lang="en-US" dirty="0" err="1">
                <a:latin typeface="Times New Roman" pitchFamily="18" charset="0"/>
                <a:cs typeface="Times New Roman" pitchFamily="18" charset="0"/>
              </a:rPr>
              <a:t>col</a:t>
            </a:r>
            <a:r>
              <a:rPr lang="en-US" dirty="0">
                <a:latin typeface="Times New Roman" pitchFamily="18" charset="0"/>
                <a:cs typeface="Times New Roman" pitchFamily="18" charset="0"/>
              </a:rPr>
              <a:t>='type', </a:t>
            </a:r>
            <a:r>
              <a:rPr lang="en-US" dirty="0" err="1">
                <a:latin typeface="Times New Roman" pitchFamily="18" charset="0"/>
                <a:cs typeface="Times New Roman" pitchFamily="18" charset="0"/>
              </a:rPr>
              <a:t>col_wrap</a:t>
            </a:r>
            <a:r>
              <a:rPr lang="en-US" dirty="0">
                <a:latin typeface="Times New Roman" pitchFamily="18" charset="0"/>
                <a:cs typeface="Times New Roman" pitchFamily="18" charset="0"/>
              </a:rPr>
              <a:t>=1, height=2, aspect=2)</a:t>
            </a:r>
          </a:p>
          <a:p>
            <a:r>
              <a:rPr lang="en-US" dirty="0">
                <a:latin typeface="Times New Roman" pitchFamily="18" charset="0"/>
                <a:cs typeface="Times New Roman" pitchFamily="18" charset="0"/>
              </a:rPr>
              <a:t>g.map(</a:t>
            </a:r>
            <a:r>
              <a:rPr lang="en-US" dirty="0" err="1">
                <a:latin typeface="Times New Roman" pitchFamily="18" charset="0"/>
                <a:cs typeface="Times New Roman" pitchFamily="18" charset="0"/>
              </a:rPr>
              <a:t>plt.hist</a:t>
            </a:r>
            <a:r>
              <a:rPr lang="en-US" dirty="0">
                <a:latin typeface="Times New Roman" pitchFamily="18" charset="0"/>
                <a:cs typeface="Times New Roman" pitchFamily="18" charset="0"/>
              </a:rPr>
              <a:t>, 'income', range=[0, 200000], bins=40)</a:t>
            </a:r>
          </a:p>
          <a:p>
            <a:r>
              <a:rPr lang="en-US" dirty="0" err="1">
                <a:latin typeface="Times New Roman" pitchFamily="18" charset="0"/>
                <a:cs typeface="Times New Roman" pitchFamily="18" charset="0"/>
              </a:rPr>
              <a:t>g.set_axis_labels</a:t>
            </a:r>
            <a:r>
              <a:rPr lang="en-US" dirty="0">
                <a:latin typeface="Times New Roman" pitchFamily="18" charset="0"/>
                <a:cs typeface="Times New Roman" pitchFamily="18" charset="0"/>
              </a:rPr>
              <a:t>('Income', 'Count')</a:t>
            </a:r>
          </a:p>
          <a:p>
            <a:r>
              <a:rPr lang="en-US" dirty="0" err="1">
                <a:latin typeface="Times New Roman" pitchFamily="18" charset="0"/>
                <a:cs typeface="Times New Roman" pitchFamily="18" charset="0"/>
              </a:rPr>
              <a:t>g.set_titles</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col_name</a:t>
            </a:r>
            <a:r>
              <a:rPr lang="en-US" dirty="0">
                <a:latin typeface="Times New Roman" pitchFamily="18" charset="0"/>
                <a:cs typeface="Times New Roman" pitchFamily="18"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E83875-6A4F-7CB5-2B59-F869381FCA97}"/>
              </a:ext>
            </a:extLst>
          </p:cNvPr>
          <p:cNvSpPr txBox="1"/>
          <p:nvPr/>
        </p:nvSpPr>
        <p:spPr>
          <a:xfrm>
            <a:off x="435427" y="313509"/>
            <a:ext cx="11355979" cy="6694140"/>
          </a:xfrm>
          <a:prstGeom prst="rect">
            <a:avLst/>
          </a:prstGeom>
          <a:noFill/>
        </p:spPr>
        <p:txBody>
          <a:bodyPr wrap="square">
            <a:spAutoFit/>
          </a:bodyPr>
          <a:lstStyle/>
          <a:p>
            <a:r>
              <a:rPr lang="en-US" b="1" dirty="0">
                <a:latin typeface="Times New Roman" pitchFamily="18" charset="0"/>
                <a:cs typeface="Times New Roman" pitchFamily="18" charset="0"/>
              </a:rPr>
              <a:t>Central Limit Theorem</a:t>
            </a:r>
          </a:p>
          <a:p>
            <a:pPr algn="just"/>
            <a:r>
              <a:rPr lang="en-US" sz="1600" dirty="0">
                <a:latin typeface="Times New Roman" pitchFamily="18" charset="0"/>
                <a:cs typeface="Times New Roman" pitchFamily="18" charset="0"/>
              </a:rPr>
              <a:t>	The phenomenon we’ve just described is termed the central limit theorem. It says that the means drawn from multiple samples will resemble the familiar bell-shaped normal </a:t>
            </a:r>
            <a:r>
              <a:rPr lang="en-US" sz="1600">
                <a:latin typeface="Times New Roman" pitchFamily="18" charset="0"/>
                <a:cs typeface="Times New Roman" pitchFamily="18" charset="0"/>
              </a:rPr>
              <a:t>curve . even </a:t>
            </a:r>
            <a:r>
              <a:rPr lang="en-US" sz="1600" dirty="0">
                <a:latin typeface="Times New Roman" pitchFamily="18" charset="0"/>
                <a:cs typeface="Times New Roman" pitchFamily="18" charset="0"/>
              </a:rPr>
              <a:t>if the source population is not normally distributed, provided that the sample size is large enough and the departure of the data from normality is not too great. The central limit theorem allows normal-approximation formulas like the t-distribution to be used in calculating sampling distributions for inference—that is, confidence intervals and hypothesis tests.</a:t>
            </a:r>
          </a:p>
          <a:p>
            <a:pPr algn="just"/>
            <a:r>
              <a:rPr lang="en-US" sz="1600" dirty="0">
                <a:latin typeface="Times New Roman" pitchFamily="18" charset="0"/>
                <a:cs typeface="Times New Roman" pitchFamily="18" charset="0"/>
              </a:rPr>
              <a:t>The central limit theorem receives a lot of attention in traditional statistics texts because it underlies the machinery of hypothesis tests and confidence intervals, which themselves consume half the space in such texts. Data scientists should be aware of this role; however, since formal hypothesis tests and confidence intervals play a small role in data science, and the bootstrap (see “The Bootstrap”) is available in any case, the central limit theorem is not so central in the practice of data science.</a:t>
            </a:r>
          </a:p>
          <a:p>
            <a:pPr algn="just"/>
            <a:endParaRPr lang="en-US" sz="1600" dirty="0">
              <a:latin typeface="Times New Roman" pitchFamily="18" charset="0"/>
              <a:cs typeface="Times New Roman" pitchFamily="18" charset="0"/>
            </a:endParaRPr>
          </a:p>
          <a:p>
            <a:pPr algn="just"/>
            <a:r>
              <a:rPr lang="en-US" sz="1600" b="1" dirty="0">
                <a:latin typeface="Times New Roman" pitchFamily="18" charset="0"/>
                <a:cs typeface="Times New Roman" pitchFamily="18" charset="0"/>
              </a:rPr>
              <a:t>Standard Error</a:t>
            </a:r>
          </a:p>
          <a:p>
            <a:pPr algn="just"/>
            <a:r>
              <a:rPr lang="en-US" sz="1600" dirty="0">
                <a:latin typeface="Times New Roman" pitchFamily="18" charset="0"/>
                <a:cs typeface="Times New Roman" pitchFamily="18" charset="0"/>
              </a:rPr>
              <a:t>The standard error is a single metric that sums up the variability in the sampling distribution for a statistic. The standard error can be estimated using a statistic based on the standard deviation s of the sample values, and the sample size n:</a:t>
            </a:r>
          </a:p>
          <a:p>
            <a:pPr algn="just"/>
            <a:endParaRPr lang="en-US" sz="1600" dirty="0">
              <a:latin typeface="Times New Roman" pitchFamily="18" charset="0"/>
              <a:cs typeface="Times New Roman" pitchFamily="18" charset="0"/>
            </a:endParaRPr>
          </a:p>
          <a:p>
            <a:pPr algn="just"/>
            <a:r>
              <a:rPr lang="en-US" sz="1600" b="1" dirty="0">
                <a:latin typeface="Times New Roman" pitchFamily="18" charset="0"/>
                <a:cs typeface="Times New Roman" pitchFamily="18" charset="0"/>
              </a:rPr>
              <a:t>Standard error = SE = s/(n)^1/2 </a:t>
            </a:r>
          </a:p>
          <a:p>
            <a:pPr algn="just"/>
            <a:r>
              <a:rPr lang="en-US" sz="1600" dirty="0">
                <a:latin typeface="Times New Roman" pitchFamily="18" charset="0"/>
                <a:cs typeface="Times New Roman" pitchFamily="18" charset="0"/>
              </a:rPr>
              <a:t>As the sample size increases, the standard error decreases, corresponding to what </a:t>
            </a:r>
            <a:r>
              <a:rPr lang="en-US" sz="1600" dirty="0" err="1">
                <a:latin typeface="Times New Roman" pitchFamily="18" charset="0"/>
                <a:cs typeface="Times New Roman" pitchFamily="18" charset="0"/>
              </a:rPr>
              <a:t>wasobserved</a:t>
            </a:r>
            <a:r>
              <a:rPr lang="en-US" sz="1600" dirty="0">
                <a:latin typeface="Times New Roman" pitchFamily="18" charset="0"/>
                <a:cs typeface="Times New Roman" pitchFamily="18" charset="0"/>
              </a:rPr>
              <a:t> in Figure 2-6. The relationship between standard error and sample size is sometimes referred to as the square root of n rule: to reduce the standard error by a factor of 2, the sample size must be increased by a factor of 4.</a:t>
            </a:r>
          </a:p>
          <a:p>
            <a:pPr algn="just"/>
            <a:r>
              <a:rPr lang="en-US" sz="1600" dirty="0">
                <a:latin typeface="Times New Roman" pitchFamily="18" charset="0"/>
                <a:cs typeface="Times New Roman" pitchFamily="18" charset="0"/>
              </a:rPr>
              <a:t>The validity of the standard error formula arises from the central limit theorem. In fact, you don’t need to rely on the central limit theorem to understand standard error.</a:t>
            </a:r>
          </a:p>
          <a:p>
            <a:pPr algn="just"/>
            <a:r>
              <a:rPr lang="en-US" sz="1600" dirty="0">
                <a:latin typeface="Times New Roman" pitchFamily="18" charset="0"/>
                <a:cs typeface="Times New Roman" pitchFamily="18" charset="0"/>
              </a:rPr>
              <a:t>Consider the following approach to measuring standard error:</a:t>
            </a:r>
          </a:p>
          <a:p>
            <a:pPr marL="228600" indent="-228600" algn="just">
              <a:buAutoNum type="arabicPeriod"/>
            </a:pPr>
            <a:r>
              <a:rPr lang="en-US" sz="1600" dirty="0">
                <a:latin typeface="Times New Roman" pitchFamily="18" charset="0"/>
                <a:cs typeface="Times New Roman" pitchFamily="18" charset="0"/>
              </a:rPr>
              <a:t>Collect a number of brand-new samples from the population</a:t>
            </a:r>
          </a:p>
          <a:p>
            <a:pPr marL="228600" indent="-228600" algn="just"/>
            <a:r>
              <a:rPr lang="en-US" sz="1600" dirty="0">
                <a:latin typeface="Times New Roman" pitchFamily="18" charset="0"/>
                <a:cs typeface="Times New Roman" pitchFamily="18" charset="0"/>
              </a:rPr>
              <a:t>2. For each new sample, calculate the statistic (e.g., mean).</a:t>
            </a:r>
          </a:p>
          <a:p>
            <a:pPr algn="just"/>
            <a:r>
              <a:rPr lang="en-US" sz="1600" dirty="0">
                <a:latin typeface="Times New Roman" pitchFamily="18" charset="0"/>
                <a:cs typeface="Times New Roman" pitchFamily="18" charset="0"/>
              </a:rPr>
              <a:t>3. Calculate the standard deviation of the statistics computed in step 2; use this as your estimate of standard error.</a:t>
            </a:r>
            <a:endParaRPr lang="en-IN" sz="1600" b="1" u="none" strike="noStrike" baseline="0" dirty="0">
              <a:latin typeface="Times New Roman" pitchFamily="18" charset="0"/>
              <a:cs typeface="Times New Roman" pitchFamily="18" charset="0"/>
            </a:endParaRPr>
          </a:p>
          <a:p>
            <a:pPr algn="l"/>
            <a:endParaRPr lang="en-IN" sz="1100" b="1" dirty="0">
              <a:latin typeface="Times New Roman" pitchFamily="18" charset="0"/>
              <a:cs typeface="Times New Roman" pitchFamily="18" charset="0"/>
            </a:endParaRPr>
          </a:p>
        </p:txBody>
      </p:sp>
    </p:spTree>
    <p:extLst>
      <p:ext uri="{BB962C8B-B14F-4D97-AF65-F5344CB8AC3E}">
        <p14:creationId xmlns:p14="http://schemas.microsoft.com/office/powerpoint/2010/main" val="105907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2845" y="751344"/>
            <a:ext cx="11242765" cy="4247317"/>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The Bootstrap</a:t>
            </a:r>
          </a:p>
          <a:p>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One easy and effective way to estimate the sampling distribution of a statistic, or of model parameters, is to draw additional samples, with replacement, from the sample itself and recalculate the statistic or model for each resample. This procedure is called the bootstrap, and it does not necessarily involve any assumptions about the data or the sample statistic being normally distributed.</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Bootstrap sample</a:t>
            </a:r>
          </a:p>
          <a:p>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sample taken with replacement from an observed data set.</a:t>
            </a:r>
          </a:p>
          <a:p>
            <a:endParaRPr lang="en-US" dirty="0">
              <a:latin typeface="Times New Roman" panose="02020603050405020304" pitchFamily="18" charset="0"/>
              <a:cs typeface="Times New Roman" panose="02020603050405020304" pitchFamily="18" charset="0"/>
            </a:endParaRPr>
          </a:p>
          <a:p>
            <a:r>
              <a:rPr lang="en-IN" b="1" dirty="0" err="1">
                <a:latin typeface="Times New Roman" panose="02020603050405020304" pitchFamily="18" charset="0"/>
                <a:cs typeface="Times New Roman" panose="02020603050405020304" pitchFamily="18" charset="0"/>
              </a:rPr>
              <a:t>Resampling</a:t>
            </a:r>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The process of taking repeated samples from observed data; includes both bootstrap </a:t>
            </a:r>
            <a:r>
              <a:rPr lang="en-IN" dirty="0">
                <a:latin typeface="Times New Roman" panose="02020603050405020304" pitchFamily="18" charset="0"/>
                <a:cs typeface="Times New Roman" panose="02020603050405020304" pitchFamily="18" charset="0"/>
              </a:rPr>
              <a:t>and permutation (shuffling) procedures.</a:t>
            </a:r>
          </a:p>
        </p:txBody>
      </p:sp>
      <p:pic>
        <p:nvPicPr>
          <p:cNvPr id="3" name="Picture 2">
            <a:extLst>
              <a:ext uri="{FF2B5EF4-FFF2-40B4-BE49-F238E27FC236}">
                <a16:creationId xmlns:a16="http://schemas.microsoft.com/office/drawing/2014/main" id="{D9FBD995-B8AD-70A2-B3C8-6C7537B9BDB3}"/>
              </a:ext>
            </a:extLst>
          </p:cNvPr>
          <p:cNvPicPr>
            <a:picLocks noChangeAspect="1"/>
          </p:cNvPicPr>
          <p:nvPr/>
        </p:nvPicPr>
        <p:blipFill>
          <a:blip r:embed="rId3"/>
          <a:stretch>
            <a:fillRect/>
          </a:stretch>
        </p:blipFill>
        <p:spPr>
          <a:xfrm>
            <a:off x="6226629" y="2244457"/>
            <a:ext cx="5425439" cy="1979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8478A7-0204-FCE9-78CD-581B9D3FF08D}"/>
              </a:ext>
            </a:extLst>
          </p:cNvPr>
          <p:cNvSpPr txBox="1"/>
          <p:nvPr/>
        </p:nvSpPr>
        <p:spPr>
          <a:xfrm>
            <a:off x="444137" y="426720"/>
            <a:ext cx="11321143" cy="6463308"/>
          </a:xfrm>
          <a:prstGeom prst="rect">
            <a:avLst/>
          </a:prstGeom>
          <a:noFill/>
        </p:spPr>
        <p:txBody>
          <a:bodyPr wrap="square">
            <a:spAutoFit/>
          </a:bodyPr>
          <a:lstStyle/>
          <a:p>
            <a:pPr algn="just"/>
            <a:r>
              <a:rPr lang="en-US" dirty="0">
                <a:latin typeface="Times New Roman" pitchFamily="18" charset="0"/>
                <a:cs typeface="Times New Roman" pitchFamily="18" charset="0"/>
              </a:rPr>
              <a:t>	In practice, it is not necessary to actually replicate the sample a huge number of times. We simply replace each observation after each draw; that is, we sample with replacement. In this way we effectively create an infinite population in which the probability of an element being drawn remains unchanged from draw to draw. The</a:t>
            </a:r>
          </a:p>
          <a:p>
            <a:pPr algn="just"/>
            <a:r>
              <a:rPr lang="en-US" dirty="0">
                <a:latin typeface="Times New Roman" pitchFamily="18" charset="0"/>
                <a:cs typeface="Times New Roman" pitchFamily="18" charset="0"/>
              </a:rPr>
              <a:t>algorithm for a bootstrap </a:t>
            </a:r>
            <a:r>
              <a:rPr lang="en-US" dirty="0" err="1">
                <a:latin typeface="Times New Roman" pitchFamily="18" charset="0"/>
                <a:cs typeface="Times New Roman" pitchFamily="18" charset="0"/>
              </a:rPr>
              <a:t>resampling</a:t>
            </a:r>
            <a:r>
              <a:rPr lang="en-US" dirty="0">
                <a:latin typeface="Times New Roman" pitchFamily="18" charset="0"/>
                <a:cs typeface="Times New Roman" pitchFamily="18" charset="0"/>
              </a:rPr>
              <a:t> of the mean, for a sample of size n, is as follows:</a:t>
            </a:r>
          </a:p>
          <a:p>
            <a:pPr algn="just"/>
            <a:r>
              <a:rPr lang="en-US" dirty="0">
                <a:latin typeface="Times New Roman" pitchFamily="18" charset="0"/>
                <a:cs typeface="Times New Roman" pitchFamily="18" charset="0"/>
              </a:rPr>
              <a:t>1. Draw a sample value, record it, and then replace it.</a:t>
            </a:r>
          </a:p>
          <a:p>
            <a:pPr algn="just"/>
            <a:r>
              <a:rPr lang="en-US" dirty="0">
                <a:latin typeface="Times New Roman" pitchFamily="18" charset="0"/>
                <a:cs typeface="Times New Roman" pitchFamily="18" charset="0"/>
              </a:rPr>
              <a:t>2. Repeat n times.</a:t>
            </a:r>
          </a:p>
          <a:p>
            <a:pPr algn="just"/>
            <a:r>
              <a:rPr lang="en-US" dirty="0">
                <a:latin typeface="Times New Roman" pitchFamily="18" charset="0"/>
                <a:cs typeface="Times New Roman" pitchFamily="18" charset="0"/>
              </a:rPr>
              <a:t>3. Record the mean of the n </a:t>
            </a:r>
            <a:r>
              <a:rPr lang="en-US" dirty="0" err="1">
                <a:latin typeface="Times New Roman" pitchFamily="18" charset="0"/>
                <a:cs typeface="Times New Roman" pitchFamily="18" charset="0"/>
              </a:rPr>
              <a:t>resampled</a:t>
            </a:r>
            <a:r>
              <a:rPr lang="en-US" dirty="0">
                <a:latin typeface="Times New Roman" pitchFamily="18" charset="0"/>
                <a:cs typeface="Times New Roman" pitchFamily="18" charset="0"/>
              </a:rPr>
              <a:t> values.</a:t>
            </a:r>
          </a:p>
          <a:p>
            <a:pPr algn="just"/>
            <a:r>
              <a:rPr lang="en-US" dirty="0">
                <a:latin typeface="Times New Roman" pitchFamily="18" charset="0"/>
                <a:cs typeface="Times New Roman" pitchFamily="18" charset="0"/>
              </a:rPr>
              <a:t>4. Repeat steps 1–3 R times.</a:t>
            </a:r>
          </a:p>
          <a:p>
            <a:pPr algn="just"/>
            <a:r>
              <a:rPr lang="en-US" dirty="0">
                <a:latin typeface="Times New Roman" pitchFamily="18" charset="0"/>
                <a:cs typeface="Times New Roman" pitchFamily="18" charset="0"/>
              </a:rPr>
              <a:t>5. Use the R results to: </a:t>
            </a:r>
          </a:p>
          <a:p>
            <a:pPr algn="just"/>
            <a:r>
              <a:rPr lang="en-US" sz="1800" b="0" u="none" strike="noStrike" baseline="0" dirty="0">
                <a:solidFill>
                  <a:srgbClr val="000000"/>
                </a:solidFill>
                <a:latin typeface="Times New Roman" pitchFamily="18" charset="0"/>
                <a:cs typeface="Times New Roman" pitchFamily="18" charset="0"/>
              </a:rPr>
              <a:t>	</a:t>
            </a:r>
          </a:p>
          <a:p>
            <a:pPr algn="just"/>
            <a:r>
              <a:rPr lang="en-US" sz="1800" b="0" u="none" strike="noStrike" baseline="0" dirty="0">
                <a:solidFill>
                  <a:srgbClr val="000000"/>
                </a:solidFill>
                <a:latin typeface="Times New Roman" pitchFamily="18" charset="0"/>
                <a:cs typeface="Times New Roman" pitchFamily="18" charset="0"/>
              </a:rPr>
              <a:t>The major Python packages don’t provide implementations of the bootstrap approach. It can be implemented using the scikit-learn method resample:</a:t>
            </a:r>
          </a:p>
          <a:p>
            <a:pPr algn="l"/>
            <a:r>
              <a:rPr lang="en-IN" b="0" u="none" strike="noStrike" baseline="0" dirty="0">
                <a:solidFill>
                  <a:srgbClr val="000089"/>
                </a:solidFill>
                <a:latin typeface="Times New Roman" pitchFamily="18" charset="0"/>
                <a:cs typeface="Times New Roman" pitchFamily="18" charset="0"/>
              </a:rPr>
              <a:t>results </a:t>
            </a:r>
            <a:r>
              <a:rPr lang="en-IN" b="0" u="none" strike="noStrike" baseline="0" dirty="0">
                <a:solidFill>
                  <a:srgbClr val="555555"/>
                </a:solidFill>
                <a:latin typeface="Times New Roman" pitchFamily="18" charset="0"/>
                <a:cs typeface="Times New Roman" pitchFamily="18" charset="0"/>
              </a:rPr>
              <a:t>= </a:t>
            </a:r>
            <a:r>
              <a:rPr lang="en-IN" b="0" u="none" strike="noStrike" baseline="0" dirty="0">
                <a:solidFill>
                  <a:srgbClr val="000000"/>
                </a:solidFill>
                <a:latin typeface="Times New Roman" pitchFamily="18" charset="0"/>
                <a:cs typeface="Times New Roman" pitchFamily="18" charset="0"/>
              </a:rPr>
              <a:t>[]</a:t>
            </a:r>
          </a:p>
          <a:p>
            <a:pPr algn="l"/>
            <a:r>
              <a:rPr lang="en-US" b="1" u="none" strike="noStrike" baseline="0" dirty="0">
                <a:solidFill>
                  <a:srgbClr val="00669A"/>
                </a:solidFill>
                <a:latin typeface="Times New Roman" pitchFamily="18" charset="0"/>
                <a:cs typeface="Times New Roman" pitchFamily="18" charset="0"/>
              </a:rPr>
              <a:t>for </a:t>
            </a:r>
            <a:r>
              <a:rPr lang="en-US" b="0" u="none" strike="noStrike" baseline="0" dirty="0" err="1">
                <a:solidFill>
                  <a:srgbClr val="000089"/>
                </a:solidFill>
                <a:latin typeface="Times New Roman" pitchFamily="18" charset="0"/>
                <a:cs typeface="Times New Roman" pitchFamily="18" charset="0"/>
              </a:rPr>
              <a:t>nrepeat</a:t>
            </a:r>
            <a:r>
              <a:rPr lang="en-US" b="0" u="none" strike="noStrike" baseline="0" dirty="0">
                <a:solidFill>
                  <a:srgbClr val="000089"/>
                </a:solidFill>
                <a:latin typeface="Times New Roman" pitchFamily="18" charset="0"/>
                <a:cs typeface="Times New Roman" pitchFamily="18" charset="0"/>
              </a:rPr>
              <a:t> </a:t>
            </a:r>
            <a:r>
              <a:rPr lang="en-US" b="1" u="none" strike="noStrike" baseline="0" dirty="0">
                <a:solidFill>
                  <a:srgbClr val="000000"/>
                </a:solidFill>
                <a:latin typeface="Times New Roman" pitchFamily="18" charset="0"/>
                <a:cs typeface="Times New Roman" pitchFamily="18" charset="0"/>
              </a:rPr>
              <a:t>in </a:t>
            </a:r>
            <a:r>
              <a:rPr lang="en-US" b="0" u="none" strike="noStrike" baseline="0" dirty="0">
                <a:solidFill>
                  <a:srgbClr val="336666"/>
                </a:solidFill>
                <a:latin typeface="Times New Roman" pitchFamily="18" charset="0"/>
                <a:cs typeface="Times New Roman" pitchFamily="18" charset="0"/>
              </a:rPr>
              <a:t>range</a:t>
            </a:r>
            <a:r>
              <a:rPr lang="en-US" b="0" u="none" strike="noStrike" baseline="0" dirty="0">
                <a:solidFill>
                  <a:srgbClr val="000000"/>
                </a:solidFill>
                <a:latin typeface="Times New Roman" pitchFamily="18" charset="0"/>
                <a:cs typeface="Times New Roman" pitchFamily="18" charset="0"/>
              </a:rPr>
              <a:t>(</a:t>
            </a:r>
            <a:r>
              <a:rPr lang="en-US" b="0" u="none" strike="noStrike" baseline="0" dirty="0">
                <a:solidFill>
                  <a:srgbClr val="FF6600"/>
                </a:solidFill>
                <a:latin typeface="Times New Roman" pitchFamily="18" charset="0"/>
                <a:cs typeface="Times New Roman" pitchFamily="18" charset="0"/>
              </a:rPr>
              <a:t>1000</a:t>
            </a:r>
            <a:r>
              <a:rPr lang="en-US" b="0" u="none" strike="noStrike" baseline="0" dirty="0">
                <a:solidFill>
                  <a:srgbClr val="000000"/>
                </a:solidFill>
                <a:latin typeface="Times New Roman" pitchFamily="18" charset="0"/>
                <a:cs typeface="Times New Roman" pitchFamily="18" charset="0"/>
              </a:rPr>
              <a:t>):</a:t>
            </a:r>
          </a:p>
          <a:p>
            <a:pPr algn="l"/>
            <a:r>
              <a:rPr lang="en-IN" b="0" u="none" strike="noStrike" baseline="0" dirty="0">
                <a:solidFill>
                  <a:srgbClr val="000089"/>
                </a:solidFill>
                <a:latin typeface="Times New Roman" pitchFamily="18" charset="0"/>
                <a:cs typeface="Times New Roman" pitchFamily="18" charset="0"/>
              </a:rPr>
              <a:t>sample </a:t>
            </a:r>
            <a:r>
              <a:rPr lang="en-IN" b="0" u="none" strike="noStrike" baseline="0" dirty="0">
                <a:solidFill>
                  <a:srgbClr val="555555"/>
                </a:solidFill>
                <a:latin typeface="Times New Roman" pitchFamily="18" charset="0"/>
                <a:cs typeface="Times New Roman" pitchFamily="18" charset="0"/>
              </a:rPr>
              <a:t>= </a:t>
            </a:r>
            <a:r>
              <a:rPr lang="en-IN" b="0" u="none" strike="noStrike" baseline="0" dirty="0">
                <a:solidFill>
                  <a:srgbClr val="000089"/>
                </a:solidFill>
                <a:latin typeface="Times New Roman" pitchFamily="18" charset="0"/>
                <a:cs typeface="Times New Roman" pitchFamily="18" charset="0"/>
              </a:rPr>
              <a:t>resample</a:t>
            </a:r>
            <a:r>
              <a:rPr lang="en-IN" b="0" u="none" strike="noStrike" baseline="0" dirty="0">
                <a:solidFill>
                  <a:srgbClr val="000000"/>
                </a:solidFill>
                <a:latin typeface="Times New Roman" pitchFamily="18" charset="0"/>
                <a:cs typeface="Times New Roman" pitchFamily="18" charset="0"/>
              </a:rPr>
              <a:t>(</a:t>
            </a:r>
            <a:r>
              <a:rPr lang="en-IN" b="0" u="none" strike="noStrike" baseline="0" dirty="0" err="1">
                <a:solidFill>
                  <a:srgbClr val="000089"/>
                </a:solidFill>
                <a:latin typeface="Times New Roman" pitchFamily="18" charset="0"/>
                <a:cs typeface="Times New Roman" pitchFamily="18" charset="0"/>
              </a:rPr>
              <a:t>loans_income</a:t>
            </a:r>
            <a:r>
              <a:rPr lang="en-IN" b="0" u="none" strike="noStrike" baseline="0" dirty="0">
                <a:solidFill>
                  <a:srgbClr val="000000"/>
                </a:solidFill>
                <a:latin typeface="Times New Roman" pitchFamily="18" charset="0"/>
                <a:cs typeface="Times New Roman" pitchFamily="18" charset="0"/>
              </a:rPr>
              <a:t>)</a:t>
            </a:r>
          </a:p>
          <a:p>
            <a:pPr algn="l"/>
            <a:r>
              <a:rPr lang="en-IN" b="0" u="none" strike="noStrike" baseline="0" dirty="0" err="1">
                <a:solidFill>
                  <a:srgbClr val="000089"/>
                </a:solidFill>
                <a:latin typeface="Times New Roman" pitchFamily="18" charset="0"/>
                <a:cs typeface="Times New Roman" pitchFamily="18" charset="0"/>
              </a:rPr>
              <a:t>results</a:t>
            </a:r>
            <a:r>
              <a:rPr lang="en-IN" b="0" u="none" strike="noStrike" baseline="0" dirty="0" err="1">
                <a:solidFill>
                  <a:srgbClr val="555555"/>
                </a:solidFill>
                <a:latin typeface="Times New Roman" pitchFamily="18" charset="0"/>
                <a:cs typeface="Times New Roman" pitchFamily="18" charset="0"/>
              </a:rPr>
              <a:t>.</a:t>
            </a:r>
            <a:r>
              <a:rPr lang="en-IN" b="0" u="none" strike="noStrike" baseline="0" dirty="0" err="1">
                <a:solidFill>
                  <a:srgbClr val="000089"/>
                </a:solidFill>
                <a:latin typeface="Times New Roman" pitchFamily="18" charset="0"/>
                <a:cs typeface="Times New Roman" pitchFamily="18" charset="0"/>
              </a:rPr>
              <a:t>append</a:t>
            </a:r>
            <a:r>
              <a:rPr lang="en-IN" b="0" u="none" strike="noStrike" baseline="0" dirty="0">
                <a:solidFill>
                  <a:srgbClr val="000000"/>
                </a:solidFill>
                <a:latin typeface="Times New Roman" pitchFamily="18" charset="0"/>
                <a:cs typeface="Times New Roman" pitchFamily="18" charset="0"/>
              </a:rPr>
              <a:t>(</a:t>
            </a:r>
            <a:r>
              <a:rPr lang="en-IN" b="0" u="none" strike="noStrike" baseline="0" dirty="0" err="1">
                <a:solidFill>
                  <a:srgbClr val="000089"/>
                </a:solidFill>
                <a:latin typeface="Times New Roman" pitchFamily="18" charset="0"/>
                <a:cs typeface="Times New Roman" pitchFamily="18" charset="0"/>
              </a:rPr>
              <a:t>sample</a:t>
            </a:r>
            <a:r>
              <a:rPr lang="en-IN" b="0" u="none" strike="noStrike" baseline="0" dirty="0" err="1">
                <a:solidFill>
                  <a:srgbClr val="555555"/>
                </a:solidFill>
                <a:latin typeface="Times New Roman" pitchFamily="18" charset="0"/>
                <a:cs typeface="Times New Roman" pitchFamily="18" charset="0"/>
              </a:rPr>
              <a:t>.</a:t>
            </a:r>
            <a:r>
              <a:rPr lang="en-IN" b="0" u="none" strike="noStrike" baseline="0" dirty="0" err="1">
                <a:solidFill>
                  <a:srgbClr val="000089"/>
                </a:solidFill>
                <a:latin typeface="Times New Roman" pitchFamily="18" charset="0"/>
                <a:cs typeface="Times New Roman" pitchFamily="18" charset="0"/>
              </a:rPr>
              <a:t>median</a:t>
            </a:r>
            <a:r>
              <a:rPr lang="en-IN" b="0" u="none" strike="noStrike" baseline="0" dirty="0">
                <a:solidFill>
                  <a:srgbClr val="000000"/>
                </a:solidFill>
                <a:latin typeface="Times New Roman" pitchFamily="18" charset="0"/>
                <a:cs typeface="Times New Roman" pitchFamily="18" charset="0"/>
              </a:rPr>
              <a:t>())</a:t>
            </a:r>
          </a:p>
          <a:p>
            <a:pPr algn="l"/>
            <a:r>
              <a:rPr lang="en-IN" b="0" u="none" strike="noStrike" baseline="0" dirty="0">
                <a:solidFill>
                  <a:srgbClr val="000089"/>
                </a:solidFill>
                <a:latin typeface="Times New Roman" pitchFamily="18" charset="0"/>
                <a:cs typeface="Times New Roman" pitchFamily="18" charset="0"/>
              </a:rPr>
              <a:t>results </a:t>
            </a:r>
            <a:r>
              <a:rPr lang="en-IN" b="0" u="none" strike="noStrike" baseline="0" dirty="0">
                <a:solidFill>
                  <a:srgbClr val="555555"/>
                </a:solidFill>
                <a:latin typeface="Times New Roman" pitchFamily="18" charset="0"/>
                <a:cs typeface="Times New Roman" pitchFamily="18" charset="0"/>
              </a:rPr>
              <a:t>= </a:t>
            </a:r>
            <a:r>
              <a:rPr lang="en-IN" b="0" u="none" strike="noStrike" baseline="0" dirty="0" err="1">
                <a:solidFill>
                  <a:srgbClr val="000089"/>
                </a:solidFill>
                <a:latin typeface="Times New Roman" pitchFamily="18" charset="0"/>
                <a:cs typeface="Times New Roman" pitchFamily="18" charset="0"/>
              </a:rPr>
              <a:t>pd</a:t>
            </a:r>
            <a:r>
              <a:rPr lang="en-IN" b="0" u="none" strike="noStrike" baseline="0" dirty="0" err="1">
                <a:solidFill>
                  <a:srgbClr val="555555"/>
                </a:solidFill>
                <a:latin typeface="Times New Roman" pitchFamily="18" charset="0"/>
                <a:cs typeface="Times New Roman" pitchFamily="18" charset="0"/>
              </a:rPr>
              <a:t>.</a:t>
            </a:r>
            <a:r>
              <a:rPr lang="en-IN" b="0" u="none" strike="noStrike" baseline="0" dirty="0" err="1">
                <a:solidFill>
                  <a:srgbClr val="000089"/>
                </a:solidFill>
                <a:latin typeface="Times New Roman" pitchFamily="18" charset="0"/>
                <a:cs typeface="Times New Roman" pitchFamily="18" charset="0"/>
              </a:rPr>
              <a:t>Series</a:t>
            </a:r>
            <a:r>
              <a:rPr lang="en-IN" b="0" u="none" strike="noStrike" baseline="0" dirty="0">
                <a:solidFill>
                  <a:srgbClr val="000000"/>
                </a:solidFill>
                <a:latin typeface="Times New Roman" pitchFamily="18" charset="0"/>
                <a:cs typeface="Times New Roman" pitchFamily="18" charset="0"/>
              </a:rPr>
              <a:t>(</a:t>
            </a:r>
            <a:r>
              <a:rPr lang="en-IN" b="0" u="none" strike="noStrike" baseline="0" dirty="0">
                <a:solidFill>
                  <a:srgbClr val="000089"/>
                </a:solidFill>
                <a:latin typeface="Times New Roman" pitchFamily="18" charset="0"/>
                <a:cs typeface="Times New Roman" pitchFamily="18" charset="0"/>
              </a:rPr>
              <a:t>results</a:t>
            </a:r>
            <a:r>
              <a:rPr lang="en-IN" b="0" u="none" strike="noStrike" baseline="0" dirty="0">
                <a:solidFill>
                  <a:srgbClr val="000000"/>
                </a:solidFill>
                <a:latin typeface="Times New Roman" pitchFamily="18" charset="0"/>
                <a:cs typeface="Times New Roman" pitchFamily="18" charset="0"/>
              </a:rPr>
              <a:t>)</a:t>
            </a:r>
          </a:p>
          <a:p>
            <a:pPr algn="l"/>
            <a:r>
              <a:rPr lang="en-IN" b="1" u="none" strike="noStrike" baseline="0" dirty="0">
                <a:solidFill>
                  <a:srgbClr val="00669A"/>
                </a:solidFill>
                <a:latin typeface="Times New Roman" pitchFamily="18" charset="0"/>
                <a:cs typeface="Times New Roman" pitchFamily="18" charset="0"/>
              </a:rPr>
              <a:t>print</a:t>
            </a:r>
            <a:r>
              <a:rPr lang="en-IN" b="0" u="none" strike="noStrike" baseline="0" dirty="0">
                <a:solidFill>
                  <a:srgbClr val="000000"/>
                </a:solidFill>
                <a:latin typeface="Times New Roman" pitchFamily="18" charset="0"/>
                <a:cs typeface="Times New Roman" pitchFamily="18" charset="0"/>
              </a:rPr>
              <a:t>(</a:t>
            </a:r>
            <a:r>
              <a:rPr lang="en-IN" b="0" u="none" strike="noStrike" baseline="0" dirty="0">
                <a:solidFill>
                  <a:srgbClr val="CD3300"/>
                </a:solidFill>
                <a:latin typeface="Times New Roman" pitchFamily="18" charset="0"/>
                <a:cs typeface="Times New Roman" pitchFamily="18" charset="0"/>
              </a:rPr>
              <a:t>'Bootstrap Statistics:'</a:t>
            </a:r>
            <a:r>
              <a:rPr lang="en-IN" b="0" u="none" strike="noStrike" baseline="0" dirty="0">
                <a:solidFill>
                  <a:srgbClr val="000000"/>
                </a:solidFill>
                <a:latin typeface="Times New Roman" pitchFamily="18" charset="0"/>
                <a:cs typeface="Times New Roman" pitchFamily="18" charset="0"/>
              </a:rPr>
              <a:t>)</a:t>
            </a:r>
          </a:p>
          <a:p>
            <a:pPr algn="l"/>
            <a:r>
              <a:rPr lang="en-US" b="1" u="none" strike="noStrike" baseline="0" dirty="0">
                <a:solidFill>
                  <a:srgbClr val="00669A"/>
                </a:solidFill>
                <a:latin typeface="Times New Roman" pitchFamily="18" charset="0"/>
                <a:cs typeface="Times New Roman" pitchFamily="18" charset="0"/>
              </a:rPr>
              <a:t>print</a:t>
            </a:r>
            <a:r>
              <a:rPr lang="en-US" b="0" u="none" strike="noStrike" baseline="0" dirty="0">
                <a:solidFill>
                  <a:srgbClr val="000000"/>
                </a:solidFill>
                <a:latin typeface="Times New Roman" pitchFamily="18" charset="0"/>
                <a:cs typeface="Times New Roman" pitchFamily="18" charset="0"/>
              </a:rPr>
              <a:t>(</a:t>
            </a:r>
            <a:r>
              <a:rPr lang="en-US" b="0" u="none" strike="noStrike" baseline="0" dirty="0" err="1">
                <a:solidFill>
                  <a:srgbClr val="000089"/>
                </a:solidFill>
                <a:latin typeface="Times New Roman" pitchFamily="18" charset="0"/>
                <a:cs typeface="Times New Roman" pitchFamily="18" charset="0"/>
              </a:rPr>
              <a:t>f</a:t>
            </a:r>
            <a:r>
              <a:rPr lang="en-US" b="0" u="none" strike="noStrike" baseline="0" dirty="0" err="1">
                <a:solidFill>
                  <a:srgbClr val="CD3300"/>
                </a:solidFill>
                <a:latin typeface="Times New Roman" pitchFamily="18" charset="0"/>
                <a:cs typeface="Times New Roman" pitchFamily="18" charset="0"/>
              </a:rPr>
              <a:t>'original</a:t>
            </a:r>
            <a:r>
              <a:rPr lang="en-US" b="0" u="none" strike="noStrike" baseline="0" dirty="0">
                <a:solidFill>
                  <a:srgbClr val="CD3300"/>
                </a:solidFill>
                <a:latin typeface="Times New Roman" pitchFamily="18" charset="0"/>
                <a:cs typeface="Times New Roman" pitchFamily="18" charset="0"/>
              </a:rPr>
              <a:t>: {</a:t>
            </a:r>
            <a:r>
              <a:rPr lang="en-US" b="0" u="none" strike="noStrike" baseline="0" dirty="0" err="1">
                <a:solidFill>
                  <a:srgbClr val="CD3300"/>
                </a:solidFill>
                <a:latin typeface="Times New Roman" pitchFamily="18" charset="0"/>
                <a:cs typeface="Times New Roman" pitchFamily="18" charset="0"/>
              </a:rPr>
              <a:t>loans_income.median</a:t>
            </a:r>
            <a:r>
              <a:rPr lang="en-US" b="0" u="none" strike="noStrike" baseline="0" dirty="0">
                <a:solidFill>
                  <a:srgbClr val="CD3300"/>
                </a:solidFill>
                <a:latin typeface="Times New Roman" pitchFamily="18" charset="0"/>
                <a:cs typeface="Times New Roman" pitchFamily="18" charset="0"/>
              </a:rPr>
              <a:t>()}'</a:t>
            </a:r>
            <a:r>
              <a:rPr lang="en-US" b="0" u="none" strike="noStrike" baseline="0" dirty="0">
                <a:solidFill>
                  <a:srgbClr val="000000"/>
                </a:solidFill>
                <a:latin typeface="Times New Roman" pitchFamily="18" charset="0"/>
                <a:cs typeface="Times New Roman" pitchFamily="18" charset="0"/>
              </a:rPr>
              <a:t>)</a:t>
            </a:r>
          </a:p>
          <a:p>
            <a:pPr algn="l"/>
            <a:r>
              <a:rPr lang="en-IN" b="1" u="none" strike="noStrike" baseline="0" dirty="0">
                <a:solidFill>
                  <a:srgbClr val="00669A"/>
                </a:solidFill>
                <a:latin typeface="Times New Roman" pitchFamily="18" charset="0"/>
                <a:cs typeface="Times New Roman" pitchFamily="18" charset="0"/>
              </a:rPr>
              <a:t>print</a:t>
            </a:r>
            <a:r>
              <a:rPr lang="en-IN" b="0" u="none" strike="noStrike" baseline="0" dirty="0">
                <a:solidFill>
                  <a:srgbClr val="000000"/>
                </a:solidFill>
                <a:latin typeface="Times New Roman" pitchFamily="18" charset="0"/>
                <a:cs typeface="Times New Roman" pitchFamily="18" charset="0"/>
              </a:rPr>
              <a:t>(</a:t>
            </a:r>
            <a:r>
              <a:rPr lang="en-IN" b="0" u="none" strike="noStrike" baseline="0" dirty="0" err="1">
                <a:solidFill>
                  <a:srgbClr val="000089"/>
                </a:solidFill>
                <a:latin typeface="Times New Roman" pitchFamily="18" charset="0"/>
                <a:cs typeface="Times New Roman" pitchFamily="18" charset="0"/>
              </a:rPr>
              <a:t>f</a:t>
            </a:r>
            <a:r>
              <a:rPr lang="en-IN" b="0" u="none" strike="noStrike" baseline="0" dirty="0" err="1">
                <a:solidFill>
                  <a:srgbClr val="CD3300"/>
                </a:solidFill>
                <a:latin typeface="Times New Roman" pitchFamily="18" charset="0"/>
                <a:cs typeface="Times New Roman" pitchFamily="18" charset="0"/>
              </a:rPr>
              <a:t>'bias</a:t>
            </a:r>
            <a:r>
              <a:rPr lang="en-IN" b="0" u="none" strike="noStrike" baseline="0" dirty="0">
                <a:solidFill>
                  <a:srgbClr val="CD3300"/>
                </a:solidFill>
                <a:latin typeface="Times New Roman" pitchFamily="18" charset="0"/>
                <a:cs typeface="Times New Roman" pitchFamily="18" charset="0"/>
              </a:rPr>
              <a:t>: {</a:t>
            </a:r>
            <a:r>
              <a:rPr lang="en-IN" b="0" u="none" strike="noStrike" baseline="0" dirty="0" err="1">
                <a:solidFill>
                  <a:srgbClr val="CD3300"/>
                </a:solidFill>
                <a:latin typeface="Times New Roman" pitchFamily="18" charset="0"/>
                <a:cs typeface="Times New Roman" pitchFamily="18" charset="0"/>
              </a:rPr>
              <a:t>results.mean</a:t>
            </a:r>
            <a:r>
              <a:rPr lang="en-IN" b="0" u="none" strike="noStrike" baseline="0" dirty="0">
                <a:solidFill>
                  <a:srgbClr val="CD3300"/>
                </a:solidFill>
                <a:latin typeface="Times New Roman" pitchFamily="18" charset="0"/>
                <a:cs typeface="Times New Roman" pitchFamily="18" charset="0"/>
              </a:rPr>
              <a:t>() - </a:t>
            </a:r>
            <a:r>
              <a:rPr lang="en-IN" b="0" u="none" strike="noStrike" baseline="0" dirty="0" err="1">
                <a:solidFill>
                  <a:srgbClr val="CD3300"/>
                </a:solidFill>
                <a:latin typeface="Times New Roman" pitchFamily="18" charset="0"/>
                <a:cs typeface="Times New Roman" pitchFamily="18" charset="0"/>
              </a:rPr>
              <a:t>loans_income.median</a:t>
            </a:r>
            <a:r>
              <a:rPr lang="en-IN" b="0" u="none" strike="noStrike" baseline="0" dirty="0">
                <a:solidFill>
                  <a:srgbClr val="CD3300"/>
                </a:solidFill>
                <a:latin typeface="Times New Roman" pitchFamily="18" charset="0"/>
                <a:cs typeface="Times New Roman" pitchFamily="18" charset="0"/>
              </a:rPr>
              <a:t>()}'</a:t>
            </a:r>
            <a:r>
              <a:rPr lang="en-IN" b="0" u="none" strike="noStrike" baseline="0" dirty="0">
                <a:solidFill>
                  <a:srgbClr val="000000"/>
                </a:solidFill>
                <a:latin typeface="Times New Roman" pitchFamily="18" charset="0"/>
                <a:cs typeface="Times New Roman" pitchFamily="18" charset="0"/>
              </a:rPr>
              <a:t>)</a:t>
            </a:r>
          </a:p>
          <a:p>
            <a:pPr algn="l"/>
            <a:r>
              <a:rPr lang="en-IN" b="1" u="none" strike="noStrike" baseline="0" dirty="0">
                <a:solidFill>
                  <a:srgbClr val="00669A"/>
                </a:solidFill>
                <a:latin typeface="Times New Roman" pitchFamily="18" charset="0"/>
                <a:cs typeface="Times New Roman" pitchFamily="18" charset="0"/>
              </a:rPr>
              <a:t>print</a:t>
            </a:r>
            <a:r>
              <a:rPr lang="en-IN" b="0" u="none" strike="noStrike" baseline="0" dirty="0">
                <a:solidFill>
                  <a:srgbClr val="000000"/>
                </a:solidFill>
                <a:latin typeface="Times New Roman" pitchFamily="18" charset="0"/>
                <a:cs typeface="Times New Roman" pitchFamily="18" charset="0"/>
              </a:rPr>
              <a:t>(</a:t>
            </a:r>
            <a:r>
              <a:rPr lang="en-IN" b="0" u="none" strike="noStrike" baseline="0" dirty="0" err="1">
                <a:solidFill>
                  <a:srgbClr val="000089"/>
                </a:solidFill>
                <a:latin typeface="Times New Roman" pitchFamily="18" charset="0"/>
                <a:cs typeface="Times New Roman" pitchFamily="18" charset="0"/>
              </a:rPr>
              <a:t>f</a:t>
            </a:r>
            <a:r>
              <a:rPr lang="en-IN" b="0" u="none" strike="noStrike" baseline="0" dirty="0" err="1">
                <a:solidFill>
                  <a:srgbClr val="CD3300"/>
                </a:solidFill>
                <a:latin typeface="Times New Roman" pitchFamily="18" charset="0"/>
                <a:cs typeface="Times New Roman" pitchFamily="18" charset="0"/>
              </a:rPr>
              <a:t>'std</a:t>
            </a:r>
            <a:r>
              <a:rPr lang="en-IN" b="0" u="none" strike="noStrike" baseline="0" dirty="0">
                <a:solidFill>
                  <a:srgbClr val="CD3300"/>
                </a:solidFill>
                <a:latin typeface="Times New Roman" pitchFamily="18" charset="0"/>
                <a:cs typeface="Times New Roman" pitchFamily="18" charset="0"/>
              </a:rPr>
              <a:t>. error: {</a:t>
            </a:r>
            <a:r>
              <a:rPr lang="en-IN" b="0" u="none" strike="noStrike" baseline="0" dirty="0" err="1">
                <a:solidFill>
                  <a:srgbClr val="CD3300"/>
                </a:solidFill>
                <a:latin typeface="Times New Roman" pitchFamily="18" charset="0"/>
                <a:cs typeface="Times New Roman" pitchFamily="18" charset="0"/>
              </a:rPr>
              <a:t>results.std</a:t>
            </a:r>
            <a:r>
              <a:rPr lang="en-IN" b="0" u="none" strike="noStrike" baseline="0" dirty="0">
                <a:solidFill>
                  <a:srgbClr val="CD3300"/>
                </a:solidFill>
                <a:latin typeface="Times New Roman" pitchFamily="18" charset="0"/>
                <a:cs typeface="Times New Roman" pitchFamily="18" charset="0"/>
              </a:rPr>
              <a:t>()}’</a:t>
            </a:r>
            <a:r>
              <a:rPr lang="en-IN" b="0" u="none" strike="noStrike" baseline="0" dirty="0">
                <a:solidFill>
                  <a:srgbClr val="000000"/>
                </a:solidFill>
                <a:latin typeface="Times New Roman" pitchFamily="18" charset="0"/>
                <a:cs typeface="Times New Roman" pitchFamily="18" charset="0"/>
              </a:rPr>
              <a:t>)</a:t>
            </a:r>
          </a:p>
          <a:p>
            <a:pPr algn="l"/>
            <a:endParaRPr lang="en-IN" dirty="0">
              <a:solidFill>
                <a:srgbClr val="000000"/>
              </a:solidFill>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503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2514" y="452233"/>
            <a:ext cx="11216640" cy="1754326"/>
          </a:xfrm>
          <a:prstGeom prst="rect">
            <a:avLst/>
          </a:prstGeom>
        </p:spPr>
        <p:txBody>
          <a:bodyPr wrap="square">
            <a:spAutoFit/>
          </a:bodyPr>
          <a:lstStyle/>
          <a:p>
            <a:pPr algn="just"/>
            <a:r>
              <a:rPr lang="en-US" b="1" dirty="0">
                <a:latin typeface="Times New Roman" pitchFamily="18" charset="0"/>
                <a:cs typeface="Times New Roman" pitchFamily="18" charset="0"/>
              </a:rPr>
              <a:t>Confidence Intervals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Frequency tables, histograms, </a:t>
            </a:r>
            <a:r>
              <a:rPr lang="en-US" dirty="0" err="1">
                <a:latin typeface="Times New Roman" pitchFamily="18" charset="0"/>
                <a:cs typeface="Times New Roman" pitchFamily="18" charset="0"/>
              </a:rPr>
              <a:t>boxplots</a:t>
            </a:r>
            <a:r>
              <a:rPr lang="en-US" dirty="0">
                <a:latin typeface="Times New Roman" pitchFamily="18" charset="0"/>
                <a:cs typeface="Times New Roman" pitchFamily="18" charset="0"/>
              </a:rPr>
              <a:t>, and standard errors are all ways to understand the potential error in a sample estimate. Confidence intervals are another.</a:t>
            </a:r>
          </a:p>
          <a:p>
            <a:endParaRPr lang="en-IN" dirty="0"/>
          </a:p>
          <a:p>
            <a:endParaRPr lang="en-US" dirty="0"/>
          </a:p>
        </p:txBody>
      </p:sp>
      <p:sp>
        <p:nvSpPr>
          <p:cNvPr id="3" name="Rectangle 2"/>
          <p:cNvSpPr/>
          <p:nvPr/>
        </p:nvSpPr>
        <p:spPr>
          <a:xfrm>
            <a:off x="566058" y="1804575"/>
            <a:ext cx="11251474" cy="2031325"/>
          </a:xfrm>
          <a:prstGeom prst="rect">
            <a:avLst/>
          </a:prstGeom>
        </p:spPr>
        <p:txBody>
          <a:bodyPr wrap="square">
            <a:spAutoFit/>
          </a:bodyPr>
          <a:lstStyle/>
          <a:p>
            <a:pPr algn="ctr"/>
            <a:r>
              <a:rPr lang="en-US" b="1" dirty="0">
                <a:latin typeface="Times New Roman" pitchFamily="18" charset="0"/>
                <a:cs typeface="Times New Roman" pitchFamily="18" charset="0"/>
              </a:rPr>
              <a:t>Key Terms for Confidence Intervals</a:t>
            </a:r>
          </a:p>
          <a:p>
            <a:pPr algn="just"/>
            <a:r>
              <a:rPr lang="en-US" b="1" dirty="0">
                <a:latin typeface="Times New Roman" pitchFamily="18" charset="0"/>
                <a:cs typeface="Times New Roman" pitchFamily="18" charset="0"/>
              </a:rPr>
              <a:t>Confidence level</a:t>
            </a:r>
          </a:p>
          <a:p>
            <a:pPr algn="just"/>
            <a:r>
              <a:rPr lang="en-US" dirty="0">
                <a:latin typeface="Times New Roman" pitchFamily="18" charset="0"/>
                <a:cs typeface="Times New Roman" pitchFamily="18" charset="0"/>
              </a:rPr>
              <a:t>	The percentage of confidence intervals, constructed in the same way from the same population, that are expected to contain the statistic of interest.</a:t>
            </a:r>
          </a:p>
          <a:p>
            <a:pPr algn="just"/>
            <a:endParaRPr lang="en-US"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Interval endpoints</a:t>
            </a:r>
          </a:p>
          <a:p>
            <a:pPr algn="just"/>
            <a:r>
              <a:rPr lang="en-US" dirty="0">
                <a:latin typeface="Times New Roman" pitchFamily="18" charset="0"/>
                <a:cs typeface="Times New Roman" pitchFamily="18" charset="0"/>
              </a:rPr>
              <a:t>	The top and bottom of the confidence interval.</a:t>
            </a:r>
          </a:p>
        </p:txBody>
      </p:sp>
      <p:sp>
        <p:nvSpPr>
          <p:cNvPr id="4" name="Rectangle 3"/>
          <p:cNvSpPr/>
          <p:nvPr/>
        </p:nvSpPr>
        <p:spPr>
          <a:xfrm>
            <a:off x="505095" y="4067021"/>
            <a:ext cx="11260183" cy="1200329"/>
          </a:xfrm>
          <a:prstGeom prst="rect">
            <a:avLst/>
          </a:prstGeom>
        </p:spPr>
        <p:txBody>
          <a:bodyPr wrap="square">
            <a:spAutoFit/>
          </a:bodyPr>
          <a:lstStyle/>
          <a:p>
            <a:pPr algn="just"/>
            <a:r>
              <a:rPr lang="en-US" dirty="0">
                <a:latin typeface="Times New Roman" pitchFamily="18" charset="0"/>
                <a:cs typeface="Times New Roman" pitchFamily="18" charset="0"/>
              </a:rPr>
              <a:t>	There is a natural human aversion to uncertainty; people (especially experts) say “I don’t know” far too rarely. Analysts and managers, while acknowledging uncertainty, nonetheless place undue faith in an estimate when it is presented as a single number (a point estimate). Presenting an estimate not as a single number but as a range is one way to counteract this tendency. Confidence intervals do this in a manner grounded in statistical sampling principles.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634" y="642321"/>
            <a:ext cx="11382103" cy="3970318"/>
          </a:xfrm>
          <a:prstGeom prst="rect">
            <a:avLst/>
          </a:prstGeom>
        </p:spPr>
        <p:txBody>
          <a:bodyPr wrap="square">
            <a:spAutoFit/>
          </a:bodyPr>
          <a:lstStyle/>
          <a:p>
            <a:pPr algn="just"/>
            <a:r>
              <a:rPr lang="en-US" dirty="0">
                <a:latin typeface="Times New Roman" pitchFamily="18" charset="0"/>
                <a:cs typeface="Times New Roman" pitchFamily="18" charset="0"/>
              </a:rPr>
              <a:t>	Confidence intervals always come with a coverage level, expressed as a (high) percentage, say 90% or 95%. One way to think of a 90% confidence interval is as follows:</a:t>
            </a:r>
          </a:p>
          <a:p>
            <a:pPr algn="just"/>
            <a:r>
              <a:rPr lang="en-US" dirty="0">
                <a:latin typeface="Times New Roman" pitchFamily="18" charset="0"/>
                <a:cs typeface="Times New Roman" pitchFamily="18" charset="0"/>
              </a:rPr>
              <a:t>	it is the interval that encloses the central 90% of the bootstrap sampling distribution of a sample statistic . More generally, an x% confidence interval around a sample estimate should, on average, contain similar sample estimates x% of the time (when a similar sampling procedure is followed).</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Given a sample of size n, and a sample statistic of interest, the algorithm for a bootstrap confidence interval is as follows: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1. Draw a random sample of size n with replacement from the data (a resample).</a:t>
            </a:r>
          </a:p>
          <a:p>
            <a:pPr algn="just"/>
            <a:r>
              <a:rPr lang="en-US" dirty="0">
                <a:latin typeface="Times New Roman" pitchFamily="18" charset="0"/>
                <a:cs typeface="Times New Roman" pitchFamily="18" charset="0"/>
              </a:rPr>
              <a:t>2. Record the statistic of interest for the resample.</a:t>
            </a:r>
          </a:p>
          <a:p>
            <a:pPr algn="just"/>
            <a:r>
              <a:rPr lang="en-US" dirty="0">
                <a:latin typeface="Times New Roman" pitchFamily="18" charset="0"/>
                <a:cs typeface="Times New Roman" pitchFamily="18" charset="0"/>
              </a:rPr>
              <a:t>3. Repeat steps 1–2 many (R) times.</a:t>
            </a:r>
          </a:p>
          <a:p>
            <a:pPr algn="just"/>
            <a:r>
              <a:rPr lang="en-US" dirty="0">
                <a:latin typeface="Times New Roman" pitchFamily="18" charset="0"/>
                <a:cs typeface="Times New Roman" pitchFamily="18" charset="0"/>
              </a:rPr>
              <a:t>4. For an x% confidence interval, trim [(100-x) / 2]% of the R resample results from</a:t>
            </a:r>
          </a:p>
          <a:p>
            <a:pPr algn="just"/>
            <a:r>
              <a:rPr lang="en-US" dirty="0">
                <a:latin typeface="Times New Roman" pitchFamily="18" charset="0"/>
                <a:cs typeface="Times New Roman" pitchFamily="18" charset="0"/>
              </a:rPr>
              <a:t>either end of the distribution.</a:t>
            </a:r>
          </a:p>
          <a:p>
            <a:pPr algn="just"/>
            <a:r>
              <a:rPr lang="en-US" dirty="0">
                <a:latin typeface="Times New Roman" pitchFamily="18" charset="0"/>
                <a:cs typeface="Times New Roman" pitchFamily="18" charset="0"/>
              </a:rPr>
              <a:t>5. The trim points are the endpoints of an x% bootstrap confidence interval.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A6B652-AFB3-76FA-4AEB-4520916A2365}"/>
              </a:ext>
            </a:extLst>
          </p:cNvPr>
          <p:cNvPicPr>
            <a:picLocks noChangeAspect="1"/>
          </p:cNvPicPr>
          <p:nvPr/>
        </p:nvPicPr>
        <p:blipFill>
          <a:blip r:embed="rId2"/>
          <a:stretch>
            <a:fillRect/>
          </a:stretch>
        </p:blipFill>
        <p:spPr>
          <a:xfrm>
            <a:off x="7393577" y="539847"/>
            <a:ext cx="4399861" cy="3936358"/>
          </a:xfrm>
          <a:prstGeom prst="rect">
            <a:avLst/>
          </a:prstGeom>
        </p:spPr>
      </p:pic>
      <p:sp>
        <p:nvSpPr>
          <p:cNvPr id="4" name="Rectangle 3"/>
          <p:cNvSpPr/>
          <p:nvPr/>
        </p:nvSpPr>
        <p:spPr>
          <a:xfrm>
            <a:off x="478971" y="529773"/>
            <a:ext cx="6096000" cy="5909310"/>
          </a:xfrm>
          <a:prstGeom prst="rect">
            <a:avLst/>
          </a:prstGeom>
        </p:spPr>
        <p:txBody>
          <a:bodyPr>
            <a:spAutoFit/>
          </a:bodyPr>
          <a:lstStyle/>
          <a:p>
            <a:pPr algn="just"/>
            <a:r>
              <a:rPr lang="en-US" b="1" dirty="0">
                <a:latin typeface="Times New Roman" pitchFamily="18" charset="0"/>
                <a:cs typeface="Times New Roman" pitchFamily="18" charset="0"/>
              </a:rPr>
              <a:t>Figure</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2-9</a:t>
            </a:r>
            <a:r>
              <a:rPr lang="en-US" dirty="0">
                <a:latin typeface="Times New Roman" pitchFamily="18" charset="0"/>
                <a:cs typeface="Times New Roman" pitchFamily="18" charset="0"/>
              </a:rPr>
              <a:t> shows a 90% confidence interval for the mean annual income of loan applicants, based on a sample of 20 for which the mean was $62,231.</a:t>
            </a:r>
          </a:p>
          <a:p>
            <a:pPr algn="just"/>
            <a:endParaRPr lang="en-IN"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The percentage associated with the confidence interval is termed the level of confidence.</a:t>
            </a:r>
          </a:p>
          <a:p>
            <a:pPr algn="just"/>
            <a:r>
              <a:rPr lang="en-US" dirty="0">
                <a:latin typeface="Times New Roman" pitchFamily="18" charset="0"/>
                <a:cs typeface="Times New Roman" pitchFamily="18" charset="0"/>
              </a:rPr>
              <a:t>The higher the level of confidence, the wider the interval. Also, the smaller the sample, the wider the interval (i.e., the greater the uncertainty). Both make sense: the more confident you want to be, and the less data you have, the wider you must make the confidence interval to be sufficiently assured of capturing the true value.</a:t>
            </a:r>
          </a:p>
          <a:p>
            <a:pPr algn="just"/>
            <a:endParaRPr lang="en-IN" dirty="0">
              <a:latin typeface="Times New Roman" pitchFamily="18" charset="0"/>
              <a:cs typeface="Times New Roman" pitchFamily="18" charset="0"/>
            </a:endParaRPr>
          </a:p>
          <a:p>
            <a:r>
              <a:rPr lang="en-US" dirty="0"/>
              <a:t>• </a:t>
            </a:r>
            <a:r>
              <a:rPr lang="en-US" dirty="0">
                <a:latin typeface="Times New Roman" pitchFamily="18" charset="0"/>
                <a:cs typeface="Times New Roman" pitchFamily="18" charset="0"/>
              </a:rPr>
              <a:t>Confidence intervals are the typical way to present estimates as an interval range.</a:t>
            </a:r>
          </a:p>
          <a:p>
            <a:r>
              <a:rPr lang="en-US" dirty="0">
                <a:latin typeface="Times New Roman" pitchFamily="18" charset="0"/>
                <a:cs typeface="Times New Roman" pitchFamily="18" charset="0"/>
              </a:rPr>
              <a:t>• The more data you have, the less variable a sample estimate will be.</a:t>
            </a:r>
          </a:p>
          <a:p>
            <a:r>
              <a:rPr lang="en-US" dirty="0">
                <a:latin typeface="Times New Roman" pitchFamily="18" charset="0"/>
                <a:cs typeface="Times New Roman" pitchFamily="18" charset="0"/>
              </a:rPr>
              <a:t>• The lower the level of confidence you can tolerate, the narrower the confidence interval will be.</a:t>
            </a:r>
          </a:p>
          <a:p>
            <a:r>
              <a:rPr lang="en-US" dirty="0">
                <a:latin typeface="Times New Roman" pitchFamily="18" charset="0"/>
                <a:cs typeface="Times New Roman" pitchFamily="18" charset="0"/>
              </a:rPr>
              <a:t>• The bootstrap is an effective way to construct confidence intervals.</a:t>
            </a:r>
          </a:p>
        </p:txBody>
      </p:sp>
      <p:sp>
        <p:nvSpPr>
          <p:cNvPr id="5" name="Rectangle 4"/>
          <p:cNvSpPr/>
          <p:nvPr/>
        </p:nvSpPr>
        <p:spPr>
          <a:xfrm>
            <a:off x="6426927" y="4796135"/>
            <a:ext cx="5312228" cy="646331"/>
          </a:xfrm>
          <a:prstGeom prst="rect">
            <a:avLst/>
          </a:prstGeom>
        </p:spPr>
        <p:txBody>
          <a:bodyPr wrap="square">
            <a:spAutoFit/>
          </a:bodyPr>
          <a:lstStyle/>
          <a:p>
            <a:r>
              <a:rPr lang="en-US" dirty="0">
                <a:latin typeface="Times New Roman" pitchFamily="18" charset="0"/>
                <a:cs typeface="Times New Roman" pitchFamily="18" charset="0"/>
              </a:rPr>
              <a:t>Figure 2-9. Bootstrap confidence interval for the annual income of loan applicants, based on a sample of 20</a:t>
            </a:r>
          </a:p>
        </p:txBody>
      </p:sp>
    </p:spTree>
    <p:extLst>
      <p:ext uri="{BB962C8B-B14F-4D97-AF65-F5344CB8AC3E}">
        <p14:creationId xmlns:p14="http://schemas.microsoft.com/office/powerpoint/2010/main" val="945269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A1007E-8C6F-5373-DE5F-5A007EC1BDA0}"/>
              </a:ext>
            </a:extLst>
          </p:cNvPr>
          <p:cNvSpPr txBox="1"/>
          <p:nvPr/>
        </p:nvSpPr>
        <p:spPr>
          <a:xfrm>
            <a:off x="491613" y="394790"/>
            <a:ext cx="9144000" cy="4616648"/>
          </a:xfrm>
          <a:prstGeom prst="rect">
            <a:avLst/>
          </a:prstGeom>
          <a:noFill/>
        </p:spPr>
        <p:txBody>
          <a:bodyPr wrap="square">
            <a:spAutoFit/>
          </a:bodyPr>
          <a:lstStyle/>
          <a:p>
            <a:pPr algn="ctr"/>
            <a:r>
              <a:rPr lang="en-US" sz="2400" b="1" u="none" strike="noStrike" baseline="0" dirty="0">
                <a:solidFill>
                  <a:schemeClr val="accent1"/>
                </a:solidFill>
                <a:latin typeface="Times New Roman" panose="02020603050405020304" pitchFamily="18" charset="0"/>
                <a:cs typeface="Times New Roman" panose="02020603050405020304" pitchFamily="18" charset="0"/>
              </a:rPr>
              <a:t>Key Terms for Normal Distribution</a:t>
            </a:r>
          </a:p>
          <a:p>
            <a:pPr algn="l"/>
            <a:r>
              <a:rPr lang="en-IN" b="1" u="none" strike="noStrike" baseline="0" dirty="0">
                <a:latin typeface="Times New Roman" panose="02020603050405020304" pitchFamily="18" charset="0"/>
                <a:cs typeface="Times New Roman" panose="02020603050405020304" pitchFamily="18" charset="0"/>
              </a:rPr>
              <a:t>Error</a:t>
            </a:r>
          </a:p>
          <a:p>
            <a:pPr algn="l"/>
            <a:r>
              <a:rPr lang="en-US" b="0" u="none" strike="noStrike" baseline="0" dirty="0">
                <a:latin typeface="Times New Roman" panose="02020603050405020304" pitchFamily="18" charset="0"/>
                <a:cs typeface="Times New Roman" panose="02020603050405020304" pitchFamily="18" charset="0"/>
              </a:rPr>
              <a:t>The difference between a data point and a predicted or average value.</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Standardize</a:t>
            </a:r>
          </a:p>
          <a:p>
            <a:pPr algn="l"/>
            <a:r>
              <a:rPr lang="en-US" b="0" u="none" strike="noStrike" baseline="0" dirty="0">
                <a:latin typeface="Times New Roman" panose="02020603050405020304" pitchFamily="18" charset="0"/>
                <a:cs typeface="Times New Roman" panose="02020603050405020304" pitchFamily="18" charset="0"/>
              </a:rPr>
              <a:t>Subtract the mean and divide by the standard deviation.</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z-score</a:t>
            </a:r>
          </a:p>
          <a:p>
            <a:pPr algn="l"/>
            <a:r>
              <a:rPr lang="en-US" b="0" u="none" strike="noStrike" baseline="0" dirty="0">
                <a:latin typeface="Times New Roman" panose="02020603050405020304" pitchFamily="18" charset="0"/>
                <a:cs typeface="Times New Roman" panose="02020603050405020304" pitchFamily="18" charset="0"/>
              </a:rPr>
              <a:t>The result of standardizing an individual data point.</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Standard normal</a:t>
            </a:r>
          </a:p>
          <a:p>
            <a:pPr algn="l"/>
            <a:r>
              <a:rPr lang="en-US" b="0" u="none" strike="noStrike" baseline="0" dirty="0">
                <a:latin typeface="Times New Roman" panose="02020603050405020304" pitchFamily="18" charset="0"/>
                <a:cs typeface="Times New Roman" panose="02020603050405020304" pitchFamily="18" charset="0"/>
              </a:rPr>
              <a:t>A normal distribution with mean = 0 and standard deviation = 1.</a:t>
            </a:r>
          </a:p>
          <a:p>
            <a:pPr algn="l"/>
            <a:endParaRPr lang="en-US" b="0" u="none" strike="noStrike" baseline="0" dirty="0">
              <a:latin typeface="Times New Roman" panose="02020603050405020304" pitchFamily="18" charset="0"/>
              <a:cs typeface="Times New Roman" panose="02020603050405020304" pitchFamily="18" charset="0"/>
            </a:endParaRPr>
          </a:p>
          <a:p>
            <a:pPr algn="l"/>
            <a:r>
              <a:rPr lang="en-IN" b="1" u="none" strike="noStrike" baseline="0" dirty="0">
                <a:latin typeface="Times New Roman" panose="02020603050405020304" pitchFamily="18" charset="0"/>
                <a:cs typeface="Times New Roman" panose="02020603050405020304" pitchFamily="18" charset="0"/>
              </a:rPr>
              <a:t>QQ-Plot</a:t>
            </a:r>
          </a:p>
          <a:p>
            <a:pPr algn="l"/>
            <a:r>
              <a:rPr lang="en-US" b="0" u="none" strike="noStrike" baseline="0" dirty="0">
                <a:latin typeface="Times New Roman" panose="02020603050405020304" pitchFamily="18" charset="0"/>
                <a:cs typeface="Times New Roman" panose="02020603050405020304" pitchFamily="18" charset="0"/>
              </a:rPr>
              <a:t>A plot to visualize how close a sample distribution is to a specified distribution,</a:t>
            </a:r>
          </a:p>
          <a:p>
            <a:pPr algn="l"/>
            <a:r>
              <a:rPr lang="en-US" b="0" u="none" strike="noStrike" baseline="0" dirty="0">
                <a:latin typeface="Times New Roman" panose="02020603050405020304" pitchFamily="18" charset="0"/>
                <a:cs typeface="Times New Roman" panose="02020603050405020304" pitchFamily="18" charset="0"/>
              </a:rPr>
              <a:t>e.g., the normal distribution.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5041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7410994" y="862013"/>
            <a:ext cx="4153989" cy="3161347"/>
          </a:xfrm>
          <a:prstGeom prst="rect">
            <a:avLst/>
          </a:prstGeom>
          <a:noFill/>
          <a:ln w="9525">
            <a:noFill/>
            <a:miter lim="800000"/>
            <a:headEnd/>
            <a:tailEnd/>
          </a:ln>
          <a:effectLst/>
        </p:spPr>
      </p:pic>
      <p:sp>
        <p:nvSpPr>
          <p:cNvPr id="3" name="Rectangle 2"/>
          <p:cNvSpPr/>
          <p:nvPr/>
        </p:nvSpPr>
        <p:spPr>
          <a:xfrm>
            <a:off x="670560" y="521065"/>
            <a:ext cx="6096000" cy="4247317"/>
          </a:xfrm>
          <a:prstGeom prst="rect">
            <a:avLst/>
          </a:prstGeom>
        </p:spPr>
        <p:txBody>
          <a:bodyPr>
            <a:spAutoFit/>
          </a:bodyPr>
          <a:lstStyle/>
          <a:p>
            <a:pPr algn="just"/>
            <a:r>
              <a:rPr lang="en-US" dirty="0">
                <a:latin typeface="Times New Roman" pitchFamily="18" charset="0"/>
                <a:cs typeface="Times New Roman" pitchFamily="18" charset="0"/>
              </a:rPr>
              <a:t>	In a normal distribution (Figure 2-10), 68% of the data lies within one standard deviation of the mean, and 95% lies within two standard deviations.</a:t>
            </a:r>
          </a:p>
          <a:p>
            <a:pPr algn="just"/>
            <a:endParaRPr lang="en-IN"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The normal distribution is also referred to as a Gaussian distribution. Another name previously used for the normal distribution was the “error” distribution.</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Statistically speaking, an error is the difference between an actual value and a statistical estimate like the sample mean. For example, the standard deviation is based on the errors from the mean of the data. Gauss’s development of the normal distribution came from his study of the errors of astronomical measurements that were found to be normally distributed.</a:t>
            </a:r>
          </a:p>
        </p:txBody>
      </p:sp>
      <p:sp>
        <p:nvSpPr>
          <p:cNvPr id="4" name="Rectangle 3"/>
          <p:cNvSpPr/>
          <p:nvPr/>
        </p:nvSpPr>
        <p:spPr>
          <a:xfrm>
            <a:off x="8072537" y="4228403"/>
            <a:ext cx="2676758" cy="369332"/>
          </a:xfrm>
          <a:prstGeom prst="rect">
            <a:avLst/>
          </a:prstGeom>
        </p:spPr>
        <p:txBody>
          <a:bodyPr wrap="none">
            <a:spAutoFit/>
          </a:bodyPr>
          <a:lstStyle/>
          <a:p>
            <a:r>
              <a:rPr lang="en-US" dirty="0">
                <a:latin typeface="Times New Roman" pitchFamily="18" charset="0"/>
                <a:cs typeface="Times New Roman" pitchFamily="18" charset="0"/>
              </a:rPr>
              <a:t>Figure 2-10. Normal curve</a:t>
            </a:r>
          </a:p>
        </p:txBody>
      </p:sp>
    </p:spTree>
    <p:extLst>
      <p:ext uri="{BB962C8B-B14F-4D97-AF65-F5344CB8AC3E}">
        <p14:creationId xmlns:p14="http://schemas.microsoft.com/office/powerpoint/2010/main" val="4129463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263" y="410873"/>
            <a:ext cx="6096000" cy="5355312"/>
          </a:xfrm>
          <a:prstGeom prst="rect">
            <a:avLst/>
          </a:prstGeom>
        </p:spPr>
        <p:txBody>
          <a:bodyPr>
            <a:spAutoFit/>
          </a:bodyPr>
          <a:lstStyle/>
          <a:p>
            <a:pPr algn="just"/>
            <a:r>
              <a:rPr lang="en-US" dirty="0">
                <a:latin typeface="Times New Roman" pitchFamily="18" charset="0"/>
                <a:cs typeface="Times New Roman" pitchFamily="18" charset="0"/>
              </a:rPr>
              <a:t>A QQ-Plot is used to visually determine how close a sample is to a specified distribution— in this case, the normal distribution. The QQ-Plot orders the z-scores from low to high and plots each value’s z-score on the y-axis; the x-axis is the corresponding</a:t>
            </a:r>
          </a:p>
          <a:p>
            <a:pPr algn="just"/>
            <a:r>
              <a:rPr lang="en-US" dirty="0" err="1">
                <a:latin typeface="Times New Roman" pitchFamily="18" charset="0"/>
                <a:cs typeface="Times New Roman" pitchFamily="18" charset="0"/>
              </a:rPr>
              <a:t>quantile</a:t>
            </a:r>
            <a:r>
              <a:rPr lang="en-US" dirty="0">
                <a:latin typeface="Times New Roman" pitchFamily="18" charset="0"/>
                <a:cs typeface="Times New Roman" pitchFamily="18" charset="0"/>
              </a:rPr>
              <a:t> of a normal distribution for that value’s rank. Since the data is normalized, the units correspond to the number of standard deviations away from the mean. If the points roughly fall on the diagonal line, then the sample distribution can be considered close to normal. Figure 2-11 shows a QQ-Plot for a sample of 100 values randomly generated from a normal distribution; as expected, the points closely follow the line. This figure can be produced in R with the </a:t>
            </a:r>
            <a:r>
              <a:rPr lang="en-US" dirty="0" err="1">
                <a:latin typeface="Times New Roman" pitchFamily="18" charset="0"/>
                <a:cs typeface="Times New Roman" pitchFamily="18" charset="0"/>
              </a:rPr>
              <a:t>qqnorm</a:t>
            </a:r>
            <a:r>
              <a:rPr lang="en-US" dirty="0">
                <a:latin typeface="Times New Roman" pitchFamily="18" charset="0"/>
                <a:cs typeface="Times New Roman" pitchFamily="18" charset="0"/>
              </a:rPr>
              <a:t> function:</a:t>
            </a:r>
          </a:p>
          <a:p>
            <a:pPr algn="just"/>
            <a:endParaRPr lang="en-IN" dirty="0">
              <a:latin typeface="Times New Roman" pitchFamily="18" charset="0"/>
              <a:cs typeface="Times New Roman" pitchFamily="18" charset="0"/>
            </a:endParaRPr>
          </a:p>
          <a:p>
            <a:r>
              <a:rPr lang="en-US" dirty="0">
                <a:latin typeface="Times New Roman" pitchFamily="18" charset="0"/>
                <a:cs typeface="Times New Roman" pitchFamily="18" charset="0"/>
              </a:rPr>
              <a:t>In Python, use the method </a:t>
            </a:r>
            <a:r>
              <a:rPr lang="en-US" dirty="0" err="1">
                <a:latin typeface="Times New Roman" pitchFamily="18" charset="0"/>
                <a:cs typeface="Times New Roman" pitchFamily="18" charset="0"/>
              </a:rPr>
              <a:t>scipy.stats.probplot</a:t>
            </a:r>
            <a:r>
              <a:rPr lang="en-US" dirty="0">
                <a:latin typeface="Times New Roman" pitchFamily="18" charset="0"/>
                <a:cs typeface="Times New Roman" pitchFamily="18" charset="0"/>
              </a:rPr>
              <a:t> to create the QQ-Plot:</a:t>
            </a:r>
          </a:p>
          <a:p>
            <a:r>
              <a:rPr lang="en-US" dirty="0">
                <a:latin typeface="Times New Roman" pitchFamily="18" charset="0"/>
                <a:cs typeface="Times New Roman" pitchFamily="18" charset="0"/>
              </a:rPr>
              <a:t>fig, ax = </a:t>
            </a:r>
            <a:r>
              <a:rPr lang="en-US" dirty="0" err="1">
                <a:latin typeface="Times New Roman" pitchFamily="18" charset="0"/>
                <a:cs typeface="Times New Roman" pitchFamily="18" charset="0"/>
              </a:rPr>
              <a:t>plt.subplots</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figsize</a:t>
            </a:r>
            <a:r>
              <a:rPr lang="en-US" dirty="0">
                <a:latin typeface="Times New Roman" pitchFamily="18" charset="0"/>
                <a:cs typeface="Times New Roman" pitchFamily="18" charset="0"/>
              </a:rPr>
              <a:t>=(4, 4))</a:t>
            </a:r>
          </a:p>
          <a:p>
            <a:r>
              <a:rPr lang="en-US" dirty="0" err="1">
                <a:latin typeface="Times New Roman" pitchFamily="18" charset="0"/>
                <a:cs typeface="Times New Roman" pitchFamily="18" charset="0"/>
              </a:rPr>
              <a:t>norm_sample</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stats.norm.rvs</a:t>
            </a:r>
            <a:r>
              <a:rPr lang="en-US" dirty="0">
                <a:latin typeface="Times New Roman" pitchFamily="18" charset="0"/>
                <a:cs typeface="Times New Roman" pitchFamily="18" charset="0"/>
              </a:rPr>
              <a:t>(size=100)</a:t>
            </a:r>
          </a:p>
          <a:p>
            <a:r>
              <a:rPr lang="en-US" dirty="0" err="1">
                <a:latin typeface="Times New Roman" pitchFamily="18" charset="0"/>
                <a:cs typeface="Times New Roman" pitchFamily="18" charset="0"/>
              </a:rPr>
              <a:t>stats.probplot</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norm_sample</a:t>
            </a:r>
            <a:r>
              <a:rPr lang="en-US" dirty="0">
                <a:latin typeface="Times New Roman" pitchFamily="18" charset="0"/>
                <a:cs typeface="Times New Roman" pitchFamily="18" charset="0"/>
              </a:rPr>
              <a:t>, plot=ax)</a:t>
            </a:r>
          </a:p>
        </p:txBody>
      </p:sp>
      <p:pic>
        <p:nvPicPr>
          <p:cNvPr id="3074" name="Picture 2"/>
          <p:cNvPicPr>
            <a:picLocks noChangeAspect="1" noChangeArrowheads="1"/>
          </p:cNvPicPr>
          <p:nvPr/>
        </p:nvPicPr>
        <p:blipFill>
          <a:blip r:embed="rId2"/>
          <a:srcRect/>
          <a:stretch>
            <a:fillRect/>
          </a:stretch>
        </p:blipFill>
        <p:spPr bwMode="auto">
          <a:xfrm>
            <a:off x="6888480" y="505097"/>
            <a:ext cx="4728754" cy="3908446"/>
          </a:xfrm>
          <a:prstGeom prst="rect">
            <a:avLst/>
          </a:prstGeom>
          <a:noFill/>
          <a:ln w="9525">
            <a:noFill/>
            <a:miter lim="800000"/>
            <a:headEnd/>
            <a:tailEnd/>
          </a:ln>
          <a:effectLst/>
        </p:spPr>
      </p:pic>
      <p:sp>
        <p:nvSpPr>
          <p:cNvPr id="4" name="Rectangle 3"/>
          <p:cNvSpPr/>
          <p:nvPr/>
        </p:nvSpPr>
        <p:spPr>
          <a:xfrm>
            <a:off x="7184571" y="4630673"/>
            <a:ext cx="4728753" cy="646331"/>
          </a:xfrm>
          <a:prstGeom prst="rect">
            <a:avLst/>
          </a:prstGeom>
        </p:spPr>
        <p:txBody>
          <a:bodyPr wrap="square">
            <a:spAutoFit/>
          </a:bodyPr>
          <a:lstStyle/>
          <a:p>
            <a:r>
              <a:rPr lang="en-US" dirty="0">
                <a:latin typeface="Times New Roman" pitchFamily="18" charset="0"/>
                <a:cs typeface="Times New Roman" pitchFamily="18" charset="0"/>
              </a:rPr>
              <a:t>Figure 2-11. QQ-Plot of a sample of 100 values drawn from a standard normal distribution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8999" y="431465"/>
            <a:ext cx="11152738" cy="4801314"/>
          </a:xfrm>
          <a:prstGeom prst="rect">
            <a:avLst/>
          </a:prstGeom>
        </p:spPr>
        <p:txBody>
          <a:bodyPr wrap="square">
            <a:spAutoFit/>
          </a:bodyPr>
          <a:lstStyle/>
          <a:p>
            <a:r>
              <a:rPr lang="en-US" b="1" dirty="0">
                <a:latin typeface="Times New Roman" pitchFamily="18" charset="0"/>
                <a:cs typeface="Times New Roman" pitchFamily="18" charset="0"/>
              </a:rPr>
              <a:t>Long-Tailed Distributions</a:t>
            </a:r>
          </a:p>
          <a:p>
            <a:pPr algn="ctr"/>
            <a:r>
              <a:rPr lang="en-US" b="1" dirty="0">
                <a:latin typeface="Times New Roman" pitchFamily="18" charset="0"/>
                <a:cs typeface="Times New Roman" pitchFamily="18" charset="0"/>
              </a:rPr>
              <a:t>Key Terms for Long-Tailed Distributions</a:t>
            </a:r>
          </a:p>
          <a:p>
            <a:r>
              <a:rPr lang="en-US" b="1" dirty="0">
                <a:latin typeface="Times New Roman" pitchFamily="18" charset="0"/>
                <a:cs typeface="Times New Roman" pitchFamily="18" charset="0"/>
              </a:rPr>
              <a:t>Tail</a:t>
            </a:r>
          </a:p>
          <a:p>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The long narrow portion of a frequency distribution, where relatively extreme values occur at low frequency.</a:t>
            </a:r>
          </a:p>
          <a:p>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Skew</a:t>
            </a:r>
          </a:p>
          <a:p>
            <a:r>
              <a:rPr lang="en-US" dirty="0">
                <a:latin typeface="Times New Roman" pitchFamily="18" charset="0"/>
                <a:cs typeface="Times New Roman" pitchFamily="18" charset="0"/>
              </a:rPr>
              <a:t>	Where one tail of a distribution is longer than the other.</a:t>
            </a:r>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Despite the importance of the normal distribution historically in statistics, and in contrast to what the name would suggest, data is generally not normally distributed.</a:t>
            </a:r>
          </a:p>
          <a:p>
            <a:pPr algn="just"/>
            <a:r>
              <a:rPr lang="en-US" dirty="0">
                <a:latin typeface="Times New Roman" pitchFamily="18" charset="0"/>
                <a:cs typeface="Times New Roman" pitchFamily="18" charset="0"/>
              </a:rPr>
              <a:t>	While the normal distribution is often appropriate and useful with respect to the distribution of errors and sample statistics, it typically does not characterize the distribution of raw data. Sometimes, the distribution is highly skewed (asymmetric), such as with income data; or the distribution can be discrete, as with binomial data. Both symmetric and asymmetric distributions may have long tails. The tails of a distribution correspond to the extreme values (small and large). Long tails, and guarding against them, are widely recognized in practical work. </a:t>
            </a:r>
            <a:r>
              <a:rPr lang="en-US" dirty="0" err="1">
                <a:latin typeface="Times New Roman" pitchFamily="18" charset="0"/>
                <a:cs typeface="Times New Roman" pitchFamily="18" charset="0"/>
              </a:rPr>
              <a:t>Nassim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Taleb</a:t>
            </a:r>
            <a:r>
              <a:rPr lang="en-US" dirty="0">
                <a:latin typeface="Times New Roman" pitchFamily="18" charset="0"/>
                <a:cs typeface="Times New Roman" pitchFamily="18" charset="0"/>
              </a:rPr>
              <a:t> has proposed the black swan theory, which predicts that anomalous events, such as a stock market crash, are much more likely to occur than would be predicted by the normal distribution.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3806" y="460942"/>
            <a:ext cx="6096000" cy="1754326"/>
          </a:xfrm>
          <a:prstGeom prst="rect">
            <a:avLst/>
          </a:prstGeom>
        </p:spPr>
        <p:txBody>
          <a:bodyPr>
            <a:spAutoFit/>
          </a:bodyPr>
          <a:lstStyle/>
          <a:p>
            <a:r>
              <a:rPr lang="en-US" dirty="0"/>
              <a:t>The corresponding </a:t>
            </a:r>
            <a:r>
              <a:rPr lang="en-US" i="1" dirty="0"/>
              <a:t>Python code is:</a:t>
            </a:r>
          </a:p>
          <a:p>
            <a:endParaRPr lang="en-US" i="1" dirty="0"/>
          </a:p>
          <a:p>
            <a:r>
              <a:rPr lang="en-US" dirty="0" err="1"/>
              <a:t>nflx</a:t>
            </a:r>
            <a:r>
              <a:rPr lang="en-US" dirty="0"/>
              <a:t> = sp500_px.NFLX</a:t>
            </a:r>
          </a:p>
          <a:p>
            <a:r>
              <a:rPr lang="en-US" dirty="0" err="1"/>
              <a:t>nflx</a:t>
            </a:r>
            <a:r>
              <a:rPr lang="en-US" dirty="0"/>
              <a:t> = </a:t>
            </a:r>
            <a:r>
              <a:rPr lang="en-US" dirty="0" err="1"/>
              <a:t>np.diff</a:t>
            </a:r>
            <a:r>
              <a:rPr lang="en-US" dirty="0"/>
              <a:t>(np.log(</a:t>
            </a:r>
            <a:r>
              <a:rPr lang="en-US" dirty="0" err="1"/>
              <a:t>nflx</a:t>
            </a:r>
            <a:r>
              <a:rPr lang="en-US" dirty="0"/>
              <a:t>[</a:t>
            </a:r>
            <a:r>
              <a:rPr lang="en-US" dirty="0" err="1"/>
              <a:t>nflx</a:t>
            </a:r>
            <a:r>
              <a:rPr lang="en-US" dirty="0"/>
              <a:t>&gt;0]))</a:t>
            </a:r>
          </a:p>
          <a:p>
            <a:r>
              <a:rPr lang="en-US" dirty="0"/>
              <a:t>fig, ax = </a:t>
            </a:r>
            <a:r>
              <a:rPr lang="en-US" dirty="0" err="1"/>
              <a:t>plt.subplots</a:t>
            </a:r>
            <a:r>
              <a:rPr lang="en-US" dirty="0"/>
              <a:t>(</a:t>
            </a:r>
            <a:r>
              <a:rPr lang="en-US" dirty="0" err="1"/>
              <a:t>figsize</a:t>
            </a:r>
            <a:r>
              <a:rPr lang="en-US" dirty="0"/>
              <a:t>=(4, 4))</a:t>
            </a:r>
          </a:p>
          <a:p>
            <a:r>
              <a:rPr lang="en-US" dirty="0" err="1"/>
              <a:t>stats.probplot</a:t>
            </a:r>
            <a:r>
              <a:rPr lang="en-US" dirty="0"/>
              <a:t>(</a:t>
            </a:r>
            <a:r>
              <a:rPr lang="en-US" dirty="0" err="1"/>
              <a:t>nflx</a:t>
            </a:r>
            <a:r>
              <a:rPr lang="en-US" dirty="0"/>
              <a:t>, plot=ax)</a:t>
            </a:r>
          </a:p>
        </p:txBody>
      </p:sp>
      <p:pic>
        <p:nvPicPr>
          <p:cNvPr id="4098" name="Picture 2"/>
          <p:cNvPicPr>
            <a:picLocks noChangeAspect="1" noChangeArrowheads="1"/>
          </p:cNvPicPr>
          <p:nvPr/>
        </p:nvPicPr>
        <p:blipFill>
          <a:blip r:embed="rId2"/>
          <a:srcRect/>
          <a:stretch>
            <a:fillRect/>
          </a:stretch>
        </p:blipFill>
        <p:spPr bwMode="auto">
          <a:xfrm>
            <a:off x="7001691" y="609599"/>
            <a:ext cx="4659086" cy="3039291"/>
          </a:xfrm>
          <a:prstGeom prst="rect">
            <a:avLst/>
          </a:prstGeom>
          <a:noFill/>
          <a:ln w="9525">
            <a:noFill/>
            <a:miter lim="800000"/>
            <a:headEnd/>
            <a:tailEnd/>
          </a:ln>
          <a:effectLst/>
        </p:spPr>
      </p:pic>
      <p:sp>
        <p:nvSpPr>
          <p:cNvPr id="4" name="Rectangle 3"/>
          <p:cNvSpPr/>
          <p:nvPr/>
        </p:nvSpPr>
        <p:spPr>
          <a:xfrm>
            <a:off x="6461760" y="3976691"/>
            <a:ext cx="6096000" cy="369332"/>
          </a:xfrm>
          <a:prstGeom prst="rect">
            <a:avLst/>
          </a:prstGeom>
        </p:spPr>
        <p:txBody>
          <a:bodyPr>
            <a:spAutoFit/>
          </a:bodyPr>
          <a:lstStyle/>
          <a:p>
            <a:r>
              <a:rPr lang="en-US" dirty="0">
                <a:latin typeface="Times New Roman" pitchFamily="18" charset="0"/>
                <a:cs typeface="Times New Roman" pitchFamily="18" charset="0"/>
              </a:rPr>
              <a:t>Figure 2-12. QQ-Plot of the returns for Netflix (NFLX)</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8970" y="431134"/>
            <a:ext cx="11164389" cy="5909310"/>
          </a:xfrm>
          <a:prstGeom prst="rect">
            <a:avLst/>
          </a:prstGeom>
        </p:spPr>
        <p:txBody>
          <a:bodyPr wrap="square">
            <a:spAutoFit/>
          </a:bodyPr>
          <a:lstStyle/>
          <a:p>
            <a:pPr algn="just"/>
            <a:r>
              <a:rPr lang="en-US" b="1" dirty="0">
                <a:latin typeface="Times New Roman" pitchFamily="18" charset="0"/>
                <a:cs typeface="Times New Roman" pitchFamily="18" charset="0"/>
              </a:rPr>
              <a:t>Student’s t-Distribution</a:t>
            </a:r>
          </a:p>
          <a:p>
            <a:pPr algn="just"/>
            <a:r>
              <a:rPr lang="en-US" dirty="0">
                <a:latin typeface="Times New Roman" pitchFamily="18" charset="0"/>
                <a:cs typeface="Times New Roman" pitchFamily="18" charset="0"/>
              </a:rPr>
              <a:t>The t-distribution is a normally shaped distribution, except that it is a bit thicker and longer on the tails. It is used extensively in depicting distributions of sample statistics.</a:t>
            </a:r>
          </a:p>
          <a:p>
            <a:pPr algn="just"/>
            <a:r>
              <a:rPr lang="en-US" dirty="0">
                <a:latin typeface="Times New Roman" pitchFamily="18" charset="0"/>
                <a:cs typeface="Times New Roman" pitchFamily="18" charset="0"/>
              </a:rPr>
              <a:t>Distributions of sample means are typically shaped like a t-distribution, and there is a family of t-distributions that differ depending on how large the sample is. The larger the sample, the more normally shaped the t-distribution becomes. Key Terms for Student’s t-Distribution</a:t>
            </a:r>
          </a:p>
          <a:p>
            <a:pPr algn="just"/>
            <a:r>
              <a:rPr lang="en-US" b="1" dirty="0">
                <a:latin typeface="Times New Roman" pitchFamily="18" charset="0"/>
                <a:cs typeface="Times New Roman" pitchFamily="18" charset="0"/>
              </a:rPr>
              <a:t>n</a:t>
            </a:r>
          </a:p>
          <a:p>
            <a:pPr algn="just"/>
            <a:r>
              <a:rPr lang="en-US" dirty="0">
                <a:latin typeface="Times New Roman" pitchFamily="18" charset="0"/>
                <a:cs typeface="Times New Roman" pitchFamily="18" charset="0"/>
              </a:rPr>
              <a:t>Sample size.</a:t>
            </a:r>
          </a:p>
          <a:p>
            <a:pPr algn="just"/>
            <a:r>
              <a:rPr lang="en-US" b="1" dirty="0">
                <a:latin typeface="Times New Roman" pitchFamily="18" charset="0"/>
                <a:cs typeface="Times New Roman" pitchFamily="18" charset="0"/>
              </a:rPr>
              <a:t>Degrees of freedom (n-1)</a:t>
            </a:r>
          </a:p>
          <a:p>
            <a:pPr algn="just"/>
            <a:r>
              <a:rPr lang="en-US" dirty="0">
                <a:latin typeface="Times New Roman" pitchFamily="18" charset="0"/>
                <a:cs typeface="Times New Roman" pitchFamily="18" charset="0"/>
              </a:rPr>
              <a:t>A parameter that allows the t-distribution to adjust to different sample sizes, statistics,</a:t>
            </a:r>
          </a:p>
          <a:p>
            <a:pPr algn="just"/>
            <a:r>
              <a:rPr lang="en-US" dirty="0">
                <a:latin typeface="Times New Roman" pitchFamily="18" charset="0"/>
                <a:cs typeface="Times New Roman" pitchFamily="18" charset="0"/>
              </a:rPr>
              <a:t>and numbers of groups.</a:t>
            </a:r>
          </a:p>
          <a:p>
            <a:pPr algn="just"/>
            <a:r>
              <a:rPr lang="en-US" dirty="0">
                <a:latin typeface="Times New Roman" pitchFamily="18" charset="0"/>
                <a:cs typeface="Times New Roman" pitchFamily="18" charset="0"/>
              </a:rPr>
              <a:t>The t-distribution is often called Student’s t because it was published in 1908 in </a:t>
            </a:r>
            <a:r>
              <a:rPr lang="en-US" dirty="0" err="1">
                <a:latin typeface="Times New Roman" pitchFamily="18" charset="0"/>
                <a:cs typeface="Times New Roman" pitchFamily="18" charset="0"/>
              </a:rPr>
              <a:t>Biometrika</a:t>
            </a:r>
            <a:r>
              <a:rPr lang="en-US" dirty="0">
                <a:latin typeface="Times New Roman" pitchFamily="18" charset="0"/>
                <a:cs typeface="Times New Roman" pitchFamily="18" charset="0"/>
              </a:rPr>
              <a:t> by W. S. </a:t>
            </a:r>
            <a:r>
              <a:rPr lang="en-US" dirty="0" err="1">
                <a:latin typeface="Times New Roman" pitchFamily="18" charset="0"/>
                <a:cs typeface="Times New Roman" pitchFamily="18" charset="0"/>
              </a:rPr>
              <a:t>Gosset</a:t>
            </a:r>
            <a:r>
              <a:rPr lang="en-US" dirty="0">
                <a:latin typeface="Times New Roman" pitchFamily="18" charset="0"/>
                <a:cs typeface="Times New Roman" pitchFamily="18" charset="0"/>
              </a:rPr>
              <a:t> under the name “Student.” </a:t>
            </a:r>
            <a:r>
              <a:rPr lang="en-US" dirty="0" err="1">
                <a:latin typeface="Times New Roman" pitchFamily="18" charset="0"/>
                <a:cs typeface="Times New Roman" pitchFamily="18" charset="0"/>
              </a:rPr>
              <a:t>Gosset’s</a:t>
            </a:r>
            <a:r>
              <a:rPr lang="en-US" dirty="0">
                <a:latin typeface="Times New Roman" pitchFamily="18" charset="0"/>
                <a:cs typeface="Times New Roman" pitchFamily="18" charset="0"/>
              </a:rPr>
              <a:t> employer, the Guinness brewery, did not want competitors to know that it was using statistical methods, so it insisted that </a:t>
            </a:r>
            <a:r>
              <a:rPr lang="en-US" dirty="0" err="1">
                <a:latin typeface="Times New Roman" pitchFamily="18" charset="0"/>
                <a:cs typeface="Times New Roman" pitchFamily="18" charset="0"/>
              </a:rPr>
              <a:t>Gosset</a:t>
            </a:r>
            <a:r>
              <a:rPr lang="en-US" dirty="0">
                <a:latin typeface="Times New Roman" pitchFamily="18" charset="0"/>
                <a:cs typeface="Times New Roman" pitchFamily="18" charset="0"/>
              </a:rPr>
              <a:t> not use his name on the article. </a:t>
            </a:r>
          </a:p>
          <a:p>
            <a:pPr algn="just"/>
            <a:r>
              <a:rPr lang="en-US" dirty="0" err="1">
                <a:latin typeface="Times New Roman" pitchFamily="18" charset="0"/>
                <a:cs typeface="Times New Roman" pitchFamily="18" charset="0"/>
              </a:rPr>
              <a:t>Gosset</a:t>
            </a:r>
            <a:r>
              <a:rPr lang="en-US" dirty="0">
                <a:latin typeface="Times New Roman" pitchFamily="18" charset="0"/>
                <a:cs typeface="Times New Roman" pitchFamily="18" charset="0"/>
              </a:rPr>
              <a:t> wanted to answer the question “What is the sampling distribution of the mean of a sample, drawn from a larger population?” He started out with a </a:t>
            </a:r>
            <a:r>
              <a:rPr lang="en-US" dirty="0" err="1">
                <a:latin typeface="Times New Roman" pitchFamily="18" charset="0"/>
                <a:cs typeface="Times New Roman" pitchFamily="18" charset="0"/>
              </a:rPr>
              <a:t>resampling</a:t>
            </a:r>
            <a:r>
              <a:rPr lang="en-US" dirty="0">
                <a:latin typeface="Times New Roman" pitchFamily="18" charset="0"/>
                <a:cs typeface="Times New Roman" pitchFamily="18" charset="0"/>
              </a:rPr>
              <a:t> experiment—drawing random samples of 4 from a data set of 3,000 measurements of criminals’ height and left-middle-finger length. (This being the era of eugenics, there was much interest in data on criminals, and in discovering correlations between criminal tendencies and physical or psychological attributes.) </a:t>
            </a:r>
            <a:r>
              <a:rPr lang="en-US" dirty="0" err="1">
                <a:latin typeface="Times New Roman" pitchFamily="18" charset="0"/>
                <a:cs typeface="Times New Roman" pitchFamily="18" charset="0"/>
              </a:rPr>
              <a:t>Gosset</a:t>
            </a:r>
            <a:r>
              <a:rPr lang="en-US" dirty="0">
                <a:latin typeface="Times New Roman" pitchFamily="18" charset="0"/>
                <a:cs typeface="Times New Roman" pitchFamily="18" charset="0"/>
              </a:rPr>
              <a:t> plotted the standardized results (the z-scores) on the x-axis and the frequency on the y-axis. Separately, he had derived a function, now known as Student’s t, and he fit this function over the sample results, plotting the comparison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6984273" y="508091"/>
            <a:ext cx="4580709" cy="3051360"/>
          </a:xfrm>
          <a:prstGeom prst="rect">
            <a:avLst/>
          </a:prstGeom>
          <a:noFill/>
          <a:ln w="9525">
            <a:noFill/>
            <a:miter lim="800000"/>
            <a:headEnd/>
            <a:tailEnd/>
          </a:ln>
          <a:effectLst/>
        </p:spPr>
      </p:pic>
      <p:sp>
        <p:nvSpPr>
          <p:cNvPr id="3" name="Rectangle 2"/>
          <p:cNvSpPr/>
          <p:nvPr/>
        </p:nvSpPr>
        <p:spPr>
          <a:xfrm>
            <a:off x="5373188" y="3707563"/>
            <a:ext cx="6096000" cy="646331"/>
          </a:xfrm>
          <a:prstGeom prst="rect">
            <a:avLst/>
          </a:prstGeom>
        </p:spPr>
        <p:txBody>
          <a:bodyPr>
            <a:spAutoFit/>
          </a:bodyPr>
          <a:lstStyle/>
          <a:p>
            <a:r>
              <a:rPr lang="en-US" dirty="0">
                <a:latin typeface="Times New Roman" pitchFamily="18" charset="0"/>
                <a:cs typeface="Times New Roman" pitchFamily="18" charset="0"/>
              </a:rPr>
              <a:t>Figure 2-13. </a:t>
            </a:r>
            <a:r>
              <a:rPr lang="en-US" dirty="0" err="1">
                <a:latin typeface="Times New Roman" pitchFamily="18" charset="0"/>
                <a:cs typeface="Times New Roman" pitchFamily="18" charset="0"/>
              </a:rPr>
              <a:t>Gosset’s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resampling</a:t>
            </a:r>
            <a:r>
              <a:rPr lang="en-US" dirty="0">
                <a:latin typeface="Times New Roman" pitchFamily="18" charset="0"/>
                <a:cs typeface="Times New Roman" pitchFamily="18" charset="0"/>
              </a:rPr>
              <a:t> experiment results and fitted t-curve (from his 1908 </a:t>
            </a:r>
            <a:r>
              <a:rPr lang="en-US" dirty="0" err="1">
                <a:latin typeface="Times New Roman" pitchFamily="18" charset="0"/>
                <a:cs typeface="Times New Roman" pitchFamily="18" charset="0"/>
              </a:rPr>
              <a:t>Biometrika</a:t>
            </a:r>
            <a:r>
              <a:rPr lang="en-US" dirty="0">
                <a:latin typeface="Times New Roman" pitchFamily="18" charset="0"/>
                <a:cs typeface="Times New Roman" pitchFamily="18" charset="0"/>
              </a:rPr>
              <a:t> paper)</a:t>
            </a:r>
          </a:p>
        </p:txBody>
      </p:sp>
      <p:sp>
        <p:nvSpPr>
          <p:cNvPr id="4" name="Rectangle 3"/>
          <p:cNvSpPr/>
          <p:nvPr/>
        </p:nvSpPr>
        <p:spPr>
          <a:xfrm>
            <a:off x="374469" y="516544"/>
            <a:ext cx="5965372" cy="1754326"/>
          </a:xfrm>
          <a:prstGeom prst="rect">
            <a:avLst/>
          </a:prstGeom>
        </p:spPr>
        <p:txBody>
          <a:bodyPr wrap="square">
            <a:spAutoFit/>
          </a:bodyPr>
          <a:lstStyle/>
          <a:p>
            <a:pPr algn="just"/>
            <a:r>
              <a:rPr lang="en-US" dirty="0">
                <a:latin typeface="Times New Roman" pitchFamily="18" charset="0"/>
                <a:cs typeface="Times New Roman" pitchFamily="18" charset="0"/>
              </a:rPr>
              <a:t>	A number of different statistics can be compared, after standardization, to the </a:t>
            </a:r>
            <a:r>
              <a:rPr lang="en-US" dirty="0" err="1">
                <a:latin typeface="Times New Roman" pitchFamily="18" charset="0"/>
                <a:cs typeface="Times New Roman" pitchFamily="18" charset="0"/>
              </a:rPr>
              <a:t>tdistribution</a:t>
            </a:r>
            <a:r>
              <a:rPr lang="en-US" dirty="0">
                <a:latin typeface="Times New Roman" pitchFamily="18" charset="0"/>
                <a:cs typeface="Times New Roman" pitchFamily="18" charset="0"/>
              </a:rPr>
              <a:t>, to estimate confidence intervals in light of sampling variation. Consider a sample of size n for which the sample mean x has been calculated. If s is the sample standard deviation, a 90% confidence interval around the sample mean is given by: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5428" y="488081"/>
            <a:ext cx="11094720" cy="3970318"/>
          </a:xfrm>
          <a:prstGeom prst="rect">
            <a:avLst/>
          </a:prstGeom>
        </p:spPr>
        <p:txBody>
          <a:bodyPr wrap="square">
            <a:spAutoFit/>
          </a:bodyPr>
          <a:lstStyle/>
          <a:p>
            <a:r>
              <a:rPr lang="en-US" b="1" dirty="0">
                <a:latin typeface="Times New Roman" pitchFamily="18" charset="0"/>
                <a:cs typeface="Times New Roman" pitchFamily="18" charset="0"/>
              </a:rPr>
              <a:t>Binomial Distribution</a:t>
            </a:r>
          </a:p>
          <a:p>
            <a:pPr algn="just"/>
            <a:r>
              <a:rPr lang="en-US" dirty="0">
                <a:latin typeface="Times New Roman" pitchFamily="18" charset="0"/>
                <a:cs typeface="Times New Roman" pitchFamily="18" charset="0"/>
              </a:rPr>
              <a:t>	Yes/no (binomial) outcomes lie at the heart of analytics since they are often the culmination of a decision or other process; buy/don’t buy, click/don’t click, survive/die, and so on. Central to understanding the binomial distribution is the idea of a set of trials, each trial having two possible outcomes with definite probabilities.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For example, flipping a coin 10 times is a binomial experiment with 10 trials, each trial having two possible outcomes (heads or tails); see Figure 2-14. Such yes/no or 0/1 outcomes are termed binary outcomes, and they need not have 50/50 probabilities.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Any probabilities that sum to 1.0 are possible. It is conventional in statistics to term the “1” outcome the success outcome; it is also common practice to assign “1” to the more rare outcome. Use of the term success does not imply that the outcome is desirable or beneficial, but it does tend to indicate the outcome of interest. For example, loan defaults or fraudulent transactions are relatively uncommon events that we may be interested in predicting, so they are termed “1s” or “successes.”</a:t>
            </a:r>
          </a:p>
        </p:txBody>
      </p:sp>
      <p:pic>
        <p:nvPicPr>
          <p:cNvPr id="6146" name="Picture 2"/>
          <p:cNvPicPr>
            <a:picLocks noChangeAspect="1" noChangeArrowheads="1"/>
          </p:cNvPicPr>
          <p:nvPr/>
        </p:nvPicPr>
        <p:blipFill>
          <a:blip r:embed="rId2"/>
          <a:srcRect/>
          <a:stretch>
            <a:fillRect/>
          </a:stretch>
        </p:blipFill>
        <p:spPr bwMode="auto">
          <a:xfrm>
            <a:off x="9344297" y="4379051"/>
            <a:ext cx="1628503" cy="1734366"/>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1554" y="612845"/>
            <a:ext cx="8682446" cy="5355312"/>
          </a:xfrm>
          <a:prstGeom prst="rect">
            <a:avLst/>
          </a:prstGeom>
        </p:spPr>
        <p:txBody>
          <a:bodyPr wrap="square">
            <a:spAutoFit/>
          </a:bodyPr>
          <a:lstStyle/>
          <a:p>
            <a:pPr algn="ctr"/>
            <a:r>
              <a:rPr lang="en-US" dirty="0">
                <a:latin typeface="Times New Roman" pitchFamily="18" charset="0"/>
                <a:cs typeface="Times New Roman" pitchFamily="18" charset="0"/>
              </a:rPr>
              <a:t>Key Terms for Binomial Distribution</a:t>
            </a:r>
          </a:p>
          <a:p>
            <a:r>
              <a:rPr lang="en-US" b="1" dirty="0">
                <a:latin typeface="Times New Roman" pitchFamily="18" charset="0"/>
                <a:cs typeface="Times New Roman" pitchFamily="18" charset="0"/>
              </a:rPr>
              <a:t>Trial</a:t>
            </a:r>
          </a:p>
          <a:p>
            <a:r>
              <a:rPr lang="en-US" dirty="0">
                <a:latin typeface="Times New Roman" pitchFamily="18" charset="0"/>
                <a:cs typeface="Times New Roman" pitchFamily="18" charset="0"/>
              </a:rPr>
              <a:t>	An event with a discrete outcome (e.g., a coin flip).</a:t>
            </a:r>
          </a:p>
          <a:p>
            <a:r>
              <a:rPr lang="en-US" b="1" dirty="0">
                <a:latin typeface="Times New Roman" pitchFamily="18" charset="0"/>
                <a:cs typeface="Times New Roman" pitchFamily="18" charset="0"/>
              </a:rPr>
              <a:t>Success</a:t>
            </a:r>
          </a:p>
          <a:p>
            <a:r>
              <a:rPr lang="en-US" dirty="0">
                <a:latin typeface="Times New Roman" pitchFamily="18" charset="0"/>
                <a:cs typeface="Times New Roman" pitchFamily="18" charset="0"/>
              </a:rPr>
              <a:t>	The outcome of interest for a trial.</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	“1” (as opposed to “0”)</a:t>
            </a:r>
          </a:p>
          <a:p>
            <a:r>
              <a:rPr lang="en-US" b="1" dirty="0">
                <a:latin typeface="Times New Roman" pitchFamily="18" charset="0"/>
                <a:cs typeface="Times New Roman" pitchFamily="18" charset="0"/>
              </a:rPr>
              <a:t>Binomial</a:t>
            </a:r>
          </a:p>
          <a:p>
            <a:r>
              <a:rPr lang="en-US" dirty="0">
                <a:latin typeface="Times New Roman" pitchFamily="18" charset="0"/>
                <a:cs typeface="Times New Roman" pitchFamily="18" charset="0"/>
              </a:rPr>
              <a:t>	Having two outcomes.</a:t>
            </a:r>
          </a:p>
          <a:p>
            <a:r>
              <a:rPr lang="en-US" dirty="0">
                <a:latin typeface="Times New Roman" pitchFamily="18" charset="0"/>
                <a:cs typeface="Times New Roman" pitchFamily="18" charset="0"/>
              </a:rPr>
              <a:t>Synonyms</a:t>
            </a:r>
          </a:p>
          <a:p>
            <a:r>
              <a:rPr lang="en-US" dirty="0">
                <a:latin typeface="Times New Roman" pitchFamily="18" charset="0"/>
                <a:cs typeface="Times New Roman" pitchFamily="18" charset="0"/>
              </a:rPr>
              <a:t>	yes/no, 0/1, binary</a:t>
            </a:r>
          </a:p>
          <a:p>
            <a:r>
              <a:rPr lang="en-US" b="1" dirty="0">
                <a:latin typeface="Times New Roman" pitchFamily="18" charset="0"/>
                <a:cs typeface="Times New Roman" pitchFamily="18" charset="0"/>
              </a:rPr>
              <a:t>Binomial trial</a:t>
            </a:r>
          </a:p>
          <a:p>
            <a:r>
              <a:rPr lang="en-US" dirty="0">
                <a:latin typeface="Times New Roman" pitchFamily="18" charset="0"/>
                <a:cs typeface="Times New Roman" pitchFamily="18" charset="0"/>
              </a:rPr>
              <a:t>	A trial with two outcomes.</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	Bernoulli trial</a:t>
            </a:r>
          </a:p>
          <a:p>
            <a:r>
              <a:rPr lang="en-US" b="1" dirty="0">
                <a:latin typeface="Times New Roman" pitchFamily="18" charset="0"/>
                <a:cs typeface="Times New Roman" pitchFamily="18" charset="0"/>
              </a:rPr>
              <a:t>Binomial distribution</a:t>
            </a:r>
          </a:p>
          <a:p>
            <a:r>
              <a:rPr lang="en-US" dirty="0">
                <a:latin typeface="Times New Roman" pitchFamily="18" charset="0"/>
                <a:cs typeface="Times New Roman" pitchFamily="18" charset="0"/>
              </a:rPr>
              <a:t>	Distribution of number of successes in x trials.</a:t>
            </a:r>
          </a:p>
          <a:p>
            <a:r>
              <a:rPr lang="en-US" dirty="0">
                <a:latin typeface="Times New Roman" pitchFamily="18" charset="0"/>
                <a:cs typeface="Times New Roman" pitchFamily="18" charset="0"/>
              </a:rPr>
              <a:t>Synonym</a:t>
            </a:r>
          </a:p>
          <a:p>
            <a:r>
              <a:rPr lang="en-US" dirty="0">
                <a:latin typeface="Times New Roman" pitchFamily="18" charset="0"/>
                <a:cs typeface="Times New Roman" pitchFamily="18" charset="0"/>
              </a:rPr>
              <a:t>	Bernoulli distribution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6388" y="404170"/>
            <a:ext cx="11146972" cy="5632311"/>
          </a:xfrm>
          <a:prstGeom prst="rect">
            <a:avLst/>
          </a:prstGeom>
        </p:spPr>
        <p:txBody>
          <a:bodyPr wrap="square">
            <a:spAutoFit/>
          </a:bodyPr>
          <a:lstStyle/>
          <a:p>
            <a:pPr algn="just"/>
            <a:r>
              <a:rPr lang="en-US" dirty="0">
                <a:latin typeface="Times New Roman" pitchFamily="18" charset="0"/>
                <a:cs typeface="Times New Roman" pitchFamily="18" charset="0"/>
              </a:rPr>
              <a:t>	The binomial distribution is the frequency distribution of the number of successes (x) in a given number of trials (n) with specified probability (p) of success in each trial.</a:t>
            </a:r>
          </a:p>
          <a:p>
            <a:pPr algn="just"/>
            <a:r>
              <a:rPr lang="en-US" dirty="0">
                <a:latin typeface="Times New Roman" pitchFamily="18" charset="0"/>
                <a:cs typeface="Times New Roman" pitchFamily="18" charset="0"/>
              </a:rPr>
              <a:t>There is a family of binomial distributions, depending on the values of n and p. The binomial distribution would answer a question like:</a:t>
            </a:r>
          </a:p>
          <a:p>
            <a:pPr algn="just"/>
            <a:r>
              <a:rPr lang="en-US" dirty="0">
                <a:latin typeface="Times New Roman" pitchFamily="18" charset="0"/>
                <a:cs typeface="Times New Roman" pitchFamily="18" charset="0"/>
              </a:rPr>
              <a:t>If the probability of a click converting to a sale is 0.02, what is the probability of</a:t>
            </a:r>
          </a:p>
          <a:p>
            <a:pPr algn="just"/>
            <a:r>
              <a:rPr lang="en-US" dirty="0">
                <a:latin typeface="Times New Roman" pitchFamily="18" charset="0"/>
                <a:cs typeface="Times New Roman" pitchFamily="18" charset="0"/>
              </a:rPr>
              <a:t>observing 0 sales in 200 clicks?</a:t>
            </a:r>
          </a:p>
          <a:p>
            <a:pPr algn="just"/>
            <a:endParaRPr lang="en-IN"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would return 0.0729, the probability of observing exactly x = 2 successes in size = 5 trials, where the probability of success for each trial is p = 0.1. For our example above, we use x = 0, size = 200, and p = 0.02. With these arguments, </a:t>
            </a:r>
            <a:r>
              <a:rPr lang="en-US" dirty="0" err="1">
                <a:latin typeface="Times New Roman" pitchFamily="18" charset="0"/>
                <a:cs typeface="Times New Roman" pitchFamily="18" charset="0"/>
              </a:rPr>
              <a:t>dbinom</a:t>
            </a:r>
            <a:r>
              <a:rPr lang="en-US" dirty="0">
                <a:latin typeface="Times New Roman" pitchFamily="18" charset="0"/>
                <a:cs typeface="Times New Roman" pitchFamily="18" charset="0"/>
              </a:rPr>
              <a:t> returns a probability of 0.0176.</a:t>
            </a:r>
          </a:p>
          <a:p>
            <a:pPr algn="just"/>
            <a:endParaRPr lang="en-IN"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The </a:t>
            </a:r>
            <a:r>
              <a:rPr lang="en-US" dirty="0" err="1">
                <a:latin typeface="Times New Roman" pitchFamily="18" charset="0"/>
                <a:cs typeface="Times New Roman" pitchFamily="18" charset="0"/>
              </a:rPr>
              <a:t>scipy.stats</a:t>
            </a:r>
            <a:r>
              <a:rPr lang="en-US" dirty="0">
                <a:latin typeface="Times New Roman" pitchFamily="18" charset="0"/>
                <a:cs typeface="Times New Roman" pitchFamily="18" charset="0"/>
              </a:rPr>
              <a:t> module implements a large variety of statistical distributions. For the binomial distribution, use the functions </a:t>
            </a:r>
            <a:r>
              <a:rPr lang="en-US" dirty="0" err="1">
                <a:latin typeface="Times New Roman" pitchFamily="18" charset="0"/>
                <a:cs typeface="Times New Roman" pitchFamily="18" charset="0"/>
              </a:rPr>
              <a:t>stats.binom.pmf</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stats.binom.cdf</a:t>
            </a:r>
            <a:r>
              <a:rPr lang="en-US" dirty="0">
                <a:latin typeface="Times New Roman" pitchFamily="18" charset="0"/>
                <a:cs typeface="Times New Roman" pitchFamily="18" charset="0"/>
              </a:rPr>
              <a:t>:</a:t>
            </a:r>
          </a:p>
          <a:p>
            <a:pPr algn="just"/>
            <a:r>
              <a:rPr lang="en-US" dirty="0" err="1">
                <a:latin typeface="Times New Roman" pitchFamily="18" charset="0"/>
                <a:cs typeface="Times New Roman" pitchFamily="18" charset="0"/>
              </a:rPr>
              <a:t>stats.binom.pmf</a:t>
            </a:r>
            <a:r>
              <a:rPr lang="en-US" dirty="0">
                <a:latin typeface="Times New Roman" pitchFamily="18" charset="0"/>
                <a:cs typeface="Times New Roman" pitchFamily="18" charset="0"/>
              </a:rPr>
              <a:t>(2, n=5, p=0.1)</a:t>
            </a:r>
          </a:p>
          <a:p>
            <a:pPr algn="just"/>
            <a:r>
              <a:rPr lang="en-US" dirty="0" err="1">
                <a:latin typeface="Times New Roman" pitchFamily="18" charset="0"/>
                <a:cs typeface="Times New Roman" pitchFamily="18" charset="0"/>
              </a:rPr>
              <a:t>stats.binom.cdf</a:t>
            </a:r>
            <a:r>
              <a:rPr lang="en-US" dirty="0">
                <a:latin typeface="Times New Roman" pitchFamily="18" charset="0"/>
                <a:cs typeface="Times New Roman" pitchFamily="18" charset="0"/>
              </a:rPr>
              <a:t>(2, n=5, p=0.1)</a:t>
            </a:r>
          </a:p>
          <a:p>
            <a:pPr algn="just"/>
            <a:endParaRPr lang="en-IN"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The mean of a binomial distribution is n × p; you can also think of this as the expected number of successes in n trials, for success probability = p.</a:t>
            </a:r>
          </a:p>
          <a:p>
            <a:pPr algn="just"/>
            <a:r>
              <a:rPr lang="en-US" dirty="0">
                <a:latin typeface="Times New Roman" pitchFamily="18" charset="0"/>
                <a:cs typeface="Times New Roman" pitchFamily="18" charset="0"/>
              </a:rPr>
              <a:t>	The variance is n × p (1 − p) . With a large enough number of trials (particularly when p is close to 0.50), the binomial distribution is virtually indistinguishable from the normal distribution.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2513" y="436493"/>
            <a:ext cx="11173097" cy="4524315"/>
          </a:xfrm>
          <a:prstGeom prst="rect">
            <a:avLst/>
          </a:prstGeom>
        </p:spPr>
        <p:txBody>
          <a:bodyPr wrap="square">
            <a:spAutoFit/>
          </a:bodyPr>
          <a:lstStyle/>
          <a:p>
            <a:r>
              <a:rPr lang="en-US" b="1" dirty="0">
                <a:latin typeface="Times New Roman" pitchFamily="18" charset="0"/>
                <a:cs typeface="Times New Roman" pitchFamily="18" charset="0"/>
              </a:rPr>
              <a:t>Chi-Square Distribution</a:t>
            </a:r>
          </a:p>
          <a:p>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An important idea in statistics is departure from expectation, especially with respect to category counts. Expectation is defined loosely as “nothing unusual or of note in the data” (e.g., no correlation between variables or predictable patterns). This is also termed the “null hypothesis” or “null model”.</a:t>
            </a:r>
          </a:p>
          <a:p>
            <a:pPr algn="just"/>
            <a:r>
              <a:rPr lang="en-US" dirty="0">
                <a:latin typeface="Times New Roman" pitchFamily="18" charset="0"/>
                <a:cs typeface="Times New Roman" pitchFamily="18" charset="0"/>
              </a:rPr>
              <a:t>	For example, you might want to test whether one variable (say, a row variable representing gender) is independent of another (say, a column variable representing “was promoted in job”), and you have counts of the number in each of the cells of the data table. </a:t>
            </a:r>
          </a:p>
          <a:p>
            <a:pPr algn="just"/>
            <a:r>
              <a:rPr lang="en-US" dirty="0">
                <a:latin typeface="Times New Roman" pitchFamily="18" charset="0"/>
                <a:cs typeface="Times New Roman" pitchFamily="18" charset="0"/>
              </a:rPr>
              <a:t>	The statistic that measures the extent to which results depart from the null expectation of independence is the chi-square statistic. It is the difference between the observed and expected values, divided by the square root of the expected value, squared, then summed across all categories. This process standardizes the statistic so it can be compared to a reference distribution. A more general way of putting this is to note that the chi-square statistic is a measure of the extent to which a set of  observed values “fits” a specified distribution (a “goodness-of-fit” test). It is useful for determining whether multiple treatments (an “A/B/C… test”) differ from one another in their effects.</a:t>
            </a:r>
          </a:p>
          <a:p>
            <a:pPr algn="just"/>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chi-square distribution is the distribution of this statistic under repeated </a:t>
            </a:r>
            <a:r>
              <a:rPr lang="en-US" dirty="0" err="1">
                <a:latin typeface="Times New Roman" pitchFamily="18" charset="0"/>
                <a:cs typeface="Times New Roman" pitchFamily="18" charset="0"/>
              </a:rPr>
              <a:t>resampled</a:t>
            </a:r>
            <a:r>
              <a:rPr lang="en-US" dirty="0">
                <a:latin typeface="Times New Roman" pitchFamily="18" charset="0"/>
                <a:cs typeface="Times New Roman" pitchFamily="18" charset="0"/>
              </a:rPr>
              <a:t> draws from the null model.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263" y="424275"/>
            <a:ext cx="11321143" cy="3970318"/>
          </a:xfrm>
          <a:prstGeom prst="rect">
            <a:avLst/>
          </a:prstGeom>
        </p:spPr>
        <p:txBody>
          <a:bodyPr wrap="square">
            <a:spAutoFit/>
          </a:bodyPr>
          <a:lstStyle/>
          <a:p>
            <a:r>
              <a:rPr lang="en-US" b="1" dirty="0">
                <a:latin typeface="Times New Roman" pitchFamily="18" charset="0"/>
                <a:cs typeface="Times New Roman" pitchFamily="18" charset="0"/>
              </a:rPr>
              <a:t>F-Distribution</a:t>
            </a:r>
          </a:p>
          <a:p>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A common procedure in scientific experimentation is to test multiple treatments across groups—say, different fertilizers on different blocks of a field. This is similar to the A/B/C test referred to in the chi-square distribution (see “Chi-Square Distribution”), except we are dealing with measured continuous values rather than counts. In this case we are interested in the extent to which differences among group means are greater than we might expect under normal random variation. The </a:t>
            </a:r>
            <a:r>
              <a:rPr lang="en-US" dirty="0" err="1">
                <a:latin typeface="Times New Roman" pitchFamily="18" charset="0"/>
                <a:cs typeface="Times New Roman" pitchFamily="18" charset="0"/>
              </a:rPr>
              <a:t>Fstatistic</a:t>
            </a:r>
            <a:r>
              <a:rPr lang="en-US" dirty="0">
                <a:latin typeface="Times New Roman" pitchFamily="18" charset="0"/>
                <a:cs typeface="Times New Roman" pitchFamily="18" charset="0"/>
              </a:rPr>
              <a:t> measures this and is the ratio of the variability among the group means to the variability within each group (also called residual variability). This comparison is termed an analysis of variance . The distribution of the </a:t>
            </a:r>
            <a:r>
              <a:rPr lang="en-US" dirty="0" err="1">
                <a:latin typeface="Times New Roman" pitchFamily="18" charset="0"/>
                <a:cs typeface="Times New Roman" pitchFamily="18" charset="0"/>
              </a:rPr>
              <a:t>Fstatistic</a:t>
            </a:r>
            <a:r>
              <a:rPr lang="en-US" dirty="0">
                <a:latin typeface="Times New Roman" pitchFamily="18" charset="0"/>
                <a:cs typeface="Times New Roman" pitchFamily="18" charset="0"/>
              </a:rPr>
              <a:t> is the frequency distribution of all the values that would be produced by randomly permuting data in which all the group means are equal (i.e., a null model).</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The calculation of F is illustrated in the section on ANOVA. The F-statistic is also used in linear regression to compare the variation accounted for by the regression model to the overall variation in the data. F-statistics are produced automatically Python as part of regression and ANOVA routines.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3805" y="480035"/>
            <a:ext cx="11173098" cy="5355312"/>
          </a:xfrm>
          <a:prstGeom prst="rect">
            <a:avLst/>
          </a:prstGeom>
        </p:spPr>
        <p:txBody>
          <a:bodyPr wrap="square">
            <a:spAutoFit/>
          </a:bodyPr>
          <a:lstStyle/>
          <a:p>
            <a:r>
              <a:rPr lang="en-US" b="1" dirty="0">
                <a:latin typeface="Times New Roman" pitchFamily="18" charset="0"/>
                <a:cs typeface="Times New Roman" pitchFamily="18" charset="0"/>
              </a:rPr>
              <a:t>Poisson and Related Distributions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Many processes produce events randomly at a given overall rate—visitors arriving at a website, or cars arriving at a toll plaza (events spread over time); imperfections in a square meter of fabric, or typos per 100 lines of code (events spread over space).</a:t>
            </a:r>
          </a:p>
          <a:p>
            <a:endParaRPr lang="en-IN" dirty="0">
              <a:latin typeface="Times New Roman" pitchFamily="18" charset="0"/>
              <a:cs typeface="Times New Roman" pitchFamily="18" charset="0"/>
            </a:endParaRPr>
          </a:p>
          <a:p>
            <a:pPr algn="ctr"/>
            <a:r>
              <a:rPr lang="en-US" b="1" dirty="0">
                <a:latin typeface="Times New Roman" pitchFamily="18" charset="0"/>
                <a:cs typeface="Times New Roman" pitchFamily="18" charset="0"/>
              </a:rPr>
              <a:t>Key Terms for Poisson and Related Distributions</a:t>
            </a:r>
          </a:p>
          <a:p>
            <a:pPr algn="ctr"/>
            <a:endParaRPr lang="en-US" b="1" dirty="0">
              <a:latin typeface="Times New Roman" pitchFamily="18" charset="0"/>
              <a:cs typeface="Times New Roman" pitchFamily="18" charset="0"/>
            </a:endParaRPr>
          </a:p>
          <a:p>
            <a:r>
              <a:rPr lang="en-US" b="1" i="1" dirty="0">
                <a:latin typeface="Times New Roman" pitchFamily="18" charset="0"/>
                <a:cs typeface="Times New Roman" pitchFamily="18" charset="0"/>
              </a:rPr>
              <a:t>Lambda</a:t>
            </a:r>
          </a:p>
          <a:p>
            <a:r>
              <a:rPr lang="en-US" dirty="0">
                <a:latin typeface="Times New Roman" pitchFamily="18" charset="0"/>
                <a:cs typeface="Times New Roman" pitchFamily="18" charset="0"/>
              </a:rPr>
              <a:t>	The rate (per unit of time or space) at which events occur.</a:t>
            </a:r>
          </a:p>
          <a:p>
            <a:endParaRPr lang="en-US" dirty="0">
              <a:latin typeface="Times New Roman" pitchFamily="18" charset="0"/>
              <a:cs typeface="Times New Roman" pitchFamily="18" charset="0"/>
            </a:endParaRPr>
          </a:p>
          <a:p>
            <a:r>
              <a:rPr lang="en-US" b="1" i="1" dirty="0">
                <a:latin typeface="Times New Roman" pitchFamily="18" charset="0"/>
                <a:cs typeface="Times New Roman" pitchFamily="18" charset="0"/>
              </a:rPr>
              <a:t>Poisson distribution</a:t>
            </a:r>
          </a:p>
          <a:p>
            <a:r>
              <a:rPr lang="en-US" dirty="0">
                <a:latin typeface="Times New Roman" pitchFamily="18" charset="0"/>
                <a:cs typeface="Times New Roman" pitchFamily="18" charset="0"/>
              </a:rPr>
              <a:t>	The frequency distribution of the number of events in sampled units of time or space.</a:t>
            </a:r>
          </a:p>
          <a:p>
            <a:endParaRPr lang="en-US" dirty="0">
              <a:latin typeface="Times New Roman" pitchFamily="18" charset="0"/>
              <a:cs typeface="Times New Roman" pitchFamily="18" charset="0"/>
            </a:endParaRPr>
          </a:p>
          <a:p>
            <a:r>
              <a:rPr lang="en-US" b="1" i="1" dirty="0">
                <a:latin typeface="Times New Roman" pitchFamily="18" charset="0"/>
                <a:cs typeface="Times New Roman" pitchFamily="18" charset="0"/>
              </a:rPr>
              <a:t>Exponential distribution</a:t>
            </a:r>
          </a:p>
          <a:p>
            <a:r>
              <a:rPr lang="en-US" dirty="0">
                <a:latin typeface="Times New Roman" pitchFamily="18" charset="0"/>
                <a:cs typeface="Times New Roman" pitchFamily="18" charset="0"/>
              </a:rPr>
              <a:t>	The frequency distribution of the time or distance from one event to the next event.</a:t>
            </a:r>
          </a:p>
          <a:p>
            <a:endParaRPr lang="en-US" dirty="0">
              <a:latin typeface="Times New Roman" pitchFamily="18" charset="0"/>
              <a:cs typeface="Times New Roman" pitchFamily="18" charset="0"/>
            </a:endParaRPr>
          </a:p>
          <a:p>
            <a:r>
              <a:rPr lang="en-US" b="1" i="1" dirty="0" err="1">
                <a:latin typeface="Times New Roman" pitchFamily="18" charset="0"/>
                <a:cs typeface="Times New Roman" pitchFamily="18" charset="0"/>
              </a:rPr>
              <a:t>Weibull</a:t>
            </a:r>
            <a:r>
              <a:rPr lang="en-US" b="1" i="1" dirty="0">
                <a:latin typeface="Times New Roman" pitchFamily="18" charset="0"/>
                <a:cs typeface="Times New Roman" pitchFamily="18" charset="0"/>
              </a:rPr>
              <a:t> distribution</a:t>
            </a:r>
          </a:p>
          <a:p>
            <a:r>
              <a:rPr lang="en-US" dirty="0">
                <a:latin typeface="Times New Roman" pitchFamily="18" charset="0"/>
                <a:cs typeface="Times New Roman" pitchFamily="18" charset="0"/>
              </a:rPr>
              <a:t>	A generalized version of the exponential distribution in which the event rate is allowed to shift over time.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8971" y="474345"/>
            <a:ext cx="11234058" cy="5355312"/>
          </a:xfrm>
          <a:prstGeom prst="rect">
            <a:avLst/>
          </a:prstGeom>
        </p:spPr>
        <p:txBody>
          <a:bodyPr wrap="square">
            <a:spAutoFit/>
          </a:bodyPr>
          <a:lstStyle/>
          <a:p>
            <a:r>
              <a:rPr lang="en-US" b="1" dirty="0">
                <a:latin typeface="Times New Roman" pitchFamily="18" charset="0"/>
                <a:cs typeface="Times New Roman" pitchFamily="18" charset="0"/>
              </a:rPr>
              <a:t>Poisson Distributions</a:t>
            </a:r>
          </a:p>
          <a:p>
            <a:endParaRPr lang="en-US" b="1" dirty="0">
              <a:latin typeface="Times New Roman" pitchFamily="18" charset="0"/>
              <a:cs typeface="Times New Roman" pitchFamily="18" charset="0"/>
            </a:endParaRPr>
          </a:p>
          <a:p>
            <a:r>
              <a:rPr lang="en-US" dirty="0">
                <a:latin typeface="Times New Roman" pitchFamily="18" charset="0"/>
                <a:cs typeface="Times New Roman" pitchFamily="18" charset="0"/>
              </a:rPr>
              <a:t>	From prior aggregate data (for example, number of flu infections per year), we can estimate the average number of events per unit of time or space (e.g., infections per day, or per census unit). We might also want to know how different this might be from one unit of time/space to another. The Poisson distribution tells us the distribution</a:t>
            </a:r>
          </a:p>
          <a:p>
            <a:r>
              <a:rPr lang="en-US" dirty="0">
                <a:latin typeface="Times New Roman" pitchFamily="18" charset="0"/>
                <a:cs typeface="Times New Roman" pitchFamily="18" charset="0"/>
              </a:rPr>
              <a:t>of events per unit of time or space when we sample many such units. It is useful when addressing queuing questions such as “How much capacity do we need to be 95% sure of fully processing the internet traffic that arrives on a server in any </a:t>
            </a:r>
            <a:r>
              <a:rPr lang="en-US" dirty="0" err="1">
                <a:latin typeface="Times New Roman" pitchFamily="18" charset="0"/>
                <a:cs typeface="Times New Roman" pitchFamily="18" charset="0"/>
              </a:rPr>
              <a:t>fivesecond</a:t>
            </a:r>
            <a:r>
              <a:rPr lang="en-US" dirty="0">
                <a:latin typeface="Times New Roman" pitchFamily="18" charset="0"/>
                <a:cs typeface="Times New Roman" pitchFamily="18" charset="0"/>
              </a:rPr>
              <a:t> period?”</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The key parameter in a Poisson distribution is λ, or lambda. This is the mean number of events that occurs in a specified interval of time or space. The variance for a Poisson distribution is also </a:t>
            </a:r>
            <a:r>
              <a:rPr lang="el-GR" dirty="0">
                <a:latin typeface="Times New Roman" pitchFamily="18" charset="0"/>
                <a:cs typeface="Times New Roman" pitchFamily="18" charset="0"/>
              </a:rPr>
              <a:t>λ.</a:t>
            </a:r>
            <a:endParaRPr lang="en-IN" dirty="0">
              <a:latin typeface="Times New Roman" pitchFamily="18" charset="0"/>
              <a:cs typeface="Times New Roman" pitchFamily="18" charset="0"/>
            </a:endParaRPr>
          </a:p>
          <a:p>
            <a:endParaRPr lang="en-IN" dirty="0">
              <a:latin typeface="Times New Roman" pitchFamily="18" charset="0"/>
              <a:cs typeface="Times New Roman" pitchFamily="18" charset="0"/>
            </a:endParaRPr>
          </a:p>
          <a:p>
            <a:r>
              <a:rPr lang="en-US" dirty="0">
                <a:latin typeface="Times New Roman" pitchFamily="18" charset="0"/>
                <a:cs typeface="Times New Roman" pitchFamily="18" charset="0"/>
              </a:rPr>
              <a:t>The corresponding </a:t>
            </a:r>
            <a:r>
              <a:rPr lang="en-US" dirty="0" err="1">
                <a:latin typeface="Times New Roman" pitchFamily="18" charset="0"/>
                <a:cs typeface="Times New Roman" pitchFamily="18" charset="0"/>
              </a:rPr>
              <a:t>scipy</a:t>
            </a:r>
            <a:r>
              <a:rPr lang="en-US" dirty="0">
                <a:latin typeface="Times New Roman" pitchFamily="18" charset="0"/>
                <a:cs typeface="Times New Roman" pitchFamily="18" charset="0"/>
              </a:rPr>
              <a:t> function is </a:t>
            </a:r>
            <a:r>
              <a:rPr lang="en-US" dirty="0" err="1">
                <a:latin typeface="Times New Roman" pitchFamily="18" charset="0"/>
                <a:cs typeface="Times New Roman" pitchFamily="18" charset="0"/>
              </a:rPr>
              <a:t>stats.poisson.rvs</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stats.poisson.rvs</a:t>
            </a:r>
            <a:r>
              <a:rPr lang="en-US" dirty="0">
                <a:latin typeface="Times New Roman" pitchFamily="18" charset="0"/>
                <a:cs typeface="Times New Roman" pitchFamily="18" charset="0"/>
              </a:rPr>
              <a:t>(2, size=100)</a:t>
            </a:r>
          </a:p>
          <a:p>
            <a:endParaRPr lang="en-IN" dirty="0">
              <a:latin typeface="Times New Roman" pitchFamily="18" charset="0"/>
              <a:cs typeface="Times New Roman" pitchFamily="18" charset="0"/>
            </a:endParaRPr>
          </a:p>
          <a:p>
            <a:r>
              <a:rPr lang="en-US" dirty="0">
                <a:latin typeface="Times New Roman" pitchFamily="18" charset="0"/>
                <a:cs typeface="Times New Roman" pitchFamily="18" charset="0"/>
              </a:rPr>
              <a:t>This code will generate 100 random numbers from a Poisson distribution with </a:t>
            </a:r>
            <a:r>
              <a:rPr lang="en-US" i="1" dirty="0">
                <a:latin typeface="Times New Roman" pitchFamily="18" charset="0"/>
                <a:cs typeface="Times New Roman" pitchFamily="18" charset="0"/>
              </a:rPr>
              <a:t>λ = 2.</a:t>
            </a:r>
          </a:p>
          <a:p>
            <a:r>
              <a:rPr lang="en-US" dirty="0">
                <a:latin typeface="Times New Roman" pitchFamily="18" charset="0"/>
                <a:cs typeface="Times New Roman" pitchFamily="18" charset="0"/>
              </a:rPr>
              <a:t>For example, if incoming customer service calls average two per minute, this code will simulate 100 minutes, returning the number of calls in each of those 100 minute</a:t>
            </a:r>
            <a:r>
              <a:rPr lang="en-US" dirty="0"/>
              <a:t>s.</a:t>
            </a:r>
            <a:endParaRPr lang="en-US"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5097" y="439005"/>
            <a:ext cx="11242766" cy="5909310"/>
          </a:xfrm>
          <a:prstGeom prst="rect">
            <a:avLst/>
          </a:prstGeom>
        </p:spPr>
        <p:txBody>
          <a:bodyPr wrap="square">
            <a:spAutoFit/>
          </a:bodyPr>
          <a:lstStyle/>
          <a:p>
            <a:r>
              <a:rPr lang="en-US" b="1" dirty="0">
                <a:latin typeface="Times New Roman" pitchFamily="18" charset="0"/>
                <a:cs typeface="Times New Roman" pitchFamily="18" charset="0"/>
              </a:rPr>
              <a:t>Exponential Distribution</a:t>
            </a:r>
          </a:p>
          <a:p>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Using the same parameter λ that we used in the Poisson distribution, we can also model the distribution of the time between events: time between visits to a website or between cars arriving at a toll plaza. It is also used in engineering to model time to failure, and in process management to model, for example, the time required per service call.</a:t>
            </a:r>
          </a:p>
          <a:p>
            <a:pPr algn="just"/>
            <a:r>
              <a:rPr lang="en-IN" dirty="0">
                <a:latin typeface="Times New Roman" pitchFamily="18" charset="0"/>
                <a:cs typeface="Times New Roman" pitchFamily="18" charset="0"/>
              </a:rPr>
              <a:t>	</a:t>
            </a:r>
            <a:r>
              <a:rPr lang="en-US" dirty="0">
                <a:latin typeface="Times New Roman" pitchFamily="18" charset="0"/>
                <a:cs typeface="Times New Roman" pitchFamily="18" charset="0"/>
              </a:rPr>
              <a:t>In the function </a:t>
            </a:r>
            <a:r>
              <a:rPr lang="en-US" dirty="0" err="1">
                <a:latin typeface="Times New Roman" pitchFamily="18" charset="0"/>
                <a:cs typeface="Times New Roman" pitchFamily="18" charset="0"/>
              </a:rPr>
              <a:t>stats.expon.rvs</a:t>
            </a:r>
            <a:r>
              <a:rPr lang="en-US" dirty="0">
                <a:latin typeface="Times New Roman" pitchFamily="18" charset="0"/>
                <a:cs typeface="Times New Roman" pitchFamily="18" charset="0"/>
              </a:rPr>
              <a:t>, the order of the arguments is reversed:</a:t>
            </a:r>
          </a:p>
          <a:p>
            <a:pPr algn="just"/>
            <a:r>
              <a:rPr lang="en-US" dirty="0" err="1">
                <a:latin typeface="Times New Roman" pitchFamily="18" charset="0"/>
                <a:cs typeface="Times New Roman" pitchFamily="18" charset="0"/>
              </a:rPr>
              <a:t>stats.expon.rvs</a:t>
            </a:r>
            <a:r>
              <a:rPr lang="en-US" dirty="0">
                <a:latin typeface="Times New Roman" pitchFamily="18" charset="0"/>
                <a:cs typeface="Times New Roman" pitchFamily="18" charset="0"/>
              </a:rPr>
              <a:t>(0.2, size=100)</a:t>
            </a:r>
          </a:p>
          <a:p>
            <a:pPr algn="just"/>
            <a:r>
              <a:rPr lang="en-US" dirty="0">
                <a:latin typeface="Times New Roman" pitchFamily="18" charset="0"/>
                <a:cs typeface="Times New Roman" pitchFamily="18" charset="0"/>
              </a:rPr>
              <a:t>	This code would generate 100 random numbers from an exponential distribution where the mean number of events per time period is 0.2. So you could use it to simulate 100 intervals, in minutes, between service calls, where the average rate of incoming calls is 0.2 per minute.</a:t>
            </a:r>
          </a:p>
          <a:p>
            <a:pPr algn="just"/>
            <a:endParaRPr lang="en-IN"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Estimating the Failure Rate</a:t>
            </a:r>
          </a:p>
          <a:p>
            <a:pPr algn="just"/>
            <a:r>
              <a:rPr lang="en-US" dirty="0">
                <a:latin typeface="Times New Roman" pitchFamily="18" charset="0"/>
                <a:cs typeface="Times New Roman" pitchFamily="18" charset="0"/>
              </a:rPr>
              <a:t>In many applications, the event rate, λ, is known or can be estimated from prior data. However, for rare events, this is not necessarily so. Aircraft engine failure, for example, is sufficiently rare (thankfully) that, for a given engine type, there may be little data on which to base an estimate of time between failures. With no data at all, there is little basis on which to estimate an event rate. However, you can make some guesses: if no events have been seen after 20 hours, you can be pretty sure that the rate is not 1 per hour. Via simulation, or direct calculation of probabilities, you can assess different hypothetical event rates and estimate threshold values below which the rate is very unlikely to fall. If there is some data but not enough to provide a precise, reliable estimate of the rate, a goodness-of-fit test can be applied to various rates to determine how well they fit the observed data.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058" y="419755"/>
            <a:ext cx="11129553" cy="5355312"/>
          </a:xfrm>
          <a:prstGeom prst="rect">
            <a:avLst/>
          </a:prstGeom>
        </p:spPr>
        <p:txBody>
          <a:bodyPr wrap="square">
            <a:spAutoFit/>
          </a:bodyPr>
          <a:lstStyle/>
          <a:p>
            <a:r>
              <a:rPr lang="en-US" b="1" dirty="0" err="1">
                <a:latin typeface="Times New Roman" pitchFamily="18" charset="0"/>
                <a:cs typeface="Times New Roman" pitchFamily="18" charset="0"/>
              </a:rPr>
              <a:t>Weibull</a:t>
            </a:r>
            <a:r>
              <a:rPr lang="en-US" b="1" dirty="0">
                <a:latin typeface="Times New Roman" pitchFamily="18" charset="0"/>
                <a:cs typeface="Times New Roman" pitchFamily="18" charset="0"/>
              </a:rPr>
              <a:t> Distribution</a:t>
            </a:r>
          </a:p>
          <a:p>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	In many cases, the event rate does not remain constant over time. If the period over which it changes is much longer than the typical interval between events, there is no problem; you just subdivide the analysis into the segments where rates are relatively constant, as mentioned before. If, however, the event rate changes over the time of the interval, the exponential (or Poisson) distributions are no longer useful. This is likely to be the case in mechanical failure—the risk of failure increases as time goes by. The </a:t>
            </a:r>
            <a:r>
              <a:rPr lang="en-US" dirty="0" err="1">
                <a:latin typeface="Times New Roman" pitchFamily="18" charset="0"/>
                <a:cs typeface="Times New Roman" pitchFamily="18" charset="0"/>
              </a:rPr>
              <a:t>Weibull</a:t>
            </a:r>
            <a:r>
              <a:rPr lang="en-US" dirty="0">
                <a:latin typeface="Times New Roman" pitchFamily="18" charset="0"/>
                <a:cs typeface="Times New Roman" pitchFamily="18" charset="0"/>
              </a:rPr>
              <a:t> distribution is an extension of the exponential distribution in which the event rate is allowed to change, as specified by a shape parameter, β. If β &gt; 1, the probability of an event increases over time; if β &lt; 1, the probability decreases. Because the </a:t>
            </a:r>
            <a:r>
              <a:rPr lang="en-US" dirty="0" err="1">
                <a:latin typeface="Times New Roman" pitchFamily="18" charset="0"/>
                <a:cs typeface="Times New Roman" pitchFamily="18" charset="0"/>
              </a:rPr>
              <a:t>Weibull</a:t>
            </a:r>
            <a:r>
              <a:rPr lang="en-US" dirty="0">
                <a:latin typeface="Times New Roman" pitchFamily="18" charset="0"/>
                <a:cs typeface="Times New Roman" pitchFamily="18" charset="0"/>
              </a:rPr>
              <a:t> distribution is used with time-to-failure analysis instead of event rate, the second parameter is expressed in terms of characteristic life, rather than in terms of the rate of events per interval. The symbol used is η, the Greek letter eta. It is also called the scale parameter.</a:t>
            </a:r>
          </a:p>
          <a:p>
            <a:pPr algn="just"/>
            <a:r>
              <a:rPr lang="en-US" dirty="0">
                <a:latin typeface="Times New Roman" pitchFamily="18" charset="0"/>
                <a:cs typeface="Times New Roman" pitchFamily="18" charset="0"/>
              </a:rPr>
              <a:t>With the </a:t>
            </a:r>
            <a:r>
              <a:rPr lang="en-US" dirty="0" err="1">
                <a:latin typeface="Times New Roman" pitchFamily="18" charset="0"/>
                <a:cs typeface="Times New Roman" pitchFamily="18" charset="0"/>
              </a:rPr>
              <a:t>Weibull</a:t>
            </a:r>
            <a:r>
              <a:rPr lang="en-US" dirty="0">
                <a:latin typeface="Times New Roman" pitchFamily="18" charset="0"/>
                <a:cs typeface="Times New Roman" pitchFamily="18" charset="0"/>
              </a:rPr>
              <a:t>, the estimation task now includes estimation of both parameters, β and η. Software is used to model the data and yield an estimate of the best-fitting </a:t>
            </a:r>
            <a:r>
              <a:rPr lang="en-US" dirty="0" err="1">
                <a:latin typeface="Times New Roman" pitchFamily="18" charset="0"/>
                <a:cs typeface="Times New Roman" pitchFamily="18" charset="0"/>
              </a:rPr>
              <a:t>Weibull</a:t>
            </a:r>
            <a:r>
              <a:rPr lang="en-US" dirty="0">
                <a:latin typeface="Times New Roman" pitchFamily="18" charset="0"/>
                <a:cs typeface="Times New Roman" pitchFamily="18" charset="0"/>
              </a:rPr>
              <a:t> distribution.</a:t>
            </a:r>
          </a:p>
          <a:p>
            <a:pPr algn="just"/>
            <a:endParaRPr lang="en-IN"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For example, the following code would generate 100 random numbers (lifetimes) from a </a:t>
            </a:r>
            <a:r>
              <a:rPr lang="en-US" dirty="0" err="1">
                <a:latin typeface="Times New Roman" pitchFamily="18" charset="0"/>
                <a:cs typeface="Times New Roman" pitchFamily="18" charset="0"/>
              </a:rPr>
              <a:t>Weibull</a:t>
            </a:r>
            <a:r>
              <a:rPr lang="en-US" dirty="0">
                <a:latin typeface="Times New Roman" pitchFamily="18" charset="0"/>
                <a:cs typeface="Times New Roman" pitchFamily="18" charset="0"/>
              </a:rPr>
              <a:t> distribution with shape of 1.5 and characteristic life of 5,000:</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To achieve the same in Python, use the function </a:t>
            </a:r>
            <a:r>
              <a:rPr lang="en-US" dirty="0" err="1">
                <a:latin typeface="Times New Roman" pitchFamily="18" charset="0"/>
                <a:cs typeface="Times New Roman" pitchFamily="18" charset="0"/>
              </a:rPr>
              <a:t>stats.weibull_min.rvs</a:t>
            </a:r>
            <a:r>
              <a:rPr lang="en-US" dirty="0">
                <a:latin typeface="Times New Roman" pitchFamily="18" charset="0"/>
                <a:cs typeface="Times New Roman" pitchFamily="18" charset="0"/>
              </a:rPr>
              <a:t>:</a:t>
            </a:r>
          </a:p>
          <a:p>
            <a:pPr algn="just"/>
            <a:r>
              <a:rPr lang="en-US" dirty="0" err="1">
                <a:latin typeface="Times New Roman" pitchFamily="18" charset="0"/>
                <a:cs typeface="Times New Roman" pitchFamily="18" charset="0"/>
              </a:rPr>
              <a:t>stats.weibull_min.rvs</a:t>
            </a:r>
            <a:r>
              <a:rPr lang="en-US" dirty="0">
                <a:latin typeface="Times New Roman" pitchFamily="18" charset="0"/>
                <a:cs typeface="Times New Roman" pitchFamily="18" charset="0"/>
              </a:rPr>
              <a:t>(1.5, scale=5000, size=100)</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Aspect</Template>
  <TotalTime>1303</TotalTime>
  <Words>7200</Words>
  <Application>Microsoft Office PowerPoint</Application>
  <PresentationFormat>Widescreen</PresentationFormat>
  <Paragraphs>380</Paragraphs>
  <Slides>37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MinionPro-It</vt:lpstr>
      <vt:lpstr>MyriadPro-SemiboldCond</vt:lpstr>
      <vt:lpstr>Times New Roman</vt:lpstr>
      <vt:lpstr>Verdana</vt:lpstr>
      <vt:lpstr>Wingdings 2</vt:lpstr>
      <vt:lpstr>Aspect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prema naidu</dc:creator>
  <cp:lastModifiedBy>prema naidu</cp:lastModifiedBy>
  <cp:revision>37</cp:revision>
  <dcterms:created xsi:type="dcterms:W3CDTF">2025-08-28T09:08:43Z</dcterms:created>
  <dcterms:modified xsi:type="dcterms:W3CDTF">2025-09-08T08:02:58Z</dcterms:modified>
</cp:coreProperties>
</file>
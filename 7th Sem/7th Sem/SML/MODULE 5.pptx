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800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600200"/>
            <a:ext cx="609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Discriminant </a:t>
            </a:r>
            <a:r>
              <a:rPr lang="en-US" sz="3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Analysis</a:t>
            </a:r>
          </a:p>
          <a:p>
            <a:endParaRPr lang="en-IN" sz="3200" b="1" dirty="0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3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Prepared by : Sunil Naidu G R</a:t>
            </a:r>
            <a:endParaRPr lang="en-US" sz="32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Discriminant Analysis</a:t>
            </a:r>
          </a:p>
          <a:p>
            <a:endParaRPr lang="en-US" dirty="0" smtClean="0"/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Discriminant analysis is the earliest statistical classifier; it was introduced by R.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A. Fisher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1936 in an article published in the Annals of Eugenics journal.2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While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analysis encompasses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several techniques, the most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commonly used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linear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analysis, or LDA. The original method proposed by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Fisher was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actually slightly different from LDA, but the mechanics are essentially the same.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LDA is now less widely used with the advent of more sophisticated techniques, such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tree models and logistic regression.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Discriminant Analysis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Covariance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measure of the extent to which one variable varies in concert with another (i.e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., similar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magnitude and direction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Discriminant function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function that, when applied to the predictor variables, maximizes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separation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classes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Discriminant weights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scores that result from the application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function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used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estimate probabilities of belonging to one class or another.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Covariance Matrix</a:t>
            </a:r>
          </a:p>
          <a:p>
            <a:r>
              <a:rPr lang="en-US" dirty="0" smtClean="0"/>
              <a:t>To understand </a:t>
            </a:r>
            <a:r>
              <a:rPr lang="en-US" dirty="0" err="1" smtClean="0"/>
              <a:t>discriminant</a:t>
            </a:r>
            <a:r>
              <a:rPr lang="en-US" dirty="0" smtClean="0"/>
              <a:t> analysis, it is first necessary to introduce the concept </a:t>
            </a:r>
            <a:r>
              <a:rPr lang="en-US" dirty="0" err="1" smtClean="0"/>
              <a:t>ofc</a:t>
            </a:r>
            <a:r>
              <a:rPr lang="en-US" dirty="0" smtClean="0"/>
              <a:t> </a:t>
            </a:r>
            <a:r>
              <a:rPr lang="en-US" i="1" dirty="0" smtClean="0"/>
              <a:t>covariance </a:t>
            </a:r>
            <a:r>
              <a:rPr lang="en-US" i="1" dirty="0" smtClean="0"/>
              <a:t>between two or more variables. The covariance measures the </a:t>
            </a:r>
            <a:r>
              <a:rPr lang="en-US" i="1" dirty="0" smtClean="0"/>
              <a:t>relationship </a:t>
            </a:r>
            <a:r>
              <a:rPr lang="en-US" dirty="0" smtClean="0"/>
              <a:t>between two variables </a:t>
            </a:r>
            <a:r>
              <a:rPr lang="en-US" i="1" dirty="0" smtClean="0"/>
              <a:t>x and z. Denote the mean for each variable by x and </a:t>
            </a:r>
            <a:r>
              <a:rPr lang="en-US" i="1" dirty="0" smtClean="0"/>
              <a:t>z</a:t>
            </a:r>
            <a:r>
              <a:rPr lang="en-US" dirty="0" smtClean="0"/>
              <a:t>. </a:t>
            </a:r>
            <a:r>
              <a:rPr lang="en-US" dirty="0" smtClean="0"/>
              <a:t>The covariance </a:t>
            </a:r>
            <a:r>
              <a:rPr lang="en-US" i="1" dirty="0" err="1" smtClean="0"/>
              <a:t>sx</a:t>
            </a:r>
            <a:r>
              <a:rPr lang="en-US" i="1" dirty="0" smtClean="0"/>
              <a:t>, z between x and z is given by:</a:t>
            </a:r>
          </a:p>
          <a:p>
            <a:r>
              <a:rPr lang="en-US" dirty="0" err="1" smtClean="0"/>
              <a:t>Cov</a:t>
            </a:r>
            <a:r>
              <a:rPr lang="en-US" dirty="0" smtClean="0"/>
              <a:t>(X,Y</a:t>
            </a:r>
            <a:r>
              <a:rPr lang="en-US" dirty="0" smtClean="0"/>
              <a:t>)=1/n</a:t>
            </a:r>
            <a:r>
              <a:rPr lang="en-US" dirty="0" smtClean="0"/>
              <a:t>−</a:t>
            </a:r>
            <a:r>
              <a:rPr lang="en-US" dirty="0" smtClean="0"/>
              <a:t>1      ∑</a:t>
            </a:r>
            <a:r>
              <a:rPr lang="en-US" dirty="0" err="1" smtClean="0"/>
              <a:t>i</a:t>
            </a:r>
            <a:r>
              <a:rPr lang="en-US" dirty="0" smtClean="0"/>
              <a:t>=1 n​     (</a:t>
            </a:r>
            <a:r>
              <a:rPr lang="en-US" dirty="0" smtClean="0"/>
              <a:t>Xi​−Xˉ)(Yi​−Yˉ)​ </a:t>
            </a:r>
          </a:p>
          <a:p>
            <a:endParaRPr lang="en-IN" i="1" dirty="0" smtClean="0"/>
          </a:p>
          <a:p>
            <a:r>
              <a:rPr lang="en-US" dirty="0" smtClean="0"/>
              <a:t>where </a:t>
            </a:r>
            <a:r>
              <a:rPr lang="en-US" i="1" dirty="0" smtClean="0"/>
              <a:t>n is the number of records (note that we divide by n – 1 instead of n</a:t>
            </a:r>
            <a:r>
              <a:rPr lang="en-US" i="1" dirty="0" smtClean="0"/>
              <a:t>;</a:t>
            </a:r>
          </a:p>
          <a:p>
            <a:endParaRPr lang="en-IN" i="1" dirty="0" smtClean="0"/>
          </a:p>
          <a:p>
            <a:pPr fontAlgn="ctr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480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Fisher’s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Linear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Discriminant</a:t>
            </a: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simplicity, let’s focus on a classification problem in which we want to predict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binary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outcome y using just two continuous numeric variables x, z . Technically,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analysis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assumes the predictor variables are normally distributed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continuous variables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but, in practice, the method works well even 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nonextreme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departures 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normality, and for binary predictors. Fisher’s linear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distinguishes variation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groups, on the one hand, from variation within groups 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other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Specifically, seeking to divide the records into two groups, linear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analysis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(LDA) focuses on maximizing the “between” sum of squares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SSbetween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measuring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variation between the two groups) relative to the “within” sum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squares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SSwithin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(measuring the within-group variation). In this case, the two groups correspond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the records x0, z0 for which y = 0 and the records x1, z1 for which y = 1.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finds the linear combination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wxx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wzz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maximizes that sum of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squares ratio: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Ssbetween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Sswithin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between sum of squares is the squared distance between the two group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means,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within sum of squares is the spread around the means within each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group, weighted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the covariance matrix. Intuitively, by maximizing the between sum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squares and minimizing the within sum of squares, this method yields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greatest separation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the two groups.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MASS package, associated with the book Modern Applied Statistics with S by W.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Venables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B. D. Ripley (Springer, 1994), provides a function for LDA with R.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following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applies this function to a sample of loan data using two predictor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variables,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borrower_score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payment_inc_ratio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prints out the estimated linear discriminator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weights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Python, we can 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Linear Discriminant Analysis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sklearn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discriminant_analysis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scalings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 property gives the estimated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weights: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loan3000.outcome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loan3000.outcome.astype('category')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predictors = ['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borrower_score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payment_inc_ratio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outcome = 'outcome'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= loan3000[predictors]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= loan3000[outcome]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loan_lda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LinearDiscriminantAnalysis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loan_lda.fit(X, y)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pd.DataFrame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loan_lda.scalings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_, index=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X.columns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plot of the predictions helps illustrate how LDA works. Using the output 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predict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function, a plot of the estimated probability of default is produced as follows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similar graph is created in Python using this code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Use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scalings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center of means to determine decision boundary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center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np.mean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loan_lda.means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_, axis=0)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slope = 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loan_lda.scalings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_[0] /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loan_lda.scalings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_[1]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intercept = center[1] - center[0] * slope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payment_inc_ratio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borrower_score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0 and 20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x_0 = (0 - intercept) / slope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x_20 = (20 - intercept) / slope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lda_df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pd.concat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([loan3000,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['default']], axis=1)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lda_df.head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fig, ax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plt.subplots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figsize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=(4, 4))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sns.scatterplot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(x='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borrower_score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y='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payment_inc_ratio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hue='default', data=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lda_df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palette=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sns.diverging_palette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(240, 10, n=9,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as_cmap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=True),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ax=ax, legend=False)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ax.set_ylim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(0, 20)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ax.set_xlim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(0.15, 0.8)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ax.plot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((x_0, x_20), (0, 20),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=3)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ax.plot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loan_lda.means_.transpose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resulting plot is shown in Figure 5-1. Data points on the left of the diagonal line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predicted to default (probability greater than 0.5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IN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371600"/>
            <a:ext cx="5181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057400" y="4343400"/>
            <a:ext cx="708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Figure </a:t>
            </a:r>
            <a:r>
              <a:rPr lang="en-US" i="1" dirty="0" smtClean="0"/>
              <a:t>5-1. LDA prediction of loan default using two variables: a score of the </a:t>
            </a:r>
            <a:r>
              <a:rPr lang="en-US" i="1" dirty="0" smtClean="0"/>
              <a:t>borrower’s  creditworthiness </a:t>
            </a:r>
            <a:r>
              <a:rPr lang="en-US" i="1" dirty="0" smtClean="0"/>
              <a:t>and the payment-to-income ratio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3505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discriminant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function weights, LDA splits the predictor space into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two regions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as shown by the solid line. The predictions farther away from the line in both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directions have a higher level of confidence (i.e., a prob</a:t>
            </a:r>
            <a:r>
              <a:rPr lang="en-US" dirty="0" smtClean="0"/>
              <a:t>ability further away from 0.5).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Generalized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Linear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Models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Generalized linear models (GLMs) are characterized by two main components: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A probability distribution or family (binomial in the case of logistic regression)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A link function—i.e., a transformation function that maps the response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predictors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logit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the case of logistic regression)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Logistic regression is by far the most common form of GLM. A data scientist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 encounter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 types of GLMs. Sometimes a log link function is used instead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logit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in practice, use of a log link is unlikely to lead to very different results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most applications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The Poisson distribution is commonly used to model count data (e.g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.,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 of times a user visits a web page in a certain amount of time). Other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families include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negative binomial and gamma, often used to model elapsed time (e.g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., time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failure). In contrast to logistic regression, application of GLMs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models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more nuanced and involves greater care. These are best avoided unless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familiar with and understand the utility and pitfalls of these methods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Predicted Values from Logistic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predicted value from logistic regression is in terms of the log odds:</a:t>
            </a:r>
          </a:p>
          <a:p>
            <a:pPr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 = log Odds Y = 1 . The predicted probability is given by the logistic response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function:</a:t>
            </a:r>
          </a:p>
          <a:p>
            <a:pPr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 =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1/(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e−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8915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example, look at the predictions from the model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logistic_model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Python, we can convert the probabilities into a data frame and use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describe method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get these characteristics of the distribution: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pd.DataFrame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logit_reg.predict_log_proba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(X),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columns=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[outcome].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cat.categories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pred.describe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Converting these values to probabilities is a simple transform: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&lt;- 1/(1 + exp(-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summary(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1st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Qu.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Median          Mean        3rd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Qu.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Max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0.06269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0.37313       0.49787      0.50000      0.62365         0.97096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74345"/>
            <a:ext cx="8915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Interpreting the Coefficients and Odds Ratios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advantage of logistic regression is that it produces a model that can be scored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new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rapidly, without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recomputation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Another is the relative ease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interpretation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model, as compared with other classification methods. The key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conceptual idea is understanding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odds ratio. The odds ratio is easiest to understand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binary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factor variable X:</a:t>
            </a:r>
          </a:p>
          <a:p>
            <a:pPr algn="just"/>
            <a:r>
              <a:rPr lang="es-ES" dirty="0" err="1" smtClean="0">
                <a:latin typeface="Times New Roman" pitchFamily="18" charset="0"/>
                <a:cs typeface="Times New Roman" pitchFamily="18" charset="0"/>
              </a:rPr>
              <a:t>odds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ratio = </a:t>
            </a:r>
            <a:r>
              <a:rPr lang="es-ES" dirty="0" err="1" smtClean="0">
                <a:latin typeface="Times New Roman" pitchFamily="18" charset="0"/>
                <a:cs typeface="Times New Roman" pitchFamily="18" charset="0"/>
              </a:rPr>
              <a:t>Odds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Y = 1 X = 1</a:t>
            </a:r>
          </a:p>
          <a:p>
            <a:pPr algn="just"/>
            <a:r>
              <a:rPr lang="es-ES" dirty="0" err="1" smtClean="0">
                <a:latin typeface="Times New Roman" pitchFamily="18" charset="0"/>
                <a:cs typeface="Times New Roman" pitchFamily="18" charset="0"/>
              </a:rPr>
              <a:t>Odds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Y = 1 X = 0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interpreted as the odds that Y = 1 when X = 1 versus the odds that Y = 1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0. If the odds ratio is 2, then the odds that Y = 1 are two times higher when X = 1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versus when X = 0.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Why bother with an odds ratio rather than probabilities? We work with odds because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coefficient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βj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the logistic regression is the log of the odds ratio 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the model fit in “Logistic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GLM”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 coefficient 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purpose_small_business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1.21526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This means that a loan to a small business compared to a loan to pay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off credit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card debt reduces the odds of defaulting versus being paid off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exp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1.21526 ≈ 3.4. Clearly, loans for the purpose of creating or expanding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small business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considerably riskier than other types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loans. Figure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5-3 shows the relationship between the odds ratio and the log-odds ratio for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odds ratios greater than 1. Because the coefficients are on the log scale, an increase of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in the coefficient results in an increase of exp 1 ≈ 2.72 in the odds ra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tio.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609600"/>
            <a:ext cx="4114800" cy="426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657600" y="5105400"/>
            <a:ext cx="54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Figure 5-3. The relationship between the odds ratio and the log-odds ratio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Odds ratios for numeric variables X can be interpreted similarly: they measure the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change in the odds ratio for a unit change in X. For example, the effect of increasing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payment-to-income ratio from, say, 5 to 6 increases the odds of the loan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defaulting by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factor of exp 0.08244 ≈ 1.09. The variable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borrower_score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 score 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borrowers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 creditworthiness and ranges from 0 (low) to 1 (high). The odds of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best borrowers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relative to the worst borrowers defaulting on their loans is smaller by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factor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exp − 4.61264 ≈ 0.01. In other words, the default risk from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borrowers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poorest credit worthiness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100 times greater than that of the best borrowers!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Strategies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 Imbalanced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previous section dealt with evaluation of classification models using metrics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go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beyond simple accuracy and are suitable for imbalanced data—data in which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outcome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interest (purchase on a website, insurance fraud, etc.) is rare. In this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section, we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look at additional strategies that can improve predictive modeling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performance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imbalanced 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Imbalanced Data</a:t>
            </a:r>
          </a:p>
          <a:p>
            <a:pPr algn="just"/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Undersample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fewer of the prevalent class records in the classification model.</a:t>
            </a:r>
          </a:p>
          <a:p>
            <a:pPr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Downsample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Oversample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more of the rare class records in the classification model, bootstrapping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necessary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Upsample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Up weight or down weight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Attach more (or less) weight to the rare (or prevalent) class in the model.</a:t>
            </a: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Data generation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Like bootstrapping, except each new bootstrapped record is slightly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different 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its source.</a:t>
            </a: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z-score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value that results after standardization.</a:t>
            </a: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number of neighbors considered in the nearest neighbor calculation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Undersampling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you have enough data, as is the case with the loan data, one solution is to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undersample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downsample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the prevalent class, so the data to be modeled is more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balanced between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0s and 1s. The basic idea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undersampling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that the data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dominant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has many redundant records. Dealing with a smaller, more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balanced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set yields benefits in model performance, and it makes it easier to prepare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to explore and pilot models.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much data is enough? It depends on the application, but in general, having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tens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thousands of records for the less dominant class is enough. The more easily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distinguishable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1s are from the 0s, the less data needed.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loan data analyzed in “Logistic Regression” on page 208 was based on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balanced training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set: half of the loans were paid off, and the other half were in default.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predicted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values were similar: half of the probabilities were less than 0.5,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half were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greater than 0.5. In the full data set, only about 19% of the loans were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default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Python: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predictors = ['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payment_inc_ratio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'purpose_', 'home_',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emp_len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_',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dti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revol_bal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revol_util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outcome = 'outcome'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pd.get_dummies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full_train_set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[predictors], prefix='',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prefix_sep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='',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drop_first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=True)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full_train_set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[outcome]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full_model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LogisticRegression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(penalty='l2', C=1e42, solver='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liblinear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full_model.fit(X, y)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print('percentage of loans predicted to default: ',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 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np.mean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full_model.predict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(X) == 'default'))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0.39% of the loans are predicted to be in default, or less than 1/47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expected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number.5 The loans that were paid off overwhelm the loans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default because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model is trained using all the data equally. Thinking about 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intuitively,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presence of so many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nondefaulting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loans, coupled with the inevitable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variability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predictor data, means that, even for a defaulting loan, the model is likely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some non defaulting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loans that it is similar to, by chance. When a balanced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sample was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used, roughly 50% of the loans were predicted to be in default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Oversampling and Up/Down Weighting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criticism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undersampling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method is that it throws away data and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 using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the information at hand. If you have a relatively small data set, and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rarer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contains a few hundred or a few thousand records, then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undersampling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dominant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has the risk of throwing out useful information. In this case,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instead 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downsampling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dominant case, you should oversample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upsample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rarer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drawing additional rows with replacement (bootstrapping).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272677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Most </a:t>
            </a:r>
            <a:r>
              <a:rPr lang="en-US" dirty="0" err="1" smtClean="0"/>
              <a:t>scikit</a:t>
            </a:r>
            <a:r>
              <a:rPr lang="en-US" dirty="0" smtClean="0"/>
              <a:t>-learn methods allow specifying weights in the fit function using the</a:t>
            </a:r>
          </a:p>
          <a:p>
            <a:r>
              <a:rPr lang="en-US" dirty="0" smtClean="0"/>
              <a:t>keyword argument </a:t>
            </a:r>
            <a:r>
              <a:rPr lang="en-US" dirty="0" err="1" smtClean="0"/>
              <a:t>sample_weight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default_wt</a:t>
            </a:r>
            <a:r>
              <a:rPr lang="en-US" dirty="0" smtClean="0"/>
              <a:t> = 1 / </a:t>
            </a:r>
            <a:r>
              <a:rPr lang="en-US" dirty="0" err="1" smtClean="0"/>
              <a:t>np.mean</a:t>
            </a:r>
            <a:r>
              <a:rPr lang="en-US" dirty="0" smtClean="0"/>
              <a:t>(</a:t>
            </a:r>
            <a:r>
              <a:rPr lang="en-US" dirty="0" err="1" smtClean="0"/>
              <a:t>full_train_set.outcome</a:t>
            </a:r>
            <a:r>
              <a:rPr lang="en-US" dirty="0" smtClean="0"/>
              <a:t> == 'default')</a:t>
            </a:r>
          </a:p>
          <a:p>
            <a:r>
              <a:rPr lang="en-US" dirty="0" smtClean="0"/>
              <a:t>wt = [</a:t>
            </a:r>
            <a:r>
              <a:rPr lang="en-US" dirty="0" err="1" smtClean="0"/>
              <a:t>default_wt</a:t>
            </a:r>
            <a:r>
              <a:rPr lang="en-US" dirty="0" smtClean="0"/>
              <a:t> </a:t>
            </a:r>
            <a:r>
              <a:rPr lang="en-US" b="1" dirty="0" smtClean="0"/>
              <a:t>if outcome == 'default' else 1</a:t>
            </a:r>
          </a:p>
          <a:p>
            <a:r>
              <a:rPr lang="en-US" b="1" dirty="0" smtClean="0"/>
              <a:t>for outcome in </a:t>
            </a:r>
            <a:r>
              <a:rPr lang="en-US" b="1" dirty="0" err="1" smtClean="0"/>
              <a:t>full_train_set.outcome</a:t>
            </a:r>
            <a:r>
              <a:rPr lang="en-US" b="1" dirty="0" smtClean="0"/>
              <a:t>]</a:t>
            </a:r>
          </a:p>
          <a:p>
            <a:r>
              <a:rPr lang="en-US" dirty="0" err="1" smtClean="0"/>
              <a:t>full_model</a:t>
            </a:r>
            <a:r>
              <a:rPr lang="en-US" dirty="0" smtClean="0"/>
              <a:t> = </a:t>
            </a:r>
            <a:r>
              <a:rPr lang="en-US" dirty="0" err="1" smtClean="0"/>
              <a:t>LogisticRegression</a:t>
            </a:r>
            <a:r>
              <a:rPr lang="en-US" dirty="0" smtClean="0"/>
              <a:t>(penalty="l2", C=1e42, solver='</a:t>
            </a:r>
            <a:r>
              <a:rPr lang="en-US" dirty="0" err="1" smtClean="0"/>
              <a:t>liblinear</a:t>
            </a:r>
            <a:r>
              <a:rPr lang="en-US" dirty="0" smtClean="0"/>
              <a:t>')</a:t>
            </a:r>
          </a:p>
          <a:p>
            <a:r>
              <a:rPr lang="en-US" dirty="0" smtClean="0"/>
              <a:t>full_model.fit(X, y, </a:t>
            </a:r>
            <a:r>
              <a:rPr lang="en-US" dirty="0" err="1" smtClean="0"/>
              <a:t>sample_weight</a:t>
            </a:r>
            <a:r>
              <a:rPr lang="en-US" dirty="0" smtClean="0"/>
              <a:t>=wt)</a:t>
            </a:r>
          </a:p>
          <a:p>
            <a:r>
              <a:rPr lang="en-US" b="1" dirty="0" smtClean="0"/>
              <a:t>print('percentage of loans predicted to default (weighting): ',</a:t>
            </a:r>
          </a:p>
          <a:p>
            <a:r>
              <a:rPr lang="en-US" dirty="0" smtClean="0"/>
              <a:t>100 * </a:t>
            </a:r>
            <a:r>
              <a:rPr lang="en-US" dirty="0" err="1" smtClean="0"/>
              <a:t>np.mean</a:t>
            </a:r>
            <a:r>
              <a:rPr lang="en-US" dirty="0" smtClean="0"/>
              <a:t>(</a:t>
            </a:r>
            <a:r>
              <a:rPr lang="en-US" dirty="0" err="1" smtClean="0"/>
              <a:t>full_model.predict</a:t>
            </a:r>
            <a:r>
              <a:rPr lang="en-US" dirty="0" smtClean="0"/>
              <a:t>(X) == 'default'))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2459</Words>
  <Application>Microsoft Office PowerPoint</Application>
  <PresentationFormat>On-screen Show (4:3)</PresentationFormat>
  <Paragraphs>174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sunil naidu</dc:creator>
  <cp:lastModifiedBy>sunil naidu</cp:lastModifiedBy>
  <cp:revision>3</cp:revision>
  <dcterms:created xsi:type="dcterms:W3CDTF">2006-08-16T00:00:00Z</dcterms:created>
  <dcterms:modified xsi:type="dcterms:W3CDTF">2025-10-27T16:39:24Z</dcterms:modified>
</cp:coreProperties>
</file>
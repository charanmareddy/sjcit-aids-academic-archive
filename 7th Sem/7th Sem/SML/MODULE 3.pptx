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70" r:id="rId6"/>
    <p:sldId id="261" r:id="rId7"/>
    <p:sldId id="260" r:id="rId8"/>
    <p:sldId id="262" r:id="rId9"/>
    <p:sldId id="263" r:id="rId10"/>
    <p:sldId id="264" r:id="rId11"/>
    <p:sldId id="265" r:id="rId12"/>
    <p:sldId id="266" r:id="rId13"/>
    <p:sldId id="267" r:id="rId14"/>
    <p:sldId id="268" r:id="rId15"/>
    <p:sldId id="269" r:id="rId16"/>
    <p:sldId id="271" r:id="rId17"/>
    <p:sldId id="272" r:id="rId18"/>
    <p:sldId id="279" r:id="rId19"/>
    <p:sldId id="273" r:id="rId20"/>
    <p:sldId id="274" r:id="rId21"/>
    <p:sldId id="275" r:id="rId22"/>
    <p:sldId id="276" r:id="rId23"/>
    <p:sldId id="277" r:id="rId24"/>
    <p:sldId id="278" r:id="rId25"/>
    <p:sldId id="280" r:id="rId26"/>
    <p:sldId id="281" r:id="rId27"/>
    <p:sldId id="282" r:id="rId28"/>
    <p:sldId id="283" r:id="rId29"/>
    <p:sldId id="284"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80" d="100"/>
          <a:sy n="80" d="100"/>
        </p:scale>
        <p:origin x="-2514" y="-71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62200" y="1600200"/>
            <a:ext cx="5136278" cy="1908215"/>
          </a:xfrm>
          <a:prstGeom prst="rect">
            <a:avLst/>
          </a:prstGeom>
        </p:spPr>
        <p:txBody>
          <a:bodyPr wrap="none">
            <a:spAutoFit/>
          </a:bodyPr>
          <a:lstStyle/>
          <a:p>
            <a:pPr algn="ctr"/>
            <a:r>
              <a:rPr lang="en-IN" sz="2000" dirty="0" smtClean="0">
                <a:latin typeface="Times New Roman" pitchFamily="18" charset="0"/>
                <a:cs typeface="Times New Roman" pitchFamily="18" charset="0"/>
              </a:rPr>
              <a:t>MODULE -3</a:t>
            </a:r>
          </a:p>
          <a:p>
            <a:pPr algn="ctr"/>
            <a:endParaRPr lang="en-US" sz="2000" dirty="0" smtClean="0">
              <a:latin typeface="Times New Roman" pitchFamily="18" charset="0"/>
              <a:cs typeface="Times New Roman" pitchFamily="18" charset="0"/>
            </a:endParaRPr>
          </a:p>
          <a:p>
            <a:pPr algn="ctr"/>
            <a:r>
              <a:rPr lang="en-US" sz="2000" dirty="0" smtClean="0">
                <a:latin typeface="Times New Roman" pitchFamily="18" charset="0"/>
                <a:cs typeface="Times New Roman" pitchFamily="18" charset="0"/>
              </a:rPr>
              <a:t>Statistical Experiments and Significance Testing</a:t>
            </a:r>
          </a:p>
          <a:p>
            <a:pPr algn="ctr"/>
            <a:endParaRPr lang="en-IN" sz="2000" dirty="0" smtClean="0">
              <a:latin typeface="Times New Roman" pitchFamily="18" charset="0"/>
              <a:cs typeface="Times New Roman" pitchFamily="18" charset="0"/>
            </a:endParaRPr>
          </a:p>
          <a:p>
            <a:pPr algn="ctr"/>
            <a:r>
              <a:rPr lang="en-US" sz="2000" b="1" dirty="0" smtClean="0">
                <a:solidFill>
                  <a:srgbClr val="FF0000"/>
                </a:solidFill>
                <a:latin typeface="Times New Roman" pitchFamily="18" charset="0"/>
                <a:cs typeface="Times New Roman" pitchFamily="18" charset="0"/>
              </a:rPr>
              <a:t>BY Sunil Naidu G R </a:t>
            </a:r>
          </a:p>
          <a:p>
            <a:pPr algn="ct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381000" y="3581400"/>
            <a:ext cx="7924801" cy="2409825"/>
          </a:xfrm>
          <a:prstGeom prst="rect">
            <a:avLst/>
          </a:prstGeom>
          <a:noFill/>
          <a:ln w="9525">
            <a:noFill/>
            <a:miter lim="800000"/>
            <a:headEnd/>
            <a:tailEnd/>
          </a:ln>
          <a:effectLst/>
        </p:spPr>
      </p:pic>
      <p:sp>
        <p:nvSpPr>
          <p:cNvPr id="3" name="Rectangle 2"/>
          <p:cNvSpPr/>
          <p:nvPr/>
        </p:nvSpPr>
        <p:spPr>
          <a:xfrm>
            <a:off x="0" y="0"/>
            <a:ext cx="9144000" cy="2893100"/>
          </a:xfrm>
          <a:prstGeom prst="rect">
            <a:avLst/>
          </a:prstGeom>
        </p:spPr>
        <p:txBody>
          <a:bodyPr wrap="square">
            <a:spAutoFit/>
          </a:bodyPr>
          <a:lstStyle/>
          <a:p>
            <a:r>
              <a:rPr lang="en-US" dirty="0" smtClean="0"/>
              <a:t>	</a:t>
            </a:r>
          </a:p>
          <a:p>
            <a:pPr algn="just"/>
            <a:r>
              <a:rPr lang="en-US" sz="24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Whenever you see references to statistical significance, t-tests, or p-values, it is typically in the context of the classical statistical inference “pipeline. This process starts with a hypothesis (“drug A is better than the existing standard drug,” or “price A is more profitable than the existing price B”). An experiment (it might be an A/B test) is designed to test the hypothesis—designed in such a way that it hopefully will deliver conclusive results. The data is collected and analyzed, and then a conclusion is drawn. The term inference reflects the intention to apply the experiment results, which involve a limited set of data, to a larger process or population.</a:t>
            </a:r>
            <a:endParaRPr lang="en-US" sz="20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555641"/>
          </a:xfrm>
          <a:prstGeom prst="rect">
            <a:avLst/>
          </a:prstGeom>
        </p:spPr>
        <p:txBody>
          <a:bodyPr wrap="square">
            <a:spAutoFit/>
          </a:bodyPr>
          <a:lstStyle/>
          <a:p>
            <a:r>
              <a:rPr lang="en-US" sz="2000" b="1" dirty="0" smtClean="0">
                <a:latin typeface="Times New Roman" pitchFamily="18" charset="0"/>
                <a:cs typeface="Times New Roman" pitchFamily="18" charset="0"/>
              </a:rPr>
              <a:t>A/B Testing</a:t>
            </a:r>
          </a:p>
          <a:p>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An A/B test is an experiment with two groups to establish which of two treatments, products, procedures, or the like is superior. Often one of the two treatments is the standard existing treatment, or no treatment. If a standard (or no) treatment is used, it is called the control. A typical hypothesis is that a new treatment is better than the control.</a:t>
            </a:r>
          </a:p>
          <a:p>
            <a:endParaRPr lang="en-IN" sz="2000" dirty="0" smtClean="0">
              <a:latin typeface="Times New Roman" pitchFamily="18" charset="0"/>
              <a:cs typeface="Times New Roman" pitchFamily="18" charset="0"/>
            </a:endParaRPr>
          </a:p>
          <a:p>
            <a:pPr algn="ctr"/>
            <a:r>
              <a:rPr lang="en-US" sz="2000" b="1" dirty="0" smtClean="0">
                <a:latin typeface="Times New Roman" pitchFamily="18" charset="0"/>
                <a:cs typeface="Times New Roman" pitchFamily="18" charset="0"/>
              </a:rPr>
              <a:t>Key Terms for A/B Testing</a:t>
            </a:r>
          </a:p>
          <a:p>
            <a:r>
              <a:rPr lang="en-US" sz="2000" b="1" i="1" dirty="0" smtClean="0">
                <a:latin typeface="Times New Roman" pitchFamily="18" charset="0"/>
                <a:cs typeface="Times New Roman" pitchFamily="18" charset="0"/>
              </a:rPr>
              <a:t>Treatment</a:t>
            </a:r>
          </a:p>
          <a:p>
            <a:r>
              <a:rPr lang="en-US" sz="2000" dirty="0" smtClean="0">
                <a:latin typeface="Times New Roman" pitchFamily="18" charset="0"/>
                <a:cs typeface="Times New Roman" pitchFamily="18" charset="0"/>
              </a:rPr>
              <a:t>Something (drug, price, web headline) to which a subject is exposed.</a:t>
            </a:r>
          </a:p>
          <a:p>
            <a:r>
              <a:rPr lang="en-US" sz="2000" b="1" i="1" dirty="0" smtClean="0">
                <a:latin typeface="Times New Roman" pitchFamily="18" charset="0"/>
                <a:cs typeface="Times New Roman" pitchFamily="18" charset="0"/>
              </a:rPr>
              <a:t>Treatment group</a:t>
            </a:r>
          </a:p>
          <a:p>
            <a:r>
              <a:rPr lang="en-US" sz="2000" dirty="0" smtClean="0">
                <a:latin typeface="Times New Roman" pitchFamily="18" charset="0"/>
                <a:cs typeface="Times New Roman" pitchFamily="18" charset="0"/>
              </a:rPr>
              <a:t>A group of subjects exposed to a specific treatment.</a:t>
            </a:r>
          </a:p>
          <a:p>
            <a:r>
              <a:rPr lang="en-US" sz="2000" b="1" i="1" dirty="0" smtClean="0">
                <a:latin typeface="Times New Roman" pitchFamily="18" charset="0"/>
                <a:cs typeface="Times New Roman" pitchFamily="18" charset="0"/>
              </a:rPr>
              <a:t>Control group</a:t>
            </a:r>
          </a:p>
          <a:p>
            <a:r>
              <a:rPr lang="en-US" sz="2000" dirty="0" smtClean="0">
                <a:latin typeface="Times New Roman" pitchFamily="18" charset="0"/>
                <a:cs typeface="Times New Roman" pitchFamily="18" charset="0"/>
              </a:rPr>
              <a:t>A group of subjects exposed to no (or standard) treatment.</a:t>
            </a:r>
          </a:p>
          <a:p>
            <a:r>
              <a:rPr lang="en-US" sz="2000" b="1" i="1" dirty="0" smtClean="0">
                <a:latin typeface="Times New Roman" pitchFamily="18" charset="0"/>
                <a:cs typeface="Times New Roman" pitchFamily="18" charset="0"/>
              </a:rPr>
              <a:t>Randomization</a:t>
            </a:r>
          </a:p>
          <a:p>
            <a:r>
              <a:rPr lang="en-US" sz="2000" dirty="0" smtClean="0">
                <a:latin typeface="Times New Roman" pitchFamily="18" charset="0"/>
                <a:cs typeface="Times New Roman" pitchFamily="18" charset="0"/>
              </a:rPr>
              <a:t>The process of randomly assigning subjects to treatments.</a:t>
            </a:r>
          </a:p>
          <a:p>
            <a:r>
              <a:rPr lang="en-US" sz="2000" b="1" i="1" dirty="0" smtClean="0">
                <a:latin typeface="Times New Roman" pitchFamily="18" charset="0"/>
                <a:cs typeface="Times New Roman" pitchFamily="18" charset="0"/>
              </a:rPr>
              <a:t>Subjects</a:t>
            </a:r>
          </a:p>
          <a:p>
            <a:r>
              <a:rPr lang="en-US" sz="2000" dirty="0" smtClean="0">
                <a:latin typeface="Times New Roman" pitchFamily="18" charset="0"/>
                <a:cs typeface="Times New Roman" pitchFamily="18" charset="0"/>
              </a:rPr>
              <a:t>The items (web visitors, patients, etc.) that are exposed to treatments.</a:t>
            </a:r>
          </a:p>
          <a:p>
            <a:r>
              <a:rPr lang="en-US" sz="2000" b="1" i="1" dirty="0" smtClean="0">
                <a:latin typeface="Times New Roman" pitchFamily="18" charset="0"/>
                <a:cs typeface="Times New Roman" pitchFamily="18" charset="0"/>
              </a:rPr>
              <a:t>Test statistic</a:t>
            </a:r>
          </a:p>
          <a:p>
            <a:r>
              <a:rPr lang="en-US" sz="2000" dirty="0" smtClean="0">
                <a:latin typeface="Times New Roman" pitchFamily="18" charset="0"/>
                <a:cs typeface="Times New Roman" pitchFamily="18" charset="0"/>
              </a:rPr>
              <a:t>The metric used to measure the effect of the treatment.</a:t>
            </a:r>
            <a:endParaRPr lang="en-US" sz="20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04800"/>
            <a:ext cx="9144000" cy="2031325"/>
          </a:xfrm>
          <a:prstGeom prst="rect">
            <a:avLst/>
          </a:prstGeom>
        </p:spPr>
        <p:txBody>
          <a:bodyPr wrap="square">
            <a:spAutoFit/>
          </a:bodyPr>
          <a:lstStyle/>
          <a:p>
            <a:r>
              <a:rPr lang="en-US" dirty="0" smtClean="0"/>
              <a:t>A/B tests are common in web design and marketing, since results are so readily measured.</a:t>
            </a:r>
          </a:p>
          <a:p>
            <a:r>
              <a:rPr lang="en-US" dirty="0" smtClean="0"/>
              <a:t>Some examples of A/B testing include:</a:t>
            </a:r>
          </a:p>
          <a:p>
            <a:r>
              <a:rPr lang="en-US" dirty="0" smtClean="0"/>
              <a:t>• Testing two soil treatments to determine which produces better seed germination</a:t>
            </a:r>
          </a:p>
          <a:p>
            <a:r>
              <a:rPr lang="en-US" dirty="0" smtClean="0"/>
              <a:t>• Testing two therapies to determine which suppresses cancer more effectively</a:t>
            </a:r>
          </a:p>
          <a:p>
            <a:r>
              <a:rPr lang="en-US" dirty="0" smtClean="0"/>
              <a:t>• Testing two prices to determine which yields more net profit</a:t>
            </a:r>
          </a:p>
          <a:p>
            <a:r>
              <a:rPr lang="en-US" dirty="0" smtClean="0"/>
              <a:t>• Testing two web headlines to determine which produces more clicks (Figure 3-2)</a:t>
            </a:r>
          </a:p>
          <a:p>
            <a:r>
              <a:rPr lang="en-US" dirty="0" smtClean="0"/>
              <a:t>• Testing two web ads to determine which generates more conversions</a:t>
            </a:r>
            <a:endParaRPr lang="en-US" dirty="0"/>
          </a:p>
        </p:txBody>
      </p:sp>
      <p:pic>
        <p:nvPicPr>
          <p:cNvPr id="3" name="Picture 2"/>
          <p:cNvPicPr>
            <a:picLocks noChangeAspect="1" noChangeArrowheads="1"/>
          </p:cNvPicPr>
          <p:nvPr/>
        </p:nvPicPr>
        <p:blipFill>
          <a:blip r:embed="rId2"/>
          <a:srcRect/>
          <a:stretch>
            <a:fillRect/>
          </a:stretch>
        </p:blipFill>
        <p:spPr bwMode="auto">
          <a:xfrm>
            <a:off x="838200" y="2362200"/>
            <a:ext cx="7239000" cy="3625026"/>
          </a:xfrm>
          <a:prstGeom prst="rect">
            <a:avLst/>
          </a:prstGeom>
          <a:noFill/>
          <a:ln w="9525">
            <a:noFill/>
            <a:miter lim="800000"/>
            <a:headEnd/>
            <a:tailEnd/>
          </a:ln>
          <a:effectLst/>
        </p:spPr>
      </p:pic>
      <p:sp>
        <p:nvSpPr>
          <p:cNvPr id="4" name="Rectangle 3"/>
          <p:cNvSpPr/>
          <p:nvPr/>
        </p:nvSpPr>
        <p:spPr>
          <a:xfrm>
            <a:off x="533400" y="6096000"/>
            <a:ext cx="8077200" cy="369332"/>
          </a:xfrm>
          <a:prstGeom prst="rect">
            <a:avLst/>
          </a:prstGeom>
        </p:spPr>
        <p:txBody>
          <a:bodyPr wrap="square">
            <a:spAutoFit/>
          </a:bodyPr>
          <a:lstStyle/>
          <a:p>
            <a:r>
              <a:rPr lang="en-US" b="1" i="1" dirty="0" smtClean="0"/>
              <a:t>Figure 3-2. Marketers continually test one web presentation against another</a:t>
            </a:r>
            <a:endParaRPr lang="en-US"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35846"/>
            <a:ext cx="9144000" cy="3477875"/>
          </a:xfrm>
          <a:prstGeom prst="rect">
            <a:avLst/>
          </a:prstGeom>
        </p:spPr>
        <p:txBody>
          <a:bodyPr wrap="square">
            <a:spAutoFit/>
          </a:bodyPr>
          <a:lstStyle/>
          <a:p>
            <a:pPr algn="just"/>
            <a:r>
              <a:rPr lang="en-US" dirty="0" smtClean="0"/>
              <a:t>	</a:t>
            </a:r>
            <a:r>
              <a:rPr lang="en-US" sz="2000" b="1" dirty="0" smtClean="0">
                <a:latin typeface="Times New Roman" pitchFamily="18" charset="0"/>
                <a:cs typeface="Times New Roman" pitchFamily="18" charset="0"/>
              </a:rPr>
              <a:t>A/B testing </a:t>
            </a:r>
            <a:r>
              <a:rPr lang="en-US" sz="2000" dirty="0" smtClean="0">
                <a:latin typeface="Times New Roman" pitchFamily="18" charset="0"/>
                <a:cs typeface="Times New Roman" pitchFamily="18" charset="0"/>
              </a:rPr>
              <a:t>in data science is typically used in a web context. Treatments might be the design of a web page, the price of a product, the wording of a headline, or some other item. Some thought is required to preserve the principles of randomization. Typically the subject in the experiment is the web visitor, and the outcomes we are interested in measuring are clicks, purchases, visit duration, number of pages visited, whether a particular page is visited, and the like. In a standard A/B experiment, you need to decide on one metric ahead of time. Multiple behavior metrics might be collected and be of interest, but if the experiment is expected to lead to a decision between treatment A and treatment B, a single metric, or test statistic, needs to be established beforehand. Selecting a test statistic after the experiment is conducted opens the door to researcher bias.</a:t>
            </a:r>
            <a:endParaRPr lang="en-US" sz="2000" dirty="0">
              <a:latin typeface="Times New Roman" pitchFamily="18" charset="0"/>
              <a:cs typeface="Times New Roman" pitchFamily="18" charset="0"/>
            </a:endParaRPr>
          </a:p>
        </p:txBody>
      </p:sp>
      <p:sp>
        <p:nvSpPr>
          <p:cNvPr id="3" name="Rectangle 2"/>
          <p:cNvSpPr/>
          <p:nvPr/>
        </p:nvSpPr>
        <p:spPr>
          <a:xfrm>
            <a:off x="0" y="3962400"/>
            <a:ext cx="9144000" cy="2246769"/>
          </a:xfrm>
          <a:prstGeom prst="rect">
            <a:avLst/>
          </a:prstGeom>
        </p:spPr>
        <p:txBody>
          <a:bodyPr wrap="square">
            <a:spAutoFit/>
          </a:bodyPr>
          <a:lstStyle/>
          <a:p>
            <a:r>
              <a:rPr lang="en-US" sz="2000" dirty="0" smtClean="0">
                <a:latin typeface="Times New Roman" pitchFamily="18" charset="0"/>
                <a:cs typeface="Times New Roman" pitchFamily="18" charset="0"/>
              </a:rPr>
              <a:t>Why Just A/B? Why Not C, D,…?</a:t>
            </a:r>
          </a:p>
          <a:p>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A/B tests are popular in the marketing and ecommerce worlds, but are far from the only type of statistical experiment. Additional treatments can be included. Subjects might have repeated measurements taken. Pharmaceutical trials where subjects are scarce, expensive, and acquired over time are sometimes designed with multiple opportunities to stop the experiment and reach a conclusion.</a:t>
            </a:r>
            <a:endParaRPr lang="en-US" sz="20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52400"/>
            <a:ext cx="9144000" cy="6555641"/>
          </a:xfrm>
          <a:prstGeom prst="rect">
            <a:avLst/>
          </a:prstGeom>
        </p:spPr>
        <p:txBody>
          <a:bodyPr wrap="square">
            <a:spAutoFit/>
          </a:bodyPr>
          <a:lstStyle/>
          <a:p>
            <a:r>
              <a:rPr lang="en-US"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You also need to pay attention to the test statistic or metric you use to compare group A to group B. Perhaps the most common metric in data science is a binary variable: click or no-click, buy or don’t buy, fraud or no fraud, and so on. Those results would be summed up in a 2×2 table. Table 3-1 is a 2×2 table for an actual price test (see “Statistical Significance and p-Values” on page 103 for further discussion of these results).</a:t>
            </a:r>
          </a:p>
          <a:p>
            <a:r>
              <a:rPr lang="en-US" sz="2000" dirty="0" smtClean="0">
                <a:latin typeface="Times New Roman" pitchFamily="18" charset="0"/>
                <a:cs typeface="Times New Roman" pitchFamily="18" charset="0"/>
              </a:rPr>
              <a:t>Table 2×2 table for ecommerce experiment results</a:t>
            </a:r>
          </a:p>
          <a:p>
            <a:r>
              <a:rPr lang="en-US" sz="2000" b="1" dirty="0" smtClean="0">
                <a:latin typeface="Times New Roman" pitchFamily="18" charset="0"/>
                <a:cs typeface="Times New Roman" pitchFamily="18" charset="0"/>
              </a:rPr>
              <a:t>Outcome              Price A      Price B</a:t>
            </a:r>
          </a:p>
          <a:p>
            <a:r>
              <a:rPr lang="en-US" sz="2000" b="1" dirty="0" smtClean="0">
                <a:latin typeface="Times New Roman" pitchFamily="18" charset="0"/>
                <a:cs typeface="Times New Roman" pitchFamily="18" charset="0"/>
              </a:rPr>
              <a:t>Conversion</a:t>
            </a:r>
            <a:r>
              <a:rPr lang="en-US" sz="2000" dirty="0" smtClean="0">
                <a:latin typeface="Times New Roman" pitchFamily="18" charset="0"/>
                <a:cs typeface="Times New Roman" pitchFamily="18" charset="0"/>
              </a:rPr>
              <a:t>             200            182</a:t>
            </a:r>
          </a:p>
          <a:p>
            <a:r>
              <a:rPr lang="en-US" sz="2000" b="1" dirty="0" smtClean="0">
                <a:latin typeface="Times New Roman" pitchFamily="18" charset="0"/>
                <a:cs typeface="Times New Roman" pitchFamily="18" charset="0"/>
              </a:rPr>
              <a:t>No conversion     </a:t>
            </a:r>
            <a:r>
              <a:rPr lang="en-US" sz="2000" dirty="0" smtClean="0">
                <a:latin typeface="Times New Roman" pitchFamily="18" charset="0"/>
                <a:cs typeface="Times New Roman" pitchFamily="18" charset="0"/>
              </a:rPr>
              <a:t>23,539         22,406</a:t>
            </a:r>
          </a:p>
          <a:p>
            <a:r>
              <a:rPr lang="en-US" sz="2000" dirty="0" smtClean="0">
                <a:latin typeface="Times New Roman" pitchFamily="18" charset="0"/>
                <a:cs typeface="Times New Roman" pitchFamily="18" charset="0"/>
              </a:rPr>
              <a:t>If the metric is a continuous variable (purchase amount, profit, etc.) or a count (e.g., days in hospital, pages visited), the result might be displayed differently. If one were interested not in conversion but in revenue per page view, the results of the price test in Table above might look like this in typical default software output:</a:t>
            </a:r>
          </a:p>
          <a:p>
            <a:r>
              <a:rPr lang="en-US" sz="2000" dirty="0" smtClean="0">
                <a:latin typeface="Times New Roman" pitchFamily="18" charset="0"/>
                <a:cs typeface="Times New Roman" pitchFamily="18" charset="0"/>
              </a:rPr>
              <a:t>Revenue/page view with price A: mean = 3.87, SD = 51.10</a:t>
            </a:r>
          </a:p>
          <a:p>
            <a:r>
              <a:rPr lang="en-US" sz="2000" dirty="0" smtClean="0">
                <a:latin typeface="Times New Roman" pitchFamily="18" charset="0"/>
                <a:cs typeface="Times New Roman" pitchFamily="18" charset="0"/>
              </a:rPr>
              <a:t>Revenue/page view with price B: mean = 4.11, SD = 62.98</a:t>
            </a:r>
          </a:p>
          <a:p>
            <a:endParaRPr lang="en-US" sz="2000" dirty="0" smtClean="0">
              <a:latin typeface="Times New Roman" pitchFamily="18" charset="0"/>
              <a:cs typeface="Times New Roman" pitchFamily="18" charset="0"/>
            </a:endParaRPr>
          </a:p>
          <a:p>
            <a:r>
              <a:rPr lang="en-US" sz="2000" dirty="0" smtClean="0"/>
              <a:t>The method scipy.stats.chi2_contingency takes the values as shown in Table 3-2:</a:t>
            </a:r>
          </a:p>
          <a:p>
            <a:r>
              <a:rPr lang="en-US" sz="2000" dirty="0" smtClean="0"/>
              <a:t>survivors = </a:t>
            </a:r>
            <a:r>
              <a:rPr lang="en-US" sz="2000" dirty="0" err="1" smtClean="0"/>
              <a:t>np.array</a:t>
            </a:r>
            <a:r>
              <a:rPr lang="en-US" sz="2000" dirty="0" smtClean="0"/>
              <a:t>([[200, 23739 - 200], [182, 22588 - 182]])</a:t>
            </a:r>
          </a:p>
          <a:p>
            <a:r>
              <a:rPr lang="en-US" sz="2000" dirty="0" smtClean="0"/>
              <a:t>chi2, </a:t>
            </a:r>
            <a:r>
              <a:rPr lang="en-US" sz="2000" dirty="0" err="1" smtClean="0"/>
              <a:t>p_value</a:t>
            </a:r>
            <a:r>
              <a:rPr lang="en-US" sz="2000" dirty="0" smtClean="0"/>
              <a:t>, </a:t>
            </a:r>
            <a:r>
              <a:rPr lang="en-US" sz="2000" dirty="0" err="1" smtClean="0"/>
              <a:t>df</a:t>
            </a:r>
            <a:r>
              <a:rPr lang="en-US" sz="2000" dirty="0" smtClean="0"/>
              <a:t>, _ = stats.chi2_contingency(survivors)</a:t>
            </a:r>
          </a:p>
          <a:p>
            <a:r>
              <a:rPr lang="en-US" sz="2000" b="1" dirty="0" smtClean="0"/>
              <a:t>print(</a:t>
            </a:r>
            <a:r>
              <a:rPr lang="en-US" sz="2000" b="1" dirty="0" err="1" smtClean="0"/>
              <a:t>f'p</a:t>
            </a:r>
            <a:r>
              <a:rPr lang="en-US" sz="2000" b="1" dirty="0" smtClean="0"/>
              <a:t>-value for single sided test: {</a:t>
            </a:r>
            <a:r>
              <a:rPr lang="en-US" sz="2000" b="1" dirty="0" err="1" smtClean="0"/>
              <a:t>p_value</a:t>
            </a:r>
            <a:r>
              <a:rPr lang="en-US" sz="2000" b="1" dirty="0" smtClean="0"/>
              <a:t> / 2:.4f}')</a:t>
            </a:r>
            <a:endParaRPr lang="en-US" sz="20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217087"/>
          </a:xfrm>
          <a:prstGeom prst="rect">
            <a:avLst/>
          </a:prstGeom>
        </p:spPr>
        <p:txBody>
          <a:bodyPr wrap="square">
            <a:spAutoFit/>
          </a:bodyPr>
          <a:lstStyle/>
          <a:p>
            <a:r>
              <a:rPr lang="en-US" sz="2000" b="1" dirty="0" smtClean="0">
                <a:latin typeface="Times New Roman" pitchFamily="18" charset="0"/>
                <a:cs typeface="Times New Roman" pitchFamily="18" charset="0"/>
              </a:rPr>
              <a:t>Hypothesis Tests</a:t>
            </a: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Hypothesis tests, also called significance tests, are ubiquitous in the traditional statistical</a:t>
            </a:r>
          </a:p>
          <a:p>
            <a:r>
              <a:rPr lang="en-US" sz="2000" dirty="0" smtClean="0">
                <a:latin typeface="Times New Roman" pitchFamily="18" charset="0"/>
                <a:cs typeface="Times New Roman" pitchFamily="18" charset="0"/>
              </a:rPr>
              <a:t>analysis of published research. Their purpose is to help you learn whether random chance might be responsible for an observed effect.</a:t>
            </a:r>
          </a:p>
          <a:p>
            <a:endParaRPr lang="en-IN" sz="2000" dirty="0" smtClean="0">
              <a:latin typeface="Times New Roman" pitchFamily="18" charset="0"/>
              <a:cs typeface="Times New Roman" pitchFamily="18" charset="0"/>
            </a:endParaRPr>
          </a:p>
          <a:p>
            <a:pPr algn="ctr"/>
            <a:r>
              <a:rPr lang="en-US" sz="2000" b="1" dirty="0" smtClean="0">
                <a:latin typeface="Times New Roman" pitchFamily="18" charset="0"/>
                <a:cs typeface="Times New Roman" pitchFamily="18" charset="0"/>
              </a:rPr>
              <a:t>Key Terms for Hypothesis Tests</a:t>
            </a:r>
          </a:p>
          <a:p>
            <a:pPr algn="ctr"/>
            <a:endParaRPr lang="en-US" sz="2000" b="1" dirty="0" smtClean="0">
              <a:latin typeface="Times New Roman" pitchFamily="18" charset="0"/>
              <a:cs typeface="Times New Roman" pitchFamily="18" charset="0"/>
            </a:endParaRPr>
          </a:p>
          <a:p>
            <a:r>
              <a:rPr lang="en-US" sz="2000" b="1" i="1" dirty="0" smtClean="0">
                <a:latin typeface="Times New Roman" pitchFamily="18" charset="0"/>
                <a:cs typeface="Times New Roman" pitchFamily="18" charset="0"/>
              </a:rPr>
              <a:t>Null hypothesis</a:t>
            </a:r>
          </a:p>
          <a:p>
            <a:r>
              <a:rPr lang="en-US" sz="2000" dirty="0" smtClean="0">
                <a:latin typeface="Times New Roman" pitchFamily="18" charset="0"/>
                <a:cs typeface="Times New Roman" pitchFamily="18" charset="0"/>
              </a:rPr>
              <a:t>The hypothesis that chance is to blame.</a:t>
            </a:r>
          </a:p>
          <a:p>
            <a:endParaRPr lang="en-US" sz="2000" dirty="0" smtClean="0">
              <a:latin typeface="Times New Roman" pitchFamily="18" charset="0"/>
              <a:cs typeface="Times New Roman" pitchFamily="18" charset="0"/>
            </a:endParaRPr>
          </a:p>
          <a:p>
            <a:r>
              <a:rPr lang="en-US" sz="2000" b="1" i="1" dirty="0" smtClean="0">
                <a:latin typeface="Times New Roman" pitchFamily="18" charset="0"/>
                <a:cs typeface="Times New Roman" pitchFamily="18" charset="0"/>
              </a:rPr>
              <a:t>Alternative hypothesis</a:t>
            </a:r>
          </a:p>
          <a:p>
            <a:r>
              <a:rPr lang="en-US" sz="2000" dirty="0" smtClean="0">
                <a:latin typeface="Times New Roman" pitchFamily="18" charset="0"/>
                <a:cs typeface="Times New Roman" pitchFamily="18" charset="0"/>
              </a:rPr>
              <a:t>Counterpoint to the null (what you hope to prove).</a:t>
            </a:r>
          </a:p>
          <a:p>
            <a:endParaRPr lang="en-US" sz="2000" dirty="0" smtClean="0">
              <a:latin typeface="Times New Roman" pitchFamily="18" charset="0"/>
              <a:cs typeface="Times New Roman" pitchFamily="18" charset="0"/>
            </a:endParaRPr>
          </a:p>
          <a:p>
            <a:r>
              <a:rPr lang="en-US" sz="2000" b="1" i="1" dirty="0" smtClean="0">
                <a:latin typeface="Times New Roman" pitchFamily="18" charset="0"/>
                <a:cs typeface="Times New Roman" pitchFamily="18" charset="0"/>
              </a:rPr>
              <a:t>One-way test</a:t>
            </a:r>
          </a:p>
          <a:p>
            <a:r>
              <a:rPr lang="en-US" sz="2000" dirty="0" smtClean="0">
                <a:latin typeface="Times New Roman" pitchFamily="18" charset="0"/>
                <a:cs typeface="Times New Roman" pitchFamily="18" charset="0"/>
              </a:rPr>
              <a:t>Hypothesis test that counts chance results only in one direction.</a:t>
            </a:r>
          </a:p>
          <a:p>
            <a:endParaRPr lang="en-US" sz="2000" dirty="0" smtClean="0">
              <a:latin typeface="Times New Roman" pitchFamily="18" charset="0"/>
              <a:cs typeface="Times New Roman" pitchFamily="18" charset="0"/>
            </a:endParaRPr>
          </a:p>
          <a:p>
            <a:r>
              <a:rPr lang="en-US" sz="2000" b="1" i="1" dirty="0" smtClean="0">
                <a:latin typeface="Times New Roman" pitchFamily="18" charset="0"/>
                <a:cs typeface="Times New Roman" pitchFamily="18" charset="0"/>
              </a:rPr>
              <a:t>Two-way test</a:t>
            </a:r>
          </a:p>
          <a:p>
            <a:r>
              <a:rPr lang="en-US" dirty="0" smtClean="0">
                <a:latin typeface="Times New Roman" pitchFamily="18" charset="0"/>
                <a:cs typeface="Times New Roman" pitchFamily="18" charset="0"/>
              </a:rPr>
              <a:t>Hypothesis test that counts chance results in two directions.</a:t>
            </a:r>
            <a:endParaRPr lang="en-US"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016758"/>
          </a:xfrm>
          <a:prstGeom prst="rect">
            <a:avLst/>
          </a:prstGeom>
        </p:spPr>
        <p:txBody>
          <a:bodyPr wrap="square">
            <a:spAutoFit/>
          </a:bodyPr>
          <a:lstStyle/>
          <a:p>
            <a:pPr algn="just"/>
            <a:r>
              <a:rPr lang="en-US" sz="2000" b="1" dirty="0" smtClean="0">
                <a:latin typeface="Times New Roman" pitchFamily="18" charset="0"/>
                <a:cs typeface="Times New Roman" pitchFamily="18" charset="0"/>
              </a:rPr>
              <a:t>The Null Hypothesis</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Hypothesis tests use the following logic: “Given the human tendency to react to unusual but random behavior and interpret it as something meaningful and real, in our experiments we will require proof that the difference between groups is more extreme than what chance might reasonably produce.” This involves a baseline assumption that the treatments are equivalent, and any difference between the groups is due to chance. This baseline assumption is termed the null hypothesis. Our hope, then, is that we can in fact prove the null hypothesis wrong and show that the outcomes for groups A and B are more different than what chance might produce.</a:t>
            </a:r>
          </a:p>
          <a:p>
            <a:pPr algn="just"/>
            <a:r>
              <a:rPr lang="en-US" sz="2000" dirty="0" smtClean="0">
                <a:latin typeface="Times New Roman" pitchFamily="18" charset="0"/>
                <a:cs typeface="Times New Roman" pitchFamily="18" charset="0"/>
              </a:rPr>
              <a:t>	One way to do this is via a </a:t>
            </a:r>
            <a:r>
              <a:rPr lang="en-US" sz="2000" dirty="0" err="1" smtClean="0">
                <a:latin typeface="Times New Roman" pitchFamily="18" charset="0"/>
                <a:cs typeface="Times New Roman" pitchFamily="18" charset="0"/>
              </a:rPr>
              <a:t>resampling</a:t>
            </a:r>
            <a:r>
              <a:rPr lang="en-US" sz="2000" dirty="0" smtClean="0">
                <a:latin typeface="Times New Roman" pitchFamily="18" charset="0"/>
                <a:cs typeface="Times New Roman" pitchFamily="18" charset="0"/>
              </a:rPr>
              <a:t> permutation procedure, in which we shuffle together the results from groups A and B and then repeatedly deal out the data in groups of similar sizes, and then observe how often we get a difference as extreme as the observed difference. The combined shuffled results from groups A and B, and the procedure of </a:t>
            </a:r>
            <a:r>
              <a:rPr lang="en-US" sz="2000" dirty="0" err="1" smtClean="0">
                <a:latin typeface="Times New Roman" pitchFamily="18" charset="0"/>
                <a:cs typeface="Times New Roman" pitchFamily="18" charset="0"/>
              </a:rPr>
              <a:t>resampling</a:t>
            </a:r>
            <a:r>
              <a:rPr lang="en-US" sz="2000" dirty="0" smtClean="0">
                <a:latin typeface="Times New Roman" pitchFamily="18" charset="0"/>
                <a:cs typeface="Times New Roman" pitchFamily="18" charset="0"/>
              </a:rPr>
              <a:t> from them, embodies the null hypothesis of groups A and B being equivalent and interchangeable and is termed the null model</a:t>
            </a:r>
            <a:endParaRPr lang="en-US" sz="20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093428"/>
          </a:xfrm>
          <a:prstGeom prst="rect">
            <a:avLst/>
          </a:prstGeom>
        </p:spPr>
        <p:txBody>
          <a:bodyPr wrap="square">
            <a:spAutoFit/>
          </a:bodyPr>
          <a:lstStyle/>
          <a:p>
            <a:r>
              <a:rPr lang="en-US" sz="2000" b="1" dirty="0" smtClean="0">
                <a:latin typeface="Times New Roman" pitchFamily="18" charset="0"/>
                <a:cs typeface="Times New Roman" pitchFamily="18" charset="0"/>
              </a:rPr>
              <a:t>Alternative Hypothesis</a:t>
            </a: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Hypothesis tests by their nature involve not just a null hypothesis but also an offsetting alternative hypothesis. Here are some examples:</a:t>
            </a: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Null = “no difference between the means of group A and group B”; alternative =</a:t>
            </a:r>
          </a:p>
          <a:p>
            <a:r>
              <a:rPr lang="en-US" sz="2000" dirty="0" smtClean="0">
                <a:latin typeface="Times New Roman" pitchFamily="18" charset="0"/>
                <a:cs typeface="Times New Roman" pitchFamily="18" charset="0"/>
              </a:rPr>
              <a:t>“A is different from B” (could be bigger or smaller)</a:t>
            </a: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Null = “A ≤ B”; alternative = “A &gt; B”</a:t>
            </a: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Null = “B is not X% greater than A”; alternative = “B is X% greater than A”</a:t>
            </a:r>
          </a:p>
          <a:p>
            <a:r>
              <a:rPr lang="en-US" sz="2000" dirty="0" smtClean="0">
                <a:latin typeface="Times New Roman" pitchFamily="18" charset="0"/>
                <a:cs typeface="Times New Roman" pitchFamily="18" charset="0"/>
              </a:rPr>
              <a:t>Taken together, the null and alternative hypotheses must account for all possibilities.</a:t>
            </a:r>
          </a:p>
          <a:p>
            <a:r>
              <a:rPr lang="en-US" sz="2000" dirty="0" smtClean="0">
                <a:latin typeface="Times New Roman" pitchFamily="18" charset="0"/>
                <a:cs typeface="Times New Roman" pitchFamily="18" charset="0"/>
              </a:rPr>
              <a:t>The nature of the null hypothesis determines the structure of the hypothesis test.</a:t>
            </a:r>
            <a:endParaRPr lang="en-US" sz="20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985980"/>
          </a:xfrm>
          <a:prstGeom prst="rect">
            <a:avLst/>
          </a:prstGeom>
        </p:spPr>
        <p:txBody>
          <a:bodyPr wrap="square">
            <a:spAutoFit/>
          </a:bodyPr>
          <a:lstStyle/>
          <a:p>
            <a:pPr algn="just"/>
            <a:r>
              <a:rPr lang="en-US" sz="2000" b="1" dirty="0" smtClean="0">
                <a:latin typeface="Times New Roman" pitchFamily="18" charset="0"/>
                <a:cs typeface="Times New Roman" pitchFamily="18" charset="0"/>
              </a:rPr>
              <a:t>One-Way Versus Two-Way Hypothesis Tests</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Often in an A/B test, you are testing a new option (say, B) against an established default option (A), and the presumption is that you will stick with the default option unless the new option proves itself definitively better. In such a case, you want a hypothesis test to protect you from being fooled by chance in the direction favoring B. You don’t care about being fooled by chance in the other direction, because you would be sticking with A unless B proves definitively better. So you want a directional alternative hypothesis (B is better than A). In such a case, you use a one-way (or one-tail) hypothesis test. This means that extreme chance results in only one direction count toward the p-value.</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If you want a hypothesis test to protect you from being fooled by chance in either direction, the alternative hypothesis is bidirectional (A is different from B; could be bigger or smaller). In such a case, you use a two-way (or two-tail) hypothesis. This means that extreme chance results in either direction count toward the p-value.</a:t>
            </a:r>
          </a:p>
          <a:p>
            <a:pPr algn="just"/>
            <a:endParaRPr lang="en-US"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3785652"/>
          </a:xfrm>
          <a:prstGeom prst="rect">
            <a:avLst/>
          </a:prstGeom>
        </p:spPr>
        <p:txBody>
          <a:bodyPr wrap="square">
            <a:spAutoFit/>
          </a:bodyPr>
          <a:lstStyle/>
          <a:p>
            <a:r>
              <a:rPr lang="en-US" sz="2000" b="1" dirty="0" smtClean="0">
                <a:latin typeface="Times New Roman" pitchFamily="18" charset="0"/>
                <a:cs typeface="Times New Roman" pitchFamily="18" charset="0"/>
              </a:rPr>
              <a:t>Key Terms for </a:t>
            </a:r>
            <a:r>
              <a:rPr lang="en-US" sz="2000" b="1" dirty="0" err="1" smtClean="0">
                <a:latin typeface="Times New Roman" pitchFamily="18" charset="0"/>
                <a:cs typeface="Times New Roman" pitchFamily="18" charset="0"/>
              </a:rPr>
              <a:t>Resampling</a:t>
            </a:r>
            <a:endParaRPr lang="en-US" sz="2000" b="1" dirty="0" smtClean="0">
              <a:latin typeface="Times New Roman" pitchFamily="18" charset="0"/>
              <a:cs typeface="Times New Roman" pitchFamily="18" charset="0"/>
            </a:endParaRPr>
          </a:p>
          <a:p>
            <a:endParaRPr lang="en-US" sz="2000" b="1"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Permutation test</a:t>
            </a:r>
          </a:p>
          <a:p>
            <a:r>
              <a:rPr lang="en-US" sz="2000" dirty="0" smtClean="0">
                <a:latin typeface="Times New Roman" pitchFamily="18" charset="0"/>
                <a:cs typeface="Times New Roman" pitchFamily="18" charset="0"/>
              </a:rPr>
              <a:t>The procedure of combining two or more samples together and randomly (or exhaustively) reallocating the observations to </a:t>
            </a:r>
            <a:r>
              <a:rPr lang="en-US" sz="2000" dirty="0" err="1" smtClean="0">
                <a:latin typeface="Times New Roman" pitchFamily="18" charset="0"/>
                <a:cs typeface="Times New Roman" pitchFamily="18" charset="0"/>
              </a:rPr>
              <a:t>resamples</a:t>
            </a:r>
            <a:r>
              <a:rPr lang="en-US" sz="2000" dirty="0" smtClean="0">
                <a:latin typeface="Times New Roman" pitchFamily="18" charset="0"/>
                <a:cs typeface="Times New Roman" pitchFamily="18" charset="0"/>
              </a:rPr>
              <a:t>.</a:t>
            </a:r>
          </a:p>
          <a:p>
            <a:r>
              <a:rPr lang="en-US" sz="2000" dirty="0" smtClean="0">
                <a:latin typeface="Times New Roman" pitchFamily="18" charset="0"/>
                <a:cs typeface="Times New Roman" pitchFamily="18" charset="0"/>
              </a:rPr>
              <a:t>Synonyms</a:t>
            </a:r>
          </a:p>
          <a:p>
            <a:r>
              <a:rPr lang="en-US" sz="2000" dirty="0" smtClean="0">
                <a:latin typeface="Times New Roman" pitchFamily="18" charset="0"/>
                <a:cs typeface="Times New Roman" pitchFamily="18" charset="0"/>
              </a:rPr>
              <a:t>Randomization test, random permutation test, exact test</a:t>
            </a:r>
          </a:p>
          <a:p>
            <a:endParaRPr lang="en-US" sz="2000" dirty="0" smtClean="0">
              <a:latin typeface="Times New Roman" pitchFamily="18" charset="0"/>
              <a:cs typeface="Times New Roman" pitchFamily="18" charset="0"/>
            </a:endParaRPr>
          </a:p>
          <a:p>
            <a:r>
              <a:rPr lang="en-US" sz="2000" b="1" dirty="0" err="1" smtClean="0">
                <a:latin typeface="Times New Roman" pitchFamily="18" charset="0"/>
                <a:cs typeface="Times New Roman" pitchFamily="18" charset="0"/>
              </a:rPr>
              <a:t>Resampling</a:t>
            </a:r>
            <a:endParaRPr lang="en-US" sz="2000" b="1"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Drawing additional samples (“</a:t>
            </a:r>
            <a:r>
              <a:rPr lang="en-US" sz="2000" dirty="0" err="1" smtClean="0">
                <a:latin typeface="Times New Roman" pitchFamily="18" charset="0"/>
                <a:cs typeface="Times New Roman" pitchFamily="18" charset="0"/>
              </a:rPr>
              <a:t>resamples</a:t>
            </a:r>
            <a:r>
              <a:rPr lang="en-US" sz="2000" dirty="0" smtClean="0">
                <a:latin typeface="Times New Roman" pitchFamily="18" charset="0"/>
                <a:cs typeface="Times New Roman" pitchFamily="18" charset="0"/>
              </a:rPr>
              <a:t>”) from an observed data set.</a:t>
            </a:r>
          </a:p>
          <a:p>
            <a:r>
              <a:rPr lang="en-US" sz="2000" dirty="0" smtClean="0">
                <a:latin typeface="Times New Roman" pitchFamily="18" charset="0"/>
                <a:cs typeface="Times New Roman" pitchFamily="18" charset="0"/>
              </a:rPr>
              <a:t>With or without replacement In sampling, whether or not an item is returned to the sample before the next draw.</a:t>
            </a:r>
            <a:endParaRPr lang="en-US" sz="20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52400"/>
            <a:ext cx="9144000" cy="6863417"/>
          </a:xfrm>
          <a:prstGeom prst="rect">
            <a:avLst/>
          </a:prstGeom>
        </p:spPr>
        <p:txBody>
          <a:bodyPr wrap="square">
            <a:spAutoFit/>
          </a:bodyPr>
          <a:lstStyle/>
          <a:p>
            <a:r>
              <a:rPr lang="en-US" sz="2000" b="1" dirty="0" smtClean="0">
                <a:latin typeface="Times New Roman" pitchFamily="18" charset="0"/>
                <a:cs typeface="Times New Roman" pitchFamily="18" charset="0"/>
              </a:rPr>
              <a:t>Permutation Test</a:t>
            </a:r>
          </a:p>
          <a:p>
            <a:endParaRPr lang="en-US" sz="2000" b="1"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In a permutation procedure, two or more samples are involved, typically the groups in an A/B or other hypothesis test. Permute means to change the order of a set of values.</a:t>
            </a:r>
          </a:p>
          <a:p>
            <a:pPr algn="just"/>
            <a:r>
              <a:rPr lang="en-US" sz="2000" dirty="0" smtClean="0">
                <a:latin typeface="Times New Roman" pitchFamily="18" charset="0"/>
                <a:cs typeface="Times New Roman" pitchFamily="18" charset="0"/>
              </a:rPr>
              <a:t>The first step in a permutation test of a hypothesis is to combine the results from groups A and B (and, if used, C, D,…). This is the logical embodiment of the null hypothesis that the treatments to which the groups were exposed do not differ. We then test that hypothesis by randomly drawing groups from this combined set and seeing how much they differ from one another. The permutation procedure is as follows:</a:t>
            </a:r>
          </a:p>
          <a:p>
            <a:pPr algn="just"/>
            <a:r>
              <a:rPr lang="en-US" sz="2000" dirty="0" smtClean="0">
                <a:latin typeface="Times New Roman" pitchFamily="18" charset="0"/>
                <a:cs typeface="Times New Roman" pitchFamily="18" charset="0"/>
              </a:rPr>
              <a:t>1. Combine the results from the different groups into a single data set.</a:t>
            </a:r>
          </a:p>
          <a:p>
            <a:pPr algn="just"/>
            <a:r>
              <a:rPr lang="en-US" sz="2000" dirty="0" smtClean="0">
                <a:latin typeface="Times New Roman" pitchFamily="18" charset="0"/>
                <a:cs typeface="Times New Roman" pitchFamily="18" charset="0"/>
              </a:rPr>
              <a:t>2. Shuffle the combined data and then randomly draw (without replacement) a</a:t>
            </a:r>
          </a:p>
          <a:p>
            <a:pPr algn="just"/>
            <a:r>
              <a:rPr lang="en-US" sz="2000" dirty="0" smtClean="0">
                <a:latin typeface="Times New Roman" pitchFamily="18" charset="0"/>
                <a:cs typeface="Times New Roman" pitchFamily="18" charset="0"/>
              </a:rPr>
              <a:t>resample of the same size as group A (clearly it will contain some data from the other groups).</a:t>
            </a:r>
          </a:p>
          <a:p>
            <a:pPr algn="just"/>
            <a:r>
              <a:rPr lang="en-US" sz="2000" dirty="0" smtClean="0">
                <a:latin typeface="Times New Roman" pitchFamily="18" charset="0"/>
                <a:cs typeface="Times New Roman" pitchFamily="18" charset="0"/>
              </a:rPr>
              <a:t>3. From the remaining data, randomly draw (without replacement) a resample of the same size as group B.</a:t>
            </a:r>
          </a:p>
          <a:p>
            <a:pPr algn="just"/>
            <a:r>
              <a:rPr lang="en-US" sz="2000" dirty="0" smtClean="0">
                <a:latin typeface="Times New Roman" pitchFamily="18" charset="0"/>
                <a:cs typeface="Times New Roman" pitchFamily="18" charset="0"/>
              </a:rPr>
              <a:t>4. Do the same for groups C, D, and so on. You have now collected one set of </a:t>
            </a:r>
            <a:r>
              <a:rPr lang="en-US" sz="2000" dirty="0" err="1" smtClean="0">
                <a:latin typeface="Times New Roman" pitchFamily="18" charset="0"/>
                <a:cs typeface="Times New Roman" pitchFamily="18" charset="0"/>
              </a:rPr>
              <a:t>resamples</a:t>
            </a:r>
            <a:r>
              <a:rPr lang="en-US" sz="2000" dirty="0" smtClean="0">
                <a:latin typeface="Times New Roman" pitchFamily="18" charset="0"/>
                <a:cs typeface="Times New Roman" pitchFamily="18" charset="0"/>
              </a:rPr>
              <a:t> that mirror the sizes of the original samples.</a:t>
            </a:r>
          </a:p>
          <a:p>
            <a:pPr algn="just"/>
            <a:r>
              <a:rPr lang="en-US" sz="2000" dirty="0" smtClean="0">
                <a:latin typeface="Times New Roman" pitchFamily="18" charset="0"/>
                <a:cs typeface="Times New Roman" pitchFamily="18" charset="0"/>
              </a:rPr>
              <a:t>5. Whatever statistic or estimate was calculated for the original samples (e.g., difference in group proportions), calculate it now for the </a:t>
            </a:r>
            <a:r>
              <a:rPr lang="en-US" sz="2000" dirty="0" err="1" smtClean="0">
                <a:latin typeface="Times New Roman" pitchFamily="18" charset="0"/>
                <a:cs typeface="Times New Roman" pitchFamily="18" charset="0"/>
              </a:rPr>
              <a:t>resamples</a:t>
            </a:r>
            <a:r>
              <a:rPr lang="en-US" sz="2000" dirty="0" smtClean="0">
                <a:latin typeface="Times New Roman" pitchFamily="18" charset="0"/>
                <a:cs typeface="Times New Roman" pitchFamily="18" charset="0"/>
              </a:rPr>
              <a:t>, and record; this constitutes one permutation iteration.</a:t>
            </a:r>
          </a:p>
          <a:p>
            <a:pPr algn="just"/>
            <a:r>
              <a:rPr lang="en-US" sz="2000" dirty="0" smtClean="0">
                <a:latin typeface="Times New Roman" pitchFamily="18" charset="0"/>
                <a:cs typeface="Times New Roman" pitchFamily="18" charset="0"/>
              </a:rPr>
              <a:t>6. Repeat the previous steps R times to yield a permutation distribution of the test</a:t>
            </a:r>
          </a:p>
          <a:p>
            <a:pPr algn="just"/>
            <a:r>
              <a:rPr lang="en-US" sz="2000" dirty="0" smtClean="0">
                <a:latin typeface="Times New Roman" pitchFamily="18" charset="0"/>
                <a:cs typeface="Times New Roman" pitchFamily="18" charset="0"/>
              </a:rPr>
              <a:t>statistic.</a:t>
            </a:r>
            <a:endParaRPr lang="en-US" sz="20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2554545"/>
          </a:xfrm>
          <a:prstGeom prst="rect">
            <a:avLst/>
          </a:prstGeom>
        </p:spPr>
        <p:txBody>
          <a:bodyPr wrap="square">
            <a:spAutoFit/>
          </a:bodyPr>
          <a:lstStyle/>
          <a:p>
            <a:r>
              <a:rPr lang="en-US" sz="2000" b="1" dirty="0" smtClean="0">
                <a:latin typeface="Times New Roman" pitchFamily="18" charset="0"/>
                <a:cs typeface="Times New Roman" pitchFamily="18" charset="0"/>
              </a:rPr>
              <a:t>Example: Web Stickiness</a:t>
            </a:r>
          </a:p>
          <a:p>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A company selling a relatively high-value service wants to test which of two web presentations does a better selling job. Due to the high value of the service being sold, sales are infrequent and the sales cycle is lengthy; it would take too long to accumulate enough sales to know which presentation is superior. So the company decides to measure the results with a proxy variable, using the detailed interior page that describes the service.</a:t>
            </a:r>
            <a:endParaRPr lang="en-US" sz="2000" dirty="0">
              <a:latin typeface="Times New Roman" pitchFamily="18" charset="0"/>
              <a:cs typeface="Times New Roman" pitchFamily="18" charset="0"/>
            </a:endParaRPr>
          </a:p>
        </p:txBody>
      </p:sp>
      <p:sp>
        <p:nvSpPr>
          <p:cNvPr id="3" name="Rectangle 2"/>
          <p:cNvSpPr/>
          <p:nvPr/>
        </p:nvSpPr>
        <p:spPr>
          <a:xfrm>
            <a:off x="76200" y="2590800"/>
            <a:ext cx="9067800" cy="3785652"/>
          </a:xfrm>
          <a:prstGeom prst="rect">
            <a:avLst/>
          </a:prstGeom>
        </p:spPr>
        <p:txBody>
          <a:bodyPr wrap="square">
            <a:spAutoFit/>
          </a:bodyPr>
          <a:lstStyle/>
          <a:p>
            <a:pPr algn="just"/>
            <a:r>
              <a:rPr lang="en-US" sz="2000" dirty="0" smtClean="0">
                <a:latin typeface="Times New Roman" pitchFamily="18" charset="0"/>
                <a:cs typeface="Times New Roman" pitchFamily="18" charset="0"/>
              </a:rPr>
              <a:t>	One potential proxy variable for our company is the number of clicks on the detailed landing page. A better one is how long people spend on the page. It is reasonable to think that a web presentation (page) that holds people’s attention longer will lead to more sales. Hence, our metric is average session time, comparing page A to page B.</a:t>
            </a:r>
          </a:p>
          <a:p>
            <a:pPr algn="just"/>
            <a:r>
              <a:rPr lang="en-US" sz="2000" dirty="0" smtClean="0">
                <a:latin typeface="Times New Roman" pitchFamily="18" charset="0"/>
                <a:cs typeface="Times New Roman" pitchFamily="18" charset="0"/>
              </a:rPr>
              <a:t>Due to the fact that this is an interior, special-purpose page, it does not receive a huge number of visitors. Also note that Google Analytics, which is how we measure session time, cannot measure session time for the last session a person visits. Instead of deleting that session from the data, though, Google Analytics records it as a zero, so the data requires additional processing to remove those sessions. The result is a total of 36 sessions for the two different presentations, 21 for page A and 15 for page B. Using </a:t>
            </a:r>
            <a:r>
              <a:rPr lang="en-US" sz="2000" dirty="0" err="1" smtClean="0">
                <a:latin typeface="Times New Roman" pitchFamily="18" charset="0"/>
                <a:cs typeface="Times New Roman" pitchFamily="18" charset="0"/>
              </a:rPr>
              <a:t>ggplot</a:t>
            </a:r>
            <a:r>
              <a:rPr lang="en-US" sz="2000" dirty="0" smtClean="0">
                <a:latin typeface="Times New Roman" pitchFamily="18" charset="0"/>
                <a:cs typeface="Times New Roman" pitchFamily="18" charset="0"/>
              </a:rPr>
              <a:t>, we can visually compare the session times using side-by-side </a:t>
            </a:r>
            <a:r>
              <a:rPr lang="en-US" sz="2000" dirty="0" err="1" smtClean="0">
                <a:latin typeface="Times New Roman" pitchFamily="18" charset="0"/>
                <a:cs typeface="Times New Roman" pitchFamily="18" charset="0"/>
              </a:rPr>
              <a:t>boxplots</a:t>
            </a:r>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601533"/>
          </a:xfrm>
          <a:prstGeom prst="rect">
            <a:avLst/>
          </a:prstGeom>
        </p:spPr>
        <p:txBody>
          <a:bodyPr wrap="square">
            <a:spAutoFit/>
          </a:bodyPr>
          <a:lstStyle/>
          <a:p>
            <a:r>
              <a:rPr lang="en-US" sz="2000" dirty="0" err="1" smtClean="0">
                <a:latin typeface="Times New Roman" pitchFamily="18" charset="0"/>
                <a:cs typeface="Times New Roman" pitchFamily="18" charset="0"/>
              </a:rPr>
              <a:t>ggplot</a:t>
            </a:r>
            <a:r>
              <a:rPr lang="en-US" sz="2000" dirty="0" smtClean="0">
                <a:latin typeface="Times New Roman" pitchFamily="18" charset="0"/>
                <a:cs typeface="Times New Roman" pitchFamily="18" charset="0"/>
              </a:rPr>
              <a:t>(</a:t>
            </a:r>
            <a:r>
              <a:rPr lang="en-US" sz="2000" dirty="0" err="1" smtClean="0">
                <a:latin typeface="Times New Roman" pitchFamily="18" charset="0"/>
                <a:cs typeface="Times New Roman" pitchFamily="18" charset="0"/>
              </a:rPr>
              <a:t>session_times</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aes</a:t>
            </a:r>
            <a:r>
              <a:rPr lang="en-US" sz="2000" dirty="0" smtClean="0">
                <a:latin typeface="Times New Roman" pitchFamily="18" charset="0"/>
                <a:cs typeface="Times New Roman" pitchFamily="18" charset="0"/>
              </a:rPr>
              <a:t>(x=Page, y=Time)) +</a:t>
            </a:r>
          </a:p>
          <a:p>
            <a:r>
              <a:rPr lang="en-US" sz="2000" dirty="0" err="1" smtClean="0">
                <a:latin typeface="Times New Roman" pitchFamily="18" charset="0"/>
                <a:cs typeface="Times New Roman" pitchFamily="18" charset="0"/>
              </a:rPr>
              <a:t>geom_boxplot</a:t>
            </a:r>
            <a:r>
              <a:rPr lang="en-US" sz="2000" dirty="0" smtClean="0">
                <a:latin typeface="Times New Roman" pitchFamily="18" charset="0"/>
                <a:cs typeface="Times New Roman" pitchFamily="18" charset="0"/>
              </a:rPr>
              <a:t>()</a:t>
            </a:r>
          </a:p>
          <a:p>
            <a:endParaRPr lang="en-IN"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The pandas </a:t>
            </a:r>
            <a:r>
              <a:rPr lang="en-US" sz="2000" dirty="0" err="1" smtClean="0">
                <a:latin typeface="Times New Roman" pitchFamily="18" charset="0"/>
                <a:cs typeface="Times New Roman" pitchFamily="18" charset="0"/>
              </a:rPr>
              <a:t>boxplot</a:t>
            </a:r>
            <a:r>
              <a:rPr lang="en-US" sz="2000" dirty="0" smtClean="0">
                <a:latin typeface="Times New Roman" pitchFamily="18" charset="0"/>
                <a:cs typeface="Times New Roman" pitchFamily="18" charset="0"/>
              </a:rPr>
              <a:t> command uses the keyword argument by to create the figure:</a:t>
            </a: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ax = </a:t>
            </a:r>
            <a:r>
              <a:rPr lang="en-US" sz="2000" dirty="0" err="1" smtClean="0">
                <a:latin typeface="Times New Roman" pitchFamily="18" charset="0"/>
                <a:cs typeface="Times New Roman" pitchFamily="18" charset="0"/>
              </a:rPr>
              <a:t>session_times.boxplot</a:t>
            </a:r>
            <a:r>
              <a:rPr lang="en-US" sz="2000" dirty="0" smtClean="0">
                <a:latin typeface="Times New Roman" pitchFamily="18" charset="0"/>
                <a:cs typeface="Times New Roman" pitchFamily="18" charset="0"/>
              </a:rPr>
              <a:t>(by='Page', column='Time')</a:t>
            </a:r>
          </a:p>
          <a:p>
            <a:r>
              <a:rPr lang="en-US" sz="2000" dirty="0" err="1" smtClean="0">
                <a:latin typeface="Times New Roman" pitchFamily="18" charset="0"/>
                <a:cs typeface="Times New Roman" pitchFamily="18" charset="0"/>
              </a:rPr>
              <a:t>ax.set_xlabel</a:t>
            </a:r>
            <a:r>
              <a:rPr lang="en-US" sz="2000" dirty="0" smtClean="0">
                <a:latin typeface="Times New Roman" pitchFamily="18" charset="0"/>
                <a:cs typeface="Times New Roman" pitchFamily="18" charset="0"/>
              </a:rPr>
              <a:t>('')</a:t>
            </a:r>
          </a:p>
          <a:p>
            <a:r>
              <a:rPr lang="en-US" sz="2000" dirty="0" err="1" smtClean="0">
                <a:latin typeface="Times New Roman" pitchFamily="18" charset="0"/>
                <a:cs typeface="Times New Roman" pitchFamily="18" charset="0"/>
              </a:rPr>
              <a:t>ax.set_ylabel</a:t>
            </a:r>
            <a:r>
              <a:rPr lang="en-US" sz="2000" dirty="0" smtClean="0">
                <a:latin typeface="Times New Roman" pitchFamily="18" charset="0"/>
                <a:cs typeface="Times New Roman" pitchFamily="18" charset="0"/>
              </a:rPr>
              <a:t>('Time (in seconds)')</a:t>
            </a:r>
          </a:p>
          <a:p>
            <a:r>
              <a:rPr lang="en-US" sz="2000" dirty="0" err="1" smtClean="0">
                <a:latin typeface="Times New Roman" pitchFamily="18" charset="0"/>
                <a:cs typeface="Times New Roman" pitchFamily="18" charset="0"/>
              </a:rPr>
              <a:t>plt.suptitle</a:t>
            </a:r>
            <a:r>
              <a:rPr lang="en-US" sz="2000" dirty="0" smtClean="0">
                <a:latin typeface="Times New Roman" pitchFamily="18" charset="0"/>
                <a:cs typeface="Times New Roman" pitchFamily="18" charset="0"/>
              </a:rPr>
              <a:t>('')</a:t>
            </a:r>
          </a:p>
          <a:p>
            <a:endParaRPr lang="en-IN"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In </a:t>
            </a:r>
            <a:r>
              <a:rPr lang="en-US" sz="2000" i="1" dirty="0" smtClean="0">
                <a:latin typeface="Times New Roman" pitchFamily="18" charset="0"/>
                <a:cs typeface="Times New Roman" pitchFamily="18" charset="0"/>
              </a:rPr>
              <a:t>Python, we filter the pandas data frame first by page and then determine the mean </a:t>
            </a:r>
            <a:r>
              <a:rPr lang="en-US" sz="2000" dirty="0" smtClean="0">
                <a:latin typeface="Times New Roman" pitchFamily="18" charset="0"/>
                <a:cs typeface="Times New Roman" pitchFamily="18" charset="0"/>
              </a:rPr>
              <a:t>of the Time column:</a:t>
            </a:r>
          </a:p>
          <a:p>
            <a:endParaRPr lang="en-US" sz="2000" dirty="0" smtClean="0">
              <a:latin typeface="Times New Roman" pitchFamily="18" charset="0"/>
              <a:cs typeface="Times New Roman" pitchFamily="18" charset="0"/>
            </a:endParaRPr>
          </a:p>
          <a:p>
            <a:r>
              <a:rPr lang="en-US" sz="2000" dirty="0" err="1" smtClean="0">
                <a:latin typeface="Times New Roman" pitchFamily="18" charset="0"/>
                <a:cs typeface="Times New Roman" pitchFamily="18" charset="0"/>
              </a:rPr>
              <a:t>mean_a</a:t>
            </a:r>
            <a:r>
              <a:rPr lang="en-US" sz="2000" dirty="0" smtClean="0">
                <a:latin typeface="Times New Roman" pitchFamily="18" charset="0"/>
                <a:cs typeface="Times New Roman" pitchFamily="18" charset="0"/>
              </a:rPr>
              <a:t> = </a:t>
            </a:r>
            <a:r>
              <a:rPr lang="en-US" sz="2000" dirty="0" err="1" smtClean="0">
                <a:latin typeface="Times New Roman" pitchFamily="18" charset="0"/>
                <a:cs typeface="Times New Roman" pitchFamily="18" charset="0"/>
              </a:rPr>
              <a:t>session_times</a:t>
            </a:r>
            <a:r>
              <a:rPr lang="en-US" sz="2000" dirty="0" smtClean="0">
                <a:latin typeface="Times New Roman" pitchFamily="18" charset="0"/>
                <a:cs typeface="Times New Roman" pitchFamily="18" charset="0"/>
              </a:rPr>
              <a:t>[</a:t>
            </a:r>
            <a:r>
              <a:rPr lang="en-US" sz="2000" dirty="0" err="1" smtClean="0">
                <a:latin typeface="Times New Roman" pitchFamily="18" charset="0"/>
                <a:cs typeface="Times New Roman" pitchFamily="18" charset="0"/>
              </a:rPr>
              <a:t>session_times.Page</a:t>
            </a:r>
            <a:r>
              <a:rPr lang="en-US" sz="2000" dirty="0" smtClean="0">
                <a:latin typeface="Times New Roman" pitchFamily="18" charset="0"/>
                <a:cs typeface="Times New Roman" pitchFamily="18" charset="0"/>
              </a:rPr>
              <a:t> == 'Page A'].</a:t>
            </a:r>
            <a:r>
              <a:rPr lang="en-US" sz="2000" dirty="0" err="1" smtClean="0">
                <a:latin typeface="Times New Roman" pitchFamily="18" charset="0"/>
                <a:cs typeface="Times New Roman" pitchFamily="18" charset="0"/>
              </a:rPr>
              <a:t>Time.mean</a:t>
            </a:r>
            <a:r>
              <a:rPr lang="en-US" sz="2000" dirty="0" smtClean="0">
                <a:latin typeface="Times New Roman" pitchFamily="18" charset="0"/>
                <a:cs typeface="Times New Roman" pitchFamily="18" charset="0"/>
              </a:rPr>
              <a:t>()</a:t>
            </a:r>
          </a:p>
          <a:p>
            <a:r>
              <a:rPr lang="en-US" sz="2000" dirty="0" err="1" smtClean="0">
                <a:latin typeface="Times New Roman" pitchFamily="18" charset="0"/>
                <a:cs typeface="Times New Roman" pitchFamily="18" charset="0"/>
              </a:rPr>
              <a:t>mean_b</a:t>
            </a:r>
            <a:r>
              <a:rPr lang="en-US" sz="2000" dirty="0" smtClean="0">
                <a:latin typeface="Times New Roman" pitchFamily="18" charset="0"/>
                <a:cs typeface="Times New Roman" pitchFamily="18" charset="0"/>
              </a:rPr>
              <a:t> = </a:t>
            </a:r>
            <a:r>
              <a:rPr lang="en-US" sz="2000" dirty="0" err="1" smtClean="0">
                <a:latin typeface="Times New Roman" pitchFamily="18" charset="0"/>
                <a:cs typeface="Times New Roman" pitchFamily="18" charset="0"/>
              </a:rPr>
              <a:t>session_times</a:t>
            </a:r>
            <a:r>
              <a:rPr lang="en-US" sz="2000" dirty="0" smtClean="0">
                <a:latin typeface="Times New Roman" pitchFamily="18" charset="0"/>
                <a:cs typeface="Times New Roman" pitchFamily="18" charset="0"/>
              </a:rPr>
              <a:t>[</a:t>
            </a:r>
            <a:r>
              <a:rPr lang="en-US" sz="2000" dirty="0" err="1" smtClean="0">
                <a:latin typeface="Times New Roman" pitchFamily="18" charset="0"/>
                <a:cs typeface="Times New Roman" pitchFamily="18" charset="0"/>
              </a:rPr>
              <a:t>session_times.Page</a:t>
            </a:r>
            <a:r>
              <a:rPr lang="en-US" sz="2000" dirty="0" smtClean="0">
                <a:latin typeface="Times New Roman" pitchFamily="18" charset="0"/>
                <a:cs typeface="Times New Roman" pitchFamily="18" charset="0"/>
              </a:rPr>
              <a:t> == 'Page B'].</a:t>
            </a:r>
            <a:r>
              <a:rPr lang="en-US" sz="2000" dirty="0" err="1" smtClean="0">
                <a:latin typeface="Times New Roman" pitchFamily="18" charset="0"/>
                <a:cs typeface="Times New Roman" pitchFamily="18" charset="0"/>
              </a:rPr>
              <a:t>Time.mean</a:t>
            </a:r>
            <a:r>
              <a:rPr lang="en-US" sz="2000" dirty="0" smtClean="0">
                <a:latin typeface="Times New Roman" pitchFamily="18" charset="0"/>
                <a:cs typeface="Times New Roman" pitchFamily="18" charset="0"/>
              </a:rPr>
              <a:t>()</a:t>
            </a:r>
          </a:p>
          <a:p>
            <a:r>
              <a:rPr lang="en-US" sz="2000" dirty="0" err="1" smtClean="0">
                <a:latin typeface="Times New Roman" pitchFamily="18" charset="0"/>
                <a:cs typeface="Times New Roman" pitchFamily="18" charset="0"/>
              </a:rPr>
              <a:t>mean_b</a:t>
            </a:r>
            <a:r>
              <a:rPr lang="en-US" sz="2000" dirty="0" smtClean="0">
                <a:latin typeface="Times New Roman" pitchFamily="18" charset="0"/>
                <a:cs typeface="Times New Roman" pitchFamily="18" charset="0"/>
              </a:rPr>
              <a:t> - </a:t>
            </a:r>
            <a:r>
              <a:rPr lang="en-US" sz="2000" dirty="0" err="1" smtClean="0">
                <a:latin typeface="Times New Roman" pitchFamily="18" charset="0"/>
                <a:cs typeface="Times New Roman" pitchFamily="18" charset="0"/>
              </a:rPr>
              <a:t>mean_a</a:t>
            </a:r>
            <a:endParaRPr lang="en-US" sz="2000" dirty="0" smtClean="0">
              <a:latin typeface="Times New Roman" pitchFamily="18" charset="0"/>
              <a:cs typeface="Times New Roman" pitchFamily="18" charset="0"/>
            </a:endParaRPr>
          </a:p>
          <a:p>
            <a:endParaRPr lang="en-IN" sz="2000" dirty="0" smtClean="0">
              <a:latin typeface="Times New Roman" pitchFamily="18" charset="0"/>
              <a:cs typeface="Times New Roman" pitchFamily="18" charset="0"/>
            </a:endParaRP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078313"/>
          </a:xfrm>
          <a:prstGeom prst="rect">
            <a:avLst/>
          </a:prstGeom>
        </p:spPr>
        <p:txBody>
          <a:bodyPr wrap="square">
            <a:spAutoFit/>
          </a:bodyPr>
          <a:lstStyle/>
          <a:p>
            <a:r>
              <a:rPr lang="en-US" dirty="0" smtClean="0">
                <a:latin typeface="Times New Roman" pitchFamily="18" charset="0"/>
                <a:cs typeface="Times New Roman" pitchFamily="18" charset="0"/>
              </a:rPr>
              <a:t>Page B has session times that are greater than those of page A by 35.67 seconds, on average. The question is whether this difference is within the range of what random chance might produce, i.e., is statistically significant. One way to answer this is to apply a permutation test—combine all the session times together and then repeatedly shuffle and divide them into groups of 21 (recall that </a:t>
            </a:r>
            <a:r>
              <a:rPr lang="en-US" dirty="0" err="1" smtClean="0">
                <a:latin typeface="Times New Roman" pitchFamily="18" charset="0"/>
                <a:cs typeface="Times New Roman" pitchFamily="18" charset="0"/>
              </a:rPr>
              <a:t>nA</a:t>
            </a:r>
            <a:r>
              <a:rPr lang="en-US" dirty="0" smtClean="0">
                <a:latin typeface="Times New Roman" pitchFamily="18" charset="0"/>
                <a:cs typeface="Times New Roman" pitchFamily="18" charset="0"/>
              </a:rPr>
              <a:t> = 21 for page A) and 15</a:t>
            </a:r>
            <a:r>
              <a:rPr lang="da-DK" dirty="0" smtClean="0">
                <a:latin typeface="Times New Roman" pitchFamily="18" charset="0"/>
                <a:cs typeface="Times New Roman" pitchFamily="18" charset="0"/>
              </a:rPr>
              <a:t>(nB = 15 for page B).</a:t>
            </a:r>
          </a:p>
          <a:p>
            <a:r>
              <a:rPr lang="en-US" dirty="0" smtClean="0">
                <a:latin typeface="Times New Roman" pitchFamily="18" charset="0"/>
                <a:cs typeface="Times New Roman" pitchFamily="18" charset="0"/>
              </a:rPr>
              <a:t>To apply a permutation test, we need a function to randomly assign the 36 session times to a group of 21 (page A) and a group of 15 (page B).</a:t>
            </a:r>
          </a:p>
          <a:p>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Python version of this permutation test is the following:</a:t>
            </a:r>
          </a:p>
          <a:p>
            <a:r>
              <a:rPr lang="en-US" b="1" dirty="0" smtClean="0">
                <a:latin typeface="Times New Roman" pitchFamily="18" charset="0"/>
                <a:cs typeface="Times New Roman" pitchFamily="18" charset="0"/>
              </a:rPr>
              <a:t>def </a:t>
            </a:r>
            <a:r>
              <a:rPr lang="en-US" b="1" dirty="0" err="1" smtClean="0">
                <a:latin typeface="Times New Roman" pitchFamily="18" charset="0"/>
                <a:cs typeface="Times New Roman" pitchFamily="18" charset="0"/>
              </a:rPr>
              <a:t>perm_fun</a:t>
            </a:r>
            <a:r>
              <a:rPr lang="en-US" b="1" dirty="0" smtClean="0">
                <a:latin typeface="Times New Roman" pitchFamily="18" charset="0"/>
                <a:cs typeface="Times New Roman" pitchFamily="18" charset="0"/>
              </a:rPr>
              <a:t>(x, </a:t>
            </a:r>
            <a:r>
              <a:rPr lang="en-US" b="1" dirty="0" err="1" smtClean="0">
                <a:latin typeface="Times New Roman" pitchFamily="18" charset="0"/>
                <a:cs typeface="Times New Roman" pitchFamily="18" charset="0"/>
              </a:rPr>
              <a:t>nA</a:t>
            </a: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nB</a:t>
            </a:r>
            <a:r>
              <a:rPr lang="en-US" b="1"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n = </a:t>
            </a:r>
            <a:r>
              <a:rPr lang="en-US" dirty="0" err="1" smtClean="0">
                <a:latin typeface="Times New Roman" pitchFamily="18" charset="0"/>
                <a:cs typeface="Times New Roman" pitchFamily="18" charset="0"/>
              </a:rPr>
              <a:t>nA</a:t>
            </a: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nB</a:t>
            </a:r>
            <a:endParaRPr lang="en-US" dirty="0" smtClean="0">
              <a:latin typeface="Times New Roman" pitchFamily="18" charset="0"/>
              <a:cs typeface="Times New Roman" pitchFamily="18" charset="0"/>
            </a:endParaRPr>
          </a:p>
          <a:p>
            <a:r>
              <a:rPr lang="en-US" dirty="0" err="1" smtClean="0">
                <a:latin typeface="Times New Roman" pitchFamily="18" charset="0"/>
                <a:cs typeface="Times New Roman" pitchFamily="18" charset="0"/>
              </a:rPr>
              <a:t>idx_B</a:t>
            </a:r>
            <a:r>
              <a:rPr lang="en-US" dirty="0" smtClean="0">
                <a:latin typeface="Times New Roman" pitchFamily="18" charset="0"/>
                <a:cs typeface="Times New Roman" pitchFamily="18" charset="0"/>
              </a:rPr>
              <a:t> = set(</a:t>
            </a:r>
            <a:r>
              <a:rPr lang="en-US" dirty="0" err="1" smtClean="0">
                <a:latin typeface="Times New Roman" pitchFamily="18" charset="0"/>
                <a:cs typeface="Times New Roman" pitchFamily="18" charset="0"/>
              </a:rPr>
              <a:t>random.sample</a:t>
            </a:r>
            <a:r>
              <a:rPr lang="en-US" dirty="0" smtClean="0">
                <a:latin typeface="Times New Roman" pitchFamily="18" charset="0"/>
                <a:cs typeface="Times New Roman" pitchFamily="18" charset="0"/>
              </a:rPr>
              <a:t>(range(n), </a:t>
            </a:r>
            <a:r>
              <a:rPr lang="en-US" dirty="0" err="1" smtClean="0">
                <a:latin typeface="Times New Roman" pitchFamily="18" charset="0"/>
                <a:cs typeface="Times New Roman" pitchFamily="18" charset="0"/>
              </a:rPr>
              <a:t>nB</a:t>
            </a:r>
            <a:r>
              <a:rPr lang="en-US" dirty="0" smtClean="0">
                <a:latin typeface="Times New Roman" pitchFamily="18" charset="0"/>
                <a:cs typeface="Times New Roman" pitchFamily="18" charset="0"/>
              </a:rPr>
              <a:t>))</a:t>
            </a:r>
          </a:p>
          <a:p>
            <a:r>
              <a:rPr lang="en-US" dirty="0" err="1" smtClean="0">
                <a:latin typeface="Times New Roman" pitchFamily="18" charset="0"/>
                <a:cs typeface="Times New Roman" pitchFamily="18" charset="0"/>
              </a:rPr>
              <a:t>idx_A</a:t>
            </a:r>
            <a:r>
              <a:rPr lang="en-US" dirty="0" smtClean="0">
                <a:latin typeface="Times New Roman" pitchFamily="18" charset="0"/>
                <a:cs typeface="Times New Roman" pitchFamily="18" charset="0"/>
              </a:rPr>
              <a:t> = set(range(n)) - </a:t>
            </a:r>
            <a:r>
              <a:rPr lang="en-US" dirty="0" err="1" smtClean="0">
                <a:latin typeface="Times New Roman" pitchFamily="18" charset="0"/>
                <a:cs typeface="Times New Roman" pitchFamily="18" charset="0"/>
              </a:rPr>
              <a:t>idx_B</a:t>
            </a:r>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return x.loc[</a:t>
            </a:r>
            <a:r>
              <a:rPr lang="en-US" b="1" dirty="0" err="1" smtClean="0">
                <a:latin typeface="Times New Roman" pitchFamily="18" charset="0"/>
                <a:cs typeface="Times New Roman" pitchFamily="18" charset="0"/>
              </a:rPr>
              <a:t>idx_B</a:t>
            </a:r>
            <a:r>
              <a:rPr lang="en-US" b="1" dirty="0" smtClean="0">
                <a:latin typeface="Times New Roman" pitchFamily="18" charset="0"/>
                <a:cs typeface="Times New Roman" pitchFamily="18" charset="0"/>
              </a:rPr>
              <a:t>].mean() - x.loc[</a:t>
            </a:r>
            <a:r>
              <a:rPr lang="en-US" b="1" dirty="0" err="1" smtClean="0">
                <a:latin typeface="Times New Roman" pitchFamily="18" charset="0"/>
                <a:cs typeface="Times New Roman" pitchFamily="18" charset="0"/>
              </a:rPr>
              <a:t>idx_A</a:t>
            </a:r>
            <a:r>
              <a:rPr lang="en-US" b="1" dirty="0" smtClean="0">
                <a:latin typeface="Times New Roman" pitchFamily="18" charset="0"/>
                <a:cs typeface="Times New Roman" pitchFamily="18" charset="0"/>
              </a:rPr>
              <a:t>].mean()</a:t>
            </a:r>
          </a:p>
          <a:p>
            <a:endParaRPr lang="en-IN" b="1" dirty="0" smtClean="0"/>
          </a:p>
          <a:p>
            <a:endParaRPr lang="en-US" dirty="0" smtClean="0"/>
          </a:p>
          <a:p>
            <a:endParaRPr lang="en-IN" dirty="0" smtClean="0"/>
          </a:p>
          <a:p>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4114800" y="3962400"/>
            <a:ext cx="4800600" cy="2895600"/>
          </a:xfrm>
          <a:prstGeom prst="rect">
            <a:avLst/>
          </a:prstGeom>
          <a:noFill/>
          <a:ln w="9525">
            <a:noFill/>
            <a:miter lim="800000"/>
            <a:headEnd/>
            <a:tailEnd/>
          </a:ln>
          <a:effectLst/>
        </p:spPr>
      </p:pic>
      <p:sp>
        <p:nvSpPr>
          <p:cNvPr id="4" name="Rectangle 3"/>
          <p:cNvSpPr/>
          <p:nvPr/>
        </p:nvSpPr>
        <p:spPr>
          <a:xfrm>
            <a:off x="0" y="5791200"/>
            <a:ext cx="4191000" cy="646331"/>
          </a:xfrm>
          <a:prstGeom prst="rect">
            <a:avLst/>
          </a:prstGeom>
        </p:spPr>
        <p:txBody>
          <a:bodyPr wrap="square">
            <a:spAutoFit/>
          </a:bodyPr>
          <a:lstStyle/>
          <a:p>
            <a:r>
              <a:rPr lang="en-US" i="1" dirty="0" smtClean="0"/>
              <a:t>         Figure 3-3. Session times for web pages  A and B</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262979"/>
          </a:xfrm>
          <a:prstGeom prst="rect">
            <a:avLst/>
          </a:prstGeom>
        </p:spPr>
        <p:txBody>
          <a:bodyPr wrap="square">
            <a:spAutoFit/>
          </a:bodyPr>
          <a:lstStyle/>
          <a:p>
            <a:endParaRPr lang="en-US" dirty="0" smtClean="0"/>
          </a:p>
          <a:p>
            <a:r>
              <a:rPr lang="en-US" sz="2000" dirty="0" smtClean="0">
                <a:latin typeface="Times New Roman" pitchFamily="18" charset="0"/>
                <a:cs typeface="Times New Roman" pitchFamily="18" charset="0"/>
              </a:rPr>
              <a:t>This function works by sampling (without replacement) </a:t>
            </a:r>
            <a:r>
              <a:rPr lang="en-US" sz="2000" dirty="0" err="1" smtClean="0">
                <a:latin typeface="Times New Roman" pitchFamily="18" charset="0"/>
                <a:cs typeface="Times New Roman" pitchFamily="18" charset="0"/>
              </a:rPr>
              <a:t>nB</a:t>
            </a:r>
            <a:r>
              <a:rPr lang="en-US" sz="2000" dirty="0" smtClean="0">
                <a:latin typeface="Times New Roman" pitchFamily="18" charset="0"/>
                <a:cs typeface="Times New Roman" pitchFamily="18" charset="0"/>
              </a:rPr>
              <a:t> indices and assigning them to the B group; the remaining </a:t>
            </a:r>
            <a:r>
              <a:rPr lang="en-US" sz="2000" dirty="0" err="1" smtClean="0">
                <a:latin typeface="Times New Roman" pitchFamily="18" charset="0"/>
                <a:cs typeface="Times New Roman" pitchFamily="18" charset="0"/>
              </a:rPr>
              <a:t>nA</a:t>
            </a:r>
            <a:r>
              <a:rPr lang="en-US" sz="2000" dirty="0" smtClean="0">
                <a:latin typeface="Times New Roman" pitchFamily="18" charset="0"/>
                <a:cs typeface="Times New Roman" pitchFamily="18" charset="0"/>
              </a:rPr>
              <a:t> indices are assigned to group A. The difference between the two means is returned. Calling this function R = 1,000 times and specifying </a:t>
            </a:r>
            <a:r>
              <a:rPr lang="en-US" sz="2000" dirty="0" err="1" smtClean="0">
                <a:latin typeface="Times New Roman" pitchFamily="18" charset="0"/>
                <a:cs typeface="Times New Roman" pitchFamily="18" charset="0"/>
              </a:rPr>
              <a:t>nA</a:t>
            </a:r>
            <a:r>
              <a:rPr lang="en-US" sz="2000" dirty="0" smtClean="0">
                <a:latin typeface="Times New Roman" pitchFamily="18" charset="0"/>
                <a:cs typeface="Times New Roman" pitchFamily="18" charset="0"/>
              </a:rPr>
              <a:t> = 21 and </a:t>
            </a:r>
            <a:r>
              <a:rPr lang="en-US" sz="2000" dirty="0" err="1" smtClean="0">
                <a:latin typeface="Times New Roman" pitchFamily="18" charset="0"/>
                <a:cs typeface="Times New Roman" pitchFamily="18" charset="0"/>
              </a:rPr>
              <a:t>nB</a:t>
            </a:r>
            <a:r>
              <a:rPr lang="en-US" sz="2000" dirty="0" smtClean="0">
                <a:latin typeface="Times New Roman" pitchFamily="18" charset="0"/>
                <a:cs typeface="Times New Roman" pitchFamily="18" charset="0"/>
              </a:rPr>
              <a:t> = 15 leads to a distribution of differences in the session times that can be plotted as a histogram</a:t>
            </a:r>
          </a:p>
          <a:p>
            <a:endParaRPr lang="en-IN"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In Python, we can create a similar graph using </a:t>
            </a:r>
            <a:r>
              <a:rPr lang="en-US" sz="2000" dirty="0" err="1" smtClean="0">
                <a:latin typeface="Times New Roman" pitchFamily="18" charset="0"/>
                <a:cs typeface="Times New Roman" pitchFamily="18" charset="0"/>
              </a:rPr>
              <a:t>matplotlib</a:t>
            </a:r>
            <a:r>
              <a:rPr lang="en-US" sz="2000" dirty="0" smtClean="0">
                <a:latin typeface="Times New Roman" pitchFamily="18" charset="0"/>
                <a:cs typeface="Times New Roman" pitchFamily="18" charset="0"/>
              </a:rPr>
              <a:t>:</a:t>
            </a:r>
          </a:p>
          <a:p>
            <a:endParaRPr lang="en-IN" sz="2000" dirty="0" smtClean="0">
              <a:latin typeface="Times New Roman" pitchFamily="18" charset="0"/>
              <a:cs typeface="Times New Roman" pitchFamily="18" charset="0"/>
            </a:endParaRPr>
          </a:p>
          <a:p>
            <a:r>
              <a:rPr lang="en-US" sz="2000" dirty="0" err="1" smtClean="0"/>
              <a:t>perm_diffs</a:t>
            </a:r>
            <a:r>
              <a:rPr lang="en-US" sz="2000" dirty="0" smtClean="0"/>
              <a:t> = [</a:t>
            </a:r>
            <a:r>
              <a:rPr lang="en-US" sz="2000" dirty="0" err="1" smtClean="0"/>
              <a:t>perm_fun</a:t>
            </a:r>
            <a:r>
              <a:rPr lang="en-US" sz="2000" dirty="0" smtClean="0"/>
              <a:t>(</a:t>
            </a:r>
            <a:r>
              <a:rPr lang="en-US" sz="2000" dirty="0" err="1" smtClean="0"/>
              <a:t>session_times.Time</a:t>
            </a:r>
            <a:r>
              <a:rPr lang="en-US" sz="2000" dirty="0" smtClean="0"/>
              <a:t>, </a:t>
            </a:r>
            <a:r>
              <a:rPr lang="en-US" sz="2000" dirty="0" err="1" smtClean="0"/>
              <a:t>nA</a:t>
            </a:r>
            <a:r>
              <a:rPr lang="en-US" sz="2000" dirty="0" smtClean="0"/>
              <a:t>, </a:t>
            </a:r>
            <a:r>
              <a:rPr lang="en-US" sz="2000" dirty="0" err="1" smtClean="0"/>
              <a:t>nB</a:t>
            </a:r>
            <a:r>
              <a:rPr lang="en-US" sz="2000" dirty="0" smtClean="0"/>
              <a:t>) </a:t>
            </a:r>
            <a:r>
              <a:rPr lang="en-US" sz="2000" b="1" dirty="0" smtClean="0"/>
              <a:t>for _ in range(1000)]</a:t>
            </a:r>
          </a:p>
          <a:p>
            <a:r>
              <a:rPr lang="en-US" sz="2000" dirty="0" smtClean="0"/>
              <a:t>fig, ax = </a:t>
            </a:r>
            <a:r>
              <a:rPr lang="en-US" sz="2000" dirty="0" err="1" smtClean="0"/>
              <a:t>plt.subplots</a:t>
            </a:r>
            <a:r>
              <a:rPr lang="en-US" sz="2000" dirty="0" smtClean="0"/>
              <a:t>(</a:t>
            </a:r>
            <a:r>
              <a:rPr lang="en-US" sz="2000" dirty="0" err="1" smtClean="0"/>
              <a:t>figsize</a:t>
            </a:r>
            <a:r>
              <a:rPr lang="en-US" sz="2000" dirty="0" smtClean="0"/>
              <a:t>=(5, 5))</a:t>
            </a:r>
          </a:p>
          <a:p>
            <a:r>
              <a:rPr lang="en-US" sz="2000" dirty="0" err="1" smtClean="0"/>
              <a:t>ax.hist</a:t>
            </a:r>
            <a:r>
              <a:rPr lang="en-US" sz="2000" dirty="0" smtClean="0"/>
              <a:t>(</a:t>
            </a:r>
            <a:r>
              <a:rPr lang="en-US" sz="2000" dirty="0" err="1" smtClean="0"/>
              <a:t>perm_diffs</a:t>
            </a:r>
            <a:r>
              <a:rPr lang="en-US" sz="2000" dirty="0" smtClean="0"/>
              <a:t>, bins=11, </a:t>
            </a:r>
            <a:r>
              <a:rPr lang="en-US" sz="2000" dirty="0" err="1" smtClean="0"/>
              <a:t>rwidth</a:t>
            </a:r>
            <a:r>
              <a:rPr lang="en-US" sz="2000" dirty="0" smtClean="0"/>
              <a:t>=0.9)</a:t>
            </a:r>
          </a:p>
          <a:p>
            <a:r>
              <a:rPr lang="en-US" sz="2000" dirty="0" err="1" smtClean="0"/>
              <a:t>ax.axvline</a:t>
            </a:r>
            <a:r>
              <a:rPr lang="en-US" sz="2000" dirty="0" smtClean="0"/>
              <a:t>(x = </a:t>
            </a:r>
            <a:r>
              <a:rPr lang="en-US" sz="2000" dirty="0" err="1" smtClean="0"/>
              <a:t>mean_b</a:t>
            </a:r>
            <a:r>
              <a:rPr lang="en-US" sz="2000" dirty="0" smtClean="0"/>
              <a:t> - </a:t>
            </a:r>
            <a:r>
              <a:rPr lang="en-US" sz="2000" dirty="0" err="1" smtClean="0"/>
              <a:t>mean_a</a:t>
            </a:r>
            <a:r>
              <a:rPr lang="en-US" sz="2000" dirty="0" smtClean="0"/>
              <a:t>, color='black', </a:t>
            </a:r>
            <a:r>
              <a:rPr lang="en-US" sz="2000" dirty="0" err="1" smtClean="0"/>
              <a:t>lw</a:t>
            </a:r>
            <a:r>
              <a:rPr lang="en-US" sz="2000" dirty="0" smtClean="0"/>
              <a:t>=2)</a:t>
            </a:r>
          </a:p>
          <a:p>
            <a:endParaRPr lang="en-IN" sz="2000" dirty="0" smtClean="0">
              <a:latin typeface="Times New Roman" pitchFamily="18" charset="0"/>
              <a:cs typeface="Times New Roman" pitchFamily="18" charset="0"/>
            </a:endParaRPr>
          </a:p>
          <a:p>
            <a:r>
              <a:rPr lang="en-US" sz="2000" dirty="0" err="1" smtClean="0"/>
              <a:t>ax.text</a:t>
            </a:r>
            <a:r>
              <a:rPr lang="en-US" sz="2000" dirty="0" smtClean="0"/>
              <a:t>(50, 190, 'Observed</a:t>
            </a:r>
            <a:r>
              <a:rPr lang="en-US" sz="2000" b="1" dirty="0" smtClean="0"/>
              <a:t>\</a:t>
            </a:r>
            <a:r>
              <a:rPr lang="en-US" sz="2000" b="1" dirty="0" err="1" smtClean="0"/>
              <a:t>ndifference</a:t>
            </a:r>
            <a:r>
              <a:rPr lang="en-US" sz="2000" b="1" dirty="0" smtClean="0"/>
              <a:t>', </a:t>
            </a:r>
            <a:r>
              <a:rPr lang="en-US" sz="2000" b="1" dirty="0" err="1" smtClean="0"/>
              <a:t>bbox</a:t>
            </a:r>
            <a:r>
              <a:rPr lang="en-US" sz="2000" b="1" dirty="0" smtClean="0"/>
              <a:t>={'</a:t>
            </a:r>
            <a:r>
              <a:rPr lang="en-US" sz="2000" b="1" dirty="0" err="1" smtClean="0"/>
              <a:t>facecolor':'white</a:t>
            </a:r>
            <a:r>
              <a:rPr lang="en-US" sz="2000" b="1" dirty="0" smtClean="0"/>
              <a:t>'})</a:t>
            </a:r>
          </a:p>
          <a:p>
            <a:r>
              <a:rPr lang="en-US" sz="2000" dirty="0" err="1" smtClean="0"/>
              <a:t>ax.set_xlabel</a:t>
            </a:r>
            <a:r>
              <a:rPr lang="en-US" sz="2000" dirty="0" smtClean="0"/>
              <a:t>('Session time differences (in seconds)')</a:t>
            </a:r>
          </a:p>
          <a:p>
            <a:r>
              <a:rPr lang="en-US" sz="2000" dirty="0" err="1" smtClean="0"/>
              <a:t>ax.set_ylabel</a:t>
            </a:r>
            <a:r>
              <a:rPr lang="en-US" sz="2000" dirty="0" smtClean="0"/>
              <a:t>('Frequency')</a:t>
            </a:r>
            <a:endParaRPr lang="en-US" sz="2000" dirty="0" smtClean="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417"/>
            <a:ext cx="9144000" cy="6863417"/>
          </a:xfrm>
          <a:prstGeom prst="rect">
            <a:avLst/>
          </a:prstGeom>
        </p:spPr>
        <p:txBody>
          <a:bodyPr wrap="square">
            <a:spAutoFit/>
          </a:bodyPr>
          <a:lstStyle/>
          <a:p>
            <a:pPr algn="just"/>
            <a:r>
              <a:rPr lang="en-US" sz="2000" b="1" dirty="0" smtClean="0">
                <a:latin typeface="Times New Roman" pitchFamily="18" charset="0"/>
                <a:cs typeface="Times New Roman" pitchFamily="18" charset="0"/>
              </a:rPr>
              <a:t>Statistical Significance and p-Values</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Statistical significance is how statisticians measure whether an experiment (or even a study of existing data) yields a result more extreme than what chance might produce.</a:t>
            </a:r>
          </a:p>
          <a:p>
            <a:pPr algn="just"/>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If the result is beyond the realm of chance variation, it is said to be statistically significant.</a:t>
            </a:r>
          </a:p>
          <a:p>
            <a:pPr algn="just"/>
            <a:r>
              <a:rPr lang="en-US" sz="2000" dirty="0" smtClean="0">
                <a:latin typeface="Times New Roman" pitchFamily="18" charset="0"/>
                <a:cs typeface="Times New Roman" pitchFamily="18" charset="0"/>
              </a:rPr>
              <a:t>Key Terms for Statistical Significance and p-Values</a:t>
            </a:r>
          </a:p>
          <a:p>
            <a:pPr algn="just"/>
            <a:r>
              <a:rPr lang="en-US" sz="2000" b="1" dirty="0" smtClean="0">
                <a:latin typeface="Times New Roman" pitchFamily="18" charset="0"/>
                <a:cs typeface="Times New Roman" pitchFamily="18" charset="0"/>
              </a:rPr>
              <a:t>p-value</a:t>
            </a:r>
          </a:p>
          <a:p>
            <a:pPr algn="just"/>
            <a:r>
              <a:rPr lang="en-US" sz="2000" dirty="0" smtClean="0">
                <a:latin typeface="Times New Roman" pitchFamily="18" charset="0"/>
                <a:cs typeface="Times New Roman" pitchFamily="18" charset="0"/>
              </a:rPr>
              <a:t>Given a chance model that embodies the null hypothesis, the p-value is the probability of obtaining results as unusual or extreme as the observed results.</a:t>
            </a:r>
          </a:p>
          <a:p>
            <a:pPr algn="just"/>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Alpha</a:t>
            </a:r>
          </a:p>
          <a:p>
            <a:pPr algn="just"/>
            <a:r>
              <a:rPr lang="en-US" sz="2000" dirty="0" smtClean="0">
                <a:latin typeface="Times New Roman" pitchFamily="18" charset="0"/>
                <a:cs typeface="Times New Roman" pitchFamily="18" charset="0"/>
              </a:rPr>
              <a:t>The probability threshold of “unusualness” that chance results must surpass for actual outcomes to be deemed statistically significant.</a:t>
            </a:r>
          </a:p>
          <a:p>
            <a:pPr algn="just"/>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Type 1 error</a:t>
            </a:r>
          </a:p>
          <a:p>
            <a:pPr algn="just"/>
            <a:r>
              <a:rPr lang="en-US" sz="2000" dirty="0" smtClean="0">
                <a:latin typeface="Times New Roman" pitchFamily="18" charset="0"/>
                <a:cs typeface="Times New Roman" pitchFamily="18" charset="0"/>
              </a:rPr>
              <a:t>Mistakenly concluding an effect is real (when it is due to chance).</a:t>
            </a:r>
          </a:p>
          <a:p>
            <a:pPr algn="just"/>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Type 2 error</a:t>
            </a:r>
          </a:p>
          <a:p>
            <a:pPr algn="just"/>
            <a:r>
              <a:rPr lang="en-US" sz="2000" dirty="0" smtClean="0">
                <a:latin typeface="Times New Roman" pitchFamily="18" charset="0"/>
                <a:cs typeface="Times New Roman" pitchFamily="18" charset="0"/>
              </a:rPr>
              <a:t>Mistakenly concluding an effect is due to chance (when it is real).</a:t>
            </a:r>
            <a:endParaRPr lang="en-US" sz="20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74345"/>
            <a:ext cx="9144000" cy="6186309"/>
          </a:xfrm>
          <a:prstGeom prst="rect">
            <a:avLst/>
          </a:prstGeom>
        </p:spPr>
        <p:txBody>
          <a:bodyPr wrap="square">
            <a:spAutoFit/>
          </a:bodyPr>
          <a:lstStyle/>
          <a:p>
            <a:pPr algn="just"/>
            <a:r>
              <a:rPr lang="en-US" b="1" dirty="0" smtClean="0">
                <a:latin typeface="Times New Roman" pitchFamily="18" charset="0"/>
                <a:cs typeface="Times New Roman" pitchFamily="18" charset="0"/>
              </a:rPr>
              <a:t>Alpha</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Statisticians frown on the practice of leaving it to the researcher’s discretion to determine</a:t>
            </a:r>
          </a:p>
          <a:p>
            <a:pPr algn="just"/>
            <a:r>
              <a:rPr lang="en-US" dirty="0" smtClean="0">
                <a:latin typeface="Times New Roman" pitchFamily="18" charset="0"/>
                <a:cs typeface="Times New Roman" pitchFamily="18" charset="0"/>
              </a:rPr>
              <a:t>whether a result is “too unusual” to happen by chance. Rather, a threshold is</a:t>
            </a:r>
          </a:p>
          <a:p>
            <a:pPr algn="just"/>
            <a:r>
              <a:rPr lang="en-US" dirty="0" smtClean="0">
                <a:latin typeface="Times New Roman" pitchFamily="18" charset="0"/>
                <a:cs typeface="Times New Roman" pitchFamily="18" charset="0"/>
              </a:rPr>
              <a:t>specified in advance, as in “more extreme than 5% of the chance (null hypothesis)</a:t>
            </a:r>
          </a:p>
          <a:p>
            <a:pPr algn="just"/>
            <a:r>
              <a:rPr lang="en-US" dirty="0" smtClean="0">
                <a:latin typeface="Times New Roman" pitchFamily="18" charset="0"/>
                <a:cs typeface="Times New Roman" pitchFamily="18" charset="0"/>
              </a:rPr>
              <a:t>results”; this threshold is known as </a:t>
            </a:r>
            <a:r>
              <a:rPr lang="en-US" i="1" dirty="0" smtClean="0">
                <a:latin typeface="Times New Roman" pitchFamily="18" charset="0"/>
                <a:cs typeface="Times New Roman" pitchFamily="18" charset="0"/>
              </a:rPr>
              <a:t>alpha</a:t>
            </a:r>
          </a:p>
          <a:p>
            <a:pPr algn="just"/>
            <a:endParaRPr lang="en-US" dirty="0" smtClean="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Type 1 and Type 2 Errors</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In assessing statistical significance, two types of error are possible:</a:t>
            </a:r>
          </a:p>
          <a:p>
            <a:pPr algn="just"/>
            <a:r>
              <a:rPr lang="en-US" dirty="0" smtClean="0">
                <a:latin typeface="Times New Roman" pitchFamily="18" charset="0"/>
                <a:cs typeface="Times New Roman" pitchFamily="18" charset="0"/>
              </a:rPr>
              <a:t>• A Type 1 error, in which you mistakenly conclude an effect is real, when it is really just due to chance</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A Type 2 error, in which you mistakenly conclude that an effect is not real (i.e., due to chance), when it actually is real Actually, a Type 2 error is not so much an error as a judgment that the sample size is too small to detect the effect. When a p-value falls short of statistical significance</a:t>
            </a:r>
          </a:p>
          <a:p>
            <a:pPr algn="just"/>
            <a:r>
              <a:rPr lang="en-US" dirty="0" smtClean="0">
                <a:latin typeface="Times New Roman" pitchFamily="18" charset="0"/>
                <a:cs typeface="Times New Roman" pitchFamily="18" charset="0"/>
              </a:rPr>
              <a:t>(e.g., it exceeds 5%), what we are really saying is “effect not proven.” It could be that a</a:t>
            </a:r>
          </a:p>
          <a:p>
            <a:pPr algn="just"/>
            <a:r>
              <a:rPr lang="en-US" dirty="0" smtClean="0">
                <a:latin typeface="Times New Roman" pitchFamily="18" charset="0"/>
                <a:cs typeface="Times New Roman" pitchFamily="18" charset="0"/>
              </a:rPr>
              <a:t>larger sample would yield a smaller p-value.</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basic function of significance tests (also called </a:t>
            </a:r>
            <a:r>
              <a:rPr lang="en-US" i="1" dirty="0" smtClean="0">
                <a:latin typeface="Times New Roman" pitchFamily="18" charset="0"/>
                <a:cs typeface="Times New Roman" pitchFamily="18" charset="0"/>
              </a:rPr>
              <a:t>hypothesis tests) is to protect</a:t>
            </a:r>
          </a:p>
          <a:p>
            <a:pPr algn="just"/>
            <a:r>
              <a:rPr lang="en-US" dirty="0" smtClean="0">
                <a:latin typeface="Times New Roman" pitchFamily="18" charset="0"/>
                <a:cs typeface="Times New Roman" pitchFamily="18" charset="0"/>
              </a:rPr>
              <a:t>against being fooled by random chance; thus they are typically structured to minimize</a:t>
            </a:r>
          </a:p>
          <a:p>
            <a:pPr algn="just"/>
            <a:r>
              <a:rPr lang="en-US" dirty="0" smtClean="0">
                <a:latin typeface="Times New Roman" pitchFamily="18" charset="0"/>
                <a:cs typeface="Times New Roman" pitchFamily="18" charset="0"/>
              </a:rPr>
              <a:t>Type 1 errors.</a:t>
            </a:r>
            <a:endParaRPr lang="en-US"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74345"/>
            <a:ext cx="9144000" cy="5324535"/>
          </a:xfrm>
          <a:prstGeom prst="rect">
            <a:avLst/>
          </a:prstGeom>
        </p:spPr>
        <p:txBody>
          <a:bodyPr wrap="square">
            <a:spAutoFit/>
          </a:bodyPr>
          <a:lstStyle/>
          <a:p>
            <a:r>
              <a:rPr lang="en-US" sz="2000" b="1" dirty="0" smtClean="0">
                <a:latin typeface="Times New Roman" pitchFamily="18" charset="0"/>
                <a:cs typeface="Times New Roman" pitchFamily="18" charset="0"/>
              </a:rPr>
              <a:t>t-Tests</a:t>
            </a:r>
          </a:p>
          <a:p>
            <a:endParaRPr lang="en-US" sz="2000" b="1"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There are numerous types of significance tests, depending on whether the data comprises count data or measured data, how many samples there are, and what’s being measured. A very common one is the t-test, named after Student’s t-distribution, originally developed by W. S. </a:t>
            </a:r>
            <a:r>
              <a:rPr lang="en-US" sz="2000" dirty="0" err="1" smtClean="0">
                <a:latin typeface="Times New Roman" pitchFamily="18" charset="0"/>
                <a:cs typeface="Times New Roman" pitchFamily="18" charset="0"/>
              </a:rPr>
              <a:t>Gosset</a:t>
            </a:r>
            <a:r>
              <a:rPr lang="en-US" sz="2000" dirty="0" smtClean="0">
                <a:latin typeface="Times New Roman" pitchFamily="18" charset="0"/>
                <a:cs typeface="Times New Roman" pitchFamily="18" charset="0"/>
              </a:rPr>
              <a:t> to approximate the distribution of a single sample</a:t>
            </a:r>
          </a:p>
          <a:p>
            <a:pPr algn="just"/>
            <a:r>
              <a:rPr lang="en-US" sz="2000" dirty="0" smtClean="0">
                <a:latin typeface="Times New Roman" pitchFamily="18" charset="0"/>
                <a:cs typeface="Times New Roman" pitchFamily="18" charset="0"/>
              </a:rPr>
              <a:t>mean.</a:t>
            </a:r>
          </a:p>
          <a:p>
            <a:pPr algn="ctr"/>
            <a:r>
              <a:rPr lang="en-US" sz="2000" b="1" dirty="0" smtClean="0">
                <a:latin typeface="Times New Roman" pitchFamily="18" charset="0"/>
                <a:cs typeface="Times New Roman" pitchFamily="18" charset="0"/>
              </a:rPr>
              <a:t>Key Terms for t-Tests</a:t>
            </a:r>
          </a:p>
          <a:p>
            <a:r>
              <a:rPr lang="en-US" sz="2000" b="1" dirty="0" smtClean="0">
                <a:latin typeface="Times New Roman" pitchFamily="18" charset="0"/>
                <a:cs typeface="Times New Roman" pitchFamily="18" charset="0"/>
              </a:rPr>
              <a:t>Test statistic</a:t>
            </a:r>
          </a:p>
          <a:p>
            <a:r>
              <a:rPr lang="en-US" sz="2000" dirty="0" smtClean="0">
                <a:latin typeface="Times New Roman" pitchFamily="18" charset="0"/>
                <a:cs typeface="Times New Roman" pitchFamily="18" charset="0"/>
              </a:rPr>
              <a:t>A metric for the difference or effect of interest.</a:t>
            </a:r>
          </a:p>
          <a:p>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t-statistic</a:t>
            </a:r>
          </a:p>
          <a:p>
            <a:r>
              <a:rPr lang="en-US" sz="2000" dirty="0" smtClean="0">
                <a:latin typeface="Times New Roman" pitchFamily="18" charset="0"/>
                <a:cs typeface="Times New Roman" pitchFamily="18" charset="0"/>
              </a:rPr>
              <a:t>A standardized version of common test statistics such as means.</a:t>
            </a:r>
          </a:p>
          <a:p>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t-distribution</a:t>
            </a:r>
          </a:p>
          <a:p>
            <a:r>
              <a:rPr lang="en-US" sz="2000" dirty="0" smtClean="0">
                <a:latin typeface="Times New Roman" pitchFamily="18" charset="0"/>
                <a:cs typeface="Times New Roman" pitchFamily="18" charset="0"/>
              </a:rPr>
              <a:t>A reference distribution (in this case derived from the null hypothesis), to which the observed t-statistic can be compared.</a:t>
            </a:r>
            <a:endParaRPr lang="en-US" sz="20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57200"/>
            <a:ext cx="9144000" cy="4247317"/>
          </a:xfrm>
          <a:prstGeom prst="rect">
            <a:avLst/>
          </a:prstGeom>
        </p:spPr>
        <p:txBody>
          <a:bodyPr wrap="square">
            <a:spAutoFit/>
          </a:bodyPr>
          <a:lstStyle/>
          <a:p>
            <a:r>
              <a:rPr lang="en-US" dirty="0" smtClean="0">
                <a:latin typeface="Times New Roman" pitchFamily="18" charset="0"/>
                <a:cs typeface="Times New Roman" pitchFamily="18" charset="0"/>
              </a:rPr>
              <a:t>	In the 1920s and 1930s, when statistical hypothesis testing was being developed, it was not feasible to randomly shuffle data thousands of times to do a </a:t>
            </a:r>
            <a:r>
              <a:rPr lang="en-US" dirty="0" err="1" smtClean="0">
                <a:latin typeface="Times New Roman" pitchFamily="18" charset="0"/>
                <a:cs typeface="Times New Roman" pitchFamily="18" charset="0"/>
              </a:rPr>
              <a:t>resampling</a:t>
            </a:r>
            <a:r>
              <a:rPr lang="en-US" dirty="0" smtClean="0">
                <a:latin typeface="Times New Roman" pitchFamily="18" charset="0"/>
                <a:cs typeface="Times New Roman" pitchFamily="18" charset="0"/>
              </a:rPr>
              <a:t> test. Statisticians found that a good approximation to the permutation (shuffled) distribution was the t-test, based on </a:t>
            </a:r>
            <a:r>
              <a:rPr lang="en-US" dirty="0" err="1" smtClean="0">
                <a:latin typeface="Times New Roman" pitchFamily="18" charset="0"/>
                <a:cs typeface="Times New Roman" pitchFamily="18" charset="0"/>
              </a:rPr>
              <a:t>Gosset’s</a:t>
            </a:r>
            <a:r>
              <a:rPr lang="en-US" dirty="0" smtClean="0">
                <a:latin typeface="Times New Roman" pitchFamily="18" charset="0"/>
                <a:cs typeface="Times New Roman" pitchFamily="18" charset="0"/>
              </a:rPr>
              <a:t> t-distribution. It is used for the very common two-sample comparison—A/B test—in which the data is numeric. But in order for the t-distribution to be used without regard to scale, a standardized form of the test statistic must be used.</a:t>
            </a:r>
          </a:p>
          <a:p>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function </a:t>
            </a:r>
            <a:r>
              <a:rPr lang="en-US" dirty="0" err="1" smtClean="0">
                <a:latin typeface="Times New Roman" pitchFamily="18" charset="0"/>
                <a:cs typeface="Times New Roman" pitchFamily="18" charset="0"/>
              </a:rPr>
              <a:t>scipy.stats.ttest_ind</a:t>
            </a:r>
            <a:r>
              <a:rPr lang="en-US" dirty="0" smtClean="0">
                <a:latin typeface="Times New Roman" pitchFamily="18" charset="0"/>
                <a:cs typeface="Times New Roman" pitchFamily="18" charset="0"/>
              </a:rPr>
              <a:t> can be used in </a:t>
            </a:r>
            <a:r>
              <a:rPr lang="en-US" i="1" dirty="0" smtClean="0">
                <a:latin typeface="Times New Roman" pitchFamily="18" charset="0"/>
                <a:cs typeface="Times New Roman" pitchFamily="18" charset="0"/>
              </a:rPr>
              <a:t>Python:</a:t>
            </a:r>
          </a:p>
          <a:p>
            <a:endParaRPr lang="en-US" i="1"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res = </a:t>
            </a:r>
            <a:r>
              <a:rPr lang="en-US" dirty="0" err="1" smtClean="0">
                <a:latin typeface="Times New Roman" pitchFamily="18" charset="0"/>
                <a:cs typeface="Times New Roman" pitchFamily="18" charset="0"/>
              </a:rPr>
              <a:t>stats.ttest_ind</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session_times</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session_times.Page</a:t>
            </a:r>
            <a:r>
              <a:rPr lang="en-US" dirty="0" smtClean="0">
                <a:latin typeface="Times New Roman" pitchFamily="18" charset="0"/>
                <a:cs typeface="Times New Roman" pitchFamily="18" charset="0"/>
              </a:rPr>
              <a:t> == 'Page A'].Time,</a:t>
            </a:r>
          </a:p>
          <a:p>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session_times</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session_times.Page</a:t>
            </a:r>
            <a:r>
              <a:rPr lang="en-US" dirty="0" smtClean="0">
                <a:latin typeface="Times New Roman" pitchFamily="18" charset="0"/>
                <a:cs typeface="Times New Roman" pitchFamily="18" charset="0"/>
              </a:rPr>
              <a:t> == 'Page B'].Time,</a:t>
            </a:r>
          </a:p>
          <a:p>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equal_var</a:t>
            </a:r>
            <a:r>
              <a:rPr lang="en-US" dirty="0" smtClean="0">
                <a:latin typeface="Times New Roman" pitchFamily="18" charset="0"/>
                <a:cs typeface="Times New Roman" pitchFamily="18" charset="0"/>
              </a:rPr>
              <a:t>=False)</a:t>
            </a:r>
          </a:p>
          <a:p>
            <a:r>
              <a:rPr lang="en-US" b="1" dirty="0" smtClean="0">
                <a:latin typeface="Times New Roman" pitchFamily="18" charset="0"/>
                <a:cs typeface="Times New Roman" pitchFamily="18" charset="0"/>
              </a:rPr>
              <a:t>print(</a:t>
            </a:r>
            <a:r>
              <a:rPr lang="en-US" b="1" dirty="0" err="1" smtClean="0">
                <a:latin typeface="Times New Roman" pitchFamily="18" charset="0"/>
                <a:cs typeface="Times New Roman" pitchFamily="18" charset="0"/>
              </a:rPr>
              <a:t>f'p</a:t>
            </a:r>
            <a:r>
              <a:rPr lang="en-US" b="1" dirty="0" smtClean="0">
                <a:latin typeface="Times New Roman" pitchFamily="18" charset="0"/>
                <a:cs typeface="Times New Roman" pitchFamily="18" charset="0"/>
              </a:rPr>
              <a:t>-value for single sided test: {</a:t>
            </a:r>
            <a:r>
              <a:rPr lang="en-US" b="1" dirty="0" err="1" smtClean="0">
                <a:latin typeface="Times New Roman" pitchFamily="18" charset="0"/>
                <a:cs typeface="Times New Roman" pitchFamily="18" charset="0"/>
              </a:rPr>
              <a:t>res.pvalue</a:t>
            </a:r>
            <a:r>
              <a:rPr lang="en-US" b="1" dirty="0" smtClean="0">
                <a:latin typeface="Times New Roman" pitchFamily="18" charset="0"/>
                <a:cs typeface="Times New Roman" pitchFamily="18" charset="0"/>
              </a:rPr>
              <a:t> / 2:.4f}')</a:t>
            </a:r>
            <a:endParaRPr lang="en-US" dirty="0" smtClean="0">
              <a:latin typeface="Times New Roman" pitchFamily="18" charset="0"/>
              <a:cs typeface="Times New Roman" pitchFamily="18" charset="0"/>
            </a:endParaRPr>
          </a:p>
          <a:p>
            <a:endParaRPr lang="en-IN" dirty="0" smtClean="0"/>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247317"/>
          </a:xfrm>
          <a:prstGeom prst="rect">
            <a:avLst/>
          </a:prstGeom>
        </p:spPr>
        <p:txBody>
          <a:bodyPr wrap="square">
            <a:spAutoFit/>
          </a:bodyPr>
          <a:lstStyle/>
          <a:p>
            <a:pPr marL="342900" indent="-342900" algn="just">
              <a:buAutoNum type="arabicPeriod"/>
            </a:pPr>
            <a:r>
              <a:rPr lang="en-US" dirty="0" smtClean="0">
                <a:latin typeface="Times New Roman" pitchFamily="18" charset="0"/>
                <a:cs typeface="Times New Roman" pitchFamily="18" charset="0"/>
              </a:rPr>
              <a:t>P-values can indicate how incompatible the data are with a specified statistical model.</a:t>
            </a:r>
          </a:p>
          <a:p>
            <a:pPr marL="342900" indent="-342900"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2. P-values do not measure the probability that the studied hypothesis is true, or the probability that the data were produced by random chance alone.</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3. Scientific conclusions and business or policy decisions should not be based only on whether a p-value passes a specific threshold.</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4. Proper inference requires full reporting and transparency.</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5. A p-value, or statistical significance, does not measure the size of an effect or the importance of a result.</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6. By itself, a p-value does not provide a good measure of evidence regarding a model or hypothesis.</a:t>
            </a:r>
            <a:endParaRPr lang="en-US"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801314"/>
          </a:xfrm>
          <a:prstGeom prst="rect">
            <a:avLst/>
          </a:prstGeom>
        </p:spPr>
        <p:txBody>
          <a:bodyPr wrap="square">
            <a:spAutoFit/>
          </a:bodyPr>
          <a:lstStyle/>
          <a:p>
            <a:endParaRPr lang="en-US" dirty="0" smtClean="0"/>
          </a:p>
          <a:p>
            <a:pPr algn="just"/>
            <a:r>
              <a:rPr lang="en-US" b="1" dirty="0" smtClean="0">
                <a:latin typeface="Times New Roman" pitchFamily="18" charset="0"/>
                <a:cs typeface="Times New Roman" pitchFamily="18" charset="0"/>
              </a:rPr>
              <a:t>Multiple Testing</a:t>
            </a:r>
          </a:p>
          <a:p>
            <a:pPr algn="just"/>
            <a:endParaRPr lang="en-US" b="1"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As we’ve mentioned previously, there is a saying in statistics: “Torture the data long enough, and it will confess.” This means that if you look at the data through enough different perspectives and ask enough questions, you almost invariably will find a statistically significant effect.</a:t>
            </a:r>
          </a:p>
          <a:p>
            <a:pPr algn="just"/>
            <a:endParaRPr lang="en-IN"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For example, if you have 20 predictor variables and one outcome variable, all randomly generated, the odds are pretty good that at least one predictor will (falsely) turn out to be statistically significant if you do a series of 20 significance tests at the alpha = 0.05 level. As previously discussed, this is called a Type 1 error. You can calculate this probability by first finding the probability that all will correctly test </a:t>
            </a:r>
            <a:r>
              <a:rPr lang="en-US" dirty="0" err="1" smtClean="0">
                <a:latin typeface="Times New Roman" pitchFamily="18" charset="0"/>
                <a:cs typeface="Times New Roman" pitchFamily="18" charset="0"/>
              </a:rPr>
              <a:t>nonsignificant</a:t>
            </a:r>
            <a:r>
              <a:rPr lang="en-US" dirty="0" smtClean="0">
                <a:latin typeface="Times New Roman" pitchFamily="18" charset="0"/>
                <a:cs typeface="Times New Roman" pitchFamily="18" charset="0"/>
              </a:rPr>
              <a:t> at the 0.05 level. The probability that one will correctly test </a:t>
            </a:r>
            <a:r>
              <a:rPr lang="en-US" dirty="0" err="1" smtClean="0">
                <a:latin typeface="Times New Roman" pitchFamily="18" charset="0"/>
                <a:cs typeface="Times New Roman" pitchFamily="18" charset="0"/>
              </a:rPr>
              <a:t>nonsignificant</a:t>
            </a:r>
            <a:r>
              <a:rPr lang="en-US" dirty="0" smtClean="0">
                <a:latin typeface="Times New Roman" pitchFamily="18" charset="0"/>
                <a:cs typeface="Times New Roman" pitchFamily="18" charset="0"/>
              </a:rPr>
              <a:t> is 0.95, so the probability that all 20 will correctly test </a:t>
            </a:r>
            <a:r>
              <a:rPr lang="en-US" dirty="0" err="1" smtClean="0">
                <a:latin typeface="Times New Roman" pitchFamily="18" charset="0"/>
                <a:cs typeface="Times New Roman" pitchFamily="18" charset="0"/>
              </a:rPr>
              <a:t>nonsignificant</a:t>
            </a:r>
            <a:r>
              <a:rPr lang="en-US" dirty="0" smtClean="0">
                <a:latin typeface="Times New Roman" pitchFamily="18" charset="0"/>
                <a:cs typeface="Times New Roman" pitchFamily="18" charset="0"/>
              </a:rPr>
              <a:t> is 0.95 × 0.95 × 0.95…, or 0.9520 = 0.36.1 The probability that at least one predictor will (falsely) test significant is the flip side of this probability, or 1 – (probability that all will be </a:t>
            </a:r>
            <a:r>
              <a:rPr lang="en-US" dirty="0" err="1" smtClean="0">
                <a:latin typeface="Times New Roman" pitchFamily="18" charset="0"/>
                <a:cs typeface="Times New Roman" pitchFamily="18" charset="0"/>
              </a:rPr>
              <a:t>nonsignificant</a:t>
            </a:r>
            <a:r>
              <a:rPr lang="en-US" dirty="0" smtClean="0">
                <a:latin typeface="Times New Roman" pitchFamily="18" charset="0"/>
                <a:cs typeface="Times New Roman" pitchFamily="18" charset="0"/>
              </a:rPr>
              <a:t>) = 0.64. This is known as alpha inflation.</a:t>
            </a:r>
            <a:endParaRPr lang="en-US"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09600"/>
            <a:ext cx="9144000" cy="4801314"/>
          </a:xfrm>
          <a:prstGeom prst="rect">
            <a:avLst/>
          </a:prstGeom>
        </p:spPr>
        <p:txBody>
          <a:bodyPr wrap="square">
            <a:spAutoFit/>
          </a:bodyPr>
          <a:lstStyle/>
          <a:p>
            <a:pPr algn="ctr"/>
            <a:r>
              <a:rPr lang="en-US" b="1" dirty="0" smtClean="0">
                <a:latin typeface="Times New Roman" pitchFamily="18" charset="0"/>
                <a:cs typeface="Times New Roman" pitchFamily="18" charset="0"/>
              </a:rPr>
              <a:t>Key Terms for Multiple Testing</a:t>
            </a:r>
          </a:p>
          <a:p>
            <a:pPr algn="ctr"/>
            <a:endParaRPr lang="en-US" b="1"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Type 1 error</a:t>
            </a:r>
          </a:p>
          <a:p>
            <a:r>
              <a:rPr lang="en-US" dirty="0" smtClean="0">
                <a:latin typeface="Times New Roman" pitchFamily="18" charset="0"/>
                <a:cs typeface="Times New Roman" pitchFamily="18" charset="0"/>
              </a:rPr>
              <a:t>Mistakenly concluding that an effect is statistically significant.</a:t>
            </a:r>
          </a:p>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False discovery rate</a:t>
            </a:r>
          </a:p>
          <a:p>
            <a:r>
              <a:rPr lang="en-US" dirty="0" smtClean="0">
                <a:latin typeface="Times New Roman" pitchFamily="18" charset="0"/>
                <a:cs typeface="Times New Roman" pitchFamily="18" charset="0"/>
              </a:rPr>
              <a:t>Across multiple tests, the rate of making a Type 1 error.</a:t>
            </a:r>
          </a:p>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Alpha inflation</a:t>
            </a:r>
          </a:p>
          <a:p>
            <a:r>
              <a:rPr lang="en-US" dirty="0" smtClean="0">
                <a:latin typeface="Times New Roman" pitchFamily="18" charset="0"/>
                <a:cs typeface="Times New Roman" pitchFamily="18" charset="0"/>
              </a:rPr>
              <a:t>The multiple testing phenomenon, in which alpha, the probability of making a Type 1 error, increases as you conduct more tests.</a:t>
            </a:r>
          </a:p>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Adjustment of p-values</a:t>
            </a:r>
          </a:p>
          <a:p>
            <a:r>
              <a:rPr lang="en-US" dirty="0" smtClean="0">
                <a:latin typeface="Times New Roman" pitchFamily="18" charset="0"/>
                <a:cs typeface="Times New Roman" pitchFamily="18" charset="0"/>
              </a:rPr>
              <a:t>Accounting for doing multiple tests on the same data.</a:t>
            </a:r>
          </a:p>
          <a:p>
            <a:endParaRPr lang="en-US" dirty="0" smtClean="0">
              <a:latin typeface="Times New Roman" pitchFamily="18" charset="0"/>
              <a:cs typeface="Times New Roman" pitchFamily="18" charset="0"/>
            </a:endParaRPr>
          </a:p>
          <a:p>
            <a:r>
              <a:rPr lang="en-US" b="1" dirty="0" err="1" smtClean="0">
                <a:latin typeface="Times New Roman" pitchFamily="18" charset="0"/>
                <a:cs typeface="Times New Roman" pitchFamily="18" charset="0"/>
              </a:rPr>
              <a:t>Overfitting</a:t>
            </a:r>
            <a:endParaRPr lang="en-US" b="1"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Fitting the noise.</a:t>
            </a:r>
            <a:endParaRPr lang="en-US"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740307"/>
          </a:xfrm>
          <a:prstGeom prst="rect">
            <a:avLst/>
          </a:prstGeom>
        </p:spPr>
        <p:txBody>
          <a:bodyPr wrap="square">
            <a:spAutoFit/>
          </a:bodyPr>
          <a:lstStyle/>
          <a:p>
            <a:r>
              <a:rPr lang="en-US" dirty="0" smtClean="0"/>
              <a:t>	</a:t>
            </a: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In statistics, there are some procedures intended to deal with this problem in very specific circumstances. For example, if you are comparing results across multiple treatment groups, you might ask multiple questions. So, for treatments A–C, you might ask:</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Is A different from B?</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Is B different from C?</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Is A different from C?</a:t>
            </a:r>
          </a:p>
          <a:p>
            <a:pPr algn="just"/>
            <a:endParaRPr lang="en-IN" dirty="0" smtClean="0">
              <a:latin typeface="Times New Roman" pitchFamily="18" charset="0"/>
              <a:cs typeface="Times New Roman" pitchFamily="18" charset="0"/>
            </a:endParaRPr>
          </a:p>
          <a:p>
            <a:r>
              <a:rPr lang="en-US" dirty="0" smtClean="0"/>
              <a:t>• Checking for multiple </a:t>
            </a:r>
            <a:r>
              <a:rPr lang="en-US" dirty="0" err="1" smtClean="0"/>
              <a:t>pairwise</a:t>
            </a:r>
            <a:r>
              <a:rPr lang="en-US" dirty="0" smtClean="0"/>
              <a:t> differences across groups.</a:t>
            </a:r>
          </a:p>
          <a:p>
            <a:endParaRPr lang="en-US" dirty="0" smtClean="0"/>
          </a:p>
          <a:p>
            <a:r>
              <a:rPr lang="en-US" dirty="0" smtClean="0"/>
              <a:t>• Looking at multiple subgroup results (“we found no significant treatment effect overall, but we did find an effect for unmarried women younger than 30”).</a:t>
            </a:r>
          </a:p>
          <a:p>
            <a:endParaRPr lang="en-US" dirty="0" smtClean="0"/>
          </a:p>
          <a:p>
            <a:r>
              <a:rPr lang="en-US" dirty="0" smtClean="0"/>
              <a:t>• Trying lots of statistical models.</a:t>
            </a:r>
          </a:p>
          <a:p>
            <a:endParaRPr lang="en-US" dirty="0" smtClean="0"/>
          </a:p>
          <a:p>
            <a:r>
              <a:rPr lang="en-US" dirty="0" smtClean="0"/>
              <a:t>• Including lots of variables in models.</a:t>
            </a:r>
          </a:p>
          <a:p>
            <a:endParaRPr lang="en-US" dirty="0" smtClean="0"/>
          </a:p>
          <a:p>
            <a:r>
              <a:rPr lang="en-US" dirty="0" smtClean="0"/>
              <a:t>• Asking a number of different questions (i.e., different possible outcomes)</a:t>
            </a:r>
          </a:p>
          <a:p>
            <a:endParaRPr lang="en-US" dirty="0">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909310"/>
          </a:xfrm>
          <a:prstGeom prst="rect">
            <a:avLst/>
          </a:prstGeom>
        </p:spPr>
        <p:txBody>
          <a:bodyPr wrap="square">
            <a:spAutoFit/>
          </a:bodyPr>
          <a:lstStyle/>
          <a:p>
            <a:pPr algn="just"/>
            <a:r>
              <a:rPr lang="en-US" b="1" dirty="0" smtClean="0">
                <a:latin typeface="Times New Roman" pitchFamily="18" charset="0"/>
                <a:cs typeface="Times New Roman" pitchFamily="18" charset="0"/>
              </a:rPr>
              <a:t>Degrees of Freedom</a:t>
            </a:r>
          </a:p>
          <a:p>
            <a:pPr algn="just"/>
            <a:endParaRPr lang="en-US" b="1"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In the documentation and settings for many statistical tests and probability distributions, you will see a reference to “degrees of freedom.” The concept is applied to statistics calculated from sample data, and refers to the number of values free to vary. For example, if you know the mean for a sample of 10 values, there are 9 degrees of freedom (once you know 9 of the sample values, the 10th can be calculated and is not free to vary). The degrees of freedom parameter, as applied to many probability distributions, affects the shape of the distribution.</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The number of degrees of freedom is an input to many statistical tests. For example, degrees of freedom is the name given to the n – 1 denominator seen in the calculations for variance and standard deviation. Why does it matter? When you use a sample to estimate the variance for a population, you will end up with an estimate that is slightly biased downward if you use n in the denominator. If you use n – 1 in the denominator, the estimate will be free of that bias.</a:t>
            </a:r>
          </a:p>
          <a:p>
            <a:pPr algn="just"/>
            <a:endParaRPr lang="en-IN" dirty="0" smtClean="0">
              <a:latin typeface="Times New Roman" pitchFamily="18" charset="0"/>
              <a:cs typeface="Times New Roman" pitchFamily="18" charset="0"/>
            </a:endParaRPr>
          </a:p>
          <a:p>
            <a:pPr algn="ctr"/>
            <a:r>
              <a:rPr lang="en-US" b="1" dirty="0" smtClean="0">
                <a:latin typeface="Times New Roman" pitchFamily="18" charset="0"/>
                <a:cs typeface="Times New Roman" pitchFamily="18" charset="0"/>
              </a:rPr>
              <a:t>Key Terms for Degrees of Freedom</a:t>
            </a:r>
          </a:p>
          <a:p>
            <a:pPr algn="just"/>
            <a:r>
              <a:rPr lang="en-US" b="1" dirty="0" smtClean="0">
                <a:latin typeface="Times New Roman" pitchFamily="18" charset="0"/>
                <a:cs typeface="Times New Roman" pitchFamily="18" charset="0"/>
              </a:rPr>
              <a:t>n or sample size</a:t>
            </a:r>
          </a:p>
          <a:p>
            <a:pPr algn="just"/>
            <a:r>
              <a:rPr lang="en-US" dirty="0" smtClean="0">
                <a:latin typeface="Times New Roman" pitchFamily="18" charset="0"/>
                <a:cs typeface="Times New Roman" pitchFamily="18" charset="0"/>
              </a:rPr>
              <a:t>The number of observations (also called rows or records) in the data.</a:t>
            </a:r>
          </a:p>
          <a:p>
            <a:pPr algn="just"/>
            <a:r>
              <a:rPr lang="en-US" b="1" dirty="0" err="1" smtClean="0">
                <a:latin typeface="Times New Roman" pitchFamily="18" charset="0"/>
                <a:cs typeface="Times New Roman" pitchFamily="18" charset="0"/>
              </a:rPr>
              <a:t>d.f</a:t>
            </a:r>
            <a:r>
              <a:rPr lang="en-US" b="1"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Degrees of freedom.</a:t>
            </a:r>
            <a:endParaRPr lang="en-US"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52400"/>
            <a:ext cx="9144000" cy="5632311"/>
          </a:xfrm>
          <a:prstGeom prst="rect">
            <a:avLst/>
          </a:prstGeom>
        </p:spPr>
        <p:txBody>
          <a:bodyPr wrap="square">
            <a:spAutoFit/>
          </a:bodyPr>
          <a:lstStyle/>
          <a:p>
            <a:pPr algn="just"/>
            <a:r>
              <a:rPr lang="en-US" dirty="0" smtClean="0">
                <a:latin typeface="Times New Roman" pitchFamily="18" charset="0"/>
                <a:cs typeface="Times New Roman" pitchFamily="18" charset="0"/>
              </a:rPr>
              <a:t>	A large share of a traditional statistics course or text is consumed by various standard tests of hypotheses (t-test, F-test, etc.). When sample statistics are standardized for use in traditional statistical formulas, degrees of freedom is part of the standardization calculation to ensure that your standardized data matches the appropriate reference distribution (t-distribution, F-distribution, etc.).</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Is it important for data science? Not really, at least in the context of significance testing.</a:t>
            </a:r>
          </a:p>
          <a:p>
            <a:pPr algn="just"/>
            <a:r>
              <a:rPr lang="en-US" dirty="0" smtClean="0">
                <a:latin typeface="Times New Roman" pitchFamily="18" charset="0"/>
                <a:cs typeface="Times New Roman" pitchFamily="18" charset="0"/>
              </a:rPr>
              <a:t>For one thing, formal statistical tests are used only sparingly in data science. For another, the data size is usually large enough that it rarely makes a real difference for a data scientist whether, for example, the denominator has n or n – 1. (As n gets large, the bias that would come from using n in the denominator disappears.)</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There is one context, though, in which it is relevant: the use of factored variables in regression (including logistic regression). Some regression algorithms choke if exactly redundant predictor variables are present. This most commonly occurs when factoring categorical variables into binary indicators (dummies). Consider the variable “day of week.” Although there are seven days of the week, there are only six degrees of freedom in specifying day of week. For example, once you know that day of week is not Monday through Saturday, you know it must be Sunday. Inclusion of the Mon–Sat indicators thus means that also including Sunday would cause the</a:t>
            </a:r>
          </a:p>
          <a:p>
            <a:pPr algn="just"/>
            <a:r>
              <a:rPr lang="en-US" dirty="0" smtClean="0">
                <a:latin typeface="Times New Roman" pitchFamily="18" charset="0"/>
                <a:cs typeface="Times New Roman" pitchFamily="18" charset="0"/>
              </a:rPr>
              <a:t>regression to fail, due to a </a:t>
            </a:r>
            <a:r>
              <a:rPr lang="en-US" dirty="0" err="1" smtClean="0">
                <a:latin typeface="Times New Roman" pitchFamily="18" charset="0"/>
                <a:cs typeface="Times New Roman" pitchFamily="18" charset="0"/>
              </a:rPr>
              <a:t>multicollinearity</a:t>
            </a:r>
            <a:r>
              <a:rPr lang="en-US" dirty="0" smtClean="0">
                <a:latin typeface="Times New Roman" pitchFamily="18" charset="0"/>
                <a:cs typeface="Times New Roman" pitchFamily="18" charset="0"/>
              </a:rPr>
              <a:t> error.</a:t>
            </a:r>
            <a:endParaRPr lang="en-US"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8600"/>
            <a:ext cx="9144000" cy="6463308"/>
          </a:xfrm>
          <a:prstGeom prst="rect">
            <a:avLst/>
          </a:prstGeom>
        </p:spPr>
        <p:txBody>
          <a:bodyPr wrap="square">
            <a:spAutoFit/>
          </a:bodyPr>
          <a:lstStyle/>
          <a:p>
            <a:r>
              <a:rPr lang="en-US" b="1" dirty="0" smtClean="0">
                <a:latin typeface="Times New Roman" pitchFamily="18" charset="0"/>
                <a:cs typeface="Times New Roman" pitchFamily="18" charset="0"/>
              </a:rPr>
              <a:t>ANOVA</a:t>
            </a:r>
          </a:p>
          <a:p>
            <a:endParaRPr lang="en-US" b="1"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	Suppose that, instead of an A/B test, we had a comparison of multiple groups, say A/B/C/D, each with numeric data. The statistical procedure that tests for a statistically significant difference among the groups is called analysis of variance, or ANOVA.</a:t>
            </a:r>
          </a:p>
          <a:p>
            <a:endParaRPr lang="en-US" dirty="0" smtClean="0">
              <a:latin typeface="Times New Roman" pitchFamily="18" charset="0"/>
              <a:cs typeface="Times New Roman" pitchFamily="18" charset="0"/>
            </a:endParaRPr>
          </a:p>
          <a:p>
            <a:pPr algn="ctr"/>
            <a:r>
              <a:rPr lang="en-US" b="1" dirty="0" smtClean="0">
                <a:latin typeface="Times New Roman" pitchFamily="18" charset="0"/>
                <a:cs typeface="Times New Roman" pitchFamily="18" charset="0"/>
              </a:rPr>
              <a:t>Key Terms for ANOVA</a:t>
            </a:r>
          </a:p>
          <a:p>
            <a:r>
              <a:rPr lang="en-US" b="1" dirty="0" err="1" smtClean="0">
                <a:latin typeface="Times New Roman" pitchFamily="18" charset="0"/>
                <a:cs typeface="Times New Roman" pitchFamily="18" charset="0"/>
              </a:rPr>
              <a:t>Pairwise</a:t>
            </a:r>
            <a:r>
              <a:rPr lang="en-US" b="1" dirty="0" smtClean="0">
                <a:latin typeface="Times New Roman" pitchFamily="18" charset="0"/>
                <a:cs typeface="Times New Roman" pitchFamily="18" charset="0"/>
              </a:rPr>
              <a:t> comparison</a:t>
            </a:r>
          </a:p>
          <a:p>
            <a:r>
              <a:rPr lang="en-US" dirty="0" smtClean="0">
                <a:latin typeface="Times New Roman" pitchFamily="18" charset="0"/>
                <a:cs typeface="Times New Roman" pitchFamily="18" charset="0"/>
              </a:rPr>
              <a:t>A hypothesis test (e.g., of means) between two groups among multiple groups.</a:t>
            </a:r>
          </a:p>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Omnibus test</a:t>
            </a:r>
          </a:p>
          <a:p>
            <a:r>
              <a:rPr lang="en-US" dirty="0" smtClean="0">
                <a:latin typeface="Times New Roman" pitchFamily="18" charset="0"/>
                <a:cs typeface="Times New Roman" pitchFamily="18" charset="0"/>
              </a:rPr>
              <a:t>A single hypothesis test of the overall variance among multiple group means.</a:t>
            </a:r>
          </a:p>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Decomposition of variance</a:t>
            </a:r>
          </a:p>
          <a:p>
            <a:r>
              <a:rPr lang="en-US" dirty="0" smtClean="0">
                <a:latin typeface="Times New Roman" pitchFamily="18" charset="0"/>
                <a:cs typeface="Times New Roman" pitchFamily="18" charset="0"/>
              </a:rPr>
              <a:t>Separation of components contributing to an individual value (e.g., from the overall average, from a treatment mean, and from a residual error).</a:t>
            </a:r>
          </a:p>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F-statistic</a:t>
            </a:r>
          </a:p>
          <a:p>
            <a:r>
              <a:rPr lang="en-US" dirty="0" smtClean="0">
                <a:latin typeface="Times New Roman" pitchFamily="18" charset="0"/>
                <a:cs typeface="Times New Roman" pitchFamily="18" charset="0"/>
              </a:rPr>
              <a:t>A standardized statistic that measures the extent to which differences among</a:t>
            </a:r>
          </a:p>
          <a:p>
            <a:r>
              <a:rPr lang="en-US" dirty="0" smtClean="0">
                <a:latin typeface="Times New Roman" pitchFamily="18" charset="0"/>
                <a:cs typeface="Times New Roman" pitchFamily="18" charset="0"/>
              </a:rPr>
              <a:t>group means exceed what might be expected in a chance model.</a:t>
            </a:r>
          </a:p>
          <a:p>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SS</a:t>
            </a:r>
          </a:p>
          <a:p>
            <a:r>
              <a:rPr lang="en-US" dirty="0" smtClean="0">
                <a:latin typeface="Times New Roman" pitchFamily="18" charset="0"/>
                <a:cs typeface="Times New Roman" pitchFamily="18" charset="0"/>
              </a:rPr>
              <a:t>“Sum of squares,” referring to deviations from some average value.</a:t>
            </a:r>
            <a:endParaRPr lang="en-US"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35846"/>
            <a:ext cx="9144000" cy="6186309"/>
          </a:xfrm>
          <a:prstGeom prst="rect">
            <a:avLst/>
          </a:prstGeom>
        </p:spPr>
        <p:txBody>
          <a:bodyPr wrap="square">
            <a:spAutoFit/>
          </a:bodyPr>
          <a:lstStyle/>
          <a:p>
            <a:pPr algn="just"/>
            <a:r>
              <a:rPr lang="en-US" b="1" dirty="0" smtClean="0">
                <a:latin typeface="Times New Roman" pitchFamily="18" charset="0"/>
                <a:cs typeface="Times New Roman" pitchFamily="18" charset="0"/>
              </a:rPr>
              <a:t>Table 3-3 </a:t>
            </a:r>
            <a:r>
              <a:rPr lang="en-US" dirty="0" smtClean="0">
                <a:latin typeface="Times New Roman" pitchFamily="18" charset="0"/>
                <a:cs typeface="Times New Roman" pitchFamily="18" charset="0"/>
              </a:rPr>
              <a:t>shows the stickiness of four web pages, defined as the number of seconds a visitor spent on the page. The four pages are switched out so that each web visitor receives one at random. There are a total of five visitors for each page, and in </a:t>
            </a:r>
            <a:r>
              <a:rPr lang="en-US" b="1" dirty="0" smtClean="0">
                <a:latin typeface="Times New Roman" pitchFamily="18" charset="0"/>
                <a:cs typeface="Times New Roman" pitchFamily="18" charset="0"/>
              </a:rPr>
              <a:t>Table 3-3</a:t>
            </a:r>
            <a:r>
              <a:rPr lang="en-US" dirty="0" smtClean="0">
                <a:latin typeface="Times New Roman" pitchFamily="18" charset="0"/>
                <a:cs typeface="Times New Roman" pitchFamily="18" charset="0"/>
              </a:rPr>
              <a:t>, each column is an independent set of data. The first viewer for page 1 has no connection to the first viewer for page 2. Note that in a web test like this, we cannot fully implement the classic randomized sampling design in which each visitor is selected at random from some huge population. We must take the visitors as they come. Visitors may systematically differ depending on time of day, time of week, season of the year, conditions of their internet, what device they are using, and so on.</a:t>
            </a:r>
          </a:p>
          <a:p>
            <a:pPr algn="just"/>
            <a:r>
              <a:rPr lang="en-US" dirty="0" smtClean="0">
                <a:latin typeface="Times New Roman" pitchFamily="18" charset="0"/>
                <a:cs typeface="Times New Roman" pitchFamily="18" charset="0"/>
              </a:rPr>
              <a:t>These factors should be considered as potential bias when the experiment results are</a:t>
            </a:r>
          </a:p>
          <a:p>
            <a:pPr algn="just"/>
            <a:r>
              <a:rPr lang="en-US" dirty="0" smtClean="0">
                <a:latin typeface="Times New Roman" pitchFamily="18" charset="0"/>
                <a:cs typeface="Times New Roman" pitchFamily="18" charset="0"/>
              </a:rPr>
              <a:t>reviewed.</a:t>
            </a:r>
          </a:p>
          <a:p>
            <a:pPr algn="just"/>
            <a:endParaRPr lang="en-US" dirty="0" smtClean="0">
              <a:latin typeface="Times New Roman" pitchFamily="18" charset="0"/>
              <a:cs typeface="Times New Roman" pitchFamily="18" charset="0"/>
            </a:endParaRPr>
          </a:p>
          <a:p>
            <a:pPr algn="just"/>
            <a:r>
              <a:rPr lang="en-US" b="1" i="1" dirty="0" smtClean="0">
                <a:latin typeface="Times New Roman" pitchFamily="18" charset="0"/>
                <a:cs typeface="Times New Roman" pitchFamily="18" charset="0"/>
              </a:rPr>
              <a:t>Table 3-3. Stickiness (in seconds) of four web pages</a:t>
            </a:r>
          </a:p>
          <a:p>
            <a:pPr algn="just"/>
            <a:endParaRPr lang="en-US" b="1" i="1" dirty="0" smtClean="0">
              <a:latin typeface="Times New Roman" pitchFamily="18" charset="0"/>
              <a:cs typeface="Times New Roman" pitchFamily="18" charset="0"/>
            </a:endParaRPr>
          </a:p>
          <a:p>
            <a:pPr algn="just"/>
            <a:r>
              <a:rPr lang="fr-FR" dirty="0" smtClean="0">
                <a:latin typeface="Times New Roman" pitchFamily="18" charset="0"/>
                <a:cs typeface="Times New Roman" pitchFamily="18" charset="0"/>
              </a:rPr>
              <a:t>                          Page 1       Page 2     Page 3    Page 4</a:t>
            </a:r>
          </a:p>
          <a:p>
            <a:pPr algn="just"/>
            <a:r>
              <a:rPr lang="en-US" dirty="0" smtClean="0">
                <a:latin typeface="Times New Roman" pitchFamily="18" charset="0"/>
                <a:cs typeface="Times New Roman" pitchFamily="18" charset="0"/>
              </a:rPr>
              <a:t>                           164            178          175          155</a:t>
            </a:r>
          </a:p>
          <a:p>
            <a:pPr algn="just"/>
            <a:r>
              <a:rPr lang="en-US" dirty="0" smtClean="0">
                <a:latin typeface="Times New Roman" pitchFamily="18" charset="0"/>
                <a:cs typeface="Times New Roman" pitchFamily="18" charset="0"/>
              </a:rPr>
              <a:t>                           172            191          193          166</a:t>
            </a:r>
          </a:p>
          <a:p>
            <a:pPr algn="just"/>
            <a:r>
              <a:rPr lang="en-US" dirty="0" smtClean="0">
                <a:latin typeface="Times New Roman" pitchFamily="18" charset="0"/>
                <a:cs typeface="Times New Roman" pitchFamily="18" charset="0"/>
              </a:rPr>
              <a:t>                           177            182          171          164</a:t>
            </a:r>
          </a:p>
          <a:p>
            <a:pPr algn="just"/>
            <a:r>
              <a:rPr lang="en-US" dirty="0" smtClean="0">
                <a:latin typeface="Times New Roman" pitchFamily="18" charset="0"/>
                <a:cs typeface="Times New Roman" pitchFamily="18" charset="0"/>
              </a:rPr>
              <a:t>                          156            185          163          170</a:t>
            </a:r>
          </a:p>
          <a:p>
            <a:pPr algn="just"/>
            <a:r>
              <a:rPr lang="en-US" dirty="0" smtClean="0">
                <a:latin typeface="Times New Roman" pitchFamily="18" charset="0"/>
                <a:cs typeface="Times New Roman" pitchFamily="18" charset="0"/>
              </a:rPr>
              <a:t>                          195            177          176          168</a:t>
            </a:r>
          </a:p>
          <a:p>
            <a:pPr algn="just"/>
            <a:r>
              <a:rPr lang="en-US" dirty="0" smtClean="0">
                <a:latin typeface="Times New Roman" pitchFamily="18" charset="0"/>
                <a:cs typeface="Times New Roman" pitchFamily="18" charset="0"/>
              </a:rPr>
              <a:t>Average           172             185         176           162</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Grand average                                                   173.75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81000"/>
            <a:ext cx="9144000" cy="2862322"/>
          </a:xfrm>
          <a:prstGeom prst="rect">
            <a:avLst/>
          </a:prstGeom>
        </p:spPr>
        <p:txBody>
          <a:bodyPr wrap="square">
            <a:spAutoFit/>
          </a:bodyPr>
          <a:lstStyle/>
          <a:p>
            <a:r>
              <a:rPr lang="en-US" dirty="0" smtClean="0">
                <a:latin typeface="Times New Roman" pitchFamily="18" charset="0"/>
                <a:cs typeface="Times New Roman" pitchFamily="18" charset="0"/>
              </a:rPr>
              <a:t>Now we have a conundrum (see Figure 3-6). When we were comparing just two groups, it was a simple matter; we merely looked at the difference between the means of each group. With four means, there are six possible comparisons between groups:</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 Page 1 compared to page 2</a:t>
            </a:r>
          </a:p>
          <a:p>
            <a:r>
              <a:rPr lang="en-US" dirty="0" smtClean="0">
                <a:latin typeface="Times New Roman" pitchFamily="18" charset="0"/>
                <a:cs typeface="Times New Roman" pitchFamily="18" charset="0"/>
              </a:rPr>
              <a:t>• Page 1 compared to page 3</a:t>
            </a:r>
          </a:p>
          <a:p>
            <a:r>
              <a:rPr lang="en-US" dirty="0" smtClean="0">
                <a:latin typeface="Times New Roman" pitchFamily="18" charset="0"/>
                <a:cs typeface="Times New Roman" pitchFamily="18" charset="0"/>
              </a:rPr>
              <a:t>• Page 1 compared to page 4</a:t>
            </a:r>
          </a:p>
          <a:p>
            <a:r>
              <a:rPr lang="en-US" dirty="0" smtClean="0">
                <a:latin typeface="Times New Roman" pitchFamily="18" charset="0"/>
                <a:cs typeface="Times New Roman" pitchFamily="18" charset="0"/>
              </a:rPr>
              <a:t>• Page 2 compared to page 3</a:t>
            </a:r>
          </a:p>
          <a:p>
            <a:r>
              <a:rPr lang="en-US" dirty="0" smtClean="0">
                <a:latin typeface="Times New Roman" pitchFamily="18" charset="0"/>
                <a:cs typeface="Times New Roman" pitchFamily="18" charset="0"/>
              </a:rPr>
              <a:t>• Page 2 compared to page 4</a:t>
            </a:r>
          </a:p>
          <a:p>
            <a:r>
              <a:rPr lang="en-US" dirty="0" smtClean="0">
                <a:latin typeface="Times New Roman" pitchFamily="18" charset="0"/>
                <a:cs typeface="Times New Roman" pitchFamily="18" charset="0"/>
              </a:rPr>
              <a:t>• Page 3 compared to page 4</a:t>
            </a:r>
            <a:endParaRPr lang="en-US"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184</TotalTime>
  <Words>2035</Words>
  <Application>Microsoft Office PowerPoint</Application>
  <PresentationFormat>On-screen Show (4:3)</PresentationFormat>
  <Paragraphs>326</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sunil naidu</dc:creator>
  <cp:lastModifiedBy>sunil naidu</cp:lastModifiedBy>
  <cp:revision>9</cp:revision>
  <dcterms:created xsi:type="dcterms:W3CDTF">2006-08-16T00:00:00Z</dcterms:created>
  <dcterms:modified xsi:type="dcterms:W3CDTF">2025-09-29T16:00:12Z</dcterms:modified>
</cp:coreProperties>
</file>

<file path=[Content_Types].xml><?xml version="1.0" encoding="utf-8"?>
<Types xmlns="http://schemas.openxmlformats.org/package/2006/content-types">
  <Override PartName="/ppt/slides/slide6.xml" ContentType="application/vnd.openxmlformats-officedocument.presentationml.slide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6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  <Override PartName="/ppt/slides/slide5.xml" ContentType="application/vnd.openxmlformats-officedocument.presentationml.slide+xml"/>
  <Override PartName="/ppt/slides/slide19.xml" ContentType="application/vnd.openxmlformats-officedocument.presentationml.slide+xml"/>
  <Override PartName="/ppt/slideLayouts/slideLayout7.xml" ContentType="application/vnd.openxmlformats-officedocument.presentationml.slideLayout+xml"/>
  <Default Extension="png" ContentType="image/png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8" r:id="rId12"/>
    <p:sldId id="269" r:id="rId13"/>
    <p:sldId id="272" r:id="rId14"/>
    <p:sldId id="273" r:id="rId15"/>
    <p:sldId id="274" r:id="rId16"/>
    <p:sldId id="275" r:id="rId17"/>
    <p:sldId id="276" r:id="rId18"/>
    <p:sldId id="286" r:id="rId19"/>
    <p:sldId id="287" r:id="rId20"/>
    <p:sldId id="277" r:id="rId21"/>
    <p:sldId id="278" r:id="rId22"/>
    <p:sldId id="279" r:id="rId23"/>
    <p:sldId id="280" r:id="rId24"/>
    <p:sldId id="281" r:id="rId25"/>
    <p:sldId id="282" r:id="rId26"/>
    <p:sldId id="285" r:id="rId27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showOutlineIcons="0">
    <p:restoredLeft sz="15620"/>
    <p:restoredTop sz="94660"/>
  </p:normalViewPr>
  <p:slideViewPr>
    <p:cSldViewPr>
      <p:cViewPr>
        <p:scale>
          <a:sx n="70" d="100"/>
          <a:sy n="70" d="100"/>
        </p:scale>
        <p:origin x="-2814" y="-94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9/29/2025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9/29/2025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9/29/2025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9/29/2025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2895600" y="1752600"/>
            <a:ext cx="3545971" cy="230832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sz="2400" b="1" dirty="0" smtClean="0">
                <a:solidFill>
                  <a:schemeClr val="tx2">
                    <a:lumMod val="60000"/>
                    <a:lumOff val="40000"/>
                  </a:schemeClr>
                </a:solidFill>
                <a:latin typeface="Times New Roman" pitchFamily="18" charset="0"/>
                <a:cs typeface="Times New Roman" pitchFamily="18" charset="0"/>
              </a:rPr>
              <a:t>MODULE-4 </a:t>
            </a:r>
          </a:p>
          <a:p>
            <a:pPr algn="ctr"/>
            <a:endParaRPr lang="en-US" sz="2400" b="1" dirty="0" smtClean="0">
              <a:solidFill>
                <a:schemeClr val="tx2">
                  <a:lumMod val="60000"/>
                  <a:lumOff val="40000"/>
                </a:schemeClr>
              </a:solidFill>
              <a:latin typeface="Times New Roman" pitchFamily="18" charset="0"/>
              <a:cs typeface="Times New Roman" pitchFamily="18" charset="0"/>
            </a:endParaRPr>
          </a:p>
          <a:p>
            <a:pPr algn="ctr"/>
            <a:r>
              <a:rPr lang="en-US" sz="2400" b="1" dirty="0" smtClean="0">
                <a:solidFill>
                  <a:schemeClr val="tx2">
                    <a:lumMod val="60000"/>
                    <a:lumOff val="40000"/>
                  </a:schemeClr>
                </a:solidFill>
                <a:latin typeface="Times New Roman" pitchFamily="18" charset="0"/>
                <a:cs typeface="Times New Roman" pitchFamily="18" charset="0"/>
              </a:rPr>
              <a:t>PREPARED BY</a:t>
            </a:r>
          </a:p>
          <a:p>
            <a:pPr algn="ctr"/>
            <a:r>
              <a:rPr lang="en-US" sz="2400" b="1" dirty="0" smtClean="0">
                <a:solidFill>
                  <a:schemeClr val="tx2">
                    <a:lumMod val="60000"/>
                    <a:lumOff val="40000"/>
                  </a:schemeClr>
                </a:solidFill>
                <a:latin typeface="Times New Roman" pitchFamily="18" charset="0"/>
                <a:cs typeface="Times New Roman" pitchFamily="18" charset="0"/>
              </a:rPr>
              <a:t> SUNIL NAIDU G R</a:t>
            </a:r>
          </a:p>
          <a:p>
            <a:pPr algn="ctr"/>
            <a:endParaRPr lang="en-IN" sz="2400" b="1" dirty="0" smtClean="0">
              <a:solidFill>
                <a:schemeClr val="tx2">
                  <a:lumMod val="60000"/>
                  <a:lumOff val="40000"/>
                </a:schemeClr>
              </a:solidFill>
              <a:latin typeface="Times New Roman" pitchFamily="18" charset="0"/>
              <a:cs typeface="Times New Roman" pitchFamily="18" charset="0"/>
            </a:endParaRPr>
          </a:p>
          <a:p>
            <a:pPr algn="ctr"/>
            <a:r>
              <a:rPr lang="en-US" sz="2400" b="1" dirty="0" smtClean="0">
                <a:solidFill>
                  <a:schemeClr val="tx2">
                    <a:lumMod val="60000"/>
                    <a:lumOff val="40000"/>
                  </a:schemeClr>
                </a:solidFill>
                <a:latin typeface="Times New Roman" pitchFamily="18" charset="0"/>
                <a:cs typeface="Times New Roman" pitchFamily="18" charset="0"/>
              </a:rPr>
              <a:t>Textbook : Chapter 3 &amp; 4</a:t>
            </a:r>
            <a:endParaRPr lang="en-US" sz="2400" dirty="0" smtClean="0">
              <a:solidFill>
                <a:schemeClr val="tx2">
                  <a:lumMod val="60000"/>
                  <a:lumOff val="40000"/>
                </a:schemeClr>
              </a:solidFill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228600" y="228600"/>
            <a:ext cx="8915400" cy="480131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 smtClean="0">
                <a:latin typeface="Times New Roman" pitchFamily="18" charset="0"/>
                <a:cs typeface="Times New Roman" pitchFamily="18" charset="0"/>
              </a:rPr>
              <a:t>Multi-Arm Bandit Algorithm</a:t>
            </a:r>
          </a:p>
          <a:p>
            <a:endParaRPr lang="en-IN" dirty="0" smtClean="0">
              <a:latin typeface="Times New Roman" pitchFamily="18" charset="0"/>
              <a:cs typeface="Times New Roman" pitchFamily="18" charset="0"/>
            </a:endParaRPr>
          </a:p>
          <a:p>
            <a:pPr algn="just"/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Multi-arm bandits offer an approach to testing, especially web testing, that allows explicit optimization and more rapid decision making than the traditional statistical approach to designing experiments.</a:t>
            </a:r>
          </a:p>
          <a:p>
            <a:pPr algn="just"/>
            <a:endParaRPr lang="en-IN" dirty="0" smtClean="0">
              <a:latin typeface="Times New Roman" pitchFamily="18" charset="0"/>
              <a:cs typeface="Times New Roman" pitchFamily="18" charset="0"/>
            </a:endParaRPr>
          </a:p>
          <a:p>
            <a:pPr algn="just"/>
            <a:r>
              <a:rPr lang="en-US" b="1" dirty="0" smtClean="0">
                <a:latin typeface="Times New Roman" pitchFamily="18" charset="0"/>
                <a:cs typeface="Times New Roman" pitchFamily="18" charset="0"/>
              </a:rPr>
              <a:t>Key Terms for Multi-Arm </a:t>
            </a:r>
            <a:r>
              <a:rPr lang="en-US" b="1" dirty="0" smtClean="0">
                <a:latin typeface="Times New Roman" pitchFamily="18" charset="0"/>
                <a:cs typeface="Times New Roman" pitchFamily="18" charset="0"/>
              </a:rPr>
              <a:t>Bandits</a:t>
            </a:r>
          </a:p>
          <a:p>
            <a:pPr algn="just"/>
            <a:endParaRPr lang="en-US" dirty="0" smtClean="0">
              <a:latin typeface="Times New Roman" pitchFamily="18" charset="0"/>
              <a:cs typeface="Times New Roman" pitchFamily="18" charset="0"/>
            </a:endParaRPr>
          </a:p>
          <a:p>
            <a:pPr algn="just"/>
            <a:r>
              <a:rPr lang="en-US" b="1" dirty="0" smtClean="0">
                <a:latin typeface="Times New Roman" pitchFamily="18" charset="0"/>
                <a:cs typeface="Times New Roman" pitchFamily="18" charset="0"/>
              </a:rPr>
              <a:t>Multi-arm bandit</a:t>
            </a:r>
          </a:p>
          <a:p>
            <a:pPr algn="just"/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An imaginary slot machine with multiple arms for the customer to choose from, each with different payoffs, here taken to be an analogy for a multi treatment experiment.</a:t>
            </a:r>
          </a:p>
          <a:p>
            <a:pPr algn="just"/>
            <a:endParaRPr lang="en-US" dirty="0" smtClean="0">
              <a:latin typeface="Times New Roman" pitchFamily="18" charset="0"/>
              <a:cs typeface="Times New Roman" pitchFamily="18" charset="0"/>
            </a:endParaRPr>
          </a:p>
          <a:p>
            <a:pPr algn="just"/>
            <a:r>
              <a:rPr lang="en-US" b="1" dirty="0" smtClean="0">
                <a:latin typeface="Times New Roman" pitchFamily="18" charset="0"/>
                <a:cs typeface="Times New Roman" pitchFamily="18" charset="0"/>
              </a:rPr>
              <a:t>Arm</a:t>
            </a:r>
          </a:p>
          <a:p>
            <a:pPr algn="just"/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A treatment in an experiment (e.g., “headline A in a web test”).</a:t>
            </a:r>
          </a:p>
          <a:p>
            <a:pPr algn="just"/>
            <a:endParaRPr lang="en-US" dirty="0" smtClean="0">
              <a:latin typeface="Times New Roman" pitchFamily="18" charset="0"/>
              <a:cs typeface="Times New Roman" pitchFamily="18" charset="0"/>
            </a:endParaRPr>
          </a:p>
          <a:p>
            <a:pPr algn="just"/>
            <a:r>
              <a:rPr lang="en-US" b="1" dirty="0" smtClean="0">
                <a:latin typeface="Times New Roman" pitchFamily="18" charset="0"/>
                <a:cs typeface="Times New Roman" pitchFamily="18" charset="0"/>
              </a:rPr>
              <a:t>Win</a:t>
            </a:r>
          </a:p>
          <a:p>
            <a:pPr algn="just"/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The experimental analog of a win at the slot machine (e.g., “customer clicks on the link”).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646330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A traditional A/B test involves data collected in an experiment, according to a 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specified design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, to answer a specific question such as, “Which is better, treatment A 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or treatment 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B?” 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The presumption 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is that once we get an answer to that question, 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the experimenting 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is over and we proceed to act on the results.</a:t>
            </a:r>
          </a:p>
          <a:p>
            <a:pPr algn="just"/>
            <a:endParaRPr lang="en-IN" dirty="0" smtClean="0">
              <a:latin typeface="Times New Roman" pitchFamily="18" charset="0"/>
              <a:cs typeface="Times New Roman" pitchFamily="18" charset="0"/>
            </a:endParaRPr>
          </a:p>
          <a:p>
            <a:pPr algn="just"/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Bandit algorithms, which are very popular in web testing, allow you to test 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multiple treatments 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at once and reach conclusions faster than traditional statistical designs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.</a:t>
            </a:r>
          </a:p>
          <a:p>
            <a:pPr algn="just"/>
            <a:endParaRPr lang="en-US" dirty="0" smtClean="0">
              <a:latin typeface="Times New Roman" pitchFamily="18" charset="0"/>
              <a:cs typeface="Times New Roman" pitchFamily="18" charset="0"/>
            </a:endParaRPr>
          </a:p>
          <a:p>
            <a:pPr algn="just"/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They take their name from slot machines used in gambling, also termed 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one-armed bandits 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(since they are configured in such a way that they extract money from 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the gambler 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in a steady flow). If you imagine a slot machine with more than one 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arm, each 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arm paying out at a different rate, you would have a multi-armed bandit, 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which is 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the full name for this algorithm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.</a:t>
            </a:r>
          </a:p>
          <a:p>
            <a:pPr algn="just"/>
            <a:endParaRPr lang="en-US" dirty="0" smtClean="0">
              <a:latin typeface="Times New Roman" pitchFamily="18" charset="0"/>
              <a:cs typeface="Times New Roman" pitchFamily="18" charset="0"/>
            </a:endParaRPr>
          </a:p>
          <a:p>
            <a:pPr algn="just"/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Your goal is to win as much money as possible and, more specifically, to identify 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and settle 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on the winning arm sooner rather than later. The challenge is that you 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don’t  know 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at what overall rate the arms pay out—you only know the results of 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individual pulls 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on the arms. Suppose each “win” is for the same amount, no matter which arm.</a:t>
            </a:r>
          </a:p>
          <a:p>
            <a:pPr algn="just"/>
            <a:endParaRPr lang="en-US" dirty="0" smtClean="0">
              <a:latin typeface="Times New Roman" pitchFamily="18" charset="0"/>
              <a:cs typeface="Times New Roman" pitchFamily="18" charset="0"/>
            </a:endParaRPr>
          </a:p>
          <a:p>
            <a:pPr algn="just"/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What differs is the probability of a win. Suppose further that you initially try each</a:t>
            </a:r>
          </a:p>
          <a:p>
            <a:pPr algn="just"/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arm 50 times and get the following results:</a:t>
            </a:r>
          </a:p>
          <a:p>
            <a:pPr algn="just"/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Arm A: 10 wins out of 50</a:t>
            </a:r>
          </a:p>
          <a:p>
            <a:pPr algn="just"/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Arm B: 2 win out of 50</a:t>
            </a:r>
          </a:p>
          <a:p>
            <a:pPr algn="just"/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Arm C: 4 wins out of 50 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457200"/>
            <a:ext cx="9144000" cy="618630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Now think of applying this to web testing. Instead of multiple slot machine arms, 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you might 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have multiple offers, headlines, colors, and so on being tested on a website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.</a:t>
            </a:r>
          </a:p>
          <a:p>
            <a:pPr algn="just"/>
            <a:endParaRPr lang="en-US" dirty="0" smtClean="0">
              <a:latin typeface="Times New Roman" pitchFamily="18" charset="0"/>
              <a:cs typeface="Times New Roman" pitchFamily="18" charset="0"/>
            </a:endParaRPr>
          </a:p>
          <a:p>
            <a:pPr algn="just"/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Customers either click (a “win” for the merchant) or don’t click. Initially, the 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offers are 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shown randomly and equally. If, however, one offer starts to outperform the 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others, it 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can be shown (“pulled”) more often. But what should the parameters of 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the algorithm 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that modifies the pull rates be? What “pull rates” should we change to, 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and  when 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should we change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?</a:t>
            </a:r>
          </a:p>
          <a:p>
            <a:pPr algn="just"/>
            <a:endParaRPr lang="en-US" dirty="0" smtClean="0">
              <a:latin typeface="Times New Roman" pitchFamily="18" charset="0"/>
              <a:cs typeface="Times New Roman" pitchFamily="18" charset="0"/>
            </a:endParaRPr>
          </a:p>
          <a:p>
            <a:pPr algn="just"/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Here is one simple algorithm, the epsilon-greedy algorithm for an A/B test:</a:t>
            </a:r>
          </a:p>
          <a:p>
            <a:pPr algn="just"/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1. Generate a uniformly distributed random number between 0 and 1.</a:t>
            </a:r>
          </a:p>
          <a:p>
            <a:pPr algn="just"/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2. If the number lies between 0 and epsilon (where epsilon is a number between 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0 and 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1, typically fairly small), flip a fair coin (50/50 probability), and:</a:t>
            </a:r>
          </a:p>
          <a:p>
            <a:pPr algn="just"/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a. If the coin is heads, show offer A.</a:t>
            </a:r>
          </a:p>
          <a:p>
            <a:pPr algn="just"/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b. If the coin is tails, show offer B.</a:t>
            </a:r>
          </a:p>
          <a:p>
            <a:pPr algn="just"/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3. If the number is ≥ epsilon, show whichever offer has had the highest response</a:t>
            </a:r>
          </a:p>
          <a:p>
            <a:pPr algn="just"/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rate to date.</a:t>
            </a:r>
          </a:p>
          <a:p>
            <a:pPr algn="just"/>
            <a:endParaRPr lang="en-IN" dirty="0" smtClean="0">
              <a:latin typeface="Times New Roman" pitchFamily="18" charset="0"/>
              <a:cs typeface="Times New Roman" pitchFamily="18" charset="0"/>
            </a:endParaRPr>
          </a:p>
          <a:p>
            <a:pPr algn="just"/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Epsilon is the single parameter that governs this algorithm. If epsilon is 1, we end 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up with 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a standard simple A/B experiment (random allocation between A and B for each subject). If epsilon is 0, we end up with a purely greedy algorithm—one that 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chooses the 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best available immediate option (a local optimum). It seeks no further 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experimentation, simply 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assigning subjects (web visitors) to the best-performing treatment.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535531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endParaRPr lang="en-US" b="1" dirty="0" smtClean="0">
              <a:latin typeface="Times New Roman" pitchFamily="18" charset="0"/>
              <a:cs typeface="Times New Roman" pitchFamily="18" charset="0"/>
            </a:endParaRPr>
          </a:p>
          <a:p>
            <a:r>
              <a:rPr lang="en-US" b="1" dirty="0" smtClean="0">
                <a:latin typeface="Times New Roman" pitchFamily="18" charset="0"/>
                <a:cs typeface="Times New Roman" pitchFamily="18" charset="0"/>
              </a:rPr>
              <a:t>Power </a:t>
            </a:r>
            <a:r>
              <a:rPr lang="en-US" b="1" dirty="0" smtClean="0">
                <a:latin typeface="Times New Roman" pitchFamily="18" charset="0"/>
                <a:cs typeface="Times New Roman" pitchFamily="18" charset="0"/>
              </a:rPr>
              <a:t>and Sample </a:t>
            </a:r>
            <a:r>
              <a:rPr lang="en-US" b="1" dirty="0" smtClean="0">
                <a:latin typeface="Times New Roman" pitchFamily="18" charset="0"/>
                <a:cs typeface="Times New Roman" pitchFamily="18" charset="0"/>
              </a:rPr>
              <a:t>Size</a:t>
            </a:r>
          </a:p>
          <a:p>
            <a:endParaRPr lang="en-US" dirty="0" smtClean="0">
              <a:latin typeface="Times New Roman" pitchFamily="18" charset="0"/>
              <a:cs typeface="Times New Roman" pitchFamily="18" charset="0"/>
            </a:endParaRP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If you run a web test, how do you decide how long it should run (i.e., how 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many impressions 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per treatment are needed)? Despite what you may read in many guides 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to web 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testing, there is 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no good 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general guidance—it depends, mainly, on the 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frequency with 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which the desired goal is attained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.</a:t>
            </a:r>
          </a:p>
          <a:p>
            <a:endParaRPr lang="en-US" dirty="0" smtClean="0">
              <a:latin typeface="Times New Roman" pitchFamily="18" charset="0"/>
              <a:cs typeface="Times New Roman" pitchFamily="18" charset="0"/>
            </a:endParaRPr>
          </a:p>
          <a:p>
            <a:pPr algn="ctr"/>
            <a:r>
              <a:rPr lang="en-US" b="1" dirty="0" smtClean="0">
                <a:latin typeface="Times New Roman" pitchFamily="18" charset="0"/>
                <a:cs typeface="Times New Roman" pitchFamily="18" charset="0"/>
              </a:rPr>
              <a:t>Key Terms for Power and Sample </a:t>
            </a:r>
            <a:r>
              <a:rPr lang="en-US" b="1" dirty="0" smtClean="0">
                <a:latin typeface="Times New Roman" pitchFamily="18" charset="0"/>
                <a:cs typeface="Times New Roman" pitchFamily="18" charset="0"/>
              </a:rPr>
              <a:t>Size</a:t>
            </a:r>
          </a:p>
          <a:p>
            <a:pPr algn="ctr"/>
            <a:endParaRPr lang="en-US" b="1" dirty="0" smtClean="0">
              <a:latin typeface="Times New Roman" pitchFamily="18" charset="0"/>
              <a:cs typeface="Times New Roman" pitchFamily="18" charset="0"/>
            </a:endParaRPr>
          </a:p>
          <a:p>
            <a:r>
              <a:rPr lang="en-US" b="1" dirty="0" smtClean="0">
                <a:latin typeface="Times New Roman" pitchFamily="18" charset="0"/>
                <a:cs typeface="Times New Roman" pitchFamily="18" charset="0"/>
              </a:rPr>
              <a:t>Effect </a:t>
            </a:r>
            <a:r>
              <a:rPr lang="en-US" b="1" dirty="0" smtClean="0">
                <a:latin typeface="Times New Roman" pitchFamily="18" charset="0"/>
                <a:cs typeface="Times New Roman" pitchFamily="18" charset="0"/>
              </a:rPr>
              <a:t>size</a:t>
            </a:r>
            <a:endParaRPr lang="en-US" b="1" dirty="0" smtClean="0">
              <a:latin typeface="Times New Roman" pitchFamily="18" charset="0"/>
              <a:cs typeface="Times New Roman" pitchFamily="18" charset="0"/>
            </a:endParaRP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The minimum size of the effect that you hope to be able to detect in a 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statistical test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, such as “a 20% improvement in click rates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.”</a:t>
            </a:r>
          </a:p>
          <a:p>
            <a:endParaRPr lang="en-US" dirty="0" smtClean="0">
              <a:latin typeface="Times New Roman" pitchFamily="18" charset="0"/>
              <a:cs typeface="Times New Roman" pitchFamily="18" charset="0"/>
            </a:endParaRPr>
          </a:p>
          <a:p>
            <a:r>
              <a:rPr lang="en-US" b="1" dirty="0" smtClean="0">
                <a:latin typeface="Times New Roman" pitchFamily="18" charset="0"/>
                <a:cs typeface="Times New Roman" pitchFamily="18" charset="0"/>
              </a:rPr>
              <a:t>Power</a:t>
            </a:r>
            <a:endParaRPr lang="en-US" b="1" dirty="0" smtClean="0">
              <a:latin typeface="Times New Roman" pitchFamily="18" charset="0"/>
              <a:cs typeface="Times New Roman" pitchFamily="18" charset="0"/>
            </a:endParaRP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The probability of detecting a given effect size with a given sample size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.</a:t>
            </a:r>
          </a:p>
          <a:p>
            <a:endParaRPr lang="en-US" dirty="0" smtClean="0">
              <a:latin typeface="Times New Roman" pitchFamily="18" charset="0"/>
              <a:cs typeface="Times New Roman" pitchFamily="18" charset="0"/>
            </a:endParaRPr>
          </a:p>
          <a:p>
            <a:r>
              <a:rPr lang="en-US" b="1" dirty="0" smtClean="0">
                <a:latin typeface="Times New Roman" pitchFamily="18" charset="0"/>
                <a:cs typeface="Times New Roman" pitchFamily="18" charset="0"/>
              </a:rPr>
              <a:t>Significance </a:t>
            </a:r>
            <a:r>
              <a:rPr lang="en-US" b="1" dirty="0" smtClean="0">
                <a:latin typeface="Times New Roman" pitchFamily="18" charset="0"/>
                <a:cs typeface="Times New Roman" pitchFamily="18" charset="0"/>
              </a:rPr>
              <a:t>level</a:t>
            </a:r>
            <a:endParaRPr lang="en-US" b="1" dirty="0" smtClean="0">
              <a:latin typeface="Times New Roman" pitchFamily="18" charset="0"/>
              <a:cs typeface="Times New Roman" pitchFamily="18" charset="0"/>
            </a:endParaRP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The statistical significance level at which the test will be conducted.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152400"/>
            <a:ext cx="9144000" cy="452431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One step in statistical calculations for sample size is to ask “Will a hypothesis 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test actually 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reveal a difference between treatments A and B?” The outcome of a 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hypothesis test—the 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p-value—depends on what the real difference is between treatment 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A and 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treatment B. It also depends on the luck of the draw—who gets selected for 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the groups 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in the experiment. But it makes sense that the bigger the actual 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difference between 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treatments A and B, the greater the probability that our experiment 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will reveal 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it; and the smaller the difference, the more data will be needed to detect it. 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To distinguish 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between a .350 hitter and a .200 hitter in baseball, not that many 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at-bats are 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needed. To distinguish between a .300 hitter and a .280 hitter, a good many more</a:t>
            </a:r>
          </a:p>
          <a:p>
            <a:pPr algn="just"/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at-bats will be needed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.</a:t>
            </a:r>
          </a:p>
          <a:p>
            <a:pPr algn="just"/>
            <a:endParaRPr lang="en-US" dirty="0" smtClean="0">
              <a:latin typeface="Times New Roman" pitchFamily="18" charset="0"/>
              <a:cs typeface="Times New Roman" pitchFamily="18" charset="0"/>
            </a:endParaRPr>
          </a:p>
          <a:p>
            <a:pPr algn="just"/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Power is the probability of detecting a specified effect size with specified sample characteristics</a:t>
            </a:r>
          </a:p>
          <a:p>
            <a:pPr algn="just"/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(size and variability). For example, we might say (hypothetically) that 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the probability 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of distinguishing between a .330 hitter and a .200 hitter in 25 at-bats 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is 0.75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. The effect size here is a difference of .130. And “detecting” means that a 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hypothesis test 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will reject the null hypothesis of “no difference” and conclude there is a 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real effect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. So the experiment of 25 at-bats (n = 25) for two hitters, with an effect size 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of 0.130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, has (hypothetical) power of 0.75, or 75%.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228600"/>
            <a:ext cx="9144000" cy="563231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where they want to collect some data for an A/B test, and collecting or processing 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the data 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involves some cost. In that case, knowing approximately how much data to 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collect can 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help avoid the situation where you collect data at some effort, and the 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result ends 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up being inconclusive. </a:t>
            </a:r>
            <a:endParaRPr lang="en-US" dirty="0" smtClean="0">
              <a:latin typeface="Times New Roman" pitchFamily="18" charset="0"/>
              <a:cs typeface="Times New Roman" pitchFamily="18" charset="0"/>
            </a:endParaRPr>
          </a:p>
          <a:p>
            <a:pPr algn="just"/>
            <a:endParaRPr lang="en-US" dirty="0" smtClean="0">
              <a:latin typeface="Times New Roman" pitchFamily="18" charset="0"/>
              <a:cs typeface="Times New Roman" pitchFamily="18" charset="0"/>
            </a:endParaRPr>
          </a:p>
          <a:p>
            <a:pPr algn="just"/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Here’s 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a fairly intuitive alternative approach:</a:t>
            </a:r>
          </a:p>
          <a:p>
            <a:pPr algn="just"/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1. Start with some hypothetical data that represents your best guess about the 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data that 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will result (perhaps based on prior data)—for example, a box with 20 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ones and 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80 zeros to represent a .200 hitter, or a box with some observations of “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time spent 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on website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.”</a:t>
            </a:r>
          </a:p>
          <a:p>
            <a:pPr algn="just"/>
            <a:endParaRPr lang="en-US" dirty="0" smtClean="0">
              <a:latin typeface="Times New Roman" pitchFamily="18" charset="0"/>
              <a:cs typeface="Times New Roman" pitchFamily="18" charset="0"/>
            </a:endParaRPr>
          </a:p>
          <a:p>
            <a:pPr algn="just"/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2. Create a second sample simply by adding the desired effect size to the first 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sample— for 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example, a second box with 33 ones and 67 zeros, or a second box 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with 25 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seconds added to each initial “time spent on website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.”</a:t>
            </a:r>
          </a:p>
          <a:p>
            <a:pPr algn="just"/>
            <a:endParaRPr lang="en-US" dirty="0" smtClean="0">
              <a:latin typeface="Times New Roman" pitchFamily="18" charset="0"/>
              <a:cs typeface="Times New Roman" pitchFamily="18" charset="0"/>
            </a:endParaRPr>
          </a:p>
          <a:p>
            <a:pPr algn="just"/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3. Draw a bootstrap sample of size </a:t>
            </a:r>
            <a:r>
              <a:rPr lang="en-US" i="1" dirty="0" smtClean="0">
                <a:latin typeface="Times New Roman" pitchFamily="18" charset="0"/>
                <a:cs typeface="Times New Roman" pitchFamily="18" charset="0"/>
              </a:rPr>
              <a:t>n from each box</a:t>
            </a:r>
            <a:r>
              <a:rPr lang="en-US" i="1" dirty="0" smtClean="0">
                <a:latin typeface="Times New Roman" pitchFamily="18" charset="0"/>
                <a:cs typeface="Times New Roman" pitchFamily="18" charset="0"/>
              </a:rPr>
              <a:t>.</a:t>
            </a:r>
          </a:p>
          <a:p>
            <a:pPr algn="just"/>
            <a:endParaRPr lang="en-US" i="1" dirty="0" smtClean="0">
              <a:latin typeface="Times New Roman" pitchFamily="18" charset="0"/>
              <a:cs typeface="Times New Roman" pitchFamily="18" charset="0"/>
            </a:endParaRPr>
          </a:p>
          <a:p>
            <a:pPr algn="just"/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4. Conduct a permutation (or formula-based) hypothesis test on the two 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bootstrap samples 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and record whether the difference between them is 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statistically significant.</a:t>
            </a:r>
          </a:p>
          <a:p>
            <a:pPr algn="just"/>
            <a:endParaRPr lang="en-US" dirty="0" smtClean="0">
              <a:latin typeface="Times New Roman" pitchFamily="18" charset="0"/>
              <a:cs typeface="Times New Roman" pitchFamily="18" charset="0"/>
            </a:endParaRPr>
          </a:p>
          <a:p>
            <a:pPr algn="just"/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5. Repeat the preceding two steps many times and determine how often the 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difference was 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significant—that’s the estimated power.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59093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 smtClean="0">
                <a:latin typeface="Times New Roman" pitchFamily="18" charset="0"/>
                <a:cs typeface="Times New Roman" pitchFamily="18" charset="0"/>
              </a:rPr>
              <a:t>Sample </a:t>
            </a:r>
            <a:r>
              <a:rPr lang="en-US" b="1" dirty="0" smtClean="0">
                <a:latin typeface="Times New Roman" pitchFamily="18" charset="0"/>
                <a:cs typeface="Times New Roman" pitchFamily="18" charset="0"/>
              </a:rPr>
              <a:t>Size</a:t>
            </a:r>
          </a:p>
          <a:p>
            <a:endParaRPr lang="en-US" dirty="0" smtClean="0">
              <a:latin typeface="Times New Roman" pitchFamily="18" charset="0"/>
              <a:cs typeface="Times New Roman" pitchFamily="18" charset="0"/>
            </a:endParaRPr>
          </a:p>
          <a:p>
            <a:pPr algn="just"/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The most common use of power calculations is to estimate how big a sample you 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will need.</a:t>
            </a:r>
          </a:p>
          <a:p>
            <a:pPr algn="just"/>
            <a:endParaRPr lang="en-US" dirty="0" smtClean="0">
              <a:latin typeface="Times New Roman" pitchFamily="18" charset="0"/>
              <a:cs typeface="Times New Roman" pitchFamily="18" charset="0"/>
            </a:endParaRPr>
          </a:p>
          <a:p>
            <a:pPr algn="just"/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For example, suppose you are looking at click-through rates (clicks as a percentage 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of exposures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), and testing a new ad against an existing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ad.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How many clicks do you 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need to 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accumulate in the study? If you are interested only in results that show a huge 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difference (say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, a 50% difference), a relatively small sample might do the trick. If, on 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the other 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hand, even a minor difference would be of interest, then a much larger 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sample is 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needed. A standard approach is to establish a policy that a new ad must do 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better than 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an existing ad by some percentage, say, 10%; otherwise, the existing ad 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will remain 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in place. This goal, the “effect size,” then drives the sample size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.</a:t>
            </a:r>
          </a:p>
          <a:p>
            <a:pPr algn="just"/>
            <a:endParaRPr lang="en-US" dirty="0" smtClean="0">
              <a:latin typeface="Times New Roman" pitchFamily="18" charset="0"/>
              <a:cs typeface="Times New Roman" pitchFamily="18" charset="0"/>
            </a:endParaRPr>
          </a:p>
          <a:p>
            <a:pPr algn="just"/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For example, suppose current click-through rates are about 1.1%, and you are 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seeking a 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10% boost to 1.21%. So we have two boxes: box A with 1.1% ones (say, 110 ones 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and 9,890 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zeros), and box B with 1.21% ones (say, 121 ones and 9,879 zeros). For 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starters, let’s 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try 300 draws from each box (this would be like 300 “impressions” for each ad).</a:t>
            </a:r>
          </a:p>
          <a:p>
            <a:pPr algn="just"/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Suppose our first draw yields the following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:</a:t>
            </a:r>
          </a:p>
          <a:p>
            <a:pPr algn="just"/>
            <a:endParaRPr lang="en-US" dirty="0" smtClean="0">
              <a:latin typeface="Times New Roman" pitchFamily="18" charset="0"/>
              <a:cs typeface="Times New Roman" pitchFamily="18" charset="0"/>
            </a:endParaRPr>
          </a:p>
          <a:p>
            <a:pPr algn="just"/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Box A: 3 ones</a:t>
            </a:r>
          </a:p>
          <a:p>
            <a:pPr algn="just"/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Box B: 5 ones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729430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Right away we can see that any hypothesis test would reveal this difference (5 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versus 3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) to be well within the range of chance variation. This combination of sample 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size (</a:t>
            </a:r>
            <a:r>
              <a:rPr lang="en-US" i="1" dirty="0" smtClean="0">
                <a:latin typeface="Times New Roman" pitchFamily="18" charset="0"/>
                <a:cs typeface="Times New Roman" pitchFamily="18" charset="0"/>
              </a:rPr>
              <a:t>n </a:t>
            </a:r>
            <a:r>
              <a:rPr lang="en-US" i="1" dirty="0" smtClean="0">
                <a:latin typeface="Times New Roman" pitchFamily="18" charset="0"/>
                <a:cs typeface="Times New Roman" pitchFamily="18" charset="0"/>
              </a:rPr>
              <a:t>= 300 in each group) and effect size (10% difference) is too small for any </a:t>
            </a:r>
            <a:r>
              <a:rPr lang="en-US" i="1" dirty="0" smtClean="0">
                <a:latin typeface="Times New Roman" pitchFamily="18" charset="0"/>
                <a:cs typeface="Times New Roman" pitchFamily="18" charset="0"/>
              </a:rPr>
              <a:t>hypothesis 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test 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to reliably show a difference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.</a:t>
            </a:r>
          </a:p>
          <a:p>
            <a:pPr algn="just"/>
            <a:endParaRPr lang="en-US" dirty="0" smtClean="0">
              <a:latin typeface="Times New Roman" pitchFamily="18" charset="0"/>
              <a:cs typeface="Times New Roman" pitchFamily="18" charset="0"/>
            </a:endParaRPr>
          </a:p>
          <a:p>
            <a:pPr algn="just"/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So we can try increasing the sample size (let’s try 2,000 impressions), and require 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a larger 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improvement (50% instead of 10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%).</a:t>
            </a:r>
          </a:p>
          <a:p>
            <a:pPr algn="just"/>
            <a:endParaRPr lang="en-US" dirty="0" smtClean="0">
              <a:latin typeface="Times New Roman" pitchFamily="18" charset="0"/>
              <a:cs typeface="Times New Roman" pitchFamily="18" charset="0"/>
            </a:endParaRPr>
          </a:p>
          <a:p>
            <a:pPr algn="just"/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For example, suppose current click-through rates are still 1.1%, but we are now 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seeking  a 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50% boost to 1.65%. So we have two boxes: box A still with 1.1% ones (say, 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110 ones 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and 9,890 zeros), and box B with 1.65% ones (say, 165 ones and 9,868 zeros).</a:t>
            </a:r>
          </a:p>
          <a:p>
            <a:pPr algn="just"/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Now we’ll try 2,000 draws from each box. Suppose our first draw yields the following:</a:t>
            </a:r>
          </a:p>
          <a:p>
            <a:pPr algn="just"/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Box A: 19 ones</a:t>
            </a:r>
          </a:p>
          <a:p>
            <a:pPr algn="just"/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Box B: 34 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ones</a:t>
            </a:r>
          </a:p>
          <a:p>
            <a:pPr algn="just"/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A 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significance test on this difference (34–19) shows it still registers as “not significant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” (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though much closer to significance than the earlier difference of 5–3). To 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calculate power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, we would need to repeat the previous procedure many times, or 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use statistical 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software that can calculate power, but our initial draw suggests to us 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that even 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detecting a 50% improvement will require several thousand ad impressions.</a:t>
            </a:r>
          </a:p>
          <a:p>
            <a:pPr algn="just"/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In summary, for calculating power or required sample size, there are four moving</a:t>
            </a:r>
          </a:p>
          <a:p>
            <a:pPr algn="just"/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parts:</a:t>
            </a:r>
          </a:p>
          <a:p>
            <a:pPr algn="just"/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• Sample size</a:t>
            </a:r>
          </a:p>
          <a:p>
            <a:pPr algn="just"/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• Effect size you want to detect</a:t>
            </a:r>
          </a:p>
          <a:p>
            <a:pPr algn="just"/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• Significance level (alpha) at which the test will be conducted</a:t>
            </a:r>
          </a:p>
          <a:p>
            <a:pPr algn="just"/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• Power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535531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The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statsmodels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package contains several methods for power calculation. Here, 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we use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proportion_effectsize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to calculate the effect size and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TTestIndPower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to 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solve for 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the sample size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:</a:t>
            </a:r>
          </a:p>
          <a:p>
            <a:pPr algn="just"/>
            <a:endParaRPr lang="en-US" dirty="0" smtClean="0">
              <a:latin typeface="Times New Roman" pitchFamily="18" charset="0"/>
              <a:cs typeface="Times New Roman" pitchFamily="18" charset="0"/>
            </a:endParaRPr>
          </a:p>
          <a:p>
            <a:pPr algn="just"/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effect_size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=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sm.stats.proportion_effectsize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(0.0121, 0.011)</a:t>
            </a:r>
          </a:p>
          <a:p>
            <a:pPr algn="just"/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analysis =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sm.stats.TTestIndPower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()</a:t>
            </a:r>
          </a:p>
          <a:p>
            <a:pPr algn="just"/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result =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analysis.solve_power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(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effect_size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=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effect_size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,</a:t>
            </a:r>
          </a:p>
          <a:p>
            <a:pPr algn="just"/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alpha=0.05, power=0.8, alternative='larger')</a:t>
            </a:r>
          </a:p>
          <a:p>
            <a:pPr algn="just"/>
            <a:r>
              <a:rPr lang="en-US" b="1" dirty="0" smtClean="0">
                <a:latin typeface="Times New Roman" pitchFamily="18" charset="0"/>
                <a:cs typeface="Times New Roman" pitchFamily="18" charset="0"/>
              </a:rPr>
              <a:t>print('Sample Size: %.3f' % result)</a:t>
            </a:r>
          </a:p>
          <a:p>
            <a:pPr algn="just"/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--</a:t>
            </a:r>
          </a:p>
          <a:p>
            <a:pPr algn="just"/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Sample Size: 116602.393</a:t>
            </a:r>
          </a:p>
          <a:p>
            <a:pPr algn="just"/>
            <a:endParaRPr lang="en-IN" dirty="0" smtClean="0">
              <a:latin typeface="Times New Roman" pitchFamily="18" charset="0"/>
              <a:cs typeface="Times New Roman" pitchFamily="18" charset="0"/>
            </a:endParaRPr>
          </a:p>
          <a:p>
            <a:pPr algn="just"/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Simple Linear 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Regression</a:t>
            </a:r>
          </a:p>
          <a:p>
            <a:pPr algn="just"/>
            <a:endParaRPr lang="en-US" dirty="0" smtClean="0">
              <a:latin typeface="Times New Roman" pitchFamily="18" charset="0"/>
              <a:cs typeface="Times New Roman" pitchFamily="18" charset="0"/>
            </a:endParaRPr>
          </a:p>
          <a:p>
            <a:pPr algn="just"/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Simple linear regression provides a model of the relationship between the 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magnitude of 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one variable and that of a second—for example, as X increases, Y also increases. 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Or as 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X increases, Y decreases.1 Correlation is another way to measure how two 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variables are 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related—see the section “Correlation” on page 30. The difference is that while 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correlation measures 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the strength of an association between two variables, 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regression quantifies 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the nature of the relationship.</a:t>
            </a:r>
          </a:p>
          <a:p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59093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b="1" dirty="0" smtClean="0">
                <a:latin typeface="Times New Roman" pitchFamily="18" charset="0"/>
                <a:cs typeface="Times New Roman" pitchFamily="18" charset="0"/>
              </a:rPr>
              <a:t>Key Terms for Simple Linear </a:t>
            </a:r>
            <a:r>
              <a:rPr lang="en-US" b="1" dirty="0" smtClean="0">
                <a:latin typeface="Times New Roman" pitchFamily="18" charset="0"/>
                <a:cs typeface="Times New Roman" pitchFamily="18" charset="0"/>
              </a:rPr>
              <a:t>Regression</a:t>
            </a:r>
          </a:p>
          <a:p>
            <a:pPr algn="ctr"/>
            <a:endParaRPr lang="en-US" b="1" dirty="0" smtClean="0">
              <a:latin typeface="Times New Roman" pitchFamily="18" charset="0"/>
              <a:cs typeface="Times New Roman" pitchFamily="18" charset="0"/>
            </a:endParaRPr>
          </a:p>
          <a:p>
            <a:r>
              <a:rPr lang="en-US" b="1" i="1" dirty="0" smtClean="0">
                <a:latin typeface="Times New Roman" pitchFamily="18" charset="0"/>
                <a:cs typeface="Times New Roman" pitchFamily="18" charset="0"/>
              </a:rPr>
              <a:t>Response</a:t>
            </a: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The variable we are trying to predict.</a:t>
            </a:r>
          </a:p>
          <a:p>
            <a:r>
              <a:rPr lang="en-US" i="1" dirty="0" smtClean="0">
                <a:latin typeface="Times New Roman" pitchFamily="18" charset="0"/>
                <a:cs typeface="Times New Roman" pitchFamily="18" charset="0"/>
              </a:rPr>
              <a:t>Synonyms</a:t>
            </a: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dependent variable, </a:t>
            </a:r>
            <a:r>
              <a:rPr lang="en-US" i="1" dirty="0" smtClean="0">
                <a:latin typeface="Times New Roman" pitchFamily="18" charset="0"/>
                <a:cs typeface="Times New Roman" pitchFamily="18" charset="0"/>
              </a:rPr>
              <a:t>Y variable, target, </a:t>
            </a:r>
            <a:r>
              <a:rPr lang="en-US" i="1" dirty="0" smtClean="0">
                <a:latin typeface="Times New Roman" pitchFamily="18" charset="0"/>
                <a:cs typeface="Times New Roman" pitchFamily="18" charset="0"/>
              </a:rPr>
              <a:t>outcome</a:t>
            </a:r>
          </a:p>
          <a:p>
            <a:endParaRPr lang="en-US" i="1" dirty="0" smtClean="0">
              <a:latin typeface="Times New Roman" pitchFamily="18" charset="0"/>
              <a:cs typeface="Times New Roman" pitchFamily="18" charset="0"/>
            </a:endParaRPr>
          </a:p>
          <a:p>
            <a:r>
              <a:rPr lang="en-US" b="1" i="1" dirty="0" smtClean="0">
                <a:latin typeface="Times New Roman" pitchFamily="18" charset="0"/>
                <a:cs typeface="Times New Roman" pitchFamily="18" charset="0"/>
              </a:rPr>
              <a:t>Independent variable</a:t>
            </a: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The variable used to predict the response.</a:t>
            </a:r>
          </a:p>
          <a:p>
            <a:r>
              <a:rPr lang="en-US" i="1" dirty="0" smtClean="0">
                <a:latin typeface="Times New Roman" pitchFamily="18" charset="0"/>
                <a:cs typeface="Times New Roman" pitchFamily="18" charset="0"/>
              </a:rPr>
              <a:t>Synonyms</a:t>
            </a:r>
          </a:p>
          <a:p>
            <a:r>
              <a:rPr lang="en-US" i="1" dirty="0" smtClean="0">
                <a:latin typeface="Times New Roman" pitchFamily="18" charset="0"/>
                <a:cs typeface="Times New Roman" pitchFamily="18" charset="0"/>
              </a:rPr>
              <a:t>X variable, feature, attribute, </a:t>
            </a:r>
            <a:r>
              <a:rPr lang="en-US" i="1" dirty="0" smtClean="0">
                <a:latin typeface="Times New Roman" pitchFamily="18" charset="0"/>
                <a:cs typeface="Times New Roman" pitchFamily="18" charset="0"/>
              </a:rPr>
              <a:t>predictor</a:t>
            </a:r>
          </a:p>
          <a:p>
            <a:endParaRPr lang="en-US" i="1" dirty="0" smtClean="0">
              <a:latin typeface="Times New Roman" pitchFamily="18" charset="0"/>
              <a:cs typeface="Times New Roman" pitchFamily="18" charset="0"/>
            </a:endParaRPr>
          </a:p>
          <a:p>
            <a:r>
              <a:rPr lang="en-US" b="1" i="1" dirty="0" smtClean="0">
                <a:latin typeface="Times New Roman" pitchFamily="18" charset="0"/>
                <a:cs typeface="Times New Roman" pitchFamily="18" charset="0"/>
              </a:rPr>
              <a:t>Record</a:t>
            </a: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The vector of predictor and outcome values for a specific individual or case.</a:t>
            </a:r>
          </a:p>
          <a:p>
            <a:r>
              <a:rPr lang="en-US" i="1" dirty="0" smtClean="0">
                <a:latin typeface="Times New Roman" pitchFamily="18" charset="0"/>
                <a:cs typeface="Times New Roman" pitchFamily="18" charset="0"/>
              </a:rPr>
              <a:t>Synonyms</a:t>
            </a: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row, case, instance, 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example</a:t>
            </a:r>
          </a:p>
          <a:p>
            <a:endParaRPr lang="en-US" dirty="0" smtClean="0">
              <a:latin typeface="Times New Roman" pitchFamily="18" charset="0"/>
              <a:cs typeface="Times New Roman" pitchFamily="18" charset="0"/>
            </a:endParaRPr>
          </a:p>
          <a:p>
            <a:r>
              <a:rPr lang="en-US" b="1" i="1" dirty="0" smtClean="0">
                <a:latin typeface="Times New Roman" pitchFamily="18" charset="0"/>
                <a:cs typeface="Times New Roman" pitchFamily="18" charset="0"/>
              </a:rPr>
              <a:t>Intercept</a:t>
            </a: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The intercept of the regression line—that is, the predicted value when </a:t>
            </a:r>
            <a:r>
              <a:rPr lang="en-US" i="1" dirty="0" smtClean="0">
                <a:latin typeface="Times New Roman" pitchFamily="18" charset="0"/>
                <a:cs typeface="Times New Roman" pitchFamily="18" charset="0"/>
              </a:rPr>
              <a:t>X = 0.</a:t>
            </a:r>
          </a:p>
          <a:p>
            <a:r>
              <a:rPr lang="en-US" i="1" dirty="0" smtClean="0">
                <a:latin typeface="Times New Roman" pitchFamily="18" charset="0"/>
                <a:cs typeface="Times New Roman" pitchFamily="18" charset="0"/>
              </a:rPr>
              <a:t>Synonyms</a:t>
            </a:r>
          </a:p>
          <a:p>
            <a:r>
              <a:rPr lang="en-US" i="1" dirty="0" smtClean="0">
                <a:latin typeface="Times New Roman" pitchFamily="18" charset="0"/>
                <a:cs typeface="Times New Roman" pitchFamily="18" charset="0"/>
              </a:rPr>
              <a:t>b0, </a:t>
            </a:r>
            <a:r>
              <a:rPr lang="el-GR" i="1" dirty="0" smtClean="0">
                <a:latin typeface="Times New Roman" pitchFamily="18" charset="0"/>
                <a:cs typeface="Times New Roman" pitchFamily="18" charset="0"/>
              </a:rPr>
              <a:t>β0</a:t>
            </a:r>
            <a:endParaRPr lang="el-GR" i="1" dirty="0" smtClean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535531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i="1" dirty="0" smtClean="0">
                <a:latin typeface="Times New Roman" pitchFamily="18" charset="0"/>
                <a:cs typeface="Times New Roman" pitchFamily="18" charset="0"/>
              </a:rPr>
              <a:t>Regression coefficient</a:t>
            </a: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The slope of the regression line.</a:t>
            </a:r>
          </a:p>
          <a:p>
            <a:r>
              <a:rPr lang="en-US" i="1" dirty="0" smtClean="0">
                <a:latin typeface="Times New Roman" pitchFamily="18" charset="0"/>
                <a:cs typeface="Times New Roman" pitchFamily="18" charset="0"/>
              </a:rPr>
              <a:t>Synonyms</a:t>
            </a: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slope, </a:t>
            </a:r>
            <a:r>
              <a:rPr lang="en-US" i="1" dirty="0" smtClean="0">
                <a:latin typeface="Times New Roman" pitchFamily="18" charset="0"/>
                <a:cs typeface="Times New Roman" pitchFamily="18" charset="0"/>
              </a:rPr>
              <a:t>b1, β1, parameter estimates, </a:t>
            </a:r>
            <a:r>
              <a:rPr lang="en-US" i="1" dirty="0" smtClean="0">
                <a:latin typeface="Times New Roman" pitchFamily="18" charset="0"/>
                <a:cs typeface="Times New Roman" pitchFamily="18" charset="0"/>
              </a:rPr>
              <a:t>weights</a:t>
            </a:r>
          </a:p>
          <a:p>
            <a:endParaRPr lang="en-US" i="1" dirty="0" smtClean="0">
              <a:latin typeface="Times New Roman" pitchFamily="18" charset="0"/>
              <a:cs typeface="Times New Roman" pitchFamily="18" charset="0"/>
            </a:endParaRPr>
          </a:p>
          <a:p>
            <a:r>
              <a:rPr lang="en-US" b="1" i="1" dirty="0" smtClean="0">
                <a:latin typeface="Times New Roman" pitchFamily="18" charset="0"/>
                <a:cs typeface="Times New Roman" pitchFamily="18" charset="0"/>
              </a:rPr>
              <a:t>Fitted </a:t>
            </a:r>
            <a:r>
              <a:rPr lang="en-US" b="1" i="1" dirty="0" smtClean="0">
                <a:latin typeface="Times New Roman" pitchFamily="18" charset="0"/>
                <a:cs typeface="Times New Roman" pitchFamily="18" charset="0"/>
              </a:rPr>
              <a:t>values</a:t>
            </a: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The estimates </a:t>
            </a:r>
            <a:r>
              <a:rPr lang="en-US" i="1" dirty="0" smtClean="0">
                <a:latin typeface="Times New Roman" pitchFamily="18" charset="0"/>
                <a:cs typeface="Times New Roman" pitchFamily="18" charset="0"/>
              </a:rPr>
              <a:t>Yi obtained from the regression line.</a:t>
            </a:r>
          </a:p>
          <a:p>
            <a:r>
              <a:rPr lang="en-US" i="1" dirty="0" smtClean="0">
                <a:latin typeface="Times New Roman" pitchFamily="18" charset="0"/>
                <a:cs typeface="Times New Roman" pitchFamily="18" charset="0"/>
              </a:rPr>
              <a:t>Synonym</a:t>
            </a: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predicted 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values</a:t>
            </a:r>
          </a:p>
          <a:p>
            <a:endParaRPr lang="en-US" dirty="0" smtClean="0">
              <a:latin typeface="Times New Roman" pitchFamily="18" charset="0"/>
              <a:cs typeface="Times New Roman" pitchFamily="18" charset="0"/>
            </a:endParaRPr>
          </a:p>
          <a:p>
            <a:r>
              <a:rPr lang="en-US" b="1" i="1" dirty="0" smtClean="0">
                <a:latin typeface="Times New Roman" pitchFamily="18" charset="0"/>
                <a:cs typeface="Times New Roman" pitchFamily="18" charset="0"/>
              </a:rPr>
              <a:t>Residuals</a:t>
            </a: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The difference between the observed values and the fitted values.</a:t>
            </a:r>
          </a:p>
          <a:p>
            <a:r>
              <a:rPr lang="en-US" i="1" dirty="0" smtClean="0">
                <a:latin typeface="Times New Roman" pitchFamily="18" charset="0"/>
                <a:cs typeface="Times New Roman" pitchFamily="18" charset="0"/>
              </a:rPr>
              <a:t>Synonym</a:t>
            </a: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Errors</a:t>
            </a:r>
          </a:p>
          <a:p>
            <a:endParaRPr lang="en-US" dirty="0" smtClean="0">
              <a:latin typeface="Times New Roman" pitchFamily="18" charset="0"/>
              <a:cs typeface="Times New Roman" pitchFamily="18" charset="0"/>
            </a:endParaRPr>
          </a:p>
          <a:p>
            <a:r>
              <a:rPr lang="en-US" b="1" i="1" dirty="0" smtClean="0">
                <a:latin typeface="Times New Roman" pitchFamily="18" charset="0"/>
                <a:cs typeface="Times New Roman" pitchFamily="18" charset="0"/>
              </a:rPr>
              <a:t>Least squares</a:t>
            </a: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The method of fitting a regression by minimizing the sum of squared residuals.</a:t>
            </a:r>
          </a:p>
          <a:p>
            <a:r>
              <a:rPr lang="en-US" i="1" dirty="0" smtClean="0">
                <a:latin typeface="Times New Roman" pitchFamily="18" charset="0"/>
                <a:cs typeface="Times New Roman" pitchFamily="18" charset="0"/>
              </a:rPr>
              <a:t>Synonyms</a:t>
            </a: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ordinary least squares, OLS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203132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 smtClean="0">
                <a:latin typeface="Times New Roman" pitchFamily="18" charset="0"/>
                <a:cs typeface="Times New Roman" pitchFamily="18" charset="0"/>
              </a:rPr>
              <a:t>Factor Variables in </a:t>
            </a:r>
            <a:r>
              <a:rPr lang="en-US" b="1" dirty="0" smtClean="0">
                <a:latin typeface="Times New Roman" pitchFamily="18" charset="0"/>
                <a:cs typeface="Times New Roman" pitchFamily="18" charset="0"/>
              </a:rPr>
              <a:t>Regression</a:t>
            </a:r>
          </a:p>
          <a:p>
            <a:endParaRPr lang="en-US" dirty="0" smtClean="0">
              <a:latin typeface="Times New Roman" pitchFamily="18" charset="0"/>
              <a:cs typeface="Times New Roman" pitchFamily="18" charset="0"/>
            </a:endParaRPr>
          </a:p>
          <a:p>
            <a:pPr algn="just"/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Factor variables, also termed categorical variables, take on a limited number of 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discrete values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. For example, a loan purpose can be “debt consolidation,” “wedding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,” “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car,” and so on. The binary (yes/no) variable, also called an indicator variable, is 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a special case of a factor variable. Regression requires numerical inputs, so factor variables need 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to be recoded to use in the model. The most common approach is to 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convert a 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variable into a set of binary dummy variables.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-79653"/>
            <a:ext cx="9144000" cy="618630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endParaRPr lang="en-US" b="1" dirty="0" smtClean="0">
              <a:latin typeface="Times New Roman" pitchFamily="18" charset="0"/>
              <a:cs typeface="Times New Roman" pitchFamily="18" charset="0"/>
            </a:endParaRPr>
          </a:p>
          <a:p>
            <a:pPr algn="ctr"/>
            <a:r>
              <a:rPr lang="en-US" b="1" dirty="0" smtClean="0">
                <a:latin typeface="Times New Roman" pitchFamily="18" charset="0"/>
                <a:cs typeface="Times New Roman" pitchFamily="18" charset="0"/>
              </a:rPr>
              <a:t>Key </a:t>
            </a:r>
            <a:r>
              <a:rPr lang="en-US" b="1" dirty="0" smtClean="0">
                <a:latin typeface="Times New Roman" pitchFamily="18" charset="0"/>
                <a:cs typeface="Times New Roman" pitchFamily="18" charset="0"/>
              </a:rPr>
              <a:t>Terms for Factor </a:t>
            </a:r>
            <a:r>
              <a:rPr lang="en-US" b="1" dirty="0" smtClean="0">
                <a:latin typeface="Times New Roman" pitchFamily="18" charset="0"/>
                <a:cs typeface="Times New Roman" pitchFamily="18" charset="0"/>
              </a:rPr>
              <a:t>Variables</a:t>
            </a:r>
          </a:p>
          <a:p>
            <a:endParaRPr lang="en-US" dirty="0" smtClean="0">
              <a:latin typeface="Times New Roman" pitchFamily="18" charset="0"/>
              <a:cs typeface="Times New Roman" pitchFamily="18" charset="0"/>
            </a:endParaRPr>
          </a:p>
          <a:p>
            <a:r>
              <a:rPr lang="en-US" b="1" i="1" dirty="0" smtClean="0">
                <a:latin typeface="Times New Roman" pitchFamily="18" charset="0"/>
                <a:cs typeface="Times New Roman" pitchFamily="18" charset="0"/>
              </a:rPr>
              <a:t>Dummy variables</a:t>
            </a: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Binary 0–1 variables derived by recoding factor data for use in regression 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and other 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models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.</a:t>
            </a:r>
          </a:p>
          <a:p>
            <a:endParaRPr lang="en-US" dirty="0" smtClean="0">
              <a:latin typeface="Times New Roman" pitchFamily="18" charset="0"/>
              <a:cs typeface="Times New Roman" pitchFamily="18" charset="0"/>
            </a:endParaRPr>
          </a:p>
          <a:p>
            <a:r>
              <a:rPr lang="en-US" b="1" i="1" dirty="0" smtClean="0">
                <a:latin typeface="Times New Roman" pitchFamily="18" charset="0"/>
                <a:cs typeface="Times New Roman" pitchFamily="18" charset="0"/>
              </a:rPr>
              <a:t>Reference coding</a:t>
            </a: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The most common type of coding used by statisticians, in which one level of 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a factor 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is used as a reference and other factors are compared to that level.</a:t>
            </a:r>
          </a:p>
          <a:p>
            <a:r>
              <a:rPr lang="en-US" i="1" dirty="0" smtClean="0">
                <a:latin typeface="Times New Roman" pitchFamily="18" charset="0"/>
                <a:cs typeface="Times New Roman" pitchFamily="18" charset="0"/>
              </a:rPr>
              <a:t>Synonym</a:t>
            </a: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treatment 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coding</a:t>
            </a:r>
          </a:p>
          <a:p>
            <a:endParaRPr lang="en-US" dirty="0" smtClean="0">
              <a:latin typeface="Times New Roman" pitchFamily="18" charset="0"/>
              <a:cs typeface="Times New Roman" pitchFamily="18" charset="0"/>
            </a:endParaRPr>
          </a:p>
          <a:p>
            <a:r>
              <a:rPr lang="en-US" b="1" i="1" dirty="0" smtClean="0">
                <a:latin typeface="Times New Roman" pitchFamily="18" charset="0"/>
                <a:cs typeface="Times New Roman" pitchFamily="18" charset="0"/>
              </a:rPr>
              <a:t>One hot encoder</a:t>
            </a: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A common type of coding used in the machine learning community in which 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all factor 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levels are retained. While useful for certain machine learning 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algorithms, this 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approach is not appropriate for multiple linear regression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.</a:t>
            </a:r>
          </a:p>
          <a:p>
            <a:endParaRPr lang="en-US" dirty="0" smtClean="0">
              <a:latin typeface="Times New Roman" pitchFamily="18" charset="0"/>
              <a:cs typeface="Times New Roman" pitchFamily="18" charset="0"/>
            </a:endParaRPr>
          </a:p>
          <a:p>
            <a:r>
              <a:rPr lang="en-US" b="1" i="1" dirty="0" smtClean="0">
                <a:latin typeface="Times New Roman" pitchFamily="18" charset="0"/>
                <a:cs typeface="Times New Roman" pitchFamily="18" charset="0"/>
              </a:rPr>
              <a:t>Deviation coding</a:t>
            </a: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A type of coding that compares each level against the overall mean as opposed 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to the 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reference level.</a:t>
            </a:r>
          </a:p>
          <a:p>
            <a:r>
              <a:rPr lang="en-US" i="1" dirty="0" smtClean="0">
                <a:latin typeface="Times New Roman" pitchFamily="18" charset="0"/>
                <a:cs typeface="Times New Roman" pitchFamily="18" charset="0"/>
              </a:rPr>
              <a:t>Synonym</a:t>
            </a: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sum contrasts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59093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 smtClean="0">
                <a:latin typeface="Times New Roman" pitchFamily="18" charset="0"/>
                <a:cs typeface="Times New Roman" pitchFamily="18" charset="0"/>
              </a:rPr>
              <a:t>Dummy Variables </a:t>
            </a:r>
            <a:r>
              <a:rPr lang="en-US" b="1" dirty="0" smtClean="0">
                <a:latin typeface="Times New Roman" pitchFamily="18" charset="0"/>
                <a:cs typeface="Times New Roman" pitchFamily="18" charset="0"/>
              </a:rPr>
              <a:t>Representation</a:t>
            </a:r>
          </a:p>
          <a:p>
            <a:endParaRPr lang="en-US" dirty="0" smtClean="0">
              <a:latin typeface="Times New Roman" pitchFamily="18" charset="0"/>
              <a:cs typeface="Times New Roman" pitchFamily="18" charset="0"/>
            </a:endParaRP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In 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the King County housing data, there is a factor variable for the property type; 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a small 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subset of six records is shown below:</a:t>
            </a:r>
          </a:p>
          <a:p>
            <a:endParaRPr lang="en-IN" dirty="0" smtClean="0">
              <a:latin typeface="Times New Roman" pitchFamily="18" charset="0"/>
              <a:cs typeface="Times New Roman" pitchFamily="18" charset="0"/>
            </a:endParaRPr>
          </a:p>
          <a:p>
            <a:r>
              <a:rPr lang="en-US" b="1" i="1" dirty="0" smtClean="0">
                <a:latin typeface="Times New Roman" pitchFamily="18" charset="0"/>
                <a:cs typeface="Times New Roman" pitchFamily="18" charset="0"/>
              </a:rPr>
              <a:t>Python</a:t>
            </a:r>
            <a:r>
              <a:rPr lang="en-US" b="1" i="1" dirty="0" smtClean="0">
                <a:latin typeface="Times New Roman" pitchFamily="18" charset="0"/>
                <a:cs typeface="Times New Roman" pitchFamily="18" charset="0"/>
              </a:rPr>
              <a:t>:</a:t>
            </a:r>
          </a:p>
          <a:p>
            <a:endParaRPr lang="en-US" b="1" i="1" dirty="0" smtClean="0">
              <a:latin typeface="Times New Roman" pitchFamily="18" charset="0"/>
              <a:cs typeface="Times New Roman" pitchFamily="18" charset="0"/>
            </a:endParaRPr>
          </a:p>
          <a:p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house.PropertyType.head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()</a:t>
            </a:r>
          </a:p>
          <a:p>
            <a:endParaRPr lang="en-IN" dirty="0" smtClean="0">
              <a:latin typeface="Times New Roman" pitchFamily="18" charset="0"/>
              <a:cs typeface="Times New Roman" pitchFamily="18" charset="0"/>
            </a:endParaRP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In </a:t>
            </a:r>
            <a:r>
              <a:rPr lang="en-US" i="1" dirty="0" smtClean="0">
                <a:latin typeface="Times New Roman" pitchFamily="18" charset="0"/>
                <a:cs typeface="Times New Roman" pitchFamily="18" charset="0"/>
              </a:rPr>
              <a:t>Python, we can convert categorical variables to dummies using the pandas </a:t>
            </a:r>
            <a:r>
              <a:rPr lang="en-US" i="1" dirty="0" smtClean="0">
                <a:latin typeface="Times New Roman" pitchFamily="18" charset="0"/>
                <a:cs typeface="Times New Roman" pitchFamily="18" charset="0"/>
              </a:rPr>
              <a:t>method</a:t>
            </a:r>
          </a:p>
          <a:p>
            <a:endParaRPr lang="en-US" i="1" dirty="0" smtClean="0">
              <a:latin typeface="Times New Roman" pitchFamily="18" charset="0"/>
              <a:cs typeface="Times New Roman" pitchFamily="18" charset="0"/>
            </a:endParaRPr>
          </a:p>
          <a:p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get_dummies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:</a:t>
            </a:r>
          </a:p>
          <a:p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pd.get_dummies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(house['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PropertyType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']).head()</a:t>
            </a:r>
          </a:p>
          <a:p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pd.get_dummies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(house['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PropertyType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'],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drop_first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=True).head()</a:t>
            </a:r>
          </a:p>
          <a:p>
            <a:endParaRPr lang="en-IN" dirty="0" smtClean="0">
              <a:latin typeface="Times New Roman" pitchFamily="18" charset="0"/>
              <a:cs typeface="Times New Roman" pitchFamily="18" charset="0"/>
            </a:endParaRPr>
          </a:p>
          <a:p>
            <a:pPr algn="just"/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Interpreting the Regression 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Equation</a:t>
            </a:r>
          </a:p>
          <a:p>
            <a:pPr algn="just"/>
            <a:endParaRPr lang="en-US" dirty="0" smtClean="0">
              <a:latin typeface="Times New Roman" pitchFamily="18" charset="0"/>
              <a:cs typeface="Times New Roman" pitchFamily="18" charset="0"/>
            </a:endParaRPr>
          </a:p>
          <a:p>
            <a:pPr algn="just"/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In data science, the most important use of regression is to predict some 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dependent (outcome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) variable. In some cases, however, gaining insight from the equation itself to understand the nature of the relationship between the predictors and the 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outcome can 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be of value. This section provides guidance on examining the regression 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equation and 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interpreting it.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381000"/>
            <a:ext cx="9144000" cy="59093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b="1" dirty="0" smtClean="0">
                <a:latin typeface="Times New Roman" pitchFamily="18" charset="0"/>
                <a:cs typeface="Times New Roman" pitchFamily="18" charset="0"/>
              </a:rPr>
              <a:t>Key Terms for Interpreting the Regression </a:t>
            </a:r>
            <a:r>
              <a:rPr lang="en-US" b="1" dirty="0" smtClean="0">
                <a:latin typeface="Times New Roman" pitchFamily="18" charset="0"/>
                <a:cs typeface="Times New Roman" pitchFamily="18" charset="0"/>
              </a:rPr>
              <a:t>Equation</a:t>
            </a:r>
          </a:p>
          <a:p>
            <a:pPr algn="ctr"/>
            <a:endParaRPr lang="en-US" b="1" dirty="0" smtClean="0">
              <a:latin typeface="Times New Roman" pitchFamily="18" charset="0"/>
              <a:cs typeface="Times New Roman" pitchFamily="18" charset="0"/>
            </a:endParaRPr>
          </a:p>
          <a:p>
            <a:r>
              <a:rPr lang="en-US" b="1" i="1" dirty="0" smtClean="0">
                <a:latin typeface="Times New Roman" pitchFamily="18" charset="0"/>
                <a:cs typeface="Times New Roman" pitchFamily="18" charset="0"/>
              </a:rPr>
              <a:t>Correlated variables</a:t>
            </a: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When the predictor variables are highly correlated, it is difficult to interpret 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the individual 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coefficients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.</a:t>
            </a:r>
          </a:p>
          <a:p>
            <a:endParaRPr lang="en-US" dirty="0" smtClean="0">
              <a:latin typeface="Times New Roman" pitchFamily="18" charset="0"/>
              <a:cs typeface="Times New Roman" pitchFamily="18" charset="0"/>
            </a:endParaRPr>
          </a:p>
          <a:p>
            <a:r>
              <a:rPr lang="en-US" b="1" i="1" dirty="0" err="1" smtClean="0">
                <a:latin typeface="Times New Roman" pitchFamily="18" charset="0"/>
                <a:cs typeface="Times New Roman" pitchFamily="18" charset="0"/>
              </a:rPr>
              <a:t>Multicollinearity</a:t>
            </a:r>
            <a:endParaRPr lang="en-US" b="1" i="1" dirty="0" smtClean="0">
              <a:latin typeface="Times New Roman" pitchFamily="18" charset="0"/>
              <a:cs typeface="Times New Roman" pitchFamily="18" charset="0"/>
            </a:endParaRP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When the predictor variables have perfect, or near-perfect, correlation, 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the regression 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can be unstable or impossible to compute.</a:t>
            </a:r>
          </a:p>
          <a:p>
            <a:r>
              <a:rPr lang="en-US" i="1" dirty="0" smtClean="0">
                <a:latin typeface="Times New Roman" pitchFamily="18" charset="0"/>
                <a:cs typeface="Times New Roman" pitchFamily="18" charset="0"/>
              </a:rPr>
              <a:t>Synonym</a:t>
            </a:r>
          </a:p>
          <a:p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Collinearity</a:t>
            </a:r>
            <a:endParaRPr lang="en-US" dirty="0" smtClean="0">
              <a:latin typeface="Times New Roman" pitchFamily="18" charset="0"/>
              <a:cs typeface="Times New Roman" pitchFamily="18" charset="0"/>
            </a:endParaRPr>
          </a:p>
          <a:p>
            <a:endParaRPr lang="en-US" dirty="0" smtClean="0">
              <a:latin typeface="Times New Roman" pitchFamily="18" charset="0"/>
              <a:cs typeface="Times New Roman" pitchFamily="18" charset="0"/>
            </a:endParaRPr>
          </a:p>
          <a:p>
            <a:r>
              <a:rPr lang="en-US" b="1" i="1" dirty="0" smtClean="0">
                <a:latin typeface="Times New Roman" pitchFamily="18" charset="0"/>
                <a:cs typeface="Times New Roman" pitchFamily="18" charset="0"/>
              </a:rPr>
              <a:t>Confounding variables</a:t>
            </a: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An important predictor that, when omitted, leads to spurious relationships in 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a regression 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equation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.</a:t>
            </a:r>
          </a:p>
          <a:p>
            <a:endParaRPr lang="en-US" dirty="0" smtClean="0">
              <a:latin typeface="Times New Roman" pitchFamily="18" charset="0"/>
              <a:cs typeface="Times New Roman" pitchFamily="18" charset="0"/>
            </a:endParaRPr>
          </a:p>
          <a:p>
            <a:r>
              <a:rPr lang="en-US" b="1" i="1" dirty="0" smtClean="0">
                <a:latin typeface="Times New Roman" pitchFamily="18" charset="0"/>
                <a:cs typeface="Times New Roman" pitchFamily="18" charset="0"/>
              </a:rPr>
              <a:t>Main effects</a:t>
            </a: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The relationship between a predictor and the outcome variable, independent 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of other 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variables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.</a:t>
            </a:r>
          </a:p>
          <a:p>
            <a:endParaRPr lang="en-US" dirty="0" smtClean="0">
              <a:latin typeface="Times New Roman" pitchFamily="18" charset="0"/>
              <a:cs typeface="Times New Roman" pitchFamily="18" charset="0"/>
            </a:endParaRPr>
          </a:p>
          <a:p>
            <a:r>
              <a:rPr lang="en-US" b="1" i="1" dirty="0" smtClean="0">
                <a:latin typeface="Times New Roman" pitchFamily="18" charset="0"/>
                <a:cs typeface="Times New Roman" pitchFamily="18" charset="0"/>
              </a:rPr>
              <a:t>Interactions</a:t>
            </a: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An interdependent relationship between two or more predictors and 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the response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.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0" y="335846"/>
            <a:ext cx="9144000" cy="563231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n-US" b="1" dirty="0" smtClean="0">
                <a:latin typeface="Times New Roman" pitchFamily="18" charset="0"/>
                <a:cs typeface="Times New Roman" pitchFamily="18" charset="0"/>
              </a:rPr>
              <a:t>Regression </a:t>
            </a:r>
            <a:r>
              <a:rPr lang="en-US" b="1" dirty="0" smtClean="0">
                <a:latin typeface="Times New Roman" pitchFamily="18" charset="0"/>
                <a:cs typeface="Times New Roman" pitchFamily="18" charset="0"/>
              </a:rPr>
              <a:t>Diagnostics</a:t>
            </a:r>
          </a:p>
          <a:p>
            <a:pPr algn="just"/>
            <a:endParaRPr lang="en-US" dirty="0" smtClean="0">
              <a:latin typeface="Times New Roman" pitchFamily="18" charset="0"/>
              <a:cs typeface="Times New Roman" pitchFamily="18" charset="0"/>
            </a:endParaRPr>
          </a:p>
          <a:p>
            <a:pPr algn="just"/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In explanatory modeling (i.e., in a research context), various steps, in addition to 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the metrics 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mentioned previously (see “Assessing the Model” on page 153), are taken 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to assess 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how well the model fits the data; most are based on analysis of the residuals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.</a:t>
            </a:r>
          </a:p>
          <a:p>
            <a:pPr algn="just"/>
            <a:endParaRPr lang="en-US" dirty="0" smtClean="0">
              <a:latin typeface="Times New Roman" pitchFamily="18" charset="0"/>
              <a:cs typeface="Times New Roman" pitchFamily="18" charset="0"/>
            </a:endParaRPr>
          </a:p>
          <a:p>
            <a:pPr algn="just"/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These steps do not directly address predictive accuracy, but they can provide 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useful insight 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in a predictive setting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.</a:t>
            </a:r>
            <a:endParaRPr lang="en-US" dirty="0" smtClean="0">
              <a:latin typeface="Times New Roman" pitchFamily="18" charset="0"/>
              <a:cs typeface="Times New Roman" pitchFamily="18" charset="0"/>
            </a:endParaRPr>
          </a:p>
          <a:p>
            <a:pPr algn="ctr"/>
            <a:r>
              <a:rPr lang="en-US" b="1" dirty="0" smtClean="0">
                <a:latin typeface="Times New Roman" pitchFamily="18" charset="0"/>
                <a:cs typeface="Times New Roman" pitchFamily="18" charset="0"/>
              </a:rPr>
              <a:t>Key Terms for Regression </a:t>
            </a:r>
            <a:r>
              <a:rPr lang="en-US" b="1" dirty="0" smtClean="0">
                <a:latin typeface="Times New Roman" pitchFamily="18" charset="0"/>
                <a:cs typeface="Times New Roman" pitchFamily="18" charset="0"/>
              </a:rPr>
              <a:t>Diagnostics</a:t>
            </a:r>
          </a:p>
          <a:p>
            <a:pPr algn="just"/>
            <a:endParaRPr lang="en-US" b="1" dirty="0" smtClean="0">
              <a:latin typeface="Times New Roman" pitchFamily="18" charset="0"/>
              <a:cs typeface="Times New Roman" pitchFamily="18" charset="0"/>
            </a:endParaRPr>
          </a:p>
          <a:p>
            <a:pPr algn="just"/>
            <a:r>
              <a:rPr lang="en-US" b="1" i="1" dirty="0" smtClean="0">
                <a:latin typeface="Times New Roman" pitchFamily="18" charset="0"/>
                <a:cs typeface="Times New Roman" pitchFamily="18" charset="0"/>
              </a:rPr>
              <a:t>Standardized residuals</a:t>
            </a:r>
          </a:p>
          <a:p>
            <a:pPr algn="just"/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Residuals divided by the standard error of the residuals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.</a:t>
            </a:r>
          </a:p>
          <a:p>
            <a:pPr algn="just"/>
            <a:endParaRPr lang="en-US" dirty="0" smtClean="0">
              <a:latin typeface="Times New Roman" pitchFamily="18" charset="0"/>
              <a:cs typeface="Times New Roman" pitchFamily="18" charset="0"/>
            </a:endParaRPr>
          </a:p>
          <a:p>
            <a:pPr algn="just"/>
            <a:r>
              <a:rPr lang="en-US" b="1" i="1" dirty="0" smtClean="0">
                <a:latin typeface="Times New Roman" pitchFamily="18" charset="0"/>
                <a:cs typeface="Times New Roman" pitchFamily="18" charset="0"/>
              </a:rPr>
              <a:t>Outliers</a:t>
            </a:r>
          </a:p>
          <a:p>
            <a:pPr algn="just"/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Records (or outcome values) that are distant from the rest of the data (or the 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predicted outcome).</a:t>
            </a:r>
          </a:p>
          <a:p>
            <a:pPr algn="just"/>
            <a:endParaRPr lang="en-US" dirty="0" smtClean="0">
              <a:latin typeface="Times New Roman" pitchFamily="18" charset="0"/>
              <a:cs typeface="Times New Roman" pitchFamily="18" charset="0"/>
            </a:endParaRPr>
          </a:p>
          <a:p>
            <a:pPr algn="just"/>
            <a:r>
              <a:rPr lang="en-US" b="1" i="1" dirty="0" smtClean="0">
                <a:latin typeface="Times New Roman" pitchFamily="18" charset="0"/>
                <a:cs typeface="Times New Roman" pitchFamily="18" charset="0"/>
              </a:rPr>
              <a:t>Influential value</a:t>
            </a:r>
          </a:p>
          <a:p>
            <a:pPr algn="just"/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A value or record whose presence or absence makes a big difference in 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the regression 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equation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.</a:t>
            </a:r>
          </a:p>
          <a:p>
            <a:pPr algn="just"/>
            <a:endParaRPr lang="en-IN" dirty="0" smtClean="0">
              <a:latin typeface="Times New Roman" pitchFamily="18" charset="0"/>
              <a:cs typeface="Times New Roman" pitchFamily="18" charset="0"/>
            </a:endParaRPr>
          </a:p>
          <a:p>
            <a:pPr algn="just"/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0" y="5380672"/>
            <a:ext cx="9144000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i="1" dirty="0" smtClean="0">
                <a:latin typeface="Times New Roman" pitchFamily="18" charset="0"/>
                <a:cs typeface="Times New Roman" pitchFamily="18" charset="0"/>
              </a:rPr>
              <a:t>Leverage</a:t>
            </a: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The degree of influence that a single record has on a regression equation.</a:t>
            </a:r>
          </a:p>
          <a:p>
            <a:r>
              <a:rPr lang="en-US" i="1" dirty="0" smtClean="0">
                <a:latin typeface="Times New Roman" pitchFamily="18" charset="0"/>
                <a:cs typeface="Times New Roman" pitchFamily="18" charset="0"/>
              </a:rPr>
              <a:t>Synonym</a:t>
            </a: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hat-value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67403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endParaRPr lang="en-US" b="1" i="1" dirty="0" smtClean="0"/>
          </a:p>
          <a:p>
            <a:pPr algn="just"/>
            <a:r>
              <a:rPr lang="en-US" b="1" i="1" dirty="0" smtClean="0">
                <a:latin typeface="Times New Roman" pitchFamily="18" charset="0"/>
                <a:cs typeface="Times New Roman" pitchFamily="18" charset="0"/>
              </a:rPr>
              <a:t>Non-normal </a:t>
            </a:r>
            <a:r>
              <a:rPr lang="en-US" b="1" i="1" dirty="0" smtClean="0">
                <a:latin typeface="Times New Roman" pitchFamily="18" charset="0"/>
                <a:cs typeface="Times New Roman" pitchFamily="18" charset="0"/>
              </a:rPr>
              <a:t>residuals</a:t>
            </a:r>
          </a:p>
          <a:p>
            <a:pPr algn="just"/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Non-normally distributed residuals can invalidate some technical 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requirements of 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regression but are usually not a concern in data science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.</a:t>
            </a:r>
          </a:p>
          <a:p>
            <a:pPr algn="just"/>
            <a:endParaRPr lang="en-US" dirty="0" smtClean="0">
              <a:latin typeface="Times New Roman" pitchFamily="18" charset="0"/>
              <a:cs typeface="Times New Roman" pitchFamily="18" charset="0"/>
            </a:endParaRPr>
          </a:p>
          <a:p>
            <a:pPr algn="just"/>
            <a:r>
              <a:rPr lang="en-US" b="1" i="1" dirty="0" err="1" smtClean="0">
                <a:latin typeface="Times New Roman" pitchFamily="18" charset="0"/>
                <a:cs typeface="Times New Roman" pitchFamily="18" charset="0"/>
              </a:rPr>
              <a:t>Heteroskedasticity</a:t>
            </a:r>
            <a:endParaRPr lang="en-US" b="1" i="1" dirty="0" smtClean="0">
              <a:latin typeface="Times New Roman" pitchFamily="18" charset="0"/>
              <a:cs typeface="Times New Roman" pitchFamily="18" charset="0"/>
            </a:endParaRPr>
          </a:p>
          <a:p>
            <a:pPr algn="just"/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When some ranges of the outcome experience residuals with higher 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variance (may 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indicate a predictor missing from the equation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).</a:t>
            </a:r>
          </a:p>
          <a:p>
            <a:pPr algn="just"/>
            <a:endParaRPr lang="en-US" dirty="0" smtClean="0">
              <a:latin typeface="Times New Roman" pitchFamily="18" charset="0"/>
              <a:cs typeface="Times New Roman" pitchFamily="18" charset="0"/>
            </a:endParaRPr>
          </a:p>
          <a:p>
            <a:pPr algn="just"/>
            <a:r>
              <a:rPr lang="en-US" b="1" i="1" dirty="0" smtClean="0">
                <a:latin typeface="Times New Roman" pitchFamily="18" charset="0"/>
                <a:cs typeface="Times New Roman" pitchFamily="18" charset="0"/>
              </a:rPr>
              <a:t>Partial residual plots</a:t>
            </a:r>
          </a:p>
          <a:p>
            <a:pPr algn="just"/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A diagnostic plot to illuminate the relationship between the outcome 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variable and 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a single predictor.</a:t>
            </a:r>
          </a:p>
          <a:p>
            <a:pPr algn="just"/>
            <a:r>
              <a:rPr lang="en-US" i="1" dirty="0" smtClean="0">
                <a:latin typeface="Times New Roman" pitchFamily="18" charset="0"/>
                <a:cs typeface="Times New Roman" pitchFamily="18" charset="0"/>
              </a:rPr>
              <a:t>Synonym</a:t>
            </a:r>
          </a:p>
          <a:p>
            <a:pPr algn="just"/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added variables 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plot</a:t>
            </a:r>
          </a:p>
          <a:p>
            <a:pPr algn="just"/>
            <a:endParaRPr lang="en-US" dirty="0" smtClean="0">
              <a:latin typeface="Times New Roman" pitchFamily="18" charset="0"/>
              <a:cs typeface="Times New Roman" pitchFamily="18" charset="0"/>
            </a:endParaRPr>
          </a:p>
          <a:p>
            <a:pPr algn="just"/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Let’s fit a regression to the King County house sales data for all sales in zip code 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98105</a:t>
            </a:r>
          </a:p>
          <a:p>
            <a:pPr algn="just"/>
            <a:endParaRPr lang="en-IN" dirty="0" smtClean="0">
              <a:latin typeface="Times New Roman" pitchFamily="18" charset="0"/>
              <a:cs typeface="Times New Roman" pitchFamily="18" charset="0"/>
            </a:endParaRPr>
          </a:p>
          <a:p>
            <a:r>
              <a:rPr lang="en-US" b="1" dirty="0" smtClean="0">
                <a:latin typeface="Times New Roman" pitchFamily="18" charset="0"/>
                <a:cs typeface="Times New Roman" pitchFamily="18" charset="0"/>
              </a:rPr>
              <a:t>In </a:t>
            </a:r>
            <a:r>
              <a:rPr lang="en-US" b="1" i="1" dirty="0" smtClean="0">
                <a:latin typeface="Times New Roman" pitchFamily="18" charset="0"/>
                <a:cs typeface="Times New Roman" pitchFamily="18" charset="0"/>
              </a:rPr>
              <a:t>Python:</a:t>
            </a: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house_98105 = house.loc[house['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ZipCode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'] == 98105, ]</a:t>
            </a: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predictors = ['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SqFtTotLiving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', '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SqFtLot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', 'Bathrooms', 'Bedrooms', '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BldgGrade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']</a:t>
            </a: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outcome = '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AdjSalePrice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'</a:t>
            </a:r>
          </a:p>
          <a:p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house_outlier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= sm.OLS(house_98105[outcome],</a:t>
            </a: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house_98105[predictors].assign(const=1))</a:t>
            </a: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result_98105 = house_outlier.fit(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304800"/>
            <a:ext cx="9144000" cy="424731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n-US" b="1" dirty="0" smtClean="0">
                <a:latin typeface="Times New Roman" pitchFamily="18" charset="0"/>
                <a:cs typeface="Times New Roman" pitchFamily="18" charset="0"/>
              </a:rPr>
              <a:t>Influential </a:t>
            </a:r>
            <a:r>
              <a:rPr lang="en-US" b="1" dirty="0" smtClean="0">
                <a:latin typeface="Times New Roman" pitchFamily="18" charset="0"/>
                <a:cs typeface="Times New Roman" pitchFamily="18" charset="0"/>
              </a:rPr>
              <a:t>Values</a:t>
            </a:r>
          </a:p>
          <a:p>
            <a:pPr algn="just"/>
            <a:endParaRPr lang="en-US" dirty="0" smtClean="0">
              <a:latin typeface="Times New Roman" pitchFamily="18" charset="0"/>
              <a:cs typeface="Times New Roman" pitchFamily="18" charset="0"/>
            </a:endParaRPr>
          </a:p>
          <a:p>
            <a:pPr algn="just"/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A value whose absence would significantly change the regression equation is 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termed an </a:t>
            </a:r>
            <a:r>
              <a:rPr lang="en-US" i="1" dirty="0" smtClean="0">
                <a:latin typeface="Times New Roman" pitchFamily="18" charset="0"/>
                <a:cs typeface="Times New Roman" pitchFamily="18" charset="0"/>
              </a:rPr>
              <a:t>influential observation. In regression, such a value need not be associated with </a:t>
            </a:r>
            <a:r>
              <a:rPr lang="en-US" i="1" dirty="0" smtClean="0">
                <a:latin typeface="Times New Roman" pitchFamily="18" charset="0"/>
                <a:cs typeface="Times New Roman" pitchFamily="18" charset="0"/>
              </a:rPr>
              <a:t>a 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large 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residual. As an example, consider the regression lines in Figure 4-5. The 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solid line 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corresponds to the regression with all the data, while the dashed line 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corresponds to 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the regression with the point in the upper-right corner removed. Clearly, that 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data value 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has a huge influence on the regression even though it is not associated with 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a large 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outlier (from the full regression). This data value is considered to have high </a:t>
            </a:r>
            <a:r>
              <a:rPr lang="en-US" i="1" dirty="0" smtClean="0">
                <a:latin typeface="Times New Roman" pitchFamily="18" charset="0"/>
                <a:cs typeface="Times New Roman" pitchFamily="18" charset="0"/>
              </a:rPr>
              <a:t>leverage 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on 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the regression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.</a:t>
            </a:r>
          </a:p>
          <a:p>
            <a:pPr algn="just"/>
            <a:endParaRPr lang="en-IN" dirty="0" smtClean="0">
              <a:latin typeface="Times New Roman" pitchFamily="18" charset="0"/>
              <a:cs typeface="Times New Roman" pitchFamily="18" charset="0"/>
            </a:endParaRP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In addition to standardized residuals (see “Outliers” on page 177), statisticians 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have developed 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several metrics to determine the influence of a single record on a regression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.</a:t>
            </a:r>
          </a:p>
          <a:p>
            <a:endParaRPr lang="en-US" dirty="0" smtClean="0">
              <a:latin typeface="Times New Roman" pitchFamily="18" charset="0"/>
              <a:cs typeface="Times New Roman" pitchFamily="18" charset="0"/>
            </a:endParaRP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A common measure of leverage is the </a:t>
            </a:r>
            <a:r>
              <a:rPr lang="en-US" i="1" dirty="0" smtClean="0">
                <a:latin typeface="Times New Roman" pitchFamily="18" charset="0"/>
                <a:cs typeface="Times New Roman" pitchFamily="18" charset="0"/>
              </a:rPr>
              <a:t>hat-value; values above 2 P + 1 /n </a:t>
            </a:r>
            <a:r>
              <a:rPr lang="en-US" i="1" dirty="0" smtClean="0">
                <a:latin typeface="Times New Roman" pitchFamily="18" charset="0"/>
                <a:cs typeface="Times New Roman" pitchFamily="18" charset="0"/>
              </a:rPr>
              <a:t>indicate 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a 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high-leverage data value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3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553200" y="4267200"/>
            <a:ext cx="2362200" cy="2362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4" name="Rectangle 3"/>
          <p:cNvSpPr/>
          <p:nvPr/>
        </p:nvSpPr>
        <p:spPr>
          <a:xfrm>
            <a:off x="0" y="6211669"/>
            <a:ext cx="6477000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i="1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i="1" dirty="0" smtClean="0"/>
              <a:t>Figure 4-5</a:t>
            </a:r>
            <a:r>
              <a:rPr lang="en-US" i="1" dirty="0" smtClean="0"/>
              <a:t>. </a:t>
            </a:r>
            <a:r>
              <a:rPr lang="en-US" i="1" dirty="0" smtClean="0">
                <a:latin typeface="Times New Roman" pitchFamily="18" charset="0"/>
                <a:cs typeface="Times New Roman" pitchFamily="18" charset="0"/>
              </a:rPr>
              <a:t>An </a:t>
            </a:r>
            <a:r>
              <a:rPr lang="en-US" i="1" dirty="0" smtClean="0">
                <a:latin typeface="Times New Roman" pitchFamily="18" charset="0"/>
                <a:cs typeface="Times New Roman" pitchFamily="18" charset="0"/>
              </a:rPr>
              <a:t>example of an influential data point in regression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0" y="304800"/>
            <a:ext cx="8991600" cy="59093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Another metric is </a:t>
            </a:r>
            <a:r>
              <a:rPr lang="en-US" i="1" dirty="0" smtClean="0">
                <a:latin typeface="Times New Roman" pitchFamily="18" charset="0"/>
                <a:cs typeface="Times New Roman" pitchFamily="18" charset="0"/>
              </a:rPr>
              <a:t>Cook’s distance, which defines influence as a combination of </a:t>
            </a:r>
            <a:r>
              <a:rPr lang="en-US" i="1" dirty="0" smtClean="0">
                <a:latin typeface="Times New Roman" pitchFamily="18" charset="0"/>
                <a:cs typeface="Times New Roman" pitchFamily="18" charset="0"/>
              </a:rPr>
              <a:t>leverage 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and 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residual size. A rule of thumb is that an observation has high influence 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if Cook’s distance exceeds 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4/ </a:t>
            </a:r>
            <a:r>
              <a:rPr lang="en-US" i="1" dirty="0" smtClean="0">
                <a:latin typeface="Times New Roman" pitchFamily="18" charset="0"/>
                <a:cs typeface="Times New Roman" pitchFamily="18" charset="0"/>
              </a:rPr>
              <a:t>n − P − 1 </a:t>
            </a:r>
            <a:r>
              <a:rPr lang="en-US" i="1" dirty="0" smtClean="0">
                <a:latin typeface="Times New Roman" pitchFamily="18" charset="0"/>
                <a:cs typeface="Times New Roman" pitchFamily="18" charset="0"/>
              </a:rPr>
              <a:t>.</a:t>
            </a: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An </a:t>
            </a:r>
            <a:r>
              <a:rPr lang="en-US" i="1" dirty="0" smtClean="0">
                <a:latin typeface="Times New Roman" pitchFamily="18" charset="0"/>
                <a:cs typeface="Times New Roman" pitchFamily="18" charset="0"/>
              </a:rPr>
              <a:t>influence plot or bubble plot combines standardized residuals, the hat-value, </a:t>
            </a:r>
            <a:r>
              <a:rPr lang="en-US" i="1" dirty="0" smtClean="0">
                <a:latin typeface="Times New Roman" pitchFamily="18" charset="0"/>
                <a:cs typeface="Times New Roman" pitchFamily="18" charset="0"/>
              </a:rPr>
              <a:t>and 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Cook’s 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distance in a single plot. Figure 4-6 shows the influence plot for the 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King County 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house 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data</a:t>
            </a: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Here is the </a:t>
            </a:r>
            <a:r>
              <a:rPr lang="en-US" i="1" dirty="0" smtClean="0">
                <a:latin typeface="Times New Roman" pitchFamily="18" charset="0"/>
                <a:cs typeface="Times New Roman" pitchFamily="18" charset="0"/>
              </a:rPr>
              <a:t>Python code to create a similar figure</a:t>
            </a:r>
            <a:r>
              <a:rPr lang="en-US" i="1" dirty="0" smtClean="0">
                <a:latin typeface="Times New Roman" pitchFamily="18" charset="0"/>
                <a:cs typeface="Times New Roman" pitchFamily="18" charset="0"/>
              </a:rPr>
              <a:t>:</a:t>
            </a:r>
          </a:p>
          <a:p>
            <a:endParaRPr lang="en-US" i="1" dirty="0" smtClean="0">
              <a:latin typeface="Times New Roman" pitchFamily="18" charset="0"/>
              <a:cs typeface="Times New Roman" pitchFamily="18" charset="0"/>
            </a:endParaRP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influence =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OLSInfluence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(result_98105)</a:t>
            </a: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fig, ax =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plt.subplots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(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figsize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=(5, 5))</a:t>
            </a:r>
          </a:p>
          <a:p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ax.axhline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(-2.5,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linestyle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='--', color='C1')</a:t>
            </a:r>
          </a:p>
          <a:p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ax.axhline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(2.5,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linestyle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='--', color='C1')</a:t>
            </a:r>
          </a:p>
          <a:p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ax.scatter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(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influence.hat_matrix_diag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,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influence.resid_studentized_internal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,</a:t>
            </a: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s=1000 *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np.sqrt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(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influence.cooks_distance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[0]),</a:t>
            </a: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alpha=0.5)</a:t>
            </a:r>
          </a:p>
          <a:p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ax.set_xlabel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('hat values')</a:t>
            </a:r>
          </a:p>
          <a:p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ax.set_ylabel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('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studentized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residuals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')</a:t>
            </a:r>
          </a:p>
          <a:p>
            <a:endParaRPr lang="en-US" dirty="0" smtClean="0">
              <a:latin typeface="Times New Roman" pitchFamily="18" charset="0"/>
              <a:cs typeface="Times New Roman" pitchFamily="18" charset="0"/>
            </a:endParaRP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There are apparently several data points that exhibit large influence in the 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regression. Cook’s 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distance can be computed using the function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cooks.distance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, and you 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can use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hatvalues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to compute the diagnostics. The hat values are plotted on the 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x-axis, the 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residuals are plotted on the y-axis, and the size of the points is related to the 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value of 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Cook’s distance.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5410199" y="304800"/>
            <a:ext cx="3545481" cy="3886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3" name="Rectangle 2"/>
          <p:cNvSpPr/>
          <p:nvPr/>
        </p:nvSpPr>
        <p:spPr>
          <a:xfrm>
            <a:off x="0" y="4800600"/>
            <a:ext cx="9144000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i="1" dirty="0" smtClean="0">
                <a:latin typeface="Times New Roman" pitchFamily="18" charset="0"/>
                <a:cs typeface="Times New Roman" pitchFamily="18" charset="0"/>
              </a:rPr>
              <a:t>Figure 4-6</a:t>
            </a:r>
            <a:r>
              <a:rPr lang="en-US" i="1" dirty="0" smtClean="0">
                <a:latin typeface="Times New Roman" pitchFamily="18" charset="0"/>
                <a:cs typeface="Times New Roman" pitchFamily="18" charset="0"/>
              </a:rPr>
              <a:t>. A plot to determine which observations have high influence; points </a:t>
            </a:r>
            <a:r>
              <a:rPr lang="en-US" i="1" dirty="0" smtClean="0">
                <a:latin typeface="Times New Roman" pitchFamily="18" charset="0"/>
                <a:cs typeface="Times New Roman" pitchFamily="18" charset="0"/>
              </a:rPr>
              <a:t>with Cook’s </a:t>
            </a:r>
            <a:r>
              <a:rPr lang="en-US" i="1" dirty="0" smtClean="0">
                <a:latin typeface="Times New Roman" pitchFamily="18" charset="0"/>
                <a:cs typeface="Times New Roman" pitchFamily="18" charset="0"/>
              </a:rPr>
              <a:t>distance greater than 0.08 are highlighted in grey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5257800" cy="424731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Table 4-2 compares the regression with the full data set and with highly 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influential data 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points removed (Cook’s distance &gt; 0.08).</a:t>
            </a:r>
          </a:p>
          <a:p>
            <a:pPr algn="just"/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The regression coefficient for Bathrooms changes quite dramatically.7</a:t>
            </a:r>
          </a:p>
          <a:p>
            <a:pPr algn="just"/>
            <a:r>
              <a:rPr lang="en-US" i="1" dirty="0" smtClean="0">
                <a:latin typeface="Times New Roman" pitchFamily="18" charset="0"/>
                <a:cs typeface="Times New Roman" pitchFamily="18" charset="0"/>
              </a:rPr>
              <a:t>Table 4-2. Comparison of regression coefficients with the full data and with influential </a:t>
            </a:r>
            <a:r>
              <a:rPr lang="en-US" i="1" dirty="0" smtClean="0">
                <a:latin typeface="Times New Roman" pitchFamily="18" charset="0"/>
                <a:cs typeface="Times New Roman" pitchFamily="18" charset="0"/>
              </a:rPr>
              <a:t>data removed</a:t>
            </a:r>
            <a:endParaRPr lang="en-US" i="1" dirty="0" smtClean="0">
              <a:latin typeface="Times New Roman" pitchFamily="18" charset="0"/>
              <a:cs typeface="Times New Roman" pitchFamily="18" charset="0"/>
            </a:endParaRPr>
          </a:p>
          <a:p>
            <a:pPr algn="just"/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                                     Original        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Influential removed</a:t>
            </a:r>
          </a:p>
          <a:p>
            <a:pPr algn="just"/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(Intercept) 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                 –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772,550 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           –647,137</a:t>
            </a:r>
            <a:endParaRPr lang="en-US" dirty="0" smtClean="0">
              <a:latin typeface="Times New Roman" pitchFamily="18" charset="0"/>
              <a:cs typeface="Times New Roman" pitchFamily="18" charset="0"/>
            </a:endParaRPr>
          </a:p>
          <a:p>
            <a:pPr algn="just"/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SqFtTotLiving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             210                            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230</a:t>
            </a:r>
          </a:p>
          <a:p>
            <a:pPr algn="just"/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SqFtLot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                        39                               33</a:t>
            </a:r>
            <a:endParaRPr lang="en-US" dirty="0" smtClean="0">
              <a:latin typeface="Times New Roman" pitchFamily="18" charset="0"/>
              <a:cs typeface="Times New Roman" pitchFamily="18" charset="0"/>
            </a:endParaRPr>
          </a:p>
          <a:p>
            <a:pPr algn="just"/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Bathrooms 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                2282                       –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16,132</a:t>
            </a:r>
          </a:p>
          <a:p>
            <a:pPr algn="just"/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Bedrooms                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–26,320 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                   –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22,888</a:t>
            </a:r>
          </a:p>
          <a:p>
            <a:pPr algn="just"/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BldgGrade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               130,000                   114,8</a:t>
            </a:r>
            <a:r>
              <a:rPr lang="en-US" dirty="0" smtClean="0"/>
              <a:t>71</a:t>
            </a:r>
            <a:endParaRPr lang="en-US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457200"/>
            <a:ext cx="9144000" cy="646330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 smtClean="0">
                <a:latin typeface="Times New Roman" pitchFamily="18" charset="0"/>
                <a:cs typeface="Times New Roman" pitchFamily="18" charset="0"/>
              </a:rPr>
              <a:t>Polynomial and </a:t>
            </a:r>
            <a:r>
              <a:rPr lang="en-US" b="1" dirty="0" err="1" smtClean="0">
                <a:latin typeface="Times New Roman" pitchFamily="18" charset="0"/>
                <a:cs typeface="Times New Roman" pitchFamily="18" charset="0"/>
              </a:rPr>
              <a:t>Spline</a:t>
            </a:r>
            <a:r>
              <a:rPr lang="en-US" b="1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b="1" dirty="0" smtClean="0">
                <a:latin typeface="Times New Roman" pitchFamily="18" charset="0"/>
                <a:cs typeface="Times New Roman" pitchFamily="18" charset="0"/>
              </a:rPr>
              <a:t>Regression</a:t>
            </a:r>
          </a:p>
          <a:p>
            <a:endParaRPr lang="en-US" dirty="0" smtClean="0">
              <a:latin typeface="Times New Roman" pitchFamily="18" charset="0"/>
              <a:cs typeface="Times New Roman" pitchFamily="18" charset="0"/>
            </a:endParaRP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The relationship between the response and a predictor variable isn’t necessarily linear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.</a:t>
            </a:r>
          </a:p>
          <a:p>
            <a:endParaRPr lang="en-US" dirty="0" smtClean="0">
              <a:latin typeface="Times New Roman" pitchFamily="18" charset="0"/>
              <a:cs typeface="Times New Roman" pitchFamily="18" charset="0"/>
            </a:endParaRP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The response to the dose of a drug is often nonlinear: doubling the dosage 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generally doesn’t 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lead to a doubled response. The demand for a product isn’t a linear 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function of 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marketing dollars spent; at some point, demand is likely to be saturated. There 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are many 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ways 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that regression 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can be extended to capture these nonlinear effects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.</a:t>
            </a:r>
          </a:p>
          <a:p>
            <a:endParaRPr lang="en-US" dirty="0" smtClean="0">
              <a:latin typeface="Times New Roman" pitchFamily="18" charset="0"/>
              <a:cs typeface="Times New Roman" pitchFamily="18" charset="0"/>
            </a:endParaRPr>
          </a:p>
          <a:p>
            <a:pPr algn="ctr"/>
            <a:r>
              <a:rPr lang="en-US" b="1" dirty="0" smtClean="0">
                <a:latin typeface="Times New Roman" pitchFamily="18" charset="0"/>
                <a:cs typeface="Times New Roman" pitchFamily="18" charset="0"/>
              </a:rPr>
              <a:t>Key Terms for Nonlinear Regression</a:t>
            </a:r>
          </a:p>
          <a:p>
            <a:r>
              <a:rPr lang="en-US" b="1" i="1" dirty="0" smtClean="0">
                <a:latin typeface="Times New Roman" pitchFamily="18" charset="0"/>
                <a:cs typeface="Times New Roman" pitchFamily="18" charset="0"/>
              </a:rPr>
              <a:t>Polynomial regression</a:t>
            </a: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Adds polynomial terms (squares, cubes, etc.) to a regression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.</a:t>
            </a:r>
          </a:p>
          <a:p>
            <a:endParaRPr lang="en-US" dirty="0" smtClean="0">
              <a:latin typeface="Times New Roman" pitchFamily="18" charset="0"/>
              <a:cs typeface="Times New Roman" pitchFamily="18" charset="0"/>
            </a:endParaRPr>
          </a:p>
          <a:p>
            <a:r>
              <a:rPr lang="en-US" b="1" i="1" dirty="0" err="1" smtClean="0">
                <a:latin typeface="Times New Roman" pitchFamily="18" charset="0"/>
                <a:cs typeface="Times New Roman" pitchFamily="18" charset="0"/>
              </a:rPr>
              <a:t>Spline</a:t>
            </a:r>
            <a:r>
              <a:rPr lang="en-US" b="1" i="1" dirty="0" smtClean="0">
                <a:latin typeface="Times New Roman" pitchFamily="18" charset="0"/>
                <a:cs typeface="Times New Roman" pitchFamily="18" charset="0"/>
              </a:rPr>
              <a:t> regression</a:t>
            </a: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Fitting a smooth curve with a series of polynomial segments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.</a:t>
            </a:r>
          </a:p>
          <a:p>
            <a:endParaRPr lang="en-US" dirty="0" smtClean="0">
              <a:latin typeface="Times New Roman" pitchFamily="18" charset="0"/>
              <a:cs typeface="Times New Roman" pitchFamily="18" charset="0"/>
            </a:endParaRPr>
          </a:p>
          <a:p>
            <a:r>
              <a:rPr lang="en-US" b="1" i="1" dirty="0" smtClean="0">
                <a:latin typeface="Times New Roman" pitchFamily="18" charset="0"/>
                <a:cs typeface="Times New Roman" pitchFamily="18" charset="0"/>
              </a:rPr>
              <a:t>Knots</a:t>
            </a: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Values that separate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spline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segments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.</a:t>
            </a:r>
          </a:p>
          <a:p>
            <a:endParaRPr lang="en-US" dirty="0" smtClean="0">
              <a:latin typeface="Times New Roman" pitchFamily="18" charset="0"/>
              <a:cs typeface="Times New Roman" pitchFamily="18" charset="0"/>
            </a:endParaRPr>
          </a:p>
          <a:p>
            <a:r>
              <a:rPr lang="en-US" b="1" i="1" dirty="0" smtClean="0">
                <a:latin typeface="Times New Roman" pitchFamily="18" charset="0"/>
                <a:cs typeface="Times New Roman" pitchFamily="18" charset="0"/>
              </a:rPr>
              <a:t>Generalized additive models</a:t>
            </a:r>
          </a:p>
          <a:p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Spline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models with automated selection of knots.</a:t>
            </a:r>
          </a:p>
          <a:p>
            <a:r>
              <a:rPr lang="en-US" i="1" dirty="0" smtClean="0">
                <a:latin typeface="Times New Roman" pitchFamily="18" charset="0"/>
                <a:cs typeface="Times New Roman" pitchFamily="18" charset="0"/>
              </a:rPr>
              <a:t>Synonym</a:t>
            </a: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GAM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228600"/>
            <a:ext cx="9144000" cy="480131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 smtClean="0">
                <a:latin typeface="Times New Roman" pitchFamily="18" charset="0"/>
                <a:cs typeface="Times New Roman" pitchFamily="18" charset="0"/>
              </a:rPr>
              <a:t>Polynomial</a:t>
            </a:r>
          </a:p>
          <a:p>
            <a:endParaRPr lang="en-US" dirty="0" smtClean="0">
              <a:latin typeface="Times New Roman" pitchFamily="18" charset="0"/>
              <a:cs typeface="Times New Roman" pitchFamily="18" charset="0"/>
            </a:endParaRPr>
          </a:p>
          <a:p>
            <a:r>
              <a:rPr lang="en-US" b="1" i="1" dirty="0" smtClean="0">
                <a:latin typeface="Times New Roman" pitchFamily="18" charset="0"/>
                <a:cs typeface="Times New Roman" pitchFamily="18" charset="0"/>
              </a:rPr>
              <a:t>Polynomial regression </a:t>
            </a:r>
            <a:r>
              <a:rPr lang="en-US" i="1" dirty="0" smtClean="0">
                <a:latin typeface="Times New Roman" pitchFamily="18" charset="0"/>
                <a:cs typeface="Times New Roman" pitchFamily="18" charset="0"/>
              </a:rPr>
              <a:t>involves including polynomial terms in a regression equation</a:t>
            </a:r>
            <a:r>
              <a:rPr lang="en-US" i="1" dirty="0" smtClean="0">
                <a:latin typeface="Times New Roman" pitchFamily="18" charset="0"/>
                <a:cs typeface="Times New Roman" pitchFamily="18" charset="0"/>
              </a:rPr>
              <a:t>.</a:t>
            </a:r>
          </a:p>
          <a:p>
            <a:endParaRPr lang="en-US" i="1" dirty="0" smtClean="0">
              <a:latin typeface="Times New Roman" pitchFamily="18" charset="0"/>
              <a:cs typeface="Times New Roman" pitchFamily="18" charset="0"/>
            </a:endParaRP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The use of polynomial regression dates back almost to the development of 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regression itself 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with a paper by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Gergonne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in 1815. For example, a quadratic regression 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between the 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response </a:t>
            </a:r>
            <a:r>
              <a:rPr lang="en-US" i="1" dirty="0" smtClean="0">
                <a:latin typeface="Times New Roman" pitchFamily="18" charset="0"/>
                <a:cs typeface="Times New Roman" pitchFamily="18" charset="0"/>
              </a:rPr>
              <a:t>Y and the predictor X would take the form</a:t>
            </a:r>
            <a:r>
              <a:rPr lang="en-US" i="1" dirty="0" smtClean="0">
                <a:latin typeface="Times New Roman" pitchFamily="18" charset="0"/>
                <a:cs typeface="Times New Roman" pitchFamily="18" charset="0"/>
              </a:rPr>
              <a:t>:</a:t>
            </a:r>
          </a:p>
          <a:p>
            <a:endParaRPr lang="en-US" i="1" dirty="0" smtClean="0">
              <a:latin typeface="Times New Roman" pitchFamily="18" charset="0"/>
              <a:cs typeface="Times New Roman" pitchFamily="18" charset="0"/>
            </a:endParaRPr>
          </a:p>
          <a:p>
            <a:r>
              <a:rPr lang="es-ES" i="1" dirty="0" smtClean="0">
                <a:latin typeface="Times New Roman" pitchFamily="18" charset="0"/>
                <a:cs typeface="Times New Roman" pitchFamily="18" charset="0"/>
              </a:rPr>
              <a:t>Y = b0 + b1X + </a:t>
            </a:r>
            <a:r>
              <a:rPr lang="es-ES" i="1" dirty="0" smtClean="0">
                <a:latin typeface="Times New Roman" pitchFamily="18" charset="0"/>
                <a:cs typeface="Times New Roman" pitchFamily="18" charset="0"/>
              </a:rPr>
              <a:t>b2X^2 </a:t>
            </a:r>
            <a:r>
              <a:rPr lang="es-ES" i="1" dirty="0" smtClean="0">
                <a:latin typeface="Times New Roman" pitchFamily="18" charset="0"/>
                <a:cs typeface="Times New Roman" pitchFamily="18" charset="0"/>
              </a:rPr>
              <a:t>+ </a:t>
            </a:r>
            <a:r>
              <a:rPr lang="es-ES" i="1" dirty="0" smtClean="0">
                <a:latin typeface="Times New Roman" pitchFamily="18" charset="0"/>
                <a:cs typeface="Times New Roman" pitchFamily="18" charset="0"/>
              </a:rPr>
              <a:t>e</a:t>
            </a:r>
          </a:p>
          <a:p>
            <a:endParaRPr lang="es-ES" i="1" dirty="0" smtClean="0">
              <a:latin typeface="Times New Roman" pitchFamily="18" charset="0"/>
              <a:cs typeface="Times New Roman" pitchFamily="18" charset="0"/>
            </a:endParaRP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In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statsmodels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, we add the squared term to the model definition using 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I(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SqFtTot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Living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**2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):</a:t>
            </a:r>
          </a:p>
          <a:p>
            <a:endParaRPr lang="en-US" dirty="0" smtClean="0">
              <a:latin typeface="Times New Roman" pitchFamily="18" charset="0"/>
              <a:cs typeface="Times New Roman" pitchFamily="18" charset="0"/>
            </a:endParaRPr>
          </a:p>
          <a:p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model_poly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= smf.ols(formula='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AdjSalePrice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~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SqFtTotLiving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+ ' +</a:t>
            </a: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'+ I(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SqFtTotLiving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**2) + ' +</a:t>
            </a: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'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SqFtLot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+ Bathrooms + Bedrooms +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BldgGrade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', data=house_98105)</a:t>
            </a:r>
          </a:p>
          <a:p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result_poly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= model_poly.fit()</a:t>
            </a:r>
          </a:p>
          <a:p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result_poly.summary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()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304800"/>
            <a:ext cx="8991600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The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statsmodels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implementation works only for linear terms. The 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accompanying source 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code gives an implementation that will work for polynomial regression as well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.</a:t>
            </a:r>
          </a:p>
          <a:p>
            <a:endParaRPr lang="en-IN" dirty="0" smtClean="0"/>
          </a:p>
          <a:p>
            <a:endParaRPr lang="en-US" dirty="0"/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5181600" y="1066800"/>
            <a:ext cx="3733800" cy="5410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5" name="Rectangle 4"/>
          <p:cNvSpPr/>
          <p:nvPr/>
        </p:nvSpPr>
        <p:spPr>
          <a:xfrm>
            <a:off x="0" y="1752600"/>
            <a:ext cx="4953000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i="1" dirty="0" smtClean="0">
                <a:latin typeface="Times New Roman" pitchFamily="18" charset="0"/>
                <a:cs typeface="Times New Roman" pitchFamily="18" charset="0"/>
              </a:rPr>
              <a:t>Figure 4-10. A polynomial regression fit for the variable </a:t>
            </a:r>
            <a:r>
              <a:rPr lang="en-US" i="1" dirty="0" err="1" smtClean="0">
                <a:latin typeface="Times New Roman" pitchFamily="18" charset="0"/>
                <a:cs typeface="Times New Roman" pitchFamily="18" charset="0"/>
              </a:rPr>
              <a:t>SqFtTotLiving</a:t>
            </a:r>
            <a:r>
              <a:rPr lang="en-US" i="1" dirty="0" smtClean="0">
                <a:latin typeface="Times New Roman" pitchFamily="18" charset="0"/>
                <a:cs typeface="Times New Roman" pitchFamily="18" charset="0"/>
              </a:rPr>
              <a:t> (solid line) versus a smooth (dashed line; see the following section about </a:t>
            </a:r>
            <a:r>
              <a:rPr lang="en-US" i="1" dirty="0" err="1" smtClean="0">
                <a:latin typeface="Times New Roman" pitchFamily="18" charset="0"/>
                <a:cs typeface="Times New Roman" pitchFamily="18" charset="0"/>
              </a:rPr>
              <a:t>splines</a:t>
            </a:r>
            <a:r>
              <a:rPr lang="en-US" i="1" dirty="0" smtClean="0">
                <a:latin typeface="Times New Roman" pitchFamily="18" charset="0"/>
                <a:cs typeface="Times New Roman" pitchFamily="18" charset="0"/>
              </a:rPr>
              <a:t>)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0" y="3429001"/>
            <a:ext cx="5257800" cy="258532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 err="1" smtClean="0">
                <a:latin typeface="Times New Roman" pitchFamily="18" charset="0"/>
                <a:cs typeface="Times New Roman" pitchFamily="18" charset="0"/>
              </a:rPr>
              <a:t>Splines</a:t>
            </a:r>
            <a:endParaRPr lang="en-US" b="1" dirty="0" smtClean="0">
              <a:latin typeface="Times New Roman" pitchFamily="18" charset="0"/>
              <a:cs typeface="Times New Roman" pitchFamily="18" charset="0"/>
            </a:endParaRPr>
          </a:p>
          <a:p>
            <a:endParaRPr lang="en-US" dirty="0" smtClean="0">
              <a:latin typeface="Times New Roman" pitchFamily="18" charset="0"/>
              <a:cs typeface="Times New Roman" pitchFamily="18" charset="0"/>
            </a:endParaRP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Polynomial regression captures only a certain amount of curvature in a nonlinear relationship. Adding in higher-order terms, such as a cubic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quartic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polynomial, often 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leads to undesirable “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wiggliness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” in 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the regression 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equation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.</a:t>
            </a:r>
          </a:p>
          <a:p>
            <a:endParaRPr lang="en-IN" dirty="0" smtClean="0">
              <a:latin typeface="Times New Roman" pitchFamily="18" charset="0"/>
              <a:cs typeface="Times New Roman" pitchFamily="18" charset="0"/>
            </a:endParaRPr>
          </a:p>
          <a:p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14773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An alternative, and 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often superior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, approach to modeling nonlinear relationships is to use </a:t>
            </a:r>
            <a:r>
              <a:rPr lang="en-US" i="1" dirty="0" err="1" smtClean="0">
                <a:latin typeface="Times New Roman" pitchFamily="18" charset="0"/>
                <a:cs typeface="Times New Roman" pitchFamily="18" charset="0"/>
              </a:rPr>
              <a:t>splines</a:t>
            </a:r>
            <a:r>
              <a:rPr lang="en-US" i="1" dirty="0" smtClean="0">
                <a:latin typeface="Times New Roman" pitchFamily="18" charset="0"/>
                <a:cs typeface="Times New Roman" pitchFamily="18" charset="0"/>
              </a:rPr>
              <a:t>. </a:t>
            </a:r>
            <a:r>
              <a:rPr lang="en-US" i="1" dirty="0" err="1" smtClean="0">
                <a:latin typeface="Times New Roman" pitchFamily="18" charset="0"/>
                <a:cs typeface="Times New Roman" pitchFamily="18" charset="0"/>
              </a:rPr>
              <a:t>Splines</a:t>
            </a:r>
            <a:r>
              <a:rPr lang="en-US" i="1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i="1" dirty="0" smtClean="0">
                <a:latin typeface="Times New Roman" pitchFamily="18" charset="0"/>
                <a:cs typeface="Times New Roman" pitchFamily="18" charset="0"/>
              </a:rPr>
              <a:t>provide 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a 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way to smoothly interpolate between fixed points.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Splines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were originally 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used by 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draftsmen to draw a smooth curve, particularly in ship and aircraft building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.</a:t>
            </a:r>
          </a:p>
          <a:p>
            <a:endParaRPr lang="en-IN" dirty="0" smtClean="0"/>
          </a:p>
          <a:p>
            <a:endParaRPr lang="en-US" dirty="0"/>
          </a:p>
        </p:txBody>
      </p:sp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219200" y="1219200"/>
            <a:ext cx="6696075" cy="2209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4" name="Rectangle 3"/>
          <p:cNvSpPr/>
          <p:nvPr/>
        </p:nvSpPr>
        <p:spPr>
          <a:xfrm>
            <a:off x="0" y="3505200"/>
            <a:ext cx="9144000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i="1" dirty="0" smtClean="0">
                <a:latin typeface="Times New Roman" pitchFamily="18" charset="0"/>
                <a:cs typeface="Times New Roman" pitchFamily="18" charset="0"/>
              </a:rPr>
              <a:t>Figure 4-11. </a:t>
            </a:r>
            <a:r>
              <a:rPr lang="en-US" i="1" dirty="0" err="1" smtClean="0">
                <a:latin typeface="Times New Roman" pitchFamily="18" charset="0"/>
                <a:cs typeface="Times New Roman" pitchFamily="18" charset="0"/>
              </a:rPr>
              <a:t>Splines</a:t>
            </a:r>
            <a:r>
              <a:rPr lang="en-US" i="1" dirty="0" smtClean="0">
                <a:latin typeface="Times New Roman" pitchFamily="18" charset="0"/>
                <a:cs typeface="Times New Roman" pitchFamily="18" charset="0"/>
              </a:rPr>
              <a:t> were originally created using bendable wood and “ducks” and </a:t>
            </a:r>
            <a:r>
              <a:rPr lang="en-US" i="1" dirty="0" smtClean="0">
                <a:latin typeface="Times New Roman" pitchFamily="18" charset="0"/>
                <a:cs typeface="Times New Roman" pitchFamily="18" charset="0"/>
              </a:rPr>
              <a:t>were used </a:t>
            </a:r>
            <a:r>
              <a:rPr lang="en-US" i="1" dirty="0" smtClean="0">
                <a:latin typeface="Times New Roman" pitchFamily="18" charset="0"/>
                <a:cs typeface="Times New Roman" pitchFamily="18" charset="0"/>
              </a:rPr>
              <a:t>as a draftsman’s tool to fit curves (photo courtesy of Bob Perry)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0" y="4343400"/>
            <a:ext cx="8991600" cy="175432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The technical definition of a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spline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is a series of piecewise continuous polynomials.</a:t>
            </a:r>
          </a:p>
          <a:p>
            <a:pPr algn="just"/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They were first developed during World War II at the US Aberdeen Proving 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Grounds by 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I. J. Schoenberg, a Romanian mathematician. The polynomial pieces are 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smoothly connected 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at a series of fixed points in a predictor variable, referred to as </a:t>
            </a:r>
            <a:r>
              <a:rPr lang="en-US" i="1" dirty="0" smtClean="0">
                <a:latin typeface="Times New Roman" pitchFamily="18" charset="0"/>
                <a:cs typeface="Times New Roman" pitchFamily="18" charset="0"/>
              </a:rPr>
              <a:t>knots. </a:t>
            </a:r>
            <a:r>
              <a:rPr lang="en-US" i="1" dirty="0" smtClean="0">
                <a:latin typeface="Times New Roman" pitchFamily="18" charset="0"/>
                <a:cs typeface="Times New Roman" pitchFamily="18" charset="0"/>
              </a:rPr>
              <a:t>Formulation 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of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splines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is much more complicated than polynomial regression; 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statistical software 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usually handles the details of fitting a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spline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.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2286000" y="2828836"/>
            <a:ext cx="4572000" cy="646331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sz="3600" b="1" i="1" dirty="0" smtClean="0">
                <a:solidFill>
                  <a:schemeClr val="tx2">
                    <a:lumMod val="60000"/>
                    <a:lumOff val="40000"/>
                  </a:schemeClr>
                </a:solidFill>
                <a:latin typeface="Times New Roman" pitchFamily="18" charset="0"/>
                <a:cs typeface="Times New Roman" pitchFamily="18" charset="0"/>
              </a:rPr>
              <a:t>           Thank you</a:t>
            </a:r>
            <a:endParaRPr lang="en-US" sz="3600" b="1" dirty="0">
              <a:solidFill>
                <a:schemeClr val="tx2">
                  <a:lumMod val="60000"/>
                  <a:lumOff val="40000"/>
                </a:schemeClr>
              </a:solidFill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74</TotalTime>
  <Words>3920</Words>
  <Application>Microsoft Office PowerPoint</Application>
  <PresentationFormat>On-screen Show (4:3)</PresentationFormat>
  <Paragraphs>332</Paragraphs>
  <Slides>26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26</vt:i4>
      </vt:variant>
    </vt:vector>
  </HeadingPairs>
  <TitlesOfParts>
    <vt:vector size="27" baseType="lpstr"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</vt:vector>
  </TitlesOfParts>
  <Company/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sunil naidu</dc:creator>
  <cp:lastModifiedBy>sunil naidu</cp:lastModifiedBy>
  <cp:revision>2</cp:revision>
  <dcterms:created xsi:type="dcterms:W3CDTF">2006-08-16T00:00:00Z</dcterms:created>
  <dcterms:modified xsi:type="dcterms:W3CDTF">2025-09-29T15:59:26Z</dcterms:modified>
</cp:coreProperties>
</file>
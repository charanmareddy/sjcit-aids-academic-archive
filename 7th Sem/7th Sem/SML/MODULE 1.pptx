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39"/>
  </p:notesMasterIdLst>
  <p:sldIdLst>
    <p:sldId id="311" r:id="rId2"/>
    <p:sldId id="256" r:id="rId3"/>
    <p:sldId id="259" r:id="rId4"/>
    <p:sldId id="305" r:id="rId5"/>
    <p:sldId id="306" r:id="rId6"/>
    <p:sldId id="269" r:id="rId7"/>
    <p:sldId id="270" r:id="rId8"/>
    <p:sldId id="303" r:id="rId9"/>
    <p:sldId id="271" r:id="rId10"/>
    <p:sldId id="272" r:id="rId11"/>
    <p:sldId id="273" r:id="rId12"/>
    <p:sldId id="274" r:id="rId13"/>
    <p:sldId id="275" r:id="rId14"/>
    <p:sldId id="276" r:id="rId15"/>
    <p:sldId id="277" r:id="rId16"/>
    <p:sldId id="278" r:id="rId17"/>
    <p:sldId id="280" r:id="rId18"/>
    <p:sldId id="283" r:id="rId19"/>
    <p:sldId id="284" r:id="rId20"/>
    <p:sldId id="285" r:id="rId21"/>
    <p:sldId id="287" r:id="rId22"/>
    <p:sldId id="288" r:id="rId23"/>
    <p:sldId id="307" r:id="rId24"/>
    <p:sldId id="310" r:id="rId25"/>
    <p:sldId id="289" r:id="rId26"/>
    <p:sldId id="290" r:id="rId27"/>
    <p:sldId id="291" r:id="rId28"/>
    <p:sldId id="308" r:id="rId29"/>
    <p:sldId id="292" r:id="rId30"/>
    <p:sldId id="293" r:id="rId31"/>
    <p:sldId id="298" r:id="rId32"/>
    <p:sldId id="294" r:id="rId33"/>
    <p:sldId id="295" r:id="rId34"/>
    <p:sldId id="299" r:id="rId35"/>
    <p:sldId id="297" r:id="rId36"/>
    <p:sldId id="302" r:id="rId37"/>
    <p:sldId id="309"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48EBCE-CE37-4F08-A945-1F160DA7E1BA}" v="6" dt="2025-08-25T06:11:24.3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ma naidu" userId="b2c986f4a4d90319" providerId="LiveId" clId="{F448EBCE-CE37-4F08-A945-1F160DA7E1BA}"/>
    <pc:docChg chg="undo redo custSel addSld modSld sldOrd">
      <pc:chgData name="prema naidu" userId="b2c986f4a4d90319" providerId="LiveId" clId="{F448EBCE-CE37-4F08-A945-1F160DA7E1BA}" dt="2025-08-26T05:11:22.691" v="532" actId="1076"/>
      <pc:docMkLst>
        <pc:docMk/>
      </pc:docMkLst>
      <pc:sldChg chg="modSp mod">
        <pc:chgData name="prema naidu" userId="b2c986f4a4d90319" providerId="LiveId" clId="{F448EBCE-CE37-4F08-A945-1F160DA7E1BA}" dt="2025-08-25T05:04:26.188" v="2" actId="20577"/>
        <pc:sldMkLst>
          <pc:docMk/>
          <pc:sldMk cId="0" sldId="279"/>
        </pc:sldMkLst>
        <pc:spChg chg="mod">
          <ac:chgData name="prema naidu" userId="b2c986f4a4d90319" providerId="LiveId" clId="{F448EBCE-CE37-4F08-A945-1F160DA7E1BA}" dt="2025-08-25T05:04:26.188" v="2" actId="20577"/>
          <ac:spMkLst>
            <pc:docMk/>
            <pc:sldMk cId="0" sldId="279"/>
            <ac:spMk id="2" creationId="{00000000-0000-0000-0000-000000000000}"/>
          </ac:spMkLst>
        </pc:spChg>
      </pc:sldChg>
      <pc:sldChg chg="addSp modSp mod">
        <pc:chgData name="prema naidu" userId="b2c986f4a4d90319" providerId="LiveId" clId="{F448EBCE-CE37-4F08-A945-1F160DA7E1BA}" dt="2025-08-25T05:37:43.431" v="47" actId="20577"/>
        <pc:sldMkLst>
          <pc:docMk/>
          <pc:sldMk cId="0" sldId="280"/>
        </pc:sldMkLst>
        <pc:spChg chg="add mod">
          <ac:chgData name="prema naidu" userId="b2c986f4a4d90319" providerId="LiveId" clId="{F448EBCE-CE37-4F08-A945-1F160DA7E1BA}" dt="2025-08-25T05:37:43.431" v="47" actId="20577"/>
          <ac:spMkLst>
            <pc:docMk/>
            <pc:sldMk cId="0" sldId="280"/>
            <ac:spMk id="3" creationId="{73974422-259A-CE70-B173-A50D20C3CBE5}"/>
          </ac:spMkLst>
        </pc:spChg>
      </pc:sldChg>
      <pc:sldChg chg="addSp modSp new mod">
        <pc:chgData name="prema naidu" userId="b2c986f4a4d90319" providerId="LiveId" clId="{F448EBCE-CE37-4F08-A945-1F160DA7E1BA}" dt="2025-08-25T05:34:42.489" v="28" actId="20577"/>
        <pc:sldMkLst>
          <pc:docMk/>
          <pc:sldMk cId="1995171195" sldId="283"/>
        </pc:sldMkLst>
        <pc:spChg chg="add mod">
          <ac:chgData name="prema naidu" userId="b2c986f4a4d90319" providerId="LiveId" clId="{F448EBCE-CE37-4F08-A945-1F160DA7E1BA}" dt="2025-08-25T05:34:42.489" v="28" actId="20577"/>
          <ac:spMkLst>
            <pc:docMk/>
            <pc:sldMk cId="1995171195" sldId="283"/>
            <ac:spMk id="3" creationId="{2EEE0496-864E-2B8F-A855-CFCC462E2152}"/>
          </ac:spMkLst>
        </pc:spChg>
        <pc:picChg chg="add mod">
          <ac:chgData name="prema naidu" userId="b2c986f4a4d90319" providerId="LiveId" clId="{F448EBCE-CE37-4F08-A945-1F160DA7E1BA}" dt="2025-08-25T05:34:24.288" v="26" actId="14100"/>
          <ac:picMkLst>
            <pc:docMk/>
            <pc:sldMk cId="1995171195" sldId="283"/>
            <ac:picMk id="5" creationId="{35C7E8B7-7788-E1EF-351F-4FAF58E1CF07}"/>
          </ac:picMkLst>
        </pc:picChg>
      </pc:sldChg>
      <pc:sldChg chg="addSp modSp new mod">
        <pc:chgData name="prema naidu" userId="b2c986f4a4d90319" providerId="LiveId" clId="{F448EBCE-CE37-4F08-A945-1F160DA7E1BA}" dt="2025-08-25T05:42:30.392" v="61"/>
        <pc:sldMkLst>
          <pc:docMk/>
          <pc:sldMk cId="1658173135" sldId="284"/>
        </pc:sldMkLst>
        <pc:spChg chg="add mod">
          <ac:chgData name="prema naidu" userId="b2c986f4a4d90319" providerId="LiveId" clId="{F448EBCE-CE37-4F08-A945-1F160DA7E1BA}" dt="2025-08-25T05:42:30.392" v="61"/>
          <ac:spMkLst>
            <pc:docMk/>
            <pc:sldMk cId="1658173135" sldId="284"/>
            <ac:spMk id="3" creationId="{F759D19D-D3EC-06B2-6497-4EC7C5DE3982}"/>
          </ac:spMkLst>
        </pc:spChg>
      </pc:sldChg>
      <pc:sldChg chg="addSp modSp new mod">
        <pc:chgData name="prema naidu" userId="b2c986f4a4d90319" providerId="LiveId" clId="{F448EBCE-CE37-4F08-A945-1F160DA7E1BA}" dt="2025-08-25T05:52:40.831" v="232" actId="20577"/>
        <pc:sldMkLst>
          <pc:docMk/>
          <pc:sldMk cId="3449295423" sldId="285"/>
        </pc:sldMkLst>
        <pc:spChg chg="add mod">
          <ac:chgData name="prema naidu" userId="b2c986f4a4d90319" providerId="LiveId" clId="{F448EBCE-CE37-4F08-A945-1F160DA7E1BA}" dt="2025-08-25T05:52:40.831" v="232" actId="20577"/>
          <ac:spMkLst>
            <pc:docMk/>
            <pc:sldMk cId="3449295423" sldId="285"/>
            <ac:spMk id="3" creationId="{1BA433B4-5301-496F-932B-14553369BFB9}"/>
          </ac:spMkLst>
        </pc:spChg>
      </pc:sldChg>
      <pc:sldChg chg="addSp modSp new mod">
        <pc:chgData name="prema naidu" userId="b2c986f4a4d90319" providerId="LiveId" clId="{F448EBCE-CE37-4F08-A945-1F160DA7E1BA}" dt="2025-08-25T05:55:31.575" v="242" actId="1076"/>
        <pc:sldMkLst>
          <pc:docMk/>
          <pc:sldMk cId="4035681290" sldId="286"/>
        </pc:sldMkLst>
        <pc:spChg chg="add mod">
          <ac:chgData name="prema naidu" userId="b2c986f4a4d90319" providerId="LiveId" clId="{F448EBCE-CE37-4F08-A945-1F160DA7E1BA}" dt="2025-08-25T05:55:25.738" v="241" actId="1076"/>
          <ac:spMkLst>
            <pc:docMk/>
            <pc:sldMk cId="4035681290" sldId="286"/>
            <ac:spMk id="5" creationId="{05243A69-06CA-F651-285F-6FD2C079D86B}"/>
          </ac:spMkLst>
        </pc:spChg>
        <pc:picChg chg="add mod">
          <ac:chgData name="prema naidu" userId="b2c986f4a4d90319" providerId="LiveId" clId="{F448EBCE-CE37-4F08-A945-1F160DA7E1BA}" dt="2025-08-25T05:55:31.575" v="242" actId="1076"/>
          <ac:picMkLst>
            <pc:docMk/>
            <pc:sldMk cId="4035681290" sldId="286"/>
            <ac:picMk id="3" creationId="{1B5E3212-DD19-1090-BA01-D3D91EC98AEC}"/>
          </ac:picMkLst>
        </pc:picChg>
      </pc:sldChg>
      <pc:sldChg chg="addSp modSp new mod ord">
        <pc:chgData name="prema naidu" userId="b2c986f4a4d90319" providerId="LiveId" clId="{F448EBCE-CE37-4F08-A945-1F160DA7E1BA}" dt="2025-08-25T05:57:07.512" v="254" actId="14100"/>
        <pc:sldMkLst>
          <pc:docMk/>
          <pc:sldMk cId="3815488408" sldId="287"/>
        </pc:sldMkLst>
        <pc:spChg chg="add mod">
          <ac:chgData name="prema naidu" userId="b2c986f4a4d90319" providerId="LiveId" clId="{F448EBCE-CE37-4F08-A945-1F160DA7E1BA}" dt="2025-08-25T05:56:59.306" v="251" actId="1076"/>
          <ac:spMkLst>
            <pc:docMk/>
            <pc:sldMk cId="3815488408" sldId="287"/>
            <ac:spMk id="5" creationId="{71F9BF3B-A5AF-BC5C-4AFC-86B1F52F5506}"/>
          </ac:spMkLst>
        </pc:spChg>
        <pc:picChg chg="add mod">
          <ac:chgData name="prema naidu" userId="b2c986f4a4d90319" providerId="LiveId" clId="{F448EBCE-CE37-4F08-A945-1F160DA7E1BA}" dt="2025-08-25T05:57:07.512" v="254" actId="14100"/>
          <ac:picMkLst>
            <pc:docMk/>
            <pc:sldMk cId="3815488408" sldId="287"/>
            <ac:picMk id="3" creationId="{C3821F50-8B6E-A745-9A69-AB6108305503}"/>
          </ac:picMkLst>
        </pc:picChg>
      </pc:sldChg>
      <pc:sldChg chg="addSp modSp new mod">
        <pc:chgData name="prema naidu" userId="b2c986f4a4d90319" providerId="LiveId" clId="{F448EBCE-CE37-4F08-A945-1F160DA7E1BA}" dt="2025-08-25T05:59:20.518" v="268" actId="113"/>
        <pc:sldMkLst>
          <pc:docMk/>
          <pc:sldMk cId="3989044805" sldId="288"/>
        </pc:sldMkLst>
        <pc:spChg chg="add mod">
          <ac:chgData name="prema naidu" userId="b2c986f4a4d90319" providerId="LiveId" clId="{F448EBCE-CE37-4F08-A945-1F160DA7E1BA}" dt="2025-08-25T05:59:20.518" v="268" actId="113"/>
          <ac:spMkLst>
            <pc:docMk/>
            <pc:sldMk cId="3989044805" sldId="288"/>
            <ac:spMk id="5" creationId="{AA45DACF-8195-4A48-B4DC-0C9E29E2F0E1}"/>
          </ac:spMkLst>
        </pc:spChg>
        <pc:picChg chg="add mod">
          <ac:chgData name="prema naidu" userId="b2c986f4a4d90319" providerId="LiveId" clId="{F448EBCE-CE37-4F08-A945-1F160DA7E1BA}" dt="2025-08-25T05:58:24.211" v="261" actId="14100"/>
          <ac:picMkLst>
            <pc:docMk/>
            <pc:sldMk cId="3989044805" sldId="288"/>
            <ac:picMk id="3" creationId="{84180805-E099-62C6-ED94-21A7DCB22801}"/>
          </ac:picMkLst>
        </pc:picChg>
      </pc:sldChg>
      <pc:sldChg chg="addSp modSp new mod">
        <pc:chgData name="prema naidu" userId="b2c986f4a4d90319" providerId="LiveId" clId="{F448EBCE-CE37-4F08-A945-1F160DA7E1BA}" dt="2025-08-26T04:02:59.406" v="417" actId="14100"/>
        <pc:sldMkLst>
          <pc:docMk/>
          <pc:sldMk cId="973088206" sldId="289"/>
        </pc:sldMkLst>
        <pc:spChg chg="add mod">
          <ac:chgData name="prema naidu" userId="b2c986f4a4d90319" providerId="LiveId" clId="{F448EBCE-CE37-4F08-A945-1F160DA7E1BA}" dt="2025-08-26T04:02:59.406" v="417" actId="14100"/>
          <ac:spMkLst>
            <pc:docMk/>
            <pc:sldMk cId="973088206" sldId="289"/>
            <ac:spMk id="3" creationId="{43394B95-FFEE-D9D3-297F-30A52C135563}"/>
          </ac:spMkLst>
        </pc:spChg>
      </pc:sldChg>
      <pc:sldChg chg="addSp modSp new mod">
        <pc:chgData name="prema naidu" userId="b2c986f4a4d90319" providerId="LiveId" clId="{F448EBCE-CE37-4F08-A945-1F160DA7E1BA}" dt="2025-08-26T05:11:22.691" v="532" actId="1076"/>
        <pc:sldMkLst>
          <pc:docMk/>
          <pc:sldMk cId="2043769099" sldId="290"/>
        </pc:sldMkLst>
        <pc:spChg chg="add mod">
          <ac:chgData name="prema naidu" userId="b2c986f4a4d90319" providerId="LiveId" clId="{F448EBCE-CE37-4F08-A945-1F160DA7E1BA}" dt="2025-08-26T05:11:22.691" v="532" actId="1076"/>
          <ac:spMkLst>
            <pc:docMk/>
            <pc:sldMk cId="2043769099" sldId="290"/>
            <ac:spMk id="3" creationId="{D0D63207-9D6F-6663-3268-A9D590FFD631}"/>
          </ac:spMkLst>
        </pc:spChg>
      </pc:sldChg>
      <pc:sldChg chg="addSp modSp new mod">
        <pc:chgData name="prema naidu" userId="b2c986f4a4d90319" providerId="LiveId" clId="{F448EBCE-CE37-4F08-A945-1F160DA7E1BA}" dt="2025-08-25T06:21:56.584" v="397" actId="114"/>
        <pc:sldMkLst>
          <pc:docMk/>
          <pc:sldMk cId="2508831504" sldId="291"/>
        </pc:sldMkLst>
        <pc:spChg chg="add mod">
          <ac:chgData name="prema naidu" userId="b2c986f4a4d90319" providerId="LiveId" clId="{F448EBCE-CE37-4F08-A945-1F160DA7E1BA}" dt="2025-08-25T06:21:56.584" v="397" actId="114"/>
          <ac:spMkLst>
            <pc:docMk/>
            <pc:sldMk cId="2508831504" sldId="291"/>
            <ac:spMk id="5" creationId="{48C451C9-5AD1-B261-0304-9EE3D7348221}"/>
          </ac:spMkLst>
        </pc:spChg>
        <pc:picChg chg="add mod">
          <ac:chgData name="prema naidu" userId="b2c986f4a4d90319" providerId="LiveId" clId="{F448EBCE-CE37-4F08-A945-1F160DA7E1BA}" dt="2025-08-25T06:08:06.351" v="318" actId="14100"/>
          <ac:picMkLst>
            <pc:docMk/>
            <pc:sldMk cId="2508831504" sldId="291"/>
            <ac:picMk id="3" creationId="{EDD9FD5F-1DE1-0F8C-97CE-C7BB5A707DDB}"/>
          </ac:picMkLst>
        </pc:picChg>
      </pc:sldChg>
      <pc:sldChg chg="addSp modSp new mod">
        <pc:chgData name="prema naidu" userId="b2c986f4a4d90319" providerId="LiveId" clId="{F448EBCE-CE37-4F08-A945-1F160DA7E1BA}" dt="2025-08-25T06:10:06.239" v="332" actId="113"/>
        <pc:sldMkLst>
          <pc:docMk/>
          <pc:sldMk cId="976556269" sldId="292"/>
        </pc:sldMkLst>
        <pc:spChg chg="add mod">
          <ac:chgData name="prema naidu" userId="b2c986f4a4d90319" providerId="LiveId" clId="{F448EBCE-CE37-4F08-A945-1F160DA7E1BA}" dt="2025-08-25T06:10:06.239" v="332" actId="113"/>
          <ac:spMkLst>
            <pc:docMk/>
            <pc:sldMk cId="976556269" sldId="292"/>
            <ac:spMk id="5" creationId="{31036038-C3F6-DC73-8965-55B2DA6B8283}"/>
          </ac:spMkLst>
        </pc:spChg>
        <pc:picChg chg="add mod">
          <ac:chgData name="prema naidu" userId="b2c986f4a4d90319" providerId="LiveId" clId="{F448EBCE-CE37-4F08-A945-1F160DA7E1BA}" dt="2025-08-25T06:09:03.835" v="324" actId="14100"/>
          <ac:picMkLst>
            <pc:docMk/>
            <pc:sldMk cId="976556269" sldId="292"/>
            <ac:picMk id="3" creationId="{C83F5572-3F07-5585-832B-0D61531A5FE2}"/>
          </ac:picMkLst>
        </pc:picChg>
      </pc:sldChg>
      <pc:sldChg chg="addSp modSp new mod">
        <pc:chgData name="prema naidu" userId="b2c986f4a4d90319" providerId="LiveId" clId="{F448EBCE-CE37-4F08-A945-1F160DA7E1BA}" dt="2025-08-26T04:02:08.775" v="413" actId="255"/>
        <pc:sldMkLst>
          <pc:docMk/>
          <pc:sldMk cId="1267169808" sldId="293"/>
        </pc:sldMkLst>
        <pc:spChg chg="add mod">
          <ac:chgData name="prema naidu" userId="b2c986f4a4d90319" providerId="LiveId" clId="{F448EBCE-CE37-4F08-A945-1F160DA7E1BA}" dt="2025-08-26T04:02:08.775" v="413" actId="255"/>
          <ac:spMkLst>
            <pc:docMk/>
            <pc:sldMk cId="1267169808" sldId="293"/>
            <ac:spMk id="3" creationId="{6E323DD0-F13E-5F5F-F201-4E706296688B}"/>
          </ac:spMkLst>
        </pc:spChg>
      </pc:sldChg>
      <pc:sldChg chg="addSp modSp new mod">
        <pc:chgData name="prema naidu" userId="b2c986f4a4d90319" providerId="LiveId" clId="{F448EBCE-CE37-4F08-A945-1F160DA7E1BA}" dt="2025-08-25T06:21:38.875" v="395" actId="113"/>
        <pc:sldMkLst>
          <pc:docMk/>
          <pc:sldMk cId="2046312657" sldId="294"/>
        </pc:sldMkLst>
        <pc:spChg chg="add mod">
          <ac:chgData name="prema naidu" userId="b2c986f4a4d90319" providerId="LiveId" clId="{F448EBCE-CE37-4F08-A945-1F160DA7E1BA}" dt="2025-08-25T06:21:38.875" v="395" actId="113"/>
          <ac:spMkLst>
            <pc:docMk/>
            <pc:sldMk cId="2046312657" sldId="294"/>
            <ac:spMk id="5" creationId="{BEC3FBFF-E63E-FE4A-6F48-1F3DA2B30789}"/>
          </ac:spMkLst>
        </pc:spChg>
        <pc:picChg chg="add mod">
          <ac:chgData name="prema naidu" userId="b2c986f4a4d90319" providerId="LiveId" clId="{F448EBCE-CE37-4F08-A945-1F160DA7E1BA}" dt="2025-08-25T06:13:04.852" v="350" actId="14100"/>
          <ac:picMkLst>
            <pc:docMk/>
            <pc:sldMk cId="2046312657" sldId="294"/>
            <ac:picMk id="3" creationId="{5E5946BD-2691-4A49-42A2-D4E6D86D3327}"/>
          </ac:picMkLst>
        </pc:picChg>
      </pc:sldChg>
      <pc:sldChg chg="addSp modSp new mod">
        <pc:chgData name="prema naidu" userId="b2c986f4a4d90319" providerId="LiveId" clId="{F448EBCE-CE37-4F08-A945-1F160DA7E1BA}" dt="2025-08-26T04:18:20.893" v="525" actId="14100"/>
        <pc:sldMkLst>
          <pc:docMk/>
          <pc:sldMk cId="2554594213" sldId="295"/>
        </pc:sldMkLst>
        <pc:spChg chg="add mod">
          <ac:chgData name="prema naidu" userId="b2c986f4a4d90319" providerId="LiveId" clId="{F448EBCE-CE37-4F08-A945-1F160DA7E1BA}" dt="2025-08-26T04:18:07.410" v="523" actId="1076"/>
          <ac:spMkLst>
            <pc:docMk/>
            <pc:sldMk cId="2554594213" sldId="295"/>
            <ac:spMk id="5" creationId="{0AB398E8-4586-24B6-455C-21A7581BEC34}"/>
          </ac:spMkLst>
        </pc:spChg>
        <pc:picChg chg="add mod">
          <ac:chgData name="prema naidu" userId="b2c986f4a4d90319" providerId="LiveId" clId="{F448EBCE-CE37-4F08-A945-1F160DA7E1BA}" dt="2025-08-26T04:18:20.893" v="525" actId="14100"/>
          <ac:picMkLst>
            <pc:docMk/>
            <pc:sldMk cId="2554594213" sldId="295"/>
            <ac:picMk id="3" creationId="{33EBD06F-AB7E-479A-3F72-B1FBFB728C4E}"/>
          </ac:picMkLst>
        </pc:picChg>
      </pc:sldChg>
      <pc:sldChg chg="addSp modSp new mod">
        <pc:chgData name="prema naidu" userId="b2c986f4a4d90319" providerId="LiveId" clId="{F448EBCE-CE37-4F08-A945-1F160DA7E1BA}" dt="2025-08-25T06:21:05.102" v="386" actId="113"/>
        <pc:sldMkLst>
          <pc:docMk/>
          <pc:sldMk cId="2049921041" sldId="296"/>
        </pc:sldMkLst>
        <pc:spChg chg="add mod">
          <ac:chgData name="prema naidu" userId="b2c986f4a4d90319" providerId="LiveId" clId="{F448EBCE-CE37-4F08-A945-1F160DA7E1BA}" dt="2025-08-25T06:21:05.102" v="386" actId="113"/>
          <ac:spMkLst>
            <pc:docMk/>
            <pc:sldMk cId="2049921041" sldId="296"/>
            <ac:spMk id="5" creationId="{DAC7C92D-64FD-C756-93C8-BF865B61D45F}"/>
          </ac:spMkLst>
        </pc:spChg>
        <pc:picChg chg="add mod">
          <ac:chgData name="prema naidu" userId="b2c986f4a4d90319" providerId="LiveId" clId="{F448EBCE-CE37-4F08-A945-1F160DA7E1BA}" dt="2025-08-25T06:19:59.629" v="376" actId="1076"/>
          <ac:picMkLst>
            <pc:docMk/>
            <pc:sldMk cId="2049921041" sldId="296"/>
            <ac:picMk id="3" creationId="{3A993C24-63A5-F7D8-710E-FF77E97A54E8}"/>
          </ac:picMkLst>
        </pc:picChg>
      </pc:sldChg>
      <pc:sldChg chg="addSp modSp new mod">
        <pc:chgData name="prema naidu" userId="b2c986f4a4d90319" providerId="LiveId" clId="{F448EBCE-CE37-4F08-A945-1F160DA7E1BA}" dt="2025-08-25T06:31:05.153" v="411" actId="114"/>
        <pc:sldMkLst>
          <pc:docMk/>
          <pc:sldMk cId="3347716493" sldId="297"/>
        </pc:sldMkLst>
        <pc:spChg chg="add mod">
          <ac:chgData name="prema naidu" userId="b2c986f4a4d90319" providerId="LiveId" clId="{F448EBCE-CE37-4F08-A945-1F160DA7E1BA}" dt="2025-08-25T06:31:05.153" v="411" actId="114"/>
          <ac:spMkLst>
            <pc:docMk/>
            <pc:sldMk cId="3347716493" sldId="297"/>
            <ac:spMk id="5" creationId="{2D903F95-8648-6BF1-1116-EA4A0ED71227}"/>
          </ac:spMkLst>
        </pc:spChg>
        <pc:picChg chg="add mod">
          <ac:chgData name="prema naidu" userId="b2c986f4a4d90319" providerId="LiveId" clId="{F448EBCE-CE37-4F08-A945-1F160DA7E1BA}" dt="2025-08-25T06:27:13.057" v="402" actId="14100"/>
          <ac:picMkLst>
            <pc:docMk/>
            <pc:sldMk cId="3347716493" sldId="297"/>
            <ac:picMk id="3" creationId="{C6224EF8-A437-784B-8252-10DA15891CDD}"/>
          </ac:picMkLst>
        </pc:picChg>
      </pc:sldChg>
      <pc:sldChg chg="addSp modSp new mod ord">
        <pc:chgData name="prema naidu" userId="b2c986f4a4d90319" providerId="LiveId" clId="{F448EBCE-CE37-4F08-A945-1F160DA7E1BA}" dt="2025-08-26T04:18:47.776" v="529" actId="113"/>
        <pc:sldMkLst>
          <pc:docMk/>
          <pc:sldMk cId="2859121278" sldId="298"/>
        </pc:sldMkLst>
        <pc:spChg chg="add mod">
          <ac:chgData name="prema naidu" userId="b2c986f4a4d90319" providerId="LiveId" clId="{F448EBCE-CE37-4F08-A945-1F160DA7E1BA}" dt="2025-08-26T04:18:47.776" v="529" actId="113"/>
          <ac:spMkLst>
            <pc:docMk/>
            <pc:sldMk cId="2859121278" sldId="298"/>
            <ac:spMk id="3" creationId="{55B5A94D-6615-5AF0-0C10-355911CD4B23}"/>
          </ac:spMkLst>
        </pc:spChg>
      </pc:sldChg>
      <pc:sldChg chg="addSp delSp modSp new mod">
        <pc:chgData name="prema naidu" userId="b2c986f4a4d90319" providerId="LiveId" clId="{F448EBCE-CE37-4F08-A945-1F160DA7E1BA}" dt="2025-08-26T04:09:57.464" v="461" actId="20577"/>
        <pc:sldMkLst>
          <pc:docMk/>
          <pc:sldMk cId="2362216750" sldId="299"/>
        </pc:sldMkLst>
        <pc:spChg chg="add del mod">
          <ac:chgData name="prema naidu" userId="b2c986f4a4d90319" providerId="LiveId" clId="{F448EBCE-CE37-4F08-A945-1F160DA7E1BA}" dt="2025-08-26T04:07:15.680" v="439" actId="478"/>
          <ac:spMkLst>
            <pc:docMk/>
            <pc:sldMk cId="2362216750" sldId="299"/>
            <ac:spMk id="3" creationId="{94483F63-D7FD-D70E-4D23-2E4D681DD6F1}"/>
          </ac:spMkLst>
        </pc:spChg>
        <pc:spChg chg="add mod">
          <ac:chgData name="prema naidu" userId="b2c986f4a4d90319" providerId="LiveId" clId="{F448EBCE-CE37-4F08-A945-1F160DA7E1BA}" dt="2025-08-26T04:09:57.464" v="461" actId="20577"/>
          <ac:spMkLst>
            <pc:docMk/>
            <pc:sldMk cId="2362216750" sldId="299"/>
            <ac:spMk id="5" creationId="{384B471C-1EB0-AEEA-87DA-E5B42C6238FE}"/>
          </ac:spMkLst>
        </pc:spChg>
      </pc:sldChg>
      <pc:sldChg chg="addSp modSp new mod">
        <pc:chgData name="prema naidu" userId="b2c986f4a4d90319" providerId="LiveId" clId="{F448EBCE-CE37-4F08-A945-1F160DA7E1BA}" dt="2025-08-26T04:12:04.553" v="487" actId="1076"/>
        <pc:sldMkLst>
          <pc:docMk/>
          <pc:sldMk cId="1382771591" sldId="300"/>
        </pc:sldMkLst>
        <pc:spChg chg="add mod">
          <ac:chgData name="prema naidu" userId="b2c986f4a4d90319" providerId="LiveId" clId="{F448EBCE-CE37-4F08-A945-1F160DA7E1BA}" dt="2025-08-26T04:12:04.553" v="487" actId="1076"/>
          <ac:spMkLst>
            <pc:docMk/>
            <pc:sldMk cId="1382771591" sldId="300"/>
            <ac:spMk id="3" creationId="{5C8A51BB-A135-FA3D-9A43-C793F1FE8ADF}"/>
          </ac:spMkLst>
        </pc:spChg>
      </pc:sldChg>
      <pc:sldChg chg="addSp modSp new mod">
        <pc:chgData name="prema naidu" userId="b2c986f4a4d90319" providerId="LiveId" clId="{F448EBCE-CE37-4F08-A945-1F160DA7E1BA}" dt="2025-08-26T04:14:01.515" v="505" actId="255"/>
        <pc:sldMkLst>
          <pc:docMk/>
          <pc:sldMk cId="4170651153" sldId="301"/>
        </pc:sldMkLst>
        <pc:spChg chg="add mod">
          <ac:chgData name="prema naidu" userId="b2c986f4a4d90319" providerId="LiveId" clId="{F448EBCE-CE37-4F08-A945-1F160DA7E1BA}" dt="2025-08-26T04:14:01.515" v="505" actId="255"/>
          <ac:spMkLst>
            <pc:docMk/>
            <pc:sldMk cId="4170651153" sldId="301"/>
            <ac:spMk id="3" creationId="{DD6D29A2-6516-49A1-B3EC-9D34D7F3B159}"/>
          </ac:spMkLst>
        </pc:spChg>
      </pc:sldChg>
      <pc:sldChg chg="addSp modSp new mod">
        <pc:chgData name="prema naidu" userId="b2c986f4a4d90319" providerId="LiveId" clId="{F448EBCE-CE37-4F08-A945-1F160DA7E1BA}" dt="2025-08-26T04:16:04.639" v="520" actId="114"/>
        <pc:sldMkLst>
          <pc:docMk/>
          <pc:sldMk cId="659376110" sldId="302"/>
        </pc:sldMkLst>
        <pc:spChg chg="add mod">
          <ac:chgData name="prema naidu" userId="b2c986f4a4d90319" providerId="LiveId" clId="{F448EBCE-CE37-4F08-A945-1F160DA7E1BA}" dt="2025-08-26T04:16:04.639" v="520" actId="114"/>
          <ac:spMkLst>
            <pc:docMk/>
            <pc:sldMk cId="659376110" sldId="302"/>
            <ac:spMk id="5" creationId="{54384FC8-943F-95FE-FDB2-570C2B7D27A4}"/>
          </ac:spMkLst>
        </pc:spChg>
        <pc:picChg chg="add mod">
          <ac:chgData name="prema naidu" userId="b2c986f4a4d90319" providerId="LiveId" clId="{F448EBCE-CE37-4F08-A945-1F160DA7E1BA}" dt="2025-08-26T04:15:06.535" v="511" actId="14100"/>
          <ac:picMkLst>
            <pc:docMk/>
            <pc:sldMk cId="659376110" sldId="302"/>
            <ac:picMk id="3" creationId="{0F0D8798-F5AD-70F3-AFC3-DC166193FB1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94305D-DD73-4B57-9368-F35A3E5B1CD6}" type="datetimeFigureOut">
              <a:rPr lang="en-US" smtClean="0"/>
              <a:pPr/>
              <a:t>9/6/2025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201E18-321C-4386-B0AB-A2D8A69C736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D9D7C53F-8CC6-42A5-8991-292A334ED676}" type="datetime1">
              <a:rPr lang="en-US" smtClean="0"/>
              <a:pPr/>
              <a:t>9/6/2025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F47AFFA-9862-4727-B4CE-76856E9748C0}" type="datetime1">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A246446-6AA3-4F87-AE14-426AF935B18C}" type="datetime1">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241E02F-8698-4038-92D1-E09CAC1A2D1B}" type="datetime1">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0AE76FC6-576D-49F0-B4BE-4424570909C4}" type="datetime1">
              <a:rPr lang="en-US" smtClean="0"/>
              <a:pPr/>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FD5C7CD-9477-47C4-A6F9-CEADF50208F9}" type="datetime1">
              <a:rPr lang="en-US" smtClean="0"/>
              <a:pPr/>
              <a:t>9/6/2025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DC35AF-B2B8-46D3-BC08-928F7E95AAA0}" type="datetime1">
              <a:rPr lang="en-US" smtClean="0"/>
              <a:pPr/>
              <a:t>9/6/2025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890BB1F-3E64-470E-B09F-BA7C1C5B085E}" type="datetime1">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3C81FE5-976F-4EB3-A549-57E585E1FBDB}" type="datetime1">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95D802D-6304-4808-8C95-9BA9C3ED4E52}" type="datetime1">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0E15003-351A-4475-9A60-C11172797852}" type="datetime1">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A266E6D-171F-4581-B808-26E12AF04737}" type="datetime1">
              <a:rPr lang="en-US" smtClean="0"/>
              <a:pPr/>
              <a:t>9/6/2025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oreil.ly/4SIPQ"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0298" y="1571612"/>
            <a:ext cx="4861267" cy="2031325"/>
          </a:xfrm>
          <a:prstGeom prst="rect">
            <a:avLst/>
          </a:prstGeom>
        </p:spPr>
        <p:txBody>
          <a:bodyPr wrap="none">
            <a:spAutoFit/>
          </a:bodyPr>
          <a:lstStyle/>
          <a:p>
            <a:r>
              <a:rPr lang="en-IN" b="1" dirty="0" err="1" smtClean="0">
                <a:latin typeface="Times New Roman" pitchFamily="18" charset="0"/>
                <a:cs typeface="Times New Roman" pitchFamily="18" charset="0"/>
              </a:rPr>
              <a:t>Stastistical</a:t>
            </a:r>
            <a:r>
              <a:rPr lang="en-IN" b="1" dirty="0" smtClean="0">
                <a:latin typeface="Times New Roman" pitchFamily="18" charset="0"/>
                <a:cs typeface="Times New Roman" pitchFamily="18" charset="0"/>
              </a:rPr>
              <a:t> Machine Learning for Data Science </a:t>
            </a:r>
          </a:p>
          <a:p>
            <a:pPr algn="ctr"/>
            <a:r>
              <a:rPr lang="en-IN" b="1" dirty="0" smtClean="0">
                <a:latin typeface="Times New Roman" pitchFamily="18" charset="0"/>
                <a:cs typeface="Times New Roman" pitchFamily="18" charset="0"/>
              </a:rPr>
              <a:t>Course Code BAD702</a:t>
            </a:r>
          </a:p>
          <a:p>
            <a:endParaRPr lang="en-IN" b="1" dirty="0" smtClean="0">
              <a:latin typeface="Times New Roman" pitchFamily="18" charset="0"/>
              <a:cs typeface="Times New Roman" pitchFamily="18" charset="0"/>
            </a:endParaRPr>
          </a:p>
          <a:p>
            <a:pPr algn="ctr"/>
            <a:r>
              <a:rPr lang="en-IN" b="1" dirty="0" smtClean="0">
                <a:latin typeface="Times New Roman" pitchFamily="18" charset="0"/>
                <a:cs typeface="Times New Roman" pitchFamily="18" charset="0"/>
              </a:rPr>
              <a:t>Module -1 </a:t>
            </a:r>
          </a:p>
          <a:p>
            <a:pPr algn="ctr"/>
            <a:r>
              <a:rPr lang="en-IN" b="1" dirty="0" smtClean="0">
                <a:latin typeface="Times New Roman" pitchFamily="18" charset="0"/>
                <a:cs typeface="Times New Roman" pitchFamily="18" charset="0"/>
              </a:rPr>
              <a:t>Exploratory Data Analysis</a:t>
            </a:r>
          </a:p>
          <a:p>
            <a:pPr algn="ctr"/>
            <a:endParaRPr lang="en-IN" b="1" dirty="0" smtClean="0">
              <a:latin typeface="Times New Roman" pitchFamily="18" charset="0"/>
              <a:cs typeface="Times New Roman" pitchFamily="18" charset="0"/>
            </a:endParaRPr>
          </a:p>
          <a:p>
            <a:pPr algn="ctr"/>
            <a:r>
              <a:rPr lang="en-IN" b="1" dirty="0" smtClean="0">
                <a:latin typeface="Times New Roman" pitchFamily="18" charset="0"/>
                <a:cs typeface="Times New Roman" pitchFamily="18" charset="0"/>
              </a:rPr>
              <a:t>By Sunil Naidu G R</a:t>
            </a:r>
            <a:endParaRPr lang="en-US" b="1" dirty="0" smtClean="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28600"/>
            <a:ext cx="8686800" cy="3293209"/>
          </a:xfrm>
          <a:prstGeom prst="rect">
            <a:avLst/>
          </a:prstGeom>
        </p:spPr>
        <p:txBody>
          <a:bodyPr wrap="square">
            <a:spAutoFit/>
          </a:bodyPr>
          <a:lstStyle/>
          <a:p>
            <a:endParaRPr lang="en-US" sz="2800" dirty="0">
              <a:solidFill>
                <a:schemeClr val="tx2"/>
              </a:solidFill>
              <a:latin typeface="Times New Roman" pitchFamily="18" charset="0"/>
              <a:cs typeface="Times New Roman" pitchFamily="18" charset="0"/>
            </a:endParaRPr>
          </a:p>
          <a:p>
            <a:pPr algn="just"/>
            <a:r>
              <a:rPr lang="en-US" b="1" dirty="0">
                <a:latin typeface="Times New Roman" pitchFamily="18" charset="0"/>
                <a:cs typeface="Times New Roman" pitchFamily="18" charset="0"/>
              </a:rPr>
              <a:t>Exploratory Data Analysis (EDA) </a:t>
            </a:r>
            <a:r>
              <a:rPr lang="en-US" dirty="0">
                <a:latin typeface="Times New Roman" pitchFamily="18" charset="0"/>
                <a:cs typeface="Times New Roman" pitchFamily="18" charset="0"/>
              </a:rPr>
              <a:t>is the process of investigating a dataset to understand its main characteristics, discover patterns, detect anomalies, test hypotheses, and check assumptions — all before applying formal modeling or machine learning techniques. It’s like taking your dataset out for coffee to see what it’s really like before you commit to building a full-blown predictive model.</a:t>
            </a:r>
          </a:p>
          <a:p>
            <a:endParaRPr lang="en-IN" dirty="0"/>
          </a:p>
          <a:p>
            <a:endParaRPr lang="en-IN" dirty="0"/>
          </a:p>
          <a:p>
            <a:endParaRPr lang="en-US" dirty="0"/>
          </a:p>
          <a:p>
            <a:endParaRPr lang="en-IN" dirty="0"/>
          </a:p>
          <a:p>
            <a:endParaRPr lang="en-US" dirty="0"/>
          </a:p>
        </p:txBody>
      </p:sp>
      <p:sp>
        <p:nvSpPr>
          <p:cNvPr id="3" name="Rectangle 2"/>
          <p:cNvSpPr/>
          <p:nvPr/>
        </p:nvSpPr>
        <p:spPr>
          <a:xfrm>
            <a:off x="214282" y="2357430"/>
            <a:ext cx="8929718" cy="3139321"/>
          </a:xfrm>
          <a:prstGeom prst="rect">
            <a:avLst/>
          </a:prstGeom>
        </p:spPr>
        <p:txBody>
          <a:bodyPr wrap="square">
            <a:spAutoFit/>
          </a:bodyPr>
          <a:lstStyle/>
          <a:p>
            <a:r>
              <a:rPr lang="en-US" b="1" dirty="0" smtClean="0">
                <a:latin typeface="Times New Roman" pitchFamily="18" charset="0"/>
                <a:cs typeface="Times New Roman" pitchFamily="18" charset="0"/>
              </a:rPr>
              <a:t>Why is EDA important?</a:t>
            </a:r>
          </a:p>
          <a:p>
            <a:endParaRPr lang="en-US" b="1" dirty="0" smtClean="0">
              <a:solidFill>
                <a:schemeClr val="accent2">
                  <a:lumMod val="75000"/>
                </a:schemeClr>
              </a:solidFill>
              <a:latin typeface="Times New Roman" pitchFamily="18" charset="0"/>
              <a:cs typeface="Times New Roman" pitchFamily="18" charset="0"/>
            </a:endParaRPr>
          </a:p>
          <a:p>
            <a:r>
              <a:rPr lang="en-US" b="1" dirty="0" smtClean="0">
                <a:latin typeface="Times New Roman" pitchFamily="18" charset="0"/>
                <a:cs typeface="Times New Roman" pitchFamily="18" charset="0"/>
              </a:rPr>
              <a:t>Understand the data structure</a:t>
            </a:r>
            <a:r>
              <a:rPr lang="en-US" dirty="0" smtClean="0">
                <a:latin typeface="Times New Roman" pitchFamily="18" charset="0"/>
                <a:cs typeface="Times New Roman" pitchFamily="18" charset="0"/>
              </a:rPr>
              <a:t> – size, types of variables, missing values.</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Detect outliers or anomalies</a:t>
            </a:r>
            <a:r>
              <a:rPr lang="en-US" dirty="0" smtClean="0">
                <a:latin typeface="Times New Roman" pitchFamily="18" charset="0"/>
                <a:cs typeface="Times New Roman" pitchFamily="18" charset="0"/>
              </a:rPr>
              <a:t> – spot data points that don’t fit expectations.</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Validate assumptions</a:t>
            </a:r>
            <a:r>
              <a:rPr lang="en-US" dirty="0" smtClean="0">
                <a:latin typeface="Times New Roman" pitchFamily="18" charset="0"/>
                <a:cs typeface="Times New Roman" pitchFamily="18" charset="0"/>
              </a:rPr>
              <a:t> – check if data meets conditions required for statistical models.</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Guide feature engineering</a:t>
            </a:r>
            <a:r>
              <a:rPr lang="en-US" dirty="0" smtClean="0">
                <a:latin typeface="Times New Roman" pitchFamily="18" charset="0"/>
                <a:cs typeface="Times New Roman" pitchFamily="18" charset="0"/>
              </a:rPr>
              <a:t> – identify what transformations or new variables might help.</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Prevent costly mistakes</a:t>
            </a:r>
            <a:r>
              <a:rPr lang="en-US" dirty="0" smtClean="0">
                <a:latin typeface="Times New Roman" pitchFamily="18" charset="0"/>
                <a:cs typeface="Times New Roman" pitchFamily="18" charset="0"/>
              </a:rPr>
              <a:t> – ensures you don’t feed bad data into your model.</a:t>
            </a: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58847"/>
            <a:ext cx="9144000" cy="5909310"/>
          </a:xfrm>
          <a:prstGeom prst="rect">
            <a:avLst/>
          </a:prstGeom>
        </p:spPr>
        <p:txBody>
          <a:bodyPr wrap="square">
            <a:spAutoFit/>
          </a:bodyPr>
          <a:lstStyle/>
          <a:p>
            <a:pPr algn="ctr"/>
            <a:r>
              <a:rPr lang="en-US" b="1" dirty="0">
                <a:latin typeface="Times New Roman" pitchFamily="18" charset="0"/>
                <a:cs typeface="Times New Roman" pitchFamily="18" charset="0"/>
              </a:rPr>
              <a:t>Key Terms for Data Types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Numeric</a:t>
            </a:r>
          </a:p>
          <a:p>
            <a:r>
              <a:rPr lang="en-US" dirty="0">
                <a:latin typeface="Times New Roman" pitchFamily="18" charset="0"/>
                <a:cs typeface="Times New Roman" pitchFamily="18" charset="0"/>
              </a:rPr>
              <a:t>Data that are expressed on a numeric scale.</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Continuous</a:t>
            </a:r>
          </a:p>
          <a:p>
            <a:r>
              <a:rPr lang="en-US" dirty="0">
                <a:latin typeface="Times New Roman" pitchFamily="18" charset="0"/>
                <a:cs typeface="Times New Roman" pitchFamily="18" charset="0"/>
              </a:rPr>
              <a:t>Data that can take on any value in an interval. (Synonyms: interval, </a:t>
            </a:r>
            <a:r>
              <a:rPr lang="en-US" dirty="0" err="1">
                <a:latin typeface="Times New Roman" pitchFamily="18" charset="0"/>
                <a:cs typeface="Times New Roman" pitchFamily="18" charset="0"/>
              </a:rPr>
              <a:t>float,numeric</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Discrete</a:t>
            </a:r>
          </a:p>
          <a:p>
            <a:r>
              <a:rPr lang="en-US" dirty="0">
                <a:latin typeface="Times New Roman" pitchFamily="18" charset="0"/>
                <a:cs typeface="Times New Roman" pitchFamily="18" charset="0"/>
              </a:rPr>
              <a:t>Data that can take on only integer values, such as counts. (Synonyms: </a:t>
            </a:r>
            <a:r>
              <a:rPr lang="en-US" dirty="0" err="1">
                <a:latin typeface="Times New Roman" pitchFamily="18" charset="0"/>
                <a:cs typeface="Times New Roman" pitchFamily="18" charset="0"/>
              </a:rPr>
              <a:t>integer,count</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Categorical</a:t>
            </a:r>
          </a:p>
          <a:p>
            <a:r>
              <a:rPr lang="en-US" dirty="0">
                <a:latin typeface="Times New Roman" pitchFamily="18" charset="0"/>
                <a:cs typeface="Times New Roman" pitchFamily="18" charset="0"/>
              </a:rPr>
              <a:t>Data that can take on only a specific set of values representing a set of possible categories. (Synonyms: </a:t>
            </a:r>
            <a:r>
              <a:rPr lang="en-US" dirty="0" err="1">
                <a:latin typeface="Times New Roman" pitchFamily="18" charset="0"/>
                <a:cs typeface="Times New Roman" pitchFamily="18" charset="0"/>
              </a:rPr>
              <a:t>enums</a:t>
            </a:r>
            <a:r>
              <a:rPr lang="en-US" dirty="0">
                <a:latin typeface="Times New Roman" pitchFamily="18" charset="0"/>
                <a:cs typeface="Times New Roman" pitchFamily="18" charset="0"/>
              </a:rPr>
              <a:t>, enumerated, factors, nominal)</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Binary</a:t>
            </a:r>
          </a:p>
          <a:p>
            <a:r>
              <a:rPr lang="en-US" dirty="0">
                <a:latin typeface="Times New Roman" pitchFamily="18" charset="0"/>
                <a:cs typeface="Times New Roman" pitchFamily="18" charset="0"/>
              </a:rPr>
              <a:t>A special case of categorical data with just two categories of values, e.g., 0/1, true/false. (Synonyms: dichotomous, logical, indicator, </a:t>
            </a:r>
            <a:r>
              <a:rPr lang="en-US" dirty="0" err="1">
                <a:latin typeface="Times New Roman" pitchFamily="18" charset="0"/>
                <a:cs typeface="Times New Roman" pitchFamily="18" charset="0"/>
              </a:rPr>
              <a:t>boolean</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Ordinal</a:t>
            </a:r>
          </a:p>
          <a:p>
            <a:r>
              <a:rPr lang="en-US" dirty="0">
                <a:latin typeface="Times New Roman" pitchFamily="18" charset="0"/>
                <a:cs typeface="Times New Roman" pitchFamily="18" charset="0"/>
              </a:rPr>
              <a:t>Categorical data that has an explicit ordering. (Synonym: ordered factor)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847"/>
            <a:ext cx="9144000" cy="5632311"/>
          </a:xfrm>
          <a:prstGeom prst="rect">
            <a:avLst/>
          </a:prstGeom>
        </p:spPr>
        <p:txBody>
          <a:bodyPr wrap="square">
            <a:spAutoFit/>
          </a:bodyPr>
          <a:lstStyle/>
          <a:p>
            <a:r>
              <a:rPr lang="en-US" b="1" dirty="0" smtClean="0">
                <a:latin typeface="Times New Roman" pitchFamily="18" charset="0"/>
                <a:cs typeface="Times New Roman" pitchFamily="18" charset="0"/>
              </a:rPr>
              <a:t>Data frame</a:t>
            </a:r>
          </a:p>
          <a:p>
            <a:r>
              <a:rPr lang="en-US" dirty="0" smtClean="0">
                <a:latin typeface="Times New Roman" pitchFamily="18" charset="0"/>
                <a:cs typeface="Times New Roman" pitchFamily="18" charset="0"/>
              </a:rPr>
              <a:t>Rectangular data (like a spreadsheet) is the basic data structure for statistical and machine learning models.</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Feature</a:t>
            </a:r>
          </a:p>
          <a:p>
            <a:r>
              <a:rPr lang="en-US" dirty="0" smtClean="0">
                <a:latin typeface="Times New Roman" pitchFamily="18" charset="0"/>
                <a:cs typeface="Times New Roman" pitchFamily="18" charset="0"/>
              </a:rPr>
              <a:t>A column within a table is commonly referred to as a feature.</a:t>
            </a:r>
          </a:p>
          <a:p>
            <a:r>
              <a:rPr lang="en-US" dirty="0" smtClean="0">
                <a:latin typeface="Times New Roman" pitchFamily="18" charset="0"/>
                <a:cs typeface="Times New Roman" pitchFamily="18" charset="0"/>
              </a:rPr>
              <a:t>Synonyms</a:t>
            </a:r>
          </a:p>
          <a:p>
            <a:r>
              <a:rPr lang="en-US" dirty="0" smtClean="0">
                <a:latin typeface="Times New Roman" pitchFamily="18" charset="0"/>
                <a:cs typeface="Times New Roman" pitchFamily="18" charset="0"/>
              </a:rPr>
              <a:t>attribute, input, predictor, variable</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Outcome</a:t>
            </a:r>
          </a:p>
          <a:p>
            <a:r>
              <a:rPr lang="en-US" dirty="0" smtClean="0">
                <a:latin typeface="Times New Roman" pitchFamily="18" charset="0"/>
                <a:cs typeface="Times New Roman" pitchFamily="18" charset="0"/>
              </a:rPr>
              <a:t>Many data science projects involve predicting an outcome—often a yes/no outcome</a:t>
            </a:r>
          </a:p>
          <a:p>
            <a:r>
              <a:rPr lang="en-US" dirty="0" smtClean="0">
                <a:latin typeface="Times New Roman" pitchFamily="18" charset="0"/>
                <a:cs typeface="Times New Roman" pitchFamily="18" charset="0"/>
              </a:rPr>
              <a:t>(in Table 1-1, it is “auction was competitive or not”). The features are sometimes used to predict the outcome in an experiment or a study.</a:t>
            </a:r>
          </a:p>
          <a:p>
            <a:r>
              <a:rPr lang="en-US" dirty="0" smtClean="0">
                <a:latin typeface="Times New Roman" pitchFamily="18" charset="0"/>
                <a:cs typeface="Times New Roman" pitchFamily="18" charset="0"/>
              </a:rPr>
              <a:t>Synonyms</a:t>
            </a:r>
          </a:p>
          <a:p>
            <a:r>
              <a:rPr lang="en-US" dirty="0" smtClean="0">
                <a:latin typeface="Times New Roman" pitchFamily="18" charset="0"/>
                <a:cs typeface="Times New Roman" pitchFamily="18" charset="0"/>
              </a:rPr>
              <a:t>dependent variable, response, target, output</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Records</a:t>
            </a:r>
          </a:p>
          <a:p>
            <a:r>
              <a:rPr lang="en-US" dirty="0" smtClean="0">
                <a:latin typeface="Times New Roman" pitchFamily="18" charset="0"/>
                <a:cs typeface="Times New Roman" pitchFamily="18" charset="0"/>
              </a:rPr>
              <a:t>A row within a table is commonly referred to as a record.</a:t>
            </a:r>
          </a:p>
          <a:p>
            <a:r>
              <a:rPr lang="en-US" dirty="0" smtClean="0">
                <a:latin typeface="Times New Roman" pitchFamily="18" charset="0"/>
                <a:cs typeface="Times New Roman" pitchFamily="18" charset="0"/>
              </a:rPr>
              <a:t>Synonyms</a:t>
            </a:r>
          </a:p>
          <a:p>
            <a:r>
              <a:rPr lang="en-US" dirty="0" smtClean="0">
                <a:latin typeface="Times New Roman" pitchFamily="18" charset="0"/>
                <a:cs typeface="Times New Roman" pitchFamily="18" charset="0"/>
              </a:rPr>
              <a:t>case, example, instance, observation, pattern, sample</a:t>
            </a:r>
            <a:endParaRPr lang="en-US"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14282" y="1285860"/>
          <a:ext cx="8786874" cy="3594783"/>
        </p:xfrm>
        <a:graphic>
          <a:graphicData uri="http://schemas.openxmlformats.org/drawingml/2006/table">
            <a:tbl>
              <a:tblPr/>
              <a:tblGrid>
                <a:gridCol w="1679117"/>
                <a:gridCol w="889671"/>
                <a:gridCol w="1180737"/>
                <a:gridCol w="914384"/>
                <a:gridCol w="812785"/>
                <a:gridCol w="1018728"/>
                <a:gridCol w="1021474"/>
                <a:gridCol w="1269978"/>
              </a:tblGrid>
              <a:tr h="465394">
                <a:tc>
                  <a:txBody>
                    <a:bodyPr/>
                    <a:lstStyle/>
                    <a:p>
                      <a:pPr marL="45720"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720" algn="ctr">
                        <a:lnSpc>
                          <a:spcPts val="920"/>
                        </a:lnSpc>
                        <a:spcBef>
                          <a:spcPts val="120"/>
                        </a:spcBef>
                        <a:spcAft>
                          <a:spcPts val="0"/>
                        </a:spcAft>
                      </a:pPr>
                      <a:r>
                        <a:rPr lang="en-US" sz="900" b="1" spc="-10" dirty="0" smtClean="0">
                          <a:solidFill>
                            <a:srgbClr val="FFFFFF"/>
                          </a:solidFill>
                          <a:latin typeface="Trebuchet MS"/>
                          <a:ea typeface="Times New Roman"/>
                          <a:cs typeface="SimSun-ExtB"/>
                        </a:rPr>
                        <a:t>Category</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085"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085" algn="ctr">
                        <a:lnSpc>
                          <a:spcPts val="920"/>
                        </a:lnSpc>
                        <a:spcBef>
                          <a:spcPts val="120"/>
                        </a:spcBef>
                        <a:spcAft>
                          <a:spcPts val="0"/>
                        </a:spcAft>
                      </a:pPr>
                      <a:r>
                        <a:rPr lang="en-US" sz="900" b="1" spc="-10" dirty="0" smtClean="0">
                          <a:solidFill>
                            <a:srgbClr val="FFFFFF"/>
                          </a:solidFill>
                          <a:latin typeface="Trebuchet MS"/>
                          <a:ea typeface="Times New Roman"/>
                          <a:cs typeface="SimSun-ExtB"/>
                        </a:rPr>
                        <a:t>currency</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085"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085" algn="ctr">
                        <a:lnSpc>
                          <a:spcPts val="920"/>
                        </a:lnSpc>
                        <a:spcBef>
                          <a:spcPts val="120"/>
                        </a:spcBef>
                        <a:spcAft>
                          <a:spcPts val="0"/>
                        </a:spcAft>
                      </a:pPr>
                      <a:r>
                        <a:rPr lang="en-US" sz="900" b="1" spc="-10" dirty="0" smtClean="0">
                          <a:solidFill>
                            <a:srgbClr val="FFFFFF"/>
                          </a:solidFill>
                          <a:latin typeface="Trebuchet MS"/>
                          <a:ea typeface="Times New Roman"/>
                          <a:cs typeface="SimSun-ExtB"/>
                        </a:rPr>
                        <a:t>Seller Rating</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085"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085" algn="ctr">
                        <a:lnSpc>
                          <a:spcPts val="920"/>
                        </a:lnSpc>
                        <a:spcBef>
                          <a:spcPts val="120"/>
                        </a:spcBef>
                        <a:spcAft>
                          <a:spcPts val="0"/>
                        </a:spcAft>
                      </a:pPr>
                      <a:r>
                        <a:rPr lang="en-US" sz="900" b="1" spc="-10" dirty="0" smtClean="0">
                          <a:solidFill>
                            <a:srgbClr val="FFFFFF"/>
                          </a:solidFill>
                          <a:latin typeface="Trebuchet MS"/>
                          <a:ea typeface="Times New Roman"/>
                          <a:cs typeface="SimSun-ExtB"/>
                        </a:rPr>
                        <a:t>Duration</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085"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085" algn="ctr">
                        <a:lnSpc>
                          <a:spcPts val="920"/>
                        </a:lnSpc>
                        <a:spcBef>
                          <a:spcPts val="120"/>
                        </a:spcBef>
                        <a:spcAft>
                          <a:spcPts val="0"/>
                        </a:spcAft>
                      </a:pPr>
                      <a:r>
                        <a:rPr lang="en-US" sz="900" b="1" spc="-10" dirty="0" smtClean="0">
                          <a:solidFill>
                            <a:srgbClr val="FFFFFF"/>
                          </a:solidFill>
                          <a:latin typeface="Trebuchet MS"/>
                          <a:ea typeface="Times New Roman"/>
                          <a:cs typeface="SimSun-ExtB"/>
                        </a:rPr>
                        <a:t>End Day</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085"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085" algn="ctr">
                        <a:lnSpc>
                          <a:spcPts val="920"/>
                        </a:lnSpc>
                        <a:spcBef>
                          <a:spcPts val="120"/>
                        </a:spcBef>
                        <a:spcAft>
                          <a:spcPts val="0"/>
                        </a:spcAft>
                      </a:pPr>
                      <a:r>
                        <a:rPr lang="en-US" sz="900" b="1" spc="-10" dirty="0" smtClean="0">
                          <a:solidFill>
                            <a:srgbClr val="FFFFFF"/>
                          </a:solidFill>
                          <a:latin typeface="Trebuchet MS"/>
                          <a:ea typeface="Times New Roman"/>
                          <a:cs typeface="SimSun-ExtB"/>
                        </a:rPr>
                        <a:t>Close Price</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720"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720" algn="ctr">
                        <a:lnSpc>
                          <a:spcPts val="920"/>
                        </a:lnSpc>
                        <a:spcBef>
                          <a:spcPts val="120"/>
                        </a:spcBef>
                        <a:spcAft>
                          <a:spcPts val="0"/>
                        </a:spcAft>
                      </a:pPr>
                      <a:r>
                        <a:rPr lang="en-US" sz="900" b="1" spc="-10" dirty="0" smtClean="0">
                          <a:solidFill>
                            <a:srgbClr val="FFFFFF"/>
                          </a:solidFill>
                          <a:latin typeface="Trebuchet MS"/>
                          <a:ea typeface="Times New Roman"/>
                          <a:cs typeface="SimSun-ExtB"/>
                        </a:rPr>
                        <a:t>Open Price</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720"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720" algn="ctr">
                        <a:lnSpc>
                          <a:spcPts val="920"/>
                        </a:lnSpc>
                        <a:spcBef>
                          <a:spcPts val="120"/>
                        </a:spcBef>
                        <a:spcAft>
                          <a:spcPts val="0"/>
                        </a:spcAft>
                      </a:pPr>
                      <a:r>
                        <a:rPr lang="en-US" sz="900" b="1" spc="-10" dirty="0" smtClean="0">
                          <a:solidFill>
                            <a:srgbClr val="FFFFFF"/>
                          </a:solidFill>
                          <a:latin typeface="Trebuchet MS"/>
                          <a:ea typeface="Times New Roman"/>
                          <a:cs typeface="SimSun-ExtB"/>
                        </a:rPr>
                        <a:t>Competitive</a:t>
                      </a:r>
                      <a:r>
                        <a:rPr lang="en-US" sz="900" b="1" spc="-10" dirty="0">
                          <a:solidFill>
                            <a:srgbClr val="FFFFFF"/>
                          </a:solidFill>
                          <a:latin typeface="Trebuchet MS"/>
                          <a:ea typeface="Times New Roman"/>
                          <a:cs typeface="SimSun-ExtB"/>
                        </a:rPr>
                        <a:t>?</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r>
              <a:tr h="465394">
                <a:tc>
                  <a:txBody>
                    <a:bodyPr/>
                    <a:lstStyle/>
                    <a:p>
                      <a:pPr marL="45720" algn="ctr">
                        <a:lnSpc>
                          <a:spcPts val="920"/>
                        </a:lnSpc>
                        <a:spcBef>
                          <a:spcPts val="75"/>
                        </a:spcBef>
                        <a:spcAft>
                          <a:spcPts val="0"/>
                        </a:spcAft>
                      </a:pPr>
                      <a:endParaRPr lang="en-US" sz="900" spc="-10" dirty="0" smtClean="0">
                        <a:latin typeface="Trebuchet MS"/>
                        <a:ea typeface="Times New Roman"/>
                        <a:cs typeface="SimSun-ExtB"/>
                      </a:endParaRPr>
                    </a:p>
                    <a:p>
                      <a:pPr marL="45720" algn="ctr">
                        <a:lnSpc>
                          <a:spcPts val="920"/>
                        </a:lnSpc>
                        <a:spcBef>
                          <a:spcPts val="75"/>
                        </a:spcBef>
                        <a:spcAft>
                          <a:spcPts val="0"/>
                        </a:spcAft>
                      </a:pPr>
                      <a:r>
                        <a:rPr lang="en-US" sz="900" spc="-10" dirty="0" smtClean="0">
                          <a:latin typeface="Trebuchet MS"/>
                          <a:ea typeface="Times New Roman"/>
                          <a:cs typeface="SimSun-ExtB"/>
                        </a:rPr>
                        <a:t>Music/Movie/Game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l">
                        <a:lnSpc>
                          <a:spcPts val="920"/>
                        </a:lnSpc>
                        <a:spcBef>
                          <a:spcPts val="75"/>
                        </a:spcBef>
                        <a:spcAft>
                          <a:spcPts val="0"/>
                        </a:spcAft>
                      </a:pPr>
                      <a:endParaRPr lang="en-US" sz="900" spc="-35" dirty="0" smtClean="0">
                        <a:latin typeface="Trebuchet MS"/>
                        <a:ea typeface="Times New Roman"/>
                        <a:cs typeface="SimSun-ExtB"/>
                      </a:endParaRPr>
                    </a:p>
                    <a:p>
                      <a:pPr marL="45085" algn="ctr">
                        <a:lnSpc>
                          <a:spcPts val="920"/>
                        </a:lnSpc>
                        <a:spcBef>
                          <a:spcPts val="75"/>
                        </a:spcBef>
                        <a:spcAft>
                          <a:spcPts val="0"/>
                        </a:spcAft>
                      </a:pPr>
                      <a:r>
                        <a:rPr lang="en-US" sz="900" spc="-35" dirty="0" smtClean="0">
                          <a:latin typeface="Trebuchet MS"/>
                          <a:ea typeface="Times New Roman"/>
                          <a:cs typeface="SimSun-ExtB"/>
                        </a:rPr>
                        <a:t>US</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75"/>
                        </a:spcBef>
                        <a:spcAft>
                          <a:spcPts val="0"/>
                        </a:spcAft>
                      </a:pPr>
                      <a:endParaRPr lang="en-US" sz="900" spc="-20" dirty="0" smtClean="0">
                        <a:latin typeface="Trebuchet MS"/>
                        <a:ea typeface="Times New Roman"/>
                        <a:cs typeface="SimSun-ExtB"/>
                      </a:endParaRPr>
                    </a:p>
                    <a:p>
                      <a:pPr marL="45085" algn="ctr">
                        <a:lnSpc>
                          <a:spcPts val="920"/>
                        </a:lnSpc>
                        <a:spcBef>
                          <a:spcPts val="75"/>
                        </a:spcBef>
                        <a:spcAft>
                          <a:spcPts val="0"/>
                        </a:spcAft>
                      </a:pPr>
                      <a:r>
                        <a:rPr lang="en-US" sz="900" spc="-20" dirty="0" smtClean="0">
                          <a:latin typeface="Trebuchet MS"/>
                          <a:ea typeface="Times New Roman"/>
                          <a:cs typeface="SimSun-ExtB"/>
                        </a:rPr>
                        <a:t> 3249</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75"/>
                        </a:spcBef>
                        <a:spcAft>
                          <a:spcPts val="0"/>
                        </a:spcAft>
                      </a:pPr>
                      <a:endParaRPr lang="en-US" sz="900" spc="-50" dirty="0" smtClean="0">
                        <a:latin typeface="Trebuchet MS"/>
                        <a:ea typeface="Times New Roman"/>
                        <a:cs typeface="SimSun-ExtB"/>
                      </a:endParaRPr>
                    </a:p>
                    <a:p>
                      <a:pPr marL="45085" algn="ctr">
                        <a:lnSpc>
                          <a:spcPts val="920"/>
                        </a:lnSpc>
                        <a:spcBef>
                          <a:spcPts val="75"/>
                        </a:spcBef>
                        <a:spcAft>
                          <a:spcPts val="0"/>
                        </a:spcAft>
                      </a:pPr>
                      <a:r>
                        <a:rPr lang="en-US" sz="900" spc="-50" dirty="0" smtClean="0">
                          <a:latin typeface="Trebuchet MS"/>
                          <a:ea typeface="Times New Roman"/>
                          <a:cs typeface="SimSun-ExtB"/>
                        </a:rPr>
                        <a:t> 5</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75"/>
                        </a:spcBef>
                        <a:spcAft>
                          <a:spcPts val="0"/>
                        </a:spcAft>
                      </a:pPr>
                      <a:endParaRPr lang="en-US" sz="900" spc="-25" dirty="0" smtClean="0">
                        <a:latin typeface="Trebuchet MS"/>
                        <a:ea typeface="Times New Roman"/>
                        <a:cs typeface="SimSun-ExtB"/>
                      </a:endParaRPr>
                    </a:p>
                    <a:p>
                      <a:pPr marL="45085" algn="ctr">
                        <a:lnSpc>
                          <a:spcPts val="920"/>
                        </a:lnSpc>
                        <a:spcBef>
                          <a:spcPts val="75"/>
                        </a:spcBef>
                        <a:spcAft>
                          <a:spcPts val="0"/>
                        </a:spcAft>
                      </a:pPr>
                      <a:r>
                        <a:rPr lang="en-US" sz="900" spc="-25" dirty="0" smtClean="0">
                          <a:latin typeface="Trebuchet MS"/>
                          <a:ea typeface="Times New Roman"/>
                          <a:cs typeface="SimSun-ExtB"/>
                        </a:rPr>
                        <a:t>  Mon</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75"/>
                        </a:spcBef>
                        <a:spcAft>
                          <a:spcPts val="0"/>
                        </a:spcAft>
                      </a:pPr>
                      <a:endParaRPr lang="en-US" sz="900" spc="-20" dirty="0" smtClean="0">
                        <a:latin typeface="Trebuchet MS"/>
                        <a:ea typeface="Times New Roman"/>
                        <a:cs typeface="SimSun-ExtB"/>
                      </a:endParaRPr>
                    </a:p>
                    <a:p>
                      <a:pPr marL="45085" algn="ctr">
                        <a:lnSpc>
                          <a:spcPts val="920"/>
                        </a:lnSpc>
                        <a:spcBef>
                          <a:spcPts val="75"/>
                        </a:spcBef>
                        <a:spcAft>
                          <a:spcPts val="0"/>
                        </a:spcAft>
                      </a:pPr>
                      <a:r>
                        <a:rPr lang="en-US" sz="900" spc="-20" dirty="0" smtClean="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75"/>
                        </a:spcBef>
                        <a:spcAft>
                          <a:spcPts val="0"/>
                        </a:spcAft>
                      </a:pPr>
                      <a:endParaRPr lang="en-US" sz="900" spc="-20" dirty="0" smtClean="0">
                        <a:latin typeface="Trebuchet MS"/>
                        <a:ea typeface="Times New Roman"/>
                        <a:cs typeface="SimSun-ExtB"/>
                      </a:endParaRPr>
                    </a:p>
                    <a:p>
                      <a:pPr marL="45085" algn="ctr">
                        <a:lnSpc>
                          <a:spcPts val="920"/>
                        </a:lnSpc>
                        <a:spcBef>
                          <a:spcPts val="75"/>
                        </a:spcBef>
                        <a:spcAft>
                          <a:spcPts val="0"/>
                        </a:spcAft>
                      </a:pPr>
                      <a:r>
                        <a:rPr lang="en-US" sz="900" spc="-20" dirty="0" smtClean="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75"/>
                        </a:spcBef>
                        <a:spcAft>
                          <a:spcPts val="0"/>
                        </a:spcAft>
                      </a:pPr>
                      <a:endParaRPr lang="en-US" sz="900" spc="-50" dirty="0" smtClean="0">
                        <a:latin typeface="Trebuchet MS"/>
                        <a:ea typeface="Times New Roman"/>
                        <a:cs typeface="SimSun-ExtB"/>
                      </a:endParaRPr>
                    </a:p>
                    <a:p>
                      <a:pPr marL="45720" algn="ctr">
                        <a:lnSpc>
                          <a:spcPts val="920"/>
                        </a:lnSpc>
                        <a:spcBef>
                          <a:spcPts val="75"/>
                        </a:spcBef>
                        <a:spcAft>
                          <a:spcPts val="0"/>
                        </a:spcAft>
                      </a:pPr>
                      <a:r>
                        <a:rPr lang="en-US" sz="900" spc="-50" dirty="0" smtClean="0">
                          <a:latin typeface="Trebuchet MS"/>
                          <a:ea typeface="Times New Roman"/>
                          <a:cs typeface="SimSun-ExtB"/>
                        </a:rPr>
                        <a:t>0</a:t>
                      </a:r>
                      <a:endParaRPr lang="en-US" sz="1100" dirty="0">
                        <a:latin typeface="SimSun-ExtB"/>
                        <a:ea typeface="Times New Roman"/>
                        <a:cs typeface="SimSun-ExtB"/>
                      </a:endParaRPr>
                    </a:p>
                  </a:txBody>
                  <a:tcPr marL="0" marR="0" marT="0" marB="0">
                    <a:lnL>
                      <a:noFill/>
                    </a:lnL>
                    <a:lnR>
                      <a:noFill/>
                    </a:lnR>
                    <a:lnT>
                      <a:noFill/>
                    </a:lnT>
                    <a:lnB>
                      <a:noFill/>
                    </a:lnB>
                  </a:tcPr>
                </a:tc>
              </a:tr>
              <a:tr h="465394">
                <a:tc>
                  <a:txBody>
                    <a:bodyPr/>
                    <a:lstStyle/>
                    <a:p>
                      <a:pPr marL="45085" algn="ctr">
                        <a:lnSpc>
                          <a:spcPts val="920"/>
                        </a:lnSpc>
                        <a:spcBef>
                          <a:spcPts val="155"/>
                        </a:spcBef>
                        <a:spcAft>
                          <a:spcPts val="0"/>
                        </a:spcAft>
                      </a:pPr>
                      <a:r>
                        <a:rPr lang="en-US" sz="900" spc="-10" dirty="0">
                          <a:latin typeface="Trebuchet MS"/>
                          <a:ea typeface="Times New Roman"/>
                          <a:cs typeface="SimSun-ExtB"/>
                        </a:rPr>
                        <a:t>Music/Movie/Game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35" dirty="0">
                          <a:latin typeface="Trebuchet MS"/>
                          <a:ea typeface="Times New Roman"/>
                          <a:cs typeface="SimSun-ExtB"/>
                        </a:rPr>
                        <a:t>US</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3249</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50" dirty="0">
                          <a:latin typeface="Trebuchet MS"/>
                          <a:ea typeface="Times New Roman"/>
                          <a:cs typeface="SimSun-ExtB"/>
                        </a:rPr>
                        <a:t>5</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5" dirty="0">
                          <a:latin typeface="Trebuchet MS"/>
                          <a:ea typeface="Times New Roman"/>
                          <a:cs typeface="SimSun-ExtB"/>
                        </a:rPr>
                        <a:t>Mon</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50" dirty="0">
                          <a:latin typeface="Trebuchet MS"/>
                          <a:ea typeface="Times New Roman"/>
                          <a:cs typeface="SimSun-ExtB"/>
                        </a:rPr>
                        <a:t>0</a:t>
                      </a:r>
                      <a:endParaRPr lang="en-US" sz="1100" dirty="0">
                        <a:latin typeface="SimSun-ExtB"/>
                        <a:ea typeface="Times New Roman"/>
                        <a:cs typeface="SimSun-ExtB"/>
                      </a:endParaRPr>
                    </a:p>
                  </a:txBody>
                  <a:tcPr marL="0" marR="0" marT="0" marB="0">
                    <a:lnL>
                      <a:noFill/>
                    </a:lnL>
                    <a:lnR>
                      <a:noFill/>
                    </a:lnR>
                    <a:lnT>
                      <a:noFill/>
                    </a:lnT>
                    <a:lnB>
                      <a:noFill/>
                    </a:lnB>
                  </a:tcPr>
                </a:tc>
              </a:tr>
              <a:tr h="359388">
                <a:tc>
                  <a:txBody>
                    <a:bodyPr/>
                    <a:lstStyle/>
                    <a:p>
                      <a:pPr marL="45085" algn="ctr">
                        <a:lnSpc>
                          <a:spcPts val="920"/>
                        </a:lnSpc>
                        <a:spcBef>
                          <a:spcPts val="155"/>
                        </a:spcBef>
                        <a:spcAft>
                          <a:spcPts val="0"/>
                        </a:spcAft>
                      </a:pPr>
                      <a:r>
                        <a:rPr lang="en-US" sz="900" spc="-10" dirty="0">
                          <a:latin typeface="Trebuchet MS"/>
                          <a:ea typeface="Times New Roman"/>
                          <a:cs typeface="SimSun-ExtB"/>
                        </a:rPr>
                        <a:t>Automotive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35" dirty="0">
                          <a:latin typeface="Trebuchet MS"/>
                          <a:ea typeface="Times New Roman"/>
                          <a:cs typeface="SimSun-ExtB"/>
                        </a:rPr>
                        <a:t>US</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3115</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50" dirty="0">
                          <a:latin typeface="Trebuchet MS"/>
                          <a:ea typeface="Times New Roman"/>
                          <a:cs typeface="SimSun-ExtB"/>
                        </a:rPr>
                        <a:t>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5" dirty="0">
                          <a:latin typeface="Trebuchet MS"/>
                          <a:ea typeface="Times New Roman"/>
                          <a:cs typeface="SimSun-ExtB"/>
                        </a:rPr>
                        <a:t>Tue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50" dirty="0">
                          <a:latin typeface="Trebuchet MS"/>
                          <a:ea typeface="Times New Roman"/>
                          <a:cs typeface="SimSun-ExtB"/>
                        </a:rPr>
                        <a:t>0</a:t>
                      </a:r>
                      <a:endParaRPr lang="en-US" sz="1100" dirty="0">
                        <a:latin typeface="SimSun-ExtB"/>
                        <a:ea typeface="Times New Roman"/>
                        <a:cs typeface="SimSun-ExtB"/>
                      </a:endParaRPr>
                    </a:p>
                  </a:txBody>
                  <a:tcPr marL="0" marR="0" marT="0" marB="0">
                    <a:lnL>
                      <a:noFill/>
                    </a:lnL>
                    <a:lnR>
                      <a:noFill/>
                    </a:lnR>
                    <a:lnT>
                      <a:noFill/>
                    </a:lnT>
                    <a:lnB>
                      <a:noFill/>
                    </a:lnB>
                  </a:tcPr>
                </a:tc>
              </a:tr>
              <a:tr h="359388">
                <a:tc>
                  <a:txBody>
                    <a:bodyPr/>
                    <a:lstStyle/>
                    <a:p>
                      <a:pPr marL="45085" algn="ctr">
                        <a:lnSpc>
                          <a:spcPts val="920"/>
                        </a:lnSpc>
                        <a:spcBef>
                          <a:spcPts val="155"/>
                        </a:spcBef>
                        <a:spcAft>
                          <a:spcPts val="0"/>
                        </a:spcAft>
                      </a:pPr>
                      <a:r>
                        <a:rPr lang="en-US" sz="900" spc="-10" dirty="0">
                          <a:latin typeface="Trebuchet MS"/>
                          <a:ea typeface="Times New Roman"/>
                          <a:cs typeface="SimSun-ExtB"/>
                        </a:rPr>
                        <a:t>Automotive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35" dirty="0">
                          <a:latin typeface="Trebuchet MS"/>
                          <a:ea typeface="Times New Roman"/>
                          <a:cs typeface="SimSun-ExtB"/>
                        </a:rPr>
                        <a:t>US</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3115</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50" dirty="0">
                          <a:latin typeface="Trebuchet MS"/>
                          <a:ea typeface="Times New Roman"/>
                          <a:cs typeface="SimSun-ExtB"/>
                        </a:rPr>
                        <a:t>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5" dirty="0">
                          <a:latin typeface="Trebuchet MS"/>
                          <a:ea typeface="Times New Roman"/>
                          <a:cs typeface="SimSun-ExtB"/>
                        </a:rPr>
                        <a:t>Tue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50" dirty="0">
                          <a:latin typeface="Trebuchet MS"/>
                          <a:ea typeface="Times New Roman"/>
                          <a:cs typeface="SimSun-ExtB"/>
                        </a:rPr>
                        <a:t>0</a:t>
                      </a:r>
                      <a:endParaRPr lang="en-US" sz="1100" dirty="0">
                        <a:latin typeface="SimSun-ExtB"/>
                        <a:ea typeface="Times New Roman"/>
                        <a:cs typeface="SimSun-ExtB"/>
                      </a:endParaRPr>
                    </a:p>
                  </a:txBody>
                  <a:tcPr marL="0" marR="0" marT="0" marB="0">
                    <a:lnL>
                      <a:noFill/>
                    </a:lnL>
                    <a:lnR>
                      <a:noFill/>
                    </a:lnR>
                    <a:lnT>
                      <a:noFill/>
                    </a:lnT>
                    <a:lnB>
                      <a:noFill/>
                    </a:lnB>
                  </a:tcPr>
                </a:tc>
              </a:tr>
              <a:tr h="359388">
                <a:tc>
                  <a:txBody>
                    <a:bodyPr/>
                    <a:lstStyle/>
                    <a:p>
                      <a:pPr marL="45085" algn="ctr">
                        <a:lnSpc>
                          <a:spcPts val="920"/>
                        </a:lnSpc>
                        <a:spcBef>
                          <a:spcPts val="155"/>
                        </a:spcBef>
                        <a:spcAft>
                          <a:spcPts val="0"/>
                        </a:spcAft>
                      </a:pPr>
                      <a:r>
                        <a:rPr lang="en-US" sz="900" spc="-10" dirty="0">
                          <a:latin typeface="Trebuchet MS"/>
                          <a:ea typeface="Times New Roman"/>
                          <a:cs typeface="SimSun-ExtB"/>
                        </a:rPr>
                        <a:t>Automotive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35" dirty="0">
                          <a:latin typeface="Trebuchet MS"/>
                          <a:ea typeface="Times New Roman"/>
                          <a:cs typeface="SimSun-ExtB"/>
                        </a:rPr>
                        <a:t>US</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3115</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50" dirty="0">
                          <a:latin typeface="Trebuchet MS"/>
                          <a:ea typeface="Times New Roman"/>
                          <a:cs typeface="SimSun-ExtB"/>
                        </a:rPr>
                        <a:t>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5" dirty="0">
                          <a:latin typeface="Trebuchet MS"/>
                          <a:ea typeface="Times New Roman"/>
                          <a:cs typeface="SimSun-ExtB"/>
                        </a:rPr>
                        <a:t>Tue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50" dirty="0">
                          <a:latin typeface="Trebuchet MS"/>
                          <a:ea typeface="Times New Roman"/>
                          <a:cs typeface="SimSun-ExtB"/>
                        </a:rPr>
                        <a:t>0</a:t>
                      </a:r>
                      <a:endParaRPr lang="en-US" sz="1100" dirty="0">
                        <a:latin typeface="SimSun-ExtB"/>
                        <a:ea typeface="Times New Roman"/>
                        <a:cs typeface="SimSun-ExtB"/>
                      </a:endParaRPr>
                    </a:p>
                  </a:txBody>
                  <a:tcPr marL="0" marR="0" marT="0" marB="0">
                    <a:lnL>
                      <a:noFill/>
                    </a:lnL>
                    <a:lnR>
                      <a:noFill/>
                    </a:lnR>
                    <a:lnT>
                      <a:noFill/>
                    </a:lnT>
                    <a:lnB>
                      <a:noFill/>
                    </a:lnB>
                  </a:tcPr>
                </a:tc>
              </a:tr>
              <a:tr h="358094">
                <a:tc>
                  <a:txBody>
                    <a:bodyPr/>
                    <a:lstStyle/>
                    <a:p>
                      <a:pPr marL="45085" algn="ctr">
                        <a:lnSpc>
                          <a:spcPts val="920"/>
                        </a:lnSpc>
                        <a:spcBef>
                          <a:spcPts val="155"/>
                        </a:spcBef>
                        <a:spcAft>
                          <a:spcPts val="0"/>
                        </a:spcAft>
                      </a:pPr>
                      <a:r>
                        <a:rPr lang="en-US" sz="900" spc="-10" dirty="0">
                          <a:latin typeface="Trebuchet MS"/>
                          <a:ea typeface="Times New Roman"/>
                          <a:cs typeface="SimSun-ExtB"/>
                        </a:rPr>
                        <a:t>Automotive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35" dirty="0">
                          <a:latin typeface="Trebuchet MS"/>
                          <a:ea typeface="Times New Roman"/>
                          <a:cs typeface="SimSun-ExtB"/>
                        </a:rPr>
                        <a:t>US</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3115</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50" dirty="0">
                          <a:latin typeface="Trebuchet MS"/>
                          <a:ea typeface="Times New Roman"/>
                          <a:cs typeface="SimSun-ExtB"/>
                        </a:rPr>
                        <a:t>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5" dirty="0">
                          <a:latin typeface="Trebuchet MS"/>
                          <a:ea typeface="Times New Roman"/>
                          <a:cs typeface="SimSun-ExtB"/>
                        </a:rPr>
                        <a:t>Tue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50" dirty="0">
                          <a:latin typeface="Trebuchet MS"/>
                          <a:ea typeface="Times New Roman"/>
                          <a:cs typeface="SimSun-ExtB"/>
                        </a:rPr>
                        <a:t>0</a:t>
                      </a:r>
                      <a:endParaRPr lang="en-US" sz="1100" dirty="0">
                        <a:latin typeface="SimSun-ExtB"/>
                        <a:ea typeface="Times New Roman"/>
                        <a:cs typeface="SimSun-ExtB"/>
                      </a:endParaRPr>
                    </a:p>
                  </a:txBody>
                  <a:tcPr marL="0" marR="0" marT="0" marB="0">
                    <a:lnL>
                      <a:noFill/>
                    </a:lnL>
                    <a:lnR>
                      <a:noFill/>
                    </a:lnR>
                    <a:lnT>
                      <a:noFill/>
                    </a:lnT>
                    <a:lnB>
                      <a:noFill/>
                    </a:lnB>
                  </a:tcPr>
                </a:tc>
              </a:tr>
              <a:tr h="382270">
                <a:tc>
                  <a:txBody>
                    <a:bodyPr/>
                    <a:lstStyle/>
                    <a:p>
                      <a:pPr marL="45085" algn="ctr">
                        <a:lnSpc>
                          <a:spcPts val="920"/>
                        </a:lnSpc>
                        <a:spcBef>
                          <a:spcPts val="155"/>
                        </a:spcBef>
                        <a:spcAft>
                          <a:spcPts val="0"/>
                        </a:spcAft>
                      </a:pPr>
                      <a:r>
                        <a:rPr lang="en-US" sz="900" spc="-10" dirty="0">
                          <a:latin typeface="Trebuchet MS"/>
                          <a:ea typeface="Times New Roman"/>
                          <a:cs typeface="SimSun-ExtB"/>
                        </a:rPr>
                        <a:t>Automotive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35" dirty="0">
                          <a:latin typeface="Trebuchet MS"/>
                          <a:ea typeface="Times New Roman"/>
                          <a:cs typeface="SimSun-ExtB"/>
                        </a:rPr>
                        <a:t>US</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3115</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50" dirty="0">
                          <a:latin typeface="Trebuchet MS"/>
                          <a:ea typeface="Times New Roman"/>
                          <a:cs typeface="SimSun-ExtB"/>
                        </a:rPr>
                        <a:t>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5" dirty="0">
                          <a:latin typeface="Trebuchet MS"/>
                          <a:ea typeface="Times New Roman"/>
                          <a:cs typeface="SimSun-ExtB"/>
                        </a:rPr>
                        <a:t>Tue</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50" dirty="0">
                          <a:latin typeface="Trebuchet MS"/>
                          <a:ea typeface="Times New Roman"/>
                          <a:cs typeface="SimSun-ExtB"/>
                        </a:rPr>
                        <a:t>1</a:t>
                      </a:r>
                      <a:endParaRPr lang="en-US" sz="1100" dirty="0">
                        <a:latin typeface="SimSun-ExtB"/>
                        <a:ea typeface="Times New Roman"/>
                        <a:cs typeface="SimSun-ExtB"/>
                      </a:endParaRPr>
                    </a:p>
                  </a:txBody>
                  <a:tcPr marL="0" marR="0" marT="0" marB="0">
                    <a:lnL>
                      <a:noFill/>
                    </a:lnL>
                    <a:lnR>
                      <a:noFill/>
                    </a:lnR>
                    <a:lnT>
                      <a:noFill/>
                    </a:lnT>
                    <a:lnB>
                      <a:noFill/>
                    </a:lnB>
                  </a:tcPr>
                </a:tc>
              </a:tr>
              <a:tr h="380073">
                <a:tc>
                  <a:txBody>
                    <a:bodyPr/>
                    <a:lstStyle/>
                    <a:p>
                      <a:pPr marL="45085" algn="ctr">
                        <a:lnSpc>
                          <a:spcPts val="920"/>
                        </a:lnSpc>
                        <a:spcBef>
                          <a:spcPts val="155"/>
                        </a:spcBef>
                        <a:spcAft>
                          <a:spcPts val="0"/>
                        </a:spcAft>
                      </a:pPr>
                      <a:r>
                        <a:rPr lang="en-US" sz="900" spc="-10" dirty="0">
                          <a:latin typeface="Trebuchet MS"/>
                          <a:ea typeface="Times New Roman"/>
                          <a:cs typeface="SimSun-ExtB"/>
                        </a:rPr>
                        <a:t>Automotive</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085" algn="ctr">
                        <a:lnSpc>
                          <a:spcPts val="920"/>
                        </a:lnSpc>
                        <a:spcBef>
                          <a:spcPts val="155"/>
                        </a:spcBef>
                        <a:spcAft>
                          <a:spcPts val="0"/>
                        </a:spcAft>
                      </a:pPr>
                      <a:r>
                        <a:rPr lang="en-US" sz="900" spc="-35" dirty="0">
                          <a:latin typeface="Trebuchet MS"/>
                          <a:ea typeface="Times New Roman"/>
                          <a:cs typeface="SimSun-ExtB"/>
                        </a:rPr>
                        <a:t>US</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3115</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085" algn="ctr">
                        <a:lnSpc>
                          <a:spcPts val="920"/>
                        </a:lnSpc>
                        <a:spcBef>
                          <a:spcPts val="155"/>
                        </a:spcBef>
                        <a:spcAft>
                          <a:spcPts val="0"/>
                        </a:spcAft>
                      </a:pPr>
                      <a:r>
                        <a:rPr lang="en-US" sz="900" spc="-50" dirty="0">
                          <a:latin typeface="Trebuchet MS"/>
                          <a:ea typeface="Times New Roman"/>
                          <a:cs typeface="SimSun-ExtB"/>
                        </a:rPr>
                        <a:t>7</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085" algn="ctr">
                        <a:lnSpc>
                          <a:spcPts val="920"/>
                        </a:lnSpc>
                        <a:spcBef>
                          <a:spcPts val="155"/>
                        </a:spcBef>
                        <a:spcAft>
                          <a:spcPts val="0"/>
                        </a:spcAft>
                      </a:pPr>
                      <a:r>
                        <a:rPr lang="en-US" sz="900" spc="-25" dirty="0">
                          <a:latin typeface="Trebuchet MS"/>
                          <a:ea typeface="Times New Roman"/>
                          <a:cs typeface="SimSun-ExtB"/>
                        </a:rPr>
                        <a:t>Tue</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085" algn="ctr">
                        <a:lnSpc>
                          <a:spcPts val="920"/>
                        </a:lnSpc>
                        <a:spcBef>
                          <a:spcPts val="155"/>
                        </a:spcBef>
                        <a:spcAft>
                          <a:spcPts val="0"/>
                        </a:spcAft>
                      </a:pPr>
                      <a:r>
                        <a:rPr lang="en-US" sz="900" spc="-20" dirty="0">
                          <a:latin typeface="Trebuchet MS"/>
                          <a:ea typeface="Times New Roman"/>
                          <a:cs typeface="SimSun-ExtB"/>
                        </a:rPr>
                        <a:t>0.01</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720" algn="ctr">
                        <a:lnSpc>
                          <a:spcPts val="920"/>
                        </a:lnSpc>
                        <a:spcBef>
                          <a:spcPts val="155"/>
                        </a:spcBef>
                        <a:spcAft>
                          <a:spcPts val="0"/>
                        </a:spcAft>
                      </a:pPr>
                      <a:r>
                        <a:rPr lang="en-US" sz="900" spc="-50" dirty="0">
                          <a:latin typeface="Trebuchet MS"/>
                          <a:ea typeface="Times New Roman"/>
                          <a:cs typeface="SimSun-ExtB"/>
                        </a:rPr>
                        <a:t>1</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4" name="Rectangle 3"/>
          <p:cNvSpPr/>
          <p:nvPr/>
        </p:nvSpPr>
        <p:spPr>
          <a:xfrm>
            <a:off x="1142976" y="285729"/>
            <a:ext cx="5000659" cy="369332"/>
          </a:xfrm>
          <a:prstGeom prst="rect">
            <a:avLst/>
          </a:prstGeom>
        </p:spPr>
        <p:txBody>
          <a:bodyPr wrap="square">
            <a:spAutoFit/>
          </a:bodyPr>
          <a:lstStyle/>
          <a:p>
            <a:r>
              <a:rPr lang="en-US" i="1" dirty="0" smtClean="0"/>
              <a:t>Table 1-1. A typical data frame format</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991600" cy="923330"/>
          </a:xfrm>
          <a:prstGeom prst="rect">
            <a:avLst/>
          </a:prstGeom>
        </p:spPr>
        <p:txBody>
          <a:bodyPr wrap="square">
            <a:spAutoFit/>
          </a:bodyPr>
          <a:lstStyle/>
          <a:p>
            <a:pPr algn="ctr"/>
            <a:r>
              <a:rPr lang="en-US" b="1" dirty="0">
                <a:latin typeface="Times New Roman" pitchFamily="18" charset="0"/>
                <a:cs typeface="Times New Roman" pitchFamily="18" charset="0"/>
              </a:rPr>
              <a:t>Estimates of Location</a:t>
            </a:r>
          </a:p>
          <a:p>
            <a:endParaRPr lang="en-IN" dirty="0"/>
          </a:p>
          <a:p>
            <a:endParaRPr lang="en-US" dirty="0"/>
          </a:p>
        </p:txBody>
      </p:sp>
      <p:sp>
        <p:nvSpPr>
          <p:cNvPr id="3" name="Rectangle 2"/>
          <p:cNvSpPr/>
          <p:nvPr/>
        </p:nvSpPr>
        <p:spPr>
          <a:xfrm>
            <a:off x="0" y="304800"/>
            <a:ext cx="9144000" cy="1477328"/>
          </a:xfrm>
          <a:prstGeom prst="rect">
            <a:avLst/>
          </a:prstGeom>
        </p:spPr>
        <p:txBody>
          <a:bodyPr wrap="square">
            <a:spAutoFit/>
          </a:bodyPr>
          <a:lstStyle/>
          <a:p>
            <a:r>
              <a:rPr lang="en-US" dirty="0" smtClean="0">
                <a:latin typeface="Times New Roman" pitchFamily="18" charset="0"/>
                <a:cs typeface="Times New Roman" pitchFamily="18" charset="0"/>
              </a:rPr>
              <a:t>	Variables </a:t>
            </a:r>
            <a:r>
              <a:rPr lang="en-US" dirty="0">
                <a:latin typeface="Times New Roman" pitchFamily="18" charset="0"/>
                <a:cs typeface="Times New Roman" pitchFamily="18" charset="0"/>
              </a:rPr>
              <a:t>with measured or count data might have thousands of distinct values. A basic step in exploring your data is getting a “typical value” for each feature (variable): an estimate of where most of the data is located (i.e., its central tendency).</a:t>
            </a:r>
          </a:p>
          <a:p>
            <a:endParaRPr lang="en-IN" dirty="0"/>
          </a:p>
          <a:p>
            <a:endParaRPr lang="en-US" dirty="0"/>
          </a:p>
        </p:txBody>
      </p:sp>
      <p:sp>
        <p:nvSpPr>
          <p:cNvPr id="4" name="Rectangle 3"/>
          <p:cNvSpPr/>
          <p:nvPr/>
        </p:nvSpPr>
        <p:spPr>
          <a:xfrm>
            <a:off x="76200" y="-2018645"/>
            <a:ext cx="9067800" cy="7848302"/>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Key Terms for Estimates of Location</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Mean</a:t>
            </a:r>
          </a:p>
          <a:p>
            <a:r>
              <a:rPr lang="en-US" dirty="0">
                <a:latin typeface="Times New Roman" pitchFamily="18" charset="0"/>
                <a:cs typeface="Times New Roman" pitchFamily="18" charset="0"/>
              </a:rPr>
              <a:t>The sum of all values divided by the number of values.</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Average</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Weighted mean</a:t>
            </a:r>
          </a:p>
          <a:p>
            <a:r>
              <a:rPr lang="en-US" dirty="0">
                <a:latin typeface="Times New Roman" pitchFamily="18" charset="0"/>
                <a:cs typeface="Times New Roman" pitchFamily="18" charset="0"/>
              </a:rPr>
              <a:t>The sum of all values times a weight divided by the sum of the weights.</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weighted average</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Median</a:t>
            </a:r>
          </a:p>
          <a:p>
            <a:r>
              <a:rPr lang="en-US" dirty="0">
                <a:latin typeface="Times New Roman" pitchFamily="18" charset="0"/>
                <a:cs typeface="Times New Roman" pitchFamily="18" charset="0"/>
              </a:rPr>
              <a:t>The value such that one-half of the data lies above and below.</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50th percentile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63308"/>
          </a:xfrm>
          <a:prstGeom prst="rect">
            <a:avLst/>
          </a:prstGeom>
        </p:spPr>
        <p:txBody>
          <a:bodyPr wrap="square">
            <a:spAutoFit/>
          </a:bodyPr>
          <a:lstStyle/>
          <a:p>
            <a:r>
              <a:rPr lang="en-US" b="1" dirty="0">
                <a:latin typeface="Times New Roman" pitchFamily="18" charset="0"/>
                <a:cs typeface="Times New Roman" pitchFamily="18" charset="0"/>
              </a:rPr>
              <a:t>Percentile</a:t>
            </a:r>
          </a:p>
          <a:p>
            <a:r>
              <a:rPr lang="en-US" dirty="0">
                <a:latin typeface="Times New Roman" pitchFamily="18" charset="0"/>
                <a:cs typeface="Times New Roman" pitchFamily="18" charset="0"/>
              </a:rPr>
              <a:t>The value such that P percent of the data lies below.</a:t>
            </a:r>
          </a:p>
          <a:p>
            <a:r>
              <a:rPr lang="en-US" dirty="0">
                <a:latin typeface="Times New Roman" pitchFamily="18" charset="0"/>
                <a:cs typeface="Times New Roman" pitchFamily="18" charset="0"/>
              </a:rPr>
              <a:t>Synonym</a:t>
            </a:r>
          </a:p>
          <a:p>
            <a:r>
              <a:rPr lang="en-US" dirty="0" err="1">
                <a:latin typeface="Times New Roman" pitchFamily="18" charset="0"/>
                <a:cs typeface="Times New Roman" pitchFamily="18" charset="0"/>
              </a:rPr>
              <a:t>Quantile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Weighted median</a:t>
            </a:r>
          </a:p>
          <a:p>
            <a:r>
              <a:rPr lang="en-US" dirty="0">
                <a:latin typeface="Times New Roman" pitchFamily="18" charset="0"/>
                <a:cs typeface="Times New Roman" pitchFamily="18" charset="0"/>
              </a:rPr>
              <a:t>The value such that one-half of the sum of the weights lies above and below the</a:t>
            </a:r>
          </a:p>
          <a:p>
            <a:r>
              <a:rPr lang="en-US" dirty="0">
                <a:latin typeface="Times New Roman" pitchFamily="18" charset="0"/>
                <a:cs typeface="Times New Roman" pitchFamily="18" charset="0"/>
              </a:rPr>
              <a:t>sorted data.</a:t>
            </a:r>
          </a:p>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Trimmed mean</a:t>
            </a:r>
          </a:p>
          <a:p>
            <a:r>
              <a:rPr lang="en-US" dirty="0">
                <a:latin typeface="Times New Roman" pitchFamily="18" charset="0"/>
                <a:cs typeface="Times New Roman" pitchFamily="18" charset="0"/>
              </a:rPr>
              <a:t>The average of all values after dropping a fixed number of extreme values.</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truncated mean</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Robust</a:t>
            </a:r>
          </a:p>
          <a:p>
            <a:r>
              <a:rPr lang="en-US" dirty="0">
                <a:latin typeface="Times New Roman" pitchFamily="18" charset="0"/>
                <a:cs typeface="Times New Roman" pitchFamily="18" charset="0"/>
              </a:rPr>
              <a:t>Not sensitive to extreme values.</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resistant</a:t>
            </a:r>
          </a:p>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Outlier</a:t>
            </a:r>
          </a:p>
          <a:p>
            <a:r>
              <a:rPr lang="en-US" dirty="0">
                <a:latin typeface="Times New Roman" pitchFamily="18" charset="0"/>
                <a:cs typeface="Times New Roman" pitchFamily="18" charset="0"/>
              </a:rPr>
              <a:t>A data value that is very different from most of the data.</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extreme value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1"/>
          <a:ext cx="8858280" cy="2857498"/>
        </p:xfrm>
        <a:graphic>
          <a:graphicData uri="http://schemas.openxmlformats.org/drawingml/2006/table">
            <a:tbl>
              <a:tblPr/>
              <a:tblGrid>
                <a:gridCol w="2501920"/>
                <a:gridCol w="1976764"/>
                <a:gridCol w="2117961"/>
                <a:gridCol w="2261635"/>
              </a:tblGrid>
              <a:tr h="332697">
                <a:tc>
                  <a:txBody>
                    <a:bodyPr/>
                    <a:lstStyle/>
                    <a:p>
                      <a:pPr marL="180975"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180975" algn="ctr">
                        <a:lnSpc>
                          <a:spcPts val="920"/>
                        </a:lnSpc>
                        <a:spcBef>
                          <a:spcPts val="120"/>
                        </a:spcBef>
                        <a:spcAft>
                          <a:spcPts val="0"/>
                        </a:spcAft>
                      </a:pPr>
                      <a:r>
                        <a:rPr lang="en-US" sz="900" b="1" spc="-10" dirty="0" smtClean="0">
                          <a:solidFill>
                            <a:srgbClr val="FFFFFF"/>
                          </a:solidFill>
                          <a:latin typeface="Trebuchet MS"/>
                          <a:ea typeface="Times New Roman"/>
                          <a:cs typeface="SimSun-ExtB"/>
                        </a:rPr>
                        <a:t>State</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085"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085" algn="ctr">
                        <a:lnSpc>
                          <a:spcPts val="920"/>
                        </a:lnSpc>
                        <a:spcBef>
                          <a:spcPts val="120"/>
                        </a:spcBef>
                        <a:spcAft>
                          <a:spcPts val="0"/>
                        </a:spcAft>
                      </a:pPr>
                      <a:r>
                        <a:rPr lang="en-US" sz="900" b="1" spc="-10" dirty="0" smtClean="0">
                          <a:solidFill>
                            <a:srgbClr val="FFFFFF"/>
                          </a:solidFill>
                          <a:latin typeface="Trebuchet MS"/>
                          <a:ea typeface="Times New Roman"/>
                          <a:cs typeface="SimSun-ExtB"/>
                        </a:rPr>
                        <a:t>Population</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720" algn="l">
                        <a:lnSpc>
                          <a:spcPts val="920"/>
                        </a:lnSpc>
                        <a:spcBef>
                          <a:spcPts val="120"/>
                        </a:spcBef>
                        <a:spcAft>
                          <a:spcPts val="0"/>
                        </a:spcAft>
                      </a:pPr>
                      <a:endParaRPr lang="en-US" sz="900" b="1" dirty="0" smtClean="0">
                        <a:solidFill>
                          <a:srgbClr val="FFFFFF"/>
                        </a:solidFill>
                        <a:latin typeface="Trebuchet MS"/>
                        <a:ea typeface="Times New Roman"/>
                        <a:cs typeface="SimSun-ExtB"/>
                      </a:endParaRPr>
                    </a:p>
                    <a:p>
                      <a:pPr marL="45720" algn="ctr">
                        <a:lnSpc>
                          <a:spcPts val="920"/>
                        </a:lnSpc>
                        <a:spcBef>
                          <a:spcPts val="120"/>
                        </a:spcBef>
                        <a:spcAft>
                          <a:spcPts val="0"/>
                        </a:spcAft>
                      </a:pPr>
                      <a:r>
                        <a:rPr lang="en-US" sz="900" b="1" dirty="0" smtClean="0">
                          <a:solidFill>
                            <a:srgbClr val="FFFFFF"/>
                          </a:solidFill>
                          <a:latin typeface="Trebuchet MS"/>
                          <a:ea typeface="Times New Roman"/>
                          <a:cs typeface="SimSun-ExtB"/>
                        </a:rPr>
                        <a:t>Murder </a:t>
                      </a:r>
                      <a:r>
                        <a:rPr lang="en-US" sz="900" b="1" spc="-20" dirty="0" smtClean="0">
                          <a:solidFill>
                            <a:srgbClr val="FFFFFF"/>
                          </a:solidFill>
                          <a:latin typeface="Trebuchet MS"/>
                          <a:ea typeface="Times New Roman"/>
                          <a:cs typeface="SimSun-ExtB"/>
                        </a:rPr>
                        <a:t>rate</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c>
                  <a:txBody>
                    <a:bodyPr/>
                    <a:lstStyle/>
                    <a:p>
                      <a:pPr marL="45720" algn="l">
                        <a:lnSpc>
                          <a:spcPts val="920"/>
                        </a:lnSpc>
                        <a:spcBef>
                          <a:spcPts val="120"/>
                        </a:spcBef>
                        <a:spcAft>
                          <a:spcPts val="0"/>
                        </a:spcAft>
                      </a:pPr>
                      <a:endParaRPr lang="en-US" sz="900" b="1" spc="-10" dirty="0" smtClean="0">
                        <a:solidFill>
                          <a:srgbClr val="FFFFFF"/>
                        </a:solidFill>
                        <a:latin typeface="Trebuchet MS"/>
                        <a:ea typeface="Times New Roman"/>
                        <a:cs typeface="SimSun-ExtB"/>
                      </a:endParaRPr>
                    </a:p>
                    <a:p>
                      <a:pPr marL="45720" algn="ctr">
                        <a:lnSpc>
                          <a:spcPts val="920"/>
                        </a:lnSpc>
                        <a:spcBef>
                          <a:spcPts val="120"/>
                        </a:spcBef>
                        <a:spcAft>
                          <a:spcPts val="0"/>
                        </a:spcAft>
                      </a:pPr>
                      <a:r>
                        <a:rPr lang="en-US" sz="900" b="1" spc="-10" dirty="0" smtClean="0">
                          <a:solidFill>
                            <a:srgbClr val="FFFFFF"/>
                          </a:solidFill>
                          <a:latin typeface="Trebuchet MS"/>
                          <a:ea typeface="Times New Roman"/>
                          <a:cs typeface="SimSun-ExtB"/>
                        </a:rPr>
                        <a:t>Abbreviation</a:t>
                      </a:r>
                      <a:endParaRPr lang="en-US" sz="1100" dirty="0">
                        <a:latin typeface="SimSun-ExtB"/>
                        <a:ea typeface="Times New Roman"/>
                        <a:cs typeface="SimSun-ExtB"/>
                      </a:endParaRPr>
                    </a:p>
                  </a:txBody>
                  <a:tcPr marL="0" marR="0" marT="0" marB="0">
                    <a:lnL>
                      <a:noFill/>
                    </a:lnL>
                    <a:lnR>
                      <a:noFill/>
                    </a:lnR>
                    <a:lnT>
                      <a:noFill/>
                    </a:lnT>
                    <a:lnB>
                      <a:noFill/>
                    </a:lnB>
                    <a:solidFill>
                      <a:srgbClr val="000000"/>
                    </a:solidFill>
                  </a:tcPr>
                </a:tc>
              </a:tr>
              <a:tr h="332697">
                <a:tc>
                  <a:txBody>
                    <a:bodyPr/>
                    <a:lstStyle/>
                    <a:p>
                      <a:pPr marL="45085" algn="ctr">
                        <a:lnSpc>
                          <a:spcPts val="920"/>
                        </a:lnSpc>
                        <a:spcBef>
                          <a:spcPts val="75"/>
                        </a:spcBef>
                        <a:spcAft>
                          <a:spcPts val="0"/>
                        </a:spcAft>
                      </a:pPr>
                      <a:r>
                        <a:rPr lang="en-US" sz="900" dirty="0" smtClean="0">
                          <a:latin typeface="Trebuchet MS"/>
                          <a:ea typeface="Times New Roman"/>
                          <a:cs typeface="SimSun-ExtB"/>
                        </a:rPr>
                        <a:t>1</a:t>
                      </a:r>
                      <a:r>
                        <a:rPr lang="en-US" sz="900" spc="-10" dirty="0" smtClean="0">
                          <a:latin typeface="Trebuchet MS"/>
                          <a:ea typeface="Times New Roman"/>
                          <a:cs typeface="SimSun-ExtB"/>
                        </a:rPr>
                        <a:t>Alabama</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75"/>
                        </a:spcBef>
                        <a:spcAft>
                          <a:spcPts val="0"/>
                        </a:spcAft>
                      </a:pPr>
                      <a:r>
                        <a:rPr lang="en-US" sz="900" spc="-10" dirty="0">
                          <a:latin typeface="Trebuchet MS"/>
                          <a:ea typeface="Times New Roman"/>
                          <a:cs typeface="SimSun-ExtB"/>
                        </a:rPr>
                        <a:t>4,779,736</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75"/>
                        </a:spcBef>
                        <a:spcAft>
                          <a:spcPts val="0"/>
                        </a:spcAft>
                      </a:pPr>
                      <a:r>
                        <a:rPr lang="en-US" sz="900" spc="-25" dirty="0">
                          <a:latin typeface="Trebuchet MS"/>
                          <a:ea typeface="Times New Roman"/>
                          <a:cs typeface="SimSun-ExtB"/>
                        </a:rPr>
                        <a:t>5.7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75"/>
                        </a:spcBef>
                        <a:spcAft>
                          <a:spcPts val="0"/>
                        </a:spcAft>
                      </a:pPr>
                      <a:r>
                        <a:rPr lang="en-US" sz="900" spc="-25" dirty="0">
                          <a:latin typeface="Trebuchet MS"/>
                          <a:ea typeface="Times New Roman"/>
                          <a:cs typeface="SimSun-ExtB"/>
                        </a:rPr>
                        <a:t>AL</a:t>
                      </a:r>
                      <a:endParaRPr lang="en-US" sz="1100" dirty="0">
                        <a:latin typeface="SimSun-ExtB"/>
                        <a:ea typeface="Times New Roman"/>
                        <a:cs typeface="SimSun-ExtB"/>
                      </a:endParaRPr>
                    </a:p>
                  </a:txBody>
                  <a:tcPr marL="0" marR="0" marT="0" marB="0">
                    <a:lnL>
                      <a:noFill/>
                    </a:lnL>
                    <a:lnR>
                      <a:noFill/>
                    </a:lnR>
                    <a:lnT>
                      <a:noFill/>
                    </a:lnT>
                    <a:lnB>
                      <a:noFill/>
                    </a:lnB>
                  </a:tcPr>
                </a:tc>
              </a:tr>
              <a:tr h="256916">
                <a:tc>
                  <a:txBody>
                    <a:bodyPr/>
                    <a:lstStyle/>
                    <a:p>
                      <a:pPr marL="45085" algn="ctr">
                        <a:lnSpc>
                          <a:spcPts val="920"/>
                        </a:lnSpc>
                        <a:spcBef>
                          <a:spcPts val="155"/>
                        </a:spcBef>
                        <a:spcAft>
                          <a:spcPts val="0"/>
                        </a:spcAft>
                      </a:pPr>
                      <a:r>
                        <a:rPr lang="en-US" sz="900" dirty="0">
                          <a:latin typeface="Trebuchet MS"/>
                          <a:ea typeface="Times New Roman"/>
                          <a:cs typeface="SimSun-ExtB"/>
                        </a:rPr>
                        <a:t>2</a:t>
                      </a:r>
                      <a:r>
                        <a:rPr lang="en-US" sz="900" spc="-10" dirty="0">
                          <a:latin typeface="Trebuchet MS"/>
                          <a:ea typeface="Times New Roman"/>
                          <a:cs typeface="SimSun-ExtB"/>
                        </a:rPr>
                        <a:t>Alaska</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10" dirty="0">
                          <a:latin typeface="Trebuchet MS"/>
                          <a:ea typeface="Times New Roman"/>
                          <a:cs typeface="SimSun-ExtB"/>
                        </a:rPr>
                        <a:t>710,231</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5.6</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AK</a:t>
                      </a:r>
                      <a:endParaRPr lang="en-US" sz="1100" dirty="0">
                        <a:latin typeface="SimSun-ExtB"/>
                        <a:ea typeface="Times New Roman"/>
                        <a:cs typeface="SimSun-ExtB"/>
                      </a:endParaRPr>
                    </a:p>
                  </a:txBody>
                  <a:tcPr marL="0" marR="0" marT="0" marB="0">
                    <a:lnL>
                      <a:noFill/>
                    </a:lnL>
                    <a:lnR>
                      <a:noFill/>
                    </a:lnR>
                    <a:lnT>
                      <a:noFill/>
                    </a:lnT>
                    <a:lnB>
                      <a:noFill/>
                    </a:lnB>
                  </a:tcPr>
                </a:tc>
              </a:tr>
              <a:tr h="332697">
                <a:tc>
                  <a:txBody>
                    <a:bodyPr/>
                    <a:lstStyle/>
                    <a:p>
                      <a:pPr marL="45085" algn="ctr">
                        <a:lnSpc>
                          <a:spcPts val="920"/>
                        </a:lnSpc>
                        <a:spcBef>
                          <a:spcPts val="155"/>
                        </a:spcBef>
                        <a:spcAft>
                          <a:spcPts val="0"/>
                        </a:spcAft>
                      </a:pPr>
                      <a:r>
                        <a:rPr lang="en-US" sz="900" dirty="0">
                          <a:latin typeface="Trebuchet MS"/>
                          <a:ea typeface="Times New Roman"/>
                          <a:cs typeface="SimSun-ExtB"/>
                        </a:rPr>
                        <a:t>3</a:t>
                      </a:r>
                      <a:r>
                        <a:rPr lang="en-US" sz="900" spc="-10" dirty="0">
                          <a:latin typeface="Trebuchet MS"/>
                          <a:ea typeface="Times New Roman"/>
                          <a:cs typeface="SimSun-ExtB"/>
                        </a:rPr>
                        <a:t>Arizona</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10" dirty="0">
                          <a:latin typeface="Trebuchet MS"/>
                          <a:ea typeface="Times New Roman"/>
                          <a:cs typeface="SimSun-ExtB"/>
                        </a:rPr>
                        <a:t>6,392,017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4.7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AZ</a:t>
                      </a:r>
                      <a:endParaRPr lang="en-US" sz="1100" dirty="0">
                        <a:latin typeface="SimSun-ExtB"/>
                        <a:ea typeface="Times New Roman"/>
                        <a:cs typeface="SimSun-ExtB"/>
                      </a:endParaRPr>
                    </a:p>
                  </a:txBody>
                  <a:tcPr marL="0" marR="0" marT="0" marB="0">
                    <a:lnL>
                      <a:noFill/>
                    </a:lnL>
                    <a:lnR>
                      <a:noFill/>
                    </a:lnR>
                    <a:lnT>
                      <a:noFill/>
                    </a:lnT>
                    <a:lnB>
                      <a:noFill/>
                    </a:lnB>
                  </a:tcPr>
                </a:tc>
              </a:tr>
              <a:tr h="332697">
                <a:tc>
                  <a:txBody>
                    <a:bodyPr/>
                    <a:lstStyle/>
                    <a:p>
                      <a:pPr marL="45085" algn="ctr">
                        <a:lnSpc>
                          <a:spcPts val="920"/>
                        </a:lnSpc>
                        <a:spcBef>
                          <a:spcPts val="155"/>
                        </a:spcBef>
                        <a:spcAft>
                          <a:spcPts val="0"/>
                        </a:spcAft>
                      </a:pPr>
                      <a:r>
                        <a:rPr lang="en-US" sz="900" dirty="0">
                          <a:latin typeface="Trebuchet MS"/>
                          <a:ea typeface="Times New Roman"/>
                          <a:cs typeface="SimSun-ExtB"/>
                        </a:rPr>
                        <a:t>4</a:t>
                      </a:r>
                      <a:r>
                        <a:rPr lang="en-US" sz="900" spc="-10" dirty="0">
                          <a:latin typeface="Trebuchet MS"/>
                          <a:ea typeface="Times New Roman"/>
                          <a:cs typeface="SimSun-ExtB"/>
                        </a:rPr>
                        <a:t>Arkansas</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10" dirty="0">
                          <a:latin typeface="Trebuchet MS"/>
                          <a:ea typeface="Times New Roman"/>
                          <a:cs typeface="SimSun-ExtB"/>
                        </a:rPr>
                        <a:t>2,915,918</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5.6</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AR</a:t>
                      </a:r>
                      <a:endParaRPr lang="en-US" sz="1100" dirty="0">
                        <a:latin typeface="SimSun-ExtB"/>
                        <a:ea typeface="Times New Roman"/>
                        <a:cs typeface="SimSun-ExtB"/>
                      </a:endParaRPr>
                    </a:p>
                  </a:txBody>
                  <a:tcPr marL="0" marR="0" marT="0" marB="0">
                    <a:lnL>
                      <a:noFill/>
                    </a:lnL>
                    <a:lnR>
                      <a:noFill/>
                    </a:lnR>
                    <a:lnT>
                      <a:noFill/>
                    </a:lnT>
                    <a:lnB>
                      <a:noFill/>
                    </a:lnB>
                  </a:tcPr>
                </a:tc>
              </a:tr>
              <a:tr h="332697">
                <a:tc>
                  <a:txBody>
                    <a:bodyPr/>
                    <a:lstStyle/>
                    <a:p>
                      <a:pPr marL="45085" algn="ctr">
                        <a:lnSpc>
                          <a:spcPts val="920"/>
                        </a:lnSpc>
                        <a:spcBef>
                          <a:spcPts val="155"/>
                        </a:spcBef>
                        <a:spcAft>
                          <a:spcPts val="0"/>
                        </a:spcAft>
                      </a:pPr>
                      <a:r>
                        <a:rPr lang="en-US" sz="900" dirty="0">
                          <a:latin typeface="Trebuchet MS"/>
                          <a:ea typeface="Times New Roman"/>
                          <a:cs typeface="SimSun-ExtB"/>
                        </a:rPr>
                        <a:t>5</a:t>
                      </a:r>
                      <a:r>
                        <a:rPr lang="en-US" sz="900" spc="-10" dirty="0">
                          <a:latin typeface="Trebuchet MS"/>
                          <a:ea typeface="Times New Roman"/>
                          <a:cs typeface="SimSun-ExtB"/>
                        </a:rPr>
                        <a:t>California</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10" dirty="0">
                          <a:latin typeface="Trebuchet MS"/>
                          <a:ea typeface="Times New Roman"/>
                          <a:cs typeface="SimSun-ExtB"/>
                        </a:rPr>
                        <a:t>37,253,956</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4.4</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CA</a:t>
                      </a:r>
                      <a:endParaRPr lang="en-US" sz="1100" dirty="0">
                        <a:latin typeface="SimSun-ExtB"/>
                        <a:ea typeface="Times New Roman"/>
                        <a:cs typeface="SimSun-ExtB"/>
                      </a:endParaRPr>
                    </a:p>
                  </a:txBody>
                  <a:tcPr marL="0" marR="0" marT="0" marB="0">
                    <a:lnL>
                      <a:noFill/>
                    </a:lnL>
                    <a:lnR>
                      <a:noFill/>
                    </a:lnR>
                    <a:lnT>
                      <a:noFill/>
                    </a:lnT>
                    <a:lnB>
                      <a:noFill/>
                    </a:lnB>
                  </a:tcPr>
                </a:tc>
              </a:tr>
              <a:tr h="332697">
                <a:tc>
                  <a:txBody>
                    <a:bodyPr/>
                    <a:lstStyle/>
                    <a:p>
                      <a:pPr marL="45085" algn="ctr">
                        <a:lnSpc>
                          <a:spcPts val="920"/>
                        </a:lnSpc>
                        <a:spcBef>
                          <a:spcPts val="155"/>
                        </a:spcBef>
                        <a:spcAft>
                          <a:spcPts val="0"/>
                        </a:spcAft>
                      </a:pPr>
                      <a:r>
                        <a:rPr lang="en-US" sz="900" dirty="0">
                          <a:latin typeface="Trebuchet MS"/>
                          <a:ea typeface="Times New Roman"/>
                          <a:cs typeface="SimSun-ExtB"/>
                        </a:rPr>
                        <a:t>6</a:t>
                      </a:r>
                      <a:r>
                        <a:rPr lang="en-US" sz="900" spc="-10" dirty="0">
                          <a:latin typeface="Trebuchet MS"/>
                          <a:ea typeface="Times New Roman"/>
                          <a:cs typeface="SimSun-ExtB"/>
                        </a:rPr>
                        <a:t>Colorado</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10" dirty="0">
                          <a:latin typeface="Trebuchet MS"/>
                          <a:ea typeface="Times New Roman"/>
                          <a:cs typeface="SimSun-ExtB"/>
                        </a:rPr>
                        <a:t>5,029,196</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2.8</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CO</a:t>
                      </a:r>
                      <a:endParaRPr lang="en-US" sz="1100" dirty="0">
                        <a:latin typeface="SimSun-ExtB"/>
                        <a:ea typeface="Times New Roman"/>
                        <a:cs typeface="SimSun-ExtB"/>
                      </a:endParaRPr>
                    </a:p>
                  </a:txBody>
                  <a:tcPr marL="0" marR="0" marT="0" marB="0">
                    <a:lnL>
                      <a:noFill/>
                    </a:lnL>
                    <a:lnR>
                      <a:noFill/>
                    </a:lnR>
                    <a:lnT>
                      <a:noFill/>
                    </a:lnT>
                    <a:lnB>
                      <a:noFill/>
                    </a:lnB>
                  </a:tcPr>
                </a:tc>
              </a:tr>
              <a:tr h="332697">
                <a:tc>
                  <a:txBody>
                    <a:bodyPr/>
                    <a:lstStyle/>
                    <a:p>
                      <a:pPr marL="45085" algn="ctr">
                        <a:lnSpc>
                          <a:spcPts val="920"/>
                        </a:lnSpc>
                        <a:spcBef>
                          <a:spcPts val="155"/>
                        </a:spcBef>
                        <a:spcAft>
                          <a:spcPts val="0"/>
                        </a:spcAft>
                      </a:pPr>
                      <a:r>
                        <a:rPr lang="en-US" sz="900" dirty="0">
                          <a:latin typeface="Trebuchet MS"/>
                          <a:ea typeface="Times New Roman"/>
                          <a:cs typeface="SimSun-ExtB"/>
                        </a:rPr>
                        <a:t>7</a:t>
                      </a:r>
                      <a:r>
                        <a:rPr lang="en-US" sz="900" spc="-10" dirty="0">
                          <a:latin typeface="Trebuchet MS"/>
                          <a:ea typeface="Times New Roman"/>
                          <a:cs typeface="SimSun-ExtB"/>
                        </a:rPr>
                        <a:t>Connecticut</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085" algn="ctr">
                        <a:lnSpc>
                          <a:spcPts val="920"/>
                        </a:lnSpc>
                        <a:spcBef>
                          <a:spcPts val="155"/>
                        </a:spcBef>
                        <a:spcAft>
                          <a:spcPts val="0"/>
                        </a:spcAft>
                      </a:pPr>
                      <a:r>
                        <a:rPr lang="en-US" sz="900" spc="-10" dirty="0">
                          <a:latin typeface="Trebuchet MS"/>
                          <a:ea typeface="Times New Roman"/>
                          <a:cs typeface="SimSun-ExtB"/>
                        </a:rPr>
                        <a:t>3,574,097</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2.4</a:t>
                      </a:r>
                      <a:endParaRPr lang="en-US" sz="1100" dirty="0">
                        <a:latin typeface="SimSun-ExtB"/>
                        <a:ea typeface="Times New Roman"/>
                        <a:cs typeface="SimSun-ExtB"/>
                      </a:endParaRPr>
                    </a:p>
                  </a:txBody>
                  <a:tcPr marL="0" marR="0" marT="0" marB="0">
                    <a:lnL>
                      <a:noFill/>
                    </a:lnL>
                    <a:lnR>
                      <a:noFill/>
                    </a:lnR>
                    <a:lnT>
                      <a:noFill/>
                    </a:lnT>
                    <a:lnB>
                      <a:noFill/>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CT</a:t>
                      </a:r>
                      <a:endParaRPr lang="en-US" sz="1100" dirty="0">
                        <a:latin typeface="SimSun-ExtB"/>
                        <a:ea typeface="Times New Roman"/>
                        <a:cs typeface="SimSun-ExtB"/>
                      </a:endParaRPr>
                    </a:p>
                  </a:txBody>
                  <a:tcPr marL="0" marR="0" marT="0" marB="0">
                    <a:lnL>
                      <a:noFill/>
                    </a:lnL>
                    <a:lnR>
                      <a:noFill/>
                    </a:lnR>
                    <a:lnT>
                      <a:noFill/>
                    </a:lnT>
                    <a:lnB>
                      <a:noFill/>
                    </a:lnB>
                  </a:tcPr>
                </a:tc>
              </a:tr>
              <a:tr h="271703">
                <a:tc>
                  <a:txBody>
                    <a:bodyPr/>
                    <a:lstStyle/>
                    <a:p>
                      <a:pPr marL="45085" algn="ctr">
                        <a:lnSpc>
                          <a:spcPts val="920"/>
                        </a:lnSpc>
                        <a:spcBef>
                          <a:spcPts val="155"/>
                        </a:spcBef>
                        <a:spcAft>
                          <a:spcPts val="0"/>
                        </a:spcAft>
                      </a:pPr>
                      <a:r>
                        <a:rPr lang="en-US" sz="900" dirty="0">
                          <a:latin typeface="Trebuchet MS"/>
                          <a:ea typeface="Times New Roman"/>
                          <a:cs typeface="SimSun-ExtB"/>
                        </a:rPr>
                        <a:t>8</a:t>
                      </a:r>
                      <a:r>
                        <a:rPr lang="en-US" sz="900" spc="-10" dirty="0">
                          <a:latin typeface="Trebuchet MS"/>
                          <a:ea typeface="Times New Roman"/>
                          <a:cs typeface="SimSun-ExtB"/>
                        </a:rPr>
                        <a:t>Delaware</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085" algn="ctr">
                        <a:lnSpc>
                          <a:spcPts val="920"/>
                        </a:lnSpc>
                        <a:spcBef>
                          <a:spcPts val="155"/>
                        </a:spcBef>
                        <a:spcAft>
                          <a:spcPts val="0"/>
                        </a:spcAft>
                      </a:pPr>
                      <a:r>
                        <a:rPr lang="en-US" sz="900" spc="-10" dirty="0">
                          <a:latin typeface="Trebuchet MS"/>
                          <a:ea typeface="Times New Roman"/>
                          <a:cs typeface="SimSun-ExtB"/>
                        </a:rPr>
                        <a:t>897,934</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5.8</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45720" algn="ctr">
                        <a:lnSpc>
                          <a:spcPts val="920"/>
                        </a:lnSpc>
                        <a:spcBef>
                          <a:spcPts val="155"/>
                        </a:spcBef>
                        <a:spcAft>
                          <a:spcPts val="0"/>
                        </a:spcAft>
                      </a:pPr>
                      <a:r>
                        <a:rPr lang="en-US" sz="900" spc="-25" dirty="0">
                          <a:latin typeface="Trebuchet MS"/>
                          <a:ea typeface="Times New Roman"/>
                          <a:cs typeface="SimSun-ExtB"/>
                        </a:rPr>
                        <a:t>DE</a:t>
                      </a:r>
                      <a:endParaRPr lang="en-US" sz="1100" dirty="0">
                        <a:latin typeface="SimSun-ExtB"/>
                        <a:ea typeface="Times New Roman"/>
                        <a:cs typeface="SimSun-ExtB"/>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4097" name="Rectangle 1"/>
          <p:cNvSpPr>
            <a:spLocks noChangeArrowheads="1"/>
          </p:cNvSpPr>
          <p:nvPr/>
        </p:nvSpPr>
        <p:spPr bwMode="auto">
          <a:xfrm>
            <a:off x="0" y="3000372"/>
            <a:ext cx="7582653" cy="181588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Tocompute</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mean and median in </a:t>
            </a:r>
            <a:r>
              <a:rPr kumimoji="0" lang="en-US" sz="16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Python </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we can use the </a:t>
            </a:r>
            <a:r>
              <a:rPr kumimoji="0" lang="en-US" sz="1600" b="0" i="0" u="none" strike="noStrike" cap="none" normalizeH="0" baseline="0" dirty="0" err="1" smtClean="0">
                <a:ln>
                  <a:noFill/>
                </a:ln>
                <a:solidFill>
                  <a:schemeClr val="tx1"/>
                </a:solidFill>
                <a:effectLst/>
                <a:latin typeface="Times New Roman" pitchFamily="18" charset="0"/>
                <a:ea typeface="SimSun-ExtB" pitchFamily="49" charset="-122"/>
                <a:cs typeface="Times New Roman" pitchFamily="18" charset="0"/>
              </a:rPr>
              <a:t>pandas</a:t>
            </a:r>
            <a:r>
              <a:rPr kumimoji="0" lang="en-US" sz="16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methods</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of the data frame.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The trimmed mean requires the </a:t>
            </a:r>
            <a:r>
              <a:rPr kumimoji="0" lang="en-US" sz="1600" b="0" i="0" u="none" strike="noStrike" cap="none" normalizeH="0" baseline="0" dirty="0" err="1" smtClean="0">
                <a:ln>
                  <a:noFill/>
                </a:ln>
                <a:solidFill>
                  <a:schemeClr val="tx1"/>
                </a:solidFill>
                <a:effectLst/>
                <a:latin typeface="Times New Roman" pitchFamily="18" charset="0"/>
                <a:ea typeface="SimSun-ExtB" pitchFamily="49" charset="-122"/>
                <a:cs typeface="Times New Roman" pitchFamily="18" charset="0"/>
              </a:rPr>
              <a:t>trim_mean</a:t>
            </a:r>
            <a:r>
              <a:rPr kumimoji="0" lang="en-US" sz="16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function</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in </a:t>
            </a:r>
            <a:r>
              <a:rPr kumimoji="0" lang="en-US" sz="1600" b="0" i="0" u="none" strike="noStrike" cap="none" normalizeH="0" baseline="0" dirty="0" err="1" smtClean="0">
                <a:ln>
                  <a:noFill/>
                </a:ln>
                <a:solidFill>
                  <a:schemeClr val="tx1"/>
                </a:solidFill>
                <a:effectLst/>
                <a:latin typeface="Times New Roman" pitchFamily="18" charset="0"/>
                <a:ea typeface="SimSun-ExtB" pitchFamily="49" charset="-122"/>
                <a:cs typeface="Times New Roman" pitchFamily="18" charset="0"/>
              </a:rPr>
              <a:t>scipy.stats</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state </a:t>
            </a:r>
            <a:r>
              <a:rPr kumimoji="0" lang="en-US" sz="1600" b="0" i="0" u="none" strike="noStrike" cap="none" normalizeH="0" baseline="0" dirty="0" smtClean="0">
                <a:ln>
                  <a:noFill/>
                </a:ln>
                <a:solidFill>
                  <a:srgbClr val="545454"/>
                </a:solidFill>
                <a:effectLst/>
                <a:latin typeface="Times New Roman" pitchFamily="18" charset="0"/>
                <a:ea typeface="SimSun-ExtB" pitchFamily="49" charset="-122"/>
                <a:cs typeface="Times New Roman" pitchFamily="18" charset="0"/>
              </a:rPr>
              <a:t>= </a:t>
            </a:r>
            <a:r>
              <a:rPr kumimoji="0" lang="en-US" sz="1600" b="0" i="0" u="none" strike="noStrike" cap="none" normalizeH="0" baseline="0" dirty="0" err="1" smtClean="0">
                <a:ln>
                  <a:noFill/>
                </a:ln>
                <a:solidFill>
                  <a:srgbClr val="000087"/>
                </a:solidFill>
                <a:effectLst/>
                <a:latin typeface="Times New Roman" pitchFamily="18" charset="0"/>
                <a:ea typeface="SimSun-ExtB" pitchFamily="49" charset="-122"/>
                <a:cs typeface="Times New Roman" pitchFamily="18" charset="0"/>
              </a:rPr>
              <a:t>pd</a:t>
            </a:r>
            <a:r>
              <a:rPr kumimoji="0" lang="en-US" sz="1600" b="0" i="0" u="none" strike="noStrike" cap="none" normalizeH="0" baseline="0" dirty="0" err="1" smtClean="0">
                <a:ln>
                  <a:noFill/>
                </a:ln>
                <a:solidFill>
                  <a:srgbClr val="545454"/>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err="1" smtClean="0">
                <a:ln>
                  <a:noFill/>
                </a:ln>
                <a:solidFill>
                  <a:srgbClr val="000087"/>
                </a:solidFill>
                <a:effectLst/>
                <a:latin typeface="Times New Roman" pitchFamily="18" charset="0"/>
                <a:ea typeface="SimSun-ExtB" pitchFamily="49" charset="-122"/>
                <a:cs typeface="Times New Roman" pitchFamily="18" charset="0"/>
              </a:rPr>
              <a:t>read_csv</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'state.csv'</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state</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'Population'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545454"/>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mean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smtClean="0">
                <a:ln>
                  <a:noFill/>
                </a:ln>
                <a:solidFill>
                  <a:srgbClr val="000087"/>
                </a:solidFill>
                <a:effectLst/>
                <a:latin typeface="Times New Roman" pitchFamily="18" charset="0"/>
                <a:ea typeface="SimSun-ExtB" pitchFamily="49" charset="-122"/>
                <a:cs typeface="Times New Roman" pitchFamily="18" charset="0"/>
              </a:rPr>
              <a:t>trim_mean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state</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'Population'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FF6600"/>
                </a:solidFill>
                <a:effectLst/>
                <a:latin typeface="Times New Roman" pitchFamily="18" charset="0"/>
                <a:ea typeface="SimSun-ExtB" pitchFamily="49" charset="-122"/>
                <a:cs typeface="Times New Roman" pitchFamily="18" charset="0"/>
              </a:rPr>
              <a:t>0.1</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state</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'Population'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545454"/>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median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endParaRPr kumimoji="0" lang="en-US" sz="16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4098" name="Rectangle 2"/>
          <p:cNvSpPr>
            <a:spLocks noChangeArrowheads="1"/>
          </p:cNvSpPr>
          <p:nvPr/>
        </p:nvSpPr>
        <p:spPr bwMode="auto">
          <a:xfrm>
            <a:off x="0" y="4857760"/>
            <a:ext cx="8831970" cy="107721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Weightedmeanisavailablewith</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NumPy</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.Forweightedmedian,wecanusethespecial‐ </a:t>
            </a:r>
            <a:r>
              <a:rPr kumimoji="0" lang="en-US" sz="16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ized</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package </a:t>
            </a:r>
            <a:r>
              <a:rPr kumimoji="0" lang="en-US" sz="1600" b="0" i="0" u="none" strike="noStrike" cap="none" normalizeH="0" baseline="0" dirty="0" err="1" smtClean="0">
                <a:ln>
                  <a:noFill/>
                </a:ln>
                <a:solidFill>
                  <a:srgbClr val="990000"/>
                </a:solidFill>
                <a:effectLst/>
                <a:latin typeface="Times New Roman" pitchFamily="18" charset="0"/>
                <a:ea typeface="Times New Roman" pitchFamily="18" charset="0"/>
                <a:cs typeface="Times New Roman" pitchFamily="18" charset="0"/>
                <a:hlinkClick r:id="rId2"/>
              </a:rPr>
              <a:t>wquantiles</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smtClean="0">
                <a:ln>
                  <a:noFill/>
                </a:ln>
                <a:solidFill>
                  <a:srgbClr val="000087"/>
                </a:solidFill>
                <a:effectLst/>
                <a:latin typeface="Times New Roman" pitchFamily="18" charset="0"/>
                <a:ea typeface="SimSun-ExtB" pitchFamily="49" charset="-122"/>
                <a:cs typeface="Times New Roman" pitchFamily="18" charset="0"/>
              </a:rPr>
              <a:t>np</a:t>
            </a:r>
            <a:r>
              <a:rPr kumimoji="0" lang="en-US" sz="1600" b="0" i="0" u="none" strike="noStrike" cap="none" normalizeH="0" baseline="0" dirty="0" err="1" smtClean="0">
                <a:ln>
                  <a:noFill/>
                </a:ln>
                <a:solidFill>
                  <a:srgbClr val="545454"/>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err="1" smtClean="0">
                <a:ln>
                  <a:noFill/>
                </a:ln>
                <a:solidFill>
                  <a:srgbClr val="000087"/>
                </a:solidFill>
                <a:effectLst/>
                <a:latin typeface="Times New Roman" pitchFamily="18" charset="0"/>
                <a:ea typeface="SimSun-ExtB" pitchFamily="49" charset="-122"/>
                <a:cs typeface="Times New Roman" pitchFamily="18" charset="0"/>
              </a:rPr>
              <a:t>average</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state</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err="1" smtClean="0">
                <a:ln>
                  <a:noFill/>
                </a:ln>
                <a:solidFill>
                  <a:srgbClr val="CC3300"/>
                </a:solidFill>
                <a:effectLst/>
                <a:latin typeface="Times New Roman" pitchFamily="18" charset="0"/>
                <a:ea typeface="SimSun-ExtB" pitchFamily="49" charset="-122"/>
                <a:cs typeface="Times New Roman" pitchFamily="18" charset="0"/>
              </a:rPr>
              <a:t>Murder.Rate</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 </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weights</a:t>
            </a:r>
            <a:r>
              <a:rPr kumimoji="0" lang="en-US" sz="1600" b="0" i="0" u="none" strike="noStrike" cap="none" normalizeH="0" baseline="0" dirty="0" smtClean="0">
                <a:ln>
                  <a:noFill/>
                </a:ln>
                <a:solidFill>
                  <a:srgbClr val="545454"/>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state</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'Population'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smtClean="0">
                <a:ln>
                  <a:noFill/>
                </a:ln>
                <a:solidFill>
                  <a:srgbClr val="000087"/>
                </a:solidFill>
                <a:effectLst/>
                <a:latin typeface="Times New Roman" pitchFamily="18" charset="0"/>
                <a:ea typeface="SimSun-ExtB" pitchFamily="49" charset="-122"/>
                <a:cs typeface="Times New Roman" pitchFamily="18" charset="0"/>
              </a:rPr>
              <a:t>wquantiles</a:t>
            </a:r>
            <a:r>
              <a:rPr kumimoji="0" lang="en-US" sz="1600" b="0" i="0" u="none" strike="noStrike" cap="none" normalizeH="0" baseline="0" dirty="0" err="1" smtClean="0">
                <a:ln>
                  <a:noFill/>
                </a:ln>
                <a:solidFill>
                  <a:srgbClr val="545454"/>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err="1" smtClean="0">
                <a:ln>
                  <a:noFill/>
                </a:ln>
                <a:solidFill>
                  <a:srgbClr val="000087"/>
                </a:solidFill>
                <a:effectLst/>
                <a:latin typeface="Times New Roman" pitchFamily="18" charset="0"/>
                <a:ea typeface="SimSun-ExtB" pitchFamily="49" charset="-122"/>
                <a:cs typeface="Times New Roman" pitchFamily="18" charset="0"/>
              </a:rPr>
              <a:t>median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state</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err="1" smtClean="0">
                <a:ln>
                  <a:noFill/>
                </a:ln>
                <a:solidFill>
                  <a:srgbClr val="CC3300"/>
                </a:solidFill>
                <a:effectLst/>
                <a:latin typeface="Times New Roman" pitchFamily="18" charset="0"/>
                <a:ea typeface="SimSun-ExtB" pitchFamily="49" charset="-122"/>
                <a:cs typeface="Times New Roman" pitchFamily="18" charset="0"/>
              </a:rPr>
              <a:t>Murder.Rate</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weights</a:t>
            </a:r>
            <a:r>
              <a:rPr kumimoji="0" lang="en-US" sz="1600" b="0" i="0" u="none" strike="noStrike" cap="none" normalizeH="0" baseline="0" dirty="0" smtClean="0">
                <a:ln>
                  <a:noFill/>
                </a:ln>
                <a:solidFill>
                  <a:srgbClr val="545454"/>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000087"/>
                </a:solidFill>
                <a:effectLst/>
                <a:latin typeface="Times New Roman" pitchFamily="18" charset="0"/>
                <a:ea typeface="SimSun-ExtB" pitchFamily="49" charset="-122"/>
                <a:cs typeface="Times New Roman" pitchFamily="18" charset="0"/>
              </a:rPr>
              <a:t>state</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r>
              <a:rPr kumimoji="0" lang="en-US" sz="1600" b="0" i="0" u="none" strike="noStrike" cap="none" normalizeH="0" baseline="0" dirty="0" smtClean="0">
                <a:ln>
                  <a:noFill/>
                </a:ln>
                <a:solidFill>
                  <a:srgbClr val="CC3300"/>
                </a:solidFill>
                <a:effectLst/>
                <a:latin typeface="Times New Roman" pitchFamily="18" charset="0"/>
                <a:ea typeface="SimSun-ExtB" pitchFamily="49" charset="-122"/>
                <a:cs typeface="Times New Roman" pitchFamily="18" charset="0"/>
              </a:rPr>
              <a:t>'Population'</a:t>
            </a:r>
            <a:r>
              <a:rPr kumimoji="0" lang="en-US" sz="1600" b="0" i="0" u="none" strike="noStrike" cap="none" normalizeH="0" baseline="0" dirty="0" smtClean="0">
                <a:ln>
                  <a:noFill/>
                </a:ln>
                <a:solidFill>
                  <a:schemeClr val="tx1"/>
                </a:solidFill>
                <a:effectLst/>
                <a:latin typeface="Times New Roman" pitchFamily="18" charset="0"/>
                <a:ea typeface="SimSun-ExtB" pitchFamily="49" charset="-122"/>
                <a:cs typeface="Times New Roman" pitchFamily="18" charset="0"/>
              </a:rPr>
              <a:t>])</a:t>
            </a:r>
            <a:endParaRPr kumimoji="0" lang="en-US" sz="16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893100"/>
          </a:xfrm>
          <a:prstGeom prst="rect">
            <a:avLst/>
          </a:prstGeom>
        </p:spPr>
        <p:txBody>
          <a:bodyPr wrap="square">
            <a:spAutoFit/>
          </a:bodyPr>
          <a:lstStyle/>
          <a:p>
            <a:endParaRPr lang="en-US" sz="2000" b="1" dirty="0">
              <a:solidFill>
                <a:schemeClr val="accent1"/>
              </a:solidFill>
              <a:latin typeface="Times New Roman" pitchFamily="18" charset="0"/>
              <a:cs typeface="Times New Roman" pitchFamily="18" charset="0"/>
            </a:endParaRPr>
          </a:p>
          <a:p>
            <a:r>
              <a:rPr lang="en-US" b="1" dirty="0">
                <a:latin typeface="Times New Roman" pitchFamily="18" charset="0"/>
                <a:cs typeface="Times New Roman" pitchFamily="18" charset="0"/>
              </a:rPr>
              <a:t>Metrics and Estimates</a:t>
            </a:r>
          </a:p>
          <a:p>
            <a:r>
              <a:rPr lang="en-US" dirty="0" smtClean="0">
                <a:latin typeface="Times New Roman" pitchFamily="18" charset="0"/>
                <a:cs typeface="Times New Roman" pitchFamily="18" charset="0"/>
              </a:rPr>
              <a:t>	Statisticians </a:t>
            </a:r>
            <a:r>
              <a:rPr lang="en-US" dirty="0">
                <a:latin typeface="Times New Roman" pitchFamily="18" charset="0"/>
                <a:cs typeface="Times New Roman" pitchFamily="18" charset="0"/>
              </a:rPr>
              <a:t>often use the term </a:t>
            </a:r>
            <a:r>
              <a:rPr lang="en-US" b="1" dirty="0">
                <a:latin typeface="Times New Roman" pitchFamily="18" charset="0"/>
                <a:cs typeface="Times New Roman" pitchFamily="18" charset="0"/>
              </a:rPr>
              <a:t>estimate for a value calculated from </a:t>
            </a:r>
            <a:r>
              <a:rPr lang="en-US" dirty="0">
                <a:latin typeface="Times New Roman" pitchFamily="18" charset="0"/>
                <a:cs typeface="Times New Roman" pitchFamily="18" charset="0"/>
              </a:rPr>
              <a:t>the data at hand, to draw a distinction between what we see from the data and the theoretical true or exact state of affairs. Data scientists and business analysts are more likely to refer to such a value as a metric. The difference reflects the approach of statistics versus that of data science: accounting for uncertainty lies at the heart of the discipline of statistics, whereas concrete business or organizational objectives are the focus of data science. Hence, statisticians estimate, and data scientists measure.</a:t>
            </a:r>
          </a:p>
          <a:p>
            <a:endParaRPr lang="en-US" dirty="0">
              <a:latin typeface="Times New Roman" pitchFamily="18" charset="0"/>
              <a:cs typeface="Times New Roman" pitchFamily="18" charset="0"/>
            </a:endParaRPr>
          </a:p>
        </p:txBody>
      </p:sp>
      <p:sp>
        <p:nvSpPr>
          <p:cNvPr id="3" name="Rectangle 2"/>
          <p:cNvSpPr/>
          <p:nvPr/>
        </p:nvSpPr>
        <p:spPr>
          <a:xfrm>
            <a:off x="0" y="3048000"/>
            <a:ext cx="9144000" cy="2585323"/>
          </a:xfrm>
          <a:prstGeom prst="rect">
            <a:avLst/>
          </a:prstGeom>
        </p:spPr>
        <p:txBody>
          <a:bodyPr wrap="square">
            <a:spAutoFit/>
          </a:bodyPr>
          <a:lstStyle/>
          <a:p>
            <a:endParaRPr lang="en-US" b="1" dirty="0">
              <a:solidFill>
                <a:schemeClr val="accent1"/>
              </a:solidFill>
              <a:latin typeface="Times New Roman" pitchFamily="18" charset="0"/>
              <a:cs typeface="Times New Roman" pitchFamily="18" charset="0"/>
            </a:endParaRPr>
          </a:p>
          <a:p>
            <a:endParaRPr lang="en-US" b="1" dirty="0">
              <a:solidFill>
                <a:schemeClr val="accent1"/>
              </a:solidFill>
              <a:latin typeface="Times New Roman" pitchFamily="18" charset="0"/>
              <a:cs typeface="Times New Roman" pitchFamily="18" charset="0"/>
            </a:endParaRPr>
          </a:p>
          <a:p>
            <a:r>
              <a:rPr lang="en-US" b="1" dirty="0">
                <a:latin typeface="Times New Roman" pitchFamily="18" charset="0"/>
                <a:cs typeface="Times New Roman" pitchFamily="18" charset="0"/>
              </a:rPr>
              <a:t>Mean</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most basic estimate of location is the mean, or average value. The mean is the sum of all values divided by the number of values. Consider the following set of numbers:</a:t>
            </a:r>
          </a:p>
          <a:p>
            <a:r>
              <a:rPr lang="en-US" dirty="0">
                <a:latin typeface="Times New Roman" pitchFamily="18" charset="0"/>
                <a:cs typeface="Times New Roman" pitchFamily="18" charset="0"/>
              </a:rPr>
              <a:t>{3 5 1 2}. The mean is (3 + 5 + 1 + 2) / 4 = 11 / 4 = 2.75. You will encounter the</a:t>
            </a:r>
          </a:p>
          <a:p>
            <a:r>
              <a:rPr lang="en-US" dirty="0">
                <a:latin typeface="Times New Roman" pitchFamily="18" charset="0"/>
                <a:cs typeface="Times New Roman" pitchFamily="18" charset="0"/>
              </a:rPr>
              <a:t>symbol </a:t>
            </a:r>
            <a:r>
              <a:rPr lang="en-US" i="1" dirty="0">
                <a:latin typeface="Times New Roman" pitchFamily="18" charset="0"/>
                <a:cs typeface="Times New Roman" pitchFamily="18" charset="0"/>
              </a:rPr>
              <a:t>x (pronounced “x-bar”) being used to represent the mean of a sample from a</a:t>
            </a:r>
          </a:p>
          <a:p>
            <a:r>
              <a:rPr lang="en-US" dirty="0">
                <a:latin typeface="Times New Roman" pitchFamily="18" charset="0"/>
                <a:cs typeface="Times New Roman" pitchFamily="18" charset="0"/>
              </a:rPr>
              <a:t>population. The formula to compute the mean for a set of </a:t>
            </a:r>
            <a:r>
              <a:rPr lang="en-US" i="1" dirty="0">
                <a:latin typeface="Times New Roman" pitchFamily="18" charset="0"/>
                <a:cs typeface="Times New Roman" pitchFamily="18" charset="0"/>
              </a:rPr>
              <a:t>n values x1, x2, ..., </a:t>
            </a:r>
            <a:r>
              <a:rPr lang="en-US" i="1" dirty="0" err="1">
                <a:latin typeface="Times New Roman" pitchFamily="18" charset="0"/>
                <a:cs typeface="Times New Roman" pitchFamily="18" charset="0"/>
              </a:rPr>
              <a:t>xn</a:t>
            </a:r>
            <a:r>
              <a:rPr lang="en-US" i="1" dirty="0">
                <a:latin typeface="Times New Roman" pitchFamily="18" charset="0"/>
                <a:cs typeface="Times New Roman" pitchFamily="18" charset="0"/>
              </a:rPr>
              <a:t> is:</a:t>
            </a:r>
          </a:p>
          <a:p>
            <a:r>
              <a:rPr lang="en-US" dirty="0">
                <a:latin typeface="Times New Roman" pitchFamily="18" charset="0"/>
                <a:cs typeface="Times New Roman" pitchFamily="18" charset="0"/>
              </a:rPr>
              <a:t>Mean = </a:t>
            </a:r>
            <a:r>
              <a:rPr lang="el-GR" dirty="0">
                <a:latin typeface="Times New Roman" pitchFamily="18" charset="0"/>
                <a:cs typeface="Times New Roman" pitchFamily="18" charset="0"/>
              </a:rPr>
              <a:t>Σ </a:t>
            </a:r>
            <a:r>
              <a:rPr lang="en-US" i="1" dirty="0">
                <a:latin typeface="Times New Roman" pitchFamily="18" charset="0"/>
                <a:cs typeface="Times New Roman" pitchFamily="18" charset="0"/>
              </a:rPr>
              <a:t>x /n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2308324"/>
          </a:xfrm>
          <a:prstGeom prst="rect">
            <a:avLst/>
          </a:prstGeom>
        </p:spPr>
        <p:txBody>
          <a:bodyPr wrap="square">
            <a:spAutoFit/>
          </a:bodyPr>
          <a:lstStyle/>
          <a:p>
            <a:r>
              <a:rPr lang="en-US" b="1" dirty="0">
                <a:latin typeface="Times New Roman" pitchFamily="18" charset="0"/>
                <a:cs typeface="Times New Roman" pitchFamily="18" charset="0"/>
              </a:rPr>
              <a:t>Trimmed mean </a:t>
            </a:r>
          </a:p>
          <a:p>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variation of the mean is a trimmed mean, which you calculate by dropping a fixed number of sorted values at each end and then taking an average of the remaining values.</a:t>
            </a:r>
          </a:p>
          <a:p>
            <a:r>
              <a:rPr lang="en-US" dirty="0">
                <a:latin typeface="Times New Roman" pitchFamily="18" charset="0"/>
                <a:cs typeface="Times New Roman" pitchFamily="18" charset="0"/>
              </a:rPr>
              <a:t>Representing the sorted values by x 1 , x 2 , ..., x n where x 1 is the smallest value and x n the largest, the formula to compute the trimmed mean with p smallest and largest values omitted</a:t>
            </a:r>
          </a:p>
          <a:p>
            <a:endParaRPr lang="en-IN" dirty="0">
              <a:latin typeface="Times New Roman" pitchFamily="18" charset="0"/>
              <a:cs typeface="Times New Roman" pitchFamily="18" charset="0"/>
            </a:endParaRPr>
          </a:p>
          <a:p>
            <a:endParaRPr lang="en-US" dirty="0"/>
          </a:p>
          <a:p>
            <a:endParaRPr lang="en-US" dirty="0"/>
          </a:p>
        </p:txBody>
      </p:sp>
      <p:sp>
        <p:nvSpPr>
          <p:cNvPr id="4" name="Rectangle 3"/>
          <p:cNvSpPr/>
          <p:nvPr/>
        </p:nvSpPr>
        <p:spPr>
          <a:xfrm>
            <a:off x="0" y="2362200"/>
            <a:ext cx="9144000" cy="2862322"/>
          </a:xfrm>
          <a:prstGeom prst="rect">
            <a:avLst/>
          </a:prstGeom>
        </p:spPr>
        <p:txBody>
          <a:bodyPr wrap="square">
            <a:spAutoFit/>
          </a:bodyPr>
          <a:lstStyle/>
          <a:p>
            <a:r>
              <a:rPr lang="en-US" b="1" dirty="0">
                <a:latin typeface="Times New Roman" pitchFamily="18" charset="0"/>
                <a:cs typeface="Times New Roman" pitchFamily="18" charset="0"/>
              </a:rPr>
              <a:t>weighted mean </a:t>
            </a:r>
          </a:p>
          <a:p>
            <a:r>
              <a:rPr lang="en-US" dirty="0" smtClean="0">
                <a:latin typeface="Times New Roman" pitchFamily="18" charset="0"/>
                <a:cs typeface="Times New Roman" pitchFamily="18" charset="0"/>
              </a:rPr>
              <a:t>	There </a:t>
            </a:r>
            <a:r>
              <a:rPr lang="en-US" dirty="0">
                <a:latin typeface="Times New Roman" pitchFamily="18" charset="0"/>
                <a:cs typeface="Times New Roman" pitchFamily="18" charset="0"/>
              </a:rPr>
              <a:t>are two main motivations for using a weighted mean:</a:t>
            </a:r>
          </a:p>
          <a:p>
            <a:r>
              <a:rPr lang="en-US" dirty="0">
                <a:latin typeface="Times New Roman" pitchFamily="18" charset="0"/>
                <a:cs typeface="Times New Roman" pitchFamily="18" charset="0"/>
              </a:rPr>
              <a:t>• Some values are intrinsically more variable than others, and highly variable</a:t>
            </a:r>
          </a:p>
          <a:p>
            <a:r>
              <a:rPr lang="en-US" dirty="0">
                <a:latin typeface="Times New Roman" pitchFamily="18" charset="0"/>
                <a:cs typeface="Times New Roman" pitchFamily="18" charset="0"/>
              </a:rPr>
              <a:t>observations are given a lower weight. For example, if we are taking the average from multiple sensors and one of the sensors is less accurate, then we might down weight the data from that sensor.</a:t>
            </a:r>
          </a:p>
          <a:p>
            <a:r>
              <a:rPr lang="en-US" dirty="0">
                <a:latin typeface="Times New Roman" pitchFamily="18" charset="0"/>
                <a:cs typeface="Times New Roman" pitchFamily="18" charset="0"/>
              </a:rPr>
              <a:t>• The data collected does not equally represent the different groups that we are interested in measuring. For example, because of the way an online experiment was conducted, we may not have a set of data that accurately reflects all groups in the user base. To correct that, we can give a higher weight to the values from the groups that were underrepresented.</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339102"/>
          </a:xfrm>
          <a:prstGeom prst="rect">
            <a:avLst/>
          </a:prstGeom>
        </p:spPr>
        <p:txBody>
          <a:bodyPr wrap="square">
            <a:spAutoFit/>
          </a:bodyPr>
          <a:lstStyle/>
          <a:p>
            <a:r>
              <a:rPr lang="en-US" b="1" dirty="0">
                <a:latin typeface="Times New Roman" pitchFamily="18" charset="0"/>
                <a:cs typeface="Times New Roman" pitchFamily="18" charset="0"/>
              </a:rPr>
              <a:t>Median and Robust </a:t>
            </a:r>
            <a:r>
              <a:rPr lang="en-US" b="1" dirty="0" smtClean="0">
                <a:latin typeface="Times New Roman" pitchFamily="18" charset="0"/>
                <a:cs typeface="Times New Roman" pitchFamily="18" charset="0"/>
              </a:rPr>
              <a:t>Estimates</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median is the middle number on a sorted list of the data. If there is an even number</a:t>
            </a:r>
          </a:p>
          <a:p>
            <a:r>
              <a:rPr lang="en-US" dirty="0">
                <a:latin typeface="Times New Roman" pitchFamily="18" charset="0"/>
                <a:cs typeface="Times New Roman" pitchFamily="18" charset="0"/>
              </a:rPr>
              <a:t>of data values, the middle value is one that is not actually in the data set, but rather the average of the two values that divide the sorted data into upper and lower halves. Compared to the mean, which uses all observations, the median depends only on the values in the center of the sorted data.</a:t>
            </a:r>
          </a:p>
          <a:p>
            <a:endParaRPr lang="en-IN"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
        <p:nvSpPr>
          <p:cNvPr id="3" name="Rectangle 2"/>
          <p:cNvSpPr/>
          <p:nvPr/>
        </p:nvSpPr>
        <p:spPr>
          <a:xfrm>
            <a:off x="0" y="2057400"/>
            <a:ext cx="9144000" cy="2616101"/>
          </a:xfrm>
          <a:prstGeom prst="rect">
            <a:avLst/>
          </a:prstGeom>
        </p:spPr>
        <p:txBody>
          <a:bodyPr wrap="square">
            <a:spAutoFit/>
          </a:bodyPr>
          <a:lstStyle/>
          <a:p>
            <a:r>
              <a:rPr lang="en-US" b="1" dirty="0">
                <a:latin typeface="Times New Roman" pitchFamily="18" charset="0"/>
                <a:cs typeface="Times New Roman" pitchFamily="18" charset="0"/>
              </a:rPr>
              <a:t>Outliers</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median is referred to as a robust estimate of location since it is not influenced by outliers (extreme cases) that could skew the results. An outlier is any value that is very distant from the other values in a data set. </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Anomaly Detection</a:t>
            </a:r>
          </a:p>
          <a:p>
            <a:r>
              <a:rPr lang="en-US" dirty="0" smtClean="0">
                <a:latin typeface="Times New Roman" pitchFamily="18" charset="0"/>
                <a:cs typeface="Times New Roman" pitchFamily="18" charset="0"/>
              </a:rPr>
              <a:t>	In </a:t>
            </a:r>
            <a:r>
              <a:rPr lang="en-US" dirty="0">
                <a:latin typeface="Times New Roman" pitchFamily="18" charset="0"/>
                <a:cs typeface="Times New Roman" pitchFamily="18" charset="0"/>
              </a:rPr>
              <a:t>contrast to typical data analysis, where outliers are sometimes informative and sometimes a nuisance, in anomaly detection the points of interest are the outliers, and the greater mass of data serves primarily to define the “normal” against which anomalies are measured</a:t>
            </a:r>
            <a:r>
              <a:rPr lang="en-US" sz="2000" dirty="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81000"/>
            <a:ext cx="9144000" cy="2954655"/>
          </a:xfrm>
          <a:prstGeom prst="rect">
            <a:avLst/>
          </a:prstGeom>
        </p:spPr>
        <p:txBody>
          <a:bodyPr wrap="square">
            <a:spAutoFit/>
          </a:bodyPr>
          <a:lstStyle/>
          <a:p>
            <a:r>
              <a:rPr lang="en-US" dirty="0">
                <a:latin typeface="Times New Roman" pitchFamily="18" charset="0"/>
                <a:cs typeface="Times New Roman" pitchFamily="18" charset="0"/>
              </a:rPr>
              <a:t>The median is not the only robust estimate of location. In fact, a trimmed mean is widely used to avoid the influence of outliers. For example, trimming the bottom and top 10% (a common choice) of the data will provide protection against outliers in all but the smallest data sets. The trimmed mean can be thought of as a compromise between the median and the mean: it is robust  to extreme values in the data, but uses more data to calculate the estimate for loca</a:t>
            </a:r>
            <a:r>
              <a:rPr lang="en-US" sz="2000" dirty="0">
                <a:latin typeface="Times New Roman" pitchFamily="18" charset="0"/>
                <a:cs typeface="Times New Roman" pitchFamily="18" charset="0"/>
              </a:rPr>
              <a:t>tion.</a:t>
            </a:r>
          </a:p>
          <a:p>
            <a:endParaRPr lang="en-IN"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3" name="Rectangle 2"/>
          <p:cNvSpPr/>
          <p:nvPr/>
        </p:nvSpPr>
        <p:spPr>
          <a:xfrm>
            <a:off x="0" y="2362200"/>
            <a:ext cx="9144000" cy="3139321"/>
          </a:xfrm>
          <a:prstGeom prst="rect">
            <a:avLst/>
          </a:prstGeom>
        </p:spPr>
        <p:txBody>
          <a:bodyPr wrap="square">
            <a:spAutoFit/>
          </a:bodyPr>
          <a:lstStyle/>
          <a:p>
            <a:r>
              <a:rPr lang="en-US" b="1" dirty="0">
                <a:latin typeface="Times New Roman" pitchFamily="18" charset="0"/>
                <a:cs typeface="Times New Roman" pitchFamily="18" charset="0"/>
              </a:rPr>
              <a:t>Estimates of Variability</a:t>
            </a:r>
          </a:p>
          <a:p>
            <a:r>
              <a:rPr lang="en-US" dirty="0">
                <a:latin typeface="Times New Roman" pitchFamily="18" charset="0"/>
                <a:cs typeface="Times New Roman" pitchFamily="18" charset="0"/>
              </a:rPr>
              <a:t>Location is just one dimension in summarizing a feature. A second dimension, variability, also referred to as dispersion, measures whether the data values are tightly clustered or spread out. At the heart of statistics lies variability: measuring it, reducing it, distinguishing random from real variability, identifying the various sources of real variability, and making decisions in the presence of it.</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Deviations</a:t>
            </a:r>
          </a:p>
          <a:p>
            <a:r>
              <a:rPr lang="en-US" dirty="0">
                <a:latin typeface="Times New Roman" pitchFamily="18" charset="0"/>
                <a:cs typeface="Times New Roman" pitchFamily="18" charset="0"/>
              </a:rPr>
              <a:t>The difference between the observed values and the estimate of location.</a:t>
            </a:r>
          </a:p>
          <a:p>
            <a:r>
              <a:rPr lang="en-US" dirty="0">
                <a:latin typeface="Times New Roman" pitchFamily="18" charset="0"/>
                <a:cs typeface="Times New Roman" pitchFamily="18" charset="0"/>
              </a:rPr>
              <a:t>Synonyms</a:t>
            </a:r>
          </a:p>
          <a:p>
            <a:r>
              <a:rPr lang="en-US" dirty="0">
                <a:latin typeface="Times New Roman" pitchFamily="18" charset="0"/>
                <a:cs typeface="Times New Roman" pitchFamily="18" charset="0"/>
              </a:rPr>
              <a:t>errors, residuals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067800" cy="5632311"/>
          </a:xfrm>
          <a:prstGeom prst="rect">
            <a:avLst/>
          </a:prstGeom>
        </p:spPr>
        <p:txBody>
          <a:bodyPr wrap="square">
            <a:spAutoFit/>
          </a:bodyPr>
          <a:lstStyle/>
          <a:p>
            <a:r>
              <a:rPr lang="en-US" b="1" dirty="0">
                <a:latin typeface="Times New Roman" pitchFamily="18" charset="0"/>
                <a:cs typeface="Times New Roman" pitchFamily="18" charset="0"/>
              </a:rPr>
              <a:t>Variance</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sum of squared deviations from the mean divided by n – 1 where n is the</a:t>
            </a:r>
          </a:p>
          <a:p>
            <a:r>
              <a:rPr lang="en-US" dirty="0">
                <a:latin typeface="Times New Roman" pitchFamily="18" charset="0"/>
                <a:cs typeface="Times New Roman" pitchFamily="18" charset="0"/>
              </a:rPr>
              <a:t>number of data values.</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mean-squared-error</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Standard deviation</a:t>
            </a:r>
          </a:p>
          <a:p>
            <a:r>
              <a:rPr lang="en-US" dirty="0">
                <a:latin typeface="Times New Roman" pitchFamily="18" charset="0"/>
                <a:cs typeface="Times New Roman" pitchFamily="18" charset="0"/>
              </a:rPr>
              <a:t>The square root of the variance.</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Mean absolute deviation</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mean of the absolute values of the deviations from the mean.</a:t>
            </a:r>
          </a:p>
          <a:p>
            <a:r>
              <a:rPr lang="en-US" dirty="0">
                <a:latin typeface="Times New Roman" pitchFamily="18" charset="0"/>
                <a:cs typeface="Times New Roman" pitchFamily="18" charset="0"/>
              </a:rPr>
              <a:t>Synonyms</a:t>
            </a:r>
          </a:p>
          <a:p>
            <a:r>
              <a:rPr lang="en-US" dirty="0">
                <a:latin typeface="Times New Roman" pitchFamily="18" charset="0"/>
                <a:cs typeface="Times New Roman" pitchFamily="18" charset="0"/>
              </a:rPr>
              <a:t>l1-norm, Manhattan norm</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Median absolute deviation from the median</a:t>
            </a: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median of the absolute values of the deviations from the median.</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Range</a:t>
            </a:r>
          </a:p>
          <a:p>
            <a:r>
              <a:rPr lang="en-US" dirty="0">
                <a:latin typeface="Times New Roman" pitchFamily="18" charset="0"/>
                <a:cs typeface="Times New Roman" pitchFamily="18" charset="0"/>
              </a:rPr>
              <a:t>The difference between the largest and the smallest value in a data set.</a:t>
            </a:r>
          </a:p>
          <a:p>
            <a:endParaRPr lang="en-US"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24315"/>
          </a:xfrm>
          <a:prstGeom prst="rect">
            <a:avLst/>
          </a:prstGeom>
        </p:spPr>
        <p:txBody>
          <a:bodyPr wrap="square">
            <a:spAutoFit/>
          </a:bodyPr>
          <a:lstStyle/>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Order statistics</a:t>
            </a:r>
          </a:p>
          <a:p>
            <a:r>
              <a:rPr lang="en-US" dirty="0" smtClean="0">
                <a:latin typeface="Times New Roman" pitchFamily="18" charset="0"/>
                <a:cs typeface="Times New Roman" pitchFamily="18" charset="0"/>
              </a:rPr>
              <a:t>	Metrics </a:t>
            </a:r>
            <a:r>
              <a:rPr lang="en-US" dirty="0">
                <a:latin typeface="Times New Roman" pitchFamily="18" charset="0"/>
                <a:cs typeface="Times New Roman" pitchFamily="18" charset="0"/>
              </a:rPr>
              <a:t>based on the data values sorted from smallest to biggest.</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ranks</a:t>
            </a:r>
            <a:endParaRPr lang="en-US" b="1" dirty="0">
              <a:latin typeface="Times New Roman" pitchFamily="18" charset="0"/>
              <a:cs typeface="Times New Roman" pitchFamily="18" charset="0"/>
            </a:endParaRPr>
          </a:p>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Percentile</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value such that P percent of the values take on this value or less and (100–P)</a:t>
            </a:r>
          </a:p>
          <a:p>
            <a:r>
              <a:rPr lang="en-US" dirty="0">
                <a:latin typeface="Times New Roman" pitchFamily="18" charset="0"/>
                <a:cs typeface="Times New Roman" pitchFamily="18" charset="0"/>
              </a:rPr>
              <a:t>percent take on this value or more.</a:t>
            </a:r>
          </a:p>
          <a:p>
            <a:r>
              <a:rPr lang="en-US" dirty="0">
                <a:latin typeface="Times New Roman" pitchFamily="18" charset="0"/>
                <a:cs typeface="Times New Roman" pitchFamily="18" charset="0"/>
              </a:rPr>
              <a:t>Synonym</a:t>
            </a:r>
          </a:p>
          <a:p>
            <a:r>
              <a:rPr lang="en-US" dirty="0" err="1">
                <a:latin typeface="Times New Roman" pitchFamily="18" charset="0"/>
                <a:cs typeface="Times New Roman" pitchFamily="18" charset="0"/>
              </a:rPr>
              <a:t>Quantile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b="1" dirty="0" err="1">
                <a:latin typeface="Times New Roman" pitchFamily="18" charset="0"/>
                <a:cs typeface="Times New Roman" pitchFamily="18" charset="0"/>
              </a:rPr>
              <a:t>Interquartile</a:t>
            </a:r>
            <a:r>
              <a:rPr lang="en-US" b="1" dirty="0">
                <a:latin typeface="Times New Roman" pitchFamily="18" charset="0"/>
                <a:cs typeface="Times New Roman" pitchFamily="18" charset="0"/>
              </a:rPr>
              <a:t> range</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difference between the 75th percentile and the 25th percentile.</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IQR</a:t>
            </a:r>
          </a:p>
        </p:txBody>
      </p:sp>
      <p:sp>
        <p:nvSpPr>
          <p:cNvPr id="3" name="Rectangle 2"/>
          <p:cNvSpPr/>
          <p:nvPr/>
        </p:nvSpPr>
        <p:spPr>
          <a:xfrm>
            <a:off x="0" y="4357694"/>
            <a:ext cx="9144000" cy="2585323"/>
          </a:xfrm>
          <a:prstGeom prst="rect">
            <a:avLst/>
          </a:prstGeom>
        </p:spPr>
        <p:txBody>
          <a:bodyPr wrap="square">
            <a:spAutoFit/>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The pandas data frame provides methods for calculating standard deviation and </a:t>
            </a:r>
            <a:r>
              <a:rPr lang="en-US" dirty="0" err="1" smtClean="0">
                <a:latin typeface="Times New Roman" pitchFamily="18" charset="0"/>
                <a:cs typeface="Times New Roman" pitchFamily="18" charset="0"/>
              </a:rPr>
              <a:t>quantiles</a:t>
            </a:r>
            <a:r>
              <a:rPr lang="en-US" dirty="0" smtClean="0">
                <a:latin typeface="Times New Roman" pitchFamily="18" charset="0"/>
                <a:cs typeface="Times New Roman" pitchFamily="18" charset="0"/>
              </a:rPr>
              <a:t>. Using the </a:t>
            </a:r>
            <a:r>
              <a:rPr lang="en-US" dirty="0" err="1" smtClean="0">
                <a:latin typeface="Times New Roman" pitchFamily="18" charset="0"/>
                <a:cs typeface="Times New Roman" pitchFamily="18" charset="0"/>
              </a:rPr>
              <a:t>quantiles</a:t>
            </a:r>
            <a:r>
              <a:rPr lang="en-US" dirty="0" smtClean="0">
                <a:latin typeface="Times New Roman" pitchFamily="18" charset="0"/>
                <a:cs typeface="Times New Roman" pitchFamily="18" charset="0"/>
              </a:rPr>
              <a:t>, we can easily determine the IQR. For the robust MAD,</a:t>
            </a:r>
          </a:p>
          <a:p>
            <a:r>
              <a:rPr lang="en-US" dirty="0" smtClean="0">
                <a:latin typeface="Times New Roman" pitchFamily="18" charset="0"/>
                <a:cs typeface="Times New Roman" pitchFamily="18" charset="0"/>
              </a:rPr>
              <a:t>we use the function </a:t>
            </a:r>
            <a:r>
              <a:rPr lang="en-US" dirty="0" err="1" smtClean="0">
                <a:latin typeface="Times New Roman" pitchFamily="18" charset="0"/>
                <a:cs typeface="Times New Roman" pitchFamily="18" charset="0"/>
              </a:rPr>
              <a:t>robust.scale.mad</a:t>
            </a:r>
            <a:r>
              <a:rPr lang="en-US" dirty="0" smtClean="0">
                <a:latin typeface="Times New Roman" pitchFamily="18" charset="0"/>
                <a:cs typeface="Times New Roman" pitchFamily="18" charset="0"/>
              </a:rPr>
              <a:t> from the </a:t>
            </a:r>
            <a:r>
              <a:rPr lang="en-US" dirty="0" err="1" smtClean="0">
                <a:latin typeface="Times New Roman" pitchFamily="18" charset="0"/>
                <a:cs typeface="Times New Roman" pitchFamily="18" charset="0"/>
              </a:rPr>
              <a:t>statsmodels</a:t>
            </a:r>
            <a:r>
              <a:rPr lang="en-US" dirty="0" smtClean="0">
                <a:latin typeface="Times New Roman" pitchFamily="18" charset="0"/>
                <a:cs typeface="Times New Roman" pitchFamily="18" charset="0"/>
              </a:rPr>
              <a:t> package:</a:t>
            </a:r>
          </a:p>
          <a:p>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state['Population'].std()</a:t>
            </a:r>
          </a:p>
          <a:p>
            <a:r>
              <a:rPr lang="en-US" dirty="0" smtClean="0">
                <a:latin typeface="Times New Roman" pitchFamily="18" charset="0"/>
                <a:cs typeface="Times New Roman" pitchFamily="18" charset="0"/>
              </a:rPr>
              <a:t>state['Population'].</a:t>
            </a:r>
            <a:r>
              <a:rPr lang="en-US" dirty="0" err="1" smtClean="0">
                <a:latin typeface="Times New Roman" pitchFamily="18" charset="0"/>
                <a:cs typeface="Times New Roman" pitchFamily="18" charset="0"/>
              </a:rPr>
              <a:t>quantile</a:t>
            </a:r>
            <a:r>
              <a:rPr lang="en-US" dirty="0" smtClean="0">
                <a:latin typeface="Times New Roman" pitchFamily="18" charset="0"/>
                <a:cs typeface="Times New Roman" pitchFamily="18" charset="0"/>
              </a:rPr>
              <a:t>(0.75)-state['Population'].</a:t>
            </a:r>
            <a:r>
              <a:rPr lang="en-US" dirty="0" err="1" smtClean="0">
                <a:latin typeface="Times New Roman" pitchFamily="18" charset="0"/>
                <a:cs typeface="Times New Roman" pitchFamily="18" charset="0"/>
              </a:rPr>
              <a:t>quantile</a:t>
            </a:r>
            <a:r>
              <a:rPr lang="en-US" dirty="0" smtClean="0">
                <a:latin typeface="Times New Roman" pitchFamily="18" charset="0"/>
                <a:cs typeface="Times New Roman" pitchFamily="18" charset="0"/>
              </a:rPr>
              <a:t>(0.25) </a:t>
            </a:r>
            <a:r>
              <a:rPr lang="en-US" dirty="0" err="1" smtClean="0">
                <a:latin typeface="Times New Roman" pitchFamily="18" charset="0"/>
                <a:cs typeface="Times New Roman" pitchFamily="18" charset="0"/>
              </a:rPr>
              <a:t>robust.scale.mad</a:t>
            </a:r>
            <a:r>
              <a:rPr lang="en-US" dirty="0" smtClean="0">
                <a:latin typeface="Times New Roman" pitchFamily="18" charset="0"/>
                <a:cs typeface="Times New Roman" pitchFamily="18" charset="0"/>
              </a:rPr>
              <a:t>(state['Population'])</a:t>
            </a:r>
          </a:p>
          <a:p>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186309"/>
          </a:xfrm>
          <a:prstGeom prst="rect">
            <a:avLst/>
          </a:prstGeom>
        </p:spPr>
        <p:txBody>
          <a:bodyPr wrap="square">
            <a:spAutoFit/>
          </a:bodyPr>
          <a:lstStyle/>
          <a:p>
            <a:r>
              <a:rPr lang="en-US" b="1" dirty="0">
                <a:latin typeface="Times New Roman" pitchFamily="18" charset="0"/>
                <a:cs typeface="Times New Roman" pitchFamily="18" charset="0"/>
              </a:rPr>
              <a:t>Exploring the Data Distribution</a:t>
            </a:r>
          </a:p>
          <a:p>
            <a:r>
              <a:rPr lang="en-US" b="1" dirty="0">
                <a:latin typeface="Times New Roman" pitchFamily="18" charset="0"/>
                <a:cs typeface="Times New Roman" pitchFamily="18" charset="0"/>
              </a:rPr>
              <a:t>	</a:t>
            </a:r>
            <a:r>
              <a:rPr lang="en-US" dirty="0" smtClean="0">
                <a:latin typeface="Times New Roman" pitchFamily="18" charset="0"/>
                <a:cs typeface="Times New Roman" pitchFamily="18" charset="0"/>
              </a:rPr>
              <a:t>Each </a:t>
            </a:r>
            <a:r>
              <a:rPr lang="en-US" dirty="0">
                <a:latin typeface="Times New Roman" pitchFamily="18" charset="0"/>
                <a:cs typeface="Times New Roman" pitchFamily="18" charset="0"/>
              </a:rPr>
              <a:t>of the estimates we’ve covered sums up the data in a single number to describe the location or variability of the data. It is also useful to explore how the data is distributed overall. Key Terms for Exploring the Distribution</a:t>
            </a:r>
          </a:p>
          <a:p>
            <a:endParaRPr lang="en-US" dirty="0">
              <a:latin typeface="Times New Roman" pitchFamily="18" charset="0"/>
              <a:cs typeface="Times New Roman" pitchFamily="18" charset="0"/>
            </a:endParaRPr>
          </a:p>
          <a:p>
            <a:r>
              <a:rPr lang="en-US" b="1" dirty="0" err="1">
                <a:latin typeface="Times New Roman" pitchFamily="18" charset="0"/>
                <a:cs typeface="Times New Roman" pitchFamily="18" charset="0"/>
              </a:rPr>
              <a:t>Boxplot</a:t>
            </a: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Summarizes the data using quartiles:</a:t>
            </a:r>
          </a:p>
          <a:p>
            <a:r>
              <a:rPr lang="en-US" dirty="0">
                <a:latin typeface="Times New Roman" pitchFamily="18" charset="0"/>
                <a:cs typeface="Times New Roman" pitchFamily="18" charset="0"/>
              </a:rPr>
              <a:t>Q1 (25th percentile)</a:t>
            </a:r>
          </a:p>
          <a:p>
            <a:r>
              <a:rPr lang="en-US" dirty="0">
                <a:latin typeface="Times New Roman" pitchFamily="18" charset="0"/>
                <a:cs typeface="Times New Roman" pitchFamily="18" charset="0"/>
              </a:rPr>
              <a:t>Median (50th percentile)</a:t>
            </a:r>
          </a:p>
          <a:p>
            <a:r>
              <a:rPr lang="en-US" dirty="0">
                <a:latin typeface="Times New Roman" pitchFamily="18" charset="0"/>
                <a:cs typeface="Times New Roman" pitchFamily="18" charset="0"/>
              </a:rPr>
              <a:t>Q3 (75th percentile)</a:t>
            </a:r>
          </a:p>
          <a:p>
            <a:r>
              <a:rPr lang="en-US" dirty="0">
                <a:latin typeface="Times New Roman" pitchFamily="18" charset="0"/>
                <a:cs typeface="Times New Roman" pitchFamily="18" charset="0"/>
              </a:rPr>
              <a:t>Whiskers show minimum and maximum (or near-min/max), and any outliers.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Frequency table</a:t>
            </a:r>
          </a:p>
          <a:p>
            <a:r>
              <a:rPr lang="en-US" dirty="0">
                <a:latin typeface="Times New Roman" pitchFamily="18" charset="0"/>
                <a:cs typeface="Times New Roman" pitchFamily="18" charset="0"/>
              </a:rPr>
              <a:t>Shows how many observations fall in each class interval.</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Histogram</a:t>
            </a:r>
          </a:p>
          <a:p>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bar graph showing the same frequencies visually. Taller bars = higher frequencies. It’s essentially the graphical form of your frequency table. </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Density plot</a:t>
            </a:r>
          </a:p>
          <a:p>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smoothed version of the histogram, often based on a kernel density estimate. instead of bars, it shows a continuous curve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801314"/>
          </a:xfrm>
          <a:prstGeom prst="rect">
            <a:avLst/>
          </a:prstGeom>
        </p:spPr>
        <p:txBody>
          <a:bodyPr wrap="square">
            <a:spAutoFit/>
          </a:bodyPr>
          <a:lstStyle/>
          <a:p>
            <a:r>
              <a:rPr lang="en-US" b="1" dirty="0">
                <a:latin typeface="Times New Roman" pitchFamily="18" charset="0"/>
                <a:cs typeface="Times New Roman" pitchFamily="18" charset="0"/>
              </a:rPr>
              <a:t>Exploring Binary and Categorical Data</a:t>
            </a:r>
          </a:p>
          <a:p>
            <a:endParaRPr lang="en-US" b="1" dirty="0">
              <a:latin typeface="Times New Roman" pitchFamily="18" charset="0"/>
              <a:cs typeface="Times New Roman" pitchFamily="18" charset="0"/>
            </a:endParaRPr>
          </a:p>
          <a:p>
            <a:r>
              <a:rPr lang="en-US" dirty="0" smtClean="0">
                <a:latin typeface="Times New Roman" pitchFamily="18" charset="0"/>
                <a:cs typeface="Times New Roman" pitchFamily="18" charset="0"/>
              </a:rPr>
              <a:t>	For </a:t>
            </a:r>
            <a:r>
              <a:rPr lang="en-US" dirty="0">
                <a:latin typeface="Times New Roman" pitchFamily="18" charset="0"/>
                <a:cs typeface="Times New Roman" pitchFamily="18" charset="0"/>
              </a:rPr>
              <a:t>categorical data, simple proportions or percentages tell the story of the data.</a:t>
            </a:r>
          </a:p>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 Mode</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most commonly occurring category or value in a data set.</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Expected value</a:t>
            </a:r>
          </a:p>
          <a:p>
            <a:r>
              <a:rPr lang="en-US" dirty="0" smtClean="0">
                <a:latin typeface="Times New Roman" pitchFamily="18" charset="0"/>
                <a:cs typeface="Times New Roman" pitchFamily="18" charset="0"/>
              </a:rPr>
              <a:t>	When </a:t>
            </a:r>
            <a:r>
              <a:rPr lang="en-US" dirty="0">
                <a:latin typeface="Times New Roman" pitchFamily="18" charset="0"/>
                <a:cs typeface="Times New Roman" pitchFamily="18" charset="0"/>
              </a:rPr>
              <a:t>the categories can be associated with a numeric value, this gives an average value based on a category’s probability of occurrence.</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Bar charts</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frequency or proportion for each category plotted as bars.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Pie charts</a:t>
            </a:r>
          </a:p>
          <a:p>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frequency or proportion for each category plotted as wedges in a pie.</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3974422-259A-CE70-B173-A50D20C3CBE5}"/>
              </a:ext>
            </a:extLst>
          </p:cNvPr>
          <p:cNvSpPr txBox="1"/>
          <p:nvPr/>
        </p:nvSpPr>
        <p:spPr>
          <a:xfrm>
            <a:off x="76200" y="457200"/>
            <a:ext cx="9067800" cy="5909310"/>
          </a:xfrm>
          <a:prstGeom prst="rect">
            <a:avLst/>
          </a:prstGeom>
          <a:noFill/>
        </p:spPr>
        <p:txBody>
          <a:bodyPr wrap="square">
            <a:spAutoFit/>
          </a:bodyPr>
          <a:lstStyle/>
          <a:p>
            <a:pPr algn="l"/>
            <a:r>
              <a:rPr lang="en-IN" b="1" i="0" u="sng" strike="noStrike" baseline="0" dirty="0">
                <a:solidFill>
                  <a:srgbClr val="000000"/>
                </a:solidFill>
                <a:latin typeface="Times New Roman" panose="02020603050405020304" pitchFamily="18" charset="0"/>
                <a:cs typeface="Times New Roman" panose="02020603050405020304" pitchFamily="18" charset="0"/>
              </a:rPr>
              <a:t>Percentiles and Boxplots</a:t>
            </a:r>
          </a:p>
          <a:p>
            <a:pPr algn="l"/>
            <a:r>
              <a:rPr lang="en-US"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en-US" b="0" u="none" strike="noStrike" baseline="0" dirty="0" smtClean="0">
                <a:solidFill>
                  <a:srgbClr val="000000"/>
                </a:solidFill>
                <a:latin typeface="Times New Roman" panose="02020603050405020304" pitchFamily="18" charset="0"/>
                <a:cs typeface="Times New Roman" panose="02020603050405020304" pitchFamily="18" charset="0"/>
              </a:rPr>
              <a:t>we </a:t>
            </a:r>
            <a:r>
              <a:rPr lang="en-US" b="0" u="none" strike="noStrike" baseline="0" dirty="0">
                <a:solidFill>
                  <a:srgbClr val="000000"/>
                </a:solidFill>
                <a:latin typeface="Times New Roman" panose="02020603050405020304" pitchFamily="18" charset="0"/>
                <a:cs typeface="Times New Roman" panose="02020603050405020304" pitchFamily="18" charset="0"/>
              </a:rPr>
              <a:t>explored how percentiles can be used to measure the spread of the data. Percentiles are also valuable for summarizing the entire distribution. It is common to report the quartiles (25th, 50th, and 75th percentiles) and the deciles (the 10th, 20th, …, 90th percentiles). Percentiles are especially valuable for summarizing the tails (the outer range) of the distribution. Popular culture has coined the term one-percenters to refer to the people in the top 99th percentile </a:t>
            </a:r>
            <a:r>
              <a:rPr lang="en-IN" b="0" u="none" strike="noStrike" baseline="0" dirty="0">
                <a:solidFill>
                  <a:srgbClr val="000000"/>
                </a:solidFill>
                <a:latin typeface="Times New Roman" panose="02020603050405020304" pitchFamily="18" charset="0"/>
                <a:cs typeface="Times New Roman" panose="02020603050405020304" pitchFamily="18" charset="0"/>
              </a:rPr>
              <a:t>of wealth.</a:t>
            </a:r>
          </a:p>
          <a:p>
            <a:pPr algn="l"/>
            <a:r>
              <a:rPr lang="en-US" b="0" u="none" strike="noStrike" baseline="0" dirty="0">
                <a:solidFill>
                  <a:srgbClr val="9A0000"/>
                </a:solidFill>
                <a:latin typeface="Times New Roman" panose="02020603050405020304" pitchFamily="18" charset="0"/>
                <a:cs typeface="Times New Roman" panose="02020603050405020304" pitchFamily="18" charset="0"/>
              </a:rPr>
              <a:t>Table 1-4 </a:t>
            </a:r>
            <a:r>
              <a:rPr lang="en-US" b="0" u="none" strike="noStrike" baseline="0" dirty="0">
                <a:solidFill>
                  <a:srgbClr val="000000"/>
                </a:solidFill>
                <a:latin typeface="Times New Roman" panose="02020603050405020304" pitchFamily="18" charset="0"/>
                <a:cs typeface="Times New Roman" panose="02020603050405020304" pitchFamily="18" charset="0"/>
              </a:rPr>
              <a:t>displays some percentiles of the murder rate by state. In R, this would be produced by the quantile function:</a:t>
            </a:r>
          </a:p>
          <a:p>
            <a:pPr algn="l"/>
            <a:r>
              <a:rPr lang="it-IT" b="0" u="none" strike="noStrike" baseline="0" dirty="0">
                <a:solidFill>
                  <a:srgbClr val="CD00FF"/>
                </a:solidFill>
                <a:latin typeface="Times New Roman" panose="02020603050405020304" pitchFamily="18" charset="0"/>
                <a:cs typeface="Times New Roman" panose="02020603050405020304" pitchFamily="18" charset="0"/>
              </a:rPr>
              <a:t>quantile</a:t>
            </a:r>
            <a:r>
              <a:rPr lang="it-IT" b="0" u="none" strike="noStrike" baseline="0" dirty="0">
                <a:solidFill>
                  <a:srgbClr val="000000"/>
                </a:solidFill>
                <a:latin typeface="Times New Roman" panose="02020603050405020304" pitchFamily="18" charset="0"/>
                <a:cs typeface="Times New Roman" panose="02020603050405020304" pitchFamily="18" charset="0"/>
              </a:rPr>
              <a:t>(</a:t>
            </a:r>
            <a:r>
              <a:rPr lang="it-IT" b="0" u="none" strike="noStrike" baseline="0" dirty="0">
                <a:solidFill>
                  <a:srgbClr val="000089"/>
                </a:solidFill>
                <a:latin typeface="Times New Roman" panose="02020603050405020304" pitchFamily="18" charset="0"/>
                <a:cs typeface="Times New Roman" panose="02020603050405020304" pitchFamily="18" charset="0"/>
              </a:rPr>
              <a:t>state</a:t>
            </a:r>
            <a:r>
              <a:rPr lang="it-IT" b="0" u="none" strike="noStrike" baseline="0" dirty="0">
                <a:solidFill>
                  <a:srgbClr val="000000"/>
                </a:solidFill>
                <a:latin typeface="Times New Roman" panose="02020603050405020304" pitchFamily="18" charset="0"/>
                <a:cs typeface="Times New Roman" panose="02020603050405020304" pitchFamily="18" charset="0"/>
              </a:rPr>
              <a:t>[[</a:t>
            </a:r>
            <a:r>
              <a:rPr lang="it-IT" b="0" u="none" strike="noStrike" baseline="0" dirty="0">
                <a:solidFill>
                  <a:srgbClr val="CD3300"/>
                </a:solidFill>
                <a:latin typeface="Times New Roman" panose="02020603050405020304" pitchFamily="18" charset="0"/>
                <a:cs typeface="Times New Roman" panose="02020603050405020304" pitchFamily="18" charset="0"/>
              </a:rPr>
              <a:t>'Murder.Rate'</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000089"/>
                </a:solidFill>
                <a:latin typeface="Times New Roman" panose="02020603050405020304" pitchFamily="18" charset="0"/>
                <a:cs typeface="Times New Roman" panose="02020603050405020304" pitchFamily="18" charset="0"/>
              </a:rPr>
              <a:t>p</a:t>
            </a:r>
            <a:r>
              <a:rPr lang="it-IT" b="0" u="none" strike="noStrike" baseline="0" dirty="0">
                <a:solidFill>
                  <a:srgbClr val="555555"/>
                </a:solidFill>
                <a:latin typeface="Times New Roman" panose="02020603050405020304" pitchFamily="18" charset="0"/>
                <a:cs typeface="Times New Roman" panose="02020603050405020304" pitchFamily="18" charset="0"/>
              </a:rPr>
              <a:t>=</a:t>
            </a:r>
            <a:r>
              <a:rPr lang="it-IT" b="0" u="none" strike="noStrike" baseline="0" dirty="0">
                <a:solidFill>
                  <a:srgbClr val="CD00FF"/>
                </a:solidFill>
                <a:latin typeface="Times New Roman" panose="02020603050405020304" pitchFamily="18" charset="0"/>
                <a:cs typeface="Times New Roman" panose="02020603050405020304" pitchFamily="18" charset="0"/>
              </a:rPr>
              <a:t>c</a:t>
            </a:r>
            <a:r>
              <a:rPr lang="it-IT" b="0" u="none" strike="noStrike" baseline="0" dirty="0">
                <a:solidFill>
                  <a:srgbClr val="000000"/>
                </a:solidFill>
                <a:latin typeface="Times New Roman" panose="02020603050405020304" pitchFamily="18" charset="0"/>
                <a:cs typeface="Times New Roman" panose="02020603050405020304" pitchFamily="18" charset="0"/>
              </a:rPr>
              <a:t>(</a:t>
            </a:r>
            <a:r>
              <a:rPr lang="it-IT" b="0" u="none" strike="noStrike" baseline="0" dirty="0">
                <a:solidFill>
                  <a:srgbClr val="FF6600"/>
                </a:solidFill>
                <a:latin typeface="Times New Roman" panose="02020603050405020304" pitchFamily="18" charset="0"/>
                <a:cs typeface="Times New Roman" panose="02020603050405020304" pitchFamily="18" charset="0"/>
              </a:rPr>
              <a:t>.05</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FF6600"/>
                </a:solidFill>
                <a:latin typeface="Times New Roman" panose="02020603050405020304" pitchFamily="18" charset="0"/>
                <a:cs typeface="Times New Roman" panose="02020603050405020304" pitchFamily="18" charset="0"/>
              </a:rPr>
              <a:t>.25</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FF6600"/>
                </a:solidFill>
                <a:latin typeface="Times New Roman" panose="02020603050405020304" pitchFamily="18" charset="0"/>
                <a:cs typeface="Times New Roman" panose="02020603050405020304" pitchFamily="18" charset="0"/>
              </a:rPr>
              <a:t>.5</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FF6600"/>
                </a:solidFill>
                <a:latin typeface="Times New Roman" panose="02020603050405020304" pitchFamily="18" charset="0"/>
                <a:cs typeface="Times New Roman" panose="02020603050405020304" pitchFamily="18" charset="0"/>
              </a:rPr>
              <a:t>.75</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FF6600"/>
                </a:solidFill>
                <a:latin typeface="Times New Roman" panose="02020603050405020304" pitchFamily="18" charset="0"/>
                <a:cs typeface="Times New Roman" panose="02020603050405020304" pitchFamily="18" charset="0"/>
              </a:rPr>
              <a:t>.95</a:t>
            </a:r>
            <a:r>
              <a:rPr lang="it-IT" b="0" u="none" strike="noStrike" baseline="0" dirty="0">
                <a:solidFill>
                  <a:srgbClr val="000000"/>
                </a:solidFill>
                <a:latin typeface="Times New Roman" panose="02020603050405020304" pitchFamily="18" charset="0"/>
                <a:cs typeface="Times New Roman" panose="02020603050405020304" pitchFamily="18" charset="0"/>
              </a:rPr>
              <a:t>))</a:t>
            </a:r>
          </a:p>
          <a:p>
            <a:pPr algn="l"/>
            <a:r>
              <a:rPr lang="en-IN" b="0" u="none" strike="noStrike" baseline="0" dirty="0">
                <a:solidFill>
                  <a:srgbClr val="FF6600"/>
                </a:solidFill>
                <a:latin typeface="Times New Roman" panose="02020603050405020304" pitchFamily="18" charset="0"/>
                <a:cs typeface="Times New Roman" panose="02020603050405020304" pitchFamily="18" charset="0"/>
              </a:rPr>
              <a:t>   5</a:t>
            </a:r>
            <a:r>
              <a:rPr lang="en-IN" b="0" u="none" strike="noStrike" baseline="0" dirty="0">
                <a:solidFill>
                  <a:srgbClr val="555555"/>
                </a:solidFill>
                <a:latin typeface="Times New Roman" panose="02020603050405020304" pitchFamily="18" charset="0"/>
                <a:cs typeface="Times New Roman" panose="02020603050405020304" pitchFamily="18" charset="0"/>
              </a:rPr>
              <a:t>% 25% </a:t>
            </a:r>
            <a:r>
              <a:rPr lang="en-IN" b="0" u="none" strike="noStrike" baseline="0" dirty="0">
                <a:solidFill>
                  <a:srgbClr val="FF6600"/>
                </a:solidFill>
                <a:latin typeface="Times New Roman" panose="02020603050405020304" pitchFamily="18" charset="0"/>
                <a:cs typeface="Times New Roman" panose="02020603050405020304" pitchFamily="18" charset="0"/>
              </a:rPr>
              <a:t>50</a:t>
            </a:r>
            <a:r>
              <a:rPr lang="en-IN" b="0" u="none" strike="noStrike" baseline="0" dirty="0">
                <a:solidFill>
                  <a:srgbClr val="555555"/>
                </a:solidFill>
                <a:latin typeface="Times New Roman" panose="02020603050405020304" pitchFamily="18" charset="0"/>
                <a:cs typeface="Times New Roman" panose="02020603050405020304" pitchFamily="18" charset="0"/>
              </a:rPr>
              <a:t>% 75% </a:t>
            </a:r>
            <a:r>
              <a:rPr lang="en-IN" b="0" u="none" strike="noStrike" baseline="0" dirty="0">
                <a:solidFill>
                  <a:srgbClr val="FF6600"/>
                </a:solidFill>
                <a:latin typeface="Times New Roman" panose="02020603050405020304" pitchFamily="18" charset="0"/>
                <a:cs typeface="Times New Roman" panose="02020603050405020304" pitchFamily="18" charset="0"/>
              </a:rPr>
              <a:t>95</a:t>
            </a:r>
            <a:r>
              <a:rPr lang="en-IN" b="0" u="none" strike="noStrike" baseline="0" dirty="0">
                <a:solidFill>
                  <a:srgbClr val="000000"/>
                </a:solidFill>
                <a:latin typeface="Times New Roman" panose="02020603050405020304" pitchFamily="18" charset="0"/>
                <a:cs typeface="Times New Roman" panose="02020603050405020304" pitchFamily="18" charset="0"/>
              </a:rPr>
              <a:t>%</a:t>
            </a:r>
          </a:p>
          <a:p>
            <a:pPr algn="l"/>
            <a:r>
              <a:rPr lang="en-IN" b="0" u="none" strike="noStrike" baseline="0" dirty="0">
                <a:solidFill>
                  <a:srgbClr val="FF6600"/>
                </a:solidFill>
                <a:latin typeface="Times New Roman" panose="02020603050405020304" pitchFamily="18" charset="0"/>
                <a:cs typeface="Times New Roman" panose="02020603050405020304" pitchFamily="18" charset="0"/>
              </a:rPr>
              <a:t>1.600 2.425 4.000 5.550 6.510</a:t>
            </a:r>
          </a:p>
          <a:p>
            <a:pPr algn="l"/>
            <a:r>
              <a:rPr lang="en-US" b="0" u="none" strike="noStrike" baseline="0" dirty="0">
                <a:solidFill>
                  <a:srgbClr val="000000"/>
                </a:solidFill>
                <a:latin typeface="Times New Roman" panose="02020603050405020304" pitchFamily="18" charset="0"/>
                <a:cs typeface="Times New Roman" panose="02020603050405020304" pitchFamily="18" charset="0"/>
              </a:rPr>
              <a:t>The pandas data frame method quantile provides it in Python:</a:t>
            </a:r>
          </a:p>
          <a:p>
            <a:pPr algn="l"/>
            <a:r>
              <a:rPr lang="it-IT" b="0" u="none" strike="noStrike" baseline="0" dirty="0">
                <a:solidFill>
                  <a:srgbClr val="000089"/>
                </a:solidFill>
                <a:latin typeface="Times New Roman" panose="02020603050405020304" pitchFamily="18" charset="0"/>
                <a:cs typeface="Times New Roman" panose="02020603050405020304" pitchFamily="18" charset="0"/>
              </a:rPr>
              <a:t>state</a:t>
            </a:r>
            <a:r>
              <a:rPr lang="it-IT" b="0" u="none" strike="noStrike" baseline="0" dirty="0">
                <a:solidFill>
                  <a:srgbClr val="000000"/>
                </a:solidFill>
                <a:latin typeface="Times New Roman" panose="02020603050405020304" pitchFamily="18" charset="0"/>
                <a:cs typeface="Times New Roman" panose="02020603050405020304" pitchFamily="18" charset="0"/>
              </a:rPr>
              <a:t>[</a:t>
            </a:r>
            <a:r>
              <a:rPr lang="it-IT" b="0" u="none" strike="noStrike" baseline="0" dirty="0">
                <a:solidFill>
                  <a:srgbClr val="CD3300"/>
                </a:solidFill>
                <a:latin typeface="Times New Roman" panose="02020603050405020304" pitchFamily="18" charset="0"/>
                <a:cs typeface="Times New Roman" panose="02020603050405020304" pitchFamily="18" charset="0"/>
              </a:rPr>
              <a:t>'Murder.Rate'</a:t>
            </a:r>
            <a:r>
              <a:rPr lang="it-IT" b="0" u="none" strike="noStrike" baseline="0" dirty="0">
                <a:solidFill>
                  <a:srgbClr val="000000"/>
                </a:solidFill>
                <a:latin typeface="Times New Roman" panose="02020603050405020304" pitchFamily="18" charset="0"/>
                <a:cs typeface="Times New Roman" panose="02020603050405020304" pitchFamily="18" charset="0"/>
              </a:rPr>
              <a:t>]</a:t>
            </a:r>
            <a:r>
              <a:rPr lang="it-IT" b="0" u="none" strike="noStrike" baseline="0" dirty="0">
                <a:solidFill>
                  <a:srgbClr val="555555"/>
                </a:solidFill>
                <a:latin typeface="Times New Roman" panose="02020603050405020304" pitchFamily="18" charset="0"/>
                <a:cs typeface="Times New Roman" panose="02020603050405020304" pitchFamily="18" charset="0"/>
              </a:rPr>
              <a:t>.</a:t>
            </a:r>
            <a:r>
              <a:rPr lang="it-IT" b="0" u="none" strike="noStrike" baseline="0" dirty="0">
                <a:solidFill>
                  <a:srgbClr val="000089"/>
                </a:solidFill>
                <a:latin typeface="Times New Roman" panose="02020603050405020304" pitchFamily="18" charset="0"/>
                <a:cs typeface="Times New Roman" panose="02020603050405020304" pitchFamily="18" charset="0"/>
              </a:rPr>
              <a:t>quantile</a:t>
            </a:r>
            <a:r>
              <a:rPr lang="it-IT" b="0" u="none" strike="noStrike" baseline="0" dirty="0">
                <a:solidFill>
                  <a:srgbClr val="000000"/>
                </a:solidFill>
                <a:latin typeface="Times New Roman" panose="02020603050405020304" pitchFamily="18" charset="0"/>
                <a:cs typeface="Times New Roman" panose="02020603050405020304" pitchFamily="18" charset="0"/>
              </a:rPr>
              <a:t>([</a:t>
            </a:r>
            <a:r>
              <a:rPr lang="it-IT" b="0" u="none" strike="noStrike" baseline="0" dirty="0">
                <a:solidFill>
                  <a:srgbClr val="FF6600"/>
                </a:solidFill>
                <a:latin typeface="Times New Roman" panose="02020603050405020304" pitchFamily="18" charset="0"/>
                <a:cs typeface="Times New Roman" panose="02020603050405020304" pitchFamily="18" charset="0"/>
              </a:rPr>
              <a:t>0.05</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FF6600"/>
                </a:solidFill>
                <a:latin typeface="Times New Roman" panose="02020603050405020304" pitchFamily="18" charset="0"/>
                <a:cs typeface="Times New Roman" panose="02020603050405020304" pitchFamily="18" charset="0"/>
              </a:rPr>
              <a:t>0.25</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FF6600"/>
                </a:solidFill>
                <a:latin typeface="Times New Roman" panose="02020603050405020304" pitchFamily="18" charset="0"/>
                <a:cs typeface="Times New Roman" panose="02020603050405020304" pitchFamily="18" charset="0"/>
              </a:rPr>
              <a:t>0.5</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FF6600"/>
                </a:solidFill>
                <a:latin typeface="Times New Roman" panose="02020603050405020304" pitchFamily="18" charset="0"/>
                <a:cs typeface="Times New Roman" panose="02020603050405020304" pitchFamily="18" charset="0"/>
              </a:rPr>
              <a:t>0.75</a:t>
            </a:r>
            <a:r>
              <a:rPr lang="it-IT" b="0" u="none" strike="noStrike" baseline="0" dirty="0">
                <a:solidFill>
                  <a:srgbClr val="000000"/>
                </a:solidFill>
                <a:latin typeface="Times New Roman" panose="02020603050405020304" pitchFamily="18" charset="0"/>
                <a:cs typeface="Times New Roman" panose="02020603050405020304" pitchFamily="18" charset="0"/>
              </a:rPr>
              <a:t>, </a:t>
            </a:r>
            <a:r>
              <a:rPr lang="it-IT" b="0" u="none" strike="noStrike" baseline="0" dirty="0">
                <a:solidFill>
                  <a:srgbClr val="FF6600"/>
                </a:solidFill>
                <a:latin typeface="Times New Roman" panose="02020603050405020304" pitchFamily="18" charset="0"/>
                <a:cs typeface="Times New Roman" panose="02020603050405020304" pitchFamily="18" charset="0"/>
              </a:rPr>
              <a:t>0.95</a:t>
            </a:r>
            <a:r>
              <a:rPr lang="it-IT" b="0" u="none" strike="noStrike" baseline="0" dirty="0">
                <a:solidFill>
                  <a:srgbClr val="000000"/>
                </a:solidFill>
                <a:latin typeface="Times New Roman" panose="02020603050405020304" pitchFamily="18" charset="0"/>
                <a:cs typeface="Times New Roman" panose="02020603050405020304" pitchFamily="18" charset="0"/>
              </a:rPr>
              <a:t>])</a:t>
            </a:r>
          </a:p>
          <a:p>
            <a:pPr algn="l"/>
            <a:r>
              <a:rPr lang="en-US" b="0" u="none" strike="noStrike" baseline="0" dirty="0">
                <a:solidFill>
                  <a:srgbClr val="000000"/>
                </a:solidFill>
                <a:latin typeface="Times New Roman" panose="02020603050405020304" pitchFamily="18" charset="0"/>
                <a:cs typeface="Times New Roman" panose="02020603050405020304" pitchFamily="18" charset="0"/>
              </a:rPr>
              <a:t>Table 1-4. Percentiles  of murder rate by state</a:t>
            </a:r>
          </a:p>
          <a:p>
            <a:pPr algn="l"/>
            <a:r>
              <a:rPr lang="en-IN" b="0" u="none" strike="noStrike" baseline="0" dirty="0">
                <a:solidFill>
                  <a:srgbClr val="FFFFFF"/>
                </a:solidFill>
                <a:latin typeface="Times New Roman" panose="02020603050405020304" pitchFamily="18" charset="0"/>
                <a:cs typeface="Times New Roman" panose="02020603050405020304" pitchFamily="18" charset="0"/>
              </a:rPr>
              <a:t>5% 25% 50% 75% 95%</a:t>
            </a:r>
          </a:p>
          <a:p>
            <a:pPr algn="l"/>
            <a:r>
              <a:rPr lang="en-IN" b="0" u="none" strike="noStrike" baseline="0" dirty="0">
                <a:solidFill>
                  <a:srgbClr val="000000"/>
                </a:solidFill>
                <a:latin typeface="Times New Roman" panose="02020603050405020304" pitchFamily="18" charset="0"/>
                <a:cs typeface="Times New Roman" panose="02020603050405020304" pitchFamily="18" charset="0"/>
              </a:rPr>
              <a:t>1.60 2.42 4.00 5.55 6.51</a:t>
            </a:r>
          </a:p>
          <a:p>
            <a:pPr algn="l"/>
            <a:r>
              <a:rPr lang="en-US" b="0" u="none" strike="noStrike" baseline="0" dirty="0">
                <a:solidFill>
                  <a:srgbClr val="000000"/>
                </a:solidFill>
                <a:latin typeface="Times New Roman" panose="02020603050405020304" pitchFamily="18" charset="0"/>
                <a:cs typeface="Times New Roman" panose="02020603050405020304" pitchFamily="18" charset="0"/>
              </a:rPr>
              <a:t>The median is 4 murders per 100,000 people, although there is quite a bit of variability:</a:t>
            </a:r>
          </a:p>
          <a:p>
            <a:pPr algn="l"/>
            <a:r>
              <a:rPr lang="en-US" b="0" u="none" strike="noStrike" baseline="0" dirty="0">
                <a:solidFill>
                  <a:srgbClr val="000000"/>
                </a:solidFill>
                <a:latin typeface="Times New Roman" panose="02020603050405020304" pitchFamily="18" charset="0"/>
                <a:cs typeface="Times New Roman" panose="02020603050405020304" pitchFamily="18" charset="0"/>
              </a:rPr>
              <a:t>the 5th percentile is only 1.6 and the 95th percentile is 6.51.</a:t>
            </a:r>
          </a:p>
          <a:p>
            <a:pPr algn="l"/>
            <a:r>
              <a:rPr lang="en-US" b="0" u="none" strike="noStrike" baseline="0" dirty="0">
                <a:solidFill>
                  <a:srgbClr val="000000"/>
                </a:solidFill>
                <a:latin typeface="Times New Roman" panose="02020603050405020304" pitchFamily="18" charset="0"/>
                <a:cs typeface="Times New Roman" panose="02020603050405020304" pitchFamily="18" charset="0"/>
              </a:rPr>
              <a:t>Boxplots, introduced by Tukey </a:t>
            </a:r>
            <a:r>
              <a:rPr lang="en-US" b="0" u="none" strike="noStrike" baseline="0" dirty="0">
                <a:solidFill>
                  <a:srgbClr val="9A0000"/>
                </a:solidFill>
                <a:latin typeface="Times New Roman" panose="02020603050405020304" pitchFamily="18" charset="0"/>
                <a:cs typeface="Times New Roman" panose="02020603050405020304" pitchFamily="18" charset="0"/>
              </a:rPr>
              <a:t>[Tukey-1977]</a:t>
            </a:r>
            <a:r>
              <a:rPr lang="en-US" b="0" u="none" strike="noStrike" baseline="0" dirty="0">
                <a:solidFill>
                  <a:srgbClr val="000000"/>
                </a:solidFill>
                <a:latin typeface="Times New Roman" panose="02020603050405020304" pitchFamily="18" charset="0"/>
                <a:cs typeface="Times New Roman" panose="02020603050405020304" pitchFamily="18" charset="0"/>
              </a:rPr>
              <a:t>, are based on percentiles and give a</a:t>
            </a:r>
          </a:p>
          <a:p>
            <a:pPr algn="l"/>
            <a:r>
              <a:rPr lang="en-US" b="0" u="none" strike="noStrike" baseline="0" dirty="0">
                <a:solidFill>
                  <a:srgbClr val="000000"/>
                </a:solidFill>
                <a:latin typeface="Times New Roman" panose="02020603050405020304" pitchFamily="18" charset="0"/>
                <a:cs typeface="Times New Roman" panose="02020603050405020304" pitchFamily="18" charset="0"/>
              </a:rPr>
              <a:t>quick way to visualize the distribution of data</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EEE0496-864E-2B8F-A855-CFCC462E2152}"/>
              </a:ext>
            </a:extLst>
          </p:cNvPr>
          <p:cNvSpPr txBox="1"/>
          <p:nvPr/>
        </p:nvSpPr>
        <p:spPr>
          <a:xfrm>
            <a:off x="31954" y="304800"/>
            <a:ext cx="9035845" cy="2031325"/>
          </a:xfrm>
          <a:prstGeom prst="rect">
            <a:avLst/>
          </a:prstGeom>
          <a:noFill/>
        </p:spPr>
        <p:txBody>
          <a:bodyPr wrap="square">
            <a:spAutoFit/>
          </a:bodyPr>
          <a:lstStyle/>
          <a:p>
            <a:pPr algn="l"/>
            <a:r>
              <a:rPr lang="en-US" b="0" i="0" u="none" strike="noStrike" baseline="0" dirty="0" smtClean="0">
                <a:solidFill>
                  <a:srgbClr val="9A0000"/>
                </a:solidFill>
                <a:latin typeface="Times New Roman" panose="02020603050405020304" pitchFamily="18" charset="0"/>
                <a:cs typeface="Times New Roman" panose="02020603050405020304" pitchFamily="18" charset="0"/>
              </a:rPr>
              <a:t> 	</a:t>
            </a:r>
            <a:r>
              <a:rPr lang="en-US" b="0" i="0" u="none" strike="noStrike" baseline="0" dirty="0" smtClean="0">
                <a:solidFill>
                  <a:srgbClr val="000000"/>
                </a:solidFill>
                <a:latin typeface="Times New Roman" panose="02020603050405020304" pitchFamily="18" charset="0"/>
                <a:cs typeface="Times New Roman" panose="02020603050405020304" pitchFamily="18" charset="0"/>
              </a:rPr>
              <a:t>shows </a:t>
            </a:r>
            <a:r>
              <a:rPr lang="en-US" b="0" i="0" u="none" strike="noStrike" baseline="0" dirty="0">
                <a:solidFill>
                  <a:srgbClr val="000000"/>
                </a:solidFill>
                <a:latin typeface="Times New Roman" panose="02020603050405020304" pitchFamily="18" charset="0"/>
                <a:cs typeface="Times New Roman" panose="02020603050405020304" pitchFamily="18" charset="0"/>
              </a:rPr>
              <a:t>a boxplot of the </a:t>
            </a:r>
            <a:r>
              <a:rPr lang="en-US" b="0" i="0" u="none" strike="noStrike" baseline="0" dirty="0" smtClean="0">
                <a:solidFill>
                  <a:srgbClr val="000000"/>
                </a:solidFill>
                <a:latin typeface="Times New Roman" panose="02020603050405020304" pitchFamily="18" charset="0"/>
                <a:cs typeface="Times New Roman" panose="02020603050405020304" pitchFamily="18" charset="0"/>
              </a:rPr>
              <a:t>population</a:t>
            </a:r>
            <a:r>
              <a:rPr lang="en-US" b="0" i="0" u="none" strike="noStrike" dirty="0" smtClean="0">
                <a:solidFill>
                  <a:srgbClr val="000000"/>
                </a:solidFill>
                <a:latin typeface="Times New Roman" panose="02020603050405020304" pitchFamily="18" charset="0"/>
                <a:cs typeface="Times New Roman" panose="02020603050405020304" pitchFamily="18" charset="0"/>
              </a:rPr>
              <a:t> </a:t>
            </a:r>
            <a:r>
              <a:rPr lang="en-US" b="0" i="0" u="none" strike="noStrike" baseline="0" dirty="0" smtClean="0">
                <a:solidFill>
                  <a:srgbClr val="000000"/>
                </a:solidFill>
                <a:latin typeface="Times New Roman" panose="02020603050405020304" pitchFamily="18" charset="0"/>
                <a:cs typeface="Times New Roman" panose="02020603050405020304" pitchFamily="18" charset="0"/>
              </a:rPr>
              <a:t>by </a:t>
            </a:r>
            <a:r>
              <a:rPr lang="en-US" b="0" i="0" u="none" strike="noStrike" baseline="0" dirty="0">
                <a:solidFill>
                  <a:srgbClr val="000000"/>
                </a:solidFill>
                <a:latin typeface="Times New Roman" panose="02020603050405020304" pitchFamily="18" charset="0"/>
                <a:cs typeface="Times New Roman" panose="02020603050405020304" pitchFamily="18" charset="0"/>
              </a:rPr>
              <a:t>state produced by </a:t>
            </a:r>
            <a:r>
              <a:rPr lang="en-US" b="0" i="1" u="none" strike="noStrike" baseline="0" dirty="0" smtClean="0">
                <a:solidFill>
                  <a:srgbClr val="000000"/>
                </a:solidFill>
                <a:latin typeface="Times New Roman" panose="02020603050405020304" pitchFamily="18" charset="0"/>
                <a:cs typeface="Times New Roman" panose="02020603050405020304" pitchFamily="18" charset="0"/>
              </a:rPr>
              <a:t>python</a:t>
            </a:r>
            <a:r>
              <a:rPr lang="en-US" b="0" i="0" u="none" strike="noStrike" baseline="0" dirty="0" smtClean="0">
                <a:solidFill>
                  <a:srgbClr val="000000"/>
                </a:solidFill>
                <a:latin typeface="Times New Roman" panose="02020603050405020304" pitchFamily="18" charset="0"/>
                <a:cs typeface="Times New Roman" panose="02020603050405020304" pitchFamily="18" charset="0"/>
              </a:rPr>
              <a:t>:</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b="0" i="0" u="none" strike="noStrike" baseline="0" dirty="0" smtClean="0">
                <a:solidFill>
                  <a:srgbClr val="000000"/>
                </a:solidFill>
                <a:latin typeface="Times New Roman" panose="02020603050405020304" pitchFamily="18" charset="0"/>
                <a:cs typeface="Times New Roman" panose="02020603050405020304" pitchFamily="18" charset="0"/>
              </a:rPr>
              <a:t>pandas </a:t>
            </a:r>
            <a:r>
              <a:rPr lang="en-US" b="0" i="0" u="none" strike="noStrike" baseline="0" dirty="0">
                <a:solidFill>
                  <a:srgbClr val="000000"/>
                </a:solidFill>
                <a:latin typeface="Times New Roman" panose="02020603050405020304" pitchFamily="18" charset="0"/>
                <a:cs typeface="Times New Roman" panose="02020603050405020304" pitchFamily="18" charset="0"/>
              </a:rPr>
              <a:t>provides a number of basic exploratory plots for data frame; one of them is</a:t>
            </a:r>
          </a:p>
          <a:p>
            <a:pPr algn="l"/>
            <a:r>
              <a:rPr lang="en-IN" b="0" i="0" u="none" strike="noStrike" baseline="0" dirty="0">
                <a:solidFill>
                  <a:srgbClr val="000000"/>
                </a:solidFill>
                <a:latin typeface="Times New Roman" panose="02020603050405020304" pitchFamily="18" charset="0"/>
                <a:cs typeface="Times New Roman" panose="02020603050405020304" pitchFamily="18" charset="0"/>
              </a:rPr>
              <a:t>boxplots:</a:t>
            </a:r>
          </a:p>
          <a:p>
            <a:pPr algn="l"/>
            <a:r>
              <a:rPr lang="en-US" b="0" i="0" u="none" strike="noStrike" baseline="0" dirty="0">
                <a:solidFill>
                  <a:srgbClr val="000089"/>
                </a:solidFill>
                <a:latin typeface="Times New Roman" panose="02020603050405020304" pitchFamily="18" charset="0"/>
                <a:cs typeface="Times New Roman" panose="02020603050405020304" pitchFamily="18" charset="0"/>
              </a:rPr>
              <a:t>ax </a:t>
            </a:r>
            <a:r>
              <a:rPr lang="en-US" b="0" i="0" u="none" strike="noStrike" baseline="0" dirty="0">
                <a:solidFill>
                  <a:srgbClr val="555555"/>
                </a:solidFill>
                <a:latin typeface="Times New Roman" panose="02020603050405020304" pitchFamily="18" charset="0"/>
                <a:cs typeface="Times New Roman" panose="02020603050405020304" pitchFamily="18" charset="0"/>
              </a:rPr>
              <a:t>= </a:t>
            </a:r>
            <a:r>
              <a:rPr lang="en-US" b="0" i="0" u="none" strike="noStrike" baseline="0" dirty="0">
                <a:solidFill>
                  <a:srgbClr val="000000"/>
                </a:solidFill>
                <a:latin typeface="Times New Roman" panose="02020603050405020304" pitchFamily="18" charset="0"/>
                <a:cs typeface="Times New Roman" panose="02020603050405020304" pitchFamily="18" charset="0"/>
              </a:rPr>
              <a:t>(</a:t>
            </a:r>
            <a:r>
              <a:rPr lang="en-US" b="0" i="0" u="none" strike="noStrike" baseline="0" dirty="0">
                <a:solidFill>
                  <a:srgbClr val="000089"/>
                </a:solidFill>
                <a:latin typeface="Times New Roman" panose="02020603050405020304" pitchFamily="18" charset="0"/>
                <a:cs typeface="Times New Roman" panose="02020603050405020304" pitchFamily="18" charset="0"/>
              </a:rPr>
              <a:t>state</a:t>
            </a:r>
            <a:r>
              <a:rPr lang="en-US" b="0" i="0" u="none" strike="noStrike" baseline="0" dirty="0">
                <a:solidFill>
                  <a:srgbClr val="000000"/>
                </a:solidFill>
                <a:latin typeface="Times New Roman" panose="02020603050405020304" pitchFamily="18" charset="0"/>
                <a:cs typeface="Times New Roman" panose="02020603050405020304" pitchFamily="18" charset="0"/>
              </a:rPr>
              <a:t>[</a:t>
            </a:r>
            <a:r>
              <a:rPr lang="en-US" b="0" i="0" u="none" strike="noStrike" baseline="0" dirty="0">
                <a:solidFill>
                  <a:srgbClr val="CD3300"/>
                </a:solidFill>
                <a:latin typeface="Times New Roman" panose="02020603050405020304" pitchFamily="18" charset="0"/>
                <a:cs typeface="Times New Roman" panose="02020603050405020304" pitchFamily="18" charset="0"/>
              </a:rPr>
              <a:t>'Population'</a:t>
            </a:r>
            <a:r>
              <a:rPr lang="en-US" b="0" i="0" u="none" strike="noStrike" baseline="0" dirty="0">
                <a:solidFill>
                  <a:srgbClr val="000000"/>
                </a:solidFill>
                <a:latin typeface="Times New Roman" panose="02020603050405020304" pitchFamily="18" charset="0"/>
                <a:cs typeface="Times New Roman" panose="02020603050405020304" pitchFamily="18" charset="0"/>
              </a:rPr>
              <a:t>]</a:t>
            </a:r>
            <a:r>
              <a:rPr lang="en-US" b="0" i="0" u="none" strike="noStrike" baseline="0" dirty="0">
                <a:solidFill>
                  <a:srgbClr val="555555"/>
                </a:solidFill>
                <a:latin typeface="Times New Roman" panose="02020603050405020304" pitchFamily="18" charset="0"/>
                <a:cs typeface="Times New Roman" panose="02020603050405020304" pitchFamily="18" charset="0"/>
              </a:rPr>
              <a:t>/</a:t>
            </a:r>
            <a:r>
              <a:rPr lang="en-US" b="0" i="0" u="none" strike="noStrike" baseline="0" dirty="0">
                <a:solidFill>
                  <a:srgbClr val="FF6600"/>
                </a:solidFill>
                <a:latin typeface="Times New Roman" panose="02020603050405020304" pitchFamily="18" charset="0"/>
                <a:cs typeface="Times New Roman" panose="02020603050405020304" pitchFamily="18" charset="0"/>
              </a:rPr>
              <a:t>1</a:t>
            </a:r>
            <a:r>
              <a:rPr lang="en-US" b="0" i="0" u="none" strike="noStrike" baseline="0" dirty="0">
                <a:solidFill>
                  <a:srgbClr val="000089"/>
                </a:solidFill>
                <a:latin typeface="Times New Roman" panose="02020603050405020304" pitchFamily="18" charset="0"/>
                <a:cs typeface="Times New Roman" panose="02020603050405020304" pitchFamily="18" charset="0"/>
              </a:rPr>
              <a:t>_000_000</a:t>
            </a:r>
            <a:r>
              <a:rPr lang="en-US" b="0" i="0" u="none" strike="noStrike" baseline="0" dirty="0">
                <a:solidFill>
                  <a:srgbClr val="000000"/>
                </a:solidFill>
                <a:latin typeface="Times New Roman" panose="02020603050405020304" pitchFamily="18" charset="0"/>
                <a:cs typeface="Times New Roman" panose="02020603050405020304" pitchFamily="18" charset="0"/>
              </a:rPr>
              <a:t>)</a:t>
            </a:r>
            <a:r>
              <a:rPr lang="en-US" b="0" i="0" u="none" strike="noStrike" baseline="0" dirty="0">
                <a:solidFill>
                  <a:srgbClr val="555555"/>
                </a:solidFill>
                <a:latin typeface="Times New Roman" panose="02020603050405020304" pitchFamily="18" charset="0"/>
                <a:cs typeface="Times New Roman" panose="02020603050405020304" pitchFamily="18" charset="0"/>
              </a:rPr>
              <a:t>.</a:t>
            </a:r>
            <a:r>
              <a:rPr lang="en-US" b="0" i="0" u="none" strike="noStrike" baseline="0" dirty="0" err="1">
                <a:solidFill>
                  <a:srgbClr val="000089"/>
                </a:solidFill>
                <a:latin typeface="Times New Roman" panose="02020603050405020304" pitchFamily="18" charset="0"/>
                <a:cs typeface="Times New Roman" panose="02020603050405020304" pitchFamily="18" charset="0"/>
              </a:rPr>
              <a:t>plot</a:t>
            </a:r>
            <a:r>
              <a:rPr lang="en-US" b="0" i="0" u="none" strike="noStrike" baseline="0" dirty="0" err="1">
                <a:solidFill>
                  <a:srgbClr val="555555"/>
                </a:solidFill>
                <a:latin typeface="Times New Roman" panose="02020603050405020304" pitchFamily="18" charset="0"/>
                <a:cs typeface="Times New Roman" panose="02020603050405020304" pitchFamily="18" charset="0"/>
              </a:rPr>
              <a:t>.</a:t>
            </a:r>
            <a:r>
              <a:rPr lang="en-US" b="0" i="0" u="none" strike="noStrike" baseline="0" dirty="0" err="1">
                <a:solidFill>
                  <a:srgbClr val="000089"/>
                </a:solidFill>
                <a:latin typeface="Times New Roman" panose="02020603050405020304" pitchFamily="18" charset="0"/>
                <a:cs typeface="Times New Roman" panose="02020603050405020304" pitchFamily="18" charset="0"/>
              </a:rPr>
              <a:t>box</a:t>
            </a:r>
            <a:r>
              <a:rPr lang="en-US" b="0" i="0" u="none" strike="noStrike" baseline="0" dirty="0">
                <a:solidFill>
                  <a:srgbClr val="000000"/>
                </a:solidFill>
                <a:latin typeface="Times New Roman" panose="02020603050405020304" pitchFamily="18" charset="0"/>
                <a:cs typeface="Times New Roman" panose="02020603050405020304" pitchFamily="18" charset="0"/>
              </a:rPr>
              <a:t>()</a:t>
            </a:r>
          </a:p>
          <a:p>
            <a:pPr algn="l"/>
            <a:r>
              <a:rPr lang="en-IN" b="0" i="0" u="none" strike="noStrike" baseline="0" dirty="0" err="1">
                <a:solidFill>
                  <a:srgbClr val="000089"/>
                </a:solidFill>
                <a:latin typeface="Times New Roman" panose="02020603050405020304" pitchFamily="18" charset="0"/>
                <a:cs typeface="Times New Roman" panose="02020603050405020304" pitchFamily="18" charset="0"/>
              </a:rPr>
              <a:t>ax</a:t>
            </a:r>
            <a:r>
              <a:rPr lang="en-IN" b="0" i="0" u="none" strike="noStrike" baseline="0" dirty="0" err="1">
                <a:solidFill>
                  <a:srgbClr val="555555"/>
                </a:solidFill>
                <a:latin typeface="Times New Roman" panose="02020603050405020304" pitchFamily="18" charset="0"/>
                <a:cs typeface="Times New Roman" panose="02020603050405020304" pitchFamily="18" charset="0"/>
              </a:rPr>
              <a:t>.</a:t>
            </a:r>
            <a:r>
              <a:rPr lang="en-IN" b="0" i="0" u="none" strike="noStrike" baseline="0" dirty="0" err="1">
                <a:solidFill>
                  <a:srgbClr val="000089"/>
                </a:solidFill>
                <a:latin typeface="Times New Roman" panose="02020603050405020304" pitchFamily="18" charset="0"/>
                <a:cs typeface="Times New Roman" panose="02020603050405020304" pitchFamily="18" charset="0"/>
              </a:rPr>
              <a:t>set_ylabel</a:t>
            </a:r>
            <a:r>
              <a:rPr lang="en-IN" b="0" i="0" u="none" strike="noStrike" baseline="0" dirty="0">
                <a:solidFill>
                  <a:srgbClr val="000000"/>
                </a:solidFill>
                <a:latin typeface="Times New Roman" panose="02020603050405020304" pitchFamily="18" charset="0"/>
                <a:cs typeface="Times New Roman" panose="02020603050405020304" pitchFamily="18" charset="0"/>
              </a:rPr>
              <a:t>(</a:t>
            </a:r>
            <a:r>
              <a:rPr lang="en-IN" b="0" i="0" u="none" strike="noStrike" baseline="0" dirty="0">
                <a:solidFill>
                  <a:srgbClr val="CD3300"/>
                </a:solidFill>
                <a:latin typeface="Times New Roman" panose="02020603050405020304" pitchFamily="18" charset="0"/>
                <a:cs typeface="Times New Roman" panose="02020603050405020304" pitchFamily="18" charset="0"/>
              </a:rPr>
              <a:t>'Population (millions)’</a:t>
            </a:r>
            <a:r>
              <a:rPr lang="en-IN" b="0" i="0" u="none" strike="noStrike" baseline="0" dirty="0">
                <a:solidFill>
                  <a:srgbClr val="000000"/>
                </a:solidFill>
                <a:latin typeface="Times New Roman" panose="02020603050405020304" pitchFamily="18" charset="0"/>
                <a:cs typeface="Times New Roman" panose="02020603050405020304" pitchFamily="18" charset="0"/>
              </a:rPr>
              <a:t>)</a:t>
            </a:r>
          </a:p>
          <a:p>
            <a:pPr algn="l"/>
            <a:endParaRPr lang="en-IN" dirty="0">
              <a:solidFill>
                <a:srgbClr val="000000"/>
              </a:solidFill>
              <a:latin typeface="Times New Roman" panose="02020603050405020304" pitchFamily="18" charset="0"/>
              <a:cs typeface="Times New Roman" panose="02020603050405020304" pitchFamily="18" charset="0"/>
            </a:endParaRPr>
          </a:p>
          <a:p>
            <a:pPr algn="l"/>
            <a:endParaRPr lang="en-IN" dirty="0"/>
          </a:p>
        </p:txBody>
      </p:sp>
      <p:pic>
        <p:nvPicPr>
          <p:cNvPr id="5" name="Picture 4">
            <a:extLst>
              <a:ext uri="{FF2B5EF4-FFF2-40B4-BE49-F238E27FC236}">
                <a16:creationId xmlns="" xmlns:a16="http://schemas.microsoft.com/office/drawing/2014/main" id="{35C7E8B7-7788-E1EF-351F-4FAF58E1CF07}"/>
              </a:ext>
            </a:extLst>
          </p:cNvPr>
          <p:cNvPicPr>
            <a:picLocks noChangeAspect="1"/>
          </p:cNvPicPr>
          <p:nvPr/>
        </p:nvPicPr>
        <p:blipFill>
          <a:blip r:embed="rId2"/>
          <a:stretch>
            <a:fillRect/>
          </a:stretch>
        </p:blipFill>
        <p:spPr>
          <a:xfrm>
            <a:off x="6286512" y="2357430"/>
            <a:ext cx="2714644" cy="3143272"/>
          </a:xfrm>
          <a:prstGeom prst="rect">
            <a:avLst/>
          </a:prstGeom>
        </p:spPr>
      </p:pic>
      <p:sp>
        <p:nvSpPr>
          <p:cNvPr id="4" name="Rectangle 3"/>
          <p:cNvSpPr/>
          <p:nvPr/>
        </p:nvSpPr>
        <p:spPr>
          <a:xfrm>
            <a:off x="0" y="1857364"/>
            <a:ext cx="6072198" cy="3139321"/>
          </a:xfrm>
          <a:prstGeom prst="rect">
            <a:avLst/>
          </a:prstGeom>
        </p:spPr>
        <p:txBody>
          <a:bodyPr wrap="square">
            <a:spAutoFit/>
          </a:bodyPr>
          <a:lstStyle/>
          <a:p>
            <a:pPr algn="just"/>
            <a:r>
              <a:rPr lang="en-US" dirty="0" smtClean="0">
                <a:latin typeface="Times New Roman" pitchFamily="18" charset="0"/>
                <a:cs typeface="Times New Roman" pitchFamily="18" charset="0"/>
              </a:rPr>
              <a:t>	From this </a:t>
            </a:r>
            <a:r>
              <a:rPr lang="en-US" dirty="0" err="1" smtClean="0">
                <a:latin typeface="Times New Roman" pitchFamily="18" charset="0"/>
                <a:cs typeface="Times New Roman" pitchFamily="18" charset="0"/>
              </a:rPr>
              <a:t>boxplot</a:t>
            </a:r>
            <a:r>
              <a:rPr lang="en-US" dirty="0" smtClean="0">
                <a:latin typeface="Times New Roman" pitchFamily="18" charset="0"/>
                <a:cs typeface="Times New Roman" pitchFamily="18" charset="0"/>
              </a:rPr>
              <a:t> we can immediately see that the median state population is about 5 million, half the states fall between about 2 million and about 7 million, and there are some high population outliers. The top and bottom of the box are the 75</a:t>
            </a:r>
            <a:r>
              <a:rPr lang="en-US" baseline="30000" dirty="0" smtClean="0">
                <a:latin typeface="Times New Roman" pitchFamily="18" charset="0"/>
                <a:cs typeface="Times New Roman" pitchFamily="18" charset="0"/>
              </a:rPr>
              <a:t>th</a:t>
            </a:r>
            <a:r>
              <a:rPr lang="en-US" dirty="0" smtClean="0">
                <a:latin typeface="Times New Roman" pitchFamily="18" charset="0"/>
                <a:cs typeface="Times New Roman" pitchFamily="18" charset="0"/>
              </a:rPr>
              <a:t>  and 25</a:t>
            </a:r>
            <a:r>
              <a:rPr lang="en-US" baseline="30000" dirty="0" smtClean="0">
                <a:latin typeface="Times New Roman" pitchFamily="18" charset="0"/>
                <a:cs typeface="Times New Roman" pitchFamily="18" charset="0"/>
              </a:rPr>
              <a:t>th</a:t>
            </a:r>
            <a:r>
              <a:rPr lang="en-US" dirty="0" smtClean="0">
                <a:latin typeface="Times New Roman" pitchFamily="18" charset="0"/>
                <a:cs typeface="Times New Roman" pitchFamily="18" charset="0"/>
              </a:rPr>
              <a:t> percentiles, respectively. The median is shown by the horizontal line in the box. The dashed lines, referred to as whiskers, extend from the top and bottom of the box to indicate the range for the bulk of the data.</a:t>
            </a:r>
          </a:p>
          <a:p>
            <a:pPr algn="just"/>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Any data outside of the whiskers is plotted as single points or circles (often considered outliers).</a:t>
            </a: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 xmlns:p14="http://schemas.microsoft.com/office/powerpoint/2010/main" val="1995171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759D19D-D3EC-06B2-6497-4EC7C5DE3982}"/>
              </a:ext>
            </a:extLst>
          </p:cNvPr>
          <p:cNvSpPr txBox="1"/>
          <p:nvPr/>
        </p:nvSpPr>
        <p:spPr>
          <a:xfrm>
            <a:off x="0" y="0"/>
            <a:ext cx="9144000" cy="3447098"/>
          </a:xfrm>
          <a:prstGeom prst="rect">
            <a:avLst/>
          </a:prstGeom>
          <a:noFill/>
        </p:spPr>
        <p:txBody>
          <a:bodyPr wrap="square">
            <a:spAutoFit/>
          </a:bodyPr>
          <a:lstStyle/>
          <a:p>
            <a:r>
              <a:rPr lang="en-IN" sz="2000" b="0" i="0" u="none" strike="noStrike" baseline="0" dirty="0">
                <a:solidFill>
                  <a:srgbClr val="000000"/>
                </a:solidFill>
                <a:latin typeface="Times New Roman" panose="02020603050405020304" pitchFamily="18" charset="0"/>
                <a:cs typeface="Times New Roman" panose="02020603050405020304" pitchFamily="18" charset="0"/>
              </a:rPr>
              <a:t>Frequency Tables and </a:t>
            </a:r>
            <a:r>
              <a:rPr lang="en-IN" sz="2000" b="0" i="0" u="none" strike="noStrike" baseline="0" dirty="0" smtClean="0">
                <a:solidFill>
                  <a:srgbClr val="000000"/>
                </a:solidFill>
                <a:latin typeface="Times New Roman" panose="02020603050405020304" pitchFamily="18" charset="0"/>
                <a:cs typeface="Times New Roman" panose="02020603050405020304" pitchFamily="18" charset="0"/>
              </a:rPr>
              <a:t>Histograms </a:t>
            </a:r>
            <a:r>
              <a:rPr lang="en-US" sz="2000" dirty="0" smtClean="0"/>
              <a:t>• </a:t>
            </a:r>
          </a:p>
          <a:p>
            <a:r>
              <a:rPr lang="en-US" sz="2000" dirty="0" smtClean="0"/>
              <a:t>Empty bins are included in the graph.</a:t>
            </a:r>
          </a:p>
          <a:p>
            <a:r>
              <a:rPr lang="en-US" sz="2000" dirty="0" smtClean="0"/>
              <a:t>• Bins are of equal width.</a:t>
            </a:r>
          </a:p>
          <a:p>
            <a:r>
              <a:rPr lang="en-US" sz="2000" dirty="0" smtClean="0"/>
              <a:t>• The number of bins (or, equivalently, bin size) is up to the user.</a:t>
            </a:r>
          </a:p>
          <a:p>
            <a:r>
              <a:rPr lang="en-US" sz="2000" dirty="0" smtClean="0"/>
              <a:t>• Bars are contiguous—no empty space shows between bars, unless there is an</a:t>
            </a:r>
          </a:p>
          <a:p>
            <a:r>
              <a:rPr lang="en-US" sz="2000" dirty="0" smtClean="0"/>
              <a:t>empty bin.</a:t>
            </a:r>
            <a:endParaRPr lang="en-IN" sz="2000" b="0" i="0" u="none" strike="noStrike" baseline="0" dirty="0" smtClean="0">
              <a:solidFill>
                <a:srgbClr val="000000"/>
              </a:solidFill>
              <a:latin typeface="Times New Roman" panose="02020603050405020304" pitchFamily="18" charset="0"/>
              <a:cs typeface="Times New Roman" panose="02020603050405020304" pitchFamily="18" charset="0"/>
            </a:endParaRPr>
          </a:p>
          <a:p>
            <a:pPr algn="l"/>
            <a:endParaRPr lang="en-US" sz="2000" b="0" i="0" u="none" strike="noStrike" baseline="0" dirty="0" smtClean="0">
              <a:solidFill>
                <a:srgbClr val="000000"/>
              </a:solidFill>
              <a:latin typeface="Times New Roman" panose="02020603050405020304" pitchFamily="18" charset="0"/>
              <a:cs typeface="Times New Roman" panose="02020603050405020304" pitchFamily="18" charset="0"/>
            </a:endParaRPr>
          </a:p>
          <a:p>
            <a:pPr algn="l"/>
            <a:r>
              <a:rPr lang="en-US" sz="2000" b="0" i="0" u="none" strike="noStrike" baseline="0" dirty="0" smtClean="0">
                <a:solidFill>
                  <a:srgbClr val="000000"/>
                </a:solidFill>
                <a:latin typeface="Times New Roman" panose="02020603050405020304" pitchFamily="18" charset="0"/>
                <a:cs typeface="Times New Roman" panose="02020603050405020304" pitchFamily="18" charset="0"/>
              </a:rPr>
              <a:t>The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function </a:t>
            </a:r>
            <a:r>
              <a:rPr lang="en-US" sz="2000" b="0" i="0" u="none" strike="noStrike" baseline="0" dirty="0" err="1">
                <a:solidFill>
                  <a:srgbClr val="000000"/>
                </a:solidFill>
                <a:latin typeface="Times New Roman" panose="02020603050405020304" pitchFamily="18" charset="0"/>
                <a:cs typeface="Times New Roman" panose="02020603050405020304" pitchFamily="18" charset="0"/>
              </a:rPr>
              <a:t>pandas.cut</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creates a series that maps the values into the segments.</a:t>
            </a:r>
          </a:p>
          <a:p>
            <a:pPr algn="l"/>
            <a:r>
              <a:rPr lang="en-US" sz="2000" b="0" i="0" u="none" strike="noStrike" baseline="0" dirty="0">
                <a:solidFill>
                  <a:srgbClr val="000000"/>
                </a:solidFill>
                <a:latin typeface="Times New Roman" panose="02020603050405020304" pitchFamily="18" charset="0"/>
                <a:cs typeface="Times New Roman" panose="02020603050405020304" pitchFamily="18" charset="0"/>
              </a:rPr>
              <a:t>Using the method </a:t>
            </a:r>
            <a:r>
              <a:rPr lang="en-US" sz="2000" b="0" i="0" u="none" strike="noStrike" baseline="0" dirty="0" err="1">
                <a:solidFill>
                  <a:srgbClr val="000000"/>
                </a:solidFill>
                <a:latin typeface="Times New Roman" panose="02020603050405020304" pitchFamily="18" charset="0"/>
                <a:cs typeface="Times New Roman" panose="02020603050405020304" pitchFamily="18" charset="0"/>
              </a:rPr>
              <a:t>value_counts</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we get the frequency table:</a:t>
            </a:r>
          </a:p>
          <a:p>
            <a:pPr algn="l"/>
            <a:r>
              <a:rPr lang="en-US" sz="2000" b="0" i="0" u="none" strike="noStrike" baseline="0" dirty="0" err="1">
                <a:solidFill>
                  <a:srgbClr val="000089"/>
                </a:solidFill>
                <a:latin typeface="Times New Roman" panose="02020603050405020304" pitchFamily="18" charset="0"/>
                <a:cs typeface="Times New Roman" panose="02020603050405020304" pitchFamily="18" charset="0"/>
              </a:rPr>
              <a:t>binnedPopulation</a:t>
            </a:r>
            <a:r>
              <a:rPr lang="en-US" sz="2000" b="0" i="0" u="none" strike="noStrike" baseline="0" dirty="0">
                <a:solidFill>
                  <a:srgbClr val="000089"/>
                </a:solidFill>
                <a:latin typeface="Times New Roman" panose="02020603050405020304" pitchFamily="18" charset="0"/>
                <a:cs typeface="Times New Roman" panose="02020603050405020304" pitchFamily="18" charset="0"/>
              </a:rPr>
              <a:t> </a:t>
            </a:r>
            <a:r>
              <a:rPr lang="en-US" sz="2000" b="0" i="0" u="none" strike="noStrike" baseline="0" dirty="0">
                <a:solidFill>
                  <a:srgbClr val="555555"/>
                </a:solidFill>
                <a:latin typeface="Times New Roman" panose="02020603050405020304" pitchFamily="18" charset="0"/>
                <a:cs typeface="Times New Roman" panose="02020603050405020304" pitchFamily="18" charset="0"/>
              </a:rPr>
              <a:t>= </a:t>
            </a:r>
            <a:r>
              <a:rPr lang="en-US" sz="2000" b="0" i="0" u="none" strike="noStrike" baseline="0" dirty="0" err="1">
                <a:solidFill>
                  <a:srgbClr val="000089"/>
                </a:solidFill>
                <a:latin typeface="Times New Roman" panose="02020603050405020304" pitchFamily="18" charset="0"/>
                <a:cs typeface="Times New Roman" panose="02020603050405020304" pitchFamily="18" charset="0"/>
              </a:rPr>
              <a:t>pd</a:t>
            </a:r>
            <a:r>
              <a:rPr lang="en-US" sz="2000" b="0" i="0" u="none" strike="noStrike" baseline="0" dirty="0" err="1">
                <a:solidFill>
                  <a:srgbClr val="555555"/>
                </a:solidFill>
                <a:latin typeface="Times New Roman" panose="02020603050405020304" pitchFamily="18" charset="0"/>
                <a:cs typeface="Times New Roman" panose="02020603050405020304" pitchFamily="18" charset="0"/>
              </a:rPr>
              <a:t>.</a:t>
            </a:r>
            <a:r>
              <a:rPr lang="en-US" sz="2000" b="0" i="0" u="none" strike="noStrike" baseline="0" dirty="0" err="1">
                <a:solidFill>
                  <a:srgbClr val="000089"/>
                </a:solidFill>
                <a:latin typeface="Times New Roman" panose="02020603050405020304" pitchFamily="18" charset="0"/>
                <a:cs typeface="Times New Roman" panose="02020603050405020304" pitchFamily="18" charset="0"/>
              </a:rPr>
              <a:t>cut</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a:t>
            </a:r>
            <a:r>
              <a:rPr lang="en-US" sz="2000" b="0" i="0" u="none" strike="noStrike" baseline="0" dirty="0">
                <a:solidFill>
                  <a:srgbClr val="000089"/>
                </a:solidFill>
                <a:latin typeface="Times New Roman" panose="02020603050405020304" pitchFamily="18" charset="0"/>
                <a:cs typeface="Times New Roman" panose="02020603050405020304" pitchFamily="18" charset="0"/>
              </a:rPr>
              <a:t>state</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a:t>
            </a:r>
            <a:r>
              <a:rPr lang="en-US" sz="2000" b="0" i="0" u="none" strike="noStrike" baseline="0" dirty="0">
                <a:solidFill>
                  <a:srgbClr val="CD3300"/>
                </a:solidFill>
                <a:latin typeface="Times New Roman" panose="02020603050405020304" pitchFamily="18" charset="0"/>
                <a:cs typeface="Times New Roman" panose="02020603050405020304" pitchFamily="18" charset="0"/>
              </a:rPr>
              <a:t>'Population'</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000" b="0" i="0" u="none" strike="noStrike" baseline="0" dirty="0">
                <a:solidFill>
                  <a:srgbClr val="FF6600"/>
                </a:solidFill>
                <a:latin typeface="Times New Roman" panose="02020603050405020304" pitchFamily="18" charset="0"/>
                <a:cs typeface="Times New Roman" panose="02020603050405020304" pitchFamily="18" charset="0"/>
              </a:rPr>
              <a:t>10</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a:t>
            </a:r>
          </a:p>
          <a:p>
            <a:r>
              <a:rPr lang="en-IN" dirty="0" err="1"/>
              <a:t>binnedPopulation.value_counts</a:t>
            </a:r>
            <a:r>
              <a:rPr lang="en-IN" dirty="0"/>
              <a:t>()</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1B5E3212-DD19-1090-BA01-D3D91EC98AEC}"/>
              </a:ext>
            </a:extLst>
          </p:cNvPr>
          <p:cNvPicPr>
            <a:picLocks noChangeAspect="1"/>
          </p:cNvPicPr>
          <p:nvPr/>
        </p:nvPicPr>
        <p:blipFill>
          <a:blip r:embed="rId2"/>
          <a:stretch>
            <a:fillRect/>
          </a:stretch>
        </p:blipFill>
        <p:spPr>
          <a:xfrm>
            <a:off x="1000100" y="3357562"/>
            <a:ext cx="6858000" cy="2857520"/>
          </a:xfrm>
          <a:prstGeom prst="rect">
            <a:avLst/>
          </a:prstGeom>
        </p:spPr>
      </p:pic>
      <p:sp>
        <p:nvSpPr>
          <p:cNvPr id="5" name="TextBox 4">
            <a:extLst>
              <a:ext uri="{FF2B5EF4-FFF2-40B4-BE49-F238E27FC236}">
                <a16:creationId xmlns="" xmlns:a16="http://schemas.microsoft.com/office/drawing/2014/main" id="{05243A69-06CA-F651-285F-6FD2C079D86B}"/>
              </a:ext>
            </a:extLst>
          </p:cNvPr>
          <p:cNvSpPr txBox="1"/>
          <p:nvPr/>
        </p:nvSpPr>
        <p:spPr>
          <a:xfrm>
            <a:off x="2285984" y="6286520"/>
            <a:ext cx="4572000" cy="369332"/>
          </a:xfrm>
          <a:prstGeom prst="rect">
            <a:avLst/>
          </a:prstGeom>
          <a:noFill/>
        </p:spPr>
        <p:txBody>
          <a:bodyPr wrap="square">
            <a:spAutoFit/>
          </a:bodyPr>
          <a:lstStyle/>
          <a:p>
            <a:r>
              <a:rPr lang="en-US" sz="1800" b="0" i="1" u="none" strike="noStrike" baseline="0" dirty="0">
                <a:latin typeface="MinionPro-It"/>
              </a:rPr>
              <a:t>Figure 1-3. Histogram of state populations</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 xmlns:p14="http://schemas.microsoft.com/office/powerpoint/2010/main" val="1658173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BA433B4-5301-496F-932B-14553369BFB9}"/>
              </a:ext>
            </a:extLst>
          </p:cNvPr>
          <p:cNvSpPr txBox="1"/>
          <p:nvPr/>
        </p:nvSpPr>
        <p:spPr>
          <a:xfrm>
            <a:off x="184355" y="152400"/>
            <a:ext cx="8991600" cy="5016758"/>
          </a:xfrm>
          <a:prstGeom prst="rect">
            <a:avLst/>
          </a:prstGeom>
          <a:noFill/>
        </p:spPr>
        <p:txBody>
          <a:bodyPr wrap="square">
            <a:spAutoFit/>
          </a:bodyPr>
          <a:lstStyle/>
          <a:p>
            <a:pPr algn="l"/>
            <a:r>
              <a:rPr lang="en-US" sz="2000" b="0" i="1" u="none" strike="noStrike" baseline="0" dirty="0">
                <a:solidFill>
                  <a:srgbClr val="000000"/>
                </a:solidFill>
                <a:latin typeface="Times New Roman" panose="02020603050405020304" pitchFamily="18" charset="0"/>
                <a:cs typeface="Times New Roman" panose="02020603050405020304" pitchFamily="18" charset="0"/>
              </a:rPr>
              <a:t>Table 1-5. A frequency table of population by state</a:t>
            </a:r>
          </a:p>
          <a:p>
            <a:pPr algn="l"/>
            <a:r>
              <a:rPr lang="en-IN" sz="2000" b="0" i="0" u="none" strike="noStrike" baseline="0" dirty="0" err="1">
                <a:solidFill>
                  <a:srgbClr val="FFFFFF"/>
                </a:solidFill>
                <a:latin typeface="Times New Roman" panose="02020603050405020304" pitchFamily="18" charset="0"/>
                <a:cs typeface="Times New Roman" panose="02020603050405020304" pitchFamily="18" charset="0"/>
              </a:rPr>
              <a:t>BinNumber</a:t>
            </a:r>
            <a:r>
              <a:rPr lang="en-IN" sz="2000" b="0" i="0" u="none" strike="noStrike" baseline="0" dirty="0">
                <a:solidFill>
                  <a:srgbClr val="FFFFFF"/>
                </a:solidFill>
                <a:latin typeface="Times New Roman" panose="02020603050405020304" pitchFamily="18" charset="0"/>
                <a:cs typeface="Times New Roman" panose="02020603050405020304" pitchFamily="18" charset="0"/>
              </a:rPr>
              <a:t> </a:t>
            </a:r>
            <a:r>
              <a:rPr lang="en-IN" sz="2000" b="0" i="0" u="none" strike="noStrike" baseline="0" dirty="0" err="1">
                <a:solidFill>
                  <a:srgbClr val="FFFFFF"/>
                </a:solidFill>
                <a:latin typeface="Times New Roman" panose="02020603050405020304" pitchFamily="18" charset="0"/>
                <a:cs typeface="Times New Roman" panose="02020603050405020304" pitchFamily="18" charset="0"/>
              </a:rPr>
              <a:t>BinRange</a:t>
            </a:r>
            <a:r>
              <a:rPr lang="en-IN" sz="2000" b="0" i="0" u="none" strike="noStrike" baseline="0" dirty="0">
                <a:solidFill>
                  <a:srgbClr val="FFFFFF"/>
                </a:solidFill>
                <a:latin typeface="Times New Roman" panose="02020603050405020304" pitchFamily="18" charset="0"/>
                <a:cs typeface="Times New Roman" panose="02020603050405020304" pitchFamily="18" charset="0"/>
              </a:rPr>
              <a:t> Count States</a:t>
            </a:r>
          </a:p>
          <a:p>
            <a:r>
              <a:rPr lang="en-IN" sz="2000" b="0" i="0" u="none" strike="noStrike" baseline="0" dirty="0">
                <a:solidFill>
                  <a:srgbClr val="000000"/>
                </a:solidFill>
                <a:latin typeface="Times New Roman" panose="02020603050405020304" pitchFamily="18" charset="0"/>
                <a:cs typeface="Times New Roman" panose="02020603050405020304" pitchFamily="18" charset="0"/>
              </a:rPr>
              <a:t>1. 563,626–4,232,658 </a:t>
            </a:r>
            <a:r>
              <a:rPr lang="en-IN"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24</a:t>
            </a:r>
            <a:r>
              <a:rPr lang="en-IN" sz="2000" dirty="0">
                <a:solidFill>
                  <a:srgbClr val="000000"/>
                </a:solidFill>
                <a:highlight>
                  <a:srgbClr val="00FFFF"/>
                </a:highlight>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    </a:t>
            </a:r>
            <a:r>
              <a:rPr lang="en-IN" sz="2000" b="1" dirty="0">
                <a:solidFill>
                  <a:schemeClr val="accent6"/>
                </a:solidFill>
                <a:latin typeface="Times New Roman" panose="02020603050405020304" pitchFamily="18" charset="0"/>
                <a:cs typeface="Times New Roman" panose="02020603050405020304" pitchFamily="18" charset="0"/>
              </a:rPr>
              <a:t>WY</a:t>
            </a:r>
            <a:r>
              <a:rPr lang="en-IN" sz="2000" b="1" dirty="0" smtClean="0">
                <a:solidFill>
                  <a:schemeClr val="accent6"/>
                </a:solidFill>
                <a:latin typeface="Times New Roman" panose="02020603050405020304" pitchFamily="18" charset="0"/>
                <a:cs typeface="Times New Roman" panose="02020603050405020304" pitchFamily="18" charset="0"/>
              </a:rPr>
              <a:t>, VT, ND, AK, SD, DE, MT, RI, NH, ME, HI, ID, NE, WV, NM, NV, UT, KS, AR, MS, IA, CT, OK, OR</a:t>
            </a:r>
            <a:endParaRPr lang="en-IN" sz="2000" b="1" dirty="0">
              <a:solidFill>
                <a:schemeClr val="accent6"/>
              </a:solidFill>
              <a:latin typeface="Times New Roman" panose="02020603050405020304" pitchFamily="18" charset="0"/>
              <a:cs typeface="Times New Roman" panose="02020603050405020304" pitchFamily="18" charset="0"/>
            </a:endParaRPr>
          </a:p>
          <a:p>
            <a:endParaRPr lang="en-IN" sz="2000" b="0" i="0" u="none" strike="noStrike" baseline="0" dirty="0">
              <a:solidFill>
                <a:schemeClr val="accent6"/>
              </a:solidFill>
              <a:latin typeface="Times New Roman" panose="02020603050405020304" pitchFamily="18" charset="0"/>
              <a:cs typeface="Times New Roman" panose="02020603050405020304" pitchFamily="18" charset="0"/>
            </a:endParaRP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2. 4,232,659–7,901,691</a:t>
            </a:r>
            <a:r>
              <a:rPr lang="en-IN" sz="2000" dirty="0">
                <a:solidFill>
                  <a:srgbClr val="000000"/>
                </a:solidFill>
                <a:latin typeface="Times New Roman" panose="02020603050405020304" pitchFamily="18" charset="0"/>
                <a:cs typeface="Times New Roman" panose="02020603050405020304" pitchFamily="18" charset="0"/>
              </a:rPr>
              <a:t>            </a:t>
            </a:r>
            <a:r>
              <a:rPr lang="it-IT"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14</a:t>
            </a:r>
          </a:p>
          <a:p>
            <a:pPr algn="l"/>
            <a:r>
              <a:rPr lang="it-IT" sz="2000" dirty="0">
                <a:solidFill>
                  <a:srgbClr val="000000"/>
                </a:solidFill>
                <a:highlight>
                  <a:srgbClr val="00FFFF"/>
                </a:highlight>
                <a:latin typeface="Times New Roman" panose="02020603050405020304" pitchFamily="18" charset="0"/>
                <a:cs typeface="Times New Roman" panose="02020603050405020304" pitchFamily="18" charset="0"/>
              </a:rPr>
              <a:t> </a:t>
            </a:r>
            <a:r>
              <a:rPr lang="it-IT" sz="2000" b="1" i="0" u="none" strike="noStrike" baseline="0" dirty="0">
                <a:solidFill>
                  <a:schemeClr val="accent6"/>
                </a:solidFill>
                <a:latin typeface="Times New Roman" panose="02020603050405020304" pitchFamily="18" charset="0"/>
                <a:cs typeface="Times New Roman" panose="02020603050405020304" pitchFamily="18" charset="0"/>
              </a:rPr>
              <a:t>KY</a:t>
            </a:r>
            <a:r>
              <a:rPr lang="it-IT" sz="2000" b="1" i="0" u="none" strike="noStrike" baseline="0" dirty="0" smtClean="0">
                <a:solidFill>
                  <a:schemeClr val="accent6"/>
                </a:solidFill>
                <a:latin typeface="Times New Roman" panose="02020603050405020304" pitchFamily="18" charset="0"/>
                <a:cs typeface="Times New Roman" panose="02020603050405020304" pitchFamily="18" charset="0"/>
              </a:rPr>
              <a:t>, LA, SC, AL, CO, MN, WI, MD, MO, TN, AZ, IN, MA, WA</a:t>
            </a:r>
            <a:endParaRPr lang="it-IT" sz="2000" b="1" i="0" u="none" strike="noStrike" baseline="0" dirty="0">
              <a:solidFill>
                <a:schemeClr val="accent6"/>
              </a:solidFill>
              <a:latin typeface="Times New Roman" panose="02020603050405020304" pitchFamily="18" charset="0"/>
              <a:cs typeface="Times New Roman" panose="02020603050405020304" pitchFamily="18" charset="0"/>
            </a:endParaRPr>
          </a:p>
          <a:p>
            <a:pPr algn="l"/>
            <a:endParaRPr lang="it-IT" sz="2000" b="0" i="0" u="none" strike="noStrike" baseline="0" dirty="0">
              <a:solidFill>
                <a:schemeClr val="accent6"/>
              </a:solidFill>
              <a:latin typeface="Times New Roman" panose="02020603050405020304" pitchFamily="18" charset="0"/>
              <a:cs typeface="Times New Roman" panose="02020603050405020304" pitchFamily="18" charset="0"/>
            </a:endParaRP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3. 7,901,692–11,570,724</a:t>
            </a:r>
            <a:r>
              <a:rPr lang="en-IN" sz="200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6</a:t>
            </a:r>
            <a:r>
              <a:rPr lang="en-IN"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en-IN" sz="2000" b="1" i="0" u="none" strike="noStrike" baseline="0" dirty="0" smtClean="0">
                <a:solidFill>
                  <a:schemeClr val="accent6"/>
                </a:solidFill>
                <a:latin typeface="Times New Roman" panose="02020603050405020304" pitchFamily="18" charset="0"/>
                <a:cs typeface="Times New Roman" panose="02020603050405020304" pitchFamily="18" charset="0"/>
              </a:rPr>
              <a:t>VA, NJ, NC, GA, MI, OH</a:t>
            </a:r>
            <a:endParaRPr lang="en-IN" sz="2000" b="1" i="0" u="none" strike="noStrike" baseline="0" dirty="0">
              <a:solidFill>
                <a:schemeClr val="accent6"/>
              </a:solidFill>
              <a:latin typeface="Times New Roman" panose="02020603050405020304" pitchFamily="18" charset="0"/>
              <a:cs typeface="Times New Roman" panose="02020603050405020304" pitchFamily="18" charset="0"/>
            </a:endParaRP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4. 11,570,725–15,239,757</a:t>
            </a:r>
            <a:r>
              <a:rPr lang="en-IN" sz="200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2</a:t>
            </a:r>
            <a:r>
              <a:rPr lang="en-IN"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en-IN" sz="2000" b="1" i="0" u="none" strike="noStrike" baseline="0" dirty="0" smtClean="0">
                <a:solidFill>
                  <a:schemeClr val="accent6"/>
                </a:solidFill>
                <a:latin typeface="Times New Roman" panose="02020603050405020304" pitchFamily="18" charset="0"/>
                <a:cs typeface="Times New Roman" panose="02020603050405020304" pitchFamily="18" charset="0"/>
              </a:rPr>
              <a:t>PA, IL</a:t>
            </a:r>
            <a:endParaRPr lang="en-IN" sz="2000" b="1" i="0" u="none" strike="noStrike" baseline="0" dirty="0">
              <a:solidFill>
                <a:schemeClr val="accent6"/>
              </a:solidFill>
              <a:latin typeface="Times New Roman" panose="02020603050405020304" pitchFamily="18" charset="0"/>
              <a:cs typeface="Times New Roman" panose="02020603050405020304" pitchFamily="18" charset="0"/>
            </a:endParaRP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5. 15,239,758–18,908,790</a:t>
            </a:r>
            <a:r>
              <a:rPr lang="en-IN" sz="200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smtClean="0">
                <a:solidFill>
                  <a:srgbClr val="000000"/>
                </a:solidFill>
                <a:highlight>
                  <a:srgbClr val="00FFFF"/>
                </a:highlight>
                <a:latin typeface="Times New Roman" panose="02020603050405020304" pitchFamily="18" charset="0"/>
                <a:cs typeface="Times New Roman" panose="02020603050405020304" pitchFamily="18" charset="0"/>
              </a:rPr>
              <a:t>1  </a:t>
            </a:r>
            <a:r>
              <a:rPr lang="en-IN" sz="2000"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en-IN" sz="2000" b="1" i="0" u="none" strike="noStrike" baseline="0" dirty="0">
                <a:solidFill>
                  <a:schemeClr val="accent6"/>
                </a:solidFill>
                <a:latin typeface="Times New Roman" panose="02020603050405020304" pitchFamily="18" charset="0"/>
                <a:cs typeface="Times New Roman" panose="02020603050405020304" pitchFamily="18" charset="0"/>
              </a:rPr>
              <a:t>FL</a:t>
            </a: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6. 18,908,791–22,577,823</a:t>
            </a:r>
            <a:r>
              <a:rPr lang="en-IN" sz="200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1</a:t>
            </a:r>
            <a:r>
              <a:rPr lang="en-IN"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en-IN" sz="2000" b="1" i="0" u="none" strike="noStrike" baseline="0" dirty="0" smtClean="0">
                <a:solidFill>
                  <a:schemeClr val="accent6"/>
                </a:solidFill>
                <a:latin typeface="Times New Roman" panose="02020603050405020304" pitchFamily="18" charset="0"/>
                <a:cs typeface="Times New Roman" panose="02020603050405020304" pitchFamily="18" charset="0"/>
              </a:rPr>
              <a:t>NY</a:t>
            </a:r>
            <a:endParaRPr lang="en-IN" sz="2000" b="1" i="0" u="none" strike="noStrike" baseline="0" dirty="0">
              <a:solidFill>
                <a:schemeClr val="accent6"/>
              </a:solidFill>
              <a:latin typeface="Times New Roman" panose="02020603050405020304" pitchFamily="18" charset="0"/>
              <a:cs typeface="Times New Roman" panose="02020603050405020304" pitchFamily="18" charset="0"/>
            </a:endParaRP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7. 22,577,824–26,246,856</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highlight>
                  <a:srgbClr val="00FFFF"/>
                </a:highlight>
                <a:latin typeface="Times New Roman" panose="02020603050405020304" pitchFamily="18" charset="0"/>
                <a:cs typeface="Times New Roman" panose="02020603050405020304" pitchFamily="18" charset="0"/>
              </a:rPr>
              <a:t> </a:t>
            </a:r>
            <a:r>
              <a:rPr lang="en-IN"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1 </a:t>
            </a:r>
            <a:r>
              <a:rPr lang="en-IN" sz="2000" b="0" i="0" u="none" strike="noStrike" baseline="0" dirty="0" smtClean="0">
                <a:solidFill>
                  <a:srgbClr val="000000"/>
                </a:solidFill>
                <a:highlight>
                  <a:srgbClr val="00FFFF"/>
                </a:highlight>
                <a:latin typeface="Times New Roman" panose="02020603050405020304" pitchFamily="18" charset="0"/>
                <a:cs typeface="Times New Roman" panose="02020603050405020304" pitchFamily="18" charset="0"/>
              </a:rPr>
              <a:t>  </a:t>
            </a:r>
            <a:r>
              <a:rPr lang="en-IN" sz="2000" b="1" i="0" u="none" strike="noStrike" baseline="0" dirty="0" smtClean="0">
                <a:solidFill>
                  <a:schemeClr val="accent6"/>
                </a:solidFill>
                <a:latin typeface="Times New Roman" panose="02020603050405020304" pitchFamily="18" charset="0"/>
                <a:cs typeface="Times New Roman" panose="02020603050405020304" pitchFamily="18" charset="0"/>
              </a:rPr>
              <a:t>TX</a:t>
            </a:r>
            <a:endParaRPr lang="en-IN" sz="2000" b="1" i="0" u="none" strike="noStrike" baseline="0" dirty="0">
              <a:solidFill>
                <a:schemeClr val="accent6"/>
              </a:solidFill>
              <a:latin typeface="Times New Roman" panose="02020603050405020304" pitchFamily="18" charset="0"/>
              <a:cs typeface="Times New Roman" panose="02020603050405020304" pitchFamily="18" charset="0"/>
            </a:endParaRP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8. 26,246,857–29,915,889</a:t>
            </a:r>
            <a:r>
              <a:rPr lang="en-IN" sz="200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0</a:t>
            </a: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9. 29,915,890–33,584,922</a:t>
            </a:r>
            <a:r>
              <a:rPr lang="en-IN" sz="200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0</a:t>
            </a:r>
          </a:p>
          <a:p>
            <a:pPr algn="l"/>
            <a:r>
              <a:rPr lang="en-IN" sz="2000" b="0" i="0" u="none" strike="noStrike" baseline="0" dirty="0">
                <a:solidFill>
                  <a:srgbClr val="000000"/>
                </a:solidFill>
                <a:latin typeface="Times New Roman" panose="02020603050405020304" pitchFamily="18" charset="0"/>
                <a:cs typeface="Times New Roman" panose="02020603050405020304" pitchFamily="18" charset="0"/>
              </a:rPr>
              <a:t>10. 33,584,923–37,253,956</a:t>
            </a:r>
            <a:r>
              <a:rPr lang="en-IN" sz="200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a:solidFill>
                  <a:srgbClr val="000000"/>
                </a:solidFill>
                <a:highlight>
                  <a:srgbClr val="00FFFF"/>
                </a:highlight>
                <a:latin typeface="Times New Roman" panose="02020603050405020304" pitchFamily="18" charset="0"/>
                <a:cs typeface="Times New Roman" panose="02020603050405020304" pitchFamily="18" charset="0"/>
              </a:rPr>
              <a:t>1</a:t>
            </a:r>
            <a:r>
              <a:rPr lang="en-IN"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IN" sz="2000"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en-IN" sz="2000" b="1" i="0" u="none" strike="noStrike" baseline="0" dirty="0" smtClean="0">
                <a:solidFill>
                  <a:schemeClr val="accent6"/>
                </a:solidFill>
                <a:latin typeface="Times New Roman" panose="02020603050405020304" pitchFamily="18" charset="0"/>
                <a:cs typeface="Times New Roman" panose="02020603050405020304" pitchFamily="18" charset="0"/>
              </a:rPr>
              <a:t>CA</a:t>
            </a:r>
            <a:endParaRPr lang="en-IN" sz="2000" b="1" dirty="0">
              <a:solidFill>
                <a:schemeClr val="accent6"/>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 xmlns:p14="http://schemas.microsoft.com/office/powerpoint/2010/main" val="3449295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3821F50-8B6E-A745-9A69-AB6108305503}"/>
              </a:ext>
            </a:extLst>
          </p:cNvPr>
          <p:cNvPicPr>
            <a:picLocks noChangeAspect="1"/>
          </p:cNvPicPr>
          <p:nvPr/>
        </p:nvPicPr>
        <p:blipFill>
          <a:blip r:embed="rId2"/>
          <a:stretch>
            <a:fillRect/>
          </a:stretch>
        </p:blipFill>
        <p:spPr>
          <a:xfrm>
            <a:off x="5072066" y="533400"/>
            <a:ext cx="4000528" cy="2895600"/>
          </a:xfrm>
          <a:prstGeom prst="rect">
            <a:avLst/>
          </a:prstGeom>
        </p:spPr>
      </p:pic>
      <p:sp>
        <p:nvSpPr>
          <p:cNvPr id="5" name="TextBox 4">
            <a:extLst>
              <a:ext uri="{FF2B5EF4-FFF2-40B4-BE49-F238E27FC236}">
                <a16:creationId xmlns="" xmlns:a16="http://schemas.microsoft.com/office/drawing/2014/main" id="{71F9BF3B-A5AF-BC5C-4AFC-86B1F52F5506}"/>
              </a:ext>
            </a:extLst>
          </p:cNvPr>
          <p:cNvSpPr txBox="1"/>
          <p:nvPr/>
        </p:nvSpPr>
        <p:spPr>
          <a:xfrm>
            <a:off x="2209800" y="5867400"/>
            <a:ext cx="4572000" cy="369332"/>
          </a:xfrm>
          <a:prstGeom prst="rect">
            <a:avLst/>
          </a:prstGeom>
          <a:noFill/>
        </p:spPr>
        <p:txBody>
          <a:bodyPr wrap="square">
            <a:spAutoFit/>
          </a:bodyPr>
          <a:lstStyle/>
          <a:p>
            <a:r>
              <a:rPr lang="en-US" sz="1800" b="0" i="1" u="none" strike="noStrike" baseline="0" dirty="0">
                <a:latin typeface="MinionPro-It"/>
              </a:rPr>
              <a:t>Figure 1-4. Density of state murder rates</a:t>
            </a:r>
            <a:endParaRPr lang="en-IN" dirty="0"/>
          </a:p>
        </p:txBody>
      </p:sp>
      <p:sp>
        <p:nvSpPr>
          <p:cNvPr id="4" name="Rectangle 3"/>
          <p:cNvSpPr/>
          <p:nvPr/>
        </p:nvSpPr>
        <p:spPr>
          <a:xfrm>
            <a:off x="71406" y="142852"/>
            <a:ext cx="4857784" cy="3416320"/>
          </a:xfrm>
          <a:prstGeom prst="rect">
            <a:avLst/>
          </a:prstGeom>
        </p:spPr>
        <p:txBody>
          <a:bodyPr wrap="square">
            <a:spAutoFit/>
          </a:bodyPr>
          <a:lstStyle/>
          <a:p>
            <a:pPr algn="just"/>
            <a:r>
              <a:rPr lang="en-US" b="1" dirty="0" smtClean="0">
                <a:latin typeface="Times New Roman" pitchFamily="18" charset="0"/>
                <a:cs typeface="Times New Roman" pitchFamily="18" charset="0"/>
              </a:rPr>
              <a:t>Density Plots and Estimates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Related to the histogram is a density plot, which shows the distribution of data values as a continuous line. A density plot can be thought of as a smoothed histogram, although it is typically computed directly from the data through a kernel density estimate. </a:t>
            </a:r>
          </a:p>
          <a:p>
            <a:pPr algn="just"/>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pandas provides the density method to create a density plot. Use the argument </a:t>
            </a:r>
            <a:r>
              <a:rPr lang="en-US" dirty="0" err="1" smtClean="0">
                <a:latin typeface="Times New Roman" pitchFamily="18" charset="0"/>
                <a:cs typeface="Times New Roman" pitchFamily="18" charset="0"/>
              </a:rPr>
              <a:t>bw_method</a:t>
            </a:r>
            <a:r>
              <a:rPr lang="en-US" dirty="0" smtClean="0">
                <a:latin typeface="Times New Roman" pitchFamily="18" charset="0"/>
                <a:cs typeface="Times New Roman" pitchFamily="18" charset="0"/>
              </a:rPr>
              <a:t> to control the smoothness of the density curve:</a:t>
            </a:r>
          </a:p>
        </p:txBody>
      </p:sp>
      <p:sp>
        <p:nvSpPr>
          <p:cNvPr id="6" name="Rectangle 5"/>
          <p:cNvSpPr/>
          <p:nvPr/>
        </p:nvSpPr>
        <p:spPr>
          <a:xfrm>
            <a:off x="142844" y="3929066"/>
            <a:ext cx="8858312" cy="923330"/>
          </a:xfrm>
          <a:prstGeom prst="rect">
            <a:avLst/>
          </a:prstGeom>
        </p:spPr>
        <p:txBody>
          <a:bodyPr wrap="square">
            <a:spAutoFit/>
          </a:bodyPr>
          <a:lstStyle/>
          <a:p>
            <a:r>
              <a:rPr lang="en-US" dirty="0" smtClean="0"/>
              <a:t>ax = state['</a:t>
            </a:r>
            <a:r>
              <a:rPr lang="en-US" dirty="0" err="1" smtClean="0"/>
              <a:t>Murder.Rate</a:t>
            </a:r>
            <a:r>
              <a:rPr lang="en-US" dirty="0" smtClean="0"/>
              <a:t>'].</a:t>
            </a:r>
            <a:r>
              <a:rPr lang="en-US" dirty="0" err="1" smtClean="0"/>
              <a:t>plot.hist</a:t>
            </a:r>
            <a:r>
              <a:rPr lang="en-US" dirty="0" smtClean="0"/>
              <a:t>(density=True, </a:t>
            </a:r>
            <a:r>
              <a:rPr lang="en-US" dirty="0" err="1" smtClean="0"/>
              <a:t>xlim</a:t>
            </a:r>
            <a:r>
              <a:rPr lang="en-US" dirty="0" smtClean="0"/>
              <a:t>=[0,12], bins=range(1,12))</a:t>
            </a:r>
          </a:p>
          <a:p>
            <a:r>
              <a:rPr lang="en-US" dirty="0" smtClean="0"/>
              <a:t>state['</a:t>
            </a:r>
            <a:r>
              <a:rPr lang="en-US" dirty="0" err="1" smtClean="0"/>
              <a:t>Murder.Rate</a:t>
            </a:r>
            <a:r>
              <a:rPr lang="en-US" dirty="0" smtClean="0"/>
              <a:t>'].</a:t>
            </a:r>
            <a:r>
              <a:rPr lang="en-US" dirty="0" err="1" smtClean="0"/>
              <a:t>plot.density</a:t>
            </a:r>
            <a:r>
              <a:rPr lang="en-US" dirty="0" smtClean="0"/>
              <a:t>(ax=ax)</a:t>
            </a:r>
          </a:p>
          <a:p>
            <a:r>
              <a:rPr lang="en-US" dirty="0" err="1" smtClean="0"/>
              <a:t>ax.set_xlabel</a:t>
            </a:r>
            <a:r>
              <a:rPr lang="en-US" dirty="0" smtClean="0"/>
              <a:t>('Murder Rate (per 100,000)')</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 xmlns:p14="http://schemas.microsoft.com/office/powerpoint/2010/main" val="3815488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84180805-E099-62C6-ED94-21A7DCB22801}"/>
              </a:ext>
            </a:extLst>
          </p:cNvPr>
          <p:cNvPicPr>
            <a:picLocks noChangeAspect="1"/>
          </p:cNvPicPr>
          <p:nvPr/>
        </p:nvPicPr>
        <p:blipFill>
          <a:blip r:embed="rId2"/>
          <a:stretch>
            <a:fillRect/>
          </a:stretch>
        </p:blipFill>
        <p:spPr>
          <a:xfrm>
            <a:off x="571472" y="2143116"/>
            <a:ext cx="8186765" cy="3352816"/>
          </a:xfrm>
          <a:prstGeom prst="rect">
            <a:avLst/>
          </a:prstGeom>
        </p:spPr>
      </p:pic>
      <p:sp>
        <p:nvSpPr>
          <p:cNvPr id="5" name="TextBox 4">
            <a:extLst>
              <a:ext uri="{FF2B5EF4-FFF2-40B4-BE49-F238E27FC236}">
                <a16:creationId xmlns="" xmlns:a16="http://schemas.microsoft.com/office/drawing/2014/main" id="{AA45DACF-8195-4A48-B4DC-0C9E29E2F0E1}"/>
              </a:ext>
            </a:extLst>
          </p:cNvPr>
          <p:cNvSpPr txBox="1"/>
          <p:nvPr/>
        </p:nvSpPr>
        <p:spPr>
          <a:xfrm>
            <a:off x="1066800" y="5638800"/>
            <a:ext cx="6781800" cy="400110"/>
          </a:xfrm>
          <a:prstGeom prst="rect">
            <a:avLst/>
          </a:prstGeom>
          <a:noFill/>
        </p:spPr>
        <p:txBody>
          <a:bodyPr wrap="square">
            <a:spAutoFit/>
          </a:bodyPr>
          <a:lstStyle/>
          <a:p>
            <a:r>
              <a:rPr lang="en-US" sz="2000" b="1" i="1" u="none" strike="noStrike" baseline="0" dirty="0">
                <a:latin typeface="Times New Roman" panose="02020603050405020304" pitchFamily="18" charset="0"/>
                <a:cs typeface="Times New Roman" panose="02020603050405020304" pitchFamily="18" charset="0"/>
              </a:rPr>
              <a:t>Figure 1-5. </a:t>
            </a:r>
            <a:r>
              <a:rPr lang="en-US" i="1" u="none" strike="noStrike" baseline="0" dirty="0">
                <a:latin typeface="Times New Roman" panose="02020603050405020304" pitchFamily="18" charset="0"/>
                <a:cs typeface="Times New Roman" panose="02020603050405020304" pitchFamily="18" charset="0"/>
              </a:rPr>
              <a:t>Bar chart of airline delays at DFW by cause</a:t>
            </a:r>
            <a:endParaRPr lang="en-IN" i="1" dirty="0">
              <a:latin typeface="Times New Roman" panose="02020603050405020304" pitchFamily="18" charset="0"/>
              <a:cs typeface="Times New Roman" panose="02020603050405020304" pitchFamily="18" charset="0"/>
            </a:endParaRPr>
          </a:p>
        </p:txBody>
      </p:sp>
      <p:sp>
        <p:nvSpPr>
          <p:cNvPr id="4" name="Rectangle 3"/>
          <p:cNvSpPr/>
          <p:nvPr/>
        </p:nvSpPr>
        <p:spPr>
          <a:xfrm>
            <a:off x="142844" y="0"/>
            <a:ext cx="9001156" cy="2031325"/>
          </a:xfrm>
          <a:prstGeom prst="rect">
            <a:avLst/>
          </a:prstGeom>
        </p:spPr>
        <p:txBody>
          <a:bodyPr wrap="square">
            <a:spAutoFit/>
          </a:bodyPr>
          <a:lstStyle/>
          <a:p>
            <a:r>
              <a:rPr lang="en-US" dirty="0" smtClean="0">
                <a:latin typeface="Times New Roman" pitchFamily="18" charset="0"/>
                <a:cs typeface="Times New Roman" pitchFamily="18" charset="0"/>
              </a:rPr>
              <a:t>Getting a summary of a binary variable or a categorical variable with a few categories is a fairly easy matter: we just figure out the proportion of 1s, or the proportions of the important categories. For example, Table 1-6 shows the percentage of delayed flights by the cause of delay at Dallas/Fort Worth Airport since 2010. Delays are categorized as being due to factors under carrier control, air traffic control (ATC) system delays, weather, security, or a late inbound aircraft.</a:t>
            </a:r>
          </a:p>
          <a:p>
            <a:endParaRPr lang="en-US" dirty="0"/>
          </a:p>
        </p:txBody>
      </p:sp>
      <p:sp>
        <p:nvSpPr>
          <p:cNvPr id="6" name="Rectangle 5"/>
          <p:cNvSpPr/>
          <p:nvPr/>
        </p:nvSpPr>
        <p:spPr>
          <a:xfrm>
            <a:off x="0" y="1643050"/>
            <a:ext cx="8929718" cy="923330"/>
          </a:xfrm>
          <a:prstGeom prst="rect">
            <a:avLst/>
          </a:prstGeom>
        </p:spPr>
        <p:txBody>
          <a:bodyPr wrap="square">
            <a:spAutoFit/>
          </a:bodyPr>
          <a:lstStyle/>
          <a:p>
            <a:r>
              <a:rPr lang="en-US" i="1" dirty="0" smtClean="0"/>
              <a:t>Table. </a:t>
            </a:r>
            <a:r>
              <a:rPr lang="en-US" u="sng" dirty="0" smtClean="0">
                <a:latin typeface="Times New Roman" pitchFamily="18" charset="0"/>
                <a:cs typeface="Times New Roman" pitchFamily="18" charset="0"/>
              </a:rPr>
              <a:t>Percentage of delays by cause at Dallas/Fort Worth Airport</a:t>
            </a:r>
          </a:p>
          <a:p>
            <a:r>
              <a:rPr lang="en-US" dirty="0" smtClean="0"/>
              <a:t>Carrier      ATC        Weather             Security         Inbound</a:t>
            </a:r>
          </a:p>
          <a:p>
            <a:r>
              <a:rPr lang="en-US" dirty="0" smtClean="0"/>
              <a:t>23.02      30.40         4.03                    0.12               42.43</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 xmlns:p14="http://schemas.microsoft.com/office/powerpoint/2010/main" val="3989044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139321"/>
          </a:xfrm>
          <a:prstGeom prst="rect">
            <a:avLst/>
          </a:prstGeom>
        </p:spPr>
        <p:txBody>
          <a:bodyPr wrap="square">
            <a:spAutoFit/>
          </a:bodyPr>
          <a:lstStyle/>
          <a:p>
            <a:r>
              <a:rPr lang="en-US" dirty="0" smtClean="0">
                <a:latin typeface="Times New Roman" pitchFamily="18" charset="0"/>
                <a:cs typeface="Times New Roman" pitchFamily="18" charset="0"/>
              </a:rPr>
              <a:t>	Bar charts, seen often in the popular press, are a common visual tool for displaying a single categorical variable. Categories are listed on the x-axis, and frequencies or proportions on the y-axis. Figure 1-5 shows the airport delays per year by cause for Dallas/Fort Worth (DFW), and it is </a:t>
            </a:r>
            <a:r>
              <a:rPr lang="en-US" dirty="0" err="1" smtClean="0">
                <a:latin typeface="Times New Roman" pitchFamily="18" charset="0"/>
                <a:cs typeface="Times New Roman" pitchFamily="18" charset="0"/>
              </a:rPr>
              <a:t>barplot</a:t>
            </a:r>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pandas also supports bar charts for data frames:</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ax = </a:t>
            </a:r>
            <a:r>
              <a:rPr lang="en-US" dirty="0" err="1" smtClean="0">
                <a:latin typeface="Times New Roman" pitchFamily="18" charset="0"/>
                <a:cs typeface="Times New Roman" pitchFamily="18" charset="0"/>
              </a:rPr>
              <a:t>dfw.transpose</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plot.bar</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figsize</a:t>
            </a:r>
            <a:r>
              <a:rPr lang="en-US" dirty="0" smtClean="0">
                <a:latin typeface="Times New Roman" pitchFamily="18" charset="0"/>
                <a:cs typeface="Times New Roman" pitchFamily="18" charset="0"/>
              </a:rPr>
              <a:t>=(4, 4), legend=False)</a:t>
            </a:r>
          </a:p>
          <a:p>
            <a:r>
              <a:rPr lang="en-US" dirty="0" err="1" smtClean="0">
                <a:latin typeface="Times New Roman" pitchFamily="18" charset="0"/>
                <a:cs typeface="Times New Roman" pitchFamily="18" charset="0"/>
              </a:rPr>
              <a:t>ax.set_xlabel</a:t>
            </a:r>
            <a:r>
              <a:rPr lang="en-US" dirty="0" smtClean="0">
                <a:latin typeface="Times New Roman" pitchFamily="18" charset="0"/>
                <a:cs typeface="Times New Roman" pitchFamily="18" charset="0"/>
              </a:rPr>
              <a:t>('Cause of delay')</a:t>
            </a:r>
          </a:p>
          <a:p>
            <a:r>
              <a:rPr lang="en-US" dirty="0" err="1" smtClean="0">
                <a:latin typeface="Times New Roman" pitchFamily="18" charset="0"/>
                <a:cs typeface="Times New Roman" pitchFamily="18" charset="0"/>
              </a:rPr>
              <a:t>ax.set_ylabel</a:t>
            </a:r>
            <a:r>
              <a:rPr lang="en-US" dirty="0" smtClean="0">
                <a:latin typeface="Times New Roman" pitchFamily="18" charset="0"/>
                <a:cs typeface="Times New Roman" pitchFamily="18" charset="0"/>
              </a:rPr>
              <a:t>('Count‘)</a:t>
            </a:r>
          </a:p>
          <a:p>
            <a:endParaRPr lang="en-US" dirty="0" smtClean="0"/>
          </a:p>
        </p:txBody>
      </p:sp>
      <p:sp>
        <p:nvSpPr>
          <p:cNvPr id="4" name="Rectangle 3"/>
          <p:cNvSpPr/>
          <p:nvPr/>
        </p:nvSpPr>
        <p:spPr>
          <a:xfrm>
            <a:off x="0" y="2857496"/>
            <a:ext cx="9144000" cy="3139321"/>
          </a:xfrm>
          <a:prstGeom prst="rect">
            <a:avLst/>
          </a:prstGeom>
        </p:spPr>
        <p:txBody>
          <a:bodyPr wrap="square">
            <a:spAutoFit/>
          </a:bodyPr>
          <a:lstStyle/>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Mode</a:t>
            </a:r>
          </a:p>
          <a:p>
            <a:r>
              <a:rPr lang="en-US" dirty="0" smtClean="0">
                <a:latin typeface="Times New Roman" pitchFamily="18" charset="0"/>
                <a:cs typeface="Times New Roman" pitchFamily="18" charset="0"/>
              </a:rPr>
              <a:t>	The mode is the value—or values in case of a tie—that appears most often in the data.</a:t>
            </a:r>
          </a:p>
          <a:p>
            <a:r>
              <a:rPr lang="en-US" dirty="0" smtClean="0">
                <a:latin typeface="Times New Roman" pitchFamily="18" charset="0"/>
                <a:cs typeface="Times New Roman" pitchFamily="18" charset="0"/>
              </a:rPr>
              <a:t>For example, the mode of the cause of delay at Dallas/Fort Worth airport is “Inbound.” As another example, in most parts of the United States, the mode for religious preference would be Christian. The mode is a simple summary statistic for</a:t>
            </a:r>
          </a:p>
          <a:p>
            <a:r>
              <a:rPr lang="en-US" dirty="0" smtClean="0">
                <a:latin typeface="Times New Roman" pitchFamily="18" charset="0"/>
                <a:cs typeface="Times New Roman" pitchFamily="18" charset="0"/>
              </a:rPr>
              <a:t>categorical data, and it is generally not used for numeric data.</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Expected Value</a:t>
            </a:r>
          </a:p>
          <a:p>
            <a:r>
              <a:rPr lang="en-US" dirty="0" smtClean="0">
                <a:latin typeface="Times New Roman" pitchFamily="18" charset="0"/>
                <a:cs typeface="Times New Roman" pitchFamily="18" charset="0"/>
              </a:rPr>
              <a:t>	A special type of categorical data is data in which the categories represent or can be</a:t>
            </a:r>
          </a:p>
          <a:p>
            <a:r>
              <a:rPr lang="en-US" dirty="0" smtClean="0">
                <a:latin typeface="Times New Roman" pitchFamily="18" charset="0"/>
                <a:cs typeface="Times New Roman" pitchFamily="18" charset="0"/>
              </a:rPr>
              <a:t>mapped to discrete values on the same scale.</a:t>
            </a:r>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847"/>
            <a:ext cx="9144000" cy="5078313"/>
          </a:xfrm>
          <a:prstGeom prst="rect">
            <a:avLst/>
          </a:prstGeom>
        </p:spPr>
        <p:txBody>
          <a:bodyPr wrap="square">
            <a:spAutoFit/>
          </a:bodyPr>
          <a:lstStyle/>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Expected Value</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special type of categorical data is data in which the categories represent or can be mapped to discrete values on the same scale. A marketer for a new cloud technology, for example, offers two levels of service, one priced at $300/month and another at $50/month. The marketer offers free webinars to generate leads, and the firm figures that 5% of the attendees will sign up for the $300 service, 15% will sign up for the $50 service, and 80% will not sign up for anything. This data can be summed up, for financial purposes, in a single “expected value,” which is a form of weighted mean, in which the weights are probabilities.</a:t>
            </a:r>
          </a:p>
          <a:p>
            <a:pPr algn="just"/>
            <a:r>
              <a:rPr lang="en-US" dirty="0">
                <a:latin typeface="Times New Roman" pitchFamily="18" charset="0"/>
                <a:cs typeface="Times New Roman" pitchFamily="18" charset="0"/>
              </a:rPr>
              <a:t>The expected value is calculated as follows:</a:t>
            </a:r>
          </a:p>
          <a:p>
            <a:pPr algn="just"/>
            <a:r>
              <a:rPr lang="en-US" dirty="0">
                <a:latin typeface="Times New Roman" pitchFamily="18" charset="0"/>
                <a:cs typeface="Times New Roman" pitchFamily="18" charset="0"/>
              </a:rPr>
              <a:t>1. Multiply each outcome by its probability of occurrence.</a:t>
            </a:r>
          </a:p>
          <a:p>
            <a:pPr algn="just"/>
            <a:r>
              <a:rPr lang="en-US" dirty="0">
                <a:latin typeface="Times New Roman" pitchFamily="18" charset="0"/>
                <a:cs typeface="Times New Roman" pitchFamily="18" charset="0"/>
              </a:rPr>
              <a:t>2. Sum these values.</a:t>
            </a:r>
          </a:p>
          <a:p>
            <a:pPr algn="just"/>
            <a:r>
              <a:rPr lang="en-US" dirty="0">
                <a:latin typeface="Times New Roman" pitchFamily="18" charset="0"/>
                <a:cs typeface="Times New Roman" pitchFamily="18" charset="0"/>
              </a:rPr>
              <a:t>In the cloud service example, the expected value of a webinar attendee is thus $22.50</a:t>
            </a:r>
          </a:p>
          <a:p>
            <a:pPr algn="just"/>
            <a:r>
              <a:rPr lang="en-US" dirty="0">
                <a:latin typeface="Times New Roman" pitchFamily="18" charset="0"/>
                <a:cs typeface="Times New Roman" pitchFamily="18" charset="0"/>
              </a:rPr>
              <a:t>per month, calculated as follows:</a:t>
            </a:r>
          </a:p>
          <a:p>
            <a:pPr algn="just"/>
            <a:r>
              <a:rPr lang="en-US" dirty="0">
                <a:latin typeface="Times New Roman" pitchFamily="18" charset="0"/>
                <a:cs typeface="Times New Roman" pitchFamily="18" charset="0"/>
              </a:rPr>
              <a:t>EV = 0 . 05 (300) + 0 . 15 (50) + 0 . 80 (0)= 22 . 5</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43394B95-FFEE-D9D3-297F-30A52C135563}"/>
              </a:ext>
            </a:extLst>
          </p:cNvPr>
          <p:cNvSpPr txBox="1"/>
          <p:nvPr/>
        </p:nvSpPr>
        <p:spPr>
          <a:xfrm>
            <a:off x="152400" y="304800"/>
            <a:ext cx="8839200" cy="7017306"/>
          </a:xfrm>
          <a:prstGeom prst="rect">
            <a:avLst/>
          </a:prstGeom>
          <a:noFill/>
        </p:spPr>
        <p:txBody>
          <a:bodyPr wrap="square">
            <a:spAutoFit/>
          </a:bodyPr>
          <a:lstStyle/>
          <a:p>
            <a:pPr algn="just"/>
            <a:r>
              <a:rPr lang="en-IN" b="1" i="0" u="sng" strike="noStrike" baseline="0" dirty="0" smtClean="0">
                <a:latin typeface="Times New Roman" panose="02020603050405020304" pitchFamily="18" charset="0"/>
                <a:cs typeface="Times New Roman" panose="02020603050405020304" pitchFamily="18" charset="0"/>
              </a:rPr>
              <a:t>Correlation</a:t>
            </a:r>
          </a:p>
          <a:p>
            <a:pPr algn="just"/>
            <a:r>
              <a:rPr lang="en-US" b="0" i="0" u="none" strike="noStrike" baseline="0" dirty="0" smtClean="0">
                <a:latin typeface="Times New Roman" panose="02020603050405020304" pitchFamily="18" charset="0"/>
                <a:cs typeface="Times New Roman" panose="02020603050405020304" pitchFamily="18" charset="0"/>
              </a:rPr>
              <a:t>	Exploratory </a:t>
            </a:r>
            <a:r>
              <a:rPr lang="en-US" b="0" i="0" u="none" strike="noStrike" baseline="0" dirty="0">
                <a:latin typeface="Times New Roman" panose="02020603050405020304" pitchFamily="18" charset="0"/>
                <a:cs typeface="Times New Roman" panose="02020603050405020304" pitchFamily="18" charset="0"/>
              </a:rPr>
              <a:t>data analysis in many modeling projects (whether in data science or in research) involves examining correlation among predictors, and between predictors and a target variable. Variables X and Y (each with measured data) are said to be positively correlated if high values of X go with high values of Y, and low values of X go with low values of Y. If high values of X go with low values of Y, and vice versa, the </a:t>
            </a:r>
            <a:r>
              <a:rPr lang="en-IN" b="0" i="0" u="none" strike="noStrike" baseline="0" dirty="0">
                <a:latin typeface="Times New Roman" panose="02020603050405020304" pitchFamily="18" charset="0"/>
                <a:cs typeface="Times New Roman" panose="02020603050405020304" pitchFamily="18" charset="0"/>
              </a:rPr>
              <a:t>variables are negatively correlated</a:t>
            </a:r>
            <a:r>
              <a:rPr lang="en-IN" b="0" i="0" u="none" strike="noStrike" baseline="0" dirty="0" smtClean="0">
                <a:latin typeface="Times New Roman" panose="02020603050405020304" pitchFamily="18" charset="0"/>
                <a:cs typeface="Times New Roman" panose="02020603050405020304" pitchFamily="18" charset="0"/>
              </a:rPr>
              <a:t>.</a:t>
            </a:r>
          </a:p>
          <a:p>
            <a:pPr algn="just"/>
            <a:endParaRPr lang="en-IN" b="0" i="0" u="none" strike="noStrike" baseline="0" dirty="0" smtClean="0">
              <a:latin typeface="Times New Roman" panose="02020603050405020304" pitchFamily="18" charset="0"/>
              <a:cs typeface="Times New Roman" panose="02020603050405020304" pitchFamily="18" charset="0"/>
            </a:endParaRPr>
          </a:p>
          <a:p>
            <a:r>
              <a:rPr lang="en-IN" b="1" u="sng" dirty="0" smtClean="0">
                <a:latin typeface="Times New Roman" panose="02020603050405020304" pitchFamily="18" charset="0"/>
                <a:cs typeface="Times New Roman" panose="02020603050405020304" pitchFamily="18" charset="0"/>
              </a:rPr>
              <a:t>Correlation coefficient</a:t>
            </a:r>
          </a:p>
          <a:p>
            <a:r>
              <a:rPr lang="en-US" dirty="0" smtClean="0">
                <a:latin typeface="Times New Roman" panose="02020603050405020304" pitchFamily="18" charset="0"/>
                <a:cs typeface="Times New Roman" panose="02020603050405020304" pitchFamily="18" charset="0"/>
              </a:rPr>
              <a:t>	A metric that measures the extent to which numeric variables are associated with one another (ranges from –1 to +1).</a:t>
            </a:r>
          </a:p>
          <a:p>
            <a:r>
              <a:rPr lang="en-IN" b="1" u="sng" dirty="0" smtClean="0">
                <a:latin typeface="Times New Roman" panose="02020603050405020304" pitchFamily="18" charset="0"/>
                <a:cs typeface="Times New Roman" panose="02020603050405020304" pitchFamily="18" charset="0"/>
              </a:rPr>
              <a:t>Correlation matrix</a:t>
            </a:r>
          </a:p>
          <a:p>
            <a:r>
              <a:rPr lang="en-US" dirty="0" smtClean="0">
                <a:latin typeface="Times New Roman" panose="02020603050405020304" pitchFamily="18" charset="0"/>
                <a:cs typeface="Times New Roman" panose="02020603050405020304" pitchFamily="18" charset="0"/>
              </a:rPr>
              <a:t>	A table where the variables are shown on both rows and columns, and the cell values are the correlations between the variables.</a:t>
            </a:r>
          </a:p>
          <a:p>
            <a:r>
              <a:rPr lang="en-IN" b="1" u="sng" dirty="0" err="1" smtClean="0">
                <a:latin typeface="Times New Roman" panose="02020603050405020304" pitchFamily="18" charset="0"/>
                <a:cs typeface="Times New Roman" panose="02020603050405020304" pitchFamily="18" charset="0"/>
              </a:rPr>
              <a:t>Scatterplot</a:t>
            </a:r>
            <a:endParaRPr lang="en-IN" b="1" u="sng" dirty="0" smtClean="0">
              <a:latin typeface="Times New Roman" panose="02020603050405020304" pitchFamily="18" charset="0"/>
              <a:cs typeface="Times New Roman" panose="02020603050405020304" pitchFamily="18" charset="0"/>
            </a:endParaRPr>
          </a:p>
          <a:p>
            <a:r>
              <a:rPr lang="en-US" dirty="0" smtClean="0"/>
              <a:t>	A plot in which the x-axis is the value of one variable, and the y-axis the value of</a:t>
            </a:r>
          </a:p>
          <a:p>
            <a:r>
              <a:rPr lang="en-US" dirty="0" smtClean="0"/>
              <a:t>another.</a:t>
            </a:r>
          </a:p>
          <a:p>
            <a:endParaRPr lang="en-IN"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Consider these two variables, perfectly correlated in the sense that each goes from low</a:t>
            </a:r>
          </a:p>
          <a:p>
            <a:r>
              <a:rPr lang="en-IN" dirty="0" smtClean="0">
                <a:latin typeface="Times New Roman" panose="02020603050405020304" pitchFamily="18" charset="0"/>
                <a:cs typeface="Times New Roman" panose="02020603050405020304" pitchFamily="18" charset="0"/>
              </a:rPr>
              <a:t>to high:</a:t>
            </a:r>
          </a:p>
          <a:p>
            <a:r>
              <a:rPr lang="en-IN" dirty="0" smtClean="0">
                <a:latin typeface="Times New Roman" panose="02020603050405020304" pitchFamily="18" charset="0"/>
                <a:cs typeface="Times New Roman" panose="02020603050405020304" pitchFamily="18" charset="0"/>
              </a:rPr>
              <a:t>v1: {1, 2, 3}</a:t>
            </a:r>
          </a:p>
          <a:p>
            <a:r>
              <a:rPr lang="en-IN" dirty="0" smtClean="0">
                <a:latin typeface="Times New Roman" panose="02020603050405020304" pitchFamily="18" charset="0"/>
                <a:cs typeface="Times New Roman" panose="02020603050405020304" pitchFamily="18" charset="0"/>
              </a:rPr>
              <a:t>v2: {4, 5, 6}</a:t>
            </a:r>
          </a:p>
          <a:p>
            <a:r>
              <a:rPr lang="en-IN" dirty="0" smtClean="0">
                <a:latin typeface="Times New Roman" panose="02020603050405020304" pitchFamily="18" charset="0"/>
                <a:cs typeface="Times New Roman" panose="02020603050405020304" pitchFamily="18" charset="0"/>
              </a:rPr>
              <a:t>The vector sum of products is 1 ・ 4 + 2 ・ 5 + 3 ・ 6 = 32.</a:t>
            </a:r>
          </a:p>
          <a:p>
            <a:endParaRPr lang="en-IN" dirty="0" smtClean="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 xmlns:p14="http://schemas.microsoft.com/office/powerpoint/2010/main" val="9730882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2844" y="214290"/>
            <a:ext cx="9001156" cy="2585323"/>
          </a:xfrm>
          <a:prstGeom prst="rect">
            <a:avLst/>
          </a:prstGeom>
        </p:spPr>
        <p:txBody>
          <a:bodyPr wrap="square">
            <a:spAutoFit/>
          </a:bodyPr>
          <a:lstStyle/>
          <a:p>
            <a:r>
              <a:rPr lang="en-US" dirty="0" smtClean="0">
                <a:latin typeface="Times New Roman" pitchFamily="18" charset="0"/>
                <a:cs typeface="Times New Roman" pitchFamily="18" charset="0"/>
              </a:rPr>
              <a:t>Table 1-7. Correlation between telecommunication stock returns</a:t>
            </a:r>
          </a:p>
          <a:p>
            <a:endParaRPr lang="en-US" i="1" dirty="0" smtClean="0">
              <a:latin typeface="Times New Roman" pitchFamily="18" charset="0"/>
              <a:cs typeface="Times New Roman" pitchFamily="18" charset="0"/>
            </a:endParaRPr>
          </a:p>
          <a:p>
            <a:r>
              <a:rPr lang="de-DE" dirty="0" smtClean="0">
                <a:latin typeface="Times New Roman" pitchFamily="18" charset="0"/>
                <a:cs typeface="Times New Roman" pitchFamily="18" charset="0"/>
              </a:rPr>
              <a:t>                       T                    CTL          FTR               VZ             LVLT</a:t>
            </a:r>
          </a:p>
          <a:p>
            <a:endParaRPr lang="de-DE"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                   1.000              0.475         0.328             0.678           0.279</a:t>
            </a:r>
          </a:p>
          <a:p>
            <a:r>
              <a:rPr lang="en-US" dirty="0" smtClean="0">
                <a:latin typeface="Times New Roman" pitchFamily="18" charset="0"/>
                <a:cs typeface="Times New Roman" pitchFamily="18" charset="0"/>
              </a:rPr>
              <a:t>CTL              0.475              1.000        0.420             0.417            0.287</a:t>
            </a:r>
          </a:p>
          <a:p>
            <a:r>
              <a:rPr lang="en-US" dirty="0" smtClean="0">
                <a:latin typeface="Times New Roman" pitchFamily="18" charset="0"/>
                <a:cs typeface="Times New Roman" pitchFamily="18" charset="0"/>
              </a:rPr>
              <a:t>FTR              0.328              0.420        1.000             0.287           0.260</a:t>
            </a:r>
          </a:p>
          <a:p>
            <a:r>
              <a:rPr lang="de-DE" dirty="0" smtClean="0">
                <a:latin typeface="Times New Roman" pitchFamily="18" charset="0"/>
                <a:cs typeface="Times New Roman" pitchFamily="18" charset="0"/>
              </a:rPr>
              <a:t>VZ                0.678              0.417        0.287             1.000            0.242</a:t>
            </a:r>
          </a:p>
          <a:p>
            <a:r>
              <a:rPr lang="en-US" dirty="0" smtClean="0">
                <a:latin typeface="Times New Roman" pitchFamily="18" charset="0"/>
                <a:cs typeface="Times New Roman" pitchFamily="18" charset="0"/>
              </a:rPr>
              <a:t>LVLT            0.279              0.287        0.260             0.242            1.000</a:t>
            </a:r>
            <a:endParaRPr lang="en-US" dirty="0">
              <a:latin typeface="Times New Roman" pitchFamily="18" charset="0"/>
              <a:cs typeface="Times New Roman" pitchFamily="18" charset="0"/>
            </a:endParaRPr>
          </a:p>
        </p:txBody>
      </p:sp>
      <p:sp>
        <p:nvSpPr>
          <p:cNvPr id="6" name="Rectangle 5"/>
          <p:cNvSpPr/>
          <p:nvPr/>
        </p:nvSpPr>
        <p:spPr>
          <a:xfrm>
            <a:off x="142844" y="2928934"/>
            <a:ext cx="9001156" cy="2308324"/>
          </a:xfrm>
          <a:prstGeom prst="rect">
            <a:avLst/>
          </a:prstGeom>
        </p:spPr>
        <p:txBody>
          <a:bodyPr wrap="square">
            <a:spAutoFit/>
          </a:bodyPr>
          <a:lstStyle/>
          <a:p>
            <a:r>
              <a:rPr lang="en-US" dirty="0" smtClean="0"/>
              <a:t>	The visualization of correlation matrices using </a:t>
            </a:r>
            <a:r>
              <a:rPr lang="en-US" dirty="0" err="1" smtClean="0"/>
              <a:t>heatmaps</a:t>
            </a:r>
            <a:r>
              <a:rPr lang="en-US" dirty="0" smtClean="0"/>
              <a:t>. </a:t>
            </a:r>
            <a:r>
              <a:rPr lang="en-US" dirty="0" smtClean="0">
                <a:latin typeface="Times New Roman" pitchFamily="18" charset="0"/>
                <a:cs typeface="Times New Roman" pitchFamily="18" charset="0"/>
              </a:rPr>
              <a:t>The following code demonstrates this using the </a:t>
            </a:r>
            <a:r>
              <a:rPr lang="en-US" dirty="0" err="1" smtClean="0">
                <a:latin typeface="Times New Roman" pitchFamily="18" charset="0"/>
                <a:cs typeface="Times New Roman" pitchFamily="18" charset="0"/>
              </a:rPr>
              <a:t>seaborn.heat</a:t>
            </a:r>
            <a:r>
              <a:rPr lang="en-US" dirty="0" smtClean="0">
                <a:latin typeface="Times New Roman" pitchFamily="18" charset="0"/>
                <a:cs typeface="Times New Roman" pitchFamily="18" charset="0"/>
              </a:rPr>
              <a:t> map package. In the accompanying source code repository, we include Python code to generate the more comprehensive visualization:</a:t>
            </a:r>
          </a:p>
          <a:p>
            <a:pPr algn="just"/>
            <a:endParaRPr lang="en-US" dirty="0" smtClean="0">
              <a:latin typeface="Times New Roman" pitchFamily="18" charset="0"/>
              <a:cs typeface="Times New Roman" pitchFamily="18" charset="0"/>
            </a:endParaRPr>
          </a:p>
          <a:p>
            <a:r>
              <a:rPr lang="en-US" dirty="0" err="1" smtClean="0"/>
              <a:t>etfs</a:t>
            </a:r>
            <a:r>
              <a:rPr lang="en-US" dirty="0" smtClean="0"/>
              <a:t> = sp500_px.loc[sp500_px.index &gt; '2012-07-01',</a:t>
            </a:r>
          </a:p>
          <a:p>
            <a:r>
              <a:rPr lang="en-US" dirty="0" smtClean="0"/>
              <a:t>sp500_sym[sp500_sym['sector'] == '</a:t>
            </a:r>
            <a:r>
              <a:rPr lang="en-US" dirty="0" err="1" smtClean="0"/>
              <a:t>etf</a:t>
            </a:r>
            <a:r>
              <a:rPr lang="en-US" dirty="0" smtClean="0"/>
              <a:t>']['symbol']]</a:t>
            </a:r>
          </a:p>
          <a:p>
            <a:r>
              <a:rPr lang="en-US" dirty="0" err="1" smtClean="0"/>
              <a:t>sns.heatmap</a:t>
            </a:r>
            <a:r>
              <a:rPr lang="en-US" dirty="0" smtClean="0"/>
              <a:t>(</a:t>
            </a:r>
            <a:r>
              <a:rPr lang="en-US" dirty="0" err="1" smtClean="0"/>
              <a:t>etfs.corr</a:t>
            </a:r>
            <a:r>
              <a:rPr lang="en-US" dirty="0" smtClean="0"/>
              <a:t>(), </a:t>
            </a:r>
            <a:r>
              <a:rPr lang="en-US" dirty="0" err="1" smtClean="0"/>
              <a:t>vmin</a:t>
            </a:r>
            <a:r>
              <a:rPr lang="en-US" dirty="0" smtClean="0"/>
              <a:t>=-1, </a:t>
            </a:r>
            <a:r>
              <a:rPr lang="en-US" dirty="0" err="1" smtClean="0"/>
              <a:t>vmax</a:t>
            </a:r>
            <a:r>
              <a:rPr lang="en-US" dirty="0" smtClean="0"/>
              <a:t>=1,</a:t>
            </a:r>
          </a:p>
          <a:p>
            <a:r>
              <a:rPr lang="en-US" dirty="0" err="1" smtClean="0"/>
              <a:t>cmap</a:t>
            </a:r>
            <a:r>
              <a:rPr lang="en-US" dirty="0" smtClean="0"/>
              <a:t>=</a:t>
            </a:r>
            <a:r>
              <a:rPr lang="en-US" dirty="0" err="1" smtClean="0"/>
              <a:t>sns.diverging_palette</a:t>
            </a:r>
            <a:r>
              <a:rPr lang="en-US" dirty="0" smtClean="0"/>
              <a:t>(20, 220, </a:t>
            </a:r>
            <a:r>
              <a:rPr lang="en-US" dirty="0" err="1" smtClean="0"/>
              <a:t>as_cmap</a:t>
            </a:r>
            <a:r>
              <a:rPr lang="en-US" dirty="0" smtClean="0"/>
              <a:t>=True))</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 xmlns:p14="http://schemas.microsoft.com/office/powerpoint/2010/main" val="2043769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EDD9FD5F-1DE1-0F8C-97CE-C7BB5A707DDB}"/>
              </a:ext>
            </a:extLst>
          </p:cNvPr>
          <p:cNvPicPr>
            <a:picLocks noChangeAspect="1"/>
          </p:cNvPicPr>
          <p:nvPr/>
        </p:nvPicPr>
        <p:blipFill>
          <a:blip r:embed="rId2"/>
          <a:stretch>
            <a:fillRect/>
          </a:stretch>
        </p:blipFill>
        <p:spPr>
          <a:xfrm>
            <a:off x="5214942" y="142852"/>
            <a:ext cx="3757610" cy="4286280"/>
          </a:xfrm>
          <a:prstGeom prst="rect">
            <a:avLst/>
          </a:prstGeom>
        </p:spPr>
      </p:pic>
      <p:sp>
        <p:nvSpPr>
          <p:cNvPr id="5" name="TextBox 4">
            <a:extLst>
              <a:ext uri="{FF2B5EF4-FFF2-40B4-BE49-F238E27FC236}">
                <a16:creationId xmlns="" xmlns:a16="http://schemas.microsoft.com/office/drawing/2014/main" id="{48C451C9-5AD1-B261-0304-9EE3D7348221}"/>
              </a:ext>
            </a:extLst>
          </p:cNvPr>
          <p:cNvSpPr txBox="1"/>
          <p:nvPr/>
        </p:nvSpPr>
        <p:spPr>
          <a:xfrm>
            <a:off x="3224186" y="4786322"/>
            <a:ext cx="5919814" cy="369332"/>
          </a:xfrm>
          <a:prstGeom prst="rect">
            <a:avLst/>
          </a:prstGeom>
          <a:noFill/>
        </p:spPr>
        <p:txBody>
          <a:bodyPr wrap="square">
            <a:spAutoFit/>
          </a:bodyPr>
          <a:lstStyle/>
          <a:p>
            <a:r>
              <a:rPr lang="en-US" sz="1800" b="1" u="none" strike="noStrike" baseline="0" dirty="0" smtClean="0">
                <a:latin typeface="MinionPro-It"/>
              </a:rPr>
              <a:t> </a:t>
            </a:r>
            <a:r>
              <a:rPr lang="en-US" sz="1800" b="1" u="none" strike="noStrike" baseline="0" dirty="0" smtClean="0">
                <a:latin typeface="MinionPro-It"/>
              </a:rPr>
              <a:t>                      </a:t>
            </a:r>
            <a:r>
              <a:rPr lang="en-US" sz="1800" b="1" u="none" strike="noStrike" baseline="0" dirty="0" smtClean="0">
                <a:latin typeface="Times New Roman" pitchFamily="18" charset="0"/>
                <a:cs typeface="Times New Roman" pitchFamily="18" charset="0"/>
              </a:rPr>
              <a:t>Figure </a:t>
            </a:r>
            <a:r>
              <a:rPr lang="en-US" sz="1800" b="1" u="none" strike="noStrike" baseline="0" dirty="0">
                <a:latin typeface="Times New Roman" pitchFamily="18" charset="0"/>
                <a:cs typeface="Times New Roman" pitchFamily="18" charset="0"/>
              </a:rPr>
              <a:t>1-6. </a:t>
            </a:r>
            <a:r>
              <a:rPr lang="en-US" sz="1800" u="none" strike="noStrike" baseline="0" dirty="0">
                <a:latin typeface="Times New Roman" pitchFamily="18" charset="0"/>
                <a:cs typeface="Times New Roman" pitchFamily="18" charset="0"/>
              </a:rPr>
              <a:t>Correlation between ETF returns</a:t>
            </a:r>
            <a:endParaRPr lang="en-IN" dirty="0">
              <a:latin typeface="Times New Roman" pitchFamily="18" charset="0"/>
              <a:cs typeface="Times New Roman" pitchFamily="18" charset="0"/>
            </a:endParaRPr>
          </a:p>
        </p:txBody>
      </p:sp>
      <p:sp>
        <p:nvSpPr>
          <p:cNvPr id="4" name="Rectangle 3"/>
          <p:cNvSpPr/>
          <p:nvPr/>
        </p:nvSpPr>
        <p:spPr>
          <a:xfrm>
            <a:off x="0" y="0"/>
            <a:ext cx="5214942" cy="4524315"/>
          </a:xfrm>
          <a:prstGeom prst="rect">
            <a:avLst/>
          </a:prstGeom>
        </p:spPr>
        <p:txBody>
          <a:bodyPr wrap="square">
            <a:spAutoFit/>
          </a:bodyPr>
          <a:lstStyle/>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ETFs for the S&amp;P 500 (SPY) and the Dow Jones Index (DIA) have a high correlation.</a:t>
            </a:r>
          </a:p>
          <a:p>
            <a:pPr algn="just"/>
            <a:r>
              <a:rPr lang="en-US" dirty="0" smtClean="0">
                <a:latin typeface="Times New Roman" pitchFamily="18" charset="0"/>
                <a:cs typeface="Times New Roman" pitchFamily="18" charset="0"/>
              </a:rPr>
              <a:t>Similarly, the QQQ and the XLK, composed mostly of technology companies, are positively correlated. Defensive ETFs, such as those tracking gold prices (GLD), oil prices (USO), or market volatility (VXX), tend to be weakly or negatively correlated with the other ETFs. The orientation of the ellipse indicates whether two variables are positively correlated (ellipse is pointed to the top right) or negatively correlated (ellipse is pointed to the top left). The shading and width of the ellipse indicate the strength of the association: thinner and darker ellipses correspond to stronger relationships.</a:t>
            </a: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 xmlns:p14="http://schemas.microsoft.com/office/powerpoint/2010/main" val="2508831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51344"/>
            <a:ext cx="9144000" cy="4524315"/>
          </a:xfrm>
          <a:prstGeom prst="rect">
            <a:avLst/>
          </a:prstGeom>
        </p:spPr>
        <p:txBody>
          <a:bodyPr wrap="square">
            <a:spAutoFit/>
          </a:bodyPr>
          <a:lstStyle/>
          <a:p>
            <a:r>
              <a:rPr lang="en-US" b="1" u="sng" dirty="0" err="1" smtClean="0">
                <a:latin typeface="Times New Roman" pitchFamily="18" charset="0"/>
                <a:cs typeface="Times New Roman" pitchFamily="18" charset="0"/>
              </a:rPr>
              <a:t>Scatterplots</a:t>
            </a:r>
            <a:r>
              <a:rPr lang="en-US" b="1" u="sng" dirty="0" smtClean="0">
                <a:latin typeface="Times New Roman" pitchFamily="18" charset="0"/>
                <a:cs typeface="Times New Roman" pitchFamily="18" charset="0"/>
              </a:rPr>
              <a:t> </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The standard way to visualize the relationship between two measured data variables is</a:t>
            </a:r>
          </a:p>
          <a:p>
            <a:r>
              <a:rPr lang="en-US" dirty="0" smtClean="0">
                <a:latin typeface="Times New Roman" pitchFamily="18" charset="0"/>
                <a:cs typeface="Times New Roman" pitchFamily="18" charset="0"/>
              </a:rPr>
              <a:t>with a </a:t>
            </a:r>
            <a:r>
              <a:rPr lang="en-US" dirty="0" err="1" smtClean="0">
                <a:latin typeface="Times New Roman" pitchFamily="18" charset="0"/>
                <a:cs typeface="Times New Roman" pitchFamily="18" charset="0"/>
              </a:rPr>
              <a:t>scatterplot</a:t>
            </a:r>
            <a:r>
              <a:rPr lang="en-US" dirty="0" smtClean="0">
                <a:latin typeface="Times New Roman" pitchFamily="18" charset="0"/>
                <a:cs typeface="Times New Roman" pitchFamily="18" charset="0"/>
              </a:rPr>
              <a:t>. The x-axis represents one variable and the y-axis another, and each point on the graph is a record. See Figure 1-7 for a plot of the correlation between the daily returns for ATT and Verizon. This is produced in R with the command: </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 plot(</a:t>
            </a:r>
            <a:r>
              <a:rPr lang="en-US" b="1" dirty="0" err="1" smtClean="0">
                <a:latin typeface="Times New Roman" pitchFamily="18" charset="0"/>
                <a:cs typeface="Times New Roman" pitchFamily="18" charset="0"/>
              </a:rPr>
              <a:t>telecom$T</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telecom$VZ</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xlab</a:t>
            </a:r>
            <a:r>
              <a:rPr lang="en-US" b="1" dirty="0" smtClean="0">
                <a:latin typeface="Times New Roman" pitchFamily="18" charset="0"/>
                <a:cs typeface="Times New Roman" pitchFamily="18" charset="0"/>
              </a:rPr>
              <a:t>='ATT (T)', </a:t>
            </a:r>
            <a:r>
              <a:rPr lang="en-US" b="1" dirty="0" err="1" smtClean="0">
                <a:latin typeface="Times New Roman" pitchFamily="18" charset="0"/>
                <a:cs typeface="Times New Roman" pitchFamily="18" charset="0"/>
              </a:rPr>
              <a:t>ylab</a:t>
            </a:r>
            <a:r>
              <a:rPr lang="en-US" b="1" dirty="0" smtClean="0">
                <a:latin typeface="Times New Roman" pitchFamily="18" charset="0"/>
                <a:cs typeface="Times New Roman" pitchFamily="18" charset="0"/>
              </a:rPr>
              <a:t>='Verizon (VZ)')</a:t>
            </a:r>
          </a:p>
          <a:p>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same graph can be generated in Python using the pandas scatter method:</a:t>
            </a:r>
          </a:p>
          <a:p>
            <a:endParaRPr lang="en-US" dirty="0" smtClean="0">
              <a:latin typeface="Times New Roman" pitchFamily="18" charset="0"/>
              <a:cs typeface="Times New Roman" pitchFamily="18" charset="0"/>
            </a:endParaRPr>
          </a:p>
          <a:p>
            <a:r>
              <a:rPr lang="nl-NL" dirty="0" smtClean="0">
                <a:latin typeface="Times New Roman" pitchFamily="18" charset="0"/>
                <a:cs typeface="Times New Roman" pitchFamily="18" charset="0"/>
              </a:rPr>
              <a:t>ax = telecom.plot.scatter(x='T', y='VZ', figsize=(4, 4), marker='$</a:t>
            </a:r>
            <a:r>
              <a:rPr lang="nl-NL" b="1" dirty="0" smtClean="0">
                <a:latin typeface="Times New Roman" pitchFamily="18" charset="0"/>
                <a:cs typeface="Times New Roman" pitchFamily="18" charset="0"/>
              </a:rPr>
              <a:t>\u25EF$')</a:t>
            </a:r>
          </a:p>
          <a:p>
            <a:r>
              <a:rPr lang="en-US" dirty="0" err="1" smtClean="0">
                <a:latin typeface="Times New Roman" pitchFamily="18" charset="0"/>
                <a:cs typeface="Times New Roman" pitchFamily="18" charset="0"/>
              </a:rPr>
              <a:t>ax.set_xlabel</a:t>
            </a:r>
            <a:r>
              <a:rPr lang="en-US" dirty="0" smtClean="0">
                <a:latin typeface="Times New Roman" pitchFamily="18" charset="0"/>
                <a:cs typeface="Times New Roman" pitchFamily="18" charset="0"/>
              </a:rPr>
              <a:t>('ATT (T)')</a:t>
            </a:r>
          </a:p>
          <a:p>
            <a:r>
              <a:rPr lang="en-US" dirty="0" err="1" smtClean="0">
                <a:latin typeface="Times New Roman" pitchFamily="18" charset="0"/>
                <a:cs typeface="Times New Roman" pitchFamily="18" charset="0"/>
              </a:rPr>
              <a:t>ax.set_ylabel</a:t>
            </a:r>
            <a:r>
              <a:rPr lang="en-US" dirty="0" smtClean="0">
                <a:latin typeface="Times New Roman" pitchFamily="18" charset="0"/>
                <a:cs typeface="Times New Roman" pitchFamily="18" charset="0"/>
              </a:rPr>
              <a:t>('Verizon (VZ)')</a:t>
            </a:r>
          </a:p>
          <a:p>
            <a:r>
              <a:rPr lang="en-US" dirty="0" err="1" smtClean="0">
                <a:latin typeface="Times New Roman" pitchFamily="18" charset="0"/>
                <a:cs typeface="Times New Roman" pitchFamily="18" charset="0"/>
              </a:rPr>
              <a:t>ax.axhline</a:t>
            </a:r>
            <a:r>
              <a:rPr lang="en-US" dirty="0" smtClean="0">
                <a:latin typeface="Times New Roman" pitchFamily="18" charset="0"/>
                <a:cs typeface="Times New Roman" pitchFamily="18" charset="0"/>
              </a:rPr>
              <a:t>(0, color='grey', </a:t>
            </a:r>
            <a:r>
              <a:rPr lang="en-US" dirty="0" err="1" smtClean="0">
                <a:latin typeface="Times New Roman" pitchFamily="18" charset="0"/>
                <a:cs typeface="Times New Roman" pitchFamily="18" charset="0"/>
              </a:rPr>
              <a:t>lw</a:t>
            </a:r>
            <a:r>
              <a:rPr lang="en-US" dirty="0" smtClean="0">
                <a:latin typeface="Times New Roman" pitchFamily="18" charset="0"/>
                <a:cs typeface="Times New Roman" pitchFamily="18" charset="0"/>
              </a:rPr>
              <a:t>=1)</a:t>
            </a:r>
          </a:p>
          <a:p>
            <a:r>
              <a:rPr lang="en-US" dirty="0" err="1" smtClean="0">
                <a:latin typeface="Times New Roman" pitchFamily="18" charset="0"/>
                <a:cs typeface="Times New Roman" pitchFamily="18" charset="0"/>
              </a:rPr>
              <a:t>ax.axvline</a:t>
            </a:r>
            <a:r>
              <a:rPr lang="en-US" dirty="0" smtClean="0">
                <a:latin typeface="Times New Roman" pitchFamily="18" charset="0"/>
                <a:cs typeface="Times New Roman" pitchFamily="18" charset="0"/>
              </a:rPr>
              <a:t>(0, color='grey', </a:t>
            </a:r>
            <a:r>
              <a:rPr lang="en-US" dirty="0" err="1" smtClean="0">
                <a:latin typeface="Times New Roman" pitchFamily="18" charset="0"/>
                <a:cs typeface="Times New Roman" pitchFamily="18" charset="0"/>
              </a:rPr>
              <a:t>lw</a:t>
            </a:r>
            <a:r>
              <a:rPr lang="en-US" dirty="0" smtClean="0">
                <a:latin typeface="Times New Roman" pitchFamily="18" charset="0"/>
                <a:cs typeface="Times New Roman" pitchFamily="18" charset="0"/>
              </a:rPr>
              <a:t>=1)</a:t>
            </a:r>
            <a:endParaRPr lang="en-US"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83F5572-3F07-5585-832B-0D61531A5FE2}"/>
              </a:ext>
            </a:extLst>
          </p:cNvPr>
          <p:cNvPicPr>
            <a:picLocks noChangeAspect="1"/>
          </p:cNvPicPr>
          <p:nvPr/>
        </p:nvPicPr>
        <p:blipFill>
          <a:blip r:embed="rId2"/>
          <a:stretch>
            <a:fillRect/>
          </a:stretch>
        </p:blipFill>
        <p:spPr>
          <a:xfrm>
            <a:off x="5429256" y="142852"/>
            <a:ext cx="3714744" cy="3857652"/>
          </a:xfrm>
          <a:prstGeom prst="rect">
            <a:avLst/>
          </a:prstGeom>
        </p:spPr>
      </p:pic>
      <p:sp>
        <p:nvSpPr>
          <p:cNvPr id="5" name="TextBox 4">
            <a:extLst>
              <a:ext uri="{FF2B5EF4-FFF2-40B4-BE49-F238E27FC236}">
                <a16:creationId xmlns="" xmlns:a16="http://schemas.microsoft.com/office/drawing/2014/main" id="{31036038-C3F6-DC73-8965-55B2DA6B8283}"/>
              </a:ext>
            </a:extLst>
          </p:cNvPr>
          <p:cNvSpPr txBox="1"/>
          <p:nvPr/>
        </p:nvSpPr>
        <p:spPr>
          <a:xfrm>
            <a:off x="1428728" y="4071942"/>
            <a:ext cx="7620000" cy="369332"/>
          </a:xfrm>
          <a:prstGeom prst="rect">
            <a:avLst/>
          </a:prstGeom>
          <a:noFill/>
        </p:spPr>
        <p:txBody>
          <a:bodyPr wrap="square">
            <a:spAutoFit/>
          </a:bodyPr>
          <a:lstStyle/>
          <a:p>
            <a:r>
              <a:rPr lang="en-US" b="1" i="1" u="none" strike="noStrike" baseline="0" dirty="0" smtClean="0">
                <a:latin typeface="Times New Roman" panose="02020603050405020304" pitchFamily="18" charset="0"/>
                <a:cs typeface="Times New Roman" panose="02020603050405020304" pitchFamily="18" charset="0"/>
              </a:rPr>
              <a:t>          Figure </a:t>
            </a:r>
            <a:r>
              <a:rPr lang="en-US" b="1" i="1" u="none" strike="noStrike" baseline="0" dirty="0">
                <a:latin typeface="Times New Roman" panose="02020603050405020304" pitchFamily="18" charset="0"/>
                <a:cs typeface="Times New Roman" panose="02020603050405020304" pitchFamily="18" charset="0"/>
              </a:rPr>
              <a:t>1-7. </a:t>
            </a:r>
            <a:r>
              <a:rPr lang="en-US" i="1" u="none" strike="noStrike" baseline="0" dirty="0">
                <a:latin typeface="Times New Roman" panose="02020603050405020304" pitchFamily="18" charset="0"/>
                <a:cs typeface="Times New Roman" panose="02020603050405020304" pitchFamily="18" charset="0"/>
              </a:rPr>
              <a:t>Scatterplot of correlation between returns for ATT and Verizon</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142844" y="142852"/>
            <a:ext cx="5214974" cy="3970318"/>
          </a:xfrm>
          <a:prstGeom prst="rect">
            <a:avLst/>
          </a:prstGeom>
        </p:spPr>
        <p:txBody>
          <a:bodyPr wrap="square">
            <a:spAutoFit/>
          </a:bodyPr>
          <a:lstStyle/>
          <a:p>
            <a:pPr algn="just"/>
            <a:r>
              <a:rPr lang="en-US" dirty="0" smtClean="0">
                <a:latin typeface="Times New Roman" pitchFamily="18" charset="0"/>
                <a:cs typeface="Times New Roman" pitchFamily="18" charset="0"/>
              </a:rPr>
              <a:t>	The returns have a positive relationship: while they cluster around zero, on most days, the stocks go up or go down in tandem (upper-right and lower-left quadrants).</a:t>
            </a:r>
          </a:p>
          <a:p>
            <a:pPr algn="just"/>
            <a:r>
              <a:rPr lang="en-US" dirty="0" smtClean="0">
                <a:latin typeface="Times New Roman" pitchFamily="18" charset="0"/>
                <a:cs typeface="Times New Roman" pitchFamily="18" charset="0"/>
              </a:rPr>
              <a:t>	There are fewer days where one stock goes down significantly while the other stock goes up, or vice versa (lower-right and upper-left quadrants).</a:t>
            </a:r>
          </a:p>
          <a:p>
            <a:pPr algn="just"/>
            <a:endParaRPr lang="en-IN"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While the plot Figure 1-7 displays only 754 data points, it’s already obvious how </a:t>
            </a:r>
            <a:r>
              <a:rPr lang="en-US" dirty="0" err="1" smtClean="0">
                <a:latin typeface="Times New Roman" pitchFamily="18" charset="0"/>
                <a:cs typeface="Times New Roman" pitchFamily="18" charset="0"/>
              </a:rPr>
              <a:t>difficulit</a:t>
            </a:r>
            <a:r>
              <a:rPr lang="en-US" dirty="0" smtClean="0">
                <a:latin typeface="Times New Roman" pitchFamily="18" charset="0"/>
                <a:cs typeface="Times New Roman" pitchFamily="18" charset="0"/>
              </a:rPr>
              <a:t> is to identify details in the middle of the plot. We will see later how adding transparency to the points, or using hexagonal binning and density plots, can help to find additional structure in the data.</a:t>
            </a:r>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 xmlns:p14="http://schemas.microsoft.com/office/powerpoint/2010/main" val="976556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E323DD0-F13E-5F5F-F201-4E706296688B}"/>
              </a:ext>
            </a:extLst>
          </p:cNvPr>
          <p:cNvSpPr txBox="1"/>
          <p:nvPr/>
        </p:nvSpPr>
        <p:spPr>
          <a:xfrm>
            <a:off x="228600" y="533400"/>
            <a:ext cx="8763000" cy="378565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Exploring Two or More Variables</a:t>
            </a:r>
            <a:endParaRPr lang="en-IN" b="1" u="none" strike="noStrike" baseline="0" dirty="0">
              <a:latin typeface="Times New Roman" panose="02020603050405020304" pitchFamily="18" charset="0"/>
              <a:cs typeface="Times New Roman" panose="02020603050405020304" pitchFamily="18" charset="0"/>
            </a:endParaRPr>
          </a:p>
          <a:p>
            <a:pPr algn="l"/>
            <a:endParaRPr lang="en-IN" b="1"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Contingency table</a:t>
            </a:r>
          </a:p>
          <a:p>
            <a:pPr algn="l"/>
            <a:r>
              <a:rPr lang="en-US" b="0" u="none" strike="noStrike" baseline="0" dirty="0" smtClean="0">
                <a:latin typeface="Times New Roman" panose="02020603050405020304" pitchFamily="18" charset="0"/>
                <a:cs typeface="Times New Roman" panose="02020603050405020304" pitchFamily="18" charset="0"/>
              </a:rPr>
              <a:t>	A </a:t>
            </a:r>
            <a:r>
              <a:rPr lang="en-US" b="0" u="none" strike="noStrike" baseline="0" dirty="0">
                <a:latin typeface="Times New Roman" panose="02020603050405020304" pitchFamily="18" charset="0"/>
                <a:cs typeface="Times New Roman" panose="02020603050405020304" pitchFamily="18" charset="0"/>
              </a:rPr>
              <a:t>tally of counts between two or more categorical variables.</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Hexagonal binning</a:t>
            </a:r>
          </a:p>
          <a:p>
            <a:pPr algn="l"/>
            <a:r>
              <a:rPr lang="en-US" b="0" u="none" strike="noStrike" baseline="0" dirty="0" smtClean="0">
                <a:latin typeface="Times New Roman" panose="02020603050405020304" pitchFamily="18" charset="0"/>
                <a:cs typeface="Times New Roman" panose="02020603050405020304" pitchFamily="18" charset="0"/>
              </a:rPr>
              <a:t>	A </a:t>
            </a:r>
            <a:r>
              <a:rPr lang="en-US" b="0" u="none" strike="noStrike" baseline="0" dirty="0">
                <a:latin typeface="Times New Roman" panose="02020603050405020304" pitchFamily="18" charset="0"/>
                <a:cs typeface="Times New Roman" panose="02020603050405020304" pitchFamily="18" charset="0"/>
              </a:rPr>
              <a:t>plot of two numeric variables with the records binned into hexagons.</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Contour plot</a:t>
            </a:r>
          </a:p>
          <a:p>
            <a:pPr algn="l"/>
            <a:r>
              <a:rPr lang="en-US" b="0" u="none" strike="noStrike" baseline="0" dirty="0" smtClean="0">
                <a:latin typeface="Times New Roman" panose="02020603050405020304" pitchFamily="18" charset="0"/>
                <a:cs typeface="Times New Roman" panose="02020603050405020304" pitchFamily="18" charset="0"/>
              </a:rPr>
              <a:t>	A </a:t>
            </a:r>
            <a:r>
              <a:rPr lang="en-US" b="0" u="none" strike="noStrike" baseline="0" dirty="0">
                <a:latin typeface="Times New Roman" panose="02020603050405020304" pitchFamily="18" charset="0"/>
                <a:cs typeface="Times New Roman" panose="02020603050405020304" pitchFamily="18" charset="0"/>
              </a:rPr>
              <a:t>plot showing the density of two numeric variables like a topographical map.</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Violin plot</a:t>
            </a:r>
          </a:p>
          <a:p>
            <a:pPr algn="l"/>
            <a:r>
              <a:rPr lang="en-US" b="0" u="none" strike="noStrike" baseline="0" dirty="0" smtClean="0">
                <a:latin typeface="Times New Roman" panose="02020603050405020304" pitchFamily="18" charset="0"/>
                <a:cs typeface="Times New Roman" panose="02020603050405020304" pitchFamily="18" charset="0"/>
              </a:rPr>
              <a:t>	Similar </a:t>
            </a:r>
            <a:r>
              <a:rPr lang="en-US" b="0" u="none" strike="noStrike" baseline="0" dirty="0">
                <a:latin typeface="Times New Roman" panose="02020603050405020304" pitchFamily="18" charset="0"/>
                <a:cs typeface="Times New Roman" panose="02020603050405020304" pitchFamily="18" charset="0"/>
              </a:rPr>
              <a:t>to a boxplot but showing the density estimate</a:t>
            </a:r>
            <a:r>
              <a:rPr lang="en-US" sz="2400" b="0" u="none" strike="noStrike" baseline="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 xmlns:p14="http://schemas.microsoft.com/office/powerpoint/2010/main" val="1267169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5B5A94D-6615-5AF0-0C10-355911CD4B23}"/>
              </a:ext>
            </a:extLst>
          </p:cNvPr>
          <p:cNvSpPr txBox="1"/>
          <p:nvPr/>
        </p:nvSpPr>
        <p:spPr>
          <a:xfrm>
            <a:off x="152400" y="457200"/>
            <a:ext cx="8991600" cy="4308872"/>
          </a:xfrm>
          <a:prstGeom prst="rect">
            <a:avLst/>
          </a:prstGeom>
          <a:noFill/>
        </p:spPr>
        <p:txBody>
          <a:bodyPr wrap="square">
            <a:spAutoFit/>
          </a:bodyPr>
          <a:lstStyle/>
          <a:p>
            <a:pPr algn="just"/>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Scatterplots</a:t>
            </a:r>
            <a:r>
              <a:rPr lang="en-US" dirty="0" smtClean="0">
                <a:latin typeface="Times New Roman" pitchFamily="18" charset="0"/>
                <a:cs typeface="Times New Roman" pitchFamily="18" charset="0"/>
              </a:rPr>
              <a:t> are fine when there is a relatively small number of data values. The plot</a:t>
            </a:r>
          </a:p>
          <a:p>
            <a:pPr algn="just"/>
            <a:r>
              <a:rPr lang="en-US" dirty="0" smtClean="0">
                <a:latin typeface="Times New Roman" pitchFamily="18" charset="0"/>
                <a:cs typeface="Times New Roman" pitchFamily="18" charset="0"/>
              </a:rPr>
              <a:t>of stock returns in Figure 1-7 involves only about 750 points. For data sets with hundreds of thousands or millions of records, a </a:t>
            </a:r>
            <a:r>
              <a:rPr lang="en-US" dirty="0" err="1" smtClean="0">
                <a:latin typeface="Times New Roman" pitchFamily="18" charset="0"/>
                <a:cs typeface="Times New Roman" pitchFamily="18" charset="0"/>
              </a:rPr>
              <a:t>scatterplot</a:t>
            </a:r>
            <a:r>
              <a:rPr lang="en-US" dirty="0" smtClean="0">
                <a:latin typeface="Times New Roman" pitchFamily="18" charset="0"/>
                <a:cs typeface="Times New Roman" pitchFamily="18" charset="0"/>
              </a:rPr>
              <a:t> will be too dense, so we need a different way to visualize the relationship. To illustrate, consider the data set </a:t>
            </a:r>
            <a:r>
              <a:rPr lang="en-US" dirty="0" err="1" smtClean="0">
                <a:latin typeface="Times New Roman" pitchFamily="18" charset="0"/>
                <a:cs typeface="Times New Roman" pitchFamily="18" charset="0"/>
              </a:rPr>
              <a:t>kc_tax</a:t>
            </a:r>
            <a:r>
              <a:rPr lang="en-US" dirty="0" smtClean="0">
                <a:latin typeface="Times New Roman" pitchFamily="18" charset="0"/>
                <a:cs typeface="Times New Roman" pitchFamily="18" charset="0"/>
              </a:rPr>
              <a:t>, which contains the tax-assessed values for residential properties in King County, Washington. In order to focus on the main part of the data, we strip out very expensive and very small or large residences using the subset function:</a:t>
            </a:r>
            <a:endParaRPr lang="en-US" b="0" i="0" u="none" strike="noStrike" baseline="0" dirty="0" smtClean="0">
              <a:solidFill>
                <a:srgbClr val="9A0000"/>
              </a:solidFill>
              <a:latin typeface="Times New Roman" pitchFamily="18" charset="0"/>
              <a:cs typeface="Times New Roman" pitchFamily="18" charset="0"/>
            </a:endParaRPr>
          </a:p>
          <a:p>
            <a:pPr algn="just"/>
            <a:endParaRPr lang="en-US" sz="2000" dirty="0" smtClean="0">
              <a:solidFill>
                <a:srgbClr val="9A0000"/>
              </a:solidFill>
              <a:latin typeface="Times New Roman" panose="02020603050405020304" pitchFamily="18" charset="0"/>
              <a:cs typeface="Times New Roman" panose="02020603050405020304" pitchFamily="18" charset="0"/>
            </a:endParaRPr>
          </a:p>
          <a:p>
            <a:pPr algn="just"/>
            <a:r>
              <a:rPr lang="en-US" sz="2000" b="0" i="0" u="none" strike="noStrike" baseline="0" dirty="0" smtClean="0">
                <a:solidFill>
                  <a:srgbClr val="9A0000"/>
                </a:solidFill>
                <a:latin typeface="Times New Roman" panose="02020603050405020304" pitchFamily="18" charset="0"/>
                <a:cs typeface="Times New Roman" panose="02020603050405020304" pitchFamily="18" charset="0"/>
              </a:rPr>
              <a:t>Figure </a:t>
            </a:r>
            <a:r>
              <a:rPr lang="en-US" sz="2000" b="0" i="0" u="none" strike="noStrike" baseline="0" dirty="0">
                <a:solidFill>
                  <a:srgbClr val="9A0000"/>
                </a:solidFill>
                <a:latin typeface="Times New Roman" panose="02020603050405020304" pitchFamily="18" charset="0"/>
                <a:cs typeface="Times New Roman" panose="02020603050405020304" pitchFamily="18" charset="0"/>
              </a:rPr>
              <a:t>1-8 </a:t>
            </a:r>
            <a:r>
              <a:rPr lang="en-US" u="none" strike="noStrike" baseline="0" dirty="0">
                <a:solidFill>
                  <a:srgbClr val="000000"/>
                </a:solidFill>
                <a:latin typeface="Times New Roman" panose="02020603050405020304" pitchFamily="18" charset="0"/>
                <a:cs typeface="Times New Roman" panose="02020603050405020304" pitchFamily="18" charset="0"/>
              </a:rPr>
              <a:t>is a hexagonal binning plot of the relationship between the finished square</a:t>
            </a:r>
          </a:p>
          <a:p>
            <a:pPr algn="just"/>
            <a:r>
              <a:rPr lang="en-US" u="none" strike="noStrike" baseline="0" dirty="0" smtClean="0">
                <a:solidFill>
                  <a:srgbClr val="000000"/>
                </a:solidFill>
                <a:latin typeface="Times New Roman" panose="02020603050405020304" pitchFamily="18" charset="0"/>
                <a:cs typeface="Times New Roman" panose="02020603050405020304" pitchFamily="18" charset="0"/>
              </a:rPr>
              <a:t>feet </a:t>
            </a:r>
            <a:r>
              <a:rPr lang="en-US" u="none" strike="noStrike" baseline="0" dirty="0">
                <a:solidFill>
                  <a:srgbClr val="000000"/>
                </a:solidFill>
                <a:latin typeface="Times New Roman" panose="02020603050405020304" pitchFamily="18" charset="0"/>
                <a:cs typeface="Times New Roman" panose="02020603050405020304" pitchFamily="18" charset="0"/>
              </a:rPr>
              <a:t>and the tax-assessed value for homes in King County. Rather than </a:t>
            </a:r>
            <a:r>
              <a:rPr lang="en-US" u="none" strike="noStrike" baseline="0" dirty="0" smtClean="0">
                <a:solidFill>
                  <a:srgbClr val="000000"/>
                </a:solidFill>
                <a:latin typeface="Times New Roman" panose="02020603050405020304" pitchFamily="18" charset="0"/>
                <a:cs typeface="Times New Roman" panose="02020603050405020304" pitchFamily="18" charset="0"/>
              </a:rPr>
              <a:t>plotting</a:t>
            </a:r>
            <a:r>
              <a:rPr lang="en-US" u="none" strike="noStrike" dirty="0" smtClean="0">
                <a:solidFill>
                  <a:srgbClr val="000000"/>
                </a:solidFill>
                <a:latin typeface="Times New Roman" panose="02020603050405020304" pitchFamily="18" charset="0"/>
                <a:cs typeface="Times New Roman" panose="02020603050405020304" pitchFamily="18" charset="0"/>
              </a:rPr>
              <a:t> </a:t>
            </a:r>
            <a:r>
              <a:rPr lang="en-US" u="none" strike="noStrike" baseline="0" dirty="0" smtClean="0">
                <a:solidFill>
                  <a:srgbClr val="000000"/>
                </a:solidFill>
                <a:latin typeface="Times New Roman" panose="02020603050405020304" pitchFamily="18" charset="0"/>
                <a:cs typeface="Times New Roman" panose="02020603050405020304" pitchFamily="18" charset="0"/>
              </a:rPr>
              <a:t>points</a:t>
            </a:r>
            <a:r>
              <a:rPr lang="en-US" u="none" strike="noStrike" baseline="0" dirty="0">
                <a:solidFill>
                  <a:srgbClr val="000000"/>
                </a:solidFill>
                <a:latin typeface="Times New Roman" panose="02020603050405020304" pitchFamily="18" charset="0"/>
                <a:cs typeface="Times New Roman" panose="02020603050405020304" pitchFamily="18" charset="0"/>
              </a:rPr>
              <a:t>, which would appear as a monolithic dark cloud, we grouped the records </a:t>
            </a:r>
            <a:r>
              <a:rPr lang="en-US" u="none" strike="noStrike" baseline="0" dirty="0" smtClean="0">
                <a:solidFill>
                  <a:srgbClr val="000000"/>
                </a:solidFill>
                <a:latin typeface="Times New Roman" panose="02020603050405020304" pitchFamily="18" charset="0"/>
                <a:cs typeface="Times New Roman" panose="02020603050405020304" pitchFamily="18" charset="0"/>
              </a:rPr>
              <a:t>into</a:t>
            </a:r>
            <a:r>
              <a:rPr lang="en-US" u="none" strike="noStrike" dirty="0" smtClean="0">
                <a:solidFill>
                  <a:srgbClr val="000000"/>
                </a:solidFill>
                <a:latin typeface="Times New Roman" panose="02020603050405020304" pitchFamily="18" charset="0"/>
                <a:cs typeface="Times New Roman" panose="02020603050405020304" pitchFamily="18" charset="0"/>
              </a:rPr>
              <a:t> </a:t>
            </a:r>
            <a:r>
              <a:rPr lang="en-US" u="none" strike="noStrike" baseline="0" dirty="0" smtClean="0">
                <a:solidFill>
                  <a:srgbClr val="000000"/>
                </a:solidFill>
                <a:latin typeface="Times New Roman" panose="02020603050405020304" pitchFamily="18" charset="0"/>
                <a:cs typeface="Times New Roman" panose="02020603050405020304" pitchFamily="18" charset="0"/>
              </a:rPr>
              <a:t>hexagonal </a:t>
            </a:r>
            <a:r>
              <a:rPr lang="en-US" u="none" strike="noStrike" baseline="0" dirty="0">
                <a:solidFill>
                  <a:srgbClr val="000000"/>
                </a:solidFill>
                <a:latin typeface="Times New Roman" panose="02020603050405020304" pitchFamily="18" charset="0"/>
                <a:cs typeface="Times New Roman" panose="02020603050405020304" pitchFamily="18" charset="0"/>
              </a:rPr>
              <a:t>bins and plotted the hexagons with a color indicating the number </a:t>
            </a:r>
            <a:r>
              <a:rPr lang="en-US" u="none" strike="noStrike" baseline="0" dirty="0" smtClean="0">
                <a:solidFill>
                  <a:srgbClr val="000000"/>
                </a:solidFill>
                <a:latin typeface="Times New Roman" panose="02020603050405020304" pitchFamily="18" charset="0"/>
                <a:cs typeface="Times New Roman" panose="02020603050405020304" pitchFamily="18" charset="0"/>
              </a:rPr>
              <a:t>of</a:t>
            </a:r>
            <a:r>
              <a:rPr lang="en-US" u="none" strike="noStrike" dirty="0" smtClean="0">
                <a:solidFill>
                  <a:srgbClr val="000000"/>
                </a:solidFill>
                <a:latin typeface="Times New Roman" panose="02020603050405020304" pitchFamily="18" charset="0"/>
                <a:cs typeface="Times New Roman" panose="02020603050405020304" pitchFamily="18" charset="0"/>
              </a:rPr>
              <a:t> </a:t>
            </a:r>
            <a:r>
              <a:rPr lang="en-US" u="none" strike="noStrike" baseline="0" dirty="0" smtClean="0">
                <a:solidFill>
                  <a:srgbClr val="000000"/>
                </a:solidFill>
                <a:latin typeface="Times New Roman" panose="02020603050405020304" pitchFamily="18" charset="0"/>
                <a:cs typeface="Times New Roman" panose="02020603050405020304" pitchFamily="18" charset="0"/>
              </a:rPr>
              <a:t>records </a:t>
            </a:r>
            <a:r>
              <a:rPr lang="en-US" u="none" strike="noStrike" baseline="0" dirty="0">
                <a:solidFill>
                  <a:srgbClr val="000000"/>
                </a:solidFill>
                <a:latin typeface="Times New Roman" panose="02020603050405020304" pitchFamily="18" charset="0"/>
                <a:cs typeface="Times New Roman" panose="02020603050405020304" pitchFamily="18" charset="0"/>
              </a:rPr>
              <a:t>in that bin. In this chart, the positive relationship between square feet </a:t>
            </a:r>
            <a:r>
              <a:rPr lang="en-US" u="none" strike="noStrike" baseline="0" dirty="0" smtClean="0">
                <a:solidFill>
                  <a:srgbClr val="000000"/>
                </a:solidFill>
                <a:latin typeface="Times New Roman" panose="02020603050405020304" pitchFamily="18" charset="0"/>
                <a:cs typeface="Times New Roman" panose="02020603050405020304" pitchFamily="18" charset="0"/>
              </a:rPr>
              <a:t>and</a:t>
            </a:r>
            <a:r>
              <a:rPr lang="en-US" u="none" strike="noStrike" dirty="0" smtClean="0">
                <a:solidFill>
                  <a:srgbClr val="000000"/>
                </a:solidFill>
                <a:latin typeface="Times New Roman" panose="02020603050405020304" pitchFamily="18" charset="0"/>
                <a:cs typeface="Times New Roman" panose="02020603050405020304" pitchFamily="18" charset="0"/>
              </a:rPr>
              <a:t> </a:t>
            </a:r>
            <a:r>
              <a:rPr lang="en-US" u="none" strike="noStrike" baseline="0" dirty="0" smtClean="0">
                <a:solidFill>
                  <a:srgbClr val="000000"/>
                </a:solidFill>
                <a:latin typeface="Times New Roman" panose="02020603050405020304" pitchFamily="18" charset="0"/>
                <a:cs typeface="Times New Roman" panose="02020603050405020304" pitchFamily="18" charset="0"/>
              </a:rPr>
              <a:t>tax-assessed </a:t>
            </a:r>
            <a:r>
              <a:rPr lang="en-US" u="none" strike="noStrike" baseline="0" dirty="0">
                <a:solidFill>
                  <a:srgbClr val="000000"/>
                </a:solidFill>
                <a:latin typeface="Times New Roman" panose="02020603050405020304" pitchFamily="18" charset="0"/>
                <a:cs typeface="Times New Roman" panose="02020603050405020304" pitchFamily="18" charset="0"/>
              </a:rPr>
              <a:t>value is clear. An interesting feature is the hint of additional bands </a:t>
            </a:r>
            <a:r>
              <a:rPr lang="en-US" u="none" strike="noStrike" baseline="0" dirty="0" smtClean="0">
                <a:solidFill>
                  <a:srgbClr val="000000"/>
                </a:solidFill>
                <a:latin typeface="Times New Roman" panose="02020603050405020304" pitchFamily="18" charset="0"/>
                <a:cs typeface="Times New Roman" panose="02020603050405020304" pitchFamily="18" charset="0"/>
              </a:rPr>
              <a:t>above</a:t>
            </a:r>
            <a:r>
              <a:rPr lang="en-US" u="none" strike="noStrike" dirty="0" smtClean="0">
                <a:solidFill>
                  <a:srgbClr val="000000"/>
                </a:solidFill>
                <a:latin typeface="Times New Roman" panose="02020603050405020304" pitchFamily="18" charset="0"/>
                <a:cs typeface="Times New Roman" panose="02020603050405020304" pitchFamily="18" charset="0"/>
              </a:rPr>
              <a:t> </a:t>
            </a:r>
            <a:r>
              <a:rPr lang="en-US" u="none" strike="noStrike" baseline="0" dirty="0" smtClean="0">
                <a:solidFill>
                  <a:srgbClr val="000000"/>
                </a:solidFill>
                <a:latin typeface="Times New Roman" panose="02020603050405020304" pitchFamily="18" charset="0"/>
                <a:cs typeface="Times New Roman" panose="02020603050405020304" pitchFamily="18" charset="0"/>
              </a:rPr>
              <a:t>the </a:t>
            </a:r>
            <a:r>
              <a:rPr lang="en-US" u="none" strike="noStrike" baseline="0" dirty="0">
                <a:solidFill>
                  <a:srgbClr val="000000"/>
                </a:solidFill>
                <a:latin typeface="Times New Roman" panose="02020603050405020304" pitchFamily="18" charset="0"/>
                <a:cs typeface="Times New Roman" panose="02020603050405020304" pitchFamily="18" charset="0"/>
              </a:rPr>
              <a:t>main (darkest) band at the bottom, indicating homes that have the same </a:t>
            </a:r>
            <a:r>
              <a:rPr lang="en-US" u="none" strike="noStrike" baseline="0" dirty="0" smtClean="0">
                <a:solidFill>
                  <a:srgbClr val="000000"/>
                </a:solidFill>
                <a:latin typeface="Times New Roman" panose="02020603050405020304" pitchFamily="18" charset="0"/>
                <a:cs typeface="Times New Roman" panose="02020603050405020304" pitchFamily="18" charset="0"/>
              </a:rPr>
              <a:t>square</a:t>
            </a:r>
            <a:r>
              <a:rPr lang="en-US" u="none" strike="noStrike" dirty="0" smtClean="0">
                <a:solidFill>
                  <a:srgbClr val="000000"/>
                </a:solidFill>
                <a:latin typeface="Times New Roman" panose="02020603050405020304" pitchFamily="18" charset="0"/>
                <a:cs typeface="Times New Roman" panose="02020603050405020304" pitchFamily="18" charset="0"/>
              </a:rPr>
              <a:t> </a:t>
            </a:r>
            <a:r>
              <a:rPr lang="en-US" u="none" strike="noStrike" baseline="0" dirty="0" smtClean="0">
                <a:solidFill>
                  <a:srgbClr val="000000"/>
                </a:solidFill>
                <a:latin typeface="Times New Roman" panose="02020603050405020304" pitchFamily="18" charset="0"/>
                <a:cs typeface="Times New Roman" panose="02020603050405020304" pitchFamily="18" charset="0"/>
              </a:rPr>
              <a:t>footage </a:t>
            </a:r>
            <a:r>
              <a:rPr lang="en-US" u="none" strike="noStrike" baseline="0" dirty="0">
                <a:solidFill>
                  <a:srgbClr val="000000"/>
                </a:solidFill>
                <a:latin typeface="Times New Roman" panose="02020603050405020304" pitchFamily="18" charset="0"/>
                <a:cs typeface="Times New Roman" panose="02020603050405020304" pitchFamily="18" charset="0"/>
              </a:rPr>
              <a:t>as those in the main band but a higher tax-assessed valu</a:t>
            </a:r>
            <a:r>
              <a:rPr lang="en-US" b="0" u="none" strike="noStrike" baseline="0" dirty="0">
                <a:solidFill>
                  <a:srgbClr val="000000"/>
                </a:solidFill>
                <a:latin typeface="Times New Roman" panose="02020603050405020304" pitchFamily="18" charset="0"/>
                <a:cs typeface="Times New Roman" panose="02020603050405020304" pitchFamily="18" charset="0"/>
              </a:rPr>
              <a:t>e</a:t>
            </a:r>
            <a:r>
              <a:rPr lang="en-US" b="0" i="0" u="none" strike="noStrike" baseline="0" dirty="0">
                <a:solidFill>
                  <a:srgbClr val="000000"/>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214282" y="4714884"/>
            <a:ext cx="8786874" cy="2031325"/>
          </a:xfrm>
          <a:prstGeom prst="rect">
            <a:avLst/>
          </a:prstGeom>
        </p:spPr>
        <p:txBody>
          <a:bodyPr wrap="square">
            <a:spAutoFit/>
          </a:bodyPr>
          <a:lstStyle/>
          <a:p>
            <a:r>
              <a:rPr lang="en-US" dirty="0" smtClean="0">
                <a:latin typeface="Times New Roman" pitchFamily="18" charset="0"/>
                <a:cs typeface="Times New Roman" pitchFamily="18" charset="0"/>
              </a:rPr>
              <a:t>	In Python, hexagonal binning plots are readily available using the pandas data frame</a:t>
            </a:r>
          </a:p>
          <a:p>
            <a:r>
              <a:rPr lang="en-US" dirty="0" smtClean="0">
                <a:latin typeface="Times New Roman" pitchFamily="18" charset="0"/>
                <a:cs typeface="Times New Roman" pitchFamily="18" charset="0"/>
              </a:rPr>
              <a:t>method </a:t>
            </a:r>
            <a:r>
              <a:rPr lang="en-US" dirty="0" err="1" smtClean="0">
                <a:latin typeface="Times New Roman" pitchFamily="18" charset="0"/>
                <a:cs typeface="Times New Roman" pitchFamily="18" charset="0"/>
              </a:rPr>
              <a:t>hexbin</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ax = kc_tax0.plot.hexbin(x='</a:t>
            </a:r>
            <a:r>
              <a:rPr lang="en-US" dirty="0" err="1" smtClean="0">
                <a:latin typeface="Times New Roman" pitchFamily="18" charset="0"/>
                <a:cs typeface="Times New Roman" pitchFamily="18" charset="0"/>
              </a:rPr>
              <a:t>SqFtTotLiving</a:t>
            </a:r>
            <a:r>
              <a:rPr lang="en-US" dirty="0" smtClean="0">
                <a:latin typeface="Times New Roman" pitchFamily="18" charset="0"/>
                <a:cs typeface="Times New Roman" pitchFamily="18" charset="0"/>
              </a:rPr>
              <a:t>', y='</a:t>
            </a:r>
            <a:r>
              <a:rPr lang="en-US" dirty="0" err="1" smtClean="0">
                <a:latin typeface="Times New Roman" pitchFamily="18" charset="0"/>
                <a:cs typeface="Times New Roman" pitchFamily="18" charset="0"/>
              </a:rPr>
              <a:t>TaxAssessedValue</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gridsize</a:t>
            </a:r>
            <a:r>
              <a:rPr lang="en-US" dirty="0" smtClean="0">
                <a:latin typeface="Times New Roman" pitchFamily="18" charset="0"/>
                <a:cs typeface="Times New Roman" pitchFamily="18" charset="0"/>
              </a:rPr>
              <a:t>=30, </a:t>
            </a:r>
            <a:r>
              <a:rPr lang="en-US" dirty="0" err="1" smtClean="0">
                <a:latin typeface="Times New Roman" pitchFamily="18" charset="0"/>
                <a:cs typeface="Times New Roman" pitchFamily="18" charset="0"/>
              </a:rPr>
              <a:t>sharex</a:t>
            </a:r>
            <a:r>
              <a:rPr lang="en-US" dirty="0" smtClean="0">
                <a:latin typeface="Times New Roman" pitchFamily="18" charset="0"/>
                <a:cs typeface="Times New Roman" pitchFamily="18" charset="0"/>
              </a:rPr>
              <a:t>=False, </a:t>
            </a:r>
            <a:r>
              <a:rPr lang="en-US" dirty="0" err="1" smtClean="0">
                <a:latin typeface="Times New Roman" pitchFamily="18" charset="0"/>
                <a:cs typeface="Times New Roman" pitchFamily="18" charset="0"/>
              </a:rPr>
              <a:t>figsize</a:t>
            </a:r>
            <a:r>
              <a:rPr lang="en-US" dirty="0" smtClean="0">
                <a:latin typeface="Times New Roman" pitchFamily="18" charset="0"/>
                <a:cs typeface="Times New Roman" pitchFamily="18" charset="0"/>
              </a:rPr>
              <a:t>=(5, 4))</a:t>
            </a:r>
          </a:p>
          <a:p>
            <a:r>
              <a:rPr lang="en-US" dirty="0" err="1" smtClean="0">
                <a:latin typeface="Times New Roman" pitchFamily="18" charset="0"/>
                <a:cs typeface="Times New Roman" pitchFamily="18" charset="0"/>
              </a:rPr>
              <a:t>ax.set_xlabel</a:t>
            </a:r>
            <a:r>
              <a:rPr lang="en-US" dirty="0" smtClean="0">
                <a:latin typeface="Times New Roman" pitchFamily="18" charset="0"/>
                <a:cs typeface="Times New Roman" pitchFamily="18" charset="0"/>
              </a:rPr>
              <a:t>('Finished Square Feet')</a:t>
            </a:r>
          </a:p>
          <a:p>
            <a:r>
              <a:rPr lang="en-US" dirty="0" err="1" smtClean="0">
                <a:latin typeface="Times New Roman" pitchFamily="18" charset="0"/>
                <a:cs typeface="Times New Roman" pitchFamily="18" charset="0"/>
              </a:rPr>
              <a:t>ax.set_ylabel</a:t>
            </a:r>
            <a:r>
              <a:rPr lang="en-US" dirty="0" smtClean="0">
                <a:latin typeface="Times New Roman" pitchFamily="18" charset="0"/>
                <a:cs typeface="Times New Roman" pitchFamily="18" charset="0"/>
              </a:rPr>
              <a:t>('Tax-Assessed Value')</a:t>
            </a:r>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 xmlns:p14="http://schemas.microsoft.com/office/powerpoint/2010/main" val="2859121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E5946BD-2691-4A49-42A2-D4E6D86D3327}"/>
              </a:ext>
            </a:extLst>
          </p:cNvPr>
          <p:cNvPicPr>
            <a:picLocks noChangeAspect="1"/>
          </p:cNvPicPr>
          <p:nvPr/>
        </p:nvPicPr>
        <p:blipFill>
          <a:blip r:embed="rId2"/>
          <a:stretch>
            <a:fillRect/>
          </a:stretch>
        </p:blipFill>
        <p:spPr>
          <a:xfrm>
            <a:off x="927279" y="189963"/>
            <a:ext cx="7289442" cy="5677437"/>
          </a:xfrm>
          <a:prstGeom prst="rect">
            <a:avLst/>
          </a:prstGeom>
        </p:spPr>
      </p:pic>
      <p:sp>
        <p:nvSpPr>
          <p:cNvPr id="5" name="TextBox 4">
            <a:extLst>
              <a:ext uri="{FF2B5EF4-FFF2-40B4-BE49-F238E27FC236}">
                <a16:creationId xmlns="" xmlns:a16="http://schemas.microsoft.com/office/drawing/2014/main" id="{BEC3FBFF-E63E-FE4A-6F48-1F3DA2B30789}"/>
              </a:ext>
            </a:extLst>
          </p:cNvPr>
          <p:cNvSpPr txBox="1"/>
          <p:nvPr/>
        </p:nvSpPr>
        <p:spPr>
          <a:xfrm>
            <a:off x="304800" y="6021706"/>
            <a:ext cx="8610600" cy="400110"/>
          </a:xfrm>
          <a:prstGeom prst="rect">
            <a:avLst/>
          </a:prstGeom>
          <a:noFill/>
        </p:spPr>
        <p:txBody>
          <a:bodyPr wrap="square">
            <a:spAutoFit/>
          </a:bodyPr>
          <a:lstStyle/>
          <a:p>
            <a:r>
              <a:rPr lang="en-US" sz="1800" b="1" u="none" strike="noStrike" baseline="0" dirty="0">
                <a:latin typeface="MinionPro-It"/>
              </a:rPr>
              <a:t>Figure </a:t>
            </a:r>
            <a:r>
              <a:rPr lang="en-US" sz="2000" b="1" u="none" strike="noStrike" baseline="0" dirty="0">
                <a:latin typeface="Times New Roman" panose="02020603050405020304" pitchFamily="18" charset="0"/>
                <a:cs typeface="Times New Roman" panose="02020603050405020304" pitchFamily="18" charset="0"/>
              </a:rPr>
              <a:t>1-8</a:t>
            </a:r>
            <a:r>
              <a:rPr lang="en-US" sz="1800" b="1" u="none" strike="noStrike" baseline="0" dirty="0">
                <a:latin typeface="MinionPro-It"/>
              </a:rPr>
              <a:t>. </a:t>
            </a:r>
            <a:r>
              <a:rPr lang="en-US" sz="1800" u="none" strike="noStrike" baseline="0" dirty="0">
                <a:latin typeface="Times New Roman" pitchFamily="18" charset="0"/>
                <a:cs typeface="Times New Roman" pitchFamily="18" charset="0"/>
              </a:rPr>
              <a:t>Hexagonal binning for tax-assessed value versus finished square feet</a:t>
            </a: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 xmlns:p14="http://schemas.microsoft.com/office/powerpoint/2010/main" val="2046312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33EBD06F-AB7E-479A-3F72-B1FBFB728C4E}"/>
              </a:ext>
            </a:extLst>
          </p:cNvPr>
          <p:cNvPicPr>
            <a:picLocks noChangeAspect="1"/>
          </p:cNvPicPr>
          <p:nvPr/>
        </p:nvPicPr>
        <p:blipFill>
          <a:blip r:embed="rId2"/>
          <a:stretch>
            <a:fillRect/>
          </a:stretch>
        </p:blipFill>
        <p:spPr>
          <a:xfrm>
            <a:off x="4786314" y="152400"/>
            <a:ext cx="4357686" cy="3276600"/>
          </a:xfrm>
          <a:prstGeom prst="rect">
            <a:avLst/>
          </a:prstGeom>
        </p:spPr>
      </p:pic>
      <p:sp>
        <p:nvSpPr>
          <p:cNvPr id="5" name="TextBox 4">
            <a:extLst>
              <a:ext uri="{FF2B5EF4-FFF2-40B4-BE49-F238E27FC236}">
                <a16:creationId xmlns="" xmlns:a16="http://schemas.microsoft.com/office/drawing/2014/main" id="{0AB398E8-4586-24B6-455C-21A7581BEC34}"/>
              </a:ext>
            </a:extLst>
          </p:cNvPr>
          <p:cNvSpPr txBox="1"/>
          <p:nvPr/>
        </p:nvSpPr>
        <p:spPr>
          <a:xfrm>
            <a:off x="571472" y="3643314"/>
            <a:ext cx="8572528" cy="400110"/>
          </a:xfrm>
          <a:prstGeom prst="rect">
            <a:avLst/>
          </a:prstGeom>
          <a:noFill/>
        </p:spPr>
        <p:txBody>
          <a:bodyPr wrap="square">
            <a:spAutoFit/>
          </a:bodyPr>
          <a:lstStyle/>
          <a:p>
            <a:r>
              <a:rPr lang="en-US" sz="2000" b="1" u="none" strike="noStrike" baseline="0" dirty="0" smtClean="0">
                <a:latin typeface="Times New Roman" panose="02020603050405020304" pitchFamily="18" charset="0"/>
                <a:cs typeface="Times New Roman" panose="02020603050405020304" pitchFamily="18" charset="0"/>
              </a:rPr>
              <a:t>              </a:t>
            </a:r>
            <a:r>
              <a:rPr lang="en-US" sz="2000" b="1" u="none" strike="noStrike" baseline="0" dirty="0" smtClean="0">
                <a:latin typeface="Times New Roman" panose="02020603050405020304" pitchFamily="18" charset="0"/>
                <a:cs typeface="Times New Roman" panose="02020603050405020304" pitchFamily="18" charset="0"/>
              </a:rPr>
              <a:t>        Figure </a:t>
            </a:r>
            <a:r>
              <a:rPr lang="en-US" sz="2000" b="1" u="none" strike="noStrike" baseline="0" dirty="0">
                <a:latin typeface="Times New Roman" panose="02020603050405020304" pitchFamily="18" charset="0"/>
                <a:cs typeface="Times New Roman" panose="02020603050405020304" pitchFamily="18" charset="0"/>
              </a:rPr>
              <a:t>1-9. </a:t>
            </a:r>
            <a:r>
              <a:rPr lang="en-US" u="none" strike="noStrike" baseline="0" dirty="0">
                <a:latin typeface="Times New Roman" panose="02020603050405020304" pitchFamily="18" charset="0"/>
                <a:cs typeface="Times New Roman" panose="02020603050405020304" pitchFamily="18" charset="0"/>
              </a:rPr>
              <a:t>Contour plot for tax-assessed value versus finished square feet</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642910" y="4429132"/>
            <a:ext cx="4572000" cy="1754326"/>
          </a:xfrm>
          <a:prstGeom prst="rect">
            <a:avLst/>
          </a:prstGeom>
        </p:spPr>
        <p:txBody>
          <a:bodyPr>
            <a:spAutoFit/>
          </a:bodyPr>
          <a:lstStyle/>
          <a:p>
            <a:r>
              <a:rPr lang="en-US" dirty="0" smtClean="0">
                <a:latin typeface="Times New Roman" pitchFamily="18" charset="0"/>
                <a:cs typeface="Times New Roman" pitchFamily="18" charset="0"/>
              </a:rPr>
              <a:t>The </a:t>
            </a:r>
            <a:r>
              <a:rPr lang="en-US" dirty="0" err="1" smtClean="0">
                <a:latin typeface="Times New Roman" pitchFamily="18" charset="0"/>
                <a:cs typeface="Times New Roman" pitchFamily="18" charset="0"/>
              </a:rPr>
              <a:t>seaborn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kdeplot</a:t>
            </a:r>
            <a:r>
              <a:rPr lang="en-US" dirty="0" smtClean="0">
                <a:latin typeface="Times New Roman" pitchFamily="18" charset="0"/>
                <a:cs typeface="Times New Roman" pitchFamily="18" charset="0"/>
              </a:rPr>
              <a:t> function in Python creates a contour plot:</a:t>
            </a:r>
          </a:p>
          <a:p>
            <a:r>
              <a:rPr lang="en-US" dirty="0" smtClean="0">
                <a:latin typeface="Times New Roman" pitchFamily="18" charset="0"/>
                <a:cs typeface="Times New Roman" pitchFamily="18" charset="0"/>
              </a:rPr>
              <a:t>ax = </a:t>
            </a:r>
            <a:r>
              <a:rPr lang="en-US" dirty="0" err="1" smtClean="0">
                <a:latin typeface="Times New Roman" pitchFamily="18" charset="0"/>
                <a:cs typeface="Times New Roman" pitchFamily="18" charset="0"/>
              </a:rPr>
              <a:t>sns.kdeplot</a:t>
            </a:r>
            <a:r>
              <a:rPr lang="en-US" dirty="0" smtClean="0">
                <a:latin typeface="Times New Roman" pitchFamily="18" charset="0"/>
                <a:cs typeface="Times New Roman" pitchFamily="18" charset="0"/>
              </a:rPr>
              <a:t>(kc_tax0.SqFtTotLiving, kc_tax0.TaxAssessedValue, ax=ax)</a:t>
            </a:r>
          </a:p>
          <a:p>
            <a:r>
              <a:rPr lang="en-US" dirty="0" err="1" smtClean="0">
                <a:latin typeface="Times New Roman" pitchFamily="18" charset="0"/>
                <a:cs typeface="Times New Roman" pitchFamily="18" charset="0"/>
              </a:rPr>
              <a:t>ax.set_xlabel</a:t>
            </a:r>
            <a:r>
              <a:rPr lang="en-US" dirty="0" smtClean="0">
                <a:latin typeface="Times New Roman" pitchFamily="18" charset="0"/>
                <a:cs typeface="Times New Roman" pitchFamily="18" charset="0"/>
              </a:rPr>
              <a:t>('Finished Square Feet')</a:t>
            </a:r>
          </a:p>
          <a:p>
            <a:r>
              <a:rPr lang="en-US" dirty="0" err="1" smtClean="0">
                <a:latin typeface="Times New Roman" pitchFamily="18" charset="0"/>
                <a:cs typeface="Times New Roman" pitchFamily="18" charset="0"/>
              </a:rPr>
              <a:t>ax.set_ylabel</a:t>
            </a:r>
            <a:r>
              <a:rPr lang="en-US" dirty="0" smtClean="0">
                <a:latin typeface="Times New Roman" pitchFamily="18" charset="0"/>
                <a:cs typeface="Times New Roman" pitchFamily="18" charset="0"/>
              </a:rPr>
              <a:t>('Tax-Assessed Value')</a:t>
            </a:r>
            <a:endParaRPr lang="en-US" dirty="0">
              <a:latin typeface="Times New Roman" pitchFamily="18" charset="0"/>
              <a:cs typeface="Times New Roman" pitchFamily="18" charset="0"/>
            </a:endParaRPr>
          </a:p>
        </p:txBody>
      </p:sp>
      <p:sp>
        <p:nvSpPr>
          <p:cNvPr id="6" name="Rectangle 5"/>
          <p:cNvSpPr/>
          <p:nvPr/>
        </p:nvSpPr>
        <p:spPr>
          <a:xfrm>
            <a:off x="285720" y="214290"/>
            <a:ext cx="4357718" cy="3139321"/>
          </a:xfrm>
          <a:prstGeom prst="rect">
            <a:avLst/>
          </a:prstGeom>
        </p:spPr>
        <p:txBody>
          <a:bodyPr wrap="square">
            <a:spAutoFit/>
          </a:bodyPr>
          <a:lstStyle/>
          <a:p>
            <a:pPr algn="just"/>
            <a:r>
              <a:rPr lang="en-US" dirty="0" smtClean="0">
                <a:latin typeface="Times New Roman" pitchFamily="18" charset="0"/>
                <a:cs typeface="Times New Roman" pitchFamily="18" charset="0"/>
              </a:rPr>
              <a:t>Figure 1-9 uses contours overlaid onto a </a:t>
            </a:r>
            <a:r>
              <a:rPr lang="en-US" dirty="0" err="1" smtClean="0">
                <a:latin typeface="Times New Roman" pitchFamily="18" charset="0"/>
                <a:cs typeface="Times New Roman" pitchFamily="18" charset="0"/>
              </a:rPr>
              <a:t>scatterplot</a:t>
            </a:r>
            <a:r>
              <a:rPr lang="en-US" dirty="0" smtClean="0">
                <a:latin typeface="Times New Roman" pitchFamily="18" charset="0"/>
                <a:cs typeface="Times New Roman" pitchFamily="18" charset="0"/>
              </a:rPr>
              <a:t> to visualize the relationship</a:t>
            </a:r>
          </a:p>
          <a:p>
            <a:pPr algn="just"/>
            <a:r>
              <a:rPr lang="en-US" dirty="0" smtClean="0">
                <a:latin typeface="Times New Roman" pitchFamily="18" charset="0"/>
                <a:cs typeface="Times New Roman" pitchFamily="18" charset="0"/>
              </a:rPr>
              <a:t>between two numeric variables. The contours are essentially a topographical map to two variables; each contour band represents a specific density of points, increasing as one nears a “peak.” This plot shows a similar story as Figure 1-8: there is a secondary peak “north” of the main peak. This chart was also created using ggplot2 with the built-in geom_density2d function:</a:t>
            </a:r>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 xmlns:p14="http://schemas.microsoft.com/office/powerpoint/2010/main" val="2554594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5072066" cy="2862322"/>
          </a:xfrm>
          <a:prstGeom prst="rect">
            <a:avLst/>
          </a:prstGeom>
        </p:spPr>
        <p:txBody>
          <a:bodyPr wrap="square">
            <a:spAutoFit/>
          </a:bodyPr>
          <a:lstStyle/>
          <a:p>
            <a:pPr algn="just"/>
            <a:r>
              <a:rPr lang="en-US" b="1" dirty="0" smtClean="0">
                <a:latin typeface="Times New Roman" pitchFamily="18" charset="0"/>
                <a:cs typeface="Times New Roman" pitchFamily="18" charset="0"/>
              </a:rPr>
              <a:t>Categorical </a:t>
            </a:r>
            <a:r>
              <a:rPr lang="en-US" b="1" dirty="0" smtClean="0">
                <a:latin typeface="Times New Roman" pitchFamily="18" charset="0"/>
                <a:cs typeface="Times New Roman" pitchFamily="18" charset="0"/>
              </a:rPr>
              <a:t>and Numeric Data</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Boxplots</a:t>
            </a:r>
            <a:r>
              <a:rPr lang="en-US" dirty="0" smtClean="0">
                <a:latin typeface="Times New Roman" pitchFamily="18" charset="0"/>
                <a:cs typeface="Times New Roman" pitchFamily="18" charset="0"/>
              </a:rPr>
              <a:t> are a simple way to visually compare the distributions of a numeric variable grouped according to a categorical variable. For example, we might want to compare how the percentage of flight delays varies across airlines. Figure 1-10 shows the percentage of flights in a month that were delayed where the delay was within the carrier’s control:</a:t>
            </a:r>
            <a:endParaRPr lang="en-US" dirty="0">
              <a:latin typeface="Times New Roman" pitchFamily="18" charset="0"/>
              <a:cs typeface="Times New Roman" pitchFamily="18" charset="0"/>
            </a:endParaRPr>
          </a:p>
        </p:txBody>
      </p:sp>
      <p:pic>
        <p:nvPicPr>
          <p:cNvPr id="4" name="Picture 3">
            <a:extLst>
              <a:ext uri="{FF2B5EF4-FFF2-40B4-BE49-F238E27FC236}">
                <a16:creationId xmlns="" xmlns:a16="http://schemas.microsoft.com/office/drawing/2014/main" id="{3A993C24-63A5-F7D8-710E-FF77E97A54E8}"/>
              </a:ext>
            </a:extLst>
          </p:cNvPr>
          <p:cNvPicPr>
            <a:picLocks noChangeAspect="1"/>
          </p:cNvPicPr>
          <p:nvPr/>
        </p:nvPicPr>
        <p:blipFill>
          <a:blip r:embed="rId2"/>
          <a:stretch>
            <a:fillRect/>
          </a:stretch>
        </p:blipFill>
        <p:spPr>
          <a:xfrm>
            <a:off x="5357818" y="214290"/>
            <a:ext cx="3714776" cy="3786214"/>
          </a:xfrm>
          <a:prstGeom prst="rect">
            <a:avLst/>
          </a:prstGeom>
        </p:spPr>
      </p:pic>
      <p:sp>
        <p:nvSpPr>
          <p:cNvPr id="6" name="Rectangle 5"/>
          <p:cNvSpPr/>
          <p:nvPr/>
        </p:nvSpPr>
        <p:spPr>
          <a:xfrm>
            <a:off x="1357290" y="3929066"/>
            <a:ext cx="7786710" cy="369332"/>
          </a:xfrm>
          <a:prstGeom prst="rect">
            <a:avLst/>
          </a:prstGeom>
        </p:spPr>
        <p:txBody>
          <a:bodyPr wrap="square">
            <a:spAutoFit/>
          </a:bodyPr>
          <a:lstStyle/>
          <a:p>
            <a:r>
              <a:rPr lang="en-US" b="1" dirty="0" smtClean="0">
                <a:latin typeface="Times New Roman" panose="02020603050405020304" pitchFamily="18" charset="0"/>
                <a:cs typeface="Times New Roman" panose="02020603050405020304" pitchFamily="18" charset="0"/>
              </a:rPr>
              <a:t>                                     Figure </a:t>
            </a:r>
            <a:r>
              <a:rPr lang="en-US" b="1" dirty="0" smtClean="0">
                <a:latin typeface="Times New Roman" panose="02020603050405020304" pitchFamily="18" charset="0"/>
                <a:cs typeface="Times New Roman" panose="02020603050405020304" pitchFamily="18" charset="0"/>
              </a:rPr>
              <a:t>1-10. </a:t>
            </a:r>
            <a:r>
              <a:rPr lang="en-US" i="1" dirty="0" err="1" smtClean="0">
                <a:latin typeface="Times New Roman" panose="02020603050405020304" pitchFamily="18" charset="0"/>
                <a:cs typeface="Times New Roman" panose="02020603050405020304" pitchFamily="18" charset="0"/>
              </a:rPr>
              <a:t>Boxplot</a:t>
            </a:r>
            <a:r>
              <a:rPr lang="en-US" i="1" dirty="0" smtClean="0">
                <a:latin typeface="Times New Roman" panose="02020603050405020304" pitchFamily="18" charset="0"/>
                <a:cs typeface="Times New Roman" panose="02020603050405020304" pitchFamily="18" charset="0"/>
              </a:rPr>
              <a:t> of percent of airline delays by carrier</a:t>
            </a:r>
            <a:endParaRPr lang="en-IN" i="1" dirty="0">
              <a:latin typeface="Times New Roman" panose="02020603050405020304" pitchFamily="18" charset="0"/>
              <a:cs typeface="Times New Roman" panose="02020603050405020304" pitchFamily="18" charset="0"/>
            </a:endParaRPr>
          </a:p>
        </p:txBody>
      </p:sp>
      <p:sp>
        <p:nvSpPr>
          <p:cNvPr id="7" name="Rectangle 6"/>
          <p:cNvSpPr/>
          <p:nvPr/>
        </p:nvSpPr>
        <p:spPr>
          <a:xfrm>
            <a:off x="214282" y="4286256"/>
            <a:ext cx="8929718" cy="2031325"/>
          </a:xfrm>
          <a:prstGeom prst="rect">
            <a:avLst/>
          </a:prstGeom>
        </p:spPr>
        <p:txBody>
          <a:bodyPr wrap="square">
            <a:spAutoFit/>
          </a:bodyPr>
          <a:lstStyle/>
          <a:p>
            <a:r>
              <a:rPr lang="en-US" dirty="0" smtClean="0"/>
              <a:t>	The pandas </a:t>
            </a:r>
            <a:r>
              <a:rPr lang="en-US" dirty="0" err="1" smtClean="0"/>
              <a:t>boxplot</a:t>
            </a:r>
            <a:r>
              <a:rPr lang="en-US" dirty="0" smtClean="0"/>
              <a:t> method takes the by argument that splits the data set into groups and creates the individual </a:t>
            </a:r>
            <a:r>
              <a:rPr lang="en-US" dirty="0" err="1" smtClean="0"/>
              <a:t>boxplots</a:t>
            </a:r>
            <a:r>
              <a:rPr lang="en-US" dirty="0" smtClean="0"/>
              <a:t>:</a:t>
            </a:r>
          </a:p>
          <a:p>
            <a:endParaRPr lang="en-US" dirty="0" smtClean="0"/>
          </a:p>
          <a:p>
            <a:r>
              <a:rPr lang="en-US" dirty="0" smtClean="0"/>
              <a:t>ax = </a:t>
            </a:r>
            <a:r>
              <a:rPr lang="en-US" dirty="0" err="1" smtClean="0"/>
              <a:t>airline_stats.boxplot</a:t>
            </a:r>
            <a:r>
              <a:rPr lang="en-US" dirty="0" smtClean="0"/>
              <a:t>(by='airline', column='</a:t>
            </a:r>
            <a:r>
              <a:rPr lang="en-US" dirty="0" err="1" smtClean="0"/>
              <a:t>pct_carrier_delay</a:t>
            </a:r>
            <a:r>
              <a:rPr lang="en-US" dirty="0" smtClean="0"/>
              <a:t>')</a:t>
            </a:r>
          </a:p>
          <a:p>
            <a:r>
              <a:rPr lang="en-US" dirty="0" err="1" smtClean="0"/>
              <a:t>ax.set_xlabel</a:t>
            </a:r>
            <a:r>
              <a:rPr lang="en-US" dirty="0" smtClean="0"/>
              <a:t>('')</a:t>
            </a:r>
          </a:p>
          <a:p>
            <a:r>
              <a:rPr lang="en-US" dirty="0" err="1" smtClean="0"/>
              <a:t>ax.set_ylabel</a:t>
            </a:r>
            <a:r>
              <a:rPr lang="en-US" dirty="0" smtClean="0"/>
              <a:t>('Daily % of Delayed Flights')</a:t>
            </a:r>
          </a:p>
          <a:p>
            <a:r>
              <a:rPr lang="en-US" dirty="0" err="1" smtClean="0"/>
              <a:t>plt.suptitle</a:t>
            </a:r>
            <a:r>
              <a:rPr lang="en-US" dirty="0" smtClean="0"/>
              <a:t>('')</a:t>
            </a:r>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 xmlns:p14="http://schemas.microsoft.com/office/powerpoint/2010/main" val="2362216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6224EF8-A437-784B-8252-10DA15891CDD}"/>
              </a:ext>
            </a:extLst>
          </p:cNvPr>
          <p:cNvPicPr>
            <a:picLocks noChangeAspect="1"/>
          </p:cNvPicPr>
          <p:nvPr/>
        </p:nvPicPr>
        <p:blipFill>
          <a:blip r:embed="rId2"/>
          <a:stretch>
            <a:fillRect/>
          </a:stretch>
        </p:blipFill>
        <p:spPr>
          <a:xfrm>
            <a:off x="5429256" y="304800"/>
            <a:ext cx="3571900" cy="2909886"/>
          </a:xfrm>
          <a:prstGeom prst="rect">
            <a:avLst/>
          </a:prstGeom>
        </p:spPr>
      </p:pic>
      <p:sp>
        <p:nvSpPr>
          <p:cNvPr id="5" name="TextBox 4">
            <a:extLst>
              <a:ext uri="{FF2B5EF4-FFF2-40B4-BE49-F238E27FC236}">
                <a16:creationId xmlns="" xmlns:a16="http://schemas.microsoft.com/office/drawing/2014/main" id="{2D903F95-8648-6BF1-1116-EA4A0ED71227}"/>
              </a:ext>
            </a:extLst>
          </p:cNvPr>
          <p:cNvSpPr txBox="1"/>
          <p:nvPr/>
        </p:nvSpPr>
        <p:spPr>
          <a:xfrm>
            <a:off x="5715008" y="3357562"/>
            <a:ext cx="3428992" cy="677108"/>
          </a:xfrm>
          <a:prstGeom prst="rect">
            <a:avLst/>
          </a:prstGeom>
          <a:noFill/>
        </p:spPr>
        <p:txBody>
          <a:bodyPr wrap="square">
            <a:spAutoFit/>
          </a:bodyPr>
          <a:lstStyle/>
          <a:p>
            <a:r>
              <a:rPr lang="en-US" b="1" u="none" strike="noStrike" baseline="0" dirty="0" smtClean="0">
                <a:latin typeface="Times New Roman" panose="02020603050405020304" pitchFamily="18" charset="0"/>
                <a:cs typeface="Times New Roman" panose="02020603050405020304" pitchFamily="18" charset="0"/>
              </a:rPr>
              <a:t>Figure </a:t>
            </a:r>
            <a:r>
              <a:rPr lang="en-US" b="1" u="none" strike="noStrike" baseline="0" dirty="0">
                <a:latin typeface="Times New Roman" panose="02020603050405020304" pitchFamily="18" charset="0"/>
                <a:cs typeface="Times New Roman" panose="02020603050405020304" pitchFamily="18" charset="0"/>
              </a:rPr>
              <a:t>1-11</a:t>
            </a:r>
            <a:r>
              <a:rPr lang="en-US" sz="2000" b="1" u="none" strike="noStrike" baseline="0" dirty="0">
                <a:latin typeface="Times New Roman" panose="02020603050405020304" pitchFamily="18" charset="0"/>
                <a:cs typeface="Times New Roman" panose="02020603050405020304" pitchFamily="18" charset="0"/>
              </a:rPr>
              <a:t>. </a:t>
            </a:r>
            <a:r>
              <a:rPr lang="en-US" u="none" strike="noStrike" baseline="0" dirty="0">
                <a:latin typeface="Times New Roman" panose="02020603050405020304" pitchFamily="18" charset="0"/>
                <a:cs typeface="Times New Roman" panose="02020603050405020304" pitchFamily="18" charset="0"/>
              </a:rPr>
              <a:t>Violin plot of percent of airline delays by carrier</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0" y="0"/>
            <a:ext cx="5286380" cy="4801314"/>
          </a:xfrm>
          <a:prstGeom prst="rect">
            <a:avLst/>
          </a:prstGeom>
        </p:spPr>
        <p:txBody>
          <a:bodyPr wrap="square">
            <a:spAutoFit/>
          </a:bodyPr>
          <a:lstStyle/>
          <a:p>
            <a:pPr algn="just"/>
            <a:r>
              <a:rPr lang="en-US" dirty="0" smtClean="0">
                <a:latin typeface="Times New Roman" pitchFamily="18" charset="0"/>
                <a:cs typeface="Times New Roman" pitchFamily="18" charset="0"/>
              </a:rPr>
              <a:t>	A violin plot, introduced by [Hintze-Nelson-1998], is an enhancement to the </a:t>
            </a:r>
            <a:r>
              <a:rPr lang="en-US" dirty="0" err="1" smtClean="0">
                <a:latin typeface="Times New Roman" pitchFamily="18" charset="0"/>
                <a:cs typeface="Times New Roman" pitchFamily="18" charset="0"/>
              </a:rPr>
              <a:t>boxplot</a:t>
            </a:r>
            <a:r>
              <a:rPr lang="en-US" dirty="0" smtClean="0">
                <a:latin typeface="Times New Roman" pitchFamily="18" charset="0"/>
                <a:cs typeface="Times New Roman" pitchFamily="18" charset="0"/>
              </a:rPr>
              <a:t> and plots the density estimate with the density on the y-axis. The density is mirrored and flipped over, and the resulting shape is filled in, creating an image resembling a violin. The advantage of a violin plot is that it can show nuances in the distribution that aren’t perceptible in a </a:t>
            </a:r>
            <a:r>
              <a:rPr lang="en-US" dirty="0" err="1" smtClean="0">
                <a:latin typeface="Times New Roman" pitchFamily="18" charset="0"/>
                <a:cs typeface="Times New Roman" pitchFamily="18" charset="0"/>
              </a:rPr>
              <a:t>boxplot</a:t>
            </a:r>
            <a:r>
              <a:rPr lang="en-US" dirty="0" smtClean="0">
                <a:latin typeface="Times New Roman" pitchFamily="18" charset="0"/>
                <a:cs typeface="Times New Roman" pitchFamily="18" charset="0"/>
              </a:rPr>
              <a:t>. On the other hand, the </a:t>
            </a:r>
            <a:r>
              <a:rPr lang="en-US" dirty="0" err="1" smtClean="0">
                <a:latin typeface="Times New Roman" pitchFamily="18" charset="0"/>
                <a:cs typeface="Times New Roman" pitchFamily="18" charset="0"/>
              </a:rPr>
              <a:t>boxplot</a:t>
            </a:r>
            <a:r>
              <a:rPr lang="en-US" dirty="0" smtClean="0">
                <a:latin typeface="Times New Roman" pitchFamily="18" charset="0"/>
                <a:cs typeface="Times New Roman" pitchFamily="18" charset="0"/>
              </a:rPr>
              <a:t> more clearly shows the outliers in the data. In ggplot2, the function </a:t>
            </a:r>
            <a:r>
              <a:rPr lang="en-US" dirty="0" err="1" smtClean="0">
                <a:latin typeface="Times New Roman" pitchFamily="18" charset="0"/>
                <a:cs typeface="Times New Roman" pitchFamily="18" charset="0"/>
              </a:rPr>
              <a:t>geom_violin</a:t>
            </a:r>
            <a:r>
              <a:rPr lang="en-US" dirty="0" smtClean="0">
                <a:latin typeface="Times New Roman" pitchFamily="18" charset="0"/>
                <a:cs typeface="Times New Roman" pitchFamily="18" charset="0"/>
              </a:rPr>
              <a:t> can be used to create a violin plot as </a:t>
            </a:r>
            <a:r>
              <a:rPr lang="en-US" dirty="0" err="1" smtClean="0">
                <a:latin typeface="Times New Roman" pitchFamily="18" charset="0"/>
                <a:cs typeface="Times New Roman" pitchFamily="18" charset="0"/>
              </a:rPr>
              <a:t>follows:The</a:t>
            </a:r>
            <a:r>
              <a:rPr lang="en-US" dirty="0" smtClean="0">
                <a:latin typeface="Times New Roman" panose="02020603050405020304" pitchFamily="18" charset="0"/>
                <a:cs typeface="Times New Roman" panose="02020603050405020304" pitchFamily="18" charset="0"/>
              </a:rPr>
              <a:t> violin plot shows a concentration in the distribution near zero for Alaska and, to a lesser extent, Delta. This phenomenon is not as obvious in the </a:t>
            </a:r>
            <a:r>
              <a:rPr lang="en-US" dirty="0" err="1" smtClean="0">
                <a:latin typeface="Times New Roman" panose="02020603050405020304" pitchFamily="18" charset="0"/>
                <a:cs typeface="Times New Roman" panose="02020603050405020304" pitchFamily="18" charset="0"/>
              </a:rPr>
              <a:t>boxplot</a:t>
            </a:r>
            <a:r>
              <a:rPr lang="en-US" dirty="0" smtClean="0">
                <a:latin typeface="Times New Roman" panose="02020603050405020304" pitchFamily="18" charset="0"/>
                <a:cs typeface="Times New Roman" panose="02020603050405020304" pitchFamily="18" charset="0"/>
              </a:rPr>
              <a:t>. You can combine a violin plot with a </a:t>
            </a:r>
            <a:r>
              <a:rPr lang="en-US" dirty="0" err="1" smtClean="0">
                <a:latin typeface="Times New Roman" panose="02020603050405020304" pitchFamily="18" charset="0"/>
                <a:cs typeface="Times New Roman" panose="02020603050405020304" pitchFamily="18" charset="0"/>
              </a:rPr>
              <a:t>boxplot</a:t>
            </a:r>
            <a:r>
              <a:rPr lang="en-US" dirty="0" smtClean="0">
                <a:latin typeface="Times New Roman" panose="02020603050405020304" pitchFamily="18" charset="0"/>
                <a:cs typeface="Times New Roman" panose="02020603050405020304" pitchFamily="18" charset="0"/>
              </a:rPr>
              <a:t> by adding </a:t>
            </a:r>
            <a:r>
              <a:rPr lang="en-US" dirty="0" err="1" smtClean="0">
                <a:latin typeface="Times New Roman" panose="02020603050405020304" pitchFamily="18" charset="0"/>
                <a:cs typeface="Times New Roman" panose="02020603050405020304" pitchFamily="18" charset="0"/>
              </a:rPr>
              <a:t>geom_boxplot</a:t>
            </a:r>
            <a:r>
              <a:rPr lang="en-US" dirty="0" smtClean="0">
                <a:latin typeface="Times New Roman" panose="02020603050405020304" pitchFamily="18" charset="0"/>
                <a:cs typeface="Times New Roman" panose="02020603050405020304" pitchFamily="18" charset="0"/>
              </a:rPr>
              <a:t> to the plot (although this works best when colors</a:t>
            </a:r>
            <a:r>
              <a:rPr lang="en-IN" dirty="0" smtClean="0">
                <a:latin typeface="Times New Roman" panose="02020603050405020304" pitchFamily="18" charset="0"/>
                <a:cs typeface="Times New Roman" panose="02020603050405020304" pitchFamily="18" charset="0"/>
              </a:rPr>
              <a:t>are used).</a:t>
            </a:r>
          </a:p>
          <a:p>
            <a:pPr algn="just"/>
            <a:endParaRPr lang="en-US" dirty="0">
              <a:latin typeface="Times New Roman" pitchFamily="18" charset="0"/>
              <a:cs typeface="Times New Roman" pitchFamily="18" charset="0"/>
            </a:endParaRPr>
          </a:p>
        </p:txBody>
      </p:sp>
      <p:sp>
        <p:nvSpPr>
          <p:cNvPr id="6" name="Rectangle 5"/>
          <p:cNvSpPr/>
          <p:nvPr/>
        </p:nvSpPr>
        <p:spPr>
          <a:xfrm>
            <a:off x="0" y="4714884"/>
            <a:ext cx="8929718" cy="1754326"/>
          </a:xfrm>
          <a:prstGeom prst="rect">
            <a:avLst/>
          </a:prstGeom>
        </p:spPr>
        <p:txBody>
          <a:bodyPr wrap="square">
            <a:spAutoFit/>
          </a:bodyPr>
          <a:lstStyle/>
          <a:p>
            <a:r>
              <a:rPr lang="en-US" dirty="0" smtClean="0">
                <a:latin typeface="Times New Roman" pitchFamily="18" charset="0"/>
                <a:cs typeface="Times New Roman" pitchFamily="18" charset="0"/>
              </a:rPr>
              <a:t>Violin plots are available with the </a:t>
            </a:r>
            <a:r>
              <a:rPr lang="en-US" dirty="0" err="1" smtClean="0">
                <a:latin typeface="Times New Roman" pitchFamily="18" charset="0"/>
                <a:cs typeface="Times New Roman" pitchFamily="18" charset="0"/>
              </a:rPr>
              <a:t>violinplot</a:t>
            </a:r>
            <a:r>
              <a:rPr lang="en-US" dirty="0" smtClean="0">
                <a:latin typeface="Times New Roman" pitchFamily="18" charset="0"/>
                <a:cs typeface="Times New Roman" pitchFamily="18" charset="0"/>
              </a:rPr>
              <a:t> method of the </a:t>
            </a:r>
            <a:r>
              <a:rPr lang="en-US" dirty="0" err="1" smtClean="0">
                <a:latin typeface="Times New Roman" pitchFamily="18" charset="0"/>
                <a:cs typeface="Times New Roman" pitchFamily="18" charset="0"/>
              </a:rPr>
              <a:t>seaborn</a:t>
            </a:r>
            <a:r>
              <a:rPr lang="en-US" dirty="0" smtClean="0">
                <a:latin typeface="Times New Roman" pitchFamily="18" charset="0"/>
                <a:cs typeface="Times New Roman" pitchFamily="18" charset="0"/>
              </a:rPr>
              <a:t> package:</a:t>
            </a:r>
          </a:p>
          <a:p>
            <a:r>
              <a:rPr lang="en-US" dirty="0" smtClean="0">
                <a:latin typeface="Times New Roman" pitchFamily="18" charset="0"/>
                <a:cs typeface="Times New Roman" pitchFamily="18" charset="0"/>
              </a:rPr>
              <a:t>ax = </a:t>
            </a:r>
            <a:r>
              <a:rPr lang="en-US" dirty="0" err="1" smtClean="0">
                <a:latin typeface="Times New Roman" pitchFamily="18" charset="0"/>
                <a:cs typeface="Times New Roman" pitchFamily="18" charset="0"/>
              </a:rPr>
              <a:t>sns.violinplot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airline_stats.airline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airline_stats.pct_carrier_delay</a:t>
            </a:r>
            <a:r>
              <a:rPr lang="en-US" dirty="0" smtClean="0">
                <a:latin typeface="Times New Roman" pitchFamily="18" charset="0"/>
                <a:cs typeface="Times New Roman" pitchFamily="18" charset="0"/>
              </a:rPr>
              <a:t>,=inner='quartile',                       color='white')</a:t>
            </a:r>
          </a:p>
          <a:p>
            <a:endParaRPr lang="en-US" dirty="0" smtClean="0">
              <a:latin typeface="Times New Roman" pitchFamily="18" charset="0"/>
              <a:cs typeface="Times New Roman" pitchFamily="18" charset="0"/>
            </a:endParaRPr>
          </a:p>
          <a:p>
            <a:r>
              <a:rPr lang="en-US" dirty="0" err="1" smtClean="0">
                <a:latin typeface="Times New Roman" pitchFamily="18" charset="0"/>
                <a:cs typeface="Times New Roman" pitchFamily="18" charset="0"/>
              </a:rPr>
              <a:t>ax.set_xlabel</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ax.set_ylabel</a:t>
            </a:r>
            <a:r>
              <a:rPr lang="en-US" dirty="0" smtClean="0">
                <a:latin typeface="Times New Roman" pitchFamily="18" charset="0"/>
                <a:cs typeface="Times New Roman" pitchFamily="18" charset="0"/>
              </a:rPr>
              <a:t>('Daily % of Delayed Flights')</a:t>
            </a:r>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 xmlns:p14="http://schemas.microsoft.com/office/powerpoint/2010/main" val="33477164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0F0D8798-F5AD-70F3-AFC3-DC166193FB17}"/>
              </a:ext>
            </a:extLst>
          </p:cNvPr>
          <p:cNvPicPr>
            <a:picLocks noChangeAspect="1"/>
          </p:cNvPicPr>
          <p:nvPr/>
        </p:nvPicPr>
        <p:blipFill>
          <a:blip r:embed="rId2"/>
          <a:stretch>
            <a:fillRect/>
          </a:stretch>
        </p:blipFill>
        <p:spPr>
          <a:xfrm>
            <a:off x="4857752" y="428604"/>
            <a:ext cx="4176250" cy="4572032"/>
          </a:xfrm>
          <a:prstGeom prst="rect">
            <a:avLst/>
          </a:prstGeom>
        </p:spPr>
      </p:pic>
      <p:sp>
        <p:nvSpPr>
          <p:cNvPr id="5" name="TextBox 4">
            <a:extLst>
              <a:ext uri="{FF2B5EF4-FFF2-40B4-BE49-F238E27FC236}">
                <a16:creationId xmlns="" xmlns:a16="http://schemas.microsoft.com/office/drawing/2014/main" id="{54384FC8-943F-95FE-FDB2-570C2B7D27A4}"/>
              </a:ext>
            </a:extLst>
          </p:cNvPr>
          <p:cNvSpPr txBox="1"/>
          <p:nvPr/>
        </p:nvSpPr>
        <p:spPr>
          <a:xfrm>
            <a:off x="762000" y="5943600"/>
            <a:ext cx="7620000" cy="400110"/>
          </a:xfrm>
          <a:prstGeom prst="rect">
            <a:avLst/>
          </a:prstGeom>
          <a:noFill/>
        </p:spPr>
        <p:txBody>
          <a:bodyPr wrap="square">
            <a:spAutoFit/>
          </a:bodyPr>
          <a:lstStyle/>
          <a:p>
            <a:r>
              <a:rPr lang="en-US" sz="2000" b="1" u="none" strike="noStrike" baseline="0" dirty="0">
                <a:latin typeface="Times New Roman" panose="02020603050405020304" pitchFamily="18" charset="0"/>
                <a:cs typeface="Times New Roman" panose="02020603050405020304" pitchFamily="18" charset="0"/>
              </a:rPr>
              <a:t>Figure 1-12. </a:t>
            </a:r>
            <a:r>
              <a:rPr lang="en-US" u="none" strike="noStrike" baseline="0" dirty="0">
                <a:latin typeface="Times New Roman" panose="02020603050405020304" pitchFamily="18" charset="0"/>
                <a:cs typeface="Times New Roman" panose="02020603050405020304" pitchFamily="18" charset="0"/>
              </a:rPr>
              <a:t>Tax-assessed value versus finished square feet by zip code</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0" y="0"/>
            <a:ext cx="4714876" cy="5909310"/>
          </a:xfrm>
          <a:prstGeom prst="rect">
            <a:avLst/>
          </a:prstGeom>
        </p:spPr>
        <p:txBody>
          <a:bodyPr wrap="square">
            <a:spAutoFit/>
          </a:bodyPr>
          <a:lstStyle/>
          <a:p>
            <a:endParaRPr lang="en-US" b="1" dirty="0" smtClean="0">
              <a:latin typeface="Times New Roman" pitchFamily="18" charset="0"/>
              <a:cs typeface="Times New Roman" pitchFamily="18" charset="0"/>
            </a:endParaRPr>
          </a:p>
          <a:p>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Visualizing </a:t>
            </a:r>
            <a:r>
              <a:rPr lang="en-US" b="1" dirty="0" smtClean="0">
                <a:latin typeface="Times New Roman" pitchFamily="18" charset="0"/>
                <a:cs typeface="Times New Roman" pitchFamily="18" charset="0"/>
              </a:rPr>
              <a:t>Multiple Variables</a:t>
            </a:r>
          </a:p>
          <a:p>
            <a:endParaRPr lang="en-US" b="1"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The types of charts used to compare two variables—</a:t>
            </a:r>
            <a:r>
              <a:rPr lang="en-US" dirty="0" err="1" smtClean="0">
                <a:latin typeface="Times New Roman" pitchFamily="18" charset="0"/>
                <a:cs typeface="Times New Roman" pitchFamily="18" charset="0"/>
              </a:rPr>
              <a:t>scatterplots</a:t>
            </a:r>
            <a:r>
              <a:rPr lang="en-US" dirty="0" smtClean="0">
                <a:latin typeface="Times New Roman" pitchFamily="18" charset="0"/>
                <a:cs typeface="Times New Roman" pitchFamily="18" charset="0"/>
              </a:rPr>
              <a:t>, hexagonal </a:t>
            </a:r>
            <a:r>
              <a:rPr lang="en-US" dirty="0" err="1" smtClean="0">
                <a:latin typeface="Times New Roman" pitchFamily="18" charset="0"/>
                <a:cs typeface="Times New Roman" pitchFamily="18" charset="0"/>
              </a:rPr>
              <a:t>binning,and</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boxplots</a:t>
            </a:r>
            <a:r>
              <a:rPr lang="en-US" dirty="0" smtClean="0">
                <a:latin typeface="Times New Roman" pitchFamily="18" charset="0"/>
                <a:cs typeface="Times New Roman" pitchFamily="18" charset="0"/>
              </a:rPr>
              <a:t>—are readily extended to more variables through the notion of conditioning.</a:t>
            </a:r>
          </a:p>
          <a:p>
            <a:pPr algn="just"/>
            <a:r>
              <a:rPr lang="en-US" dirty="0" smtClean="0">
                <a:latin typeface="Times New Roman" pitchFamily="18" charset="0"/>
                <a:cs typeface="Times New Roman" pitchFamily="18" charset="0"/>
              </a:rPr>
              <a:t>	As an example, look back at Figure 1-8, which showed the relationship between homes’ finished square feet and their tax-assessed values. We observed that there appears to be a cluster of homes that have higher tax-assessed value per square foot. Diving deeper, Figure 1-12 accounts for the effect of location by plotting the data for a set of zip codes. Now the picture is much clearer: tax-assessed value is much higher in some zip codes (98105, 98126) than in others (98108, 98188). This disparity gives rise to the clusters observed</a:t>
            </a:r>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 xmlns:p14="http://schemas.microsoft.com/office/powerpoint/2010/main" val="659376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001156" cy="5632311"/>
          </a:xfrm>
          <a:prstGeom prst="rect">
            <a:avLst/>
          </a:prstGeom>
        </p:spPr>
        <p:txBody>
          <a:bodyPr wrap="square">
            <a:spAutoFit/>
          </a:bodyPr>
          <a:lstStyle/>
          <a:p>
            <a:endParaRPr lang="en-IN" dirty="0" smtClean="0"/>
          </a:p>
          <a:p>
            <a:endParaRPr lang="en-IN" dirty="0" smtClean="0"/>
          </a:p>
          <a:p>
            <a:endParaRPr lang="en-IN" dirty="0" smtClean="0"/>
          </a:p>
          <a:p>
            <a:endParaRPr lang="en-IN" dirty="0" smtClean="0"/>
          </a:p>
          <a:p>
            <a:r>
              <a:rPr lang="en-IN" dirty="0" smtClean="0"/>
              <a:t>Python </a:t>
            </a:r>
            <a:r>
              <a:rPr lang="en-IN" dirty="0" smtClean="0"/>
              <a:t>code:  </a:t>
            </a:r>
            <a:r>
              <a:rPr lang="en-US" dirty="0" smtClean="0"/>
              <a:t>Fortunately, </a:t>
            </a:r>
            <a:r>
              <a:rPr lang="en-US" dirty="0" err="1" smtClean="0"/>
              <a:t>seaborn</a:t>
            </a:r>
            <a:r>
              <a:rPr lang="en-US" dirty="0" smtClean="0"/>
              <a:t> has a relatively straightforward way of creating </a:t>
            </a:r>
            <a:r>
              <a:rPr lang="en-US" dirty="0" smtClean="0">
                <a:latin typeface="Times New Roman" pitchFamily="18" charset="0"/>
                <a:cs typeface="Times New Roman" pitchFamily="18" charset="0"/>
              </a:rPr>
              <a:t>Visualizing Multiple Variables </a:t>
            </a:r>
            <a:r>
              <a:rPr lang="en-US" dirty="0" smtClean="0"/>
              <a:t>graphs:</a:t>
            </a:r>
          </a:p>
          <a:p>
            <a:endParaRPr lang="en-US" dirty="0" smtClean="0"/>
          </a:p>
          <a:p>
            <a:endParaRPr lang="en-US" dirty="0" smtClean="0"/>
          </a:p>
          <a:p>
            <a:r>
              <a:rPr lang="en-US" dirty="0" err="1" smtClean="0"/>
              <a:t>zip_codes</a:t>
            </a:r>
            <a:r>
              <a:rPr lang="en-US" dirty="0" smtClean="0"/>
              <a:t> = [98188, 98105, 98108, 98126]</a:t>
            </a:r>
          </a:p>
          <a:p>
            <a:r>
              <a:rPr lang="en-US" dirty="0" err="1" smtClean="0"/>
              <a:t>kc_tax_zip</a:t>
            </a:r>
            <a:r>
              <a:rPr lang="en-US" dirty="0" smtClean="0"/>
              <a:t> = kc_tax0.loc[kc_tax0.ZipCode.isin(</a:t>
            </a:r>
            <a:r>
              <a:rPr lang="en-US" dirty="0" err="1" smtClean="0"/>
              <a:t>zip_codes</a:t>
            </a:r>
            <a:r>
              <a:rPr lang="en-US" dirty="0" smtClean="0"/>
              <a:t>),:]</a:t>
            </a:r>
          </a:p>
          <a:p>
            <a:r>
              <a:rPr lang="en-US" dirty="0" err="1" smtClean="0"/>
              <a:t>kc_tax_zip</a:t>
            </a:r>
            <a:endParaRPr lang="en-US" dirty="0" smtClean="0"/>
          </a:p>
          <a:p>
            <a:endParaRPr lang="en-US" dirty="0" smtClean="0"/>
          </a:p>
          <a:p>
            <a:r>
              <a:rPr lang="es-ES" b="1" dirty="0" err="1" smtClean="0"/>
              <a:t>def</a:t>
            </a:r>
            <a:r>
              <a:rPr lang="es-ES" b="1" dirty="0" smtClean="0"/>
              <a:t> </a:t>
            </a:r>
            <a:r>
              <a:rPr lang="es-ES" b="1" dirty="0" err="1" smtClean="0"/>
              <a:t>hexbin</a:t>
            </a:r>
            <a:r>
              <a:rPr lang="es-ES" b="1" dirty="0" smtClean="0"/>
              <a:t>(x, y, color, **</a:t>
            </a:r>
            <a:r>
              <a:rPr lang="es-ES" b="1" dirty="0" err="1" smtClean="0"/>
              <a:t>kwargs</a:t>
            </a:r>
            <a:r>
              <a:rPr lang="es-ES" b="1" dirty="0" smtClean="0"/>
              <a:t>):</a:t>
            </a:r>
          </a:p>
          <a:p>
            <a:r>
              <a:rPr lang="en-US" dirty="0" err="1" smtClean="0"/>
              <a:t>cmap</a:t>
            </a:r>
            <a:r>
              <a:rPr lang="en-US" dirty="0" smtClean="0"/>
              <a:t> = </a:t>
            </a:r>
            <a:r>
              <a:rPr lang="en-US" dirty="0" err="1" smtClean="0"/>
              <a:t>sns.light_palette</a:t>
            </a:r>
            <a:r>
              <a:rPr lang="en-US" dirty="0" smtClean="0"/>
              <a:t>(color, </a:t>
            </a:r>
            <a:r>
              <a:rPr lang="en-US" dirty="0" err="1" smtClean="0"/>
              <a:t>as_cmap</a:t>
            </a:r>
            <a:r>
              <a:rPr lang="en-US" dirty="0" smtClean="0"/>
              <a:t>=True)</a:t>
            </a:r>
          </a:p>
          <a:p>
            <a:r>
              <a:rPr lang="en-US" dirty="0" err="1" smtClean="0"/>
              <a:t>plt.hexbin</a:t>
            </a:r>
            <a:r>
              <a:rPr lang="en-US" dirty="0" smtClean="0"/>
              <a:t>(x, y, </a:t>
            </a:r>
            <a:r>
              <a:rPr lang="en-US" dirty="0" err="1" smtClean="0"/>
              <a:t>gridsize</a:t>
            </a:r>
            <a:r>
              <a:rPr lang="en-US" dirty="0" smtClean="0"/>
              <a:t>=25, </a:t>
            </a:r>
            <a:r>
              <a:rPr lang="en-US" dirty="0" err="1" smtClean="0"/>
              <a:t>cmap</a:t>
            </a:r>
            <a:r>
              <a:rPr lang="en-US" dirty="0" smtClean="0"/>
              <a:t>=</a:t>
            </a:r>
            <a:r>
              <a:rPr lang="en-US" dirty="0" err="1" smtClean="0"/>
              <a:t>cmap</a:t>
            </a:r>
            <a:r>
              <a:rPr lang="en-US" dirty="0" smtClean="0"/>
              <a:t>, **</a:t>
            </a:r>
            <a:r>
              <a:rPr lang="en-US" dirty="0" err="1" smtClean="0"/>
              <a:t>kwargs</a:t>
            </a:r>
            <a:r>
              <a:rPr lang="en-US" dirty="0" smtClean="0"/>
              <a:t>)</a:t>
            </a:r>
          </a:p>
          <a:p>
            <a:endParaRPr lang="en-US" dirty="0" smtClean="0"/>
          </a:p>
          <a:p>
            <a:r>
              <a:rPr lang="en-US" dirty="0" smtClean="0"/>
              <a:t>g = </a:t>
            </a:r>
            <a:r>
              <a:rPr lang="en-US" dirty="0" err="1" smtClean="0"/>
              <a:t>sns.FacetGrid</a:t>
            </a:r>
            <a:r>
              <a:rPr lang="en-US" dirty="0" smtClean="0"/>
              <a:t>(</a:t>
            </a:r>
            <a:r>
              <a:rPr lang="en-US" dirty="0" err="1" smtClean="0"/>
              <a:t>kc_tax_zip</a:t>
            </a:r>
            <a:r>
              <a:rPr lang="en-US" dirty="0" smtClean="0"/>
              <a:t>, </a:t>
            </a:r>
            <a:r>
              <a:rPr lang="en-US" dirty="0" err="1" smtClean="0"/>
              <a:t>col</a:t>
            </a:r>
            <a:r>
              <a:rPr lang="en-US" dirty="0" smtClean="0"/>
              <a:t>='</a:t>
            </a:r>
            <a:r>
              <a:rPr lang="en-US" dirty="0" err="1" smtClean="0"/>
              <a:t>ZipCode</a:t>
            </a:r>
            <a:r>
              <a:rPr lang="en-US" dirty="0" smtClean="0"/>
              <a:t>', </a:t>
            </a:r>
            <a:r>
              <a:rPr lang="en-US" dirty="0" err="1" smtClean="0"/>
              <a:t>col_wrap</a:t>
            </a:r>
            <a:r>
              <a:rPr lang="en-US" dirty="0" smtClean="0"/>
              <a:t>=2)</a:t>
            </a:r>
          </a:p>
          <a:p>
            <a:r>
              <a:rPr lang="en-US" dirty="0" smtClean="0"/>
              <a:t>g.map(</a:t>
            </a:r>
            <a:r>
              <a:rPr lang="en-US" dirty="0" err="1" smtClean="0"/>
              <a:t>hexbin</a:t>
            </a:r>
            <a:r>
              <a:rPr lang="en-US" dirty="0" smtClean="0"/>
              <a:t>, '</a:t>
            </a:r>
            <a:r>
              <a:rPr lang="en-US" dirty="0" err="1" smtClean="0"/>
              <a:t>SqFtTotLiving</a:t>
            </a:r>
            <a:r>
              <a:rPr lang="en-US" dirty="0" smtClean="0"/>
              <a:t>', '</a:t>
            </a:r>
            <a:r>
              <a:rPr lang="en-US" dirty="0" err="1" smtClean="0"/>
              <a:t>TaxAssessedValue</a:t>
            </a:r>
            <a:r>
              <a:rPr lang="en-US" dirty="0" smtClean="0"/>
              <a:t>',</a:t>
            </a:r>
            <a:r>
              <a:rPr lang="fr-FR" dirty="0" err="1" smtClean="0"/>
              <a:t>extent</a:t>
            </a:r>
            <a:r>
              <a:rPr lang="fr-FR" dirty="0" smtClean="0"/>
              <a:t>=[0, 3500, 0, 700000])</a:t>
            </a:r>
          </a:p>
          <a:p>
            <a:r>
              <a:rPr lang="en-US" dirty="0" err="1" smtClean="0"/>
              <a:t>g.set_axis_labels</a:t>
            </a:r>
            <a:r>
              <a:rPr lang="en-US" dirty="0" smtClean="0"/>
              <a:t>('Finished Square Feet', 'Tax-Assessed Value')</a:t>
            </a:r>
          </a:p>
          <a:p>
            <a:r>
              <a:rPr lang="en-US" dirty="0" err="1" smtClean="0"/>
              <a:t>g.set_titles</a:t>
            </a:r>
            <a:r>
              <a:rPr lang="en-US" dirty="0" smtClean="0"/>
              <a:t>('Zip code {col_name:.0f}')</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2249</TotalTime>
  <Words>2011</Words>
  <Application>Microsoft Office PowerPoint</Application>
  <PresentationFormat>On-screen Show (4:3)</PresentationFormat>
  <Paragraphs>624</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Flow</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sunil naidu</dc:creator>
  <cp:lastModifiedBy>sunil naidu</cp:lastModifiedBy>
  <cp:revision>62</cp:revision>
  <dcterms:created xsi:type="dcterms:W3CDTF">2006-08-16T00:00:00Z</dcterms:created>
  <dcterms:modified xsi:type="dcterms:W3CDTF">2025-09-06T09:52:41Z</dcterms:modified>
</cp:coreProperties>
</file>
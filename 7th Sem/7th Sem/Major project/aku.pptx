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7" r:id="rId2"/>
    <p:sldId id="258" r:id="rId3"/>
    <p:sldId id="259" r:id="rId4"/>
    <p:sldId id="260" r:id="rId5"/>
    <p:sldId id="261" r:id="rId6"/>
    <p:sldId id="262" r:id="rId7"/>
    <p:sldId id="267"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75" d="100"/>
          <a:sy n="75" d="100"/>
        </p:scale>
        <p:origin x="-883" y="-23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thasree. balappagari" userId="b29af616083bfa20" providerId="LiveId" clId="{2E9BBEF1-636C-4AF8-AD27-F718128511A9}"/>
    <pc:docChg chg="modSld">
      <pc:chgData name="lathasree. balappagari" userId="b29af616083bfa20" providerId="LiveId" clId="{2E9BBEF1-636C-4AF8-AD27-F718128511A9}" dt="2025-12-12T03:56:42.744" v="63" actId="20577"/>
      <pc:docMkLst>
        <pc:docMk/>
      </pc:docMkLst>
      <pc:sldChg chg="modSp mod">
        <pc:chgData name="lathasree. balappagari" userId="b29af616083bfa20" providerId="LiveId" clId="{2E9BBEF1-636C-4AF8-AD27-F718128511A9}" dt="2025-12-12T03:56:06.852" v="23" actId="20577"/>
        <pc:sldMkLst>
          <pc:docMk/>
          <pc:sldMk cId="2648228328" sldId="259"/>
        </pc:sldMkLst>
        <pc:spChg chg="mod">
          <ac:chgData name="lathasree. balappagari" userId="b29af616083bfa20" providerId="LiveId" clId="{2E9BBEF1-636C-4AF8-AD27-F718128511A9}" dt="2025-12-12T03:56:06.852" v="23" actId="20577"/>
          <ac:spMkLst>
            <pc:docMk/>
            <pc:sldMk cId="2648228328" sldId="259"/>
            <ac:spMk id="3" creationId="{A2E237D2-C7EB-8826-461B-A0BD6E16F25A}"/>
          </ac:spMkLst>
        </pc:spChg>
      </pc:sldChg>
      <pc:sldChg chg="modSp mod">
        <pc:chgData name="lathasree. balappagari" userId="b29af616083bfa20" providerId="LiveId" clId="{2E9BBEF1-636C-4AF8-AD27-F718128511A9}" dt="2025-12-12T03:56:42.744" v="63" actId="20577"/>
        <pc:sldMkLst>
          <pc:docMk/>
          <pc:sldMk cId="1902298874" sldId="260"/>
        </pc:sldMkLst>
        <pc:spChg chg="mod">
          <ac:chgData name="lathasree. balappagari" userId="b29af616083bfa20" providerId="LiveId" clId="{2E9BBEF1-636C-4AF8-AD27-F718128511A9}" dt="2025-12-12T03:56:42.744" v="63" actId="20577"/>
          <ac:spMkLst>
            <pc:docMk/>
            <pc:sldMk cId="1902298874" sldId="260"/>
            <ac:spMk id="3" creationId="{F2511D2D-67B9-1BA6-1DF2-B981DBFA1FD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5C6FE7-B2A6-4203-A89B-5F7D3049B329}" type="datetimeFigureOut">
              <a:rPr lang="en-IN" smtClean="0"/>
              <a:t>12-12-2025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A79054-FB18-417A-90BD-56F6AE7178F3}" type="slidenum">
              <a:rPr lang="en-IN" smtClean="0"/>
              <a:t>‹#›</a:t>
            </a:fld>
            <a:endParaRPr lang="en-IN"/>
          </a:p>
        </p:txBody>
      </p:sp>
    </p:spTree>
    <p:extLst>
      <p:ext uri="{BB962C8B-B14F-4D97-AF65-F5344CB8AC3E}">
        <p14:creationId xmlns:p14="http://schemas.microsoft.com/office/powerpoint/2010/main" val="3928222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FA79054-FB18-417A-90BD-56F6AE7178F3}" type="slidenum">
              <a:rPr lang="en-IN" smtClean="0"/>
              <a:t>6</a:t>
            </a:fld>
            <a:endParaRPr lang="en-IN"/>
          </a:p>
        </p:txBody>
      </p:sp>
    </p:spTree>
    <p:extLst>
      <p:ext uri="{BB962C8B-B14F-4D97-AF65-F5344CB8AC3E}">
        <p14:creationId xmlns:p14="http://schemas.microsoft.com/office/powerpoint/2010/main" val="1907222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8049CD-9304-4479-926B-71150D87AC88}" type="datetime1">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B1B5BC-6A0D-4EA5-BD1B-0A7505E80D0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5302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BD1B30-C8B7-4D3E-8A98-1D3202F1F007}" type="datetime1">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B1B5BC-6A0D-4EA5-BD1B-0A7505E80D07}" type="slidenum">
              <a:rPr lang="en-IN" smtClean="0"/>
              <a:t>‹#›</a:t>
            </a:fld>
            <a:endParaRPr lang="en-IN"/>
          </a:p>
        </p:txBody>
      </p:sp>
    </p:spTree>
    <p:extLst>
      <p:ext uri="{BB962C8B-B14F-4D97-AF65-F5344CB8AC3E}">
        <p14:creationId xmlns:p14="http://schemas.microsoft.com/office/powerpoint/2010/main" val="3570799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31A6F4-26F6-4C11-867B-870BA2932E1E}" type="datetime1">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B1B5BC-6A0D-4EA5-BD1B-0A7505E80D0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807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8E9071-A794-4FD1-B0FE-B7B4B05C2667}" type="datetime1">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B1B5BC-6A0D-4EA5-BD1B-0A7505E80D07}" type="slidenum">
              <a:rPr lang="en-IN" smtClean="0"/>
              <a:t>‹#›</a:t>
            </a:fld>
            <a:endParaRPr lang="en-IN"/>
          </a:p>
        </p:txBody>
      </p:sp>
    </p:spTree>
    <p:extLst>
      <p:ext uri="{BB962C8B-B14F-4D97-AF65-F5344CB8AC3E}">
        <p14:creationId xmlns:p14="http://schemas.microsoft.com/office/powerpoint/2010/main" val="2507696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9858FE-BF27-48B8-8EB4-684733D26356}" type="datetime1">
              <a:rPr lang="en-IN" smtClean="0"/>
              <a:t>12-12-2025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B1B5BC-6A0D-4EA5-BD1B-0A7505E80D07}" type="slidenum">
              <a:rPr lang="en-IN" smtClean="0"/>
              <a:t>‹#›</a:t>
            </a:fld>
            <a:endParaRPr lang="en-IN"/>
          </a:p>
        </p:txBody>
      </p:sp>
    </p:spTree>
    <p:extLst>
      <p:ext uri="{BB962C8B-B14F-4D97-AF65-F5344CB8AC3E}">
        <p14:creationId xmlns:p14="http://schemas.microsoft.com/office/powerpoint/2010/main" val="2371797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4E1DFA-5C95-439A-A7EB-DE6DF4EBD82F}" type="datetime1">
              <a:rPr lang="en-IN" smtClean="0"/>
              <a:t>12-12-2025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B1B5BC-6A0D-4EA5-BD1B-0A7505E80D07}" type="slidenum">
              <a:rPr lang="en-IN" smtClean="0"/>
              <a:t>‹#›</a:t>
            </a:fld>
            <a:endParaRPr lang="en-IN"/>
          </a:p>
        </p:txBody>
      </p:sp>
    </p:spTree>
    <p:extLst>
      <p:ext uri="{BB962C8B-B14F-4D97-AF65-F5344CB8AC3E}">
        <p14:creationId xmlns:p14="http://schemas.microsoft.com/office/powerpoint/2010/main" val="3262995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32E2C4F-6FAA-417A-8A79-15D84E48FC0D}" type="datetime1">
              <a:rPr lang="en-IN" smtClean="0"/>
              <a:t>12-12-2025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CB1B5BC-6A0D-4EA5-BD1B-0A7505E80D07}" type="slidenum">
              <a:rPr lang="en-IN" smtClean="0"/>
              <a:t>‹#›</a:t>
            </a:fld>
            <a:endParaRPr lang="en-IN"/>
          </a:p>
        </p:txBody>
      </p:sp>
    </p:spTree>
    <p:extLst>
      <p:ext uri="{BB962C8B-B14F-4D97-AF65-F5344CB8AC3E}">
        <p14:creationId xmlns:p14="http://schemas.microsoft.com/office/powerpoint/2010/main" val="137984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5E74C21-3414-4B65-AFF5-6E6C1236601C}" type="datetime1">
              <a:rPr lang="en-IN" smtClean="0"/>
              <a:t>12-12-2025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CB1B5BC-6A0D-4EA5-BD1B-0A7505E80D07}" type="slidenum">
              <a:rPr lang="en-IN" smtClean="0"/>
              <a:t>‹#›</a:t>
            </a:fld>
            <a:endParaRPr lang="en-IN"/>
          </a:p>
        </p:txBody>
      </p:sp>
    </p:spTree>
    <p:extLst>
      <p:ext uri="{BB962C8B-B14F-4D97-AF65-F5344CB8AC3E}">
        <p14:creationId xmlns:p14="http://schemas.microsoft.com/office/powerpoint/2010/main" val="170411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CDB507-DA35-42E3-BFD3-5F99D0496C39}" type="datetime1">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B1B5BC-6A0D-4EA5-BD1B-0A7505E80D07}" type="slidenum">
              <a:rPr lang="en-IN" smtClean="0"/>
              <a:t>‹#›</a:t>
            </a:fld>
            <a:endParaRPr lang="en-IN"/>
          </a:p>
        </p:txBody>
      </p:sp>
    </p:spTree>
    <p:extLst>
      <p:ext uri="{BB962C8B-B14F-4D97-AF65-F5344CB8AC3E}">
        <p14:creationId xmlns:p14="http://schemas.microsoft.com/office/powerpoint/2010/main" val="3823495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472FD-B7C6-4A68-ACF1-1F5C774C3EFC}" type="datetime1">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B1B5BC-6A0D-4EA5-BD1B-0A7505E80D07}" type="slidenum">
              <a:rPr lang="en-IN" smtClean="0"/>
              <a:t>‹#›</a:t>
            </a:fld>
            <a:endParaRPr lang="en-IN"/>
          </a:p>
        </p:txBody>
      </p:sp>
    </p:spTree>
    <p:extLst>
      <p:ext uri="{BB962C8B-B14F-4D97-AF65-F5344CB8AC3E}">
        <p14:creationId xmlns:p14="http://schemas.microsoft.com/office/powerpoint/2010/main" val="814985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781560-0C46-4758-99C0-5EAADFE8E110}" type="datetime1">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B1B5BC-6A0D-4EA5-BD1B-0A7505E80D07}" type="slidenum">
              <a:rPr lang="en-IN" smtClean="0"/>
              <a:t>‹#›</a:t>
            </a:fld>
            <a:endParaRPr lang="en-IN"/>
          </a:p>
        </p:txBody>
      </p:sp>
    </p:spTree>
    <p:extLst>
      <p:ext uri="{BB962C8B-B14F-4D97-AF65-F5344CB8AC3E}">
        <p14:creationId xmlns:p14="http://schemas.microsoft.com/office/powerpoint/2010/main" val="2645420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B3591A6-4DF1-4EB1-A62C-72A961378F21}" type="datetime1">
              <a:rPr lang="en-IN" smtClean="0"/>
              <a:t>12-12-2025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CB1B5BC-6A0D-4EA5-BD1B-0A7505E80D0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5639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95ACDF98-2FEE-D554-1FF2-38BF28128DE6}"/>
              </a:ext>
            </a:extLst>
          </p:cNvPr>
          <p:cNvSpPr txBox="1"/>
          <p:nvPr/>
        </p:nvSpPr>
        <p:spPr>
          <a:xfrm>
            <a:off x="10114590" y="650450"/>
            <a:ext cx="766856" cy="2026763"/>
          </a:xfrm>
          <a:prstGeom prst="rect">
            <a:avLst/>
          </a:prstGeom>
          <a:noFill/>
        </p:spPr>
        <p:txBody>
          <a:bodyPr wrap="square" rtlCol="0">
            <a:spAutoFit/>
          </a:bodyPr>
          <a:lstStyle/>
          <a:p>
            <a:endParaRPr lang="en-IN" dirty="0"/>
          </a:p>
        </p:txBody>
      </p:sp>
      <p:sp>
        <p:nvSpPr>
          <p:cNvPr id="6" name="TextBox 5">
            <a:extLst>
              <a:ext uri="{FF2B5EF4-FFF2-40B4-BE49-F238E27FC236}">
                <a16:creationId xmlns="" xmlns:a16="http://schemas.microsoft.com/office/drawing/2014/main" id="{8FCA68AF-8501-1566-F2DC-4C50AD64E65A}"/>
              </a:ext>
            </a:extLst>
          </p:cNvPr>
          <p:cNvSpPr txBox="1"/>
          <p:nvPr/>
        </p:nvSpPr>
        <p:spPr>
          <a:xfrm>
            <a:off x="1769806" y="2239129"/>
            <a:ext cx="8927691" cy="400110"/>
          </a:xfrm>
          <a:prstGeom prst="rect">
            <a:avLst/>
          </a:prstGeom>
          <a:noFill/>
        </p:spPr>
        <p:txBody>
          <a:bodyPr wrap="square" rtlCol="0">
            <a:spAutoFit/>
          </a:bodyPr>
          <a:lstStyle/>
          <a:p>
            <a:pPr algn="ctr"/>
            <a:r>
              <a:rPr lang="en-US" sz="2000" b="1" dirty="0">
                <a:solidFill>
                  <a:srgbClr val="002060"/>
                </a:solidFill>
                <a:latin typeface="Times New Roman" panose="02020603050405020304" pitchFamily="18" charset="0"/>
                <a:cs typeface="Times New Roman" panose="02020603050405020304" pitchFamily="18" charset="0"/>
              </a:rPr>
              <a:t>DEPARTMENT OF ARTIFICAL INTELLIGENCE AND DATA SCIENCE</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4AEB46AA-DC2D-25CE-31BE-720AFFE01228}"/>
              </a:ext>
            </a:extLst>
          </p:cNvPr>
          <p:cNvSpPr txBox="1"/>
          <p:nvPr/>
        </p:nvSpPr>
        <p:spPr>
          <a:xfrm>
            <a:off x="3401961" y="2815152"/>
            <a:ext cx="4011561" cy="646331"/>
          </a:xfrm>
          <a:prstGeom prst="rect">
            <a:avLst/>
          </a:prstGeom>
          <a:noFill/>
        </p:spPr>
        <p:txBody>
          <a:bodyPr wrap="square" rtlCol="0">
            <a:spAutoFit/>
          </a:bodyPr>
          <a:lstStyle/>
          <a:p>
            <a:endParaRPr lang="en-US" altLang="en-US" sz="1800" b="1" dirty="0">
              <a:solidFill>
                <a:srgbClr val="7030A0"/>
              </a:solidFill>
              <a:latin typeface="Times New Roman" panose="02020603050405020304" pitchFamily="18" charset="0"/>
              <a:cs typeface="Times New Roman" panose="02020603050405020304" pitchFamily="18" charset="0"/>
            </a:endParaRPr>
          </a:p>
          <a:p>
            <a:endParaRPr lang="en-IN" dirty="0"/>
          </a:p>
        </p:txBody>
      </p:sp>
      <p:sp>
        <p:nvSpPr>
          <p:cNvPr id="8" name="TextBox 7">
            <a:extLst>
              <a:ext uri="{FF2B5EF4-FFF2-40B4-BE49-F238E27FC236}">
                <a16:creationId xmlns="" xmlns:a16="http://schemas.microsoft.com/office/drawing/2014/main" id="{8433C0A4-6456-1907-7EB3-F527B39B94E1}"/>
              </a:ext>
            </a:extLst>
          </p:cNvPr>
          <p:cNvSpPr txBox="1"/>
          <p:nvPr/>
        </p:nvSpPr>
        <p:spPr>
          <a:xfrm>
            <a:off x="571358" y="3723333"/>
            <a:ext cx="4665660" cy="1754326"/>
          </a:xfrm>
          <a:prstGeom prst="rect">
            <a:avLst/>
          </a:prstGeom>
          <a:noFill/>
        </p:spPr>
        <p:txBody>
          <a:bodyPr wrap="square" lIns="91440" tIns="45720" rIns="91440" bIns="45720" rtlCol="0" anchor="t">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Team Members</a:t>
            </a:r>
          </a:p>
          <a:p>
            <a:r>
              <a:rPr lang="en-US" altLang="en-US" sz="1800" dirty="0">
                <a:solidFill>
                  <a:srgbClr val="7030A0"/>
                </a:solidFill>
                <a:latin typeface="Times New Roman" panose="02020603050405020304" pitchFamily="18" charset="0"/>
                <a:cs typeface="Times New Roman" panose="02020603050405020304" pitchFamily="18" charset="0"/>
              </a:rPr>
              <a:t>Name   </a:t>
            </a:r>
            <a:r>
              <a:rPr lang="en-US" altLang="en-US" sz="1800" dirty="0">
                <a:latin typeface="Times New Roman" panose="02020603050405020304" pitchFamily="18" charset="0"/>
                <a:cs typeface="Times New Roman" panose="02020603050405020304" pitchFamily="18" charset="0"/>
              </a:rPr>
              <a:t>                                </a:t>
            </a:r>
            <a:r>
              <a:rPr lang="en-US" altLang="en-US" sz="1800" dirty="0">
                <a:solidFill>
                  <a:srgbClr val="7030A0"/>
                </a:solidFill>
                <a:latin typeface="Times New Roman" panose="02020603050405020304" pitchFamily="18" charset="0"/>
                <a:cs typeface="Times New Roman" panose="02020603050405020304" pitchFamily="18" charset="0"/>
              </a:rPr>
              <a:t>USN</a:t>
            </a:r>
          </a:p>
          <a:p>
            <a:pPr algn="just"/>
            <a:r>
              <a:rPr lang="en-US" dirty="0">
                <a:solidFill>
                  <a:schemeClr val="accent2">
                    <a:lumMod val="50000"/>
                  </a:schemeClr>
                </a:solidFill>
                <a:latin typeface="Times New Roman" panose="02020603050405020304" pitchFamily="18" charset="0"/>
                <a:cs typeface="Times New Roman" panose="02020603050405020304" pitchFamily="18" charset="0"/>
              </a:rPr>
              <a:t>B.LATHA </a:t>
            </a:r>
            <a:r>
              <a:rPr lang="en-US" sz="1800" dirty="0">
                <a:solidFill>
                  <a:schemeClr val="accent2">
                    <a:lumMod val="50000"/>
                  </a:schemeClr>
                </a:solidFill>
                <a:latin typeface="Times New Roman" panose="02020603050405020304" pitchFamily="18" charset="0"/>
                <a:cs typeface="Times New Roman" panose="02020603050405020304" pitchFamily="18" charset="0"/>
              </a:rPr>
              <a:t>SREE           1SJ22AD006</a:t>
            </a:r>
          </a:p>
          <a:p>
            <a:pPr algn="just"/>
            <a:r>
              <a:rPr lang="en-US" sz="1800" dirty="0">
                <a:solidFill>
                  <a:schemeClr val="accent2">
                    <a:lumMod val="50000"/>
                  </a:schemeClr>
                </a:solidFill>
                <a:latin typeface="Times New Roman" panose="02020603050405020304" pitchFamily="18" charset="0"/>
                <a:cs typeface="Times New Roman" panose="02020603050405020304" pitchFamily="18" charset="0"/>
              </a:rPr>
              <a:t>C S MOUNIKA            1SJ22AD008</a:t>
            </a:r>
          </a:p>
          <a:p>
            <a:pPr algn="just"/>
            <a:r>
              <a:rPr lang="en-US" dirty="0">
                <a:solidFill>
                  <a:schemeClr val="accent2">
                    <a:lumMod val="50000"/>
                  </a:schemeClr>
                </a:solidFill>
                <a:latin typeface="Times New Roman"/>
                <a:cs typeface="Times New Roman"/>
              </a:rPr>
              <a:t>M.CHARAN                 1SJ22AD024</a:t>
            </a:r>
            <a:endParaRPr lang="en-US" sz="1800"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altLang="en-US" b="1" dirty="0">
                <a:solidFill>
                  <a:srgbClr val="C00000"/>
                </a:solidFill>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1D48C867-B2FD-6767-E04A-30AF9F332A5B}"/>
              </a:ext>
            </a:extLst>
          </p:cNvPr>
          <p:cNvSpPr txBox="1"/>
          <p:nvPr/>
        </p:nvSpPr>
        <p:spPr>
          <a:xfrm>
            <a:off x="8266651" y="3904270"/>
            <a:ext cx="2756949" cy="923330"/>
          </a:xfrm>
          <a:prstGeom prst="rect">
            <a:avLst/>
          </a:prstGeom>
          <a:noFill/>
        </p:spPr>
        <p:txBody>
          <a:bodyPr wrap="square" rtlCol="0">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Guide</a:t>
            </a:r>
          </a:p>
          <a:p>
            <a:r>
              <a:rPr lang="en-US" dirty="0">
                <a:solidFill>
                  <a:schemeClr val="accent1">
                    <a:lumMod val="50000"/>
                  </a:schemeClr>
                </a:solidFill>
                <a:latin typeface="Times New Roman" panose="02020603050405020304" pitchFamily="18" charset="0"/>
                <a:cs typeface="Times New Roman" panose="02020603050405020304" pitchFamily="18" charset="0"/>
              </a:rPr>
              <a:t>Badrinath K</a:t>
            </a:r>
          </a:p>
          <a:p>
            <a:r>
              <a:rPr lang="en-US" dirty="0">
                <a:solidFill>
                  <a:schemeClr val="accent1">
                    <a:lumMod val="50000"/>
                  </a:schemeClr>
                </a:solidFill>
                <a:latin typeface="Times New Roman" panose="02020603050405020304" pitchFamily="18" charset="0"/>
                <a:cs typeface="Times New Roman" panose="02020603050405020304" pitchFamily="18" charset="0"/>
              </a:rPr>
              <a:t>Assistant Professor</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7DB7900D-1C3F-5C6A-2309-D7AA2B58E5EA}"/>
              </a:ext>
            </a:extLst>
          </p:cNvPr>
          <p:cNvSpPr txBox="1"/>
          <p:nvPr/>
        </p:nvSpPr>
        <p:spPr>
          <a:xfrm>
            <a:off x="3244645" y="2676637"/>
            <a:ext cx="6132389" cy="400110"/>
          </a:xfrm>
          <a:prstGeom prst="rect">
            <a:avLst/>
          </a:prstGeom>
          <a:noFill/>
        </p:spPr>
        <p:txBody>
          <a:bodyPr wrap="square" rtlCol="0">
            <a:spAutoFit/>
          </a:bodyPr>
          <a:lstStyle/>
          <a:p>
            <a:pPr algn="ctr"/>
            <a:r>
              <a:rPr lang="en-US" altLang="en-US" sz="2000" b="1" dirty="0">
                <a:solidFill>
                  <a:srgbClr val="00B0F0"/>
                </a:solidFill>
                <a:latin typeface="Times New Roman" panose="02020603050405020304" pitchFamily="18" charset="0"/>
                <a:cs typeface="Times New Roman" panose="02020603050405020304" pitchFamily="18" charset="0"/>
              </a:rPr>
              <a:t>Project Review </a:t>
            </a:r>
          </a:p>
        </p:txBody>
      </p:sp>
      <p:sp>
        <p:nvSpPr>
          <p:cNvPr id="11" name="TextBox 10">
            <a:extLst>
              <a:ext uri="{FF2B5EF4-FFF2-40B4-BE49-F238E27FC236}">
                <a16:creationId xmlns="" xmlns:a16="http://schemas.microsoft.com/office/drawing/2014/main" id="{B55F04D9-787C-C7BE-3538-132F10334B1A}"/>
              </a:ext>
            </a:extLst>
          </p:cNvPr>
          <p:cNvSpPr txBox="1"/>
          <p:nvPr/>
        </p:nvSpPr>
        <p:spPr>
          <a:xfrm>
            <a:off x="382384" y="3324829"/>
            <a:ext cx="11230495" cy="400110"/>
          </a:xfrm>
          <a:prstGeom prst="rect">
            <a:avLst/>
          </a:prstGeom>
          <a:noFill/>
        </p:spPr>
        <p:txBody>
          <a:bodyPr wrap="square" rtlCol="0">
            <a:spAutoFit/>
          </a:bodyPr>
          <a:lstStyle/>
          <a:p>
            <a:pPr algn="ctr"/>
            <a:r>
              <a:rPr lang="en-IN" sz="2000" b="1"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CNN+LSTM”</a:t>
            </a:r>
            <a:endParaRPr lang="en-IN" sz="2000" b="1" dirty="0">
              <a:latin typeface="Times New Roman" panose="02020603050405020304" pitchFamily="18" charset="0"/>
              <a:cs typeface="Times New Roman" panose="02020603050405020304" pitchFamily="18" charset="0"/>
            </a:endParaRPr>
          </a:p>
        </p:txBody>
      </p:sp>
      <p:pic>
        <p:nvPicPr>
          <p:cNvPr id="12" name="Picture 3">
            <a:extLst>
              <a:ext uri="{FF2B5EF4-FFF2-40B4-BE49-F238E27FC236}">
                <a16:creationId xmlns="" xmlns:a16="http://schemas.microsoft.com/office/drawing/2014/main" id="{1FDF948A-B7A8-57CD-C91D-4A7B71FCF2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967" y="90145"/>
            <a:ext cx="1072551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3">
            <a:extLst>
              <a:ext uri="{FF2B5EF4-FFF2-40B4-BE49-F238E27FC236}">
                <a16:creationId xmlns="" xmlns:a16="http://schemas.microsoft.com/office/drawing/2014/main" id="{0675C4AC-F781-D1FA-DDE6-5CF396891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241" y="26027"/>
            <a:ext cx="1072551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Box 13">
            <a:extLst>
              <a:ext uri="{FF2B5EF4-FFF2-40B4-BE49-F238E27FC236}">
                <a16:creationId xmlns="" xmlns:a16="http://schemas.microsoft.com/office/drawing/2014/main" id="{4AC66E2A-B22B-208A-41A5-04817EC884C6}"/>
              </a:ext>
            </a:extLst>
          </p:cNvPr>
          <p:cNvSpPr txBox="1"/>
          <p:nvPr/>
        </p:nvSpPr>
        <p:spPr>
          <a:xfrm>
            <a:off x="665018" y="6550429"/>
            <a:ext cx="1878677" cy="230832"/>
          </a:xfrm>
          <a:prstGeom prst="rect">
            <a:avLst/>
          </a:prstGeom>
          <a:noFill/>
        </p:spPr>
        <p:txBody>
          <a:bodyPr wrap="square" rtlCol="0">
            <a:spAutoFit/>
          </a:bodyPr>
          <a:lstStyle/>
          <a:p>
            <a:r>
              <a:rPr lang="en-US" sz="900" dirty="0">
                <a:solidFill>
                  <a:schemeClr val="bg1"/>
                </a:solidFill>
              </a:rPr>
              <a:t>Dept of AI&amp;DS, SJCIT</a:t>
            </a:r>
            <a:endParaRPr lang="en-IN" sz="900" dirty="0">
              <a:solidFill>
                <a:schemeClr val="bg1"/>
              </a:solidFill>
            </a:endParaRPr>
          </a:p>
        </p:txBody>
      </p:sp>
      <p:sp>
        <p:nvSpPr>
          <p:cNvPr id="15" name="TextBox 14">
            <a:extLst>
              <a:ext uri="{FF2B5EF4-FFF2-40B4-BE49-F238E27FC236}">
                <a16:creationId xmlns="" xmlns:a16="http://schemas.microsoft.com/office/drawing/2014/main" id="{8778EE9C-EFA5-9115-A0F1-5DDD79F15F11}"/>
              </a:ext>
            </a:extLst>
          </p:cNvPr>
          <p:cNvSpPr txBox="1"/>
          <p:nvPr/>
        </p:nvSpPr>
        <p:spPr>
          <a:xfrm>
            <a:off x="4879570" y="6550429"/>
            <a:ext cx="1554481" cy="230832"/>
          </a:xfrm>
          <a:prstGeom prst="rect">
            <a:avLst/>
          </a:prstGeom>
          <a:noFill/>
        </p:spPr>
        <p:txBody>
          <a:bodyPr wrap="square" rtlCol="0">
            <a:spAutoFit/>
          </a:bodyPr>
          <a:lstStyle/>
          <a:p>
            <a:r>
              <a:rPr lang="en-IN" sz="900" cap="all" dirty="0">
                <a:solidFill>
                  <a:schemeClr val="bg1"/>
                </a:solidFill>
              </a:rPr>
              <a:t>2025-26</a:t>
            </a:r>
            <a:endParaRPr lang="en-IN" sz="900" dirty="0">
              <a:solidFill>
                <a:schemeClr val="bg1"/>
              </a:solidFill>
            </a:endParaRPr>
          </a:p>
        </p:txBody>
      </p:sp>
      <p:sp>
        <p:nvSpPr>
          <p:cNvPr id="16" name="TextBox 15">
            <a:extLst>
              <a:ext uri="{FF2B5EF4-FFF2-40B4-BE49-F238E27FC236}">
                <a16:creationId xmlns="" xmlns:a16="http://schemas.microsoft.com/office/drawing/2014/main" id="{CB41E477-5C41-9BA5-A439-84716F32FF20}"/>
              </a:ext>
            </a:extLst>
          </p:cNvPr>
          <p:cNvSpPr txBox="1"/>
          <p:nvPr/>
        </p:nvSpPr>
        <p:spPr>
          <a:xfrm>
            <a:off x="10814857" y="6550429"/>
            <a:ext cx="643901" cy="230832"/>
          </a:xfrm>
          <a:prstGeom prst="rect">
            <a:avLst/>
          </a:prstGeom>
          <a:noFill/>
        </p:spPr>
        <p:txBody>
          <a:bodyPr wrap="square" rtlCol="0">
            <a:spAutoFit/>
          </a:bodyPr>
          <a:lstStyle/>
          <a:p>
            <a:r>
              <a:rPr lang="en-IN" sz="900" dirty="0">
                <a:solidFill>
                  <a:schemeClr val="bg1"/>
                </a:solidFill>
              </a:rPr>
              <a:t>1</a:t>
            </a:r>
          </a:p>
        </p:txBody>
      </p:sp>
    </p:spTree>
    <p:extLst>
      <p:ext uri="{BB962C8B-B14F-4D97-AF65-F5344CB8AC3E}">
        <p14:creationId xmlns:p14="http://schemas.microsoft.com/office/powerpoint/2010/main" val="3933077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7BB32DB-95F0-C523-0709-A8E3688CA1E3}"/>
            </a:ext>
          </a:extLst>
        </p:cNvPr>
        <p:cNvGrpSpPr/>
        <p:nvPr/>
      </p:nvGrpSpPr>
      <p:grpSpPr>
        <a:xfrm>
          <a:off x="0" y="0"/>
          <a:ext cx="0" cy="0"/>
          <a:chOff x="0" y="0"/>
          <a:chExt cx="0" cy="0"/>
        </a:xfrm>
      </p:grpSpPr>
      <p:sp>
        <p:nvSpPr>
          <p:cNvPr id="15" name="TextBox 14">
            <a:extLst>
              <a:ext uri="{FF2B5EF4-FFF2-40B4-BE49-F238E27FC236}">
                <a16:creationId xmlns="" xmlns:a16="http://schemas.microsoft.com/office/drawing/2014/main" id="{3382C9D2-5730-8A16-981A-7F7F16033D89}"/>
              </a:ext>
            </a:extLst>
          </p:cNvPr>
          <p:cNvSpPr txBox="1"/>
          <p:nvPr/>
        </p:nvSpPr>
        <p:spPr>
          <a:xfrm rot="10800000" flipV="1">
            <a:off x="914400" y="6488972"/>
            <a:ext cx="3271984" cy="230832"/>
          </a:xfrm>
          <a:prstGeom prst="rect">
            <a:avLst/>
          </a:prstGeom>
          <a:noFill/>
        </p:spPr>
        <p:txBody>
          <a:bodyPr wrap="square">
            <a:spAutoFit/>
          </a:bodyPr>
          <a:lstStyle/>
          <a:p>
            <a:r>
              <a:rPr lang="en-US" sz="900" dirty="0">
                <a:solidFill>
                  <a:schemeClr val="bg1"/>
                </a:solidFill>
              </a:rPr>
              <a:t>Dept of AI&amp;DS, SJCIT</a:t>
            </a:r>
            <a:endParaRPr lang="en-IN" sz="900" dirty="0">
              <a:solidFill>
                <a:schemeClr val="bg1"/>
              </a:solidFill>
            </a:endParaRPr>
          </a:p>
        </p:txBody>
      </p:sp>
      <p:sp>
        <p:nvSpPr>
          <p:cNvPr id="16" name="TextBox 15">
            <a:extLst>
              <a:ext uri="{FF2B5EF4-FFF2-40B4-BE49-F238E27FC236}">
                <a16:creationId xmlns="" xmlns:a16="http://schemas.microsoft.com/office/drawing/2014/main" id="{0F143913-50BF-B024-6FD3-E905B601E431}"/>
              </a:ext>
            </a:extLst>
          </p:cNvPr>
          <p:cNvSpPr txBox="1"/>
          <p:nvPr/>
        </p:nvSpPr>
        <p:spPr>
          <a:xfrm>
            <a:off x="5926975" y="6488971"/>
            <a:ext cx="665018" cy="230833"/>
          </a:xfrm>
          <a:prstGeom prst="rect">
            <a:avLst/>
          </a:prstGeom>
          <a:noFill/>
        </p:spPr>
        <p:txBody>
          <a:bodyPr wrap="square" rtlCol="0">
            <a:spAutoFit/>
          </a:bodyPr>
          <a:lstStyle/>
          <a:p>
            <a:r>
              <a:rPr lang="en-IN" sz="900" dirty="0">
                <a:solidFill>
                  <a:schemeClr val="bg1"/>
                </a:solidFill>
              </a:rPr>
              <a:t>2025-26</a:t>
            </a:r>
          </a:p>
        </p:txBody>
      </p:sp>
      <p:sp>
        <p:nvSpPr>
          <p:cNvPr id="17" name="TextBox 16">
            <a:extLst>
              <a:ext uri="{FF2B5EF4-FFF2-40B4-BE49-F238E27FC236}">
                <a16:creationId xmlns="" xmlns:a16="http://schemas.microsoft.com/office/drawing/2014/main" id="{09FBAF03-0CD9-01A1-2BDE-43CD7149A32D}"/>
              </a:ext>
            </a:extLst>
          </p:cNvPr>
          <p:cNvSpPr txBox="1"/>
          <p:nvPr/>
        </p:nvSpPr>
        <p:spPr>
          <a:xfrm>
            <a:off x="10906297" y="6488971"/>
            <a:ext cx="556953" cy="230832"/>
          </a:xfrm>
          <a:prstGeom prst="rect">
            <a:avLst/>
          </a:prstGeom>
          <a:noFill/>
        </p:spPr>
        <p:txBody>
          <a:bodyPr wrap="square" rtlCol="0">
            <a:spAutoFit/>
          </a:bodyPr>
          <a:lstStyle/>
          <a:p>
            <a:r>
              <a:rPr lang="en-IN" sz="900" dirty="0">
                <a:solidFill>
                  <a:schemeClr val="bg1"/>
                </a:solidFill>
              </a:rPr>
              <a:t>2</a:t>
            </a:r>
          </a:p>
        </p:txBody>
      </p:sp>
      <p:sp>
        <p:nvSpPr>
          <p:cNvPr id="18" name="TextBox 17">
            <a:extLst>
              <a:ext uri="{FF2B5EF4-FFF2-40B4-BE49-F238E27FC236}">
                <a16:creationId xmlns="" xmlns:a16="http://schemas.microsoft.com/office/drawing/2014/main" id="{40CCE3CE-C1D9-7FB6-16BD-FE78EE313140}"/>
              </a:ext>
            </a:extLst>
          </p:cNvPr>
          <p:cNvSpPr txBox="1"/>
          <p:nvPr/>
        </p:nvSpPr>
        <p:spPr>
          <a:xfrm>
            <a:off x="0" y="0"/>
            <a:ext cx="3790603"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A Hybrid Neural Network for EEG-based Depression Screening Using CNN</a:t>
            </a:r>
          </a:p>
        </p:txBody>
      </p:sp>
      <p:sp>
        <p:nvSpPr>
          <p:cNvPr id="20" name="TextBox 19">
            <a:extLst>
              <a:ext uri="{FF2B5EF4-FFF2-40B4-BE49-F238E27FC236}">
                <a16:creationId xmlns="" xmlns:a16="http://schemas.microsoft.com/office/drawing/2014/main" id="{0AAFE826-A127-BBEA-8113-3E9E48E3C0B2}"/>
              </a:ext>
            </a:extLst>
          </p:cNvPr>
          <p:cNvSpPr txBox="1"/>
          <p:nvPr/>
        </p:nvSpPr>
        <p:spPr>
          <a:xfrm>
            <a:off x="2942705" y="473825"/>
            <a:ext cx="6203373"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TABLE OF CONTENTS</a:t>
            </a:r>
            <a:endParaRPr lang="en-IN" sz="2400" dirty="0"/>
          </a:p>
        </p:txBody>
      </p:sp>
      <p:sp>
        <p:nvSpPr>
          <p:cNvPr id="21" name="TextBox 20">
            <a:extLst>
              <a:ext uri="{FF2B5EF4-FFF2-40B4-BE49-F238E27FC236}">
                <a16:creationId xmlns="" xmlns:a16="http://schemas.microsoft.com/office/drawing/2014/main" id="{32F12545-863C-BBB5-1FA6-C5ED5C46189D}"/>
              </a:ext>
            </a:extLst>
          </p:cNvPr>
          <p:cNvSpPr txBox="1"/>
          <p:nvPr/>
        </p:nvSpPr>
        <p:spPr>
          <a:xfrm>
            <a:off x="1263535" y="1554480"/>
            <a:ext cx="3271984" cy="4524315"/>
          </a:xfrm>
          <a:prstGeom prst="rect">
            <a:avLst/>
          </a:prstGeom>
          <a:noFill/>
        </p:spPr>
        <p:txBody>
          <a:bodyPr wrap="square" rtlCol="0">
            <a:spAutoFit/>
          </a:bodyPr>
          <a:lstStyle/>
          <a:p>
            <a:pPr marL="342900" indent="-342900">
              <a:lnSpc>
                <a:spcPct val="150000"/>
              </a:lnSpc>
              <a:buFontTx/>
              <a:buAutoNum type="arabicPeriod"/>
            </a:pPr>
            <a:r>
              <a:rPr lang="en-IN" sz="2400" dirty="0">
                <a:latin typeface="Times New Roman" panose="02020603050405020304" pitchFamily="18" charset="0"/>
                <a:cs typeface="Times New Roman" panose="02020603050405020304" pitchFamily="18" charset="0"/>
              </a:rPr>
              <a:t>Abstract</a:t>
            </a:r>
          </a:p>
          <a:p>
            <a:pPr marL="342900" indent="-342900">
              <a:lnSpc>
                <a:spcPct val="150000"/>
              </a:lnSpc>
              <a:buAutoNum type="arabicPeriod"/>
            </a:pPr>
            <a:r>
              <a:rPr lang="en-IN" sz="2400" dirty="0">
                <a:latin typeface="Times New Roman" panose="02020603050405020304" pitchFamily="18" charset="0"/>
                <a:cs typeface="Times New Roman" panose="02020603050405020304" pitchFamily="18" charset="0"/>
              </a:rPr>
              <a:t>Introduction</a:t>
            </a:r>
          </a:p>
          <a:p>
            <a:pPr marL="342900" indent="-342900">
              <a:lnSpc>
                <a:spcPct val="150000"/>
              </a:lnSpc>
              <a:buFontTx/>
              <a:buAutoNum type="arabicPeriod"/>
            </a:pPr>
            <a:r>
              <a:rPr lang="en-IN" sz="2400" dirty="0">
                <a:latin typeface="Times New Roman" panose="02020603050405020304" pitchFamily="18" charset="0"/>
                <a:cs typeface="Times New Roman" panose="02020603050405020304" pitchFamily="18" charset="0"/>
              </a:rPr>
              <a:t>Objectives</a:t>
            </a:r>
          </a:p>
          <a:p>
            <a:pPr marL="342900" indent="-342900">
              <a:lnSpc>
                <a:spcPct val="150000"/>
              </a:lnSpc>
              <a:buAutoNum type="arabicPeriod"/>
            </a:pPr>
            <a:r>
              <a:rPr lang="en-IN" sz="2400">
                <a:latin typeface="Times New Roman" panose="02020603050405020304" pitchFamily="18" charset="0"/>
                <a:cs typeface="Times New Roman" panose="02020603050405020304" pitchFamily="18" charset="0"/>
              </a:rPr>
              <a:t>Methodology</a:t>
            </a:r>
          </a:p>
          <a:p>
            <a:pPr marL="342900" indent="-342900">
              <a:lnSpc>
                <a:spcPct val="150000"/>
              </a:lnSpc>
              <a:buAutoNum type="arabicPeriod"/>
            </a:pPr>
            <a:r>
              <a:rPr lang="en-IN" sz="2400">
                <a:latin typeface="Times New Roman" panose="02020603050405020304" pitchFamily="18" charset="0"/>
                <a:cs typeface="Times New Roman" panose="02020603050405020304" pitchFamily="18" charset="0"/>
              </a:rPr>
              <a:t>Architecture</a:t>
            </a: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Tx/>
              <a:buAutoNum type="arabicPeriod"/>
            </a:pPr>
            <a:r>
              <a:rPr lang="en-IN" sz="2400" dirty="0">
                <a:latin typeface="Times New Roman" panose="02020603050405020304" pitchFamily="18" charset="0"/>
                <a:cs typeface="Times New Roman" panose="02020603050405020304" pitchFamily="18" charset="0"/>
              </a:rPr>
              <a:t>Results</a:t>
            </a:r>
          </a:p>
          <a:p>
            <a:pPr marL="342900" indent="-342900">
              <a:lnSpc>
                <a:spcPct val="150000"/>
              </a:lnSpc>
              <a:buFontTx/>
              <a:buAutoNum type="arabicPeriod"/>
            </a:pPr>
            <a:r>
              <a:rPr lang="en-IN" sz="2400" dirty="0">
                <a:latin typeface="Times New Roman" panose="02020603050405020304" pitchFamily="18" charset="0"/>
                <a:cs typeface="Times New Roman" panose="02020603050405020304" pitchFamily="18" charset="0"/>
              </a:rPr>
              <a:t>Conclusion</a:t>
            </a:r>
          </a:p>
          <a:p>
            <a:pPr marL="342900" indent="-342900">
              <a:buFontTx/>
              <a:buAutoNum type="arabicPeriod"/>
            </a:pPr>
            <a:endParaRPr lang="en-IN" dirty="0"/>
          </a:p>
          <a:p>
            <a:pPr marL="342900" indent="-342900">
              <a:buAutoNum type="arabicPeriod"/>
            </a:pP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2865" y="215444"/>
            <a:ext cx="1581150"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3890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B1183BA-D20F-F114-B4D7-8DCDC7E3CCB4}"/>
            </a:ext>
          </a:extLst>
        </p:cNvPr>
        <p:cNvGrpSpPr/>
        <p:nvPr/>
      </p:nvGrpSpPr>
      <p:grpSpPr>
        <a:xfrm>
          <a:off x="0" y="0"/>
          <a:ext cx="0" cy="0"/>
          <a:chOff x="0" y="0"/>
          <a:chExt cx="0" cy="0"/>
        </a:xfrm>
      </p:grpSpPr>
      <p:sp>
        <p:nvSpPr>
          <p:cNvPr id="15" name="TextBox 14">
            <a:extLst>
              <a:ext uri="{FF2B5EF4-FFF2-40B4-BE49-F238E27FC236}">
                <a16:creationId xmlns="" xmlns:a16="http://schemas.microsoft.com/office/drawing/2014/main" id="{C6CE176A-C649-0523-4639-E167DFD119D9}"/>
              </a:ext>
            </a:extLst>
          </p:cNvPr>
          <p:cNvSpPr txBox="1"/>
          <p:nvPr/>
        </p:nvSpPr>
        <p:spPr>
          <a:xfrm rot="10800000" flipV="1">
            <a:off x="914400" y="6488972"/>
            <a:ext cx="3271984" cy="230832"/>
          </a:xfrm>
          <a:prstGeom prst="rect">
            <a:avLst/>
          </a:prstGeom>
          <a:noFill/>
        </p:spPr>
        <p:txBody>
          <a:bodyPr wrap="square">
            <a:spAutoFit/>
          </a:bodyPr>
          <a:lstStyle/>
          <a:p>
            <a:r>
              <a:rPr lang="en-US" sz="900" dirty="0">
                <a:solidFill>
                  <a:schemeClr val="bg1"/>
                </a:solidFill>
              </a:rPr>
              <a:t>Dept of AI&amp;DS, SJCIT</a:t>
            </a:r>
            <a:endParaRPr lang="en-IN" sz="900" dirty="0">
              <a:solidFill>
                <a:schemeClr val="bg1"/>
              </a:solidFill>
            </a:endParaRPr>
          </a:p>
        </p:txBody>
      </p:sp>
      <p:sp>
        <p:nvSpPr>
          <p:cNvPr id="16" name="TextBox 15">
            <a:extLst>
              <a:ext uri="{FF2B5EF4-FFF2-40B4-BE49-F238E27FC236}">
                <a16:creationId xmlns="" xmlns:a16="http://schemas.microsoft.com/office/drawing/2014/main" id="{9503D8E3-C9CD-55EF-86E7-E70D97862B77}"/>
              </a:ext>
            </a:extLst>
          </p:cNvPr>
          <p:cNvSpPr txBox="1"/>
          <p:nvPr/>
        </p:nvSpPr>
        <p:spPr>
          <a:xfrm>
            <a:off x="5926975" y="6488971"/>
            <a:ext cx="665018" cy="230833"/>
          </a:xfrm>
          <a:prstGeom prst="rect">
            <a:avLst/>
          </a:prstGeom>
          <a:noFill/>
        </p:spPr>
        <p:txBody>
          <a:bodyPr wrap="square" rtlCol="0">
            <a:spAutoFit/>
          </a:bodyPr>
          <a:lstStyle/>
          <a:p>
            <a:r>
              <a:rPr lang="en-IN" sz="900" dirty="0">
                <a:solidFill>
                  <a:schemeClr val="bg1"/>
                </a:solidFill>
              </a:rPr>
              <a:t>2025-26</a:t>
            </a:r>
          </a:p>
        </p:txBody>
      </p:sp>
      <p:sp>
        <p:nvSpPr>
          <p:cNvPr id="17" name="TextBox 16">
            <a:extLst>
              <a:ext uri="{FF2B5EF4-FFF2-40B4-BE49-F238E27FC236}">
                <a16:creationId xmlns="" xmlns:a16="http://schemas.microsoft.com/office/drawing/2014/main" id="{B2B1D6AE-E934-22B6-15F3-98B766B38AB5}"/>
              </a:ext>
            </a:extLst>
          </p:cNvPr>
          <p:cNvSpPr txBox="1"/>
          <p:nvPr/>
        </p:nvSpPr>
        <p:spPr>
          <a:xfrm>
            <a:off x="10906297" y="6488971"/>
            <a:ext cx="556953" cy="230832"/>
          </a:xfrm>
          <a:prstGeom prst="rect">
            <a:avLst/>
          </a:prstGeom>
          <a:noFill/>
        </p:spPr>
        <p:txBody>
          <a:bodyPr wrap="square" rtlCol="0">
            <a:spAutoFit/>
          </a:bodyPr>
          <a:lstStyle/>
          <a:p>
            <a:r>
              <a:rPr lang="en-IN" sz="900" dirty="0">
                <a:solidFill>
                  <a:schemeClr val="bg1"/>
                </a:solidFill>
              </a:rPr>
              <a:t>3</a:t>
            </a:r>
          </a:p>
        </p:txBody>
      </p:sp>
      <p:sp>
        <p:nvSpPr>
          <p:cNvPr id="18" name="TextBox 17">
            <a:extLst>
              <a:ext uri="{FF2B5EF4-FFF2-40B4-BE49-F238E27FC236}">
                <a16:creationId xmlns="" xmlns:a16="http://schemas.microsoft.com/office/drawing/2014/main" id="{62284D01-8BD3-9420-8BC0-14CE59F761BC}"/>
              </a:ext>
            </a:extLst>
          </p:cNvPr>
          <p:cNvSpPr txBox="1"/>
          <p:nvPr/>
        </p:nvSpPr>
        <p:spPr>
          <a:xfrm>
            <a:off x="0" y="0"/>
            <a:ext cx="3790603"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A Hybrid Neural Network for EEG-based Depression Screening Using CNN</a:t>
            </a:r>
          </a:p>
        </p:txBody>
      </p:sp>
      <p:sp>
        <p:nvSpPr>
          <p:cNvPr id="2" name="TextBox 1">
            <a:extLst>
              <a:ext uri="{FF2B5EF4-FFF2-40B4-BE49-F238E27FC236}">
                <a16:creationId xmlns="" xmlns:a16="http://schemas.microsoft.com/office/drawing/2014/main" id="{3CEBC1A7-7AF5-3CBD-591B-D26F443D97D8}"/>
              </a:ext>
            </a:extLst>
          </p:cNvPr>
          <p:cNvSpPr txBox="1"/>
          <p:nvPr/>
        </p:nvSpPr>
        <p:spPr>
          <a:xfrm>
            <a:off x="332509" y="532015"/>
            <a:ext cx="11405061"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ABSTRACT</a:t>
            </a:r>
          </a:p>
        </p:txBody>
      </p:sp>
      <p:sp>
        <p:nvSpPr>
          <p:cNvPr id="3" name="TextBox 2">
            <a:extLst>
              <a:ext uri="{FF2B5EF4-FFF2-40B4-BE49-F238E27FC236}">
                <a16:creationId xmlns="" xmlns:a16="http://schemas.microsoft.com/office/drawing/2014/main" id="{A2E237D2-C7EB-8826-461B-A0BD6E16F25A}"/>
              </a:ext>
            </a:extLst>
          </p:cNvPr>
          <p:cNvSpPr txBox="1"/>
          <p:nvPr/>
        </p:nvSpPr>
        <p:spPr>
          <a:xfrm>
            <a:off x="1396538" y="1296785"/>
            <a:ext cx="9509759" cy="2862322"/>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Depression is a widespread psychological disorder affecting people of all ages. Early diagnosis is crucial, and EEG signals can help assess mental health. A fully automated Depression Detection System using a novel Hybrid Neural Network, </a:t>
            </a:r>
            <a:r>
              <a:rPr lang="en-US" b="1"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which combines CNN for temporal learning and LSTM for sequence learning. EEG data from 34 depressed and 30 normal drug-free individuals were used. The system achieves </a:t>
            </a:r>
            <a:r>
              <a:rPr lang="en-US" b="1" dirty="0">
                <a:latin typeface="Times New Roman" panose="02020603050405020304" pitchFamily="18" charset="0"/>
                <a:cs typeface="Times New Roman" panose="02020603050405020304" pitchFamily="18" charset="0"/>
              </a:rPr>
              <a:t>98.27 accuracy</a:t>
            </a:r>
            <a:r>
              <a:rPr lang="en-US" dirty="0">
                <a:latin typeface="Times New Roman" panose="02020603050405020304" pitchFamily="18" charset="0"/>
                <a:cs typeface="Times New Roman" panose="02020603050405020304" pitchFamily="18" charset="0"/>
              </a:rPr>
              <a:t> and a </a:t>
            </a:r>
            <a:r>
              <a:rPr lang="en-US" b="1" dirty="0">
                <a:latin typeface="Times New Roman" panose="02020603050405020304" pitchFamily="18" charset="0"/>
                <a:cs typeface="Times New Roman" panose="02020603050405020304" pitchFamily="18" charset="0"/>
              </a:rPr>
              <a:t>MAE of 0.0237</a:t>
            </a:r>
            <a:r>
              <a:rPr lang="en-US" dirty="0">
                <a:latin typeface="Times New Roman" panose="02020603050405020304" pitchFamily="18" charset="0"/>
                <a:cs typeface="Times New Roman" panose="02020603050405020304" pitchFamily="18" charset="0"/>
              </a:rPr>
              <a:t>, offering an efficient, accurate, and low-complexity solution for EEG-based depression screening.</a:t>
            </a:r>
            <a:endParaRPr lang="en-IN" dirty="0">
              <a:latin typeface="Times New Roman" panose="02020603050405020304" pitchFamily="18" charset="0"/>
              <a:cs typeface="Times New Roman" panose="02020603050405020304" pitchFamily="18" charset="0"/>
            </a:endParaRP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5722" y="178935"/>
            <a:ext cx="1581150"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8228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EA917F6-35B6-5A35-93E6-9BC283CD5B82}"/>
            </a:ext>
          </a:extLst>
        </p:cNvPr>
        <p:cNvGrpSpPr/>
        <p:nvPr/>
      </p:nvGrpSpPr>
      <p:grpSpPr>
        <a:xfrm>
          <a:off x="0" y="0"/>
          <a:ext cx="0" cy="0"/>
          <a:chOff x="0" y="0"/>
          <a:chExt cx="0" cy="0"/>
        </a:xfrm>
      </p:grpSpPr>
      <p:sp>
        <p:nvSpPr>
          <p:cNvPr id="15" name="TextBox 14">
            <a:extLst>
              <a:ext uri="{FF2B5EF4-FFF2-40B4-BE49-F238E27FC236}">
                <a16:creationId xmlns="" xmlns:a16="http://schemas.microsoft.com/office/drawing/2014/main" id="{4406459D-2FAF-AD4A-8AA3-7E9B5C676BA4}"/>
              </a:ext>
            </a:extLst>
          </p:cNvPr>
          <p:cNvSpPr txBox="1"/>
          <p:nvPr/>
        </p:nvSpPr>
        <p:spPr>
          <a:xfrm rot="10800000" flipV="1">
            <a:off x="914400" y="6488972"/>
            <a:ext cx="3271984" cy="230832"/>
          </a:xfrm>
          <a:prstGeom prst="rect">
            <a:avLst/>
          </a:prstGeom>
          <a:noFill/>
        </p:spPr>
        <p:txBody>
          <a:bodyPr wrap="square">
            <a:spAutoFit/>
          </a:bodyPr>
          <a:lstStyle/>
          <a:p>
            <a:r>
              <a:rPr lang="en-US" sz="900" dirty="0">
                <a:solidFill>
                  <a:schemeClr val="bg1"/>
                </a:solidFill>
              </a:rPr>
              <a:t>Dept of AI&amp;DS, SJCIT</a:t>
            </a:r>
            <a:endParaRPr lang="en-IN" sz="900" dirty="0">
              <a:solidFill>
                <a:schemeClr val="bg1"/>
              </a:solidFill>
            </a:endParaRPr>
          </a:p>
        </p:txBody>
      </p:sp>
      <p:sp>
        <p:nvSpPr>
          <p:cNvPr id="16" name="TextBox 15">
            <a:extLst>
              <a:ext uri="{FF2B5EF4-FFF2-40B4-BE49-F238E27FC236}">
                <a16:creationId xmlns="" xmlns:a16="http://schemas.microsoft.com/office/drawing/2014/main" id="{692337A0-3A36-E071-6F2A-D0C86181EBCE}"/>
              </a:ext>
            </a:extLst>
          </p:cNvPr>
          <p:cNvSpPr txBox="1"/>
          <p:nvPr/>
        </p:nvSpPr>
        <p:spPr>
          <a:xfrm>
            <a:off x="5926975" y="6488971"/>
            <a:ext cx="665018" cy="230833"/>
          </a:xfrm>
          <a:prstGeom prst="rect">
            <a:avLst/>
          </a:prstGeom>
          <a:noFill/>
        </p:spPr>
        <p:txBody>
          <a:bodyPr wrap="square" rtlCol="0">
            <a:spAutoFit/>
          </a:bodyPr>
          <a:lstStyle/>
          <a:p>
            <a:r>
              <a:rPr lang="en-IN" sz="900" dirty="0">
                <a:solidFill>
                  <a:schemeClr val="bg1"/>
                </a:solidFill>
              </a:rPr>
              <a:t>2025-26</a:t>
            </a:r>
          </a:p>
        </p:txBody>
      </p:sp>
      <p:sp>
        <p:nvSpPr>
          <p:cNvPr id="17" name="TextBox 16">
            <a:extLst>
              <a:ext uri="{FF2B5EF4-FFF2-40B4-BE49-F238E27FC236}">
                <a16:creationId xmlns="" xmlns:a16="http://schemas.microsoft.com/office/drawing/2014/main" id="{F8D19822-577C-8C8E-152C-1D78E479675B}"/>
              </a:ext>
            </a:extLst>
          </p:cNvPr>
          <p:cNvSpPr txBox="1"/>
          <p:nvPr/>
        </p:nvSpPr>
        <p:spPr>
          <a:xfrm>
            <a:off x="10906297" y="6488971"/>
            <a:ext cx="556953" cy="230832"/>
          </a:xfrm>
          <a:prstGeom prst="rect">
            <a:avLst/>
          </a:prstGeom>
          <a:noFill/>
        </p:spPr>
        <p:txBody>
          <a:bodyPr wrap="square" rtlCol="0">
            <a:spAutoFit/>
          </a:bodyPr>
          <a:lstStyle/>
          <a:p>
            <a:r>
              <a:rPr lang="en-IN" sz="900" dirty="0">
                <a:solidFill>
                  <a:schemeClr val="bg1"/>
                </a:solidFill>
              </a:rPr>
              <a:t>4</a:t>
            </a:r>
          </a:p>
        </p:txBody>
      </p:sp>
      <p:sp>
        <p:nvSpPr>
          <p:cNvPr id="18" name="TextBox 17">
            <a:extLst>
              <a:ext uri="{FF2B5EF4-FFF2-40B4-BE49-F238E27FC236}">
                <a16:creationId xmlns="" xmlns:a16="http://schemas.microsoft.com/office/drawing/2014/main" id="{BDFA7986-98EA-5C97-2A4D-3E5BA19684E1}"/>
              </a:ext>
            </a:extLst>
          </p:cNvPr>
          <p:cNvSpPr txBox="1"/>
          <p:nvPr/>
        </p:nvSpPr>
        <p:spPr>
          <a:xfrm>
            <a:off x="0" y="0"/>
            <a:ext cx="3790603"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A Hybrid Neural Network for EEG-based Depression Screening Using CNN</a:t>
            </a:r>
          </a:p>
        </p:txBody>
      </p:sp>
      <p:sp>
        <p:nvSpPr>
          <p:cNvPr id="2" name="TextBox 1">
            <a:extLst>
              <a:ext uri="{FF2B5EF4-FFF2-40B4-BE49-F238E27FC236}">
                <a16:creationId xmlns="" xmlns:a16="http://schemas.microsoft.com/office/drawing/2014/main" id="{9967E5E9-04D1-5832-CFD0-0A9F574D4253}"/>
              </a:ext>
            </a:extLst>
          </p:cNvPr>
          <p:cNvSpPr txBox="1"/>
          <p:nvPr/>
        </p:nvSpPr>
        <p:spPr>
          <a:xfrm>
            <a:off x="299258" y="631767"/>
            <a:ext cx="11587941" cy="800219"/>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INTRODUCTION</a:t>
            </a:r>
          </a:p>
          <a:p>
            <a:endParaRPr lang="en-IN" dirty="0"/>
          </a:p>
        </p:txBody>
      </p:sp>
      <p:sp>
        <p:nvSpPr>
          <p:cNvPr id="3" name="TextBox 2">
            <a:extLst>
              <a:ext uri="{FF2B5EF4-FFF2-40B4-BE49-F238E27FC236}">
                <a16:creationId xmlns="" xmlns:a16="http://schemas.microsoft.com/office/drawing/2014/main" id="{F2511D2D-67B9-1BA6-1DF2-B981DBFA1FD7}"/>
              </a:ext>
            </a:extLst>
          </p:cNvPr>
          <p:cNvSpPr txBox="1"/>
          <p:nvPr/>
        </p:nvSpPr>
        <p:spPr>
          <a:xfrm>
            <a:off x="1504604" y="1512916"/>
            <a:ext cx="9509760" cy="2862322"/>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Depression affects over 322 million people worldwide, with a higher incidence among females. Although it is a treatable condition, nearly half of the cases remain undiagnosed due to factors like limited awareness, insufficient resources, and incorrect diagnoses. EEG signals, being non-invasive and cost-effective, serve as valuable biomarkers for identifying neurological disorders, including depression. However, their complexity makes manual analysis challenging. A hybrid LSTM-CNN model (</a:t>
            </a:r>
            <a:r>
              <a:rPr lang="en-US"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for efficient and accurate detection of depression using EEG data.</a:t>
            </a:r>
            <a:endParaRPr lang="en-IN" b="1" dirty="0">
              <a:latin typeface="Times New Roman" panose="02020603050405020304" pitchFamily="18" charset="0"/>
              <a:cs typeface="Times New Roman" panose="02020603050405020304" pitchFamily="18" charset="0"/>
            </a:endParaRPr>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8705" y="450850"/>
            <a:ext cx="1581150"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2298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C6869C2-C326-E6C2-178E-87F0EC061F8D}"/>
            </a:ext>
          </a:extLst>
        </p:cNvPr>
        <p:cNvGrpSpPr/>
        <p:nvPr/>
      </p:nvGrpSpPr>
      <p:grpSpPr>
        <a:xfrm>
          <a:off x="0" y="0"/>
          <a:ext cx="0" cy="0"/>
          <a:chOff x="0" y="0"/>
          <a:chExt cx="0" cy="0"/>
        </a:xfrm>
      </p:grpSpPr>
      <p:sp>
        <p:nvSpPr>
          <p:cNvPr id="15" name="TextBox 14">
            <a:extLst>
              <a:ext uri="{FF2B5EF4-FFF2-40B4-BE49-F238E27FC236}">
                <a16:creationId xmlns="" xmlns:a16="http://schemas.microsoft.com/office/drawing/2014/main" id="{54C75814-9467-9677-F236-9BA7070358E5}"/>
              </a:ext>
            </a:extLst>
          </p:cNvPr>
          <p:cNvSpPr txBox="1"/>
          <p:nvPr/>
        </p:nvSpPr>
        <p:spPr>
          <a:xfrm rot="10800000" flipV="1">
            <a:off x="914400" y="6488972"/>
            <a:ext cx="3271984" cy="230832"/>
          </a:xfrm>
          <a:prstGeom prst="rect">
            <a:avLst/>
          </a:prstGeom>
          <a:noFill/>
        </p:spPr>
        <p:txBody>
          <a:bodyPr wrap="square">
            <a:spAutoFit/>
          </a:bodyPr>
          <a:lstStyle/>
          <a:p>
            <a:r>
              <a:rPr lang="en-US" sz="900" dirty="0">
                <a:solidFill>
                  <a:schemeClr val="bg1"/>
                </a:solidFill>
              </a:rPr>
              <a:t>Dept of AI&amp;DS, SJCIT</a:t>
            </a:r>
            <a:endParaRPr lang="en-IN" sz="900" dirty="0">
              <a:solidFill>
                <a:schemeClr val="bg1"/>
              </a:solidFill>
            </a:endParaRPr>
          </a:p>
        </p:txBody>
      </p:sp>
      <p:sp>
        <p:nvSpPr>
          <p:cNvPr id="16" name="TextBox 15">
            <a:extLst>
              <a:ext uri="{FF2B5EF4-FFF2-40B4-BE49-F238E27FC236}">
                <a16:creationId xmlns="" xmlns:a16="http://schemas.microsoft.com/office/drawing/2014/main" id="{9654F68D-527B-1B6A-7B98-0E6C1216435A}"/>
              </a:ext>
            </a:extLst>
          </p:cNvPr>
          <p:cNvSpPr txBox="1"/>
          <p:nvPr/>
        </p:nvSpPr>
        <p:spPr>
          <a:xfrm>
            <a:off x="5926975" y="6488971"/>
            <a:ext cx="665018" cy="230833"/>
          </a:xfrm>
          <a:prstGeom prst="rect">
            <a:avLst/>
          </a:prstGeom>
          <a:noFill/>
        </p:spPr>
        <p:txBody>
          <a:bodyPr wrap="square" rtlCol="0">
            <a:spAutoFit/>
          </a:bodyPr>
          <a:lstStyle/>
          <a:p>
            <a:r>
              <a:rPr lang="en-IN" sz="900" dirty="0">
                <a:solidFill>
                  <a:schemeClr val="bg1"/>
                </a:solidFill>
              </a:rPr>
              <a:t>2025-26</a:t>
            </a:r>
          </a:p>
        </p:txBody>
      </p:sp>
      <p:sp>
        <p:nvSpPr>
          <p:cNvPr id="17" name="TextBox 16">
            <a:extLst>
              <a:ext uri="{FF2B5EF4-FFF2-40B4-BE49-F238E27FC236}">
                <a16:creationId xmlns="" xmlns:a16="http://schemas.microsoft.com/office/drawing/2014/main" id="{93C0CBDE-9631-4AA4-29DE-B75864D617F8}"/>
              </a:ext>
            </a:extLst>
          </p:cNvPr>
          <p:cNvSpPr txBox="1"/>
          <p:nvPr/>
        </p:nvSpPr>
        <p:spPr>
          <a:xfrm>
            <a:off x="10906297" y="6488971"/>
            <a:ext cx="556953" cy="230832"/>
          </a:xfrm>
          <a:prstGeom prst="rect">
            <a:avLst/>
          </a:prstGeom>
          <a:noFill/>
        </p:spPr>
        <p:txBody>
          <a:bodyPr wrap="square" rtlCol="0">
            <a:spAutoFit/>
          </a:bodyPr>
          <a:lstStyle/>
          <a:p>
            <a:r>
              <a:rPr lang="en-IN" sz="900" dirty="0">
                <a:solidFill>
                  <a:schemeClr val="bg1"/>
                </a:solidFill>
              </a:rPr>
              <a:t>5</a:t>
            </a:r>
          </a:p>
        </p:txBody>
      </p:sp>
      <p:sp>
        <p:nvSpPr>
          <p:cNvPr id="18" name="TextBox 17">
            <a:extLst>
              <a:ext uri="{FF2B5EF4-FFF2-40B4-BE49-F238E27FC236}">
                <a16:creationId xmlns="" xmlns:a16="http://schemas.microsoft.com/office/drawing/2014/main" id="{E95EE61E-0E4C-A5E0-D2B4-B893B538EDFB}"/>
              </a:ext>
            </a:extLst>
          </p:cNvPr>
          <p:cNvSpPr txBox="1"/>
          <p:nvPr/>
        </p:nvSpPr>
        <p:spPr>
          <a:xfrm>
            <a:off x="0" y="0"/>
            <a:ext cx="3790603"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A Hybrid Neural Network for EEG-based Depression Screening Using CNN</a:t>
            </a:r>
          </a:p>
        </p:txBody>
      </p:sp>
      <p:sp>
        <p:nvSpPr>
          <p:cNvPr id="2" name="TextBox 1">
            <a:extLst>
              <a:ext uri="{FF2B5EF4-FFF2-40B4-BE49-F238E27FC236}">
                <a16:creationId xmlns="" xmlns:a16="http://schemas.microsoft.com/office/drawing/2014/main" id="{B276A269-E44A-FB18-1551-B9BA8A4D5988}"/>
              </a:ext>
            </a:extLst>
          </p:cNvPr>
          <p:cNvSpPr txBox="1"/>
          <p:nvPr/>
        </p:nvSpPr>
        <p:spPr>
          <a:xfrm>
            <a:off x="565265" y="720046"/>
            <a:ext cx="11039302"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OBJECTIVES</a:t>
            </a:r>
          </a:p>
        </p:txBody>
      </p:sp>
      <p:sp>
        <p:nvSpPr>
          <p:cNvPr id="3" name="TextBox 2">
            <a:extLst>
              <a:ext uri="{FF2B5EF4-FFF2-40B4-BE49-F238E27FC236}">
                <a16:creationId xmlns="" xmlns:a16="http://schemas.microsoft.com/office/drawing/2014/main" id="{5AC008B7-8036-2C1C-70B8-3BBA27DEFC1F}"/>
              </a:ext>
            </a:extLst>
          </p:cNvPr>
          <p:cNvSpPr txBox="1"/>
          <p:nvPr/>
        </p:nvSpPr>
        <p:spPr>
          <a:xfrm>
            <a:off x="1554479" y="1421476"/>
            <a:ext cx="9567949" cy="3693319"/>
          </a:xfrm>
          <a:prstGeom prst="rect">
            <a:avLst/>
          </a:prstGeom>
          <a:noFill/>
        </p:spPr>
        <p:txBody>
          <a:bodyPr wrap="square" rtlCol="0">
            <a:spAutoFit/>
          </a:bodyPr>
          <a:lstStyle/>
          <a:p>
            <a:pPr marL="457200" indent="-457200" algn="just" defTabSz="914400" eaLnBrk="0" fontAlgn="base" hangingPunct="0">
              <a:lnSpc>
                <a:spcPct val="150000"/>
              </a:lnSpc>
              <a:spcBef>
                <a:spcPct val="0"/>
              </a:spcBef>
              <a:spcAft>
                <a:spcPct val="0"/>
              </a:spcAft>
              <a:buFont typeface="+mj-lt"/>
              <a:buAutoNum type="arabicPeriod"/>
            </a:pPr>
            <a:r>
              <a:rPr lang="en-US" dirty="0">
                <a:latin typeface="Times New Roman" panose="02020603050405020304" pitchFamily="18" charset="0"/>
                <a:cs typeface="Times New Roman" panose="02020603050405020304" pitchFamily="18" charset="0"/>
              </a:rPr>
              <a:t>Develop a CNN-LSTM model for automated depression detection using EEG signals</a:t>
            </a:r>
            <a:r>
              <a:rPr lang="en-US" dirty="0" smtClean="0">
                <a:latin typeface="Times New Roman" panose="02020603050405020304" pitchFamily="18" charset="0"/>
                <a:cs typeface="Times New Roman" panose="02020603050405020304" pitchFamily="18" charset="0"/>
              </a:rPr>
              <a:t>.</a:t>
            </a:r>
          </a:p>
          <a:p>
            <a:pPr marL="457200" indent="-457200" algn="just" defTabSz="914400" eaLnBrk="0" fontAlgn="base" hangingPunct="0">
              <a:lnSpc>
                <a:spcPct val="150000"/>
              </a:lnSpc>
              <a:spcBef>
                <a:spcPct val="0"/>
              </a:spcBef>
              <a:spcAft>
                <a:spcPct val="0"/>
              </a:spcAft>
              <a:buFont typeface="+mj-lt"/>
              <a:buAutoNum type="arabicPeriod"/>
            </a:pPr>
            <a:r>
              <a:rPr lang="en-US" dirty="0">
                <a:latin typeface="Times New Roman" panose="02020603050405020304" pitchFamily="18" charset="0"/>
                <a:cs typeface="Times New Roman" panose="02020603050405020304" pitchFamily="18" charset="0"/>
              </a:rPr>
              <a:t>Improve adaptability using </a:t>
            </a:r>
            <a:r>
              <a:rPr lang="en-IN" dirty="0">
                <a:latin typeface="Times New Roman" panose="02020603050405020304" pitchFamily="18" charset="0"/>
                <a:cs typeface="Times New Roman" panose="02020603050405020304" pitchFamily="18" charset="0"/>
              </a:rPr>
              <a:t>Hold-Out </a:t>
            </a:r>
            <a:r>
              <a:rPr lang="en-IN" dirty="0" smtClean="0">
                <a:latin typeface="Times New Roman" panose="02020603050405020304" pitchFamily="18" charset="0"/>
                <a:cs typeface="Times New Roman" panose="02020603050405020304" pitchFamily="18" charset="0"/>
              </a:rPr>
              <a:t>Validation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diverse datasets</a:t>
            </a:r>
            <a:r>
              <a:rPr lang="en-US" dirty="0" smtClean="0">
                <a:latin typeface="Times New Roman" panose="02020603050405020304" pitchFamily="18" charset="0"/>
                <a:cs typeface="Times New Roman" panose="02020603050405020304" pitchFamily="18" charset="0"/>
              </a:rPr>
              <a:t>.</a:t>
            </a:r>
            <a:endParaRPr lang="en-US" altLang="en-US" dirty="0" smtClean="0">
              <a:latin typeface="Times New Roman" panose="02020603050405020304" pitchFamily="18" charset="0"/>
              <a:cs typeface="Times New Roman" panose="02020603050405020304" pitchFamily="18" charset="0"/>
            </a:endParaRPr>
          </a:p>
          <a:p>
            <a:pPr marL="457200" lvl="0" indent="-457200" algn="just" defTabSz="914400" eaLnBrk="0" fontAlgn="base" hangingPunct="0">
              <a:lnSpc>
                <a:spcPct val="150000"/>
              </a:lnSpc>
              <a:spcBef>
                <a:spcPct val="0"/>
              </a:spcBef>
              <a:spcAft>
                <a:spcPct val="0"/>
              </a:spcAft>
              <a:buFont typeface="+mj-lt"/>
              <a:buAutoNum type="arabicPeriod"/>
            </a:pPr>
            <a:r>
              <a:rPr lang="en-US" dirty="0" smtClean="0">
                <a:latin typeface="Times New Roman" panose="02020603050405020304" pitchFamily="18" charset="0"/>
                <a:cs typeface="Times New Roman" panose="02020603050405020304" pitchFamily="18" charset="0"/>
              </a:rPr>
              <a:t>Apply </a:t>
            </a:r>
            <a:r>
              <a:rPr lang="en-US" dirty="0">
                <a:latin typeface="Times New Roman" panose="02020603050405020304" pitchFamily="18" charset="0"/>
                <a:cs typeface="Times New Roman" panose="02020603050405020304" pitchFamily="18" charset="0"/>
              </a:rPr>
              <a:t>regularization techniques such as L2 regularization and adaptive learning rate optimization.</a:t>
            </a:r>
            <a:endParaRPr lang="en-US" altLang="en-US" dirty="0">
              <a:latin typeface="Times New Roman" panose="02020603050405020304" pitchFamily="18" charset="0"/>
              <a:cs typeface="Times New Roman" panose="02020603050405020304" pitchFamily="18" charset="0"/>
            </a:endParaRPr>
          </a:p>
          <a:p>
            <a:pPr marL="457200" lvl="0" indent="-457200" algn="just" defTabSz="914400" eaLnBrk="0" fontAlgn="base" hangingPunct="0">
              <a:lnSpc>
                <a:spcPct val="150000"/>
              </a:lnSpc>
              <a:spcBef>
                <a:spcPct val="0"/>
              </a:spcBef>
              <a:spcAft>
                <a:spcPct val="0"/>
              </a:spcAft>
              <a:buFont typeface="+mj-lt"/>
              <a:buAutoNum type="arabicPeriod"/>
            </a:pPr>
            <a:r>
              <a:rPr lang="en-US" dirty="0" smtClean="0">
                <a:latin typeface="Times New Roman" panose="02020603050405020304" pitchFamily="18" charset="0"/>
                <a:cs typeface="Times New Roman" panose="02020603050405020304" pitchFamily="18" charset="0"/>
              </a:rPr>
              <a:t>Enhance </a:t>
            </a:r>
            <a:r>
              <a:rPr lang="en-US" dirty="0">
                <a:latin typeface="Times New Roman" panose="02020603050405020304" pitchFamily="18" charset="0"/>
                <a:cs typeface="Times New Roman" panose="02020603050405020304" pitchFamily="18" charset="0"/>
              </a:rPr>
              <a:t>model accuracy and generalization using dropout, data augmentation, and early stopping.</a:t>
            </a:r>
          </a:p>
          <a:p>
            <a:pPr marL="457200" lvl="0" indent="-457200" algn="just" defTabSz="914400" eaLnBrk="0" fontAlgn="base" hangingPunct="0">
              <a:lnSpc>
                <a:spcPct val="150000"/>
              </a:lnSpc>
              <a:spcBef>
                <a:spcPct val="0"/>
              </a:spcBef>
              <a:spcAft>
                <a:spcPct val="0"/>
              </a:spcAft>
              <a:buFont typeface="+mj-lt"/>
              <a:buAutoNum type="arabicPeriod"/>
            </a:pPr>
            <a:r>
              <a:rPr lang="en-US" dirty="0">
                <a:latin typeface="Times New Roman" panose="02020603050405020304" pitchFamily="18" charset="0"/>
                <a:cs typeface="Times New Roman" panose="02020603050405020304" pitchFamily="18" charset="0"/>
              </a:rPr>
              <a:t>Minimize computational complexity and latency to enable real-time depression screening on portable and cloud-based platforms.</a:t>
            </a:r>
          </a:p>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5722" y="215444"/>
            <a:ext cx="1581150"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89070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3EA1BE7-57B3-19D4-FEB8-525348C44470}"/>
            </a:ext>
          </a:extLst>
        </p:cNvPr>
        <p:cNvGrpSpPr/>
        <p:nvPr/>
      </p:nvGrpSpPr>
      <p:grpSpPr>
        <a:xfrm>
          <a:off x="0" y="0"/>
          <a:ext cx="0" cy="0"/>
          <a:chOff x="0" y="0"/>
          <a:chExt cx="0" cy="0"/>
        </a:xfrm>
      </p:grpSpPr>
      <p:sp>
        <p:nvSpPr>
          <p:cNvPr id="15" name="TextBox 14">
            <a:extLst>
              <a:ext uri="{FF2B5EF4-FFF2-40B4-BE49-F238E27FC236}">
                <a16:creationId xmlns="" xmlns:a16="http://schemas.microsoft.com/office/drawing/2014/main" id="{11AD9DA8-9B88-974B-EC61-CC96CB5B3659}"/>
              </a:ext>
            </a:extLst>
          </p:cNvPr>
          <p:cNvSpPr txBox="1"/>
          <p:nvPr/>
        </p:nvSpPr>
        <p:spPr>
          <a:xfrm rot="10800000" flipV="1">
            <a:off x="914400" y="6488972"/>
            <a:ext cx="3271984" cy="230832"/>
          </a:xfrm>
          <a:prstGeom prst="rect">
            <a:avLst/>
          </a:prstGeom>
          <a:noFill/>
        </p:spPr>
        <p:txBody>
          <a:bodyPr wrap="square">
            <a:spAutoFit/>
          </a:bodyPr>
          <a:lstStyle/>
          <a:p>
            <a:r>
              <a:rPr lang="en-US" sz="900" dirty="0">
                <a:solidFill>
                  <a:schemeClr val="bg1"/>
                </a:solidFill>
              </a:rPr>
              <a:t>Dept of AI&amp;DS, SJCIT</a:t>
            </a:r>
            <a:endParaRPr lang="en-IN" sz="900" dirty="0">
              <a:solidFill>
                <a:schemeClr val="bg1"/>
              </a:solidFill>
            </a:endParaRPr>
          </a:p>
        </p:txBody>
      </p:sp>
      <p:sp>
        <p:nvSpPr>
          <p:cNvPr id="16" name="TextBox 15">
            <a:extLst>
              <a:ext uri="{FF2B5EF4-FFF2-40B4-BE49-F238E27FC236}">
                <a16:creationId xmlns="" xmlns:a16="http://schemas.microsoft.com/office/drawing/2014/main" id="{09566B6E-C803-E3B4-B65D-3353830F7054}"/>
              </a:ext>
            </a:extLst>
          </p:cNvPr>
          <p:cNvSpPr txBox="1"/>
          <p:nvPr/>
        </p:nvSpPr>
        <p:spPr>
          <a:xfrm>
            <a:off x="5926975" y="6488971"/>
            <a:ext cx="665018" cy="230833"/>
          </a:xfrm>
          <a:prstGeom prst="rect">
            <a:avLst/>
          </a:prstGeom>
          <a:noFill/>
        </p:spPr>
        <p:txBody>
          <a:bodyPr wrap="square" rtlCol="0">
            <a:spAutoFit/>
          </a:bodyPr>
          <a:lstStyle/>
          <a:p>
            <a:r>
              <a:rPr lang="en-IN" sz="900" dirty="0">
                <a:solidFill>
                  <a:schemeClr val="bg1"/>
                </a:solidFill>
              </a:rPr>
              <a:t>2025-26</a:t>
            </a:r>
          </a:p>
        </p:txBody>
      </p:sp>
      <p:sp>
        <p:nvSpPr>
          <p:cNvPr id="17" name="TextBox 16">
            <a:extLst>
              <a:ext uri="{FF2B5EF4-FFF2-40B4-BE49-F238E27FC236}">
                <a16:creationId xmlns="" xmlns:a16="http://schemas.microsoft.com/office/drawing/2014/main" id="{E0E072B9-2544-3210-4B6E-404391EF1E72}"/>
              </a:ext>
            </a:extLst>
          </p:cNvPr>
          <p:cNvSpPr txBox="1"/>
          <p:nvPr/>
        </p:nvSpPr>
        <p:spPr>
          <a:xfrm>
            <a:off x="10906297" y="6488971"/>
            <a:ext cx="556953" cy="230832"/>
          </a:xfrm>
          <a:prstGeom prst="rect">
            <a:avLst/>
          </a:prstGeom>
          <a:noFill/>
        </p:spPr>
        <p:txBody>
          <a:bodyPr wrap="square" rtlCol="0">
            <a:spAutoFit/>
          </a:bodyPr>
          <a:lstStyle/>
          <a:p>
            <a:r>
              <a:rPr lang="en-IN" sz="900" dirty="0">
                <a:solidFill>
                  <a:schemeClr val="bg1"/>
                </a:solidFill>
              </a:rPr>
              <a:t>6</a:t>
            </a:r>
          </a:p>
        </p:txBody>
      </p:sp>
      <p:sp>
        <p:nvSpPr>
          <p:cNvPr id="18" name="TextBox 17">
            <a:extLst>
              <a:ext uri="{FF2B5EF4-FFF2-40B4-BE49-F238E27FC236}">
                <a16:creationId xmlns="" xmlns:a16="http://schemas.microsoft.com/office/drawing/2014/main" id="{EB7C12D2-1AAE-4875-D224-25D849626C47}"/>
              </a:ext>
            </a:extLst>
          </p:cNvPr>
          <p:cNvSpPr txBox="1"/>
          <p:nvPr/>
        </p:nvSpPr>
        <p:spPr>
          <a:xfrm>
            <a:off x="0" y="0"/>
            <a:ext cx="3790603"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A Hybrid Neural Network for EEG-based Depression Screening Using CNN</a:t>
            </a:r>
          </a:p>
        </p:txBody>
      </p:sp>
      <p:sp>
        <p:nvSpPr>
          <p:cNvPr id="2" name="TextBox 1">
            <a:extLst>
              <a:ext uri="{FF2B5EF4-FFF2-40B4-BE49-F238E27FC236}">
                <a16:creationId xmlns="" xmlns:a16="http://schemas.microsoft.com/office/drawing/2014/main" id="{C224307F-034F-78B0-2534-3072DB5EDA1A}"/>
              </a:ext>
            </a:extLst>
          </p:cNvPr>
          <p:cNvSpPr txBox="1"/>
          <p:nvPr/>
        </p:nvSpPr>
        <p:spPr>
          <a:xfrm>
            <a:off x="248397" y="138195"/>
            <a:ext cx="11363499"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METHODOLOGY</a:t>
            </a:r>
          </a:p>
        </p:txBody>
      </p:sp>
      <p:sp>
        <p:nvSpPr>
          <p:cNvPr id="3" name="TextBox 2">
            <a:extLst>
              <a:ext uri="{FF2B5EF4-FFF2-40B4-BE49-F238E27FC236}">
                <a16:creationId xmlns="" xmlns:a16="http://schemas.microsoft.com/office/drawing/2014/main" id="{DF1CC747-FFE6-976C-4580-EAB4914E0F4D}"/>
              </a:ext>
            </a:extLst>
          </p:cNvPr>
          <p:cNvSpPr txBox="1"/>
          <p:nvPr/>
        </p:nvSpPr>
        <p:spPr>
          <a:xfrm>
            <a:off x="482137" y="542633"/>
            <a:ext cx="11129759" cy="5772734"/>
          </a:xfrm>
          <a:prstGeom prst="rect">
            <a:avLst/>
          </a:prstGeom>
          <a:noFill/>
        </p:spPr>
        <p:txBody>
          <a:bodyPr wrap="square" rtlCol="0">
            <a:spAutoFit/>
          </a:bodyPr>
          <a:lstStyle/>
          <a:p>
            <a:pPr algn="just">
              <a:lnSpc>
                <a:spcPct val="150000"/>
              </a:lnSpc>
            </a:pPr>
            <a:r>
              <a:rPr lang="en-IN" b="1" dirty="0">
                <a:latin typeface="Times New Roman" panose="02020603050405020304" pitchFamily="18" charset="0"/>
                <a:cs typeface="Times New Roman" panose="02020603050405020304" pitchFamily="18" charset="0"/>
              </a:rPr>
              <a:t>1. Data Collection</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Used EEG dataset from </a:t>
            </a:r>
            <a:r>
              <a:rPr lang="en-US" sz="1600" dirty="0" err="1">
                <a:latin typeface="Times New Roman" panose="02020603050405020304" pitchFamily="18" charset="0"/>
                <a:cs typeface="Times New Roman" panose="02020603050405020304" pitchFamily="18" charset="0"/>
              </a:rPr>
              <a:t>Figshare</a:t>
            </a:r>
            <a:r>
              <a:rPr lang="en-US" sz="1600" dirty="0">
                <a:latin typeface="Times New Roman" panose="02020603050405020304" pitchFamily="18" charset="0"/>
                <a:cs typeface="Times New Roman" panose="02020603050405020304" pitchFamily="18" charset="0"/>
              </a:rPr>
              <a:t> (19-channel, eyes-closed).</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Total subjects: 34 Depressed + 30 Healthy.</a:t>
            </a:r>
          </a:p>
          <a:p>
            <a:pPr algn="just">
              <a:lnSpc>
                <a:spcPct val="150000"/>
              </a:lnSpc>
            </a:pPr>
            <a:r>
              <a:rPr lang="en-IN" b="1" dirty="0">
                <a:latin typeface="Times New Roman" panose="02020603050405020304" pitchFamily="18" charset="0"/>
                <a:cs typeface="Times New Roman" panose="02020603050405020304" pitchFamily="18" charset="0"/>
              </a:rPr>
              <a:t>2. </a:t>
            </a:r>
            <a:r>
              <a:rPr lang="en-IN" b="1" dirty="0" err="1">
                <a:latin typeface="Times New Roman" panose="02020603050405020304" pitchFamily="18" charset="0"/>
                <a:cs typeface="Times New Roman" panose="02020603050405020304" pitchFamily="18" charset="0"/>
              </a:rPr>
              <a:t>Preprocessing</a:t>
            </a:r>
            <a:endParaRPr lang="en-IN"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Bandpass filtering (0.5–45 Hz).</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Removed </a:t>
            </a:r>
            <a:r>
              <a:rPr lang="en-IN" sz="1600" dirty="0" err="1">
                <a:latin typeface="Times New Roman" panose="02020603050405020304" pitchFamily="18" charset="0"/>
                <a:cs typeface="Times New Roman" panose="02020603050405020304" pitchFamily="18" charset="0"/>
              </a:rPr>
              <a:t>artifacts</a:t>
            </a:r>
            <a:r>
              <a:rPr lang="en-IN" sz="1600" dirty="0">
                <a:latin typeface="Times New Roman" panose="02020603050405020304" pitchFamily="18" charset="0"/>
                <a:cs typeface="Times New Roman" panose="02020603050405020304" pitchFamily="18" charset="0"/>
              </a:rPr>
              <a:t> using ICA. Applied Z-score normalization.</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Segmented signals into 1-second windows with 50% overlap.</a:t>
            </a:r>
          </a:p>
          <a:p>
            <a:pPr algn="just">
              <a:lnSpc>
                <a:spcPct val="150000"/>
              </a:lnSpc>
            </a:pPr>
            <a:r>
              <a:rPr lang="en-IN" b="1" dirty="0">
                <a:latin typeface="Times New Roman" panose="02020603050405020304" pitchFamily="18" charset="0"/>
                <a:cs typeface="Times New Roman" panose="02020603050405020304" pitchFamily="18" charset="0"/>
              </a:rPr>
              <a:t>3. Model Development</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Built a Hybrid CNN-LSTM model (</a:t>
            </a:r>
            <a:r>
              <a:rPr lang="en-IN" sz="1600" dirty="0" err="1">
                <a:latin typeface="Times New Roman" panose="02020603050405020304" pitchFamily="18" charset="0"/>
                <a:cs typeface="Times New Roman" panose="02020603050405020304" pitchFamily="18" charset="0"/>
              </a:rPr>
              <a:t>DepHNN</a:t>
            </a:r>
            <a:r>
              <a:rPr lang="en-IN" sz="1600" dirty="0">
                <a:latin typeface="Times New Roman" panose="02020603050405020304" pitchFamily="18" charset="0"/>
                <a:cs typeface="Times New Roman" panose="02020603050405020304" pitchFamily="18" charset="0"/>
              </a:rPr>
              <a:t>) using </a:t>
            </a:r>
            <a:r>
              <a:rPr lang="en-IN" sz="1600" dirty="0" err="1">
                <a:latin typeface="Times New Roman" panose="02020603050405020304" pitchFamily="18" charset="0"/>
                <a:cs typeface="Times New Roman" panose="02020603050405020304" pitchFamily="18" charset="0"/>
              </a:rPr>
              <a:t>TensorFlow</a:t>
            </a:r>
            <a:r>
              <a:rPr lang="en-IN" sz="16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CNN extracts spatial features, LSTM captures temporal patterns.</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Dense layers classify: Healthy vs Depressed.</a:t>
            </a:r>
          </a:p>
          <a:p>
            <a:pPr algn="just">
              <a:lnSpc>
                <a:spcPct val="150000"/>
              </a:lnSpc>
            </a:pPr>
            <a:r>
              <a:rPr lang="en-IN" b="1" dirty="0">
                <a:latin typeface="Times New Roman" panose="02020603050405020304" pitchFamily="18" charset="0"/>
                <a:cs typeface="Times New Roman" panose="02020603050405020304" pitchFamily="18" charset="0"/>
              </a:rPr>
              <a:t>4. Deployment</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Backend: Django with authentication + OTP login.</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Frontend: Responsive UI with real-time Chart.js plots.</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Integrated trained model for instant prediction on uploaded EEG (.</a:t>
            </a:r>
            <a:r>
              <a:rPr lang="en-IN" sz="1600" dirty="0" err="1">
                <a:latin typeface="Times New Roman" panose="02020603050405020304" pitchFamily="18" charset="0"/>
                <a:cs typeface="Times New Roman" panose="02020603050405020304" pitchFamily="18" charset="0"/>
              </a:rPr>
              <a:t>edf</a:t>
            </a:r>
            <a:r>
              <a:rPr lang="en-IN" sz="1600" dirty="0">
                <a:latin typeface="Times New Roman" panose="02020603050405020304" pitchFamily="18" charset="0"/>
                <a:cs typeface="Times New Roman" panose="02020603050405020304" pitchFamily="18" charset="0"/>
              </a:rPr>
              <a:t>) files.</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0746" y="399805"/>
            <a:ext cx="1581150"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067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D42805C-03B5-C6B9-5A20-0459466D5447}"/>
            </a:ext>
          </a:extLst>
        </p:cNvPr>
        <p:cNvGrpSpPr/>
        <p:nvPr/>
      </p:nvGrpSpPr>
      <p:grpSpPr>
        <a:xfrm>
          <a:off x="0" y="0"/>
          <a:ext cx="0" cy="0"/>
          <a:chOff x="0" y="0"/>
          <a:chExt cx="0" cy="0"/>
        </a:xfrm>
      </p:grpSpPr>
      <p:sp>
        <p:nvSpPr>
          <p:cNvPr id="15" name="TextBox 14">
            <a:extLst>
              <a:ext uri="{FF2B5EF4-FFF2-40B4-BE49-F238E27FC236}">
                <a16:creationId xmlns="" xmlns:a16="http://schemas.microsoft.com/office/drawing/2014/main" id="{8581CB67-B245-5C16-BD57-8CEAFE6B5E4A}"/>
              </a:ext>
            </a:extLst>
          </p:cNvPr>
          <p:cNvSpPr txBox="1"/>
          <p:nvPr/>
        </p:nvSpPr>
        <p:spPr>
          <a:xfrm rot="10800000" flipV="1">
            <a:off x="914400" y="6488972"/>
            <a:ext cx="3271984" cy="230832"/>
          </a:xfrm>
          <a:prstGeom prst="rect">
            <a:avLst/>
          </a:prstGeom>
          <a:noFill/>
        </p:spPr>
        <p:txBody>
          <a:bodyPr wrap="square">
            <a:spAutoFit/>
          </a:bodyPr>
          <a:lstStyle/>
          <a:p>
            <a:r>
              <a:rPr lang="en-US" sz="900" dirty="0">
                <a:solidFill>
                  <a:schemeClr val="bg1"/>
                </a:solidFill>
              </a:rPr>
              <a:t>Dept of AI&amp;DS, SJCIT</a:t>
            </a:r>
            <a:endParaRPr lang="en-IN" sz="900" dirty="0">
              <a:solidFill>
                <a:schemeClr val="bg1"/>
              </a:solidFill>
            </a:endParaRPr>
          </a:p>
        </p:txBody>
      </p:sp>
      <p:sp>
        <p:nvSpPr>
          <p:cNvPr id="16" name="TextBox 15">
            <a:extLst>
              <a:ext uri="{FF2B5EF4-FFF2-40B4-BE49-F238E27FC236}">
                <a16:creationId xmlns="" xmlns:a16="http://schemas.microsoft.com/office/drawing/2014/main" id="{F5B110A3-8632-A12A-94CE-5C051674A9A4}"/>
              </a:ext>
            </a:extLst>
          </p:cNvPr>
          <p:cNvSpPr txBox="1"/>
          <p:nvPr/>
        </p:nvSpPr>
        <p:spPr>
          <a:xfrm>
            <a:off x="5926975" y="6488971"/>
            <a:ext cx="665018" cy="230833"/>
          </a:xfrm>
          <a:prstGeom prst="rect">
            <a:avLst/>
          </a:prstGeom>
          <a:noFill/>
        </p:spPr>
        <p:txBody>
          <a:bodyPr wrap="square" rtlCol="0">
            <a:spAutoFit/>
          </a:bodyPr>
          <a:lstStyle/>
          <a:p>
            <a:r>
              <a:rPr lang="en-IN" sz="900" dirty="0">
                <a:solidFill>
                  <a:schemeClr val="bg1"/>
                </a:solidFill>
              </a:rPr>
              <a:t>2025-26</a:t>
            </a:r>
          </a:p>
        </p:txBody>
      </p:sp>
      <p:sp>
        <p:nvSpPr>
          <p:cNvPr id="17" name="TextBox 16">
            <a:extLst>
              <a:ext uri="{FF2B5EF4-FFF2-40B4-BE49-F238E27FC236}">
                <a16:creationId xmlns="" xmlns:a16="http://schemas.microsoft.com/office/drawing/2014/main" id="{60BCD70B-B8D6-50F0-3DA7-9BF8B8799D7D}"/>
              </a:ext>
            </a:extLst>
          </p:cNvPr>
          <p:cNvSpPr txBox="1"/>
          <p:nvPr/>
        </p:nvSpPr>
        <p:spPr>
          <a:xfrm>
            <a:off x="10906297" y="6488971"/>
            <a:ext cx="556953" cy="230832"/>
          </a:xfrm>
          <a:prstGeom prst="rect">
            <a:avLst/>
          </a:prstGeom>
          <a:noFill/>
        </p:spPr>
        <p:txBody>
          <a:bodyPr wrap="square" rtlCol="0">
            <a:spAutoFit/>
          </a:bodyPr>
          <a:lstStyle/>
          <a:p>
            <a:r>
              <a:rPr lang="en-IN" sz="900" dirty="0">
                <a:solidFill>
                  <a:schemeClr val="bg1"/>
                </a:solidFill>
              </a:rPr>
              <a:t>6</a:t>
            </a:r>
          </a:p>
        </p:txBody>
      </p:sp>
      <p:sp>
        <p:nvSpPr>
          <p:cNvPr id="18" name="TextBox 17">
            <a:extLst>
              <a:ext uri="{FF2B5EF4-FFF2-40B4-BE49-F238E27FC236}">
                <a16:creationId xmlns="" xmlns:a16="http://schemas.microsoft.com/office/drawing/2014/main" id="{D2ECBF95-B53D-B8A8-FEBB-5AC10BA4EF7F}"/>
              </a:ext>
            </a:extLst>
          </p:cNvPr>
          <p:cNvSpPr txBox="1"/>
          <p:nvPr/>
        </p:nvSpPr>
        <p:spPr>
          <a:xfrm>
            <a:off x="0" y="0"/>
            <a:ext cx="3790603"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A Hybrid Neural Network for EEG-based Depression Screening Using CNN</a:t>
            </a:r>
          </a:p>
        </p:txBody>
      </p:sp>
      <p:sp>
        <p:nvSpPr>
          <p:cNvPr id="2" name="TextBox 1">
            <a:extLst>
              <a:ext uri="{FF2B5EF4-FFF2-40B4-BE49-F238E27FC236}">
                <a16:creationId xmlns="" xmlns:a16="http://schemas.microsoft.com/office/drawing/2014/main" id="{E5244608-CF1E-77C7-147E-FBD761C6E93C}"/>
              </a:ext>
            </a:extLst>
          </p:cNvPr>
          <p:cNvSpPr txBox="1"/>
          <p:nvPr/>
        </p:nvSpPr>
        <p:spPr>
          <a:xfrm>
            <a:off x="415636" y="465513"/>
            <a:ext cx="11363499" cy="523220"/>
          </a:xfrm>
          <a:prstGeom prst="rect">
            <a:avLst/>
          </a:prstGeom>
          <a:noFill/>
        </p:spPr>
        <p:txBody>
          <a:bodyPr wrap="square" rtlCol="0">
            <a:spAutoFit/>
          </a:bodyPr>
          <a:lstStyle/>
          <a:p>
            <a:pPr algn="ctr"/>
            <a:r>
              <a:rPr lang="en-IN" sz="2800" b="1">
                <a:latin typeface="Times New Roman" panose="02020603050405020304" pitchFamily="18" charset="0"/>
                <a:cs typeface="Times New Roman" panose="02020603050405020304" pitchFamily="18" charset="0"/>
              </a:rPr>
              <a:t>ARCHITECTURE</a:t>
            </a: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EDD1EA7F-22C6-C3B3-766D-959FC09AD1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6531" y="1156835"/>
            <a:ext cx="5358938" cy="4558847"/>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48109" y="288973"/>
            <a:ext cx="1581150"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34404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C4DFB77-BD4E-16D6-5608-CA561E7675AD}"/>
            </a:ext>
          </a:extLst>
        </p:cNvPr>
        <p:cNvGrpSpPr/>
        <p:nvPr/>
      </p:nvGrpSpPr>
      <p:grpSpPr>
        <a:xfrm>
          <a:off x="0" y="0"/>
          <a:ext cx="0" cy="0"/>
          <a:chOff x="0" y="0"/>
          <a:chExt cx="0" cy="0"/>
        </a:xfrm>
      </p:grpSpPr>
      <p:sp>
        <p:nvSpPr>
          <p:cNvPr id="15" name="TextBox 14">
            <a:extLst>
              <a:ext uri="{FF2B5EF4-FFF2-40B4-BE49-F238E27FC236}">
                <a16:creationId xmlns="" xmlns:a16="http://schemas.microsoft.com/office/drawing/2014/main" id="{F1532398-CFCD-E5DB-BF80-62A83B125130}"/>
              </a:ext>
            </a:extLst>
          </p:cNvPr>
          <p:cNvSpPr txBox="1"/>
          <p:nvPr/>
        </p:nvSpPr>
        <p:spPr>
          <a:xfrm rot="10800000" flipV="1">
            <a:off x="914400" y="6488972"/>
            <a:ext cx="3271984" cy="230832"/>
          </a:xfrm>
          <a:prstGeom prst="rect">
            <a:avLst/>
          </a:prstGeom>
          <a:noFill/>
        </p:spPr>
        <p:txBody>
          <a:bodyPr wrap="square">
            <a:spAutoFit/>
          </a:bodyPr>
          <a:lstStyle/>
          <a:p>
            <a:r>
              <a:rPr lang="en-US" sz="900" dirty="0">
                <a:solidFill>
                  <a:schemeClr val="bg1"/>
                </a:solidFill>
              </a:rPr>
              <a:t>Dept of AI&amp;DS, SJCIT</a:t>
            </a:r>
            <a:endParaRPr lang="en-IN" sz="900" dirty="0">
              <a:solidFill>
                <a:schemeClr val="bg1"/>
              </a:solidFill>
            </a:endParaRPr>
          </a:p>
        </p:txBody>
      </p:sp>
      <p:sp>
        <p:nvSpPr>
          <p:cNvPr id="16" name="TextBox 15">
            <a:extLst>
              <a:ext uri="{FF2B5EF4-FFF2-40B4-BE49-F238E27FC236}">
                <a16:creationId xmlns="" xmlns:a16="http://schemas.microsoft.com/office/drawing/2014/main" id="{8BCD577B-B7CF-4813-6DF4-0A738B244D61}"/>
              </a:ext>
            </a:extLst>
          </p:cNvPr>
          <p:cNvSpPr txBox="1"/>
          <p:nvPr/>
        </p:nvSpPr>
        <p:spPr>
          <a:xfrm>
            <a:off x="5926975" y="6488971"/>
            <a:ext cx="665018" cy="230833"/>
          </a:xfrm>
          <a:prstGeom prst="rect">
            <a:avLst/>
          </a:prstGeom>
          <a:noFill/>
        </p:spPr>
        <p:txBody>
          <a:bodyPr wrap="square" rtlCol="0">
            <a:spAutoFit/>
          </a:bodyPr>
          <a:lstStyle/>
          <a:p>
            <a:r>
              <a:rPr lang="en-IN" sz="900" dirty="0">
                <a:solidFill>
                  <a:schemeClr val="bg1"/>
                </a:solidFill>
              </a:rPr>
              <a:t>2025-26</a:t>
            </a:r>
          </a:p>
        </p:txBody>
      </p:sp>
      <p:sp>
        <p:nvSpPr>
          <p:cNvPr id="17" name="TextBox 16">
            <a:extLst>
              <a:ext uri="{FF2B5EF4-FFF2-40B4-BE49-F238E27FC236}">
                <a16:creationId xmlns="" xmlns:a16="http://schemas.microsoft.com/office/drawing/2014/main" id="{97D7B7C5-858E-818A-D196-D6879AA44BB4}"/>
              </a:ext>
            </a:extLst>
          </p:cNvPr>
          <p:cNvSpPr txBox="1"/>
          <p:nvPr/>
        </p:nvSpPr>
        <p:spPr>
          <a:xfrm>
            <a:off x="10906297" y="6488971"/>
            <a:ext cx="556953" cy="230832"/>
          </a:xfrm>
          <a:prstGeom prst="rect">
            <a:avLst/>
          </a:prstGeom>
          <a:noFill/>
        </p:spPr>
        <p:txBody>
          <a:bodyPr wrap="square" rtlCol="0">
            <a:spAutoFit/>
          </a:bodyPr>
          <a:lstStyle/>
          <a:p>
            <a:r>
              <a:rPr lang="en-IN" sz="900" dirty="0">
                <a:solidFill>
                  <a:schemeClr val="bg1"/>
                </a:solidFill>
              </a:rPr>
              <a:t>7</a:t>
            </a:r>
          </a:p>
        </p:txBody>
      </p:sp>
      <p:sp>
        <p:nvSpPr>
          <p:cNvPr id="18" name="TextBox 17">
            <a:extLst>
              <a:ext uri="{FF2B5EF4-FFF2-40B4-BE49-F238E27FC236}">
                <a16:creationId xmlns="" xmlns:a16="http://schemas.microsoft.com/office/drawing/2014/main" id="{C39A7BEC-E700-AD84-C141-5D78254E1A80}"/>
              </a:ext>
            </a:extLst>
          </p:cNvPr>
          <p:cNvSpPr txBox="1"/>
          <p:nvPr/>
        </p:nvSpPr>
        <p:spPr>
          <a:xfrm>
            <a:off x="0" y="0"/>
            <a:ext cx="3790603"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A Hybrid Neural Network for EEG-based Depression Screening Using CNN</a:t>
            </a:r>
          </a:p>
        </p:txBody>
      </p:sp>
      <p:sp>
        <p:nvSpPr>
          <p:cNvPr id="3" name="TextBox 2">
            <a:extLst>
              <a:ext uri="{FF2B5EF4-FFF2-40B4-BE49-F238E27FC236}">
                <a16:creationId xmlns="" xmlns:a16="http://schemas.microsoft.com/office/drawing/2014/main" id="{44C36F8F-DB40-F3C9-8986-3DA1EC951E85}"/>
              </a:ext>
            </a:extLst>
          </p:cNvPr>
          <p:cNvSpPr txBox="1"/>
          <p:nvPr/>
        </p:nvSpPr>
        <p:spPr>
          <a:xfrm>
            <a:off x="412865" y="927178"/>
            <a:ext cx="5879870" cy="784830"/>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a:t>
            </a:r>
          </a:p>
          <a:p>
            <a:endParaRPr lang="en-IN" dirty="0"/>
          </a:p>
        </p:txBody>
      </p:sp>
      <p:sp>
        <p:nvSpPr>
          <p:cNvPr id="5" name="TextBox 4">
            <a:extLst>
              <a:ext uri="{FF2B5EF4-FFF2-40B4-BE49-F238E27FC236}">
                <a16:creationId xmlns="" xmlns:a16="http://schemas.microsoft.com/office/drawing/2014/main" id="{7A09B7D2-D887-93C5-268C-59759083FE71}"/>
              </a:ext>
            </a:extLst>
          </p:cNvPr>
          <p:cNvSpPr txBox="1"/>
          <p:nvPr/>
        </p:nvSpPr>
        <p:spPr>
          <a:xfrm>
            <a:off x="412865" y="473825"/>
            <a:ext cx="11366270"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RESULTS</a:t>
            </a:r>
          </a:p>
        </p:txBody>
      </p:sp>
      <p:pic>
        <p:nvPicPr>
          <p:cNvPr id="7" name="Picture 6">
            <a:extLst>
              <a:ext uri="{FF2B5EF4-FFF2-40B4-BE49-F238E27FC236}">
                <a16:creationId xmlns="" xmlns:a16="http://schemas.microsoft.com/office/drawing/2014/main" id="{C6AF2A17-EEF9-BEFC-4737-A745B5E35B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5227" y="1051869"/>
            <a:ext cx="4781151" cy="4936449"/>
          </a:xfrm>
          <a:prstGeom prst="rect">
            <a:avLst/>
          </a:prstGeom>
        </p:spPr>
      </p:pic>
      <p:pic>
        <p:nvPicPr>
          <p:cNvPr id="9" name="Picture 8">
            <a:extLst>
              <a:ext uri="{FF2B5EF4-FFF2-40B4-BE49-F238E27FC236}">
                <a16:creationId xmlns="" xmlns:a16="http://schemas.microsoft.com/office/drawing/2014/main" id="{AB0BF4EB-59B1-442F-7F04-FA47F1E87B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9375" y="3563797"/>
            <a:ext cx="4246849" cy="2691723"/>
          </a:xfrm>
          <a:prstGeom prst="rect">
            <a:avLst/>
          </a:prstGeom>
        </p:spPr>
      </p:pic>
      <p:pic>
        <p:nvPicPr>
          <p:cNvPr id="1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9678" y="997046"/>
            <a:ext cx="5207297" cy="2523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15722" y="107722"/>
            <a:ext cx="1581150"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2194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636963B-445F-76F9-84EE-87DBA1C9A71A}"/>
            </a:ext>
          </a:extLst>
        </p:cNvPr>
        <p:cNvGrpSpPr/>
        <p:nvPr/>
      </p:nvGrpSpPr>
      <p:grpSpPr>
        <a:xfrm>
          <a:off x="0" y="0"/>
          <a:ext cx="0" cy="0"/>
          <a:chOff x="0" y="0"/>
          <a:chExt cx="0" cy="0"/>
        </a:xfrm>
      </p:grpSpPr>
      <p:sp>
        <p:nvSpPr>
          <p:cNvPr id="15" name="TextBox 14">
            <a:extLst>
              <a:ext uri="{FF2B5EF4-FFF2-40B4-BE49-F238E27FC236}">
                <a16:creationId xmlns="" xmlns:a16="http://schemas.microsoft.com/office/drawing/2014/main" id="{71A8A9A9-5C50-DBC8-040E-28E528FBED2D}"/>
              </a:ext>
            </a:extLst>
          </p:cNvPr>
          <p:cNvSpPr txBox="1"/>
          <p:nvPr/>
        </p:nvSpPr>
        <p:spPr>
          <a:xfrm rot="10800000" flipV="1">
            <a:off x="914400" y="6488972"/>
            <a:ext cx="3271984" cy="230832"/>
          </a:xfrm>
          <a:prstGeom prst="rect">
            <a:avLst/>
          </a:prstGeom>
          <a:noFill/>
        </p:spPr>
        <p:txBody>
          <a:bodyPr wrap="square">
            <a:spAutoFit/>
          </a:bodyPr>
          <a:lstStyle/>
          <a:p>
            <a:r>
              <a:rPr lang="en-US" sz="900" dirty="0">
                <a:solidFill>
                  <a:schemeClr val="bg1"/>
                </a:solidFill>
              </a:rPr>
              <a:t>Dept of AI&amp;DS, SJCIT</a:t>
            </a:r>
            <a:endParaRPr lang="en-IN" sz="900" dirty="0">
              <a:solidFill>
                <a:schemeClr val="bg1"/>
              </a:solidFill>
            </a:endParaRPr>
          </a:p>
        </p:txBody>
      </p:sp>
      <p:sp>
        <p:nvSpPr>
          <p:cNvPr id="16" name="TextBox 15">
            <a:extLst>
              <a:ext uri="{FF2B5EF4-FFF2-40B4-BE49-F238E27FC236}">
                <a16:creationId xmlns="" xmlns:a16="http://schemas.microsoft.com/office/drawing/2014/main" id="{8A01A7E4-5A2D-422C-45F6-B309947D9AC4}"/>
              </a:ext>
            </a:extLst>
          </p:cNvPr>
          <p:cNvSpPr txBox="1"/>
          <p:nvPr/>
        </p:nvSpPr>
        <p:spPr>
          <a:xfrm>
            <a:off x="5926975" y="6488971"/>
            <a:ext cx="665018" cy="230833"/>
          </a:xfrm>
          <a:prstGeom prst="rect">
            <a:avLst/>
          </a:prstGeom>
          <a:noFill/>
        </p:spPr>
        <p:txBody>
          <a:bodyPr wrap="square" rtlCol="0">
            <a:spAutoFit/>
          </a:bodyPr>
          <a:lstStyle/>
          <a:p>
            <a:r>
              <a:rPr lang="en-IN" sz="900" dirty="0">
                <a:solidFill>
                  <a:schemeClr val="bg1"/>
                </a:solidFill>
              </a:rPr>
              <a:t>2025-26</a:t>
            </a:r>
          </a:p>
        </p:txBody>
      </p:sp>
      <p:sp>
        <p:nvSpPr>
          <p:cNvPr id="17" name="TextBox 16">
            <a:extLst>
              <a:ext uri="{FF2B5EF4-FFF2-40B4-BE49-F238E27FC236}">
                <a16:creationId xmlns="" xmlns:a16="http://schemas.microsoft.com/office/drawing/2014/main" id="{4D26DF66-7FFB-4B4C-1717-5C88E9303088}"/>
              </a:ext>
            </a:extLst>
          </p:cNvPr>
          <p:cNvSpPr txBox="1"/>
          <p:nvPr/>
        </p:nvSpPr>
        <p:spPr>
          <a:xfrm>
            <a:off x="10906297" y="6488971"/>
            <a:ext cx="556953" cy="230832"/>
          </a:xfrm>
          <a:prstGeom prst="rect">
            <a:avLst/>
          </a:prstGeom>
          <a:noFill/>
        </p:spPr>
        <p:txBody>
          <a:bodyPr wrap="square" rtlCol="0">
            <a:spAutoFit/>
          </a:bodyPr>
          <a:lstStyle/>
          <a:p>
            <a:r>
              <a:rPr lang="en-IN" sz="900" dirty="0">
                <a:solidFill>
                  <a:schemeClr val="bg1"/>
                </a:solidFill>
              </a:rPr>
              <a:t>8</a:t>
            </a:r>
          </a:p>
        </p:txBody>
      </p:sp>
      <p:sp>
        <p:nvSpPr>
          <p:cNvPr id="18" name="TextBox 17">
            <a:extLst>
              <a:ext uri="{FF2B5EF4-FFF2-40B4-BE49-F238E27FC236}">
                <a16:creationId xmlns="" xmlns:a16="http://schemas.microsoft.com/office/drawing/2014/main" id="{C9BB861E-F3BB-BCE4-9917-4AE9F3C0C9FC}"/>
              </a:ext>
            </a:extLst>
          </p:cNvPr>
          <p:cNvSpPr txBox="1"/>
          <p:nvPr/>
        </p:nvSpPr>
        <p:spPr>
          <a:xfrm>
            <a:off x="0" y="0"/>
            <a:ext cx="3790603"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A Hybrid Neural Network for EEG-based Depression Screening Using CNN</a:t>
            </a:r>
          </a:p>
        </p:txBody>
      </p:sp>
      <p:sp>
        <p:nvSpPr>
          <p:cNvPr id="3" name="TextBox 2">
            <a:extLst>
              <a:ext uri="{FF2B5EF4-FFF2-40B4-BE49-F238E27FC236}">
                <a16:creationId xmlns="" xmlns:a16="http://schemas.microsoft.com/office/drawing/2014/main" id="{1681AAD5-CE35-07AE-6030-F5C4D06DDFCF}"/>
              </a:ext>
            </a:extLst>
          </p:cNvPr>
          <p:cNvSpPr txBox="1"/>
          <p:nvPr/>
        </p:nvSpPr>
        <p:spPr>
          <a:xfrm>
            <a:off x="412865" y="927178"/>
            <a:ext cx="5879870" cy="784830"/>
          </a:xfrm>
          <a:prstGeom prst="rect">
            <a:avLst/>
          </a:prstGeom>
          <a:noFill/>
        </p:spPr>
        <p:txBody>
          <a:bodyPr wrap="square" rtlCol="0">
            <a:sp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pic>
        <p:nvPicPr>
          <p:cNvPr id="11" name="Picture 10">
            <a:extLst>
              <a:ext uri="{FF2B5EF4-FFF2-40B4-BE49-F238E27FC236}">
                <a16:creationId xmlns="" xmlns:a16="http://schemas.microsoft.com/office/drawing/2014/main" id="{49DCDE2C-4447-5AF9-BBEC-06EE9F5F03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865" y="320163"/>
            <a:ext cx="5356168" cy="5693786"/>
          </a:xfrm>
          <a:prstGeom prst="rect">
            <a:avLst/>
          </a:prstGeom>
        </p:spPr>
      </p:pic>
      <p:pic>
        <p:nvPicPr>
          <p:cNvPr id="13" name="Picture 12">
            <a:extLst>
              <a:ext uri="{FF2B5EF4-FFF2-40B4-BE49-F238E27FC236}">
                <a16:creationId xmlns="" xmlns:a16="http://schemas.microsoft.com/office/drawing/2014/main" id="{8FA9D5F6-6085-B222-996C-5F4A8BA1EC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0532" y="320164"/>
            <a:ext cx="4808931" cy="5693786"/>
          </a:xfrm>
          <a:prstGeom prst="rect">
            <a:avLst/>
          </a:prstGeom>
        </p:spPr>
      </p:pic>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07684" y="31906"/>
            <a:ext cx="1284316"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235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C1D400C-E747-5DB7-2A06-222289B54747}"/>
            </a:ext>
          </a:extLst>
        </p:cNvPr>
        <p:cNvGrpSpPr/>
        <p:nvPr/>
      </p:nvGrpSpPr>
      <p:grpSpPr>
        <a:xfrm>
          <a:off x="0" y="0"/>
          <a:ext cx="0" cy="0"/>
          <a:chOff x="0" y="0"/>
          <a:chExt cx="0" cy="0"/>
        </a:xfrm>
      </p:grpSpPr>
      <p:sp>
        <p:nvSpPr>
          <p:cNvPr id="15" name="TextBox 14">
            <a:extLst>
              <a:ext uri="{FF2B5EF4-FFF2-40B4-BE49-F238E27FC236}">
                <a16:creationId xmlns="" xmlns:a16="http://schemas.microsoft.com/office/drawing/2014/main" id="{3E85B960-78D6-1A80-9CC4-D21ACFC93D61}"/>
              </a:ext>
            </a:extLst>
          </p:cNvPr>
          <p:cNvSpPr txBox="1"/>
          <p:nvPr/>
        </p:nvSpPr>
        <p:spPr>
          <a:xfrm rot="10800000" flipV="1">
            <a:off x="914400" y="6488972"/>
            <a:ext cx="3271984" cy="230832"/>
          </a:xfrm>
          <a:prstGeom prst="rect">
            <a:avLst/>
          </a:prstGeom>
          <a:noFill/>
        </p:spPr>
        <p:txBody>
          <a:bodyPr wrap="square">
            <a:spAutoFit/>
          </a:bodyPr>
          <a:lstStyle/>
          <a:p>
            <a:r>
              <a:rPr lang="en-US" sz="900" dirty="0">
                <a:solidFill>
                  <a:schemeClr val="bg1"/>
                </a:solidFill>
              </a:rPr>
              <a:t>Dept of AI&amp;DS, SJCIT</a:t>
            </a:r>
            <a:endParaRPr lang="en-IN" sz="900" dirty="0">
              <a:solidFill>
                <a:schemeClr val="bg1"/>
              </a:solidFill>
            </a:endParaRPr>
          </a:p>
        </p:txBody>
      </p:sp>
      <p:sp>
        <p:nvSpPr>
          <p:cNvPr id="16" name="TextBox 15">
            <a:extLst>
              <a:ext uri="{FF2B5EF4-FFF2-40B4-BE49-F238E27FC236}">
                <a16:creationId xmlns="" xmlns:a16="http://schemas.microsoft.com/office/drawing/2014/main" id="{1CEB8A51-24F5-41B2-CE0F-682DFCF1D102}"/>
              </a:ext>
            </a:extLst>
          </p:cNvPr>
          <p:cNvSpPr txBox="1"/>
          <p:nvPr/>
        </p:nvSpPr>
        <p:spPr>
          <a:xfrm>
            <a:off x="5926975" y="6488971"/>
            <a:ext cx="665018" cy="230833"/>
          </a:xfrm>
          <a:prstGeom prst="rect">
            <a:avLst/>
          </a:prstGeom>
          <a:noFill/>
        </p:spPr>
        <p:txBody>
          <a:bodyPr wrap="square" rtlCol="0">
            <a:spAutoFit/>
          </a:bodyPr>
          <a:lstStyle/>
          <a:p>
            <a:r>
              <a:rPr lang="en-IN" sz="900" dirty="0">
                <a:solidFill>
                  <a:schemeClr val="bg1"/>
                </a:solidFill>
              </a:rPr>
              <a:t>2025-26</a:t>
            </a:r>
          </a:p>
        </p:txBody>
      </p:sp>
      <p:sp>
        <p:nvSpPr>
          <p:cNvPr id="17" name="TextBox 16">
            <a:extLst>
              <a:ext uri="{FF2B5EF4-FFF2-40B4-BE49-F238E27FC236}">
                <a16:creationId xmlns="" xmlns:a16="http://schemas.microsoft.com/office/drawing/2014/main" id="{561AFF15-C716-7D2D-0140-BA74B0662B1F}"/>
              </a:ext>
            </a:extLst>
          </p:cNvPr>
          <p:cNvSpPr txBox="1"/>
          <p:nvPr/>
        </p:nvSpPr>
        <p:spPr>
          <a:xfrm>
            <a:off x="10906297" y="6488971"/>
            <a:ext cx="556953" cy="230832"/>
          </a:xfrm>
          <a:prstGeom prst="rect">
            <a:avLst/>
          </a:prstGeom>
          <a:noFill/>
        </p:spPr>
        <p:txBody>
          <a:bodyPr wrap="square" rtlCol="0">
            <a:spAutoFit/>
          </a:bodyPr>
          <a:lstStyle/>
          <a:p>
            <a:r>
              <a:rPr lang="en-IN" sz="900" dirty="0">
                <a:solidFill>
                  <a:schemeClr val="bg1"/>
                </a:solidFill>
              </a:rPr>
              <a:t>9</a:t>
            </a:r>
          </a:p>
        </p:txBody>
      </p:sp>
      <p:sp>
        <p:nvSpPr>
          <p:cNvPr id="18" name="TextBox 17">
            <a:extLst>
              <a:ext uri="{FF2B5EF4-FFF2-40B4-BE49-F238E27FC236}">
                <a16:creationId xmlns="" xmlns:a16="http://schemas.microsoft.com/office/drawing/2014/main" id="{153DC2B1-9744-1762-B8B0-626F7636F5FC}"/>
              </a:ext>
            </a:extLst>
          </p:cNvPr>
          <p:cNvSpPr txBox="1"/>
          <p:nvPr/>
        </p:nvSpPr>
        <p:spPr>
          <a:xfrm>
            <a:off x="0" y="0"/>
            <a:ext cx="3790603"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A Hybrid Neural Network for EEG-based Depression Screening Using CNN</a:t>
            </a:r>
          </a:p>
        </p:txBody>
      </p:sp>
      <p:sp>
        <p:nvSpPr>
          <p:cNvPr id="3" name="TextBox 2">
            <a:extLst>
              <a:ext uri="{FF2B5EF4-FFF2-40B4-BE49-F238E27FC236}">
                <a16:creationId xmlns="" xmlns:a16="http://schemas.microsoft.com/office/drawing/2014/main" id="{E7269D12-4F1F-A9E6-96C5-A4F8A7265018}"/>
              </a:ext>
            </a:extLst>
          </p:cNvPr>
          <p:cNvSpPr txBox="1"/>
          <p:nvPr/>
        </p:nvSpPr>
        <p:spPr>
          <a:xfrm>
            <a:off x="412865" y="927178"/>
            <a:ext cx="5879870" cy="784830"/>
          </a:xfrm>
          <a:prstGeom prst="rect">
            <a:avLst/>
          </a:prstGeom>
          <a:noFill/>
        </p:spPr>
        <p:txBody>
          <a:bodyPr wrap="square" rtlCol="0">
            <a:sp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sp>
        <p:nvSpPr>
          <p:cNvPr id="2" name="TextBox 1">
            <a:extLst>
              <a:ext uri="{FF2B5EF4-FFF2-40B4-BE49-F238E27FC236}">
                <a16:creationId xmlns="" xmlns:a16="http://schemas.microsoft.com/office/drawing/2014/main" id="{1812FB4B-09BC-AD19-90AC-23736C440886}"/>
              </a:ext>
            </a:extLst>
          </p:cNvPr>
          <p:cNvSpPr txBox="1"/>
          <p:nvPr/>
        </p:nvSpPr>
        <p:spPr>
          <a:xfrm>
            <a:off x="1246908" y="814647"/>
            <a:ext cx="9958647" cy="3724096"/>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CONCLUSION</a:t>
            </a:r>
          </a:p>
          <a:p>
            <a:pPr algn="ctr"/>
            <a:endParaRPr lang="en-IN" sz="2800" b="1" dirty="0">
              <a:latin typeface="Times New Roman" panose="02020603050405020304" pitchFamily="18" charset="0"/>
              <a:cs typeface="Times New Roman" panose="02020603050405020304" pitchFamily="18" charset="0"/>
            </a:endParaRPr>
          </a:p>
          <a:p>
            <a:pPr algn="just">
              <a:lnSpc>
                <a:spcPct val="150000"/>
              </a:lnSpc>
            </a:pPr>
            <a:r>
              <a:rPr lang="en-US"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is a hybrid deep learning model combining CNN and LSTM for automated depression detection using EEG signals. It efficiently extracts temporal and sequential features without manual engineering and achieves high accuracy with minimal error and computation time. The model surpasses existing approaches in accuracy, efficiency, and robustness, making it a reliable computer-aided tool for early depression screening. Future improvements can enable severity analysis, use of larger datasets, and integration with IoMT systems for real-time mental health monitoring.</a:t>
            </a:r>
            <a:endParaRPr lang="en-IN" dirty="0">
              <a:latin typeface="Times New Roman" panose="02020603050405020304" pitchFamily="18" charset="0"/>
              <a:cs typeface="Times New Roman" panose="02020603050405020304" pitchFamily="18" charset="0"/>
            </a:endParaRPr>
          </a:p>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3025" y="143282"/>
            <a:ext cx="1581150"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1687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92CD478-B43C-711F-5AF1-65DFB563FA4C}"/>
            </a:ext>
          </a:extLst>
        </p:cNvPr>
        <p:cNvGrpSpPr/>
        <p:nvPr/>
      </p:nvGrpSpPr>
      <p:grpSpPr>
        <a:xfrm>
          <a:off x="0" y="0"/>
          <a:ext cx="0" cy="0"/>
          <a:chOff x="0" y="0"/>
          <a:chExt cx="0" cy="0"/>
        </a:xfrm>
      </p:grpSpPr>
      <p:sp>
        <p:nvSpPr>
          <p:cNvPr id="15" name="TextBox 14">
            <a:extLst>
              <a:ext uri="{FF2B5EF4-FFF2-40B4-BE49-F238E27FC236}">
                <a16:creationId xmlns="" xmlns:a16="http://schemas.microsoft.com/office/drawing/2014/main" id="{26BCE4FC-296C-8C91-B258-F2FD12B8B9F8}"/>
              </a:ext>
            </a:extLst>
          </p:cNvPr>
          <p:cNvSpPr txBox="1"/>
          <p:nvPr/>
        </p:nvSpPr>
        <p:spPr>
          <a:xfrm rot="10800000" flipV="1">
            <a:off x="914400" y="6488972"/>
            <a:ext cx="3271984" cy="230832"/>
          </a:xfrm>
          <a:prstGeom prst="rect">
            <a:avLst/>
          </a:prstGeom>
          <a:noFill/>
        </p:spPr>
        <p:txBody>
          <a:bodyPr wrap="square">
            <a:spAutoFit/>
          </a:bodyPr>
          <a:lstStyle/>
          <a:p>
            <a:r>
              <a:rPr lang="en-US" sz="900" dirty="0">
                <a:solidFill>
                  <a:schemeClr val="bg1"/>
                </a:solidFill>
              </a:rPr>
              <a:t>Dept of AI&amp;DS, SJCIT</a:t>
            </a:r>
            <a:endParaRPr lang="en-IN" sz="900" dirty="0">
              <a:solidFill>
                <a:schemeClr val="bg1"/>
              </a:solidFill>
            </a:endParaRPr>
          </a:p>
        </p:txBody>
      </p:sp>
      <p:sp>
        <p:nvSpPr>
          <p:cNvPr id="16" name="TextBox 15">
            <a:extLst>
              <a:ext uri="{FF2B5EF4-FFF2-40B4-BE49-F238E27FC236}">
                <a16:creationId xmlns="" xmlns:a16="http://schemas.microsoft.com/office/drawing/2014/main" id="{6E81531E-383C-E392-6116-C5CA64ADFE2D}"/>
              </a:ext>
            </a:extLst>
          </p:cNvPr>
          <p:cNvSpPr txBox="1"/>
          <p:nvPr/>
        </p:nvSpPr>
        <p:spPr>
          <a:xfrm>
            <a:off x="5926975" y="6488971"/>
            <a:ext cx="665018" cy="230833"/>
          </a:xfrm>
          <a:prstGeom prst="rect">
            <a:avLst/>
          </a:prstGeom>
          <a:noFill/>
        </p:spPr>
        <p:txBody>
          <a:bodyPr wrap="square" rtlCol="0">
            <a:spAutoFit/>
          </a:bodyPr>
          <a:lstStyle/>
          <a:p>
            <a:r>
              <a:rPr lang="en-IN" sz="900" dirty="0">
                <a:solidFill>
                  <a:schemeClr val="bg1"/>
                </a:solidFill>
              </a:rPr>
              <a:t>2025-26</a:t>
            </a:r>
          </a:p>
        </p:txBody>
      </p:sp>
      <p:sp>
        <p:nvSpPr>
          <p:cNvPr id="17" name="TextBox 16">
            <a:extLst>
              <a:ext uri="{FF2B5EF4-FFF2-40B4-BE49-F238E27FC236}">
                <a16:creationId xmlns="" xmlns:a16="http://schemas.microsoft.com/office/drawing/2014/main" id="{4D441C00-7866-A8D8-E0F2-7A31371024B0}"/>
              </a:ext>
            </a:extLst>
          </p:cNvPr>
          <p:cNvSpPr txBox="1"/>
          <p:nvPr/>
        </p:nvSpPr>
        <p:spPr>
          <a:xfrm>
            <a:off x="10906297" y="6488971"/>
            <a:ext cx="556953" cy="230832"/>
          </a:xfrm>
          <a:prstGeom prst="rect">
            <a:avLst/>
          </a:prstGeom>
          <a:noFill/>
        </p:spPr>
        <p:txBody>
          <a:bodyPr wrap="square" rtlCol="0">
            <a:spAutoFit/>
          </a:bodyPr>
          <a:lstStyle/>
          <a:p>
            <a:r>
              <a:rPr lang="en-IN" sz="900" dirty="0">
                <a:solidFill>
                  <a:schemeClr val="bg1"/>
                </a:solidFill>
              </a:rPr>
              <a:t>9</a:t>
            </a:r>
          </a:p>
        </p:txBody>
      </p:sp>
      <p:sp>
        <p:nvSpPr>
          <p:cNvPr id="3" name="TextBox 2">
            <a:extLst>
              <a:ext uri="{FF2B5EF4-FFF2-40B4-BE49-F238E27FC236}">
                <a16:creationId xmlns="" xmlns:a16="http://schemas.microsoft.com/office/drawing/2014/main" id="{CFCB82DC-1670-A20B-9C01-8AF7589FC29B}"/>
              </a:ext>
            </a:extLst>
          </p:cNvPr>
          <p:cNvSpPr txBox="1"/>
          <p:nvPr/>
        </p:nvSpPr>
        <p:spPr>
          <a:xfrm>
            <a:off x="412865" y="927178"/>
            <a:ext cx="5879870" cy="784830"/>
          </a:xfrm>
          <a:prstGeom prst="rect">
            <a:avLst/>
          </a:prstGeom>
          <a:noFill/>
        </p:spPr>
        <p:txBody>
          <a:bodyPr wrap="square" rtlCol="0">
            <a:sp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sp>
        <p:nvSpPr>
          <p:cNvPr id="2" name="TextBox 1">
            <a:extLst>
              <a:ext uri="{FF2B5EF4-FFF2-40B4-BE49-F238E27FC236}">
                <a16:creationId xmlns="" xmlns:a16="http://schemas.microsoft.com/office/drawing/2014/main" id="{E40FA3C1-C8E3-FC00-EADD-566929B17C58}"/>
              </a:ext>
            </a:extLst>
          </p:cNvPr>
          <p:cNvSpPr txBox="1"/>
          <p:nvPr/>
        </p:nvSpPr>
        <p:spPr>
          <a:xfrm>
            <a:off x="1246908" y="814647"/>
            <a:ext cx="9958647" cy="646331"/>
          </a:xfrm>
          <a:prstGeom prst="rect">
            <a:avLst/>
          </a:prstGeom>
          <a:noFill/>
        </p:spPr>
        <p:txBody>
          <a:bodyPr wrap="square" rtlCol="0">
            <a:spAutoFit/>
          </a:bodyPr>
          <a:lstStyle/>
          <a:p>
            <a:pPr algn="ct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 xmlns:a16="http://schemas.microsoft.com/office/drawing/2014/main" id="{42AE8035-556E-46E5-C072-C7F37975CDBE}"/>
              </a:ext>
            </a:extLst>
          </p:cNvPr>
          <p:cNvPicPr>
            <a:picLocks noChangeAspect="1"/>
          </p:cNvPicPr>
          <p:nvPr/>
        </p:nvPicPr>
        <p:blipFill>
          <a:blip r:embed="rId2"/>
          <a:stretch>
            <a:fillRect/>
          </a:stretch>
        </p:blipFill>
        <p:spPr>
          <a:xfrm>
            <a:off x="0" y="0"/>
            <a:ext cx="12192000" cy="6405510"/>
          </a:xfrm>
          <a:prstGeom prst="rect">
            <a:avLst/>
          </a:prstGeom>
        </p:spPr>
      </p:pic>
    </p:spTree>
    <p:extLst>
      <p:ext uri="{BB962C8B-B14F-4D97-AF65-F5344CB8AC3E}">
        <p14:creationId xmlns:p14="http://schemas.microsoft.com/office/powerpoint/2010/main" val="253327368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104</TotalTime>
  <Words>675</Words>
  <Application>Microsoft Office PowerPoint</Application>
  <PresentationFormat>Custom</PresentationFormat>
  <Paragraphs>95</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lathasree. balappagari</dc:creator>
  <cp:lastModifiedBy>mareddy charan</cp:lastModifiedBy>
  <cp:revision>7</cp:revision>
  <dcterms:created xsi:type="dcterms:W3CDTF">2025-12-11T12:46:21Z</dcterms:created>
  <dcterms:modified xsi:type="dcterms:W3CDTF">2025-12-12T05:21:22Z</dcterms:modified>
</cp:coreProperties>
</file>
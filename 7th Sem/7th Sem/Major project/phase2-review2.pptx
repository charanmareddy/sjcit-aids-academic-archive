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26"/>
  </p:notesMasterIdLst>
  <p:handoutMasterIdLst>
    <p:handoutMasterId r:id="rId27"/>
  </p:handoutMasterIdLst>
  <p:sldIdLst>
    <p:sldId id="257" r:id="rId2"/>
    <p:sldId id="258" r:id="rId3"/>
    <p:sldId id="274" r:id="rId4"/>
    <p:sldId id="275" r:id="rId5"/>
    <p:sldId id="259" r:id="rId6"/>
    <p:sldId id="260" r:id="rId7"/>
    <p:sldId id="276" r:id="rId8"/>
    <p:sldId id="284" r:id="rId9"/>
    <p:sldId id="295" r:id="rId10"/>
    <p:sldId id="290" r:id="rId11"/>
    <p:sldId id="289" r:id="rId12"/>
    <p:sldId id="298" r:id="rId13"/>
    <p:sldId id="303" r:id="rId14"/>
    <p:sldId id="304" r:id="rId15"/>
    <p:sldId id="305" r:id="rId16"/>
    <p:sldId id="300" r:id="rId17"/>
    <p:sldId id="306" r:id="rId18"/>
    <p:sldId id="301" r:id="rId19"/>
    <p:sldId id="302" r:id="rId20"/>
    <p:sldId id="299" r:id="rId21"/>
    <p:sldId id="291" r:id="rId22"/>
    <p:sldId id="307" r:id="rId23"/>
    <p:sldId id="278" r:id="rId24"/>
    <p:sldId id="26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3C21E5-0448-41A4-874E-73A9F5B14A9F}" v="65" dt="2025-11-12T16:34:22.413"/>
    <p1510:client id="{90555D4F-BD65-4F0A-A637-6C6C6E0DA811}" v="67" dt="2025-11-11T16:56:36.4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9" d="100"/>
          <a:sy n="89" d="100"/>
        </p:scale>
        <p:origin x="-432" y="-5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7CFF807-76C2-FC97-28A0-B51206186D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a:extLst>
              <a:ext uri="{FF2B5EF4-FFF2-40B4-BE49-F238E27FC236}">
                <a16:creationId xmlns="" xmlns:a16="http://schemas.microsoft.com/office/drawing/2014/main" id="{17FA6F68-989C-379C-AC57-04EF83A9CA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 xmlns:a16="http://schemas.microsoft.com/office/drawing/2014/main" id="{770DDBBC-1DA7-4B6E-A894-D91CCC9E1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5" name="Slide Number Placeholder 4">
            <a:extLst>
              <a:ext uri="{FF2B5EF4-FFF2-40B4-BE49-F238E27FC236}">
                <a16:creationId xmlns="" xmlns:a16="http://schemas.microsoft.com/office/drawing/2014/main" id="{5CAE13D8-524B-3194-731C-1291D9F86D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C8F0A-2F6B-4EDC-8032-61F1494F8A1A}" type="slidenum">
              <a:rPr lang="en-IN" smtClean="0"/>
              <a:t>‹#›</a:t>
            </a:fld>
            <a:endParaRPr lang="en-IN"/>
          </a:p>
        </p:txBody>
      </p:sp>
    </p:spTree>
    <p:extLst>
      <p:ext uri="{BB962C8B-B14F-4D97-AF65-F5344CB8AC3E}">
        <p14:creationId xmlns:p14="http://schemas.microsoft.com/office/powerpoint/2010/main" val="1021397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A Hybrid Neural Network for EEG-based Depression Screening</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AI&amp;DS, SJCIT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ECF8-49E2-452A-BDEE-A7E1E796A086}" type="slidenum">
              <a:rPr lang="en-IN" smtClean="0"/>
              <a:t>‹#›</a:t>
            </a:fld>
            <a:endParaRPr lang="en-IN"/>
          </a:p>
        </p:txBody>
      </p:sp>
    </p:spTree>
    <p:extLst>
      <p:ext uri="{BB962C8B-B14F-4D97-AF65-F5344CB8AC3E}">
        <p14:creationId xmlns:p14="http://schemas.microsoft.com/office/powerpoint/2010/main" val="341480226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2</a:t>
            </a:fld>
            <a:endParaRPr lang="en-IN"/>
          </a:p>
        </p:txBody>
      </p:sp>
    </p:spTree>
    <p:extLst>
      <p:ext uri="{BB962C8B-B14F-4D97-AF65-F5344CB8AC3E}">
        <p14:creationId xmlns:p14="http://schemas.microsoft.com/office/powerpoint/2010/main" val="420459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r>
              <a:rPr lang="en-US"/>
              <a:t>A Hybrid Neural Network for EEG-based Depression Screening</a:t>
            </a:r>
            <a:endParaRPr lang="en-IN"/>
          </a:p>
        </p:txBody>
      </p:sp>
      <p:sp>
        <p:nvSpPr>
          <p:cNvPr id="5" name="Footer Placeholder 4"/>
          <p:cNvSpPr>
            <a:spLocks noGrp="1"/>
          </p:cNvSpPr>
          <p:nvPr>
            <p:ph type="ftr" sz="quarter" idx="11"/>
          </p:nvPr>
        </p:nvSpPr>
        <p:spPr/>
        <p:txBody>
          <a:bodyPr/>
          <a:lstStyle/>
          <a:p>
            <a:r>
              <a:rPr lang="en-IN"/>
              <a:t>Dept of AI&amp;DS, SJCIT</a:t>
            </a:r>
          </a:p>
        </p:txBody>
      </p:sp>
      <p:sp>
        <p:nvSpPr>
          <p:cNvPr id="6" name="Slide Number Placeholder 5"/>
          <p:cNvSpPr>
            <a:spLocks noGrp="1"/>
          </p:cNvSpPr>
          <p:nvPr>
            <p:ph type="sldNum" sz="quarter" idx="12"/>
          </p:nvPr>
        </p:nvSpPr>
        <p:spPr/>
        <p:txBody>
          <a:bodyPr/>
          <a:lstStyle/>
          <a:p>
            <a:fld id="{46BCECF8-49E2-452A-BDEE-A7E1E796A086}" type="slidenum">
              <a:rPr lang="en-IN" smtClean="0"/>
              <a:t>5</a:t>
            </a:fld>
            <a:endParaRPr lang="en-IN"/>
          </a:p>
        </p:txBody>
      </p:sp>
    </p:spTree>
    <p:extLst>
      <p:ext uri="{BB962C8B-B14F-4D97-AF65-F5344CB8AC3E}">
        <p14:creationId xmlns:p14="http://schemas.microsoft.com/office/powerpoint/2010/main" val="2239150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098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381185791"/>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910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155533517"/>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01149915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Dept of AI&amp;DS, SJCIT</a:t>
            </a:r>
            <a:endParaRPr lang="en-IN"/>
          </a:p>
        </p:txBody>
      </p:sp>
      <p:sp>
        <p:nvSpPr>
          <p:cNvPr id="4" name="Footer Placeholder 3"/>
          <p:cNvSpPr>
            <a:spLocks noGrp="1"/>
          </p:cNvSpPr>
          <p:nvPr>
            <p:ph type="ftr" sz="quarter" idx="11"/>
          </p:nvPr>
        </p:nvSpPr>
        <p:spPr/>
        <p:txBody>
          <a:bodyPr/>
          <a:lstStyle/>
          <a:p>
            <a:r>
              <a:rPr lang="en-IN"/>
              <a:t>2025-26</a:t>
            </a:r>
          </a:p>
        </p:txBody>
      </p:sp>
      <p:sp>
        <p:nvSpPr>
          <p:cNvPr id="5" name="Slide Number Placeholder 4"/>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366010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803992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Dept of AI&amp;DS, SJCIT</a:t>
            </a:r>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2025-26</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FBB93A-4B32-4007-AACF-5243CED557C7}" type="slidenum">
              <a:rPr lang="en-IN" smtClean="0"/>
              <a:t>‹#›</a:t>
            </a:fld>
            <a:endParaRPr lang="en-IN"/>
          </a:p>
        </p:txBody>
      </p:sp>
    </p:spTree>
    <p:extLst>
      <p:ext uri="{BB962C8B-B14F-4D97-AF65-F5344CB8AC3E}">
        <p14:creationId xmlns:p14="http://schemas.microsoft.com/office/powerpoint/2010/main" val="2720797929"/>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10840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69589051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257208986"/>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Dept of AI&amp;DS, SJCIT</a:t>
            </a:r>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2025-26</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FBB93A-4B32-4007-AACF-5243CED557C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87169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doi.org/10.3390/app9153319" TargetMode="External"/><Relationship Id="rId7" Type="http://schemas.openxmlformats.org/officeDocument/2006/relationships/hyperlink" Target="https://pubmed.ncbi.nlm.nih.gov/26886976/?utm_source=chatgpt.com" TargetMode="External"/><Relationship Id="rId2" Type="http://schemas.openxmlformats.org/officeDocument/2006/relationships/hyperlink" Target="https://doi.org/10.1016/j.compbiomed.2018.06.008" TargetMode="External"/><Relationship Id="rId1" Type="http://schemas.openxmlformats.org/officeDocument/2006/relationships/slideLayout" Target="../slideLayouts/slideLayout7.xml"/><Relationship Id="rId6" Type="http://schemas.openxmlformats.org/officeDocument/2006/relationships/hyperlink" Target="https://www.sciencedirect.com/science/article/abs/pii/S1746809416300866" TargetMode="External"/><Relationship Id="rId5" Type="http://schemas.openxmlformats.org/officeDocument/2006/relationships/hyperlink" Target="https://www.sciencedirect.com/science/article/pii/S0169260718301494" TargetMode="External"/><Relationship Id="rId4" Type="http://schemas.openxmlformats.org/officeDocument/2006/relationships/hyperlink" Target="https://keras.io/guides/sequential_model/"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a:extLst>
              <a:ext uri="{FF2B5EF4-FFF2-40B4-BE49-F238E27FC236}">
                <a16:creationId xmlns="" xmlns:a16="http://schemas.microsoft.com/office/drawing/2014/main" id="{C02BCDCC-A182-5718-B49D-B13F53391105}"/>
              </a:ext>
            </a:extLst>
          </p:cNvPr>
          <p:cNvSpPr>
            <a:spLocks noGrp="1"/>
          </p:cNvSpPr>
          <p:nvPr>
            <p:ph type="dt" sz="half" idx="10"/>
          </p:nvPr>
        </p:nvSpPr>
        <p:spPr>
          <a:xfrm flipH="1">
            <a:off x="6108726" y="5609848"/>
            <a:ext cx="1474839" cy="911977"/>
          </a:xfrm>
        </p:spPr>
        <p:txBody>
          <a:bodyPr/>
          <a:lstStyle/>
          <a:p>
            <a:r>
              <a:rPr lang="en-US"/>
              <a:t>Dept of AI&amp;DS, SJCIT</a:t>
            </a:r>
            <a:endParaRPr lang="en-IN" dirty="0"/>
          </a:p>
        </p:txBody>
      </p:sp>
      <p:sp>
        <p:nvSpPr>
          <p:cNvPr id="6" name="Footer Placeholder 5">
            <a:extLst>
              <a:ext uri="{FF2B5EF4-FFF2-40B4-BE49-F238E27FC236}">
                <a16:creationId xmlns="" xmlns:a16="http://schemas.microsoft.com/office/drawing/2014/main" id="{44DD8720-A00F-5D7B-9C9A-5656A85908BE}"/>
              </a:ext>
            </a:extLst>
          </p:cNvPr>
          <p:cNvSpPr>
            <a:spLocks noGrp="1"/>
          </p:cNvSpPr>
          <p:nvPr>
            <p:ph type="ftr" sz="quarter" idx="11"/>
          </p:nvPr>
        </p:nvSpPr>
        <p:spPr>
          <a:xfrm>
            <a:off x="571359" y="6307672"/>
            <a:ext cx="1955532" cy="274320"/>
          </a:xfrm>
        </p:spPr>
        <p:txBody>
          <a:bodyPr/>
          <a:lstStyle/>
          <a:p>
            <a:r>
              <a:rPr lang="en-IN" dirty="0"/>
              <a:t>2025-26</a:t>
            </a:r>
          </a:p>
        </p:txBody>
      </p:sp>
      <p:sp>
        <p:nvSpPr>
          <p:cNvPr id="7" name="Slide Number Placeholder 6">
            <a:extLst>
              <a:ext uri="{FF2B5EF4-FFF2-40B4-BE49-F238E27FC236}">
                <a16:creationId xmlns="" xmlns:a16="http://schemas.microsoft.com/office/drawing/2014/main" id="{48B5B378-9CF4-628F-242F-C3B271FBC64C}"/>
              </a:ext>
            </a:extLst>
          </p:cNvPr>
          <p:cNvSpPr>
            <a:spLocks noGrp="1"/>
          </p:cNvSpPr>
          <p:nvPr>
            <p:ph type="sldNum" sz="quarter" idx="12"/>
          </p:nvPr>
        </p:nvSpPr>
        <p:spPr/>
        <p:txBody>
          <a:bodyPr/>
          <a:lstStyle/>
          <a:p>
            <a:fld id="{69FBB93A-4B32-4007-AACF-5243CED557C7}" type="slidenum">
              <a:rPr lang="en-IN" smtClean="0"/>
              <a:t>1</a:t>
            </a:fld>
            <a:endParaRPr lang="en-IN"/>
          </a:p>
        </p:txBody>
      </p:sp>
      <p:sp>
        <p:nvSpPr>
          <p:cNvPr id="10" name="TextBox 9">
            <a:extLst>
              <a:ext uri="{FF2B5EF4-FFF2-40B4-BE49-F238E27FC236}">
                <a16:creationId xmlns="" xmlns:a16="http://schemas.microsoft.com/office/drawing/2014/main" id="{A8AF886D-2672-E1B6-5558-A6D5255410EA}"/>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18" name="TextBox 17">
            <a:extLst>
              <a:ext uri="{FF2B5EF4-FFF2-40B4-BE49-F238E27FC236}">
                <a16:creationId xmlns="" xmlns:a16="http://schemas.microsoft.com/office/drawing/2014/main" id="{858E34A5-CC41-727F-A76B-9AF31A39ACCD}"/>
              </a:ext>
            </a:extLst>
          </p:cNvPr>
          <p:cNvSpPr txBox="1"/>
          <p:nvPr/>
        </p:nvSpPr>
        <p:spPr>
          <a:xfrm>
            <a:off x="2415931" y="2133693"/>
            <a:ext cx="7521678" cy="369332"/>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 xmlns:a16="http://schemas.microsoft.com/office/drawing/2014/main" id="{BAAB6D6F-10A3-8E55-C649-9976D7BF835A}"/>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21" name="TextBox 20">
            <a:extLst>
              <a:ext uri="{FF2B5EF4-FFF2-40B4-BE49-F238E27FC236}">
                <a16:creationId xmlns="" xmlns:a16="http://schemas.microsoft.com/office/drawing/2014/main" id="{CC330673-E17D-D4FA-63DA-AA77404362AB}"/>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B.LATHA </a:t>
            </a:r>
            <a:r>
              <a:rPr lang="en-US" sz="1800" dirty="0">
                <a:solidFill>
                  <a:schemeClr val="accent2">
                    <a:lumMod val="50000"/>
                  </a:schemeClr>
                </a:solidFill>
                <a:latin typeface="Times New Roman" panose="02020603050405020304" pitchFamily="18" charset="0"/>
                <a:cs typeface="Times New Roman" panose="02020603050405020304" pitchFamily="18" charset="0"/>
              </a:rPr>
              <a:t>SREE           1SJ22AD006</a:t>
            </a: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1SJ22AD008</a:t>
            </a:r>
          </a:p>
          <a:p>
            <a:pPr algn="just"/>
            <a:r>
              <a:rPr lang="en-US" dirty="0">
                <a:solidFill>
                  <a:schemeClr val="accent2">
                    <a:lumMod val="50000"/>
                  </a:schemeClr>
                </a:solidFill>
                <a:latin typeface="Times New Roman"/>
                <a:cs typeface="Times New Roman"/>
              </a:rPr>
              <a:t>M.CHARAN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 xmlns:a16="http://schemas.microsoft.com/office/drawing/2014/main" id="{63E1D173-52B1-1198-57D1-211E856BFA03}"/>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 xmlns:a16="http://schemas.microsoft.com/office/drawing/2014/main" id="{4684A7C2-0927-DAE1-49C4-AD87F3B26156}"/>
              </a:ext>
            </a:extLst>
          </p:cNvPr>
          <p:cNvSpPr txBox="1"/>
          <p:nvPr/>
        </p:nvSpPr>
        <p:spPr>
          <a:xfrm>
            <a:off x="3271201" y="2522434"/>
            <a:ext cx="6086168" cy="646331"/>
          </a:xfrm>
          <a:prstGeom prst="rect">
            <a:avLst/>
          </a:prstGeom>
          <a:noFill/>
        </p:spPr>
        <p:txBody>
          <a:bodyPr wrap="square" rtlCol="0">
            <a:spAutoFit/>
          </a:bodyPr>
          <a:lstStyle/>
          <a:p>
            <a:pPr algn="ctr"/>
            <a:r>
              <a:rPr lang="en-US" altLang="en-US" sz="1800" b="1" dirty="0">
                <a:solidFill>
                  <a:srgbClr val="7030A0"/>
                </a:solidFill>
                <a:latin typeface="Times New Roman" panose="02020603050405020304" pitchFamily="18" charset="0"/>
                <a:cs typeface="Times New Roman" panose="02020603050405020304" pitchFamily="18" charset="0"/>
              </a:rPr>
              <a:t>Project Phase-2</a:t>
            </a:r>
          </a:p>
          <a:p>
            <a:pPr algn="ctr"/>
            <a:r>
              <a:rPr lang="en-US" altLang="en-US" b="1">
                <a:solidFill>
                  <a:srgbClr val="7030A0"/>
                </a:solidFill>
                <a:latin typeface="Times New Roman" panose="02020603050405020304" pitchFamily="18" charset="0"/>
                <a:cs typeface="Times New Roman" panose="02020603050405020304" pitchFamily="18" charset="0"/>
              </a:rPr>
              <a:t>Review 2</a:t>
            </a:r>
            <a:r>
              <a:rPr lang="en-US" altLang="en-US" sz="1800" b="1">
                <a:solidFill>
                  <a:srgbClr val="7030A0"/>
                </a:solidFill>
                <a:latin typeface="Times New Roman" panose="02020603050405020304" pitchFamily="18" charset="0"/>
                <a:cs typeface="Times New Roman" panose="02020603050405020304" pitchFamily="18" charset="0"/>
              </a:rPr>
              <a:t> </a:t>
            </a:r>
            <a:endParaRPr lang="en-US" altLang="en-US" sz="1800" b="1" dirty="0">
              <a:solidFill>
                <a:srgbClr val="7030A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DA248202-711E-796C-9322-294D8272F7C8}"/>
              </a:ext>
            </a:extLst>
          </p:cNvPr>
          <p:cNvSpPr txBox="1"/>
          <p:nvPr/>
        </p:nvSpPr>
        <p:spPr>
          <a:xfrm>
            <a:off x="382384" y="3324829"/>
            <a:ext cx="11230495" cy="369332"/>
          </a:xfrm>
          <a:prstGeom prst="rect">
            <a:avLst/>
          </a:prstGeom>
          <a:noFill/>
        </p:spPr>
        <p:txBody>
          <a:bodyPr wrap="square" rtlCol="0">
            <a:spAutoFit/>
          </a:bodyPr>
          <a:lstStyle/>
          <a:p>
            <a:pPr algn="ctr"/>
            <a:r>
              <a:rPr lang="en-IN"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a:t>
            </a:r>
            <a:r>
              <a:rPr lang="en-IN" dirty="0" smtClean="0">
                <a:latin typeface="Tahoma" panose="020B0604030504040204" pitchFamily="34" charset="0"/>
                <a:ea typeface="Tahoma" panose="020B0604030504040204" pitchFamily="34" charset="0"/>
                <a:cs typeface="Tahoma" panose="020B0604030504040204" pitchFamily="34" charset="0"/>
              </a:rPr>
              <a:t>CNN-</a:t>
            </a:r>
            <a:r>
              <a:rPr lang="en-IN" dirty="0">
                <a:latin typeface="Tahoma" panose="020B0604030504040204" pitchFamily="34" charset="0"/>
                <a:ea typeface="Tahoma" panose="020B0604030504040204" pitchFamily="34" charset="0"/>
                <a:cs typeface="Tahoma" panose="020B0604030504040204" pitchFamily="34" charset="0"/>
              </a:rPr>
              <a:t>L</a:t>
            </a:r>
            <a:r>
              <a:rPr lang="en-IN" dirty="0" smtClean="0">
                <a:latin typeface="Tahoma" panose="020B0604030504040204" pitchFamily="34" charset="0"/>
                <a:ea typeface="Tahoma" panose="020B0604030504040204" pitchFamily="34" charset="0"/>
                <a:cs typeface="Tahoma" panose="020B0604030504040204" pitchFamily="34" charset="0"/>
              </a:rPr>
              <a:t>STM”</a:t>
            </a:r>
            <a:endParaRPr lang="en-IN" sz="1600" b="1" dirty="0"/>
          </a:p>
        </p:txBody>
      </p:sp>
      <p:pic>
        <p:nvPicPr>
          <p:cNvPr id="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119641"/>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9813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0312830-05A9-627B-229B-4C455CB27EB9}"/>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TABLE OF CONTENTS</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 xmlns:a16="http://schemas.microsoft.com/office/drawing/2014/main" id="{D1C8C61A-AD8A-F055-9DE5-7E8FBCCBF3C7}"/>
              </a:ext>
            </a:extLst>
          </p:cNvPr>
          <p:cNvSpPr>
            <a:spLocks noGrp="1"/>
          </p:cNvSpPr>
          <p:nvPr>
            <p:ph type="dt" sz="half" idx="10"/>
          </p:nvPr>
        </p:nvSpPr>
        <p:spPr/>
        <p:txBody>
          <a:bodyPr/>
          <a:lstStyle/>
          <a:p>
            <a:r>
              <a:rPr lang="en-US"/>
              <a:t>Dept of AI&amp;DS, SJCIT</a:t>
            </a:r>
            <a:endParaRPr lang="en-IN"/>
          </a:p>
        </p:txBody>
      </p:sp>
      <p:sp>
        <p:nvSpPr>
          <p:cNvPr id="8" name="Footer Placeholder 7">
            <a:extLst>
              <a:ext uri="{FF2B5EF4-FFF2-40B4-BE49-F238E27FC236}">
                <a16:creationId xmlns="" xmlns:a16="http://schemas.microsoft.com/office/drawing/2014/main" id="{B1CE8EC1-241F-A9E5-055C-8E8B1F066B56}"/>
              </a:ext>
            </a:extLst>
          </p:cNvPr>
          <p:cNvSpPr>
            <a:spLocks noGrp="1"/>
          </p:cNvSpPr>
          <p:nvPr>
            <p:ph type="ftr" sz="quarter" idx="11"/>
          </p:nvPr>
        </p:nvSpPr>
        <p:spPr/>
        <p:txBody>
          <a:bodyPr/>
          <a:lstStyle/>
          <a:p>
            <a:r>
              <a:rPr lang="en-IN" dirty="0"/>
              <a:t>2025-26</a:t>
            </a:r>
          </a:p>
        </p:txBody>
      </p:sp>
      <p:sp>
        <p:nvSpPr>
          <p:cNvPr id="9" name="Slide Number Placeholder 8">
            <a:extLst>
              <a:ext uri="{FF2B5EF4-FFF2-40B4-BE49-F238E27FC236}">
                <a16:creationId xmlns="" xmlns:a16="http://schemas.microsoft.com/office/drawing/2014/main" id="{FFC50BCD-9CB0-2F01-FF7D-61412C7CDF7B}"/>
              </a:ext>
            </a:extLst>
          </p:cNvPr>
          <p:cNvSpPr>
            <a:spLocks noGrp="1"/>
          </p:cNvSpPr>
          <p:nvPr>
            <p:ph type="sldNum" sz="quarter" idx="12"/>
          </p:nvPr>
        </p:nvSpPr>
        <p:spPr/>
        <p:txBody>
          <a:bodyPr/>
          <a:lstStyle/>
          <a:p>
            <a:fld id="{69FBB93A-4B32-4007-AACF-5243CED557C7}" type="slidenum">
              <a:rPr lang="en-IN" smtClean="0"/>
              <a:t>2</a:t>
            </a:fld>
            <a:endParaRPr lang="en-IN"/>
          </a:p>
        </p:txBody>
      </p:sp>
      <p:sp>
        <p:nvSpPr>
          <p:cNvPr id="6" name="TextBox 5">
            <a:extLst>
              <a:ext uri="{FF2B5EF4-FFF2-40B4-BE49-F238E27FC236}">
                <a16:creationId xmlns="" xmlns:a16="http://schemas.microsoft.com/office/drawing/2014/main" id="{D65FAF25-D943-CF5A-7916-7E9CAEE994F9}"/>
              </a:ext>
            </a:extLst>
          </p:cNvPr>
          <p:cNvSpPr txBox="1"/>
          <p:nvPr/>
        </p:nvSpPr>
        <p:spPr>
          <a:xfrm>
            <a:off x="1474840" y="1114116"/>
            <a:ext cx="7256206" cy="5115311"/>
          </a:xfrm>
          <a:prstGeom prst="rect">
            <a:avLst/>
          </a:prstGeom>
          <a:noFill/>
        </p:spPr>
        <p:txBody>
          <a:bodyPr wrap="square">
            <a:spAutoFit/>
          </a:bodyPr>
          <a:lstStyle/>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Abstract</a:t>
            </a:r>
            <a:r>
              <a:rPr lang="en-US" sz="2000" spc="-15" dirty="0">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0" dirty="0">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z="2000" spc="-30" dirty="0">
                <a:effectLst/>
                <a:latin typeface="Times New Roman" panose="02020603050405020304" pitchFamily="18" charset="0"/>
                <a:ea typeface="Calibri" panose="020F0502020204030204" pitchFamily="34" charset="0"/>
                <a:cs typeface="Times New Roman" panose="02020603050405020304" pitchFamily="18" charset="0"/>
              </a:rPr>
              <a:t> </a:t>
            </a:r>
          </a:p>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Problem</a:t>
            </a:r>
            <a:r>
              <a:rPr lang="en-US" sz="2000" spc="-15"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ea typeface="Calibri" panose="020F0502020204030204" pitchFamily="34" charset="0"/>
                <a:cs typeface="Times New Roman" panose="02020603050405020304" pitchFamily="18" charset="0"/>
              </a:rPr>
              <a:t>Statement</a:t>
            </a:r>
            <a:r>
              <a:rPr lang="en-US" sz="2000" spc="-10" dirty="0">
                <a:latin typeface="Times New Roman" panose="02020603050405020304" pitchFamily="18" charset="0"/>
                <a:ea typeface="Calibri" panose="020F0502020204030204" pitchFamily="34" charset="0"/>
                <a:cs typeface="Times New Roman" panose="02020603050405020304" pitchFamily="18" charset="0"/>
              </a:rPr>
              <a:t> </a:t>
            </a:r>
            <a:endParaRPr lang="en-IN" sz="2000"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10" dirty="0" smtClean="0">
                <a:latin typeface="Times New Roman" panose="02020603050405020304" pitchFamily="18" charset="0"/>
                <a:ea typeface="Calibri" panose="020F0502020204030204" pitchFamily="34" charset="0"/>
                <a:cs typeface="Times New Roman" panose="02020603050405020304" pitchFamily="18" charset="0"/>
              </a:rPr>
              <a:t>Design</a:t>
            </a:r>
            <a:endParaRPr lang="en-US" sz="2000" spc="-1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Modules Split-up</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Implementation</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Testing</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Screen shots of output</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Conclusion and Future enhancement</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References</a:t>
            </a:r>
          </a:p>
        </p:txBody>
      </p:sp>
      <p:pic>
        <p:nvPicPr>
          <p:cNvPr id="11" name="Picture 10">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4" name="TextBox 3">
            <a:extLst>
              <a:ext uri="{FF2B5EF4-FFF2-40B4-BE49-F238E27FC236}">
                <a16:creationId xmlns="" xmlns:a16="http://schemas.microsoft.com/office/drawing/2014/main" id="{7FF37A0F-8D9E-4D8C-86F3-8645EE94C70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022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4F42FAF-7074-A3AF-8957-D541E8118C5A}"/>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53A1013D-FDCE-3AAE-381F-FE0C3678A8C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78B93B00-BE8F-100F-FB7C-018AA25631C3}"/>
              </a:ext>
            </a:extLst>
          </p:cNvPr>
          <p:cNvSpPr>
            <a:spLocks noGrp="1"/>
          </p:cNvSpPr>
          <p:nvPr>
            <p:ph type="sldNum" sz="quarter" idx="12"/>
          </p:nvPr>
        </p:nvSpPr>
        <p:spPr/>
        <p:txBody>
          <a:bodyPr/>
          <a:lstStyle/>
          <a:p>
            <a:fld id="{69FBB93A-4B32-4007-AACF-5243CED557C7}" type="slidenum">
              <a:rPr lang="en-IN" smtClean="0"/>
              <a:t>3</a:t>
            </a:fld>
            <a:endParaRPr lang="en-IN"/>
          </a:p>
        </p:txBody>
      </p:sp>
      <p:sp>
        <p:nvSpPr>
          <p:cNvPr id="8" name="TextBox 7">
            <a:extLst>
              <a:ext uri="{FF2B5EF4-FFF2-40B4-BE49-F238E27FC236}">
                <a16:creationId xmlns="" xmlns:a16="http://schemas.microsoft.com/office/drawing/2014/main" id="{975E666D-E8DF-9B53-F045-139D56A6B3F8}"/>
              </a:ext>
            </a:extLst>
          </p:cNvPr>
          <p:cNvSpPr txBox="1"/>
          <p:nvPr/>
        </p:nvSpPr>
        <p:spPr>
          <a:xfrm>
            <a:off x="2901159" y="969738"/>
            <a:ext cx="5012247"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ABSTRACT</a:t>
            </a:r>
            <a:endParaRPr lang="en-IN" sz="36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E961D619-FCE5-5899-8D40-118122A580D8}"/>
              </a:ext>
            </a:extLst>
          </p:cNvPr>
          <p:cNvSpPr txBox="1"/>
          <p:nvPr/>
        </p:nvSpPr>
        <p:spPr>
          <a:xfrm>
            <a:off x="991210" y="2237469"/>
            <a:ext cx="9765070" cy="258532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This project proposes a fully automated Depression Detection System using a novel Hybrid Neural Network, </a:t>
            </a:r>
            <a:r>
              <a:rPr lang="en-US" b="1"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which combines CNN for temporal learning and LSTM for sequence learning. EEG data from </a:t>
            </a:r>
            <a:r>
              <a:rPr lang="en-US" dirty="0" smtClean="0">
                <a:latin typeface="Times New Roman" panose="02020603050405020304" pitchFamily="18" charset="0"/>
                <a:cs typeface="Times New Roman" panose="02020603050405020304" pitchFamily="18" charset="0"/>
              </a:rPr>
              <a:t>34</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depressed and </a:t>
            </a:r>
            <a:r>
              <a:rPr lang="en-US" dirty="0" smtClean="0">
                <a:latin typeface="Times New Roman" panose="02020603050405020304" pitchFamily="18" charset="0"/>
                <a:cs typeface="Times New Roman" panose="02020603050405020304" pitchFamily="18" charset="0"/>
              </a:rPr>
              <a:t>30</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normal drug-free individuals were used. The system achieves </a:t>
            </a:r>
            <a:r>
              <a:rPr lang="en-US" b="1" dirty="0" smtClean="0">
                <a:latin typeface="Times New Roman" panose="02020603050405020304" pitchFamily="18" charset="0"/>
                <a:cs typeface="Times New Roman" panose="02020603050405020304" pitchFamily="18" charset="0"/>
              </a:rPr>
              <a:t>98.27</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and a </a:t>
            </a:r>
            <a:r>
              <a:rPr lang="en-US" b="1" dirty="0">
                <a:latin typeface="Times New Roman" panose="02020603050405020304" pitchFamily="18" charset="0"/>
                <a:cs typeface="Times New Roman" panose="02020603050405020304" pitchFamily="18" charset="0"/>
              </a:rPr>
              <a:t>MAE of </a:t>
            </a:r>
            <a:r>
              <a:rPr lang="en-US" b="1" dirty="0" smtClean="0">
                <a:latin typeface="Times New Roman" panose="02020603050405020304" pitchFamily="18" charset="0"/>
                <a:cs typeface="Times New Roman" panose="02020603050405020304" pitchFamily="18" charset="0"/>
              </a:rPr>
              <a:t>0.0237</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offering an efficient, accurate, and low-complexity solution for EEG-based depression screening.</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C4F8313D-44C3-4E1B-83CA-F23C48901922}"/>
              </a:ext>
            </a:extLst>
          </p:cNvPr>
          <p:cNvSpPr txBox="1"/>
          <p:nvPr/>
        </p:nvSpPr>
        <p:spPr>
          <a:xfrm>
            <a:off x="0" y="0"/>
            <a:ext cx="3686185"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08968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4D3319C-325A-4DB9-9826-ADCD9780163B}"/>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C626E6F0-649A-EAB4-8BE0-96BACA6E66A6}"/>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13403D44-82D9-98BA-E393-75E7F7BC05E8}"/>
              </a:ext>
            </a:extLst>
          </p:cNvPr>
          <p:cNvSpPr>
            <a:spLocks noGrp="1"/>
          </p:cNvSpPr>
          <p:nvPr>
            <p:ph type="sldNum" sz="quarter" idx="12"/>
          </p:nvPr>
        </p:nvSpPr>
        <p:spPr/>
        <p:txBody>
          <a:bodyPr/>
          <a:lstStyle/>
          <a:p>
            <a:fld id="{69FBB93A-4B32-4007-AACF-5243CED557C7}" type="slidenum">
              <a:rPr lang="en-IN" smtClean="0"/>
              <a:t>4</a:t>
            </a:fld>
            <a:endParaRPr lang="en-IN"/>
          </a:p>
        </p:txBody>
      </p:sp>
      <p:sp>
        <p:nvSpPr>
          <p:cNvPr id="8" name="TextBox 7">
            <a:extLst>
              <a:ext uri="{FF2B5EF4-FFF2-40B4-BE49-F238E27FC236}">
                <a16:creationId xmlns="" xmlns:a16="http://schemas.microsoft.com/office/drawing/2014/main" id="{DDE6FE54-E1FD-EB4D-019A-773679110245}"/>
              </a:ext>
            </a:extLst>
          </p:cNvPr>
          <p:cNvSpPr txBox="1"/>
          <p:nvPr/>
        </p:nvSpPr>
        <p:spPr>
          <a:xfrm>
            <a:off x="3038608" y="563038"/>
            <a:ext cx="5574449"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INTRODUCTION</a:t>
            </a:r>
            <a:endParaRPr lang="en-IN" sz="3600" dirty="0">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14" name="TextBox 13">
            <a:extLst>
              <a:ext uri="{FF2B5EF4-FFF2-40B4-BE49-F238E27FC236}">
                <a16:creationId xmlns="" xmlns:a16="http://schemas.microsoft.com/office/drawing/2014/main" id="{6178166F-E39D-D551-86D4-1F4DD7E87047}"/>
              </a:ext>
            </a:extLst>
          </p:cNvPr>
          <p:cNvSpPr txBox="1"/>
          <p:nvPr/>
        </p:nvSpPr>
        <p:spPr>
          <a:xfrm>
            <a:off x="497840" y="1454220"/>
            <a:ext cx="10779760" cy="2585323"/>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the project proposes a hybrid LSTM-CNN model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for efficient and accurate detection of depression using EEG data.</a:t>
            </a:r>
          </a:p>
        </p:txBody>
      </p:sp>
      <p:sp>
        <p:nvSpPr>
          <p:cNvPr id="5" name="TextBox 4">
            <a:extLst>
              <a:ext uri="{FF2B5EF4-FFF2-40B4-BE49-F238E27FC236}">
                <a16:creationId xmlns="" xmlns:a16="http://schemas.microsoft.com/office/drawing/2014/main" id="{2523FE7E-86E1-4E27-80F7-C880E91E634E}"/>
              </a:ext>
            </a:extLst>
          </p:cNvPr>
          <p:cNvSpPr txBox="1"/>
          <p:nvPr/>
        </p:nvSpPr>
        <p:spPr>
          <a:xfrm>
            <a:off x="0" y="33090"/>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847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a:extLst>
              <a:ext uri="{FF2B5EF4-FFF2-40B4-BE49-F238E27FC236}">
                <a16:creationId xmlns="" xmlns:a16="http://schemas.microsoft.com/office/drawing/2014/main" id="{2A11A15E-64A8-D69C-C5B5-768B49DD6E0C}"/>
              </a:ext>
            </a:extLst>
          </p:cNvPr>
          <p:cNvSpPr>
            <a:spLocks noGrp="1"/>
          </p:cNvSpPr>
          <p:nvPr>
            <p:ph type="dt" sz="half" idx="10"/>
          </p:nvPr>
        </p:nvSpPr>
        <p:spPr/>
        <p:txBody>
          <a:bodyPr/>
          <a:lstStyle/>
          <a:p>
            <a:r>
              <a:rPr lang="en-US"/>
              <a:t>Dept of AI&amp;DS, SJCIT</a:t>
            </a:r>
            <a:endParaRPr lang="en-IN"/>
          </a:p>
        </p:txBody>
      </p:sp>
      <p:sp>
        <p:nvSpPr>
          <p:cNvPr id="7" name="Footer Placeholder 6">
            <a:extLst>
              <a:ext uri="{FF2B5EF4-FFF2-40B4-BE49-F238E27FC236}">
                <a16:creationId xmlns="" xmlns:a16="http://schemas.microsoft.com/office/drawing/2014/main" id="{5918D989-2A37-3891-186E-A1261B11B375}"/>
              </a:ext>
            </a:extLst>
          </p:cNvPr>
          <p:cNvSpPr>
            <a:spLocks noGrp="1"/>
          </p:cNvSpPr>
          <p:nvPr>
            <p:ph type="ftr" sz="quarter" idx="11"/>
          </p:nvPr>
        </p:nvSpPr>
        <p:spPr/>
        <p:txBody>
          <a:bodyPr/>
          <a:lstStyle/>
          <a:p>
            <a:r>
              <a:rPr lang="en-IN"/>
              <a:t>2025-26</a:t>
            </a:r>
          </a:p>
        </p:txBody>
      </p:sp>
      <p:sp>
        <p:nvSpPr>
          <p:cNvPr id="8" name="Slide Number Placeholder 7">
            <a:extLst>
              <a:ext uri="{FF2B5EF4-FFF2-40B4-BE49-F238E27FC236}">
                <a16:creationId xmlns="" xmlns:a16="http://schemas.microsoft.com/office/drawing/2014/main" id="{37EE4447-BC01-0414-8033-AFD9F83C9B8C}"/>
              </a:ext>
            </a:extLst>
          </p:cNvPr>
          <p:cNvSpPr>
            <a:spLocks noGrp="1"/>
          </p:cNvSpPr>
          <p:nvPr>
            <p:ph type="sldNum" sz="quarter" idx="12"/>
          </p:nvPr>
        </p:nvSpPr>
        <p:spPr/>
        <p:txBody>
          <a:bodyPr/>
          <a:lstStyle/>
          <a:p>
            <a:fld id="{69FBB93A-4B32-4007-AACF-5243CED557C7}" type="slidenum">
              <a:rPr lang="en-IN" smtClean="0"/>
              <a:t>5</a:t>
            </a:fld>
            <a:endParaRPr lang="en-IN"/>
          </a:p>
        </p:txBody>
      </p:sp>
      <p:sp>
        <p:nvSpPr>
          <p:cNvPr id="13" name="TextBox 12">
            <a:extLst>
              <a:ext uri="{FF2B5EF4-FFF2-40B4-BE49-F238E27FC236}">
                <a16:creationId xmlns="" xmlns:a16="http://schemas.microsoft.com/office/drawing/2014/main" id="{00EA5885-70AA-13CC-CD2D-5E98D6E5F9E7}"/>
              </a:ext>
            </a:extLst>
          </p:cNvPr>
          <p:cNvSpPr txBox="1"/>
          <p:nvPr/>
        </p:nvSpPr>
        <p:spPr>
          <a:xfrm>
            <a:off x="656705" y="762537"/>
            <a:ext cx="10906298"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  PROBLEM STATEMENT</a:t>
            </a:r>
          </a:p>
        </p:txBody>
      </p:sp>
      <p:sp>
        <p:nvSpPr>
          <p:cNvPr id="24" name="TextBox 23">
            <a:extLst>
              <a:ext uri="{FF2B5EF4-FFF2-40B4-BE49-F238E27FC236}">
                <a16:creationId xmlns="" xmlns:a16="http://schemas.microsoft.com/office/drawing/2014/main" id="{D17B612F-A342-2C4E-759B-AE95768CF571}"/>
              </a:ext>
            </a:extLst>
          </p:cNvPr>
          <p:cNvSpPr txBox="1"/>
          <p:nvPr/>
        </p:nvSpPr>
        <p:spPr>
          <a:xfrm>
            <a:off x="1313411" y="3000895"/>
            <a:ext cx="8503920" cy="923330"/>
          </a:xfrm>
          <a:prstGeom prst="rect">
            <a:avLst/>
          </a:prstGeom>
          <a:noFill/>
        </p:spPr>
        <p:txBody>
          <a:bodyPr wrap="square" rtlCol="0">
            <a:spAutoFit/>
          </a:bodyPr>
          <a:lstStyle/>
          <a:p>
            <a:endParaRPr lang="en-IN" dirty="0"/>
          </a:p>
          <a:p>
            <a:r>
              <a:rPr lang="en-IN" dirty="0"/>
              <a:t>      </a:t>
            </a:r>
          </a:p>
          <a:p>
            <a:endParaRPr lang="en-IN" dirty="0"/>
          </a:p>
        </p:txBody>
      </p:sp>
      <p:sp>
        <p:nvSpPr>
          <p:cNvPr id="25" name="Rectangle 7">
            <a:extLst>
              <a:ext uri="{FF2B5EF4-FFF2-40B4-BE49-F238E27FC236}">
                <a16:creationId xmlns="" xmlns:a16="http://schemas.microsoft.com/office/drawing/2014/main" id="{A29F99FF-C800-ECAD-FBB2-4926E2621980}"/>
              </a:ext>
            </a:extLst>
          </p:cNvPr>
          <p:cNvSpPr>
            <a:spLocks noChangeArrowheads="1"/>
          </p:cNvSpPr>
          <p:nvPr/>
        </p:nvSpPr>
        <p:spPr bwMode="auto">
          <a:xfrm rot="10800000" flipV="1">
            <a:off x="1205343" y="1702042"/>
            <a:ext cx="9673245"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Depression is a major mental health issue affecting over 322 million people worldwide, contributing to significant emotional, social, and economic burdens. Traditional methods for diagnosing depression, such as clinical interviews and self-reported questionnaires, are subjective and time-consuming. EEG-based diagnosis provides objective insights into brain activity but is prone to human error due to the complexity of interpreting EEG signals. Thus, there is a critical need for an automated and accurate depression screening system using EEG signals.</a:t>
            </a:r>
          </a:p>
        </p:txBody>
      </p:sp>
      <p:pic>
        <p:nvPicPr>
          <p:cNvPr id="11" name="Picture 10">
            <a:extLst>
              <a:ext uri="{FF2B5EF4-FFF2-40B4-BE49-F238E27FC236}">
                <a16:creationId xmlns="" xmlns:a16="http://schemas.microsoft.com/office/drawing/2014/main" id="{61A694EC-414F-38CE-31A6-2BC1C0D09C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2" name="TextBox 1">
            <a:extLst>
              <a:ext uri="{FF2B5EF4-FFF2-40B4-BE49-F238E27FC236}">
                <a16:creationId xmlns="" xmlns:a16="http://schemas.microsoft.com/office/drawing/2014/main" id="{7CAEA77E-F05E-4F22-B8F2-6497612EF5A2}"/>
              </a:ext>
            </a:extLst>
          </p:cNvPr>
          <p:cNvSpPr txBox="1"/>
          <p:nvPr/>
        </p:nvSpPr>
        <p:spPr>
          <a:xfrm>
            <a:off x="1" y="0"/>
            <a:ext cx="3844412"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99509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a:extLst>
              <a:ext uri="{FF2B5EF4-FFF2-40B4-BE49-F238E27FC236}">
                <a16:creationId xmlns="" xmlns:a16="http://schemas.microsoft.com/office/drawing/2014/main" id="{159A5EAB-1C55-7FFB-B219-EE13B91C9835}"/>
              </a:ext>
            </a:extLst>
          </p:cNvPr>
          <p:cNvSpPr>
            <a:spLocks noGrp="1"/>
          </p:cNvSpPr>
          <p:nvPr>
            <p:ph type="dt" sz="half" idx="10"/>
          </p:nvPr>
        </p:nvSpPr>
        <p:spPr/>
        <p:txBody>
          <a:bodyPr/>
          <a:lstStyle/>
          <a:p>
            <a:r>
              <a:rPr lang="en-US"/>
              <a:t>Dept of AI&amp;DS, SJCIT</a:t>
            </a:r>
            <a:endParaRPr lang="en-IN"/>
          </a:p>
        </p:txBody>
      </p:sp>
      <p:sp>
        <p:nvSpPr>
          <p:cNvPr id="7" name="Footer Placeholder 6">
            <a:extLst>
              <a:ext uri="{FF2B5EF4-FFF2-40B4-BE49-F238E27FC236}">
                <a16:creationId xmlns="" xmlns:a16="http://schemas.microsoft.com/office/drawing/2014/main" id="{E2E89DF8-AD27-E7AB-7EB6-D993AD1DD4BD}"/>
              </a:ext>
            </a:extLst>
          </p:cNvPr>
          <p:cNvSpPr>
            <a:spLocks noGrp="1"/>
          </p:cNvSpPr>
          <p:nvPr>
            <p:ph type="ftr" sz="quarter" idx="11"/>
          </p:nvPr>
        </p:nvSpPr>
        <p:spPr/>
        <p:txBody>
          <a:bodyPr/>
          <a:lstStyle/>
          <a:p>
            <a:r>
              <a:rPr lang="en-IN"/>
              <a:t>2025-26</a:t>
            </a:r>
          </a:p>
        </p:txBody>
      </p:sp>
      <p:sp>
        <p:nvSpPr>
          <p:cNvPr id="8" name="Slide Number Placeholder 7">
            <a:extLst>
              <a:ext uri="{FF2B5EF4-FFF2-40B4-BE49-F238E27FC236}">
                <a16:creationId xmlns="" xmlns:a16="http://schemas.microsoft.com/office/drawing/2014/main" id="{D4645177-387E-3591-BCF5-CF8CECAB274F}"/>
              </a:ext>
            </a:extLst>
          </p:cNvPr>
          <p:cNvSpPr>
            <a:spLocks noGrp="1"/>
          </p:cNvSpPr>
          <p:nvPr>
            <p:ph type="sldNum" sz="quarter" idx="12"/>
          </p:nvPr>
        </p:nvSpPr>
        <p:spPr/>
        <p:txBody>
          <a:bodyPr/>
          <a:lstStyle/>
          <a:p>
            <a:fld id="{69FBB93A-4B32-4007-AACF-5243CED557C7}" type="slidenum">
              <a:rPr lang="en-IN" smtClean="0"/>
              <a:t>6</a:t>
            </a:fld>
            <a:endParaRPr lang="en-IN"/>
          </a:p>
        </p:txBody>
      </p:sp>
      <p:sp>
        <p:nvSpPr>
          <p:cNvPr id="4" name="TextBox 3">
            <a:extLst>
              <a:ext uri="{FF2B5EF4-FFF2-40B4-BE49-F238E27FC236}">
                <a16:creationId xmlns="" xmlns:a16="http://schemas.microsoft.com/office/drawing/2014/main" id="{E54E3464-4194-906E-53A2-DED27F8029F5}"/>
              </a:ext>
            </a:extLst>
          </p:cNvPr>
          <p:cNvSpPr txBox="1"/>
          <p:nvPr/>
        </p:nvSpPr>
        <p:spPr>
          <a:xfrm rot="10800000" flipV="1">
            <a:off x="3460955" y="596142"/>
            <a:ext cx="4037126"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 xmlns:a16="http://schemas.microsoft.com/office/drawing/2014/main" id="{B3D9FE28-5B2D-7FF2-5B21-B6E044D70CB9}"/>
              </a:ext>
            </a:extLst>
          </p:cNvPr>
          <p:cNvSpPr txBox="1"/>
          <p:nvPr/>
        </p:nvSpPr>
        <p:spPr>
          <a:xfrm>
            <a:off x="1862051" y="2211185"/>
            <a:ext cx="7265324" cy="369332"/>
          </a:xfrm>
          <a:prstGeom prst="rect">
            <a:avLst/>
          </a:prstGeom>
          <a:noFill/>
        </p:spPr>
        <p:txBody>
          <a:bodyPr wrap="square" rtlCol="0">
            <a:spAutoFit/>
          </a:bodyPr>
          <a:lstStyle/>
          <a:p>
            <a:r>
              <a:rPr lang="en-IN" dirty="0"/>
              <a:t>   </a:t>
            </a:r>
          </a:p>
        </p:txBody>
      </p:sp>
      <p:sp>
        <p:nvSpPr>
          <p:cNvPr id="11" name="Rectangle 2">
            <a:extLst>
              <a:ext uri="{FF2B5EF4-FFF2-40B4-BE49-F238E27FC236}">
                <a16:creationId xmlns="" xmlns:a16="http://schemas.microsoft.com/office/drawing/2014/main" id="{DC431DBB-00A1-4FBE-F001-002F2D2724B5}"/>
              </a:ext>
            </a:extLst>
          </p:cNvPr>
          <p:cNvSpPr>
            <a:spLocks noChangeArrowheads="1"/>
          </p:cNvSpPr>
          <p:nvPr/>
        </p:nvSpPr>
        <p:spPr bwMode="auto">
          <a:xfrm>
            <a:off x="856213" y="2163645"/>
            <a:ext cx="10823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E82C41A3-4098-48C1-BDA2-8F18EB5EDDE4}"/>
              </a:ext>
            </a:extLst>
          </p:cNvPr>
          <p:cNvSpPr>
            <a:spLocks noChangeArrowheads="1"/>
          </p:cNvSpPr>
          <p:nvPr/>
        </p:nvSpPr>
        <p:spPr bwMode="auto">
          <a:xfrm rot="10800000" flipV="1">
            <a:off x="1097279" y="1415313"/>
            <a:ext cx="10410305"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defTabSz="914400" eaLnBrk="0" fontAlgn="base" hangingPunct="0">
              <a:lnSpc>
                <a:spcPct val="15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Develop a CNN-LSTM model for automated depression detection using EEG signals.</a:t>
            </a:r>
          </a:p>
          <a:p>
            <a:pPr marL="457200" lvl="0" indent="-457200" algn="just" defTabSz="914400" eaLnBrk="0" fontAlgn="base" hangingPunct="0">
              <a:lnSpc>
                <a:spcPct val="15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adaptability using cross-validation and diverse datasets.</a:t>
            </a:r>
          </a:p>
          <a:p>
            <a:pPr marL="457200" lvl="0" indent="-457200" algn="just" defTabSz="914400" eaLnBrk="0" fontAlgn="base" hangingPunct="0">
              <a:lnSpc>
                <a:spcPct val="15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Apply regularization techniques such as L2 regularization and adaptive learning rate optimization.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Enhance model accuracy and generalization using dropout, data augmentation, and early stopping.</a:t>
            </a:r>
          </a:p>
          <a:p>
            <a:pPr marL="457200" lvl="0" indent="-457200" algn="just" defTabSz="914400" eaLnBrk="0" fontAlgn="base" hangingPunct="0">
              <a:lnSpc>
                <a:spcPct val="15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Minimize computational complexity and latency to enable real-time depression screening on portable and cloud-based platforms.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52545"/>
            <a:ext cx="1581591" cy="878662"/>
          </a:xfrm>
          <a:prstGeom prst="rect">
            <a:avLst/>
          </a:prstGeom>
        </p:spPr>
      </p:pic>
      <p:sp>
        <p:nvSpPr>
          <p:cNvPr id="3" name="TextBox 2">
            <a:extLst>
              <a:ext uri="{FF2B5EF4-FFF2-40B4-BE49-F238E27FC236}">
                <a16:creationId xmlns="" xmlns:a16="http://schemas.microsoft.com/office/drawing/2014/main" id="{8DCA61BE-945C-409E-9D9E-A34C85619618}"/>
              </a:ext>
            </a:extLst>
          </p:cNvPr>
          <p:cNvSpPr txBox="1"/>
          <p:nvPr/>
        </p:nvSpPr>
        <p:spPr>
          <a:xfrm>
            <a:off x="0" y="33090"/>
            <a:ext cx="413938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0986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9E31419-B03D-2EE5-D520-BA71148EA491}"/>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9EA61393-782B-B950-1930-D79073AAA61B}"/>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AD256BFA-56E7-91F7-1319-6A9C0BEF82D5}"/>
              </a:ext>
            </a:extLst>
          </p:cNvPr>
          <p:cNvSpPr>
            <a:spLocks noGrp="1"/>
          </p:cNvSpPr>
          <p:nvPr>
            <p:ph type="sldNum" sz="quarter" idx="12"/>
          </p:nvPr>
        </p:nvSpPr>
        <p:spPr/>
        <p:txBody>
          <a:bodyPr/>
          <a:lstStyle/>
          <a:p>
            <a:fld id="{69FBB93A-4B32-4007-AACF-5243CED557C7}" type="slidenum">
              <a:rPr lang="en-IN" smtClean="0"/>
              <a:t>7</a:t>
            </a:fld>
            <a:endParaRPr lang="en-IN"/>
          </a:p>
        </p:txBody>
      </p:sp>
      <p:sp>
        <p:nvSpPr>
          <p:cNvPr id="8" name="TextBox 7">
            <a:extLst>
              <a:ext uri="{FF2B5EF4-FFF2-40B4-BE49-F238E27FC236}">
                <a16:creationId xmlns="" xmlns:a16="http://schemas.microsoft.com/office/drawing/2014/main" id="{E4B2B837-662B-7E49-E687-6622E6114692}"/>
              </a:ext>
            </a:extLst>
          </p:cNvPr>
          <p:cNvSpPr txBox="1"/>
          <p:nvPr/>
        </p:nvSpPr>
        <p:spPr>
          <a:xfrm>
            <a:off x="2257866" y="641243"/>
            <a:ext cx="6903732" cy="579967"/>
          </a:xfrm>
          <a:prstGeom prst="rect">
            <a:avLst/>
          </a:prstGeom>
          <a:noFill/>
        </p:spPr>
        <p:txBody>
          <a:bodyPr wrap="square">
            <a:spAutoFit/>
          </a:bodyPr>
          <a:lstStyle/>
          <a:p>
            <a:pPr lvl="1" algn="ctr">
              <a:lnSpc>
                <a:spcPct val="150000"/>
              </a:lnSpc>
              <a:tabLst>
                <a:tab pos="685800" algn="l"/>
              </a:tabLst>
            </a:pPr>
            <a:r>
              <a:rPr lang="en-US" sz="2400" b="1" spc="-10" dirty="0" smtClean="0">
                <a:latin typeface="Times New Roman" panose="02020603050405020304" pitchFamily="18" charset="0"/>
                <a:ea typeface="Calibri" panose="020F0502020204030204" pitchFamily="34" charset="0"/>
                <a:cs typeface="Times New Roman" panose="02020603050405020304" pitchFamily="18" charset="0"/>
              </a:rPr>
              <a:t>DESIGN </a:t>
            </a:r>
            <a:r>
              <a:rPr lang="en-US" sz="2400" b="1" spc="-10" dirty="0">
                <a:latin typeface="Times New Roman" panose="02020603050405020304" pitchFamily="18" charset="0"/>
                <a:ea typeface="Calibri" panose="020F0502020204030204" pitchFamily="34" charset="0"/>
                <a:cs typeface="Times New Roman" panose="02020603050405020304" pitchFamily="18" charset="0"/>
              </a:rPr>
              <a:t>AND ARCHITECTURE</a:t>
            </a: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0226927A-D67E-464F-85DE-8DC82828DF4D}"/>
              </a:ext>
            </a:extLst>
          </p:cNvPr>
          <p:cNvSpPr txBox="1"/>
          <p:nvPr/>
        </p:nvSpPr>
        <p:spPr>
          <a:xfrm>
            <a:off x="0" y="0"/>
            <a:ext cx="3775587"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6" name="AutoShape 2" descr="image.pn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p:cNvSpPr/>
          <p:nvPr/>
        </p:nvSpPr>
        <p:spPr>
          <a:xfrm>
            <a:off x="4442883" y="4920734"/>
            <a:ext cx="2106410"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Model Architecture</a:t>
            </a:r>
          </a:p>
        </p:txBody>
      </p:sp>
      <p:pic>
        <p:nvPicPr>
          <p:cNvPr id="1026" name="Picture 2" descr="C:\Users\chara\pictures\Screenshots\Screenshot 2025-11-11 18080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0920" y="1555543"/>
            <a:ext cx="3857625"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438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A7E4CE-49BF-C5E3-B8B2-A98C8A0CC399}"/>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C7DBDC19-B295-B0D2-C983-E95571F9769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4F5C4834-F8D7-1E63-4775-8C978512337E}"/>
              </a:ext>
            </a:extLst>
          </p:cNvPr>
          <p:cNvSpPr>
            <a:spLocks noGrp="1"/>
          </p:cNvSpPr>
          <p:nvPr>
            <p:ph type="sldNum" sz="quarter" idx="12"/>
          </p:nvPr>
        </p:nvSpPr>
        <p:spPr/>
        <p:txBody>
          <a:bodyPr/>
          <a:lstStyle/>
          <a:p>
            <a:fld id="{69FBB93A-4B32-4007-AACF-5243CED557C7}" type="slidenum">
              <a:rPr lang="en-IN" smtClean="0"/>
              <a:t>8</a:t>
            </a:fld>
            <a:endParaRPr lang="en-IN"/>
          </a:p>
        </p:txBody>
      </p:sp>
      <p:sp>
        <p:nvSpPr>
          <p:cNvPr id="5" name="TextBox 4">
            <a:extLst>
              <a:ext uri="{FF2B5EF4-FFF2-40B4-BE49-F238E27FC236}">
                <a16:creationId xmlns="" xmlns:a16="http://schemas.microsoft.com/office/drawing/2014/main" id="{C719574A-6E99-7C54-C3A7-C405642977B4}"/>
              </a:ext>
            </a:extLst>
          </p:cNvPr>
          <p:cNvSpPr txBox="1"/>
          <p:nvPr/>
        </p:nvSpPr>
        <p:spPr>
          <a:xfrm>
            <a:off x="2940156" y="979610"/>
            <a:ext cx="532845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MODULES SPLIT-UP</a:t>
            </a:r>
          </a:p>
        </p:txBody>
      </p:sp>
      <p:sp>
        <p:nvSpPr>
          <p:cNvPr id="7" name="Rectangle 1">
            <a:extLst>
              <a:ext uri="{FF2B5EF4-FFF2-40B4-BE49-F238E27FC236}">
                <a16:creationId xmlns="" xmlns:a16="http://schemas.microsoft.com/office/drawing/2014/main" id="{01E48251-2FF5-B259-00FC-8C87F65771C3}"/>
              </a:ext>
            </a:extLst>
          </p:cNvPr>
          <p:cNvSpPr>
            <a:spLocks noChangeArrowheads="1"/>
          </p:cNvSpPr>
          <p:nvPr/>
        </p:nvSpPr>
        <p:spPr bwMode="auto">
          <a:xfrm rot="10800000" flipV="1">
            <a:off x="1238864" y="2191456"/>
            <a:ext cx="8731045"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pPr>
            <a:r>
              <a:rPr lang="en-US" altLang="en-US" sz="2000" b="1" dirty="0">
                <a:latin typeface="Times New Roman" panose="02020603050405020304" pitchFamily="18" charset="0"/>
                <a:cs typeface="Times New Roman" panose="02020603050405020304" pitchFamily="18" charset="0"/>
              </a:rPr>
              <a:t>LIST OF MODULES</a:t>
            </a:r>
          </a:p>
          <a:p>
            <a:pPr marL="342900" indent="-342900" defTabSz="914400" eaLnBrk="0" fontAlgn="base" hangingPunct="0">
              <a:lnSpc>
                <a:spcPct val="150000"/>
              </a:lnSpc>
              <a:spcBef>
                <a:spcPct val="0"/>
              </a:spcBef>
              <a:spcAft>
                <a:spcPct val="0"/>
              </a:spcAft>
              <a:buFont typeface="+mj-lt"/>
              <a:buAutoNum type="arabicPeriod"/>
            </a:pPr>
            <a:r>
              <a:rPr lang="en-IN" dirty="0">
                <a:latin typeface="Times New Roman" panose="02020603050405020304" pitchFamily="18" charset="0"/>
                <a:cs typeface="Times New Roman" panose="02020603050405020304" pitchFamily="18" charset="0"/>
              </a:rPr>
              <a:t>CNN (Convolutional Neural Network)</a:t>
            </a:r>
          </a:p>
          <a:p>
            <a:pPr marL="342900" indent="-342900" defTabSz="914400" eaLnBrk="0" fontAlgn="base" hangingPunct="0">
              <a:lnSpc>
                <a:spcPct val="150000"/>
              </a:lnSpc>
              <a:spcBef>
                <a:spcPct val="0"/>
              </a:spcBef>
              <a:spcAft>
                <a:spcPct val="0"/>
              </a:spcAft>
              <a:buFont typeface="+mj-lt"/>
              <a:buAutoNum type="arabicPeriod"/>
            </a:pPr>
            <a:r>
              <a:rPr lang="en-IN" dirty="0">
                <a:latin typeface="Times New Roman" panose="02020603050405020304" pitchFamily="18" charset="0"/>
                <a:cs typeface="Times New Roman" panose="02020603050405020304" pitchFamily="18" charset="0"/>
              </a:rPr>
              <a:t>LSTM (Long Short-Term Memory)</a:t>
            </a:r>
          </a:p>
          <a:p>
            <a:pPr marL="342900" lvl="0" indent="-342900" defTabSz="914400" eaLnBrk="0" fontAlgn="base" hangingPunct="0">
              <a:lnSpc>
                <a:spcPct val="150000"/>
              </a:lnSpc>
              <a:spcBef>
                <a:spcPct val="0"/>
              </a:spcBef>
              <a:spcAft>
                <a:spcPct val="0"/>
              </a:spcAft>
              <a:buFont typeface="+mj-lt"/>
              <a:buAutoNum type="arabicPeriod"/>
            </a:pPr>
            <a:r>
              <a:rPr lang="en-IN" dirty="0" err="1">
                <a:latin typeface="Times New Roman" panose="02020603050405020304" pitchFamily="18" charset="0"/>
                <a:cs typeface="Times New Roman" panose="02020603050405020304" pitchFamily="18" charset="0"/>
              </a:rPr>
              <a:t>ReLU</a:t>
            </a:r>
            <a:r>
              <a:rPr lang="en-IN" dirty="0">
                <a:latin typeface="Times New Roman" panose="02020603050405020304" pitchFamily="18" charset="0"/>
                <a:cs typeface="Times New Roman" panose="02020603050405020304" pitchFamily="18" charset="0"/>
              </a:rPr>
              <a:t> (Rectified Linear Unit)</a:t>
            </a:r>
          </a:p>
          <a:p>
            <a:pPr marL="342900" indent="-342900" defTabSz="914400" eaLnBrk="0" fontAlgn="base" hangingPunct="0">
              <a:lnSpc>
                <a:spcPct val="150000"/>
              </a:lnSpc>
              <a:spcBef>
                <a:spcPct val="0"/>
              </a:spcBef>
              <a:spcAft>
                <a:spcPct val="0"/>
              </a:spcAft>
              <a:buFont typeface="+mj-lt"/>
              <a:buAutoNum type="arabicPeriod"/>
            </a:pPr>
            <a:r>
              <a:rPr lang="en-IN" dirty="0" err="1">
                <a:latin typeface="Times New Roman" panose="02020603050405020304" pitchFamily="18" charset="0"/>
                <a:cs typeface="Times New Roman" panose="02020603050405020304" pitchFamily="18" charset="0"/>
              </a:rPr>
              <a:t>Softmax</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 xmlns:a16="http://schemas.microsoft.com/office/drawing/2014/main"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 xmlns:a16="http://schemas.microsoft.com/office/drawing/2014/main"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 xmlns:a16="http://schemas.microsoft.com/office/drawing/2014/main"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2365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4CED368-05EF-FA86-7C70-440B73CA46E8}"/>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E04D1B3E-02A4-8AE1-DB97-2582F5FB9B16}"/>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27C00F83-4EFD-A0E6-480C-28976CEDD90A}"/>
              </a:ext>
            </a:extLst>
          </p:cNvPr>
          <p:cNvSpPr>
            <a:spLocks noGrp="1"/>
          </p:cNvSpPr>
          <p:nvPr>
            <p:ph type="sldNum" sz="quarter" idx="12"/>
          </p:nvPr>
        </p:nvSpPr>
        <p:spPr/>
        <p:txBody>
          <a:bodyPr/>
          <a:lstStyle/>
          <a:p>
            <a:fld id="{69FBB93A-4B32-4007-AACF-5243CED557C7}" type="slidenum">
              <a:rPr lang="en-IN" smtClean="0"/>
              <a:t>9</a:t>
            </a:fld>
            <a:endParaRPr lang="en-IN"/>
          </a:p>
        </p:txBody>
      </p:sp>
      <p:pic>
        <p:nvPicPr>
          <p:cNvPr id="6" name="Picture 5">
            <a:extLst>
              <a:ext uri="{FF2B5EF4-FFF2-40B4-BE49-F238E27FC236}">
                <a16:creationId xmlns="" xmlns:a16="http://schemas.microsoft.com/office/drawing/2014/main" id="{9113153F-1652-F80C-75EE-480A2F790EFB}"/>
              </a:ext>
            </a:extLst>
          </p:cNvPr>
          <p:cNvPicPr>
            <a:picLocks noChangeAspect="1"/>
          </p:cNvPicPr>
          <p:nvPr/>
        </p:nvPicPr>
        <p:blipFill>
          <a:blip r:embed="rId2"/>
          <a:stretch>
            <a:fillRect/>
          </a:stretch>
        </p:blipFill>
        <p:spPr>
          <a:xfrm>
            <a:off x="10329709" y="227986"/>
            <a:ext cx="1581150" cy="876300"/>
          </a:xfrm>
          <a:prstGeom prst="rect">
            <a:avLst/>
          </a:prstGeom>
        </p:spPr>
      </p:pic>
      <p:sp>
        <p:nvSpPr>
          <p:cNvPr id="8" name="TextBox 7">
            <a:extLst>
              <a:ext uri="{FF2B5EF4-FFF2-40B4-BE49-F238E27FC236}">
                <a16:creationId xmlns="" xmlns:a16="http://schemas.microsoft.com/office/drawing/2014/main" id="{13E7257A-B37E-A6AB-5EDE-524DDB6E6B29}"/>
              </a:ext>
            </a:extLst>
          </p:cNvPr>
          <p:cNvSpPr txBox="1"/>
          <p:nvPr/>
        </p:nvSpPr>
        <p:spPr>
          <a:xfrm>
            <a:off x="127819" y="33091"/>
            <a:ext cx="7737987"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0" name="TextBox 9">
            <a:extLst>
              <a:ext uri="{FF2B5EF4-FFF2-40B4-BE49-F238E27FC236}">
                <a16:creationId xmlns="" xmlns:a16="http://schemas.microsoft.com/office/drawing/2014/main" id="{81DE030C-4C6C-3B99-9F22-E4E3451B85DE}"/>
              </a:ext>
            </a:extLst>
          </p:cNvPr>
          <p:cNvSpPr txBox="1"/>
          <p:nvPr/>
        </p:nvSpPr>
        <p:spPr>
          <a:xfrm>
            <a:off x="442452" y="934065"/>
            <a:ext cx="8701548" cy="2169825"/>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Module 1: CNN(Convolutional Neural Network)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CNN is a is a deep learning model mainly used for feature extraction from data such as images or EEG signals.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captures spatial and temporal patterns automatically using convolution and pooling operations.</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1B934C78-63B7-1826-A4E8-A456FEBDA6FC}"/>
              </a:ext>
            </a:extLst>
          </p:cNvPr>
          <p:cNvSpPr txBox="1"/>
          <p:nvPr/>
        </p:nvSpPr>
        <p:spPr>
          <a:xfrm>
            <a:off x="727587" y="3244645"/>
            <a:ext cx="8514735" cy="225856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Extracts key spatial features from EEG data.</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Captures local signal patterns automatically.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manual feature extraction.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feature maps for LSTM processing.</a:t>
            </a:r>
          </a:p>
        </p:txBody>
      </p:sp>
    </p:spTree>
    <p:extLst>
      <p:ext uri="{BB962C8B-B14F-4D97-AF65-F5344CB8AC3E}">
        <p14:creationId xmlns:p14="http://schemas.microsoft.com/office/powerpoint/2010/main" val="9290385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0A7E4CE-49BF-C5E3-B8B2-A98C8A0CC399}"/>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C7DBDC19-B295-B0D2-C983-E95571F9769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4F5C4834-F8D7-1E63-4775-8C978512337E}"/>
              </a:ext>
            </a:extLst>
          </p:cNvPr>
          <p:cNvSpPr>
            <a:spLocks noGrp="1"/>
          </p:cNvSpPr>
          <p:nvPr>
            <p:ph type="sldNum" sz="quarter" idx="12"/>
          </p:nvPr>
        </p:nvSpPr>
        <p:spPr/>
        <p:txBody>
          <a:bodyPr/>
          <a:lstStyle/>
          <a:p>
            <a:fld id="{69FBB93A-4B32-4007-AACF-5243CED557C7}" type="slidenum">
              <a:rPr lang="en-IN" smtClean="0"/>
              <a:t>10</a:t>
            </a:fld>
            <a:endParaRPr lang="en-IN"/>
          </a:p>
        </p:txBody>
      </p:sp>
      <p:pic>
        <p:nvPicPr>
          <p:cNvPr id="8" name="Picture 7">
            <a:extLst>
              <a:ext uri="{FF2B5EF4-FFF2-40B4-BE49-F238E27FC236}">
                <a16:creationId xmlns="" xmlns:a16="http://schemas.microsoft.com/office/drawing/2014/main" id="{95F05BC5-596A-F509-DA7D-BFEF97816128}"/>
              </a:ext>
            </a:extLst>
          </p:cNvPr>
          <p:cNvPicPr>
            <a:picLocks noChangeAspect="1"/>
          </p:cNvPicPr>
          <p:nvPr/>
        </p:nvPicPr>
        <p:blipFill>
          <a:blip r:embed="rId2"/>
          <a:stretch>
            <a:fillRect/>
          </a:stretch>
        </p:blipFill>
        <p:spPr>
          <a:xfrm>
            <a:off x="10421908" y="273209"/>
            <a:ext cx="1581150" cy="876300"/>
          </a:xfrm>
          <a:prstGeom prst="rect">
            <a:avLst/>
          </a:prstGeom>
        </p:spPr>
      </p:pic>
      <p:sp>
        <p:nvSpPr>
          <p:cNvPr id="6" name="TextBox 5">
            <a:extLst>
              <a:ext uri="{FF2B5EF4-FFF2-40B4-BE49-F238E27FC236}">
                <a16:creationId xmlns="" xmlns:a16="http://schemas.microsoft.com/office/drawing/2014/main" id="{ADE636A1-9FB1-4F7B-9563-FE51D2CA75AF}"/>
              </a:ext>
            </a:extLst>
          </p:cNvPr>
          <p:cNvSpPr txBox="1"/>
          <p:nvPr/>
        </p:nvSpPr>
        <p:spPr>
          <a:xfrm>
            <a:off x="0" y="42922"/>
            <a:ext cx="356955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Rectangle 2">
            <a:extLst>
              <a:ext uri="{FF2B5EF4-FFF2-40B4-BE49-F238E27FC236}">
                <a16:creationId xmlns="" xmlns:a16="http://schemas.microsoft.com/office/drawing/2014/main" id="{D0C43084-8CD7-4B30-9A88-83290B0C36C8}"/>
              </a:ext>
            </a:extLst>
          </p:cNvPr>
          <p:cNvSpPr>
            <a:spLocks noChangeArrowheads="1"/>
          </p:cNvSpPr>
          <p:nvPr/>
        </p:nvSpPr>
        <p:spPr bwMode="auto">
          <a:xfrm>
            <a:off x="0" y="-107722"/>
            <a:ext cx="2327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 xmlns:a16="http://schemas.microsoft.com/office/drawing/2014/main" id="{4A0A218B-88A3-4A53-9E23-4399A76C8BF1}"/>
              </a:ext>
            </a:extLst>
          </p:cNvPr>
          <p:cNvSpPr txBox="1"/>
          <p:nvPr/>
        </p:nvSpPr>
        <p:spPr>
          <a:xfrm>
            <a:off x="1238863" y="1326147"/>
            <a:ext cx="10506098" cy="4065857"/>
          </a:xfrm>
          <a:prstGeom prst="rect">
            <a:avLst/>
          </a:prstGeom>
          <a:noFill/>
        </p:spPr>
        <p:txBody>
          <a:bodyPr wrap="square" rtlCol="0">
            <a:spAutoFit/>
          </a:bodyPr>
          <a:lstStyle/>
          <a:p>
            <a:pPr lvl="0" defTabSz="914400"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2:</a:t>
            </a:r>
            <a:r>
              <a:rPr lang="en-IN" b="1" dirty="0">
                <a:latin typeface="Times New Roman" panose="02020603050405020304" pitchFamily="18" charset="0"/>
                <a:cs typeface="Times New Roman" panose="02020603050405020304" pitchFamily="18" charset="0"/>
              </a:rPr>
              <a:t>LSTM (Long Short-Term Memory)</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is a type of Recurrent Neural Network (RNN) designed to model time-series or sequential data by remembering long-term patterns.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uses internal memory (called cells) and gates to regulate the flow of information.</a:t>
            </a:r>
          </a:p>
          <a:p>
            <a:r>
              <a:rPr lang="en-IN" b="1" dirty="0">
                <a:latin typeface="Times New Roman" panose="02020603050405020304" pitchFamily="18" charset="0"/>
                <a:cs typeface="Times New Roman" panose="02020603050405020304" pitchFamily="18" charset="0"/>
              </a:rPr>
              <a:t>Purpose in the Model</a:t>
            </a:r>
            <a:r>
              <a:rPr lang="en-IN"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Remembers important patterns over multiple time steps.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understand temporal dependencies in EEG signals.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performance on sequence data like brainwave activity.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Avoids vanishing gradient problems found in traditional RNNs.</a:t>
            </a:r>
          </a:p>
          <a:p>
            <a:pPr marL="285750" lvl="0" indent="-285750" defTabSz="914400" eaLnBrk="0" fontAlgn="base" hangingPunct="0">
              <a:lnSpc>
                <a:spcPct val="150000"/>
              </a:lnSpc>
              <a:spcBef>
                <a:spcPct val="0"/>
              </a:spcBef>
              <a:spcAft>
                <a:spcPct val="0"/>
              </a:spcAf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5146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F851554-F94D-6DE4-C55F-0A915854B4A7}"/>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FA2C13B8-6557-D00C-06DB-E97613006B92}"/>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BEC80113-CEDA-0A2A-8B3C-309375C25DA0}"/>
              </a:ext>
            </a:extLst>
          </p:cNvPr>
          <p:cNvSpPr>
            <a:spLocks noGrp="1"/>
          </p:cNvSpPr>
          <p:nvPr>
            <p:ph type="sldNum" sz="quarter" idx="12"/>
          </p:nvPr>
        </p:nvSpPr>
        <p:spPr/>
        <p:txBody>
          <a:bodyPr/>
          <a:lstStyle/>
          <a:p>
            <a:fld id="{69FBB93A-4B32-4007-AACF-5243CED557C7}" type="slidenum">
              <a:rPr lang="en-IN" smtClean="0"/>
              <a:t>11</a:t>
            </a:fld>
            <a:endParaRPr lang="en-IN"/>
          </a:p>
        </p:txBody>
      </p:sp>
      <p:pic>
        <p:nvPicPr>
          <p:cNvPr id="6" name="Picture 5">
            <a:extLst>
              <a:ext uri="{FF2B5EF4-FFF2-40B4-BE49-F238E27FC236}">
                <a16:creationId xmlns="" xmlns:a16="http://schemas.microsoft.com/office/drawing/2014/main" id="{E6C82D95-8574-1AF6-D123-8D28C5D2414B}"/>
              </a:ext>
            </a:extLst>
          </p:cNvPr>
          <p:cNvPicPr>
            <a:picLocks noChangeAspect="1"/>
          </p:cNvPicPr>
          <p:nvPr/>
        </p:nvPicPr>
        <p:blipFill>
          <a:blip r:embed="rId2"/>
          <a:stretch>
            <a:fillRect/>
          </a:stretch>
        </p:blipFill>
        <p:spPr>
          <a:xfrm>
            <a:off x="10231386" y="218153"/>
            <a:ext cx="1581150" cy="876300"/>
          </a:xfrm>
          <a:prstGeom prst="rect">
            <a:avLst/>
          </a:prstGeom>
        </p:spPr>
      </p:pic>
      <p:sp>
        <p:nvSpPr>
          <p:cNvPr id="8" name="TextBox 7">
            <a:extLst>
              <a:ext uri="{FF2B5EF4-FFF2-40B4-BE49-F238E27FC236}">
                <a16:creationId xmlns="" xmlns:a16="http://schemas.microsoft.com/office/drawing/2014/main" id="{C1B374B1-3287-0D01-B28F-A3730795D271}"/>
              </a:ext>
            </a:extLst>
          </p:cNvPr>
          <p:cNvSpPr txBox="1"/>
          <p:nvPr/>
        </p:nvSpPr>
        <p:spPr>
          <a:xfrm>
            <a:off x="229482" y="558649"/>
            <a:ext cx="11094781" cy="133882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Module 3: </a:t>
            </a:r>
            <a:r>
              <a:rPr lang="en-IN" b="1" dirty="0" err="1">
                <a:latin typeface="Times New Roman" panose="02020603050405020304" pitchFamily="18" charset="0"/>
                <a:cs typeface="Times New Roman" panose="02020603050405020304" pitchFamily="18" charset="0"/>
              </a:rPr>
              <a:t>Softmax</a:t>
            </a:r>
            <a:endParaRPr lang="en-IN"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Softmax</a:t>
            </a:r>
            <a:r>
              <a:rPr lang="en-IN" dirty="0">
                <a:latin typeface="Times New Roman" panose="02020603050405020304" pitchFamily="18" charset="0"/>
                <a:cs typeface="Times New Roman" panose="02020603050405020304" pitchFamily="18" charset="0"/>
              </a:rPr>
              <a:t> is an activation function used in the output layer of a neural network for classification tasks.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It converts raw scores (logits) into probabilities, so that the sum of all output values equals 1</a:t>
            </a:r>
          </a:p>
        </p:txBody>
      </p:sp>
      <p:sp>
        <p:nvSpPr>
          <p:cNvPr id="5" name="TextBox 4">
            <a:extLst>
              <a:ext uri="{FF2B5EF4-FFF2-40B4-BE49-F238E27FC236}">
                <a16:creationId xmlns="" xmlns:a16="http://schemas.microsoft.com/office/drawing/2014/main" id="{CCB6B3E5-23A6-49DC-A157-5707B120EB60}"/>
              </a:ext>
            </a:extLst>
          </p:cNvPr>
          <p:cNvSpPr txBox="1"/>
          <p:nvPr/>
        </p:nvSpPr>
        <p:spPr>
          <a:xfrm>
            <a:off x="0" y="33090"/>
            <a:ext cx="3952568"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FB65A374-CB49-4F57-84B4-A338F4A4AF9F}"/>
              </a:ext>
            </a:extLst>
          </p:cNvPr>
          <p:cNvSpPr txBox="1"/>
          <p:nvPr/>
        </p:nvSpPr>
        <p:spPr>
          <a:xfrm>
            <a:off x="981679" y="1813344"/>
            <a:ext cx="9590385" cy="23083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the model’s raw output into interpretable probabilities.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the model make a clear decision about which class (e.g., depressed / not depressed) the input belongs to.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the output is a probability distribution.</a:t>
            </a:r>
          </a:p>
          <a:p>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330438" y="3692144"/>
            <a:ext cx="6096000" cy="2585323"/>
          </a:xfrm>
          <a:prstGeom prst="rect">
            <a:avLst/>
          </a:prstGeom>
        </p:spPr>
        <p:txBody>
          <a:bodyPr>
            <a:spAutoFit/>
          </a:bodyPr>
          <a:lstStyle/>
          <a:p>
            <a:pPr lvl="0"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Module 4:</a:t>
            </a:r>
            <a:r>
              <a:rPr lang="en-IN" b="1" dirty="0" err="1">
                <a:latin typeface="Times New Roman" panose="02020603050405020304" pitchFamily="18" charset="0"/>
                <a:cs typeface="Times New Roman" panose="02020603050405020304" pitchFamily="18" charset="0"/>
              </a:rPr>
              <a:t>ReLU</a:t>
            </a:r>
            <a:r>
              <a:rPr lang="en-IN" b="1" dirty="0">
                <a:latin typeface="Times New Roman" panose="02020603050405020304" pitchFamily="18" charset="0"/>
                <a:cs typeface="Times New Roman" panose="02020603050405020304" pitchFamily="18" charset="0"/>
              </a:rPr>
              <a:t> (Rectified Linear Unit)</a:t>
            </a:r>
            <a:endParaRPr lang="en-US" b="1" dirty="0">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ReLU</a:t>
            </a:r>
            <a:r>
              <a:rPr lang="en-US" dirty="0">
                <a:latin typeface="Times New Roman" panose="02020603050405020304" pitchFamily="18" charset="0"/>
                <a:cs typeface="Times New Roman" panose="02020603050405020304" pitchFamily="18" charset="0"/>
              </a:rPr>
              <a:t> is an activation function used in neural networks.</a:t>
            </a:r>
            <a:endParaRPr lang="en-IN"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Purpose in the Model</a:t>
            </a:r>
            <a:r>
              <a:rPr lang="en-US"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Adds non-linearity to the model.</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Allows the neural network to learn complex features.</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Speeds up convergence compared to sigmoid/</a:t>
            </a:r>
            <a:r>
              <a:rPr lang="en-US" dirty="0" err="1">
                <a:latin typeface="Times New Roman" panose="02020603050405020304" pitchFamily="18" charset="0"/>
                <a:cs typeface="Times New Roman" panose="02020603050405020304" pitchFamily="18" charset="0"/>
              </a:rPr>
              <a:t>tanh</a:t>
            </a:r>
            <a:endParaRPr lang="en-IN" dirty="0"/>
          </a:p>
        </p:txBody>
      </p:sp>
    </p:spTree>
    <p:extLst>
      <p:ext uri="{BB962C8B-B14F-4D97-AF65-F5344CB8AC3E}">
        <p14:creationId xmlns:p14="http://schemas.microsoft.com/office/powerpoint/2010/main" val="23912629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5C80882-50A6-8694-64A7-580DA30FD39D}"/>
              </a:ext>
            </a:extLst>
          </p:cNvPr>
          <p:cNvSpPr>
            <a:spLocks noGrp="1"/>
          </p:cNvSpPr>
          <p:nvPr>
            <p:ph type="dt" sz="half" idx="10"/>
          </p:nvPr>
        </p:nvSpPr>
        <p:spPr/>
        <p:txBody>
          <a:bodyPr/>
          <a:lstStyle/>
          <a:p>
            <a:pPr algn="just"/>
            <a:r>
              <a:rPr lang="en-US"/>
              <a:t>Dept of AI&amp;DS, SJCIT</a:t>
            </a:r>
            <a:endParaRPr lang="en-IN"/>
          </a:p>
        </p:txBody>
      </p:sp>
      <p:sp>
        <p:nvSpPr>
          <p:cNvPr id="3" name="Footer Placeholder 2">
            <a:extLst>
              <a:ext uri="{FF2B5EF4-FFF2-40B4-BE49-F238E27FC236}">
                <a16:creationId xmlns="" xmlns:a16="http://schemas.microsoft.com/office/drawing/2014/main" id="{39777BCF-139D-F19E-5491-2F5CDB218B89}"/>
              </a:ext>
            </a:extLst>
          </p:cNvPr>
          <p:cNvSpPr>
            <a:spLocks noGrp="1"/>
          </p:cNvSpPr>
          <p:nvPr>
            <p:ph type="ftr" sz="quarter" idx="11"/>
          </p:nvPr>
        </p:nvSpPr>
        <p:spPr/>
        <p:txBody>
          <a:bodyPr/>
          <a:lstStyle/>
          <a:p>
            <a:pPr algn="just"/>
            <a:r>
              <a:rPr lang="en-IN"/>
              <a:t>2025-26</a:t>
            </a:r>
          </a:p>
        </p:txBody>
      </p:sp>
      <p:sp>
        <p:nvSpPr>
          <p:cNvPr id="4" name="Slide Number Placeholder 3">
            <a:extLst>
              <a:ext uri="{FF2B5EF4-FFF2-40B4-BE49-F238E27FC236}">
                <a16:creationId xmlns="" xmlns:a16="http://schemas.microsoft.com/office/drawing/2014/main" id="{AE9E6C7A-A0F4-2EE4-BC67-289BF2891204}"/>
              </a:ext>
            </a:extLst>
          </p:cNvPr>
          <p:cNvSpPr>
            <a:spLocks noGrp="1"/>
          </p:cNvSpPr>
          <p:nvPr>
            <p:ph type="sldNum" sz="quarter" idx="12"/>
          </p:nvPr>
        </p:nvSpPr>
        <p:spPr/>
        <p:txBody>
          <a:bodyPr/>
          <a:lstStyle/>
          <a:p>
            <a:pPr algn="just"/>
            <a:fld id="{69FBB93A-4B32-4007-AACF-5243CED557C7}" type="slidenum">
              <a:rPr lang="en-IN" smtClean="0"/>
              <a:pPr algn="just"/>
              <a:t>12</a:t>
            </a:fld>
            <a:endParaRPr lang="en-IN"/>
          </a:p>
        </p:txBody>
      </p:sp>
      <p:sp>
        <p:nvSpPr>
          <p:cNvPr id="6" name="TextBox 5">
            <a:extLst>
              <a:ext uri="{FF2B5EF4-FFF2-40B4-BE49-F238E27FC236}">
                <a16:creationId xmlns="" xmlns:a16="http://schemas.microsoft.com/office/drawing/2014/main" id="{036B84DF-653D-8724-FBCF-73660026BA08}"/>
              </a:ext>
            </a:extLst>
          </p:cNvPr>
          <p:cNvSpPr txBox="1"/>
          <p:nvPr/>
        </p:nvSpPr>
        <p:spPr>
          <a:xfrm>
            <a:off x="2320413" y="383458"/>
            <a:ext cx="6941573" cy="584775"/>
          </a:xfrm>
          <a:prstGeom prst="rect">
            <a:avLst/>
          </a:prstGeom>
          <a:noFill/>
        </p:spPr>
        <p:txBody>
          <a:bodyPr wrap="square">
            <a:spAutoFit/>
          </a:bodyPr>
          <a:lstStyle/>
          <a:p>
            <a:pPr algn="ctr"/>
            <a:r>
              <a:rPr lang="en-IN" sz="3200" b="1">
                <a:latin typeface="Times New Roman" panose="02020603050405020304" pitchFamily="18" charset="0"/>
                <a:cs typeface="Times New Roman" panose="02020603050405020304" pitchFamily="18" charset="0"/>
              </a:rPr>
              <a:t>IMPLEMENTATION</a:t>
            </a:r>
            <a:endParaRPr lang="en-IN" sz="3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F7D0CBA2-3121-A65C-0ED8-4C3FB92585AD}"/>
              </a:ext>
            </a:extLst>
          </p:cNvPr>
          <p:cNvPicPr>
            <a:picLocks noChangeAspect="1"/>
          </p:cNvPicPr>
          <p:nvPr/>
        </p:nvPicPr>
        <p:blipFill>
          <a:blip r:embed="rId2"/>
          <a:stretch>
            <a:fillRect/>
          </a:stretch>
        </p:blipFill>
        <p:spPr>
          <a:xfrm>
            <a:off x="10231386" y="218153"/>
            <a:ext cx="1581150" cy="876300"/>
          </a:xfrm>
          <a:prstGeom prst="rect">
            <a:avLst/>
          </a:prstGeom>
        </p:spPr>
      </p:pic>
      <p:sp>
        <p:nvSpPr>
          <p:cNvPr id="9" name="TextBox 8">
            <a:extLst>
              <a:ext uri="{FF2B5EF4-FFF2-40B4-BE49-F238E27FC236}">
                <a16:creationId xmlns="" xmlns:a16="http://schemas.microsoft.com/office/drawing/2014/main" id="{82900D8B-A304-D260-84A5-1F1F76A7E7D0}"/>
              </a:ext>
            </a:extLst>
          </p:cNvPr>
          <p:cNvSpPr txBox="1"/>
          <p:nvPr/>
        </p:nvSpPr>
        <p:spPr>
          <a:xfrm>
            <a:off x="0" y="137652"/>
            <a:ext cx="3569551" cy="215444"/>
          </a:xfrm>
          <a:prstGeom prst="rect">
            <a:avLst/>
          </a:prstGeom>
          <a:noFill/>
        </p:spPr>
        <p:txBody>
          <a:bodyPr wrap="square">
            <a:spAutoFit/>
          </a:bodyPr>
          <a:lstStyle/>
          <a:p>
            <a:pPr algn="just"/>
            <a:r>
              <a:rPr lang="en-IN" sz="80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4E6BC27B-2449-73D0-83A3-5401B6A01560}"/>
              </a:ext>
            </a:extLst>
          </p:cNvPr>
          <p:cNvSpPr txBox="1"/>
          <p:nvPr/>
        </p:nvSpPr>
        <p:spPr>
          <a:xfrm>
            <a:off x="447367" y="998595"/>
            <a:ext cx="8475406" cy="458074"/>
          </a:xfrm>
          <a:prstGeom prst="rect">
            <a:avLst/>
          </a:prstGeom>
          <a:noFill/>
        </p:spPr>
        <p:txBody>
          <a:bodyPr wrap="square">
            <a:spAutoFit/>
          </a:bodyPr>
          <a:lstStyle/>
          <a:p>
            <a:pPr algn="just">
              <a:lnSpc>
                <a:spcPct val="150000"/>
              </a:lnSpc>
            </a:pPr>
            <a:r>
              <a:rPr lang="en-IN" b="1">
                <a:latin typeface="Times New Roman" panose="02020603050405020304" pitchFamily="18" charset="0"/>
                <a:cs typeface="Times New Roman" panose="02020603050405020304" pitchFamily="18" charset="0"/>
              </a:rPr>
              <a:t>1. CNN Algorithm</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 xmlns:a16="http://schemas.microsoft.com/office/drawing/2014/main" id="{91DC2A77-8885-5BDC-11B1-9C8E985E790E}"/>
              </a:ext>
            </a:extLst>
          </p:cNvPr>
          <p:cNvSpPr txBox="1"/>
          <p:nvPr/>
        </p:nvSpPr>
        <p:spPr>
          <a:xfrm>
            <a:off x="599768" y="3122861"/>
            <a:ext cx="5742038" cy="646331"/>
          </a:xfrm>
          <a:prstGeom prst="rect">
            <a:avLst/>
          </a:prstGeom>
          <a:noFill/>
        </p:spPr>
        <p:txBody>
          <a:bodyPr wrap="square">
            <a:spAutoFit/>
          </a:bodyPr>
          <a:lstStyle/>
          <a:p>
            <a:pPr lvl="0" algn="just" defTabSz="914400" eaLnBrk="0" fontAlgn="base" hangingPunct="0">
              <a:spcBef>
                <a:spcPct val="0"/>
              </a:spcBef>
              <a:spcAft>
                <a:spcPct val="0"/>
              </a:spcAft>
            </a:pPr>
            <a:endParaRPr kumimoji="0" lang="en-US" altLang="en-US" sz="1800" b="1" i="0"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endParaRPr lang="en-US" altLang="en-US" b="1">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 xmlns:a16="http://schemas.microsoft.com/office/drawing/2014/main" id="{03C5E289-B719-4017-4E1D-DD3B848714BB}"/>
              </a:ext>
            </a:extLst>
          </p:cNvPr>
          <p:cNvSpPr txBox="1"/>
          <p:nvPr/>
        </p:nvSpPr>
        <p:spPr>
          <a:xfrm>
            <a:off x="736504" y="3459043"/>
            <a:ext cx="8186269" cy="369332"/>
          </a:xfrm>
          <a:prstGeom prst="rect">
            <a:avLst/>
          </a:prstGeom>
          <a:noFill/>
        </p:spPr>
        <p:txBody>
          <a:bodyPr wrap="square">
            <a:spAutoFit/>
          </a:bodyPr>
          <a:lstStyle/>
          <a:p>
            <a:pPr algn="just"/>
            <a:r>
              <a:rPr lang="en-IN" b="1">
                <a:latin typeface="Times New Roman" panose="02020603050405020304" pitchFamily="18" charset="0"/>
                <a:cs typeface="Times New Roman" panose="02020603050405020304" pitchFamily="18" charset="0"/>
              </a:rPr>
              <a:t> </a:t>
            </a:r>
          </a:p>
        </p:txBody>
      </p:sp>
      <p:sp>
        <p:nvSpPr>
          <p:cNvPr id="19" name="Rectangle 2">
            <a:extLst>
              <a:ext uri="{FF2B5EF4-FFF2-40B4-BE49-F238E27FC236}">
                <a16:creationId xmlns="" xmlns:a16="http://schemas.microsoft.com/office/drawing/2014/main" id="{EE953F4B-EA0C-E742-5AEC-4CBFFE139DCE}"/>
              </a:ext>
            </a:extLst>
          </p:cNvPr>
          <p:cNvSpPr>
            <a:spLocks noChangeArrowheads="1"/>
          </p:cNvSpPr>
          <p:nvPr/>
        </p:nvSpPr>
        <p:spPr bwMode="auto">
          <a:xfrm>
            <a:off x="983226" y="3626152"/>
            <a:ext cx="977326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 xmlns:a16="http://schemas.microsoft.com/office/drawing/2014/main" id="{84E5B790-2FC1-6313-806B-013A21100FB5}"/>
              </a:ext>
            </a:extLst>
          </p:cNvPr>
          <p:cNvSpPr txBox="1"/>
          <p:nvPr/>
        </p:nvSpPr>
        <p:spPr>
          <a:xfrm>
            <a:off x="447367" y="1613732"/>
            <a:ext cx="11008129" cy="4197559"/>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Input Layer:</a:t>
            </a:r>
            <a:r>
              <a:rPr lang="en-IN" dirty="0">
                <a:latin typeface="Times New Roman" panose="02020603050405020304" pitchFamily="18" charset="0"/>
                <a:cs typeface="Times New Roman" panose="02020603050405020304" pitchFamily="18" charset="0"/>
              </a:rPr>
              <a:t> Receives EEG windows of shape </a:t>
            </a:r>
            <a:r>
              <a:rPr lang="en-IN" b="1" dirty="0">
                <a:latin typeface="Times New Roman" panose="02020603050405020304" pitchFamily="18" charset="0"/>
                <a:cs typeface="Times New Roman" panose="02020603050405020304" pitchFamily="18" charset="0"/>
              </a:rPr>
              <a:t>(19 × 256)</a:t>
            </a:r>
            <a:r>
              <a:rPr lang="en-IN" dirty="0">
                <a:latin typeface="Times New Roman" panose="02020603050405020304" pitchFamily="18" charset="0"/>
                <a:cs typeface="Times New Roman" panose="02020603050405020304" pitchFamily="18" charset="0"/>
              </a:rPr>
              <a:t>.</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Conv1D Layer:</a:t>
            </a:r>
            <a:endParaRPr lang="en-IN" dirty="0">
              <a:latin typeface="Times New Roman" panose="02020603050405020304" pitchFamily="18" charset="0"/>
              <a:cs typeface="Times New Roman" panose="02020603050405020304" pitchFamily="18" charset="0"/>
            </a:endParaRPr>
          </a:p>
          <a:p>
            <a:pPr lvl="1">
              <a:lnSpc>
                <a:spcPct val="150000"/>
              </a:lnSpc>
            </a:pPr>
            <a:r>
              <a:rPr lang="en-IN" b="1" dirty="0">
                <a:latin typeface="Times New Roman" panose="02020603050405020304" pitchFamily="18" charset="0"/>
                <a:cs typeface="Times New Roman" panose="02020603050405020304" pitchFamily="18" charset="0"/>
              </a:rPr>
              <a:t>Filters:</a:t>
            </a:r>
            <a:r>
              <a:rPr lang="en-IN" dirty="0">
                <a:latin typeface="Times New Roman" panose="02020603050405020304" pitchFamily="18" charset="0"/>
                <a:cs typeface="Times New Roman" panose="02020603050405020304" pitchFamily="18" charset="0"/>
              </a:rPr>
              <a:t> 64 filters with a kernel size of 5.</a:t>
            </a:r>
          </a:p>
          <a:p>
            <a:pPr lvl="1">
              <a:lnSpc>
                <a:spcPct val="150000"/>
              </a:lnSpc>
            </a:pPr>
            <a:r>
              <a:rPr lang="en-IN" b="1" dirty="0">
                <a:latin typeface="Times New Roman" panose="02020603050405020304" pitchFamily="18" charset="0"/>
                <a:cs typeface="Times New Roman" panose="02020603050405020304" pitchFamily="18" charset="0"/>
              </a:rPr>
              <a:t>Sliding Window:</a:t>
            </a:r>
            <a:r>
              <a:rPr lang="en-IN" dirty="0">
                <a:latin typeface="Times New Roman" panose="02020603050405020304" pitchFamily="18" charset="0"/>
                <a:cs typeface="Times New Roman" panose="02020603050405020304" pitchFamily="18" charset="0"/>
              </a:rPr>
              <a:t> Each filter slides along the time dimension, simultaneously examining all 19 channels.</a:t>
            </a:r>
          </a:p>
          <a:p>
            <a:pPr lvl="1">
              <a:lnSpc>
                <a:spcPct val="150000"/>
              </a:lnSpc>
            </a:pPr>
            <a:r>
              <a:rPr lang="en-IN" b="1" dirty="0">
                <a:latin typeface="Times New Roman" panose="02020603050405020304" pitchFamily="18" charset="0"/>
                <a:cs typeface="Times New Roman" panose="02020603050405020304" pitchFamily="18" charset="0"/>
              </a:rPr>
              <a:t>Spatial Feature Learning:</a:t>
            </a:r>
            <a:r>
              <a:rPr lang="en-IN" dirty="0">
                <a:latin typeface="Times New Roman" panose="02020603050405020304" pitchFamily="18" charset="0"/>
                <a:cs typeface="Times New Roman" panose="02020603050405020304" pitchFamily="18" charset="0"/>
              </a:rPr>
              <a:t> Filters capture diverse spatial patterns, including low/high-frequency waves, eye-blink </a:t>
            </a:r>
            <a:r>
              <a:rPr lang="en-IN" dirty="0" err="1">
                <a:latin typeface="Times New Roman" panose="02020603050405020304" pitchFamily="18" charset="0"/>
                <a:cs typeface="Times New Roman" panose="02020603050405020304" pitchFamily="18" charset="0"/>
              </a:rPr>
              <a:t>artifacts</a:t>
            </a:r>
            <a:r>
              <a:rPr lang="en-IN" dirty="0">
                <a:latin typeface="Times New Roman" panose="02020603050405020304" pitchFamily="18" charset="0"/>
                <a:cs typeface="Times New Roman" panose="02020603050405020304" pitchFamily="18" charset="0"/>
              </a:rPr>
              <a:t>, and frontal alpha asymmetry.</a:t>
            </a:r>
          </a:p>
          <a:p>
            <a:pPr marL="285750" lvl="0"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Activation (</a:t>
            </a:r>
            <a:r>
              <a:rPr lang="en-IN" b="1" dirty="0" err="1">
                <a:latin typeface="Times New Roman" panose="02020603050405020304" pitchFamily="18" charset="0"/>
                <a:cs typeface="Times New Roman" panose="02020603050405020304" pitchFamily="18" charset="0"/>
              </a:rPr>
              <a:t>ReLU</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Rectified Linear Unit sets negative values to zero, preserving key activations and reducing noise.</a:t>
            </a:r>
            <a:endParaRPr lang="en-IN"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 Feature Map:</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Produces a high-level spatial representation, e.g., </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(64 filters × 252 time steps)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which is then passed to LSTM layers for temporal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27563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BA9B190-37A4-6D31-2C3D-5B478C7B23E0}"/>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69908421-3811-DBE3-AF6A-4EDD7EA89719}"/>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B77CC787-ACE2-B796-7552-47B437A9FD5E}"/>
              </a:ext>
            </a:extLst>
          </p:cNvPr>
          <p:cNvSpPr>
            <a:spLocks noGrp="1"/>
          </p:cNvSpPr>
          <p:nvPr>
            <p:ph type="sldNum" sz="quarter" idx="12"/>
          </p:nvPr>
        </p:nvSpPr>
        <p:spPr/>
        <p:txBody>
          <a:bodyPr/>
          <a:lstStyle/>
          <a:p>
            <a:fld id="{69FBB93A-4B32-4007-AACF-5243CED557C7}" type="slidenum">
              <a:rPr lang="en-IN" smtClean="0"/>
              <a:t>13</a:t>
            </a:fld>
            <a:endParaRPr lang="en-IN"/>
          </a:p>
        </p:txBody>
      </p:sp>
      <p:pic>
        <p:nvPicPr>
          <p:cNvPr id="5" name="Picture 4">
            <a:extLst>
              <a:ext uri="{FF2B5EF4-FFF2-40B4-BE49-F238E27FC236}">
                <a16:creationId xmlns="" xmlns:a16="http://schemas.microsoft.com/office/drawing/2014/main" id="{6EDC5FCD-1669-44D7-96FD-BDC08257A26E}"/>
              </a:ext>
            </a:extLst>
          </p:cNvPr>
          <p:cNvPicPr>
            <a:picLocks noChangeAspect="1"/>
          </p:cNvPicPr>
          <p:nvPr/>
        </p:nvPicPr>
        <p:blipFill>
          <a:blip r:embed="rId2"/>
          <a:stretch>
            <a:fillRect/>
          </a:stretch>
        </p:blipFill>
        <p:spPr>
          <a:xfrm>
            <a:off x="10231386" y="218153"/>
            <a:ext cx="1581150" cy="876300"/>
          </a:xfrm>
          <a:prstGeom prst="rect">
            <a:avLst/>
          </a:prstGeom>
        </p:spPr>
      </p:pic>
      <p:sp>
        <p:nvSpPr>
          <p:cNvPr id="7" name="TextBox 6">
            <a:extLst>
              <a:ext uri="{FF2B5EF4-FFF2-40B4-BE49-F238E27FC236}">
                <a16:creationId xmlns="" xmlns:a16="http://schemas.microsoft.com/office/drawing/2014/main" id="{B1F691BD-1B38-F66F-9F10-0245DBB642CA}"/>
              </a:ext>
            </a:extLst>
          </p:cNvPr>
          <p:cNvSpPr txBox="1"/>
          <p:nvPr/>
        </p:nvSpPr>
        <p:spPr>
          <a:xfrm>
            <a:off x="147484" y="218153"/>
            <a:ext cx="8996516" cy="215444"/>
          </a:xfrm>
          <a:prstGeom prst="rect">
            <a:avLst/>
          </a:prstGeom>
          <a:noFill/>
        </p:spPr>
        <p:txBody>
          <a:bodyPr wrap="square">
            <a:spAutoFit/>
          </a:bodyPr>
          <a:lstStyle/>
          <a:p>
            <a:pPr algn="just"/>
            <a:r>
              <a:rPr lang="en-IN" sz="80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4B2C191F-25A6-57A0-68E4-2650B0A4C2F6}"/>
              </a:ext>
            </a:extLst>
          </p:cNvPr>
          <p:cNvSpPr txBox="1"/>
          <p:nvPr/>
        </p:nvSpPr>
        <p:spPr>
          <a:xfrm>
            <a:off x="1298961" y="1442643"/>
            <a:ext cx="6390057" cy="3077766"/>
          </a:xfrm>
          <a:prstGeom prst="rect">
            <a:avLst/>
          </a:prstGeom>
          <a:noFill/>
        </p:spPr>
        <p:txBody>
          <a:bodyPr wrap="square">
            <a:spAutoFit/>
          </a:bodyPr>
          <a:lstStyle/>
          <a:p>
            <a:pPr marL="914400">
              <a:spcAft>
                <a:spcPts val="10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from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tensorflow.keras.models</a:t>
            </a:r>
            <a:r>
              <a:rPr lang="en-IN" dirty="0">
                <a:effectLst/>
                <a:latin typeface="Times New Roman" panose="02020603050405020304" pitchFamily="18" charset="0"/>
                <a:ea typeface="Calibri" panose="020F0502020204030204" pitchFamily="34" charset="0"/>
                <a:cs typeface="Times New Roman" panose="02020603050405020304" pitchFamily="18" charset="0"/>
              </a:rPr>
              <a:t> import Sequential</a:t>
            </a:r>
          </a:p>
          <a:p>
            <a:pPr marL="914400">
              <a:spcAft>
                <a:spcPts val="10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from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tensorflow.keras.layers</a:t>
            </a:r>
            <a:r>
              <a:rPr lang="en-IN" dirty="0">
                <a:effectLst/>
                <a:latin typeface="Times New Roman" panose="02020603050405020304" pitchFamily="18" charset="0"/>
                <a:ea typeface="Calibri" panose="020F0502020204030204" pitchFamily="34" charset="0"/>
                <a:cs typeface="Times New Roman" panose="02020603050405020304" pitchFamily="18" charset="0"/>
              </a:rPr>
              <a:t> import Conv1D,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ReLU</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a:spcAft>
                <a:spcPts val="10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model = Sequential()</a:t>
            </a:r>
          </a:p>
          <a:p>
            <a:pPr marL="914400">
              <a:spcAft>
                <a:spcPts val="10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 Input: (256 time steps, 19 channels)</a:t>
            </a:r>
          </a:p>
          <a:p>
            <a:pPr marL="914400">
              <a:spcAft>
                <a:spcPts val="1000"/>
              </a:spcAft>
              <a:buNone/>
            </a:pPr>
            <a:r>
              <a:rPr lang="en-IN" dirty="0" err="1">
                <a:effectLst/>
                <a:latin typeface="Times New Roman" panose="02020603050405020304" pitchFamily="18" charset="0"/>
                <a:ea typeface="Calibri" panose="020F0502020204030204" pitchFamily="34" charset="0"/>
                <a:cs typeface="Times New Roman" panose="02020603050405020304" pitchFamily="18" charset="0"/>
              </a:rPr>
              <a:t>model.add</a:t>
            </a:r>
            <a:r>
              <a:rPr lang="en-IN" dirty="0">
                <a:effectLst/>
                <a:latin typeface="Times New Roman" panose="02020603050405020304" pitchFamily="18" charset="0"/>
                <a:ea typeface="Calibri" panose="020F0502020204030204" pitchFamily="34" charset="0"/>
                <a:cs typeface="Times New Roman" panose="02020603050405020304" pitchFamily="18" charset="0"/>
              </a:rPr>
              <a:t>(Conv1D(filters=64,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kernel_size</a:t>
            </a:r>
            <a:r>
              <a:rPr lang="en-IN" dirty="0">
                <a:effectLst/>
                <a:latin typeface="Times New Roman" panose="02020603050405020304" pitchFamily="18" charset="0"/>
                <a:ea typeface="Calibri" panose="020F0502020204030204" pitchFamily="34" charset="0"/>
                <a:cs typeface="Times New Roman" panose="02020603050405020304" pitchFamily="18" charset="0"/>
              </a:rPr>
              <a:t>=5,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input_shape</a:t>
            </a:r>
            <a:r>
              <a:rPr lang="en-IN" dirty="0">
                <a:effectLst/>
                <a:latin typeface="Times New Roman" panose="02020603050405020304" pitchFamily="18" charset="0"/>
                <a:ea typeface="Calibri" panose="020F0502020204030204" pitchFamily="34" charset="0"/>
                <a:cs typeface="Times New Roman" panose="02020603050405020304" pitchFamily="18" charset="0"/>
              </a:rPr>
              <a:t>=(256, 19)))</a:t>
            </a:r>
          </a:p>
          <a:p>
            <a:pPr marL="914400">
              <a:spcAft>
                <a:spcPts val="1000"/>
              </a:spcAft>
              <a:buNone/>
            </a:pPr>
            <a:r>
              <a:rPr lang="en-IN" dirty="0" err="1">
                <a:effectLst/>
                <a:latin typeface="Times New Roman" panose="02020603050405020304" pitchFamily="18" charset="0"/>
                <a:ea typeface="Calibri" panose="020F0502020204030204" pitchFamily="34" charset="0"/>
                <a:cs typeface="Times New Roman" panose="02020603050405020304" pitchFamily="18" charset="0"/>
              </a:rPr>
              <a:t>model.add</a:t>
            </a:r>
            <a:r>
              <a:rPr lang="en-IN" dirty="0">
                <a:effectLst/>
                <a:latin typeface="Times New Roman" panose="02020603050405020304" pitchFamily="18" charset="0"/>
                <a:ea typeface="Calibri" panose="020F0502020204030204" pitchFamily="34" charset="0"/>
                <a:cs typeface="Times New Roman" panose="02020603050405020304" pitchFamily="18" charset="0"/>
              </a:rPr>
              <a:t>(</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ReLU</a:t>
            </a:r>
            <a:r>
              <a:rPr lang="en-IN" dirty="0">
                <a:effectLst/>
                <a:latin typeface="Times New Roman" panose="02020603050405020304" pitchFamily="18" charset="0"/>
                <a:ea typeface="Calibri" panose="020F0502020204030204" pitchFamily="34" charset="0"/>
                <a:cs typeface="Times New Roman" panose="02020603050405020304" pitchFamily="18" charset="0"/>
              </a:rPr>
              <a:t>())</a:t>
            </a:r>
          </a:p>
          <a:p>
            <a:pPr marL="914400">
              <a:spcAft>
                <a:spcPts val="1000"/>
              </a:spcAft>
              <a:buNone/>
            </a:pPr>
            <a:r>
              <a:rPr lang="en-IN" dirty="0">
                <a:effectLst/>
                <a:latin typeface="Times New Roman" panose="02020603050405020304" pitchFamily="18" charset="0"/>
                <a:ea typeface="Calibri" panose="020F0502020204030204" pitchFamily="34" charset="0"/>
                <a:cs typeface="Times New Roman" panose="02020603050405020304" pitchFamily="18" charset="0"/>
              </a:rPr>
              <a:t># Output: feature map of shape (252, 64)</a:t>
            </a:r>
          </a:p>
        </p:txBody>
      </p:sp>
      <p:sp>
        <p:nvSpPr>
          <p:cNvPr id="11" name="TextBox 10">
            <a:extLst>
              <a:ext uri="{FF2B5EF4-FFF2-40B4-BE49-F238E27FC236}">
                <a16:creationId xmlns="" xmlns:a16="http://schemas.microsoft.com/office/drawing/2014/main" id="{5C846975-68A3-68AA-7890-F8D909B9F981}"/>
              </a:ext>
            </a:extLst>
          </p:cNvPr>
          <p:cNvSpPr txBox="1"/>
          <p:nvPr/>
        </p:nvSpPr>
        <p:spPr>
          <a:xfrm>
            <a:off x="379464" y="855406"/>
            <a:ext cx="8764536" cy="390684"/>
          </a:xfrm>
          <a:prstGeom prst="rect">
            <a:avLst/>
          </a:prstGeom>
          <a:noFill/>
        </p:spPr>
        <p:txBody>
          <a:bodyPr wrap="square">
            <a:spAutoFit/>
          </a:bodyPr>
          <a:lstStyle/>
          <a:p>
            <a:pPr marL="457200">
              <a:lnSpc>
                <a:spcPct val="115000"/>
              </a:lnSpc>
              <a:spcAft>
                <a:spcPts val="1000"/>
              </a:spcAft>
              <a:buNone/>
            </a:pPr>
            <a:r>
              <a:rPr lang="en-IN" sz="1800" b="1">
                <a:effectLst/>
                <a:latin typeface="Times New Roman" panose="02020603050405020304" pitchFamily="18" charset="0"/>
                <a:ea typeface="Times New Roman" panose="02020603050405020304" pitchFamily="18" charset="0"/>
                <a:cs typeface="Times New Roman" panose="02020603050405020304" pitchFamily="18" charset="0"/>
              </a:rPr>
              <a:t>CNN Implementation Snippet:</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09244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B285D94-3772-62BD-5371-815D0E33C582}"/>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588C9675-8B37-5E79-2262-7ACFE20A139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11522022-02A7-BA0C-0784-A90E49A6D516}"/>
              </a:ext>
            </a:extLst>
          </p:cNvPr>
          <p:cNvSpPr>
            <a:spLocks noGrp="1"/>
          </p:cNvSpPr>
          <p:nvPr>
            <p:ph type="sldNum" sz="quarter" idx="12"/>
          </p:nvPr>
        </p:nvSpPr>
        <p:spPr/>
        <p:txBody>
          <a:bodyPr/>
          <a:lstStyle/>
          <a:p>
            <a:fld id="{69FBB93A-4B32-4007-AACF-5243CED557C7}" type="slidenum">
              <a:rPr lang="en-IN" smtClean="0"/>
              <a:t>14</a:t>
            </a:fld>
            <a:endParaRPr lang="en-IN"/>
          </a:p>
        </p:txBody>
      </p:sp>
      <p:pic>
        <p:nvPicPr>
          <p:cNvPr id="6" name="Picture 5">
            <a:extLst>
              <a:ext uri="{FF2B5EF4-FFF2-40B4-BE49-F238E27FC236}">
                <a16:creationId xmlns="" xmlns:a16="http://schemas.microsoft.com/office/drawing/2014/main" id="{9814357D-3292-9D1A-CF48-1164B62787F7}"/>
              </a:ext>
            </a:extLst>
          </p:cNvPr>
          <p:cNvPicPr>
            <a:picLocks noChangeAspect="1"/>
          </p:cNvPicPr>
          <p:nvPr/>
        </p:nvPicPr>
        <p:blipFill>
          <a:blip r:embed="rId2"/>
          <a:stretch>
            <a:fillRect/>
          </a:stretch>
        </p:blipFill>
        <p:spPr>
          <a:xfrm>
            <a:off x="10421908" y="149327"/>
            <a:ext cx="1581150" cy="876300"/>
          </a:xfrm>
          <a:prstGeom prst="rect">
            <a:avLst/>
          </a:prstGeom>
        </p:spPr>
      </p:pic>
      <p:sp>
        <p:nvSpPr>
          <p:cNvPr id="8" name="TextBox 7">
            <a:extLst>
              <a:ext uri="{FF2B5EF4-FFF2-40B4-BE49-F238E27FC236}">
                <a16:creationId xmlns="" xmlns:a16="http://schemas.microsoft.com/office/drawing/2014/main" id="{F5C304DE-72D6-23B5-5901-258B05E03B7A}"/>
              </a:ext>
            </a:extLst>
          </p:cNvPr>
          <p:cNvSpPr txBox="1"/>
          <p:nvPr/>
        </p:nvSpPr>
        <p:spPr>
          <a:xfrm>
            <a:off x="188942" y="149327"/>
            <a:ext cx="8955058" cy="215444"/>
          </a:xfrm>
          <a:prstGeom prst="rect">
            <a:avLst/>
          </a:prstGeom>
          <a:noFill/>
        </p:spPr>
        <p:txBody>
          <a:bodyPr wrap="square">
            <a:spAutoFit/>
          </a:bodyPr>
          <a:lstStyle/>
          <a:p>
            <a:pPr marL="0" algn="just"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0" name="TextBox 9">
            <a:extLst>
              <a:ext uri="{FF2B5EF4-FFF2-40B4-BE49-F238E27FC236}">
                <a16:creationId xmlns="" xmlns:a16="http://schemas.microsoft.com/office/drawing/2014/main" id="{B6706C62-2280-FE1C-DF3B-F35E01C892D5}"/>
              </a:ext>
            </a:extLst>
          </p:cNvPr>
          <p:cNvSpPr txBox="1"/>
          <p:nvPr/>
        </p:nvSpPr>
        <p:spPr>
          <a:xfrm>
            <a:off x="422787" y="639097"/>
            <a:ext cx="8721213" cy="369332"/>
          </a:xfrm>
          <a:prstGeom prst="rect">
            <a:avLst/>
          </a:prstGeom>
          <a:noFill/>
        </p:spPr>
        <p:txBody>
          <a:bodyPr wrap="square">
            <a:spAutoFit/>
          </a:bodyPr>
          <a:lstStyle/>
          <a:p>
            <a:pPr marL="457200">
              <a:buNone/>
            </a:pPr>
            <a:r>
              <a:rPr lang="en-IN" sz="1800" b="1">
                <a:effectLst/>
                <a:latin typeface="Times New Roman" panose="02020603050405020304" pitchFamily="18" charset="0"/>
                <a:ea typeface="Times New Roman" panose="02020603050405020304" pitchFamily="18" charset="0"/>
              </a:rPr>
              <a:t>2. LSTM Alogrithm</a:t>
            </a:r>
          </a:p>
        </p:txBody>
      </p:sp>
      <p:sp>
        <p:nvSpPr>
          <p:cNvPr id="12" name="TextBox 11">
            <a:extLst>
              <a:ext uri="{FF2B5EF4-FFF2-40B4-BE49-F238E27FC236}">
                <a16:creationId xmlns="" xmlns:a16="http://schemas.microsoft.com/office/drawing/2014/main" id="{EC97E2BF-7564-6A95-F212-6435A7C9C218}"/>
              </a:ext>
            </a:extLst>
          </p:cNvPr>
          <p:cNvSpPr txBox="1"/>
          <p:nvPr/>
        </p:nvSpPr>
        <p:spPr>
          <a:xfrm>
            <a:off x="894735" y="1150374"/>
            <a:ext cx="8249265" cy="3366563"/>
          </a:xfrm>
          <a:prstGeom prst="rect">
            <a:avLst/>
          </a:prstGeom>
          <a:noFill/>
        </p:spPr>
        <p:txBody>
          <a:bodyPr wrap="square">
            <a:spAutoFit/>
          </a:bodyPr>
          <a:lstStyle/>
          <a:p>
            <a:pPr marL="342900" lvl="0" indent="-342900" algn="just">
              <a:lnSpc>
                <a:spcPct val="150000"/>
              </a:lnSpc>
              <a:buSzPts val="1000"/>
              <a:buFont typeface="Symbol" panose="05050102010706020507" pitchFamily="18" charset="2"/>
              <a:buChar char=""/>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Input Layer:</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Receives CNN feature map as a sequence over time.</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Stacked LSTM Layers:</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First Layer: 64 units capturing short- and mid-term temporal dependencies.</a:t>
            </a: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Second Layer: 32 units for higher-level temporal abstraction.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Gating Mechanisms: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Input, forget, and output gates control memory updates and flow of information.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Final hidden state encodes temporal EEG patterns, passed to dense layers for classification</a:t>
            </a:r>
            <a:r>
              <a:rPr lang="en-IN" sz="12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3662396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74CBDF3-4810-B699-9AA8-D94731F06A87}"/>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C0F39F4D-503D-F73E-71B0-C95C0C4B5459}"/>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884825F1-7B9E-DB09-AC60-D5292DAE95BF}"/>
              </a:ext>
            </a:extLst>
          </p:cNvPr>
          <p:cNvSpPr>
            <a:spLocks noGrp="1"/>
          </p:cNvSpPr>
          <p:nvPr>
            <p:ph type="sldNum" sz="quarter" idx="12"/>
          </p:nvPr>
        </p:nvSpPr>
        <p:spPr/>
        <p:txBody>
          <a:bodyPr/>
          <a:lstStyle/>
          <a:p>
            <a:fld id="{69FBB93A-4B32-4007-AACF-5243CED557C7}" type="slidenum">
              <a:rPr lang="en-IN" smtClean="0"/>
              <a:t>15</a:t>
            </a:fld>
            <a:endParaRPr lang="en-IN"/>
          </a:p>
        </p:txBody>
      </p:sp>
      <p:sp>
        <p:nvSpPr>
          <p:cNvPr id="6" name="TextBox 5">
            <a:extLst>
              <a:ext uri="{FF2B5EF4-FFF2-40B4-BE49-F238E27FC236}">
                <a16:creationId xmlns="" xmlns:a16="http://schemas.microsoft.com/office/drawing/2014/main" id="{889054E6-1070-64DC-B752-B2DD81E62F43}"/>
              </a:ext>
            </a:extLst>
          </p:cNvPr>
          <p:cNvSpPr txBox="1"/>
          <p:nvPr/>
        </p:nvSpPr>
        <p:spPr>
          <a:xfrm>
            <a:off x="550606" y="639098"/>
            <a:ext cx="7256207" cy="646331"/>
          </a:xfrm>
          <a:prstGeom prst="rect">
            <a:avLst/>
          </a:prstGeom>
          <a:noFill/>
        </p:spPr>
        <p:txBody>
          <a:bodyPr wrap="square">
            <a:spAutoFit/>
          </a:bodyPr>
          <a:lstStyle/>
          <a:p>
            <a:pPr marL="457200">
              <a:buNone/>
            </a:pPr>
            <a:r>
              <a:rPr lang="en-IN" sz="1800" b="1">
                <a:effectLst/>
                <a:latin typeface="Times New Roman" panose="02020603050405020304" pitchFamily="18" charset="0"/>
                <a:ea typeface="Times New Roman" panose="02020603050405020304" pitchFamily="18" charset="0"/>
              </a:rPr>
              <a:t>    LSTM Implementation Snippet:</a:t>
            </a:r>
            <a:endParaRPr lang="en-IN" sz="1200">
              <a:effectLst/>
              <a:latin typeface="Courier New" panose="02070309020205020404" pitchFamily="49" charset="0"/>
              <a:ea typeface="Times New Roman" panose="02020603050405020304" pitchFamily="18" charset="0"/>
            </a:endParaRPr>
          </a:p>
          <a:p>
            <a:pPr marL="457200">
              <a:buNone/>
            </a:pPr>
            <a:r>
              <a:rPr lang="en-IN" sz="1800" b="1">
                <a:effectLst/>
                <a:latin typeface="Times New Roman" panose="02020603050405020304" pitchFamily="18" charset="0"/>
                <a:ea typeface="Times New Roman" panose="02020603050405020304" pitchFamily="18" charset="0"/>
              </a:rPr>
              <a:t> </a:t>
            </a:r>
            <a:endParaRPr lang="en-IN" sz="1200">
              <a:effectLst/>
              <a:latin typeface="Courier New" panose="02070309020205020404" pitchFamily="49" charset="0"/>
              <a:ea typeface="Times New Roman" panose="02020603050405020304" pitchFamily="18" charset="0"/>
            </a:endParaRPr>
          </a:p>
        </p:txBody>
      </p:sp>
      <p:pic>
        <p:nvPicPr>
          <p:cNvPr id="8" name="Picture 7">
            <a:extLst>
              <a:ext uri="{FF2B5EF4-FFF2-40B4-BE49-F238E27FC236}">
                <a16:creationId xmlns="" xmlns:a16="http://schemas.microsoft.com/office/drawing/2014/main" id="{38F41542-0EB4-A8CC-F37D-E62257E2E1BA}"/>
              </a:ext>
            </a:extLst>
          </p:cNvPr>
          <p:cNvPicPr>
            <a:picLocks noChangeAspect="1"/>
          </p:cNvPicPr>
          <p:nvPr/>
        </p:nvPicPr>
        <p:blipFill>
          <a:blip r:embed="rId2"/>
          <a:stretch>
            <a:fillRect/>
          </a:stretch>
        </p:blipFill>
        <p:spPr>
          <a:xfrm>
            <a:off x="10421908" y="85963"/>
            <a:ext cx="1581150" cy="876300"/>
          </a:xfrm>
          <a:prstGeom prst="rect">
            <a:avLst/>
          </a:prstGeom>
        </p:spPr>
      </p:pic>
      <p:sp>
        <p:nvSpPr>
          <p:cNvPr id="10" name="TextBox 9">
            <a:extLst>
              <a:ext uri="{FF2B5EF4-FFF2-40B4-BE49-F238E27FC236}">
                <a16:creationId xmlns="" xmlns:a16="http://schemas.microsoft.com/office/drawing/2014/main" id="{245DA054-633B-8A1D-BEFC-910A02A4AC78}"/>
              </a:ext>
            </a:extLst>
          </p:cNvPr>
          <p:cNvSpPr txBox="1"/>
          <p:nvPr/>
        </p:nvSpPr>
        <p:spPr>
          <a:xfrm>
            <a:off x="108155" y="167149"/>
            <a:ext cx="9035845" cy="215444"/>
          </a:xfrm>
          <a:prstGeom prst="rect">
            <a:avLst/>
          </a:prstGeom>
          <a:noFill/>
        </p:spPr>
        <p:txBody>
          <a:bodyPr wrap="square">
            <a:spAutoFit/>
          </a:bodyPr>
          <a:lstStyle/>
          <a:p>
            <a:pPr marL="0" algn="just"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2" name="TextBox 11">
            <a:extLst>
              <a:ext uri="{FF2B5EF4-FFF2-40B4-BE49-F238E27FC236}">
                <a16:creationId xmlns="" xmlns:a16="http://schemas.microsoft.com/office/drawing/2014/main" id="{603D5762-EAE5-29DB-3B67-845F8A18ECE4}"/>
              </a:ext>
            </a:extLst>
          </p:cNvPr>
          <p:cNvSpPr txBox="1"/>
          <p:nvPr/>
        </p:nvSpPr>
        <p:spPr>
          <a:xfrm>
            <a:off x="796413" y="1285429"/>
            <a:ext cx="8347587" cy="2951064"/>
          </a:xfrm>
          <a:prstGeom prst="rect">
            <a:avLst/>
          </a:prstGeom>
          <a:noFill/>
        </p:spPr>
        <p:txBody>
          <a:bodyPr wrap="square">
            <a:spAutoFit/>
          </a:bodyPr>
          <a:lstStyle/>
          <a:p>
            <a:pPr marL="581660" algn="just">
              <a:lnSpc>
                <a:spcPct val="150000"/>
              </a:lnSpc>
              <a:buNone/>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from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tensorflow.keras.models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import Sequential</a:t>
            </a:r>
          </a:p>
          <a:p>
            <a:pPr marL="581660" algn="just">
              <a:lnSpc>
                <a:spcPct val="150000"/>
              </a:lnSpc>
              <a:buNone/>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from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tensorflow.keras.layers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import LSTM, Dense </a:t>
            </a:r>
          </a:p>
          <a:p>
            <a:pPr marL="581660" algn="just">
              <a:lnSpc>
                <a:spcPct val="150000"/>
              </a:lnSpc>
              <a:buNone/>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model = Sequential()</a:t>
            </a:r>
          </a:p>
          <a:p>
            <a:pPr marL="581660" algn="just">
              <a:lnSpc>
                <a:spcPct val="150000"/>
              </a:lnSpc>
              <a:buNone/>
            </a:pP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model.add</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(LSTM(64,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return_sequences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=True,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input_shape</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=(252,64)))</a:t>
            </a:r>
          </a:p>
          <a:p>
            <a:pPr marL="581660" algn="just">
              <a:lnSpc>
                <a:spcPct val="150000"/>
              </a:lnSpc>
              <a:buNone/>
            </a:pP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model.add</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(LSTM(32))</a:t>
            </a:r>
          </a:p>
          <a:p>
            <a:pPr marL="581660" algn="just">
              <a:lnSpc>
                <a:spcPct val="150000"/>
              </a:lnSpc>
              <a:buNone/>
            </a:pP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model.add</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(Dense(16, activation='</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relu</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581660" algn="just">
              <a:lnSpc>
                <a:spcPct val="150000"/>
              </a:lnSpc>
              <a:buNone/>
            </a:pP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model.add</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(Dense(2, activation='</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softmax</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 Depressed / Healthy</a:t>
            </a:r>
          </a:p>
        </p:txBody>
      </p:sp>
    </p:spTree>
    <p:extLst>
      <p:ext uri="{BB962C8B-B14F-4D97-AF65-F5344CB8AC3E}">
        <p14:creationId xmlns:p14="http://schemas.microsoft.com/office/powerpoint/2010/main" val="41270942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58C3324-48C0-F93F-CB40-9B80C0C79422}"/>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FE08C1D0-ED44-B318-A15A-067BBD4EA5C9}"/>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18D9CA7A-2022-C1EC-D601-23CE18F4AE98}"/>
              </a:ext>
            </a:extLst>
          </p:cNvPr>
          <p:cNvSpPr>
            <a:spLocks noGrp="1"/>
          </p:cNvSpPr>
          <p:nvPr>
            <p:ph type="sldNum" sz="quarter" idx="12"/>
          </p:nvPr>
        </p:nvSpPr>
        <p:spPr/>
        <p:txBody>
          <a:bodyPr/>
          <a:lstStyle/>
          <a:p>
            <a:fld id="{69FBB93A-4B32-4007-AACF-5243CED557C7}" type="slidenum">
              <a:rPr lang="en-IN" smtClean="0"/>
              <a:t>16</a:t>
            </a:fld>
            <a:endParaRPr lang="en-IN"/>
          </a:p>
        </p:txBody>
      </p:sp>
      <p:sp>
        <p:nvSpPr>
          <p:cNvPr id="6" name="TextBox 5">
            <a:extLst>
              <a:ext uri="{FF2B5EF4-FFF2-40B4-BE49-F238E27FC236}">
                <a16:creationId xmlns="" xmlns:a16="http://schemas.microsoft.com/office/drawing/2014/main" id="{3BD8712D-42F5-0CC2-2DDE-D94C7A11FA2F}"/>
              </a:ext>
            </a:extLst>
          </p:cNvPr>
          <p:cNvSpPr txBox="1"/>
          <p:nvPr/>
        </p:nvSpPr>
        <p:spPr>
          <a:xfrm>
            <a:off x="595834" y="394204"/>
            <a:ext cx="10115203" cy="584775"/>
          </a:xfrm>
          <a:prstGeom prst="rect">
            <a:avLst/>
          </a:prstGeom>
          <a:noFill/>
        </p:spPr>
        <p:txBody>
          <a:bodyPr wrap="square">
            <a:spAutoFit/>
          </a:bodyPr>
          <a:lstStyle/>
          <a:p>
            <a:pPr marL="0" algn="ctr" rtl="0" eaLnBrk="1" latinLnBrk="0" hangingPunct="1">
              <a:buNone/>
            </a:pPr>
            <a:r>
              <a:rPr lang="en-IN" sz="3200" b="1">
                <a:solidFill>
                  <a:srgbClr val="000000"/>
                </a:solidFill>
                <a:effectLst/>
                <a:latin typeface="Times New Roman" panose="02020603050405020304" pitchFamily="18" charset="0"/>
                <a:cs typeface="Times New Roman" panose="02020603050405020304" pitchFamily="18" charset="0"/>
              </a:rPr>
              <a:t>TESTING</a:t>
            </a:r>
            <a:endParaRPr lang="en-IN" sz="3200">
              <a:effectLst/>
            </a:endParaRPr>
          </a:p>
        </p:txBody>
      </p:sp>
      <p:pic>
        <p:nvPicPr>
          <p:cNvPr id="8" name="Picture 7">
            <a:extLst>
              <a:ext uri="{FF2B5EF4-FFF2-40B4-BE49-F238E27FC236}">
                <a16:creationId xmlns="" xmlns:a16="http://schemas.microsoft.com/office/drawing/2014/main" id="{961E8DA8-6FB6-92A8-F13F-67DB855412E8}"/>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10" name="TextBox 9">
            <a:extLst>
              <a:ext uri="{FF2B5EF4-FFF2-40B4-BE49-F238E27FC236}">
                <a16:creationId xmlns="" xmlns:a16="http://schemas.microsoft.com/office/drawing/2014/main" id="{70CF5701-0859-8A43-E6E0-A28371F87476}"/>
              </a:ext>
            </a:extLst>
          </p:cNvPr>
          <p:cNvSpPr txBox="1"/>
          <p:nvPr/>
        </p:nvSpPr>
        <p:spPr>
          <a:xfrm>
            <a:off x="188942" y="198489"/>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1" name="TextBox 10">
            <a:extLst>
              <a:ext uri="{FF2B5EF4-FFF2-40B4-BE49-F238E27FC236}">
                <a16:creationId xmlns="" xmlns:a16="http://schemas.microsoft.com/office/drawing/2014/main" id="{F411EC3F-8D6D-4B94-6A01-4AA02849C235}"/>
              </a:ext>
            </a:extLst>
          </p:cNvPr>
          <p:cNvSpPr txBox="1"/>
          <p:nvPr/>
        </p:nvSpPr>
        <p:spPr>
          <a:xfrm>
            <a:off x="521551" y="845751"/>
            <a:ext cx="6096000" cy="458074"/>
          </a:xfrm>
          <a:prstGeom prst="rect">
            <a:avLst/>
          </a:prstGeom>
          <a:noFill/>
        </p:spPr>
        <p:txBody>
          <a:bodyPr wrap="square">
            <a:spAutoFit/>
          </a:bodyPr>
          <a:lstStyle/>
          <a:p>
            <a:pPr algn="just">
              <a:lnSpc>
                <a:spcPct val="150000"/>
              </a:lnSpc>
            </a:pPr>
            <a:r>
              <a:rPr lang="en-US" b="1">
                <a:latin typeface="Times New Roman" panose="02020603050405020304" pitchFamily="18" charset="0"/>
                <a:cs typeface="Times New Roman" panose="02020603050405020304" pitchFamily="18" charset="0"/>
              </a:rPr>
              <a:t>1. UNIT TESTING</a:t>
            </a:r>
            <a:r>
              <a:rPr lang="en-US" sz="1800" b="1">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 xmlns:a16="http://schemas.microsoft.com/office/drawing/2014/main" id="{2968BF89-32FF-CA4D-C349-AF6F7AAB9EBC}"/>
              </a:ext>
            </a:extLst>
          </p:cNvPr>
          <p:cNvGraphicFramePr>
            <a:graphicFrameLocks noGrp="1"/>
          </p:cNvGraphicFramePr>
          <p:nvPr>
            <p:extLst>
              <p:ext uri="{D42A27DB-BD31-4B8C-83A1-F6EECF244321}">
                <p14:modId xmlns:p14="http://schemas.microsoft.com/office/powerpoint/2010/main" val="907340138"/>
              </p:ext>
            </p:extLst>
          </p:nvPr>
        </p:nvGraphicFramePr>
        <p:xfrm>
          <a:off x="188942" y="1735644"/>
          <a:ext cx="11885071" cy="3967065"/>
        </p:xfrm>
        <a:graphic>
          <a:graphicData uri="http://schemas.openxmlformats.org/drawingml/2006/table">
            <a:tbl>
              <a:tblPr firstRow="1" bandRow="1"/>
              <a:tblGrid>
                <a:gridCol w="1118748">
                  <a:extLst>
                    <a:ext uri="{9D8B030D-6E8A-4147-A177-3AD203B41FA5}">
                      <a16:colId xmlns="" xmlns:a16="http://schemas.microsoft.com/office/drawing/2014/main" val="1764710113"/>
                    </a:ext>
                  </a:extLst>
                </a:gridCol>
                <a:gridCol w="1425678">
                  <a:extLst>
                    <a:ext uri="{9D8B030D-6E8A-4147-A177-3AD203B41FA5}">
                      <a16:colId xmlns="" xmlns:a16="http://schemas.microsoft.com/office/drawing/2014/main" val="3548562719"/>
                    </a:ext>
                  </a:extLst>
                </a:gridCol>
                <a:gridCol w="2125639">
                  <a:extLst>
                    <a:ext uri="{9D8B030D-6E8A-4147-A177-3AD203B41FA5}">
                      <a16:colId xmlns="" xmlns:a16="http://schemas.microsoft.com/office/drawing/2014/main" val="1915633020"/>
                    </a:ext>
                  </a:extLst>
                </a:gridCol>
                <a:gridCol w="1979018">
                  <a:extLst>
                    <a:ext uri="{9D8B030D-6E8A-4147-A177-3AD203B41FA5}">
                      <a16:colId xmlns="" xmlns:a16="http://schemas.microsoft.com/office/drawing/2014/main" val="1832155160"/>
                    </a:ext>
                  </a:extLst>
                </a:gridCol>
                <a:gridCol w="2125612">
                  <a:extLst>
                    <a:ext uri="{9D8B030D-6E8A-4147-A177-3AD203B41FA5}">
                      <a16:colId xmlns="" xmlns:a16="http://schemas.microsoft.com/office/drawing/2014/main" val="708372134"/>
                    </a:ext>
                  </a:extLst>
                </a:gridCol>
                <a:gridCol w="1937135">
                  <a:extLst>
                    <a:ext uri="{9D8B030D-6E8A-4147-A177-3AD203B41FA5}">
                      <a16:colId xmlns="" xmlns:a16="http://schemas.microsoft.com/office/drawing/2014/main" val="3438480492"/>
                    </a:ext>
                  </a:extLst>
                </a:gridCol>
                <a:gridCol w="1173241">
                  <a:extLst>
                    <a:ext uri="{9D8B030D-6E8A-4147-A177-3AD203B41FA5}">
                      <a16:colId xmlns="" xmlns:a16="http://schemas.microsoft.com/office/drawing/2014/main" val="2717388764"/>
                    </a:ext>
                  </a:extLst>
                </a:gridCol>
              </a:tblGrid>
              <a:tr h="661178">
                <a:tc>
                  <a:txBody>
                    <a:bodyPr/>
                    <a:lstStyle/>
                    <a:p>
                      <a:pPr algn="just"/>
                      <a:r>
                        <a:rPr lang="en-IN" sz="1800" dirty="0">
                          <a:latin typeface="Times New Roman" panose="02020603050405020304" pitchFamily="18" charset="0"/>
                          <a:cs typeface="Times New Roman" panose="02020603050405020304" pitchFamily="18" charset="0"/>
                        </a:rPr>
                        <a:t>Test Case</a:t>
                      </a:r>
                    </a:p>
                  </a:txBody>
                  <a:tcPr/>
                </a:tc>
                <a:tc>
                  <a:txBody>
                    <a:bodyPr/>
                    <a:lstStyle/>
                    <a:p>
                      <a:pPr algn="just"/>
                      <a:r>
                        <a:rPr lang="en-IN" sz="1800" dirty="0">
                          <a:latin typeface="Times New Roman" panose="02020603050405020304" pitchFamily="18" charset="0"/>
                          <a:cs typeface="Times New Roman" panose="02020603050405020304" pitchFamily="18" charset="0"/>
                        </a:rPr>
                        <a:t>Test Name</a:t>
                      </a:r>
                    </a:p>
                  </a:txBody>
                  <a:tcPr/>
                </a:tc>
                <a:tc>
                  <a:txBody>
                    <a:bodyPr/>
                    <a:lstStyle/>
                    <a:p>
                      <a:pPr algn="just"/>
                      <a:r>
                        <a:rPr lang="en-IN" sz="1800">
                          <a:latin typeface="Times New Roman" panose="02020603050405020304" pitchFamily="18" charset="0"/>
                          <a:cs typeface="Times New Roman" panose="02020603050405020304" pitchFamily="18" charset="0"/>
                        </a:rPr>
                        <a:t>Test Description</a:t>
                      </a:r>
                    </a:p>
                  </a:txBody>
                  <a:tcPr/>
                </a:tc>
                <a:tc>
                  <a:txBody>
                    <a:bodyPr/>
                    <a:lstStyle/>
                    <a:p>
                      <a:pPr algn="just"/>
                      <a:r>
                        <a:rPr lang="en-IN" sz="1800">
                          <a:latin typeface="Times New Roman" panose="02020603050405020304" pitchFamily="18" charset="0"/>
                          <a:cs typeface="Times New Roman" panose="02020603050405020304" pitchFamily="18" charset="0"/>
                        </a:rPr>
                        <a:t>Input</a:t>
                      </a:r>
                    </a:p>
                  </a:txBody>
                  <a:tcPr/>
                </a:tc>
                <a:tc>
                  <a:txBody>
                    <a:bodyPr/>
                    <a:lstStyle/>
                    <a:p>
                      <a:pPr algn="just"/>
                      <a:r>
                        <a:rPr lang="en-IN" sz="1800">
                          <a:latin typeface="Times New Roman" panose="02020603050405020304" pitchFamily="18" charset="0"/>
                          <a:cs typeface="Times New Roman" panose="02020603050405020304" pitchFamily="18" charset="0"/>
                        </a:rPr>
                        <a:t>Expected Output</a:t>
                      </a:r>
                    </a:p>
                  </a:txBody>
                  <a:tcPr/>
                </a:tc>
                <a:tc>
                  <a:txBody>
                    <a:bodyPr/>
                    <a:lstStyle/>
                    <a:p>
                      <a:pPr algn="just"/>
                      <a:r>
                        <a:rPr lang="en-IN" sz="1800">
                          <a:latin typeface="Times New Roman" panose="02020603050405020304" pitchFamily="18" charset="0"/>
                          <a:cs typeface="Times New Roman" panose="02020603050405020304" pitchFamily="18" charset="0"/>
                        </a:rPr>
                        <a:t>Actual Output</a:t>
                      </a:r>
                    </a:p>
                  </a:txBody>
                  <a:tcPr/>
                </a:tc>
                <a:tc>
                  <a:txBody>
                    <a:bodyPr/>
                    <a:lstStyle/>
                    <a:p>
                      <a:pPr algn="just"/>
                      <a:r>
                        <a:rPr lang="en-IN" sz="1800">
                          <a:latin typeface="Times New Roman" panose="02020603050405020304" pitchFamily="18" charset="0"/>
                          <a:cs typeface="Times New Roman" panose="02020603050405020304" pitchFamily="18" charset="0"/>
                        </a:rPr>
                        <a:t>Test Result</a:t>
                      </a:r>
                    </a:p>
                  </a:txBody>
                  <a:tcPr/>
                </a:tc>
                <a:extLst>
                  <a:ext uri="{0D108BD9-81ED-4DB2-BD59-A6C34878D82A}">
                    <a16:rowId xmlns="" xmlns:a16="http://schemas.microsoft.com/office/drawing/2014/main" val="3613306583"/>
                  </a:ext>
                </a:extLst>
              </a:tr>
              <a:tr h="1794625">
                <a:tc>
                  <a:txBody>
                    <a:bodyPr/>
                    <a:lstStyle/>
                    <a:p>
                      <a:pPr algn="just"/>
                      <a:r>
                        <a:rPr lang="en-IN" sz="1800" dirty="0" smtClean="0">
                          <a:latin typeface="Times New Roman" panose="02020603050405020304" pitchFamily="18" charset="0"/>
                          <a:cs typeface="Times New Roman" panose="02020603050405020304" pitchFamily="18" charset="0"/>
                        </a:rPr>
                        <a:t>UTC01</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User Model Functionality</a:t>
                      </a:r>
                    </a:p>
                  </a:txBody>
                  <a:tcPr/>
                </a:tc>
                <a:tc>
                  <a:txBody>
                    <a:bodyPr/>
                    <a:lstStyle/>
                    <a:p>
                      <a:pPr algn="just"/>
                      <a:r>
                        <a:rPr lang="en-US" sz="1800">
                          <a:latin typeface="Times New Roman" panose="02020603050405020304" pitchFamily="18" charset="0"/>
                          <a:cs typeface="Times New Roman" panose="02020603050405020304" pitchFamily="18" charset="0"/>
                        </a:rPr>
                        <a:t>To verify creation, validation, and password hashing of the CustomUser model.</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 and invalid user data (missing username, weak password, etc.)</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User is created successfully with valid data, errors are raised for missing fields, and password is hashed correctly.</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loads successfully and returns valid prediction output.</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1630784236"/>
                  </a:ext>
                </a:extLst>
              </a:tr>
              <a:tr h="1511262">
                <a:tc>
                  <a:txBody>
                    <a:bodyPr/>
                    <a:lstStyle/>
                    <a:p>
                      <a:pPr algn="just"/>
                      <a:r>
                        <a:rPr lang="en-IN" sz="1800" dirty="0">
                          <a:latin typeface="Times New Roman" panose="02020603050405020304" pitchFamily="18" charset="0"/>
                          <a:cs typeface="Times New Roman" panose="02020603050405020304" pitchFamily="18" charset="0"/>
                        </a:rPr>
                        <a:t>UTC02</a:t>
                      </a:r>
                    </a:p>
                  </a:txBody>
                  <a:tcPr/>
                </a:tc>
                <a:tc>
                  <a:txBody>
                    <a:bodyPr/>
                    <a:lstStyle/>
                    <a:p>
                      <a:pPr algn="just"/>
                      <a:r>
                        <a:rPr lang="en-IN" sz="1800" dirty="0">
                          <a:latin typeface="Times New Roman" panose="02020603050405020304" pitchFamily="18" charset="0"/>
                          <a:cs typeface="Times New Roman" panose="02020603050405020304" pitchFamily="18" charset="0"/>
                        </a:rPr>
                        <a:t>OTP </a:t>
                      </a:r>
                      <a:r>
                        <a:rPr lang="en-IN" sz="1800" dirty="0" smtClean="0">
                          <a:latin typeface="Times New Roman" panose="02020603050405020304" pitchFamily="18" charset="0"/>
                          <a:cs typeface="Times New Roman" panose="02020603050405020304" pitchFamily="18" charset="0"/>
                        </a:rPr>
                        <a:t>Generation</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To test OTP generation, database storage, and expiry mechanism.</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request for a registered user</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A 6-digit OTP is generated, stored, and </a:t>
                      </a:r>
                      <a:r>
                        <a:rPr lang="en-US" sz="1800" dirty="0" smtClean="0">
                          <a:latin typeface="Times New Roman" panose="02020603050405020304" pitchFamily="18" charset="0"/>
                          <a:cs typeface="Times New Roman" panose="02020603050405020304" pitchFamily="18" charset="0"/>
                        </a:rPr>
                        <a:t>correct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generated correctly, stored in </a:t>
                      </a:r>
                      <a:r>
                        <a:rPr lang="en-US" sz="1800" dirty="0" smtClean="0">
                          <a:latin typeface="Times New Roman" panose="02020603050405020304" pitchFamily="18" charset="0"/>
                          <a:cs typeface="Times New Roman" panose="02020603050405020304" pitchFamily="18" charset="0"/>
                        </a:rPr>
                        <a:t>model</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2060505593"/>
                  </a:ext>
                </a:extLst>
              </a:tr>
            </a:tbl>
          </a:graphicData>
        </a:graphic>
      </p:graphicFrame>
    </p:spTree>
    <p:extLst>
      <p:ext uri="{BB962C8B-B14F-4D97-AF65-F5344CB8AC3E}">
        <p14:creationId xmlns:p14="http://schemas.microsoft.com/office/powerpoint/2010/main" val="2248982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9A4D232-4B3D-28D5-559B-494F3399827E}"/>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A900F029-4187-0BD2-59A5-94C1693C566A}"/>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3A380EF5-2DB5-8C7D-179C-B0686C110373}"/>
              </a:ext>
            </a:extLst>
          </p:cNvPr>
          <p:cNvSpPr>
            <a:spLocks noGrp="1"/>
          </p:cNvSpPr>
          <p:nvPr>
            <p:ph type="sldNum" sz="quarter" idx="12"/>
          </p:nvPr>
        </p:nvSpPr>
        <p:spPr/>
        <p:txBody>
          <a:bodyPr/>
          <a:lstStyle/>
          <a:p>
            <a:fld id="{69FBB93A-4B32-4007-AACF-5243CED557C7}" type="slidenum">
              <a:rPr lang="en-IN" smtClean="0"/>
              <a:t>17</a:t>
            </a:fld>
            <a:endParaRPr lang="en-IN"/>
          </a:p>
        </p:txBody>
      </p:sp>
      <p:pic>
        <p:nvPicPr>
          <p:cNvPr id="5" name="Picture 4">
            <a:extLst>
              <a:ext uri="{FF2B5EF4-FFF2-40B4-BE49-F238E27FC236}">
                <a16:creationId xmlns="" xmlns:a16="http://schemas.microsoft.com/office/drawing/2014/main" id="{2203DBF3-4728-01CE-3966-E8A30E03C249}"/>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7" name="TextBox 6">
            <a:extLst>
              <a:ext uri="{FF2B5EF4-FFF2-40B4-BE49-F238E27FC236}">
                <a16:creationId xmlns="" xmlns:a16="http://schemas.microsoft.com/office/drawing/2014/main" id="{54A86BA7-874A-B20D-D338-2C3B455E1610}"/>
              </a:ext>
            </a:extLst>
          </p:cNvPr>
          <p:cNvSpPr txBox="1"/>
          <p:nvPr/>
        </p:nvSpPr>
        <p:spPr>
          <a:xfrm>
            <a:off x="188942" y="198489"/>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graphicFrame>
        <p:nvGraphicFramePr>
          <p:cNvPr id="8" name="Table 7">
            <a:extLst>
              <a:ext uri="{FF2B5EF4-FFF2-40B4-BE49-F238E27FC236}">
                <a16:creationId xmlns="" xmlns:a16="http://schemas.microsoft.com/office/drawing/2014/main" id="{1CC3858E-1335-D3F1-D124-9CD4E705D38B}"/>
              </a:ext>
            </a:extLst>
          </p:cNvPr>
          <p:cNvGraphicFramePr>
            <a:graphicFrameLocks noGrp="1"/>
          </p:cNvGraphicFramePr>
          <p:nvPr>
            <p:extLst>
              <p:ext uri="{D42A27DB-BD31-4B8C-83A1-F6EECF244321}">
                <p14:modId xmlns:p14="http://schemas.microsoft.com/office/powerpoint/2010/main" val="2085229869"/>
              </p:ext>
            </p:extLst>
          </p:nvPr>
        </p:nvGraphicFramePr>
        <p:xfrm>
          <a:off x="188942" y="1160206"/>
          <a:ext cx="11814114" cy="4896466"/>
        </p:xfrm>
        <a:graphic>
          <a:graphicData uri="http://schemas.openxmlformats.org/drawingml/2006/table">
            <a:tbl>
              <a:tblPr firstRow="1" bandRow="1"/>
              <a:tblGrid>
                <a:gridCol w="999214">
                  <a:extLst>
                    <a:ext uri="{9D8B030D-6E8A-4147-A177-3AD203B41FA5}">
                      <a16:colId xmlns="" xmlns:a16="http://schemas.microsoft.com/office/drawing/2014/main" val="3553134890"/>
                    </a:ext>
                  </a:extLst>
                </a:gridCol>
                <a:gridCol w="1134525">
                  <a:extLst>
                    <a:ext uri="{9D8B030D-6E8A-4147-A177-3AD203B41FA5}">
                      <a16:colId xmlns="" xmlns:a16="http://schemas.microsoft.com/office/drawing/2014/main" val="3093012924"/>
                    </a:ext>
                  </a:extLst>
                </a:gridCol>
                <a:gridCol w="2508444">
                  <a:extLst>
                    <a:ext uri="{9D8B030D-6E8A-4147-A177-3AD203B41FA5}">
                      <a16:colId xmlns="" xmlns:a16="http://schemas.microsoft.com/office/drawing/2014/main" val="3413917862"/>
                    </a:ext>
                  </a:extLst>
                </a:gridCol>
                <a:gridCol w="1967203">
                  <a:extLst>
                    <a:ext uri="{9D8B030D-6E8A-4147-A177-3AD203B41FA5}">
                      <a16:colId xmlns="" xmlns:a16="http://schemas.microsoft.com/office/drawing/2014/main" val="2170773558"/>
                    </a:ext>
                  </a:extLst>
                </a:gridCol>
                <a:gridCol w="2112922">
                  <a:extLst>
                    <a:ext uri="{9D8B030D-6E8A-4147-A177-3AD203B41FA5}">
                      <a16:colId xmlns="" xmlns:a16="http://schemas.microsoft.com/office/drawing/2014/main" val="1620018930"/>
                    </a:ext>
                  </a:extLst>
                </a:gridCol>
                <a:gridCol w="1925569">
                  <a:extLst>
                    <a:ext uri="{9D8B030D-6E8A-4147-A177-3AD203B41FA5}">
                      <a16:colId xmlns="" xmlns:a16="http://schemas.microsoft.com/office/drawing/2014/main" val="555222249"/>
                    </a:ext>
                  </a:extLst>
                </a:gridCol>
                <a:gridCol w="1166237">
                  <a:extLst>
                    <a:ext uri="{9D8B030D-6E8A-4147-A177-3AD203B41FA5}">
                      <a16:colId xmlns="" xmlns:a16="http://schemas.microsoft.com/office/drawing/2014/main" val="2570250666"/>
                    </a:ext>
                  </a:extLst>
                </a:gridCol>
              </a:tblGrid>
              <a:tr h="1476712">
                <a:tc>
                  <a:txBody>
                    <a:bodyPr/>
                    <a:lstStyle/>
                    <a:p>
                      <a:pPr algn="just"/>
                      <a:r>
                        <a:rPr lang="en-IN" sz="1800" dirty="0">
                          <a:latin typeface="Times New Roman" panose="02020603050405020304" pitchFamily="18" charset="0"/>
                          <a:cs typeface="Times New Roman" panose="02020603050405020304" pitchFamily="18" charset="0"/>
                        </a:rPr>
                        <a:t>UTC03</a:t>
                      </a:r>
                    </a:p>
                  </a:txBody>
                  <a:tcPr/>
                </a:tc>
                <a:tc>
                  <a:txBody>
                    <a:bodyPr/>
                    <a:lstStyle/>
                    <a:p>
                      <a:pPr algn="just"/>
                      <a:r>
                        <a:rPr lang="en-IN" sz="1800">
                          <a:latin typeface="Times New Roman" panose="02020603050405020304" pitchFamily="18" charset="0"/>
                          <a:cs typeface="Times New Roman" panose="02020603050405020304" pitchFamily="18" charset="0"/>
                        </a:rPr>
                        <a:t>Form Validation (Registration &amp; Login)</a:t>
                      </a:r>
                    </a:p>
                  </a:txBody>
                  <a:tcPr/>
                </a:tc>
                <a:tc>
                  <a:txBody>
                    <a:bodyPr/>
                    <a:lstStyle/>
                    <a:p>
                      <a:pPr algn="just"/>
                      <a:r>
                        <a:rPr lang="en-IN" sz="1800" dirty="0">
                          <a:latin typeface="Times New Roman" panose="02020603050405020304" pitchFamily="18" charset="0"/>
                          <a:cs typeface="Times New Roman" panose="02020603050405020304" pitchFamily="18" charset="0"/>
                        </a:rPr>
                        <a:t>To validate input data for </a:t>
                      </a:r>
                      <a:r>
                        <a:rPr lang="en-IN" sz="1800" dirty="0" err="1">
                          <a:latin typeface="Times New Roman" panose="02020603050405020304" pitchFamily="18" charset="0"/>
                          <a:cs typeface="Times New Roman" panose="02020603050405020304" pitchFamily="18" charset="0"/>
                        </a:rPr>
                        <a:t>RegistrationForm</a:t>
                      </a:r>
                      <a:r>
                        <a:rPr lang="en-IN" sz="1800" dirty="0">
                          <a:latin typeface="Times New Roman" panose="02020603050405020304" pitchFamily="18" charset="0"/>
                          <a:cs typeface="Times New Roman" panose="02020603050405020304" pitchFamily="18" charset="0"/>
                        </a:rPr>
                        <a:t> and </a:t>
                      </a:r>
                      <a:r>
                        <a:rPr lang="en-IN" sz="1800" dirty="0" err="1">
                          <a:latin typeface="Times New Roman" panose="02020603050405020304" pitchFamily="18" charset="0"/>
                          <a:cs typeface="Times New Roman" panose="02020603050405020304" pitchFamily="18" charset="0"/>
                        </a:rPr>
                        <a:t>LoginForm</a:t>
                      </a:r>
                      <a:r>
                        <a:rPr lang="en-IN" sz="1800" dirty="0">
                          <a:latin typeface="Times New Roman" panose="02020603050405020304" pitchFamily="18" charset="0"/>
                          <a:cs typeface="Times New Roman" panose="02020603050405020304" pitchFamily="18" charset="0"/>
                        </a:rPr>
                        <a:t>.</a:t>
                      </a:r>
                    </a:p>
                  </a:txBody>
                  <a:tcPr/>
                </a:tc>
                <a:tc>
                  <a:txBody>
                    <a:bodyPr/>
                    <a:lstStyle/>
                    <a:p>
                      <a:pPr algn="just"/>
                      <a:r>
                        <a:rPr lang="en-US" sz="1800">
                          <a:latin typeface="Times New Roman" panose="02020603050405020304" pitchFamily="18" charset="0"/>
                          <a:cs typeface="Times New Roman" panose="02020603050405020304" pitchFamily="18" charset="0"/>
                        </a:rPr>
                        <a:t>Valid/invalid email, password, and username combinations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Forms accept valid inputs, reject invalid/duplicate entries.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Validation and error handling performed as expected.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3136290158"/>
                  </a:ext>
                </a:extLst>
              </a:tr>
              <a:tr h="1943042">
                <a:tc>
                  <a:txBody>
                    <a:bodyPr/>
                    <a:lstStyle/>
                    <a:p>
                      <a:pPr algn="just"/>
                      <a:r>
                        <a:rPr lang="en-IN" sz="1800">
                          <a:latin typeface="Times New Roman" panose="02020603050405020304" pitchFamily="18" charset="0"/>
                          <a:cs typeface="Times New Roman" panose="02020603050405020304" pitchFamily="18" charset="0"/>
                        </a:rPr>
                        <a:t>UTC04</a:t>
                      </a:r>
                    </a:p>
                  </a:txBody>
                  <a:tcPr/>
                </a:tc>
                <a:tc>
                  <a:txBody>
                    <a:bodyPr/>
                    <a:lstStyle/>
                    <a:p>
                      <a:pPr algn="just"/>
                      <a:r>
                        <a:rPr lang="en-IN" sz="1800">
                          <a:latin typeface="Times New Roman" panose="02020603050405020304" pitchFamily="18" charset="0"/>
                          <a:cs typeface="Times New Roman" panose="02020603050405020304" pitchFamily="18" charset="0"/>
                        </a:rPr>
                        <a:t>EEG Data Preprocessing</a:t>
                      </a:r>
                    </a:p>
                  </a:txBody>
                  <a:tcPr/>
                </a:tc>
                <a:tc>
                  <a:txBody>
                    <a:bodyPr/>
                    <a:lstStyle/>
                    <a:p>
                      <a:pPr algn="just"/>
                      <a:r>
                        <a:rPr lang="en-US" sz="1800" dirty="0">
                          <a:latin typeface="Times New Roman" panose="02020603050405020304" pitchFamily="18" charset="0"/>
                          <a:cs typeface="Times New Roman" panose="02020603050405020304" pitchFamily="18" charset="0"/>
                        </a:rPr>
                        <a:t>To verify preprocessing steps using MNE-Python functions.</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EEG </a:t>
                      </a:r>
                      <a:r>
                        <a:rPr lang="en-US" sz="1800" kern="1200">
                          <a:solidFill>
                            <a:schemeClr val="tx1"/>
                          </a:solidFill>
                          <a:latin typeface="Times New Roman" panose="02020603050405020304" pitchFamily="18" charset="0"/>
                          <a:ea typeface="+mn-ea"/>
                          <a:cs typeface="Times New Roman" panose="02020603050405020304" pitchFamily="18" charset="0"/>
                        </a:rPr>
                        <a:t>.edf</a:t>
                      </a:r>
                      <a:r>
                        <a:rPr lang="en-US" sz="1800">
                          <a:latin typeface="Times New Roman" panose="02020603050405020304" pitchFamily="18" charset="0"/>
                          <a:cs typeface="Times New Roman" panose="02020603050405020304" pitchFamily="18" charset="0"/>
                        </a:rPr>
                        <a:t> files (valid and invalid)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Data loaded, filtered (0.5–45 Hz), resampled to 256 Hz, ICA applied, normalized, and windowed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Each preprocessing function executed correctly, invalid files handled gracefully.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1735844990"/>
                  </a:ext>
                </a:extLst>
              </a:tr>
              <a:tr h="1476712">
                <a:tc>
                  <a:txBody>
                    <a:bodyPr/>
                    <a:lstStyle/>
                    <a:p>
                      <a:pPr algn="just"/>
                      <a:r>
                        <a:rPr lang="en-IN" sz="1800">
                          <a:latin typeface="Times New Roman" panose="02020603050405020304" pitchFamily="18" charset="0"/>
                          <a:cs typeface="Times New Roman" panose="02020603050405020304" pitchFamily="18" charset="0"/>
                        </a:rPr>
                        <a:t>UTC05</a:t>
                      </a:r>
                    </a:p>
                  </a:txBody>
                  <a:tcPr/>
                </a:tc>
                <a:tc>
                  <a:txBody>
                    <a:bodyPr/>
                    <a:lstStyle/>
                    <a:p>
                      <a:pPr algn="just"/>
                      <a:r>
                        <a:rPr lang="en-US" sz="1800">
                          <a:latin typeface="Times New Roman" panose="02020603050405020304" pitchFamily="18" charset="0"/>
                          <a:cs typeface="Times New Roman" panose="02020603050405020304" pitchFamily="18" charset="0"/>
                        </a:rPr>
                        <a:t>Keras Model Loading and Prediction</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To ensure model loads and performs prediction with correct input shape.</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Dummy EEG input of shape (1, 19, 256)</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Model loads successfully and returns valid prediction output.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loaded without error and predicted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554589556"/>
                  </a:ext>
                </a:extLst>
              </a:tr>
            </a:tbl>
          </a:graphicData>
        </a:graphic>
      </p:graphicFrame>
    </p:spTree>
    <p:extLst>
      <p:ext uri="{BB962C8B-B14F-4D97-AF65-F5344CB8AC3E}">
        <p14:creationId xmlns:p14="http://schemas.microsoft.com/office/powerpoint/2010/main" val="7944671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B1A6778-98A9-D137-31A4-2AFD88081549}"/>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BB56D72A-20B4-1A6E-A484-407E8E2369B5}"/>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449A58F1-6F15-8F99-8724-35C80E3AF8B4}"/>
              </a:ext>
            </a:extLst>
          </p:cNvPr>
          <p:cNvSpPr>
            <a:spLocks noGrp="1"/>
          </p:cNvSpPr>
          <p:nvPr>
            <p:ph type="sldNum" sz="quarter" idx="12"/>
          </p:nvPr>
        </p:nvSpPr>
        <p:spPr/>
        <p:txBody>
          <a:bodyPr/>
          <a:lstStyle/>
          <a:p>
            <a:fld id="{69FBB93A-4B32-4007-AACF-5243CED557C7}" type="slidenum">
              <a:rPr lang="en-IN" smtClean="0"/>
              <a:t>18</a:t>
            </a:fld>
            <a:endParaRPr lang="en-IN"/>
          </a:p>
        </p:txBody>
      </p:sp>
      <p:pic>
        <p:nvPicPr>
          <p:cNvPr id="5" name="Picture 4">
            <a:extLst>
              <a:ext uri="{FF2B5EF4-FFF2-40B4-BE49-F238E27FC236}">
                <a16:creationId xmlns="" xmlns:a16="http://schemas.microsoft.com/office/drawing/2014/main" id="{67E20912-2923-FA0D-780F-E13C1B96DCE4}"/>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7" name="TextBox 6">
            <a:extLst>
              <a:ext uri="{FF2B5EF4-FFF2-40B4-BE49-F238E27FC236}">
                <a16:creationId xmlns="" xmlns:a16="http://schemas.microsoft.com/office/drawing/2014/main" id="{FB9AF70B-F2D5-0CE8-FDD8-8D6DB2E42FD9}"/>
              </a:ext>
            </a:extLst>
          </p:cNvPr>
          <p:cNvSpPr txBox="1"/>
          <p:nvPr/>
        </p:nvSpPr>
        <p:spPr>
          <a:xfrm>
            <a:off x="88490" y="33091"/>
            <a:ext cx="905551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9" name="TextBox 8">
            <a:extLst>
              <a:ext uri="{FF2B5EF4-FFF2-40B4-BE49-F238E27FC236}">
                <a16:creationId xmlns="" xmlns:a16="http://schemas.microsoft.com/office/drawing/2014/main" id="{2E3A957D-3E79-E1D9-623B-010246A6703B}"/>
              </a:ext>
            </a:extLst>
          </p:cNvPr>
          <p:cNvSpPr txBox="1"/>
          <p:nvPr/>
        </p:nvSpPr>
        <p:spPr>
          <a:xfrm>
            <a:off x="727586" y="491613"/>
            <a:ext cx="8416413" cy="458074"/>
          </a:xfrm>
          <a:prstGeom prst="rect">
            <a:avLst/>
          </a:prstGeom>
          <a:noFill/>
        </p:spPr>
        <p:txBody>
          <a:bodyPr wrap="square">
            <a:spAutoFit/>
          </a:bodyPr>
          <a:lstStyle/>
          <a:p>
            <a:pPr algn="just">
              <a:lnSpc>
                <a:spcPct val="150000"/>
              </a:lnSpc>
            </a:pPr>
            <a:r>
              <a:rPr lang="en-US" b="1">
                <a:latin typeface="Times New Roman" panose="02020603050405020304" pitchFamily="18" charset="0"/>
                <a:cs typeface="Times New Roman" panose="02020603050405020304" pitchFamily="18" charset="0"/>
              </a:rPr>
              <a:t>  2. INTEGRATED TESTING</a:t>
            </a:r>
            <a:r>
              <a:rPr lang="en-US" sz="1800" b="1">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 xmlns:a16="http://schemas.microsoft.com/office/drawing/2014/main" id="{8EBA19E5-BD7E-FB2A-9C8F-D8A33092B6BA}"/>
              </a:ext>
            </a:extLst>
          </p:cNvPr>
          <p:cNvGraphicFramePr>
            <a:graphicFrameLocks noGrp="1"/>
          </p:cNvGraphicFramePr>
          <p:nvPr>
            <p:extLst>
              <p:ext uri="{D42A27DB-BD31-4B8C-83A1-F6EECF244321}">
                <p14:modId xmlns:p14="http://schemas.microsoft.com/office/powerpoint/2010/main" val="617424601"/>
              </p:ext>
            </p:extLst>
          </p:nvPr>
        </p:nvGraphicFramePr>
        <p:xfrm>
          <a:off x="870821" y="1405375"/>
          <a:ext cx="9901082" cy="4353258"/>
        </p:xfrm>
        <a:graphic>
          <a:graphicData uri="http://schemas.openxmlformats.org/drawingml/2006/table">
            <a:tbl>
              <a:tblPr firstRow="1" bandRow="1">
                <a:tableStyleId>{5940675A-B579-460E-94D1-54222C63F5DA}</a:tableStyleId>
              </a:tblPr>
              <a:tblGrid>
                <a:gridCol w="2480842">
                  <a:extLst>
                    <a:ext uri="{9D8B030D-6E8A-4147-A177-3AD203B41FA5}">
                      <a16:colId xmlns="" xmlns:a16="http://schemas.microsoft.com/office/drawing/2014/main" val="4101911043"/>
                    </a:ext>
                  </a:extLst>
                </a:gridCol>
                <a:gridCol w="7420240">
                  <a:extLst>
                    <a:ext uri="{9D8B030D-6E8A-4147-A177-3AD203B41FA5}">
                      <a16:colId xmlns="" xmlns:a16="http://schemas.microsoft.com/office/drawing/2014/main" val="2587503188"/>
                    </a:ext>
                  </a:extLst>
                </a:gridCol>
              </a:tblGrid>
              <a:tr h="522719">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ITC01</a:t>
                      </a:r>
                    </a:p>
                  </a:txBody>
                  <a:tcPr/>
                </a:tc>
                <a:extLst>
                  <a:ext uri="{0D108BD9-81ED-4DB2-BD59-A6C34878D82A}">
                    <a16:rowId xmlns="" xmlns:a16="http://schemas.microsoft.com/office/drawing/2014/main" val="3863623940"/>
                  </a:ext>
                </a:extLst>
              </a:tr>
              <a:tr h="522719">
                <a:tc>
                  <a:txBody>
                    <a:bodyPr/>
                    <a:lstStyle/>
                    <a:p>
                      <a:pPr algn="just"/>
                      <a:r>
                        <a:rPr lang="en-US">
                          <a:latin typeface="Times New Roman" panose="02020603050405020304" pitchFamily="18" charset="0"/>
                          <a:cs typeface="Times New Roman" panose="02020603050405020304" pitchFamily="18" charset="0"/>
                        </a:rPr>
                        <a:t>Test Name</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Module Interaction and Data Flow Validation</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348611462"/>
                  </a:ext>
                </a:extLst>
              </a:tr>
              <a:tr h="673548">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To verify that integrated modules function correctly and data flows seamlessly between system components.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79092334"/>
                  </a:ext>
                </a:extLst>
              </a:tr>
              <a:tr h="522719">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User registration, login, EEG file upload, and prediction requests.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262227948"/>
                  </a:ext>
                </a:extLst>
              </a:tr>
              <a:tr h="915286">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Successful user creation and authentication, proper preprocessing of EEG data, and accurate model prediction with a JSON response.</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072077399"/>
                  </a:ext>
                </a:extLst>
              </a:tr>
              <a:tr h="673548">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All modules interacted </a:t>
                      </a:r>
                      <a:r>
                        <a:rPr lang="en-US" dirty="0" smtClean="0">
                          <a:latin typeface="Times New Roman" panose="02020603050405020304" pitchFamily="18" charset="0"/>
                          <a:cs typeface="Times New Roman" panose="02020603050405020304" pitchFamily="18" charset="0"/>
                        </a:rPr>
                        <a:t>correctly-registration</a:t>
                      </a:r>
                      <a:r>
                        <a:rPr lang="en-US" dirty="0">
                          <a:latin typeface="Times New Roman" panose="02020603050405020304" pitchFamily="18" charset="0"/>
                          <a:cs typeface="Times New Roman" panose="02020603050405020304" pitchFamily="18" charset="0"/>
                        </a:rPr>
                        <a:t>, login, preprocessing, and prediction executed smoothly with consistent data flow.</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96254971"/>
                  </a:ext>
                </a:extLst>
              </a:tr>
              <a:tr h="522719">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4268969255"/>
                  </a:ext>
                </a:extLst>
              </a:tr>
            </a:tbl>
          </a:graphicData>
        </a:graphic>
      </p:graphicFrame>
    </p:spTree>
    <p:extLst>
      <p:ext uri="{BB962C8B-B14F-4D97-AF65-F5344CB8AC3E}">
        <p14:creationId xmlns:p14="http://schemas.microsoft.com/office/powerpoint/2010/main" val="4196932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CF42BB0-4511-BDF1-9FB9-8470FE772DF4}"/>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A96C4161-1A61-8964-F438-26AABD9EB5F2}"/>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F7301E68-33C9-0A3F-EA2A-521CB3D916B7}"/>
              </a:ext>
            </a:extLst>
          </p:cNvPr>
          <p:cNvSpPr>
            <a:spLocks noGrp="1"/>
          </p:cNvSpPr>
          <p:nvPr>
            <p:ph type="sldNum" sz="quarter" idx="12"/>
          </p:nvPr>
        </p:nvSpPr>
        <p:spPr/>
        <p:txBody>
          <a:bodyPr/>
          <a:lstStyle/>
          <a:p>
            <a:fld id="{69FBB93A-4B32-4007-AACF-5243CED557C7}" type="slidenum">
              <a:rPr lang="en-IN" smtClean="0"/>
              <a:t>19</a:t>
            </a:fld>
            <a:endParaRPr lang="en-IN"/>
          </a:p>
        </p:txBody>
      </p:sp>
      <p:pic>
        <p:nvPicPr>
          <p:cNvPr id="6" name="Picture 5">
            <a:extLst>
              <a:ext uri="{FF2B5EF4-FFF2-40B4-BE49-F238E27FC236}">
                <a16:creationId xmlns="" xmlns:a16="http://schemas.microsoft.com/office/drawing/2014/main" id="{4433ABB4-F256-72DD-D568-C78F7DA813C7}"/>
              </a:ext>
            </a:extLst>
          </p:cNvPr>
          <p:cNvPicPr>
            <a:picLocks noChangeAspect="1"/>
          </p:cNvPicPr>
          <p:nvPr/>
        </p:nvPicPr>
        <p:blipFill>
          <a:blip r:embed="rId2"/>
          <a:stretch>
            <a:fillRect/>
          </a:stretch>
        </p:blipFill>
        <p:spPr>
          <a:xfrm>
            <a:off x="10421908" y="129663"/>
            <a:ext cx="1581150" cy="876300"/>
          </a:xfrm>
          <a:prstGeom prst="rect">
            <a:avLst/>
          </a:prstGeom>
        </p:spPr>
      </p:pic>
      <p:sp>
        <p:nvSpPr>
          <p:cNvPr id="8" name="TextBox 7">
            <a:extLst>
              <a:ext uri="{FF2B5EF4-FFF2-40B4-BE49-F238E27FC236}">
                <a16:creationId xmlns="" xmlns:a16="http://schemas.microsoft.com/office/drawing/2014/main" id="{8F7A9D0E-12E8-4486-F1C3-61286C52E12E}"/>
              </a:ext>
            </a:extLst>
          </p:cNvPr>
          <p:cNvSpPr txBox="1"/>
          <p:nvPr/>
        </p:nvSpPr>
        <p:spPr>
          <a:xfrm>
            <a:off x="188942" y="129663"/>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0" name="TextBox 9">
            <a:extLst>
              <a:ext uri="{FF2B5EF4-FFF2-40B4-BE49-F238E27FC236}">
                <a16:creationId xmlns="" xmlns:a16="http://schemas.microsoft.com/office/drawing/2014/main" id="{48549707-46E4-08DF-3A41-21ACD84443F2}"/>
              </a:ext>
            </a:extLst>
          </p:cNvPr>
          <p:cNvSpPr txBox="1"/>
          <p:nvPr/>
        </p:nvSpPr>
        <p:spPr>
          <a:xfrm>
            <a:off x="511277" y="707923"/>
            <a:ext cx="8632723" cy="369332"/>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3. SYSTEM TESTING</a:t>
            </a:r>
            <a:r>
              <a:rPr lang="en-US" sz="1800" b="1">
                <a:latin typeface="Times New Roman" panose="02020603050405020304" pitchFamily="18" charset="0"/>
                <a:cs typeface="Times New Roman" panose="02020603050405020304" pitchFamily="18" charset="0"/>
              </a:rPr>
              <a:t>:</a:t>
            </a:r>
            <a:endParaRPr lang="en-IN"/>
          </a:p>
        </p:txBody>
      </p:sp>
      <p:graphicFrame>
        <p:nvGraphicFramePr>
          <p:cNvPr id="11" name="Table 10">
            <a:extLst>
              <a:ext uri="{FF2B5EF4-FFF2-40B4-BE49-F238E27FC236}">
                <a16:creationId xmlns="" xmlns:a16="http://schemas.microsoft.com/office/drawing/2014/main" id="{535CD2C8-6F92-B7BB-6082-C02C3CC49E80}"/>
              </a:ext>
            </a:extLst>
          </p:cNvPr>
          <p:cNvGraphicFramePr>
            <a:graphicFrameLocks noGrp="1"/>
          </p:cNvGraphicFramePr>
          <p:nvPr>
            <p:extLst>
              <p:ext uri="{D42A27DB-BD31-4B8C-83A1-F6EECF244321}">
                <p14:modId xmlns:p14="http://schemas.microsoft.com/office/powerpoint/2010/main" val="1766977110"/>
              </p:ext>
            </p:extLst>
          </p:nvPr>
        </p:nvGraphicFramePr>
        <p:xfrm>
          <a:off x="963561" y="1440072"/>
          <a:ext cx="10034484" cy="4739764"/>
        </p:xfrm>
        <a:graphic>
          <a:graphicData uri="http://schemas.openxmlformats.org/drawingml/2006/table">
            <a:tbl>
              <a:tblPr firstRow="1" bandRow="1">
                <a:tableStyleId>{5940675A-B579-460E-94D1-54222C63F5DA}</a:tableStyleId>
              </a:tblPr>
              <a:tblGrid>
                <a:gridCol w="2514268">
                  <a:extLst>
                    <a:ext uri="{9D8B030D-6E8A-4147-A177-3AD203B41FA5}">
                      <a16:colId xmlns="" xmlns:a16="http://schemas.microsoft.com/office/drawing/2014/main" val="3005879196"/>
                    </a:ext>
                  </a:extLst>
                </a:gridCol>
                <a:gridCol w="7520216">
                  <a:extLst>
                    <a:ext uri="{9D8B030D-6E8A-4147-A177-3AD203B41FA5}">
                      <a16:colId xmlns="" xmlns:a16="http://schemas.microsoft.com/office/drawing/2014/main" val="1907071217"/>
                    </a:ext>
                  </a:extLst>
                </a:gridCol>
              </a:tblGrid>
              <a:tr h="527404">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STC01</a:t>
                      </a:r>
                    </a:p>
                  </a:txBody>
                  <a:tcPr/>
                </a:tc>
                <a:extLst>
                  <a:ext uri="{0D108BD9-81ED-4DB2-BD59-A6C34878D82A}">
                    <a16:rowId xmlns="" xmlns:a16="http://schemas.microsoft.com/office/drawing/2014/main" val="4226530917"/>
                  </a:ext>
                </a:extLst>
              </a:tr>
              <a:tr h="527404">
                <a:tc>
                  <a:txBody>
                    <a:bodyPr/>
                    <a:lstStyle/>
                    <a:p>
                      <a:pPr algn="just"/>
                      <a:r>
                        <a:rPr lang="en-US" dirty="0">
                          <a:latin typeface="Times New Roman" panose="02020603050405020304" pitchFamily="18" charset="0"/>
                          <a:cs typeface="Times New Roman" panose="02020603050405020304" pitchFamily="18" charset="0"/>
                        </a:rPr>
                        <a:t>Test Name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End-to-End System Functionality Validation</a:t>
                      </a:r>
                    </a:p>
                  </a:txBody>
                  <a:tcPr/>
                </a:tc>
                <a:extLst>
                  <a:ext uri="{0D108BD9-81ED-4DB2-BD59-A6C34878D82A}">
                    <a16:rowId xmlns="" xmlns:a16="http://schemas.microsoft.com/office/drawing/2014/main" val="415313301"/>
                  </a:ext>
                </a:extLst>
              </a:tr>
              <a:tr h="896895">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To verify that the fully integrated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Analyzer performs all operations correctly under real-world conditions, including data upload, analysis, and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291119884"/>
                  </a:ext>
                </a:extLst>
              </a:tr>
              <a:tr h="627827">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EEG </a:t>
                      </a:r>
                      <a:r>
                        <a:rPr lang="en-US" sz="1800" kern="1200" dirty="0">
                          <a:solidFill>
                            <a:schemeClr val="tx1"/>
                          </a:solidFill>
                          <a:latin typeface="Times New Roman" panose="02020603050405020304" pitchFamily="18" charset="0"/>
                          <a:ea typeface="+mn-ea"/>
                          <a:cs typeface="Times New Roman" panose="02020603050405020304" pitchFamily="18" charset="0"/>
                        </a:rPr>
                        <a:t>.</a:t>
                      </a:r>
                      <a:r>
                        <a:rPr lang="en-US" sz="1800" kern="1200" dirty="0" err="1">
                          <a:solidFill>
                            <a:schemeClr val="tx1"/>
                          </a:solidFill>
                          <a:latin typeface="Times New Roman" panose="02020603050405020304" pitchFamily="18" charset="0"/>
                          <a:ea typeface="+mn-ea"/>
                          <a:cs typeface="Times New Roman" panose="02020603050405020304" pitchFamily="18" charset="0"/>
                        </a:rPr>
                        <a:t>edf</a:t>
                      </a:r>
                      <a:r>
                        <a:rPr lang="en-US" dirty="0">
                          <a:latin typeface="Times New Roman" panose="02020603050405020304" pitchFamily="18" charset="0"/>
                          <a:cs typeface="Times New Roman" panose="02020603050405020304" pitchFamily="18" charset="0"/>
                        </a:rPr>
                        <a:t> files (both healthy and depressed datasets) uploaded by registered users.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750016052"/>
                  </a:ext>
                </a:extLst>
              </a:tr>
              <a:tr h="923488">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The system should successfully complete the full workflow — registration, login, file upload, analysis, result display, and logout — with accurate depression predictions and stable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519647422"/>
                  </a:ext>
                </a:extLst>
              </a:tr>
              <a:tr h="679584">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The complete workflow was executed successfully with consistent and accurate predictions; system remained stable under load.</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070077468"/>
                  </a:ext>
                </a:extLst>
              </a:tr>
              <a:tr h="527404">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2583853028"/>
                  </a:ext>
                </a:extLst>
              </a:tr>
            </a:tbl>
          </a:graphicData>
        </a:graphic>
      </p:graphicFrame>
    </p:spTree>
    <p:extLst>
      <p:ext uri="{BB962C8B-B14F-4D97-AF65-F5344CB8AC3E}">
        <p14:creationId xmlns:p14="http://schemas.microsoft.com/office/powerpoint/2010/main" val="18468196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A7ECF11-BF10-C20B-F2A8-EFE66B549121}"/>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D25679D6-7F21-2EC8-B09E-FD0B8C116631}"/>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EF27754C-00E4-1415-6614-A663AD484E25}"/>
              </a:ext>
            </a:extLst>
          </p:cNvPr>
          <p:cNvSpPr>
            <a:spLocks noGrp="1"/>
          </p:cNvSpPr>
          <p:nvPr>
            <p:ph type="sldNum" sz="quarter" idx="12"/>
          </p:nvPr>
        </p:nvSpPr>
        <p:spPr/>
        <p:txBody>
          <a:bodyPr/>
          <a:lstStyle/>
          <a:p>
            <a:fld id="{69FBB93A-4B32-4007-AACF-5243CED557C7}" type="slidenum">
              <a:rPr lang="en-IN" smtClean="0"/>
              <a:t>20</a:t>
            </a:fld>
            <a:endParaRPr lang="en-IN"/>
          </a:p>
        </p:txBody>
      </p:sp>
      <p:sp>
        <p:nvSpPr>
          <p:cNvPr id="6" name="TextBox 5">
            <a:extLst>
              <a:ext uri="{FF2B5EF4-FFF2-40B4-BE49-F238E27FC236}">
                <a16:creationId xmlns="" xmlns:a16="http://schemas.microsoft.com/office/drawing/2014/main" id="{DB49A4E2-0FA8-B34A-1786-480595341CF0}"/>
              </a:ext>
            </a:extLst>
          </p:cNvPr>
          <p:cNvSpPr txBox="1"/>
          <p:nvPr/>
        </p:nvSpPr>
        <p:spPr>
          <a:xfrm>
            <a:off x="3348756" y="184203"/>
            <a:ext cx="6213987" cy="430887"/>
          </a:xfrm>
          <a:prstGeom prst="rect">
            <a:avLst/>
          </a:prstGeom>
          <a:noFill/>
        </p:spPr>
        <p:txBody>
          <a:bodyPr wrap="square">
            <a:spAutoFit/>
          </a:bodyPr>
          <a:lstStyle/>
          <a:p>
            <a:pPr marL="0" algn="ctr" rtl="0" eaLnBrk="1" latinLnBrk="0" hangingPunct="1">
              <a:buNone/>
            </a:pPr>
            <a:r>
              <a:rPr lang="en-IN" sz="2200" b="1" dirty="0">
                <a:solidFill>
                  <a:srgbClr val="000000"/>
                </a:solidFill>
                <a:effectLst/>
                <a:latin typeface="Times New Roman" panose="02020603050405020304" pitchFamily="18" charset="0"/>
                <a:cs typeface="Times New Roman" panose="02020603050405020304" pitchFamily="18" charset="0"/>
              </a:rPr>
              <a:t>SCREEN SHOTS OF OUTPUT</a:t>
            </a:r>
            <a:endParaRPr lang="en-IN" sz="2200" dirty="0">
              <a:effectLst/>
            </a:endParaRPr>
          </a:p>
        </p:txBody>
      </p:sp>
      <p:pic>
        <p:nvPicPr>
          <p:cNvPr id="8" name="Picture 7">
            <a:extLst>
              <a:ext uri="{FF2B5EF4-FFF2-40B4-BE49-F238E27FC236}">
                <a16:creationId xmlns="" xmlns:a16="http://schemas.microsoft.com/office/drawing/2014/main" id="{FE1CDDB7-9CBD-59FA-B95B-B3D420A20305}"/>
              </a:ext>
            </a:extLst>
          </p:cNvPr>
          <p:cNvPicPr>
            <a:picLocks noChangeAspect="1"/>
          </p:cNvPicPr>
          <p:nvPr/>
        </p:nvPicPr>
        <p:blipFill>
          <a:blip r:embed="rId2"/>
          <a:stretch>
            <a:fillRect/>
          </a:stretch>
        </p:blipFill>
        <p:spPr>
          <a:xfrm>
            <a:off x="10421908" y="257361"/>
            <a:ext cx="1581150" cy="876300"/>
          </a:xfrm>
          <a:prstGeom prst="rect">
            <a:avLst/>
          </a:prstGeom>
        </p:spPr>
      </p:pic>
      <p:sp>
        <p:nvSpPr>
          <p:cNvPr id="10" name="TextBox 9">
            <a:extLst>
              <a:ext uri="{FF2B5EF4-FFF2-40B4-BE49-F238E27FC236}">
                <a16:creationId xmlns="" xmlns:a16="http://schemas.microsoft.com/office/drawing/2014/main" id="{AE31D2FE-0281-4F40-FEA6-F12CC3856CF4}"/>
              </a:ext>
            </a:extLst>
          </p:cNvPr>
          <p:cNvSpPr txBox="1"/>
          <p:nvPr/>
        </p:nvSpPr>
        <p:spPr>
          <a:xfrm>
            <a:off x="188942" y="33091"/>
            <a:ext cx="8955058"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942" y="399646"/>
            <a:ext cx="3904419" cy="2657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66471" y="615090"/>
            <a:ext cx="3537960" cy="2243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8942" y="3179036"/>
            <a:ext cx="5207297" cy="2803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04431" y="2041957"/>
            <a:ext cx="3981450" cy="394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67893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Dept of AI&amp;DS, SJCIT</a:t>
            </a:r>
            <a:endParaRPr lang="en-IN"/>
          </a:p>
        </p:txBody>
      </p:sp>
      <p:sp>
        <p:nvSpPr>
          <p:cNvPr id="3" name="Footer Placeholder 2"/>
          <p:cNvSpPr>
            <a:spLocks noGrp="1"/>
          </p:cNvSpPr>
          <p:nvPr>
            <p:ph type="ftr" sz="quarter" idx="11"/>
          </p:nvPr>
        </p:nvSpPr>
        <p:spPr/>
        <p:txBody>
          <a:bodyPr/>
          <a:lstStyle/>
          <a:p>
            <a:r>
              <a:rPr lang="en-IN"/>
              <a:t>2025-26</a:t>
            </a:r>
          </a:p>
        </p:txBody>
      </p:sp>
      <p:sp>
        <p:nvSpPr>
          <p:cNvPr id="4" name="Slide Number Placeholder 3"/>
          <p:cNvSpPr>
            <a:spLocks noGrp="1"/>
          </p:cNvSpPr>
          <p:nvPr>
            <p:ph type="sldNum" sz="quarter" idx="12"/>
          </p:nvPr>
        </p:nvSpPr>
        <p:spPr/>
        <p:txBody>
          <a:bodyPr/>
          <a:lstStyle/>
          <a:p>
            <a:fld id="{69FBB93A-4B32-4007-AACF-5243CED557C7}" type="slidenum">
              <a:rPr lang="en-IN" smtClean="0"/>
              <a:t>21</a:t>
            </a:fld>
            <a:endParaRPr lang="en-IN"/>
          </a:p>
        </p:txBody>
      </p:sp>
      <p:sp>
        <p:nvSpPr>
          <p:cNvPr id="6" name="TextBox 5"/>
          <p:cNvSpPr txBox="1"/>
          <p:nvPr/>
        </p:nvSpPr>
        <p:spPr>
          <a:xfrm>
            <a:off x="3781487" y="902070"/>
            <a:ext cx="2983107" cy="584775"/>
          </a:xfrm>
          <a:prstGeom prst="rect">
            <a:avLst/>
          </a:prstGeom>
          <a:noFill/>
        </p:spPr>
        <p:txBody>
          <a:bodyPr wrap="square" rtlCol="0">
            <a:spAutoFit/>
          </a:bodyPr>
          <a:lstStyle/>
          <a:p>
            <a:pPr algn="ctr"/>
            <a:r>
              <a:rPr lang="en-IN" sz="3200" b="1">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 xmlns:a16="http://schemas.microsoft.com/office/drawing/2014/main" id="{2C7645C5-BDE1-C773-C9DA-201CFB331CAF}"/>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10" name="TextBox 9">
            <a:extLst>
              <a:ext uri="{FF2B5EF4-FFF2-40B4-BE49-F238E27FC236}">
                <a16:creationId xmlns="" xmlns:a16="http://schemas.microsoft.com/office/drawing/2014/main" id="{57B5B744-E182-4EBB-D187-132908CFDDD1}"/>
              </a:ext>
            </a:extLst>
          </p:cNvPr>
          <p:cNvSpPr txBox="1"/>
          <p:nvPr/>
        </p:nvSpPr>
        <p:spPr>
          <a:xfrm>
            <a:off x="176981" y="192843"/>
            <a:ext cx="8967019"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16" name="TextBox 15">
            <a:extLst>
              <a:ext uri="{FF2B5EF4-FFF2-40B4-BE49-F238E27FC236}">
                <a16:creationId xmlns="" xmlns:a16="http://schemas.microsoft.com/office/drawing/2014/main" id="{C6FEA68A-ED9C-864F-383E-4F4A2AE3BB89}"/>
              </a:ext>
            </a:extLst>
          </p:cNvPr>
          <p:cNvSpPr txBox="1"/>
          <p:nvPr/>
        </p:nvSpPr>
        <p:spPr>
          <a:xfrm>
            <a:off x="1021572" y="1980628"/>
            <a:ext cx="10323871" cy="2535566"/>
          </a:xfrm>
          <a:prstGeom prst="rect">
            <a:avLst/>
          </a:prstGeom>
          <a:noFill/>
        </p:spPr>
        <p:txBody>
          <a:bodyPr wrap="square">
            <a:spAutoFit/>
          </a:bodyPr>
          <a:lstStyle/>
          <a:p>
            <a:pPr algn="just">
              <a:lnSpc>
                <a:spcPct val="150000"/>
              </a:lnSpc>
            </a:pPr>
            <a:r>
              <a:rPr lang="en-US" b="1"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is a hybrid deep learning model combining </a:t>
            </a:r>
            <a:r>
              <a:rPr lang="en-US" b="1" dirty="0">
                <a:latin typeface="Times New Roman" panose="02020603050405020304" pitchFamily="18" charset="0"/>
                <a:cs typeface="Times New Roman" panose="02020603050405020304" pitchFamily="18" charset="0"/>
              </a:rPr>
              <a:t>CNN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LSTM</a:t>
            </a:r>
            <a:r>
              <a:rPr lang="en-US" dirty="0">
                <a:latin typeface="Times New Roman" panose="02020603050405020304" pitchFamily="18" charset="0"/>
                <a:cs typeface="Times New Roman" panose="02020603050405020304" pitchFamily="18" charset="0"/>
              </a:rPr>
              <a:t>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a:t>
            </a:r>
            <a:r>
              <a:rPr lang="en-US" b="1" dirty="0">
                <a:latin typeface="Times New Roman" panose="02020603050405020304" pitchFamily="18" charset="0"/>
                <a:cs typeface="Times New Roman" panose="02020603050405020304" pitchFamily="18" charset="0"/>
              </a:rPr>
              <a:t>computer-aided tool</a:t>
            </a:r>
            <a:r>
              <a:rPr lang="en-US" dirty="0">
                <a:latin typeface="Times New Roman" panose="02020603050405020304" pitchFamily="18" charset="0"/>
                <a:cs typeface="Times New Roman" panose="02020603050405020304" pitchFamily="18" charset="0"/>
              </a:rPr>
              <a:t> for early depression screening. Future improvements can enable </a:t>
            </a:r>
            <a:r>
              <a:rPr lang="en-US" b="1" dirty="0">
                <a:latin typeface="Times New Roman" panose="02020603050405020304" pitchFamily="18" charset="0"/>
                <a:cs typeface="Times New Roman" panose="02020603050405020304" pitchFamily="18" charset="0"/>
              </a:rPr>
              <a:t>severity analysis</a:t>
            </a:r>
            <a:r>
              <a:rPr lang="en-US" dirty="0">
                <a:latin typeface="Times New Roman" panose="02020603050405020304" pitchFamily="18" charset="0"/>
                <a:cs typeface="Times New Roman" panose="02020603050405020304" pitchFamily="18" charset="0"/>
              </a:rPr>
              <a:t>, use of </a:t>
            </a:r>
            <a:r>
              <a:rPr lang="en-US" b="1" dirty="0">
                <a:latin typeface="Times New Roman" panose="02020603050405020304" pitchFamily="18" charset="0"/>
                <a:cs typeface="Times New Roman" panose="02020603050405020304" pitchFamily="18" charset="0"/>
              </a:rPr>
              <a:t>larger datasets</a:t>
            </a:r>
            <a:r>
              <a:rPr lang="en-US" dirty="0">
                <a:latin typeface="Times New Roman" panose="02020603050405020304" pitchFamily="18" charset="0"/>
                <a:cs typeface="Times New Roman" panose="02020603050405020304" pitchFamily="18" charset="0"/>
              </a:rPr>
              <a:t>, and integration with </a:t>
            </a:r>
            <a:r>
              <a:rPr lang="en-US" b="1" dirty="0" err="1">
                <a:latin typeface="Times New Roman" panose="02020603050405020304" pitchFamily="18" charset="0"/>
                <a:cs typeface="Times New Roman" panose="02020603050405020304" pitchFamily="18" charset="0"/>
              </a:rPr>
              <a:t>IoMT</a:t>
            </a:r>
            <a:r>
              <a:rPr lang="en-US" b="1" dirty="0">
                <a:latin typeface="Times New Roman" panose="02020603050405020304" pitchFamily="18" charset="0"/>
                <a:cs typeface="Times New Roman" panose="02020603050405020304" pitchFamily="18" charset="0"/>
              </a:rPr>
              <a:t> systems</a:t>
            </a:r>
            <a:r>
              <a:rPr lang="en-US" dirty="0">
                <a:latin typeface="Times New Roman" panose="02020603050405020304" pitchFamily="18" charset="0"/>
                <a:cs typeface="Times New Roman" panose="02020603050405020304" pitchFamily="18" charset="0"/>
              </a:rPr>
              <a:t> for real-time mental health monitoring.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0348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FFAC728-F0E5-191A-E1C2-F5A564DA7F0B}"/>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60CE99D8-B35F-27AE-C198-C0F468B3AAAB}"/>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FDB5F986-85A7-68EF-0C43-6900F77736A2}"/>
              </a:ext>
            </a:extLst>
          </p:cNvPr>
          <p:cNvSpPr>
            <a:spLocks noGrp="1"/>
          </p:cNvSpPr>
          <p:nvPr>
            <p:ph type="sldNum" sz="quarter" idx="12"/>
          </p:nvPr>
        </p:nvSpPr>
        <p:spPr/>
        <p:txBody>
          <a:bodyPr/>
          <a:lstStyle/>
          <a:p>
            <a:fld id="{69FBB93A-4B32-4007-AACF-5243CED557C7}" type="slidenum">
              <a:rPr lang="en-IN" smtClean="0"/>
              <a:t>22</a:t>
            </a:fld>
            <a:endParaRPr lang="en-IN"/>
          </a:p>
        </p:txBody>
      </p:sp>
      <p:pic>
        <p:nvPicPr>
          <p:cNvPr id="5" name="Picture 4">
            <a:extLst>
              <a:ext uri="{FF2B5EF4-FFF2-40B4-BE49-F238E27FC236}">
                <a16:creationId xmlns="" xmlns:a16="http://schemas.microsoft.com/office/drawing/2014/main" id="{BB1F0A0A-947B-D7D1-26E9-2D8BCC7C86E7}"/>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7" name="TextBox 6">
            <a:extLst>
              <a:ext uri="{FF2B5EF4-FFF2-40B4-BE49-F238E27FC236}">
                <a16:creationId xmlns="" xmlns:a16="http://schemas.microsoft.com/office/drawing/2014/main" id="{F9CAA49D-F24B-99A8-33B2-FA46FAB1B1FE}"/>
              </a:ext>
            </a:extLst>
          </p:cNvPr>
          <p:cNvSpPr txBox="1"/>
          <p:nvPr/>
        </p:nvSpPr>
        <p:spPr>
          <a:xfrm>
            <a:off x="0" y="33091"/>
            <a:ext cx="9144000" cy="215444"/>
          </a:xfrm>
          <a:prstGeom prst="rect">
            <a:avLst/>
          </a:prstGeom>
          <a:noFill/>
        </p:spPr>
        <p:txBody>
          <a:bodyPr wrap="square">
            <a:spAutoFit/>
          </a:bodyPr>
          <a:lstStyle/>
          <a:p>
            <a:pPr marL="0" algn="l" rtl="0" eaLnBrk="1" latinLnBrk="0" hangingPunct="1">
              <a:buNone/>
            </a:pP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a:effectLst/>
            </a:endParaRPr>
          </a:p>
        </p:txBody>
      </p:sp>
      <p:sp>
        <p:nvSpPr>
          <p:cNvPr id="9" name="TextBox 8">
            <a:extLst>
              <a:ext uri="{FF2B5EF4-FFF2-40B4-BE49-F238E27FC236}">
                <a16:creationId xmlns="" xmlns:a16="http://schemas.microsoft.com/office/drawing/2014/main" id="{488BE960-8105-7E13-A1D7-78AAD50DF677}"/>
              </a:ext>
            </a:extLst>
          </p:cNvPr>
          <p:cNvSpPr txBox="1"/>
          <p:nvPr/>
        </p:nvSpPr>
        <p:spPr>
          <a:xfrm>
            <a:off x="2428568" y="891707"/>
            <a:ext cx="5565058" cy="584775"/>
          </a:xfrm>
          <a:prstGeom prst="rect">
            <a:avLst/>
          </a:prstGeom>
          <a:noFill/>
        </p:spPr>
        <p:txBody>
          <a:bodyPr wrap="square">
            <a:spAutoFit/>
          </a:bodyPr>
          <a:lstStyle/>
          <a:p>
            <a:pPr algn="ctr"/>
            <a:r>
              <a:rPr lang="en-IN" sz="3200" b="1">
                <a:latin typeface="Times New Roman" panose="02020603050405020304" pitchFamily="18" charset="0"/>
                <a:cs typeface="Times New Roman" panose="02020603050405020304" pitchFamily="18" charset="0"/>
              </a:rPr>
              <a:t>FUTURE ENHANCEMENT</a:t>
            </a:r>
            <a:endParaRPr lang="en-IN" sz="3200"/>
          </a:p>
        </p:txBody>
      </p:sp>
      <p:sp>
        <p:nvSpPr>
          <p:cNvPr id="11" name="TextBox 10">
            <a:extLst>
              <a:ext uri="{FF2B5EF4-FFF2-40B4-BE49-F238E27FC236}">
                <a16:creationId xmlns="" xmlns:a16="http://schemas.microsoft.com/office/drawing/2014/main" id="{A03B44D0-7534-A9DD-2C6C-61EA4590A3CF}"/>
              </a:ext>
            </a:extLst>
          </p:cNvPr>
          <p:cNvSpPr txBox="1"/>
          <p:nvPr/>
        </p:nvSpPr>
        <p:spPr>
          <a:xfrm>
            <a:off x="998958" y="1883822"/>
            <a:ext cx="9413404"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system can be extended beyond binary classification to estimate </a:t>
            </a:r>
            <a:r>
              <a:rPr lang="en-US" b="1" dirty="0">
                <a:latin typeface="Times New Roman" panose="02020603050405020304" pitchFamily="18" charset="0"/>
                <a:cs typeface="Times New Roman" panose="02020603050405020304" pitchFamily="18" charset="0"/>
              </a:rPr>
              <a:t>depression severity levels</a:t>
            </a:r>
            <a:r>
              <a:rPr lang="en-US" dirty="0">
                <a:latin typeface="Times New Roman" panose="02020603050405020304" pitchFamily="18" charset="0"/>
                <a:cs typeface="Times New Roman" panose="02020603050405020304" pitchFamily="18" charset="0"/>
              </a:rPr>
              <a:t>, providing deeper clinical insights. Incorporating </a:t>
            </a:r>
            <a:r>
              <a:rPr lang="en-US" b="1" dirty="0">
                <a:latin typeface="Times New Roman" panose="02020603050405020304" pitchFamily="18" charset="0"/>
                <a:cs typeface="Times New Roman" panose="02020603050405020304" pitchFamily="18" charset="0"/>
              </a:rPr>
              <a:t>longitudinal EEG monitoring</a:t>
            </a:r>
            <a:r>
              <a:rPr lang="en-US" dirty="0">
                <a:latin typeface="Times New Roman" panose="02020603050405020304" pitchFamily="18" charset="0"/>
                <a:cs typeface="Times New Roman" panose="02020603050405020304" pitchFamily="18" charset="0"/>
              </a:rPr>
              <a:t> enables continuous tracking of treatment response and early relapse detection. By integrating </a:t>
            </a:r>
            <a:r>
              <a:rPr lang="en-US" b="1" dirty="0">
                <a:latin typeface="Times New Roman" panose="02020603050405020304" pitchFamily="18" charset="0"/>
                <a:cs typeface="Times New Roman" panose="02020603050405020304" pitchFamily="18" charset="0"/>
              </a:rPr>
              <a:t>multi-modal data</a:t>
            </a:r>
            <a:r>
              <a:rPr lang="en-US" dirty="0">
                <a:latin typeface="Times New Roman" panose="02020603050405020304" pitchFamily="18" charset="0"/>
                <a:cs typeface="Times New Roman" panose="02020603050405020304" pitchFamily="18" charset="0"/>
              </a:rPr>
              <a:t> such as EEG signals, heart rate variability, speech patterns, and facial micro-expressions, the system can offer a more </a:t>
            </a:r>
            <a:r>
              <a:rPr lang="en-US" b="1" dirty="0">
                <a:latin typeface="Times New Roman" panose="02020603050405020304" pitchFamily="18" charset="0"/>
                <a:cs typeface="Times New Roman" panose="02020603050405020304" pitchFamily="18" charset="0"/>
              </a:rPr>
              <a:t>comprehensive and reliable diagnosis</a:t>
            </a:r>
            <a:r>
              <a:rPr lang="en-US" dirty="0">
                <a:latin typeface="Times New Roman" panose="02020603050405020304" pitchFamily="18" charset="0"/>
                <a:cs typeface="Times New Roman" panose="02020603050405020304" pitchFamily="18" charset="0"/>
              </a:rPr>
              <a:t> of depressive disorders.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64437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CF39CA2-D83A-66A7-3D82-AF15028FB164}"/>
              </a:ext>
            </a:extLst>
          </p:cNvPr>
          <p:cNvSpPr>
            <a:spLocks noGrp="1"/>
          </p:cNvSpPr>
          <p:nvPr>
            <p:ph type="dt" sz="half" idx="10"/>
          </p:nvPr>
        </p:nvSpPr>
        <p:spPr>
          <a:xfrm>
            <a:off x="1097280" y="643946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6897BF47-6D0B-8AEC-5799-4364BE1A720B}"/>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ED5ED01A-5BCB-10F9-9CF7-2BC86BF7E1E8}"/>
              </a:ext>
            </a:extLst>
          </p:cNvPr>
          <p:cNvSpPr>
            <a:spLocks noGrp="1"/>
          </p:cNvSpPr>
          <p:nvPr>
            <p:ph type="sldNum" sz="quarter" idx="12"/>
          </p:nvPr>
        </p:nvSpPr>
        <p:spPr/>
        <p:txBody>
          <a:bodyPr/>
          <a:lstStyle/>
          <a:p>
            <a:fld id="{69FBB93A-4B32-4007-AACF-5243CED557C7}" type="slidenum">
              <a:rPr lang="en-IN" smtClean="0"/>
              <a:t>23</a:t>
            </a:fld>
            <a:endParaRPr lang="en-IN"/>
          </a:p>
        </p:txBody>
      </p:sp>
      <p:sp>
        <p:nvSpPr>
          <p:cNvPr id="8" name="TextBox 7">
            <a:extLst>
              <a:ext uri="{FF2B5EF4-FFF2-40B4-BE49-F238E27FC236}">
                <a16:creationId xmlns="" xmlns:a16="http://schemas.microsoft.com/office/drawing/2014/main" id="{BFD8E58C-8245-55D9-F2C1-EFE5D3A4689A}"/>
              </a:ext>
            </a:extLst>
          </p:cNvPr>
          <p:cNvSpPr txBox="1"/>
          <p:nvPr/>
        </p:nvSpPr>
        <p:spPr>
          <a:xfrm>
            <a:off x="2461239" y="449344"/>
            <a:ext cx="6096000" cy="646331"/>
          </a:xfrm>
          <a:prstGeom prst="rect">
            <a:avLst/>
          </a:prstGeom>
          <a:noFill/>
        </p:spPr>
        <p:txBody>
          <a:bodyPr wrap="square">
            <a:spAutoFit/>
          </a:bodyPr>
          <a:lstStyle/>
          <a:p>
            <a:pPr marL="0" algn="ctr" rtl="0" eaLnBrk="1" latinLnBrk="0" hangingPunct="1"/>
            <a:r>
              <a:rPr lang="en-IN" sz="3600" b="1" kern="1200" dirty="0">
                <a:solidFill>
                  <a:srgbClr val="000000"/>
                </a:solidFill>
                <a:effectLst/>
                <a:latin typeface="Times New Roman" panose="02020603050405020304" pitchFamily="18" charset="0"/>
                <a:cs typeface="Times New Roman" panose="02020603050405020304" pitchFamily="18" charset="0"/>
              </a:rPr>
              <a:t>REFERENCES</a:t>
            </a:r>
            <a:endParaRPr lang="en-IN" sz="36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801719CA-1B8B-BF5C-AA51-A4FC90BAA85E}"/>
              </a:ext>
            </a:extLst>
          </p:cNvPr>
          <p:cNvSpPr txBox="1"/>
          <p:nvPr/>
        </p:nvSpPr>
        <p:spPr>
          <a:xfrm>
            <a:off x="776746" y="1114115"/>
            <a:ext cx="10419573" cy="5286062"/>
          </a:xfrm>
          <a:prstGeom prst="rect">
            <a:avLst/>
          </a:prstGeom>
          <a:noFill/>
        </p:spPr>
        <p:txBody>
          <a:bodyPr wrap="square">
            <a:spAutoFit/>
          </a:bodyPr>
          <a:lstStyle/>
          <a:p>
            <a:pPr lvl="0">
              <a:lnSpc>
                <a:spcPct val="150000"/>
              </a:lnSpc>
            </a:pPr>
            <a:r>
              <a:rPr lang="en-IN" sz="1500" b="1" dirty="0">
                <a:latin typeface="Times New Roman" panose="02020603050405020304" pitchFamily="18" charset="0"/>
                <a:cs typeface="Times New Roman" panose="02020603050405020304" pitchFamily="18" charset="0"/>
              </a:rPr>
              <a:t>[1] Automated EEG-based screening of depression using deep convolutional neural network,</a:t>
            </a:r>
            <a:r>
              <a:rPr lang="en-IN" sz="1500" dirty="0">
                <a:latin typeface="Times New Roman" panose="02020603050405020304" pitchFamily="18" charset="0"/>
                <a:cs typeface="Times New Roman" panose="02020603050405020304" pitchFamily="18" charset="0"/>
              </a:rPr>
              <a:t> U. R. Acharya, H. Fujita, S. L. Oh, Y. Hagiwara, J. H. Tan, and M. Adam</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2"/>
              </a:rPr>
              <a:t>https://doi.org/10.1016/j.compbiomed.2018.06.008</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a:latin typeface="Times New Roman" panose="02020603050405020304" pitchFamily="18" charset="0"/>
                <a:cs typeface="Times New Roman" panose="02020603050405020304" pitchFamily="18" charset="0"/>
              </a:rPr>
              <a:t>[2] Deep convolutional neural network model for automated diagnosis of depression using EEG signals</a:t>
            </a:r>
            <a:r>
              <a:rPr lang="en-IN" sz="1500" dirty="0">
                <a:latin typeface="Times New Roman" panose="02020603050405020304" pitchFamily="18" charset="0"/>
                <a:cs typeface="Times New Roman" panose="02020603050405020304" pitchFamily="18" charset="0"/>
              </a:rPr>
              <a:t>, S. L. Oh, U. R. Acharya, Y. Hagiwara, J. H. Tan, and H. </a:t>
            </a:r>
            <a:r>
              <a:rPr lang="en-IN" sz="1500" dirty="0" err="1">
                <a:latin typeface="Times New Roman" panose="02020603050405020304" pitchFamily="18" charset="0"/>
                <a:cs typeface="Times New Roman" panose="02020603050405020304" pitchFamily="18" charset="0"/>
              </a:rPr>
              <a:t>Adeli</a:t>
            </a: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3"/>
              </a:rPr>
              <a:t>https://doi.org/10.3390/app9153319</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a:latin typeface="Times New Roman" panose="02020603050405020304" pitchFamily="18" charset="0"/>
                <a:cs typeface="Times New Roman" panose="02020603050405020304" pitchFamily="18" charset="0"/>
              </a:rPr>
              <a:t>[3] Implementation guides for CNN and LSTM using </a:t>
            </a:r>
            <a:r>
              <a:rPr lang="en-IN" sz="1500" b="1" dirty="0" err="1">
                <a:latin typeface="Times New Roman" panose="02020603050405020304" pitchFamily="18" charset="0"/>
                <a:cs typeface="Times New Roman" panose="02020603050405020304" pitchFamily="18" charset="0"/>
              </a:rPr>
              <a:t>Keras</a:t>
            </a:r>
            <a:r>
              <a:rPr lang="en-IN" sz="1500" b="1" dirty="0">
                <a:latin typeface="Times New Roman" panose="02020603050405020304" pitchFamily="18" charset="0"/>
                <a:cs typeface="Times New Roman" panose="02020603050405020304" pitchFamily="18" charset="0"/>
              </a:rPr>
              <a:t>’ Sequential API.</a:t>
            </a:r>
            <a:r>
              <a:rPr lang="en-IN" sz="1500" dirty="0">
                <a:latin typeface="Times New Roman" panose="02020603050405020304" pitchFamily="18" charset="0"/>
                <a:cs typeface="Times New Roman" panose="02020603050405020304" pitchFamily="18" charset="0"/>
              </a:rPr>
              <a:t/>
            </a:r>
            <a:br>
              <a:rPr lang="en-IN" sz="1500" dirty="0">
                <a:latin typeface="Times New Roman" panose="02020603050405020304" pitchFamily="18" charset="0"/>
                <a:cs typeface="Times New Roman" panose="02020603050405020304" pitchFamily="18" charset="0"/>
              </a:rPr>
            </a:br>
            <a:r>
              <a:rPr lang="en-IN" sz="1500" u="sng" dirty="0">
                <a:latin typeface="Times New Roman" panose="02020603050405020304" pitchFamily="18" charset="0"/>
                <a:cs typeface="Times New Roman" panose="02020603050405020304" pitchFamily="18" charset="0"/>
                <a:hlinkClick r:id="rId4"/>
              </a:rPr>
              <a:t>https://keras.io/guides/sequential_model/</a:t>
            </a:r>
            <a:endParaRPr lang="en-IN" sz="1500" dirty="0">
              <a:latin typeface="Times New Roman" panose="02020603050405020304" pitchFamily="18" charset="0"/>
              <a:cs typeface="Times New Roman" panose="02020603050405020304" pitchFamily="18" charset="0"/>
            </a:endParaRPr>
          </a:p>
          <a:p>
            <a:pPr lvl="0">
              <a:lnSpc>
                <a:spcPct val="150000"/>
              </a:lnSpc>
            </a:pPr>
            <a:r>
              <a:rPr lang="en-IN" sz="1500" b="1" dirty="0">
                <a:latin typeface="Times New Roman" panose="02020603050405020304" pitchFamily="18" charset="0"/>
                <a:cs typeface="Times New Roman" panose="02020603050405020304" pitchFamily="18" charset="0"/>
              </a:rPr>
              <a:t>[4] U.R. Acharya, S.L. Oh, Y. Hagiwara, J.H. Tan, H. </a:t>
            </a:r>
            <a:r>
              <a:rPr lang="en-IN" sz="1500" b="1" dirty="0" err="1">
                <a:latin typeface="Times New Roman" panose="02020603050405020304" pitchFamily="18" charset="0"/>
                <a:cs typeface="Times New Roman" panose="02020603050405020304" pitchFamily="18" charset="0"/>
              </a:rPr>
              <a:t>Adeli</a:t>
            </a:r>
            <a:r>
              <a:rPr lang="en-IN" sz="1500" b="1" dirty="0">
                <a:latin typeface="Times New Roman" panose="02020603050405020304" pitchFamily="18" charset="0"/>
                <a:cs typeface="Times New Roman" panose="02020603050405020304" pitchFamily="18" charset="0"/>
              </a:rPr>
              <a:t>, D.P. </a:t>
            </a:r>
            <a:r>
              <a:rPr lang="en-IN" sz="1500" b="1" dirty="0" err="1">
                <a:latin typeface="Times New Roman" panose="02020603050405020304" pitchFamily="18" charset="0"/>
                <a:cs typeface="Times New Roman" panose="02020603050405020304" pitchFamily="18" charset="0"/>
              </a:rPr>
              <a:t>Subha</a:t>
            </a:r>
            <a:r>
              <a:rPr lang="en-IN" sz="1500" b="1" dirty="0">
                <a:latin typeface="Times New Roman" panose="02020603050405020304" pitchFamily="18" charset="0"/>
                <a:cs typeface="Times New Roman" panose="02020603050405020304" pitchFamily="18" charset="0"/>
              </a:rPr>
              <a:t>, Automated EEG-based screening of depression using deep convolutional neural network, </a:t>
            </a:r>
            <a:r>
              <a:rPr lang="en-IN" sz="1500" b="1" dirty="0" err="1">
                <a:latin typeface="Times New Roman" panose="02020603050405020304" pitchFamily="18" charset="0"/>
                <a:cs typeface="Times New Roman" panose="02020603050405020304" pitchFamily="18" charset="0"/>
              </a:rPr>
              <a:t>Comput</a:t>
            </a:r>
            <a:r>
              <a:rPr lang="en-IN" sz="1500" b="1" dirty="0">
                <a:latin typeface="Times New Roman" panose="02020603050405020304" pitchFamily="18" charset="0"/>
                <a:cs typeface="Times New Roman" panose="02020603050405020304" pitchFamily="18" charset="0"/>
              </a:rPr>
              <a:t>. Methods Programs Biomed. 161 (2018) 103–113. </a:t>
            </a:r>
            <a:r>
              <a:rPr lang="en-IN" sz="1500" b="1" dirty="0">
                <a:latin typeface="Times New Roman" panose="02020603050405020304" pitchFamily="18" charset="0"/>
                <a:cs typeface="Times New Roman" panose="02020603050405020304" pitchFamily="18" charset="0"/>
                <a:hlinkClick r:id="rId5"/>
              </a:rPr>
              <a:t>https://www.sciencedirect.com/science/article/pii/S0169260718301494</a:t>
            </a:r>
            <a:endParaRPr lang="en-IN" sz="1500" b="1" dirty="0">
              <a:latin typeface="Times New Roman" panose="02020603050405020304" pitchFamily="18" charset="0"/>
              <a:cs typeface="Times New Roman" panose="02020603050405020304" pitchFamily="18" charset="0"/>
            </a:endParaRPr>
          </a:p>
          <a:p>
            <a:r>
              <a:rPr lang="en-IN" sz="1500" b="1" dirty="0">
                <a:latin typeface="Times New Roman" panose="02020603050405020304" pitchFamily="18" charset="0"/>
                <a:cs typeface="Times New Roman" panose="02020603050405020304" pitchFamily="18" charset="0"/>
              </a:rPr>
              <a:t>[5] Electroencephalogram (EEG)-based computer-aided technique to diagnose major depressive disorder (MDD)”</a:t>
            </a:r>
            <a:r>
              <a:rPr lang="en-IN" sz="1500" dirty="0">
                <a:latin typeface="Times New Roman" panose="02020603050405020304" pitchFamily="18" charset="0"/>
                <a:cs typeface="Times New Roman" panose="02020603050405020304" pitchFamily="18" charset="0"/>
              </a:rPr>
              <a:t> by W. </a:t>
            </a:r>
            <a:r>
              <a:rPr lang="en-IN" sz="1500" dirty="0" err="1">
                <a:latin typeface="Times New Roman" panose="02020603050405020304" pitchFamily="18" charset="0"/>
                <a:cs typeface="Times New Roman" panose="02020603050405020304" pitchFamily="18" charset="0"/>
              </a:rPr>
              <a:t>Mumtaz</a:t>
            </a:r>
            <a:r>
              <a:rPr lang="en-IN" sz="1500" dirty="0">
                <a:latin typeface="Times New Roman" panose="02020603050405020304" pitchFamily="18" charset="0"/>
                <a:cs typeface="Times New Roman" panose="02020603050405020304" pitchFamily="18" charset="0"/>
              </a:rPr>
              <a:t>, L. Xia, S. S. A. Ali, M. A. M. </a:t>
            </a:r>
            <a:r>
              <a:rPr lang="en-IN" sz="1500" dirty="0" err="1">
                <a:latin typeface="Times New Roman" panose="02020603050405020304" pitchFamily="18" charset="0"/>
                <a:cs typeface="Times New Roman" panose="02020603050405020304" pitchFamily="18" charset="0"/>
              </a:rPr>
              <a:t>Yasin</a:t>
            </a:r>
            <a:r>
              <a:rPr lang="en-IN" sz="1500" dirty="0">
                <a:latin typeface="Times New Roman" panose="02020603050405020304" pitchFamily="18" charset="0"/>
                <a:cs typeface="Times New Roman" panose="02020603050405020304" pitchFamily="18" charset="0"/>
              </a:rPr>
              <a:t>, M. Hussain, A. S. Malik (2017),  </a:t>
            </a:r>
            <a:r>
              <a:rPr lang="en-IN" sz="1500" dirty="0">
                <a:latin typeface="Times New Roman" panose="02020603050405020304" pitchFamily="18" charset="0"/>
                <a:cs typeface="Times New Roman" panose="02020603050405020304" pitchFamily="18" charset="0"/>
                <a:hlinkClick r:id="rId6"/>
              </a:rPr>
              <a:t>https://www.sciencedirect.com/science/article/abs/pii/S1746809416300866</a:t>
            </a:r>
            <a:endParaRPr lang="en-IN" sz="1500" dirty="0">
              <a:latin typeface="Times New Roman" panose="02020603050405020304" pitchFamily="18" charset="0"/>
              <a:cs typeface="Times New Roman" panose="02020603050405020304" pitchFamily="18" charset="0"/>
            </a:endParaRPr>
          </a:p>
          <a:p>
            <a:r>
              <a:rPr lang="en-IN" sz="1500" dirty="0">
                <a:latin typeface="Times New Roman" panose="02020603050405020304" pitchFamily="18" charset="0"/>
                <a:cs typeface="Times New Roman" panose="02020603050405020304" pitchFamily="18" charset="0"/>
              </a:rPr>
              <a:t>[6] </a:t>
            </a:r>
            <a:r>
              <a:rPr lang="en-IN" sz="1500" b="1" dirty="0">
                <a:latin typeface="Times New Roman" panose="02020603050405020304" pitchFamily="18" charset="0"/>
                <a:cs typeface="Times New Roman" panose="02020603050405020304" pitchFamily="18" charset="0"/>
              </a:rPr>
              <a:t>Deep convolutional neural networks for computer-aided detection: CNN architectures, dataset characteristics and transfer learning”</a:t>
            </a:r>
            <a:r>
              <a:rPr lang="en-IN" sz="1500" dirty="0">
                <a:latin typeface="Times New Roman" panose="02020603050405020304" pitchFamily="18" charset="0"/>
                <a:cs typeface="Times New Roman" panose="02020603050405020304" pitchFamily="18" charset="0"/>
              </a:rPr>
              <a:t> by H.-C. Shin, H. R. Roth, M. Gao, L. Lu, Z. Xu, I. </a:t>
            </a:r>
            <a:r>
              <a:rPr lang="en-IN" sz="1500" dirty="0" err="1">
                <a:latin typeface="Times New Roman" panose="02020603050405020304" pitchFamily="18" charset="0"/>
                <a:cs typeface="Times New Roman" panose="02020603050405020304" pitchFamily="18" charset="0"/>
              </a:rPr>
              <a:t>Nogues</a:t>
            </a:r>
            <a:r>
              <a:rPr lang="en-IN" sz="1500" dirty="0">
                <a:latin typeface="Times New Roman" panose="02020603050405020304" pitchFamily="18" charset="0"/>
                <a:cs typeface="Times New Roman" panose="02020603050405020304" pitchFamily="18" charset="0"/>
              </a:rPr>
              <a:t>, J. Yao, D. </a:t>
            </a:r>
            <a:r>
              <a:rPr lang="en-IN" sz="1500" dirty="0" err="1">
                <a:latin typeface="Times New Roman" panose="02020603050405020304" pitchFamily="18" charset="0"/>
                <a:cs typeface="Times New Roman" panose="02020603050405020304" pitchFamily="18" charset="0"/>
              </a:rPr>
              <a:t>Mollura</a:t>
            </a:r>
            <a:r>
              <a:rPr lang="en-IN" sz="1500" dirty="0">
                <a:latin typeface="Times New Roman" panose="02020603050405020304" pitchFamily="18" charset="0"/>
                <a:cs typeface="Times New Roman" panose="02020603050405020304" pitchFamily="18" charset="0"/>
              </a:rPr>
              <a:t>, R. M. Summers (2016),  </a:t>
            </a:r>
            <a:r>
              <a:rPr lang="en-IN" sz="1500" dirty="0">
                <a:latin typeface="Times New Roman" panose="02020603050405020304" pitchFamily="18" charset="0"/>
                <a:cs typeface="Times New Roman" panose="02020603050405020304" pitchFamily="18" charset="0"/>
                <a:hlinkClick r:id="rId7"/>
              </a:rPr>
              <a:t>https://pubmed.ncbi.nlm.nih.gov/26886976/</a:t>
            </a:r>
            <a:endParaRPr lang="en-IN" sz="15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 xmlns:a16="http://schemas.microsoft.com/office/drawing/2014/main" id="{61A694EC-414F-38CE-31A6-2BC1C0D09CC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5" name="TextBox 4">
            <a:extLst>
              <a:ext uri="{FF2B5EF4-FFF2-40B4-BE49-F238E27FC236}">
                <a16:creationId xmlns="" xmlns:a16="http://schemas.microsoft.com/office/drawing/2014/main" id="{46A7B61D-398C-4C3B-919D-77597A44A673}"/>
              </a:ext>
            </a:extLst>
          </p:cNvPr>
          <p:cNvSpPr txBox="1"/>
          <p:nvPr/>
        </p:nvSpPr>
        <p:spPr>
          <a:xfrm>
            <a:off x="0" y="0"/>
            <a:ext cx="35695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7658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CDD8418-6FAD-F00E-45F4-A5559C250A3C}"/>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232A7576-15AA-0FC7-E9DB-56464C09E01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 xmlns:a16="http://schemas.microsoft.com/office/drawing/2014/main" id="{F3A6A993-DCA8-B7DC-A153-FC50899732F0}"/>
              </a:ext>
            </a:extLst>
          </p:cNvPr>
          <p:cNvSpPr>
            <a:spLocks noGrp="1"/>
          </p:cNvSpPr>
          <p:nvPr>
            <p:ph type="sldNum" sz="quarter" idx="12"/>
          </p:nvPr>
        </p:nvSpPr>
        <p:spPr/>
        <p:txBody>
          <a:bodyPr/>
          <a:lstStyle/>
          <a:p>
            <a:fld id="{69FBB93A-4B32-4007-AACF-5243CED557C7}" type="slidenum">
              <a:rPr lang="en-IN" smtClean="0"/>
              <a:t>24</a:t>
            </a:fld>
            <a:endParaRPr lang="en-IN"/>
          </a:p>
        </p:txBody>
      </p:sp>
      <p:pic>
        <p:nvPicPr>
          <p:cNvPr id="6" name="Picture 5">
            <a:extLst>
              <a:ext uri="{FF2B5EF4-FFF2-40B4-BE49-F238E27FC236}">
                <a16:creationId xmlns="" xmlns:a16="http://schemas.microsoft.com/office/drawing/2014/main" id="{911440DA-8F5B-2DC2-9C14-E94E5A067B93}"/>
              </a:ext>
            </a:extLst>
          </p:cNvPr>
          <p:cNvPicPr>
            <a:picLocks noChangeAspect="1"/>
          </p:cNvPicPr>
          <p:nvPr/>
        </p:nvPicPr>
        <p:blipFill>
          <a:blip r:embed="rId2"/>
          <a:stretch>
            <a:fillRect/>
          </a:stretch>
        </p:blipFill>
        <p:spPr>
          <a:xfrm>
            <a:off x="0" y="0"/>
            <a:ext cx="12192000" cy="6405510"/>
          </a:xfrm>
          <a:prstGeom prst="rect">
            <a:avLst/>
          </a:prstGeom>
        </p:spPr>
      </p:pic>
    </p:spTree>
    <p:extLst>
      <p:ext uri="{BB962C8B-B14F-4D97-AF65-F5344CB8AC3E}">
        <p14:creationId xmlns:p14="http://schemas.microsoft.com/office/powerpoint/2010/main" val="1901167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4933</TotalTime>
  <Words>2087</Words>
  <Application>Microsoft Office PowerPoint</Application>
  <PresentationFormat>Custom</PresentationFormat>
  <Paragraphs>306</Paragraphs>
  <Slides>24</Slides>
  <Notes>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Prerana V</dc:creator>
  <cp:lastModifiedBy>mareddy charan</cp:lastModifiedBy>
  <cp:revision>91</cp:revision>
  <dcterms:created xsi:type="dcterms:W3CDTF">2024-11-02T06:33:28Z</dcterms:created>
  <dcterms:modified xsi:type="dcterms:W3CDTF">2025-11-14T09:07:34Z</dcterms:modified>
</cp:coreProperties>
</file>
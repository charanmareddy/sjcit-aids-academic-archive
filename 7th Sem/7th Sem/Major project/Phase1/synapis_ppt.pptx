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57" r:id="rId2"/>
    <p:sldId id="258" r:id="rId3"/>
    <p:sldId id="274" r:id="rId4"/>
    <p:sldId id="275" r:id="rId5"/>
    <p:sldId id="276" r:id="rId6"/>
    <p:sldId id="259" r:id="rId7"/>
    <p:sldId id="269" r:id="rId8"/>
    <p:sldId id="260" r:id="rId9"/>
    <p:sldId id="267" r:id="rId10"/>
    <p:sldId id="266" r:id="rId11"/>
    <p:sldId id="271" r:id="rId12"/>
    <p:sldId id="279" r:id="rId13"/>
    <p:sldId id="280" r:id="rId14"/>
    <p:sldId id="277" r:id="rId15"/>
    <p:sldId id="278"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5B4094-766C-70E3-9808-C9A4F5B8F960}" v="6" dt="2025-03-18T13:55:46.334"/>
    <p1510:client id="{6F638720-1701-44E1-A725-62E9CD492976}" v="1" dt="2025-03-18T14:04:12.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9" d="100"/>
          <a:sy n="89" d="100"/>
        </p:scale>
        <p:origin x="-432" y="-5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7CFF807-76C2-FC97-28A0-B51206186D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Conversational Image Recognition using Chatbot</a:t>
            </a:r>
          </a:p>
        </p:txBody>
      </p:sp>
      <p:sp>
        <p:nvSpPr>
          <p:cNvPr id="3" name="Date Placeholder 2">
            <a:extLst>
              <a:ext uri="{FF2B5EF4-FFF2-40B4-BE49-F238E27FC236}">
                <a16:creationId xmlns:a16="http://schemas.microsoft.com/office/drawing/2014/main" xmlns="" id="{17FA6F68-989C-379C-AC57-04EF83A9CA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xmlns="" id="{770DDBBC-1DA7-4B6E-A894-D91CCC9E1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ISE, SJCIT</a:t>
            </a:r>
          </a:p>
        </p:txBody>
      </p:sp>
      <p:sp>
        <p:nvSpPr>
          <p:cNvPr id="5" name="Slide Number Placeholder 4">
            <a:extLst>
              <a:ext uri="{FF2B5EF4-FFF2-40B4-BE49-F238E27FC236}">
                <a16:creationId xmlns:a16="http://schemas.microsoft.com/office/drawing/2014/main" xmlns="" id="{5CAE13D8-524B-3194-731C-1291D9F86D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EC8F0A-2F6B-4EDC-8032-61F1494F8A1A}" type="slidenum">
              <a:rPr lang="en-IN" smtClean="0"/>
              <a:t>‹#›</a:t>
            </a:fld>
            <a:endParaRPr lang="en-IN"/>
          </a:p>
        </p:txBody>
      </p:sp>
    </p:spTree>
    <p:extLst>
      <p:ext uri="{BB962C8B-B14F-4D97-AF65-F5344CB8AC3E}">
        <p14:creationId xmlns:p14="http://schemas.microsoft.com/office/powerpoint/2010/main" val="1021397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Conversational Image Recognition using Chatbot</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Dept of ISE, SJCIT</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ECF8-49E2-452A-BDEE-A7E1E796A086}" type="slidenum">
              <a:rPr lang="en-IN" smtClean="0"/>
              <a:t>‹#›</a:t>
            </a:fld>
            <a:endParaRPr lang="en-IN"/>
          </a:p>
        </p:txBody>
      </p:sp>
    </p:spTree>
    <p:extLst>
      <p:ext uri="{BB962C8B-B14F-4D97-AF65-F5344CB8AC3E}">
        <p14:creationId xmlns:p14="http://schemas.microsoft.com/office/powerpoint/2010/main" val="341480226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r>
              <a:rPr lang="en-IN"/>
              <a:t>Conversational Image Recognition using Chatbot</a:t>
            </a:r>
          </a:p>
        </p:txBody>
      </p:sp>
      <p:sp>
        <p:nvSpPr>
          <p:cNvPr id="5" name="Footer Placeholder 4"/>
          <p:cNvSpPr>
            <a:spLocks noGrp="1"/>
          </p:cNvSpPr>
          <p:nvPr>
            <p:ph type="ftr" sz="quarter" idx="4"/>
          </p:nvPr>
        </p:nvSpPr>
        <p:spPr/>
        <p:txBody>
          <a:bodyPr/>
          <a:lstStyle/>
          <a:p>
            <a:r>
              <a:rPr lang="en-IN"/>
              <a:t>Dept of ISE, SJCIT</a:t>
            </a:r>
          </a:p>
        </p:txBody>
      </p:sp>
      <p:sp>
        <p:nvSpPr>
          <p:cNvPr id="6" name="Slide Number Placeholder 5"/>
          <p:cNvSpPr>
            <a:spLocks noGrp="1"/>
          </p:cNvSpPr>
          <p:nvPr>
            <p:ph type="sldNum" sz="quarter" idx="5"/>
          </p:nvPr>
        </p:nvSpPr>
        <p:spPr/>
        <p:txBody>
          <a:bodyPr/>
          <a:lstStyle/>
          <a:p>
            <a:fld id="{46BCECF8-49E2-452A-BDEE-A7E1E796A086}" type="slidenum">
              <a:rPr lang="en-IN" smtClean="0"/>
              <a:t>9</a:t>
            </a:fld>
            <a:endParaRPr lang="en-IN"/>
          </a:p>
        </p:txBody>
      </p:sp>
    </p:spTree>
    <p:extLst>
      <p:ext uri="{BB962C8B-B14F-4D97-AF65-F5344CB8AC3E}">
        <p14:creationId xmlns:p14="http://schemas.microsoft.com/office/powerpoint/2010/main" val="857482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74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128850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393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680030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693801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Dept of AI&amp;DS, SJCIT</a:t>
            </a:r>
            <a:endParaRPr lang="en-IN"/>
          </a:p>
        </p:txBody>
      </p:sp>
      <p:sp>
        <p:nvSpPr>
          <p:cNvPr id="4" name="Footer Placeholder 3"/>
          <p:cNvSpPr>
            <a:spLocks noGrp="1"/>
          </p:cNvSpPr>
          <p:nvPr>
            <p:ph type="ftr" sz="quarter" idx="11"/>
          </p:nvPr>
        </p:nvSpPr>
        <p:spPr/>
        <p:txBody>
          <a:bodyPr/>
          <a:lstStyle/>
          <a:p>
            <a:r>
              <a:rPr lang="en-IN"/>
              <a:t>2025-26</a:t>
            </a:r>
          </a:p>
        </p:txBody>
      </p:sp>
      <p:sp>
        <p:nvSpPr>
          <p:cNvPr id="5" name="Slide Number Placeholder 4"/>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1266644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Dept of AI&amp;DS, SJCIT</a:t>
            </a:r>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2025-26</a:t>
            </a:r>
          </a:p>
        </p:txBody>
      </p:sp>
      <p:sp>
        <p:nvSpPr>
          <p:cNvPr id="9" name="Slide Number Placeholder 8"/>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416543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Dept of AI&amp;DS, SJCIT</a:t>
            </a:r>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2025-26</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9FBB93A-4B32-4007-AACF-5243CED557C7}" type="slidenum">
              <a:rPr lang="en-IN" smtClean="0"/>
              <a:t>‹#›</a:t>
            </a:fld>
            <a:endParaRPr lang="en-IN"/>
          </a:p>
        </p:txBody>
      </p:sp>
    </p:spTree>
    <p:extLst>
      <p:ext uri="{BB962C8B-B14F-4D97-AF65-F5344CB8AC3E}">
        <p14:creationId xmlns:p14="http://schemas.microsoft.com/office/powerpoint/2010/main" val="339071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Dept of AI&amp;DS, SJCIT</a:t>
            </a:r>
            <a:endParaRPr lang="en-IN"/>
          </a:p>
        </p:txBody>
      </p:sp>
      <p:sp>
        <p:nvSpPr>
          <p:cNvPr id="6" name="Footer Placeholder 5"/>
          <p:cNvSpPr>
            <a:spLocks noGrp="1"/>
          </p:cNvSpPr>
          <p:nvPr>
            <p:ph type="ftr" sz="quarter" idx="11"/>
          </p:nvPr>
        </p:nvSpPr>
        <p:spPr/>
        <p:txBody>
          <a:bodyPr/>
          <a:lstStyle/>
          <a:p>
            <a:r>
              <a:rPr lang="en-IN"/>
              <a:t>2025-26</a:t>
            </a:r>
          </a:p>
        </p:txBody>
      </p:sp>
      <p:sp>
        <p:nvSpPr>
          <p:cNvPr id="7" name="Slide Number Placeholder 6"/>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3109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2921887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Dept of AI&amp;DS, SJCIT</a:t>
            </a:r>
            <a:endParaRPr lang="en-IN"/>
          </a:p>
        </p:txBody>
      </p:sp>
      <p:sp>
        <p:nvSpPr>
          <p:cNvPr id="5" name="Footer Placeholder 4"/>
          <p:cNvSpPr>
            <a:spLocks noGrp="1"/>
          </p:cNvSpPr>
          <p:nvPr>
            <p:ph type="ftr" sz="quarter" idx="11"/>
          </p:nvPr>
        </p:nvSpPr>
        <p:spPr/>
        <p:txBody>
          <a:bodyPr/>
          <a:lstStyle/>
          <a:p>
            <a:r>
              <a:rPr lang="en-IN"/>
              <a:t>2025-26</a:t>
            </a:r>
          </a:p>
        </p:txBody>
      </p:sp>
      <p:sp>
        <p:nvSpPr>
          <p:cNvPr id="6" name="Slide Number Placeholder 5"/>
          <p:cNvSpPr>
            <a:spLocks noGrp="1"/>
          </p:cNvSpPr>
          <p:nvPr>
            <p:ph type="sldNum" sz="quarter" idx="12"/>
          </p:nvPr>
        </p:nvSpPr>
        <p:spPr/>
        <p:txBody>
          <a:bodyPr/>
          <a:lstStyle/>
          <a:p>
            <a:fld id="{69FBB93A-4B32-4007-AACF-5243CED557C7}" type="slidenum">
              <a:rPr lang="en-IN" smtClean="0"/>
              <a:t>‹#›</a:t>
            </a:fld>
            <a:endParaRPr lang="en-IN"/>
          </a:p>
        </p:txBody>
      </p:sp>
    </p:spTree>
    <p:extLst>
      <p:ext uri="{BB962C8B-B14F-4D97-AF65-F5344CB8AC3E}">
        <p14:creationId xmlns:p14="http://schemas.microsoft.com/office/powerpoint/2010/main" val="3352111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Dept of AI&amp;DS, SJCIT</a:t>
            </a:r>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2025-26</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9FBB93A-4B32-4007-AACF-5243CED557C7}"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8746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xmlns="" id="{44DD8720-A00F-5D7B-9C9A-5656A85908BE}"/>
              </a:ext>
            </a:extLst>
          </p:cNvPr>
          <p:cNvSpPr>
            <a:spLocks noGrp="1"/>
          </p:cNvSpPr>
          <p:nvPr>
            <p:ph type="ftr" sz="quarter" idx="11"/>
          </p:nvPr>
        </p:nvSpPr>
        <p:spPr/>
        <p:txBody>
          <a:bodyPr/>
          <a:lstStyle/>
          <a:p>
            <a:r>
              <a:rPr lang="en-IN" dirty="0"/>
              <a:t>2025-26</a:t>
            </a:r>
          </a:p>
        </p:txBody>
      </p:sp>
      <p:sp>
        <p:nvSpPr>
          <p:cNvPr id="7" name="Slide Number Placeholder 6">
            <a:extLst>
              <a:ext uri="{FF2B5EF4-FFF2-40B4-BE49-F238E27FC236}">
                <a16:creationId xmlns:a16="http://schemas.microsoft.com/office/drawing/2014/main" xmlns="" id="{48B5B378-9CF4-628F-242F-C3B271FBC64C}"/>
              </a:ext>
            </a:extLst>
          </p:cNvPr>
          <p:cNvSpPr>
            <a:spLocks noGrp="1"/>
          </p:cNvSpPr>
          <p:nvPr>
            <p:ph type="sldNum" sz="quarter" idx="12"/>
          </p:nvPr>
        </p:nvSpPr>
        <p:spPr/>
        <p:txBody>
          <a:bodyPr/>
          <a:lstStyle/>
          <a:p>
            <a:fld id="{69FBB93A-4B32-4007-AACF-5243CED557C7}" type="slidenum">
              <a:rPr lang="en-IN" smtClean="0"/>
              <a:t>1</a:t>
            </a:fld>
            <a:endParaRPr lang="en-IN"/>
          </a:p>
        </p:txBody>
      </p:sp>
      <p:sp>
        <p:nvSpPr>
          <p:cNvPr id="8" name="Date Placeholder 7">
            <a:extLst>
              <a:ext uri="{FF2B5EF4-FFF2-40B4-BE49-F238E27FC236}">
                <a16:creationId xmlns:a16="http://schemas.microsoft.com/office/drawing/2014/main" xmlns="" id="{C02BCDCC-A182-5718-B49D-B13F53391105}"/>
              </a:ext>
            </a:extLst>
          </p:cNvPr>
          <p:cNvSpPr>
            <a:spLocks noGrp="1"/>
          </p:cNvSpPr>
          <p:nvPr>
            <p:ph type="dt" sz="half" idx="10"/>
          </p:nvPr>
        </p:nvSpPr>
        <p:spPr/>
        <p:txBody>
          <a:bodyPr/>
          <a:lstStyle/>
          <a:p>
            <a:r>
              <a:rPr lang="en-US"/>
              <a:t>Dept of AI&amp;DS, SJCIT</a:t>
            </a:r>
            <a:endParaRPr lang="en-IN" dirty="0"/>
          </a:p>
        </p:txBody>
      </p:sp>
      <p:sp>
        <p:nvSpPr>
          <p:cNvPr id="10" name="TextBox 9">
            <a:extLst>
              <a:ext uri="{FF2B5EF4-FFF2-40B4-BE49-F238E27FC236}">
                <a16:creationId xmlns:a16="http://schemas.microsoft.com/office/drawing/2014/main" xmlns="" id="{A8AF886D-2672-E1B6-5558-A6D5255410EA}"/>
              </a:ext>
            </a:extLst>
          </p:cNvPr>
          <p:cNvSpPr txBox="1"/>
          <p:nvPr/>
        </p:nvSpPr>
        <p:spPr>
          <a:xfrm>
            <a:off x="10114590" y="650450"/>
            <a:ext cx="766856" cy="2026763"/>
          </a:xfrm>
          <a:prstGeom prst="rect">
            <a:avLst/>
          </a:prstGeom>
          <a:noFill/>
        </p:spPr>
        <p:txBody>
          <a:bodyPr wrap="square" rtlCol="0">
            <a:spAutoFit/>
          </a:bodyPr>
          <a:lstStyle/>
          <a:p>
            <a:endParaRPr lang="en-IN" dirty="0"/>
          </a:p>
        </p:txBody>
      </p:sp>
      <p:sp>
        <p:nvSpPr>
          <p:cNvPr id="11" name="TextBox 10">
            <a:extLst>
              <a:ext uri="{FF2B5EF4-FFF2-40B4-BE49-F238E27FC236}">
                <a16:creationId xmlns:a16="http://schemas.microsoft.com/office/drawing/2014/main" xmlns="" id="{B7C2A70F-6C11-9E07-4539-D2F0B7595546}"/>
              </a:ext>
            </a:extLst>
          </p:cNvPr>
          <p:cNvSpPr txBox="1"/>
          <p:nvPr/>
        </p:nvSpPr>
        <p:spPr>
          <a:xfrm>
            <a:off x="4375356" y="178169"/>
            <a:ext cx="2162177" cy="646331"/>
          </a:xfrm>
          <a:prstGeom prst="rect">
            <a:avLst/>
          </a:prstGeom>
          <a:noFill/>
        </p:spPr>
        <p:txBody>
          <a:bodyPr wrap="square" rtlCol="0">
            <a:spAutoFit/>
          </a:bodyPr>
          <a:lstStyle/>
          <a:p>
            <a:endParaRPr lang="en-IN" sz="1800" dirty="0">
              <a:solidFill>
                <a:prstClr val="black"/>
              </a:solidFill>
              <a:latin typeface="Calibri"/>
              <a:cs typeface="+mn-cs"/>
            </a:endParaRPr>
          </a:p>
          <a:p>
            <a:endParaRPr lang="en-IN" dirty="0"/>
          </a:p>
        </p:txBody>
      </p:sp>
      <p:sp>
        <p:nvSpPr>
          <p:cNvPr id="13" name="TextBox 12">
            <a:extLst>
              <a:ext uri="{FF2B5EF4-FFF2-40B4-BE49-F238E27FC236}">
                <a16:creationId xmlns:a16="http://schemas.microsoft.com/office/drawing/2014/main" xmlns="" id="{E178EE1D-A523-53B8-5EA6-613B4261A1CE}"/>
              </a:ext>
            </a:extLst>
          </p:cNvPr>
          <p:cNvSpPr txBox="1"/>
          <p:nvPr/>
        </p:nvSpPr>
        <p:spPr>
          <a:xfrm>
            <a:off x="3102078" y="506532"/>
            <a:ext cx="5435172" cy="738664"/>
          </a:xfrm>
          <a:prstGeom prst="rect">
            <a:avLst/>
          </a:prstGeom>
          <a:noFill/>
        </p:spPr>
        <p:txBody>
          <a:bodyPr wrap="square" rtlCol="0">
            <a:spAutoFit/>
          </a:bodyPr>
          <a:lstStyle/>
          <a:p>
            <a:endParaRPr lang="en-IN" sz="2400" b="1" dirty="0">
              <a:solidFill>
                <a:srgbClr val="FF0000"/>
              </a:solidFill>
              <a:latin typeface="Times New Roman" panose="02020603050405020304" pitchFamily="18" charset="0"/>
              <a:cs typeface="Times New Roman" panose="02020603050405020304" pitchFamily="18" charset="0"/>
            </a:endParaRPr>
          </a:p>
          <a:p>
            <a:endParaRPr lang="en-IN" dirty="0"/>
          </a:p>
        </p:txBody>
      </p:sp>
      <p:sp>
        <p:nvSpPr>
          <p:cNvPr id="18" name="TextBox 17">
            <a:extLst>
              <a:ext uri="{FF2B5EF4-FFF2-40B4-BE49-F238E27FC236}">
                <a16:creationId xmlns:a16="http://schemas.microsoft.com/office/drawing/2014/main" xmlns="" id="{858E34A5-CC41-727F-A76B-9AF31A39ACCD}"/>
              </a:ext>
            </a:extLst>
          </p:cNvPr>
          <p:cNvSpPr txBox="1"/>
          <p:nvPr/>
        </p:nvSpPr>
        <p:spPr>
          <a:xfrm>
            <a:off x="2093363" y="2311811"/>
            <a:ext cx="8888339"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DEPARTMENT OF ARTIFICAL INTELLIGENCE AND DATA SCIENCE</a:t>
            </a:r>
            <a:endParaRPr lang="en-IN" sz="20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xmlns="" id="{CC330673-E17D-D4FA-63DA-AA77404362AB}"/>
              </a:ext>
            </a:extLst>
          </p:cNvPr>
          <p:cNvSpPr txBox="1"/>
          <p:nvPr/>
        </p:nvSpPr>
        <p:spPr>
          <a:xfrm>
            <a:off x="571358" y="4073711"/>
            <a:ext cx="4665660" cy="1754326"/>
          </a:xfrm>
          <a:prstGeom prst="rect">
            <a:avLst/>
          </a:prstGeom>
          <a:noFill/>
        </p:spPr>
        <p:txBody>
          <a:bodyPr wrap="square" lIns="91440" tIns="45720" rIns="91440" bIns="45720" rtlCol="0" anchor="t">
            <a:spAutoFit/>
          </a:bodyPr>
          <a:lstStyle/>
          <a:p>
            <a:r>
              <a:rPr lang="en-US" altLang="en-US" b="1" dirty="0">
                <a:solidFill>
                  <a:srgbClr val="C00000"/>
                </a:solidFill>
                <a:latin typeface="Times New Roman" panose="02020603050405020304" pitchFamily="18" charset="0"/>
                <a:cs typeface="Times New Roman" panose="02020603050405020304" pitchFamily="18" charset="0"/>
              </a:rPr>
              <a:t>Project Team Members</a:t>
            </a:r>
          </a:p>
          <a:p>
            <a:r>
              <a:rPr lang="en-US" altLang="en-US" dirty="0">
                <a:solidFill>
                  <a:srgbClr val="7030A0"/>
                </a:solidFill>
                <a:latin typeface="Times New Roman" panose="02020603050405020304" pitchFamily="18" charset="0"/>
                <a:cs typeface="Times New Roman" panose="02020603050405020304" pitchFamily="18" charset="0"/>
              </a:rPr>
              <a:t>Name   </a:t>
            </a:r>
            <a:r>
              <a:rPr lang="en-US" altLang="en-US" dirty="0">
                <a:latin typeface="Times New Roman" panose="02020603050405020304" pitchFamily="18" charset="0"/>
                <a:cs typeface="Times New Roman" panose="02020603050405020304" pitchFamily="18" charset="0"/>
              </a:rPr>
              <a:t>                                </a:t>
            </a:r>
            <a:r>
              <a:rPr lang="en-US" altLang="en-US" dirty="0">
                <a:solidFill>
                  <a:srgbClr val="7030A0"/>
                </a:solidFill>
                <a:latin typeface="Times New Roman" panose="02020603050405020304" pitchFamily="18" charset="0"/>
                <a:cs typeface="Times New Roman" panose="02020603050405020304" pitchFamily="18" charset="0"/>
              </a:rPr>
              <a:t>USN</a:t>
            </a:r>
            <a:endParaRPr lang="en-US"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A.CHETAN KUMAR       1SJ22AD005</a:t>
            </a:r>
          </a:p>
          <a:p>
            <a:pPr algn="just"/>
            <a:r>
              <a:rPr lang="en-US" dirty="0">
                <a:solidFill>
                  <a:schemeClr val="accent2">
                    <a:lumMod val="50000"/>
                  </a:schemeClr>
                </a:solidFill>
                <a:latin typeface="Times New Roman" panose="02020603050405020304" pitchFamily="18" charset="0"/>
                <a:cs typeface="Times New Roman" panose="02020603050405020304" pitchFamily="18" charset="0"/>
              </a:rPr>
              <a:t>M.AKASH ROYAL          1SJ22AD021</a:t>
            </a:r>
          </a:p>
          <a:p>
            <a:pPr algn="just"/>
            <a:r>
              <a:rPr lang="en-US" dirty="0">
                <a:solidFill>
                  <a:schemeClr val="accent2">
                    <a:lumMod val="50000"/>
                  </a:schemeClr>
                </a:solidFill>
                <a:latin typeface="Times New Roman"/>
                <a:cs typeface="Times New Roman"/>
              </a:rPr>
              <a:t>Y.REVANTH REDDY      1SJ22AD063</a:t>
            </a:r>
            <a:endParaRPr lang="en-US" dirty="0">
              <a:solidFill>
                <a:schemeClr val="accent2">
                  <a:lumMod val="50000"/>
                </a:schemeClr>
              </a:solidFill>
              <a:latin typeface="Times New Roman" panose="02020603050405020304" pitchFamily="18" charset="0"/>
              <a:cs typeface="Times New Roman" panose="02020603050405020304" pitchFamily="18" charset="0"/>
            </a:endParaRPr>
          </a:p>
          <a:p>
            <a:pPr algn="just"/>
            <a:r>
              <a:rPr lang="en-US" altLang="en-US" b="1" dirty="0">
                <a:solidFill>
                  <a:srgbClr val="C00000"/>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xmlns="" id="{63E1D173-52B1-1198-57D1-211E856BFA03}"/>
              </a:ext>
            </a:extLst>
          </p:cNvPr>
          <p:cNvSpPr txBox="1"/>
          <p:nvPr/>
        </p:nvSpPr>
        <p:spPr>
          <a:xfrm>
            <a:off x="8124497" y="4073711"/>
            <a:ext cx="2756949" cy="923330"/>
          </a:xfrm>
          <a:prstGeom prst="rect">
            <a:avLst/>
          </a:prstGeom>
          <a:noFill/>
        </p:spPr>
        <p:txBody>
          <a:bodyPr wrap="square" rtlCol="0">
            <a:spAutoFit/>
          </a:bodyPr>
          <a:lstStyle/>
          <a:p>
            <a:r>
              <a:rPr lang="en-US" altLang="en-US" b="1" dirty="0">
                <a:solidFill>
                  <a:srgbClr val="C00000"/>
                </a:solidFill>
                <a:latin typeface="Times New Roman" panose="02020603050405020304" pitchFamily="18" charset="0"/>
                <a:cs typeface="Times New Roman" panose="02020603050405020304" pitchFamily="18" charset="0"/>
              </a:rPr>
              <a:t>Under the  Guidance of</a:t>
            </a:r>
          </a:p>
          <a:p>
            <a:r>
              <a:rPr lang="en-US" dirty="0">
                <a:solidFill>
                  <a:schemeClr val="accent1">
                    <a:lumMod val="50000"/>
                  </a:schemeClr>
                </a:solidFill>
                <a:latin typeface="Times New Roman" panose="02020603050405020304" pitchFamily="18" charset="0"/>
                <a:cs typeface="Times New Roman" panose="02020603050405020304" pitchFamily="18" charset="0"/>
              </a:rPr>
              <a:t>DARSHAN A</a:t>
            </a:r>
          </a:p>
          <a:p>
            <a:r>
              <a:rPr lang="en-US" dirty="0">
                <a:solidFill>
                  <a:schemeClr val="accent1">
                    <a:lumMod val="50000"/>
                  </a:schemeClr>
                </a:solidFill>
                <a:latin typeface="Times New Roman" panose="02020603050405020304" pitchFamily="18" charset="0"/>
                <a:cs typeface="Times New Roman" panose="02020603050405020304" pitchFamily="18" charset="0"/>
              </a:rPr>
              <a:t>Assistant Professor</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DA248202-711E-796C-9322-294D8272F7C8}"/>
              </a:ext>
            </a:extLst>
          </p:cNvPr>
          <p:cNvSpPr txBox="1"/>
          <p:nvPr/>
        </p:nvSpPr>
        <p:spPr>
          <a:xfrm>
            <a:off x="737782" y="3363757"/>
            <a:ext cx="11230495" cy="707886"/>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SMART FARMING SOLUTIONS FOR CROP DISEASE PREDICTION AND CONTROL USING IOT AND ML</a:t>
            </a:r>
            <a:endParaRPr lang="en-IN" sz="2000"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599" y="339500"/>
            <a:ext cx="10725518" cy="19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13"/>
          <p:cNvSpPr/>
          <p:nvPr/>
        </p:nvSpPr>
        <p:spPr>
          <a:xfrm>
            <a:off x="3614530" y="2677213"/>
            <a:ext cx="4075043" cy="646331"/>
          </a:xfrm>
          <a:prstGeom prst="rect">
            <a:avLst/>
          </a:prstGeom>
        </p:spPr>
        <p:txBody>
          <a:bodyPr wrap="square">
            <a:spAutoFit/>
          </a:bodyPr>
          <a:lstStyle/>
          <a:p>
            <a:pPr algn="ctr"/>
            <a:r>
              <a:rPr lang="en-US" altLang="en-US" b="1" dirty="0">
                <a:solidFill>
                  <a:srgbClr val="7030A0"/>
                </a:solidFill>
                <a:latin typeface="Times New Roman" panose="02020603050405020304" pitchFamily="18" charset="0"/>
                <a:cs typeface="Times New Roman" panose="02020603050405020304" pitchFamily="18" charset="0"/>
              </a:rPr>
              <a:t>Project Phase-2</a:t>
            </a:r>
          </a:p>
          <a:p>
            <a:pPr algn="ctr"/>
            <a:r>
              <a:rPr lang="en-US" altLang="en-US" b="1" dirty="0">
                <a:solidFill>
                  <a:srgbClr val="7030A0"/>
                </a:solidFill>
                <a:latin typeface="Times New Roman" panose="02020603050405020304" pitchFamily="18" charset="0"/>
                <a:cs typeface="Times New Roman" panose="02020603050405020304" pitchFamily="18" charset="0"/>
              </a:rPr>
              <a:t>Review </a:t>
            </a:r>
            <a:r>
              <a:rPr lang="en-US" altLang="en-US" b="1" dirty="0" smtClean="0">
                <a:solidFill>
                  <a:srgbClr val="7030A0"/>
                </a:solidFill>
                <a:latin typeface="Times New Roman" panose="02020603050405020304" pitchFamily="18" charset="0"/>
                <a:cs typeface="Times New Roman" panose="02020603050405020304" pitchFamily="18" charset="0"/>
              </a:rPr>
              <a:t>2 </a:t>
            </a:r>
            <a:endParaRPr lang="en-US" altLang="en-US" b="1"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8133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B0312830-05A9-627B-229B-4C455CB27EB9}"/>
              </a:ext>
            </a:extLst>
          </p:cNvPr>
          <p:cNvSpPr txBox="1"/>
          <p:nvPr/>
        </p:nvSpPr>
        <p:spPr>
          <a:xfrm>
            <a:off x="2333415" y="413174"/>
            <a:ext cx="6558742"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TABLE OF CONTENTS</a:t>
            </a:r>
            <a:endParaRPr lang="en-IN" sz="4000" b="1" dirty="0">
              <a:solidFill>
                <a:srgbClr val="0070C0"/>
              </a:solidFill>
              <a:latin typeface="Times New Roman" panose="02020603050405020304" pitchFamily="18" charset="0"/>
              <a:cs typeface="Times New Roman" panose="02020603050405020304" pitchFamily="18" charset="0"/>
            </a:endParaRPr>
          </a:p>
        </p:txBody>
      </p:sp>
      <p:sp>
        <p:nvSpPr>
          <p:cNvPr id="8" name="Footer Placeholder 7">
            <a:extLst>
              <a:ext uri="{FF2B5EF4-FFF2-40B4-BE49-F238E27FC236}">
                <a16:creationId xmlns:a16="http://schemas.microsoft.com/office/drawing/2014/main" xmlns="" id="{B1CE8EC1-241F-A9E5-055C-8E8B1F066B56}"/>
              </a:ext>
            </a:extLst>
          </p:cNvPr>
          <p:cNvSpPr>
            <a:spLocks noGrp="1"/>
          </p:cNvSpPr>
          <p:nvPr>
            <p:ph type="ftr" sz="quarter" idx="11"/>
          </p:nvPr>
        </p:nvSpPr>
        <p:spPr/>
        <p:txBody>
          <a:bodyPr/>
          <a:lstStyle/>
          <a:p>
            <a:r>
              <a:rPr lang="en-IN"/>
              <a:t>2025-26</a:t>
            </a:r>
          </a:p>
        </p:txBody>
      </p:sp>
      <p:sp>
        <p:nvSpPr>
          <p:cNvPr id="9" name="Slide Number Placeholder 8">
            <a:extLst>
              <a:ext uri="{FF2B5EF4-FFF2-40B4-BE49-F238E27FC236}">
                <a16:creationId xmlns:a16="http://schemas.microsoft.com/office/drawing/2014/main" xmlns="" id="{FFC50BCD-9CB0-2F01-FF7D-61412C7CDF7B}"/>
              </a:ext>
            </a:extLst>
          </p:cNvPr>
          <p:cNvSpPr>
            <a:spLocks noGrp="1"/>
          </p:cNvSpPr>
          <p:nvPr>
            <p:ph type="sldNum" sz="quarter" idx="12"/>
          </p:nvPr>
        </p:nvSpPr>
        <p:spPr/>
        <p:txBody>
          <a:bodyPr/>
          <a:lstStyle/>
          <a:p>
            <a:fld id="{69FBB93A-4B32-4007-AACF-5243CED557C7}" type="slidenum">
              <a:rPr lang="en-IN" smtClean="0"/>
              <a:t>2</a:t>
            </a:fld>
            <a:endParaRPr lang="en-IN"/>
          </a:p>
        </p:txBody>
      </p:sp>
      <p:sp>
        <p:nvSpPr>
          <p:cNvPr id="10" name="Date Placeholder 9">
            <a:extLst>
              <a:ext uri="{FF2B5EF4-FFF2-40B4-BE49-F238E27FC236}">
                <a16:creationId xmlns:a16="http://schemas.microsoft.com/office/drawing/2014/main" xmlns="" id="{D1C8C61A-AD8A-F055-9DE5-7E8FBCCBF3C7}"/>
              </a:ext>
            </a:extLst>
          </p:cNvPr>
          <p:cNvSpPr>
            <a:spLocks noGrp="1"/>
          </p:cNvSpPr>
          <p:nvPr>
            <p:ph type="dt" sz="half" idx="10"/>
          </p:nvPr>
        </p:nvSpPr>
        <p:spPr/>
        <p:txBody>
          <a:bodyPr/>
          <a:lstStyle/>
          <a:p>
            <a:r>
              <a:rPr lang="en-US"/>
              <a:t>Dept of AI&amp;DS, SJCIT</a:t>
            </a:r>
            <a:endParaRPr lang="en-IN"/>
          </a:p>
        </p:txBody>
      </p:sp>
      <p:sp>
        <p:nvSpPr>
          <p:cNvPr id="6" name="TextBox 5">
            <a:extLst>
              <a:ext uri="{FF2B5EF4-FFF2-40B4-BE49-F238E27FC236}">
                <a16:creationId xmlns:a16="http://schemas.microsoft.com/office/drawing/2014/main" xmlns="" id="{D65FAF25-D943-CF5A-7916-7E9CAEE994F9}"/>
              </a:ext>
            </a:extLst>
          </p:cNvPr>
          <p:cNvSpPr txBox="1"/>
          <p:nvPr/>
        </p:nvSpPr>
        <p:spPr>
          <a:xfrm>
            <a:off x="1563707" y="1213598"/>
            <a:ext cx="8220374" cy="5115311"/>
          </a:xfrm>
          <a:prstGeom prst="rect">
            <a:avLst/>
          </a:prstGeom>
          <a:noFill/>
        </p:spPr>
        <p:txBody>
          <a:bodyPr wrap="square">
            <a:spAutoFit/>
          </a:bodyPr>
          <a:lstStyle/>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Abstract</a:t>
            </a:r>
            <a:r>
              <a:rPr lang="en-US" sz="2000" spc="-15" dirty="0">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Introduction</a:t>
            </a:r>
            <a:r>
              <a:rPr lang="en-US" sz="2000" spc="-30" dirty="0">
                <a:latin typeface="Times New Roman" panose="02020603050405020304" pitchFamily="18" charset="0"/>
                <a:ea typeface="Calibri" panose="020F0502020204030204" pitchFamily="34" charset="0"/>
                <a:cs typeface="Times New Roman" panose="02020603050405020304" pitchFamily="18" charset="0"/>
              </a:rPr>
              <a:t> </a:t>
            </a:r>
          </a:p>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Problem</a:t>
            </a:r>
            <a:r>
              <a:rPr lang="en-US" sz="2000" spc="-15" dirty="0">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ea typeface="Calibri" panose="020F0502020204030204" pitchFamily="34" charset="0"/>
                <a:cs typeface="Times New Roman" panose="02020603050405020304" pitchFamily="18" charset="0"/>
              </a:rPr>
              <a:t>Statement</a:t>
            </a:r>
            <a:r>
              <a:rPr lang="en-US" sz="2000" spc="-10" dirty="0">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dirty="0">
                <a:latin typeface="Times New Roman" panose="02020603050405020304" pitchFamily="18" charset="0"/>
                <a:cs typeface="Times New Roman" panose="02020603050405020304" pitchFamily="18" charset="0"/>
              </a:rPr>
              <a:t>Objectives</a:t>
            </a:r>
            <a:endParaRPr lang="en-IN" sz="2000" dirty="0">
              <a:latin typeface="Times New Roman" panose="02020603050405020304" pitchFamily="18" charset="0"/>
              <a:cs typeface="Times New Roman" panose="02020603050405020304" pitchFamily="18" charset="0"/>
            </a:endParaRP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Design </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Modules Split-up</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Implementation</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Testing</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Screen shots of output</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Conclusion and Future enhancement</a:t>
            </a:r>
          </a:p>
          <a:p>
            <a:pPr marL="800100" lvl="1" indent="-342900" algn="just">
              <a:lnSpc>
                <a:spcPct val="150000"/>
              </a:lnSpc>
              <a:buFont typeface="+mj-lt"/>
              <a:buAutoNum type="arabicPeriod"/>
              <a:tabLst>
                <a:tab pos="685800" algn="l"/>
              </a:tabLst>
            </a:pPr>
            <a:r>
              <a:rPr lang="en-US" sz="2000" spc="-10" dirty="0">
                <a:latin typeface="Times New Roman" panose="02020603050405020304" pitchFamily="18" charset="0"/>
                <a:ea typeface="Calibri" panose="020F0502020204030204" pitchFamily="34" charset="0"/>
                <a:cs typeface="Times New Roman" panose="02020603050405020304" pitchFamily="18" charset="0"/>
              </a:rPr>
              <a:t>References</a:t>
            </a:r>
            <a:endParaRPr lang="en-US" sz="2000" spc="-1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xmlns="" id="{4D0DB046-72AB-5878-FBE3-3FC3A0BE24CD}"/>
              </a:ext>
            </a:extLst>
          </p:cNvPr>
          <p:cNvSpPr txBox="1"/>
          <p:nvPr/>
        </p:nvSpPr>
        <p:spPr>
          <a:xfrm>
            <a:off x="-1" y="33090"/>
            <a:ext cx="35695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Tree>
    <p:extLst>
      <p:ext uri="{BB962C8B-B14F-4D97-AF65-F5344CB8AC3E}">
        <p14:creationId xmlns:p14="http://schemas.microsoft.com/office/powerpoint/2010/main" val="1529022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74AEA7B-CD69-6967-A21E-FF190D214BA8}"/>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BC2EBEA9-BC3D-9529-F2C3-E0F9A70B097F}"/>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5374383A-6888-8781-B99C-2DBC93CECC7F}"/>
              </a:ext>
            </a:extLst>
          </p:cNvPr>
          <p:cNvSpPr>
            <a:spLocks noGrp="1"/>
          </p:cNvSpPr>
          <p:nvPr>
            <p:ph type="sldNum" sz="quarter" idx="12"/>
          </p:nvPr>
        </p:nvSpPr>
        <p:spPr/>
        <p:txBody>
          <a:bodyPr/>
          <a:lstStyle/>
          <a:p>
            <a:fld id="{69FBB93A-4B32-4007-AACF-5243CED557C7}" type="slidenum">
              <a:rPr lang="en-IN" smtClean="0"/>
              <a:t>3</a:t>
            </a:fld>
            <a:endParaRPr lang="en-IN"/>
          </a:p>
        </p:txBody>
      </p:sp>
      <p:sp>
        <p:nvSpPr>
          <p:cNvPr id="6" name="TextBox 5">
            <a:extLst>
              <a:ext uri="{FF2B5EF4-FFF2-40B4-BE49-F238E27FC236}">
                <a16:creationId xmlns:a16="http://schemas.microsoft.com/office/drawing/2014/main" xmlns="" id="{B3253F16-2424-DE37-E7A8-057D38691704}"/>
              </a:ext>
            </a:extLst>
          </p:cNvPr>
          <p:cNvSpPr txBox="1"/>
          <p:nvPr/>
        </p:nvSpPr>
        <p:spPr>
          <a:xfrm>
            <a:off x="203200" y="142240"/>
            <a:ext cx="3820160"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
        <p:nvSpPr>
          <p:cNvPr id="5" name="Rectangle 4"/>
          <p:cNvSpPr/>
          <p:nvPr/>
        </p:nvSpPr>
        <p:spPr>
          <a:xfrm>
            <a:off x="5129068" y="449859"/>
            <a:ext cx="1912667" cy="400110"/>
          </a:xfrm>
          <a:prstGeom prst="rect">
            <a:avLst/>
          </a:prstGeom>
        </p:spPr>
        <p:txBody>
          <a:bodyPr wrap="square">
            <a:spAutoFit/>
          </a:bodyPr>
          <a:lstStyle/>
          <a:p>
            <a:r>
              <a:rPr lang="en-IN" sz="2000" b="1" dirty="0" smtClean="0">
                <a:latin typeface="Times New Roman" panose="02020603050405020304" pitchFamily="18" charset="0"/>
                <a:cs typeface="Times New Roman" panose="02020603050405020304" pitchFamily="18" charset="0"/>
              </a:rPr>
              <a:t>ABSTRACT</a:t>
            </a:r>
            <a:endParaRPr lang="en-IN" sz="2000" b="1" dirty="0"/>
          </a:p>
        </p:txBody>
      </p:sp>
      <p:sp>
        <p:nvSpPr>
          <p:cNvPr id="8" name="Rectangle 7"/>
          <p:cNvSpPr/>
          <p:nvPr/>
        </p:nvSpPr>
        <p:spPr>
          <a:xfrm>
            <a:off x="459574" y="1374899"/>
            <a:ext cx="11102886" cy="3637919"/>
          </a:xfrm>
          <a:prstGeom prst="rect">
            <a:avLst/>
          </a:prstGeom>
        </p:spPr>
        <p:txBody>
          <a:bodyPr wrap="square">
            <a:spAutoFit/>
          </a:bodyPr>
          <a:lstStyle/>
          <a:p>
            <a:pPr algn="just">
              <a:lnSpc>
                <a:spcPct val="160000"/>
              </a:lnSpc>
            </a:pPr>
            <a:r>
              <a:rPr lang="en-US" dirty="0">
                <a:latin typeface="Times New Roman" panose="02020603050405020304" pitchFamily="18" charset="0"/>
                <a:cs typeface="Times New Roman" panose="02020603050405020304" pitchFamily="18" charset="0"/>
              </a:rPr>
              <a:t>Smart Farming Solutions for Crop Disease Prediction and Control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ML presents an intelligent system that integrates machine learning with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to enhance agricultural productivity and crop health management. An Arduino controller is interfaced with sensors such as soil moisture, pH, and DHT11 to monitor essential soil and environmental conditions. A USB web camera is used for real-time disease detection through image analysis, while a relay-controlled DC water pump automates irrigation when low soil moisture is detected. The system displays readings on an LCD and uses a buzzer to alert farmers during abnormal conditions. By combining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monitoring with machine learning algorithms, the system ensures accurate disease prediction, optimized irrigation, and timely farmer intervention, thereby reducing crop loss and increasing yield efficiency.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3080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4</a:t>
            </a:fld>
            <a:endParaRPr lang="en-IN"/>
          </a:p>
        </p:txBody>
      </p:sp>
      <p:sp>
        <p:nvSpPr>
          <p:cNvPr id="5" name="Rectangle 4"/>
          <p:cNvSpPr/>
          <p:nvPr/>
        </p:nvSpPr>
        <p:spPr>
          <a:xfrm>
            <a:off x="367468" y="1199279"/>
            <a:ext cx="11323179" cy="4662815"/>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Agriculture is a vital sector that requires efficient crop management to maximize yield and minimize losses. Traditional farming methods, which rely heavily on manual monitoring, are often time-consuming and prone to errors. To address these challenges, the project “Smart Farming Solutions for Crop Disease Prediction and Control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ML” integrates Internet of Things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Machine Learning (ML) to create an intelligent system for real-time crop monitoring and disease management. The system uses an Arduino controller connected to sensors such as soil moisture, pH, and DHT11 to continuously monitor essential soil and environmental conditions. A USB web camera captures crop images for disease detection through ML-based image analysis, while a relay-controlled DC water pump automates irrigation whenever low soil moisture is detected. An LCD displays real-time readings, and a buzzer alerts farmers to abnormal conditions requiring immediate attention. By combining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-based monitoring with ML-driven predictive analysis, the system enables early disease detection, optimized irrigation, and timely intervention, thereby reducing crop loss and enhancing overall agricultural productivity.</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4909199" y="390038"/>
            <a:ext cx="2239716" cy="400110"/>
          </a:xfrm>
          <a:prstGeom prst="rect">
            <a:avLst/>
          </a:prstGeom>
        </p:spPr>
        <p:txBody>
          <a:bodyPr wrap="none">
            <a:spAutoFit/>
          </a:bodyPr>
          <a:lstStyle/>
          <a:p>
            <a:r>
              <a:rPr lang="en-IN" sz="2000" b="1" dirty="0" smtClean="0">
                <a:latin typeface="Times New Roman" panose="02020603050405020304" pitchFamily="18" charset="0"/>
                <a:cs typeface="Times New Roman" panose="02020603050405020304" pitchFamily="18" charset="0"/>
              </a:rPr>
              <a:t>INTRODUCTION</a:t>
            </a:r>
            <a:endParaRPr lang="en-IN" sz="2000" b="1" dirty="0"/>
          </a:p>
        </p:txBody>
      </p:sp>
    </p:spTree>
    <p:extLst>
      <p:ext uri="{BB962C8B-B14F-4D97-AF65-F5344CB8AC3E}">
        <p14:creationId xmlns:p14="http://schemas.microsoft.com/office/powerpoint/2010/main" val="289110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5</a:t>
            </a:fld>
            <a:endParaRPr lang="en-IN"/>
          </a:p>
        </p:txBody>
      </p:sp>
      <p:sp>
        <p:nvSpPr>
          <p:cNvPr id="5" name="Rectangle 4"/>
          <p:cNvSpPr/>
          <p:nvPr/>
        </p:nvSpPr>
        <p:spPr>
          <a:xfrm>
            <a:off x="3924962" y="797553"/>
            <a:ext cx="3641318" cy="553998"/>
          </a:xfrm>
          <a:prstGeom prst="rect">
            <a:avLst/>
          </a:prstGeom>
        </p:spPr>
        <p:txBody>
          <a:bodyPr wrap="none">
            <a:spAutoFit/>
          </a:bodyPr>
          <a:lstStyle/>
          <a:p>
            <a:pPr lvl="1" algn="just">
              <a:lnSpc>
                <a:spcPct val="150000"/>
              </a:lnSpc>
              <a:tabLst>
                <a:tab pos="685800" algn="l"/>
              </a:tabLst>
            </a:pP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PROBLEM</a:t>
            </a:r>
            <a:r>
              <a:rPr lang="en-US" sz="2000" b="1" spc="-15"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000" b="1" dirty="0" smtClean="0">
                <a:latin typeface="Times New Roman" panose="02020603050405020304" pitchFamily="18" charset="0"/>
                <a:ea typeface="Calibri" panose="020F0502020204030204" pitchFamily="34" charset="0"/>
                <a:cs typeface="Times New Roman" panose="02020603050405020304" pitchFamily="18" charset="0"/>
              </a:rPr>
              <a:t>STATEMENT</a:t>
            </a:r>
            <a:r>
              <a:rPr lang="en-US" sz="2000" b="1" spc="-1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700755" y="1859340"/>
            <a:ext cx="10212224" cy="2951064"/>
          </a:xfrm>
          <a:prstGeom prst="rect">
            <a:avLst/>
          </a:prstGeom>
        </p:spPr>
        <p:txBody>
          <a:bodyPr wrap="square">
            <a:spAutoFit/>
          </a:bodyPr>
          <a:lstStyle/>
          <a:p>
            <a:pPr algn="just">
              <a:lnSpc>
                <a:spcPct val="150000"/>
              </a:lnSpc>
            </a:pPr>
            <a:r>
              <a:rPr lang="en-US" dirty="0" smtClean="0">
                <a:latin typeface="Times New Roman" panose="02020603050405020304" pitchFamily="18" charset="0"/>
                <a:cs typeface="Times New Roman" panose="02020603050405020304" pitchFamily="18" charset="0"/>
              </a:rPr>
              <a:t>The agricultural sector, a pivotal cornerstone of economic stability and human sustenance , faces a persistent challenge in achieving optimal output because crops are frequently afflicted with diseases during their growth. The traditional method for addressing this issue relies on manual disease monitoring, which poses a formidable obstacle. This manual process is inherently inefficient, demanding substantial labor, specialized knowledge of plant pathology, and significant time. Consequently, diseases are often detected late, which impedes timely intervention and leads to poor crop production , exacerbated crop losses, and increased economic burdens.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041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xmlns="" id="{5918D989-2A37-3891-186E-A1261B11B375}"/>
              </a:ext>
            </a:extLst>
          </p:cNvPr>
          <p:cNvSpPr>
            <a:spLocks noGrp="1"/>
          </p:cNvSpPr>
          <p:nvPr>
            <p:ph type="ftr" sz="quarter" idx="11"/>
          </p:nvPr>
        </p:nvSpPr>
        <p:spPr/>
        <p:txBody>
          <a:bodyPr/>
          <a:lstStyle/>
          <a:p>
            <a:r>
              <a:rPr lang="en-IN"/>
              <a:t>2025-26</a:t>
            </a:r>
            <a:endParaRPr lang="en-IN" dirty="0"/>
          </a:p>
        </p:txBody>
      </p:sp>
      <p:sp>
        <p:nvSpPr>
          <p:cNvPr id="8" name="Slide Number Placeholder 7">
            <a:extLst>
              <a:ext uri="{FF2B5EF4-FFF2-40B4-BE49-F238E27FC236}">
                <a16:creationId xmlns:a16="http://schemas.microsoft.com/office/drawing/2014/main" xmlns="" id="{37EE4447-BC01-0414-8033-AFD9F83C9B8C}"/>
              </a:ext>
            </a:extLst>
          </p:cNvPr>
          <p:cNvSpPr>
            <a:spLocks noGrp="1"/>
          </p:cNvSpPr>
          <p:nvPr>
            <p:ph type="sldNum" sz="quarter" idx="12"/>
          </p:nvPr>
        </p:nvSpPr>
        <p:spPr/>
        <p:txBody>
          <a:bodyPr/>
          <a:lstStyle/>
          <a:p>
            <a:fld id="{69FBB93A-4B32-4007-AACF-5243CED557C7}" type="slidenum">
              <a:rPr lang="en-IN" smtClean="0"/>
              <a:t>6</a:t>
            </a:fld>
            <a:endParaRPr lang="en-IN"/>
          </a:p>
        </p:txBody>
      </p:sp>
      <p:sp>
        <p:nvSpPr>
          <p:cNvPr id="9" name="Date Placeholder 8">
            <a:extLst>
              <a:ext uri="{FF2B5EF4-FFF2-40B4-BE49-F238E27FC236}">
                <a16:creationId xmlns:a16="http://schemas.microsoft.com/office/drawing/2014/main" xmlns="" id="{2A11A15E-64A8-D69C-C5B5-768B49DD6E0C}"/>
              </a:ext>
            </a:extLst>
          </p:cNvPr>
          <p:cNvSpPr>
            <a:spLocks noGrp="1"/>
          </p:cNvSpPr>
          <p:nvPr>
            <p:ph type="dt" sz="half" idx="10"/>
          </p:nvPr>
        </p:nvSpPr>
        <p:spPr/>
        <p:txBody>
          <a:bodyPr/>
          <a:lstStyle/>
          <a:p>
            <a:r>
              <a:rPr lang="en-US"/>
              <a:t>Dept of AI&amp;DS, SJCIT</a:t>
            </a:r>
            <a:endParaRPr lang="en-IN"/>
          </a:p>
        </p:txBody>
      </p:sp>
      <p:sp>
        <p:nvSpPr>
          <p:cNvPr id="10" name="TextBox 9">
            <a:extLst>
              <a:ext uri="{FF2B5EF4-FFF2-40B4-BE49-F238E27FC236}">
                <a16:creationId xmlns:a16="http://schemas.microsoft.com/office/drawing/2014/main" xmlns="" id="{83C165D1-DA7E-7835-B88D-500B697F3E6F}"/>
              </a:ext>
            </a:extLst>
          </p:cNvPr>
          <p:cNvSpPr txBox="1"/>
          <p:nvPr/>
        </p:nvSpPr>
        <p:spPr>
          <a:xfrm>
            <a:off x="0" y="33090"/>
            <a:ext cx="4747339"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sz="800" b="1" dirty="0">
              <a:solidFill>
                <a:schemeClr val="tx1">
                  <a:lumMod val="95000"/>
                  <a:lumOff val="5000"/>
                </a:schemeClr>
              </a:solidFill>
            </a:endParaRPr>
          </a:p>
        </p:txBody>
      </p:sp>
      <p:sp>
        <p:nvSpPr>
          <p:cNvPr id="24" name="TextBox 23">
            <a:extLst>
              <a:ext uri="{FF2B5EF4-FFF2-40B4-BE49-F238E27FC236}">
                <a16:creationId xmlns:a16="http://schemas.microsoft.com/office/drawing/2014/main" xmlns="" id="{D17B612F-A342-2C4E-759B-AE95768CF571}"/>
              </a:ext>
            </a:extLst>
          </p:cNvPr>
          <p:cNvSpPr txBox="1"/>
          <p:nvPr/>
        </p:nvSpPr>
        <p:spPr>
          <a:xfrm>
            <a:off x="1313411" y="3000895"/>
            <a:ext cx="8503920" cy="923330"/>
          </a:xfrm>
          <a:prstGeom prst="rect">
            <a:avLst/>
          </a:prstGeom>
          <a:noFill/>
        </p:spPr>
        <p:txBody>
          <a:bodyPr wrap="square" rtlCol="0">
            <a:spAutoFit/>
          </a:bodyPr>
          <a:lstStyle/>
          <a:p>
            <a:endParaRPr lang="en-IN" dirty="0"/>
          </a:p>
          <a:p>
            <a:r>
              <a:rPr lang="en-IN" dirty="0"/>
              <a:t>      </a:t>
            </a:r>
          </a:p>
          <a:p>
            <a:endParaRPr lang="en-IN" dirty="0"/>
          </a:p>
        </p:txBody>
      </p:sp>
      <p:sp>
        <p:nvSpPr>
          <p:cNvPr id="2" name="Rectangle 1"/>
          <p:cNvSpPr/>
          <p:nvPr/>
        </p:nvSpPr>
        <p:spPr>
          <a:xfrm>
            <a:off x="401652" y="1072023"/>
            <a:ext cx="11477002" cy="4247317"/>
          </a:xfrm>
          <a:prstGeom prst="rect">
            <a:avLst/>
          </a:prstGeom>
        </p:spPr>
        <p:txBody>
          <a:bodyPr wrap="square">
            <a:spAutoFit/>
          </a:bodyPr>
          <a:lstStyle/>
          <a:p>
            <a:pPr marL="285750" lvl="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combine machine learning (ML) and the Internet of Things (</a:t>
            </a:r>
            <a:r>
              <a:rPr lang="en-US" altLang="en-US" dirty="0" err="1">
                <a:latin typeface="Times New Roman" panose="02020603050405020304" pitchFamily="18" charset="0"/>
                <a:cs typeface="Times New Roman" panose="02020603050405020304" pitchFamily="18" charset="0"/>
              </a:rPr>
              <a:t>IoT</a:t>
            </a:r>
            <a:r>
              <a:rPr lang="en-US" altLang="en-US" dirty="0">
                <a:latin typeface="Times New Roman" panose="02020603050405020304" pitchFamily="18" charset="0"/>
                <a:cs typeface="Times New Roman" panose="02020603050405020304" pitchFamily="18" charset="0"/>
              </a:rPr>
              <a:t>) to predict and manage crop diseases and implement corrective actions.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collect real-time data on crop conditions using </a:t>
            </a:r>
            <a:r>
              <a:rPr lang="en-US" altLang="en-US" dirty="0" err="1">
                <a:latin typeface="Times New Roman" panose="02020603050405020304" pitchFamily="18" charset="0"/>
                <a:cs typeface="Times New Roman" panose="02020603050405020304" pitchFamily="18" charset="0"/>
              </a:rPr>
              <a:t>IoT</a:t>
            </a:r>
            <a:r>
              <a:rPr lang="en-US" altLang="en-US" dirty="0">
                <a:latin typeface="Times New Roman" panose="02020603050405020304" pitchFamily="18" charset="0"/>
                <a:cs typeface="Times New Roman" panose="02020603050405020304" pitchFamily="18" charset="0"/>
              </a:rPr>
              <a:t> devices equipped with sensors for temperature, moisture, humidity, and integrate ML output with these readings.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To analyze environmental inputs using Random Forest classifiers to predict and categorize the environmental status.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analyze live webcam footage using a YOLOv8 model to detect, classify, and compute the severity of rice leaf diseases in real-time.</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enable an Arduino controller to receive ML-based predictions and activate appropriate corrective actions.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To transform the farming process by providing farmers with a more precise and efficient way of managing and monitoring crops through the integration of </a:t>
            </a:r>
            <a:r>
              <a:rPr lang="en-US" altLang="en-US" dirty="0" err="1">
                <a:latin typeface="Times New Roman" panose="02020603050405020304" pitchFamily="18" charset="0"/>
                <a:cs typeface="Times New Roman" panose="02020603050405020304" pitchFamily="18" charset="0"/>
              </a:rPr>
              <a:t>IoT</a:t>
            </a:r>
            <a:r>
              <a:rPr lang="en-US" altLang="en-US" dirty="0">
                <a:latin typeface="Times New Roman" panose="02020603050405020304" pitchFamily="18" charset="0"/>
                <a:cs typeface="Times New Roman" panose="02020603050405020304" pitchFamily="18" charset="0"/>
              </a:rPr>
              <a:t> and ML. </a:t>
            </a:r>
          </a:p>
        </p:txBody>
      </p:sp>
      <p:sp>
        <p:nvSpPr>
          <p:cNvPr id="3" name="Rectangle 2"/>
          <p:cNvSpPr/>
          <p:nvPr/>
        </p:nvSpPr>
        <p:spPr>
          <a:xfrm>
            <a:off x="5159565" y="475496"/>
            <a:ext cx="1847986" cy="400110"/>
          </a:xfrm>
          <a:prstGeom prst="rect">
            <a:avLst/>
          </a:prstGeom>
        </p:spPr>
        <p:txBody>
          <a:bodyPr wrap="square">
            <a:spAutoFit/>
          </a:bodyPr>
          <a:lstStyle/>
          <a:p>
            <a:pPr algn="ctr"/>
            <a:r>
              <a:rPr lang="en-IN" sz="2000" b="1" dirty="0" smtClean="0">
                <a:latin typeface="Times New Roman" panose="02020603050405020304" pitchFamily="18" charset="0"/>
                <a:cs typeface="Times New Roman" panose="02020603050405020304" pitchFamily="18" charset="0"/>
              </a:rPr>
              <a:t>OBJECTIVES</a:t>
            </a:r>
            <a:endParaRPr lang="en-IN" sz="2000" b="1" dirty="0"/>
          </a:p>
        </p:txBody>
      </p:sp>
    </p:spTree>
    <p:extLst>
      <p:ext uri="{BB962C8B-B14F-4D97-AF65-F5344CB8AC3E}">
        <p14:creationId xmlns:p14="http://schemas.microsoft.com/office/powerpoint/2010/main" val="36099509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7F06C8C-DBCF-7757-CAF4-5E618C505DCC}"/>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603E6C16-ACED-B393-2054-3837C2CC0D7C}"/>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B96DDE33-0858-AD6E-1CD0-7080D2CD11F2}"/>
              </a:ext>
            </a:extLst>
          </p:cNvPr>
          <p:cNvSpPr>
            <a:spLocks noGrp="1"/>
          </p:cNvSpPr>
          <p:nvPr>
            <p:ph type="sldNum" sz="quarter" idx="12"/>
          </p:nvPr>
        </p:nvSpPr>
        <p:spPr/>
        <p:txBody>
          <a:bodyPr/>
          <a:lstStyle/>
          <a:p>
            <a:fld id="{69FBB93A-4B32-4007-AACF-5243CED557C7}" type="slidenum">
              <a:rPr lang="en-IN" smtClean="0"/>
              <a:t>7</a:t>
            </a:fld>
            <a:endParaRPr lang="en-IN"/>
          </a:p>
        </p:txBody>
      </p:sp>
      <p:sp>
        <p:nvSpPr>
          <p:cNvPr id="10" name="TextBox 9">
            <a:extLst>
              <a:ext uri="{FF2B5EF4-FFF2-40B4-BE49-F238E27FC236}">
                <a16:creationId xmlns:a16="http://schemas.microsoft.com/office/drawing/2014/main" xmlns="" id="{86890BCA-1CFC-FAF0-354E-B5CA49113978}"/>
              </a:ext>
            </a:extLst>
          </p:cNvPr>
          <p:cNvSpPr txBox="1"/>
          <p:nvPr/>
        </p:nvSpPr>
        <p:spPr>
          <a:xfrm>
            <a:off x="0" y="1"/>
            <a:ext cx="3034145"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
        <p:nvSpPr>
          <p:cNvPr id="5" name="Rectangle 4"/>
          <p:cNvSpPr/>
          <p:nvPr/>
        </p:nvSpPr>
        <p:spPr>
          <a:xfrm>
            <a:off x="5150662" y="526771"/>
            <a:ext cx="1161215" cy="400110"/>
          </a:xfrm>
          <a:prstGeom prst="rect">
            <a:avLst/>
          </a:prstGeom>
        </p:spPr>
        <p:txBody>
          <a:bodyPr wrap="none">
            <a:spAutoFit/>
          </a:bodyPr>
          <a:lstStyle/>
          <a:p>
            <a:r>
              <a:rPr lang="en-US" sz="2000" b="1" spc="-10" dirty="0" smtClean="0">
                <a:latin typeface="Times New Roman" panose="02020603050405020304" pitchFamily="18" charset="0"/>
                <a:ea typeface="Calibri" panose="020F0502020204030204" pitchFamily="34" charset="0"/>
                <a:cs typeface="Times New Roman" panose="02020603050405020304" pitchFamily="18" charset="0"/>
              </a:rPr>
              <a:t>DESIGN</a:t>
            </a:r>
            <a:endParaRPr lang="en-IN" sz="2000" b="1" dirty="0"/>
          </a:p>
        </p:txBody>
      </p:sp>
    </p:spTree>
    <p:extLst>
      <p:ext uri="{BB962C8B-B14F-4D97-AF65-F5344CB8AC3E}">
        <p14:creationId xmlns:p14="http://schemas.microsoft.com/office/powerpoint/2010/main" val="6574590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xmlns="" id="{E2E89DF8-AD27-E7AB-7EB6-D993AD1DD4BD}"/>
              </a:ext>
            </a:extLst>
          </p:cNvPr>
          <p:cNvSpPr>
            <a:spLocks noGrp="1"/>
          </p:cNvSpPr>
          <p:nvPr>
            <p:ph type="ftr" sz="quarter" idx="11"/>
          </p:nvPr>
        </p:nvSpPr>
        <p:spPr/>
        <p:txBody>
          <a:bodyPr/>
          <a:lstStyle/>
          <a:p>
            <a:r>
              <a:rPr lang="en-IN"/>
              <a:t>2025-26</a:t>
            </a:r>
          </a:p>
        </p:txBody>
      </p:sp>
      <p:sp>
        <p:nvSpPr>
          <p:cNvPr id="8" name="Slide Number Placeholder 7">
            <a:extLst>
              <a:ext uri="{FF2B5EF4-FFF2-40B4-BE49-F238E27FC236}">
                <a16:creationId xmlns:a16="http://schemas.microsoft.com/office/drawing/2014/main" xmlns="" id="{D4645177-387E-3591-BCF5-CF8CECAB274F}"/>
              </a:ext>
            </a:extLst>
          </p:cNvPr>
          <p:cNvSpPr>
            <a:spLocks noGrp="1"/>
          </p:cNvSpPr>
          <p:nvPr>
            <p:ph type="sldNum" sz="quarter" idx="12"/>
          </p:nvPr>
        </p:nvSpPr>
        <p:spPr/>
        <p:txBody>
          <a:bodyPr/>
          <a:lstStyle/>
          <a:p>
            <a:fld id="{69FBB93A-4B32-4007-AACF-5243CED557C7}" type="slidenum">
              <a:rPr lang="en-IN" smtClean="0"/>
              <a:t>8</a:t>
            </a:fld>
            <a:endParaRPr lang="en-IN"/>
          </a:p>
        </p:txBody>
      </p:sp>
      <p:sp>
        <p:nvSpPr>
          <p:cNvPr id="9" name="Date Placeholder 8">
            <a:extLst>
              <a:ext uri="{FF2B5EF4-FFF2-40B4-BE49-F238E27FC236}">
                <a16:creationId xmlns:a16="http://schemas.microsoft.com/office/drawing/2014/main" xmlns="" id="{159A5EAB-1C55-7FFB-B219-EE13B91C9835}"/>
              </a:ext>
            </a:extLst>
          </p:cNvPr>
          <p:cNvSpPr>
            <a:spLocks noGrp="1"/>
          </p:cNvSpPr>
          <p:nvPr>
            <p:ph type="dt" sz="half" idx="10"/>
          </p:nvPr>
        </p:nvSpPr>
        <p:spPr/>
        <p:txBody>
          <a:bodyPr/>
          <a:lstStyle/>
          <a:p>
            <a:r>
              <a:rPr lang="en-US"/>
              <a:t>Dept of AI&amp;DS, SJCIT</a:t>
            </a:r>
            <a:endParaRPr lang="en-IN"/>
          </a:p>
        </p:txBody>
      </p:sp>
      <p:sp>
        <p:nvSpPr>
          <p:cNvPr id="10" name="TextBox 9">
            <a:extLst>
              <a:ext uri="{FF2B5EF4-FFF2-40B4-BE49-F238E27FC236}">
                <a16:creationId xmlns:a16="http://schemas.microsoft.com/office/drawing/2014/main" xmlns="" id="{236DA4CF-E453-3000-4301-1423728FF96D}"/>
              </a:ext>
            </a:extLst>
          </p:cNvPr>
          <p:cNvSpPr txBox="1"/>
          <p:nvPr/>
        </p:nvSpPr>
        <p:spPr>
          <a:xfrm>
            <a:off x="0" y="33090"/>
            <a:ext cx="5533534"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sz="800" b="1" dirty="0">
              <a:solidFill>
                <a:schemeClr val="tx1">
                  <a:lumMod val="95000"/>
                  <a:lumOff val="5000"/>
                </a:schemeClr>
              </a:solidFill>
            </a:endParaRPr>
          </a:p>
        </p:txBody>
      </p:sp>
      <p:sp>
        <p:nvSpPr>
          <p:cNvPr id="5" name="TextBox 4">
            <a:extLst>
              <a:ext uri="{FF2B5EF4-FFF2-40B4-BE49-F238E27FC236}">
                <a16:creationId xmlns:a16="http://schemas.microsoft.com/office/drawing/2014/main" xmlns="" id="{B3D9FE28-5B2D-7FF2-5B21-B6E044D70CB9}"/>
              </a:ext>
            </a:extLst>
          </p:cNvPr>
          <p:cNvSpPr txBox="1"/>
          <p:nvPr/>
        </p:nvSpPr>
        <p:spPr>
          <a:xfrm>
            <a:off x="1862051" y="2211185"/>
            <a:ext cx="7265324" cy="369332"/>
          </a:xfrm>
          <a:prstGeom prst="rect">
            <a:avLst/>
          </a:prstGeom>
          <a:noFill/>
        </p:spPr>
        <p:txBody>
          <a:bodyPr wrap="square" rtlCol="0">
            <a:spAutoFit/>
          </a:bodyPr>
          <a:lstStyle/>
          <a:p>
            <a:r>
              <a:rPr lang="en-IN" dirty="0"/>
              <a:t>   </a:t>
            </a:r>
          </a:p>
        </p:txBody>
      </p:sp>
      <p:sp>
        <p:nvSpPr>
          <p:cNvPr id="11" name="Rectangle 2">
            <a:extLst>
              <a:ext uri="{FF2B5EF4-FFF2-40B4-BE49-F238E27FC236}">
                <a16:creationId xmlns:a16="http://schemas.microsoft.com/office/drawing/2014/main" xmlns="" id="{DC431DBB-00A1-4FBE-F001-002F2D2724B5}"/>
              </a:ext>
            </a:extLst>
          </p:cNvPr>
          <p:cNvSpPr>
            <a:spLocks noChangeArrowheads="1"/>
          </p:cNvSpPr>
          <p:nvPr/>
        </p:nvSpPr>
        <p:spPr bwMode="auto">
          <a:xfrm>
            <a:off x="856213" y="2163645"/>
            <a:ext cx="10823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2"/>
          <p:cNvSpPr/>
          <p:nvPr/>
        </p:nvSpPr>
        <p:spPr>
          <a:xfrm>
            <a:off x="452926" y="1218835"/>
            <a:ext cx="11006983" cy="4708981"/>
          </a:xfrm>
          <a:prstGeom prst="rect">
            <a:avLst/>
          </a:prstGeom>
        </p:spPr>
        <p:txBody>
          <a:bodyPr wrap="square">
            <a:spAutoFit/>
          </a:bodyPr>
          <a:lstStyle/>
          <a:p>
            <a:pPr>
              <a:lnSpc>
                <a:spcPct val="150000"/>
              </a:lnSpc>
            </a:pPr>
            <a:r>
              <a:rPr lang="en-US" sz="2000" b="1" dirty="0" smtClean="0">
                <a:latin typeface="Times New Roman" panose="02020603050405020304" pitchFamily="18" charset="0"/>
                <a:cs typeface="Times New Roman" panose="02020603050405020304" pitchFamily="18" charset="0"/>
              </a:rPr>
              <a:t>1</a:t>
            </a:r>
            <a:r>
              <a:rPr lang="en-US" sz="2000" b="1" dirty="0">
                <a:latin typeface="Times New Roman" panose="02020603050405020304" pitchFamily="18" charset="0"/>
                <a:cs typeface="Times New Roman" panose="02020603050405020304" pitchFamily="18" charset="0"/>
              </a:rPr>
              <a:t>. Data Collection and Preprocessing Module</a:t>
            </a:r>
          </a:p>
          <a:p>
            <a:pPr>
              <a:lnSpc>
                <a:spcPct val="150000"/>
              </a:lnSpc>
            </a:pPr>
            <a:r>
              <a:rPr lang="en-US" sz="2000" b="1" dirty="0">
                <a:latin typeface="Times New Roman" panose="02020603050405020304" pitchFamily="18" charset="0"/>
                <a:cs typeface="Times New Roman" panose="02020603050405020304" pitchFamily="18" charset="0"/>
              </a:rPr>
              <a:t>Tasks:</a:t>
            </a:r>
            <a:endParaRPr lang="en-US" sz="20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leaf images (healthy &amp; diseased)</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Label images into categories(Healthy, Fungal, Bacterial, Pest)</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Resize, normalize, and augment </a:t>
            </a:r>
            <a:r>
              <a:rPr lang="en-US" sz="2000" dirty="0" smtClean="0">
                <a:latin typeface="Times New Roman" panose="02020603050405020304" pitchFamily="18" charset="0"/>
                <a:cs typeface="Times New Roman" panose="02020603050405020304" pitchFamily="18" charset="0"/>
              </a:rPr>
              <a:t>images</a:t>
            </a:r>
          </a:p>
          <a:p>
            <a:pPr>
              <a:lnSpc>
                <a:spcPct val="150000"/>
              </a:lnSpc>
            </a:pPr>
            <a:r>
              <a:rPr lang="en-IN" sz="2000" b="1" dirty="0" smtClean="0">
                <a:latin typeface="Times New Roman" panose="02020603050405020304" pitchFamily="18" charset="0"/>
                <a:cs typeface="Times New Roman" panose="02020603050405020304" pitchFamily="18" charset="0"/>
              </a:rPr>
              <a:t>2. Machine Learning Model Development Module</a:t>
            </a:r>
          </a:p>
          <a:p>
            <a:pPr>
              <a:lnSpc>
                <a:spcPct val="150000"/>
              </a:lnSpc>
            </a:pPr>
            <a:r>
              <a:rPr lang="en-IN" sz="2000" b="1" dirty="0">
                <a:latin typeface="Times New Roman" panose="02020603050405020304" pitchFamily="18" charset="0"/>
                <a:cs typeface="Times New Roman" panose="02020603050405020304" pitchFamily="18" charset="0"/>
              </a:rPr>
              <a:t>Tasks</a:t>
            </a:r>
            <a:r>
              <a:rPr lang="en-IN" sz="2000" b="1" dirty="0" smtClean="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Import </a:t>
            </a:r>
            <a:r>
              <a:rPr lang="en-IN" sz="2000" dirty="0">
                <a:latin typeface="Times New Roman" panose="02020603050405020304" pitchFamily="18" charset="0"/>
                <a:cs typeface="Times New Roman" panose="02020603050405020304" pitchFamily="18" charset="0"/>
              </a:rPr>
              <a:t>all necessary libraries (pandas, </a:t>
            </a:r>
            <a:r>
              <a:rPr lang="en-IN" sz="2000" dirty="0" err="1">
                <a:latin typeface="Times New Roman" panose="02020603050405020304" pitchFamily="18" charset="0"/>
                <a:cs typeface="Times New Roman" panose="02020603050405020304" pitchFamily="18" charset="0"/>
              </a:rPr>
              <a:t>sklearn</a:t>
            </a:r>
            <a:r>
              <a:rPr lang="en-IN" sz="2000" dirty="0">
                <a:latin typeface="Times New Roman" panose="02020603050405020304" pitchFamily="18" charset="0"/>
                <a:cs typeface="Times New Roman" panose="02020603050405020304" pitchFamily="18" charset="0"/>
              </a:rPr>
              <a:t>, serial, cv2, </a:t>
            </a:r>
            <a:r>
              <a:rPr lang="en-IN" sz="2000" dirty="0" err="1">
                <a:latin typeface="Times New Roman" panose="02020603050405020304" pitchFamily="18" charset="0"/>
                <a:cs typeface="Times New Roman" panose="02020603050405020304" pitchFamily="18" charset="0"/>
              </a:rPr>
              <a:t>ultralytics</a:t>
            </a:r>
            <a:r>
              <a:rPr lang="en-IN" sz="2000" dirty="0">
                <a:latin typeface="Times New Roman" panose="02020603050405020304" pitchFamily="18" charset="0"/>
                <a:cs typeface="Times New Roman" panose="02020603050405020304" pitchFamily="18" charset="0"/>
              </a:rPr>
              <a:t>, etc</a:t>
            </a:r>
            <a:r>
              <a:rPr lang="en-IN" sz="2000" dirty="0" smtClean="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Establish </a:t>
            </a:r>
            <a:r>
              <a:rPr lang="en-IN" sz="2000" dirty="0">
                <a:latin typeface="Times New Roman" panose="02020603050405020304" pitchFamily="18" charset="0"/>
                <a:cs typeface="Times New Roman" panose="02020603050405020304" pitchFamily="18" charset="0"/>
              </a:rPr>
              <a:t>a serial connection to the </a:t>
            </a:r>
            <a:r>
              <a:rPr lang="en-IN" sz="2000" dirty="0" smtClean="0">
                <a:latin typeface="Times New Roman" panose="02020603050405020304" pitchFamily="18" charset="0"/>
                <a:cs typeface="Times New Roman" panose="02020603050405020304" pitchFamily="18" charset="0"/>
              </a:rPr>
              <a:t>Arduino. Load </a:t>
            </a:r>
            <a:r>
              <a:rPr lang="en-IN" sz="2000" dirty="0">
                <a:latin typeface="Times New Roman" panose="02020603050405020304" pitchFamily="18" charset="0"/>
                <a:cs typeface="Times New Roman" panose="02020603050405020304" pitchFamily="18" charset="0"/>
              </a:rPr>
              <a:t>the sensor dataset from data.xlsx</a:t>
            </a:r>
            <a:r>
              <a:rPr lang="en-IN" sz="2000" dirty="0" smtClean="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Train </a:t>
            </a:r>
            <a:r>
              <a:rPr lang="en-IN" sz="2000" dirty="0">
                <a:latin typeface="Times New Roman" panose="02020603050405020304" pitchFamily="18" charset="0"/>
                <a:cs typeface="Times New Roman" panose="02020603050405020304" pitchFamily="18" charset="0"/>
              </a:rPr>
              <a:t>three Random Forest Classifier models, one for each </a:t>
            </a:r>
            <a:r>
              <a:rPr lang="en-IN" sz="2000" dirty="0" smtClean="0">
                <a:latin typeface="Times New Roman" panose="02020603050405020304" pitchFamily="18" charset="0"/>
                <a:cs typeface="Times New Roman" panose="02020603050405020304" pitchFamily="18" charset="0"/>
              </a:rPr>
              <a:t>sensor</a:t>
            </a:r>
          </a:p>
        </p:txBody>
      </p:sp>
      <p:sp>
        <p:nvSpPr>
          <p:cNvPr id="6" name="Rectangle 5"/>
          <p:cNvSpPr/>
          <p:nvPr/>
        </p:nvSpPr>
        <p:spPr>
          <a:xfrm>
            <a:off x="5019058" y="273850"/>
            <a:ext cx="2497479" cy="507831"/>
          </a:xfrm>
          <a:prstGeom prst="rect">
            <a:avLst/>
          </a:prstGeom>
        </p:spPr>
        <p:txBody>
          <a:bodyPr wrap="none">
            <a:spAutoFit/>
          </a:bodyPr>
          <a:lstStyle/>
          <a:p>
            <a:pPr>
              <a:lnSpc>
                <a:spcPct val="150000"/>
              </a:lnSpc>
            </a:pPr>
            <a:r>
              <a:rPr lang="en-IN" b="1" dirty="0">
                <a:latin typeface="Times New Roman" panose="02020603050405020304" pitchFamily="18" charset="0"/>
                <a:cs typeface="Times New Roman" panose="02020603050405020304" pitchFamily="18" charset="0"/>
              </a:rPr>
              <a:t> MODULES SPLIT-UP</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40986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CC462CF-0E7B-C838-6D10-4181227157AE}"/>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D9E4659B-85F0-F756-4727-F086460F6743}"/>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7BB7E390-E47C-0F56-DBAE-E5E06C6A3321}"/>
              </a:ext>
            </a:extLst>
          </p:cNvPr>
          <p:cNvSpPr>
            <a:spLocks noGrp="1"/>
          </p:cNvSpPr>
          <p:nvPr>
            <p:ph type="sldNum" sz="quarter" idx="12"/>
          </p:nvPr>
        </p:nvSpPr>
        <p:spPr/>
        <p:txBody>
          <a:bodyPr/>
          <a:lstStyle/>
          <a:p>
            <a:fld id="{69FBB93A-4B32-4007-AACF-5243CED557C7}" type="slidenum">
              <a:rPr lang="en-IN" smtClean="0"/>
              <a:t>9</a:t>
            </a:fld>
            <a:endParaRPr lang="en-IN"/>
          </a:p>
        </p:txBody>
      </p:sp>
      <p:sp>
        <p:nvSpPr>
          <p:cNvPr id="5" name="TextBox 4">
            <a:extLst>
              <a:ext uri="{FF2B5EF4-FFF2-40B4-BE49-F238E27FC236}">
                <a16:creationId xmlns:a16="http://schemas.microsoft.com/office/drawing/2014/main" xmlns="" id="{A2CD46D0-2C5B-9E8F-981E-7ECD4CF4F3AD}"/>
              </a:ext>
            </a:extLst>
          </p:cNvPr>
          <p:cNvSpPr txBox="1"/>
          <p:nvPr/>
        </p:nvSpPr>
        <p:spPr>
          <a:xfrm>
            <a:off x="0" y="-44351"/>
            <a:ext cx="3569551"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
        <p:nvSpPr>
          <p:cNvPr id="9" name="Rectangle 8"/>
          <p:cNvSpPr/>
          <p:nvPr/>
        </p:nvSpPr>
        <p:spPr>
          <a:xfrm>
            <a:off x="828942" y="339667"/>
            <a:ext cx="10656606" cy="5909310"/>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4. Real-Time Disease Detection Module (YOLOv8</a:t>
            </a:r>
            <a:r>
              <a:rPr lang="en-US" b="1"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Tasks:</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Load </a:t>
            </a:r>
            <a:r>
              <a:rPr lang="en-US" dirty="0">
                <a:latin typeface="Times New Roman" panose="02020603050405020304" pitchFamily="18" charset="0"/>
                <a:cs typeface="Times New Roman" panose="02020603050405020304" pitchFamily="18" charset="0"/>
              </a:rPr>
              <a:t>the custom-trained YOLOv8 model (best.pt</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Define </a:t>
            </a:r>
            <a:r>
              <a:rPr lang="en-US" dirty="0">
                <a:latin typeface="Times New Roman" panose="02020603050405020304" pitchFamily="18" charset="0"/>
                <a:cs typeface="Times New Roman" panose="02020603050405020304" pitchFamily="18" charset="0"/>
              </a:rPr>
              <a:t>a function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open the webcam</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Process </a:t>
            </a:r>
            <a:r>
              <a:rPr lang="en-US" dirty="0">
                <a:latin typeface="Times New Roman" panose="02020603050405020304" pitchFamily="18" charset="0"/>
                <a:cs typeface="Times New Roman" panose="02020603050405020304" pitchFamily="18" charset="0"/>
              </a:rPr>
              <a:t>video frames to detect and draw bounding boxes for diseases</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Estimate </a:t>
            </a:r>
            <a:r>
              <a:rPr lang="en-US" dirty="0">
                <a:latin typeface="Times New Roman" panose="02020603050405020304" pitchFamily="18" charset="0"/>
                <a:cs typeface="Times New Roman" panose="02020603050405020304" pitchFamily="18" charset="0"/>
              </a:rPr>
              <a:t>the infection percentage and severity level </a:t>
            </a:r>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detected diseases</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Display </a:t>
            </a:r>
            <a:r>
              <a:rPr lang="en-US" dirty="0">
                <a:latin typeface="Times New Roman" panose="02020603050405020304" pitchFamily="18" charset="0"/>
                <a:cs typeface="Times New Roman" panose="02020603050405020304" pitchFamily="18" charset="0"/>
              </a:rPr>
              <a:t>the live video feed with detection results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5</a:t>
            </a:r>
            <a:r>
              <a:rPr lang="en-US" b="1" dirty="0">
                <a:latin typeface="Times New Roman" panose="02020603050405020304" pitchFamily="18" charset="0"/>
                <a:cs typeface="Times New Roman" panose="02020603050405020304" pitchFamily="18" charset="0"/>
              </a:rPr>
              <a:t>. Main Execution &amp; Decision </a:t>
            </a:r>
            <a:r>
              <a:rPr lang="en-US" b="1" dirty="0" smtClean="0">
                <a:latin typeface="Times New Roman" panose="02020603050405020304" pitchFamily="18" charset="0"/>
                <a:cs typeface="Times New Roman" panose="02020603050405020304" pitchFamily="18" charset="0"/>
              </a:rPr>
              <a:t>Logic</a:t>
            </a:r>
          </a:p>
          <a:p>
            <a:pPr algn="just">
              <a:lnSpc>
                <a:spcPct val="150000"/>
              </a:lnSpc>
            </a:pPr>
            <a:r>
              <a:rPr lang="en-US" b="1" dirty="0" smtClean="0">
                <a:latin typeface="Times New Roman" panose="02020603050405020304" pitchFamily="18" charset="0"/>
                <a:cs typeface="Times New Roman" panose="02020603050405020304" pitchFamily="18" charset="0"/>
              </a:rPr>
              <a:t>Tasks:</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Run </a:t>
            </a:r>
            <a:r>
              <a:rPr lang="en-US" dirty="0">
                <a:latin typeface="Times New Roman" panose="02020603050405020304" pitchFamily="18" charset="0"/>
                <a:cs typeface="Times New Roman" panose="02020603050405020304" pitchFamily="18" charset="0"/>
              </a:rPr>
              <a:t>an infinite loop to continuously read sensor data</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Use </a:t>
            </a:r>
            <a:r>
              <a:rPr lang="en-US" dirty="0">
                <a:latin typeface="Times New Roman" panose="02020603050405020304" pitchFamily="18" charset="0"/>
                <a:cs typeface="Times New Roman" panose="02020603050405020304" pitchFamily="18" charset="0"/>
              </a:rPr>
              <a:t>the trained Random Forest models to predict the status of the live sensor values</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Check </a:t>
            </a:r>
            <a:r>
              <a:rPr lang="en-US" dirty="0">
                <a:latin typeface="Times New Roman" panose="02020603050405020304" pitchFamily="18" charset="0"/>
                <a:cs typeface="Times New Roman" panose="02020603050405020304" pitchFamily="18" charset="0"/>
              </a:rPr>
              <a:t>the user's initial mode </a:t>
            </a:r>
            <a:r>
              <a:rPr lang="en-US" dirty="0" smtClean="0">
                <a:latin typeface="Times New Roman" panose="02020603050405020304" pitchFamily="18" charset="0"/>
                <a:cs typeface="Times New Roman" panose="02020603050405020304" pitchFamily="18" charset="0"/>
              </a:rPr>
              <a:t>choice: If </a:t>
            </a:r>
            <a:r>
              <a:rPr lang="en-US" dirty="0">
                <a:latin typeface="Times New Roman" panose="02020603050405020304" pitchFamily="18" charset="0"/>
                <a:cs typeface="Times New Roman" panose="02020603050405020304" pitchFamily="18" charset="0"/>
              </a:rPr>
              <a:t>Mode 1, only run sensor predictions</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Mode 2, launch the YOLOv8 detection function in a separate thread</a:t>
            </a:r>
            <a:r>
              <a:rPr lang="en-US" dirty="0" smtClean="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Communicate </a:t>
            </a:r>
            <a:r>
              <a:rPr lang="en-US" dirty="0">
                <a:latin typeface="Times New Roman" panose="02020603050405020304" pitchFamily="18" charset="0"/>
                <a:cs typeface="Times New Roman" panose="02020603050405020304" pitchFamily="18" charset="0"/>
              </a:rPr>
              <a:t>final decisions </a:t>
            </a:r>
            <a:r>
              <a:rPr lang="en-US" dirty="0" smtClean="0">
                <a:latin typeface="Times New Roman" panose="02020603050405020304" pitchFamily="18" charset="0"/>
                <a:cs typeface="Times New Roman" panose="02020603050405020304" pitchFamily="18" charset="0"/>
              </a:rPr>
              <a:t>back </a:t>
            </a:r>
            <a:r>
              <a:rPr lang="en-US" dirty="0">
                <a:latin typeface="Times New Roman" panose="02020603050405020304" pitchFamily="18" charset="0"/>
                <a:cs typeface="Times New Roman" panose="02020603050405020304" pitchFamily="18" charset="0"/>
              </a:rPr>
              <a:t>to the Arduino via serial.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37754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AF2C62D-4651-8348-A733-96186D4E36AE}"/>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D320EB7A-C175-E0EF-C2E1-F9CDD4603A02}"/>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C9994C07-221D-42EE-2176-98756B3A630F}"/>
              </a:ext>
            </a:extLst>
          </p:cNvPr>
          <p:cNvSpPr>
            <a:spLocks noGrp="1"/>
          </p:cNvSpPr>
          <p:nvPr>
            <p:ph type="sldNum" sz="quarter" idx="12"/>
          </p:nvPr>
        </p:nvSpPr>
        <p:spPr/>
        <p:txBody>
          <a:bodyPr/>
          <a:lstStyle/>
          <a:p>
            <a:fld id="{69FBB93A-4B32-4007-AACF-5243CED557C7}" type="slidenum">
              <a:rPr lang="en-IN" smtClean="0"/>
              <a:t>10</a:t>
            </a:fld>
            <a:endParaRPr lang="en-IN"/>
          </a:p>
        </p:txBody>
      </p:sp>
      <p:sp>
        <p:nvSpPr>
          <p:cNvPr id="6" name="TextBox 5">
            <a:extLst>
              <a:ext uri="{FF2B5EF4-FFF2-40B4-BE49-F238E27FC236}">
                <a16:creationId xmlns:a16="http://schemas.microsoft.com/office/drawing/2014/main" xmlns="" id="{16371EB6-D848-26AB-1B03-1C74694FFEF2}"/>
              </a:ext>
            </a:extLst>
          </p:cNvPr>
          <p:cNvSpPr txBox="1"/>
          <p:nvPr/>
        </p:nvSpPr>
        <p:spPr>
          <a:xfrm>
            <a:off x="-41819" y="0"/>
            <a:ext cx="3611370"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
        <p:nvSpPr>
          <p:cNvPr id="5" name="Rectangle 1">
            <a:extLst>
              <a:ext uri="{FF2B5EF4-FFF2-40B4-BE49-F238E27FC236}">
                <a16:creationId xmlns:a16="http://schemas.microsoft.com/office/drawing/2014/main" xmlns="" id="{39D1B903-6F17-5CF5-4F79-17E0B064EF2E}"/>
              </a:ext>
            </a:extLst>
          </p:cNvPr>
          <p:cNvSpPr>
            <a:spLocks noChangeArrowheads="1"/>
          </p:cNvSpPr>
          <p:nvPr/>
        </p:nvSpPr>
        <p:spPr bwMode="auto">
          <a:xfrm rot="10800000" flipV="1">
            <a:off x="537554" y="3146691"/>
            <a:ext cx="111639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7"/>
          <p:cNvSpPr/>
          <p:nvPr/>
        </p:nvSpPr>
        <p:spPr>
          <a:xfrm>
            <a:off x="4401845" y="495867"/>
            <a:ext cx="3435409" cy="498663"/>
          </a:xfrm>
          <a:prstGeom prst="rect">
            <a:avLst/>
          </a:prstGeom>
        </p:spPr>
        <p:txBody>
          <a:bodyPr wrap="square">
            <a:spAutoFit/>
          </a:bodyPr>
          <a:lstStyle/>
          <a:p>
            <a:pPr lvl="1" algn="ctr">
              <a:lnSpc>
                <a:spcPct val="150000"/>
              </a:lnSpc>
              <a:tabLst>
                <a:tab pos="685800" algn="l"/>
              </a:tabLst>
            </a:pPr>
            <a:r>
              <a:rPr lang="en-US" sz="2000" b="1" spc="-10" dirty="0" smtClean="0">
                <a:latin typeface="Times New Roman" panose="02020603050405020304" pitchFamily="18" charset="0"/>
                <a:ea typeface="Calibri" panose="020F0502020204030204" pitchFamily="34" charset="0"/>
                <a:cs typeface="Times New Roman" panose="02020603050405020304" pitchFamily="18" charset="0"/>
              </a:rPr>
              <a:t>IMPLEMENTATION</a:t>
            </a:r>
            <a:endParaRPr lang="en-US" sz="2000" b="1" spc="-1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Rectangle 8"/>
          <p:cNvSpPr/>
          <p:nvPr/>
        </p:nvSpPr>
        <p:spPr>
          <a:xfrm>
            <a:off x="888763" y="1030082"/>
            <a:ext cx="10485689" cy="3416320"/>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Random Forest </a:t>
            </a:r>
            <a:r>
              <a:rPr lang="en-US" b="1" dirty="0" smtClean="0">
                <a:latin typeface="Times New Roman" panose="02020603050405020304" pitchFamily="18" charset="0"/>
                <a:cs typeface="Times New Roman" panose="02020603050405020304" pitchFamily="18" charset="0"/>
              </a:rPr>
              <a:t>Architecture:</a:t>
            </a:r>
          </a:p>
          <a:p>
            <a:pPr algn="just">
              <a:lnSpc>
                <a:spcPct val="150000"/>
              </a:lnSpc>
            </a:pPr>
            <a:r>
              <a:rPr lang="en-US" b="1" dirty="0" smtClean="0">
                <a:latin typeface="Times New Roman" panose="02020603050405020304" pitchFamily="18" charset="0"/>
                <a:cs typeface="Times New Roman" panose="02020603050405020304" pitchFamily="18" charset="0"/>
              </a:rPr>
              <a:t>Input </a:t>
            </a:r>
            <a:r>
              <a:rPr lang="en-US" b="1" dirty="0">
                <a:latin typeface="Times New Roman" panose="02020603050405020304" pitchFamily="18" charset="0"/>
                <a:cs typeface="Times New Roman" panose="02020603050405020304" pitchFamily="18" charset="0"/>
              </a:rPr>
              <a:t>Layer: </a:t>
            </a:r>
            <a:r>
              <a:rPr lang="en-US" dirty="0">
                <a:latin typeface="Times New Roman" panose="02020603050405020304" pitchFamily="18" charset="0"/>
                <a:cs typeface="Times New Roman" panose="02020603050405020304" pitchFamily="18" charset="0"/>
              </a:rPr>
              <a:t>Receives preprocessed sensor readings as numerical feature vectors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Bootstrap </a:t>
            </a:r>
            <a:r>
              <a:rPr lang="en-US" b="1" dirty="0">
                <a:latin typeface="Times New Roman" panose="02020603050405020304" pitchFamily="18" charset="0"/>
                <a:cs typeface="Times New Roman" panose="02020603050405020304" pitchFamily="18" charset="0"/>
              </a:rPr>
              <a:t>Sampling: </a:t>
            </a:r>
            <a:r>
              <a:rPr lang="en-US" dirty="0">
                <a:latin typeface="Times New Roman" panose="02020603050405020304" pitchFamily="18" charset="0"/>
                <a:cs typeface="Times New Roman" panose="02020603050405020304" pitchFamily="18" charset="0"/>
              </a:rPr>
              <a:t>Creates multiple random subsets of the training data for diversity</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Decision </a:t>
            </a:r>
            <a:r>
              <a:rPr lang="en-US" b="1" dirty="0">
                <a:latin typeface="Times New Roman" panose="02020603050405020304" pitchFamily="18" charset="0"/>
                <a:cs typeface="Times New Roman" panose="02020603050405020304" pitchFamily="18" charset="0"/>
              </a:rPr>
              <a:t>Trees Ensemble: </a:t>
            </a:r>
            <a:r>
              <a:rPr lang="en-US" dirty="0">
                <a:latin typeface="Times New Roman" panose="02020603050405020304" pitchFamily="18" charset="0"/>
                <a:cs typeface="Times New Roman" panose="02020603050405020304" pitchFamily="18" charset="0"/>
              </a:rPr>
              <a:t>Each tree independently learns classification rules using different feature subsets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Voting </a:t>
            </a:r>
            <a:r>
              <a:rPr lang="en-US" b="1" dirty="0">
                <a:latin typeface="Times New Roman" panose="02020603050405020304" pitchFamily="18" charset="0"/>
                <a:cs typeface="Times New Roman" panose="02020603050405020304" pitchFamily="18" charset="0"/>
              </a:rPr>
              <a:t>Mechanism: </a:t>
            </a:r>
            <a:r>
              <a:rPr lang="en-US" dirty="0">
                <a:latin typeface="Times New Roman" panose="02020603050405020304" pitchFamily="18" charset="0"/>
                <a:cs typeface="Times New Roman" panose="02020603050405020304" pitchFamily="18" charset="0"/>
              </a:rPr>
              <a:t>Each tree provides a prediction; the final output is obtained by majority voting across all trees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Output </a:t>
            </a:r>
            <a:r>
              <a:rPr lang="en-US" b="1" dirty="0">
                <a:latin typeface="Times New Roman" panose="02020603050405020304" pitchFamily="18" charset="0"/>
                <a:cs typeface="Times New Roman" panose="02020603050405020304" pitchFamily="18" charset="0"/>
              </a:rPr>
              <a:t>Layer: </a:t>
            </a:r>
            <a:r>
              <a:rPr lang="en-US" dirty="0">
                <a:latin typeface="Times New Roman" panose="02020603050405020304" pitchFamily="18" charset="0"/>
                <a:cs typeface="Times New Roman" panose="02020603050405020304" pitchFamily="18" charset="0"/>
              </a:rPr>
              <a:t>Produces the predicted class label — such as Healthy, Dry Soil, or Acidic pH — which can be used to trigger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actions (e.g., irrigation, fertilization).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9543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B5B50CA-480A-A242-C2BC-369A1AAE33F2}"/>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8661ED4E-8F4C-9BDB-34FC-15B84FD1990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A8A1B4B4-518E-67F1-8257-8F31071F03AF}"/>
              </a:ext>
            </a:extLst>
          </p:cNvPr>
          <p:cNvSpPr>
            <a:spLocks noGrp="1"/>
          </p:cNvSpPr>
          <p:nvPr>
            <p:ph type="sldNum" sz="quarter" idx="12"/>
          </p:nvPr>
        </p:nvSpPr>
        <p:spPr/>
        <p:txBody>
          <a:bodyPr/>
          <a:lstStyle/>
          <a:p>
            <a:fld id="{69FBB93A-4B32-4007-AACF-5243CED557C7}" type="slidenum">
              <a:rPr lang="en-IN" smtClean="0"/>
              <a:t>11</a:t>
            </a:fld>
            <a:endParaRPr lang="en-IN"/>
          </a:p>
        </p:txBody>
      </p:sp>
      <p:sp>
        <p:nvSpPr>
          <p:cNvPr id="7" name="TextBox 6">
            <a:extLst>
              <a:ext uri="{FF2B5EF4-FFF2-40B4-BE49-F238E27FC236}">
                <a16:creationId xmlns:a16="http://schemas.microsoft.com/office/drawing/2014/main" xmlns="" id="{C269A97F-E73D-2952-18F2-3260717B4DB8}"/>
              </a:ext>
            </a:extLst>
          </p:cNvPr>
          <p:cNvSpPr txBox="1"/>
          <p:nvPr/>
        </p:nvSpPr>
        <p:spPr>
          <a:xfrm>
            <a:off x="0" y="1"/>
            <a:ext cx="3291840" cy="215444"/>
          </a:xfrm>
          <a:prstGeom prst="rect">
            <a:avLst/>
          </a:prstGeom>
          <a:noFill/>
        </p:spPr>
        <p:txBody>
          <a:bodyPr wrap="square" rtlCol="0">
            <a:spAutoFit/>
          </a:bodyPr>
          <a:lstStyle/>
          <a:p>
            <a:r>
              <a:rPr lang="en-IN" sz="800" dirty="0">
                <a:latin typeface="Tahoma" panose="020B0604030504040204" pitchFamily="34" charset="0"/>
                <a:ea typeface="Tahoma" panose="020B0604030504040204" pitchFamily="34" charset="0"/>
                <a:cs typeface="Tahoma" panose="020B0604030504040204" pitchFamily="34" charset="0"/>
              </a:rPr>
              <a:t>A Hybrid Neural Network for EEG-based Depression Screening</a:t>
            </a:r>
            <a:endParaRPr lang="en-IN" dirty="0"/>
          </a:p>
        </p:txBody>
      </p:sp>
      <p:sp>
        <p:nvSpPr>
          <p:cNvPr id="6" name="Rectangle 5"/>
          <p:cNvSpPr/>
          <p:nvPr/>
        </p:nvSpPr>
        <p:spPr>
          <a:xfrm>
            <a:off x="1256230" y="847402"/>
            <a:ext cx="8767985" cy="466281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YOLOv8 </a:t>
            </a:r>
            <a:r>
              <a:rPr lang="en-US" b="1" dirty="0" smtClean="0">
                <a:latin typeface="Times New Roman" panose="02020603050405020304" pitchFamily="18" charset="0"/>
                <a:cs typeface="Times New Roman" panose="02020603050405020304" pitchFamily="18" charset="0"/>
              </a:rPr>
              <a:t>Architecture:</a:t>
            </a:r>
          </a:p>
          <a:p>
            <a:pPr algn="just">
              <a:lnSpc>
                <a:spcPct val="150000"/>
              </a:lnSpc>
            </a:pPr>
            <a:r>
              <a:rPr lang="en-US" b="1" dirty="0" smtClean="0">
                <a:latin typeface="Times New Roman" panose="02020603050405020304" pitchFamily="18" charset="0"/>
                <a:cs typeface="Times New Roman" panose="02020603050405020304" pitchFamily="18" charset="0"/>
              </a:rPr>
              <a:t>Input </a:t>
            </a:r>
            <a:r>
              <a:rPr lang="en-US" b="1" dirty="0">
                <a:latin typeface="Times New Roman" panose="02020603050405020304" pitchFamily="18" charset="0"/>
                <a:cs typeface="Times New Roman" panose="02020603050405020304" pitchFamily="18" charset="0"/>
              </a:rPr>
              <a:t>Layer: </a:t>
            </a:r>
            <a:r>
              <a:rPr lang="en-US" dirty="0">
                <a:latin typeface="Times New Roman" panose="02020603050405020304" pitchFamily="18" charset="0"/>
                <a:cs typeface="Times New Roman" panose="02020603050405020304" pitchFamily="18" charset="0"/>
              </a:rPr>
              <a:t>Captures live RGB images (e.g., 640×640 pixels) from the camera</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dirty="0" smtClean="0">
                <a:latin typeface="Times New Roman" panose="02020603050405020304" pitchFamily="18" charset="0"/>
                <a:cs typeface="Times New Roman" panose="02020603050405020304" pitchFamily="18" charset="0"/>
              </a:rPr>
              <a:t>Backbone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CSPDarknet</a:t>
            </a:r>
            <a:r>
              <a:rPr lang="en-US" dirty="0">
                <a:latin typeface="Times New Roman" panose="02020603050405020304" pitchFamily="18" charset="0"/>
                <a:cs typeface="Times New Roman" panose="02020603050405020304" pitchFamily="18" charset="0"/>
              </a:rPr>
              <a:t>): Extracts multi-scale visual features using convolutional and residual (C2f) blocks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Neck </a:t>
            </a:r>
            <a:r>
              <a:rPr lang="en-US" b="1" dirty="0">
                <a:latin typeface="Times New Roman" panose="02020603050405020304" pitchFamily="18" charset="0"/>
                <a:cs typeface="Times New Roman" panose="02020603050405020304" pitchFamily="18" charset="0"/>
              </a:rPr>
              <a:t>(PAN-FPN): </a:t>
            </a:r>
            <a:r>
              <a:rPr lang="en-US" dirty="0">
                <a:latin typeface="Times New Roman" panose="02020603050405020304" pitchFamily="18" charset="0"/>
                <a:cs typeface="Times New Roman" panose="02020603050405020304" pitchFamily="18" charset="0"/>
              </a:rPr>
              <a:t>Aggregates and refines features from different layers to detect both large and small lesions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Head</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Predicts disease class, bounding box coordinates, and confidence score for each detected region</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Post-Processing </a:t>
            </a:r>
            <a:r>
              <a:rPr lang="en-US" b="1" dirty="0">
                <a:latin typeface="Times New Roman" panose="02020603050405020304" pitchFamily="18" charset="0"/>
                <a:cs typeface="Times New Roman" panose="02020603050405020304" pitchFamily="18" charset="0"/>
              </a:rPr>
              <a:t>(NMS): </a:t>
            </a:r>
            <a:r>
              <a:rPr lang="en-US" dirty="0">
                <a:latin typeface="Times New Roman" panose="02020603050405020304" pitchFamily="18" charset="0"/>
                <a:cs typeface="Times New Roman" panose="02020603050405020304" pitchFamily="18" charset="0"/>
              </a:rPr>
              <a:t>Removes redundant overlapping boxes, keeping the most confident detections</a:t>
            </a:r>
            <a:r>
              <a:rPr lang="en-US" dirty="0" smtClean="0">
                <a:latin typeface="Times New Roman" panose="02020603050405020304" pitchFamily="18" charset="0"/>
                <a:cs typeface="Times New Roman" panose="02020603050405020304" pitchFamily="18" charset="0"/>
              </a:rPr>
              <a:t>.</a:t>
            </a:r>
          </a:p>
          <a:p>
            <a:pPr algn="just">
              <a:lnSpc>
                <a:spcPct val="150000"/>
              </a:lnSpc>
            </a:pPr>
            <a:r>
              <a:rPr lang="en-US" b="1" dirty="0" smtClean="0">
                <a:latin typeface="Times New Roman" panose="02020603050405020304" pitchFamily="18" charset="0"/>
                <a:cs typeface="Times New Roman" panose="02020603050405020304" pitchFamily="18" charset="0"/>
              </a:rPr>
              <a:t>Output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Displays bounding boxes, disease labels, and infection severity levels in real time.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93604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12</a:t>
            </a:fld>
            <a:endParaRPr lang="en-IN"/>
          </a:p>
        </p:txBody>
      </p:sp>
      <p:sp>
        <p:nvSpPr>
          <p:cNvPr id="5" name="Rectangle 4"/>
          <p:cNvSpPr/>
          <p:nvPr/>
        </p:nvSpPr>
        <p:spPr>
          <a:xfrm>
            <a:off x="5135330" y="210577"/>
            <a:ext cx="1812401" cy="369332"/>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TEST CASE </a:t>
            </a:r>
            <a:endParaRPr lang="en-IN" b="1" dirty="0">
              <a:latin typeface="Times New Roman" panose="02020603050405020304" pitchFamily="18" charset="0"/>
              <a:cs typeface="Times New Roman" panose="02020603050405020304" pitchFamily="18" charset="0"/>
            </a:endParaRPr>
          </a:p>
        </p:txBody>
      </p:sp>
      <p:sp>
        <p:nvSpPr>
          <p:cNvPr id="6" name="Rectangle 5"/>
          <p:cNvSpPr/>
          <p:nvPr/>
        </p:nvSpPr>
        <p:spPr>
          <a:xfrm>
            <a:off x="310984" y="579909"/>
            <a:ext cx="4344138"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Test Case UTC01 - Serial Port Connection</a:t>
            </a:r>
            <a:endParaRPr lang="en-IN" b="1"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552182531"/>
              </p:ext>
            </p:extLst>
          </p:nvPr>
        </p:nvGraphicFramePr>
        <p:xfrm>
          <a:off x="555130" y="1147963"/>
          <a:ext cx="9400720" cy="2347270"/>
        </p:xfrm>
        <a:graphic>
          <a:graphicData uri="http://schemas.openxmlformats.org/drawingml/2006/table">
            <a:tbl>
              <a:tblPr firstRow="1" firstCol="1" bandRow="1">
                <a:tableStyleId>{5C22544A-7EE6-4342-B048-85BDC9FD1C3A}</a:tableStyleId>
              </a:tblPr>
              <a:tblGrid>
                <a:gridCol w="4690036"/>
                <a:gridCol w="4710684"/>
              </a:tblGrid>
              <a:tr h="234727">
                <a:tc>
                  <a:txBody>
                    <a:bodyPr/>
                    <a:lstStyle/>
                    <a:p>
                      <a:pPr>
                        <a:lnSpc>
                          <a:spcPct val="115000"/>
                        </a:lnSpc>
                        <a:spcAft>
                          <a:spcPts val="0"/>
                        </a:spcAft>
                      </a:pPr>
                      <a:r>
                        <a:rPr lang="en-US" sz="1100" dirty="0">
                          <a:effectLst/>
                        </a:rPr>
                        <a:t>Test Case#</a:t>
                      </a:r>
                      <a:endParaRPr lang="en-IN" sz="1100" dirty="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UTC01</a:t>
                      </a:r>
                      <a:endParaRPr lang="en-IN" sz="1100">
                        <a:effectLst/>
                        <a:latin typeface="Cambria"/>
                        <a:ea typeface="MS Mincho"/>
                        <a:cs typeface="Times New Roman"/>
                      </a:endParaRPr>
                    </a:p>
                  </a:txBody>
                  <a:tcPr marL="68580" marR="68580" marT="0" marB="0"/>
                </a:tc>
              </a:tr>
              <a:tr h="234727">
                <a:tc>
                  <a:txBody>
                    <a:bodyPr/>
                    <a:lstStyle/>
                    <a:p>
                      <a:pPr>
                        <a:lnSpc>
                          <a:spcPct val="115000"/>
                        </a:lnSpc>
                        <a:spcAft>
                          <a:spcPts val="0"/>
                        </a:spcAft>
                      </a:pPr>
                      <a:r>
                        <a:rPr lang="en-US" sz="1100">
                          <a:effectLst/>
                        </a:rPr>
                        <a:t>Test Name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Serial Port Connection</a:t>
                      </a:r>
                      <a:endParaRPr lang="en-IN" sz="1100">
                        <a:effectLst/>
                        <a:latin typeface="Cambria"/>
                        <a:ea typeface="MS Mincho"/>
                        <a:cs typeface="Times New Roman"/>
                      </a:endParaRPr>
                    </a:p>
                  </a:txBody>
                  <a:tcPr marL="68580" marR="68580" marT="0" marB="0"/>
                </a:tc>
              </a:tr>
              <a:tr h="469454">
                <a:tc>
                  <a:txBody>
                    <a:bodyPr/>
                    <a:lstStyle/>
                    <a:p>
                      <a:pPr>
                        <a:lnSpc>
                          <a:spcPct val="115000"/>
                        </a:lnSpc>
                        <a:spcAft>
                          <a:spcPts val="0"/>
                        </a:spcAft>
                      </a:pPr>
                      <a:r>
                        <a:rPr lang="en-US" sz="1100">
                          <a:effectLst/>
                        </a:rPr>
                        <a:t>Test Description</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To test if the program successfully connects to the Arduino on COM5.</a:t>
                      </a:r>
                      <a:endParaRPr lang="en-IN" sz="1100">
                        <a:effectLst/>
                        <a:latin typeface="Cambria"/>
                        <a:ea typeface="MS Mincho"/>
                        <a:cs typeface="Times New Roman"/>
                      </a:endParaRPr>
                    </a:p>
                  </a:txBody>
                  <a:tcPr marL="68580" marR="68580" marT="0" marB="0"/>
                </a:tc>
              </a:tr>
              <a:tr h="234727">
                <a:tc>
                  <a:txBody>
                    <a:bodyPr/>
                    <a:lstStyle/>
                    <a:p>
                      <a:pPr>
                        <a:lnSpc>
                          <a:spcPct val="115000"/>
                        </a:lnSpc>
                        <a:spcAft>
                          <a:spcPts val="0"/>
                        </a:spcAft>
                      </a:pPr>
                      <a:r>
                        <a:rPr lang="en-US" sz="1100" dirty="0">
                          <a:effectLst/>
                        </a:rPr>
                        <a:t>Input</a:t>
                      </a:r>
                      <a:endParaRPr lang="en-IN" sz="1100" dirty="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Arduino plugged into the correct USB port, identified as COM5.</a:t>
                      </a:r>
                      <a:endParaRPr lang="en-IN" sz="1100">
                        <a:effectLst/>
                        <a:latin typeface="Cambria"/>
                        <a:ea typeface="MS Mincho"/>
                        <a:cs typeface="Times New Roman"/>
                      </a:endParaRPr>
                    </a:p>
                  </a:txBody>
                  <a:tcPr marL="68580" marR="68580" marT="0" marB="0"/>
                </a:tc>
              </a:tr>
              <a:tr h="469454">
                <a:tc>
                  <a:txBody>
                    <a:bodyPr/>
                    <a:lstStyle/>
                    <a:p>
                      <a:pPr>
                        <a:lnSpc>
                          <a:spcPct val="115000"/>
                        </a:lnSpc>
                        <a:spcAft>
                          <a:spcPts val="0"/>
                        </a:spcAft>
                      </a:pPr>
                      <a:r>
                        <a:rPr lang="en-US" sz="1100">
                          <a:effectLst/>
                        </a:rPr>
                        <a:t>Expected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console should print: "✅ Serial connection opened successfully on COM5!"</a:t>
                      </a:r>
                      <a:endParaRPr lang="en-IN" sz="1100">
                        <a:effectLst/>
                        <a:latin typeface="Cambria"/>
                        <a:ea typeface="MS Mincho"/>
                        <a:cs typeface="Times New Roman"/>
                      </a:endParaRPr>
                    </a:p>
                  </a:txBody>
                  <a:tcPr marL="68580" marR="68580" marT="0" marB="0"/>
                </a:tc>
              </a:tr>
              <a:tr h="469454">
                <a:tc>
                  <a:txBody>
                    <a:bodyPr/>
                    <a:lstStyle/>
                    <a:p>
                      <a:pPr>
                        <a:lnSpc>
                          <a:spcPct val="115000"/>
                        </a:lnSpc>
                        <a:spcAft>
                          <a:spcPts val="0"/>
                        </a:spcAft>
                      </a:pPr>
                      <a:r>
                        <a:rPr lang="en-US" sz="1100">
                          <a:effectLst/>
                        </a:rPr>
                        <a:t>Actual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console printed: "✅ Serial connection opened successfully on COM5!"</a:t>
                      </a:r>
                      <a:endParaRPr lang="en-IN" sz="1100">
                        <a:effectLst/>
                        <a:latin typeface="Cambria"/>
                        <a:ea typeface="MS Mincho"/>
                        <a:cs typeface="Times New Roman"/>
                      </a:endParaRPr>
                    </a:p>
                  </a:txBody>
                  <a:tcPr marL="68580" marR="68580" marT="0" marB="0"/>
                </a:tc>
              </a:tr>
              <a:tr h="234727">
                <a:tc>
                  <a:txBody>
                    <a:bodyPr/>
                    <a:lstStyle/>
                    <a:p>
                      <a:pPr>
                        <a:lnSpc>
                          <a:spcPct val="115000"/>
                        </a:lnSpc>
                        <a:spcAft>
                          <a:spcPts val="0"/>
                        </a:spcAft>
                      </a:pPr>
                      <a:r>
                        <a:rPr lang="en-US" sz="1100">
                          <a:effectLst/>
                        </a:rPr>
                        <a:t>Test Result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dirty="0">
                          <a:effectLst/>
                        </a:rPr>
                        <a:t>Success</a:t>
                      </a:r>
                      <a:endParaRPr lang="en-IN" sz="1100" dirty="0">
                        <a:effectLst/>
                        <a:latin typeface="Cambria"/>
                        <a:ea typeface="MS Mincho"/>
                        <a:cs typeface="Times New Roman"/>
                      </a:endParaRPr>
                    </a:p>
                  </a:txBody>
                  <a:tcPr marL="68580" marR="68580" marT="0" marB="0"/>
                </a:tc>
              </a:tr>
            </a:tbl>
          </a:graphicData>
        </a:graphic>
      </p:graphicFrame>
      <p:sp>
        <p:nvSpPr>
          <p:cNvPr id="8" name="Rectangle 7"/>
          <p:cNvSpPr/>
          <p:nvPr/>
        </p:nvSpPr>
        <p:spPr>
          <a:xfrm>
            <a:off x="310984" y="3731445"/>
            <a:ext cx="4177875" cy="369332"/>
          </a:xfrm>
          <a:prstGeom prst="rect">
            <a:avLst/>
          </a:prstGeom>
        </p:spPr>
        <p:txBody>
          <a:bodyPr wrap="none">
            <a:spAutoFit/>
          </a:bodyPr>
          <a:lstStyle/>
          <a:p>
            <a:r>
              <a:rPr lang="en-US" b="1" dirty="0"/>
              <a:t>Test Case UTC02 - ML Model Data Loading</a:t>
            </a:r>
            <a:endParaRPr lang="en-IN" b="1" dirty="0"/>
          </a:p>
        </p:txBody>
      </p:sp>
      <p:graphicFrame>
        <p:nvGraphicFramePr>
          <p:cNvPr id="9" name="Table 8"/>
          <p:cNvGraphicFramePr>
            <a:graphicFrameLocks noGrp="1"/>
          </p:cNvGraphicFramePr>
          <p:nvPr>
            <p:extLst>
              <p:ext uri="{D42A27DB-BD31-4B8C-83A1-F6EECF244321}">
                <p14:modId xmlns:p14="http://schemas.microsoft.com/office/powerpoint/2010/main" val="4019326473"/>
              </p:ext>
            </p:extLst>
          </p:nvPr>
        </p:nvGraphicFramePr>
        <p:xfrm>
          <a:off x="648309" y="4100777"/>
          <a:ext cx="9358816" cy="2026556"/>
        </p:xfrm>
        <a:graphic>
          <a:graphicData uri="http://schemas.openxmlformats.org/drawingml/2006/table">
            <a:tbl>
              <a:tblPr firstRow="1" firstCol="1" bandRow="1">
                <a:tableStyleId>{5C22544A-7EE6-4342-B048-85BDC9FD1C3A}</a:tableStyleId>
              </a:tblPr>
              <a:tblGrid>
                <a:gridCol w="4679408"/>
                <a:gridCol w="4679408"/>
              </a:tblGrid>
              <a:tr h="289508">
                <a:tc>
                  <a:txBody>
                    <a:bodyPr/>
                    <a:lstStyle/>
                    <a:p>
                      <a:pPr>
                        <a:lnSpc>
                          <a:spcPct val="115000"/>
                        </a:lnSpc>
                        <a:spcAft>
                          <a:spcPts val="0"/>
                        </a:spcAft>
                      </a:pPr>
                      <a:r>
                        <a:rPr lang="en-US" sz="1100">
                          <a:effectLst/>
                        </a:rPr>
                        <a:t>Test Case#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UTC02</a:t>
                      </a:r>
                      <a:endParaRPr lang="en-IN" sz="110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Test Name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ML Model Data Loading</a:t>
                      </a:r>
                      <a:endParaRPr lang="en-IN" sz="110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Test Description</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To test if the program can read the sensor data from the data.xlsx file.</a:t>
                      </a:r>
                      <a:endParaRPr lang="en-IN" sz="110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Input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dirty="0">
                          <a:effectLst/>
                        </a:rPr>
                        <a:t>data.xlsx file is present in the script's root directory.</a:t>
                      </a:r>
                      <a:endParaRPr lang="en-IN" sz="1100" dirty="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Expected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console should print: "✅ Excel data loaded successfully!"</a:t>
                      </a:r>
                      <a:endParaRPr lang="en-IN" sz="110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Actual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console printed: "✅ Excel data loaded successfully!"</a:t>
                      </a:r>
                      <a:endParaRPr lang="en-IN" sz="1100">
                        <a:effectLst/>
                        <a:latin typeface="Cambria"/>
                        <a:ea typeface="MS Mincho"/>
                        <a:cs typeface="Times New Roman"/>
                      </a:endParaRPr>
                    </a:p>
                  </a:txBody>
                  <a:tcPr marL="68580" marR="68580" marT="0" marB="0"/>
                </a:tc>
              </a:tr>
              <a:tr h="289508">
                <a:tc>
                  <a:txBody>
                    <a:bodyPr/>
                    <a:lstStyle/>
                    <a:p>
                      <a:pPr>
                        <a:lnSpc>
                          <a:spcPct val="115000"/>
                        </a:lnSpc>
                        <a:spcAft>
                          <a:spcPts val="0"/>
                        </a:spcAft>
                      </a:pPr>
                      <a:r>
                        <a:rPr lang="en-US" sz="1100">
                          <a:effectLst/>
                        </a:rPr>
                        <a:t>Test Result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dirty="0">
                          <a:effectLst/>
                        </a:rPr>
                        <a:t>Success</a:t>
                      </a:r>
                      <a:endParaRPr lang="en-IN" sz="1100" dirty="0">
                        <a:effectLst/>
                        <a:latin typeface="Cambria"/>
                        <a:ea typeface="MS Mincho"/>
                        <a:cs typeface="Times New Roman"/>
                      </a:endParaRPr>
                    </a:p>
                  </a:txBody>
                  <a:tcPr marL="68580" marR="68580" marT="0" marB="0"/>
                </a:tc>
              </a:tr>
            </a:tbl>
          </a:graphicData>
        </a:graphic>
      </p:graphicFrame>
    </p:spTree>
    <p:extLst>
      <p:ext uri="{BB962C8B-B14F-4D97-AF65-F5344CB8AC3E}">
        <p14:creationId xmlns:p14="http://schemas.microsoft.com/office/powerpoint/2010/main" val="706515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13</a:t>
            </a:fld>
            <a:endParaRPr lang="en-IN"/>
          </a:p>
        </p:txBody>
      </p:sp>
      <p:sp>
        <p:nvSpPr>
          <p:cNvPr id="5" name="Rectangle 4"/>
          <p:cNvSpPr/>
          <p:nvPr/>
        </p:nvSpPr>
        <p:spPr>
          <a:xfrm>
            <a:off x="242366" y="202031"/>
            <a:ext cx="3793859" cy="369332"/>
          </a:xfrm>
          <a:prstGeom prst="rect">
            <a:avLst/>
          </a:prstGeom>
        </p:spPr>
        <p:txBody>
          <a:bodyPr wrap="none">
            <a:spAutoFit/>
          </a:bodyPr>
          <a:lstStyle/>
          <a:p>
            <a:r>
              <a:rPr lang="en-US" b="1" dirty="0"/>
              <a:t>Test Case UTC03 - Sensor Data Parsing</a:t>
            </a:r>
            <a:endParaRPr lang="en-IN" b="1" dirty="0"/>
          </a:p>
        </p:txBody>
      </p:sp>
      <p:graphicFrame>
        <p:nvGraphicFramePr>
          <p:cNvPr id="6" name="Table 5"/>
          <p:cNvGraphicFramePr>
            <a:graphicFrameLocks noGrp="1"/>
          </p:cNvGraphicFramePr>
          <p:nvPr>
            <p:extLst>
              <p:ext uri="{D42A27DB-BD31-4B8C-83A1-F6EECF244321}">
                <p14:modId xmlns:p14="http://schemas.microsoft.com/office/powerpoint/2010/main" val="2496342372"/>
              </p:ext>
            </p:extLst>
          </p:nvPr>
        </p:nvGraphicFramePr>
        <p:xfrm>
          <a:off x="485939" y="778106"/>
          <a:ext cx="9435728" cy="2435113"/>
        </p:xfrm>
        <a:graphic>
          <a:graphicData uri="http://schemas.openxmlformats.org/drawingml/2006/table">
            <a:tbl>
              <a:tblPr firstRow="1" firstCol="1" bandRow="1">
                <a:tableStyleId>{5C22544A-7EE6-4342-B048-85BDC9FD1C3A}</a:tableStyleId>
              </a:tblPr>
              <a:tblGrid>
                <a:gridCol w="4717864"/>
                <a:gridCol w="4717864"/>
              </a:tblGrid>
              <a:tr h="304389">
                <a:tc>
                  <a:txBody>
                    <a:bodyPr/>
                    <a:lstStyle/>
                    <a:p>
                      <a:pPr>
                        <a:lnSpc>
                          <a:spcPct val="115000"/>
                        </a:lnSpc>
                        <a:spcAft>
                          <a:spcPts val="0"/>
                        </a:spcAft>
                      </a:pPr>
                      <a:r>
                        <a:rPr lang="en-US" sz="1100">
                          <a:effectLst/>
                        </a:rPr>
                        <a:t>Test Case#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UTC03</a:t>
                      </a:r>
                      <a:endParaRPr lang="en-IN" sz="1100">
                        <a:effectLst/>
                        <a:latin typeface="Cambria"/>
                        <a:ea typeface="MS Mincho"/>
                        <a:cs typeface="Times New Roman"/>
                      </a:endParaRPr>
                    </a:p>
                  </a:txBody>
                  <a:tcPr marL="68580" marR="68580" marT="0" marB="0"/>
                </a:tc>
              </a:tr>
              <a:tr h="304389">
                <a:tc>
                  <a:txBody>
                    <a:bodyPr/>
                    <a:lstStyle/>
                    <a:p>
                      <a:pPr>
                        <a:lnSpc>
                          <a:spcPct val="115000"/>
                        </a:lnSpc>
                        <a:spcAft>
                          <a:spcPts val="0"/>
                        </a:spcAft>
                      </a:pPr>
                      <a:r>
                        <a:rPr lang="en-US" sz="1100">
                          <a:effectLst/>
                        </a:rPr>
                        <a:t>Test Name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Sensor Data Parsing</a:t>
                      </a:r>
                      <a:endParaRPr lang="en-IN" sz="1100">
                        <a:effectLst/>
                        <a:latin typeface="Cambria"/>
                        <a:ea typeface="MS Mincho"/>
                        <a:cs typeface="Times New Roman"/>
                      </a:endParaRPr>
                    </a:p>
                  </a:txBody>
                  <a:tcPr marL="68580" marR="68580" marT="0" marB="0"/>
                </a:tc>
              </a:tr>
              <a:tr h="608779">
                <a:tc>
                  <a:txBody>
                    <a:bodyPr/>
                    <a:lstStyle/>
                    <a:p>
                      <a:pPr>
                        <a:lnSpc>
                          <a:spcPct val="115000"/>
                        </a:lnSpc>
                        <a:spcAft>
                          <a:spcPts val="0"/>
                        </a:spcAft>
                      </a:pPr>
                      <a:r>
                        <a:rPr lang="en-US" sz="1100">
                          <a:effectLst/>
                        </a:rPr>
                        <a:t>Test Description</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To test if the program correctly parses a valid, complete data string from the Arduino.</a:t>
                      </a:r>
                      <a:endParaRPr lang="en-IN" sz="1100">
                        <a:effectLst/>
                        <a:latin typeface="Cambria"/>
                        <a:ea typeface="MS Mincho"/>
                        <a:cs typeface="Times New Roman"/>
                      </a:endParaRPr>
                    </a:p>
                  </a:txBody>
                  <a:tcPr marL="68580" marR="68580" marT="0" marB="0"/>
                </a:tc>
              </a:tr>
              <a:tr h="304389">
                <a:tc>
                  <a:txBody>
                    <a:bodyPr/>
                    <a:lstStyle/>
                    <a:p>
                      <a:pPr>
                        <a:lnSpc>
                          <a:spcPct val="115000"/>
                        </a:lnSpc>
                        <a:spcAft>
                          <a:spcPts val="0"/>
                        </a:spcAft>
                      </a:pPr>
                      <a:r>
                        <a:rPr lang="en-US" sz="1100">
                          <a:effectLst/>
                        </a:rPr>
                        <a:t>Input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Serial string received from Arduino: a27.5b650c6.8d</a:t>
                      </a:r>
                      <a:endParaRPr lang="en-IN" sz="1100">
                        <a:effectLst/>
                        <a:latin typeface="Cambria"/>
                        <a:ea typeface="MS Mincho"/>
                        <a:cs typeface="Times New Roman"/>
                      </a:endParaRPr>
                    </a:p>
                  </a:txBody>
                  <a:tcPr marL="68580" marR="68580" marT="0" marB="0"/>
                </a:tc>
              </a:tr>
              <a:tr h="304389">
                <a:tc>
                  <a:txBody>
                    <a:bodyPr/>
                    <a:lstStyle/>
                    <a:p>
                      <a:pPr>
                        <a:lnSpc>
                          <a:spcPct val="115000"/>
                        </a:lnSpc>
                        <a:spcAft>
                          <a:spcPts val="0"/>
                        </a:spcAft>
                      </a:pPr>
                      <a:r>
                        <a:rPr lang="en-US" sz="1100">
                          <a:effectLst/>
                        </a:rPr>
                        <a:t>Expected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program should parse and print the individual float values correctly.</a:t>
                      </a:r>
                      <a:endParaRPr lang="en-IN" sz="1100">
                        <a:effectLst/>
                        <a:latin typeface="Cambria"/>
                        <a:ea typeface="MS Mincho"/>
                        <a:cs typeface="Times New Roman"/>
                      </a:endParaRPr>
                    </a:p>
                  </a:txBody>
                  <a:tcPr marL="68580" marR="68580" marT="0" marB="0"/>
                </a:tc>
              </a:tr>
              <a:tr h="304389">
                <a:tc>
                  <a:txBody>
                    <a:bodyPr/>
                    <a:lstStyle/>
                    <a:p>
                      <a:pPr>
                        <a:lnSpc>
                          <a:spcPct val="115000"/>
                        </a:lnSpc>
                        <a:spcAft>
                          <a:spcPts val="0"/>
                        </a:spcAft>
                      </a:pPr>
                      <a:r>
                        <a:rPr lang="en-US" sz="1100">
                          <a:effectLst/>
                        </a:rPr>
                        <a:t>Actual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Program printed: temperature : 27.5, soilStatus : 650.0, phValue : 6.8</a:t>
                      </a:r>
                      <a:endParaRPr lang="en-IN" sz="1100">
                        <a:effectLst/>
                        <a:latin typeface="Cambria"/>
                        <a:ea typeface="MS Mincho"/>
                        <a:cs typeface="Times New Roman"/>
                      </a:endParaRPr>
                    </a:p>
                  </a:txBody>
                  <a:tcPr marL="68580" marR="68580" marT="0" marB="0"/>
                </a:tc>
              </a:tr>
              <a:tr h="304389">
                <a:tc>
                  <a:txBody>
                    <a:bodyPr/>
                    <a:lstStyle/>
                    <a:p>
                      <a:pPr>
                        <a:lnSpc>
                          <a:spcPct val="115000"/>
                        </a:lnSpc>
                        <a:spcAft>
                          <a:spcPts val="0"/>
                        </a:spcAft>
                      </a:pPr>
                      <a:r>
                        <a:rPr lang="en-US" sz="1100">
                          <a:effectLst/>
                        </a:rPr>
                        <a:t>Test Result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dirty="0">
                          <a:effectLst/>
                        </a:rPr>
                        <a:t>Success</a:t>
                      </a:r>
                      <a:endParaRPr lang="en-IN" sz="1100" dirty="0">
                        <a:effectLst/>
                        <a:latin typeface="Cambria"/>
                        <a:ea typeface="MS Mincho"/>
                        <a:cs typeface="Times New Roman"/>
                      </a:endParaRPr>
                    </a:p>
                  </a:txBody>
                  <a:tcPr marL="68580" marR="68580" marT="0" marB="0"/>
                </a:tc>
              </a:tr>
            </a:tbl>
          </a:graphicData>
        </a:graphic>
      </p:graphicFrame>
      <p:sp>
        <p:nvSpPr>
          <p:cNvPr id="7" name="Rectangle 6"/>
          <p:cNvSpPr/>
          <p:nvPr/>
        </p:nvSpPr>
        <p:spPr>
          <a:xfrm>
            <a:off x="242366" y="3260221"/>
            <a:ext cx="4531049" cy="369332"/>
          </a:xfrm>
          <a:prstGeom prst="rect">
            <a:avLst/>
          </a:prstGeom>
        </p:spPr>
        <p:txBody>
          <a:bodyPr wrap="none">
            <a:spAutoFit/>
          </a:bodyPr>
          <a:lstStyle/>
          <a:p>
            <a:r>
              <a:rPr lang="en-US" b="1" dirty="0"/>
              <a:t>Test Case UTC06 - YOLO Disease Identification</a:t>
            </a:r>
            <a:endParaRPr lang="en-IN" b="1" dirty="0"/>
          </a:p>
        </p:txBody>
      </p:sp>
      <p:graphicFrame>
        <p:nvGraphicFramePr>
          <p:cNvPr id="8" name="Table 7"/>
          <p:cNvGraphicFramePr>
            <a:graphicFrameLocks noGrp="1"/>
          </p:cNvGraphicFramePr>
          <p:nvPr>
            <p:extLst>
              <p:ext uri="{D42A27DB-BD31-4B8C-83A1-F6EECF244321}">
                <p14:modId xmlns:p14="http://schemas.microsoft.com/office/powerpoint/2010/main" val="878405696"/>
              </p:ext>
            </p:extLst>
          </p:nvPr>
        </p:nvGraphicFramePr>
        <p:xfrm>
          <a:off x="473215" y="3802875"/>
          <a:ext cx="9474090" cy="2401370"/>
        </p:xfrm>
        <a:graphic>
          <a:graphicData uri="http://schemas.openxmlformats.org/drawingml/2006/table">
            <a:tbl>
              <a:tblPr firstRow="1" firstCol="1" bandRow="1">
                <a:tableStyleId>{5C22544A-7EE6-4342-B048-85BDC9FD1C3A}</a:tableStyleId>
              </a:tblPr>
              <a:tblGrid>
                <a:gridCol w="4737045"/>
                <a:gridCol w="4737045"/>
              </a:tblGrid>
              <a:tr h="240137">
                <a:tc>
                  <a:txBody>
                    <a:bodyPr/>
                    <a:lstStyle/>
                    <a:p>
                      <a:pPr>
                        <a:lnSpc>
                          <a:spcPct val="115000"/>
                        </a:lnSpc>
                        <a:spcAft>
                          <a:spcPts val="0"/>
                        </a:spcAft>
                      </a:pPr>
                      <a:r>
                        <a:rPr lang="en-US" sz="1100" dirty="0">
                          <a:effectLst/>
                        </a:rPr>
                        <a:t>Test Case#</a:t>
                      </a:r>
                      <a:endParaRPr lang="en-IN" sz="1100" dirty="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UTC06</a:t>
                      </a:r>
                      <a:endParaRPr lang="en-IN" sz="1100">
                        <a:effectLst/>
                        <a:latin typeface="Cambria"/>
                        <a:ea typeface="MS Mincho"/>
                        <a:cs typeface="Times New Roman"/>
                      </a:endParaRPr>
                    </a:p>
                  </a:txBody>
                  <a:tcPr marL="68580" marR="68580" marT="0" marB="0"/>
                </a:tc>
              </a:tr>
              <a:tr h="240137">
                <a:tc>
                  <a:txBody>
                    <a:bodyPr/>
                    <a:lstStyle/>
                    <a:p>
                      <a:pPr>
                        <a:lnSpc>
                          <a:spcPct val="115000"/>
                        </a:lnSpc>
                        <a:spcAft>
                          <a:spcPts val="0"/>
                        </a:spcAft>
                      </a:pPr>
                      <a:r>
                        <a:rPr lang="en-US" sz="1100">
                          <a:effectLst/>
                        </a:rPr>
                        <a:t>Test Name</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YOLO Disease Identification</a:t>
                      </a:r>
                      <a:endParaRPr lang="en-IN" sz="1100">
                        <a:effectLst/>
                        <a:latin typeface="Cambria"/>
                        <a:ea typeface="MS Mincho"/>
                        <a:cs typeface="Times New Roman"/>
                      </a:endParaRPr>
                    </a:p>
                  </a:txBody>
                  <a:tcPr marL="68580" marR="68580" marT="0" marB="0"/>
                </a:tc>
              </a:tr>
              <a:tr h="480274">
                <a:tc>
                  <a:txBody>
                    <a:bodyPr/>
                    <a:lstStyle/>
                    <a:p>
                      <a:pPr>
                        <a:lnSpc>
                          <a:spcPct val="115000"/>
                        </a:lnSpc>
                        <a:spcAft>
                          <a:spcPts val="0"/>
                        </a:spcAft>
                      </a:pPr>
                      <a:r>
                        <a:rPr lang="en-US" sz="1100">
                          <a:effectLst/>
                        </a:rPr>
                        <a:t>Test Description</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To test if the YOLOv8 model correctly identifies a disease from the live webcam feed.</a:t>
                      </a:r>
                      <a:endParaRPr lang="en-IN" sz="1100">
                        <a:effectLst/>
                        <a:latin typeface="Cambria"/>
                        <a:ea typeface="MS Mincho"/>
                        <a:cs typeface="Times New Roman"/>
                      </a:endParaRPr>
                    </a:p>
                  </a:txBody>
                  <a:tcPr marL="68580" marR="68580" marT="0" marB="0"/>
                </a:tc>
              </a:tr>
              <a:tr h="240137">
                <a:tc>
                  <a:txBody>
                    <a:bodyPr/>
                    <a:lstStyle/>
                    <a:p>
                      <a:pPr>
                        <a:lnSpc>
                          <a:spcPct val="115000"/>
                        </a:lnSpc>
                        <a:spcAft>
                          <a:spcPts val="0"/>
                        </a:spcAft>
                      </a:pPr>
                      <a:r>
                        <a:rPr lang="en-US" sz="1100">
                          <a:effectLst/>
                        </a:rPr>
                        <a:t>Input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A leaf with "Bacterial Leaf" disease is shown to the webcam.</a:t>
                      </a:r>
                      <a:endParaRPr lang="en-IN" sz="1100">
                        <a:effectLst/>
                        <a:latin typeface="Cambria"/>
                        <a:ea typeface="MS Mincho"/>
                        <a:cs typeface="Times New Roman"/>
                      </a:endParaRPr>
                    </a:p>
                  </a:txBody>
                  <a:tcPr marL="68580" marR="68580" marT="0" marB="0"/>
                </a:tc>
              </a:tr>
              <a:tr h="480274">
                <a:tc>
                  <a:txBody>
                    <a:bodyPr/>
                    <a:lstStyle/>
                    <a:p>
                      <a:pPr>
                        <a:lnSpc>
                          <a:spcPct val="115000"/>
                        </a:lnSpc>
                        <a:spcAft>
                          <a:spcPts val="0"/>
                        </a:spcAft>
                      </a:pPr>
                      <a:r>
                        <a:rPr lang="en-US" sz="1100">
                          <a:effectLst/>
                        </a:rPr>
                        <a:t>Expected Output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video feed should display a bounding box over the leaf labeled "Bacterial Leaf" with a severity estimate.</a:t>
                      </a:r>
                      <a:endParaRPr lang="en-IN" sz="1100">
                        <a:effectLst/>
                        <a:latin typeface="Cambria"/>
                        <a:ea typeface="MS Mincho"/>
                        <a:cs typeface="Times New Roman"/>
                      </a:endParaRPr>
                    </a:p>
                  </a:txBody>
                  <a:tcPr marL="68580" marR="68580" marT="0" marB="0"/>
                </a:tc>
              </a:tr>
              <a:tr h="480274">
                <a:tc>
                  <a:txBody>
                    <a:bodyPr/>
                    <a:lstStyle/>
                    <a:p>
                      <a:pPr>
                        <a:lnSpc>
                          <a:spcPct val="115000"/>
                        </a:lnSpc>
                        <a:spcAft>
                          <a:spcPts val="0"/>
                        </a:spcAft>
                      </a:pPr>
                      <a:r>
                        <a:rPr lang="en-US" sz="1100" dirty="0">
                          <a:effectLst/>
                        </a:rPr>
                        <a:t>Actual Output</a:t>
                      </a:r>
                      <a:endParaRPr lang="en-IN" sz="1100" dirty="0">
                        <a:effectLst/>
                        <a:latin typeface="Cambria"/>
                        <a:ea typeface="MS Mincho"/>
                        <a:cs typeface="Times New Roman"/>
                      </a:endParaRPr>
                    </a:p>
                  </a:txBody>
                  <a:tcPr marL="68580" marR="68580" marT="0" marB="0"/>
                </a:tc>
                <a:tc>
                  <a:txBody>
                    <a:bodyPr/>
                    <a:lstStyle/>
                    <a:p>
                      <a:pPr>
                        <a:lnSpc>
                          <a:spcPct val="115000"/>
                        </a:lnSpc>
                        <a:spcAft>
                          <a:spcPts val="0"/>
                        </a:spcAft>
                      </a:pPr>
                      <a:r>
                        <a:rPr lang="en-US" sz="1100">
                          <a:effectLst/>
                        </a:rPr>
                        <a:t>The video feed displayed a box labeled "Bacterial Leaf (38.5%)" and "Severity: Medium".</a:t>
                      </a:r>
                      <a:endParaRPr lang="en-IN" sz="1100">
                        <a:effectLst/>
                        <a:latin typeface="Cambria"/>
                        <a:ea typeface="MS Mincho"/>
                        <a:cs typeface="Times New Roman"/>
                      </a:endParaRPr>
                    </a:p>
                  </a:txBody>
                  <a:tcPr marL="68580" marR="68580" marT="0" marB="0"/>
                </a:tc>
              </a:tr>
              <a:tr h="240137">
                <a:tc>
                  <a:txBody>
                    <a:bodyPr/>
                    <a:lstStyle/>
                    <a:p>
                      <a:pPr>
                        <a:lnSpc>
                          <a:spcPct val="115000"/>
                        </a:lnSpc>
                        <a:spcAft>
                          <a:spcPts val="0"/>
                        </a:spcAft>
                      </a:pPr>
                      <a:r>
                        <a:rPr lang="en-US" sz="1100">
                          <a:effectLst/>
                        </a:rPr>
                        <a:t>Test Result</a:t>
                      </a:r>
                      <a:endParaRPr lang="en-IN" sz="1100">
                        <a:effectLst/>
                        <a:latin typeface="Cambria"/>
                        <a:ea typeface="MS Mincho"/>
                        <a:cs typeface="Times New Roman"/>
                      </a:endParaRPr>
                    </a:p>
                  </a:txBody>
                  <a:tcPr marL="68580" marR="68580" marT="0" marB="0"/>
                </a:tc>
                <a:tc>
                  <a:txBody>
                    <a:bodyPr/>
                    <a:lstStyle/>
                    <a:p>
                      <a:pPr>
                        <a:lnSpc>
                          <a:spcPct val="115000"/>
                        </a:lnSpc>
                        <a:spcAft>
                          <a:spcPts val="0"/>
                        </a:spcAft>
                      </a:pPr>
                      <a:r>
                        <a:rPr lang="en-US" sz="1100" dirty="0">
                          <a:effectLst/>
                        </a:rPr>
                        <a:t>Success</a:t>
                      </a:r>
                      <a:endParaRPr lang="en-IN" sz="1100" dirty="0">
                        <a:effectLst/>
                        <a:latin typeface="Cambria"/>
                        <a:ea typeface="MS Mincho"/>
                        <a:cs typeface="Times New Roman"/>
                      </a:endParaRPr>
                    </a:p>
                  </a:txBody>
                  <a:tcPr marL="68580" marR="68580" marT="0" marB="0"/>
                </a:tc>
              </a:tr>
            </a:tbl>
          </a:graphicData>
        </a:graphic>
      </p:graphicFrame>
    </p:spTree>
    <p:extLst>
      <p:ext uri="{BB962C8B-B14F-4D97-AF65-F5344CB8AC3E}">
        <p14:creationId xmlns:p14="http://schemas.microsoft.com/office/powerpoint/2010/main" val="4282297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14</a:t>
            </a:fld>
            <a:endParaRPr lang="en-IN"/>
          </a:p>
        </p:txBody>
      </p:sp>
      <p:sp>
        <p:nvSpPr>
          <p:cNvPr id="5" name="Rectangle 4"/>
          <p:cNvSpPr/>
          <p:nvPr/>
        </p:nvSpPr>
        <p:spPr>
          <a:xfrm>
            <a:off x="4618260" y="554079"/>
            <a:ext cx="2374368" cy="498663"/>
          </a:xfrm>
          <a:prstGeom prst="rect">
            <a:avLst/>
          </a:prstGeom>
        </p:spPr>
        <p:txBody>
          <a:bodyPr wrap="none">
            <a:spAutoFit/>
          </a:bodyPr>
          <a:lstStyle/>
          <a:p>
            <a:pPr lvl="1" algn="ctr">
              <a:lnSpc>
                <a:spcPct val="150000"/>
              </a:lnSpc>
              <a:tabLst>
                <a:tab pos="685800" algn="l"/>
              </a:tabLst>
            </a:pPr>
            <a:r>
              <a:rPr lang="en-US" sz="2000" b="1" spc="-10" dirty="0" smtClean="0">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1" spc="-1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p:cNvSpPr/>
          <p:nvPr/>
        </p:nvSpPr>
        <p:spPr>
          <a:xfrm>
            <a:off x="658026" y="1305342"/>
            <a:ext cx="10793338"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Smart Farming Solutions for Crop Disease Prediction and Control using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ML project demonstrates an effective approach to modern agriculture by integrating real-time monitoring, automation, and predictive analytics. By utilizing sensors to track soil and environmental conditions, a USB camera for disease detection, and a relay-controlled irrigation system, the project ensures timely intervention and optimized resource usage. The combination of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and machine learning allows for accurate disease prediction, efficient water management, and prompt alerts to farmers, ultimately reducing crop losses and improving yield. This intelligent system highlights the potential of technology-driven solutions in enhancing agricultural productivity, promoting sustainable farming practices, and supporting farmers in making data-driven decisions.</a:t>
            </a:r>
            <a:endParaRPr lang="en-IN"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455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Dept of AI&amp;DS, SJCIT</a:t>
            </a:r>
            <a:endParaRPr lang="en-IN"/>
          </a:p>
        </p:txBody>
      </p:sp>
      <p:sp>
        <p:nvSpPr>
          <p:cNvPr id="3" name="Footer Placeholder 2"/>
          <p:cNvSpPr>
            <a:spLocks noGrp="1"/>
          </p:cNvSpPr>
          <p:nvPr>
            <p:ph type="ftr" sz="quarter" idx="11"/>
          </p:nvPr>
        </p:nvSpPr>
        <p:spPr/>
        <p:txBody>
          <a:bodyPr/>
          <a:lstStyle/>
          <a:p>
            <a:r>
              <a:rPr lang="en-IN" smtClean="0"/>
              <a:t>2025-26</a:t>
            </a:r>
            <a:endParaRPr lang="en-IN"/>
          </a:p>
        </p:txBody>
      </p:sp>
      <p:sp>
        <p:nvSpPr>
          <p:cNvPr id="4" name="Slide Number Placeholder 3"/>
          <p:cNvSpPr>
            <a:spLocks noGrp="1"/>
          </p:cNvSpPr>
          <p:nvPr>
            <p:ph type="sldNum" sz="quarter" idx="12"/>
          </p:nvPr>
        </p:nvSpPr>
        <p:spPr/>
        <p:txBody>
          <a:bodyPr/>
          <a:lstStyle/>
          <a:p>
            <a:fld id="{69FBB93A-4B32-4007-AACF-5243CED557C7}" type="slidenum">
              <a:rPr lang="en-IN" smtClean="0"/>
              <a:t>15</a:t>
            </a:fld>
            <a:endParaRPr lang="en-IN"/>
          </a:p>
        </p:txBody>
      </p:sp>
      <p:sp>
        <p:nvSpPr>
          <p:cNvPr id="5" name="Rectangle 4"/>
          <p:cNvSpPr/>
          <p:nvPr/>
        </p:nvSpPr>
        <p:spPr>
          <a:xfrm>
            <a:off x="897308" y="1443841"/>
            <a:ext cx="9981488" cy="3366563"/>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A key advancement involves integrating </a:t>
            </a:r>
            <a:r>
              <a:rPr lang="en-US" b="1" dirty="0">
                <a:latin typeface="Times New Roman" panose="02020603050405020304" pitchFamily="18" charset="0"/>
                <a:cs typeface="Times New Roman" panose="02020603050405020304" pitchFamily="18" charset="0"/>
              </a:rPr>
              <a:t>Edge AI</a:t>
            </a:r>
            <a:r>
              <a:rPr lang="en-US" dirty="0">
                <a:latin typeface="Times New Roman" panose="02020603050405020304" pitchFamily="18" charset="0"/>
                <a:cs typeface="Times New Roman" panose="02020603050405020304" pitchFamily="18" charset="0"/>
              </a:rPr>
              <a:t> by replacing the PC-dependent setup with a </a:t>
            </a:r>
            <a:r>
              <a:rPr lang="en-US" b="1" dirty="0">
                <a:latin typeface="Times New Roman" panose="02020603050405020304" pitchFamily="18" charset="0"/>
                <a:cs typeface="Times New Roman" panose="02020603050405020304" pitchFamily="18" charset="0"/>
              </a:rPr>
              <a:t>Wi-Fi-enabled microcontroller</a:t>
            </a:r>
            <a:r>
              <a:rPr lang="en-US" dirty="0">
                <a:latin typeface="Times New Roman" panose="02020603050405020304" pitchFamily="18" charset="0"/>
                <a:cs typeface="Times New Roman" panose="02020603050405020304" pitchFamily="18" charset="0"/>
              </a:rPr>
              <a:t> such as the </a:t>
            </a:r>
            <a:r>
              <a:rPr lang="en-US" b="1" dirty="0">
                <a:latin typeface="Times New Roman" panose="02020603050405020304" pitchFamily="18" charset="0"/>
                <a:cs typeface="Times New Roman" panose="02020603050405020304" pitchFamily="18" charset="0"/>
              </a:rPr>
              <a:t>ESP32</a:t>
            </a:r>
            <a:r>
              <a:rPr lang="en-US" dirty="0">
                <a:latin typeface="Times New Roman" panose="02020603050405020304" pitchFamily="18" charset="0"/>
                <a:cs typeface="Times New Roman" panose="02020603050405020304" pitchFamily="18" charset="0"/>
              </a:rPr>
              <a:t>, enabling independent operation and cloud connectivity. The </a:t>
            </a:r>
            <a:r>
              <a:rPr lang="en-US" b="1" dirty="0">
                <a:latin typeface="Times New Roman" panose="02020603050405020304" pitchFamily="18" charset="0"/>
                <a:cs typeface="Times New Roman" panose="02020603050405020304" pitchFamily="18" charset="0"/>
              </a:rPr>
              <a:t>YOLOv8 model</a:t>
            </a:r>
            <a:r>
              <a:rPr lang="en-US" dirty="0">
                <a:latin typeface="Times New Roman" panose="02020603050405020304" pitchFamily="18" charset="0"/>
                <a:cs typeface="Times New Roman" panose="02020603050405020304" pitchFamily="18" charset="0"/>
              </a:rPr>
              <a:t> can be deployed on an </a:t>
            </a:r>
            <a:r>
              <a:rPr lang="en-US" b="1" dirty="0">
                <a:latin typeface="Times New Roman" panose="02020603050405020304" pitchFamily="18" charset="0"/>
                <a:cs typeface="Times New Roman" panose="02020603050405020304" pitchFamily="18" charset="0"/>
              </a:rPr>
              <a:t>edge-AI platform</a:t>
            </a:r>
            <a:r>
              <a:rPr lang="en-US" dirty="0">
                <a:latin typeface="Times New Roman" panose="02020603050405020304" pitchFamily="18" charset="0"/>
                <a:cs typeface="Times New Roman" panose="02020603050405020304" pitchFamily="18" charset="0"/>
              </a:rPr>
              <a:t> like the </a:t>
            </a:r>
            <a:r>
              <a:rPr lang="en-US" b="1" dirty="0">
                <a:latin typeface="Times New Roman" panose="02020603050405020304" pitchFamily="18" charset="0"/>
                <a:cs typeface="Times New Roman" panose="02020603050405020304" pitchFamily="18" charset="0"/>
              </a:rPr>
              <a:t>Raspberry Pi 5</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Jetson Nano</a:t>
            </a:r>
            <a:r>
              <a:rPr lang="en-US" dirty="0">
                <a:latin typeface="Times New Roman" panose="02020603050405020304" pitchFamily="18" charset="0"/>
                <a:cs typeface="Times New Roman" panose="02020603050405020304" pitchFamily="18" charset="0"/>
              </a:rPr>
              <a:t> for real-time, on-field analysis. This setup would support </a:t>
            </a:r>
            <a:r>
              <a:rPr lang="en-US" b="1" dirty="0">
                <a:latin typeface="Times New Roman" panose="02020603050405020304" pitchFamily="18" charset="0"/>
                <a:cs typeface="Times New Roman" panose="02020603050405020304" pitchFamily="18" charset="0"/>
              </a:rPr>
              <a:t>closed-loop automation</a:t>
            </a:r>
            <a:r>
              <a:rPr lang="en-US" dirty="0">
                <a:latin typeface="Times New Roman" panose="02020603050405020304" pitchFamily="18" charset="0"/>
                <a:cs typeface="Times New Roman" panose="02020603050405020304" pitchFamily="18" charset="0"/>
              </a:rPr>
              <a:t>, such as activating a </a:t>
            </a:r>
            <a:r>
              <a:rPr lang="en-US" b="1" dirty="0">
                <a:latin typeface="Times New Roman" panose="02020603050405020304" pitchFamily="18" charset="0"/>
                <a:cs typeface="Times New Roman" panose="02020603050405020304" pitchFamily="18" charset="0"/>
              </a:rPr>
              <a:t>water pump</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pesticide sprayer</a:t>
            </a:r>
            <a:r>
              <a:rPr lang="en-US" dirty="0">
                <a:latin typeface="Times New Roman" panose="02020603050405020304" pitchFamily="18" charset="0"/>
                <a:cs typeface="Times New Roman" panose="02020603050405020304" pitchFamily="18" charset="0"/>
              </a:rPr>
              <a:t> based on AI predictions. A </a:t>
            </a:r>
            <a:r>
              <a:rPr lang="en-US" b="1" dirty="0">
                <a:latin typeface="Times New Roman" panose="02020603050405020304" pitchFamily="18" charset="0"/>
                <a:cs typeface="Times New Roman" panose="02020603050405020304" pitchFamily="18" charset="0"/>
              </a:rPr>
              <a:t>multi-variate Random Forest Classifier</a:t>
            </a:r>
            <a:r>
              <a:rPr lang="en-US" dirty="0">
                <a:latin typeface="Times New Roman" panose="02020603050405020304" pitchFamily="18" charset="0"/>
                <a:cs typeface="Times New Roman" panose="02020603050405020304" pitchFamily="18" charset="0"/>
              </a:rPr>
              <a:t> could enhance decision-making by learning complex correlations among sensor parameters, while expanding the sensor suite with </a:t>
            </a:r>
            <a:r>
              <a:rPr lang="en-US" b="1" dirty="0">
                <a:latin typeface="Times New Roman" panose="02020603050405020304" pitchFamily="18" charset="0"/>
                <a:cs typeface="Times New Roman" panose="02020603050405020304" pitchFamily="18" charset="0"/>
              </a:rPr>
              <a:t>NPK</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BME280</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light sensors</a:t>
            </a:r>
            <a:r>
              <a:rPr lang="en-US" dirty="0">
                <a:latin typeface="Times New Roman" panose="02020603050405020304" pitchFamily="18" charset="0"/>
                <a:cs typeface="Times New Roman" panose="02020603050405020304" pitchFamily="18" charset="0"/>
              </a:rPr>
              <a:t> would further enrich system intelligence. All data can be visualized in a </a:t>
            </a:r>
            <a:r>
              <a:rPr lang="en-US" b="1" dirty="0">
                <a:latin typeface="Times New Roman" panose="02020603050405020304" pitchFamily="18" charset="0"/>
                <a:cs typeface="Times New Roman" panose="02020603050405020304" pitchFamily="18" charset="0"/>
              </a:rPr>
              <a:t>centralized web or mobile dashboard</a:t>
            </a:r>
            <a:r>
              <a:rPr lang="en-US" dirty="0">
                <a:latin typeface="Times New Roman" panose="02020603050405020304" pitchFamily="18" charset="0"/>
                <a:cs typeface="Times New Roman" panose="02020603050405020304" pitchFamily="18" charset="0"/>
              </a:rPr>
              <a:t> for live monitoring and manual control.</a:t>
            </a:r>
            <a:endParaRPr lang="en-IN" dirty="0">
              <a:latin typeface="Times New Roman" panose="02020603050405020304" pitchFamily="18" charset="0"/>
              <a:cs typeface="Times New Roman" panose="02020603050405020304" pitchFamily="18" charset="0"/>
            </a:endParaRPr>
          </a:p>
        </p:txBody>
      </p:sp>
      <p:sp>
        <p:nvSpPr>
          <p:cNvPr id="6" name="Rectangle 5"/>
          <p:cNvSpPr/>
          <p:nvPr/>
        </p:nvSpPr>
        <p:spPr>
          <a:xfrm>
            <a:off x="5017179" y="355856"/>
            <a:ext cx="3363421" cy="400110"/>
          </a:xfrm>
          <a:prstGeom prst="rect">
            <a:avLst/>
          </a:prstGeom>
        </p:spPr>
        <p:txBody>
          <a:bodyPr wrap="none">
            <a:spAutoFit/>
          </a:bodyPr>
          <a:lstStyle/>
          <a:p>
            <a:r>
              <a:rPr lang="en-IN" sz="2000" b="1" dirty="0" smtClean="0">
                <a:latin typeface="Times New Roman" panose="02020603050405020304" pitchFamily="18" charset="0"/>
                <a:cs typeface="Times New Roman" panose="02020603050405020304" pitchFamily="18" charset="0"/>
              </a:rPr>
              <a:t>FUTURE ENHANCEMENT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5374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CDD8418-6FAD-F00E-45F4-A5559C250A3C}"/>
              </a:ext>
            </a:extLst>
          </p:cNvPr>
          <p:cNvSpPr>
            <a:spLocks noGrp="1"/>
          </p:cNvSpPr>
          <p:nvPr>
            <p:ph type="dt" sz="half" idx="10"/>
          </p:nvPr>
        </p:nvSpPr>
        <p:spPr/>
        <p:txBody>
          <a:bodyPr/>
          <a:lstStyle/>
          <a:p>
            <a:r>
              <a:rPr lang="en-US"/>
              <a:t>Dept of AI&amp;DS, SJCIT</a:t>
            </a:r>
            <a:endParaRPr lang="en-IN"/>
          </a:p>
        </p:txBody>
      </p:sp>
      <p:sp>
        <p:nvSpPr>
          <p:cNvPr id="3" name="Footer Placeholder 2">
            <a:extLst>
              <a:ext uri="{FF2B5EF4-FFF2-40B4-BE49-F238E27FC236}">
                <a16:creationId xmlns:a16="http://schemas.microsoft.com/office/drawing/2014/main" xmlns="" id="{232A7576-15AA-0FC7-E9DB-56464C09E01E}"/>
              </a:ext>
            </a:extLst>
          </p:cNvPr>
          <p:cNvSpPr>
            <a:spLocks noGrp="1"/>
          </p:cNvSpPr>
          <p:nvPr>
            <p:ph type="ftr" sz="quarter" idx="11"/>
          </p:nvPr>
        </p:nvSpPr>
        <p:spPr/>
        <p:txBody>
          <a:bodyPr/>
          <a:lstStyle/>
          <a:p>
            <a:r>
              <a:rPr lang="en-IN"/>
              <a:t>2025-26</a:t>
            </a:r>
          </a:p>
        </p:txBody>
      </p:sp>
      <p:sp>
        <p:nvSpPr>
          <p:cNvPr id="4" name="Slide Number Placeholder 3">
            <a:extLst>
              <a:ext uri="{FF2B5EF4-FFF2-40B4-BE49-F238E27FC236}">
                <a16:creationId xmlns:a16="http://schemas.microsoft.com/office/drawing/2014/main" xmlns="" id="{F3A6A993-DCA8-B7DC-A153-FC50899732F0}"/>
              </a:ext>
            </a:extLst>
          </p:cNvPr>
          <p:cNvSpPr>
            <a:spLocks noGrp="1"/>
          </p:cNvSpPr>
          <p:nvPr>
            <p:ph type="sldNum" sz="quarter" idx="12"/>
          </p:nvPr>
        </p:nvSpPr>
        <p:spPr/>
        <p:txBody>
          <a:bodyPr/>
          <a:lstStyle/>
          <a:p>
            <a:fld id="{69FBB93A-4B32-4007-AACF-5243CED557C7}" type="slidenum">
              <a:rPr lang="en-IN" smtClean="0"/>
              <a:t>16</a:t>
            </a:fld>
            <a:endParaRPr lang="en-IN"/>
          </a:p>
        </p:txBody>
      </p:sp>
      <p:pic>
        <p:nvPicPr>
          <p:cNvPr id="6" name="Picture 5">
            <a:extLst>
              <a:ext uri="{FF2B5EF4-FFF2-40B4-BE49-F238E27FC236}">
                <a16:creationId xmlns:a16="http://schemas.microsoft.com/office/drawing/2014/main" xmlns="" id="{911440DA-8F5B-2DC2-9C14-E94E5A067B93}"/>
              </a:ext>
            </a:extLst>
          </p:cNvPr>
          <p:cNvPicPr>
            <a:picLocks noChangeAspect="1"/>
          </p:cNvPicPr>
          <p:nvPr/>
        </p:nvPicPr>
        <p:blipFill>
          <a:blip r:embed="rId2"/>
          <a:stretch>
            <a:fillRect/>
          </a:stretch>
        </p:blipFill>
        <p:spPr>
          <a:xfrm>
            <a:off x="0" y="0"/>
            <a:ext cx="12192000" cy="6405510"/>
          </a:xfrm>
          <a:prstGeom prst="rect">
            <a:avLst/>
          </a:prstGeom>
        </p:spPr>
      </p:pic>
    </p:spTree>
    <p:extLst>
      <p:ext uri="{BB962C8B-B14F-4D97-AF65-F5344CB8AC3E}">
        <p14:creationId xmlns:p14="http://schemas.microsoft.com/office/powerpoint/2010/main" val="190116701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983</TotalTime>
  <Words>1844</Words>
  <Application>Microsoft Office PowerPoint</Application>
  <PresentationFormat>Custom</PresentationFormat>
  <Paragraphs>211</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Prerana V</dc:creator>
  <cp:lastModifiedBy>mareddy charan</cp:lastModifiedBy>
  <cp:revision>40</cp:revision>
  <dcterms:created xsi:type="dcterms:W3CDTF">2024-11-02T06:33:28Z</dcterms:created>
  <dcterms:modified xsi:type="dcterms:W3CDTF">2025-11-12T11:37:17Z</dcterms:modified>
</cp:coreProperties>
</file>
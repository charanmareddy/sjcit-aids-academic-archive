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7" r:id="rId2"/>
    <p:sldId id="258" r:id="rId3"/>
    <p:sldId id="259" r:id="rId4"/>
    <p:sldId id="260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2" r:id="rId14"/>
    <p:sldId id="26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9" d="100"/>
          <a:sy n="89" d="100"/>
        </p:scale>
        <p:origin x="-432" y="2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87CFF807-76C2-FC97-28A0-B51206186DE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 Hybrid Neural Network for EEG-based Depression Screening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7FA6F68-989C-379C-AC57-04EF83A9CA4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70DDBBC-1DA7-4B6E-A894-D91CCC9E14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Dept of AI&amp;DS, SJCIT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CAE13D8-524B-3194-731C-1291D9F86D7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EC8F0A-2F6B-4EDC-8032-61F1494F8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397692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 Hybrid Neural Network for EEG-based Depression Screening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Dept of AI&amp;DS, SJCIT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BCECF8-49E2-452A-BDEE-A7E1E796A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80226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A Hybrid Neural Network for EEG-based Depression Screening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 of AI&amp;DS, SJCIT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CECF8-49E2-452A-BDEE-A7E1E796A08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3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A Hybrid Neural Network for EEG-based Depression Screening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 of AI&amp;DS, SJCIT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CECF8-49E2-452A-BDEE-A7E1E796A08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150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A Hybrid Neural Network for EEG-based Depression Screening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Dept of AI&amp;DS, SJCIT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BCECF8-49E2-452A-BDEE-A7E1E796A08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380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 of AI&amp;DS, SJCIT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2024-25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B93A-4B32-4007-AACF-5243CED557C7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1746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 of AI&amp;DS, SJCIT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2024-25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B93A-4B32-4007-AACF-5243CED55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850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 of AI&amp;DS, SJCIT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2024-25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B93A-4B32-4007-AACF-5243CED557C7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2393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 of AI&amp;DS, SJCIT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2024-25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B93A-4B32-4007-AACF-5243CED55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030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 of AI&amp;DS, SJCIT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2024-25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B93A-4B32-4007-AACF-5243CED55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801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 of AI&amp;DS, SJCIT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2024-25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B93A-4B32-4007-AACF-5243CED55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644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 of AI&amp;DS, SJCIT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IN"/>
              <a:t>2024-25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B93A-4B32-4007-AACF-5243CED55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431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Dept of AI&amp;DS, SJCIT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IN"/>
              <a:t>2024-25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FBB93A-4B32-4007-AACF-5243CED55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0718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 of AI&amp;DS, SJCIT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2024-25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B93A-4B32-4007-AACF-5243CED55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9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 of AI&amp;DS, SJCIT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2024-25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B93A-4B32-4007-AACF-5243CED55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887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 of AI&amp;DS, SJCIT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2024-25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B93A-4B32-4007-AACF-5243CED55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111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/>
              <a:t>Dept of AI&amp;DS, SJCIT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IN"/>
              <a:t>2024-25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9FBB93A-4B32-4007-AACF-5243CED557C7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8746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Phase_1_review.pptx" TargetMode="External"/><Relationship Id="rId2" Type="http://schemas.openxmlformats.org/officeDocument/2006/relationships/hyperlink" Target="https://www.geeksforgeeks.org/introduction-convolution-neural-network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4DD8720-A00F-5D7B-9C9A-5656A8590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2024-25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8B5B378-9CF4-628F-242F-C3B271FBC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B93A-4B32-4007-AACF-5243CED557C7}" type="slidenum">
              <a:rPr lang="en-IN" smtClean="0"/>
              <a:t>1</a:t>
            </a:fld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C02BCDCC-A182-5718-B49D-B13F53391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 of AI&amp;DS, SJCIT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8AF886D-2672-E1B6-5558-A6D5255410EA}"/>
              </a:ext>
            </a:extLst>
          </p:cNvPr>
          <p:cNvSpPr txBox="1"/>
          <p:nvPr/>
        </p:nvSpPr>
        <p:spPr>
          <a:xfrm>
            <a:off x="10114590" y="650450"/>
            <a:ext cx="766856" cy="2026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858E34A5-CC41-727F-A76B-9AF31A39ACCD}"/>
              </a:ext>
            </a:extLst>
          </p:cNvPr>
          <p:cNvSpPr txBox="1"/>
          <p:nvPr/>
        </p:nvSpPr>
        <p:spPr>
          <a:xfrm>
            <a:off x="2408902" y="2390067"/>
            <a:ext cx="7521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ARTIFICAL INTELLIGENCE AND DATA SCIENCE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BAAB6D6F-10A3-8E55-C649-9976D7BF835A}"/>
              </a:ext>
            </a:extLst>
          </p:cNvPr>
          <p:cNvSpPr txBox="1"/>
          <p:nvPr/>
        </p:nvSpPr>
        <p:spPr>
          <a:xfrm>
            <a:off x="3401961" y="2815152"/>
            <a:ext cx="4011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en-US" sz="1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CC330673-E17D-D4FA-63DA-AA77404362AB}"/>
              </a:ext>
            </a:extLst>
          </p:cNvPr>
          <p:cNvSpPr txBox="1"/>
          <p:nvPr/>
        </p:nvSpPr>
        <p:spPr>
          <a:xfrm>
            <a:off x="571358" y="3723333"/>
            <a:ext cx="4665660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Team Members</a:t>
            </a:r>
          </a:p>
          <a:p>
            <a:r>
              <a:rPr lang="en-US" altLang="en-US" sz="1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 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r>
              <a:rPr lang="en-US" altLang="en-US" sz="1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USN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/>
                <a:cs typeface="Times New Roman"/>
              </a:rPr>
              <a:t>M.CHARAN                 1SJ22AD024</a:t>
            </a:r>
            <a:endParaRPr lang="en-US" sz="18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B.LATHA 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SREE           1SJ22AD006</a:t>
            </a:r>
          </a:p>
          <a:p>
            <a:pPr algn="just"/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S MOUNIKA            1SJ22AD008</a:t>
            </a:r>
          </a:p>
          <a:p>
            <a:pPr algn="just"/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63E1D173-52B1-1198-57D1-211E856BFA03}"/>
              </a:ext>
            </a:extLst>
          </p:cNvPr>
          <p:cNvSpPr txBox="1"/>
          <p:nvPr/>
        </p:nvSpPr>
        <p:spPr>
          <a:xfrm>
            <a:off x="8266651" y="3904270"/>
            <a:ext cx="27569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Badrinath K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endParaRPr lang="en-I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4684A7C2-0927-DAE1-49C4-AD87F3B26156}"/>
              </a:ext>
            </a:extLst>
          </p:cNvPr>
          <p:cNvSpPr txBox="1"/>
          <p:nvPr/>
        </p:nvSpPr>
        <p:spPr>
          <a:xfrm>
            <a:off x="3401961" y="2815152"/>
            <a:ext cx="6086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en-US" sz="1800" b="1" baseline="30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en-US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Sem  Project Phase-1</a:t>
            </a:r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A248202-711E-796C-9322-294D8272F7C8}"/>
              </a:ext>
            </a:extLst>
          </p:cNvPr>
          <p:cNvSpPr txBox="1"/>
          <p:nvPr/>
        </p:nvSpPr>
        <p:spPr>
          <a:xfrm>
            <a:off x="382384" y="3324829"/>
            <a:ext cx="11230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“A Hybrid Neural Network for EEG-based Depression Screening Using CNN”</a:t>
            </a:r>
            <a:endParaRPr lang="en-IN" sz="1600" b="1" dirty="0"/>
          </a:p>
        </p:txBody>
      </p:sp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967" y="119641"/>
            <a:ext cx="10725518" cy="194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9813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0312830-05A9-627B-229B-4C455CB27EB9}"/>
              </a:ext>
            </a:extLst>
          </p:cNvPr>
          <p:cNvSpPr txBox="1"/>
          <p:nvPr/>
        </p:nvSpPr>
        <p:spPr>
          <a:xfrm>
            <a:off x="2333415" y="413174"/>
            <a:ext cx="65587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lang="en-IN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1CE8EC1-241F-A9E5-055C-8E8B1F066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2024-25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FFC50BCD-9CB0-2F01-FF7D-61412C7CD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B93A-4B32-4007-AACF-5243CED557C7}" type="slidenum">
              <a:rPr lang="en-IN" smtClean="0"/>
              <a:t>2</a:t>
            </a:fld>
            <a:endParaRPr lang="en-IN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xmlns="" id="{D1C8C61A-AD8A-F055-9DE5-7E8FBCCBF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 of AI&amp;DS, SJCIT</a:t>
            </a:r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65FAF25-D943-CF5A-7916-7E9CAEE994F9}"/>
              </a:ext>
            </a:extLst>
          </p:cNvPr>
          <p:cNvSpPr txBox="1"/>
          <p:nvPr/>
        </p:nvSpPr>
        <p:spPr>
          <a:xfrm>
            <a:off x="1563707" y="1632342"/>
            <a:ext cx="8220374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 algn="just">
              <a:lnSpc>
                <a:spcPct val="150000"/>
              </a:lnSpc>
              <a:buFont typeface="+mj-lt"/>
              <a:buAutoNum type="arabicPeriod"/>
              <a:tabLst>
                <a:tab pos="685800" algn="l"/>
              </a:tabLst>
            </a:pPr>
            <a:r>
              <a:rPr lang="en-US" sz="20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</a:t>
            </a:r>
            <a:r>
              <a:rPr lang="en-US" sz="20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Statement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20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2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Title</a:t>
            </a:r>
            <a:endParaRPr lang="en-IN" sz="2000" spc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+mj-lt"/>
              <a:buAutoNum type="arabicPeriod"/>
              <a:tabLst>
                <a:tab pos="685800" algn="l"/>
              </a:tabLst>
            </a:pPr>
            <a:r>
              <a:rPr lang="en-US" sz="20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Purpose,</a:t>
            </a:r>
            <a:r>
              <a:rPr lang="en-US" sz="20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Scope,</a:t>
            </a:r>
            <a:r>
              <a:rPr lang="en-US" sz="20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Objectives</a:t>
            </a:r>
            <a:endParaRPr lang="en-IN" sz="2000" spc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+mj-lt"/>
              <a:buAutoNum type="arabicPeriod"/>
              <a:tabLst>
                <a:tab pos="685800" algn="l"/>
              </a:tabLst>
            </a:pPr>
            <a:r>
              <a:rPr lang="en-US" sz="20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Abstract</a:t>
            </a:r>
            <a:r>
              <a:rPr lang="en-US" sz="20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(System</a:t>
            </a:r>
            <a:r>
              <a:rPr lang="en-US" sz="20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Overview)</a:t>
            </a:r>
            <a:endParaRPr lang="en-IN" sz="2000" spc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+mj-lt"/>
              <a:buAutoNum type="arabicPeriod"/>
              <a:tabLst>
                <a:tab pos="685800" algn="l"/>
              </a:tabLst>
            </a:pPr>
            <a:r>
              <a:rPr lang="en-US" sz="20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</a:t>
            </a:r>
            <a:r>
              <a:rPr lang="en-US" sz="2000" spc="-3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(Architecture</a:t>
            </a:r>
            <a:r>
              <a:rPr lang="en-US" sz="20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US" sz="2000" spc="-3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High-level</a:t>
            </a:r>
            <a:r>
              <a:rPr lang="en-US" sz="2000" spc="-3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Design)</a:t>
            </a:r>
            <a:endParaRPr lang="en-IN" sz="2000" spc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+mj-lt"/>
              <a:buAutoNum type="arabicPeriod"/>
              <a:tabLst>
                <a:tab pos="685800" algn="l"/>
              </a:tabLst>
            </a:pPr>
            <a:r>
              <a:rPr lang="en-US" sz="20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Literature</a:t>
            </a:r>
            <a:r>
              <a:rPr lang="en-US" sz="20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Survey</a:t>
            </a:r>
            <a:endParaRPr lang="en-IN" sz="2000" spc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+mj-lt"/>
              <a:buAutoNum type="arabicPeriod"/>
              <a:tabLst>
                <a:tab pos="685800" algn="l"/>
              </a:tabLst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References</a:t>
            </a:r>
            <a:endParaRPr lang="en-IN" sz="2000" spc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+mj-lt"/>
              <a:buAutoNum type="arabicPeriod"/>
              <a:tabLst>
                <a:tab pos="685800" algn="l"/>
              </a:tabLst>
            </a:pPr>
            <a:r>
              <a:rPr lang="en-US" sz="20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</a:t>
            </a:r>
            <a:r>
              <a:rPr lang="en-US" sz="20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Plan </a:t>
            </a:r>
            <a:r>
              <a:rPr lang="en-US" sz="2000" spc="-2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1.0</a:t>
            </a:r>
            <a:endParaRPr lang="en-IN" sz="2000" spc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61A694EC-414F-38CE-31A6-2BC1C0D09C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5485" y="235453"/>
            <a:ext cx="1581591" cy="87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022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5918D989-2A37-3891-186E-A1261B11B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2024-25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37EE4447-BC01-0414-8033-AFD9F83C9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B93A-4B32-4007-AACF-5243CED557C7}" type="slidenum">
              <a:rPr lang="en-IN" smtClean="0"/>
              <a:t>3</a:t>
            </a:fld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xmlns="" id="{2A11A15E-64A8-D69C-C5B5-768B49DD6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 of AI&amp;DS, SJCIT</a:t>
            </a:r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0EA5885-70AA-13CC-CD2D-5E98D6E5F9E7}"/>
              </a:ext>
            </a:extLst>
          </p:cNvPr>
          <p:cNvSpPr txBox="1"/>
          <p:nvPr/>
        </p:nvSpPr>
        <p:spPr>
          <a:xfrm>
            <a:off x="656705" y="723207"/>
            <a:ext cx="109062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  PROBLEM STATEMENT: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D17B612F-A342-2C4E-759B-AE95768CF571}"/>
              </a:ext>
            </a:extLst>
          </p:cNvPr>
          <p:cNvSpPr txBox="1"/>
          <p:nvPr/>
        </p:nvSpPr>
        <p:spPr>
          <a:xfrm>
            <a:off x="1313411" y="3000895"/>
            <a:ext cx="8503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/>
              <a:t>      </a:t>
            </a:r>
          </a:p>
          <a:p>
            <a:endParaRPr lang="en-IN" dirty="0"/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xmlns="" id="{A29F99FF-C800-ECAD-FBB2-4926E262198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05343" y="1702042"/>
            <a:ext cx="9673245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Depression is a major mental health issue affecting over 322 million people worldwide, contributing to significant emotional, social, and economic burdens. Traditional methods for diagnosing depression, such as clinical interviews and self-reported questionnaires, are subjective and time-consuming. EEG-based diagnosis provides objective insights into brain activity but is prone to human error due to the complexity of interpreting EEG signals. Thus, there is a critical need for an automated and accurate depression screening system using EEG signals.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61A694EC-414F-38CE-31A6-2BC1C0D09C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5485" y="252545"/>
            <a:ext cx="1581591" cy="87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950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E2E89DF8-AD27-E7AB-7EB6-D993AD1DD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2024-25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D4645177-387E-3591-BCF5-CF8CECAB2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B93A-4B32-4007-AACF-5243CED557C7}" type="slidenum">
              <a:rPr lang="en-IN" smtClean="0"/>
              <a:t>4</a:t>
            </a:fld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xmlns="" id="{159A5EAB-1C55-7FFB-B219-EE13B91C9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 of AI&amp;DS, SJCIT</a:t>
            </a:r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54E3464-4194-906E-53A2-DED27F8029F5}"/>
              </a:ext>
            </a:extLst>
          </p:cNvPr>
          <p:cNvSpPr txBox="1"/>
          <p:nvPr/>
        </p:nvSpPr>
        <p:spPr>
          <a:xfrm rot="10800000" flipV="1">
            <a:off x="3569551" y="769496"/>
            <a:ext cx="3928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cs typeface="Times New Roman" panose="02020603050405020304" pitchFamily="18" charset="0"/>
              </a:rPr>
              <a:t>OBJECTIVES</a:t>
            </a:r>
            <a:endParaRPr lang="en-IN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3D9FE28-5B2D-7FF2-5B21-B6E044D70CB9}"/>
              </a:ext>
            </a:extLst>
          </p:cNvPr>
          <p:cNvSpPr txBox="1"/>
          <p:nvPr/>
        </p:nvSpPr>
        <p:spPr>
          <a:xfrm>
            <a:off x="1862051" y="2211185"/>
            <a:ext cx="7265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xmlns="" id="{DC431DBB-00A1-4FBE-F001-002F2D27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213" y="2163645"/>
            <a:ext cx="1082317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82C41A3-4098-48C1-BDA2-8F18EB5EDDE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84414" y="1978998"/>
            <a:ext cx="10823171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a CNN-LSTM model to automate depression detection using EEG signals.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adaptability using cross-validation and diverse datasets while employing regularization techniques like L2 regularization and adaptive learning rates.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 model accuracy and generalization through techniques such as dropout, data augmentation, and early stopping.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computational complexity and latency for real-time depression screening on portable and cloud-based platforms.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61A694EC-414F-38CE-31A6-2BC1C0D09C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5485" y="252545"/>
            <a:ext cx="1581591" cy="87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098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5A885E2-F769-B2BD-0834-573D9F943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 of AI&amp;DS, SJCIT</a:t>
            </a:r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47E47CC7-2159-061B-3ECA-68DBA3DC0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2024-25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5CC646A-6732-2548-8FA2-6FB4BB0F3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B93A-4B32-4007-AACF-5243CED557C7}" type="slidenum">
              <a:rPr lang="en-IN" smtClean="0"/>
              <a:t>5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9DAB47E-B242-F491-0982-B07E2EEAD6BF}"/>
              </a:ext>
            </a:extLst>
          </p:cNvPr>
          <p:cNvSpPr txBox="1"/>
          <p:nvPr/>
        </p:nvSpPr>
        <p:spPr>
          <a:xfrm rot="10800000" flipV="1">
            <a:off x="3640122" y="685234"/>
            <a:ext cx="3928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>
                <a:cs typeface="Times New Roman" panose="02020603050405020304" pitchFamily="18" charset="0"/>
              </a:rPr>
              <a:t>PURPOSE</a:t>
            </a:r>
            <a:endParaRPr lang="en-IN" sz="36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2D0A993-6F5F-70D0-E1E2-EFC69365F94B}"/>
              </a:ext>
            </a:extLst>
          </p:cNvPr>
          <p:cNvSpPr txBox="1"/>
          <p:nvPr/>
        </p:nvSpPr>
        <p:spPr>
          <a:xfrm>
            <a:off x="580103" y="1543665"/>
            <a:ext cx="10048568" cy="2345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fully automated, intelligent screening system is proposed for detecting depression using electroencephalogram (EEG) signals. By leveraging a hybrid deep learning architecture that combines Convolutional Neural Networks (CNN) and Long Short-Term Memory (LSTM) networks, the system enhances diagnostic accuracy while minimizing human intervention and computational overhead.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1A694EC-414F-38CE-31A6-2BC1C0D09C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5485" y="235453"/>
            <a:ext cx="1581591" cy="87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39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CB63CA5-9F8A-1D96-4697-615FD3BB0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 of AI&amp;DS, SJCIT</a:t>
            </a:r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7B3B4DAE-8D90-76D5-9A6A-7C4004839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2024-25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7244CE2-6795-A403-F530-A9F1CE14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B93A-4B32-4007-AACF-5243CED557C7}" type="slidenum">
              <a:rPr lang="en-IN" smtClean="0"/>
              <a:t>6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8E94CEBF-2601-75FD-469E-F7C5DEF682EA}"/>
              </a:ext>
            </a:extLst>
          </p:cNvPr>
          <p:cNvSpPr txBox="1"/>
          <p:nvPr/>
        </p:nvSpPr>
        <p:spPr>
          <a:xfrm>
            <a:off x="2576052" y="481781"/>
            <a:ext cx="65679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>
                <a:cs typeface="Times New Roman" panose="02020603050405020304" pitchFamily="18" charset="0"/>
              </a:rPr>
              <a:t>SCOPE</a:t>
            </a:r>
            <a:endParaRPr lang="en-IN" sz="3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3CE94671-763C-613B-0D35-E5EBD74F6A7A}"/>
              </a:ext>
            </a:extLst>
          </p:cNvPr>
          <p:cNvSpPr txBox="1"/>
          <p:nvPr/>
        </p:nvSpPr>
        <p:spPr>
          <a:xfrm>
            <a:off x="904567" y="1366683"/>
            <a:ext cx="9832259" cy="2345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focuses on the development of a deep learning-based diagnostic tool that utilizes EEG signals for the automated identification of depressive disorders. It covers the entire pipeline—from signal acquisition and preprocessing to model training, evaluation, and integration into a deployable framework suitable for clinical environments or mental health screening platforms.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1A694EC-414F-38CE-31A6-2BC1C0D09C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5485" y="235453"/>
            <a:ext cx="1581591" cy="87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262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24F42FAF-7074-A3AF-8957-D541E8118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 of AI&amp;DS, SJCIT</a:t>
            </a:r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53A1013D-FDCE-3AAE-381F-FE0C3678A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2024-25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8B93B00-BE8F-100F-FB7C-018AA2563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B93A-4B32-4007-AACF-5243CED557C7}" type="slidenum">
              <a:rPr lang="en-IN" smtClean="0"/>
              <a:t>7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75E666D-E8DF-9B53-F045-139D56A6B3F8}"/>
              </a:ext>
            </a:extLst>
          </p:cNvPr>
          <p:cNvSpPr txBox="1"/>
          <p:nvPr/>
        </p:nvSpPr>
        <p:spPr>
          <a:xfrm>
            <a:off x="2901159" y="351618"/>
            <a:ext cx="50122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rtl="0" eaLnBrk="1" latinLnBrk="0" hangingPunct="1"/>
            <a:r>
              <a:rPr lang="en-IN" sz="36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ABSTRACT</a:t>
            </a:r>
            <a:endParaRPr lang="en-IN" sz="3600" dirty="0"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E961D619-FCE5-5899-8D40-118122A580D8}"/>
              </a:ext>
            </a:extLst>
          </p:cNvPr>
          <p:cNvSpPr txBox="1"/>
          <p:nvPr/>
        </p:nvSpPr>
        <p:spPr>
          <a:xfrm>
            <a:off x="344130" y="997949"/>
            <a:ext cx="4552066" cy="4131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introduces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DepHNN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(Depression Hybrid Neural Network)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hybrid deep learning model for automated depression detection using EEG signals. Combining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Networks(CNN)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local feature extraction and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Short-Term Memory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(LSTM) for sequential modeling, the system employs a windowing technique to boost efficiency. Tested on a dataset of 45 subjects,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DepHNN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99.1% accuracy, showing strong potential for non-invasive, real-time clinical screening of depression.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1A694EC-414F-38CE-31A6-2BC1C0D09C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5485" y="235453"/>
            <a:ext cx="1581591" cy="878662"/>
          </a:xfrm>
          <a:prstGeom prst="rect">
            <a:avLst/>
          </a:prstGeom>
        </p:spPr>
      </p:pic>
      <p:pic>
        <p:nvPicPr>
          <p:cNvPr id="2050" name="Picture 2" descr="C:\Users\chara\OneDrive\Pictures\Screenshots\Screenshot 2025-04-26 20283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196" y="1230640"/>
            <a:ext cx="6348665" cy="4396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0896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4D3319C-325A-4DB9-9826-ADCD97801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 of AI&amp;DS, SJCIT</a:t>
            </a:r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626E6F0-649A-EAB4-8BE0-96BACA6E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2024-25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3403D44-82D9-98BA-E393-75E7F7BC0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B93A-4B32-4007-AACF-5243CED557C7}" type="slidenum">
              <a:rPr lang="en-IN" smtClean="0"/>
              <a:t>8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DDE6FE54-E1FD-EB4D-019A-773679110245}"/>
              </a:ext>
            </a:extLst>
          </p:cNvPr>
          <p:cNvSpPr txBox="1"/>
          <p:nvPr/>
        </p:nvSpPr>
        <p:spPr>
          <a:xfrm>
            <a:off x="3038608" y="563038"/>
            <a:ext cx="55744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rtl="0" eaLnBrk="1" latinLnBrk="0" hangingPunct="1"/>
            <a:r>
              <a:rPr lang="en-IN" sz="3600" b="1" kern="120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INTRODUCTION</a:t>
            </a:r>
            <a:endParaRPr lang="en-IN" sz="3600">
              <a:effectLst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1A694EC-414F-38CE-31A6-2BC1C0D09C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5485" y="235453"/>
            <a:ext cx="1581591" cy="878662"/>
          </a:xfrm>
          <a:prstGeom prst="rect">
            <a:avLst/>
          </a:prstGeom>
        </p:spPr>
      </p:pic>
      <p:pic>
        <p:nvPicPr>
          <p:cNvPr id="1026" name="Picture 2" descr="C:\Users\chara\Downloads\d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3142" y="1601655"/>
            <a:ext cx="4522304" cy="3542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6178166F-E39D-D551-86D4-1F4DD7E87047}"/>
              </a:ext>
            </a:extLst>
          </p:cNvPr>
          <p:cNvSpPr txBox="1"/>
          <p:nvPr/>
        </p:nvSpPr>
        <p:spPr>
          <a:xfrm>
            <a:off x="465513" y="1859340"/>
            <a:ext cx="6650182" cy="4618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 Impact: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Depression affects over 322 million people worldwide.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Traditional diagnosis (interviews, questionnaires) is subjective and slow.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DepHNN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 non-invasive EEG-based AI system combining CNN (Local feature extraction) and LSTM (temporal pattern learning).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Automatically processes EEG data to classify individuals as depressed or healthy.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Deliver a fast, robust tool to support timely, accurate clinical screening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784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09E31419-B03D-2EE5-D520-BA71148EA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 of AI&amp;DS, SJCIT</a:t>
            </a:r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9EA61393-782B-B950-1930-D79073AAA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2024-25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D256BFA-56E7-91F7-1319-6A9C0BEF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B93A-4B32-4007-AACF-5243CED557C7}" type="slidenum">
              <a:rPr lang="en-IN" smtClean="0"/>
              <a:t>9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4B2B837-662B-7E49-E687-6622E6114692}"/>
              </a:ext>
            </a:extLst>
          </p:cNvPr>
          <p:cNvSpPr txBox="1"/>
          <p:nvPr/>
        </p:nvSpPr>
        <p:spPr>
          <a:xfrm>
            <a:off x="2412989" y="64124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rtl="0" eaLnBrk="1" latinLnBrk="0" hangingPunct="1"/>
            <a:r>
              <a:rPr lang="en-IN" sz="36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ARCHITECTURE</a:t>
            </a:r>
            <a:endParaRPr lang="en-IN" sz="3600" dirty="0">
              <a:effectLst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C038CE32-6193-E412-31F0-2634AD10AD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839" y="1496290"/>
            <a:ext cx="6352426" cy="44639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1A694EC-414F-38CE-31A6-2BC1C0D09C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5485" y="235453"/>
            <a:ext cx="1581591" cy="87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43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EE23AC8-AD50-B9D0-F3A7-DA14ED8F5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 of AI&amp;DS, SJCIT</a:t>
            </a:r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722F96B-0AF2-C4BF-C6CF-C3C6BFE89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2024-25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0946E3F-7015-5A34-EE9D-8F3DA73E6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B93A-4B32-4007-AACF-5243CED557C7}" type="slidenum">
              <a:rPr lang="en-IN" smtClean="0"/>
              <a:t>10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5C4F984-6235-939E-8A41-4D7847F821AD}"/>
              </a:ext>
            </a:extLst>
          </p:cNvPr>
          <p:cNvSpPr txBox="1"/>
          <p:nvPr/>
        </p:nvSpPr>
        <p:spPr>
          <a:xfrm>
            <a:off x="2536723" y="53009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rtl="0" eaLnBrk="1" latinLnBrk="0" hangingPunct="1"/>
            <a:r>
              <a:rPr lang="en-IN" sz="3600" b="1">
                <a:effectLst/>
              </a:rPr>
              <a:t>LITERATURE SURVEY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1A694EC-414F-38CE-31A6-2BC1C0D09C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5485" y="235453"/>
            <a:ext cx="1581591" cy="87866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061287"/>
              </p:ext>
            </p:extLst>
          </p:nvPr>
        </p:nvGraphicFramePr>
        <p:xfrm>
          <a:off x="168041" y="1298961"/>
          <a:ext cx="11838800" cy="48273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3294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5482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61501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64065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49537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5679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719" marR="447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Paper Title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719" marR="447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719" marR="447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719" marR="447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 in Project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719" marR="44719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4207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Seal 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719" marR="447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DeprNet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A Deep Convolution Neural Network Framework for Detecting Depression Using EEG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719" marR="447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accuracy with CNNs; Effective feature extraction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719" marR="447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model complexity; requires large training data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719" marR="447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Inspired the CNN-based feature extraction in DepHNN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719" marR="44719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799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Z. Wan 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719" marR="447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HybridEEGNet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A Convolutional Neural Network for EEG Feature Learning and Depression Discrimination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719" marR="447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efficiently learns complex EEG features; Good generalization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719" marR="447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optimization for small datasets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719" marR="447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the hybrid model concept (CNN + sequence learning)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719" marR="44719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0056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Sun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719" marR="447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EEG-Based Depression Recognition by Combining Functional Brain Network and Traditional Biomarkers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719" marR="447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Enhances detection with connectivity features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719" marR="447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performance; complex preprocessing needed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719" marR="447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Highlights combination of local and global feature learning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719" marR="44719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4301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Sekhar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719" marR="447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Evaluation of LSTM Models in Detection of Depression from EEG Signals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719" marR="447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 captures sequential dependencies effectively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719" marR="447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careful tuning; high computational load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719" marR="4471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Justifies the use of LSTM layers in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DepHNN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44719" marR="44719" marT="0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1677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ECF39CA2-D83A-66A7-3D82-AF15028FB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 of AI&amp;DS, SJCIT</a:t>
            </a:r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897BF47-6D0B-8AEC-5799-4364BE1A7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2024-25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D5ED01A-5BCB-10F9-9CF7-2BC86BF7E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B93A-4B32-4007-AACF-5243CED557C7}" type="slidenum">
              <a:rPr lang="en-IN" smtClean="0"/>
              <a:t>11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BFD8E58C-8245-55D9-F2C1-EFE5D3A4689A}"/>
              </a:ext>
            </a:extLst>
          </p:cNvPr>
          <p:cNvSpPr txBox="1"/>
          <p:nvPr/>
        </p:nvSpPr>
        <p:spPr>
          <a:xfrm>
            <a:off x="2461239" y="77251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rtl="0" eaLnBrk="1" latinLnBrk="0" hangingPunct="1"/>
            <a:r>
              <a:rPr lang="en-IN" sz="3600" b="1" kern="120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60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801719CA-1B8B-BF5C-AA51-A4FC90BAA85E}"/>
              </a:ext>
            </a:extLst>
          </p:cNvPr>
          <p:cNvSpPr txBox="1"/>
          <p:nvPr/>
        </p:nvSpPr>
        <p:spPr>
          <a:xfrm>
            <a:off x="776747" y="1612490"/>
            <a:ext cx="10756491" cy="484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PAPERS: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CNNs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EEG Signal Classification: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“Convolutional Neural Networks for EEG Signal Classification: A Survey”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Depression Detection Using EEG and Deep Learning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“EEG-based Depression Detection Using Deep Neural Networks”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CNN and LSTM for EEG-based Classification: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“Hybrid CNN-LSTM Architecture for EEG-Based Human Activity Recognition”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for Mental Health Diagnostics: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“Deep Learning for Depression Detection: A Survey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WEBSITES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://www.geeksforgeeks.org/introduction-convolution-neural-network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/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pres?slideindex=1&amp;slidetitle="/>
              </a:rPr>
              <a:t>https://www.analyticsvidhya.com/blog/2021/03/introduction-to-long-short-term-memory-lstm/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1A694EC-414F-38CE-31A6-2BC1C0D09C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5485" y="235453"/>
            <a:ext cx="1581591" cy="87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765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EA28AFC-6008-4917-64F2-8B1C6B2A2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 of AI&amp;DS, SJCIT</a:t>
            </a:r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230F2C1-7101-CCAA-599B-065FE9153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2024-25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093E0E2-B840-4AB8-21EA-4B2FD9F56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B93A-4B32-4007-AACF-5243CED557C7}" type="slidenum">
              <a:rPr lang="en-IN" smtClean="0"/>
              <a:t>12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B8F9B393-7EDF-6FD3-96ED-214DC4E7593D}"/>
              </a:ext>
            </a:extLst>
          </p:cNvPr>
          <p:cNvSpPr txBox="1"/>
          <p:nvPr/>
        </p:nvSpPr>
        <p:spPr>
          <a:xfrm>
            <a:off x="2644926" y="2845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rtl="0" eaLnBrk="1" latinLnBrk="0" hangingPunct="1"/>
            <a:r>
              <a:rPr lang="en-IN" sz="36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ROJECT PLAN 1.0</a:t>
            </a:r>
            <a:endParaRPr lang="en-IN" sz="3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1A694EC-414F-38CE-31A6-2BC1C0D09C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5485" y="235453"/>
            <a:ext cx="1581591" cy="87866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99381" y="557516"/>
            <a:ext cx="10881069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 &amp; Pre-processing: 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Obtain EEG datasets.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artifact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removal using ICA (Independent Component Analysis).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windowing techniques for data segmentation.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EEG dataset.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 Design: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Convolutional Neural Network (CNN) layers for feature extraction from EEG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Long Short-Term Memory (LSTM) layers for sequential learning and temporal pattern recognition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hybrid CNN-LSTM model architecture.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Training: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the model using 70% of the dataset.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Adam optimizer for gradient-based optimization.</a:t>
            </a:r>
          </a:p>
          <a:p>
            <a:pPr lvl="1"/>
            <a:endParaRPr lang="en-IN" b="1" dirty="0"/>
          </a:p>
          <a:p>
            <a:pPr marL="342900" indent="-342900">
              <a:buFont typeface="+mj-lt"/>
              <a:buAutoNum type="arabicPeriod"/>
            </a:pPr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767882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 of AI&amp;DS, SJCIT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2024-25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B93A-4B32-4007-AACF-5243CED557C7}" type="slidenum">
              <a:rPr lang="en-IN" smtClean="0"/>
              <a:t>13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50976" y="413908"/>
            <a:ext cx="742059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Huber loss as the loss function.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validation using 20% of the dataset.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model weights and training logs.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Tuning: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Tune hyperparameters such as learning rate, batch size, and window size.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kernel sizes and LSTM units for better performance.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model with maximum accuracy.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Evaluation: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the model on 10% unseen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accuracy, Mean Absolute Error (MAE), and confusion matrix to evaluate model performance.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model evaluation report (expected accuracy &gt;98%)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1A694EC-414F-38CE-31A6-2BC1C0D09C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5485" y="235453"/>
            <a:ext cx="1581591" cy="878662"/>
          </a:xfrm>
          <a:prstGeom prst="rect">
            <a:avLst/>
          </a:prstGeom>
        </p:spPr>
      </p:pic>
      <p:pic>
        <p:nvPicPr>
          <p:cNvPr id="1026" name="Picture 2" descr="7 steps of machine learn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1384420"/>
            <a:ext cx="4683096" cy="4255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C:\Users\chara\OneDrive\Pictures\what-is-machine-learning-7-steps-of-machine-learning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5578" y="1692274"/>
            <a:ext cx="4392538" cy="395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9053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BCDD8418-6FAD-F00E-45F4-A5559C250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Dept of AI&amp;DS, SJCIT</a:t>
            </a:r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32A7576-15AA-0FC7-E9DB-56464C09E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2024-25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3A6A993-DCA8-B7DC-A153-FC5089973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B93A-4B32-4007-AACF-5243CED557C7}" type="slidenum">
              <a:rPr lang="en-IN" smtClean="0"/>
              <a:t>14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911440DA-8F5B-2DC2-9C14-E94E5A067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0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16701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2876</TotalTime>
  <Words>1101</Words>
  <Application>Microsoft Office PowerPoint</Application>
  <PresentationFormat>Custom</PresentationFormat>
  <Paragraphs>169</Paragraphs>
  <Slides>14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Prerana V</dc:creator>
  <cp:lastModifiedBy>mareddy charan</cp:lastModifiedBy>
  <cp:revision>42</cp:revision>
  <dcterms:created xsi:type="dcterms:W3CDTF">2024-11-02T06:33:28Z</dcterms:created>
  <dcterms:modified xsi:type="dcterms:W3CDTF">2025-04-28T09:28:35Z</dcterms:modified>
</cp:coreProperties>
</file>
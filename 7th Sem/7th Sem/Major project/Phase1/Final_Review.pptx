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4"/>
  </p:notesMasterIdLst>
  <p:handoutMasterIdLst>
    <p:handoutMasterId r:id="rId25"/>
  </p:handoutMasterIdLst>
  <p:sldIdLst>
    <p:sldId id="257" r:id="rId2"/>
    <p:sldId id="258" r:id="rId3"/>
    <p:sldId id="274" r:id="rId4"/>
    <p:sldId id="275" r:id="rId5"/>
    <p:sldId id="259" r:id="rId6"/>
    <p:sldId id="272" r:id="rId7"/>
    <p:sldId id="273" r:id="rId8"/>
    <p:sldId id="291" r:id="rId9"/>
    <p:sldId id="277" r:id="rId10"/>
    <p:sldId id="286" r:id="rId11"/>
    <p:sldId id="260" r:id="rId12"/>
    <p:sldId id="287" r:id="rId13"/>
    <p:sldId id="283" r:id="rId14"/>
    <p:sldId id="285" r:id="rId15"/>
    <p:sldId id="276" r:id="rId16"/>
    <p:sldId id="284" r:id="rId17"/>
    <p:sldId id="290" r:id="rId18"/>
    <p:sldId id="289" r:id="rId19"/>
    <p:sldId id="288" r:id="rId20"/>
    <p:sldId id="278" r:id="rId21"/>
    <p:sldId id="279" r:id="rId22"/>
    <p:sldId id="26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5894AE-B1E6-42C0-892F-D626D5A0B8B3}" v="34" dt="2025-05-29T01:22:42.6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235"/>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appagari pranathi" userId="3f0165da84cdb633" providerId="LiveId" clId="{575894AE-B1E6-42C0-892F-D626D5A0B8B3}"/>
    <pc:docChg chg="undo custSel addSld delSld modSld">
      <pc:chgData name="balappagari pranathi" userId="3f0165da84cdb633" providerId="LiveId" clId="{575894AE-B1E6-42C0-892F-D626D5A0B8B3}" dt="2025-05-29T01:22:53.520" v="763" actId="1035"/>
      <pc:docMkLst>
        <pc:docMk/>
      </pc:docMkLst>
      <pc:sldChg chg="addSp modSp mod">
        <pc:chgData name="balappagari pranathi" userId="3f0165da84cdb633" providerId="LiveId" clId="{575894AE-B1E6-42C0-892F-D626D5A0B8B3}" dt="2025-05-29T01:20:57.387" v="750" actId="1035"/>
        <pc:sldMkLst>
          <pc:docMk/>
          <pc:sldMk cId="3008765881" sldId="278"/>
        </pc:sldMkLst>
        <pc:spChg chg="mod">
          <ac:chgData name="balappagari pranathi" userId="3f0165da84cdb633" providerId="LiveId" clId="{575894AE-B1E6-42C0-892F-D626D5A0B8B3}" dt="2025-05-29T01:20:57.387" v="750" actId="1035"/>
          <ac:spMkLst>
            <pc:docMk/>
            <pc:sldMk cId="3008765881" sldId="278"/>
            <ac:spMk id="2" creationId="{ECF39CA2-D83A-66A7-3D82-AF15028FB164}"/>
          </ac:spMkLst>
        </pc:spChg>
        <pc:spChg chg="add mod">
          <ac:chgData name="balappagari pranathi" userId="3f0165da84cdb633" providerId="LiveId" clId="{575894AE-B1E6-42C0-892F-D626D5A0B8B3}" dt="2025-05-28T16:59:13.955" v="45" actId="14100"/>
          <ac:spMkLst>
            <pc:docMk/>
            <pc:sldMk cId="3008765881" sldId="278"/>
            <ac:spMk id="5" creationId="{46A7B61D-398C-4C3B-919D-77597A44A673}"/>
          </ac:spMkLst>
        </pc:spChg>
      </pc:sldChg>
      <pc:sldChg chg="addSp modSp mod">
        <pc:chgData name="balappagari pranathi" userId="3f0165da84cdb633" providerId="LiveId" clId="{575894AE-B1E6-42C0-892F-D626D5A0B8B3}" dt="2025-05-29T01:21:57.329" v="756" actId="14100"/>
        <pc:sldMkLst>
          <pc:docMk/>
          <pc:sldMk cId="1767882915" sldId="279"/>
        </pc:sldMkLst>
        <pc:spChg chg="mod">
          <ac:chgData name="balappagari pranathi" userId="3f0165da84cdb633" providerId="LiveId" clId="{575894AE-B1E6-42C0-892F-D626D5A0B8B3}" dt="2025-05-29T01:21:57.329" v="756" actId="14100"/>
          <ac:spMkLst>
            <pc:docMk/>
            <pc:sldMk cId="1767882915" sldId="279"/>
            <ac:spMk id="8" creationId="{B8F9B393-7EDF-6FD3-96ED-214DC4E7593D}"/>
          </ac:spMkLst>
        </pc:spChg>
        <pc:spChg chg="add mod">
          <ac:chgData name="balappagari pranathi" userId="3f0165da84cdb633" providerId="LiveId" clId="{575894AE-B1E6-42C0-892F-D626D5A0B8B3}" dt="2025-05-28T16:59:42.539" v="51" actId="14100"/>
          <ac:spMkLst>
            <pc:docMk/>
            <pc:sldMk cId="1767882915" sldId="279"/>
            <ac:spMk id="9" creationId="{AB59434B-7194-4AAD-B7B5-47D5059B8D18}"/>
          </ac:spMkLst>
        </pc:spChg>
      </pc:sldChg>
      <pc:sldChg chg="addSp delSp modSp mod">
        <pc:chgData name="balappagari pranathi" userId="3f0165da84cdb633" providerId="LiveId" clId="{575894AE-B1E6-42C0-892F-D626D5A0B8B3}" dt="2025-05-28T17:35:36.296" v="541" actId="14100"/>
        <pc:sldMkLst>
          <pc:docMk/>
          <pc:sldMk cId="1106236526" sldId="284"/>
        </pc:sldMkLst>
        <pc:spChg chg="add mod">
          <ac:chgData name="balappagari pranathi" userId="3f0165da84cdb633" providerId="LiveId" clId="{575894AE-B1E6-42C0-892F-D626D5A0B8B3}" dt="2025-05-28T16:56:36.942" v="15" actId="1035"/>
          <ac:spMkLst>
            <pc:docMk/>
            <pc:sldMk cId="1106236526" sldId="284"/>
            <ac:spMk id="6" creationId="{ADE636A1-9FB1-4F7B-9563-FE51D2CA75AF}"/>
          </ac:spMkLst>
        </pc:spChg>
        <pc:spChg chg="mod">
          <ac:chgData name="balappagari pranathi" userId="3f0165da84cdb633" providerId="LiveId" clId="{575894AE-B1E6-42C0-892F-D626D5A0B8B3}" dt="2025-05-28T17:35:36.296" v="541" actId="14100"/>
          <ac:spMkLst>
            <pc:docMk/>
            <pc:sldMk cId="1106236526" sldId="284"/>
            <ac:spMk id="7" creationId="{01E48251-2FF5-B259-00FC-8C87F65771C3}"/>
          </ac:spMkLst>
        </pc:spChg>
        <pc:spChg chg="add del mod">
          <ac:chgData name="balappagari pranathi" userId="3f0165da84cdb633" providerId="LiveId" clId="{575894AE-B1E6-42C0-892F-D626D5A0B8B3}" dt="2025-05-28T17:20:01.888" v="177"/>
          <ac:spMkLst>
            <pc:docMk/>
            <pc:sldMk cId="1106236526" sldId="284"/>
            <ac:spMk id="9" creationId="{3CE22B66-9766-4161-8405-7C509346EC28}"/>
          </ac:spMkLst>
        </pc:spChg>
        <pc:spChg chg="add mod">
          <ac:chgData name="balappagari pranathi" userId="3f0165da84cdb633" providerId="LiveId" clId="{575894AE-B1E6-42C0-892F-D626D5A0B8B3}" dt="2025-05-28T17:20:11.838" v="220" actId="20577"/>
          <ac:spMkLst>
            <pc:docMk/>
            <pc:sldMk cId="1106236526" sldId="284"/>
            <ac:spMk id="10" creationId="{D0C43084-8CD7-4B30-9A88-83290B0C36C8}"/>
          </ac:spMkLst>
        </pc:spChg>
        <pc:spChg chg="add del mod">
          <ac:chgData name="balappagari pranathi" userId="3f0165da84cdb633" providerId="LiveId" clId="{575894AE-B1E6-42C0-892F-D626D5A0B8B3}" dt="2025-05-28T17:29:52.204" v="374"/>
          <ac:spMkLst>
            <pc:docMk/>
            <pc:sldMk cId="1106236526" sldId="284"/>
            <ac:spMk id="11" creationId="{4A0A218B-88A3-4A53-9E23-4399A76C8BF1}"/>
          </ac:spMkLst>
        </pc:spChg>
      </pc:sldChg>
      <pc:sldChg chg="addSp modSp mod">
        <pc:chgData name="balappagari pranathi" userId="3f0165da84cdb633" providerId="LiveId" clId="{575894AE-B1E6-42C0-892F-D626D5A0B8B3}" dt="2025-05-29T01:22:53.520" v="763" actId="1035"/>
        <pc:sldMkLst>
          <pc:docMk/>
          <pc:sldMk cId="218449271" sldId="285"/>
        </pc:sldMkLst>
        <pc:spChg chg="add mod">
          <ac:chgData name="balappagari pranathi" userId="3f0165da84cdb633" providerId="LiveId" clId="{575894AE-B1E6-42C0-892F-D626D5A0B8B3}" dt="2025-05-28T16:55:30.488" v="5" actId="14100"/>
          <ac:spMkLst>
            <pc:docMk/>
            <pc:sldMk cId="218449271" sldId="285"/>
            <ac:spMk id="6" creationId="{87A5A961-B3FC-4D1B-AB91-085D67E4A277}"/>
          </ac:spMkLst>
        </pc:spChg>
        <pc:spChg chg="mod">
          <ac:chgData name="balappagari pranathi" userId="3f0165da84cdb633" providerId="LiveId" clId="{575894AE-B1E6-42C0-892F-D626D5A0B8B3}" dt="2025-05-29T01:22:45.460" v="761" actId="14100"/>
          <ac:spMkLst>
            <pc:docMk/>
            <pc:sldMk cId="218449271" sldId="285"/>
            <ac:spMk id="7" creationId="{A3812C24-D523-6428-638C-AFB487B42EA9}"/>
          </ac:spMkLst>
        </pc:spChg>
        <pc:spChg chg="mod">
          <ac:chgData name="balappagari pranathi" userId="3f0165da84cdb633" providerId="LiveId" clId="{575894AE-B1E6-42C0-892F-D626D5A0B8B3}" dt="2025-05-29T01:22:53.520" v="763" actId="1035"/>
          <ac:spMkLst>
            <pc:docMk/>
            <pc:sldMk cId="218449271" sldId="285"/>
            <ac:spMk id="9" creationId="{7D8CCE01-21FC-5B5E-D4EF-D5FC12017579}"/>
          </ac:spMkLst>
        </pc:spChg>
      </pc:sldChg>
      <pc:sldChg chg="addSp modSp mod">
        <pc:chgData name="balappagari pranathi" userId="3f0165da84cdb633" providerId="LiveId" clId="{575894AE-B1E6-42C0-892F-D626D5A0B8B3}" dt="2025-05-29T01:22:15.642" v="757" actId="255"/>
        <pc:sldMkLst>
          <pc:docMk/>
          <pc:sldMk cId="3738875501" sldId="286"/>
        </pc:sldMkLst>
        <pc:spChg chg="add mod">
          <ac:chgData name="balappagari pranathi" userId="3f0165da84cdb633" providerId="LiveId" clId="{575894AE-B1E6-42C0-892F-D626D5A0B8B3}" dt="2025-05-28T16:57:39.532" v="28" actId="14100"/>
          <ac:spMkLst>
            <pc:docMk/>
            <pc:sldMk cId="3738875501" sldId="286"/>
            <ac:spMk id="5" creationId="{55CFA50F-2619-4A2C-819E-6F6CA2CECF95}"/>
          </ac:spMkLst>
        </pc:spChg>
        <pc:spChg chg="mod">
          <ac:chgData name="balappagari pranathi" userId="3f0165da84cdb633" providerId="LiveId" clId="{575894AE-B1E6-42C0-892F-D626D5A0B8B3}" dt="2025-05-29T01:22:15.642" v="757" actId="255"/>
          <ac:spMkLst>
            <pc:docMk/>
            <pc:sldMk cId="3738875501" sldId="286"/>
            <ac:spMk id="8" creationId="{BBEF25EC-3A9D-36BC-3947-8E6CF459E3ED}"/>
          </ac:spMkLst>
        </pc:spChg>
        <pc:spChg chg="mod">
          <ac:chgData name="balappagari pranathi" userId="3f0165da84cdb633" providerId="LiveId" clId="{575894AE-B1E6-42C0-892F-D626D5A0B8B3}" dt="2025-05-29T01:09:58.778" v="720" actId="1076"/>
          <ac:spMkLst>
            <pc:docMk/>
            <pc:sldMk cId="3738875501" sldId="286"/>
            <ac:spMk id="12" creationId="{B933E1D4-100F-E382-8721-D1AB1445B17A}"/>
          </ac:spMkLst>
        </pc:spChg>
      </pc:sldChg>
      <pc:sldChg chg="addSp delSp modSp mod">
        <pc:chgData name="balappagari pranathi" userId="3f0165da84cdb633" providerId="LiveId" clId="{575894AE-B1E6-42C0-892F-D626D5A0B8B3}" dt="2025-05-29T01:21:45.875" v="755" actId="14100"/>
        <pc:sldMkLst>
          <pc:docMk/>
          <pc:sldMk cId="1969429059" sldId="287"/>
        </pc:sldMkLst>
        <pc:spChg chg="add mod">
          <ac:chgData name="balappagari pranathi" userId="3f0165da84cdb633" providerId="LiveId" clId="{575894AE-B1E6-42C0-892F-D626D5A0B8B3}" dt="2025-05-28T16:58:49.579" v="40" actId="14100"/>
          <ac:spMkLst>
            <pc:docMk/>
            <pc:sldMk cId="1969429059" sldId="287"/>
            <ac:spMk id="5" creationId="{D4DC0330-2833-4675-A68F-C9392DF22D3E}"/>
          </ac:spMkLst>
        </pc:spChg>
        <pc:spChg chg="add del mod">
          <ac:chgData name="balappagari pranathi" userId="3f0165da84cdb633" providerId="LiveId" clId="{575894AE-B1E6-42C0-892F-D626D5A0B8B3}" dt="2025-05-29T01:21:45.875" v="755" actId="14100"/>
          <ac:spMkLst>
            <pc:docMk/>
            <pc:sldMk cId="1969429059" sldId="287"/>
            <ac:spMk id="8" creationId="{82F91163-1A1B-836C-6A70-9AD8FEDC3AE5}"/>
          </ac:spMkLst>
        </pc:spChg>
        <pc:spChg chg="del mod">
          <ac:chgData name="balappagari pranathi" userId="3f0165da84cdb633" providerId="LiveId" clId="{575894AE-B1E6-42C0-892F-D626D5A0B8B3}" dt="2025-05-28T17:47:26.017" v="647"/>
          <ac:spMkLst>
            <pc:docMk/>
            <pc:sldMk cId="1969429059" sldId="287"/>
            <ac:spMk id="12" creationId="{045CE114-573A-A518-AE07-F1ABB261CE21}"/>
          </ac:spMkLst>
        </pc:spChg>
        <pc:graphicFrameChg chg="add mod modGraphic">
          <ac:chgData name="balappagari pranathi" userId="3f0165da84cdb633" providerId="LiveId" clId="{575894AE-B1E6-42C0-892F-D626D5A0B8B3}" dt="2025-05-28T17:51:11.999" v="701" actId="20577"/>
          <ac:graphicFrameMkLst>
            <pc:docMk/>
            <pc:sldMk cId="1969429059" sldId="287"/>
            <ac:graphicFrameMk id="7" creationId="{872E7A2D-3822-492F-AC5E-65D24595CBE8}"/>
          </ac:graphicFrameMkLst>
        </pc:graphicFrameChg>
      </pc:sldChg>
      <pc:sldChg chg="addSp modSp mod">
        <pc:chgData name="balappagari pranathi" userId="3f0165da84cdb633" providerId="LiveId" clId="{575894AE-B1E6-42C0-892F-D626D5A0B8B3}" dt="2025-05-29T01:21:13.941" v="751" actId="255"/>
        <pc:sldMkLst>
          <pc:docMk/>
          <pc:sldMk cId="4278049273" sldId="288"/>
        </pc:sldMkLst>
        <pc:spChg chg="add mod">
          <ac:chgData name="balappagari pranathi" userId="3f0165da84cdb633" providerId="LiveId" clId="{575894AE-B1E6-42C0-892F-D626D5A0B8B3}" dt="2025-05-28T16:58:15.252" v="34" actId="14100"/>
          <ac:spMkLst>
            <pc:docMk/>
            <pc:sldMk cId="4278049273" sldId="288"/>
            <ac:spMk id="5" creationId="{41A5FD88-7087-4302-B16A-1BAEFBCD1E40}"/>
          </ac:spMkLst>
        </pc:spChg>
        <pc:spChg chg="mod">
          <ac:chgData name="balappagari pranathi" userId="3f0165da84cdb633" providerId="LiveId" clId="{575894AE-B1E6-42C0-892F-D626D5A0B8B3}" dt="2025-05-29T01:21:13.941" v="751" actId="255"/>
          <ac:spMkLst>
            <pc:docMk/>
            <pc:sldMk cId="4278049273" sldId="288"/>
            <ac:spMk id="8" creationId="{03435264-E263-FC5B-AF3F-F1C2282317FB}"/>
          </ac:spMkLst>
        </pc:spChg>
        <pc:spChg chg="mod">
          <ac:chgData name="balappagari pranathi" userId="3f0165da84cdb633" providerId="LiveId" clId="{575894AE-B1E6-42C0-892F-D626D5A0B8B3}" dt="2025-05-29T01:20:25.917" v="748" actId="12"/>
          <ac:spMkLst>
            <pc:docMk/>
            <pc:sldMk cId="4278049273" sldId="288"/>
            <ac:spMk id="10" creationId="{F5A06056-5F23-16B4-8462-F94CA4EB5096}"/>
          </ac:spMkLst>
        </pc:spChg>
      </pc:sldChg>
      <pc:sldChg chg="addSp modSp mod">
        <pc:chgData name="balappagari pranathi" userId="3f0165da84cdb633" providerId="LiveId" clId="{575894AE-B1E6-42C0-892F-D626D5A0B8B3}" dt="2025-05-28T17:33:59.368" v="505" actId="2710"/>
        <pc:sldMkLst>
          <pc:docMk/>
          <pc:sldMk cId="2391262957" sldId="289"/>
        </pc:sldMkLst>
        <pc:spChg chg="add mod">
          <ac:chgData name="balappagari pranathi" userId="3f0165da84cdb633" providerId="LiveId" clId="{575894AE-B1E6-42C0-892F-D626D5A0B8B3}" dt="2025-05-28T16:57:07.078" v="21" actId="14100"/>
          <ac:spMkLst>
            <pc:docMk/>
            <pc:sldMk cId="2391262957" sldId="289"/>
            <ac:spMk id="5" creationId="{CCB6B3E5-23A6-49DC-A157-5707B120EB60}"/>
          </ac:spMkLst>
        </pc:spChg>
        <pc:spChg chg="mod">
          <ac:chgData name="balappagari pranathi" userId="3f0165da84cdb633" providerId="LiveId" clId="{575894AE-B1E6-42C0-892F-D626D5A0B8B3}" dt="2025-05-28T17:32:27.986" v="492" actId="14100"/>
          <ac:spMkLst>
            <pc:docMk/>
            <pc:sldMk cId="2391262957" sldId="289"/>
            <ac:spMk id="8" creationId="{C1B374B1-3287-0D01-B28F-A3730795D271}"/>
          </ac:spMkLst>
        </pc:spChg>
        <pc:spChg chg="add mod">
          <ac:chgData name="balappagari pranathi" userId="3f0165da84cdb633" providerId="LiveId" clId="{575894AE-B1E6-42C0-892F-D626D5A0B8B3}" dt="2025-05-28T17:33:59.368" v="505" actId="2710"/>
          <ac:spMkLst>
            <pc:docMk/>
            <pc:sldMk cId="2391262957" sldId="289"/>
            <ac:spMk id="10" creationId="{FB65A374-CB49-4F57-84B4-A338F4A4AF9F}"/>
          </ac:spMkLst>
        </pc:spChg>
        <pc:picChg chg="add mod">
          <ac:chgData name="balappagari pranathi" userId="3f0165da84cdb633" providerId="LiveId" clId="{575894AE-B1E6-42C0-892F-D626D5A0B8B3}" dt="2025-05-28T17:32:37.001" v="495" actId="14100"/>
          <ac:picMkLst>
            <pc:docMk/>
            <pc:sldMk cId="2391262957" sldId="289"/>
            <ac:picMk id="9" creationId="{468E96FE-ECEF-4AE5-91BA-1D94C9277209}"/>
          </ac:picMkLst>
        </pc:picChg>
      </pc:sldChg>
      <pc:sldChg chg="delSp modSp add mod">
        <pc:chgData name="balappagari pranathi" userId="3f0165da84cdb633" providerId="LiveId" clId="{575894AE-B1E6-42C0-892F-D626D5A0B8B3}" dt="2025-05-29T01:22:29.643" v="759" actId="14100"/>
        <pc:sldMkLst>
          <pc:docMk/>
          <pc:sldMk cId="1525514666" sldId="290"/>
        </pc:sldMkLst>
        <pc:spChg chg="del mod">
          <ac:chgData name="balappagari pranathi" userId="3f0165da84cdb633" providerId="LiveId" clId="{575894AE-B1E6-42C0-892F-D626D5A0B8B3}" dt="2025-05-28T17:29:38.546" v="368"/>
          <ac:spMkLst>
            <pc:docMk/>
            <pc:sldMk cId="1525514666" sldId="290"/>
            <ac:spMk id="5" creationId="{C719574A-6E99-7C54-C3A7-C405642977B4}"/>
          </ac:spMkLst>
        </pc:spChg>
        <pc:spChg chg="del mod">
          <ac:chgData name="balappagari pranathi" userId="3f0165da84cdb633" providerId="LiveId" clId="{575894AE-B1E6-42C0-892F-D626D5A0B8B3}" dt="2025-05-28T17:29:38.546" v="366"/>
          <ac:spMkLst>
            <pc:docMk/>
            <pc:sldMk cId="1525514666" sldId="290"/>
            <ac:spMk id="7" creationId="{01E48251-2FF5-B259-00FC-8C87F65771C3}"/>
          </ac:spMkLst>
        </pc:spChg>
        <pc:spChg chg="mod">
          <ac:chgData name="balappagari pranathi" userId="3f0165da84cdb633" providerId="LiveId" clId="{575894AE-B1E6-42C0-892F-D626D5A0B8B3}" dt="2025-05-29T01:22:29.643" v="759" actId="14100"/>
          <ac:spMkLst>
            <pc:docMk/>
            <pc:sldMk cId="1525514666" sldId="290"/>
            <ac:spMk id="11" creationId="{4A0A218B-88A3-4A53-9E23-4399A76C8BF1}"/>
          </ac:spMkLst>
        </pc:spChg>
      </pc:sldChg>
      <pc:sldChg chg="add del">
        <pc:chgData name="balappagari pranathi" userId="3f0165da84cdb633" providerId="LiveId" clId="{575894AE-B1E6-42C0-892F-D626D5A0B8B3}" dt="2025-05-29T01:03:17.334" v="703" actId="2696"/>
        <pc:sldMkLst>
          <pc:docMk/>
          <pc:sldMk cId="2049978696" sldId="29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87CFF807-76C2-FC97-28A0-B51206186DE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A Hybrid Neural Network for EEG-based Depression Screening</a:t>
            </a:r>
            <a:endParaRPr lang="en-IN"/>
          </a:p>
        </p:txBody>
      </p:sp>
      <p:sp>
        <p:nvSpPr>
          <p:cNvPr id="3" name="Date Placeholder 2">
            <a:extLst>
              <a:ext uri="{FF2B5EF4-FFF2-40B4-BE49-F238E27FC236}">
                <a16:creationId xmlns="" xmlns:a16="http://schemas.microsoft.com/office/drawing/2014/main" id="{17FA6F68-989C-379C-AC57-04EF83A9CA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Footer Placeholder 3">
            <a:extLst>
              <a:ext uri="{FF2B5EF4-FFF2-40B4-BE49-F238E27FC236}">
                <a16:creationId xmlns="" xmlns:a16="http://schemas.microsoft.com/office/drawing/2014/main" id="{770DDBBC-1DA7-4B6E-A894-D91CCC9E14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AI&amp;DS, SJCIT</a:t>
            </a:r>
          </a:p>
        </p:txBody>
      </p:sp>
      <p:sp>
        <p:nvSpPr>
          <p:cNvPr id="5" name="Slide Number Placeholder 4">
            <a:extLst>
              <a:ext uri="{FF2B5EF4-FFF2-40B4-BE49-F238E27FC236}">
                <a16:creationId xmlns="" xmlns:a16="http://schemas.microsoft.com/office/drawing/2014/main" id="{5CAE13D8-524B-3194-731C-1291D9F86D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EC8F0A-2F6B-4EDC-8032-61F1494F8A1A}" type="slidenum">
              <a:rPr lang="en-IN" smtClean="0"/>
              <a:t>‹#›</a:t>
            </a:fld>
            <a:endParaRPr lang="en-IN"/>
          </a:p>
        </p:txBody>
      </p:sp>
    </p:spTree>
    <p:extLst>
      <p:ext uri="{BB962C8B-B14F-4D97-AF65-F5344CB8AC3E}">
        <p14:creationId xmlns:p14="http://schemas.microsoft.com/office/powerpoint/2010/main" val="1021397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A Hybrid Neural Network for EEG-based Depression Screening</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AI&amp;DS, SJCIT</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BCECF8-49E2-452A-BDEE-A7E1E796A086}" type="slidenum">
              <a:rPr lang="en-IN" smtClean="0"/>
              <a:t>‹#›</a:t>
            </a:fld>
            <a:endParaRPr lang="en-IN"/>
          </a:p>
        </p:txBody>
      </p:sp>
    </p:spTree>
    <p:extLst>
      <p:ext uri="{BB962C8B-B14F-4D97-AF65-F5344CB8AC3E}">
        <p14:creationId xmlns:p14="http://schemas.microsoft.com/office/powerpoint/2010/main" val="341480226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US"/>
              <a:t>A Hybrid Neural Network for EEG-based Depression Screening</a:t>
            </a:r>
            <a:endParaRPr lang="en-IN"/>
          </a:p>
        </p:txBody>
      </p:sp>
      <p:sp>
        <p:nvSpPr>
          <p:cNvPr id="5" name="Footer Placeholder 4"/>
          <p:cNvSpPr>
            <a:spLocks noGrp="1"/>
          </p:cNvSpPr>
          <p:nvPr>
            <p:ph type="ftr" sz="quarter" idx="11"/>
          </p:nvPr>
        </p:nvSpPr>
        <p:spPr/>
        <p:txBody>
          <a:bodyPr/>
          <a:lstStyle/>
          <a:p>
            <a:r>
              <a:rPr lang="en-IN"/>
              <a:t>Dept of AI&amp;DS, SJCIT</a:t>
            </a:r>
          </a:p>
        </p:txBody>
      </p:sp>
      <p:sp>
        <p:nvSpPr>
          <p:cNvPr id="6" name="Slide Number Placeholder 5"/>
          <p:cNvSpPr>
            <a:spLocks noGrp="1"/>
          </p:cNvSpPr>
          <p:nvPr>
            <p:ph type="sldNum" sz="quarter" idx="12"/>
          </p:nvPr>
        </p:nvSpPr>
        <p:spPr/>
        <p:txBody>
          <a:bodyPr/>
          <a:lstStyle/>
          <a:p>
            <a:fld id="{46BCECF8-49E2-452A-BDEE-A7E1E796A086}" type="slidenum">
              <a:rPr lang="en-IN" smtClean="0"/>
              <a:t>2</a:t>
            </a:fld>
            <a:endParaRPr lang="en-IN"/>
          </a:p>
        </p:txBody>
      </p:sp>
    </p:spTree>
    <p:extLst>
      <p:ext uri="{BB962C8B-B14F-4D97-AF65-F5344CB8AC3E}">
        <p14:creationId xmlns:p14="http://schemas.microsoft.com/office/powerpoint/2010/main" val="4204593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US"/>
              <a:t>A Hybrid Neural Network for EEG-based Depression Screening</a:t>
            </a:r>
            <a:endParaRPr lang="en-IN"/>
          </a:p>
        </p:txBody>
      </p:sp>
      <p:sp>
        <p:nvSpPr>
          <p:cNvPr id="5" name="Footer Placeholder 4"/>
          <p:cNvSpPr>
            <a:spLocks noGrp="1"/>
          </p:cNvSpPr>
          <p:nvPr>
            <p:ph type="ftr" sz="quarter" idx="11"/>
          </p:nvPr>
        </p:nvSpPr>
        <p:spPr/>
        <p:txBody>
          <a:bodyPr/>
          <a:lstStyle/>
          <a:p>
            <a:r>
              <a:rPr lang="en-IN"/>
              <a:t>Dept of AI&amp;DS, SJCIT</a:t>
            </a:r>
          </a:p>
        </p:txBody>
      </p:sp>
      <p:sp>
        <p:nvSpPr>
          <p:cNvPr id="6" name="Slide Number Placeholder 5"/>
          <p:cNvSpPr>
            <a:spLocks noGrp="1"/>
          </p:cNvSpPr>
          <p:nvPr>
            <p:ph type="sldNum" sz="quarter" idx="12"/>
          </p:nvPr>
        </p:nvSpPr>
        <p:spPr/>
        <p:txBody>
          <a:bodyPr/>
          <a:lstStyle/>
          <a:p>
            <a:fld id="{46BCECF8-49E2-452A-BDEE-A7E1E796A086}" type="slidenum">
              <a:rPr lang="en-IN" smtClean="0"/>
              <a:t>5</a:t>
            </a:fld>
            <a:endParaRPr lang="en-IN"/>
          </a:p>
        </p:txBody>
      </p:sp>
    </p:spTree>
    <p:extLst>
      <p:ext uri="{BB962C8B-B14F-4D97-AF65-F5344CB8AC3E}">
        <p14:creationId xmlns:p14="http://schemas.microsoft.com/office/powerpoint/2010/main" val="2239150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US" smtClean="0"/>
              <a:t>A Hybrid Neural Network for EEG-based Depression Screening</a:t>
            </a:r>
            <a:endParaRPr lang="en-IN"/>
          </a:p>
        </p:txBody>
      </p:sp>
      <p:sp>
        <p:nvSpPr>
          <p:cNvPr id="5" name="Footer Placeholder 4"/>
          <p:cNvSpPr>
            <a:spLocks noGrp="1"/>
          </p:cNvSpPr>
          <p:nvPr>
            <p:ph type="ftr" sz="quarter" idx="11"/>
          </p:nvPr>
        </p:nvSpPr>
        <p:spPr/>
        <p:txBody>
          <a:bodyPr/>
          <a:lstStyle/>
          <a:p>
            <a:r>
              <a:rPr lang="en-IN" smtClean="0"/>
              <a:t>Dept of AI&amp;DS, SJCIT</a:t>
            </a:r>
            <a:endParaRPr lang="en-IN"/>
          </a:p>
        </p:txBody>
      </p:sp>
      <p:sp>
        <p:nvSpPr>
          <p:cNvPr id="6" name="Slide Number Placeholder 5"/>
          <p:cNvSpPr>
            <a:spLocks noGrp="1"/>
          </p:cNvSpPr>
          <p:nvPr>
            <p:ph type="sldNum" sz="quarter" idx="12"/>
          </p:nvPr>
        </p:nvSpPr>
        <p:spPr/>
        <p:txBody>
          <a:bodyPr/>
          <a:lstStyle/>
          <a:p>
            <a:fld id="{46BCECF8-49E2-452A-BDEE-A7E1E796A086}" type="slidenum">
              <a:rPr lang="en-IN" smtClean="0"/>
              <a:t>8</a:t>
            </a:fld>
            <a:endParaRPr lang="en-IN"/>
          </a:p>
        </p:txBody>
      </p:sp>
    </p:spTree>
    <p:extLst>
      <p:ext uri="{BB962C8B-B14F-4D97-AF65-F5344CB8AC3E}">
        <p14:creationId xmlns:p14="http://schemas.microsoft.com/office/powerpoint/2010/main" val="109007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p:nvPr>
        </p:nvSpPr>
        <p:spPr/>
        <p:txBody>
          <a:bodyPr/>
          <a:lstStyle/>
          <a:p>
            <a:r>
              <a:rPr lang="en-US"/>
              <a:t>A Hybrid Neural Network for EEG-based Depression Screening</a:t>
            </a:r>
            <a:endParaRPr lang="en-IN"/>
          </a:p>
        </p:txBody>
      </p:sp>
      <p:sp>
        <p:nvSpPr>
          <p:cNvPr id="5" name="Footer Placeholder 4"/>
          <p:cNvSpPr>
            <a:spLocks noGrp="1"/>
          </p:cNvSpPr>
          <p:nvPr>
            <p:ph type="ftr" sz="quarter" idx="4"/>
          </p:nvPr>
        </p:nvSpPr>
        <p:spPr/>
        <p:txBody>
          <a:bodyPr/>
          <a:lstStyle/>
          <a:p>
            <a:r>
              <a:rPr lang="en-IN"/>
              <a:t>Dept of AI&amp;DS, SJCIT</a:t>
            </a:r>
          </a:p>
        </p:txBody>
      </p:sp>
      <p:sp>
        <p:nvSpPr>
          <p:cNvPr id="6" name="Slide Number Placeholder 5"/>
          <p:cNvSpPr>
            <a:spLocks noGrp="1"/>
          </p:cNvSpPr>
          <p:nvPr>
            <p:ph type="sldNum" sz="quarter" idx="5"/>
          </p:nvPr>
        </p:nvSpPr>
        <p:spPr/>
        <p:txBody>
          <a:bodyPr/>
          <a:lstStyle/>
          <a:p>
            <a:fld id="{46BCECF8-49E2-452A-BDEE-A7E1E796A086}" type="slidenum">
              <a:rPr lang="en-IN" smtClean="0"/>
              <a:t>9</a:t>
            </a:fld>
            <a:endParaRPr lang="en-IN"/>
          </a:p>
        </p:txBody>
      </p:sp>
    </p:spTree>
    <p:extLst>
      <p:ext uri="{BB962C8B-B14F-4D97-AF65-F5344CB8AC3E}">
        <p14:creationId xmlns:p14="http://schemas.microsoft.com/office/powerpoint/2010/main" val="4042380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smtClean="0"/>
              <a:t>Dept of AI&amp;DS, SJCIT</a:t>
            </a:r>
            <a:endParaRPr lang="en-IN"/>
          </a:p>
        </p:txBody>
      </p:sp>
      <p:sp>
        <p:nvSpPr>
          <p:cNvPr id="5" name="Footer Placeholder 4"/>
          <p:cNvSpPr>
            <a:spLocks noGrp="1"/>
          </p:cNvSpPr>
          <p:nvPr>
            <p:ph type="ftr" sz="quarter" idx="11"/>
          </p:nvPr>
        </p:nvSpPr>
        <p:spPr/>
        <p:txBody>
          <a:bodyPr/>
          <a:lstStyle/>
          <a:p>
            <a:r>
              <a:rPr lang="en-IN" smtClean="0"/>
              <a:t>2025-26</a:t>
            </a:r>
            <a:endParaRPr lang="en-IN"/>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1746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smtClean="0"/>
              <a:t>Dept of AI&amp;DS, SJCIT</a:t>
            </a:r>
            <a:endParaRPr lang="en-IN"/>
          </a:p>
        </p:txBody>
      </p:sp>
      <p:sp>
        <p:nvSpPr>
          <p:cNvPr id="5" name="Footer Placeholder 4"/>
          <p:cNvSpPr>
            <a:spLocks noGrp="1"/>
          </p:cNvSpPr>
          <p:nvPr>
            <p:ph type="ftr" sz="quarter" idx="11"/>
          </p:nvPr>
        </p:nvSpPr>
        <p:spPr/>
        <p:txBody>
          <a:bodyPr/>
          <a:lstStyle/>
          <a:p>
            <a:r>
              <a:rPr lang="en-IN" smtClean="0"/>
              <a:t>2025-26</a:t>
            </a:r>
            <a:endParaRPr lang="en-IN"/>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2128850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smtClean="0"/>
              <a:t>Dept of AI&amp;DS, SJCIT</a:t>
            </a:r>
            <a:endParaRPr lang="en-IN"/>
          </a:p>
        </p:txBody>
      </p:sp>
      <p:sp>
        <p:nvSpPr>
          <p:cNvPr id="5" name="Footer Placeholder 4"/>
          <p:cNvSpPr>
            <a:spLocks noGrp="1"/>
          </p:cNvSpPr>
          <p:nvPr>
            <p:ph type="ftr" sz="quarter" idx="11"/>
          </p:nvPr>
        </p:nvSpPr>
        <p:spPr/>
        <p:txBody>
          <a:bodyPr/>
          <a:lstStyle/>
          <a:p>
            <a:r>
              <a:rPr lang="en-IN" smtClean="0"/>
              <a:t>2025-26</a:t>
            </a:r>
            <a:endParaRPr lang="en-IN"/>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393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smtClean="0"/>
              <a:t>Dept of AI&amp;DS, SJCIT</a:t>
            </a:r>
            <a:endParaRPr lang="en-IN"/>
          </a:p>
        </p:txBody>
      </p:sp>
      <p:sp>
        <p:nvSpPr>
          <p:cNvPr id="6" name="Footer Placeholder 5"/>
          <p:cNvSpPr>
            <a:spLocks noGrp="1"/>
          </p:cNvSpPr>
          <p:nvPr>
            <p:ph type="ftr" sz="quarter" idx="11"/>
          </p:nvPr>
        </p:nvSpPr>
        <p:spPr/>
        <p:txBody>
          <a:bodyPr/>
          <a:lstStyle/>
          <a:p>
            <a:r>
              <a:rPr lang="en-IN" smtClean="0"/>
              <a:t>2025-26</a:t>
            </a:r>
            <a:endParaRPr lang="en-IN"/>
          </a:p>
        </p:txBody>
      </p:sp>
      <p:sp>
        <p:nvSpPr>
          <p:cNvPr id="7" name="Slide Number Placeholder 6"/>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680030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smtClean="0"/>
              <a:t>Dept of AI&amp;DS, SJCIT</a:t>
            </a:r>
            <a:endParaRPr lang="en-IN"/>
          </a:p>
        </p:txBody>
      </p:sp>
      <p:sp>
        <p:nvSpPr>
          <p:cNvPr id="8" name="Footer Placeholder 7"/>
          <p:cNvSpPr>
            <a:spLocks noGrp="1"/>
          </p:cNvSpPr>
          <p:nvPr>
            <p:ph type="ftr" sz="quarter" idx="11"/>
          </p:nvPr>
        </p:nvSpPr>
        <p:spPr/>
        <p:txBody>
          <a:bodyPr/>
          <a:lstStyle/>
          <a:p>
            <a:r>
              <a:rPr lang="en-IN" smtClean="0"/>
              <a:t>2025-26</a:t>
            </a:r>
            <a:endParaRPr lang="en-IN"/>
          </a:p>
        </p:txBody>
      </p:sp>
      <p:sp>
        <p:nvSpPr>
          <p:cNvPr id="9" name="Slide Number Placeholder 8"/>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2693801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smtClean="0"/>
              <a:t>Dept of AI&amp;DS, SJCIT</a:t>
            </a:r>
            <a:endParaRPr lang="en-IN"/>
          </a:p>
        </p:txBody>
      </p:sp>
      <p:sp>
        <p:nvSpPr>
          <p:cNvPr id="4" name="Footer Placeholder 3"/>
          <p:cNvSpPr>
            <a:spLocks noGrp="1"/>
          </p:cNvSpPr>
          <p:nvPr>
            <p:ph type="ftr" sz="quarter" idx="11"/>
          </p:nvPr>
        </p:nvSpPr>
        <p:spPr/>
        <p:txBody>
          <a:bodyPr/>
          <a:lstStyle/>
          <a:p>
            <a:r>
              <a:rPr lang="en-IN" smtClean="0"/>
              <a:t>2025-26</a:t>
            </a:r>
            <a:endParaRPr lang="en-IN"/>
          </a:p>
        </p:txBody>
      </p:sp>
      <p:sp>
        <p:nvSpPr>
          <p:cNvPr id="5" name="Slide Number Placeholder 4"/>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1266644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US" smtClean="0"/>
              <a:t>Dept of AI&amp;DS, SJCIT</a:t>
            </a:r>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smtClean="0"/>
              <a:t>2025-26</a:t>
            </a:r>
            <a:endParaRPr lang="en-IN"/>
          </a:p>
        </p:txBody>
      </p:sp>
      <p:sp>
        <p:nvSpPr>
          <p:cNvPr id="9" name="Slide Number Placeholder 8"/>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4165431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smtClean="0"/>
              <a:t>Dept of AI&amp;DS, SJCIT</a:t>
            </a:r>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smtClean="0"/>
              <a:t>2025-26</a:t>
            </a:r>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9FBB93A-4B32-4007-AACF-5243CED557C7}" type="slidenum">
              <a:rPr lang="en-IN" smtClean="0"/>
              <a:t>‹#›</a:t>
            </a:fld>
            <a:endParaRPr lang="en-IN"/>
          </a:p>
        </p:txBody>
      </p:sp>
    </p:spTree>
    <p:extLst>
      <p:ext uri="{BB962C8B-B14F-4D97-AF65-F5344CB8AC3E}">
        <p14:creationId xmlns:p14="http://schemas.microsoft.com/office/powerpoint/2010/main" val="339071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smtClean="0"/>
              <a:t>Dept of AI&amp;DS, SJCIT</a:t>
            </a:r>
            <a:endParaRPr lang="en-IN"/>
          </a:p>
        </p:txBody>
      </p:sp>
      <p:sp>
        <p:nvSpPr>
          <p:cNvPr id="6" name="Footer Placeholder 5"/>
          <p:cNvSpPr>
            <a:spLocks noGrp="1"/>
          </p:cNvSpPr>
          <p:nvPr>
            <p:ph type="ftr" sz="quarter" idx="11"/>
          </p:nvPr>
        </p:nvSpPr>
        <p:spPr/>
        <p:txBody>
          <a:bodyPr/>
          <a:lstStyle/>
          <a:p>
            <a:r>
              <a:rPr lang="en-IN" smtClean="0"/>
              <a:t>2025-26</a:t>
            </a:r>
            <a:endParaRPr lang="en-IN"/>
          </a:p>
        </p:txBody>
      </p:sp>
      <p:sp>
        <p:nvSpPr>
          <p:cNvPr id="7" name="Slide Number Placeholder 6"/>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23109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smtClean="0"/>
              <a:t>Dept of AI&amp;DS, SJCIT</a:t>
            </a:r>
            <a:endParaRPr lang="en-IN"/>
          </a:p>
        </p:txBody>
      </p:sp>
      <p:sp>
        <p:nvSpPr>
          <p:cNvPr id="5" name="Footer Placeholder 4"/>
          <p:cNvSpPr>
            <a:spLocks noGrp="1"/>
          </p:cNvSpPr>
          <p:nvPr>
            <p:ph type="ftr" sz="quarter" idx="11"/>
          </p:nvPr>
        </p:nvSpPr>
        <p:spPr/>
        <p:txBody>
          <a:bodyPr/>
          <a:lstStyle/>
          <a:p>
            <a:r>
              <a:rPr lang="en-IN" smtClean="0"/>
              <a:t>2025-26</a:t>
            </a:r>
            <a:endParaRPr lang="en-IN"/>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2921887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smtClean="0"/>
              <a:t>Dept of AI&amp;DS, SJCIT</a:t>
            </a:r>
            <a:endParaRPr lang="en-IN"/>
          </a:p>
        </p:txBody>
      </p:sp>
      <p:sp>
        <p:nvSpPr>
          <p:cNvPr id="5" name="Footer Placeholder 4"/>
          <p:cNvSpPr>
            <a:spLocks noGrp="1"/>
          </p:cNvSpPr>
          <p:nvPr>
            <p:ph type="ftr" sz="quarter" idx="11"/>
          </p:nvPr>
        </p:nvSpPr>
        <p:spPr/>
        <p:txBody>
          <a:bodyPr/>
          <a:lstStyle/>
          <a:p>
            <a:r>
              <a:rPr lang="en-IN" smtClean="0"/>
              <a:t>2025-26</a:t>
            </a:r>
            <a:endParaRPr lang="en-IN"/>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3352111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smtClean="0"/>
              <a:t>Dept of AI&amp;DS, SJCIT</a:t>
            </a:r>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smtClean="0"/>
              <a:t>2025-26</a:t>
            </a:r>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9FBB93A-4B32-4007-AACF-5243CED557C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87462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doi.org/10.3390/app9153319" TargetMode="External"/><Relationship Id="rId7" Type="http://schemas.openxmlformats.org/officeDocument/2006/relationships/hyperlink" Target="https://www.tensorflow.org/api_docs/python/tf/keras/losses/Huber" TargetMode="External"/><Relationship Id="rId2" Type="http://schemas.openxmlformats.org/officeDocument/2006/relationships/hyperlink" Target="https://doi.org/10.1016/j.compbiomed.2018.06.008" TargetMode="External"/><Relationship Id="rId1" Type="http://schemas.openxmlformats.org/officeDocument/2006/relationships/slideLayout" Target="../slideLayouts/slideLayout7.xml"/><Relationship Id="rId6" Type="http://schemas.openxmlformats.org/officeDocument/2006/relationships/hyperlink" Target="https://scikit-learn.org/stable/modules/generated/sklearn.preprocessing.StandardScaler.html" TargetMode="External"/><Relationship Id="rId5" Type="http://schemas.openxmlformats.org/officeDocument/2006/relationships/hyperlink" Target="https://www.tensorflow.org/api_docs" TargetMode="External"/><Relationship Id="rId4" Type="http://schemas.openxmlformats.org/officeDocument/2006/relationships/hyperlink" Target="https://keras.io/guides/sequential_model/"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 xmlns:a16="http://schemas.microsoft.com/office/drawing/2014/main" id="{44DD8720-A00F-5D7B-9C9A-5656A85908BE}"/>
              </a:ext>
            </a:extLst>
          </p:cNvPr>
          <p:cNvSpPr>
            <a:spLocks noGrp="1"/>
          </p:cNvSpPr>
          <p:nvPr>
            <p:ph type="ftr" sz="quarter" idx="11"/>
          </p:nvPr>
        </p:nvSpPr>
        <p:spPr/>
        <p:txBody>
          <a:bodyPr/>
          <a:lstStyle/>
          <a:p>
            <a:r>
              <a:rPr lang="en-IN" dirty="0" smtClean="0"/>
              <a:t>2025-26</a:t>
            </a:r>
            <a:endParaRPr lang="en-IN" dirty="0"/>
          </a:p>
        </p:txBody>
      </p:sp>
      <p:sp>
        <p:nvSpPr>
          <p:cNvPr id="7" name="Slide Number Placeholder 6">
            <a:extLst>
              <a:ext uri="{FF2B5EF4-FFF2-40B4-BE49-F238E27FC236}">
                <a16:creationId xmlns="" xmlns:a16="http://schemas.microsoft.com/office/drawing/2014/main" id="{48B5B378-9CF4-628F-242F-C3B271FBC64C}"/>
              </a:ext>
            </a:extLst>
          </p:cNvPr>
          <p:cNvSpPr>
            <a:spLocks noGrp="1"/>
          </p:cNvSpPr>
          <p:nvPr>
            <p:ph type="sldNum" sz="quarter" idx="12"/>
          </p:nvPr>
        </p:nvSpPr>
        <p:spPr/>
        <p:txBody>
          <a:bodyPr/>
          <a:lstStyle/>
          <a:p>
            <a:fld id="{69FBB93A-4B32-4007-AACF-5243CED557C7}" type="slidenum">
              <a:rPr lang="en-IN" smtClean="0"/>
              <a:t>1</a:t>
            </a:fld>
            <a:endParaRPr lang="en-IN"/>
          </a:p>
        </p:txBody>
      </p:sp>
      <p:sp>
        <p:nvSpPr>
          <p:cNvPr id="8" name="Date Placeholder 7">
            <a:extLst>
              <a:ext uri="{FF2B5EF4-FFF2-40B4-BE49-F238E27FC236}">
                <a16:creationId xmlns="" xmlns:a16="http://schemas.microsoft.com/office/drawing/2014/main" id="{C02BCDCC-A182-5718-B49D-B13F53391105}"/>
              </a:ext>
            </a:extLst>
          </p:cNvPr>
          <p:cNvSpPr>
            <a:spLocks noGrp="1"/>
          </p:cNvSpPr>
          <p:nvPr>
            <p:ph type="dt" sz="half" idx="10"/>
          </p:nvPr>
        </p:nvSpPr>
        <p:spPr/>
        <p:txBody>
          <a:bodyPr/>
          <a:lstStyle/>
          <a:p>
            <a:r>
              <a:rPr lang="en-US" smtClean="0"/>
              <a:t>Dept of AI&amp;DS, SJCIT</a:t>
            </a:r>
            <a:endParaRPr lang="en-IN" dirty="0"/>
          </a:p>
        </p:txBody>
      </p:sp>
      <p:sp>
        <p:nvSpPr>
          <p:cNvPr id="10" name="TextBox 9">
            <a:extLst>
              <a:ext uri="{FF2B5EF4-FFF2-40B4-BE49-F238E27FC236}">
                <a16:creationId xmlns="" xmlns:a16="http://schemas.microsoft.com/office/drawing/2014/main" id="{A8AF886D-2672-E1B6-5558-A6D5255410EA}"/>
              </a:ext>
            </a:extLst>
          </p:cNvPr>
          <p:cNvSpPr txBox="1"/>
          <p:nvPr/>
        </p:nvSpPr>
        <p:spPr>
          <a:xfrm>
            <a:off x="10114590" y="650450"/>
            <a:ext cx="766856" cy="2026763"/>
          </a:xfrm>
          <a:prstGeom prst="rect">
            <a:avLst/>
          </a:prstGeom>
          <a:noFill/>
        </p:spPr>
        <p:txBody>
          <a:bodyPr wrap="square" rtlCol="0">
            <a:spAutoFit/>
          </a:bodyPr>
          <a:lstStyle/>
          <a:p>
            <a:endParaRPr lang="en-IN" dirty="0"/>
          </a:p>
        </p:txBody>
      </p:sp>
      <p:sp>
        <p:nvSpPr>
          <p:cNvPr id="18" name="TextBox 17">
            <a:extLst>
              <a:ext uri="{FF2B5EF4-FFF2-40B4-BE49-F238E27FC236}">
                <a16:creationId xmlns="" xmlns:a16="http://schemas.microsoft.com/office/drawing/2014/main" id="{858E34A5-CC41-727F-A76B-9AF31A39ACCD}"/>
              </a:ext>
            </a:extLst>
          </p:cNvPr>
          <p:cNvSpPr txBox="1"/>
          <p:nvPr/>
        </p:nvSpPr>
        <p:spPr>
          <a:xfrm>
            <a:off x="2408902" y="2390067"/>
            <a:ext cx="7521678" cy="369332"/>
          </a:xfrm>
          <a:prstGeom prst="rect">
            <a:avLst/>
          </a:prstGeom>
          <a:noFill/>
        </p:spPr>
        <p:txBody>
          <a:bodyPr wrap="square" rtlCol="0">
            <a:spAutoFit/>
          </a:bodyPr>
          <a:lstStyle/>
          <a:p>
            <a:r>
              <a:rPr lang="en-US" sz="1800" dirty="0">
                <a:solidFill>
                  <a:srgbClr val="002060"/>
                </a:solidFill>
                <a:latin typeface="Times New Roman" panose="02020603050405020304" pitchFamily="18" charset="0"/>
                <a:cs typeface="Times New Roman" panose="02020603050405020304" pitchFamily="18" charset="0"/>
              </a:rPr>
              <a:t>DEPARTMENT OF ARTIFICAL INTELLIGENCE AND DATA SCIENCE</a:t>
            </a:r>
            <a:endParaRPr lang="en-IN"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 xmlns:a16="http://schemas.microsoft.com/office/drawing/2014/main" id="{BAAB6D6F-10A3-8E55-C649-9976D7BF835A}"/>
              </a:ext>
            </a:extLst>
          </p:cNvPr>
          <p:cNvSpPr txBox="1"/>
          <p:nvPr/>
        </p:nvSpPr>
        <p:spPr>
          <a:xfrm>
            <a:off x="3401961" y="2815152"/>
            <a:ext cx="4011561" cy="646331"/>
          </a:xfrm>
          <a:prstGeom prst="rect">
            <a:avLst/>
          </a:prstGeom>
          <a:noFill/>
        </p:spPr>
        <p:txBody>
          <a:bodyPr wrap="square" rtlCol="0">
            <a:spAutoFit/>
          </a:bodyPr>
          <a:lstStyle/>
          <a:p>
            <a:endParaRPr lang="en-US" altLang="en-US" sz="1800" b="1" dirty="0">
              <a:solidFill>
                <a:srgbClr val="7030A0"/>
              </a:solidFill>
              <a:latin typeface="Times New Roman" panose="02020603050405020304" pitchFamily="18" charset="0"/>
              <a:cs typeface="Times New Roman" panose="02020603050405020304" pitchFamily="18" charset="0"/>
            </a:endParaRPr>
          </a:p>
          <a:p>
            <a:endParaRPr lang="en-IN" dirty="0"/>
          </a:p>
        </p:txBody>
      </p:sp>
      <p:sp>
        <p:nvSpPr>
          <p:cNvPr id="21" name="TextBox 20">
            <a:extLst>
              <a:ext uri="{FF2B5EF4-FFF2-40B4-BE49-F238E27FC236}">
                <a16:creationId xmlns="" xmlns:a16="http://schemas.microsoft.com/office/drawing/2014/main" id="{CC330673-E17D-D4FA-63DA-AA77404362AB}"/>
              </a:ext>
            </a:extLst>
          </p:cNvPr>
          <p:cNvSpPr txBox="1"/>
          <p:nvPr/>
        </p:nvSpPr>
        <p:spPr>
          <a:xfrm>
            <a:off x="571358" y="3723333"/>
            <a:ext cx="4665660" cy="1754326"/>
          </a:xfrm>
          <a:prstGeom prst="rect">
            <a:avLst/>
          </a:prstGeom>
          <a:noFill/>
        </p:spPr>
        <p:txBody>
          <a:bodyPr wrap="square" lIns="91440" tIns="45720" rIns="91440" bIns="45720" rtlCol="0" anchor="t">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Team Members</a:t>
            </a:r>
          </a:p>
          <a:p>
            <a:r>
              <a:rPr lang="en-US" altLang="en-US" sz="1800" dirty="0">
                <a:solidFill>
                  <a:srgbClr val="7030A0"/>
                </a:solidFill>
                <a:latin typeface="Times New Roman" panose="02020603050405020304" pitchFamily="18" charset="0"/>
                <a:cs typeface="Times New Roman" panose="02020603050405020304" pitchFamily="18" charset="0"/>
              </a:rPr>
              <a:t>Name   </a:t>
            </a:r>
            <a:r>
              <a:rPr lang="en-US" altLang="en-US" sz="1800" dirty="0">
                <a:latin typeface="Times New Roman" panose="02020603050405020304" pitchFamily="18" charset="0"/>
                <a:cs typeface="Times New Roman" panose="02020603050405020304" pitchFamily="18" charset="0"/>
              </a:rPr>
              <a:t>                                </a:t>
            </a:r>
            <a:r>
              <a:rPr lang="en-US" altLang="en-US" sz="1800" dirty="0">
                <a:solidFill>
                  <a:srgbClr val="7030A0"/>
                </a:solidFill>
                <a:latin typeface="Times New Roman" panose="02020603050405020304" pitchFamily="18" charset="0"/>
                <a:cs typeface="Times New Roman" panose="02020603050405020304" pitchFamily="18" charset="0"/>
              </a:rPr>
              <a:t>USN</a:t>
            </a:r>
          </a:p>
          <a:p>
            <a:pPr algn="just"/>
            <a:r>
              <a:rPr lang="en-US" dirty="0">
                <a:solidFill>
                  <a:schemeClr val="accent2">
                    <a:lumMod val="50000"/>
                  </a:schemeClr>
                </a:solidFill>
                <a:latin typeface="Times New Roman" panose="02020603050405020304" pitchFamily="18" charset="0"/>
                <a:cs typeface="Times New Roman" panose="02020603050405020304" pitchFamily="18" charset="0"/>
              </a:rPr>
              <a:t>B.LATHA </a:t>
            </a:r>
            <a:r>
              <a:rPr lang="en-US" sz="1800" dirty="0">
                <a:solidFill>
                  <a:schemeClr val="accent2">
                    <a:lumMod val="50000"/>
                  </a:schemeClr>
                </a:solidFill>
                <a:latin typeface="Times New Roman" panose="02020603050405020304" pitchFamily="18" charset="0"/>
                <a:cs typeface="Times New Roman" panose="02020603050405020304" pitchFamily="18" charset="0"/>
              </a:rPr>
              <a:t>SREE           1SJ22AD006</a:t>
            </a:r>
          </a:p>
          <a:p>
            <a:pPr algn="just"/>
            <a:r>
              <a:rPr lang="en-US" sz="1800" dirty="0">
                <a:solidFill>
                  <a:schemeClr val="accent2">
                    <a:lumMod val="50000"/>
                  </a:schemeClr>
                </a:solidFill>
                <a:latin typeface="Times New Roman" panose="02020603050405020304" pitchFamily="18" charset="0"/>
                <a:cs typeface="Times New Roman" panose="02020603050405020304" pitchFamily="18" charset="0"/>
              </a:rPr>
              <a:t>C S MOUNIKA            1SJ22AD008</a:t>
            </a:r>
          </a:p>
          <a:p>
            <a:pPr algn="just"/>
            <a:r>
              <a:rPr lang="en-US" dirty="0">
                <a:solidFill>
                  <a:schemeClr val="accent2">
                    <a:lumMod val="50000"/>
                  </a:schemeClr>
                </a:solidFill>
                <a:latin typeface="Times New Roman"/>
                <a:cs typeface="Times New Roman"/>
              </a:rPr>
              <a:t>M.CHARAN                 1SJ22AD024</a:t>
            </a:r>
            <a:endParaRPr lang="en-US" sz="1800" dirty="0">
              <a:solidFill>
                <a:schemeClr val="accent2">
                  <a:lumMod val="50000"/>
                </a:schemeClr>
              </a:solidFill>
              <a:latin typeface="Times New Roman" panose="02020603050405020304" pitchFamily="18" charset="0"/>
              <a:cs typeface="Times New Roman" panose="02020603050405020304" pitchFamily="18" charset="0"/>
            </a:endParaRPr>
          </a:p>
          <a:p>
            <a:pPr algn="just"/>
            <a:r>
              <a:rPr lang="en-US" altLang="en-US" b="1" dirty="0">
                <a:solidFill>
                  <a:srgbClr val="C00000"/>
                </a:solidFill>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 xmlns:a16="http://schemas.microsoft.com/office/drawing/2014/main" id="{63E1D173-52B1-1198-57D1-211E856BFA03}"/>
              </a:ext>
            </a:extLst>
          </p:cNvPr>
          <p:cNvSpPr txBox="1"/>
          <p:nvPr/>
        </p:nvSpPr>
        <p:spPr>
          <a:xfrm>
            <a:off x="8266651" y="3904270"/>
            <a:ext cx="2756949" cy="923330"/>
          </a:xfrm>
          <a:prstGeom prst="rect">
            <a:avLst/>
          </a:prstGeom>
          <a:noFill/>
        </p:spPr>
        <p:txBody>
          <a:bodyPr wrap="square" rtlCol="0">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Guide</a:t>
            </a:r>
          </a:p>
          <a:p>
            <a:r>
              <a:rPr lang="en-US" dirty="0">
                <a:solidFill>
                  <a:schemeClr val="accent1">
                    <a:lumMod val="50000"/>
                  </a:schemeClr>
                </a:solidFill>
                <a:latin typeface="Times New Roman" panose="02020603050405020304" pitchFamily="18" charset="0"/>
                <a:cs typeface="Times New Roman" panose="02020603050405020304" pitchFamily="18" charset="0"/>
              </a:rPr>
              <a:t>Badrinath K</a:t>
            </a:r>
          </a:p>
          <a:p>
            <a:r>
              <a:rPr lang="en-US" dirty="0">
                <a:solidFill>
                  <a:schemeClr val="accent1">
                    <a:lumMod val="50000"/>
                  </a:schemeClr>
                </a:solidFill>
                <a:latin typeface="Times New Roman" panose="02020603050405020304" pitchFamily="18" charset="0"/>
                <a:cs typeface="Times New Roman" panose="02020603050405020304" pitchFamily="18" charset="0"/>
              </a:rPr>
              <a:t>Assistant Professor</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 xmlns:a16="http://schemas.microsoft.com/office/drawing/2014/main" id="{4684A7C2-0927-DAE1-49C4-AD87F3B26156}"/>
              </a:ext>
            </a:extLst>
          </p:cNvPr>
          <p:cNvSpPr txBox="1"/>
          <p:nvPr/>
        </p:nvSpPr>
        <p:spPr>
          <a:xfrm>
            <a:off x="3401961" y="2815152"/>
            <a:ext cx="6086168" cy="646331"/>
          </a:xfrm>
          <a:prstGeom prst="rect">
            <a:avLst/>
          </a:prstGeom>
          <a:noFill/>
        </p:spPr>
        <p:txBody>
          <a:bodyPr wrap="square" rtlCol="0">
            <a:spAutoFit/>
          </a:bodyPr>
          <a:lstStyle/>
          <a:p>
            <a:pPr algn="ctr"/>
            <a:r>
              <a:rPr lang="en-US" altLang="en-US" sz="1800" b="1" dirty="0">
                <a:solidFill>
                  <a:srgbClr val="7030A0"/>
                </a:solidFill>
                <a:latin typeface="Times New Roman" panose="02020603050405020304" pitchFamily="18" charset="0"/>
                <a:cs typeface="Times New Roman" panose="02020603050405020304" pitchFamily="18" charset="0"/>
              </a:rPr>
              <a:t>6</a:t>
            </a:r>
            <a:r>
              <a:rPr lang="en-US" altLang="en-US" sz="1800" b="1" baseline="30000" dirty="0">
                <a:solidFill>
                  <a:srgbClr val="7030A0"/>
                </a:solidFill>
                <a:latin typeface="Times New Roman" panose="02020603050405020304" pitchFamily="18" charset="0"/>
                <a:cs typeface="Times New Roman" panose="02020603050405020304" pitchFamily="18" charset="0"/>
              </a:rPr>
              <a:t>th</a:t>
            </a:r>
            <a:r>
              <a:rPr lang="en-US" altLang="en-US" sz="1800" b="1" dirty="0">
                <a:solidFill>
                  <a:srgbClr val="7030A0"/>
                </a:solidFill>
                <a:latin typeface="Times New Roman" panose="02020603050405020304" pitchFamily="18" charset="0"/>
                <a:cs typeface="Times New Roman" panose="02020603050405020304" pitchFamily="18" charset="0"/>
              </a:rPr>
              <a:t> Sem  Project </a:t>
            </a:r>
            <a:r>
              <a:rPr lang="en-US" altLang="en-US" sz="1800" b="1" dirty="0" smtClean="0">
                <a:solidFill>
                  <a:srgbClr val="7030A0"/>
                </a:solidFill>
                <a:latin typeface="Times New Roman" panose="02020603050405020304" pitchFamily="18" charset="0"/>
                <a:cs typeface="Times New Roman" panose="02020603050405020304" pitchFamily="18" charset="0"/>
              </a:rPr>
              <a:t>Phase-1 </a:t>
            </a:r>
            <a:endParaRPr lang="en-US" altLang="en-US" sz="1800" b="1" dirty="0">
              <a:solidFill>
                <a:srgbClr val="7030A0"/>
              </a:solidFill>
              <a:latin typeface="Times New Roman" panose="02020603050405020304" pitchFamily="18" charset="0"/>
              <a:cs typeface="Times New Roman" panose="02020603050405020304" pitchFamily="18" charset="0"/>
            </a:endParaRPr>
          </a:p>
          <a:p>
            <a:endParaRPr lang="en-IN" dirty="0"/>
          </a:p>
        </p:txBody>
      </p:sp>
      <p:sp>
        <p:nvSpPr>
          <p:cNvPr id="2" name="TextBox 1">
            <a:extLst>
              <a:ext uri="{FF2B5EF4-FFF2-40B4-BE49-F238E27FC236}">
                <a16:creationId xmlns="" xmlns:a16="http://schemas.microsoft.com/office/drawing/2014/main" id="{DA248202-711E-796C-9322-294D8272F7C8}"/>
              </a:ext>
            </a:extLst>
          </p:cNvPr>
          <p:cNvSpPr txBox="1"/>
          <p:nvPr/>
        </p:nvSpPr>
        <p:spPr>
          <a:xfrm>
            <a:off x="382384" y="3324829"/>
            <a:ext cx="11230495" cy="369332"/>
          </a:xfrm>
          <a:prstGeom prst="rect">
            <a:avLst/>
          </a:prstGeom>
          <a:noFill/>
        </p:spPr>
        <p:txBody>
          <a:bodyPr wrap="square" rtlCol="0">
            <a:spAutoFit/>
          </a:bodyPr>
          <a:lstStyle/>
          <a:p>
            <a:pPr algn="ctr"/>
            <a:r>
              <a:rPr lang="en-IN"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1600" b="1" dirty="0"/>
          </a:p>
        </p:txBody>
      </p:sp>
      <p:pic>
        <p:nvPicPr>
          <p:cNvPr id="2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967" y="119641"/>
            <a:ext cx="10725518" cy="19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98133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B0312830-05A9-627B-229B-4C455CB27EB9}"/>
              </a:ext>
            </a:extLst>
          </p:cNvPr>
          <p:cNvSpPr txBox="1"/>
          <p:nvPr/>
        </p:nvSpPr>
        <p:spPr>
          <a:xfrm>
            <a:off x="2407765" y="413174"/>
            <a:ext cx="6572906"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TABLE OF CONTENTS</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 xmlns:a16="http://schemas.microsoft.com/office/drawing/2014/main" id="{B1CE8EC1-241F-A9E5-055C-8E8B1F066B56}"/>
              </a:ext>
            </a:extLst>
          </p:cNvPr>
          <p:cNvSpPr>
            <a:spLocks noGrp="1"/>
          </p:cNvSpPr>
          <p:nvPr>
            <p:ph type="ftr" sz="quarter" idx="11"/>
          </p:nvPr>
        </p:nvSpPr>
        <p:spPr/>
        <p:txBody>
          <a:bodyPr/>
          <a:lstStyle/>
          <a:p>
            <a:r>
              <a:rPr lang="en-IN" smtClean="0"/>
              <a:t>2025-26</a:t>
            </a:r>
            <a:endParaRPr lang="en-IN"/>
          </a:p>
        </p:txBody>
      </p:sp>
      <p:sp>
        <p:nvSpPr>
          <p:cNvPr id="9" name="Slide Number Placeholder 8">
            <a:extLst>
              <a:ext uri="{FF2B5EF4-FFF2-40B4-BE49-F238E27FC236}">
                <a16:creationId xmlns="" xmlns:a16="http://schemas.microsoft.com/office/drawing/2014/main" id="{FFC50BCD-9CB0-2F01-FF7D-61412C7CDF7B}"/>
              </a:ext>
            </a:extLst>
          </p:cNvPr>
          <p:cNvSpPr>
            <a:spLocks noGrp="1"/>
          </p:cNvSpPr>
          <p:nvPr>
            <p:ph type="sldNum" sz="quarter" idx="12"/>
          </p:nvPr>
        </p:nvSpPr>
        <p:spPr/>
        <p:txBody>
          <a:bodyPr/>
          <a:lstStyle/>
          <a:p>
            <a:fld id="{69FBB93A-4B32-4007-AACF-5243CED557C7}" type="slidenum">
              <a:rPr lang="en-IN" smtClean="0"/>
              <a:t>2</a:t>
            </a:fld>
            <a:endParaRPr lang="en-IN"/>
          </a:p>
        </p:txBody>
      </p:sp>
      <p:sp>
        <p:nvSpPr>
          <p:cNvPr id="10" name="Date Placeholder 9">
            <a:extLst>
              <a:ext uri="{FF2B5EF4-FFF2-40B4-BE49-F238E27FC236}">
                <a16:creationId xmlns="" xmlns:a16="http://schemas.microsoft.com/office/drawing/2014/main" id="{D1C8C61A-AD8A-F055-9DE5-7E8FBCCBF3C7}"/>
              </a:ext>
            </a:extLst>
          </p:cNvPr>
          <p:cNvSpPr>
            <a:spLocks noGrp="1"/>
          </p:cNvSpPr>
          <p:nvPr>
            <p:ph type="dt" sz="half" idx="10"/>
          </p:nvPr>
        </p:nvSpPr>
        <p:spPr/>
        <p:txBody>
          <a:bodyPr/>
          <a:lstStyle/>
          <a:p>
            <a:r>
              <a:rPr lang="en-US" smtClean="0"/>
              <a:t>Dept of AI&amp;DS, SJCIT</a:t>
            </a:r>
            <a:endParaRPr lang="en-IN"/>
          </a:p>
        </p:txBody>
      </p:sp>
      <p:sp>
        <p:nvSpPr>
          <p:cNvPr id="6" name="TextBox 5">
            <a:extLst>
              <a:ext uri="{FF2B5EF4-FFF2-40B4-BE49-F238E27FC236}">
                <a16:creationId xmlns="" xmlns:a16="http://schemas.microsoft.com/office/drawing/2014/main" id="{D65FAF25-D943-CF5A-7916-7E9CAEE994F9}"/>
              </a:ext>
            </a:extLst>
          </p:cNvPr>
          <p:cNvSpPr txBox="1"/>
          <p:nvPr/>
        </p:nvSpPr>
        <p:spPr>
          <a:xfrm>
            <a:off x="382385" y="1271847"/>
            <a:ext cx="5203069" cy="3754874"/>
          </a:xfrm>
          <a:prstGeom prst="rect">
            <a:avLst/>
          </a:prstGeom>
          <a:noFill/>
        </p:spPr>
        <p:txBody>
          <a:bodyPr wrap="square">
            <a:spAutoFit/>
          </a:bodyPr>
          <a:lstStyle/>
          <a:p>
            <a:pPr marL="800100" lvl="1" indent="-342900" algn="just">
              <a:lnSpc>
                <a:spcPct val="150000"/>
              </a:lnSpc>
              <a:buFont typeface="+mj-lt"/>
              <a:buAutoNum type="arabicPeriod"/>
              <a:tabLst>
                <a:tab pos="685800" algn="l"/>
              </a:tabLst>
            </a:pPr>
            <a:r>
              <a:rPr lang="en-US" sz="2000" spc="0" dirty="0">
                <a:effectLst/>
                <a:latin typeface="Times New Roman" panose="02020603050405020304" pitchFamily="18" charset="0"/>
                <a:ea typeface="Calibri" panose="020F0502020204030204" pitchFamily="34" charset="0"/>
                <a:cs typeface="Times New Roman" panose="02020603050405020304" pitchFamily="18" charset="0"/>
              </a:rPr>
              <a:t>Problem</a:t>
            </a:r>
            <a:r>
              <a:rPr lang="en-US" sz="20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spc="0" dirty="0">
                <a:effectLst/>
                <a:latin typeface="Times New Roman" panose="02020603050405020304" pitchFamily="18" charset="0"/>
                <a:ea typeface="Calibri" panose="020F0502020204030204" pitchFamily="34" charset="0"/>
                <a:cs typeface="Times New Roman" panose="02020603050405020304" pitchFamily="18" charset="0"/>
              </a:rPr>
              <a:t>Statement</a:t>
            </a:r>
            <a:r>
              <a:rPr lang="en-US" sz="2000" spc="-1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spc="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000" spc="0" dirty="0">
                <a:effectLst/>
                <a:latin typeface="Times New Roman" panose="02020603050405020304" pitchFamily="18" charset="0"/>
                <a:ea typeface="Calibri" panose="020F0502020204030204" pitchFamily="34" charset="0"/>
                <a:cs typeface="Times New Roman" panose="02020603050405020304" pitchFamily="18" charset="0"/>
              </a:rPr>
              <a:t>Purpose,</a:t>
            </a:r>
            <a:r>
              <a:rPr lang="en-US" sz="20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spc="0" dirty="0">
                <a:effectLst/>
                <a:latin typeface="Times New Roman" panose="02020603050405020304" pitchFamily="18" charset="0"/>
                <a:ea typeface="Calibri" panose="020F0502020204030204" pitchFamily="34" charset="0"/>
                <a:cs typeface="Times New Roman" panose="02020603050405020304" pitchFamily="18" charset="0"/>
              </a:rPr>
              <a:t>Scope,</a:t>
            </a:r>
            <a:r>
              <a:rPr lang="en-US" sz="20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spc="-10" dirty="0">
                <a:effectLst/>
                <a:latin typeface="Times New Roman" panose="02020603050405020304" pitchFamily="18" charset="0"/>
                <a:ea typeface="Calibri" panose="020F0502020204030204" pitchFamily="34" charset="0"/>
                <a:cs typeface="Times New Roman" panose="02020603050405020304" pitchFamily="18" charset="0"/>
              </a:rPr>
              <a:t>Objectives</a:t>
            </a:r>
            <a:endParaRPr lang="en-IN" sz="2000" spc="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000" spc="0" dirty="0">
                <a:effectLst/>
                <a:latin typeface="Times New Roman" panose="02020603050405020304" pitchFamily="18" charset="0"/>
                <a:ea typeface="Calibri" panose="020F0502020204030204" pitchFamily="34" charset="0"/>
                <a:cs typeface="Times New Roman" panose="02020603050405020304" pitchFamily="18" charset="0"/>
              </a:rPr>
              <a:t>Abstract</a:t>
            </a:r>
            <a:r>
              <a:rPr lang="en-US" sz="2000" spc="-15"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spc="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000" spc="0" dirty="0">
                <a:effectLst/>
                <a:latin typeface="Times New Roman" panose="02020603050405020304" pitchFamily="18" charset="0"/>
                <a:ea typeface="Calibri" panose="020F0502020204030204" pitchFamily="34" charset="0"/>
                <a:cs typeface="Times New Roman" panose="02020603050405020304" pitchFamily="18" charset="0"/>
              </a:rPr>
              <a:t>Introduction</a:t>
            </a:r>
            <a:r>
              <a:rPr lang="en-US" sz="2000" spc="-3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spc="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000" spc="0" dirty="0">
                <a:effectLst/>
                <a:latin typeface="Times New Roman" panose="02020603050405020304" pitchFamily="18" charset="0"/>
                <a:ea typeface="Calibri" panose="020F0502020204030204" pitchFamily="34" charset="0"/>
                <a:cs typeface="Times New Roman" panose="02020603050405020304" pitchFamily="18" charset="0"/>
              </a:rPr>
              <a:t>Literature</a:t>
            </a:r>
            <a:r>
              <a:rPr lang="en-US" sz="20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spc="-10" dirty="0">
                <a:effectLst/>
                <a:latin typeface="Times New Roman" panose="02020603050405020304" pitchFamily="18" charset="0"/>
                <a:ea typeface="Calibri" panose="020F0502020204030204" pitchFamily="34" charset="0"/>
                <a:cs typeface="Times New Roman" panose="02020603050405020304" pitchFamily="18" charset="0"/>
              </a:rPr>
              <a:t>Survey</a:t>
            </a:r>
          </a:p>
          <a:p>
            <a:pPr marL="800100" lvl="1" indent="-342900" algn="just">
              <a:lnSpc>
                <a:spcPct val="150000"/>
              </a:lnSpc>
              <a:buFont typeface="+mj-lt"/>
              <a:buAutoNum type="arabicPeriod"/>
              <a:tabLst>
                <a:tab pos="685800" algn="l"/>
              </a:tabLst>
            </a:pPr>
            <a:r>
              <a:rPr lang="en-US" sz="2000" spc="-10" dirty="0">
                <a:effectLst/>
                <a:latin typeface="Times New Roman" panose="02020603050405020304" pitchFamily="18" charset="0"/>
                <a:ea typeface="Calibri" panose="020F0502020204030204" pitchFamily="34" charset="0"/>
                <a:cs typeface="Times New Roman" panose="02020603050405020304" pitchFamily="18" charset="0"/>
              </a:rPr>
              <a:t>Methodology</a:t>
            </a:r>
          </a:p>
          <a:p>
            <a:pPr marL="800100" lvl="1" indent="-342900" algn="just">
              <a:lnSpc>
                <a:spcPct val="150000"/>
              </a:lnSpc>
              <a:buFont typeface="+mj-lt"/>
              <a:buAutoNum type="arabicPeriod"/>
              <a:tabLst>
                <a:tab pos="685800" algn="l"/>
              </a:tabLst>
            </a:pPr>
            <a:r>
              <a:rPr lang="en-US" sz="2000" spc="-10" dirty="0" smtClean="0">
                <a:latin typeface="Times New Roman" panose="02020603050405020304" pitchFamily="18" charset="0"/>
                <a:ea typeface="Calibri" panose="020F0502020204030204" pitchFamily="34" charset="0"/>
                <a:cs typeface="Times New Roman" panose="02020603050405020304" pitchFamily="18" charset="0"/>
              </a:rPr>
              <a:t>Algorithms</a:t>
            </a:r>
            <a:endParaRPr lang="en-US" sz="2000" spc="-10" dirty="0">
              <a:latin typeface="Times New Roman" panose="02020603050405020304" pitchFamily="18" charset="0"/>
              <a:ea typeface="Calibri" panose="020F0502020204030204" pitchFamily="34"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 xmlns:a16="http://schemas.microsoft.com/office/drawing/2014/main" id="{61A694EC-414F-38CE-31A6-2BC1C0D09C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3" name="TextBox 2">
            <a:extLst>
              <a:ext uri="{FF2B5EF4-FFF2-40B4-BE49-F238E27FC236}">
                <a16:creationId xmlns="" xmlns:a16="http://schemas.microsoft.com/office/drawing/2014/main" id="{6969205D-DD7F-72D5-B446-F70EBF05FE24}"/>
              </a:ext>
            </a:extLst>
          </p:cNvPr>
          <p:cNvSpPr txBox="1"/>
          <p:nvPr/>
        </p:nvSpPr>
        <p:spPr>
          <a:xfrm>
            <a:off x="5694218" y="1271847"/>
            <a:ext cx="5852858" cy="3139321"/>
          </a:xfrm>
          <a:prstGeom prst="rect">
            <a:avLst/>
          </a:prstGeom>
          <a:noFill/>
        </p:spPr>
        <p:txBody>
          <a:bodyPr wrap="square" rtlCol="0">
            <a:spAutoFit/>
          </a:bodyPr>
          <a:lstStyle/>
          <a:p>
            <a:pPr marL="914400" lvl="1" indent="-457200" algn="just">
              <a:lnSpc>
                <a:spcPct val="150000"/>
              </a:lnSpc>
              <a:buAutoNum type="arabicPeriod" startAt="8"/>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Modules Split-up</a:t>
            </a:r>
          </a:p>
          <a:p>
            <a:pPr marL="914400" lvl="1" indent="-457200" algn="just">
              <a:lnSpc>
                <a:spcPct val="150000"/>
              </a:lnSpc>
              <a:buAutoNum type="arabicPeriod" startAt="8"/>
              <a:tabLst>
                <a:tab pos="685800" algn="l"/>
              </a:tabLst>
            </a:pPr>
            <a:r>
              <a:rPr lang="en-US" sz="2000" spc="-10" dirty="0">
                <a:effectLst/>
                <a:latin typeface="Times New Roman" panose="02020603050405020304" pitchFamily="18" charset="0"/>
                <a:ea typeface="Calibri" panose="020F0502020204030204" pitchFamily="34" charset="0"/>
                <a:cs typeface="Times New Roman" panose="02020603050405020304" pitchFamily="18" charset="0"/>
              </a:rPr>
              <a:t>Proposed system</a:t>
            </a:r>
          </a:p>
          <a:p>
            <a:pPr marL="914400" lvl="1" indent="-457200" algn="just">
              <a:lnSpc>
                <a:spcPct val="150000"/>
              </a:lnSpc>
              <a:buAutoNum type="arabicPeriod" startAt="8"/>
              <a:tabLst>
                <a:tab pos="685800" algn="l"/>
              </a:tabLst>
            </a:pPr>
            <a:r>
              <a:rPr lang="en-US" sz="2000" spc="-10" dirty="0" smtClean="0">
                <a:latin typeface="Times New Roman" panose="02020603050405020304" pitchFamily="18" charset="0"/>
                <a:ea typeface="Calibri" panose="020F0502020204030204" pitchFamily="34" charset="0"/>
                <a:cs typeface="Times New Roman" panose="02020603050405020304" pitchFamily="18" charset="0"/>
              </a:rPr>
              <a:t>Software Specification Requirements</a:t>
            </a:r>
            <a:endParaRPr lang="en-US" sz="2000" spc="-10" dirty="0">
              <a:latin typeface="Times New Roman" panose="02020603050405020304" pitchFamily="18" charset="0"/>
              <a:ea typeface="Calibri" panose="020F0502020204030204" pitchFamily="34" charset="0"/>
              <a:cs typeface="Times New Roman" panose="02020603050405020304" pitchFamily="18" charset="0"/>
            </a:endParaRPr>
          </a:p>
          <a:p>
            <a:pPr marL="914400" lvl="1" indent="-457200" algn="just">
              <a:lnSpc>
                <a:spcPct val="150000"/>
              </a:lnSpc>
              <a:buAutoNum type="arabicPeriod" startAt="8"/>
              <a:tabLst>
                <a:tab pos="685800" algn="l"/>
              </a:tabLst>
            </a:pPr>
            <a:r>
              <a:rPr lang="en-US" sz="2000" spc="-10" dirty="0" smtClean="0">
                <a:latin typeface="Times New Roman" panose="02020603050405020304" pitchFamily="18" charset="0"/>
                <a:ea typeface="Calibri" panose="020F0502020204030204" pitchFamily="34" charset="0"/>
                <a:cs typeface="Times New Roman" panose="02020603050405020304" pitchFamily="18" charset="0"/>
              </a:rPr>
              <a:t>Expected </a:t>
            </a:r>
            <a:r>
              <a:rPr lang="en-US" sz="2000" spc="-10" dirty="0" smtClean="0">
                <a:effectLst/>
                <a:latin typeface="Times New Roman" panose="02020603050405020304" pitchFamily="18" charset="0"/>
                <a:ea typeface="Calibri" panose="020F0502020204030204" pitchFamily="34" charset="0"/>
                <a:cs typeface="Times New Roman" panose="02020603050405020304" pitchFamily="18" charset="0"/>
              </a:rPr>
              <a:t>Outc</a:t>
            </a:r>
            <a:r>
              <a:rPr lang="en-US" sz="2000" spc="-10" dirty="0" smtClean="0">
                <a:latin typeface="Times New Roman" panose="02020603050405020304" pitchFamily="18" charset="0"/>
                <a:ea typeface="Calibri" panose="020F0502020204030204" pitchFamily="34" charset="0"/>
                <a:cs typeface="Times New Roman" panose="02020603050405020304" pitchFamily="18" charset="0"/>
              </a:rPr>
              <a:t>omes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914400" lvl="1" indent="-457200" algn="just">
              <a:lnSpc>
                <a:spcPct val="150000"/>
              </a:lnSpc>
              <a:buAutoNum type="arabicPeriod" startAt="8"/>
              <a:tabLst>
                <a:tab pos="685800" algn="l"/>
              </a:tabLst>
            </a:pPr>
            <a:r>
              <a:rPr lang="en-US" sz="2000" spc="-10" dirty="0">
                <a:effectLst/>
                <a:latin typeface="Times New Roman" panose="02020603050405020304" pitchFamily="18" charset="0"/>
                <a:ea typeface="Calibri" panose="020F0502020204030204" pitchFamily="34" charset="0"/>
                <a:cs typeface="Times New Roman" panose="02020603050405020304" pitchFamily="18" charset="0"/>
              </a:rPr>
              <a:t>References</a:t>
            </a:r>
          </a:p>
          <a:p>
            <a:pPr marL="914400" lvl="1" indent="-457200" algn="just">
              <a:lnSpc>
                <a:spcPct val="150000"/>
              </a:lnSpc>
              <a:buAutoNum type="arabicPeriod" startAt="8"/>
              <a:tabLst>
                <a:tab pos="685800" algn="l"/>
              </a:tabLst>
            </a:pPr>
            <a:r>
              <a:rPr lang="en-US" sz="2000" spc="0" dirty="0">
                <a:effectLst/>
                <a:latin typeface="Times New Roman" panose="02020603050405020304" pitchFamily="18" charset="0"/>
                <a:ea typeface="Calibri" panose="020F0502020204030204" pitchFamily="34" charset="0"/>
                <a:cs typeface="Times New Roman" panose="02020603050405020304" pitchFamily="18" charset="0"/>
              </a:rPr>
              <a:t>Project</a:t>
            </a:r>
            <a:r>
              <a:rPr lang="en-US" sz="20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spc="0" dirty="0">
                <a:effectLst/>
                <a:latin typeface="Times New Roman" panose="02020603050405020304" pitchFamily="18" charset="0"/>
                <a:ea typeface="Calibri" panose="020F0502020204030204" pitchFamily="34" charset="0"/>
                <a:cs typeface="Times New Roman" panose="02020603050405020304" pitchFamily="18" charset="0"/>
              </a:rPr>
              <a:t>Plan </a:t>
            </a:r>
            <a:r>
              <a:rPr lang="en-US" sz="2000" spc="-25" dirty="0">
                <a:latin typeface="Times New Roman" panose="02020603050405020304" pitchFamily="18" charset="0"/>
                <a:ea typeface="Calibri" panose="020F0502020204030204" pitchFamily="34" charset="0"/>
                <a:cs typeface="Times New Roman" panose="02020603050405020304" pitchFamily="18" charset="0"/>
              </a:rPr>
              <a:t>2</a:t>
            </a:r>
            <a:r>
              <a:rPr lang="en-US" sz="2000" spc="-25" dirty="0">
                <a:effectLst/>
                <a:latin typeface="Times New Roman" panose="02020603050405020304" pitchFamily="18" charset="0"/>
                <a:ea typeface="Calibri" panose="020F0502020204030204" pitchFamily="34" charset="0"/>
                <a:cs typeface="Times New Roman" panose="02020603050405020304" pitchFamily="18" charset="0"/>
              </a:rPr>
              <a:t>.0</a:t>
            </a:r>
            <a:endParaRPr lang="en-IN" sz="2000" spc="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4" name="TextBox 3">
            <a:extLst>
              <a:ext uri="{FF2B5EF4-FFF2-40B4-BE49-F238E27FC236}">
                <a16:creationId xmlns="" xmlns:a16="http://schemas.microsoft.com/office/drawing/2014/main" id="{7FF37A0F-8D9E-4D8C-86F3-8645EE94C70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90228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24F42FAF-7074-A3AF-8957-D541E8118C5A}"/>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53A1013D-FDCE-3AAE-381F-FE0C3678A8CE}"/>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78B93B00-BE8F-100F-FB7C-018AA25631C3}"/>
              </a:ext>
            </a:extLst>
          </p:cNvPr>
          <p:cNvSpPr>
            <a:spLocks noGrp="1"/>
          </p:cNvSpPr>
          <p:nvPr>
            <p:ph type="sldNum" sz="quarter" idx="12"/>
          </p:nvPr>
        </p:nvSpPr>
        <p:spPr/>
        <p:txBody>
          <a:bodyPr/>
          <a:lstStyle/>
          <a:p>
            <a:fld id="{69FBB93A-4B32-4007-AACF-5243CED557C7}" type="slidenum">
              <a:rPr lang="en-IN" smtClean="0"/>
              <a:t>3</a:t>
            </a:fld>
            <a:endParaRPr lang="en-IN"/>
          </a:p>
        </p:txBody>
      </p:sp>
      <p:sp>
        <p:nvSpPr>
          <p:cNvPr id="8" name="TextBox 7">
            <a:extLst>
              <a:ext uri="{FF2B5EF4-FFF2-40B4-BE49-F238E27FC236}">
                <a16:creationId xmlns="" xmlns:a16="http://schemas.microsoft.com/office/drawing/2014/main" id="{975E666D-E8DF-9B53-F045-139D56A6B3F8}"/>
              </a:ext>
            </a:extLst>
          </p:cNvPr>
          <p:cNvSpPr txBox="1"/>
          <p:nvPr/>
        </p:nvSpPr>
        <p:spPr>
          <a:xfrm>
            <a:off x="2901159" y="969738"/>
            <a:ext cx="5012247" cy="646331"/>
          </a:xfrm>
          <a:prstGeom prst="rect">
            <a:avLst/>
          </a:prstGeom>
          <a:noFill/>
        </p:spPr>
        <p:txBody>
          <a:bodyPr wrap="square">
            <a:spAutoFit/>
          </a:bodyPr>
          <a:lstStyle/>
          <a:p>
            <a:pPr marL="0" algn="ctr" rtl="0" eaLnBrk="1" latinLnBrk="0" hangingPunct="1"/>
            <a:r>
              <a:rPr lang="en-IN" sz="3600" b="1" kern="1200" dirty="0">
                <a:solidFill>
                  <a:srgbClr val="000000"/>
                </a:solidFill>
                <a:effectLst/>
                <a:latin typeface="Times New Roman" panose="02020603050405020304" pitchFamily="18" charset="0"/>
                <a:cs typeface="Times New Roman" panose="02020603050405020304" pitchFamily="18" charset="0"/>
              </a:rPr>
              <a:t>ABSTRACT</a:t>
            </a:r>
            <a:endParaRPr lang="en-IN" sz="3600" dirty="0">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E961D619-FCE5-5899-8D40-118122A580D8}"/>
              </a:ext>
            </a:extLst>
          </p:cNvPr>
          <p:cNvSpPr txBox="1"/>
          <p:nvPr/>
        </p:nvSpPr>
        <p:spPr>
          <a:xfrm>
            <a:off x="991210" y="2237469"/>
            <a:ext cx="9765070" cy="2535566"/>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Depression is a widespread psychological disorder affecting people of all ages. Early diagnosis is crucial, and EEG signals can help assess mental health. This project proposes a fully automated Depression Detection System using a novel Hybrid Neural Network, </a:t>
            </a:r>
            <a:r>
              <a:rPr lang="en-US" b="1"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which combines CNN for temporal learning and LSTM for sequence learning. EEG data from 21 depressed and 24 normal drug-free individuals were used. The system achieves </a:t>
            </a:r>
            <a:r>
              <a:rPr lang="en-US" b="1" dirty="0">
                <a:latin typeface="Times New Roman" panose="02020603050405020304" pitchFamily="18" charset="0"/>
                <a:cs typeface="Times New Roman" panose="02020603050405020304" pitchFamily="18" charset="0"/>
              </a:rPr>
              <a:t>99.10% accuracy</a:t>
            </a:r>
            <a:r>
              <a:rPr lang="en-US" dirty="0">
                <a:latin typeface="Times New Roman" panose="02020603050405020304" pitchFamily="18" charset="0"/>
                <a:cs typeface="Times New Roman" panose="02020603050405020304" pitchFamily="18" charset="0"/>
              </a:rPr>
              <a:t> and a </a:t>
            </a:r>
            <a:r>
              <a:rPr lang="en-US" b="1" dirty="0">
                <a:latin typeface="Times New Roman" panose="02020603050405020304" pitchFamily="18" charset="0"/>
                <a:cs typeface="Times New Roman" panose="02020603050405020304" pitchFamily="18" charset="0"/>
              </a:rPr>
              <a:t>MAE of 0.2040</a:t>
            </a:r>
            <a:r>
              <a:rPr lang="en-US" dirty="0">
                <a:latin typeface="Times New Roman" panose="02020603050405020304" pitchFamily="18" charset="0"/>
                <a:cs typeface="Times New Roman" panose="02020603050405020304" pitchFamily="18" charset="0"/>
              </a:rPr>
              <a:t>, offering an efficient, accurate, and low-complexity solution for EEG-based depression screening.</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 xmlns:a16="http://schemas.microsoft.com/office/drawing/2014/main"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5" name="TextBox 4">
            <a:extLst>
              <a:ext uri="{FF2B5EF4-FFF2-40B4-BE49-F238E27FC236}">
                <a16:creationId xmlns="" xmlns:a16="http://schemas.microsoft.com/office/drawing/2014/main" id="{C4F8313D-44C3-4E1B-83CA-F23C48901922}"/>
              </a:ext>
            </a:extLst>
          </p:cNvPr>
          <p:cNvSpPr txBox="1"/>
          <p:nvPr/>
        </p:nvSpPr>
        <p:spPr>
          <a:xfrm>
            <a:off x="0" y="0"/>
            <a:ext cx="3686185"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08968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74D3319C-325A-4DB9-9826-ADCD9780163B}"/>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C626E6F0-649A-EAB4-8BE0-96BACA6E66A6}"/>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13403D44-82D9-98BA-E393-75E7F7BC05E8}"/>
              </a:ext>
            </a:extLst>
          </p:cNvPr>
          <p:cNvSpPr>
            <a:spLocks noGrp="1"/>
          </p:cNvSpPr>
          <p:nvPr>
            <p:ph type="sldNum" sz="quarter" idx="12"/>
          </p:nvPr>
        </p:nvSpPr>
        <p:spPr/>
        <p:txBody>
          <a:bodyPr/>
          <a:lstStyle/>
          <a:p>
            <a:fld id="{69FBB93A-4B32-4007-AACF-5243CED557C7}" type="slidenum">
              <a:rPr lang="en-IN" smtClean="0"/>
              <a:t>4</a:t>
            </a:fld>
            <a:endParaRPr lang="en-IN"/>
          </a:p>
        </p:txBody>
      </p:sp>
      <p:sp>
        <p:nvSpPr>
          <p:cNvPr id="8" name="TextBox 7">
            <a:extLst>
              <a:ext uri="{FF2B5EF4-FFF2-40B4-BE49-F238E27FC236}">
                <a16:creationId xmlns="" xmlns:a16="http://schemas.microsoft.com/office/drawing/2014/main" id="{DDE6FE54-E1FD-EB4D-019A-773679110245}"/>
              </a:ext>
            </a:extLst>
          </p:cNvPr>
          <p:cNvSpPr txBox="1"/>
          <p:nvPr/>
        </p:nvSpPr>
        <p:spPr>
          <a:xfrm>
            <a:off x="3038608" y="563038"/>
            <a:ext cx="5574449" cy="646331"/>
          </a:xfrm>
          <a:prstGeom prst="rect">
            <a:avLst/>
          </a:prstGeom>
          <a:noFill/>
        </p:spPr>
        <p:txBody>
          <a:bodyPr wrap="square">
            <a:spAutoFit/>
          </a:bodyPr>
          <a:lstStyle/>
          <a:p>
            <a:pPr marL="0" algn="ctr" rtl="0" eaLnBrk="1" latinLnBrk="0" hangingPunct="1"/>
            <a:r>
              <a:rPr lang="en-IN" sz="3600" b="1" kern="1200" dirty="0">
                <a:solidFill>
                  <a:srgbClr val="000000"/>
                </a:solidFill>
                <a:effectLst/>
                <a:latin typeface="Times New Roman" panose="02020603050405020304" pitchFamily="18" charset="0"/>
                <a:cs typeface="Times New Roman" panose="02020603050405020304" pitchFamily="18" charset="0"/>
              </a:rPr>
              <a:t>INTRODUCTION</a:t>
            </a:r>
            <a:endParaRPr lang="en-IN" sz="3600" dirty="0">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 xmlns:a16="http://schemas.microsoft.com/office/drawing/2014/main"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14" name="TextBox 13">
            <a:extLst>
              <a:ext uri="{FF2B5EF4-FFF2-40B4-BE49-F238E27FC236}">
                <a16:creationId xmlns="" xmlns:a16="http://schemas.microsoft.com/office/drawing/2014/main" id="{6178166F-E39D-D551-86D4-1F4DD7E87047}"/>
              </a:ext>
            </a:extLst>
          </p:cNvPr>
          <p:cNvSpPr txBox="1"/>
          <p:nvPr/>
        </p:nvSpPr>
        <p:spPr>
          <a:xfrm>
            <a:off x="329738" y="1454220"/>
            <a:ext cx="6650182" cy="4202882"/>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Depression affects over 322 million people worldwide, with a higher incidence among females. Although it is a treatable condition, nearly half of the cases remain undiagnosed due to factors like limited awareness, insufficient resources, and incorrect diagnoses. EEG signals, being non-invasive and cost-effective, serve as valuable biomarkers for identifying neurological disorders, including depression. However, their complexity makes manual analysis challenging. To address this, the project proposes a hybrid LSTM-CNN model (</a:t>
            </a:r>
            <a:r>
              <a:rPr lang="en-US"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for efficient and accurate detection of depression using EEG data.</a:t>
            </a:r>
          </a:p>
        </p:txBody>
      </p:sp>
      <p:sp>
        <p:nvSpPr>
          <p:cNvPr id="5" name="TextBox 4">
            <a:extLst>
              <a:ext uri="{FF2B5EF4-FFF2-40B4-BE49-F238E27FC236}">
                <a16:creationId xmlns="" xmlns:a16="http://schemas.microsoft.com/office/drawing/2014/main" id="{2523FE7E-86E1-4E27-80F7-C880E91E634E}"/>
              </a:ext>
            </a:extLst>
          </p:cNvPr>
          <p:cNvSpPr txBox="1"/>
          <p:nvPr/>
        </p:nvSpPr>
        <p:spPr>
          <a:xfrm>
            <a:off x="0" y="33090"/>
            <a:ext cx="356955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pic>
        <p:nvPicPr>
          <p:cNvPr id="10" name="Picture 2" descr="C:\Users\chara\OneDrive\Pictures\Screenshots\Screenshot 2025-04-26 20283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9920" y="1403360"/>
            <a:ext cx="5057421" cy="4396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7847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 xmlns:a16="http://schemas.microsoft.com/office/drawing/2014/main" id="{5918D989-2A37-3891-186E-A1261B11B375}"/>
              </a:ext>
            </a:extLst>
          </p:cNvPr>
          <p:cNvSpPr>
            <a:spLocks noGrp="1"/>
          </p:cNvSpPr>
          <p:nvPr>
            <p:ph type="ftr" sz="quarter" idx="11"/>
          </p:nvPr>
        </p:nvSpPr>
        <p:spPr/>
        <p:txBody>
          <a:bodyPr/>
          <a:lstStyle/>
          <a:p>
            <a:r>
              <a:rPr lang="en-IN" smtClean="0"/>
              <a:t>2025-26</a:t>
            </a:r>
            <a:endParaRPr lang="en-IN"/>
          </a:p>
        </p:txBody>
      </p:sp>
      <p:sp>
        <p:nvSpPr>
          <p:cNvPr id="8" name="Slide Number Placeholder 7">
            <a:extLst>
              <a:ext uri="{FF2B5EF4-FFF2-40B4-BE49-F238E27FC236}">
                <a16:creationId xmlns="" xmlns:a16="http://schemas.microsoft.com/office/drawing/2014/main" id="{37EE4447-BC01-0414-8033-AFD9F83C9B8C}"/>
              </a:ext>
            </a:extLst>
          </p:cNvPr>
          <p:cNvSpPr>
            <a:spLocks noGrp="1"/>
          </p:cNvSpPr>
          <p:nvPr>
            <p:ph type="sldNum" sz="quarter" idx="12"/>
          </p:nvPr>
        </p:nvSpPr>
        <p:spPr/>
        <p:txBody>
          <a:bodyPr/>
          <a:lstStyle/>
          <a:p>
            <a:fld id="{69FBB93A-4B32-4007-AACF-5243CED557C7}" type="slidenum">
              <a:rPr lang="en-IN" smtClean="0"/>
              <a:t>5</a:t>
            </a:fld>
            <a:endParaRPr lang="en-IN"/>
          </a:p>
        </p:txBody>
      </p:sp>
      <p:sp>
        <p:nvSpPr>
          <p:cNvPr id="9" name="Date Placeholder 8">
            <a:extLst>
              <a:ext uri="{FF2B5EF4-FFF2-40B4-BE49-F238E27FC236}">
                <a16:creationId xmlns="" xmlns:a16="http://schemas.microsoft.com/office/drawing/2014/main" id="{2A11A15E-64A8-D69C-C5B5-768B49DD6E0C}"/>
              </a:ext>
            </a:extLst>
          </p:cNvPr>
          <p:cNvSpPr>
            <a:spLocks noGrp="1"/>
          </p:cNvSpPr>
          <p:nvPr>
            <p:ph type="dt" sz="half" idx="10"/>
          </p:nvPr>
        </p:nvSpPr>
        <p:spPr/>
        <p:txBody>
          <a:bodyPr/>
          <a:lstStyle/>
          <a:p>
            <a:r>
              <a:rPr lang="en-US" smtClean="0"/>
              <a:t>Dept of AI&amp;DS, SJCIT</a:t>
            </a:r>
            <a:endParaRPr lang="en-IN"/>
          </a:p>
        </p:txBody>
      </p:sp>
      <p:sp>
        <p:nvSpPr>
          <p:cNvPr id="13" name="TextBox 12">
            <a:extLst>
              <a:ext uri="{FF2B5EF4-FFF2-40B4-BE49-F238E27FC236}">
                <a16:creationId xmlns="" xmlns:a16="http://schemas.microsoft.com/office/drawing/2014/main" id="{00EA5885-70AA-13CC-CD2D-5E98D6E5F9E7}"/>
              </a:ext>
            </a:extLst>
          </p:cNvPr>
          <p:cNvSpPr txBox="1"/>
          <p:nvPr/>
        </p:nvSpPr>
        <p:spPr>
          <a:xfrm>
            <a:off x="656705" y="762537"/>
            <a:ext cx="10906298"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  PROBLEM </a:t>
            </a:r>
            <a:r>
              <a:rPr lang="en-IN" sz="3600" b="1" dirty="0" smtClean="0">
                <a:latin typeface="Times New Roman" panose="02020603050405020304" pitchFamily="18" charset="0"/>
                <a:cs typeface="Times New Roman" panose="02020603050405020304" pitchFamily="18" charset="0"/>
              </a:rPr>
              <a:t>STATEMENT</a:t>
            </a:r>
            <a:endParaRPr lang="en-IN" sz="3600" b="1"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 xmlns:a16="http://schemas.microsoft.com/office/drawing/2014/main" id="{D17B612F-A342-2C4E-759B-AE95768CF571}"/>
              </a:ext>
            </a:extLst>
          </p:cNvPr>
          <p:cNvSpPr txBox="1"/>
          <p:nvPr/>
        </p:nvSpPr>
        <p:spPr>
          <a:xfrm>
            <a:off x="1313411" y="3000895"/>
            <a:ext cx="8503920" cy="923330"/>
          </a:xfrm>
          <a:prstGeom prst="rect">
            <a:avLst/>
          </a:prstGeom>
          <a:noFill/>
        </p:spPr>
        <p:txBody>
          <a:bodyPr wrap="square" rtlCol="0">
            <a:spAutoFit/>
          </a:bodyPr>
          <a:lstStyle/>
          <a:p>
            <a:endParaRPr lang="en-IN" dirty="0"/>
          </a:p>
          <a:p>
            <a:r>
              <a:rPr lang="en-IN" dirty="0"/>
              <a:t>      </a:t>
            </a:r>
          </a:p>
          <a:p>
            <a:endParaRPr lang="en-IN" dirty="0"/>
          </a:p>
        </p:txBody>
      </p:sp>
      <p:sp>
        <p:nvSpPr>
          <p:cNvPr id="25" name="Rectangle 7">
            <a:extLst>
              <a:ext uri="{FF2B5EF4-FFF2-40B4-BE49-F238E27FC236}">
                <a16:creationId xmlns="" xmlns:a16="http://schemas.microsoft.com/office/drawing/2014/main" id="{A29F99FF-C800-ECAD-FBB2-4926E2621980}"/>
              </a:ext>
            </a:extLst>
          </p:cNvPr>
          <p:cNvSpPr>
            <a:spLocks noChangeArrowheads="1"/>
          </p:cNvSpPr>
          <p:nvPr/>
        </p:nvSpPr>
        <p:spPr bwMode="auto">
          <a:xfrm rot="10800000" flipV="1">
            <a:off x="1205343" y="1702042"/>
            <a:ext cx="9673245"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Depression is a major mental health issue affecting over 322 million people worldwide, contributing to significant emotional, social, and economic burdens. Traditional methods for diagnosing depression, such as clinical interviews and self-reported questionnaires, are subjective and time-consuming. EEG-based diagnosis provides objective insights into brain activity but is prone to human error due to the complexity of interpreting EEG signals. Thus, there is a critical need for an automated and accurate depression screening system using EEG signals.</a:t>
            </a:r>
          </a:p>
        </p:txBody>
      </p:sp>
      <p:pic>
        <p:nvPicPr>
          <p:cNvPr id="11" name="Picture 10">
            <a:extLst>
              <a:ext uri="{FF2B5EF4-FFF2-40B4-BE49-F238E27FC236}">
                <a16:creationId xmlns="" xmlns:a16="http://schemas.microsoft.com/office/drawing/2014/main" id="{61A694EC-414F-38CE-31A6-2BC1C0D09C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65485" y="252545"/>
            <a:ext cx="1581591" cy="878662"/>
          </a:xfrm>
          <a:prstGeom prst="rect">
            <a:avLst/>
          </a:prstGeom>
        </p:spPr>
      </p:pic>
      <p:sp>
        <p:nvSpPr>
          <p:cNvPr id="2" name="TextBox 1">
            <a:extLst>
              <a:ext uri="{FF2B5EF4-FFF2-40B4-BE49-F238E27FC236}">
                <a16:creationId xmlns="" xmlns:a16="http://schemas.microsoft.com/office/drawing/2014/main" id="{7CAEA77E-F05E-4F22-B8F2-6497612EF5A2}"/>
              </a:ext>
            </a:extLst>
          </p:cNvPr>
          <p:cNvSpPr txBox="1"/>
          <p:nvPr/>
        </p:nvSpPr>
        <p:spPr>
          <a:xfrm>
            <a:off x="1" y="0"/>
            <a:ext cx="3844412"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99509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5A885E2-F769-B2BD-0834-573D9F943043}"/>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47E47CC7-2159-061B-3ECA-68DBA3DC044F}"/>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E5CC646A-6732-2548-8FA2-6FB4BB0F3E1D}"/>
              </a:ext>
            </a:extLst>
          </p:cNvPr>
          <p:cNvSpPr>
            <a:spLocks noGrp="1"/>
          </p:cNvSpPr>
          <p:nvPr>
            <p:ph type="sldNum" sz="quarter" idx="12"/>
          </p:nvPr>
        </p:nvSpPr>
        <p:spPr/>
        <p:txBody>
          <a:bodyPr/>
          <a:lstStyle/>
          <a:p>
            <a:fld id="{69FBB93A-4B32-4007-AACF-5243CED557C7}" type="slidenum">
              <a:rPr lang="en-IN" smtClean="0"/>
              <a:t>6</a:t>
            </a:fld>
            <a:endParaRPr lang="en-IN"/>
          </a:p>
        </p:txBody>
      </p:sp>
      <p:sp>
        <p:nvSpPr>
          <p:cNvPr id="7" name="TextBox 6">
            <a:extLst>
              <a:ext uri="{FF2B5EF4-FFF2-40B4-BE49-F238E27FC236}">
                <a16:creationId xmlns="" xmlns:a16="http://schemas.microsoft.com/office/drawing/2014/main" id="{89DAB47E-B242-F491-0982-B07E2EEAD6BF}"/>
              </a:ext>
            </a:extLst>
          </p:cNvPr>
          <p:cNvSpPr txBox="1"/>
          <p:nvPr/>
        </p:nvSpPr>
        <p:spPr>
          <a:xfrm rot="10800000" flipV="1">
            <a:off x="3640122" y="685234"/>
            <a:ext cx="3928530"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PURPOSE</a:t>
            </a:r>
          </a:p>
        </p:txBody>
      </p:sp>
      <p:sp>
        <p:nvSpPr>
          <p:cNvPr id="9" name="TextBox 8">
            <a:extLst>
              <a:ext uri="{FF2B5EF4-FFF2-40B4-BE49-F238E27FC236}">
                <a16:creationId xmlns="" xmlns:a16="http://schemas.microsoft.com/office/drawing/2014/main" id="{B2D0A993-6F5F-70D0-E1E2-EFC69365F94B}"/>
              </a:ext>
            </a:extLst>
          </p:cNvPr>
          <p:cNvSpPr txBox="1"/>
          <p:nvPr/>
        </p:nvSpPr>
        <p:spPr>
          <a:xfrm>
            <a:off x="1027143" y="2325985"/>
            <a:ext cx="10048568" cy="2345322"/>
          </a:xfrm>
          <a:prstGeom prst="rect">
            <a:avLst/>
          </a:prstGeom>
          <a:noFill/>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A fully automated, intelligent screening system is proposed for detecting depression using electroencephalogram (EEG) signals. By leveraging a hybrid deep learning architecture that combines Convolutional Neural Networks (CNN) and Long Short-Term Memory (LSTM) networks, the system enhances diagnostic accuracy while minimizing human intervention and computational overhead.</a:t>
            </a:r>
          </a:p>
        </p:txBody>
      </p:sp>
      <p:pic>
        <p:nvPicPr>
          <p:cNvPr id="8" name="Picture 7">
            <a:extLst>
              <a:ext uri="{FF2B5EF4-FFF2-40B4-BE49-F238E27FC236}">
                <a16:creationId xmlns="" xmlns:a16="http://schemas.microsoft.com/office/drawing/2014/main"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5" name="TextBox 4">
            <a:extLst>
              <a:ext uri="{FF2B5EF4-FFF2-40B4-BE49-F238E27FC236}">
                <a16:creationId xmlns="" xmlns:a16="http://schemas.microsoft.com/office/drawing/2014/main" id="{1B66EC97-494E-45F6-8B58-16ACF435F052}"/>
              </a:ext>
            </a:extLst>
          </p:cNvPr>
          <p:cNvSpPr txBox="1"/>
          <p:nvPr/>
        </p:nvSpPr>
        <p:spPr>
          <a:xfrm>
            <a:off x="0" y="0"/>
            <a:ext cx="356955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02394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CB63CA5-9F8A-1D96-4697-615FD3BB0203}"/>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7B3B4DAE-8D90-76D5-9A6A-7C4004839BA3}"/>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37244CE2-6795-A403-F530-A9F1CE14F125}"/>
              </a:ext>
            </a:extLst>
          </p:cNvPr>
          <p:cNvSpPr>
            <a:spLocks noGrp="1"/>
          </p:cNvSpPr>
          <p:nvPr>
            <p:ph type="sldNum" sz="quarter" idx="12"/>
          </p:nvPr>
        </p:nvSpPr>
        <p:spPr/>
        <p:txBody>
          <a:bodyPr/>
          <a:lstStyle/>
          <a:p>
            <a:fld id="{69FBB93A-4B32-4007-AACF-5243CED557C7}" type="slidenum">
              <a:rPr lang="en-IN" smtClean="0"/>
              <a:t>7</a:t>
            </a:fld>
            <a:endParaRPr lang="en-IN"/>
          </a:p>
        </p:txBody>
      </p:sp>
      <p:sp>
        <p:nvSpPr>
          <p:cNvPr id="12" name="TextBox 11">
            <a:extLst>
              <a:ext uri="{FF2B5EF4-FFF2-40B4-BE49-F238E27FC236}">
                <a16:creationId xmlns="" xmlns:a16="http://schemas.microsoft.com/office/drawing/2014/main" id="{8E94CEBF-2601-75FD-469E-F7C5DEF682EA}"/>
              </a:ext>
            </a:extLst>
          </p:cNvPr>
          <p:cNvSpPr txBox="1"/>
          <p:nvPr/>
        </p:nvSpPr>
        <p:spPr>
          <a:xfrm>
            <a:off x="2576052" y="481781"/>
            <a:ext cx="6567948"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SCOPE</a:t>
            </a:r>
          </a:p>
        </p:txBody>
      </p:sp>
      <p:sp>
        <p:nvSpPr>
          <p:cNvPr id="14" name="TextBox 13">
            <a:extLst>
              <a:ext uri="{FF2B5EF4-FFF2-40B4-BE49-F238E27FC236}">
                <a16:creationId xmlns="" xmlns:a16="http://schemas.microsoft.com/office/drawing/2014/main" id="{3CE94671-763C-613B-0D35-E5EBD74F6A7A}"/>
              </a:ext>
            </a:extLst>
          </p:cNvPr>
          <p:cNvSpPr txBox="1"/>
          <p:nvPr/>
        </p:nvSpPr>
        <p:spPr>
          <a:xfrm>
            <a:off x="1097607" y="2230283"/>
            <a:ext cx="9832259" cy="2345322"/>
          </a:xfrm>
          <a:prstGeom prst="rect">
            <a:avLst/>
          </a:prstGeom>
          <a:noFill/>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system focuses on the development of a deep learning-based diagnostic tool that utilizes EEG signals for the automated identification of depressive disorders. It covers the entire pipeline—from signal acquisition and preprocessing to model training, evaluation, and integration into a deployable framework suitable for clinical environments or mental health screening platforms.</a:t>
            </a:r>
          </a:p>
        </p:txBody>
      </p:sp>
      <p:pic>
        <p:nvPicPr>
          <p:cNvPr id="8" name="Picture 7">
            <a:extLst>
              <a:ext uri="{FF2B5EF4-FFF2-40B4-BE49-F238E27FC236}">
                <a16:creationId xmlns="" xmlns:a16="http://schemas.microsoft.com/office/drawing/2014/main"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5" name="TextBox 4">
            <a:extLst>
              <a:ext uri="{FF2B5EF4-FFF2-40B4-BE49-F238E27FC236}">
                <a16:creationId xmlns="" xmlns:a16="http://schemas.microsoft.com/office/drawing/2014/main" id="{0E7142C9-0705-443F-B599-F8505D27EDA2}"/>
              </a:ext>
            </a:extLst>
          </p:cNvPr>
          <p:cNvSpPr txBox="1"/>
          <p:nvPr/>
        </p:nvSpPr>
        <p:spPr>
          <a:xfrm>
            <a:off x="0" y="0"/>
            <a:ext cx="431636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22629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Dept of AI&amp;DS, SJCIT</a:t>
            </a:r>
            <a:endParaRPr lang="en-IN"/>
          </a:p>
        </p:txBody>
      </p:sp>
      <p:sp>
        <p:nvSpPr>
          <p:cNvPr id="3" name="Footer Placeholder 2"/>
          <p:cNvSpPr>
            <a:spLocks noGrp="1"/>
          </p:cNvSpPr>
          <p:nvPr>
            <p:ph type="ftr" sz="quarter" idx="11"/>
          </p:nvPr>
        </p:nvSpPr>
        <p:spPr/>
        <p:txBody>
          <a:bodyPr/>
          <a:lstStyle/>
          <a:p>
            <a:r>
              <a:rPr lang="en-IN" smtClean="0"/>
              <a:t>2025-26</a:t>
            </a:r>
            <a:endParaRPr lang="en-IN"/>
          </a:p>
        </p:txBody>
      </p:sp>
      <p:sp>
        <p:nvSpPr>
          <p:cNvPr id="4" name="Slide Number Placeholder 3"/>
          <p:cNvSpPr>
            <a:spLocks noGrp="1"/>
          </p:cNvSpPr>
          <p:nvPr>
            <p:ph type="sldNum" sz="quarter" idx="12"/>
          </p:nvPr>
        </p:nvSpPr>
        <p:spPr/>
        <p:txBody>
          <a:bodyPr/>
          <a:lstStyle/>
          <a:p>
            <a:fld id="{69FBB93A-4B32-4007-AACF-5243CED557C7}" type="slidenum">
              <a:rPr lang="en-IN" smtClean="0"/>
              <a:t>8</a:t>
            </a:fld>
            <a:endParaRPr lang="en-IN"/>
          </a:p>
        </p:txBody>
      </p:sp>
      <p:sp>
        <p:nvSpPr>
          <p:cNvPr id="5" name="Rectangle 4"/>
          <p:cNvSpPr/>
          <p:nvPr/>
        </p:nvSpPr>
        <p:spPr>
          <a:xfrm>
            <a:off x="3858148" y="743763"/>
            <a:ext cx="3983783" cy="584775"/>
          </a:xfrm>
          <a:prstGeom prst="rect">
            <a:avLst/>
          </a:prstGeom>
        </p:spPr>
        <p:txBody>
          <a:bodyPr wrap="none">
            <a:spAutoFit/>
          </a:bodyPr>
          <a:lstStyle/>
          <a:p>
            <a:pPr algn="ctr"/>
            <a:r>
              <a:rPr lang="en-IN" sz="3200" b="1" dirty="0">
                <a:latin typeface="Times New Roman" panose="02020603050405020304" pitchFamily="18" charset="0"/>
                <a:cs typeface="Times New Roman" panose="02020603050405020304" pitchFamily="18" charset="0"/>
              </a:rPr>
              <a:t>EXISTING SYSTEM</a:t>
            </a:r>
            <a:endParaRPr lang="en-IN" sz="3200" dirty="0">
              <a:latin typeface="Times New Roman" panose="02020603050405020304" pitchFamily="18" charset="0"/>
              <a:cs typeface="Times New Roman" panose="02020603050405020304" pitchFamily="18" charset="0"/>
            </a:endParaRPr>
          </a:p>
        </p:txBody>
      </p:sp>
      <p:sp>
        <p:nvSpPr>
          <p:cNvPr id="6" name="Rectangle 5"/>
          <p:cNvSpPr/>
          <p:nvPr/>
        </p:nvSpPr>
        <p:spPr>
          <a:xfrm>
            <a:off x="1341120" y="2136339"/>
            <a:ext cx="9530080" cy="2806987"/>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Earlier EEG-based depression detection systems used manual feature extraction with classifiers like SVM and PNN, achieving up to 98% accuracy but were time-consuming. Deep learning models like CNN (93.5%) and CNN-LSTM (97.66%) automated feature learning. The proposed </a:t>
            </a:r>
            <a:r>
              <a:rPr lang="en-US" sz="2000" b="1" dirty="0" err="1">
                <a:latin typeface="Times New Roman" panose="02020603050405020304" pitchFamily="18" charset="0"/>
                <a:cs typeface="Times New Roman" panose="02020603050405020304" pitchFamily="18" charset="0"/>
              </a:rPr>
              <a:t>DepHNN</a:t>
            </a:r>
            <a:r>
              <a:rPr lang="en-US" sz="2000" dirty="0">
                <a:latin typeface="Times New Roman" panose="02020603050405020304" pitchFamily="18" charset="0"/>
                <a:cs typeface="Times New Roman" panose="02020603050405020304" pitchFamily="18" charset="0"/>
              </a:rPr>
              <a:t> combines CNN and LSTM to learn both temporal and sequential EEG patterns. Using techniques like </a:t>
            </a:r>
            <a:r>
              <a:rPr lang="en-US" sz="2000" dirty="0" err="1">
                <a:latin typeface="Times New Roman" panose="02020603050405020304" pitchFamily="18" charset="0"/>
                <a:cs typeface="Times New Roman" panose="02020603050405020304" pitchFamily="18" charset="0"/>
              </a:rPr>
              <a:t>ReLU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softmax</a:t>
            </a:r>
            <a:r>
              <a:rPr lang="en-US" sz="2000" dirty="0">
                <a:latin typeface="Times New Roman" panose="02020603050405020304" pitchFamily="18" charset="0"/>
                <a:cs typeface="Times New Roman" panose="02020603050405020304" pitchFamily="18" charset="0"/>
              </a:rPr>
              <a:t>, windowing, and Adam optimizer, it achieved </a:t>
            </a:r>
            <a:r>
              <a:rPr lang="en-US" sz="2000" b="1" dirty="0">
                <a:latin typeface="Times New Roman" panose="02020603050405020304" pitchFamily="18" charset="0"/>
                <a:cs typeface="Times New Roman" panose="02020603050405020304" pitchFamily="18" charset="0"/>
              </a:rPr>
              <a:t>99.1% accuracy</a:t>
            </a:r>
            <a:r>
              <a:rPr lang="en-US" sz="2000" dirty="0">
                <a:latin typeface="Times New Roman" panose="02020603050405020304" pitchFamily="18" charset="0"/>
                <a:cs typeface="Times New Roman" panose="02020603050405020304" pitchFamily="18" charset="0"/>
              </a:rPr>
              <a:t> with low computational complexity.</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 xmlns:a16="http://schemas.microsoft.com/office/drawing/2014/main" id="{61A694EC-414F-38CE-31A6-2BC1C0D09C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Tree>
    <p:extLst>
      <p:ext uri="{BB962C8B-B14F-4D97-AF65-F5344CB8AC3E}">
        <p14:creationId xmlns:p14="http://schemas.microsoft.com/office/powerpoint/2010/main" val="803525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EE23AC8-AD50-B9D0-F3A7-DA14ED8F56AA}"/>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6722F96B-0AF2-C4BF-C6CF-C3C6BFE893EE}"/>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C0946E3F-7015-5A34-EE9D-8F3DA73E66F2}"/>
              </a:ext>
            </a:extLst>
          </p:cNvPr>
          <p:cNvSpPr>
            <a:spLocks noGrp="1"/>
          </p:cNvSpPr>
          <p:nvPr>
            <p:ph type="sldNum" sz="quarter" idx="12"/>
          </p:nvPr>
        </p:nvSpPr>
        <p:spPr/>
        <p:txBody>
          <a:bodyPr/>
          <a:lstStyle/>
          <a:p>
            <a:fld id="{69FBB93A-4B32-4007-AACF-5243CED557C7}" type="slidenum">
              <a:rPr lang="en-IN" smtClean="0"/>
              <a:t>9</a:t>
            </a:fld>
            <a:endParaRPr lang="en-IN"/>
          </a:p>
        </p:txBody>
      </p:sp>
      <p:sp>
        <p:nvSpPr>
          <p:cNvPr id="8" name="TextBox 7">
            <a:extLst>
              <a:ext uri="{FF2B5EF4-FFF2-40B4-BE49-F238E27FC236}">
                <a16:creationId xmlns="" xmlns:a16="http://schemas.microsoft.com/office/drawing/2014/main" id="{95C4F984-6235-939E-8A41-4D7847F821AD}"/>
              </a:ext>
            </a:extLst>
          </p:cNvPr>
          <p:cNvSpPr txBox="1"/>
          <p:nvPr/>
        </p:nvSpPr>
        <p:spPr>
          <a:xfrm>
            <a:off x="2536723" y="530094"/>
            <a:ext cx="6096000" cy="646331"/>
          </a:xfrm>
          <a:prstGeom prst="rect">
            <a:avLst/>
          </a:prstGeom>
          <a:noFill/>
        </p:spPr>
        <p:txBody>
          <a:bodyPr wrap="square">
            <a:spAutoFit/>
          </a:bodyPr>
          <a:lstStyle/>
          <a:p>
            <a:pPr marL="0" algn="ctr" rtl="0" eaLnBrk="1" latinLnBrk="0" hangingPunct="1"/>
            <a:r>
              <a:rPr lang="en-IN" sz="3600" b="1" dirty="0">
                <a:effectLst/>
                <a:latin typeface="Times New Roman" panose="02020603050405020304" pitchFamily="18" charset="0"/>
                <a:cs typeface="Times New Roman" panose="02020603050405020304" pitchFamily="18" charset="0"/>
              </a:rPr>
              <a:t>LITERATURE SURVEY</a:t>
            </a:r>
          </a:p>
        </p:txBody>
      </p:sp>
      <p:pic>
        <p:nvPicPr>
          <p:cNvPr id="9" name="Picture 8">
            <a:extLst>
              <a:ext uri="{FF2B5EF4-FFF2-40B4-BE49-F238E27FC236}">
                <a16:creationId xmlns="" xmlns:a16="http://schemas.microsoft.com/office/drawing/2014/main" id="{61A694EC-414F-38CE-31A6-2BC1C0D09C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4081193254"/>
              </p:ext>
            </p:extLst>
          </p:nvPr>
        </p:nvGraphicFramePr>
        <p:xfrm>
          <a:off x="168041" y="1435509"/>
          <a:ext cx="11838800" cy="4700593"/>
        </p:xfrm>
        <a:graphic>
          <a:graphicData uri="http://schemas.openxmlformats.org/drawingml/2006/table">
            <a:tbl>
              <a:tblPr firstRow="1" firstCol="1" bandRow="1">
                <a:tableStyleId>{5C22544A-7EE6-4342-B048-85BDC9FD1C3A}</a:tableStyleId>
              </a:tblPr>
              <a:tblGrid>
                <a:gridCol w="1332941">
                  <a:extLst>
                    <a:ext uri="{9D8B030D-6E8A-4147-A177-3AD203B41FA5}">
                      <a16:colId xmlns="" xmlns:a16="http://schemas.microsoft.com/office/drawing/2014/main" val="20000"/>
                    </a:ext>
                  </a:extLst>
                </a:gridCol>
                <a:gridCol w="2754824">
                  <a:extLst>
                    <a:ext uri="{9D8B030D-6E8A-4147-A177-3AD203B41FA5}">
                      <a16:colId xmlns="" xmlns:a16="http://schemas.microsoft.com/office/drawing/2014/main" val="20001"/>
                    </a:ext>
                  </a:extLst>
                </a:gridCol>
                <a:gridCol w="2615013">
                  <a:extLst>
                    <a:ext uri="{9D8B030D-6E8A-4147-A177-3AD203B41FA5}">
                      <a16:colId xmlns="" xmlns:a16="http://schemas.microsoft.com/office/drawing/2014/main" val="20002"/>
                    </a:ext>
                  </a:extLst>
                </a:gridCol>
                <a:gridCol w="2640650">
                  <a:extLst>
                    <a:ext uri="{9D8B030D-6E8A-4147-A177-3AD203B41FA5}">
                      <a16:colId xmlns="" xmlns:a16="http://schemas.microsoft.com/office/drawing/2014/main" val="20003"/>
                    </a:ext>
                  </a:extLst>
                </a:gridCol>
                <a:gridCol w="2495372">
                  <a:extLst>
                    <a:ext uri="{9D8B030D-6E8A-4147-A177-3AD203B41FA5}">
                      <a16:colId xmlns="" xmlns:a16="http://schemas.microsoft.com/office/drawing/2014/main" val="20004"/>
                    </a:ext>
                  </a:extLst>
                </a:gridCol>
              </a:tblGrid>
              <a:tr h="441270">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Author(s)</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a:effectLst/>
                          <a:latin typeface="Times New Roman" panose="02020603050405020304" pitchFamily="18" charset="0"/>
                          <a:cs typeface="Times New Roman" panose="02020603050405020304" pitchFamily="18" charset="0"/>
                        </a:rPr>
                        <a:t>Research Paper Title</a:t>
                      </a:r>
                      <a:endParaRPr lang="en-IN" sz="140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a:effectLst/>
                          <a:latin typeface="Times New Roman" panose="02020603050405020304" pitchFamily="18" charset="0"/>
                          <a:cs typeface="Times New Roman" panose="02020603050405020304" pitchFamily="18" charset="0"/>
                        </a:rPr>
                        <a:t>Advantages</a:t>
                      </a:r>
                      <a:endParaRPr lang="en-IN" sz="140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a:effectLst/>
                          <a:latin typeface="Times New Roman" panose="02020603050405020304" pitchFamily="18" charset="0"/>
                          <a:cs typeface="Times New Roman" panose="02020603050405020304" pitchFamily="18" charset="0"/>
                        </a:rPr>
                        <a:t>Disadvantages</a:t>
                      </a:r>
                      <a:endParaRPr lang="en-IN" sz="140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Implementation in Project</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extLst>
                  <a:ext uri="{0D108BD9-81ED-4DB2-BD59-A6C34878D82A}">
                    <a16:rowId xmlns="" xmlns:a16="http://schemas.microsoft.com/office/drawing/2014/main" val="10000"/>
                  </a:ext>
                </a:extLst>
              </a:tr>
              <a:tr h="842070">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A. Seal </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err="1">
                          <a:effectLst/>
                          <a:latin typeface="Times New Roman" panose="02020603050405020304" pitchFamily="18" charset="0"/>
                          <a:cs typeface="Times New Roman" panose="02020603050405020304" pitchFamily="18" charset="0"/>
                        </a:rPr>
                        <a:t>DeprNet</a:t>
                      </a:r>
                      <a:r>
                        <a:rPr lang="en-US" sz="1400" dirty="0">
                          <a:effectLst/>
                          <a:latin typeface="Times New Roman" panose="02020603050405020304" pitchFamily="18" charset="0"/>
                          <a:cs typeface="Times New Roman" panose="02020603050405020304" pitchFamily="18" charset="0"/>
                        </a:rPr>
                        <a:t>: A Deep Convolution Neural Network Framework for Detecting Depression Using EEG</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a:effectLst/>
                          <a:latin typeface="Times New Roman" panose="02020603050405020304" pitchFamily="18" charset="0"/>
                          <a:cs typeface="Times New Roman" panose="02020603050405020304" pitchFamily="18" charset="0"/>
                        </a:rPr>
                        <a:t>High accuracy with CNNs; Effective feature extraction</a:t>
                      </a:r>
                      <a:endParaRPr lang="en-IN" sz="140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a:effectLst/>
                          <a:latin typeface="Times New Roman" panose="02020603050405020304" pitchFamily="18" charset="0"/>
                          <a:cs typeface="Times New Roman" panose="02020603050405020304" pitchFamily="18" charset="0"/>
                        </a:rPr>
                        <a:t>High model complexity; requires large training data</a:t>
                      </a:r>
                      <a:endParaRPr lang="en-IN" sz="140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smtClean="0">
                          <a:effectLst/>
                          <a:latin typeface="Times New Roman" panose="02020603050405020304" pitchFamily="18" charset="0"/>
                          <a:cs typeface="Times New Roman" panose="02020603050405020304" pitchFamily="18" charset="0"/>
                        </a:rPr>
                        <a:t>CNN-based </a:t>
                      </a:r>
                      <a:r>
                        <a:rPr lang="en-US" sz="1400" dirty="0">
                          <a:effectLst/>
                          <a:latin typeface="Times New Roman" panose="02020603050405020304" pitchFamily="18" charset="0"/>
                          <a:cs typeface="Times New Roman" panose="02020603050405020304" pitchFamily="18" charset="0"/>
                        </a:rPr>
                        <a:t>feature extraction in </a:t>
                      </a:r>
                      <a:r>
                        <a:rPr lang="en-US" sz="1400" dirty="0" err="1">
                          <a:effectLst/>
                          <a:latin typeface="Times New Roman" panose="02020603050405020304" pitchFamily="18" charset="0"/>
                          <a:cs typeface="Times New Roman" panose="02020603050405020304" pitchFamily="18" charset="0"/>
                        </a:rPr>
                        <a:t>DepHNN</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extLst>
                  <a:ext uri="{0D108BD9-81ED-4DB2-BD59-A6C34878D82A}">
                    <a16:rowId xmlns="" xmlns:a16="http://schemas.microsoft.com/office/drawing/2014/main" val="10001"/>
                  </a:ext>
                </a:extLst>
              </a:tr>
              <a:tr h="879971">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Z. Wan </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err="1">
                          <a:effectLst/>
                          <a:latin typeface="Times New Roman" panose="02020603050405020304" pitchFamily="18" charset="0"/>
                          <a:cs typeface="Times New Roman" panose="02020603050405020304" pitchFamily="18" charset="0"/>
                        </a:rPr>
                        <a:t>HybridEEGNet</a:t>
                      </a:r>
                      <a:r>
                        <a:rPr lang="en-US" sz="1400" dirty="0">
                          <a:effectLst/>
                          <a:latin typeface="Times New Roman" panose="02020603050405020304" pitchFamily="18" charset="0"/>
                          <a:cs typeface="Times New Roman" panose="02020603050405020304" pitchFamily="18" charset="0"/>
                        </a:rPr>
                        <a:t>: A Convolutional Neural Network for EEG Feature Learning and Depression Discrimination</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CNN efficiently learns complex EEG features; Good generalization</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Needs optimization for small datasets</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Supports the hybrid model concept (CNN + sequence learning)</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extLst>
                  <a:ext uri="{0D108BD9-81ED-4DB2-BD59-A6C34878D82A}">
                    <a16:rowId xmlns="" xmlns:a16="http://schemas.microsoft.com/office/drawing/2014/main" val="10002"/>
                  </a:ext>
                </a:extLst>
              </a:tr>
              <a:tr h="1005681">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S. Sun</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EEG-Based Depression Recognition by Combining Functional Brain Network and Traditional Biomarkers</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Enhances detection with connectivity features</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Moderate performance; complex preprocessing needed</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Highlights combination of local and global feature learning</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extLst>
                  <a:ext uri="{0D108BD9-81ED-4DB2-BD59-A6C34878D82A}">
                    <a16:rowId xmlns="" xmlns:a16="http://schemas.microsoft.com/office/drawing/2014/main" val="10003"/>
                  </a:ext>
                </a:extLst>
              </a:tr>
              <a:tr h="1430116">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A. </a:t>
                      </a:r>
                      <a:r>
                        <a:rPr lang="en-US" sz="1400" dirty="0" err="1">
                          <a:effectLst/>
                          <a:latin typeface="Times New Roman" panose="02020603050405020304" pitchFamily="18" charset="0"/>
                          <a:cs typeface="Times New Roman" panose="02020603050405020304" pitchFamily="18" charset="0"/>
                        </a:rPr>
                        <a:t>Sekhar</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Performance Evaluation of LSTM Models in Detection of Depression from EEG Signals</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LSTM captures sequential dependencies effectively</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Needs careful tuning; high computational load</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nSpc>
                          <a:spcPct val="115000"/>
                        </a:lnSpc>
                        <a:spcAft>
                          <a:spcPts val="1000"/>
                        </a:spcAft>
                      </a:pPr>
                      <a:r>
                        <a:rPr lang="en-US" sz="1400" dirty="0">
                          <a:effectLst/>
                          <a:latin typeface="Times New Roman" panose="02020603050405020304" pitchFamily="18" charset="0"/>
                          <a:cs typeface="Times New Roman" panose="02020603050405020304" pitchFamily="18" charset="0"/>
                        </a:rPr>
                        <a:t>Justifies the use of LSTM layers in </a:t>
                      </a:r>
                      <a:r>
                        <a:rPr lang="en-US" sz="1400" dirty="0" err="1">
                          <a:effectLst/>
                          <a:latin typeface="Times New Roman" panose="02020603050405020304" pitchFamily="18" charset="0"/>
                          <a:cs typeface="Times New Roman" panose="02020603050405020304" pitchFamily="18" charset="0"/>
                        </a:rPr>
                        <a:t>DepHNN</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extLst>
                  <a:ext uri="{0D108BD9-81ED-4DB2-BD59-A6C34878D82A}">
                    <a16:rowId xmlns="" xmlns:a16="http://schemas.microsoft.com/office/drawing/2014/main" val="10004"/>
                  </a:ext>
                </a:extLst>
              </a:tr>
            </a:tbl>
          </a:graphicData>
        </a:graphic>
      </p:graphicFrame>
      <p:sp>
        <p:nvSpPr>
          <p:cNvPr id="5" name="TextBox 4">
            <a:extLst>
              <a:ext uri="{FF2B5EF4-FFF2-40B4-BE49-F238E27FC236}">
                <a16:creationId xmlns="" xmlns:a16="http://schemas.microsoft.com/office/drawing/2014/main" id="{60B7D459-83B6-440F-8203-1539592A95F3}"/>
              </a:ext>
            </a:extLst>
          </p:cNvPr>
          <p:cNvSpPr txBox="1"/>
          <p:nvPr/>
        </p:nvSpPr>
        <p:spPr>
          <a:xfrm>
            <a:off x="0" y="0"/>
            <a:ext cx="356955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16778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BDADCB0-A099-B582-1137-FA1C47A0282C}"/>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FC233631-9FDC-BFB9-8150-91A4027A8D83}"/>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799D1F12-EC76-A76D-758B-CC1F6B9FA89D}"/>
              </a:ext>
            </a:extLst>
          </p:cNvPr>
          <p:cNvSpPr>
            <a:spLocks noGrp="1"/>
          </p:cNvSpPr>
          <p:nvPr>
            <p:ph type="sldNum" sz="quarter" idx="12"/>
          </p:nvPr>
        </p:nvSpPr>
        <p:spPr/>
        <p:txBody>
          <a:bodyPr/>
          <a:lstStyle/>
          <a:p>
            <a:fld id="{69FBB93A-4B32-4007-AACF-5243CED557C7}" type="slidenum">
              <a:rPr lang="en-IN" smtClean="0"/>
              <a:t>10</a:t>
            </a:fld>
            <a:endParaRPr lang="en-IN"/>
          </a:p>
        </p:txBody>
      </p:sp>
      <p:pic>
        <p:nvPicPr>
          <p:cNvPr id="6" name="Picture 5">
            <a:extLst>
              <a:ext uri="{FF2B5EF4-FFF2-40B4-BE49-F238E27FC236}">
                <a16:creationId xmlns="" xmlns:a16="http://schemas.microsoft.com/office/drawing/2014/main" id="{C7786693-0731-113F-4BEF-D15C1F08EB04}"/>
              </a:ext>
            </a:extLst>
          </p:cNvPr>
          <p:cNvPicPr>
            <a:picLocks noChangeAspect="1"/>
          </p:cNvPicPr>
          <p:nvPr/>
        </p:nvPicPr>
        <p:blipFill>
          <a:blip r:embed="rId2"/>
          <a:stretch>
            <a:fillRect/>
          </a:stretch>
        </p:blipFill>
        <p:spPr>
          <a:xfrm>
            <a:off x="10421908" y="178824"/>
            <a:ext cx="1581150" cy="876300"/>
          </a:xfrm>
          <a:prstGeom prst="rect">
            <a:avLst/>
          </a:prstGeom>
        </p:spPr>
      </p:pic>
      <p:sp>
        <p:nvSpPr>
          <p:cNvPr id="8" name="TextBox 7">
            <a:extLst>
              <a:ext uri="{FF2B5EF4-FFF2-40B4-BE49-F238E27FC236}">
                <a16:creationId xmlns="" xmlns:a16="http://schemas.microsoft.com/office/drawing/2014/main" id="{BBEF25EC-3A9D-36BC-3947-8E6CF459E3ED}"/>
              </a:ext>
            </a:extLst>
          </p:cNvPr>
          <p:cNvSpPr txBox="1"/>
          <p:nvPr/>
        </p:nvSpPr>
        <p:spPr>
          <a:xfrm rot="10800000" flipV="1">
            <a:off x="2733368" y="962791"/>
            <a:ext cx="6046838" cy="646331"/>
          </a:xfrm>
          <a:prstGeom prst="rect">
            <a:avLst/>
          </a:prstGeom>
          <a:noFill/>
        </p:spPr>
        <p:txBody>
          <a:bodyPr wrap="square">
            <a:spAutoFit/>
          </a:bodyPr>
          <a:lstStyle/>
          <a:p>
            <a:pPr marL="0" algn="ctr" rtl="0" eaLnBrk="1" latinLnBrk="0" hangingPunct="1"/>
            <a:r>
              <a:rPr lang="en-US" sz="3600" b="1" spc="-1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PROPOSED SYSTEM</a:t>
            </a:r>
            <a:endParaRPr lang="en-IN" sz="3600" dirty="0">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 xmlns:a16="http://schemas.microsoft.com/office/drawing/2014/main" id="{B933E1D4-100F-E382-8721-D1AB1445B17A}"/>
              </a:ext>
            </a:extLst>
          </p:cNvPr>
          <p:cNvSpPr txBox="1"/>
          <p:nvPr/>
        </p:nvSpPr>
        <p:spPr>
          <a:xfrm>
            <a:off x="1838359" y="1863800"/>
            <a:ext cx="9662761" cy="1754326"/>
          </a:xfrm>
          <a:prstGeom prst="rect">
            <a:avLst/>
          </a:prstGeom>
          <a:noFill/>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Objective</a:t>
            </a:r>
            <a:r>
              <a:rPr lang="en-IN" dirty="0">
                <a:latin typeface="Times New Roman" panose="02020603050405020304" pitchFamily="18" charset="0"/>
                <a:cs typeface="Times New Roman" panose="02020603050405020304" pitchFamily="18" charset="0"/>
              </a:rPr>
              <a:t>: Early and accurate detection of depression using EEG signals.</a:t>
            </a:r>
          </a:p>
          <a:p>
            <a:pPr algn="just">
              <a:lnSpc>
                <a:spcPct val="150000"/>
              </a:lnSpc>
            </a:pPr>
            <a:r>
              <a:rPr lang="en-IN" b="1" dirty="0">
                <a:latin typeface="Times New Roman" panose="02020603050405020304" pitchFamily="18" charset="0"/>
                <a:cs typeface="Times New Roman" panose="02020603050405020304" pitchFamily="18" charset="0"/>
              </a:rPr>
              <a:t>System</a:t>
            </a:r>
            <a:r>
              <a:rPr lang="en-IN" dirty="0">
                <a:latin typeface="Times New Roman" panose="02020603050405020304" pitchFamily="18" charset="0"/>
                <a:cs typeface="Times New Roman" panose="02020603050405020304" pitchFamily="18" charset="0"/>
              </a:rPr>
              <a:t>: Fully automated Computer-Aided Diagnosis (CAD) system using deep learning.</a:t>
            </a:r>
          </a:p>
          <a:p>
            <a:pPr algn="just">
              <a:lnSpc>
                <a:spcPct val="150000"/>
              </a:lnSpc>
            </a:pPr>
            <a:r>
              <a:rPr lang="en-IN" b="1" dirty="0">
                <a:latin typeface="Times New Roman" panose="02020603050405020304" pitchFamily="18" charset="0"/>
                <a:cs typeface="Times New Roman" panose="02020603050405020304" pitchFamily="18" charset="0"/>
              </a:rPr>
              <a:t>Innovation</a:t>
            </a:r>
            <a:r>
              <a:rPr lang="en-IN" dirty="0">
                <a:latin typeface="Times New Roman" panose="02020603050405020304" pitchFamily="18" charset="0"/>
                <a:cs typeface="Times New Roman" panose="02020603050405020304" pitchFamily="18" charset="0"/>
              </a:rPr>
              <a:t>: Combines CNN for temporal feature extraction and LSTM for sequence learning.</a:t>
            </a:r>
          </a:p>
          <a:p>
            <a:pPr algn="just">
              <a:lnSpc>
                <a:spcPct val="150000"/>
              </a:lnSpc>
            </a:pPr>
            <a:r>
              <a:rPr lang="en-IN" b="1" dirty="0">
                <a:latin typeface="Times New Roman" panose="02020603050405020304" pitchFamily="18" charset="0"/>
                <a:cs typeface="Times New Roman" panose="02020603050405020304" pitchFamily="18" charset="0"/>
              </a:rPr>
              <a:t>Input</a:t>
            </a:r>
            <a:r>
              <a:rPr lang="en-IN" dirty="0">
                <a:latin typeface="Times New Roman" panose="02020603050405020304" pitchFamily="18" charset="0"/>
                <a:cs typeface="Times New Roman" panose="02020603050405020304" pitchFamily="18" charset="0"/>
              </a:rPr>
              <a:t>: EEG signals from normal and depressed subjects.</a:t>
            </a:r>
          </a:p>
        </p:txBody>
      </p:sp>
      <p:sp>
        <p:nvSpPr>
          <p:cNvPr id="5" name="TextBox 4">
            <a:extLst>
              <a:ext uri="{FF2B5EF4-FFF2-40B4-BE49-F238E27FC236}">
                <a16:creationId xmlns="" xmlns:a16="http://schemas.microsoft.com/office/drawing/2014/main" id="{55CFA50F-2619-4A2C-819E-6F6CA2CECF95}"/>
              </a:ext>
            </a:extLst>
          </p:cNvPr>
          <p:cNvSpPr txBox="1"/>
          <p:nvPr/>
        </p:nvSpPr>
        <p:spPr>
          <a:xfrm>
            <a:off x="0" y="29143"/>
            <a:ext cx="3795251"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88755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 xmlns:a16="http://schemas.microsoft.com/office/drawing/2014/main" id="{E2E89DF8-AD27-E7AB-7EB6-D993AD1DD4BD}"/>
              </a:ext>
            </a:extLst>
          </p:cNvPr>
          <p:cNvSpPr>
            <a:spLocks noGrp="1"/>
          </p:cNvSpPr>
          <p:nvPr>
            <p:ph type="ftr" sz="quarter" idx="11"/>
          </p:nvPr>
        </p:nvSpPr>
        <p:spPr/>
        <p:txBody>
          <a:bodyPr/>
          <a:lstStyle/>
          <a:p>
            <a:r>
              <a:rPr lang="en-IN" smtClean="0"/>
              <a:t>2025-26</a:t>
            </a:r>
            <a:endParaRPr lang="en-IN"/>
          </a:p>
        </p:txBody>
      </p:sp>
      <p:sp>
        <p:nvSpPr>
          <p:cNvPr id="8" name="Slide Number Placeholder 7">
            <a:extLst>
              <a:ext uri="{FF2B5EF4-FFF2-40B4-BE49-F238E27FC236}">
                <a16:creationId xmlns="" xmlns:a16="http://schemas.microsoft.com/office/drawing/2014/main" id="{D4645177-387E-3591-BCF5-CF8CECAB274F}"/>
              </a:ext>
            </a:extLst>
          </p:cNvPr>
          <p:cNvSpPr>
            <a:spLocks noGrp="1"/>
          </p:cNvSpPr>
          <p:nvPr>
            <p:ph type="sldNum" sz="quarter" idx="12"/>
          </p:nvPr>
        </p:nvSpPr>
        <p:spPr/>
        <p:txBody>
          <a:bodyPr/>
          <a:lstStyle/>
          <a:p>
            <a:fld id="{69FBB93A-4B32-4007-AACF-5243CED557C7}" type="slidenum">
              <a:rPr lang="en-IN" smtClean="0"/>
              <a:t>11</a:t>
            </a:fld>
            <a:endParaRPr lang="en-IN"/>
          </a:p>
        </p:txBody>
      </p:sp>
      <p:sp>
        <p:nvSpPr>
          <p:cNvPr id="9" name="Date Placeholder 8">
            <a:extLst>
              <a:ext uri="{FF2B5EF4-FFF2-40B4-BE49-F238E27FC236}">
                <a16:creationId xmlns="" xmlns:a16="http://schemas.microsoft.com/office/drawing/2014/main" id="{159A5EAB-1C55-7FFB-B219-EE13B91C9835}"/>
              </a:ext>
            </a:extLst>
          </p:cNvPr>
          <p:cNvSpPr>
            <a:spLocks noGrp="1"/>
          </p:cNvSpPr>
          <p:nvPr>
            <p:ph type="dt" sz="half" idx="10"/>
          </p:nvPr>
        </p:nvSpPr>
        <p:spPr/>
        <p:txBody>
          <a:bodyPr/>
          <a:lstStyle/>
          <a:p>
            <a:r>
              <a:rPr lang="en-US" smtClean="0"/>
              <a:t>Dept of AI&amp;DS, SJCIT</a:t>
            </a:r>
            <a:endParaRPr lang="en-IN"/>
          </a:p>
        </p:txBody>
      </p:sp>
      <p:sp>
        <p:nvSpPr>
          <p:cNvPr id="4" name="TextBox 3">
            <a:extLst>
              <a:ext uri="{FF2B5EF4-FFF2-40B4-BE49-F238E27FC236}">
                <a16:creationId xmlns="" xmlns:a16="http://schemas.microsoft.com/office/drawing/2014/main" id="{E54E3464-4194-906E-53A2-DED27F8029F5}"/>
              </a:ext>
            </a:extLst>
          </p:cNvPr>
          <p:cNvSpPr txBox="1"/>
          <p:nvPr/>
        </p:nvSpPr>
        <p:spPr>
          <a:xfrm rot="10800000" flipV="1">
            <a:off x="3569551" y="769496"/>
            <a:ext cx="3928530"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 xmlns:a16="http://schemas.microsoft.com/office/drawing/2014/main" id="{B3D9FE28-5B2D-7FF2-5B21-B6E044D70CB9}"/>
              </a:ext>
            </a:extLst>
          </p:cNvPr>
          <p:cNvSpPr txBox="1"/>
          <p:nvPr/>
        </p:nvSpPr>
        <p:spPr>
          <a:xfrm>
            <a:off x="1862051" y="2211185"/>
            <a:ext cx="7265324" cy="369332"/>
          </a:xfrm>
          <a:prstGeom prst="rect">
            <a:avLst/>
          </a:prstGeom>
          <a:noFill/>
        </p:spPr>
        <p:txBody>
          <a:bodyPr wrap="square" rtlCol="0">
            <a:spAutoFit/>
          </a:bodyPr>
          <a:lstStyle/>
          <a:p>
            <a:r>
              <a:rPr lang="en-IN" dirty="0"/>
              <a:t>   </a:t>
            </a:r>
          </a:p>
        </p:txBody>
      </p:sp>
      <p:sp>
        <p:nvSpPr>
          <p:cNvPr id="11" name="Rectangle 2">
            <a:extLst>
              <a:ext uri="{FF2B5EF4-FFF2-40B4-BE49-F238E27FC236}">
                <a16:creationId xmlns="" xmlns:a16="http://schemas.microsoft.com/office/drawing/2014/main" id="{DC431DBB-00A1-4FBE-F001-002F2D2724B5}"/>
              </a:ext>
            </a:extLst>
          </p:cNvPr>
          <p:cNvSpPr>
            <a:spLocks noChangeArrowheads="1"/>
          </p:cNvSpPr>
          <p:nvPr/>
        </p:nvSpPr>
        <p:spPr bwMode="auto">
          <a:xfrm>
            <a:off x="856213" y="2163645"/>
            <a:ext cx="1082317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E82C41A3-4098-48C1-BDA2-8F18EB5EDDE4}"/>
              </a:ext>
            </a:extLst>
          </p:cNvPr>
          <p:cNvSpPr>
            <a:spLocks noChangeArrowheads="1"/>
          </p:cNvSpPr>
          <p:nvPr/>
        </p:nvSpPr>
        <p:spPr bwMode="auto">
          <a:xfrm rot="10800000" flipV="1">
            <a:off x="684414" y="1978998"/>
            <a:ext cx="1082317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a CNN-LSTM model to automate depression detection using EEG signals.</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adaptability using cross-validation and diverse datasets while employing regularization techniques like L2 regularization and adaptive learning rates.</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model accuracy and generalization through techniques such as dropout, data augmentation, and early stopping.</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computational complexity and latency for real-time depression screening on portable and cloud-based platforms.</a:t>
            </a:r>
          </a:p>
        </p:txBody>
      </p:sp>
      <p:pic>
        <p:nvPicPr>
          <p:cNvPr id="12" name="Picture 11">
            <a:extLst>
              <a:ext uri="{FF2B5EF4-FFF2-40B4-BE49-F238E27FC236}">
                <a16:creationId xmlns="" xmlns:a16="http://schemas.microsoft.com/office/drawing/2014/main"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52545"/>
            <a:ext cx="1581591" cy="878662"/>
          </a:xfrm>
          <a:prstGeom prst="rect">
            <a:avLst/>
          </a:prstGeom>
        </p:spPr>
      </p:pic>
      <p:sp>
        <p:nvSpPr>
          <p:cNvPr id="3" name="TextBox 2">
            <a:extLst>
              <a:ext uri="{FF2B5EF4-FFF2-40B4-BE49-F238E27FC236}">
                <a16:creationId xmlns="" xmlns:a16="http://schemas.microsoft.com/office/drawing/2014/main" id="{8DCA61BE-945C-409E-9D9E-A34C85619618}"/>
              </a:ext>
            </a:extLst>
          </p:cNvPr>
          <p:cNvSpPr txBox="1"/>
          <p:nvPr/>
        </p:nvSpPr>
        <p:spPr>
          <a:xfrm>
            <a:off x="0" y="33090"/>
            <a:ext cx="413938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40986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0320C32-366C-6B78-71D8-77B8D1A6FA58}"/>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3965F96B-3603-F73E-21A4-5D5410A4300E}"/>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98E56557-DDD0-DBC9-04C5-357E488BEB0B}"/>
              </a:ext>
            </a:extLst>
          </p:cNvPr>
          <p:cNvSpPr>
            <a:spLocks noGrp="1"/>
          </p:cNvSpPr>
          <p:nvPr>
            <p:ph type="sldNum" sz="quarter" idx="12"/>
          </p:nvPr>
        </p:nvSpPr>
        <p:spPr/>
        <p:txBody>
          <a:bodyPr/>
          <a:lstStyle/>
          <a:p>
            <a:fld id="{69FBB93A-4B32-4007-AACF-5243CED557C7}" type="slidenum">
              <a:rPr lang="en-IN" smtClean="0"/>
              <a:t>12</a:t>
            </a:fld>
            <a:endParaRPr lang="en-IN"/>
          </a:p>
        </p:txBody>
      </p:sp>
      <p:pic>
        <p:nvPicPr>
          <p:cNvPr id="6" name="Picture 5">
            <a:extLst>
              <a:ext uri="{FF2B5EF4-FFF2-40B4-BE49-F238E27FC236}">
                <a16:creationId xmlns="" xmlns:a16="http://schemas.microsoft.com/office/drawing/2014/main" id="{9AA05159-35B6-FF48-FD4A-5B01DAEA103C}"/>
              </a:ext>
            </a:extLst>
          </p:cNvPr>
          <p:cNvPicPr>
            <a:picLocks noChangeAspect="1"/>
          </p:cNvPicPr>
          <p:nvPr/>
        </p:nvPicPr>
        <p:blipFill>
          <a:blip r:embed="rId2"/>
          <a:stretch>
            <a:fillRect/>
          </a:stretch>
        </p:blipFill>
        <p:spPr>
          <a:xfrm>
            <a:off x="10421908" y="237818"/>
            <a:ext cx="1581150" cy="876300"/>
          </a:xfrm>
          <a:prstGeom prst="rect">
            <a:avLst/>
          </a:prstGeom>
        </p:spPr>
      </p:pic>
      <p:sp>
        <p:nvSpPr>
          <p:cNvPr id="8" name="TextBox 7">
            <a:extLst>
              <a:ext uri="{FF2B5EF4-FFF2-40B4-BE49-F238E27FC236}">
                <a16:creationId xmlns="" xmlns:a16="http://schemas.microsoft.com/office/drawing/2014/main" id="{82F91163-1A1B-836C-6A70-9AD8FEDC3AE5}"/>
              </a:ext>
            </a:extLst>
          </p:cNvPr>
          <p:cNvSpPr txBox="1"/>
          <p:nvPr/>
        </p:nvSpPr>
        <p:spPr>
          <a:xfrm>
            <a:off x="1097280" y="445135"/>
            <a:ext cx="9235440" cy="584775"/>
          </a:xfrm>
          <a:prstGeom prst="rect">
            <a:avLst/>
          </a:prstGeom>
          <a:noFill/>
        </p:spPr>
        <p:txBody>
          <a:bodyPr wrap="square">
            <a:spAutoFit/>
          </a:bodyPr>
          <a:lstStyle/>
          <a:p>
            <a:pPr marL="0" algn="ctr" rtl="0" eaLnBrk="1" latinLnBrk="0" hangingPunct="1"/>
            <a:r>
              <a:rPr lang="en-IN" sz="3200" b="1" dirty="0" smtClean="0">
                <a:effectLst/>
                <a:latin typeface="Times New Roman" panose="02020603050405020304" pitchFamily="18" charset="0"/>
                <a:cs typeface="Times New Roman" panose="02020603050405020304" pitchFamily="18" charset="0"/>
              </a:rPr>
              <a:t>SOFTWARE SPECIFICATION REQUIREMENTS </a:t>
            </a:r>
            <a:endParaRPr lang="en-IN" sz="3200" b="1" dirty="0">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D4DC0330-2833-4675-A68F-C9392DF22D3E}"/>
              </a:ext>
            </a:extLst>
          </p:cNvPr>
          <p:cNvSpPr txBox="1"/>
          <p:nvPr/>
        </p:nvSpPr>
        <p:spPr>
          <a:xfrm>
            <a:off x="0" y="33090"/>
            <a:ext cx="3686185"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graphicFrame>
        <p:nvGraphicFramePr>
          <p:cNvPr id="7" name="Table 8">
            <a:extLst>
              <a:ext uri="{FF2B5EF4-FFF2-40B4-BE49-F238E27FC236}">
                <a16:creationId xmlns="" xmlns:a16="http://schemas.microsoft.com/office/drawing/2014/main" id="{872E7A2D-3822-492F-AC5E-65D24595CBE8}"/>
              </a:ext>
            </a:extLst>
          </p:cNvPr>
          <p:cNvGraphicFramePr>
            <a:graphicFrameLocks noGrp="1"/>
          </p:cNvGraphicFramePr>
          <p:nvPr>
            <p:extLst>
              <p:ext uri="{D42A27DB-BD31-4B8C-83A1-F6EECF244321}">
                <p14:modId xmlns:p14="http://schemas.microsoft.com/office/powerpoint/2010/main" val="1811511511"/>
              </p:ext>
            </p:extLst>
          </p:nvPr>
        </p:nvGraphicFramePr>
        <p:xfrm>
          <a:off x="1097280" y="1341986"/>
          <a:ext cx="9639546" cy="3840480"/>
        </p:xfrm>
        <a:graphic>
          <a:graphicData uri="http://schemas.openxmlformats.org/drawingml/2006/table">
            <a:tbl>
              <a:tblPr firstRow="1" bandRow="1">
                <a:tableStyleId>{5C22544A-7EE6-4342-B048-85BDC9FD1C3A}</a:tableStyleId>
              </a:tblPr>
              <a:tblGrid>
                <a:gridCol w="1353273">
                  <a:extLst>
                    <a:ext uri="{9D8B030D-6E8A-4147-A177-3AD203B41FA5}">
                      <a16:colId xmlns="" xmlns:a16="http://schemas.microsoft.com/office/drawing/2014/main" val="1091053256"/>
                    </a:ext>
                  </a:extLst>
                </a:gridCol>
                <a:gridCol w="4116247">
                  <a:extLst>
                    <a:ext uri="{9D8B030D-6E8A-4147-A177-3AD203B41FA5}">
                      <a16:colId xmlns="" xmlns:a16="http://schemas.microsoft.com/office/drawing/2014/main" val="1684312762"/>
                    </a:ext>
                  </a:extLst>
                </a:gridCol>
                <a:gridCol w="4170026">
                  <a:extLst>
                    <a:ext uri="{9D8B030D-6E8A-4147-A177-3AD203B41FA5}">
                      <a16:colId xmlns="" xmlns:a16="http://schemas.microsoft.com/office/drawing/2014/main" val="2539318380"/>
                    </a:ext>
                  </a:extLst>
                </a:gridCol>
              </a:tblGrid>
              <a:tr h="619577">
                <a:tc>
                  <a:txBody>
                    <a:bodyPr/>
                    <a:lstStyle/>
                    <a:p>
                      <a:pPr algn="ctr"/>
                      <a:endParaRPr lang="en-IN" dirty="0"/>
                    </a:p>
                    <a:p>
                      <a:pPr algn="ctr"/>
                      <a:r>
                        <a:rPr lang="en-IN" dirty="0"/>
                        <a:t>SI.NO</a:t>
                      </a:r>
                    </a:p>
                  </a:txBody>
                  <a:tcPr/>
                </a:tc>
                <a:tc>
                  <a:txBody>
                    <a:bodyPr/>
                    <a:lstStyle/>
                    <a:p>
                      <a:pPr algn="ctr"/>
                      <a:endParaRPr lang="en-IN" sz="1800" b="1" dirty="0">
                        <a:effectLst/>
                      </a:endParaRPr>
                    </a:p>
                    <a:p>
                      <a:pPr algn="ctr"/>
                      <a:r>
                        <a:rPr lang="en-IN" sz="1800" b="1" dirty="0">
                          <a:effectLst/>
                        </a:rPr>
                        <a:t>Software </a:t>
                      </a:r>
                      <a:r>
                        <a:rPr lang="en-IN" sz="1800" b="1" dirty="0" smtClean="0">
                          <a:effectLst/>
                        </a:rPr>
                        <a:t>Requirements</a:t>
                      </a:r>
                      <a:endParaRPr lang="en-IN" dirty="0"/>
                    </a:p>
                  </a:txBody>
                  <a:tcPr/>
                </a:tc>
                <a:tc>
                  <a:txBody>
                    <a:bodyPr/>
                    <a:lstStyle/>
                    <a:p>
                      <a:pPr algn="ctr"/>
                      <a:endParaRPr lang="en-IN" sz="1800" b="1" dirty="0"/>
                    </a:p>
                    <a:p>
                      <a:pPr algn="ctr"/>
                      <a:r>
                        <a:rPr lang="en-IN" sz="1800" b="1" dirty="0"/>
                        <a:t>Hardware </a:t>
                      </a:r>
                      <a:r>
                        <a:rPr lang="en-IN" sz="1800" b="1" dirty="0" smtClean="0">
                          <a:effectLst/>
                        </a:rPr>
                        <a:t>Requirements </a:t>
                      </a:r>
                      <a:endParaRPr lang="en-IN" dirty="0"/>
                    </a:p>
                  </a:txBody>
                  <a:tcPr/>
                </a:tc>
                <a:extLst>
                  <a:ext uri="{0D108BD9-81ED-4DB2-BD59-A6C34878D82A}">
                    <a16:rowId xmlns="" xmlns:a16="http://schemas.microsoft.com/office/drawing/2014/main" val="4147757870"/>
                  </a:ext>
                </a:extLst>
              </a:tr>
              <a:tr h="619577">
                <a:tc>
                  <a:txBody>
                    <a:bodyPr/>
                    <a:lstStyle/>
                    <a:p>
                      <a:r>
                        <a:rPr lang="en-IN" dirty="0"/>
                        <a:t> </a:t>
                      </a:r>
                    </a:p>
                    <a:p>
                      <a:pPr algn="ctr"/>
                      <a:r>
                        <a:rPr lang="en-IN" dirty="0"/>
                        <a:t>1.</a:t>
                      </a:r>
                    </a:p>
                  </a:txBody>
                  <a:tcPr/>
                </a:tc>
                <a:tc>
                  <a:txBody>
                    <a:bodyPr/>
                    <a:lstStyle/>
                    <a:p>
                      <a:endParaRPr lang="en-IN" b="1" dirty="0"/>
                    </a:p>
                    <a:p>
                      <a:r>
                        <a:rPr lang="en-IN" b="1" dirty="0"/>
                        <a:t>Programming Language </a:t>
                      </a:r>
                      <a:r>
                        <a:rPr lang="en-IN" dirty="0"/>
                        <a:t>: Python</a:t>
                      </a:r>
                    </a:p>
                  </a:txBody>
                  <a:tcPr/>
                </a:tc>
                <a:tc>
                  <a:txBody>
                    <a:bodyPr/>
                    <a:lstStyle/>
                    <a:p>
                      <a:r>
                        <a:rPr lang="it-IT" b="1" dirty="0"/>
                        <a:t> </a:t>
                      </a:r>
                    </a:p>
                    <a:p>
                      <a:r>
                        <a:rPr lang="it-IT" b="1" dirty="0"/>
                        <a:t>Processor: </a:t>
                      </a:r>
                      <a:r>
                        <a:rPr lang="it-IT" dirty="0"/>
                        <a:t>Intel Core i7 (2.3 GHz)</a:t>
                      </a:r>
                      <a:endParaRPr lang="en-IN" dirty="0"/>
                    </a:p>
                  </a:txBody>
                  <a:tcPr/>
                </a:tc>
                <a:extLst>
                  <a:ext uri="{0D108BD9-81ED-4DB2-BD59-A6C34878D82A}">
                    <a16:rowId xmlns="" xmlns:a16="http://schemas.microsoft.com/office/drawing/2014/main" val="3774658524"/>
                  </a:ext>
                </a:extLst>
              </a:tr>
              <a:tr h="619577">
                <a:tc>
                  <a:txBody>
                    <a:bodyPr/>
                    <a:lstStyle/>
                    <a:p>
                      <a:pPr algn="ctr"/>
                      <a:endParaRPr lang="en-IN" dirty="0"/>
                    </a:p>
                    <a:p>
                      <a:pPr algn="ctr"/>
                      <a:r>
                        <a:rPr lang="en-IN" dirty="0"/>
                        <a:t>2.</a:t>
                      </a:r>
                    </a:p>
                  </a:txBody>
                  <a:tcPr/>
                </a:tc>
                <a:tc>
                  <a:txBody>
                    <a:bodyPr/>
                    <a:lstStyle/>
                    <a:p>
                      <a:r>
                        <a:rPr lang="en-IN" b="1" dirty="0"/>
                        <a:t>Development Environment :</a:t>
                      </a:r>
                      <a:r>
                        <a:rPr lang="en-IN" dirty="0"/>
                        <a:t>	</a:t>
                      </a:r>
                      <a:r>
                        <a:rPr lang="en-IN" dirty="0" err="1"/>
                        <a:t>Jupyter</a:t>
                      </a:r>
                      <a:r>
                        <a:rPr lang="en-IN" dirty="0"/>
                        <a:t> Notebook, Google </a:t>
                      </a:r>
                      <a:r>
                        <a:rPr lang="en-IN" dirty="0" err="1"/>
                        <a:t>Colab</a:t>
                      </a:r>
                      <a:endParaRPr lang="en-IN" dirty="0"/>
                    </a:p>
                  </a:txBody>
                  <a:tcPr/>
                </a:tc>
                <a:tc>
                  <a:txBody>
                    <a:bodyPr/>
                    <a:lstStyle/>
                    <a:p>
                      <a:r>
                        <a:rPr lang="en-IN" b="1" dirty="0" smtClean="0"/>
                        <a:t>RAM</a:t>
                      </a:r>
                      <a:r>
                        <a:rPr lang="en-IN" b="1" dirty="0"/>
                        <a:t>: </a:t>
                      </a:r>
                      <a:r>
                        <a:rPr lang="en-IN" dirty="0"/>
                        <a:t>12 GB DDR4</a:t>
                      </a:r>
                    </a:p>
                  </a:txBody>
                  <a:tcPr/>
                </a:tc>
                <a:extLst>
                  <a:ext uri="{0D108BD9-81ED-4DB2-BD59-A6C34878D82A}">
                    <a16:rowId xmlns="" xmlns:a16="http://schemas.microsoft.com/office/drawing/2014/main" val="918599223"/>
                  </a:ext>
                </a:extLst>
              </a:tr>
              <a:tr h="619577">
                <a:tc>
                  <a:txBody>
                    <a:bodyPr/>
                    <a:lstStyle/>
                    <a:p>
                      <a:endParaRPr lang="en-IN" dirty="0"/>
                    </a:p>
                    <a:p>
                      <a:pPr algn="ctr"/>
                      <a:r>
                        <a:rPr lang="en-IN" dirty="0"/>
                        <a:t>3.</a:t>
                      </a:r>
                    </a:p>
                  </a:txBody>
                  <a:tcPr/>
                </a:tc>
                <a:tc>
                  <a:txBody>
                    <a:bodyPr/>
                    <a:lstStyle/>
                    <a:p>
                      <a:r>
                        <a:rPr lang="en-US" b="1" dirty="0"/>
                        <a:t>Deep Learning Frameworks:</a:t>
                      </a:r>
                      <a:r>
                        <a:rPr lang="en-US" dirty="0"/>
                        <a:t>	</a:t>
                      </a:r>
                      <a:r>
                        <a:rPr lang="en-US" dirty="0" err="1"/>
                        <a:t>Keras</a:t>
                      </a:r>
                      <a:r>
                        <a:rPr lang="en-US" dirty="0"/>
                        <a:t>, TensorFlow</a:t>
                      </a:r>
                      <a:endParaRPr lang="en-IN" dirty="0"/>
                    </a:p>
                  </a:txBody>
                  <a:tcPr/>
                </a:tc>
                <a:tc>
                  <a:txBody>
                    <a:bodyPr/>
                    <a:lstStyle/>
                    <a:p>
                      <a:r>
                        <a:rPr lang="es-ES" b="1" dirty="0"/>
                        <a:t>GPU: </a:t>
                      </a:r>
                      <a:r>
                        <a:rPr lang="es-ES" dirty="0"/>
                        <a:t>Google </a:t>
                      </a:r>
                      <a:r>
                        <a:rPr lang="es-ES" dirty="0" err="1"/>
                        <a:t>Colab</a:t>
                      </a:r>
                      <a:r>
                        <a:rPr lang="es-ES" dirty="0"/>
                        <a:t> GPU / NVIDIA CUDA-</a:t>
                      </a:r>
                      <a:r>
                        <a:rPr lang="es-ES" dirty="0" err="1"/>
                        <a:t>enabled</a:t>
                      </a:r>
                      <a:r>
                        <a:rPr lang="es-ES" dirty="0"/>
                        <a:t> GPU </a:t>
                      </a:r>
                      <a:endParaRPr lang="en-IN" dirty="0"/>
                    </a:p>
                  </a:txBody>
                  <a:tcPr/>
                </a:tc>
                <a:extLst>
                  <a:ext uri="{0D108BD9-81ED-4DB2-BD59-A6C34878D82A}">
                    <a16:rowId xmlns="" xmlns:a16="http://schemas.microsoft.com/office/drawing/2014/main" val="732230094"/>
                  </a:ext>
                </a:extLst>
              </a:tr>
              <a:tr h="619577">
                <a:tc>
                  <a:txBody>
                    <a:bodyPr/>
                    <a:lstStyle/>
                    <a:p>
                      <a:pPr algn="ctr"/>
                      <a:endParaRPr lang="en-IN" dirty="0"/>
                    </a:p>
                    <a:p>
                      <a:pPr algn="ctr"/>
                      <a:r>
                        <a:rPr lang="en-IN" dirty="0"/>
                        <a:t>4.</a:t>
                      </a:r>
                    </a:p>
                  </a:txBody>
                  <a:tcPr/>
                </a:tc>
                <a:tc>
                  <a:txBody>
                    <a:bodyPr/>
                    <a:lstStyle/>
                    <a:p>
                      <a:r>
                        <a:rPr lang="en-IN" b="1" dirty="0"/>
                        <a:t>Scientific &amp; Data Libraries: </a:t>
                      </a:r>
                      <a:r>
                        <a:rPr lang="en-IN" dirty="0"/>
                        <a:t>NumPy, Pandas, SciPy, Scikit-learn.</a:t>
                      </a:r>
                    </a:p>
                  </a:txBody>
                  <a:tcPr/>
                </a:tc>
                <a:tc>
                  <a:txBody>
                    <a:bodyPr/>
                    <a:lstStyle/>
                    <a:p>
                      <a:endParaRPr lang="en-US" b="1" dirty="0"/>
                    </a:p>
                    <a:p>
                      <a:r>
                        <a:rPr lang="en-US" b="1" dirty="0"/>
                        <a:t>EEG Device Used: </a:t>
                      </a:r>
                      <a:r>
                        <a:rPr lang="en-US" dirty="0" err="1"/>
                        <a:t>Neuroscan</a:t>
                      </a:r>
                      <a:r>
                        <a:rPr lang="en-US" dirty="0"/>
                        <a:t> EEG System </a:t>
                      </a:r>
                      <a:endParaRPr lang="en-IN" dirty="0"/>
                    </a:p>
                  </a:txBody>
                  <a:tcPr/>
                </a:tc>
                <a:extLst>
                  <a:ext uri="{0D108BD9-81ED-4DB2-BD59-A6C34878D82A}">
                    <a16:rowId xmlns="" xmlns:a16="http://schemas.microsoft.com/office/drawing/2014/main" val="885953088"/>
                  </a:ext>
                </a:extLst>
              </a:tr>
              <a:tr h="619577">
                <a:tc>
                  <a:txBody>
                    <a:bodyPr/>
                    <a:lstStyle/>
                    <a:p>
                      <a:pPr algn="ctr"/>
                      <a:endParaRPr lang="en-IN" dirty="0"/>
                    </a:p>
                    <a:p>
                      <a:pPr algn="ctr"/>
                      <a:r>
                        <a:rPr lang="en-IN" dirty="0"/>
                        <a:t>5.</a:t>
                      </a:r>
                    </a:p>
                  </a:txBody>
                  <a:tcPr/>
                </a:tc>
                <a:tc>
                  <a:txBody>
                    <a:bodyPr/>
                    <a:lstStyle/>
                    <a:p>
                      <a:endParaRPr lang="en-IN" b="1" dirty="0"/>
                    </a:p>
                    <a:p>
                      <a:r>
                        <a:rPr lang="en-IN" b="1" dirty="0"/>
                        <a:t>Visualization Tools:</a:t>
                      </a:r>
                      <a:r>
                        <a:rPr lang="en-IN" dirty="0"/>
                        <a:t>	 Matplotlib, Seaborn</a:t>
                      </a:r>
                    </a:p>
                  </a:txBody>
                  <a:tcPr/>
                </a:tc>
                <a:tc>
                  <a:txBody>
                    <a:bodyPr/>
                    <a:lstStyle/>
                    <a:p>
                      <a:endParaRPr lang="en-IN" dirty="0"/>
                    </a:p>
                  </a:txBody>
                  <a:tcPr/>
                </a:tc>
                <a:extLst>
                  <a:ext uri="{0D108BD9-81ED-4DB2-BD59-A6C34878D82A}">
                    <a16:rowId xmlns="" xmlns:a16="http://schemas.microsoft.com/office/drawing/2014/main" val="697484264"/>
                  </a:ext>
                </a:extLst>
              </a:tr>
            </a:tbl>
          </a:graphicData>
        </a:graphic>
      </p:graphicFrame>
    </p:spTree>
    <p:extLst>
      <p:ext uri="{BB962C8B-B14F-4D97-AF65-F5344CB8AC3E}">
        <p14:creationId xmlns:p14="http://schemas.microsoft.com/office/powerpoint/2010/main" val="19694290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58DD88C-5F36-7B67-43FF-5453E9A7AD09}"/>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68DF3DC1-CE55-AB7D-92CF-CFF73DF19A8D}"/>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B82F0388-0BFD-20ED-752B-D83EA8168949}"/>
              </a:ext>
            </a:extLst>
          </p:cNvPr>
          <p:cNvSpPr>
            <a:spLocks noGrp="1"/>
          </p:cNvSpPr>
          <p:nvPr>
            <p:ph type="sldNum" sz="quarter" idx="12"/>
          </p:nvPr>
        </p:nvSpPr>
        <p:spPr/>
        <p:txBody>
          <a:bodyPr/>
          <a:lstStyle/>
          <a:p>
            <a:fld id="{69FBB93A-4B32-4007-AACF-5243CED557C7}" type="slidenum">
              <a:rPr lang="en-IN" smtClean="0"/>
              <a:t>13</a:t>
            </a:fld>
            <a:endParaRPr lang="en-IN"/>
          </a:p>
        </p:txBody>
      </p:sp>
      <p:sp>
        <p:nvSpPr>
          <p:cNvPr id="5" name="TextBox 4">
            <a:extLst>
              <a:ext uri="{FF2B5EF4-FFF2-40B4-BE49-F238E27FC236}">
                <a16:creationId xmlns="" xmlns:a16="http://schemas.microsoft.com/office/drawing/2014/main" id="{2C04426F-BD49-CA1D-1D81-68316B338CEA}"/>
              </a:ext>
            </a:extLst>
          </p:cNvPr>
          <p:cNvSpPr txBox="1"/>
          <p:nvPr/>
        </p:nvSpPr>
        <p:spPr>
          <a:xfrm rot="10800000" flipH="1" flipV="1">
            <a:off x="2502132" y="375326"/>
            <a:ext cx="7323512" cy="923330"/>
          </a:xfrm>
          <a:prstGeom prst="rect">
            <a:avLst/>
          </a:prstGeom>
          <a:noFill/>
        </p:spPr>
        <p:txBody>
          <a:bodyPr wrap="square" rtlCol="0">
            <a:spAutoFit/>
          </a:bodyPr>
          <a:lstStyle/>
          <a:p>
            <a:pPr algn="ctr"/>
            <a:r>
              <a:rPr lang="en-US" sz="3600" b="1" spc="-10" dirty="0">
                <a:effectLst/>
                <a:latin typeface="Times New Roman" panose="02020603050405020304" pitchFamily="18" charset="0"/>
                <a:ea typeface="Calibri" panose="020F0502020204030204" pitchFamily="34" charset="0"/>
                <a:cs typeface="Times New Roman" panose="02020603050405020304" pitchFamily="18" charset="0"/>
              </a:rPr>
              <a:t>METHODOLOGY</a:t>
            </a:r>
          </a:p>
          <a:p>
            <a:endParaRPr lang="en-IN" dirty="0"/>
          </a:p>
        </p:txBody>
      </p:sp>
      <p:sp>
        <p:nvSpPr>
          <p:cNvPr id="6" name="TextBox 5">
            <a:extLst>
              <a:ext uri="{FF2B5EF4-FFF2-40B4-BE49-F238E27FC236}">
                <a16:creationId xmlns="" xmlns:a16="http://schemas.microsoft.com/office/drawing/2014/main" id="{C0D224A3-4835-AD2A-CAE0-594622711F45}"/>
              </a:ext>
            </a:extLst>
          </p:cNvPr>
          <p:cNvSpPr txBox="1"/>
          <p:nvPr/>
        </p:nvSpPr>
        <p:spPr>
          <a:xfrm>
            <a:off x="989215" y="1444180"/>
            <a:ext cx="9917083" cy="3554819"/>
          </a:xfrm>
          <a:prstGeom prst="rect">
            <a:avLst/>
          </a:prstGeom>
          <a:noFill/>
        </p:spPr>
        <p:txBody>
          <a:bodyPr wrap="square"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CNN (Convolutional Neural </a:t>
            </a:r>
            <a:r>
              <a:rPr lang="en-IN" b="1" dirty="0" smtClean="0">
                <a:latin typeface="Times New Roman" panose="02020603050405020304" pitchFamily="18" charset="0"/>
                <a:cs typeface="Times New Roman" panose="02020603050405020304" pitchFamily="18" charset="0"/>
              </a:rPr>
              <a:t>Network)</a:t>
            </a:r>
          </a:p>
          <a:p>
            <a:pPr lvl="1" algn="just">
              <a:lnSpc>
                <a:spcPct val="150000"/>
              </a:lnSpc>
            </a:pPr>
            <a:r>
              <a:rPr lang="en-US" dirty="0">
                <a:latin typeface="Times New Roman" panose="02020603050405020304" pitchFamily="18" charset="0"/>
                <a:cs typeface="Times New Roman" panose="02020603050405020304" pitchFamily="18" charset="0"/>
              </a:rPr>
              <a:t>CNN is highly effective at capturing spatial patterns in data. In EEG signals, it helps identify local temporal features (like specific waveforms or frequency patterns) from raw or preprocessed signal inputs</a:t>
            </a:r>
            <a:r>
              <a:rPr lang="en-US" dirty="0" smtClean="0"/>
              <a:t>.</a:t>
            </a:r>
            <a:endParaRPr lang="en-IN"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err="1" smtClean="0">
                <a:latin typeface="Times New Roman" panose="02020603050405020304" pitchFamily="18" charset="0"/>
                <a:cs typeface="Times New Roman" panose="02020603050405020304" pitchFamily="18" charset="0"/>
              </a:rPr>
              <a:t>ReLU</a:t>
            </a:r>
            <a:r>
              <a:rPr lang="en-IN" b="1" dirty="0" smtClean="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(Rectified Linear Unit)</a:t>
            </a:r>
          </a:p>
          <a:p>
            <a:pPr lvl="0" defTabSz="914400" eaLnBrk="0" fontAlgn="base" hangingPunct="0">
              <a:lnSpc>
                <a:spcPct val="150000"/>
              </a:lnSpc>
              <a:spcBef>
                <a:spcPct val="0"/>
              </a:spcBef>
              <a:spcAft>
                <a:spcPct val="0"/>
              </a:spcAft>
            </a:pPr>
            <a:r>
              <a:rPr lang="en-US" b="1"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f(x)=max(0,x) </a:t>
            </a:r>
          </a:p>
          <a:p>
            <a:pPr lvl="0" defTabSz="914400" eaLnBrk="0" fontAlgn="base" hangingPunct="0">
              <a:lnSpc>
                <a:spcPct val="150000"/>
              </a:lnSpc>
              <a:spcBef>
                <a:spcPct val="0"/>
              </a:spcBef>
              <a:spcAft>
                <a:spcPct val="0"/>
              </a:spcAft>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which means it outputs x if x &gt; 0, else 0.</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IN" b="1" dirty="0" err="1" smtClean="0">
                <a:latin typeface="Times New Roman" panose="02020603050405020304" pitchFamily="18" charset="0"/>
                <a:cs typeface="Times New Roman" panose="02020603050405020304" pitchFamily="18" charset="0"/>
              </a:rPr>
              <a:t>Softmax</a:t>
            </a:r>
            <a:endParaRPr lang="en-IN" b="1" dirty="0" smtClean="0">
              <a:latin typeface="Times New Roman" panose="02020603050405020304" pitchFamily="18" charset="0"/>
              <a:cs typeface="Times New Roman" panose="02020603050405020304" pitchFamily="18" charset="0"/>
            </a:endParaRPr>
          </a:p>
          <a:p>
            <a:pPr lvl="0" defTabSz="914400" eaLnBrk="0" fontAlgn="base" hangingPunct="0">
              <a:lnSpc>
                <a:spcPct val="150000"/>
              </a:lnSpc>
              <a:spcBef>
                <a:spcPct val="0"/>
              </a:spcBef>
              <a:spcAft>
                <a:spcPct val="0"/>
              </a:spcAft>
            </a:pPr>
            <a:endParaRPr lang="en-IN"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 xmlns:a16="http://schemas.microsoft.com/office/drawing/2014/main" id="{387984C1-14C1-A656-8D07-EF0A4DB8C2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8" name="TextBox 7">
            <a:extLst>
              <a:ext uri="{FF2B5EF4-FFF2-40B4-BE49-F238E27FC236}">
                <a16:creationId xmlns="" xmlns:a16="http://schemas.microsoft.com/office/drawing/2014/main" id="{8BE3E233-F237-44AE-9605-CD2A5B95F69D}"/>
              </a:ext>
            </a:extLst>
          </p:cNvPr>
          <p:cNvSpPr txBox="1"/>
          <p:nvPr/>
        </p:nvSpPr>
        <p:spPr>
          <a:xfrm>
            <a:off x="0" y="33090"/>
            <a:ext cx="3785419"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EF1A1692-85E5-4576-BD94-919DBE77C331}"/>
              </a:ext>
            </a:extLst>
          </p:cNvPr>
          <p:cNvPicPr>
            <a:picLocks noChangeAspect="1"/>
          </p:cNvPicPr>
          <p:nvPr/>
        </p:nvPicPr>
        <p:blipFill>
          <a:blip r:embed="rId3"/>
          <a:stretch>
            <a:fillRect/>
          </a:stretch>
        </p:blipFill>
        <p:spPr>
          <a:xfrm>
            <a:off x="2948039" y="4401041"/>
            <a:ext cx="5574890" cy="1195916"/>
          </a:xfrm>
          <a:prstGeom prst="rect">
            <a:avLst/>
          </a:prstGeom>
        </p:spPr>
      </p:pic>
    </p:spTree>
    <p:extLst>
      <p:ext uri="{BB962C8B-B14F-4D97-AF65-F5344CB8AC3E}">
        <p14:creationId xmlns:p14="http://schemas.microsoft.com/office/powerpoint/2010/main" val="35570817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58673677-391E-B96D-D7B4-79909034F9CF}"/>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742D0B6B-8160-2777-657A-335781239871}"/>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23998AA1-60C1-4448-01C6-AA4BDD5B6462}"/>
              </a:ext>
            </a:extLst>
          </p:cNvPr>
          <p:cNvSpPr>
            <a:spLocks noGrp="1"/>
          </p:cNvSpPr>
          <p:nvPr>
            <p:ph type="sldNum" sz="quarter" idx="12"/>
          </p:nvPr>
        </p:nvSpPr>
        <p:spPr/>
        <p:txBody>
          <a:bodyPr/>
          <a:lstStyle/>
          <a:p>
            <a:fld id="{69FBB93A-4B32-4007-AACF-5243CED557C7}" type="slidenum">
              <a:rPr lang="en-IN" smtClean="0"/>
              <a:t>14</a:t>
            </a:fld>
            <a:endParaRPr lang="en-IN"/>
          </a:p>
        </p:txBody>
      </p:sp>
      <p:pic>
        <p:nvPicPr>
          <p:cNvPr id="5" name="Picture 4">
            <a:extLst>
              <a:ext uri="{FF2B5EF4-FFF2-40B4-BE49-F238E27FC236}">
                <a16:creationId xmlns="" xmlns:a16="http://schemas.microsoft.com/office/drawing/2014/main" id="{7447209C-5043-7D59-1BA0-35649F93CA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A3812C24-D523-6428-638C-AFB487B42EA9}"/>
              </a:ext>
            </a:extLst>
          </p:cNvPr>
          <p:cNvSpPr txBox="1"/>
          <p:nvPr/>
        </p:nvSpPr>
        <p:spPr>
          <a:xfrm>
            <a:off x="2631440" y="248534"/>
            <a:ext cx="5782024" cy="585795"/>
          </a:xfrm>
          <a:prstGeom prst="rect">
            <a:avLst/>
          </a:prstGeom>
          <a:noFill/>
        </p:spPr>
        <p:txBody>
          <a:bodyPr wrap="square">
            <a:spAutoFit/>
          </a:bodyPr>
          <a:lstStyle/>
          <a:p>
            <a:pPr algn="ctr"/>
            <a:r>
              <a:rPr lang="en-US" sz="3200" b="1" spc="-10" dirty="0" smtClean="0">
                <a:latin typeface="Times New Roman" panose="02020603050405020304" pitchFamily="18" charset="0"/>
                <a:ea typeface="Calibri" panose="020F0502020204030204" pitchFamily="34" charset="0"/>
                <a:cs typeface="Times New Roman" panose="02020603050405020304" pitchFamily="18" charset="0"/>
              </a:rPr>
              <a:t>ALGORITHMS</a:t>
            </a:r>
            <a:endParaRPr lang="en-US" sz="3200" b="1" spc="-1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 xmlns:a16="http://schemas.microsoft.com/office/drawing/2014/main" id="{7D8CCE01-21FC-5B5E-D4EF-D5FC12017579}"/>
              </a:ext>
            </a:extLst>
          </p:cNvPr>
          <p:cNvSpPr txBox="1"/>
          <p:nvPr/>
        </p:nvSpPr>
        <p:spPr>
          <a:xfrm>
            <a:off x="1892709" y="1509579"/>
            <a:ext cx="7952331" cy="3139321"/>
          </a:xfrm>
          <a:prstGeom prst="rect">
            <a:avLst/>
          </a:prstGeom>
          <a:noFill/>
        </p:spPr>
        <p:txBody>
          <a:bodyPr wrap="square">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Hybrid Model: </a:t>
            </a:r>
            <a:r>
              <a:rPr lang="en-IN" sz="2200" dirty="0">
                <a:latin typeface="Times New Roman" panose="02020603050405020304" pitchFamily="18" charset="0"/>
                <a:cs typeface="Times New Roman" panose="02020603050405020304" pitchFamily="18" charset="0"/>
              </a:rPr>
              <a:t>CNN + LSTM (</a:t>
            </a:r>
            <a:r>
              <a:rPr lang="en-IN" sz="2200" dirty="0" err="1">
                <a:latin typeface="Times New Roman" panose="02020603050405020304" pitchFamily="18" charset="0"/>
                <a:cs typeface="Times New Roman" panose="02020603050405020304" pitchFamily="18" charset="0"/>
              </a:rPr>
              <a:t>DepHNN</a:t>
            </a:r>
            <a:r>
              <a:rPr lang="en-IN" sz="220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CNN Role:</a:t>
            </a:r>
          </a:p>
          <a:p>
            <a:pPr algn="just">
              <a:lnSpc>
                <a:spcPct val="150000"/>
              </a:lnSpc>
            </a:pPr>
            <a:r>
              <a:rPr lang="en-IN" sz="2200" dirty="0">
                <a:latin typeface="Times New Roman" panose="02020603050405020304" pitchFamily="18" charset="0"/>
                <a:cs typeface="Times New Roman" panose="02020603050405020304" pitchFamily="18" charset="0"/>
              </a:rPr>
              <a:t>    Temporal feature extraction, Windowing to reduce complexity</a:t>
            </a:r>
          </a:p>
          <a:p>
            <a:pPr marL="285750" indent="-285750" algn="just">
              <a:lnSpc>
                <a:spcPct val="150000"/>
              </a:lnSpc>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LSTM Role:</a:t>
            </a:r>
          </a:p>
          <a:p>
            <a:pPr algn="just">
              <a:lnSpc>
                <a:spcPct val="150000"/>
              </a:lnSpc>
            </a:pPr>
            <a:r>
              <a:rPr lang="en-IN" sz="2200" dirty="0">
                <a:latin typeface="Times New Roman" panose="02020603050405020304" pitchFamily="18" charset="0"/>
                <a:cs typeface="Times New Roman" panose="02020603050405020304" pitchFamily="18" charset="0"/>
              </a:rPr>
              <a:t>     Sequence learning, Captures long-term dependencies in EEG data</a:t>
            </a:r>
          </a:p>
          <a:p>
            <a:pPr algn="just">
              <a:lnSpc>
                <a:spcPct val="150000"/>
              </a:lnSpc>
            </a:pPr>
            <a:r>
              <a:rPr lang="en-IN" sz="2200" b="1" dirty="0" smtClean="0">
                <a:latin typeface="Times New Roman" panose="02020603050405020304" pitchFamily="18" charset="0"/>
                <a:cs typeface="Times New Roman" panose="02020603050405020304" pitchFamily="18" charset="0"/>
              </a:rPr>
              <a:t>Final Layers: </a:t>
            </a:r>
            <a:r>
              <a:rPr lang="en-IN" sz="2200" dirty="0" smtClean="0">
                <a:latin typeface="Times New Roman" panose="02020603050405020304" pitchFamily="18" charset="0"/>
                <a:cs typeface="Times New Roman" panose="02020603050405020304" pitchFamily="18" charset="0"/>
              </a:rPr>
              <a:t>Fully connected + </a:t>
            </a:r>
            <a:r>
              <a:rPr lang="en-IN" sz="2200" dirty="0" err="1" smtClean="0">
                <a:latin typeface="Times New Roman" panose="02020603050405020304" pitchFamily="18" charset="0"/>
                <a:cs typeface="Times New Roman" panose="02020603050405020304" pitchFamily="18" charset="0"/>
              </a:rPr>
              <a:t>Softmax</a:t>
            </a:r>
            <a:r>
              <a:rPr lang="en-IN" sz="2200" dirty="0" smtClean="0">
                <a:latin typeface="Times New Roman" panose="02020603050405020304" pitchFamily="18" charset="0"/>
                <a:cs typeface="Times New Roman" panose="02020603050405020304" pitchFamily="18" charset="0"/>
              </a:rPr>
              <a:t> for classification</a:t>
            </a:r>
            <a:endParaRPr lang="en-IN" sz="2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87A5A961-B3FC-4D1B-AB91-085D67E4A277}"/>
              </a:ext>
            </a:extLst>
          </p:cNvPr>
          <p:cNvSpPr txBox="1"/>
          <p:nvPr/>
        </p:nvSpPr>
        <p:spPr>
          <a:xfrm>
            <a:off x="0" y="33090"/>
            <a:ext cx="3785419"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4492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9E31419-B03D-2EE5-D520-BA71148EA491}"/>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9EA61393-782B-B950-1930-D79073AAA61B}"/>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AD256BFA-56E7-91F7-1319-6A9C0BEF82D5}"/>
              </a:ext>
            </a:extLst>
          </p:cNvPr>
          <p:cNvSpPr>
            <a:spLocks noGrp="1"/>
          </p:cNvSpPr>
          <p:nvPr>
            <p:ph type="sldNum" sz="quarter" idx="12"/>
          </p:nvPr>
        </p:nvSpPr>
        <p:spPr/>
        <p:txBody>
          <a:bodyPr/>
          <a:lstStyle/>
          <a:p>
            <a:fld id="{69FBB93A-4B32-4007-AACF-5243CED557C7}" type="slidenum">
              <a:rPr lang="en-IN" smtClean="0"/>
              <a:t>15</a:t>
            </a:fld>
            <a:endParaRPr lang="en-IN"/>
          </a:p>
        </p:txBody>
      </p:sp>
      <p:sp>
        <p:nvSpPr>
          <p:cNvPr id="8" name="TextBox 7">
            <a:extLst>
              <a:ext uri="{FF2B5EF4-FFF2-40B4-BE49-F238E27FC236}">
                <a16:creationId xmlns="" xmlns:a16="http://schemas.microsoft.com/office/drawing/2014/main" id="{E4B2B837-662B-7E49-E687-6622E6114692}"/>
              </a:ext>
            </a:extLst>
          </p:cNvPr>
          <p:cNvSpPr txBox="1"/>
          <p:nvPr/>
        </p:nvSpPr>
        <p:spPr>
          <a:xfrm>
            <a:off x="2412989" y="641244"/>
            <a:ext cx="6096000" cy="646331"/>
          </a:xfrm>
          <a:prstGeom prst="rect">
            <a:avLst/>
          </a:prstGeom>
          <a:noFill/>
        </p:spPr>
        <p:txBody>
          <a:bodyPr wrap="square">
            <a:spAutoFit/>
          </a:bodyPr>
          <a:lstStyle/>
          <a:p>
            <a:pPr marL="0" algn="ctr" rtl="0" eaLnBrk="1" latinLnBrk="0" hangingPunct="1"/>
            <a:r>
              <a:rPr lang="en-IN" sz="3600" b="1" dirty="0" smtClean="0">
                <a:solidFill>
                  <a:srgbClr val="000000"/>
                </a:solidFill>
                <a:latin typeface="Times New Roman" panose="02020603050405020304" pitchFamily="18" charset="0"/>
                <a:cs typeface="Times New Roman" panose="02020603050405020304" pitchFamily="18" charset="0"/>
              </a:rPr>
              <a:t>DESIGN</a:t>
            </a:r>
            <a:endParaRPr lang="en-IN" sz="3600" dirty="0">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 xmlns:a16="http://schemas.microsoft.com/office/drawing/2014/main"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5" name="TextBox 4">
            <a:extLst>
              <a:ext uri="{FF2B5EF4-FFF2-40B4-BE49-F238E27FC236}">
                <a16:creationId xmlns="" xmlns:a16="http://schemas.microsoft.com/office/drawing/2014/main" id="{0226927A-D67E-464F-85DE-8DC82828DF4D}"/>
              </a:ext>
            </a:extLst>
          </p:cNvPr>
          <p:cNvSpPr txBox="1"/>
          <p:nvPr/>
        </p:nvSpPr>
        <p:spPr>
          <a:xfrm>
            <a:off x="0" y="0"/>
            <a:ext cx="3775587"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6" name="AutoShape 2" descr="image.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8" name="Picture 4" descr="C:\Users\chara\OneDrive\Pictures\Screenshots\Screenshot 2025-05-26 20022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3680" y="1443037"/>
            <a:ext cx="5527040" cy="3901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0438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0A7E4CE-49BF-C5E3-B8B2-A98C8A0CC399}"/>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C7DBDC19-B295-B0D2-C983-E95571F9769E}"/>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4F5C4834-F8D7-1E63-4775-8C978512337E}"/>
              </a:ext>
            </a:extLst>
          </p:cNvPr>
          <p:cNvSpPr>
            <a:spLocks noGrp="1"/>
          </p:cNvSpPr>
          <p:nvPr>
            <p:ph type="sldNum" sz="quarter" idx="12"/>
          </p:nvPr>
        </p:nvSpPr>
        <p:spPr/>
        <p:txBody>
          <a:bodyPr/>
          <a:lstStyle/>
          <a:p>
            <a:fld id="{69FBB93A-4B32-4007-AACF-5243CED557C7}" type="slidenum">
              <a:rPr lang="en-IN" smtClean="0"/>
              <a:t>16</a:t>
            </a:fld>
            <a:endParaRPr lang="en-IN"/>
          </a:p>
        </p:txBody>
      </p:sp>
      <p:sp>
        <p:nvSpPr>
          <p:cNvPr id="5" name="TextBox 4">
            <a:extLst>
              <a:ext uri="{FF2B5EF4-FFF2-40B4-BE49-F238E27FC236}">
                <a16:creationId xmlns="" xmlns:a16="http://schemas.microsoft.com/office/drawing/2014/main" id="{C719574A-6E99-7C54-C3A7-C405642977B4}"/>
              </a:ext>
            </a:extLst>
          </p:cNvPr>
          <p:cNvSpPr txBox="1"/>
          <p:nvPr/>
        </p:nvSpPr>
        <p:spPr>
          <a:xfrm>
            <a:off x="3325091" y="216131"/>
            <a:ext cx="5328459"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MODULES SPLIT-UP</a:t>
            </a:r>
          </a:p>
        </p:txBody>
      </p:sp>
      <p:sp>
        <p:nvSpPr>
          <p:cNvPr id="7" name="Rectangle 1">
            <a:extLst>
              <a:ext uri="{FF2B5EF4-FFF2-40B4-BE49-F238E27FC236}">
                <a16:creationId xmlns="" xmlns:a16="http://schemas.microsoft.com/office/drawing/2014/main" id="{01E48251-2FF5-B259-00FC-8C87F65771C3}"/>
              </a:ext>
            </a:extLst>
          </p:cNvPr>
          <p:cNvSpPr>
            <a:spLocks noChangeArrowheads="1"/>
          </p:cNvSpPr>
          <p:nvPr/>
        </p:nvSpPr>
        <p:spPr bwMode="auto">
          <a:xfrm rot="10800000" flipV="1">
            <a:off x="1238864" y="944960"/>
            <a:ext cx="873104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pPr>
            <a:r>
              <a:rPr lang="en-US" altLang="en-US" sz="2000" b="1" dirty="0" smtClean="0">
                <a:latin typeface="Times New Roman" panose="02020603050405020304" pitchFamily="18" charset="0"/>
                <a:cs typeface="Times New Roman" panose="02020603050405020304" pitchFamily="18" charset="0"/>
              </a:rPr>
              <a:t>LIST OF MODULES</a:t>
            </a:r>
          </a:p>
          <a:p>
            <a:pPr marL="342900" lvl="0" indent="-342900" defTabSz="914400" eaLnBrk="0" fontAlgn="base" hangingPunct="0">
              <a:lnSpc>
                <a:spcPct val="150000"/>
              </a:lnSpc>
              <a:spcBef>
                <a:spcPct val="0"/>
              </a:spcBef>
              <a:spcAft>
                <a:spcPct val="0"/>
              </a:spcAft>
              <a:buFont typeface="+mj-lt"/>
              <a:buAutoNum type="arabicPeriod"/>
            </a:pPr>
            <a:r>
              <a:rPr lang="en-IN" dirty="0" err="1" smtClean="0">
                <a:latin typeface="Times New Roman" panose="02020603050405020304" pitchFamily="18" charset="0"/>
                <a:cs typeface="Times New Roman" panose="02020603050405020304" pitchFamily="18" charset="0"/>
              </a:rPr>
              <a:t>ReLU</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(Rectified Linear Unit</a:t>
            </a:r>
            <a:r>
              <a:rPr lang="en-IN" dirty="0" smtClean="0">
                <a:latin typeface="Times New Roman" panose="02020603050405020304" pitchFamily="18" charset="0"/>
                <a:cs typeface="Times New Roman" panose="02020603050405020304" pitchFamily="18" charset="0"/>
              </a:rPr>
              <a:t>)</a:t>
            </a:r>
          </a:p>
          <a:p>
            <a:pPr marL="342900" indent="-342900" defTabSz="914400" eaLnBrk="0" fontAlgn="base" hangingPunct="0">
              <a:lnSpc>
                <a:spcPct val="150000"/>
              </a:lnSpc>
              <a:spcBef>
                <a:spcPct val="0"/>
              </a:spcBef>
              <a:spcAft>
                <a:spcPct val="0"/>
              </a:spcAft>
              <a:buFont typeface="+mj-lt"/>
              <a:buAutoNum type="arabicPeriod"/>
            </a:pPr>
            <a:r>
              <a:rPr lang="en-IN" dirty="0">
                <a:latin typeface="Times New Roman" panose="02020603050405020304" pitchFamily="18" charset="0"/>
                <a:cs typeface="Times New Roman" panose="02020603050405020304" pitchFamily="18" charset="0"/>
              </a:rPr>
              <a:t>LSTM (Long Short-Term Memory)</a:t>
            </a:r>
          </a:p>
          <a:p>
            <a:pPr marL="342900" indent="-342900" defTabSz="914400" eaLnBrk="0" fontAlgn="base" hangingPunct="0">
              <a:lnSpc>
                <a:spcPct val="150000"/>
              </a:lnSpc>
              <a:spcBef>
                <a:spcPct val="0"/>
              </a:spcBef>
              <a:spcAft>
                <a:spcPct val="0"/>
              </a:spcAft>
              <a:buFont typeface="+mj-lt"/>
              <a:buAutoNum type="arabicPeriod"/>
            </a:pPr>
            <a:r>
              <a:rPr lang="en-IN" dirty="0" err="1" smtClean="0">
                <a:latin typeface="Times New Roman" panose="02020603050405020304" pitchFamily="18" charset="0"/>
                <a:cs typeface="Times New Roman" panose="02020603050405020304" pitchFamily="18" charset="0"/>
              </a:rPr>
              <a:t>Softmax</a:t>
            </a:r>
            <a:endParaRPr lang="en-IN" dirty="0" smtClean="0">
              <a:latin typeface="Times New Roman" panose="02020603050405020304" pitchFamily="18" charset="0"/>
              <a:cs typeface="Times New Roman" panose="02020603050405020304" pitchFamily="18" charset="0"/>
            </a:endParaRPr>
          </a:p>
          <a:p>
            <a:pPr defTabSz="914400" eaLnBrk="0" fontAlgn="base" hangingPunct="0">
              <a:lnSpc>
                <a:spcPct val="150000"/>
              </a:lnSpc>
              <a:spcBef>
                <a:spcPct val="0"/>
              </a:spcBef>
              <a:spcAft>
                <a:spcPct val="0"/>
              </a:spcAft>
            </a:pPr>
            <a:endParaRPr lang="en-US" altLang="en-US" dirty="0" smtClean="0">
              <a:latin typeface="Times New Roman" panose="02020603050405020304" pitchFamily="18" charset="0"/>
              <a:cs typeface="Times New Roman" panose="02020603050405020304" pitchFamily="18" charset="0"/>
            </a:endParaRPr>
          </a:p>
          <a:p>
            <a:pPr lvl="0" defTabSz="914400" eaLnBrk="0" fontAlgn="base" hangingPunct="0">
              <a:lnSpc>
                <a:spcPct val="150000"/>
              </a:lnSpc>
              <a:spcBef>
                <a:spcPct val="0"/>
              </a:spcBef>
              <a:spcAft>
                <a:spcPct val="0"/>
              </a:spcAft>
            </a:pPr>
            <a:r>
              <a:rPr lang="en-US" altLang="en-US" b="1" dirty="0" smtClean="0">
                <a:latin typeface="Times New Roman" panose="02020603050405020304" pitchFamily="18" charset="0"/>
                <a:cs typeface="Times New Roman" panose="02020603050405020304" pitchFamily="18" charset="0"/>
              </a:rPr>
              <a:t>Module </a:t>
            </a:r>
            <a:r>
              <a:rPr lang="en-US" altLang="en-US" b="1" dirty="0">
                <a:latin typeface="Times New Roman" panose="02020603050405020304" pitchFamily="18" charset="0"/>
                <a:cs typeface="Times New Roman" panose="02020603050405020304" pitchFamily="18" charset="0"/>
              </a:rPr>
              <a:t>1:</a:t>
            </a:r>
            <a:r>
              <a:rPr lang="en-IN" b="1" dirty="0" err="1">
                <a:latin typeface="Times New Roman" panose="02020603050405020304" pitchFamily="18" charset="0"/>
                <a:cs typeface="Times New Roman" panose="02020603050405020304" pitchFamily="18" charset="0"/>
              </a:rPr>
              <a:t>ReLU</a:t>
            </a:r>
            <a:r>
              <a:rPr lang="en-IN" b="1" dirty="0">
                <a:latin typeface="Times New Roman" panose="02020603050405020304" pitchFamily="18" charset="0"/>
                <a:cs typeface="Times New Roman" panose="02020603050405020304" pitchFamily="18" charset="0"/>
              </a:rPr>
              <a:t> (Rectified Linear Unit)</a:t>
            </a:r>
            <a:endParaRPr lang="en-US" b="1" dirty="0">
              <a:latin typeface="Times New Roman" panose="02020603050405020304" pitchFamily="18" charset="0"/>
              <a:cs typeface="Times New Roman" panose="02020603050405020304" pitchFamily="18" charset="0"/>
            </a:endParaRP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ReLU</a:t>
            </a:r>
            <a:r>
              <a:rPr lang="en-US" dirty="0">
                <a:latin typeface="Times New Roman" panose="02020603050405020304" pitchFamily="18" charset="0"/>
                <a:cs typeface="Times New Roman" panose="02020603050405020304" pitchFamily="18" charset="0"/>
              </a:rPr>
              <a:t> is an activation function used in neural networks</a:t>
            </a:r>
            <a:r>
              <a:rPr lang="en-US" dirty="0" smtClean="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Purpose in the Model</a:t>
            </a:r>
            <a:r>
              <a:rPr lang="en-US" dirty="0">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Adds non-linearity to the model.</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Allows the neural network to learn complex features.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Speeds up convergence compared to sigmoid/</a:t>
            </a:r>
            <a:r>
              <a:rPr lang="en-US" dirty="0" err="1">
                <a:latin typeface="Times New Roman" panose="02020603050405020304" pitchFamily="18" charset="0"/>
                <a:cs typeface="Times New Roman" panose="02020603050405020304" pitchFamily="18" charset="0"/>
              </a:rPr>
              <a:t>tanh</a:t>
            </a:r>
            <a:r>
              <a:rPr lang="en-US" dirty="0" smtClean="0">
                <a:latin typeface="Times New Roman" panose="02020603050405020304" pitchFamily="18" charset="0"/>
                <a:cs typeface="Times New Roman" panose="02020603050405020304" pitchFamily="18" charset="0"/>
              </a:rPr>
              <a:t>.</a:t>
            </a:r>
            <a:endParaRPr lang="en-US" altLang="en-US"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 xmlns:a16="http://schemas.microsoft.com/office/drawing/2014/main" id="{95F05BC5-596A-F509-DA7D-BFEF97816128}"/>
              </a:ext>
            </a:extLst>
          </p:cNvPr>
          <p:cNvPicPr>
            <a:picLocks noChangeAspect="1"/>
          </p:cNvPicPr>
          <p:nvPr/>
        </p:nvPicPr>
        <p:blipFill>
          <a:blip r:embed="rId2"/>
          <a:stretch>
            <a:fillRect/>
          </a:stretch>
        </p:blipFill>
        <p:spPr>
          <a:xfrm>
            <a:off x="10421908" y="273209"/>
            <a:ext cx="1581150" cy="876300"/>
          </a:xfrm>
          <a:prstGeom prst="rect">
            <a:avLst/>
          </a:prstGeom>
        </p:spPr>
      </p:pic>
      <p:sp>
        <p:nvSpPr>
          <p:cNvPr id="6" name="TextBox 5">
            <a:extLst>
              <a:ext uri="{FF2B5EF4-FFF2-40B4-BE49-F238E27FC236}">
                <a16:creationId xmlns="" xmlns:a16="http://schemas.microsoft.com/office/drawing/2014/main" id="{ADE636A1-9FB1-4F7B-9563-FE51D2CA75AF}"/>
              </a:ext>
            </a:extLst>
          </p:cNvPr>
          <p:cNvSpPr txBox="1"/>
          <p:nvPr/>
        </p:nvSpPr>
        <p:spPr>
          <a:xfrm>
            <a:off x="0" y="42922"/>
            <a:ext cx="356955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 xmlns:a16="http://schemas.microsoft.com/office/drawing/2014/main" id="{D0C43084-8CD7-4B30-9A88-83290B0C36C8}"/>
              </a:ext>
            </a:extLst>
          </p:cNvPr>
          <p:cNvSpPr>
            <a:spLocks noChangeArrowheads="1"/>
          </p:cNvSpPr>
          <p:nvPr/>
        </p:nvSpPr>
        <p:spPr bwMode="auto">
          <a:xfrm>
            <a:off x="0" y="-107722"/>
            <a:ext cx="23275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62365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0A7E4CE-49BF-C5E3-B8B2-A98C8A0CC399}"/>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C7DBDC19-B295-B0D2-C983-E95571F9769E}"/>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4F5C4834-F8D7-1E63-4775-8C978512337E}"/>
              </a:ext>
            </a:extLst>
          </p:cNvPr>
          <p:cNvSpPr>
            <a:spLocks noGrp="1"/>
          </p:cNvSpPr>
          <p:nvPr>
            <p:ph type="sldNum" sz="quarter" idx="12"/>
          </p:nvPr>
        </p:nvSpPr>
        <p:spPr/>
        <p:txBody>
          <a:bodyPr/>
          <a:lstStyle/>
          <a:p>
            <a:fld id="{69FBB93A-4B32-4007-AACF-5243CED557C7}" type="slidenum">
              <a:rPr lang="en-IN" smtClean="0"/>
              <a:t>17</a:t>
            </a:fld>
            <a:endParaRPr lang="en-IN"/>
          </a:p>
        </p:txBody>
      </p:sp>
      <p:pic>
        <p:nvPicPr>
          <p:cNvPr id="8" name="Picture 7">
            <a:extLst>
              <a:ext uri="{FF2B5EF4-FFF2-40B4-BE49-F238E27FC236}">
                <a16:creationId xmlns="" xmlns:a16="http://schemas.microsoft.com/office/drawing/2014/main" id="{95F05BC5-596A-F509-DA7D-BFEF97816128}"/>
              </a:ext>
            </a:extLst>
          </p:cNvPr>
          <p:cNvPicPr>
            <a:picLocks noChangeAspect="1"/>
          </p:cNvPicPr>
          <p:nvPr/>
        </p:nvPicPr>
        <p:blipFill>
          <a:blip r:embed="rId2"/>
          <a:stretch>
            <a:fillRect/>
          </a:stretch>
        </p:blipFill>
        <p:spPr>
          <a:xfrm>
            <a:off x="10421908" y="273209"/>
            <a:ext cx="1581150" cy="876300"/>
          </a:xfrm>
          <a:prstGeom prst="rect">
            <a:avLst/>
          </a:prstGeom>
        </p:spPr>
      </p:pic>
      <p:sp>
        <p:nvSpPr>
          <p:cNvPr id="6" name="TextBox 5">
            <a:extLst>
              <a:ext uri="{FF2B5EF4-FFF2-40B4-BE49-F238E27FC236}">
                <a16:creationId xmlns="" xmlns:a16="http://schemas.microsoft.com/office/drawing/2014/main" id="{ADE636A1-9FB1-4F7B-9563-FE51D2CA75AF}"/>
              </a:ext>
            </a:extLst>
          </p:cNvPr>
          <p:cNvSpPr txBox="1"/>
          <p:nvPr/>
        </p:nvSpPr>
        <p:spPr>
          <a:xfrm>
            <a:off x="0" y="42922"/>
            <a:ext cx="356955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 xmlns:a16="http://schemas.microsoft.com/office/drawing/2014/main" id="{D0C43084-8CD7-4B30-9A88-83290B0C36C8}"/>
              </a:ext>
            </a:extLst>
          </p:cNvPr>
          <p:cNvSpPr>
            <a:spLocks noChangeArrowheads="1"/>
          </p:cNvSpPr>
          <p:nvPr/>
        </p:nvSpPr>
        <p:spPr bwMode="auto">
          <a:xfrm>
            <a:off x="0" y="-107722"/>
            <a:ext cx="23275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 xmlns:a16="http://schemas.microsoft.com/office/drawing/2014/main" id="{4A0A218B-88A3-4A53-9E23-4399A76C8BF1}"/>
              </a:ext>
            </a:extLst>
          </p:cNvPr>
          <p:cNvSpPr txBox="1"/>
          <p:nvPr/>
        </p:nvSpPr>
        <p:spPr>
          <a:xfrm>
            <a:off x="1238863" y="1326147"/>
            <a:ext cx="10506098" cy="4065857"/>
          </a:xfrm>
          <a:prstGeom prst="rect">
            <a:avLst/>
          </a:prstGeom>
          <a:noFill/>
        </p:spPr>
        <p:txBody>
          <a:bodyPr wrap="square" rtlCol="0">
            <a:spAutoFit/>
          </a:bodyPr>
          <a:lstStyle/>
          <a:p>
            <a:pPr lvl="0" defTabSz="914400"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 2:</a:t>
            </a:r>
            <a:r>
              <a:rPr lang="en-IN" b="1" dirty="0">
                <a:latin typeface="Times New Roman" panose="02020603050405020304" pitchFamily="18" charset="0"/>
                <a:cs typeface="Times New Roman" panose="02020603050405020304" pitchFamily="18" charset="0"/>
              </a:rPr>
              <a:t>LSTM (Long Short-Term Memory)</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LSTM is a type of Recurrent Neural Network (RNN) designed to model time-series or sequential data by remembering long-term patterns.</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uses internal memory (called cells) and gates to regulate the flow of information.</a:t>
            </a:r>
          </a:p>
          <a:p>
            <a:r>
              <a:rPr lang="en-IN" b="1" dirty="0">
                <a:latin typeface="Times New Roman" panose="02020603050405020304" pitchFamily="18" charset="0"/>
                <a:cs typeface="Times New Roman" panose="02020603050405020304" pitchFamily="18" charset="0"/>
              </a:rPr>
              <a:t>Purpose in the Model</a:t>
            </a:r>
            <a:r>
              <a:rPr lang="en-IN"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Remembers important patterns over multiple time steps.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Helps understand temporal dependencies in EEG signals.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Improves performance on sequence data like brainwave activity.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Avoids vanishing gradient problems found in traditional RNNs.</a:t>
            </a:r>
          </a:p>
          <a:p>
            <a:pPr marL="285750" lvl="0" indent="-285750" defTabSz="914400" eaLnBrk="0" fontAlgn="base" hangingPunct="0">
              <a:lnSpc>
                <a:spcPct val="150000"/>
              </a:lnSpc>
              <a:spcBef>
                <a:spcPct val="0"/>
              </a:spcBef>
              <a:spcAft>
                <a:spcPct val="0"/>
              </a:spcAf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55146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F851554-F94D-6DE4-C55F-0A915854B4A7}"/>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FA2C13B8-6557-D00C-06DB-E97613006B92}"/>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BEC80113-CEDA-0A2A-8B3C-309375C25DA0}"/>
              </a:ext>
            </a:extLst>
          </p:cNvPr>
          <p:cNvSpPr>
            <a:spLocks noGrp="1"/>
          </p:cNvSpPr>
          <p:nvPr>
            <p:ph type="sldNum" sz="quarter" idx="12"/>
          </p:nvPr>
        </p:nvSpPr>
        <p:spPr/>
        <p:txBody>
          <a:bodyPr/>
          <a:lstStyle/>
          <a:p>
            <a:fld id="{69FBB93A-4B32-4007-AACF-5243CED557C7}" type="slidenum">
              <a:rPr lang="en-IN" smtClean="0"/>
              <a:t>18</a:t>
            </a:fld>
            <a:endParaRPr lang="en-IN"/>
          </a:p>
        </p:txBody>
      </p:sp>
      <p:pic>
        <p:nvPicPr>
          <p:cNvPr id="6" name="Picture 5">
            <a:extLst>
              <a:ext uri="{FF2B5EF4-FFF2-40B4-BE49-F238E27FC236}">
                <a16:creationId xmlns="" xmlns:a16="http://schemas.microsoft.com/office/drawing/2014/main" id="{E6C82D95-8574-1AF6-D123-8D28C5D2414B}"/>
              </a:ext>
            </a:extLst>
          </p:cNvPr>
          <p:cNvPicPr>
            <a:picLocks noChangeAspect="1"/>
          </p:cNvPicPr>
          <p:nvPr/>
        </p:nvPicPr>
        <p:blipFill>
          <a:blip r:embed="rId2"/>
          <a:stretch>
            <a:fillRect/>
          </a:stretch>
        </p:blipFill>
        <p:spPr>
          <a:xfrm>
            <a:off x="10231386" y="218153"/>
            <a:ext cx="1581150" cy="876300"/>
          </a:xfrm>
          <a:prstGeom prst="rect">
            <a:avLst/>
          </a:prstGeom>
        </p:spPr>
      </p:pic>
      <p:sp>
        <p:nvSpPr>
          <p:cNvPr id="8" name="TextBox 7">
            <a:extLst>
              <a:ext uri="{FF2B5EF4-FFF2-40B4-BE49-F238E27FC236}">
                <a16:creationId xmlns="" xmlns:a16="http://schemas.microsoft.com/office/drawing/2014/main" id="{C1B374B1-3287-0D01-B28F-A3730795D271}"/>
              </a:ext>
            </a:extLst>
          </p:cNvPr>
          <p:cNvSpPr txBox="1"/>
          <p:nvPr/>
        </p:nvSpPr>
        <p:spPr>
          <a:xfrm>
            <a:off x="717755" y="776748"/>
            <a:ext cx="11094781" cy="1338828"/>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Module 3: </a:t>
            </a:r>
            <a:r>
              <a:rPr lang="en-IN" b="1" dirty="0" err="1">
                <a:latin typeface="Times New Roman" panose="02020603050405020304" pitchFamily="18" charset="0"/>
                <a:cs typeface="Times New Roman" panose="02020603050405020304" pitchFamily="18" charset="0"/>
              </a:rPr>
              <a:t>Softmax</a:t>
            </a:r>
            <a:endParaRPr lang="en-IN"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Softmax</a:t>
            </a:r>
            <a:r>
              <a:rPr lang="en-IN" dirty="0">
                <a:latin typeface="Times New Roman" panose="02020603050405020304" pitchFamily="18" charset="0"/>
                <a:cs typeface="Times New Roman" panose="02020603050405020304" pitchFamily="18" charset="0"/>
              </a:rPr>
              <a:t> is an activation function used in the output layer of a neural network for classification tasks.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It converts raw scores (logits) into probabilities, so that the sum of all output values equals </a:t>
            </a:r>
            <a:r>
              <a:rPr lang="en-IN"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CCB6B3E5-23A6-49DC-A157-5707B120EB60}"/>
              </a:ext>
            </a:extLst>
          </p:cNvPr>
          <p:cNvSpPr txBox="1"/>
          <p:nvPr/>
        </p:nvSpPr>
        <p:spPr>
          <a:xfrm>
            <a:off x="0" y="33090"/>
            <a:ext cx="3952568"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FB65A374-CB49-4F57-84B4-A338F4A4AF9F}"/>
              </a:ext>
            </a:extLst>
          </p:cNvPr>
          <p:cNvSpPr txBox="1"/>
          <p:nvPr/>
        </p:nvSpPr>
        <p:spPr>
          <a:xfrm>
            <a:off x="1097279" y="2376785"/>
            <a:ext cx="9590385" cy="230832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Purpose in the Model</a:t>
            </a:r>
            <a:r>
              <a:rPr lang="en-US"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Converts the model’s raw output into interpretable probabilities.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the model make a clear decision about which class (e.g., depressed / not depressed) the input belongs to.</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the output is a probability distribution.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12629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B84397B-52AA-977D-E0A8-AD2D010D6AAB}"/>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0D40C420-03EA-217E-CC0D-BE19ED785D12}"/>
              </a:ext>
            </a:extLst>
          </p:cNvPr>
          <p:cNvSpPr>
            <a:spLocks noGrp="1"/>
          </p:cNvSpPr>
          <p:nvPr>
            <p:ph type="ftr" sz="quarter" idx="11"/>
          </p:nvPr>
        </p:nvSpPr>
        <p:spPr/>
        <p:txBody>
          <a:bodyPr/>
          <a:lstStyle/>
          <a:p>
            <a:r>
              <a:rPr lang="en-IN" smtClean="0"/>
              <a:t>2025-26</a:t>
            </a:r>
            <a:endParaRPr lang="en-IN" dirty="0"/>
          </a:p>
        </p:txBody>
      </p:sp>
      <p:sp>
        <p:nvSpPr>
          <p:cNvPr id="4" name="Slide Number Placeholder 3">
            <a:extLst>
              <a:ext uri="{FF2B5EF4-FFF2-40B4-BE49-F238E27FC236}">
                <a16:creationId xmlns="" xmlns:a16="http://schemas.microsoft.com/office/drawing/2014/main" id="{0F8A0A6E-530A-F031-C71B-267BDE2567F8}"/>
              </a:ext>
            </a:extLst>
          </p:cNvPr>
          <p:cNvSpPr>
            <a:spLocks noGrp="1"/>
          </p:cNvSpPr>
          <p:nvPr>
            <p:ph type="sldNum" sz="quarter" idx="12"/>
          </p:nvPr>
        </p:nvSpPr>
        <p:spPr/>
        <p:txBody>
          <a:bodyPr/>
          <a:lstStyle/>
          <a:p>
            <a:fld id="{69FBB93A-4B32-4007-AACF-5243CED557C7}" type="slidenum">
              <a:rPr lang="en-IN" smtClean="0"/>
              <a:t>19</a:t>
            </a:fld>
            <a:endParaRPr lang="en-IN"/>
          </a:p>
        </p:txBody>
      </p:sp>
      <p:pic>
        <p:nvPicPr>
          <p:cNvPr id="6" name="Picture 5">
            <a:extLst>
              <a:ext uri="{FF2B5EF4-FFF2-40B4-BE49-F238E27FC236}">
                <a16:creationId xmlns="" xmlns:a16="http://schemas.microsoft.com/office/drawing/2014/main" id="{C8D200D4-0E9A-7C40-77E9-41E53CB17E82}"/>
              </a:ext>
            </a:extLst>
          </p:cNvPr>
          <p:cNvPicPr>
            <a:picLocks noChangeAspect="1"/>
          </p:cNvPicPr>
          <p:nvPr/>
        </p:nvPicPr>
        <p:blipFill>
          <a:blip r:embed="rId2"/>
          <a:stretch>
            <a:fillRect/>
          </a:stretch>
        </p:blipFill>
        <p:spPr>
          <a:xfrm>
            <a:off x="10300212" y="277147"/>
            <a:ext cx="1581150" cy="876300"/>
          </a:xfrm>
          <a:prstGeom prst="rect">
            <a:avLst/>
          </a:prstGeom>
        </p:spPr>
      </p:pic>
      <p:sp>
        <p:nvSpPr>
          <p:cNvPr id="8" name="TextBox 7">
            <a:extLst>
              <a:ext uri="{FF2B5EF4-FFF2-40B4-BE49-F238E27FC236}">
                <a16:creationId xmlns="" xmlns:a16="http://schemas.microsoft.com/office/drawing/2014/main" id="{03435264-E263-FC5B-AF3F-F1C2282317FB}"/>
              </a:ext>
            </a:extLst>
          </p:cNvPr>
          <p:cNvSpPr txBox="1"/>
          <p:nvPr/>
        </p:nvSpPr>
        <p:spPr>
          <a:xfrm>
            <a:off x="2841522" y="715297"/>
            <a:ext cx="6096000" cy="584775"/>
          </a:xfrm>
          <a:prstGeom prst="rect">
            <a:avLst/>
          </a:prstGeom>
          <a:noFill/>
        </p:spPr>
        <p:txBody>
          <a:bodyPr wrap="square">
            <a:spAutoFit/>
          </a:bodyPr>
          <a:lstStyle/>
          <a:p>
            <a:pPr marL="0" algn="ctr" rtl="0" eaLnBrk="1" latinLnBrk="0" hangingPunct="1"/>
            <a:r>
              <a:rPr lang="en-US" sz="3200" b="1" spc="-1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EXPECTED </a:t>
            </a:r>
            <a:r>
              <a:rPr lang="en-US" sz="3200" b="1" spc="-1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OUTCOMES</a:t>
            </a:r>
            <a:endParaRPr lang="en-IN" sz="3200" dirty="0">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F5A06056-5F23-16B4-8462-F94CA4EB5096}"/>
              </a:ext>
            </a:extLst>
          </p:cNvPr>
          <p:cNvSpPr txBox="1"/>
          <p:nvPr/>
        </p:nvSpPr>
        <p:spPr>
          <a:xfrm>
            <a:off x="1706880" y="1676815"/>
            <a:ext cx="8193578" cy="295106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Accuracy:</a:t>
            </a:r>
            <a:r>
              <a:rPr lang="en-IN" dirty="0">
                <a:latin typeface="Times New Roman" panose="02020603050405020304" pitchFamily="18" charset="0"/>
                <a:cs typeface="Times New Roman" panose="02020603050405020304" pitchFamily="18" charset="0"/>
              </a:rPr>
              <a:t> 99.1%</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Mean Absolute Error(MAE):</a:t>
            </a:r>
            <a:r>
              <a:rPr lang="en-IN" dirty="0">
                <a:latin typeface="Times New Roman" panose="02020603050405020304" pitchFamily="18" charset="0"/>
                <a:cs typeface="Times New Roman" panose="02020603050405020304" pitchFamily="18" charset="0"/>
              </a:rPr>
              <a:t> 0.204</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Efficiency</a:t>
            </a:r>
            <a:r>
              <a:rPr lang="en-IN" dirty="0">
                <a:latin typeface="Times New Roman" panose="02020603050405020304" pitchFamily="18" charset="0"/>
                <a:cs typeface="Times New Roman" panose="02020603050405020304" pitchFamily="18" charset="0"/>
              </a:rPr>
              <a:t>: Faster training time (112s/epoch)</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Model Strength:</a:t>
            </a:r>
          </a:p>
          <a:p>
            <a:pPr algn="just">
              <a:lnSpc>
                <a:spcPct val="150000"/>
              </a:lnSpc>
            </a:pPr>
            <a:r>
              <a:rPr lang="en-IN" dirty="0">
                <a:latin typeface="Times New Roman" panose="02020603050405020304" pitchFamily="18" charset="0"/>
                <a:cs typeface="Times New Roman" panose="02020603050405020304" pitchFamily="18" charset="0"/>
              </a:rPr>
              <a:t>         Low complexity</a:t>
            </a:r>
          </a:p>
          <a:p>
            <a:pPr algn="just">
              <a:lnSpc>
                <a:spcPct val="150000"/>
              </a:lnSpc>
            </a:pPr>
            <a:r>
              <a:rPr lang="en-IN" dirty="0">
                <a:latin typeface="Times New Roman" panose="02020603050405020304" pitchFamily="18" charset="0"/>
                <a:cs typeface="Times New Roman" panose="02020603050405020304" pitchFamily="18" charset="0"/>
              </a:rPr>
              <a:t>         High accuracy</a:t>
            </a:r>
          </a:p>
          <a:p>
            <a:pPr algn="just">
              <a:lnSpc>
                <a:spcPct val="150000"/>
              </a:lnSpc>
            </a:pPr>
            <a:r>
              <a:rPr lang="en-IN" dirty="0">
                <a:latin typeface="Times New Roman" panose="02020603050405020304" pitchFamily="18" charset="0"/>
                <a:cs typeface="Times New Roman" panose="02020603050405020304" pitchFamily="18" charset="0"/>
              </a:rPr>
              <a:t>         Real-time clinical applicability      </a:t>
            </a:r>
          </a:p>
        </p:txBody>
      </p:sp>
      <p:sp>
        <p:nvSpPr>
          <p:cNvPr id="5" name="TextBox 4">
            <a:extLst>
              <a:ext uri="{FF2B5EF4-FFF2-40B4-BE49-F238E27FC236}">
                <a16:creationId xmlns="" xmlns:a16="http://schemas.microsoft.com/office/drawing/2014/main" id="{41A5FD88-7087-4302-B16A-1BAEFBCD1E40}"/>
              </a:ext>
            </a:extLst>
          </p:cNvPr>
          <p:cNvSpPr txBox="1"/>
          <p:nvPr/>
        </p:nvSpPr>
        <p:spPr>
          <a:xfrm>
            <a:off x="0" y="0"/>
            <a:ext cx="3834581"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pic>
        <p:nvPicPr>
          <p:cNvPr id="2050" name="Picture 2" descr="C:\Users\chara\OneDrive\Pictures\Screenshots\Screenshot 2025-05-26 20155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9520" y="1529367"/>
            <a:ext cx="3657600" cy="1833593"/>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chara\OneDrive\Pictures\Screenshots\Screenshot 2025-05-26 20165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3237" y="3847623"/>
            <a:ext cx="4048125" cy="1987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0492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ECF39CA2-D83A-66A7-3D82-AF15028FB164}"/>
              </a:ext>
            </a:extLst>
          </p:cNvPr>
          <p:cNvSpPr>
            <a:spLocks noGrp="1"/>
          </p:cNvSpPr>
          <p:nvPr>
            <p:ph type="dt" sz="half" idx="10"/>
          </p:nvPr>
        </p:nvSpPr>
        <p:spPr>
          <a:xfrm>
            <a:off x="1097280" y="6439465"/>
            <a:ext cx="2472271" cy="365125"/>
          </a:xfrm>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6897BF47-6D0B-8AEC-5799-4364BE1A720B}"/>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ED5ED01A-5BCB-10F9-9CF7-2BC86BF7E1E8}"/>
              </a:ext>
            </a:extLst>
          </p:cNvPr>
          <p:cNvSpPr>
            <a:spLocks noGrp="1"/>
          </p:cNvSpPr>
          <p:nvPr>
            <p:ph type="sldNum" sz="quarter" idx="12"/>
          </p:nvPr>
        </p:nvSpPr>
        <p:spPr/>
        <p:txBody>
          <a:bodyPr/>
          <a:lstStyle/>
          <a:p>
            <a:fld id="{69FBB93A-4B32-4007-AACF-5243CED557C7}" type="slidenum">
              <a:rPr lang="en-IN" smtClean="0"/>
              <a:t>20</a:t>
            </a:fld>
            <a:endParaRPr lang="en-IN"/>
          </a:p>
        </p:txBody>
      </p:sp>
      <p:sp>
        <p:nvSpPr>
          <p:cNvPr id="8" name="TextBox 7">
            <a:extLst>
              <a:ext uri="{FF2B5EF4-FFF2-40B4-BE49-F238E27FC236}">
                <a16:creationId xmlns="" xmlns:a16="http://schemas.microsoft.com/office/drawing/2014/main" id="{BFD8E58C-8245-55D9-F2C1-EFE5D3A4689A}"/>
              </a:ext>
            </a:extLst>
          </p:cNvPr>
          <p:cNvSpPr txBox="1"/>
          <p:nvPr/>
        </p:nvSpPr>
        <p:spPr>
          <a:xfrm>
            <a:off x="2461239" y="772510"/>
            <a:ext cx="6096000" cy="646331"/>
          </a:xfrm>
          <a:prstGeom prst="rect">
            <a:avLst/>
          </a:prstGeom>
          <a:noFill/>
        </p:spPr>
        <p:txBody>
          <a:bodyPr wrap="square">
            <a:spAutoFit/>
          </a:bodyPr>
          <a:lstStyle/>
          <a:p>
            <a:pPr marL="0" algn="ctr" rtl="0" eaLnBrk="1" latinLnBrk="0" hangingPunct="1"/>
            <a:r>
              <a:rPr lang="en-IN" sz="3600" b="1" kern="1200">
                <a:solidFill>
                  <a:srgbClr val="000000"/>
                </a:solidFill>
                <a:effectLst/>
                <a:latin typeface="Times New Roman" panose="02020603050405020304" pitchFamily="18" charset="0"/>
                <a:cs typeface="Times New Roman" panose="02020603050405020304" pitchFamily="18" charset="0"/>
              </a:rPr>
              <a:t>REFERENCES</a:t>
            </a:r>
            <a:endParaRPr lang="en-IN" sz="3600">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801719CA-1B8B-BF5C-AA51-A4FC90BAA85E}"/>
              </a:ext>
            </a:extLst>
          </p:cNvPr>
          <p:cNvSpPr txBox="1"/>
          <p:nvPr/>
        </p:nvSpPr>
        <p:spPr>
          <a:xfrm>
            <a:off x="776747" y="1418841"/>
            <a:ext cx="10419573" cy="5124480"/>
          </a:xfrm>
          <a:prstGeom prst="rect">
            <a:avLst/>
          </a:prstGeom>
          <a:noFill/>
        </p:spPr>
        <p:txBody>
          <a:bodyPr wrap="square">
            <a:spAutoFit/>
          </a:bodyPr>
          <a:lstStyle/>
          <a:p>
            <a:pPr marL="342900" lvl="0" indent="-342900">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Automated EEG-based screening of depression using deep convolutional neural network,</a:t>
            </a:r>
            <a:r>
              <a:rPr lang="en-IN" dirty="0">
                <a:latin typeface="Times New Roman" panose="02020603050405020304" pitchFamily="18" charset="0"/>
                <a:cs typeface="Times New Roman" panose="02020603050405020304" pitchFamily="18" charset="0"/>
              </a:rPr>
              <a:t> U. R. Acharya, H. Fujita, S. L. Oh, Y. Hagiwara, J. H. Tan, and M. Adam</a:t>
            </a:r>
            <a:br>
              <a:rPr lang="en-IN" dirty="0">
                <a:latin typeface="Times New Roman" panose="02020603050405020304" pitchFamily="18" charset="0"/>
                <a:cs typeface="Times New Roman" panose="02020603050405020304" pitchFamily="18" charset="0"/>
              </a:rPr>
            </a:br>
            <a:r>
              <a:rPr lang="en-IN" u="sng" dirty="0">
                <a:latin typeface="Times New Roman" panose="02020603050405020304" pitchFamily="18" charset="0"/>
                <a:cs typeface="Times New Roman" panose="02020603050405020304" pitchFamily="18" charset="0"/>
                <a:hlinkClick r:id="rId2"/>
              </a:rPr>
              <a:t>https://doi.org/10.1016/j.compbiomed.2018.06.008</a:t>
            </a: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Deep convolutional neural network model for automated diagnosis of depression using EEG signals</a:t>
            </a:r>
            <a:r>
              <a:rPr lang="en-IN" dirty="0">
                <a:latin typeface="Times New Roman" panose="02020603050405020304" pitchFamily="18" charset="0"/>
                <a:cs typeface="Times New Roman" panose="02020603050405020304" pitchFamily="18" charset="0"/>
              </a:rPr>
              <a:t>, S. L. Oh, U. R. Acharya, Y. Hagiwara, J. H. Tan, and H. </a:t>
            </a:r>
            <a:r>
              <a:rPr lang="en-IN" dirty="0" err="1">
                <a:latin typeface="Times New Roman" panose="02020603050405020304" pitchFamily="18" charset="0"/>
                <a:cs typeface="Times New Roman" panose="02020603050405020304" pitchFamily="18" charset="0"/>
              </a:rPr>
              <a:t>Adeli</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u="sng" dirty="0">
                <a:latin typeface="Times New Roman" panose="02020603050405020304" pitchFamily="18" charset="0"/>
                <a:cs typeface="Times New Roman" panose="02020603050405020304" pitchFamily="18" charset="0"/>
                <a:hlinkClick r:id="rId3"/>
              </a:rPr>
              <a:t>https://doi.org/10.3390/app9153319</a:t>
            </a: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Implementation guides for CNN and LSTM using </a:t>
            </a:r>
            <a:r>
              <a:rPr lang="en-IN" b="1" dirty="0" err="1">
                <a:latin typeface="Times New Roman" panose="02020603050405020304" pitchFamily="18" charset="0"/>
                <a:cs typeface="Times New Roman" panose="02020603050405020304" pitchFamily="18" charset="0"/>
              </a:rPr>
              <a:t>Keras</a:t>
            </a:r>
            <a:r>
              <a:rPr lang="en-IN" b="1" dirty="0">
                <a:latin typeface="Times New Roman" panose="02020603050405020304" pitchFamily="18" charset="0"/>
                <a:cs typeface="Times New Roman" panose="02020603050405020304" pitchFamily="18" charset="0"/>
              </a:rPr>
              <a:t>’ Sequential API.</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u="sng" dirty="0">
                <a:latin typeface="Times New Roman" panose="02020603050405020304" pitchFamily="18" charset="0"/>
                <a:cs typeface="Times New Roman" panose="02020603050405020304" pitchFamily="18" charset="0"/>
                <a:hlinkClick r:id="rId4"/>
              </a:rPr>
              <a:t>https://keras.io/guides/sequential_model/</a:t>
            </a: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IN" b="1" dirty="0" err="1">
                <a:latin typeface="Times New Roman" panose="02020603050405020304" pitchFamily="18" charset="0"/>
                <a:cs typeface="Times New Roman" panose="02020603050405020304" pitchFamily="18" charset="0"/>
              </a:rPr>
              <a:t>TensorFlow</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hlinkClick r:id="rId5"/>
              </a:rPr>
              <a:t>https://www.tensorflow.org/api_docs</a:t>
            </a: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IN" b="1" dirty="0" err="1">
                <a:latin typeface="Times New Roman" panose="02020603050405020304" pitchFamily="18" charset="0"/>
                <a:cs typeface="Times New Roman" panose="02020603050405020304" pitchFamily="18" charset="0"/>
              </a:rPr>
              <a:t>Scikit</a:t>
            </a:r>
            <a:r>
              <a:rPr lang="en-IN" b="1" dirty="0">
                <a:latin typeface="Times New Roman" panose="02020603050405020304" pitchFamily="18" charset="0"/>
                <a:cs typeface="Times New Roman" panose="02020603050405020304" pitchFamily="18" charset="0"/>
              </a:rPr>
              <a:t>-learn</a:t>
            </a: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hlinkClick r:id="rId6"/>
              </a:rPr>
              <a:t>https://scikit-learn.org/stable/modules/generated/sklearn.preprocessing.StandardScaler.html</a:t>
            </a: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Huber Loss – </a:t>
            </a:r>
            <a:r>
              <a:rPr lang="en-IN" b="1" dirty="0" err="1">
                <a:latin typeface="Times New Roman" panose="02020603050405020304" pitchFamily="18" charset="0"/>
                <a:cs typeface="Times New Roman" panose="02020603050405020304" pitchFamily="18" charset="0"/>
              </a:rPr>
              <a:t>TensorFlow</a:t>
            </a:r>
            <a:r>
              <a:rPr lang="en-IN" b="1" dirty="0">
                <a:latin typeface="Times New Roman" panose="02020603050405020304" pitchFamily="18" charset="0"/>
                <a:cs typeface="Times New Roman" panose="02020603050405020304" pitchFamily="18" charset="0"/>
              </a:rPr>
              <a:t> API</a:t>
            </a: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hlinkClick r:id="rId7"/>
              </a:rPr>
              <a:t>https://www.tensorflow.org/api_docs/python/tf/keras/losses/Huber</a:t>
            </a:r>
            <a:endParaRPr lang="en-IN" dirty="0">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endParaRPr lang="en-IN" sz="20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 xmlns:a16="http://schemas.microsoft.com/office/drawing/2014/main" id="{61A694EC-414F-38CE-31A6-2BC1C0D09CC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5" name="TextBox 4">
            <a:extLst>
              <a:ext uri="{FF2B5EF4-FFF2-40B4-BE49-F238E27FC236}">
                <a16:creationId xmlns="" xmlns:a16="http://schemas.microsoft.com/office/drawing/2014/main" id="{46A7B61D-398C-4C3B-919D-77597A44A673}"/>
              </a:ext>
            </a:extLst>
          </p:cNvPr>
          <p:cNvSpPr txBox="1"/>
          <p:nvPr/>
        </p:nvSpPr>
        <p:spPr>
          <a:xfrm>
            <a:off x="0" y="0"/>
            <a:ext cx="3569551"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876588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EA28AFC-6008-4917-64F2-8B1C6B2A24FA}"/>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8230F2C1-7101-CCAA-599B-065FE9153CA1}"/>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7093E0E2-B840-4AB8-21EA-4B2FD9F56768}"/>
              </a:ext>
            </a:extLst>
          </p:cNvPr>
          <p:cNvSpPr>
            <a:spLocks noGrp="1"/>
          </p:cNvSpPr>
          <p:nvPr>
            <p:ph type="sldNum" sz="quarter" idx="12"/>
          </p:nvPr>
        </p:nvSpPr>
        <p:spPr/>
        <p:txBody>
          <a:bodyPr/>
          <a:lstStyle/>
          <a:p>
            <a:fld id="{69FBB93A-4B32-4007-AACF-5243CED557C7}" type="slidenum">
              <a:rPr lang="en-IN" smtClean="0"/>
              <a:t>21</a:t>
            </a:fld>
            <a:endParaRPr lang="en-IN"/>
          </a:p>
        </p:txBody>
      </p:sp>
      <p:sp>
        <p:nvSpPr>
          <p:cNvPr id="8" name="TextBox 7">
            <a:extLst>
              <a:ext uri="{FF2B5EF4-FFF2-40B4-BE49-F238E27FC236}">
                <a16:creationId xmlns="" xmlns:a16="http://schemas.microsoft.com/office/drawing/2014/main" id="{B8F9B393-7EDF-6FD3-96ED-214DC4E7593D}"/>
              </a:ext>
            </a:extLst>
          </p:cNvPr>
          <p:cNvSpPr txBox="1"/>
          <p:nvPr/>
        </p:nvSpPr>
        <p:spPr>
          <a:xfrm>
            <a:off x="2692400" y="459340"/>
            <a:ext cx="6048526" cy="646331"/>
          </a:xfrm>
          <a:prstGeom prst="rect">
            <a:avLst/>
          </a:prstGeom>
          <a:noFill/>
        </p:spPr>
        <p:txBody>
          <a:bodyPr wrap="square">
            <a:spAutoFit/>
          </a:bodyPr>
          <a:lstStyle/>
          <a:p>
            <a:pPr marL="0" algn="ctr" rtl="0" eaLnBrk="1" latinLnBrk="0" hangingPunct="1"/>
            <a:r>
              <a:rPr lang="en-IN" sz="3600" b="1" kern="1200" dirty="0">
                <a:solidFill>
                  <a:srgbClr val="000000"/>
                </a:solidFill>
                <a:effectLst/>
                <a:latin typeface="Times New Roman" panose="02020603050405020304" pitchFamily="18" charset="0"/>
                <a:cs typeface="Times New Roman" panose="02020603050405020304" pitchFamily="18" charset="0"/>
              </a:rPr>
              <a:t>P</a:t>
            </a:r>
            <a:r>
              <a:rPr lang="en-IN" sz="3600" b="1" dirty="0">
                <a:solidFill>
                  <a:srgbClr val="000000"/>
                </a:solidFill>
                <a:latin typeface="Times New Roman" panose="02020603050405020304" pitchFamily="18" charset="0"/>
                <a:cs typeface="Times New Roman" panose="02020603050405020304" pitchFamily="18" charset="0"/>
              </a:rPr>
              <a:t>ROJECT PLAN 2.0</a:t>
            </a:r>
            <a:endParaRPr lang="en-IN" sz="3600" dirty="0">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 xmlns:a16="http://schemas.microsoft.com/office/drawing/2014/main"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5" name="Rectangle 4"/>
          <p:cNvSpPr/>
          <p:nvPr/>
        </p:nvSpPr>
        <p:spPr>
          <a:xfrm>
            <a:off x="557142" y="1442667"/>
            <a:ext cx="9826377" cy="4662815"/>
          </a:xfrm>
          <a:prstGeom prst="rect">
            <a:avLst/>
          </a:prstGeom>
        </p:spPr>
        <p:txBody>
          <a:bodyPr wrap="square">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Frontend &amp; </a:t>
            </a:r>
            <a:r>
              <a:rPr lang="en-IN" sz="2200" b="1" dirty="0" smtClean="0">
                <a:latin typeface="Times New Roman" panose="02020603050405020304" pitchFamily="18" charset="0"/>
                <a:cs typeface="Times New Roman" panose="02020603050405020304" pitchFamily="18" charset="0"/>
              </a:rPr>
              <a:t>UI:</a:t>
            </a:r>
            <a:r>
              <a:rPr lang="en-IN" sz="2200" dirty="0" smtClean="0">
                <a:latin typeface="Times New Roman" panose="02020603050405020304" pitchFamily="18" charset="0"/>
                <a:cs typeface="Times New Roman" panose="02020603050405020304" pitchFamily="18" charset="0"/>
              </a:rPr>
              <a:t> Design </a:t>
            </a:r>
            <a:r>
              <a:rPr lang="en-IN" sz="2200" dirty="0">
                <a:latin typeface="Times New Roman" panose="02020603050405020304" pitchFamily="18" charset="0"/>
                <a:cs typeface="Times New Roman" panose="02020603050405020304" pitchFamily="18" charset="0"/>
              </a:rPr>
              <a:t>simple web interface for EEG data upload &amp; result display.</a:t>
            </a:r>
          </a:p>
          <a:p>
            <a:pPr algn="just">
              <a:lnSpc>
                <a:spcPct val="150000"/>
              </a:lnSpc>
            </a:pPr>
            <a:r>
              <a:rPr lang="en-IN" sz="2200" b="1" dirty="0" smtClean="0">
                <a:latin typeface="Times New Roman" panose="02020603050405020304" pitchFamily="18" charset="0"/>
                <a:cs typeface="Times New Roman" panose="02020603050405020304" pitchFamily="18" charset="0"/>
              </a:rPr>
              <a:t>Backend </a:t>
            </a:r>
            <a:r>
              <a:rPr lang="en-IN" sz="2200" b="1" dirty="0">
                <a:latin typeface="Times New Roman" panose="02020603050405020304" pitchFamily="18" charset="0"/>
                <a:cs typeface="Times New Roman" panose="02020603050405020304" pitchFamily="18" charset="0"/>
              </a:rPr>
              <a:t>API &amp; Model </a:t>
            </a:r>
            <a:r>
              <a:rPr lang="en-IN" sz="2200" b="1" dirty="0" smtClean="0">
                <a:latin typeface="Times New Roman" panose="02020603050405020304" pitchFamily="18" charset="0"/>
                <a:cs typeface="Times New Roman" panose="02020603050405020304" pitchFamily="18" charset="0"/>
              </a:rPr>
              <a:t>Serving: </a:t>
            </a:r>
            <a:r>
              <a:rPr lang="en-IN" sz="2200" dirty="0" smtClean="0">
                <a:latin typeface="Times New Roman" panose="02020603050405020304" pitchFamily="18" charset="0"/>
                <a:cs typeface="Times New Roman" panose="02020603050405020304" pitchFamily="18" charset="0"/>
              </a:rPr>
              <a:t>Deploy </a:t>
            </a:r>
            <a:r>
              <a:rPr lang="en-IN" sz="2200" dirty="0">
                <a:latin typeface="Times New Roman" panose="02020603050405020304" pitchFamily="18" charset="0"/>
                <a:cs typeface="Times New Roman" panose="02020603050405020304" pitchFamily="18" charset="0"/>
              </a:rPr>
              <a:t>model with Flask/</a:t>
            </a:r>
            <a:r>
              <a:rPr lang="en-IN" sz="2200" dirty="0" err="1">
                <a:latin typeface="Times New Roman" panose="02020603050405020304" pitchFamily="18" charset="0"/>
                <a:cs typeface="Times New Roman" panose="02020603050405020304" pitchFamily="18" charset="0"/>
              </a:rPr>
              <a:t>FastAPI</a:t>
            </a:r>
            <a:r>
              <a:rPr lang="en-IN" sz="2200" dirty="0">
                <a:latin typeface="Times New Roman" panose="02020603050405020304" pitchFamily="18" charset="0"/>
                <a:cs typeface="Times New Roman" panose="02020603050405020304" pitchFamily="18" charset="0"/>
              </a:rPr>
              <a:t> and connect to frontend.</a:t>
            </a:r>
          </a:p>
          <a:p>
            <a:pPr algn="just">
              <a:lnSpc>
                <a:spcPct val="150000"/>
              </a:lnSpc>
            </a:pPr>
            <a:r>
              <a:rPr lang="en-IN" sz="2200" b="1" dirty="0" smtClean="0">
                <a:latin typeface="Times New Roman" panose="02020603050405020304" pitchFamily="18" charset="0"/>
                <a:cs typeface="Times New Roman" panose="02020603050405020304" pitchFamily="18" charset="0"/>
              </a:rPr>
              <a:t>Real-Time </a:t>
            </a:r>
            <a:r>
              <a:rPr lang="en-IN" sz="2200" b="1" dirty="0">
                <a:latin typeface="Times New Roman" panose="02020603050405020304" pitchFamily="18" charset="0"/>
                <a:cs typeface="Times New Roman" panose="02020603050405020304" pitchFamily="18" charset="0"/>
              </a:rPr>
              <a:t>EEG </a:t>
            </a:r>
            <a:r>
              <a:rPr lang="en-IN" sz="2200" b="1" dirty="0" smtClean="0">
                <a:latin typeface="Times New Roman" panose="02020603050405020304" pitchFamily="18" charset="0"/>
                <a:cs typeface="Times New Roman" panose="02020603050405020304" pitchFamily="18" charset="0"/>
              </a:rPr>
              <a:t>Integration:</a:t>
            </a:r>
            <a:r>
              <a:rPr lang="en-IN" sz="2200" dirty="0" smtClean="0">
                <a:latin typeface="Times New Roman" panose="02020603050405020304" pitchFamily="18" charset="0"/>
                <a:cs typeface="Times New Roman" panose="02020603050405020304" pitchFamily="18" charset="0"/>
              </a:rPr>
              <a:t> Connect </a:t>
            </a:r>
            <a:r>
              <a:rPr lang="en-IN" sz="2200" dirty="0">
                <a:latin typeface="Times New Roman" panose="02020603050405020304" pitchFamily="18" charset="0"/>
                <a:cs typeface="Times New Roman" panose="02020603050405020304" pitchFamily="18" charset="0"/>
              </a:rPr>
              <a:t>with EEG hardware or simulated input for live predictions.</a:t>
            </a:r>
          </a:p>
          <a:p>
            <a:pPr algn="just">
              <a:lnSpc>
                <a:spcPct val="150000"/>
              </a:lnSpc>
            </a:pPr>
            <a:r>
              <a:rPr lang="en-IN" sz="2200" b="1" dirty="0" smtClean="0">
                <a:latin typeface="Times New Roman" panose="02020603050405020304" pitchFamily="18" charset="0"/>
                <a:cs typeface="Times New Roman" panose="02020603050405020304" pitchFamily="18" charset="0"/>
              </a:rPr>
              <a:t>Cloud Deployment:</a:t>
            </a:r>
            <a:r>
              <a:rPr lang="en-IN" sz="2200" dirty="0" smtClean="0">
                <a:latin typeface="Times New Roman" panose="02020603050405020304" pitchFamily="18" charset="0"/>
                <a:cs typeface="Times New Roman" panose="02020603050405020304" pitchFamily="18" charset="0"/>
              </a:rPr>
              <a:t> Host </a:t>
            </a:r>
            <a:r>
              <a:rPr lang="en-IN" sz="2200" dirty="0">
                <a:latin typeface="Times New Roman" panose="02020603050405020304" pitchFamily="18" charset="0"/>
                <a:cs typeface="Times New Roman" panose="02020603050405020304" pitchFamily="18" charset="0"/>
              </a:rPr>
              <a:t>app on Render/AWS/</a:t>
            </a:r>
            <a:r>
              <a:rPr lang="en-IN" sz="2200" dirty="0" err="1">
                <a:latin typeface="Times New Roman" panose="02020603050405020304" pitchFamily="18" charset="0"/>
                <a:cs typeface="Times New Roman" panose="02020603050405020304" pitchFamily="18" charset="0"/>
              </a:rPr>
              <a:t>Vercel</a:t>
            </a:r>
            <a:r>
              <a:rPr lang="en-IN" sz="2200" dirty="0">
                <a:latin typeface="Times New Roman" panose="02020603050405020304" pitchFamily="18" charset="0"/>
                <a:cs typeface="Times New Roman" panose="02020603050405020304" pitchFamily="18" charset="0"/>
              </a:rPr>
              <a:t> with full-stack integration.</a:t>
            </a:r>
          </a:p>
          <a:p>
            <a:pPr algn="just">
              <a:lnSpc>
                <a:spcPct val="150000"/>
              </a:lnSpc>
            </a:pPr>
            <a:r>
              <a:rPr lang="en-IN" sz="2200" b="1" dirty="0" smtClean="0">
                <a:latin typeface="Times New Roman" panose="02020603050405020304" pitchFamily="18" charset="0"/>
                <a:cs typeface="Times New Roman" panose="02020603050405020304" pitchFamily="18" charset="0"/>
              </a:rPr>
              <a:t>Testing </a:t>
            </a:r>
            <a:r>
              <a:rPr lang="en-IN" sz="2200" b="1" dirty="0">
                <a:latin typeface="Times New Roman" panose="02020603050405020304" pitchFamily="18" charset="0"/>
                <a:cs typeface="Times New Roman" panose="02020603050405020304" pitchFamily="18" charset="0"/>
              </a:rPr>
              <a:t>&amp; Final </a:t>
            </a:r>
            <a:r>
              <a:rPr lang="en-IN" sz="2200" b="1" dirty="0" smtClean="0">
                <a:latin typeface="Times New Roman" panose="02020603050405020304" pitchFamily="18" charset="0"/>
                <a:cs typeface="Times New Roman" panose="02020603050405020304" pitchFamily="18" charset="0"/>
              </a:rPr>
              <a:t>Report:</a:t>
            </a:r>
            <a:r>
              <a:rPr lang="en-IN" sz="2200" dirty="0" smtClean="0">
                <a:latin typeface="Times New Roman" panose="02020603050405020304" pitchFamily="18" charset="0"/>
                <a:cs typeface="Times New Roman" panose="02020603050405020304" pitchFamily="18" charset="0"/>
              </a:rPr>
              <a:t> Run </a:t>
            </a:r>
            <a:r>
              <a:rPr lang="en-IN" sz="2200" dirty="0">
                <a:latin typeface="Times New Roman" panose="02020603050405020304" pitchFamily="18" charset="0"/>
                <a:cs typeface="Times New Roman" panose="02020603050405020304" pitchFamily="18" charset="0"/>
              </a:rPr>
              <a:t>test cases, document performance, and finalize project report.</a:t>
            </a:r>
          </a:p>
          <a:p>
            <a:pPr algn="just">
              <a:lnSpc>
                <a:spcPct val="150000"/>
              </a:lnSpc>
            </a:pPr>
            <a:endParaRPr lang="en-IN" sz="2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AB59434B-7194-4AAD-B7B5-47D5059B8D18}"/>
              </a:ext>
            </a:extLst>
          </p:cNvPr>
          <p:cNvSpPr txBox="1"/>
          <p:nvPr/>
        </p:nvSpPr>
        <p:spPr>
          <a:xfrm>
            <a:off x="0" y="0"/>
            <a:ext cx="3814916"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78829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BCDD8418-6FAD-F00E-45F4-A5559C250A3C}"/>
              </a:ext>
            </a:extLst>
          </p:cNvPr>
          <p:cNvSpPr>
            <a:spLocks noGrp="1"/>
          </p:cNvSpPr>
          <p:nvPr>
            <p:ph type="dt" sz="half" idx="10"/>
          </p:nvPr>
        </p:nvSpPr>
        <p:spPr/>
        <p:txBody>
          <a:bodyPr/>
          <a:lstStyle/>
          <a:p>
            <a:r>
              <a:rPr lang="en-US" smtClean="0"/>
              <a:t>Dept of AI&amp;DS, SJCIT</a:t>
            </a:r>
            <a:endParaRPr lang="en-IN"/>
          </a:p>
        </p:txBody>
      </p:sp>
      <p:sp>
        <p:nvSpPr>
          <p:cNvPr id="3" name="Footer Placeholder 2">
            <a:extLst>
              <a:ext uri="{FF2B5EF4-FFF2-40B4-BE49-F238E27FC236}">
                <a16:creationId xmlns="" xmlns:a16="http://schemas.microsoft.com/office/drawing/2014/main" id="{232A7576-15AA-0FC7-E9DB-56464C09E01E}"/>
              </a:ext>
            </a:extLst>
          </p:cNvPr>
          <p:cNvSpPr>
            <a:spLocks noGrp="1"/>
          </p:cNvSpPr>
          <p:nvPr>
            <p:ph type="ftr" sz="quarter" idx="11"/>
          </p:nvPr>
        </p:nvSpPr>
        <p:spPr/>
        <p:txBody>
          <a:bodyPr/>
          <a:lstStyle/>
          <a:p>
            <a:r>
              <a:rPr lang="en-IN" smtClean="0"/>
              <a:t>2025-26</a:t>
            </a:r>
            <a:endParaRPr lang="en-IN"/>
          </a:p>
        </p:txBody>
      </p:sp>
      <p:sp>
        <p:nvSpPr>
          <p:cNvPr id="4" name="Slide Number Placeholder 3">
            <a:extLst>
              <a:ext uri="{FF2B5EF4-FFF2-40B4-BE49-F238E27FC236}">
                <a16:creationId xmlns="" xmlns:a16="http://schemas.microsoft.com/office/drawing/2014/main" id="{F3A6A993-DCA8-B7DC-A153-FC50899732F0}"/>
              </a:ext>
            </a:extLst>
          </p:cNvPr>
          <p:cNvSpPr>
            <a:spLocks noGrp="1"/>
          </p:cNvSpPr>
          <p:nvPr>
            <p:ph type="sldNum" sz="quarter" idx="12"/>
          </p:nvPr>
        </p:nvSpPr>
        <p:spPr/>
        <p:txBody>
          <a:bodyPr/>
          <a:lstStyle/>
          <a:p>
            <a:fld id="{69FBB93A-4B32-4007-AACF-5243CED557C7}" type="slidenum">
              <a:rPr lang="en-IN" smtClean="0"/>
              <a:t>22</a:t>
            </a:fld>
            <a:endParaRPr lang="en-IN"/>
          </a:p>
        </p:txBody>
      </p:sp>
      <p:pic>
        <p:nvPicPr>
          <p:cNvPr id="6" name="Picture 5">
            <a:extLst>
              <a:ext uri="{FF2B5EF4-FFF2-40B4-BE49-F238E27FC236}">
                <a16:creationId xmlns="" xmlns:a16="http://schemas.microsoft.com/office/drawing/2014/main" id="{911440DA-8F5B-2DC2-9C14-E94E5A067B93}"/>
              </a:ext>
            </a:extLst>
          </p:cNvPr>
          <p:cNvPicPr>
            <a:picLocks noChangeAspect="1"/>
          </p:cNvPicPr>
          <p:nvPr/>
        </p:nvPicPr>
        <p:blipFill>
          <a:blip r:embed="rId2"/>
          <a:stretch>
            <a:fillRect/>
          </a:stretch>
        </p:blipFill>
        <p:spPr>
          <a:xfrm>
            <a:off x="0" y="0"/>
            <a:ext cx="12192000" cy="6405510"/>
          </a:xfrm>
          <a:prstGeom prst="rect">
            <a:avLst/>
          </a:prstGeom>
        </p:spPr>
      </p:pic>
    </p:spTree>
    <p:extLst>
      <p:ext uri="{BB962C8B-B14F-4D97-AF65-F5344CB8AC3E}">
        <p14:creationId xmlns:p14="http://schemas.microsoft.com/office/powerpoint/2010/main" val="190116701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3061</TotalTime>
  <Words>1791</Words>
  <Application>Microsoft Office PowerPoint</Application>
  <PresentationFormat>Custom</PresentationFormat>
  <Paragraphs>274</Paragraphs>
  <Slides>22</Slides>
  <Notes>4</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Prerana V</dc:creator>
  <cp:lastModifiedBy>mareddy charan</cp:lastModifiedBy>
  <cp:revision>54</cp:revision>
  <dcterms:created xsi:type="dcterms:W3CDTF">2024-11-02T06:33:28Z</dcterms:created>
  <dcterms:modified xsi:type="dcterms:W3CDTF">2025-05-29T04:50:36Z</dcterms:modified>
</cp:coreProperties>
</file>
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1"/>
  </p:notesMasterIdLst>
  <p:handoutMasterIdLst>
    <p:handoutMasterId r:id="rId22"/>
  </p:handoutMasterIdLst>
  <p:sldIdLst>
    <p:sldId id="257" r:id="rId2"/>
    <p:sldId id="258" r:id="rId3"/>
    <p:sldId id="259" r:id="rId4"/>
    <p:sldId id="274" r:id="rId5"/>
    <p:sldId id="275" r:id="rId6"/>
    <p:sldId id="260" r:id="rId7"/>
    <p:sldId id="276" r:id="rId8"/>
    <p:sldId id="292" r:id="rId9"/>
    <p:sldId id="293" r:id="rId10"/>
    <p:sldId id="294" r:id="rId11"/>
    <p:sldId id="296" r:id="rId12"/>
    <p:sldId id="297" r:id="rId13"/>
    <p:sldId id="284" r:id="rId14"/>
    <p:sldId id="295" r:id="rId15"/>
    <p:sldId id="290" r:id="rId16"/>
    <p:sldId id="289" r:id="rId17"/>
    <p:sldId id="291" r:id="rId18"/>
    <p:sldId id="278" r:id="rId19"/>
    <p:sldId id="26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6" d="100"/>
          <a:sy n="86" d="100"/>
        </p:scale>
        <p:origin x="-562" y="-5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nimounika 2827" userId="3c49e1e846842295" providerId="LiveId" clId="{B24D09CC-D63B-46AA-ABCE-0192D1278F66}"/>
    <pc:docChg chg="modSld">
      <pc:chgData name="mounimounika 2827" userId="3c49e1e846842295" providerId="LiveId" clId="{B24D09CC-D63B-46AA-ABCE-0192D1278F66}" dt="2025-10-06T14:49:41.839" v="3" actId="20577"/>
      <pc:docMkLst>
        <pc:docMk/>
      </pc:docMkLst>
      <pc:sldChg chg="modSp mod">
        <pc:chgData name="mounimounika 2827" userId="3c49e1e846842295" providerId="LiveId" clId="{B24D09CC-D63B-46AA-ABCE-0192D1278F66}" dt="2025-10-06T14:49:41.839" v="3" actId="20577"/>
        <pc:sldMkLst>
          <pc:docMk/>
          <pc:sldMk cId="1629813304" sldId="257"/>
        </pc:sldMkLst>
        <pc:spChg chg="mod">
          <ac:chgData name="mounimounika 2827" userId="3c49e1e846842295" providerId="LiveId" clId="{B24D09CC-D63B-46AA-ABCE-0192D1278F66}" dt="2025-10-06T14:49:41.839" v="3" actId="20577"/>
          <ac:spMkLst>
            <pc:docMk/>
            <pc:sldMk cId="1629813304" sldId="257"/>
            <ac:spMk id="23" creationId="{4684A7C2-0927-DAE1-49C4-AD87F3B2615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7CFF807-76C2-FC97-28A0-B51206186D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a:extLst>
              <a:ext uri="{FF2B5EF4-FFF2-40B4-BE49-F238E27FC236}">
                <a16:creationId xmlns:a16="http://schemas.microsoft.com/office/drawing/2014/main" xmlns="" id="{17FA6F68-989C-379C-AC57-04EF83A9CA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xmlns="" id="{770DDBBC-1DA7-4B6E-A894-D91CCC9E1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5" name="Slide Number Placeholder 4">
            <a:extLst>
              <a:ext uri="{FF2B5EF4-FFF2-40B4-BE49-F238E27FC236}">
                <a16:creationId xmlns:a16="http://schemas.microsoft.com/office/drawing/2014/main" xmlns="" id="{5CAE13D8-524B-3194-731C-1291D9F86D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C8F0A-2F6B-4EDC-8032-61F1494F8A1A}" type="slidenum">
              <a:rPr lang="en-IN" smtClean="0"/>
              <a:t>‹#›</a:t>
            </a:fld>
            <a:endParaRPr lang="en-IN"/>
          </a:p>
        </p:txBody>
      </p:sp>
    </p:spTree>
    <p:extLst>
      <p:ext uri="{BB962C8B-B14F-4D97-AF65-F5344CB8AC3E}">
        <p14:creationId xmlns:p14="http://schemas.microsoft.com/office/powerpoint/2010/main" val="1021397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ECF8-49E2-452A-BDEE-A7E1E796A086}" type="slidenum">
              <a:rPr lang="en-IN" smtClean="0"/>
              <a:t>‹#›</a:t>
            </a:fld>
            <a:endParaRPr lang="en-IN"/>
          </a:p>
        </p:txBody>
      </p:sp>
    </p:spTree>
    <p:extLst>
      <p:ext uri="{BB962C8B-B14F-4D97-AF65-F5344CB8AC3E}">
        <p14:creationId xmlns:p14="http://schemas.microsoft.com/office/powerpoint/2010/main" val="341480226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2</a:t>
            </a:fld>
            <a:endParaRPr lang="en-IN"/>
          </a:p>
        </p:txBody>
      </p:sp>
    </p:spTree>
    <p:extLst>
      <p:ext uri="{BB962C8B-B14F-4D97-AF65-F5344CB8AC3E}">
        <p14:creationId xmlns:p14="http://schemas.microsoft.com/office/powerpoint/2010/main" val="420459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3</a:t>
            </a:fld>
            <a:endParaRPr lang="en-IN"/>
          </a:p>
        </p:txBody>
      </p:sp>
    </p:spTree>
    <p:extLst>
      <p:ext uri="{BB962C8B-B14F-4D97-AF65-F5344CB8AC3E}">
        <p14:creationId xmlns:p14="http://schemas.microsoft.com/office/powerpoint/2010/main" val="2239150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74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128850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39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680030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693801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Dept of AI&amp;DS, SJCIT</a:t>
            </a:r>
            <a:endParaRPr lang="en-IN"/>
          </a:p>
        </p:txBody>
      </p:sp>
      <p:sp>
        <p:nvSpPr>
          <p:cNvPr id="4" name="Footer Placeholder 3"/>
          <p:cNvSpPr>
            <a:spLocks noGrp="1"/>
          </p:cNvSpPr>
          <p:nvPr>
            <p:ph type="ftr" sz="quarter" idx="11"/>
          </p:nvPr>
        </p:nvSpPr>
        <p:spPr/>
        <p:txBody>
          <a:bodyPr/>
          <a:lstStyle/>
          <a:p>
            <a:r>
              <a:rPr lang="en-IN"/>
              <a:t>2025-26</a:t>
            </a:r>
          </a:p>
        </p:txBody>
      </p:sp>
      <p:sp>
        <p:nvSpPr>
          <p:cNvPr id="5" name="Slide Number Placeholder 4"/>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26664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416543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Dept of AI&amp;DS, SJCIT</a:t>
            </a:r>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2025-26</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FBB93A-4B32-4007-AACF-5243CED557C7}" type="slidenum">
              <a:rPr lang="en-IN" smtClean="0"/>
              <a:t>‹#›</a:t>
            </a:fld>
            <a:endParaRPr lang="en-IN"/>
          </a:p>
        </p:txBody>
      </p:sp>
    </p:spTree>
    <p:extLst>
      <p:ext uri="{BB962C8B-B14F-4D97-AF65-F5344CB8AC3E}">
        <p14:creationId xmlns:p14="http://schemas.microsoft.com/office/powerpoint/2010/main" val="339071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3109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921887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352111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Dept of AI&amp;DS, SJCIT</a:t>
            </a:r>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2025-26</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FBB93A-4B32-4007-AACF-5243CED557C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746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doi.org/10.3390/app9153319" TargetMode="External"/><Relationship Id="rId7" Type="http://schemas.openxmlformats.org/officeDocument/2006/relationships/hyperlink" Target="https://pubmed.ncbi.nlm.nih.gov/26886976/?utm_source=chatgpt.com" TargetMode="External"/><Relationship Id="rId2" Type="http://schemas.openxmlformats.org/officeDocument/2006/relationships/hyperlink" Target="https://doi.org/10.1016/j.compbiomed.2018.06.008" TargetMode="External"/><Relationship Id="rId1" Type="http://schemas.openxmlformats.org/officeDocument/2006/relationships/slideLayout" Target="../slideLayouts/slideLayout7.xml"/><Relationship Id="rId6" Type="http://schemas.openxmlformats.org/officeDocument/2006/relationships/hyperlink" Target="https://www.sciencedirect.com/science/article/abs/pii/S1746809416300866" TargetMode="External"/><Relationship Id="rId5" Type="http://schemas.openxmlformats.org/officeDocument/2006/relationships/hyperlink" Target="https://www.sciencedirect.com/science/article/pii/S0169260718301494" TargetMode="External"/><Relationship Id="rId4" Type="http://schemas.openxmlformats.org/officeDocument/2006/relationships/hyperlink" Target="https://keras.io/guides/sequential_model/"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xmlns="" id="{44DD8720-A00F-5D7B-9C9A-5656A85908BE}"/>
              </a:ext>
            </a:extLst>
          </p:cNvPr>
          <p:cNvSpPr>
            <a:spLocks noGrp="1"/>
          </p:cNvSpPr>
          <p:nvPr>
            <p:ph type="ftr" sz="quarter" idx="11"/>
          </p:nvPr>
        </p:nvSpPr>
        <p:spPr/>
        <p:txBody>
          <a:bodyPr/>
          <a:lstStyle/>
          <a:p>
            <a:r>
              <a:rPr lang="en-IN" dirty="0"/>
              <a:t>2025-26</a:t>
            </a:r>
          </a:p>
        </p:txBody>
      </p:sp>
      <p:sp>
        <p:nvSpPr>
          <p:cNvPr id="7" name="Slide Number Placeholder 6">
            <a:extLst>
              <a:ext uri="{FF2B5EF4-FFF2-40B4-BE49-F238E27FC236}">
                <a16:creationId xmlns:a16="http://schemas.microsoft.com/office/drawing/2014/main" xmlns="" id="{48B5B378-9CF4-628F-242F-C3B271FBC64C}"/>
              </a:ext>
            </a:extLst>
          </p:cNvPr>
          <p:cNvSpPr>
            <a:spLocks noGrp="1"/>
          </p:cNvSpPr>
          <p:nvPr>
            <p:ph type="sldNum" sz="quarter" idx="12"/>
          </p:nvPr>
        </p:nvSpPr>
        <p:spPr/>
        <p:txBody>
          <a:bodyPr/>
          <a:lstStyle/>
          <a:p>
            <a:fld id="{69FBB93A-4B32-4007-AACF-5243CED557C7}" type="slidenum">
              <a:rPr lang="en-IN" smtClean="0"/>
              <a:t>1</a:t>
            </a:fld>
            <a:endParaRPr lang="en-IN"/>
          </a:p>
        </p:txBody>
      </p:sp>
      <p:sp>
        <p:nvSpPr>
          <p:cNvPr id="8" name="Date Placeholder 7">
            <a:extLst>
              <a:ext uri="{FF2B5EF4-FFF2-40B4-BE49-F238E27FC236}">
                <a16:creationId xmlns:a16="http://schemas.microsoft.com/office/drawing/2014/main" xmlns="" id="{C02BCDCC-A182-5718-B49D-B13F53391105}"/>
              </a:ext>
            </a:extLst>
          </p:cNvPr>
          <p:cNvSpPr>
            <a:spLocks noGrp="1"/>
          </p:cNvSpPr>
          <p:nvPr>
            <p:ph type="dt" sz="half" idx="10"/>
          </p:nvPr>
        </p:nvSpPr>
        <p:spPr/>
        <p:txBody>
          <a:bodyPr/>
          <a:lstStyle/>
          <a:p>
            <a:r>
              <a:rPr lang="en-US"/>
              <a:t>Dept of AI&amp;DS, SJCIT</a:t>
            </a:r>
            <a:endParaRPr lang="en-IN" dirty="0"/>
          </a:p>
        </p:txBody>
      </p:sp>
      <p:sp>
        <p:nvSpPr>
          <p:cNvPr id="10" name="TextBox 9">
            <a:extLst>
              <a:ext uri="{FF2B5EF4-FFF2-40B4-BE49-F238E27FC236}">
                <a16:creationId xmlns:a16="http://schemas.microsoft.com/office/drawing/2014/main" xmlns="" id="{A8AF886D-2672-E1B6-5558-A6D5255410EA}"/>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xmlns="" id="{858E34A5-CC41-727F-A76B-9AF31A39ACCD}"/>
              </a:ext>
            </a:extLst>
          </p:cNvPr>
          <p:cNvSpPr txBox="1"/>
          <p:nvPr/>
        </p:nvSpPr>
        <p:spPr>
          <a:xfrm>
            <a:off x="2415931" y="2133693"/>
            <a:ext cx="7521678" cy="369332"/>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BAAB6D6F-10A3-8E55-C649-9976D7BF835A}"/>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21" name="TextBox 20">
            <a:extLst>
              <a:ext uri="{FF2B5EF4-FFF2-40B4-BE49-F238E27FC236}">
                <a16:creationId xmlns:a16="http://schemas.microsoft.com/office/drawing/2014/main" xmlns="" id="{CC330673-E17D-D4FA-63DA-AA77404362AB}"/>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B.LATHA </a:t>
            </a:r>
            <a:r>
              <a:rPr lang="en-US" sz="1800" dirty="0">
                <a:solidFill>
                  <a:schemeClr val="accent2">
                    <a:lumMod val="50000"/>
                  </a:schemeClr>
                </a:solidFill>
                <a:latin typeface="Times New Roman" panose="02020603050405020304" pitchFamily="18" charset="0"/>
                <a:cs typeface="Times New Roman" panose="02020603050405020304" pitchFamily="18" charset="0"/>
              </a:rPr>
              <a:t>SREE           1SJ22AD006</a:t>
            </a: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1SJ22AD008</a:t>
            </a:r>
          </a:p>
          <a:p>
            <a:pPr algn="just"/>
            <a:r>
              <a:rPr lang="en-US" dirty="0">
                <a:solidFill>
                  <a:schemeClr val="accent2">
                    <a:lumMod val="50000"/>
                  </a:schemeClr>
                </a:solidFill>
                <a:latin typeface="Times New Roman"/>
                <a:cs typeface="Times New Roman"/>
              </a:rPr>
              <a:t>M.CHARAN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63E1D173-52B1-1198-57D1-211E856BFA03}"/>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xmlns="" id="{4684A7C2-0927-DAE1-49C4-AD87F3B26156}"/>
              </a:ext>
            </a:extLst>
          </p:cNvPr>
          <p:cNvSpPr txBox="1"/>
          <p:nvPr/>
        </p:nvSpPr>
        <p:spPr>
          <a:xfrm>
            <a:off x="3290866" y="2503025"/>
            <a:ext cx="6086168" cy="646331"/>
          </a:xfrm>
          <a:prstGeom prst="rect">
            <a:avLst/>
          </a:prstGeom>
          <a:noFill/>
        </p:spPr>
        <p:txBody>
          <a:bodyPr wrap="square" rtlCol="0">
            <a:spAutoFit/>
          </a:bodyPr>
          <a:lstStyle/>
          <a:p>
            <a:pPr algn="ctr"/>
            <a:r>
              <a:rPr lang="en-US" altLang="en-US" sz="1800" b="1" dirty="0" smtClean="0">
                <a:solidFill>
                  <a:srgbClr val="7030A0"/>
                </a:solidFill>
                <a:latin typeface="Times New Roman" panose="02020603050405020304" pitchFamily="18" charset="0"/>
                <a:cs typeface="Times New Roman" panose="02020603050405020304" pitchFamily="18" charset="0"/>
              </a:rPr>
              <a:t>Project </a:t>
            </a:r>
            <a:r>
              <a:rPr lang="en-US" altLang="en-US" sz="1800" b="1" dirty="0">
                <a:solidFill>
                  <a:srgbClr val="7030A0"/>
                </a:solidFill>
                <a:latin typeface="Times New Roman" panose="02020603050405020304" pitchFamily="18" charset="0"/>
                <a:cs typeface="Times New Roman" panose="02020603050405020304" pitchFamily="18" charset="0"/>
              </a:rPr>
              <a:t>Phase-2</a:t>
            </a:r>
          </a:p>
          <a:p>
            <a:pPr algn="ctr"/>
            <a:r>
              <a:rPr lang="en-US" altLang="en-US" b="1" dirty="0">
                <a:solidFill>
                  <a:srgbClr val="7030A0"/>
                </a:solidFill>
                <a:latin typeface="Times New Roman" panose="02020603050405020304" pitchFamily="18" charset="0"/>
                <a:cs typeface="Times New Roman" panose="02020603050405020304" pitchFamily="18" charset="0"/>
              </a:rPr>
              <a:t>Review 1</a:t>
            </a:r>
            <a:r>
              <a:rPr lang="en-US" altLang="en-US" sz="1800" b="1" dirty="0">
                <a:solidFill>
                  <a:srgbClr val="7030A0"/>
                </a:solidFill>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xmlns="" id="{DA248202-711E-796C-9322-294D8272F7C8}"/>
              </a:ext>
            </a:extLst>
          </p:cNvPr>
          <p:cNvSpPr txBox="1"/>
          <p:nvPr/>
        </p:nvSpPr>
        <p:spPr>
          <a:xfrm>
            <a:off x="382384" y="3324829"/>
            <a:ext cx="11230495" cy="369332"/>
          </a:xfrm>
          <a:prstGeom prst="rect">
            <a:avLst/>
          </a:prstGeom>
          <a:noFill/>
        </p:spPr>
        <p:txBody>
          <a:bodyPr wrap="square" rtlCol="0">
            <a:spAutoFit/>
          </a:bodyPr>
          <a:lstStyle/>
          <a:p>
            <a:pPr algn="ctr"/>
            <a:r>
              <a:rPr lang="en-IN"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1600" b="1" dirty="0"/>
          </a:p>
        </p:txBody>
      </p:sp>
      <p:pic>
        <p:nvPicPr>
          <p:cNvPr id="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119641"/>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9813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312830-05A9-627B-229B-4C455CB27EB9}"/>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TABLE OF CONTENTS</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xmlns="" id="{B1CE8EC1-241F-A9E5-055C-8E8B1F066B56}"/>
              </a:ext>
            </a:extLst>
          </p:cNvPr>
          <p:cNvSpPr>
            <a:spLocks noGrp="1"/>
          </p:cNvSpPr>
          <p:nvPr>
            <p:ph type="ftr" sz="quarter" idx="11"/>
          </p:nvPr>
        </p:nvSpPr>
        <p:spPr/>
        <p:txBody>
          <a:bodyPr/>
          <a:lstStyle/>
          <a:p>
            <a:r>
              <a:rPr lang="en-IN" dirty="0"/>
              <a:t>2025-26</a:t>
            </a:r>
          </a:p>
        </p:txBody>
      </p:sp>
      <p:sp>
        <p:nvSpPr>
          <p:cNvPr id="9" name="Slide Number Placeholder 8">
            <a:extLst>
              <a:ext uri="{FF2B5EF4-FFF2-40B4-BE49-F238E27FC236}">
                <a16:creationId xmlns:a16="http://schemas.microsoft.com/office/drawing/2014/main" xmlns="" id="{FFC50BCD-9CB0-2F01-FF7D-61412C7CDF7B}"/>
              </a:ext>
            </a:extLst>
          </p:cNvPr>
          <p:cNvSpPr>
            <a:spLocks noGrp="1"/>
          </p:cNvSpPr>
          <p:nvPr>
            <p:ph type="sldNum" sz="quarter" idx="12"/>
          </p:nvPr>
        </p:nvSpPr>
        <p:spPr/>
        <p:txBody>
          <a:bodyPr/>
          <a:lstStyle/>
          <a:p>
            <a:fld id="{69FBB93A-4B32-4007-AACF-5243CED557C7}" type="slidenum">
              <a:rPr lang="en-IN" smtClean="0"/>
              <a:t>2</a:t>
            </a:fld>
            <a:endParaRPr lang="en-IN"/>
          </a:p>
        </p:txBody>
      </p:sp>
      <p:sp>
        <p:nvSpPr>
          <p:cNvPr id="10" name="Date Placeholder 9">
            <a:extLst>
              <a:ext uri="{FF2B5EF4-FFF2-40B4-BE49-F238E27FC236}">
                <a16:creationId xmlns:a16="http://schemas.microsoft.com/office/drawing/2014/main" xmlns="" id="{D1C8C61A-AD8A-F055-9DE5-7E8FBCCBF3C7}"/>
              </a:ext>
            </a:extLst>
          </p:cNvPr>
          <p:cNvSpPr>
            <a:spLocks noGrp="1"/>
          </p:cNvSpPr>
          <p:nvPr>
            <p:ph type="dt" sz="half" idx="10"/>
          </p:nvPr>
        </p:nvSpPr>
        <p:spPr/>
        <p:txBody>
          <a:bodyPr/>
          <a:lstStyle/>
          <a:p>
            <a:r>
              <a:rPr lang="en-US"/>
              <a:t>Dept of AI&amp;DS, SJCIT</a:t>
            </a:r>
            <a:endParaRPr lang="en-IN"/>
          </a:p>
        </p:txBody>
      </p:sp>
      <p:sp>
        <p:nvSpPr>
          <p:cNvPr id="6" name="TextBox 5">
            <a:extLst>
              <a:ext uri="{FF2B5EF4-FFF2-40B4-BE49-F238E27FC236}">
                <a16:creationId xmlns:a16="http://schemas.microsoft.com/office/drawing/2014/main" xmlns="" id="{D65FAF25-D943-CF5A-7916-7E9CAEE994F9}"/>
              </a:ext>
            </a:extLst>
          </p:cNvPr>
          <p:cNvSpPr txBox="1"/>
          <p:nvPr/>
        </p:nvSpPr>
        <p:spPr>
          <a:xfrm>
            <a:off x="3092683" y="1114115"/>
            <a:ext cx="5203069" cy="3970318"/>
          </a:xfrm>
          <a:prstGeom prst="rect">
            <a:avLst/>
          </a:prstGeom>
          <a:noFill/>
        </p:spPr>
        <p:txBody>
          <a:bodyPr wrap="square">
            <a:spAutoFit/>
          </a:bodyPr>
          <a:lstStyle/>
          <a:p>
            <a:pPr marL="800100" lvl="1" indent="-342900" algn="just">
              <a:lnSpc>
                <a:spcPct val="150000"/>
              </a:lnSpc>
              <a:buFont typeface="+mj-lt"/>
              <a:buAutoNum type="arabicPeriod"/>
              <a:tabLst>
                <a:tab pos="685800" algn="l"/>
              </a:tabLst>
            </a:pPr>
            <a:r>
              <a:rPr lang="en-US" sz="2400" spc="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spc="0" dirty="0">
                <a:effectLst/>
                <a:latin typeface="Times New Roman" panose="02020603050405020304" pitchFamily="18" charset="0"/>
                <a:ea typeface="Calibri" panose="020F0502020204030204" pitchFamily="34" charset="0"/>
                <a:cs typeface="Times New Roman" panose="02020603050405020304" pitchFamily="18" charset="0"/>
              </a:rPr>
              <a:t>Statement</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Abstract</a:t>
            </a:r>
            <a:r>
              <a:rPr lang="en-US" sz="2400" spc="-15" dirty="0">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400" spc="0" dirty="0">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z="2400" spc="-3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400" dirty="0">
                <a:latin typeface="Times New Roman" panose="02020603050405020304" pitchFamily="18" charset="0"/>
                <a:cs typeface="Times New Roman" panose="02020603050405020304" pitchFamily="18" charset="0"/>
              </a:rPr>
              <a:t>Objectives</a:t>
            </a:r>
            <a:endParaRPr lang="en-IN" sz="2400" dirty="0">
              <a:latin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400" spc="-10" dirty="0">
                <a:latin typeface="Times New Roman" panose="02020603050405020304" pitchFamily="18" charset="0"/>
                <a:ea typeface="Calibri" panose="020F0502020204030204" pitchFamily="34" charset="0"/>
                <a:cs typeface="Times New Roman" panose="02020603050405020304" pitchFamily="18" charset="0"/>
              </a:rPr>
              <a:t>Detailed Design and Architecture</a:t>
            </a:r>
          </a:p>
          <a:p>
            <a:pPr marL="800100" lvl="1" indent="-342900" algn="just">
              <a:lnSpc>
                <a:spcPct val="150000"/>
              </a:lnSpc>
              <a:buFont typeface="+mj-lt"/>
              <a:buAutoNum type="arabicPeriod"/>
              <a:tabLst>
                <a:tab pos="685800" algn="l"/>
              </a:tabLst>
            </a:pPr>
            <a:r>
              <a:rPr lang="en-US" sz="2400" spc="-10" dirty="0">
                <a:latin typeface="Times New Roman" panose="02020603050405020304" pitchFamily="18" charset="0"/>
                <a:ea typeface="Calibri" panose="020F0502020204030204" pitchFamily="34" charset="0"/>
                <a:cs typeface="Times New Roman" panose="02020603050405020304" pitchFamily="18" charset="0"/>
              </a:rPr>
              <a:t>Modules Split-up</a:t>
            </a:r>
          </a:p>
          <a:p>
            <a:pPr marL="800100" lvl="1" indent="-342900" algn="just">
              <a:lnSpc>
                <a:spcPct val="150000"/>
              </a:lnSpc>
              <a:buFont typeface="+mj-lt"/>
              <a:buAutoNum type="arabicPeriod"/>
              <a:tabLst>
                <a:tab pos="685800" algn="l"/>
              </a:tabLst>
            </a:pPr>
            <a:r>
              <a:rPr lang="en-US" sz="2400" spc="-10" dirty="0">
                <a:latin typeface="Times New Roman" panose="02020603050405020304" pitchFamily="18" charset="0"/>
                <a:ea typeface="Calibri" panose="020F0502020204030204" pitchFamily="34" charset="0"/>
                <a:cs typeface="Times New Roman" panose="02020603050405020304" pitchFamily="18" charset="0"/>
              </a:rPr>
              <a:t>Conclusion</a:t>
            </a:r>
          </a:p>
        </p:txBody>
      </p:sp>
      <p:pic>
        <p:nvPicPr>
          <p:cNvPr id="11" name="Picture 10">
            <a:extLst>
              <a:ext uri="{FF2B5EF4-FFF2-40B4-BE49-F238E27FC236}">
                <a16:creationId xmlns:a16="http://schemas.microsoft.com/office/drawing/2014/main" xmlns=""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4" name="TextBox 3">
            <a:extLst>
              <a:ext uri="{FF2B5EF4-FFF2-40B4-BE49-F238E27FC236}">
                <a16:creationId xmlns:a16="http://schemas.microsoft.com/office/drawing/2014/main" xmlns="" id="{7FF37A0F-8D9E-4D8C-86F3-8645EE94C70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022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xmlns="" id="{5918D989-2A37-3891-186E-A1261B11B375}"/>
              </a:ext>
            </a:extLst>
          </p:cNvPr>
          <p:cNvSpPr>
            <a:spLocks noGrp="1"/>
          </p:cNvSpPr>
          <p:nvPr>
            <p:ph type="ftr" sz="quarter" idx="11"/>
          </p:nvPr>
        </p:nvSpPr>
        <p:spPr/>
        <p:txBody>
          <a:bodyPr/>
          <a:lstStyle/>
          <a:p>
            <a:r>
              <a:rPr lang="en-IN"/>
              <a:t>2025-26</a:t>
            </a:r>
          </a:p>
        </p:txBody>
      </p:sp>
      <p:sp>
        <p:nvSpPr>
          <p:cNvPr id="8" name="Slide Number Placeholder 7">
            <a:extLst>
              <a:ext uri="{FF2B5EF4-FFF2-40B4-BE49-F238E27FC236}">
                <a16:creationId xmlns:a16="http://schemas.microsoft.com/office/drawing/2014/main" xmlns="" id="{37EE4447-BC01-0414-8033-AFD9F83C9B8C}"/>
              </a:ext>
            </a:extLst>
          </p:cNvPr>
          <p:cNvSpPr>
            <a:spLocks noGrp="1"/>
          </p:cNvSpPr>
          <p:nvPr>
            <p:ph type="sldNum" sz="quarter" idx="12"/>
          </p:nvPr>
        </p:nvSpPr>
        <p:spPr/>
        <p:txBody>
          <a:bodyPr/>
          <a:lstStyle/>
          <a:p>
            <a:fld id="{69FBB93A-4B32-4007-AACF-5243CED557C7}" type="slidenum">
              <a:rPr lang="en-IN" smtClean="0"/>
              <a:t>3</a:t>
            </a:fld>
            <a:endParaRPr lang="en-IN"/>
          </a:p>
        </p:txBody>
      </p:sp>
      <p:sp>
        <p:nvSpPr>
          <p:cNvPr id="9" name="Date Placeholder 8">
            <a:extLst>
              <a:ext uri="{FF2B5EF4-FFF2-40B4-BE49-F238E27FC236}">
                <a16:creationId xmlns:a16="http://schemas.microsoft.com/office/drawing/2014/main" xmlns="" id="{2A11A15E-64A8-D69C-C5B5-768B49DD6E0C}"/>
              </a:ext>
            </a:extLst>
          </p:cNvPr>
          <p:cNvSpPr>
            <a:spLocks noGrp="1"/>
          </p:cNvSpPr>
          <p:nvPr>
            <p:ph type="dt" sz="half" idx="10"/>
          </p:nvPr>
        </p:nvSpPr>
        <p:spPr/>
        <p:txBody>
          <a:bodyPr/>
          <a:lstStyle/>
          <a:p>
            <a:r>
              <a:rPr lang="en-US"/>
              <a:t>Dept of AI&amp;DS, SJCIT</a:t>
            </a:r>
            <a:endParaRPr lang="en-IN"/>
          </a:p>
        </p:txBody>
      </p:sp>
      <p:sp>
        <p:nvSpPr>
          <p:cNvPr id="13" name="TextBox 12">
            <a:extLst>
              <a:ext uri="{FF2B5EF4-FFF2-40B4-BE49-F238E27FC236}">
                <a16:creationId xmlns:a16="http://schemas.microsoft.com/office/drawing/2014/main" xmlns="" id="{00EA5885-70AA-13CC-CD2D-5E98D6E5F9E7}"/>
              </a:ext>
            </a:extLst>
          </p:cNvPr>
          <p:cNvSpPr txBox="1"/>
          <p:nvPr/>
        </p:nvSpPr>
        <p:spPr>
          <a:xfrm>
            <a:off x="656705" y="762537"/>
            <a:ext cx="10906298"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  PROBLEM STATEMENT</a:t>
            </a:r>
          </a:p>
        </p:txBody>
      </p:sp>
      <p:sp>
        <p:nvSpPr>
          <p:cNvPr id="24" name="TextBox 23">
            <a:extLst>
              <a:ext uri="{FF2B5EF4-FFF2-40B4-BE49-F238E27FC236}">
                <a16:creationId xmlns:a16="http://schemas.microsoft.com/office/drawing/2014/main" xmlns="" id="{D17B612F-A342-2C4E-759B-AE95768CF571}"/>
              </a:ext>
            </a:extLst>
          </p:cNvPr>
          <p:cNvSpPr txBox="1"/>
          <p:nvPr/>
        </p:nvSpPr>
        <p:spPr>
          <a:xfrm>
            <a:off x="1313411" y="3000895"/>
            <a:ext cx="8503920" cy="923330"/>
          </a:xfrm>
          <a:prstGeom prst="rect">
            <a:avLst/>
          </a:prstGeom>
          <a:noFill/>
        </p:spPr>
        <p:txBody>
          <a:bodyPr wrap="square" rtlCol="0">
            <a:spAutoFit/>
          </a:bodyPr>
          <a:lstStyle/>
          <a:p>
            <a:endParaRPr lang="en-IN" dirty="0"/>
          </a:p>
          <a:p>
            <a:r>
              <a:rPr lang="en-IN" dirty="0"/>
              <a:t>      </a:t>
            </a:r>
          </a:p>
          <a:p>
            <a:endParaRPr lang="en-IN" dirty="0"/>
          </a:p>
        </p:txBody>
      </p:sp>
      <p:sp>
        <p:nvSpPr>
          <p:cNvPr id="25" name="Rectangle 7">
            <a:extLst>
              <a:ext uri="{FF2B5EF4-FFF2-40B4-BE49-F238E27FC236}">
                <a16:creationId xmlns:a16="http://schemas.microsoft.com/office/drawing/2014/main" xmlns="" id="{A29F99FF-C800-ECAD-FBB2-4926E2621980}"/>
              </a:ext>
            </a:extLst>
          </p:cNvPr>
          <p:cNvSpPr>
            <a:spLocks noChangeArrowheads="1"/>
          </p:cNvSpPr>
          <p:nvPr/>
        </p:nvSpPr>
        <p:spPr bwMode="auto">
          <a:xfrm rot="10800000" flipV="1">
            <a:off x="1205343" y="1702042"/>
            <a:ext cx="9673245"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Depression is a major mental health issue affecting over 322 million people worldwide, contributing to significant emotional, social, and economic burdens. Traditional methods for diagnosing depression, such as clinical interviews and self-reported questionnaires, are subjective and time-consuming. EEG-based diagnosis provides objective insights into brain activity but is prone to human error due to the complexity of interpreting EEG signals. Thus, there is a critical need for an automated and accurate depression screening system using EEG signals.</a:t>
            </a:r>
          </a:p>
        </p:txBody>
      </p:sp>
      <p:pic>
        <p:nvPicPr>
          <p:cNvPr id="11" name="Picture 10">
            <a:extLst>
              <a:ext uri="{FF2B5EF4-FFF2-40B4-BE49-F238E27FC236}">
                <a16:creationId xmlns:a16="http://schemas.microsoft.com/office/drawing/2014/main" xmlns=""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2" name="TextBox 1">
            <a:extLst>
              <a:ext uri="{FF2B5EF4-FFF2-40B4-BE49-F238E27FC236}">
                <a16:creationId xmlns:a16="http://schemas.microsoft.com/office/drawing/2014/main" xmlns="" id="{7CAEA77E-F05E-4F22-B8F2-6497612EF5A2}"/>
              </a:ext>
            </a:extLst>
          </p:cNvPr>
          <p:cNvSpPr txBox="1"/>
          <p:nvPr/>
        </p:nvSpPr>
        <p:spPr>
          <a:xfrm>
            <a:off x="1" y="0"/>
            <a:ext cx="3844412"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99509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4F42FAF-7074-A3AF-8957-D541E8118C5A}"/>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53A1013D-FDCE-3AAE-381F-FE0C3678A8C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78B93B00-BE8F-100F-FB7C-018AA25631C3}"/>
              </a:ext>
            </a:extLst>
          </p:cNvPr>
          <p:cNvSpPr>
            <a:spLocks noGrp="1"/>
          </p:cNvSpPr>
          <p:nvPr>
            <p:ph type="sldNum" sz="quarter" idx="12"/>
          </p:nvPr>
        </p:nvSpPr>
        <p:spPr/>
        <p:txBody>
          <a:bodyPr/>
          <a:lstStyle/>
          <a:p>
            <a:fld id="{69FBB93A-4B32-4007-AACF-5243CED557C7}" type="slidenum">
              <a:rPr lang="en-IN" smtClean="0"/>
              <a:t>4</a:t>
            </a:fld>
            <a:endParaRPr lang="en-IN"/>
          </a:p>
        </p:txBody>
      </p:sp>
      <p:sp>
        <p:nvSpPr>
          <p:cNvPr id="8" name="TextBox 7">
            <a:extLst>
              <a:ext uri="{FF2B5EF4-FFF2-40B4-BE49-F238E27FC236}">
                <a16:creationId xmlns:a16="http://schemas.microsoft.com/office/drawing/2014/main" xmlns="" id="{975E666D-E8DF-9B53-F045-139D56A6B3F8}"/>
              </a:ext>
            </a:extLst>
          </p:cNvPr>
          <p:cNvSpPr txBox="1"/>
          <p:nvPr/>
        </p:nvSpPr>
        <p:spPr>
          <a:xfrm>
            <a:off x="2901159" y="969738"/>
            <a:ext cx="5012247"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ABSTRACT</a:t>
            </a:r>
            <a:endParaRPr lang="en-IN" sz="36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E961D619-FCE5-5899-8D40-118122A580D8}"/>
              </a:ext>
            </a:extLst>
          </p:cNvPr>
          <p:cNvSpPr txBox="1"/>
          <p:nvPr/>
        </p:nvSpPr>
        <p:spPr>
          <a:xfrm>
            <a:off x="991210" y="2237469"/>
            <a:ext cx="9765070" cy="258532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This project proposes a fully automated Depression Detection System using a novel Hybrid Neural Network, </a:t>
            </a:r>
            <a:r>
              <a:rPr lang="en-US" b="1"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which combines CNN for temporal learning and LSTM for sequence learning. EEG data from 21 depressed and 24 normal drug-free individuals were used. The system achieves </a:t>
            </a:r>
            <a:r>
              <a:rPr lang="en-US" b="1" dirty="0" smtClean="0">
                <a:latin typeface="Times New Roman" panose="02020603050405020304" pitchFamily="18" charset="0"/>
                <a:cs typeface="Times New Roman" panose="02020603050405020304" pitchFamily="18" charset="0"/>
              </a:rPr>
              <a:t>High</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and a </a:t>
            </a:r>
            <a:r>
              <a:rPr lang="en-US" b="1" dirty="0">
                <a:latin typeface="Times New Roman" panose="02020603050405020304" pitchFamily="18" charset="0"/>
                <a:cs typeface="Times New Roman" panose="02020603050405020304" pitchFamily="18" charset="0"/>
              </a:rPr>
              <a:t>MAE of 0.2040</a:t>
            </a:r>
            <a:r>
              <a:rPr lang="en-US"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a16="http://schemas.microsoft.com/office/drawing/2014/main" xmlns="" id="{C4F8313D-44C3-4E1B-83CA-F23C48901922}"/>
              </a:ext>
            </a:extLst>
          </p:cNvPr>
          <p:cNvSpPr txBox="1"/>
          <p:nvPr/>
        </p:nvSpPr>
        <p:spPr>
          <a:xfrm>
            <a:off x="0" y="0"/>
            <a:ext cx="3686185"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896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4D3319C-325A-4DB9-9826-ADCD9780163B}"/>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C626E6F0-649A-EAB4-8BE0-96BACA6E66A6}"/>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13403D44-82D9-98BA-E393-75E7F7BC05E8}"/>
              </a:ext>
            </a:extLst>
          </p:cNvPr>
          <p:cNvSpPr>
            <a:spLocks noGrp="1"/>
          </p:cNvSpPr>
          <p:nvPr>
            <p:ph type="sldNum" sz="quarter" idx="12"/>
          </p:nvPr>
        </p:nvSpPr>
        <p:spPr/>
        <p:txBody>
          <a:bodyPr/>
          <a:lstStyle/>
          <a:p>
            <a:fld id="{69FBB93A-4B32-4007-AACF-5243CED557C7}" type="slidenum">
              <a:rPr lang="en-IN" smtClean="0"/>
              <a:t>5</a:t>
            </a:fld>
            <a:endParaRPr lang="en-IN"/>
          </a:p>
        </p:txBody>
      </p:sp>
      <p:sp>
        <p:nvSpPr>
          <p:cNvPr id="8" name="TextBox 7">
            <a:extLst>
              <a:ext uri="{FF2B5EF4-FFF2-40B4-BE49-F238E27FC236}">
                <a16:creationId xmlns:a16="http://schemas.microsoft.com/office/drawing/2014/main" xmlns="" id="{DDE6FE54-E1FD-EB4D-019A-773679110245}"/>
              </a:ext>
            </a:extLst>
          </p:cNvPr>
          <p:cNvSpPr txBox="1"/>
          <p:nvPr/>
        </p:nvSpPr>
        <p:spPr>
          <a:xfrm>
            <a:off x="3038608" y="563038"/>
            <a:ext cx="5574449"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INTRODUCTION</a:t>
            </a:r>
            <a:endParaRPr lang="en-IN" sz="3600" dirty="0">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14" name="TextBox 13">
            <a:extLst>
              <a:ext uri="{FF2B5EF4-FFF2-40B4-BE49-F238E27FC236}">
                <a16:creationId xmlns:a16="http://schemas.microsoft.com/office/drawing/2014/main" xmlns="" id="{6178166F-E39D-D551-86D4-1F4DD7E87047}"/>
              </a:ext>
            </a:extLst>
          </p:cNvPr>
          <p:cNvSpPr txBox="1"/>
          <p:nvPr/>
        </p:nvSpPr>
        <p:spPr>
          <a:xfrm>
            <a:off x="497840" y="1454220"/>
            <a:ext cx="10779760" cy="258532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the project proposes a hybrid LSTM-CNN model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for efficient and accurate detection of depression using EEG data.</a:t>
            </a:r>
          </a:p>
        </p:txBody>
      </p:sp>
      <p:sp>
        <p:nvSpPr>
          <p:cNvPr id="5" name="TextBox 4">
            <a:extLst>
              <a:ext uri="{FF2B5EF4-FFF2-40B4-BE49-F238E27FC236}">
                <a16:creationId xmlns:a16="http://schemas.microsoft.com/office/drawing/2014/main" xmlns="" id="{2523FE7E-86E1-4E27-80F7-C880E91E634E}"/>
              </a:ext>
            </a:extLst>
          </p:cNvPr>
          <p:cNvSpPr txBox="1"/>
          <p:nvPr/>
        </p:nvSpPr>
        <p:spPr>
          <a:xfrm>
            <a:off x="0" y="33090"/>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847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xmlns="" id="{E2E89DF8-AD27-E7AB-7EB6-D993AD1DD4BD}"/>
              </a:ext>
            </a:extLst>
          </p:cNvPr>
          <p:cNvSpPr>
            <a:spLocks noGrp="1"/>
          </p:cNvSpPr>
          <p:nvPr>
            <p:ph type="ftr" sz="quarter" idx="11"/>
          </p:nvPr>
        </p:nvSpPr>
        <p:spPr/>
        <p:txBody>
          <a:bodyPr/>
          <a:lstStyle/>
          <a:p>
            <a:r>
              <a:rPr lang="en-IN"/>
              <a:t>2025-26</a:t>
            </a:r>
          </a:p>
        </p:txBody>
      </p:sp>
      <p:sp>
        <p:nvSpPr>
          <p:cNvPr id="8" name="Slide Number Placeholder 7">
            <a:extLst>
              <a:ext uri="{FF2B5EF4-FFF2-40B4-BE49-F238E27FC236}">
                <a16:creationId xmlns:a16="http://schemas.microsoft.com/office/drawing/2014/main" xmlns="" id="{D4645177-387E-3591-BCF5-CF8CECAB274F}"/>
              </a:ext>
            </a:extLst>
          </p:cNvPr>
          <p:cNvSpPr>
            <a:spLocks noGrp="1"/>
          </p:cNvSpPr>
          <p:nvPr>
            <p:ph type="sldNum" sz="quarter" idx="12"/>
          </p:nvPr>
        </p:nvSpPr>
        <p:spPr/>
        <p:txBody>
          <a:bodyPr/>
          <a:lstStyle/>
          <a:p>
            <a:fld id="{69FBB93A-4B32-4007-AACF-5243CED557C7}" type="slidenum">
              <a:rPr lang="en-IN" smtClean="0"/>
              <a:t>6</a:t>
            </a:fld>
            <a:endParaRPr lang="en-IN"/>
          </a:p>
        </p:txBody>
      </p:sp>
      <p:sp>
        <p:nvSpPr>
          <p:cNvPr id="9" name="Date Placeholder 8">
            <a:extLst>
              <a:ext uri="{FF2B5EF4-FFF2-40B4-BE49-F238E27FC236}">
                <a16:creationId xmlns:a16="http://schemas.microsoft.com/office/drawing/2014/main" xmlns="" id="{159A5EAB-1C55-7FFB-B219-EE13B91C9835}"/>
              </a:ext>
            </a:extLst>
          </p:cNvPr>
          <p:cNvSpPr>
            <a:spLocks noGrp="1"/>
          </p:cNvSpPr>
          <p:nvPr>
            <p:ph type="dt" sz="half" idx="10"/>
          </p:nvPr>
        </p:nvSpPr>
        <p:spPr/>
        <p:txBody>
          <a:bodyPr/>
          <a:lstStyle/>
          <a:p>
            <a:r>
              <a:rPr lang="en-US"/>
              <a:t>Dept of AI&amp;DS, SJCIT</a:t>
            </a:r>
            <a:endParaRPr lang="en-IN"/>
          </a:p>
        </p:txBody>
      </p:sp>
      <p:sp>
        <p:nvSpPr>
          <p:cNvPr id="4" name="TextBox 3">
            <a:extLst>
              <a:ext uri="{FF2B5EF4-FFF2-40B4-BE49-F238E27FC236}">
                <a16:creationId xmlns:a16="http://schemas.microsoft.com/office/drawing/2014/main" xmlns="" id="{E54E3464-4194-906E-53A2-DED27F8029F5}"/>
              </a:ext>
            </a:extLst>
          </p:cNvPr>
          <p:cNvSpPr txBox="1"/>
          <p:nvPr/>
        </p:nvSpPr>
        <p:spPr>
          <a:xfrm rot="10800000" flipV="1">
            <a:off x="3569551" y="769496"/>
            <a:ext cx="3928530"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xmlns="" id="{B3D9FE28-5B2D-7FF2-5B21-B6E044D70CB9}"/>
              </a:ext>
            </a:extLst>
          </p:cNvPr>
          <p:cNvSpPr txBox="1"/>
          <p:nvPr/>
        </p:nvSpPr>
        <p:spPr>
          <a:xfrm>
            <a:off x="1862051" y="2211185"/>
            <a:ext cx="7265324" cy="369332"/>
          </a:xfrm>
          <a:prstGeom prst="rect">
            <a:avLst/>
          </a:prstGeom>
          <a:noFill/>
        </p:spPr>
        <p:txBody>
          <a:bodyPr wrap="square" rtlCol="0">
            <a:spAutoFit/>
          </a:bodyPr>
          <a:lstStyle/>
          <a:p>
            <a:r>
              <a:rPr lang="en-IN" dirty="0"/>
              <a:t>   </a:t>
            </a:r>
          </a:p>
        </p:txBody>
      </p:sp>
      <p:sp>
        <p:nvSpPr>
          <p:cNvPr id="11" name="Rectangle 2">
            <a:extLst>
              <a:ext uri="{FF2B5EF4-FFF2-40B4-BE49-F238E27FC236}">
                <a16:creationId xmlns:a16="http://schemas.microsoft.com/office/drawing/2014/main" xmlns="" id="{DC431DBB-00A1-4FBE-F001-002F2D2724B5}"/>
              </a:ext>
            </a:extLst>
          </p:cNvPr>
          <p:cNvSpPr>
            <a:spLocks noChangeArrowheads="1"/>
          </p:cNvSpPr>
          <p:nvPr/>
        </p:nvSpPr>
        <p:spPr bwMode="auto">
          <a:xfrm>
            <a:off x="856213" y="2163645"/>
            <a:ext cx="10823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E82C41A3-4098-48C1-BDA2-8F18EB5EDDE4}"/>
              </a:ext>
            </a:extLst>
          </p:cNvPr>
          <p:cNvSpPr>
            <a:spLocks noChangeArrowheads="1"/>
          </p:cNvSpPr>
          <p:nvPr/>
        </p:nvSpPr>
        <p:spPr bwMode="auto">
          <a:xfrm rot="10800000" flipV="1">
            <a:off x="684414" y="1978998"/>
            <a:ext cx="1082317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 CNN-LSTM model to automate depression detection using EEG signals.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adaptability using cross-validation and diverse datasets while employing regularization techniques like L2 regularization and adaptive learning rates.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model accuracy and generalization through techniques such as dropout, data augmentation, and early stopping.</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computational complexity and latency for real-time depression screening on portable and cloud-based platforms.</a:t>
            </a:r>
          </a:p>
        </p:txBody>
      </p:sp>
      <p:pic>
        <p:nvPicPr>
          <p:cNvPr id="12" name="Picture 11">
            <a:extLst>
              <a:ext uri="{FF2B5EF4-FFF2-40B4-BE49-F238E27FC236}">
                <a16:creationId xmlns:a16="http://schemas.microsoft.com/office/drawing/2014/main" xmlns=""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3" name="TextBox 2">
            <a:extLst>
              <a:ext uri="{FF2B5EF4-FFF2-40B4-BE49-F238E27FC236}">
                <a16:creationId xmlns:a16="http://schemas.microsoft.com/office/drawing/2014/main" xmlns="" id="{8DCA61BE-945C-409E-9D9E-A34C85619618}"/>
              </a:ext>
            </a:extLst>
          </p:cNvPr>
          <p:cNvSpPr txBox="1"/>
          <p:nvPr/>
        </p:nvSpPr>
        <p:spPr>
          <a:xfrm>
            <a:off x="0" y="33090"/>
            <a:ext cx="413938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0986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9E31419-B03D-2EE5-D520-BA71148EA491}"/>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9EA61393-782B-B950-1930-D79073AAA61B}"/>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AD256BFA-56E7-91F7-1319-6A9C0BEF82D5}"/>
              </a:ext>
            </a:extLst>
          </p:cNvPr>
          <p:cNvSpPr>
            <a:spLocks noGrp="1"/>
          </p:cNvSpPr>
          <p:nvPr>
            <p:ph type="sldNum" sz="quarter" idx="12"/>
          </p:nvPr>
        </p:nvSpPr>
        <p:spPr/>
        <p:txBody>
          <a:bodyPr/>
          <a:lstStyle/>
          <a:p>
            <a:fld id="{69FBB93A-4B32-4007-AACF-5243CED557C7}" type="slidenum">
              <a:rPr lang="en-IN" smtClean="0"/>
              <a:t>7</a:t>
            </a:fld>
            <a:endParaRPr lang="en-IN"/>
          </a:p>
        </p:txBody>
      </p:sp>
      <p:sp>
        <p:nvSpPr>
          <p:cNvPr id="8" name="TextBox 7">
            <a:extLst>
              <a:ext uri="{FF2B5EF4-FFF2-40B4-BE49-F238E27FC236}">
                <a16:creationId xmlns:a16="http://schemas.microsoft.com/office/drawing/2014/main" xmlns="" id="{E4B2B837-662B-7E49-E687-6622E6114692}"/>
              </a:ext>
            </a:extLst>
          </p:cNvPr>
          <p:cNvSpPr txBox="1"/>
          <p:nvPr/>
        </p:nvSpPr>
        <p:spPr>
          <a:xfrm>
            <a:off x="2412989" y="641244"/>
            <a:ext cx="6903732" cy="646331"/>
          </a:xfrm>
          <a:prstGeom prst="rect">
            <a:avLst/>
          </a:prstGeom>
          <a:noFill/>
        </p:spPr>
        <p:txBody>
          <a:bodyPr wrap="square">
            <a:spAutoFit/>
          </a:bodyPr>
          <a:lstStyle/>
          <a:p>
            <a:pPr lvl="1" algn="just">
              <a:lnSpc>
                <a:spcPct val="150000"/>
              </a:lnSpc>
              <a:tabLst>
                <a:tab pos="685800" algn="l"/>
              </a:tabLst>
            </a:pPr>
            <a:r>
              <a:rPr lang="en-US" sz="2400" b="1" spc="-10" dirty="0">
                <a:latin typeface="Times New Roman" panose="02020603050405020304" pitchFamily="18" charset="0"/>
                <a:ea typeface="Calibri" panose="020F0502020204030204" pitchFamily="34" charset="0"/>
                <a:cs typeface="Times New Roman" panose="02020603050405020304" pitchFamily="18" charset="0"/>
              </a:rPr>
              <a:t>DETAILED DESIGN AND ARCHITECTURE</a:t>
            </a:r>
          </a:p>
        </p:txBody>
      </p:sp>
      <p:pic>
        <p:nvPicPr>
          <p:cNvPr id="9" name="Picture 8">
            <a:extLst>
              <a:ext uri="{FF2B5EF4-FFF2-40B4-BE49-F238E27FC236}">
                <a16:creationId xmlns:a16="http://schemas.microsoft.com/office/drawing/2014/main" xmlns=""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a16="http://schemas.microsoft.com/office/drawing/2014/main" xmlns="" id="{0226927A-D67E-464F-85DE-8DC82828DF4D}"/>
              </a:ext>
            </a:extLst>
          </p:cNvPr>
          <p:cNvSpPr txBox="1"/>
          <p:nvPr/>
        </p:nvSpPr>
        <p:spPr>
          <a:xfrm>
            <a:off x="0" y="0"/>
            <a:ext cx="3775587"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6" name="AutoShape 2" descr="image.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p:cNvSpPr/>
          <p:nvPr/>
        </p:nvSpPr>
        <p:spPr>
          <a:xfrm>
            <a:off x="4714508" y="4920734"/>
            <a:ext cx="2454903" cy="369332"/>
          </a:xfrm>
          <a:prstGeom prst="rect">
            <a:avLst/>
          </a:prstGeom>
        </p:spPr>
        <p:txBody>
          <a:bodyPr wrap="none">
            <a:spAutoFit/>
          </a:bodyPr>
          <a:lstStyle/>
          <a:p>
            <a:r>
              <a:rPr lang="en-IN" b="1" dirty="0" smtClean="0">
                <a:latin typeface="Times New Roman" panose="02020603050405020304" pitchFamily="18" charset="0"/>
                <a:cs typeface="Times New Roman" panose="02020603050405020304" pitchFamily="18" charset="0"/>
              </a:rPr>
              <a:t>Proposed  </a:t>
            </a:r>
            <a:r>
              <a:rPr lang="en-IN" b="1" dirty="0">
                <a:latin typeface="Times New Roman" panose="02020603050405020304" pitchFamily="18" charset="0"/>
                <a:cs typeface="Times New Roman" panose="02020603050405020304" pitchFamily="18" charset="0"/>
              </a:rPr>
              <a:t>Architecture</a:t>
            </a:r>
          </a:p>
        </p:txBody>
      </p:sp>
      <p:pic>
        <p:nvPicPr>
          <p:cNvPr id="11" name="Picture 4" descr="C:\Users\chara\pictures\Screenshots\Screenshot 2025-10-06 16542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030" y="1452881"/>
            <a:ext cx="8188330" cy="319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43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Dept of AI&amp;DS, SJCIT</a:t>
            </a:r>
            <a:endParaRPr lang="en-IN"/>
          </a:p>
        </p:txBody>
      </p:sp>
      <p:sp>
        <p:nvSpPr>
          <p:cNvPr id="3" name="Footer Placeholder 2"/>
          <p:cNvSpPr>
            <a:spLocks noGrp="1"/>
          </p:cNvSpPr>
          <p:nvPr>
            <p:ph type="ftr" sz="quarter" idx="11"/>
          </p:nvPr>
        </p:nvSpPr>
        <p:spPr/>
        <p:txBody>
          <a:bodyPr/>
          <a:lstStyle/>
          <a:p>
            <a:r>
              <a:rPr lang="en-IN"/>
              <a:t>2025-26</a:t>
            </a:r>
          </a:p>
        </p:txBody>
      </p:sp>
      <p:sp>
        <p:nvSpPr>
          <p:cNvPr id="4" name="Slide Number Placeholder 3"/>
          <p:cNvSpPr>
            <a:spLocks noGrp="1"/>
          </p:cNvSpPr>
          <p:nvPr>
            <p:ph type="sldNum" sz="quarter" idx="12"/>
          </p:nvPr>
        </p:nvSpPr>
        <p:spPr/>
        <p:txBody>
          <a:bodyPr/>
          <a:lstStyle/>
          <a:p>
            <a:fld id="{69FBB93A-4B32-4007-AACF-5243CED557C7}" type="slidenum">
              <a:rPr lang="en-IN" smtClean="0"/>
              <a:t>8</a:t>
            </a:fld>
            <a:endParaRPr lang="en-IN"/>
          </a:p>
        </p:txBody>
      </p:sp>
      <p:pic>
        <p:nvPicPr>
          <p:cNvPr id="5" name="Picture 4" descr="C:\Users\chara\OneDrive\Pictures\Screenshots\Screenshot 2025-05-26 20022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9600" y="1118075"/>
            <a:ext cx="5527040" cy="39011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338320" y="5537200"/>
            <a:ext cx="2182264"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Model Architecture</a:t>
            </a:r>
          </a:p>
        </p:txBody>
      </p:sp>
      <p:pic>
        <p:nvPicPr>
          <p:cNvPr id="8" name="Picture 7">
            <a:extLst>
              <a:ext uri="{FF2B5EF4-FFF2-40B4-BE49-F238E27FC236}">
                <a16:creationId xmlns:a16="http://schemas.microsoft.com/office/drawing/2014/main" xmlns="" id="{F9DA3AA8-3FCD-AB8A-C59F-BEA60C17EF49}"/>
              </a:ext>
            </a:extLst>
          </p:cNvPr>
          <p:cNvPicPr>
            <a:picLocks noChangeAspect="1"/>
          </p:cNvPicPr>
          <p:nvPr/>
        </p:nvPicPr>
        <p:blipFill>
          <a:blip r:embed="rId3"/>
          <a:stretch>
            <a:fillRect/>
          </a:stretch>
        </p:blipFill>
        <p:spPr>
          <a:xfrm>
            <a:off x="10251051" y="226142"/>
            <a:ext cx="1581150" cy="1291098"/>
          </a:xfrm>
          <a:prstGeom prst="rect">
            <a:avLst/>
          </a:prstGeom>
        </p:spPr>
      </p:pic>
      <p:sp>
        <p:nvSpPr>
          <p:cNvPr id="10" name="TextBox 9">
            <a:extLst>
              <a:ext uri="{FF2B5EF4-FFF2-40B4-BE49-F238E27FC236}">
                <a16:creationId xmlns:a16="http://schemas.microsoft.com/office/drawing/2014/main" xmlns="" id="{C19E5271-4005-8B00-405C-957D9C44EA3C}"/>
              </a:ext>
            </a:extLst>
          </p:cNvPr>
          <p:cNvSpPr txBox="1"/>
          <p:nvPr/>
        </p:nvSpPr>
        <p:spPr>
          <a:xfrm>
            <a:off x="137652" y="127819"/>
            <a:ext cx="9006348" cy="215444"/>
          </a:xfrm>
          <a:prstGeom prst="rect">
            <a:avLst/>
          </a:prstGeom>
          <a:noFill/>
        </p:spPr>
        <p:txBody>
          <a:bodyPr wrap="square">
            <a:spAutoFit/>
          </a:bodyPr>
          <a:lstStyle/>
          <a:p>
            <a:pPr marL="0" algn="l" rtl="0" eaLnBrk="1" latinLnBrk="0" hangingPunct="1">
              <a:buNone/>
            </a:pPr>
            <a:r>
              <a:rPr lang="en-IN" sz="800" kern="120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effectLst/>
            </a:endParaRPr>
          </a:p>
        </p:txBody>
      </p:sp>
    </p:spTree>
    <p:extLst>
      <p:ext uri="{BB962C8B-B14F-4D97-AF65-F5344CB8AC3E}">
        <p14:creationId xmlns:p14="http://schemas.microsoft.com/office/powerpoint/2010/main" val="40321973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Dept of AI&amp;DS, SJCIT</a:t>
            </a:r>
            <a:endParaRPr lang="en-IN"/>
          </a:p>
        </p:txBody>
      </p:sp>
      <p:sp>
        <p:nvSpPr>
          <p:cNvPr id="3" name="Footer Placeholder 2"/>
          <p:cNvSpPr>
            <a:spLocks noGrp="1"/>
          </p:cNvSpPr>
          <p:nvPr>
            <p:ph type="ftr" sz="quarter" idx="11"/>
          </p:nvPr>
        </p:nvSpPr>
        <p:spPr/>
        <p:txBody>
          <a:bodyPr/>
          <a:lstStyle/>
          <a:p>
            <a:r>
              <a:rPr lang="en-IN"/>
              <a:t>2025-26</a:t>
            </a:r>
          </a:p>
        </p:txBody>
      </p:sp>
      <p:sp>
        <p:nvSpPr>
          <p:cNvPr id="4" name="Slide Number Placeholder 3"/>
          <p:cNvSpPr>
            <a:spLocks noGrp="1"/>
          </p:cNvSpPr>
          <p:nvPr>
            <p:ph type="sldNum" sz="quarter" idx="12"/>
          </p:nvPr>
        </p:nvSpPr>
        <p:spPr/>
        <p:txBody>
          <a:bodyPr/>
          <a:lstStyle/>
          <a:p>
            <a:fld id="{69FBB93A-4B32-4007-AACF-5243CED557C7}" type="slidenum">
              <a:rPr lang="en-IN" smtClean="0"/>
              <a:t>9</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899" y="841375"/>
            <a:ext cx="6678613"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450080" y="5276185"/>
            <a:ext cx="2347759"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LSTM Architecture</a:t>
            </a:r>
          </a:p>
        </p:txBody>
      </p:sp>
      <p:pic>
        <p:nvPicPr>
          <p:cNvPr id="7" name="Picture 6">
            <a:extLst>
              <a:ext uri="{FF2B5EF4-FFF2-40B4-BE49-F238E27FC236}">
                <a16:creationId xmlns:a16="http://schemas.microsoft.com/office/drawing/2014/main" xmlns="" id="{86DCA726-C3AE-E7AF-0C60-E73EAA4916EE}"/>
              </a:ext>
            </a:extLst>
          </p:cNvPr>
          <p:cNvPicPr>
            <a:picLocks noChangeAspect="1"/>
          </p:cNvPicPr>
          <p:nvPr/>
        </p:nvPicPr>
        <p:blipFill>
          <a:blip r:embed="rId3"/>
          <a:stretch>
            <a:fillRect/>
          </a:stretch>
        </p:blipFill>
        <p:spPr>
          <a:xfrm>
            <a:off x="10421908" y="218153"/>
            <a:ext cx="1581150" cy="876300"/>
          </a:xfrm>
          <a:prstGeom prst="rect">
            <a:avLst/>
          </a:prstGeom>
        </p:spPr>
      </p:pic>
      <p:sp>
        <p:nvSpPr>
          <p:cNvPr id="9" name="TextBox 8">
            <a:extLst>
              <a:ext uri="{FF2B5EF4-FFF2-40B4-BE49-F238E27FC236}">
                <a16:creationId xmlns:a16="http://schemas.microsoft.com/office/drawing/2014/main" xmlns="" id="{18E61E53-48F4-C2F7-0C54-79E8A03625A2}"/>
              </a:ext>
            </a:extLst>
          </p:cNvPr>
          <p:cNvSpPr txBox="1"/>
          <p:nvPr/>
        </p:nvSpPr>
        <p:spPr>
          <a:xfrm>
            <a:off x="0" y="57885"/>
            <a:ext cx="914400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Tree>
    <p:extLst>
      <p:ext uri="{BB962C8B-B14F-4D97-AF65-F5344CB8AC3E}">
        <p14:creationId xmlns:p14="http://schemas.microsoft.com/office/powerpoint/2010/main" val="38427229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Dept of AI&amp;DS, SJCIT</a:t>
            </a:r>
            <a:endParaRPr lang="en-IN"/>
          </a:p>
        </p:txBody>
      </p:sp>
      <p:sp>
        <p:nvSpPr>
          <p:cNvPr id="3" name="Footer Placeholder 2"/>
          <p:cNvSpPr>
            <a:spLocks noGrp="1"/>
          </p:cNvSpPr>
          <p:nvPr>
            <p:ph type="ftr" sz="quarter" idx="11"/>
          </p:nvPr>
        </p:nvSpPr>
        <p:spPr/>
        <p:txBody>
          <a:bodyPr/>
          <a:lstStyle/>
          <a:p>
            <a:r>
              <a:rPr lang="en-IN"/>
              <a:t>2025-26</a:t>
            </a:r>
          </a:p>
        </p:txBody>
      </p:sp>
      <p:sp>
        <p:nvSpPr>
          <p:cNvPr id="4" name="Slide Number Placeholder 3"/>
          <p:cNvSpPr>
            <a:spLocks noGrp="1"/>
          </p:cNvSpPr>
          <p:nvPr>
            <p:ph type="sldNum" sz="quarter" idx="12"/>
          </p:nvPr>
        </p:nvSpPr>
        <p:spPr/>
        <p:txBody>
          <a:bodyPr/>
          <a:lstStyle/>
          <a:p>
            <a:fld id="{69FBB93A-4B32-4007-AACF-5243CED557C7}" type="slidenum">
              <a:rPr lang="en-IN" smtClean="0"/>
              <a:t>10</a:t>
            </a:fld>
            <a:endParaRPr lang="en-IN"/>
          </a:p>
        </p:txBody>
      </p:sp>
      <p:pic>
        <p:nvPicPr>
          <p:cNvPr id="5" name="Picture 4" descr="C:\Users\chara\AppData\Local\Packages\5319275A.WhatsAppDesktop_cv1g1gvanyjgm\TempState\82AAFCA3E03771835C2E1ACB19FDE2D4\WhatsApp Image 2025-05-30 at 10.06.34_c239edf2.jpg"/>
          <p:cNvPicPr/>
          <p:nvPr/>
        </p:nvPicPr>
        <p:blipFill>
          <a:blip r:embed="rId2">
            <a:extLst>
              <a:ext uri="{28A0092B-C50C-407E-A947-70E740481C1C}">
                <a14:useLocalDpi xmlns:a14="http://schemas.microsoft.com/office/drawing/2010/main" val="0"/>
              </a:ext>
            </a:extLst>
          </a:blip>
          <a:srcRect/>
          <a:stretch>
            <a:fillRect/>
          </a:stretch>
        </p:blipFill>
        <p:spPr bwMode="auto">
          <a:xfrm>
            <a:off x="1391920" y="1012507"/>
            <a:ext cx="9215120" cy="3823653"/>
          </a:xfrm>
          <a:prstGeom prst="rect">
            <a:avLst/>
          </a:prstGeom>
          <a:noFill/>
          <a:ln>
            <a:noFill/>
          </a:ln>
        </p:spPr>
      </p:pic>
      <p:sp>
        <p:nvSpPr>
          <p:cNvPr id="6" name="TextBox 5"/>
          <p:cNvSpPr txBox="1"/>
          <p:nvPr/>
        </p:nvSpPr>
        <p:spPr>
          <a:xfrm>
            <a:off x="5200539" y="5205065"/>
            <a:ext cx="1446230" cy="400110"/>
          </a:xfrm>
          <a:prstGeom prst="rect">
            <a:avLst/>
          </a:prstGeom>
          <a:noFill/>
        </p:spPr>
        <p:txBody>
          <a:bodyPr wrap="none" rtlCol="0">
            <a:spAutoFit/>
          </a:bodyPr>
          <a:lstStyle/>
          <a:p>
            <a:r>
              <a:rPr lang="en-IN" sz="2000" b="1" dirty="0">
                <a:latin typeface="Times New Roman" panose="02020603050405020304" pitchFamily="18" charset="0"/>
                <a:cs typeface="Times New Roman" panose="02020603050405020304" pitchFamily="18" charset="0"/>
              </a:rPr>
              <a:t>Flow Chart</a:t>
            </a:r>
          </a:p>
        </p:txBody>
      </p:sp>
      <p:pic>
        <p:nvPicPr>
          <p:cNvPr id="8" name="Picture 7">
            <a:extLst>
              <a:ext uri="{FF2B5EF4-FFF2-40B4-BE49-F238E27FC236}">
                <a16:creationId xmlns:a16="http://schemas.microsoft.com/office/drawing/2014/main" xmlns="" id="{93D2C5A8-93CC-5459-C9AD-0F909D602CB6}"/>
              </a:ext>
            </a:extLst>
          </p:cNvPr>
          <p:cNvPicPr>
            <a:picLocks noChangeAspect="1"/>
          </p:cNvPicPr>
          <p:nvPr/>
        </p:nvPicPr>
        <p:blipFill>
          <a:blip r:embed="rId3"/>
          <a:stretch>
            <a:fillRect/>
          </a:stretch>
        </p:blipFill>
        <p:spPr>
          <a:xfrm>
            <a:off x="10319877" y="256528"/>
            <a:ext cx="1581150" cy="876300"/>
          </a:xfrm>
          <a:prstGeom prst="rect">
            <a:avLst/>
          </a:prstGeom>
        </p:spPr>
      </p:pic>
      <p:sp>
        <p:nvSpPr>
          <p:cNvPr id="10" name="TextBox 9">
            <a:extLst>
              <a:ext uri="{FF2B5EF4-FFF2-40B4-BE49-F238E27FC236}">
                <a16:creationId xmlns:a16="http://schemas.microsoft.com/office/drawing/2014/main" xmlns="" id="{9E5659FA-F0B7-CD71-2449-B4CE682B6087}"/>
              </a:ext>
            </a:extLst>
          </p:cNvPr>
          <p:cNvSpPr txBox="1"/>
          <p:nvPr/>
        </p:nvSpPr>
        <p:spPr>
          <a:xfrm>
            <a:off x="97933" y="174231"/>
            <a:ext cx="9046067" cy="215444"/>
          </a:xfrm>
          <a:prstGeom prst="rect">
            <a:avLst/>
          </a:prstGeom>
          <a:noFill/>
        </p:spPr>
        <p:txBody>
          <a:bodyPr wrap="square">
            <a:spAutoFit/>
          </a:bodyPr>
          <a:lstStyle/>
          <a:p>
            <a:pPr marL="0" algn="l" rtl="0" eaLnBrk="1" latinLnBrk="0" hangingPunct="1">
              <a:buNone/>
            </a:pPr>
            <a:r>
              <a:rPr lang="en-IN" sz="800" kern="120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effectLst/>
            </a:endParaRPr>
          </a:p>
        </p:txBody>
      </p:sp>
    </p:spTree>
    <p:extLst>
      <p:ext uri="{BB962C8B-B14F-4D97-AF65-F5344CB8AC3E}">
        <p14:creationId xmlns:p14="http://schemas.microsoft.com/office/powerpoint/2010/main" val="25311099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11</a:t>
            </a:fld>
            <a:endParaRPr lang="en-IN"/>
          </a:p>
        </p:txBody>
      </p:sp>
      <p:sp>
        <p:nvSpPr>
          <p:cNvPr id="6" name="Rectangle 5"/>
          <p:cNvSpPr/>
          <p:nvPr/>
        </p:nvSpPr>
        <p:spPr>
          <a:xfrm>
            <a:off x="4725901" y="5025577"/>
            <a:ext cx="2207656" cy="400110"/>
          </a:xfrm>
          <a:prstGeom prst="rect">
            <a:avLst/>
          </a:prstGeom>
        </p:spPr>
        <p:txBody>
          <a:bodyPr wrap="none">
            <a:spAutoFit/>
          </a:bodyPr>
          <a:lstStyle/>
          <a:p>
            <a:r>
              <a:rPr lang="en-IN" sz="2000" b="1" dirty="0" smtClean="0">
                <a:latin typeface="Times New Roman" panose="02020603050405020304" pitchFamily="18" charset="0"/>
                <a:cs typeface="Times New Roman" panose="02020603050405020304" pitchFamily="18" charset="0"/>
              </a:rPr>
              <a:t>Use Case Diagram</a:t>
            </a:r>
            <a:endParaRPr lang="en-IN"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0" y="148742"/>
            <a:ext cx="7833298" cy="215444"/>
          </a:xfrm>
          <a:prstGeom prst="rect">
            <a:avLst/>
          </a:prstGeom>
        </p:spPr>
        <p:txBody>
          <a:bodyPr wrap="square">
            <a:spAutoFit/>
          </a:bodyPr>
          <a:lstStyle/>
          <a:p>
            <a:r>
              <a:rPr lang="en-IN" sz="800" dirty="0">
                <a:solidFill>
                  <a:srgbClr val="000000"/>
                </a:solidFill>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p>
        </p:txBody>
      </p:sp>
      <p:pic>
        <p:nvPicPr>
          <p:cNvPr id="8" name="Picture 7">
            <a:extLst>
              <a:ext uri="{FF2B5EF4-FFF2-40B4-BE49-F238E27FC236}">
                <a16:creationId xmlns:a16="http://schemas.microsoft.com/office/drawing/2014/main" xmlns="" id="{93D2C5A8-93CC-5459-C9AD-0F909D602CB6}"/>
              </a:ext>
            </a:extLst>
          </p:cNvPr>
          <p:cNvPicPr>
            <a:picLocks noChangeAspect="1"/>
          </p:cNvPicPr>
          <p:nvPr/>
        </p:nvPicPr>
        <p:blipFill>
          <a:blip r:embed="rId2"/>
          <a:stretch>
            <a:fillRect/>
          </a:stretch>
        </p:blipFill>
        <p:spPr>
          <a:xfrm>
            <a:off x="10319877" y="247650"/>
            <a:ext cx="1581150" cy="87630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9390" y="1123950"/>
            <a:ext cx="5793173" cy="3660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1845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12</a:t>
            </a:fld>
            <a:endParaRPr lang="en-IN"/>
          </a:p>
        </p:txBody>
      </p:sp>
      <p:pic>
        <p:nvPicPr>
          <p:cNvPr id="1026" name="Picture 2" descr="C:\Users\chara\Desktop\Major project\Sequence_Diagra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1505" y="577484"/>
            <a:ext cx="4724400" cy="4667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935984" y="5468645"/>
            <a:ext cx="2242922" cy="400110"/>
          </a:xfrm>
          <a:prstGeom prst="rect">
            <a:avLst/>
          </a:prstGeom>
          <a:noFill/>
        </p:spPr>
        <p:txBody>
          <a:bodyPr wrap="none" rtlCol="0">
            <a:spAutoFit/>
          </a:bodyPr>
          <a:lstStyle/>
          <a:p>
            <a:r>
              <a:rPr lang="en-IN" sz="2000" b="1" dirty="0" smtClean="0">
                <a:latin typeface="Times New Roman" panose="02020603050405020304" pitchFamily="18" charset="0"/>
                <a:cs typeface="Times New Roman" panose="02020603050405020304" pitchFamily="18" charset="0"/>
              </a:rPr>
              <a:t>Sequence Diagram</a:t>
            </a:r>
            <a:endParaRPr lang="en-IN"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0" y="14667"/>
            <a:ext cx="7590408" cy="215444"/>
          </a:xfrm>
          <a:prstGeom prst="rect">
            <a:avLst/>
          </a:prstGeom>
        </p:spPr>
        <p:txBody>
          <a:bodyPr wrap="square">
            <a:spAutoFit/>
          </a:bodyPr>
          <a:lstStyle/>
          <a:p>
            <a:r>
              <a:rPr lang="en-IN" sz="800" dirty="0">
                <a:solidFill>
                  <a:srgbClr val="000000"/>
                </a:solidFill>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p>
        </p:txBody>
      </p:sp>
      <p:pic>
        <p:nvPicPr>
          <p:cNvPr id="8" name="Picture 7">
            <a:extLst>
              <a:ext uri="{FF2B5EF4-FFF2-40B4-BE49-F238E27FC236}">
                <a16:creationId xmlns:a16="http://schemas.microsoft.com/office/drawing/2014/main" xmlns="" id="{93D2C5A8-93CC-5459-C9AD-0F909D602CB6}"/>
              </a:ext>
            </a:extLst>
          </p:cNvPr>
          <p:cNvPicPr>
            <a:picLocks noChangeAspect="1"/>
          </p:cNvPicPr>
          <p:nvPr/>
        </p:nvPicPr>
        <p:blipFill>
          <a:blip r:embed="rId3"/>
          <a:stretch>
            <a:fillRect/>
          </a:stretch>
        </p:blipFill>
        <p:spPr>
          <a:xfrm>
            <a:off x="10319877" y="70994"/>
            <a:ext cx="1581150" cy="1012979"/>
          </a:xfrm>
          <a:prstGeom prst="rect">
            <a:avLst/>
          </a:prstGeom>
        </p:spPr>
      </p:pic>
    </p:spTree>
    <p:extLst>
      <p:ext uri="{BB962C8B-B14F-4D97-AF65-F5344CB8AC3E}">
        <p14:creationId xmlns:p14="http://schemas.microsoft.com/office/powerpoint/2010/main" val="33909750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0A7E4CE-49BF-C5E3-B8B2-A98C8A0CC399}"/>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C7DBDC19-B295-B0D2-C983-E95571F9769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4F5C4834-F8D7-1E63-4775-8C978512337E}"/>
              </a:ext>
            </a:extLst>
          </p:cNvPr>
          <p:cNvSpPr>
            <a:spLocks noGrp="1"/>
          </p:cNvSpPr>
          <p:nvPr>
            <p:ph type="sldNum" sz="quarter" idx="12"/>
          </p:nvPr>
        </p:nvSpPr>
        <p:spPr/>
        <p:txBody>
          <a:bodyPr/>
          <a:lstStyle/>
          <a:p>
            <a:fld id="{69FBB93A-4B32-4007-AACF-5243CED557C7}" type="slidenum">
              <a:rPr lang="en-IN" smtClean="0"/>
              <a:t>13</a:t>
            </a:fld>
            <a:endParaRPr lang="en-IN"/>
          </a:p>
        </p:txBody>
      </p:sp>
      <p:sp>
        <p:nvSpPr>
          <p:cNvPr id="5" name="TextBox 4">
            <a:extLst>
              <a:ext uri="{FF2B5EF4-FFF2-40B4-BE49-F238E27FC236}">
                <a16:creationId xmlns:a16="http://schemas.microsoft.com/office/drawing/2014/main" xmlns="" id="{C719574A-6E99-7C54-C3A7-C405642977B4}"/>
              </a:ext>
            </a:extLst>
          </p:cNvPr>
          <p:cNvSpPr txBox="1"/>
          <p:nvPr/>
        </p:nvSpPr>
        <p:spPr>
          <a:xfrm>
            <a:off x="2940156" y="979610"/>
            <a:ext cx="532845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MODULES SPLIT-UP</a:t>
            </a:r>
          </a:p>
        </p:txBody>
      </p:sp>
      <p:sp>
        <p:nvSpPr>
          <p:cNvPr id="7" name="Rectangle 1">
            <a:extLst>
              <a:ext uri="{FF2B5EF4-FFF2-40B4-BE49-F238E27FC236}">
                <a16:creationId xmlns:a16="http://schemas.microsoft.com/office/drawing/2014/main" xmlns="" id="{01E48251-2FF5-B259-00FC-8C87F65771C3}"/>
              </a:ext>
            </a:extLst>
          </p:cNvPr>
          <p:cNvSpPr>
            <a:spLocks noChangeArrowheads="1"/>
          </p:cNvSpPr>
          <p:nvPr/>
        </p:nvSpPr>
        <p:spPr bwMode="auto">
          <a:xfrm rot="10800000" flipV="1">
            <a:off x="1238864" y="2191456"/>
            <a:ext cx="8731045"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LIST OF </a:t>
            </a:r>
            <a:r>
              <a:rPr lang="en-US" altLang="en-US" sz="2000" b="1" dirty="0" smtClean="0">
                <a:latin typeface="Times New Roman" panose="02020603050405020304" pitchFamily="18" charset="0"/>
                <a:cs typeface="Times New Roman" panose="02020603050405020304" pitchFamily="18" charset="0"/>
              </a:rPr>
              <a:t>MODULES</a:t>
            </a:r>
            <a:endParaRPr lang="en-US" altLang="en-US" sz="2000" b="1" dirty="0">
              <a:latin typeface="Times New Roman" panose="02020603050405020304" pitchFamily="18" charset="0"/>
              <a:cs typeface="Times New Roman" panose="02020603050405020304" pitchFamily="18" charset="0"/>
            </a:endParaRPr>
          </a:p>
          <a:p>
            <a:pPr marL="342900" indent="-342900" defTabSz="914400" eaLnBrk="0" fontAlgn="base" hangingPunct="0">
              <a:lnSpc>
                <a:spcPct val="150000"/>
              </a:lnSpc>
              <a:spcBef>
                <a:spcPct val="0"/>
              </a:spcBef>
              <a:spcAft>
                <a:spcPct val="0"/>
              </a:spcAft>
              <a:buFont typeface="+mj-lt"/>
              <a:buAutoNum type="arabicPeriod"/>
            </a:pPr>
            <a:r>
              <a:rPr lang="en-IN" dirty="0">
                <a:latin typeface="Times New Roman" panose="02020603050405020304" pitchFamily="18" charset="0"/>
                <a:cs typeface="Times New Roman" panose="02020603050405020304" pitchFamily="18" charset="0"/>
              </a:rPr>
              <a:t>CNN (Convolutional Neural Network</a:t>
            </a:r>
            <a:r>
              <a:rPr lang="en-IN" dirty="0" smtClean="0">
                <a:latin typeface="Times New Roman" panose="02020603050405020304" pitchFamily="18" charset="0"/>
                <a:cs typeface="Times New Roman" panose="02020603050405020304" pitchFamily="18" charset="0"/>
              </a:rPr>
              <a:t>)</a:t>
            </a:r>
          </a:p>
          <a:p>
            <a:pPr marL="342900" indent="-342900" defTabSz="914400" eaLnBrk="0" fontAlgn="base" hangingPunct="0">
              <a:lnSpc>
                <a:spcPct val="150000"/>
              </a:lnSpc>
              <a:spcBef>
                <a:spcPct val="0"/>
              </a:spcBef>
              <a:spcAft>
                <a:spcPct val="0"/>
              </a:spcAft>
              <a:buFont typeface="+mj-lt"/>
              <a:buAutoNum type="arabicPeriod"/>
            </a:pPr>
            <a:r>
              <a:rPr lang="en-IN" dirty="0" smtClean="0">
                <a:latin typeface="Times New Roman" panose="02020603050405020304" pitchFamily="18" charset="0"/>
                <a:cs typeface="Times New Roman" panose="02020603050405020304" pitchFamily="18" charset="0"/>
              </a:rPr>
              <a:t>LSTM </a:t>
            </a:r>
            <a:r>
              <a:rPr lang="en-IN" dirty="0">
                <a:latin typeface="Times New Roman" panose="02020603050405020304" pitchFamily="18" charset="0"/>
                <a:cs typeface="Times New Roman" panose="02020603050405020304" pitchFamily="18" charset="0"/>
              </a:rPr>
              <a:t>(Long Short-Term Memory</a:t>
            </a:r>
            <a:r>
              <a:rPr lang="en-IN" dirty="0" smtClean="0">
                <a:latin typeface="Times New Roman" panose="02020603050405020304" pitchFamily="18" charset="0"/>
                <a:cs typeface="Times New Roman" panose="02020603050405020304" pitchFamily="18" charset="0"/>
              </a:rPr>
              <a:t>)</a:t>
            </a:r>
          </a:p>
          <a:p>
            <a:pPr marL="342900" lvl="0" indent="-342900" defTabSz="914400" eaLnBrk="0" fontAlgn="base" hangingPunct="0">
              <a:lnSpc>
                <a:spcPct val="150000"/>
              </a:lnSpc>
              <a:spcBef>
                <a:spcPct val="0"/>
              </a:spcBef>
              <a:spcAft>
                <a:spcPct val="0"/>
              </a:spcAft>
              <a:buFont typeface="+mj-lt"/>
              <a:buAutoNum type="arabicPeriod"/>
            </a:pPr>
            <a:r>
              <a:rPr lang="en-IN" dirty="0" err="1">
                <a:latin typeface="Times New Roman" panose="02020603050405020304" pitchFamily="18" charset="0"/>
                <a:cs typeface="Times New Roman" panose="02020603050405020304" pitchFamily="18" charset="0"/>
              </a:rPr>
              <a:t>ReLU</a:t>
            </a:r>
            <a:r>
              <a:rPr lang="en-IN" dirty="0">
                <a:latin typeface="Times New Roman" panose="02020603050405020304" pitchFamily="18" charset="0"/>
                <a:cs typeface="Times New Roman" panose="02020603050405020304" pitchFamily="18" charset="0"/>
              </a:rPr>
              <a:t> (Rectified Linear Unit</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342900" indent="-342900" defTabSz="914400" eaLnBrk="0" fontAlgn="base" hangingPunct="0">
              <a:lnSpc>
                <a:spcPct val="150000"/>
              </a:lnSpc>
              <a:spcBef>
                <a:spcPct val="0"/>
              </a:spcBef>
              <a:spcAft>
                <a:spcPct val="0"/>
              </a:spcAft>
              <a:buFont typeface="+mj-lt"/>
              <a:buAutoNum type="arabicPeriod"/>
            </a:pPr>
            <a:r>
              <a:rPr lang="en-IN" dirty="0" err="1" smtClean="0">
                <a:latin typeface="Times New Roman" panose="02020603050405020304" pitchFamily="18" charset="0"/>
                <a:cs typeface="Times New Roman" panose="02020603050405020304" pitchFamily="18" charset="0"/>
              </a:rPr>
              <a:t>Softmax</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a16="http://schemas.microsoft.com/office/drawing/2014/main" xmlns=""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xmlns=""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2365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4CED368-05EF-FA86-7C70-440B73CA46E8}"/>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E04D1B3E-02A4-8AE1-DB97-2582F5FB9B16}"/>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27C00F83-4EFD-A0E6-480C-28976CEDD90A}"/>
              </a:ext>
            </a:extLst>
          </p:cNvPr>
          <p:cNvSpPr>
            <a:spLocks noGrp="1"/>
          </p:cNvSpPr>
          <p:nvPr>
            <p:ph type="sldNum" sz="quarter" idx="12"/>
          </p:nvPr>
        </p:nvSpPr>
        <p:spPr/>
        <p:txBody>
          <a:bodyPr/>
          <a:lstStyle/>
          <a:p>
            <a:fld id="{69FBB93A-4B32-4007-AACF-5243CED557C7}" type="slidenum">
              <a:rPr lang="en-IN" smtClean="0"/>
              <a:t>14</a:t>
            </a:fld>
            <a:endParaRPr lang="en-IN"/>
          </a:p>
        </p:txBody>
      </p:sp>
      <p:pic>
        <p:nvPicPr>
          <p:cNvPr id="6" name="Picture 5">
            <a:extLst>
              <a:ext uri="{FF2B5EF4-FFF2-40B4-BE49-F238E27FC236}">
                <a16:creationId xmlns:a16="http://schemas.microsoft.com/office/drawing/2014/main" xmlns="" id="{9113153F-1652-F80C-75EE-480A2F790EFB}"/>
              </a:ext>
            </a:extLst>
          </p:cNvPr>
          <p:cNvPicPr>
            <a:picLocks noChangeAspect="1"/>
          </p:cNvPicPr>
          <p:nvPr/>
        </p:nvPicPr>
        <p:blipFill>
          <a:blip r:embed="rId2"/>
          <a:stretch>
            <a:fillRect/>
          </a:stretch>
        </p:blipFill>
        <p:spPr>
          <a:xfrm>
            <a:off x="10329709" y="227986"/>
            <a:ext cx="1581150" cy="876300"/>
          </a:xfrm>
          <a:prstGeom prst="rect">
            <a:avLst/>
          </a:prstGeom>
        </p:spPr>
      </p:pic>
      <p:sp>
        <p:nvSpPr>
          <p:cNvPr id="8" name="TextBox 7">
            <a:extLst>
              <a:ext uri="{FF2B5EF4-FFF2-40B4-BE49-F238E27FC236}">
                <a16:creationId xmlns:a16="http://schemas.microsoft.com/office/drawing/2014/main" xmlns="" id="{13E7257A-B37E-A6AB-5EDE-524DDB6E6B29}"/>
              </a:ext>
            </a:extLst>
          </p:cNvPr>
          <p:cNvSpPr txBox="1"/>
          <p:nvPr/>
        </p:nvSpPr>
        <p:spPr>
          <a:xfrm>
            <a:off x="127819" y="33091"/>
            <a:ext cx="7737987"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0" name="TextBox 9">
            <a:extLst>
              <a:ext uri="{FF2B5EF4-FFF2-40B4-BE49-F238E27FC236}">
                <a16:creationId xmlns:a16="http://schemas.microsoft.com/office/drawing/2014/main" xmlns="" id="{81DE030C-4C6C-3B99-9F22-E4E3451B85DE}"/>
              </a:ext>
            </a:extLst>
          </p:cNvPr>
          <p:cNvSpPr txBox="1"/>
          <p:nvPr/>
        </p:nvSpPr>
        <p:spPr>
          <a:xfrm>
            <a:off x="442452" y="934065"/>
            <a:ext cx="8701548" cy="2169825"/>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Module </a:t>
            </a:r>
            <a:r>
              <a:rPr lang="en-IN" b="1" dirty="0" smtClean="0">
                <a:latin typeface="Times New Roman" panose="02020603050405020304" pitchFamily="18" charset="0"/>
                <a:cs typeface="Times New Roman" panose="02020603050405020304" pitchFamily="18" charset="0"/>
              </a:rPr>
              <a:t>1: </a:t>
            </a:r>
            <a:r>
              <a:rPr lang="en-IN" b="1" dirty="0">
                <a:latin typeface="Times New Roman" panose="02020603050405020304" pitchFamily="18" charset="0"/>
                <a:cs typeface="Times New Roman" panose="02020603050405020304" pitchFamily="18" charset="0"/>
              </a:rPr>
              <a:t>CNN(Convolutional Neural Network)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CNN is a is a deep learning model mainly used for feature extraction from data such as images or EEG signals.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captures spatial and temporal patterns automatically using convolution and pooling operations.</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1B934C78-63B7-1826-A4E8-A456FEBDA6FC}"/>
              </a:ext>
            </a:extLst>
          </p:cNvPr>
          <p:cNvSpPr txBox="1"/>
          <p:nvPr/>
        </p:nvSpPr>
        <p:spPr>
          <a:xfrm>
            <a:off x="629265" y="3224981"/>
            <a:ext cx="8514735" cy="225856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Extracts key spatial features from EEG data.</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Captures local signal patterns automatically.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manual feature extraction.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feature maps for LSTM processing.</a:t>
            </a:r>
          </a:p>
        </p:txBody>
      </p:sp>
    </p:spTree>
    <p:extLst>
      <p:ext uri="{BB962C8B-B14F-4D97-AF65-F5344CB8AC3E}">
        <p14:creationId xmlns:p14="http://schemas.microsoft.com/office/powerpoint/2010/main" val="9290385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0A7E4CE-49BF-C5E3-B8B2-A98C8A0CC399}"/>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C7DBDC19-B295-B0D2-C983-E95571F9769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4F5C4834-F8D7-1E63-4775-8C978512337E}"/>
              </a:ext>
            </a:extLst>
          </p:cNvPr>
          <p:cNvSpPr>
            <a:spLocks noGrp="1"/>
          </p:cNvSpPr>
          <p:nvPr>
            <p:ph type="sldNum" sz="quarter" idx="12"/>
          </p:nvPr>
        </p:nvSpPr>
        <p:spPr/>
        <p:txBody>
          <a:bodyPr/>
          <a:lstStyle/>
          <a:p>
            <a:fld id="{69FBB93A-4B32-4007-AACF-5243CED557C7}" type="slidenum">
              <a:rPr lang="en-IN" smtClean="0"/>
              <a:t>15</a:t>
            </a:fld>
            <a:endParaRPr lang="en-IN"/>
          </a:p>
        </p:txBody>
      </p:sp>
      <p:pic>
        <p:nvPicPr>
          <p:cNvPr id="8" name="Picture 7">
            <a:extLst>
              <a:ext uri="{FF2B5EF4-FFF2-40B4-BE49-F238E27FC236}">
                <a16:creationId xmlns:a16="http://schemas.microsoft.com/office/drawing/2014/main" xmlns=""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a16="http://schemas.microsoft.com/office/drawing/2014/main" xmlns=""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a16="http://schemas.microsoft.com/office/drawing/2014/main" xmlns=""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xmlns="" id="{4A0A218B-88A3-4A53-9E23-4399A76C8BF1}"/>
              </a:ext>
            </a:extLst>
          </p:cNvPr>
          <p:cNvSpPr txBox="1"/>
          <p:nvPr/>
        </p:nvSpPr>
        <p:spPr>
          <a:xfrm>
            <a:off x="1238863" y="1326147"/>
            <a:ext cx="10506098" cy="4065857"/>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2:</a:t>
            </a:r>
            <a:r>
              <a:rPr lang="en-IN" b="1" dirty="0">
                <a:latin typeface="Times New Roman" panose="02020603050405020304" pitchFamily="18" charset="0"/>
                <a:cs typeface="Times New Roman" panose="02020603050405020304" pitchFamily="18" charset="0"/>
              </a:rPr>
              <a:t>LSTM (Long Short-Term Memory)</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is a type of Recurrent Neural Network (RNN) designed to model time-series or sequential data by remembering long-term patterns.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uses internal memory (called cells) and gates to regulate the flow of information.</a:t>
            </a:r>
          </a:p>
          <a:p>
            <a:r>
              <a:rPr lang="en-IN" b="1" dirty="0">
                <a:latin typeface="Times New Roman" panose="02020603050405020304" pitchFamily="18" charset="0"/>
                <a:cs typeface="Times New Roman" panose="02020603050405020304" pitchFamily="18" charset="0"/>
              </a:rPr>
              <a:t>Purpose in the Model</a:t>
            </a:r>
            <a:r>
              <a:rPr lang="en-IN"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Remembers important patterns over multiple time steps.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understand temporal dependencies in EEG signals.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performance on sequence data like brainwave activity.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Avoids vanishing gradient problems found in traditional RNNs.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5146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F851554-F94D-6DE4-C55F-0A915854B4A7}"/>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FA2C13B8-6557-D00C-06DB-E97613006B92}"/>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BEC80113-CEDA-0A2A-8B3C-309375C25DA0}"/>
              </a:ext>
            </a:extLst>
          </p:cNvPr>
          <p:cNvSpPr>
            <a:spLocks noGrp="1"/>
          </p:cNvSpPr>
          <p:nvPr>
            <p:ph type="sldNum" sz="quarter" idx="12"/>
          </p:nvPr>
        </p:nvSpPr>
        <p:spPr/>
        <p:txBody>
          <a:bodyPr/>
          <a:lstStyle/>
          <a:p>
            <a:fld id="{69FBB93A-4B32-4007-AACF-5243CED557C7}" type="slidenum">
              <a:rPr lang="en-IN" smtClean="0"/>
              <a:t>16</a:t>
            </a:fld>
            <a:endParaRPr lang="en-IN"/>
          </a:p>
        </p:txBody>
      </p:sp>
      <p:pic>
        <p:nvPicPr>
          <p:cNvPr id="6" name="Picture 5">
            <a:extLst>
              <a:ext uri="{FF2B5EF4-FFF2-40B4-BE49-F238E27FC236}">
                <a16:creationId xmlns:a16="http://schemas.microsoft.com/office/drawing/2014/main" xmlns="" id="{E6C82D95-8574-1AF6-D123-8D28C5D2414B}"/>
              </a:ext>
            </a:extLst>
          </p:cNvPr>
          <p:cNvPicPr>
            <a:picLocks noChangeAspect="1"/>
          </p:cNvPicPr>
          <p:nvPr/>
        </p:nvPicPr>
        <p:blipFill>
          <a:blip r:embed="rId2"/>
          <a:stretch>
            <a:fillRect/>
          </a:stretch>
        </p:blipFill>
        <p:spPr>
          <a:xfrm>
            <a:off x="10231386" y="218153"/>
            <a:ext cx="1581150" cy="876300"/>
          </a:xfrm>
          <a:prstGeom prst="rect">
            <a:avLst/>
          </a:prstGeom>
        </p:spPr>
      </p:pic>
      <p:sp>
        <p:nvSpPr>
          <p:cNvPr id="8" name="TextBox 7">
            <a:extLst>
              <a:ext uri="{FF2B5EF4-FFF2-40B4-BE49-F238E27FC236}">
                <a16:creationId xmlns:a16="http://schemas.microsoft.com/office/drawing/2014/main" xmlns="" id="{C1B374B1-3287-0D01-B28F-A3730795D271}"/>
              </a:ext>
            </a:extLst>
          </p:cNvPr>
          <p:cNvSpPr txBox="1"/>
          <p:nvPr/>
        </p:nvSpPr>
        <p:spPr>
          <a:xfrm>
            <a:off x="229482" y="558649"/>
            <a:ext cx="11094781" cy="133882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Module </a:t>
            </a:r>
            <a:r>
              <a:rPr lang="en-IN" b="1" dirty="0" smtClean="0">
                <a:latin typeface="Times New Roman" panose="02020603050405020304" pitchFamily="18" charset="0"/>
                <a:cs typeface="Times New Roman" panose="02020603050405020304" pitchFamily="18" charset="0"/>
              </a:rPr>
              <a:t>3: </a:t>
            </a:r>
            <a:r>
              <a:rPr lang="en-IN" b="1" dirty="0" err="1">
                <a:latin typeface="Times New Roman" panose="02020603050405020304" pitchFamily="18" charset="0"/>
                <a:cs typeface="Times New Roman" panose="02020603050405020304" pitchFamily="18" charset="0"/>
              </a:rPr>
              <a:t>Softmax</a:t>
            </a:r>
            <a:endParaRPr lang="en-IN"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Softmax</a:t>
            </a:r>
            <a:r>
              <a:rPr lang="en-IN" dirty="0">
                <a:latin typeface="Times New Roman" panose="02020603050405020304" pitchFamily="18" charset="0"/>
                <a:cs typeface="Times New Roman" panose="02020603050405020304" pitchFamily="18" charset="0"/>
              </a:rPr>
              <a:t> is an activation function used in the output layer of a neural network for classification tasks.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It converts raw scores (logits) into probabilities, so that the sum of all output values equals 1</a:t>
            </a:r>
          </a:p>
        </p:txBody>
      </p:sp>
      <p:sp>
        <p:nvSpPr>
          <p:cNvPr id="5" name="TextBox 4">
            <a:extLst>
              <a:ext uri="{FF2B5EF4-FFF2-40B4-BE49-F238E27FC236}">
                <a16:creationId xmlns:a16="http://schemas.microsoft.com/office/drawing/2014/main" xmlns="" id="{CCB6B3E5-23A6-49DC-A157-5707B120EB60}"/>
              </a:ext>
            </a:extLst>
          </p:cNvPr>
          <p:cNvSpPr txBox="1"/>
          <p:nvPr/>
        </p:nvSpPr>
        <p:spPr>
          <a:xfrm>
            <a:off x="0" y="33090"/>
            <a:ext cx="3952568"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FB65A374-CB49-4F57-84B4-A338F4A4AF9F}"/>
              </a:ext>
            </a:extLst>
          </p:cNvPr>
          <p:cNvSpPr txBox="1"/>
          <p:nvPr/>
        </p:nvSpPr>
        <p:spPr>
          <a:xfrm>
            <a:off x="981679" y="1813344"/>
            <a:ext cx="9590385"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the model’s raw output into interpretable probabilities.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the model make a clear decision about which class (e.g., depressed / not depressed) the input belongs to.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the output is a probability distribution.</a:t>
            </a:r>
          </a:p>
          <a:p>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655178" y="3786148"/>
            <a:ext cx="6096000" cy="2585323"/>
          </a:xfrm>
          <a:prstGeom prst="rect">
            <a:avLst/>
          </a:prstGeom>
        </p:spPr>
        <p:txBody>
          <a:bodyPr>
            <a:spAutoFit/>
          </a:bodyPr>
          <a:lstStyle/>
          <a:p>
            <a:pPr lvl="0"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Module 4</a:t>
            </a:r>
            <a:r>
              <a:rPr lang="en-US" altLang="en-US" b="1" dirty="0" smtClean="0">
                <a:latin typeface="Times New Roman" panose="02020603050405020304" pitchFamily="18" charset="0"/>
                <a:cs typeface="Times New Roman" panose="02020603050405020304" pitchFamily="18" charset="0"/>
              </a:rPr>
              <a:t>:</a:t>
            </a:r>
            <a:r>
              <a:rPr lang="en-IN" b="1" dirty="0" err="1">
                <a:latin typeface="Times New Roman" panose="02020603050405020304" pitchFamily="18" charset="0"/>
                <a:cs typeface="Times New Roman" panose="02020603050405020304" pitchFamily="18" charset="0"/>
              </a:rPr>
              <a:t>ReLU</a:t>
            </a:r>
            <a:r>
              <a:rPr lang="en-IN" b="1" dirty="0">
                <a:latin typeface="Times New Roman" panose="02020603050405020304" pitchFamily="18" charset="0"/>
                <a:cs typeface="Times New Roman" panose="02020603050405020304" pitchFamily="18" charset="0"/>
              </a:rPr>
              <a:t> (Rectified Linear Unit)</a:t>
            </a:r>
            <a:endParaRPr lang="en-US" b="1" dirty="0">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is an activation function used in neural networks.</a:t>
            </a:r>
            <a:endParaRPr lang="en-IN"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Adds non-linearity to the model.</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Allows the neural network to learn complex features.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Speeds up convergence compared to sigmoid/</a:t>
            </a:r>
            <a:r>
              <a:rPr lang="en-US" dirty="0" err="1">
                <a:latin typeface="Times New Roman" panose="02020603050405020304" pitchFamily="18" charset="0"/>
                <a:cs typeface="Times New Roman" panose="02020603050405020304" pitchFamily="18" charset="0"/>
              </a:rPr>
              <a:t>tanh</a:t>
            </a:r>
            <a:endParaRPr lang="en-IN" dirty="0"/>
          </a:p>
        </p:txBody>
      </p:sp>
    </p:spTree>
    <p:extLst>
      <p:ext uri="{BB962C8B-B14F-4D97-AF65-F5344CB8AC3E}">
        <p14:creationId xmlns:p14="http://schemas.microsoft.com/office/powerpoint/2010/main" val="23912629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Dept of AI&amp;DS, SJCIT</a:t>
            </a:r>
            <a:endParaRPr lang="en-IN"/>
          </a:p>
        </p:txBody>
      </p:sp>
      <p:sp>
        <p:nvSpPr>
          <p:cNvPr id="3" name="Footer Placeholder 2"/>
          <p:cNvSpPr>
            <a:spLocks noGrp="1"/>
          </p:cNvSpPr>
          <p:nvPr>
            <p:ph type="ftr" sz="quarter" idx="11"/>
          </p:nvPr>
        </p:nvSpPr>
        <p:spPr/>
        <p:txBody>
          <a:bodyPr/>
          <a:lstStyle/>
          <a:p>
            <a:r>
              <a:rPr lang="en-IN"/>
              <a:t>2025-26</a:t>
            </a:r>
          </a:p>
        </p:txBody>
      </p:sp>
      <p:sp>
        <p:nvSpPr>
          <p:cNvPr id="4" name="Slide Number Placeholder 3"/>
          <p:cNvSpPr>
            <a:spLocks noGrp="1"/>
          </p:cNvSpPr>
          <p:nvPr>
            <p:ph type="sldNum" sz="quarter" idx="12"/>
          </p:nvPr>
        </p:nvSpPr>
        <p:spPr/>
        <p:txBody>
          <a:bodyPr/>
          <a:lstStyle/>
          <a:p>
            <a:fld id="{69FBB93A-4B32-4007-AACF-5243CED557C7}" type="slidenum">
              <a:rPr lang="en-IN" smtClean="0"/>
              <a:t>17</a:t>
            </a:fld>
            <a:endParaRPr lang="en-IN"/>
          </a:p>
        </p:txBody>
      </p:sp>
      <p:sp>
        <p:nvSpPr>
          <p:cNvPr id="6" name="TextBox 5"/>
          <p:cNvSpPr txBox="1"/>
          <p:nvPr/>
        </p:nvSpPr>
        <p:spPr>
          <a:xfrm>
            <a:off x="4307840" y="422811"/>
            <a:ext cx="3313728" cy="646331"/>
          </a:xfrm>
          <a:prstGeom prst="rect">
            <a:avLst/>
          </a:prstGeom>
          <a:noFill/>
        </p:spPr>
        <p:txBody>
          <a:bodyPr wrap="none" rtlCol="0">
            <a:spAutoFit/>
          </a:bodyPr>
          <a:lstStyle/>
          <a:p>
            <a:r>
              <a:rPr lang="en-IN" sz="3600" b="1" dirty="0">
                <a:latin typeface="Times New Roman" panose="02020603050405020304" pitchFamily="18" charset="0"/>
                <a:cs typeface="Times New Roman" panose="02020603050405020304" pitchFamily="18" charset="0"/>
              </a:rPr>
              <a:t>CONCLUSION</a:t>
            </a:r>
          </a:p>
        </p:txBody>
      </p:sp>
      <p:sp>
        <p:nvSpPr>
          <p:cNvPr id="7" name="Rectangle 6"/>
          <p:cNvSpPr/>
          <p:nvPr/>
        </p:nvSpPr>
        <p:spPr>
          <a:xfrm>
            <a:off x="1107440" y="1648103"/>
            <a:ext cx="10444480" cy="2806987"/>
          </a:xfrm>
          <a:prstGeom prst="rect">
            <a:avLst/>
          </a:prstGeom>
        </p:spPr>
        <p:txBody>
          <a:bodyPr wrap="square">
            <a:spAutoFit/>
          </a:bodyPr>
          <a:lstStyle/>
          <a:p>
            <a:pPr algn="just">
              <a:lnSpc>
                <a:spcPct val="150000"/>
              </a:lnSpc>
            </a:pPr>
            <a:r>
              <a:rPr lang="en-US" sz="2000" b="1" dirty="0" err="1">
                <a:latin typeface="Times New Roman" panose="02020603050405020304" pitchFamily="18" charset="0"/>
                <a:cs typeface="Times New Roman" panose="02020603050405020304" pitchFamily="18" charset="0"/>
              </a:rPr>
              <a:t>DepHNN</a:t>
            </a:r>
            <a:r>
              <a:rPr lang="en-US" sz="2000" dirty="0">
                <a:latin typeface="Times New Roman" panose="02020603050405020304" pitchFamily="18" charset="0"/>
                <a:cs typeface="Times New Roman" panose="02020603050405020304" pitchFamily="18" charset="0"/>
              </a:rPr>
              <a:t> is a hybrid deep learning model combining </a:t>
            </a:r>
            <a:r>
              <a:rPr lang="en-US" sz="2000" b="1" dirty="0">
                <a:latin typeface="Times New Roman" panose="02020603050405020304" pitchFamily="18" charset="0"/>
                <a:cs typeface="Times New Roman" panose="02020603050405020304" pitchFamily="18" charset="0"/>
              </a:rPr>
              <a:t>CNN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LSTM</a:t>
            </a:r>
            <a:r>
              <a:rPr lang="en-US" sz="2000" dirty="0">
                <a:latin typeface="Times New Roman" panose="02020603050405020304" pitchFamily="18" charset="0"/>
                <a:cs typeface="Times New Roman" panose="02020603050405020304" pitchFamily="18" charset="0"/>
              </a:rPr>
              <a:t>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a:t>
            </a:r>
            <a:r>
              <a:rPr lang="en-US" sz="2000" b="1" dirty="0">
                <a:latin typeface="Times New Roman" panose="02020603050405020304" pitchFamily="18" charset="0"/>
                <a:cs typeface="Times New Roman" panose="02020603050405020304" pitchFamily="18" charset="0"/>
              </a:rPr>
              <a:t>computer-aided tool</a:t>
            </a:r>
            <a:r>
              <a:rPr lang="en-US" sz="2000" dirty="0">
                <a:latin typeface="Times New Roman" panose="02020603050405020304" pitchFamily="18" charset="0"/>
                <a:cs typeface="Times New Roman" panose="02020603050405020304" pitchFamily="18" charset="0"/>
              </a:rPr>
              <a:t> for early depression screening. Future improvements can enable </a:t>
            </a:r>
            <a:r>
              <a:rPr lang="en-US" sz="2000" b="1" dirty="0">
                <a:latin typeface="Times New Roman" panose="02020603050405020304" pitchFamily="18" charset="0"/>
                <a:cs typeface="Times New Roman" panose="02020603050405020304" pitchFamily="18" charset="0"/>
              </a:rPr>
              <a:t>severity analysis</a:t>
            </a:r>
            <a:r>
              <a:rPr lang="en-US" sz="2000" dirty="0">
                <a:latin typeface="Times New Roman" panose="02020603050405020304" pitchFamily="18" charset="0"/>
                <a:cs typeface="Times New Roman" panose="02020603050405020304" pitchFamily="18" charset="0"/>
              </a:rPr>
              <a:t>, use of </a:t>
            </a:r>
            <a:r>
              <a:rPr lang="en-US" sz="2000" b="1" dirty="0">
                <a:latin typeface="Times New Roman" panose="02020603050405020304" pitchFamily="18" charset="0"/>
                <a:cs typeface="Times New Roman" panose="02020603050405020304" pitchFamily="18" charset="0"/>
              </a:rPr>
              <a:t>larger datasets</a:t>
            </a:r>
            <a:r>
              <a:rPr lang="en-US" sz="2000" dirty="0">
                <a:latin typeface="Times New Roman" panose="02020603050405020304" pitchFamily="18" charset="0"/>
                <a:cs typeface="Times New Roman" panose="02020603050405020304" pitchFamily="18" charset="0"/>
              </a:rPr>
              <a:t>, and integration with </a:t>
            </a:r>
            <a:r>
              <a:rPr lang="en-US" sz="2000" b="1" dirty="0" err="1">
                <a:latin typeface="Times New Roman" panose="02020603050405020304" pitchFamily="18" charset="0"/>
                <a:cs typeface="Times New Roman" panose="02020603050405020304" pitchFamily="18" charset="0"/>
              </a:rPr>
              <a:t>IoMT</a:t>
            </a:r>
            <a:r>
              <a:rPr lang="en-US" sz="2000" b="1" dirty="0">
                <a:latin typeface="Times New Roman" panose="02020603050405020304" pitchFamily="18" charset="0"/>
                <a:cs typeface="Times New Roman" panose="02020603050405020304" pitchFamily="18" charset="0"/>
              </a:rPr>
              <a:t> systems</a:t>
            </a:r>
            <a:r>
              <a:rPr lang="en-US" sz="2000" dirty="0">
                <a:latin typeface="Times New Roman" panose="02020603050405020304" pitchFamily="18" charset="0"/>
                <a:cs typeface="Times New Roman" panose="02020603050405020304" pitchFamily="18" charset="0"/>
              </a:rPr>
              <a:t> for real-time mental health monitoring.</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2C7645C5-BDE1-C773-C9DA-201CFB331CAF}"/>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10" name="TextBox 9">
            <a:extLst>
              <a:ext uri="{FF2B5EF4-FFF2-40B4-BE49-F238E27FC236}">
                <a16:creationId xmlns:a16="http://schemas.microsoft.com/office/drawing/2014/main" xmlns="" id="{57B5B744-E182-4EBB-D187-132908CFDDD1}"/>
              </a:ext>
            </a:extLst>
          </p:cNvPr>
          <p:cNvSpPr txBox="1"/>
          <p:nvPr/>
        </p:nvSpPr>
        <p:spPr>
          <a:xfrm>
            <a:off x="176981" y="192843"/>
            <a:ext cx="8967019"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Tree>
    <p:extLst>
      <p:ext uri="{BB962C8B-B14F-4D97-AF65-F5344CB8AC3E}">
        <p14:creationId xmlns:p14="http://schemas.microsoft.com/office/powerpoint/2010/main" val="26770348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CF39CA2-D83A-66A7-3D82-AF15028FB164}"/>
              </a:ext>
            </a:extLst>
          </p:cNvPr>
          <p:cNvSpPr>
            <a:spLocks noGrp="1"/>
          </p:cNvSpPr>
          <p:nvPr>
            <p:ph type="dt" sz="half" idx="10"/>
          </p:nvPr>
        </p:nvSpPr>
        <p:spPr>
          <a:xfrm>
            <a:off x="1097280" y="6439465"/>
            <a:ext cx="2472271" cy="365125"/>
          </a:xfrm>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6897BF47-6D0B-8AEC-5799-4364BE1A720B}"/>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ED5ED01A-5BCB-10F9-9CF7-2BC86BF7E1E8}"/>
              </a:ext>
            </a:extLst>
          </p:cNvPr>
          <p:cNvSpPr>
            <a:spLocks noGrp="1"/>
          </p:cNvSpPr>
          <p:nvPr>
            <p:ph type="sldNum" sz="quarter" idx="12"/>
          </p:nvPr>
        </p:nvSpPr>
        <p:spPr/>
        <p:txBody>
          <a:bodyPr/>
          <a:lstStyle/>
          <a:p>
            <a:fld id="{69FBB93A-4B32-4007-AACF-5243CED557C7}" type="slidenum">
              <a:rPr lang="en-IN" smtClean="0"/>
              <a:t>18</a:t>
            </a:fld>
            <a:endParaRPr lang="en-IN"/>
          </a:p>
        </p:txBody>
      </p:sp>
      <p:sp>
        <p:nvSpPr>
          <p:cNvPr id="8" name="TextBox 7">
            <a:extLst>
              <a:ext uri="{FF2B5EF4-FFF2-40B4-BE49-F238E27FC236}">
                <a16:creationId xmlns:a16="http://schemas.microsoft.com/office/drawing/2014/main" xmlns="" id="{BFD8E58C-8245-55D9-F2C1-EFE5D3A4689A}"/>
              </a:ext>
            </a:extLst>
          </p:cNvPr>
          <p:cNvSpPr txBox="1"/>
          <p:nvPr/>
        </p:nvSpPr>
        <p:spPr>
          <a:xfrm>
            <a:off x="2461239" y="449344"/>
            <a:ext cx="6096000"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REFERENCES</a:t>
            </a:r>
            <a:endParaRPr lang="en-IN" sz="36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xmlns="" id="{801719CA-1B8B-BF5C-AA51-A4FC90BAA85E}"/>
              </a:ext>
            </a:extLst>
          </p:cNvPr>
          <p:cNvSpPr txBox="1"/>
          <p:nvPr/>
        </p:nvSpPr>
        <p:spPr>
          <a:xfrm>
            <a:off x="776746" y="1114115"/>
            <a:ext cx="10419573" cy="5286062"/>
          </a:xfrm>
          <a:prstGeom prst="rect">
            <a:avLst/>
          </a:prstGeom>
          <a:noFill/>
        </p:spPr>
        <p:txBody>
          <a:bodyPr wrap="square">
            <a:spAutoFit/>
          </a:bodyPr>
          <a:lstStyle/>
          <a:p>
            <a:pPr lvl="0">
              <a:lnSpc>
                <a:spcPct val="150000"/>
              </a:lnSpc>
            </a:pPr>
            <a:r>
              <a:rPr lang="en-IN" sz="1500" b="1" dirty="0">
                <a:latin typeface="Times New Roman" panose="02020603050405020304" pitchFamily="18" charset="0"/>
                <a:cs typeface="Times New Roman" panose="02020603050405020304" pitchFamily="18" charset="0"/>
              </a:rPr>
              <a:t>[1] Automated EEG-based screening of depression using deep convolutional neural network,</a:t>
            </a:r>
            <a:r>
              <a:rPr lang="en-IN" sz="1500" dirty="0">
                <a:latin typeface="Times New Roman" panose="02020603050405020304" pitchFamily="18" charset="0"/>
                <a:cs typeface="Times New Roman" panose="02020603050405020304" pitchFamily="18" charset="0"/>
              </a:rPr>
              <a:t> U. R. Acharya, H. Fujita, S. L. Oh, Y. Hagiwara, J. H. Tan, and M. Adam</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2"/>
              </a:rPr>
              <a:t>https://doi.org/10.1016/j.compbiomed.2018.06.008</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a:latin typeface="Times New Roman" panose="02020603050405020304" pitchFamily="18" charset="0"/>
                <a:cs typeface="Times New Roman" panose="02020603050405020304" pitchFamily="18" charset="0"/>
              </a:rPr>
              <a:t>[2] Deep convolutional neural network model for automated diagnosis of depression using EEG signals</a:t>
            </a:r>
            <a:r>
              <a:rPr lang="en-IN" sz="1500" dirty="0">
                <a:latin typeface="Times New Roman" panose="02020603050405020304" pitchFamily="18" charset="0"/>
                <a:cs typeface="Times New Roman" panose="02020603050405020304" pitchFamily="18" charset="0"/>
              </a:rPr>
              <a:t>, S. L. Oh, U. R. Acharya, Y. Hagiwara, J. H. Tan, and H. </a:t>
            </a:r>
            <a:r>
              <a:rPr lang="en-IN" sz="1500" dirty="0" err="1">
                <a:latin typeface="Times New Roman" panose="02020603050405020304" pitchFamily="18" charset="0"/>
                <a:cs typeface="Times New Roman" panose="02020603050405020304" pitchFamily="18" charset="0"/>
              </a:rPr>
              <a:t>Adeli</a:t>
            </a: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3"/>
              </a:rPr>
              <a:t>https://doi.org/10.3390/app9153319</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a:latin typeface="Times New Roman" panose="02020603050405020304" pitchFamily="18" charset="0"/>
                <a:cs typeface="Times New Roman" panose="02020603050405020304" pitchFamily="18" charset="0"/>
              </a:rPr>
              <a:t>[3] Implementation guides for CNN and LSTM using </a:t>
            </a:r>
            <a:r>
              <a:rPr lang="en-IN" sz="1500" b="1" dirty="0" err="1">
                <a:latin typeface="Times New Roman" panose="02020603050405020304" pitchFamily="18" charset="0"/>
                <a:cs typeface="Times New Roman" panose="02020603050405020304" pitchFamily="18" charset="0"/>
              </a:rPr>
              <a:t>Keras</a:t>
            </a:r>
            <a:r>
              <a:rPr lang="en-IN" sz="1500" b="1" dirty="0">
                <a:latin typeface="Times New Roman" panose="02020603050405020304" pitchFamily="18" charset="0"/>
                <a:cs typeface="Times New Roman" panose="02020603050405020304" pitchFamily="18" charset="0"/>
              </a:rPr>
              <a:t>’ Sequential API.</a:t>
            </a: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4"/>
              </a:rPr>
              <a:t>https://keras.io/guides/sequential_model</a:t>
            </a:r>
            <a:r>
              <a:rPr lang="en-IN" sz="1500" u="sng" dirty="0" smtClean="0">
                <a:latin typeface="Times New Roman" panose="02020603050405020304" pitchFamily="18" charset="0"/>
                <a:cs typeface="Times New Roman" panose="02020603050405020304" pitchFamily="18" charset="0"/>
                <a:hlinkClick r:id="rId4"/>
              </a:rPr>
              <a:t>/</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smtClean="0">
                <a:latin typeface="Times New Roman" panose="02020603050405020304" pitchFamily="18" charset="0"/>
                <a:cs typeface="Times New Roman" panose="02020603050405020304" pitchFamily="18" charset="0"/>
              </a:rPr>
              <a:t>[4] U.R</a:t>
            </a:r>
            <a:r>
              <a:rPr lang="en-IN" sz="1500" b="1" dirty="0">
                <a:latin typeface="Times New Roman" panose="02020603050405020304" pitchFamily="18" charset="0"/>
                <a:cs typeface="Times New Roman" panose="02020603050405020304" pitchFamily="18" charset="0"/>
              </a:rPr>
              <a:t>. Acharya, S.L. Oh, Y. Hagiwara, J.H. Tan, H. </a:t>
            </a:r>
            <a:r>
              <a:rPr lang="en-IN" sz="1500" b="1" dirty="0" err="1">
                <a:latin typeface="Times New Roman" panose="02020603050405020304" pitchFamily="18" charset="0"/>
                <a:cs typeface="Times New Roman" panose="02020603050405020304" pitchFamily="18" charset="0"/>
              </a:rPr>
              <a:t>Adeli</a:t>
            </a:r>
            <a:r>
              <a:rPr lang="en-IN" sz="1500" b="1" dirty="0">
                <a:latin typeface="Times New Roman" panose="02020603050405020304" pitchFamily="18" charset="0"/>
                <a:cs typeface="Times New Roman" panose="02020603050405020304" pitchFamily="18" charset="0"/>
              </a:rPr>
              <a:t>, D.P. </a:t>
            </a:r>
            <a:r>
              <a:rPr lang="en-IN" sz="1500" b="1" dirty="0" err="1">
                <a:latin typeface="Times New Roman" panose="02020603050405020304" pitchFamily="18" charset="0"/>
                <a:cs typeface="Times New Roman" panose="02020603050405020304" pitchFamily="18" charset="0"/>
              </a:rPr>
              <a:t>Subha</a:t>
            </a:r>
            <a:r>
              <a:rPr lang="en-IN" sz="1500" b="1" dirty="0">
                <a:latin typeface="Times New Roman" panose="02020603050405020304" pitchFamily="18" charset="0"/>
                <a:cs typeface="Times New Roman" panose="02020603050405020304" pitchFamily="18" charset="0"/>
              </a:rPr>
              <a:t>, Automated EEG-based screening of depression using deep convolutional neural network, </a:t>
            </a:r>
            <a:r>
              <a:rPr lang="en-IN" sz="1500" b="1" dirty="0" err="1">
                <a:latin typeface="Times New Roman" panose="02020603050405020304" pitchFamily="18" charset="0"/>
                <a:cs typeface="Times New Roman" panose="02020603050405020304" pitchFamily="18" charset="0"/>
              </a:rPr>
              <a:t>Comput</a:t>
            </a:r>
            <a:r>
              <a:rPr lang="en-IN" sz="1500" b="1" dirty="0">
                <a:latin typeface="Times New Roman" panose="02020603050405020304" pitchFamily="18" charset="0"/>
                <a:cs typeface="Times New Roman" panose="02020603050405020304" pitchFamily="18" charset="0"/>
              </a:rPr>
              <a:t>. Methods Programs Biomed. 161 (2018</a:t>
            </a:r>
            <a:r>
              <a:rPr lang="en-IN" sz="1500" b="1" dirty="0" smtClean="0">
                <a:latin typeface="Times New Roman" panose="02020603050405020304" pitchFamily="18" charset="0"/>
                <a:cs typeface="Times New Roman" panose="02020603050405020304" pitchFamily="18" charset="0"/>
              </a:rPr>
              <a:t>) </a:t>
            </a:r>
            <a:r>
              <a:rPr lang="en-IN" sz="1500" b="1" dirty="0">
                <a:latin typeface="Times New Roman" panose="02020603050405020304" pitchFamily="18" charset="0"/>
                <a:cs typeface="Times New Roman" panose="02020603050405020304" pitchFamily="18" charset="0"/>
              </a:rPr>
              <a:t>103–113. </a:t>
            </a:r>
            <a:r>
              <a:rPr lang="en-IN" sz="1500" b="1" dirty="0">
                <a:latin typeface="Times New Roman" panose="02020603050405020304" pitchFamily="18" charset="0"/>
                <a:cs typeface="Times New Roman" panose="02020603050405020304" pitchFamily="18" charset="0"/>
                <a:hlinkClick r:id="rId5"/>
              </a:rPr>
              <a:t>https://</a:t>
            </a:r>
            <a:r>
              <a:rPr lang="en-IN" sz="1500" b="1" dirty="0" smtClean="0">
                <a:latin typeface="Times New Roman" panose="02020603050405020304" pitchFamily="18" charset="0"/>
                <a:cs typeface="Times New Roman" panose="02020603050405020304" pitchFamily="18" charset="0"/>
                <a:hlinkClick r:id="rId5"/>
              </a:rPr>
              <a:t>www.sciencedirect.com/science/article/pii/S0169260718301494</a:t>
            </a:r>
            <a:endParaRPr lang="en-IN" sz="1500" b="1" dirty="0" smtClean="0">
              <a:latin typeface="Times New Roman" panose="02020603050405020304" pitchFamily="18" charset="0"/>
              <a:cs typeface="Times New Roman" panose="02020603050405020304" pitchFamily="18" charset="0"/>
            </a:endParaRPr>
          </a:p>
          <a:p>
            <a:r>
              <a:rPr lang="en-IN" sz="1500" b="1" dirty="0" smtClean="0">
                <a:latin typeface="Times New Roman" panose="02020603050405020304" pitchFamily="18" charset="0"/>
                <a:cs typeface="Times New Roman" panose="02020603050405020304" pitchFamily="18" charset="0"/>
              </a:rPr>
              <a:t>[5] </a:t>
            </a:r>
            <a:r>
              <a:rPr lang="en-IN" sz="1500" b="1" dirty="0">
                <a:latin typeface="Times New Roman" panose="02020603050405020304" pitchFamily="18" charset="0"/>
                <a:cs typeface="Times New Roman" panose="02020603050405020304" pitchFamily="18" charset="0"/>
              </a:rPr>
              <a:t>Electroencephalogram (EEG)-based computer-aided technique to diagnose major depressive disorder (MDD)”</a:t>
            </a:r>
            <a:r>
              <a:rPr lang="en-IN" sz="1500" dirty="0">
                <a:latin typeface="Times New Roman" panose="02020603050405020304" pitchFamily="18" charset="0"/>
                <a:cs typeface="Times New Roman" panose="02020603050405020304" pitchFamily="18" charset="0"/>
              </a:rPr>
              <a:t> by W. </a:t>
            </a:r>
            <a:r>
              <a:rPr lang="en-IN" sz="1500" dirty="0" err="1">
                <a:latin typeface="Times New Roman" panose="02020603050405020304" pitchFamily="18" charset="0"/>
                <a:cs typeface="Times New Roman" panose="02020603050405020304" pitchFamily="18" charset="0"/>
              </a:rPr>
              <a:t>Mumtaz</a:t>
            </a:r>
            <a:r>
              <a:rPr lang="en-IN" sz="1500" dirty="0">
                <a:latin typeface="Times New Roman" panose="02020603050405020304" pitchFamily="18" charset="0"/>
                <a:cs typeface="Times New Roman" panose="02020603050405020304" pitchFamily="18" charset="0"/>
              </a:rPr>
              <a:t>, L. Xia, S. S. A. Ali, M. A. M. </a:t>
            </a:r>
            <a:r>
              <a:rPr lang="en-IN" sz="1500" dirty="0" err="1">
                <a:latin typeface="Times New Roman" panose="02020603050405020304" pitchFamily="18" charset="0"/>
                <a:cs typeface="Times New Roman" panose="02020603050405020304" pitchFamily="18" charset="0"/>
              </a:rPr>
              <a:t>Yasin</a:t>
            </a:r>
            <a:r>
              <a:rPr lang="en-IN" sz="1500" dirty="0">
                <a:latin typeface="Times New Roman" panose="02020603050405020304" pitchFamily="18" charset="0"/>
                <a:cs typeface="Times New Roman" panose="02020603050405020304" pitchFamily="18" charset="0"/>
              </a:rPr>
              <a:t>, M. Hussain, A. S. Malik (2017</a:t>
            </a:r>
            <a:r>
              <a:rPr lang="en-IN" sz="1500" dirty="0" smtClean="0">
                <a:latin typeface="Times New Roman" panose="02020603050405020304" pitchFamily="18" charset="0"/>
                <a:cs typeface="Times New Roman" panose="02020603050405020304" pitchFamily="18" charset="0"/>
              </a:rPr>
              <a:t>),  </a:t>
            </a:r>
            <a:r>
              <a:rPr lang="en-IN" sz="1500" dirty="0">
                <a:latin typeface="Times New Roman" panose="02020603050405020304" pitchFamily="18" charset="0"/>
                <a:cs typeface="Times New Roman" panose="02020603050405020304" pitchFamily="18" charset="0"/>
                <a:hlinkClick r:id="rId6"/>
              </a:rPr>
              <a:t>https://</a:t>
            </a:r>
            <a:r>
              <a:rPr lang="en-IN" sz="1500" dirty="0" smtClean="0">
                <a:latin typeface="Times New Roman" panose="02020603050405020304" pitchFamily="18" charset="0"/>
                <a:cs typeface="Times New Roman" panose="02020603050405020304" pitchFamily="18" charset="0"/>
                <a:hlinkClick r:id="rId6"/>
              </a:rPr>
              <a:t>www.sciencedirect.com/science/article/abs/pii/S1746809416300866</a:t>
            </a:r>
            <a:endParaRPr lang="en-IN" sz="1500" dirty="0" smtClean="0">
              <a:latin typeface="Times New Roman" panose="02020603050405020304" pitchFamily="18" charset="0"/>
              <a:cs typeface="Times New Roman" panose="02020603050405020304" pitchFamily="18" charset="0"/>
            </a:endParaRPr>
          </a:p>
          <a:p>
            <a:r>
              <a:rPr lang="en-IN" sz="1500" dirty="0" smtClean="0">
                <a:latin typeface="Times New Roman" panose="02020603050405020304" pitchFamily="18" charset="0"/>
                <a:cs typeface="Times New Roman" panose="02020603050405020304" pitchFamily="18" charset="0"/>
              </a:rPr>
              <a:t>[6] </a:t>
            </a:r>
            <a:r>
              <a:rPr lang="en-IN" sz="1500" b="1" dirty="0">
                <a:latin typeface="Times New Roman" panose="02020603050405020304" pitchFamily="18" charset="0"/>
                <a:cs typeface="Times New Roman" panose="02020603050405020304" pitchFamily="18" charset="0"/>
              </a:rPr>
              <a:t>Deep convolutional neural networks for computer-aided detection: CNN architectures, dataset characteristics and transfer learning”</a:t>
            </a:r>
            <a:r>
              <a:rPr lang="en-IN" sz="1500" dirty="0">
                <a:latin typeface="Times New Roman" panose="02020603050405020304" pitchFamily="18" charset="0"/>
                <a:cs typeface="Times New Roman" panose="02020603050405020304" pitchFamily="18" charset="0"/>
              </a:rPr>
              <a:t> by H.-C. Shin, H. R. Roth, M. Gao, L. Lu, Z. Xu, I. </a:t>
            </a:r>
            <a:r>
              <a:rPr lang="en-IN" sz="1500" dirty="0" err="1">
                <a:latin typeface="Times New Roman" panose="02020603050405020304" pitchFamily="18" charset="0"/>
                <a:cs typeface="Times New Roman" panose="02020603050405020304" pitchFamily="18" charset="0"/>
              </a:rPr>
              <a:t>Nogues</a:t>
            </a:r>
            <a:r>
              <a:rPr lang="en-IN" sz="1500" dirty="0">
                <a:latin typeface="Times New Roman" panose="02020603050405020304" pitchFamily="18" charset="0"/>
                <a:cs typeface="Times New Roman" panose="02020603050405020304" pitchFamily="18" charset="0"/>
              </a:rPr>
              <a:t>, J. Yao, D. </a:t>
            </a:r>
            <a:r>
              <a:rPr lang="en-IN" sz="1500" dirty="0" err="1">
                <a:latin typeface="Times New Roman" panose="02020603050405020304" pitchFamily="18" charset="0"/>
                <a:cs typeface="Times New Roman" panose="02020603050405020304" pitchFamily="18" charset="0"/>
              </a:rPr>
              <a:t>Mollura</a:t>
            </a:r>
            <a:r>
              <a:rPr lang="en-IN" sz="1500" dirty="0">
                <a:latin typeface="Times New Roman" panose="02020603050405020304" pitchFamily="18" charset="0"/>
                <a:cs typeface="Times New Roman" panose="02020603050405020304" pitchFamily="18" charset="0"/>
              </a:rPr>
              <a:t>, R. M. Summers (2016</a:t>
            </a:r>
            <a:r>
              <a:rPr lang="en-IN" sz="1500" dirty="0" smtClean="0">
                <a:latin typeface="Times New Roman" panose="02020603050405020304" pitchFamily="18" charset="0"/>
                <a:cs typeface="Times New Roman" panose="02020603050405020304" pitchFamily="18" charset="0"/>
              </a:rPr>
              <a:t>),  </a:t>
            </a:r>
            <a:r>
              <a:rPr lang="en-IN" sz="1500" dirty="0">
                <a:latin typeface="Times New Roman" panose="02020603050405020304" pitchFamily="18" charset="0"/>
                <a:cs typeface="Times New Roman" panose="02020603050405020304" pitchFamily="18" charset="0"/>
                <a:hlinkClick r:id="rId7"/>
              </a:rPr>
              <a:t>https://pubmed.ncbi.nlm.nih.gov/26886976</a:t>
            </a:r>
            <a:r>
              <a:rPr lang="en-IN" sz="1500" dirty="0" smtClean="0">
                <a:latin typeface="Times New Roman" panose="02020603050405020304" pitchFamily="18" charset="0"/>
                <a:cs typeface="Times New Roman" panose="02020603050405020304" pitchFamily="18" charset="0"/>
                <a:hlinkClick r:id="rId7"/>
              </a:rPr>
              <a:t>/</a:t>
            </a:r>
            <a:endParaRPr lang="en-IN" sz="15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61A694EC-414F-38CE-31A6-2BC1C0D09C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a16="http://schemas.microsoft.com/office/drawing/2014/main" xmlns="" id="{46A7B61D-398C-4C3B-919D-77597A44A673}"/>
              </a:ext>
            </a:extLst>
          </p:cNvPr>
          <p:cNvSpPr txBox="1"/>
          <p:nvPr/>
        </p:nvSpPr>
        <p:spPr>
          <a:xfrm>
            <a:off x="0" y="0"/>
            <a:ext cx="35695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658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CDD8418-6FAD-F00E-45F4-A5559C250A3C}"/>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232A7576-15AA-0FC7-E9DB-56464C09E01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F3A6A993-DCA8-B7DC-A153-FC50899732F0}"/>
              </a:ext>
            </a:extLst>
          </p:cNvPr>
          <p:cNvSpPr>
            <a:spLocks noGrp="1"/>
          </p:cNvSpPr>
          <p:nvPr>
            <p:ph type="sldNum" sz="quarter" idx="12"/>
          </p:nvPr>
        </p:nvSpPr>
        <p:spPr/>
        <p:txBody>
          <a:bodyPr/>
          <a:lstStyle/>
          <a:p>
            <a:fld id="{69FBB93A-4B32-4007-AACF-5243CED557C7}" type="slidenum">
              <a:rPr lang="en-IN" smtClean="0"/>
              <a:t>19</a:t>
            </a:fld>
            <a:endParaRPr lang="en-IN"/>
          </a:p>
        </p:txBody>
      </p:sp>
      <p:pic>
        <p:nvPicPr>
          <p:cNvPr id="6" name="Picture 5">
            <a:extLst>
              <a:ext uri="{FF2B5EF4-FFF2-40B4-BE49-F238E27FC236}">
                <a16:creationId xmlns:a16="http://schemas.microsoft.com/office/drawing/2014/main" xmlns="" id="{911440DA-8F5B-2DC2-9C14-E94E5A067B93}"/>
              </a:ext>
            </a:extLst>
          </p:cNvPr>
          <p:cNvPicPr>
            <a:picLocks noChangeAspect="1"/>
          </p:cNvPicPr>
          <p:nvPr/>
        </p:nvPicPr>
        <p:blipFill>
          <a:blip r:embed="rId2"/>
          <a:stretch>
            <a:fillRect/>
          </a:stretch>
        </p:blipFill>
        <p:spPr>
          <a:xfrm>
            <a:off x="0" y="0"/>
            <a:ext cx="12192000" cy="6405510"/>
          </a:xfrm>
          <a:prstGeom prst="rect">
            <a:avLst/>
          </a:prstGeom>
        </p:spPr>
      </p:pic>
    </p:spTree>
    <p:extLst>
      <p:ext uri="{BB962C8B-B14F-4D97-AF65-F5344CB8AC3E}">
        <p14:creationId xmlns:p14="http://schemas.microsoft.com/office/powerpoint/2010/main" val="1901167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3356</TotalTime>
  <Words>1188</Words>
  <Application>Microsoft Office PowerPoint</Application>
  <PresentationFormat>Custom</PresentationFormat>
  <Paragraphs>174</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Prerana V</dc:creator>
  <cp:lastModifiedBy>mareddy charan</cp:lastModifiedBy>
  <cp:revision>74</cp:revision>
  <dcterms:created xsi:type="dcterms:W3CDTF">2024-11-02T06:33:28Z</dcterms:created>
  <dcterms:modified xsi:type="dcterms:W3CDTF">2025-10-07T09:27:28Z</dcterms:modified>
</cp:coreProperties>
</file>
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1"/>
  </p:notesMasterIdLst>
  <p:sldIdLst>
    <p:sldId id="257" r:id="rId2"/>
    <p:sldId id="258" r:id="rId3"/>
    <p:sldId id="264" r:id="rId4"/>
    <p:sldId id="265" r:id="rId5"/>
    <p:sldId id="259" r:id="rId6"/>
    <p:sldId id="263" r:id="rId7"/>
    <p:sldId id="271" r:id="rId8"/>
    <p:sldId id="266" r:id="rId9"/>
    <p:sldId id="267" r:id="rId10"/>
    <p:sldId id="275" r:id="rId11"/>
    <p:sldId id="272" r:id="rId12"/>
    <p:sldId id="273" r:id="rId13"/>
    <p:sldId id="274" r:id="rId14"/>
    <p:sldId id="277" r:id="rId15"/>
    <p:sldId id="278" r:id="rId16"/>
    <p:sldId id="283" r:id="rId17"/>
    <p:sldId id="279" r:id="rId18"/>
    <p:sldId id="285" r:id="rId19"/>
    <p:sldId id="286" r:id="rId20"/>
    <p:sldId id="287" r:id="rId21"/>
    <p:sldId id="288" r:id="rId22"/>
    <p:sldId id="290" r:id="rId23"/>
    <p:sldId id="291" r:id="rId24"/>
    <p:sldId id="284" r:id="rId25"/>
    <p:sldId id="289" r:id="rId26"/>
    <p:sldId id="292" r:id="rId27"/>
    <p:sldId id="293" r:id="rId28"/>
    <p:sldId id="294" r:id="rId29"/>
    <p:sldId id="260"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BEC6F17-07C7-46DF-90BE-11059A805620}" v="2" dt="2026-01-07T13:34:54.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5033" autoAdjust="0"/>
  </p:normalViewPr>
  <p:slideViewPr>
    <p:cSldViewPr snapToGrid="0">
      <p:cViewPr>
        <p:scale>
          <a:sx n="90" d="100"/>
          <a:sy n="90" d="100"/>
        </p:scale>
        <p:origin x="-398" y="8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5ED573C-D190-48FF-80A4-89A49D1C5372}" type="datetimeFigureOut">
              <a:rPr lang="en-IN" smtClean="0"/>
              <a:t>08-01-2026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D227308-32E2-48DD-9426-8247ABEB747C}" type="slidenum">
              <a:rPr lang="en-IN" smtClean="0"/>
              <a:t>‹#›</a:t>
            </a:fld>
            <a:endParaRPr lang="en-IN"/>
          </a:p>
        </p:txBody>
      </p:sp>
    </p:spTree>
    <p:extLst>
      <p:ext uri="{BB962C8B-B14F-4D97-AF65-F5344CB8AC3E}">
        <p14:creationId xmlns:p14="http://schemas.microsoft.com/office/powerpoint/2010/main" val="8525643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2D227308-32E2-48DD-9426-8247ABEB747C}" type="slidenum">
              <a:rPr lang="en-IN" smtClean="0"/>
              <a:t>27</a:t>
            </a:fld>
            <a:endParaRPr lang="en-IN"/>
          </a:p>
        </p:txBody>
      </p:sp>
    </p:spTree>
    <p:extLst>
      <p:ext uri="{BB962C8B-B14F-4D97-AF65-F5344CB8AC3E}">
        <p14:creationId xmlns:p14="http://schemas.microsoft.com/office/powerpoint/2010/main" val="36330415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31CB277-DEAA-4634-A9E5-2AFC185E8FE9}" type="datetimeFigureOut">
              <a:rPr lang="en-IN" smtClean="0"/>
              <a:t>08-01-2026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6614E6E-A64C-414A-98D5-8D35AE2111BD}"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268153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31CB277-DEAA-4634-A9E5-2AFC185E8FE9}" type="datetimeFigureOut">
              <a:rPr lang="en-IN" smtClean="0"/>
              <a:t>08-01-2026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6614E6E-A64C-414A-98D5-8D35AE2111BD}" type="slidenum">
              <a:rPr lang="en-IN" smtClean="0"/>
              <a:t>‹#›</a:t>
            </a:fld>
            <a:endParaRPr lang="en-IN"/>
          </a:p>
        </p:txBody>
      </p:sp>
    </p:spTree>
    <p:extLst>
      <p:ext uri="{BB962C8B-B14F-4D97-AF65-F5344CB8AC3E}">
        <p14:creationId xmlns:p14="http://schemas.microsoft.com/office/powerpoint/2010/main" val="1988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31CB277-DEAA-4634-A9E5-2AFC185E8FE9}" type="datetimeFigureOut">
              <a:rPr lang="en-IN" smtClean="0"/>
              <a:t>08-01-2026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6614E6E-A64C-414A-98D5-8D35AE2111BD}"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843626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31CB277-DEAA-4634-A9E5-2AFC185E8FE9}" type="datetimeFigureOut">
              <a:rPr lang="en-IN" smtClean="0"/>
              <a:t>08-01-2026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6614E6E-A64C-414A-98D5-8D35AE2111BD}" type="slidenum">
              <a:rPr lang="en-IN" smtClean="0"/>
              <a:t>‹#›</a:t>
            </a:fld>
            <a:endParaRPr lang="en-IN"/>
          </a:p>
        </p:txBody>
      </p:sp>
    </p:spTree>
    <p:extLst>
      <p:ext uri="{BB962C8B-B14F-4D97-AF65-F5344CB8AC3E}">
        <p14:creationId xmlns:p14="http://schemas.microsoft.com/office/powerpoint/2010/main" val="38495707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31CB277-DEAA-4634-A9E5-2AFC185E8FE9}" type="datetimeFigureOut">
              <a:rPr lang="en-IN" smtClean="0"/>
              <a:t>08-01-2026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6614E6E-A64C-414A-98D5-8D35AE2111BD}" type="slidenum">
              <a:rPr lang="en-IN" smtClean="0"/>
              <a:t>‹#›</a:t>
            </a:fld>
            <a:endParaRPr lang="en-IN"/>
          </a:p>
        </p:txBody>
      </p:sp>
    </p:spTree>
    <p:extLst>
      <p:ext uri="{BB962C8B-B14F-4D97-AF65-F5344CB8AC3E}">
        <p14:creationId xmlns:p14="http://schemas.microsoft.com/office/powerpoint/2010/main" val="6841766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31CB277-DEAA-4634-A9E5-2AFC185E8FE9}" type="datetimeFigureOut">
              <a:rPr lang="en-IN" smtClean="0"/>
              <a:t>08-01-2026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6614E6E-A64C-414A-98D5-8D35AE2111BD}" type="slidenum">
              <a:rPr lang="en-IN" smtClean="0"/>
              <a:t>‹#›</a:t>
            </a:fld>
            <a:endParaRPr lang="en-IN"/>
          </a:p>
        </p:txBody>
      </p:sp>
    </p:spTree>
    <p:extLst>
      <p:ext uri="{BB962C8B-B14F-4D97-AF65-F5344CB8AC3E}">
        <p14:creationId xmlns:p14="http://schemas.microsoft.com/office/powerpoint/2010/main" val="22741832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531CB277-DEAA-4634-A9E5-2AFC185E8FE9}" type="datetimeFigureOut">
              <a:rPr lang="en-IN" smtClean="0"/>
              <a:t>08-01-2026</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a:p>
        </p:txBody>
      </p:sp>
      <p:sp>
        <p:nvSpPr>
          <p:cNvPr id="9" name="Slide Number Placeholder 8"/>
          <p:cNvSpPr>
            <a:spLocks noGrp="1"/>
          </p:cNvSpPr>
          <p:nvPr>
            <p:ph type="sldNum" sz="quarter" idx="12"/>
          </p:nvPr>
        </p:nvSpPr>
        <p:spPr/>
        <p:txBody>
          <a:bodyPr/>
          <a:lstStyle/>
          <a:p>
            <a:fld id="{26614E6E-A64C-414A-98D5-8D35AE2111BD}" type="slidenum">
              <a:rPr lang="en-IN" smtClean="0"/>
              <a:t>‹#›</a:t>
            </a:fld>
            <a:endParaRPr lang="en-IN"/>
          </a:p>
        </p:txBody>
      </p:sp>
    </p:spTree>
    <p:extLst>
      <p:ext uri="{BB962C8B-B14F-4D97-AF65-F5344CB8AC3E}">
        <p14:creationId xmlns:p14="http://schemas.microsoft.com/office/powerpoint/2010/main" val="29584414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531CB277-DEAA-4634-A9E5-2AFC185E8FE9}" type="datetimeFigureOut">
              <a:rPr lang="en-IN" smtClean="0"/>
              <a:t>08-01-2026</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26614E6E-A64C-414A-98D5-8D35AE2111BD}" type="slidenum">
              <a:rPr lang="en-IN" smtClean="0"/>
              <a:t>‹#›</a:t>
            </a:fld>
            <a:endParaRPr lang="en-IN"/>
          </a:p>
        </p:txBody>
      </p:sp>
    </p:spTree>
    <p:extLst>
      <p:ext uri="{BB962C8B-B14F-4D97-AF65-F5344CB8AC3E}">
        <p14:creationId xmlns:p14="http://schemas.microsoft.com/office/powerpoint/2010/main" val="42733712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31CB277-DEAA-4634-A9E5-2AFC185E8FE9}" type="datetimeFigureOut">
              <a:rPr lang="en-IN" smtClean="0"/>
              <a:t>08-01-2026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6614E6E-A64C-414A-98D5-8D35AE2111BD}" type="slidenum">
              <a:rPr lang="en-IN" smtClean="0"/>
              <a:t>‹#›</a:t>
            </a:fld>
            <a:endParaRPr lang="en-IN"/>
          </a:p>
        </p:txBody>
      </p:sp>
    </p:spTree>
    <p:extLst>
      <p:ext uri="{BB962C8B-B14F-4D97-AF65-F5344CB8AC3E}">
        <p14:creationId xmlns:p14="http://schemas.microsoft.com/office/powerpoint/2010/main" val="321645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31CB277-DEAA-4634-A9E5-2AFC185E8FE9}" type="datetimeFigureOut">
              <a:rPr lang="en-IN" smtClean="0"/>
              <a:t>08-01-2026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6614E6E-A64C-414A-98D5-8D35AE2111BD}" type="slidenum">
              <a:rPr lang="en-IN" smtClean="0"/>
              <a:t>‹#›</a:t>
            </a:fld>
            <a:endParaRPr lang="en-IN"/>
          </a:p>
        </p:txBody>
      </p:sp>
    </p:spTree>
    <p:extLst>
      <p:ext uri="{BB962C8B-B14F-4D97-AF65-F5344CB8AC3E}">
        <p14:creationId xmlns:p14="http://schemas.microsoft.com/office/powerpoint/2010/main" val="29621280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31CB277-DEAA-4634-A9E5-2AFC185E8FE9}" type="datetimeFigureOut">
              <a:rPr lang="en-IN" smtClean="0"/>
              <a:t>08-01-2026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6614E6E-A64C-414A-98D5-8D35AE2111BD}" type="slidenum">
              <a:rPr lang="en-IN" smtClean="0"/>
              <a:t>‹#›</a:t>
            </a:fld>
            <a:endParaRPr lang="en-IN"/>
          </a:p>
        </p:txBody>
      </p:sp>
    </p:spTree>
    <p:extLst>
      <p:ext uri="{BB962C8B-B14F-4D97-AF65-F5344CB8AC3E}">
        <p14:creationId xmlns:p14="http://schemas.microsoft.com/office/powerpoint/2010/main" val="6630487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531CB277-DEAA-4634-A9E5-2AFC185E8FE9}" type="datetimeFigureOut">
              <a:rPr lang="en-IN" smtClean="0"/>
              <a:t>08-01-2026</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26614E6E-A64C-414A-98D5-8D35AE2111BD}"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4357829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8" Type="http://schemas.openxmlformats.org/officeDocument/2006/relationships/hyperlink" Target="https://pubmed.ncbi.nlm.nih.gov/26886976/?utm_source=chatgpt.com" TargetMode="External"/><Relationship Id="rId3" Type="http://schemas.openxmlformats.org/officeDocument/2006/relationships/hyperlink" Target="https://doi.org/10.1016/j.compbiomed.2018.06.008" TargetMode="External"/><Relationship Id="rId7" Type="http://schemas.openxmlformats.org/officeDocument/2006/relationships/hyperlink" Target="https://www.sciencedirect.com/science/article/abs/pii/S1746809416300866" TargetMode="External"/><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hyperlink" Target="https://www.sciencedirect.com/science/article/pii/S0169260718301494" TargetMode="External"/><Relationship Id="rId5" Type="http://schemas.openxmlformats.org/officeDocument/2006/relationships/hyperlink" Target="https://keras.io/guides/sequential_model/" TargetMode="External"/><Relationship Id="rId4" Type="http://schemas.openxmlformats.org/officeDocument/2006/relationships/hyperlink" Target="https://doi.org/10.3390/app9153319" TargetMode="External"/></Relationships>
</file>

<file path=ppt/slides/_rels/slide25.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png"/><Relationship Id="rId1" Type="http://schemas.openxmlformats.org/officeDocument/2006/relationships/slideLayout" Target="../slideLayouts/slideLayout7.xml"/><Relationship Id="rId5" Type="http://schemas.openxmlformats.org/officeDocument/2006/relationships/image" Target="../media/image13.jpg"/><Relationship Id="rId4" Type="http://schemas.openxmlformats.org/officeDocument/2006/relationships/image" Target="../media/image12.jpg"/></Relationships>
</file>

<file path=ppt/slides/_rels/slide26.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17.jpg"/><Relationship Id="rId5" Type="http://schemas.openxmlformats.org/officeDocument/2006/relationships/image" Target="../media/image16.jpg"/><Relationship Id="rId4" Type="http://schemas.openxmlformats.org/officeDocument/2006/relationships/image" Target="../media/image15.jpg"/></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20.jpg"/><Relationship Id="rId5" Type="http://schemas.openxmlformats.org/officeDocument/2006/relationships/image" Target="../media/image19.jpg"/><Relationship Id="rId4" Type="http://schemas.openxmlformats.org/officeDocument/2006/relationships/image" Target="../media/image18.jpg"/></Relationships>
</file>

<file path=ppt/slides/_rels/slide28.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image" Target="../media/image22.jpg"/></Relationships>
</file>

<file path=ppt/slides/_rels/slide2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5">
            <a:extLst>
              <a:ext uri="{FF2B5EF4-FFF2-40B4-BE49-F238E27FC236}">
                <a16:creationId xmlns="" xmlns:a16="http://schemas.microsoft.com/office/drawing/2014/main" id="{DFF8AEF2-C0D8-4CB5-B925-51456C0B8986}"/>
              </a:ext>
            </a:extLst>
          </p:cNvPr>
          <p:cNvSpPr>
            <a:spLocks noGrp="1"/>
          </p:cNvSpPr>
          <p:nvPr>
            <p:ph type="ftr" sz="quarter" idx="11"/>
          </p:nvPr>
        </p:nvSpPr>
        <p:spPr>
          <a:xfrm>
            <a:off x="3686185" y="6459785"/>
            <a:ext cx="4822804" cy="365125"/>
          </a:xfrm>
        </p:spPr>
        <p:txBody>
          <a:bodyPr/>
          <a:lstStyle/>
          <a:p>
            <a:r>
              <a:rPr lang="en-IN" dirty="0"/>
              <a:t>2025-26</a:t>
            </a:r>
          </a:p>
        </p:txBody>
      </p:sp>
      <p:sp>
        <p:nvSpPr>
          <p:cNvPr id="3" name="Slide Number Placeholder 6">
            <a:extLst>
              <a:ext uri="{FF2B5EF4-FFF2-40B4-BE49-F238E27FC236}">
                <a16:creationId xmlns="" xmlns:a16="http://schemas.microsoft.com/office/drawing/2014/main" id="{377B5341-304A-4CC7-A05E-7AE9A49FAADD}"/>
              </a:ext>
            </a:extLst>
          </p:cNvPr>
          <p:cNvSpPr>
            <a:spLocks noGrp="1"/>
          </p:cNvSpPr>
          <p:nvPr>
            <p:ph type="sldNum" sz="quarter" idx="12"/>
          </p:nvPr>
        </p:nvSpPr>
        <p:spPr>
          <a:xfrm>
            <a:off x="9900458" y="6459785"/>
            <a:ext cx="1312025" cy="365125"/>
          </a:xfrm>
        </p:spPr>
        <p:txBody>
          <a:bodyPr/>
          <a:lstStyle/>
          <a:p>
            <a:fld id="{69FBB93A-4B32-4007-AACF-5243CED557C7}" type="slidenum">
              <a:rPr lang="en-IN" smtClean="0"/>
              <a:t>1</a:t>
            </a:fld>
            <a:endParaRPr lang="en-IN"/>
          </a:p>
        </p:txBody>
      </p:sp>
      <p:sp>
        <p:nvSpPr>
          <p:cNvPr id="4" name="Date Placeholder 7">
            <a:extLst>
              <a:ext uri="{FF2B5EF4-FFF2-40B4-BE49-F238E27FC236}">
                <a16:creationId xmlns="" xmlns:a16="http://schemas.microsoft.com/office/drawing/2014/main" id="{8B2110E4-3B91-4C7A-A5DC-D4ED47A418FE}"/>
              </a:ext>
            </a:extLst>
          </p:cNvPr>
          <p:cNvSpPr>
            <a:spLocks noGrp="1"/>
          </p:cNvSpPr>
          <p:nvPr>
            <p:ph type="dt" sz="half" idx="10"/>
          </p:nvPr>
        </p:nvSpPr>
        <p:spPr>
          <a:xfrm>
            <a:off x="1097280" y="6459785"/>
            <a:ext cx="2472271" cy="365125"/>
          </a:xfrm>
        </p:spPr>
        <p:txBody>
          <a:bodyPr/>
          <a:lstStyle/>
          <a:p>
            <a:r>
              <a:rPr lang="en-US"/>
              <a:t>Dept of AI&amp;DS, SJCIT</a:t>
            </a:r>
            <a:endParaRPr lang="en-IN" dirty="0"/>
          </a:p>
        </p:txBody>
      </p:sp>
      <p:sp>
        <p:nvSpPr>
          <p:cNvPr id="5" name="TextBox 4">
            <a:extLst>
              <a:ext uri="{FF2B5EF4-FFF2-40B4-BE49-F238E27FC236}">
                <a16:creationId xmlns="" xmlns:a16="http://schemas.microsoft.com/office/drawing/2014/main" id="{15E02BEA-E891-4B53-BAEF-46F3B74C9563}"/>
              </a:ext>
            </a:extLst>
          </p:cNvPr>
          <p:cNvSpPr txBox="1"/>
          <p:nvPr/>
        </p:nvSpPr>
        <p:spPr>
          <a:xfrm>
            <a:off x="10114590" y="650450"/>
            <a:ext cx="766856" cy="2026763"/>
          </a:xfrm>
          <a:prstGeom prst="rect">
            <a:avLst/>
          </a:prstGeom>
          <a:noFill/>
        </p:spPr>
        <p:txBody>
          <a:bodyPr wrap="square" rtlCol="0">
            <a:spAutoFit/>
          </a:bodyPr>
          <a:lstStyle/>
          <a:p>
            <a:endParaRPr lang="en-IN" dirty="0"/>
          </a:p>
        </p:txBody>
      </p:sp>
      <p:sp>
        <p:nvSpPr>
          <p:cNvPr id="6" name="TextBox 5">
            <a:extLst>
              <a:ext uri="{FF2B5EF4-FFF2-40B4-BE49-F238E27FC236}">
                <a16:creationId xmlns="" xmlns:a16="http://schemas.microsoft.com/office/drawing/2014/main" id="{7E90CA97-A8DC-414D-A0B9-C7D336A05724}"/>
              </a:ext>
            </a:extLst>
          </p:cNvPr>
          <p:cNvSpPr txBox="1"/>
          <p:nvPr/>
        </p:nvSpPr>
        <p:spPr>
          <a:xfrm>
            <a:off x="1769806" y="2239129"/>
            <a:ext cx="8927691" cy="400110"/>
          </a:xfrm>
          <a:prstGeom prst="rect">
            <a:avLst/>
          </a:prstGeom>
          <a:noFill/>
        </p:spPr>
        <p:txBody>
          <a:bodyPr wrap="square" rtlCol="0">
            <a:spAutoFit/>
          </a:bodyPr>
          <a:lstStyle/>
          <a:p>
            <a:pPr algn="ctr"/>
            <a:r>
              <a:rPr lang="en-US" sz="2000" b="1" dirty="0">
                <a:solidFill>
                  <a:srgbClr val="002060"/>
                </a:solidFill>
                <a:latin typeface="Times New Roman" panose="02020603050405020304" pitchFamily="18" charset="0"/>
                <a:cs typeface="Times New Roman" panose="02020603050405020304" pitchFamily="18" charset="0"/>
              </a:rPr>
              <a:t>DEPARTMENT OF ARTIFICAL INTELLIGENCE AND DATA SCIENCE</a:t>
            </a:r>
            <a:endParaRPr lang="en-IN" sz="2000" b="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 xmlns:a16="http://schemas.microsoft.com/office/drawing/2014/main" id="{50D6CCBF-A8BA-4D11-B141-3EB3C4F8EB25}"/>
              </a:ext>
            </a:extLst>
          </p:cNvPr>
          <p:cNvSpPr txBox="1"/>
          <p:nvPr/>
        </p:nvSpPr>
        <p:spPr>
          <a:xfrm>
            <a:off x="3401961" y="2815152"/>
            <a:ext cx="4011561" cy="646331"/>
          </a:xfrm>
          <a:prstGeom prst="rect">
            <a:avLst/>
          </a:prstGeom>
          <a:noFill/>
        </p:spPr>
        <p:txBody>
          <a:bodyPr wrap="square" rtlCol="0">
            <a:spAutoFit/>
          </a:bodyPr>
          <a:lstStyle/>
          <a:p>
            <a:endParaRPr lang="en-US" altLang="en-US" sz="1800" b="1" dirty="0">
              <a:solidFill>
                <a:srgbClr val="7030A0"/>
              </a:solidFill>
              <a:latin typeface="Times New Roman" panose="02020603050405020304" pitchFamily="18" charset="0"/>
              <a:cs typeface="Times New Roman" panose="02020603050405020304" pitchFamily="18" charset="0"/>
            </a:endParaRPr>
          </a:p>
          <a:p>
            <a:endParaRPr lang="en-IN" dirty="0"/>
          </a:p>
        </p:txBody>
      </p:sp>
      <p:sp>
        <p:nvSpPr>
          <p:cNvPr id="8" name="TextBox 7">
            <a:extLst>
              <a:ext uri="{FF2B5EF4-FFF2-40B4-BE49-F238E27FC236}">
                <a16:creationId xmlns="" xmlns:a16="http://schemas.microsoft.com/office/drawing/2014/main" id="{D5A48DEC-9A9E-47BC-AC27-7AB2A09518F0}"/>
              </a:ext>
            </a:extLst>
          </p:cNvPr>
          <p:cNvSpPr txBox="1"/>
          <p:nvPr/>
        </p:nvSpPr>
        <p:spPr>
          <a:xfrm>
            <a:off x="571358" y="3723333"/>
            <a:ext cx="4665660" cy="1754326"/>
          </a:xfrm>
          <a:prstGeom prst="rect">
            <a:avLst/>
          </a:prstGeom>
          <a:noFill/>
        </p:spPr>
        <p:txBody>
          <a:bodyPr wrap="square" lIns="91440" tIns="45720" rIns="91440" bIns="45720" rtlCol="0" anchor="t">
            <a:spAutoFit/>
          </a:bodyPr>
          <a:lstStyle/>
          <a:p>
            <a:r>
              <a:rPr lang="en-US" altLang="en-US" sz="1800" b="1" dirty="0">
                <a:solidFill>
                  <a:srgbClr val="C00000"/>
                </a:solidFill>
                <a:latin typeface="Times New Roman" panose="02020603050405020304" pitchFamily="18" charset="0"/>
                <a:cs typeface="Times New Roman" panose="02020603050405020304" pitchFamily="18" charset="0"/>
              </a:rPr>
              <a:t>Project Team Members</a:t>
            </a:r>
          </a:p>
          <a:p>
            <a:r>
              <a:rPr lang="en-US" altLang="en-US" sz="1800" dirty="0">
                <a:solidFill>
                  <a:srgbClr val="7030A0"/>
                </a:solidFill>
                <a:latin typeface="Times New Roman" panose="02020603050405020304" pitchFamily="18" charset="0"/>
                <a:cs typeface="Times New Roman" panose="02020603050405020304" pitchFamily="18" charset="0"/>
              </a:rPr>
              <a:t>Name   </a:t>
            </a:r>
            <a:r>
              <a:rPr lang="en-US" altLang="en-US" sz="1800" dirty="0">
                <a:latin typeface="Times New Roman" panose="02020603050405020304" pitchFamily="18" charset="0"/>
                <a:cs typeface="Times New Roman" panose="02020603050405020304" pitchFamily="18" charset="0"/>
              </a:rPr>
              <a:t>                                </a:t>
            </a:r>
            <a:r>
              <a:rPr lang="en-US" altLang="en-US" sz="1800" dirty="0">
                <a:solidFill>
                  <a:srgbClr val="7030A0"/>
                </a:solidFill>
                <a:latin typeface="Times New Roman" panose="02020603050405020304" pitchFamily="18" charset="0"/>
                <a:cs typeface="Times New Roman" panose="02020603050405020304" pitchFamily="18" charset="0"/>
              </a:rPr>
              <a:t>USN</a:t>
            </a:r>
          </a:p>
          <a:p>
            <a:pPr algn="just"/>
            <a:r>
              <a:rPr lang="en-US" dirty="0" smtClean="0">
                <a:solidFill>
                  <a:schemeClr val="accent2">
                    <a:lumMod val="50000"/>
                  </a:schemeClr>
                </a:solidFill>
                <a:latin typeface="Times New Roman" panose="02020603050405020304" pitchFamily="18" charset="0"/>
                <a:cs typeface="Times New Roman" panose="02020603050405020304" pitchFamily="18" charset="0"/>
              </a:rPr>
              <a:t>B LATHA </a:t>
            </a:r>
            <a:r>
              <a:rPr lang="en-US" sz="1800" dirty="0" smtClean="0">
                <a:solidFill>
                  <a:schemeClr val="accent2">
                    <a:lumMod val="50000"/>
                  </a:schemeClr>
                </a:solidFill>
                <a:latin typeface="Times New Roman" panose="02020603050405020304" pitchFamily="18" charset="0"/>
                <a:cs typeface="Times New Roman" panose="02020603050405020304" pitchFamily="18" charset="0"/>
              </a:rPr>
              <a:t>SREE		1SJ22AD006</a:t>
            </a:r>
            <a:endParaRPr lang="en-US" sz="1800" dirty="0">
              <a:solidFill>
                <a:schemeClr val="accent2">
                  <a:lumMod val="50000"/>
                </a:schemeClr>
              </a:solidFill>
              <a:latin typeface="Times New Roman" panose="02020603050405020304" pitchFamily="18" charset="0"/>
              <a:cs typeface="Times New Roman" panose="02020603050405020304" pitchFamily="18" charset="0"/>
            </a:endParaRPr>
          </a:p>
          <a:p>
            <a:pPr algn="just"/>
            <a:r>
              <a:rPr lang="en-US" sz="1800" dirty="0">
                <a:solidFill>
                  <a:schemeClr val="accent2">
                    <a:lumMod val="50000"/>
                  </a:schemeClr>
                </a:solidFill>
                <a:latin typeface="Times New Roman" panose="02020603050405020304" pitchFamily="18" charset="0"/>
                <a:cs typeface="Times New Roman" panose="02020603050405020304" pitchFamily="18" charset="0"/>
              </a:rPr>
              <a:t>C S MOUNIKA </a:t>
            </a:r>
            <a:r>
              <a:rPr lang="en-US" sz="1800" dirty="0" smtClean="0">
                <a:solidFill>
                  <a:schemeClr val="accent2">
                    <a:lumMod val="50000"/>
                  </a:schemeClr>
                </a:solidFill>
                <a:latin typeface="Times New Roman" panose="02020603050405020304" pitchFamily="18" charset="0"/>
                <a:cs typeface="Times New Roman" panose="02020603050405020304" pitchFamily="18" charset="0"/>
              </a:rPr>
              <a:t>		1SJ22AD008</a:t>
            </a:r>
            <a:endParaRPr lang="en-US" sz="1800" dirty="0">
              <a:solidFill>
                <a:schemeClr val="accent2">
                  <a:lumMod val="50000"/>
                </a:schemeClr>
              </a:solidFill>
              <a:latin typeface="Times New Roman" panose="02020603050405020304" pitchFamily="18" charset="0"/>
              <a:cs typeface="Times New Roman" panose="02020603050405020304" pitchFamily="18" charset="0"/>
            </a:endParaRPr>
          </a:p>
          <a:p>
            <a:pPr algn="just"/>
            <a:r>
              <a:rPr lang="en-US" dirty="0" smtClean="0">
                <a:solidFill>
                  <a:schemeClr val="accent2">
                    <a:lumMod val="50000"/>
                  </a:schemeClr>
                </a:solidFill>
                <a:latin typeface="Times New Roman"/>
                <a:cs typeface="Times New Roman"/>
              </a:rPr>
              <a:t>M CHARAN			1SJ22AD024</a:t>
            </a:r>
            <a:endParaRPr lang="en-US" sz="1800" dirty="0">
              <a:solidFill>
                <a:schemeClr val="accent2">
                  <a:lumMod val="50000"/>
                </a:schemeClr>
              </a:solidFill>
              <a:latin typeface="Times New Roman" panose="02020603050405020304" pitchFamily="18" charset="0"/>
              <a:cs typeface="Times New Roman" panose="02020603050405020304" pitchFamily="18" charset="0"/>
            </a:endParaRPr>
          </a:p>
          <a:p>
            <a:pPr algn="just"/>
            <a:r>
              <a:rPr lang="en-US" altLang="en-US" b="1" dirty="0">
                <a:solidFill>
                  <a:srgbClr val="C00000"/>
                </a:solidFill>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 xmlns:a16="http://schemas.microsoft.com/office/drawing/2014/main" id="{0DCF08E0-39EF-4ADD-A234-0F9649422C03}"/>
              </a:ext>
            </a:extLst>
          </p:cNvPr>
          <p:cNvSpPr txBox="1"/>
          <p:nvPr/>
        </p:nvSpPr>
        <p:spPr>
          <a:xfrm>
            <a:off x="8266651" y="3904270"/>
            <a:ext cx="2756949" cy="923330"/>
          </a:xfrm>
          <a:prstGeom prst="rect">
            <a:avLst/>
          </a:prstGeom>
          <a:noFill/>
        </p:spPr>
        <p:txBody>
          <a:bodyPr wrap="square" rtlCol="0">
            <a:spAutoFit/>
          </a:bodyPr>
          <a:lstStyle/>
          <a:p>
            <a:r>
              <a:rPr lang="en-US" altLang="en-US" sz="1800" b="1" dirty="0">
                <a:solidFill>
                  <a:srgbClr val="C00000"/>
                </a:solidFill>
                <a:latin typeface="Times New Roman" panose="02020603050405020304" pitchFamily="18" charset="0"/>
                <a:cs typeface="Times New Roman" panose="02020603050405020304" pitchFamily="18" charset="0"/>
              </a:rPr>
              <a:t>Project Guide</a:t>
            </a:r>
          </a:p>
          <a:p>
            <a:r>
              <a:rPr lang="en-US" dirty="0">
                <a:solidFill>
                  <a:schemeClr val="accent1">
                    <a:lumMod val="50000"/>
                  </a:schemeClr>
                </a:solidFill>
                <a:latin typeface="Times New Roman" panose="02020603050405020304" pitchFamily="18" charset="0"/>
                <a:cs typeface="Times New Roman" panose="02020603050405020304" pitchFamily="18" charset="0"/>
              </a:rPr>
              <a:t>Badrinath K</a:t>
            </a:r>
          </a:p>
          <a:p>
            <a:r>
              <a:rPr lang="en-US" dirty="0">
                <a:solidFill>
                  <a:schemeClr val="accent1">
                    <a:lumMod val="50000"/>
                  </a:schemeClr>
                </a:solidFill>
                <a:latin typeface="Times New Roman" panose="02020603050405020304" pitchFamily="18" charset="0"/>
                <a:cs typeface="Times New Roman" panose="02020603050405020304" pitchFamily="18" charset="0"/>
              </a:rPr>
              <a:t>Assistant Professor</a:t>
            </a:r>
            <a:endParaRPr lang="en-IN"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 xmlns:a16="http://schemas.microsoft.com/office/drawing/2014/main" id="{3D7EF7E1-AD04-43DC-9985-917D5D7A2030}"/>
              </a:ext>
            </a:extLst>
          </p:cNvPr>
          <p:cNvSpPr txBox="1"/>
          <p:nvPr/>
        </p:nvSpPr>
        <p:spPr>
          <a:xfrm>
            <a:off x="3244645" y="2676637"/>
            <a:ext cx="6132389" cy="400110"/>
          </a:xfrm>
          <a:prstGeom prst="rect">
            <a:avLst/>
          </a:prstGeom>
          <a:noFill/>
        </p:spPr>
        <p:txBody>
          <a:bodyPr wrap="square" rtlCol="0">
            <a:spAutoFit/>
          </a:bodyPr>
          <a:lstStyle/>
          <a:p>
            <a:pPr algn="ctr"/>
            <a:r>
              <a:rPr lang="en-US" altLang="en-US" sz="2000" b="1" dirty="0">
                <a:solidFill>
                  <a:srgbClr val="00B0F0"/>
                </a:solidFill>
                <a:latin typeface="Times New Roman" panose="02020603050405020304" pitchFamily="18" charset="0"/>
                <a:cs typeface="Times New Roman" panose="02020603050405020304" pitchFamily="18" charset="0"/>
              </a:rPr>
              <a:t>Project Review </a:t>
            </a:r>
          </a:p>
        </p:txBody>
      </p:sp>
      <p:sp>
        <p:nvSpPr>
          <p:cNvPr id="11" name="TextBox 10">
            <a:extLst>
              <a:ext uri="{FF2B5EF4-FFF2-40B4-BE49-F238E27FC236}">
                <a16:creationId xmlns="" xmlns:a16="http://schemas.microsoft.com/office/drawing/2014/main" id="{94648592-A1DD-4A8E-8BAF-1E9724457804}"/>
              </a:ext>
            </a:extLst>
          </p:cNvPr>
          <p:cNvSpPr txBox="1"/>
          <p:nvPr/>
        </p:nvSpPr>
        <p:spPr>
          <a:xfrm>
            <a:off x="382384" y="3324829"/>
            <a:ext cx="11230495" cy="400110"/>
          </a:xfrm>
          <a:prstGeom prst="rect">
            <a:avLst/>
          </a:prstGeom>
          <a:noFill/>
        </p:spPr>
        <p:txBody>
          <a:bodyPr wrap="square" rtlCol="0">
            <a:spAutoFit/>
          </a:bodyPr>
          <a:lstStyle/>
          <a:p>
            <a:pPr algn="ctr"/>
            <a:r>
              <a:rPr lang="en-IN" sz="2000" b="1" dirty="0">
                <a:latin typeface="Times New Roman" panose="02020603050405020304" pitchFamily="18" charset="0"/>
                <a:ea typeface="Tahoma" panose="020B0604030504040204" pitchFamily="34" charset="0"/>
                <a:cs typeface="Times New Roman" panose="02020603050405020304" pitchFamily="18" charset="0"/>
              </a:rPr>
              <a:t>“A Hybrid Neural Network for EEG-based Depression Screening Using CNN+LSTM”</a:t>
            </a:r>
            <a:endParaRPr lang="en-IN" sz="2000" b="1" dirty="0">
              <a:latin typeface="Times New Roman" panose="02020603050405020304" pitchFamily="18" charset="0"/>
              <a:cs typeface="Times New Roman" panose="02020603050405020304" pitchFamily="18" charset="0"/>
            </a:endParaRPr>
          </a:p>
        </p:txBody>
      </p:sp>
      <p:pic>
        <p:nvPicPr>
          <p:cNvPr id="12" name="Picture 3">
            <a:extLst>
              <a:ext uri="{FF2B5EF4-FFF2-40B4-BE49-F238E27FC236}">
                <a16:creationId xmlns="" xmlns:a16="http://schemas.microsoft.com/office/drawing/2014/main" id="{8DBF7793-6AB1-4760-9693-13E126C7DA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5967" y="90145"/>
            <a:ext cx="10725518" cy="1944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 name="Picture 3">
            <a:extLst>
              <a:ext uri="{FF2B5EF4-FFF2-40B4-BE49-F238E27FC236}">
                <a16:creationId xmlns="" xmlns:a16="http://schemas.microsoft.com/office/drawing/2014/main" id="{65147287-52DA-4E02-9EE9-D1D5E5B6D2C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3241" y="26027"/>
            <a:ext cx="10725518" cy="1944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4126603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 xmlns:a16="http://schemas.microsoft.com/office/drawing/2014/main" id="{6FFE746E-3ABF-4B2E-8849-B04BBD4E3C63}"/>
              </a:ext>
            </a:extLst>
          </p:cNvPr>
          <p:cNvSpPr txBox="1"/>
          <p:nvPr/>
        </p:nvSpPr>
        <p:spPr>
          <a:xfrm>
            <a:off x="2407765" y="413174"/>
            <a:ext cx="6572906" cy="523220"/>
          </a:xfrm>
          <a:prstGeom prst="rect">
            <a:avLst/>
          </a:prstGeom>
          <a:noFill/>
        </p:spPr>
        <p:txBody>
          <a:bodyPr wrap="square" rtlCol="0">
            <a:spAutoFit/>
          </a:bodyPr>
          <a:lstStyle/>
          <a:p>
            <a:pPr algn="ctr"/>
            <a:r>
              <a:rPr lang="en-IN" sz="2800" dirty="0">
                <a:latin typeface="Times New Roman" panose="02020603050405020304" pitchFamily="18" charset="0"/>
                <a:cs typeface="Times New Roman" panose="02020603050405020304" pitchFamily="18" charset="0"/>
              </a:rPr>
              <a:t> </a:t>
            </a:r>
            <a:endParaRPr lang="en-IN" sz="4000" b="1" dirty="0">
              <a:solidFill>
                <a:srgbClr val="0070C0"/>
              </a:solidFill>
              <a:latin typeface="Times New Roman" panose="02020603050405020304" pitchFamily="18" charset="0"/>
              <a:cs typeface="Times New Roman" panose="02020603050405020304" pitchFamily="18" charset="0"/>
            </a:endParaRPr>
          </a:p>
        </p:txBody>
      </p:sp>
      <p:sp>
        <p:nvSpPr>
          <p:cNvPr id="3" name="Footer Placeholder 7">
            <a:extLst>
              <a:ext uri="{FF2B5EF4-FFF2-40B4-BE49-F238E27FC236}">
                <a16:creationId xmlns="" xmlns:a16="http://schemas.microsoft.com/office/drawing/2014/main" id="{72955DD5-BA0B-4DD4-BE13-D8EA98DB5254}"/>
              </a:ext>
            </a:extLst>
          </p:cNvPr>
          <p:cNvSpPr>
            <a:spLocks noGrp="1"/>
          </p:cNvSpPr>
          <p:nvPr>
            <p:ph type="ftr" sz="quarter" idx="11"/>
          </p:nvPr>
        </p:nvSpPr>
        <p:spPr>
          <a:xfrm>
            <a:off x="3686185" y="6459785"/>
            <a:ext cx="4822804" cy="365125"/>
          </a:xfrm>
        </p:spPr>
        <p:txBody>
          <a:bodyPr/>
          <a:lstStyle/>
          <a:p>
            <a:r>
              <a:rPr lang="en-IN" dirty="0"/>
              <a:t>2025-26</a:t>
            </a:r>
          </a:p>
        </p:txBody>
      </p:sp>
      <p:sp>
        <p:nvSpPr>
          <p:cNvPr id="4" name="Slide Number Placeholder 8">
            <a:extLst>
              <a:ext uri="{FF2B5EF4-FFF2-40B4-BE49-F238E27FC236}">
                <a16:creationId xmlns="" xmlns:a16="http://schemas.microsoft.com/office/drawing/2014/main" id="{E374B9F8-F021-41EB-B7CC-36DF97F119CA}"/>
              </a:ext>
            </a:extLst>
          </p:cNvPr>
          <p:cNvSpPr>
            <a:spLocks noGrp="1"/>
          </p:cNvSpPr>
          <p:nvPr>
            <p:ph type="sldNum" sz="quarter" idx="12"/>
          </p:nvPr>
        </p:nvSpPr>
        <p:spPr>
          <a:xfrm>
            <a:off x="9900458" y="6459785"/>
            <a:ext cx="1312025" cy="365125"/>
          </a:xfrm>
        </p:spPr>
        <p:txBody>
          <a:bodyPr/>
          <a:lstStyle/>
          <a:p>
            <a:fld id="{69FBB93A-4B32-4007-AACF-5243CED557C7}" type="slidenum">
              <a:rPr lang="en-IN" smtClean="0"/>
              <a:t>2</a:t>
            </a:fld>
            <a:endParaRPr lang="en-IN"/>
          </a:p>
        </p:txBody>
      </p:sp>
      <p:sp>
        <p:nvSpPr>
          <p:cNvPr id="5" name="Date Placeholder 9">
            <a:extLst>
              <a:ext uri="{FF2B5EF4-FFF2-40B4-BE49-F238E27FC236}">
                <a16:creationId xmlns="" xmlns:a16="http://schemas.microsoft.com/office/drawing/2014/main" id="{BF2FBA8A-6D2B-440C-9535-D33834CDEDDD}"/>
              </a:ext>
            </a:extLst>
          </p:cNvPr>
          <p:cNvSpPr>
            <a:spLocks noGrp="1"/>
          </p:cNvSpPr>
          <p:nvPr>
            <p:ph type="dt" sz="half" idx="10"/>
          </p:nvPr>
        </p:nvSpPr>
        <p:spPr>
          <a:xfrm>
            <a:off x="1097280" y="6459785"/>
            <a:ext cx="2472271" cy="365125"/>
          </a:xfrm>
        </p:spPr>
        <p:txBody>
          <a:bodyPr/>
          <a:lstStyle/>
          <a:p>
            <a:r>
              <a:rPr lang="en-US"/>
              <a:t>Dept of AI&amp;DS, SJCIT</a:t>
            </a:r>
            <a:endParaRPr lang="en-IN"/>
          </a:p>
        </p:txBody>
      </p:sp>
      <p:pic>
        <p:nvPicPr>
          <p:cNvPr id="6" name="Picture 5">
            <a:extLst>
              <a:ext uri="{FF2B5EF4-FFF2-40B4-BE49-F238E27FC236}">
                <a16:creationId xmlns="" xmlns:a16="http://schemas.microsoft.com/office/drawing/2014/main" id="{A318F79A-78AD-4713-ABAC-79E20C74774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65485" y="235453"/>
            <a:ext cx="1581591" cy="878662"/>
          </a:xfrm>
          <a:prstGeom prst="rect">
            <a:avLst/>
          </a:prstGeom>
        </p:spPr>
      </p:pic>
      <p:sp>
        <p:nvSpPr>
          <p:cNvPr id="7" name="TextBox 6">
            <a:extLst>
              <a:ext uri="{FF2B5EF4-FFF2-40B4-BE49-F238E27FC236}">
                <a16:creationId xmlns="" xmlns:a16="http://schemas.microsoft.com/office/drawing/2014/main" id="{85F4E585-BAFA-469F-805D-30F8D1DF383C}"/>
              </a:ext>
            </a:extLst>
          </p:cNvPr>
          <p:cNvSpPr txBox="1"/>
          <p:nvPr/>
        </p:nvSpPr>
        <p:spPr>
          <a:xfrm>
            <a:off x="-22735" y="33090"/>
            <a:ext cx="3883741" cy="215444"/>
          </a:xfrm>
          <a:prstGeom prst="rect">
            <a:avLst/>
          </a:prstGeom>
          <a:noFill/>
        </p:spPr>
        <p:txBody>
          <a:bodyPr wrap="square" rtlCol="0">
            <a:spAutoFit/>
          </a:bodyPr>
          <a:lstStyle/>
          <a:p>
            <a:r>
              <a:rPr lang="en-IN" sz="800" dirty="0">
                <a:latin typeface="Times New Roman" panose="02020603050405020304" pitchFamily="18" charset="0"/>
                <a:ea typeface="Tahoma" panose="020B0604030504040204" pitchFamily="34" charset="0"/>
                <a:cs typeface="Times New Roman" panose="02020603050405020304" pitchFamily="18" charset="0"/>
              </a:rPr>
              <a:t>A Hybrid Neural Network for EEG-based Depression Screening </a:t>
            </a:r>
            <a:r>
              <a:rPr lang="en-IN" sz="800">
                <a:latin typeface="Times New Roman" panose="02020603050405020304" pitchFamily="18" charset="0"/>
                <a:ea typeface="Tahoma" panose="020B0604030504040204" pitchFamily="34" charset="0"/>
                <a:cs typeface="Times New Roman" panose="02020603050405020304" pitchFamily="18" charset="0"/>
              </a:rPr>
              <a:t>Using CNN+LSTM</a:t>
            </a:r>
            <a:endParaRPr lang="en-IN" sz="8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 xmlns:a16="http://schemas.microsoft.com/office/drawing/2014/main" id="{6FBAC106-3C37-494F-A5A1-56222815F165}"/>
              </a:ext>
            </a:extLst>
          </p:cNvPr>
          <p:cNvSpPr txBox="1"/>
          <p:nvPr/>
        </p:nvSpPr>
        <p:spPr>
          <a:xfrm>
            <a:off x="3283975" y="413174"/>
            <a:ext cx="4493342" cy="523220"/>
          </a:xfrm>
          <a:prstGeom prst="rect">
            <a:avLst/>
          </a:prstGeom>
          <a:noFill/>
        </p:spPr>
        <p:txBody>
          <a:bodyPr wrap="square" rtlCol="0">
            <a:spAutoFit/>
          </a:bodyPr>
          <a:lstStyle/>
          <a:p>
            <a:r>
              <a:rPr lang="en-IN" sz="2600" b="1" dirty="0">
                <a:latin typeface="Times New Roman" panose="02020603050405020304" pitchFamily="18" charset="0"/>
                <a:cs typeface="Times New Roman" panose="02020603050405020304" pitchFamily="18" charset="0"/>
              </a:rPr>
              <a:t>TABLE </a:t>
            </a:r>
            <a:r>
              <a:rPr lang="en-IN" sz="2800" b="1" dirty="0">
                <a:latin typeface="Times New Roman" panose="02020603050405020304" pitchFamily="18" charset="0"/>
                <a:cs typeface="Times New Roman" panose="02020603050405020304" pitchFamily="18" charset="0"/>
              </a:rPr>
              <a:t>OF</a:t>
            </a:r>
            <a:r>
              <a:rPr lang="en-IN" sz="2600" b="1" dirty="0">
                <a:latin typeface="Times New Roman" panose="02020603050405020304" pitchFamily="18" charset="0"/>
                <a:cs typeface="Times New Roman" panose="02020603050405020304" pitchFamily="18" charset="0"/>
              </a:rPr>
              <a:t> CONTENTS</a:t>
            </a:r>
            <a:endParaRPr lang="en-IN" sz="2600" dirty="0"/>
          </a:p>
        </p:txBody>
      </p:sp>
      <p:sp>
        <p:nvSpPr>
          <p:cNvPr id="9" name="TextBox 8">
            <a:extLst>
              <a:ext uri="{FF2B5EF4-FFF2-40B4-BE49-F238E27FC236}">
                <a16:creationId xmlns="" xmlns:a16="http://schemas.microsoft.com/office/drawing/2014/main" id="{13170DBD-BE0B-49D0-BCA7-15B37B822C66}"/>
              </a:ext>
            </a:extLst>
          </p:cNvPr>
          <p:cNvSpPr txBox="1"/>
          <p:nvPr/>
        </p:nvSpPr>
        <p:spPr>
          <a:xfrm>
            <a:off x="644924" y="1170098"/>
            <a:ext cx="4916121" cy="4939814"/>
          </a:xfrm>
          <a:prstGeom prst="rect">
            <a:avLst/>
          </a:prstGeom>
          <a:noFill/>
        </p:spPr>
        <p:txBody>
          <a:bodyPr wrap="square" rtlCol="0">
            <a:spAutoFit/>
          </a:bodyPr>
          <a:lstStyle/>
          <a:p>
            <a:pPr marL="800100" lvl="1" indent="-342900" algn="just">
              <a:lnSpc>
                <a:spcPct val="150000"/>
              </a:lnSpc>
              <a:buFont typeface="+mj-lt"/>
              <a:buAutoNum type="arabicPeriod"/>
              <a:tabLst>
                <a:tab pos="685800" algn="l"/>
              </a:tabLst>
            </a:pPr>
            <a:r>
              <a:rPr lang="en-US" spc="0">
                <a:effectLst/>
                <a:latin typeface="Times New Roman" panose="02020603050405020304" pitchFamily="18" charset="0"/>
                <a:ea typeface="Calibri" panose="020F0502020204030204" pitchFamily="34" charset="0"/>
                <a:cs typeface="Times New Roman" panose="02020603050405020304" pitchFamily="18" charset="0"/>
              </a:rPr>
              <a:t>Abstract</a:t>
            </a:r>
            <a:r>
              <a:rPr lang="en-US" spc="-15">
                <a:effectLst/>
                <a:latin typeface="Times New Roman" panose="02020603050405020304" pitchFamily="18" charset="0"/>
                <a:ea typeface="Calibri" panose="020F0502020204030204" pitchFamily="34" charset="0"/>
                <a:cs typeface="Times New Roman" panose="02020603050405020304" pitchFamily="18" charset="0"/>
              </a:rPr>
              <a:t> </a:t>
            </a:r>
            <a:endParaRPr lang="en-IN" spc="0" dirty="0">
              <a:effectLst/>
              <a:latin typeface="Times New Roman" panose="02020603050405020304" pitchFamily="18" charset="0"/>
              <a:ea typeface="Calibri" panose="020F0502020204030204" pitchFamily="34" charset="0"/>
              <a:cs typeface="Times New Roman" panose="02020603050405020304" pitchFamily="18" charset="0"/>
            </a:endParaRPr>
          </a:p>
          <a:p>
            <a:pPr marL="800100" lvl="1" indent="-342900" algn="just">
              <a:lnSpc>
                <a:spcPct val="150000"/>
              </a:lnSpc>
              <a:buFont typeface="+mj-lt"/>
              <a:buAutoNum type="arabicPeriod"/>
              <a:tabLst>
                <a:tab pos="685800" algn="l"/>
              </a:tabLst>
            </a:pPr>
            <a:r>
              <a:rPr lang="en-US" spc="0">
                <a:effectLst/>
                <a:latin typeface="Times New Roman" panose="02020603050405020304" pitchFamily="18" charset="0"/>
                <a:ea typeface="Calibri" panose="020F0502020204030204" pitchFamily="34" charset="0"/>
                <a:cs typeface="Times New Roman" panose="02020603050405020304" pitchFamily="18" charset="0"/>
              </a:rPr>
              <a:t>Introduction</a:t>
            </a:r>
            <a:r>
              <a:rPr lang="en-US" spc="-30">
                <a:effectLst/>
                <a:latin typeface="Times New Roman" panose="02020603050405020304" pitchFamily="18" charset="0"/>
                <a:ea typeface="Calibri" panose="020F0502020204030204" pitchFamily="34" charset="0"/>
                <a:cs typeface="Times New Roman" panose="02020603050405020304" pitchFamily="18" charset="0"/>
              </a:rPr>
              <a:t> </a:t>
            </a:r>
          </a:p>
          <a:p>
            <a:pPr marL="800100" lvl="1" indent="-342900" algn="just">
              <a:lnSpc>
                <a:spcPct val="150000"/>
              </a:lnSpc>
              <a:buFont typeface="+mj-lt"/>
              <a:buAutoNum type="arabicPeriod"/>
              <a:tabLst>
                <a:tab pos="685800" algn="l"/>
              </a:tabLst>
            </a:pPr>
            <a:r>
              <a:rPr lang="en-US" spc="-30">
                <a:latin typeface="Times New Roman" panose="02020603050405020304" pitchFamily="18" charset="0"/>
                <a:ea typeface="Calibri" panose="020F0502020204030204" pitchFamily="34" charset="0"/>
                <a:cs typeface="Times New Roman" panose="02020603050405020304" pitchFamily="18" charset="0"/>
              </a:rPr>
              <a:t>Problem Statement</a:t>
            </a:r>
            <a:endParaRPr lang="en-US" spc="-30" dirty="0">
              <a:effectLst/>
              <a:latin typeface="Times New Roman" panose="02020603050405020304" pitchFamily="18" charset="0"/>
              <a:ea typeface="Calibri" panose="020F0502020204030204" pitchFamily="34" charset="0"/>
              <a:cs typeface="Times New Roman" panose="02020603050405020304" pitchFamily="18" charset="0"/>
            </a:endParaRPr>
          </a:p>
          <a:p>
            <a:pPr marL="800100" lvl="1" indent="-342900" algn="just">
              <a:lnSpc>
                <a:spcPct val="150000"/>
              </a:lnSpc>
              <a:buFont typeface="+mj-lt"/>
              <a:buAutoNum type="arabicPeriod"/>
              <a:tabLst>
                <a:tab pos="685800" algn="l"/>
              </a:tabLst>
            </a:pPr>
            <a:r>
              <a:rPr lang="en-US" spc="-10" dirty="0">
                <a:effectLst/>
                <a:latin typeface="Times New Roman" panose="02020603050405020304" pitchFamily="18" charset="0"/>
                <a:ea typeface="Calibri" panose="020F0502020204030204" pitchFamily="34" charset="0"/>
                <a:cs typeface="Times New Roman" panose="02020603050405020304" pitchFamily="18" charset="0"/>
              </a:rPr>
              <a:t>Objectives</a:t>
            </a:r>
            <a:endParaRPr lang="en-US" spc="-30" dirty="0">
              <a:effectLst/>
              <a:latin typeface="Times New Roman" panose="02020603050405020304" pitchFamily="18" charset="0"/>
              <a:ea typeface="Calibri" panose="020F0502020204030204" pitchFamily="34" charset="0"/>
              <a:cs typeface="Times New Roman" panose="02020603050405020304" pitchFamily="18" charset="0"/>
            </a:endParaRPr>
          </a:p>
          <a:p>
            <a:pPr marL="800100" lvl="1" indent="-342900">
              <a:lnSpc>
                <a:spcPct val="150000"/>
              </a:lnSpc>
              <a:buFont typeface="+mj-lt"/>
              <a:buAutoNum type="arabicPeriod"/>
              <a:tabLst>
                <a:tab pos="685800" algn="l"/>
              </a:tabLst>
            </a:pPr>
            <a:r>
              <a:rPr lang="en-IN">
                <a:latin typeface="Times New Roman" panose="02020603050405020304" pitchFamily="18" charset="0"/>
                <a:cs typeface="Times New Roman" panose="02020603050405020304" pitchFamily="18" charset="0"/>
              </a:rPr>
              <a:t>System </a:t>
            </a:r>
            <a:r>
              <a:rPr lang="en-IN" dirty="0">
                <a:latin typeface="Times New Roman" panose="02020603050405020304" pitchFamily="18" charset="0"/>
                <a:cs typeface="Times New Roman" panose="02020603050405020304" pitchFamily="18" charset="0"/>
              </a:rPr>
              <a:t>Requirement </a:t>
            </a:r>
            <a:r>
              <a:rPr lang="en-IN">
                <a:latin typeface="Times New Roman" panose="02020603050405020304" pitchFamily="18" charset="0"/>
                <a:cs typeface="Times New Roman" panose="02020603050405020304" pitchFamily="18" charset="0"/>
              </a:rPr>
              <a:t>and Specifications</a:t>
            </a:r>
          </a:p>
          <a:p>
            <a:pPr marL="800100" lvl="1" indent="-342900">
              <a:lnSpc>
                <a:spcPct val="150000"/>
              </a:lnSpc>
              <a:buFont typeface="+mj-lt"/>
              <a:buAutoNum type="arabicPeriod"/>
              <a:tabLst>
                <a:tab pos="685800" algn="l"/>
              </a:tabLst>
            </a:pPr>
            <a:r>
              <a:rPr lang="en-US" spc="-10">
                <a:latin typeface="Times New Roman" panose="02020603050405020304" pitchFamily="18" charset="0"/>
                <a:ea typeface="Calibri" panose="020F0502020204030204" pitchFamily="34" charset="0"/>
                <a:cs typeface="Times New Roman" panose="02020603050405020304" pitchFamily="18" charset="0"/>
              </a:rPr>
              <a:t>Design</a:t>
            </a:r>
            <a:r>
              <a:rPr lang="en-IN" sz="1800">
                <a:effectLst/>
                <a:latin typeface="Times New Roman" panose="02020603050405020304" pitchFamily="18" charset="0"/>
                <a:cs typeface="Times New Roman" panose="02020603050405020304" pitchFamily="18" charset="0"/>
              </a:rPr>
              <a:t> </a:t>
            </a:r>
          </a:p>
          <a:p>
            <a:pPr marL="800100" lvl="1" indent="-342900">
              <a:lnSpc>
                <a:spcPct val="150000"/>
              </a:lnSpc>
              <a:buFont typeface="+mj-lt"/>
              <a:buAutoNum type="arabicPeriod"/>
              <a:tabLst>
                <a:tab pos="685800" algn="l"/>
              </a:tabLst>
            </a:pPr>
            <a:r>
              <a:rPr lang="en-IN">
                <a:solidFill>
                  <a:srgbClr val="000000"/>
                </a:solidFill>
                <a:latin typeface="Times New Roman" panose="02020603050405020304" pitchFamily="18" charset="0"/>
                <a:cs typeface="Times New Roman" panose="02020603050405020304" pitchFamily="18" charset="0"/>
              </a:rPr>
              <a:t> Implementation</a:t>
            </a:r>
            <a:endParaRPr lang="en-IN">
              <a:latin typeface="Times New Roman" panose="02020603050405020304" pitchFamily="18" charset="0"/>
              <a:cs typeface="Times New Roman" panose="02020603050405020304" pitchFamily="18" charset="0"/>
            </a:endParaRPr>
          </a:p>
          <a:p>
            <a:pPr marL="800100" lvl="1" indent="-342900">
              <a:lnSpc>
                <a:spcPct val="150000"/>
              </a:lnSpc>
              <a:buFont typeface="+mj-lt"/>
              <a:buAutoNum type="arabicPeriod"/>
              <a:tabLst>
                <a:tab pos="685800" algn="l"/>
              </a:tabLst>
            </a:pPr>
            <a:r>
              <a:rPr lang="en-IN">
                <a:solidFill>
                  <a:srgbClr val="000000"/>
                </a:solidFill>
                <a:latin typeface="Times New Roman" panose="02020603050405020304" pitchFamily="18" charset="0"/>
                <a:cs typeface="Times New Roman" panose="02020603050405020304" pitchFamily="18" charset="0"/>
              </a:rPr>
              <a:t>Testing</a:t>
            </a:r>
          </a:p>
          <a:p>
            <a:pPr marL="800100" lvl="1" indent="-342900">
              <a:lnSpc>
                <a:spcPct val="150000"/>
              </a:lnSpc>
              <a:buFont typeface="+mj-lt"/>
              <a:buAutoNum type="arabicPeriod"/>
              <a:tabLst>
                <a:tab pos="685800" algn="l"/>
              </a:tabLst>
            </a:pPr>
            <a:r>
              <a:rPr lang="en-IN">
                <a:solidFill>
                  <a:srgbClr val="000000"/>
                </a:solidFill>
                <a:latin typeface="Times New Roman" panose="02020603050405020304" pitchFamily="18" charset="0"/>
                <a:cs typeface="Times New Roman" panose="02020603050405020304" pitchFamily="18" charset="0"/>
              </a:rPr>
              <a:t>Conclusion and Future Enhancement</a:t>
            </a:r>
          </a:p>
          <a:p>
            <a:pPr marL="800100" lvl="1" indent="-342900">
              <a:lnSpc>
                <a:spcPct val="150000"/>
              </a:lnSpc>
              <a:buFont typeface="+mj-lt"/>
              <a:buAutoNum type="arabicPeriod"/>
              <a:tabLst>
                <a:tab pos="685800" algn="l"/>
              </a:tabLst>
            </a:pPr>
            <a:r>
              <a:rPr lang="en-IN">
                <a:solidFill>
                  <a:srgbClr val="000000"/>
                </a:solidFill>
                <a:latin typeface="Times New Roman" panose="02020603050405020304" pitchFamily="18" charset="0"/>
                <a:cs typeface="Times New Roman" panose="02020603050405020304" pitchFamily="18" charset="0"/>
              </a:rPr>
              <a:t>References</a:t>
            </a:r>
          </a:p>
          <a:p>
            <a:pPr marL="800100" lvl="1" indent="-342900">
              <a:lnSpc>
                <a:spcPct val="150000"/>
              </a:lnSpc>
              <a:buFont typeface="+mj-lt"/>
              <a:buAutoNum type="arabicPeriod"/>
              <a:tabLst>
                <a:tab pos="685800" algn="l"/>
              </a:tabLst>
            </a:pPr>
            <a:r>
              <a:rPr lang="en-IN">
                <a:solidFill>
                  <a:srgbClr val="000000"/>
                </a:solidFill>
                <a:latin typeface="Times New Roman" panose="02020603050405020304" pitchFamily="18" charset="0"/>
                <a:cs typeface="Times New Roman" panose="02020603050405020304" pitchFamily="18" charset="0"/>
              </a:rPr>
              <a:t>Snapshot</a:t>
            </a:r>
            <a:endParaRPr lang="en-IN" spc="0"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IN" dirty="0"/>
          </a:p>
        </p:txBody>
      </p:sp>
      <p:sp>
        <p:nvSpPr>
          <p:cNvPr id="10" name="TextBox 9">
            <a:extLst>
              <a:ext uri="{FF2B5EF4-FFF2-40B4-BE49-F238E27FC236}">
                <a16:creationId xmlns="" xmlns:a16="http://schemas.microsoft.com/office/drawing/2014/main" id="{1EFAC815-5686-4EC5-9A32-96132F6120B5}"/>
              </a:ext>
            </a:extLst>
          </p:cNvPr>
          <p:cNvSpPr txBox="1"/>
          <p:nvPr/>
        </p:nvSpPr>
        <p:spPr>
          <a:xfrm>
            <a:off x="5775936" y="1114114"/>
            <a:ext cx="4124522" cy="646331"/>
          </a:xfrm>
          <a:prstGeom prst="rect">
            <a:avLst/>
          </a:prstGeom>
          <a:noFill/>
        </p:spPr>
        <p:txBody>
          <a:bodyPr wrap="square" rtlCol="0">
            <a:spAutoFit/>
          </a:bodyPr>
          <a:lstStyle/>
          <a:p>
            <a:endParaRPr lang="en-US" sz="1800" spc="-10" dirty="0">
              <a:latin typeface="Times New Roman" panose="02020603050405020304" pitchFamily="18" charset="0"/>
              <a:ea typeface="Calibri" panose="020F0502020204030204" pitchFamily="34"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760826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7">
            <a:extLst>
              <a:ext uri="{FF2B5EF4-FFF2-40B4-BE49-F238E27FC236}">
                <a16:creationId xmlns="" xmlns:a16="http://schemas.microsoft.com/office/drawing/2014/main" id="{B33AFFD4-7292-4A8C-8A17-1A7CC0EFD172}"/>
              </a:ext>
            </a:extLst>
          </p:cNvPr>
          <p:cNvSpPr>
            <a:spLocks noGrp="1"/>
          </p:cNvSpPr>
          <p:nvPr>
            <p:ph type="ftr" sz="quarter" idx="11"/>
          </p:nvPr>
        </p:nvSpPr>
        <p:spPr>
          <a:xfrm>
            <a:off x="3686185" y="6459785"/>
            <a:ext cx="4822804" cy="365125"/>
          </a:xfrm>
        </p:spPr>
        <p:txBody>
          <a:bodyPr/>
          <a:lstStyle/>
          <a:p>
            <a:r>
              <a:rPr lang="en-IN" dirty="0"/>
              <a:t>2025-26</a:t>
            </a:r>
          </a:p>
        </p:txBody>
      </p:sp>
      <p:sp>
        <p:nvSpPr>
          <p:cNvPr id="4" name="Slide Number Placeholder 8">
            <a:extLst>
              <a:ext uri="{FF2B5EF4-FFF2-40B4-BE49-F238E27FC236}">
                <a16:creationId xmlns="" xmlns:a16="http://schemas.microsoft.com/office/drawing/2014/main" id="{C2BB9153-A7A0-4504-AC5F-56790DAEB5CD}"/>
              </a:ext>
            </a:extLst>
          </p:cNvPr>
          <p:cNvSpPr>
            <a:spLocks noGrp="1"/>
          </p:cNvSpPr>
          <p:nvPr>
            <p:ph type="sldNum" sz="quarter" idx="12"/>
          </p:nvPr>
        </p:nvSpPr>
        <p:spPr>
          <a:xfrm>
            <a:off x="9900458" y="6459785"/>
            <a:ext cx="1312025" cy="365125"/>
          </a:xfrm>
        </p:spPr>
        <p:txBody>
          <a:bodyPr/>
          <a:lstStyle/>
          <a:p>
            <a:fld id="{69FBB93A-4B32-4007-AACF-5243CED557C7}" type="slidenum">
              <a:rPr lang="en-IN" smtClean="0"/>
              <a:t>3</a:t>
            </a:fld>
            <a:endParaRPr lang="en-IN"/>
          </a:p>
        </p:txBody>
      </p:sp>
      <p:sp>
        <p:nvSpPr>
          <p:cNvPr id="5" name="Date Placeholder 9">
            <a:extLst>
              <a:ext uri="{FF2B5EF4-FFF2-40B4-BE49-F238E27FC236}">
                <a16:creationId xmlns="" xmlns:a16="http://schemas.microsoft.com/office/drawing/2014/main" id="{E2AF6416-E065-4DA5-B156-B7F578D2AF40}"/>
              </a:ext>
            </a:extLst>
          </p:cNvPr>
          <p:cNvSpPr>
            <a:spLocks noGrp="1"/>
          </p:cNvSpPr>
          <p:nvPr>
            <p:ph type="dt" sz="half" idx="10"/>
          </p:nvPr>
        </p:nvSpPr>
        <p:spPr>
          <a:xfrm>
            <a:off x="1097280" y="6459785"/>
            <a:ext cx="2472271" cy="365125"/>
          </a:xfrm>
        </p:spPr>
        <p:txBody>
          <a:bodyPr/>
          <a:lstStyle/>
          <a:p>
            <a:r>
              <a:rPr lang="en-US"/>
              <a:t>Dept of AI&amp;DS, SJCIT</a:t>
            </a:r>
            <a:endParaRPr lang="en-IN"/>
          </a:p>
        </p:txBody>
      </p:sp>
      <p:pic>
        <p:nvPicPr>
          <p:cNvPr id="6" name="Picture 5">
            <a:extLst>
              <a:ext uri="{FF2B5EF4-FFF2-40B4-BE49-F238E27FC236}">
                <a16:creationId xmlns="" xmlns:a16="http://schemas.microsoft.com/office/drawing/2014/main" id="{FA43899D-08E8-44A2-ADB1-30FFF0F099A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65485" y="235453"/>
            <a:ext cx="1581591" cy="878662"/>
          </a:xfrm>
          <a:prstGeom prst="rect">
            <a:avLst/>
          </a:prstGeom>
        </p:spPr>
      </p:pic>
      <p:sp>
        <p:nvSpPr>
          <p:cNvPr id="7" name="TextBox 6">
            <a:extLst>
              <a:ext uri="{FF2B5EF4-FFF2-40B4-BE49-F238E27FC236}">
                <a16:creationId xmlns="" xmlns:a16="http://schemas.microsoft.com/office/drawing/2014/main" id="{52DE6456-D739-4E1F-8DA1-5FAE5B3DFF86}"/>
              </a:ext>
            </a:extLst>
          </p:cNvPr>
          <p:cNvSpPr txBox="1"/>
          <p:nvPr/>
        </p:nvSpPr>
        <p:spPr>
          <a:xfrm>
            <a:off x="0" y="33090"/>
            <a:ext cx="3883741" cy="215444"/>
          </a:xfrm>
          <a:prstGeom prst="rect">
            <a:avLst/>
          </a:prstGeom>
          <a:noFill/>
        </p:spPr>
        <p:txBody>
          <a:bodyPr wrap="square" rtlCol="0">
            <a:spAutoFit/>
          </a:bodyPr>
          <a:lstStyle/>
          <a:p>
            <a:r>
              <a:rPr lang="en-IN" sz="800" dirty="0">
                <a:latin typeface="Times New Roman" panose="02020603050405020304" pitchFamily="18" charset="0"/>
                <a:ea typeface="Tahoma" panose="020B0604030504040204" pitchFamily="34" charset="0"/>
                <a:cs typeface="Times New Roman" panose="02020603050405020304" pitchFamily="18" charset="0"/>
              </a:rPr>
              <a:t>A Hybrid Neural Network for EEG-based Depression Screening </a:t>
            </a:r>
            <a:r>
              <a:rPr lang="en-IN" sz="800">
                <a:latin typeface="Times New Roman" panose="02020603050405020304" pitchFamily="18" charset="0"/>
                <a:ea typeface="Tahoma" panose="020B0604030504040204" pitchFamily="34" charset="0"/>
                <a:cs typeface="Times New Roman" panose="02020603050405020304" pitchFamily="18" charset="0"/>
              </a:rPr>
              <a:t>Using CNN +LSTM</a:t>
            </a:r>
            <a:endParaRPr lang="en-IN" sz="800"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 xmlns:a16="http://schemas.microsoft.com/office/drawing/2014/main" id="{78F9A048-8BBD-4208-B2F9-5A9B1A4C9603}"/>
              </a:ext>
            </a:extLst>
          </p:cNvPr>
          <p:cNvSpPr txBox="1"/>
          <p:nvPr/>
        </p:nvSpPr>
        <p:spPr>
          <a:xfrm>
            <a:off x="1950097" y="466531"/>
            <a:ext cx="7196235" cy="523220"/>
          </a:xfrm>
          <a:prstGeom prst="rect">
            <a:avLst/>
          </a:prstGeom>
          <a:noFill/>
        </p:spPr>
        <p:txBody>
          <a:bodyPr wrap="square">
            <a:spAutoFit/>
          </a:bodyPr>
          <a:lstStyle/>
          <a:p>
            <a:pPr algn="ctr"/>
            <a:r>
              <a:rPr lang="en-IN" sz="2800" b="1" kern="1200" dirty="0">
                <a:solidFill>
                  <a:srgbClr val="000000"/>
                </a:solidFill>
                <a:effectLst/>
                <a:latin typeface="Times New Roman" panose="02020603050405020304" pitchFamily="18" charset="0"/>
                <a:cs typeface="Times New Roman" panose="02020603050405020304" pitchFamily="18" charset="0"/>
              </a:rPr>
              <a:t>ABSTRACT</a:t>
            </a:r>
            <a:endParaRPr lang="en-IN" sz="2800" dirty="0">
              <a:effectLst/>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 xmlns:a16="http://schemas.microsoft.com/office/drawing/2014/main" id="{69ADBA0B-5BB9-4219-B276-077A524CA92D}"/>
              </a:ext>
            </a:extLst>
          </p:cNvPr>
          <p:cNvSpPr txBox="1"/>
          <p:nvPr/>
        </p:nvSpPr>
        <p:spPr>
          <a:xfrm>
            <a:off x="895739" y="989751"/>
            <a:ext cx="10151706" cy="4524315"/>
          </a:xfrm>
          <a:prstGeom prst="rect">
            <a:avLst/>
          </a:prstGeom>
          <a:noFill/>
        </p:spPr>
        <p:txBody>
          <a:bodyPr wrap="square" rtlCol="0">
            <a:spAutoFit/>
          </a:bodyPr>
          <a:lstStyle/>
          <a:p>
            <a:pPr algn="just">
              <a:lnSpc>
                <a:spcPct val="150000"/>
              </a:lnSpc>
            </a:pPr>
            <a:r>
              <a:rPr lang="en-US" sz="2400" dirty="0">
                <a:latin typeface="Times New Roman" panose="02020603050405020304" pitchFamily="18" charset="0"/>
                <a:cs typeface="Times New Roman" panose="02020603050405020304" pitchFamily="18" charset="0"/>
              </a:rPr>
              <a:t>Depression is a widespread psychological disorder affecting people of all ages. Early diagnosis is crucial, and EEG signals can help assess mental health. A fully automated Depression Detection System using </a:t>
            </a:r>
            <a:r>
              <a:rPr lang="en-US" sz="2400" dirty="0" smtClean="0">
                <a:latin typeface="Times New Roman" panose="02020603050405020304" pitchFamily="18" charset="0"/>
                <a:cs typeface="Times New Roman" panose="02020603050405020304" pitchFamily="18" charset="0"/>
              </a:rPr>
              <a:t>a Hybrid </a:t>
            </a:r>
            <a:r>
              <a:rPr lang="en-US" sz="2400" dirty="0">
                <a:latin typeface="Times New Roman" panose="02020603050405020304" pitchFamily="18" charset="0"/>
                <a:cs typeface="Times New Roman" panose="02020603050405020304" pitchFamily="18" charset="0"/>
              </a:rPr>
              <a:t>Neural Network, </a:t>
            </a:r>
            <a:r>
              <a:rPr lang="en-US" sz="2400" b="1" dirty="0" err="1">
                <a:latin typeface="Times New Roman" panose="02020603050405020304" pitchFamily="18" charset="0"/>
                <a:cs typeface="Times New Roman" panose="02020603050405020304" pitchFamily="18" charset="0"/>
              </a:rPr>
              <a:t>DepHNN</a:t>
            </a:r>
            <a:r>
              <a:rPr lang="en-US" sz="2400" dirty="0">
                <a:latin typeface="Times New Roman" panose="02020603050405020304" pitchFamily="18" charset="0"/>
                <a:cs typeface="Times New Roman" panose="02020603050405020304" pitchFamily="18" charset="0"/>
              </a:rPr>
              <a:t>, which combines CNN for </a:t>
            </a:r>
            <a:r>
              <a:rPr lang="en-US" sz="2400" dirty="0">
                <a:latin typeface="Times New Roman" panose="02020603050405020304" pitchFamily="18" charset="0"/>
                <a:cs typeface="Times New Roman" panose="02020603050405020304" pitchFamily="18" charset="0"/>
              </a:rPr>
              <a:t>sequence learning </a:t>
            </a:r>
            <a:r>
              <a:rPr lang="en-US" sz="2400" dirty="0" smtClean="0">
                <a:latin typeface="Times New Roman" panose="02020603050405020304" pitchFamily="18" charset="0"/>
                <a:cs typeface="Times New Roman" panose="02020603050405020304" pitchFamily="18" charset="0"/>
              </a:rPr>
              <a:t>and </a:t>
            </a:r>
            <a:r>
              <a:rPr lang="en-US" sz="2400" dirty="0">
                <a:latin typeface="Times New Roman" panose="02020603050405020304" pitchFamily="18" charset="0"/>
                <a:cs typeface="Times New Roman" panose="02020603050405020304" pitchFamily="18" charset="0"/>
              </a:rPr>
              <a:t>LSTM for </a:t>
            </a:r>
            <a:r>
              <a:rPr lang="en-US" sz="2400" dirty="0">
                <a:latin typeface="Times New Roman" panose="02020603050405020304" pitchFamily="18" charset="0"/>
                <a:cs typeface="Times New Roman" panose="02020603050405020304" pitchFamily="18" charset="0"/>
              </a:rPr>
              <a:t>temporal </a:t>
            </a:r>
            <a:r>
              <a:rPr lang="en-US" sz="2400" dirty="0" smtClean="0">
                <a:latin typeface="Times New Roman" panose="02020603050405020304" pitchFamily="18" charset="0"/>
                <a:cs typeface="Times New Roman" panose="02020603050405020304" pitchFamily="18" charset="0"/>
              </a:rPr>
              <a:t>learning</a:t>
            </a:r>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EEG data from 34 depressed and 30 normal drug-free individuals were used. The system achieves </a:t>
            </a:r>
            <a:r>
              <a:rPr lang="en-US" sz="2400" b="1" dirty="0">
                <a:latin typeface="Times New Roman" panose="02020603050405020304" pitchFamily="18" charset="0"/>
                <a:cs typeface="Times New Roman" panose="02020603050405020304" pitchFamily="18" charset="0"/>
              </a:rPr>
              <a:t>98.27 accuracy</a:t>
            </a:r>
            <a:r>
              <a:rPr lang="en-US" sz="2400" dirty="0">
                <a:latin typeface="Times New Roman" panose="02020603050405020304" pitchFamily="18" charset="0"/>
                <a:cs typeface="Times New Roman" panose="02020603050405020304" pitchFamily="18" charset="0"/>
              </a:rPr>
              <a:t> and a </a:t>
            </a:r>
            <a:r>
              <a:rPr lang="en-US" sz="2400" b="1" dirty="0">
                <a:latin typeface="Times New Roman" panose="02020603050405020304" pitchFamily="18" charset="0"/>
                <a:cs typeface="Times New Roman" panose="02020603050405020304" pitchFamily="18" charset="0"/>
              </a:rPr>
              <a:t>MAE of 0.0237</a:t>
            </a:r>
            <a:r>
              <a:rPr lang="en-US" sz="2400" dirty="0">
                <a:latin typeface="Times New Roman" panose="02020603050405020304" pitchFamily="18" charset="0"/>
                <a:cs typeface="Times New Roman" panose="02020603050405020304" pitchFamily="18" charset="0"/>
              </a:rPr>
              <a:t>, offering an efficient, accurate, and low-complexity solution for EEG-based depression screening.</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923073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7">
            <a:extLst>
              <a:ext uri="{FF2B5EF4-FFF2-40B4-BE49-F238E27FC236}">
                <a16:creationId xmlns="" xmlns:a16="http://schemas.microsoft.com/office/drawing/2014/main" id="{B33AFFD4-7292-4A8C-8A17-1A7CC0EFD172}"/>
              </a:ext>
            </a:extLst>
          </p:cNvPr>
          <p:cNvSpPr>
            <a:spLocks noGrp="1"/>
          </p:cNvSpPr>
          <p:nvPr>
            <p:ph type="ftr" sz="quarter" idx="11"/>
          </p:nvPr>
        </p:nvSpPr>
        <p:spPr>
          <a:xfrm>
            <a:off x="3686185" y="6459785"/>
            <a:ext cx="4822804" cy="365125"/>
          </a:xfrm>
        </p:spPr>
        <p:txBody>
          <a:bodyPr/>
          <a:lstStyle/>
          <a:p>
            <a:r>
              <a:rPr lang="en-IN" dirty="0"/>
              <a:t>2025-26</a:t>
            </a:r>
          </a:p>
        </p:txBody>
      </p:sp>
      <p:sp>
        <p:nvSpPr>
          <p:cNvPr id="4" name="Slide Number Placeholder 8">
            <a:extLst>
              <a:ext uri="{FF2B5EF4-FFF2-40B4-BE49-F238E27FC236}">
                <a16:creationId xmlns="" xmlns:a16="http://schemas.microsoft.com/office/drawing/2014/main" id="{C2BB9153-A7A0-4504-AC5F-56790DAEB5CD}"/>
              </a:ext>
            </a:extLst>
          </p:cNvPr>
          <p:cNvSpPr>
            <a:spLocks noGrp="1"/>
          </p:cNvSpPr>
          <p:nvPr>
            <p:ph type="sldNum" sz="quarter" idx="12"/>
          </p:nvPr>
        </p:nvSpPr>
        <p:spPr>
          <a:xfrm>
            <a:off x="9900458" y="6459785"/>
            <a:ext cx="1312025" cy="365125"/>
          </a:xfrm>
        </p:spPr>
        <p:txBody>
          <a:bodyPr/>
          <a:lstStyle/>
          <a:p>
            <a:fld id="{69FBB93A-4B32-4007-AACF-5243CED557C7}" type="slidenum">
              <a:rPr lang="en-IN" smtClean="0"/>
              <a:t>4</a:t>
            </a:fld>
            <a:endParaRPr lang="en-IN"/>
          </a:p>
        </p:txBody>
      </p:sp>
      <p:sp>
        <p:nvSpPr>
          <p:cNvPr id="5" name="Date Placeholder 9">
            <a:extLst>
              <a:ext uri="{FF2B5EF4-FFF2-40B4-BE49-F238E27FC236}">
                <a16:creationId xmlns="" xmlns:a16="http://schemas.microsoft.com/office/drawing/2014/main" id="{E2AF6416-E065-4DA5-B156-B7F578D2AF40}"/>
              </a:ext>
            </a:extLst>
          </p:cNvPr>
          <p:cNvSpPr>
            <a:spLocks noGrp="1"/>
          </p:cNvSpPr>
          <p:nvPr>
            <p:ph type="dt" sz="half" idx="10"/>
          </p:nvPr>
        </p:nvSpPr>
        <p:spPr>
          <a:xfrm>
            <a:off x="1097280" y="6459785"/>
            <a:ext cx="2472271" cy="365125"/>
          </a:xfrm>
        </p:spPr>
        <p:txBody>
          <a:bodyPr/>
          <a:lstStyle/>
          <a:p>
            <a:r>
              <a:rPr lang="en-US"/>
              <a:t>Dept of AI&amp;DS, SJCIT</a:t>
            </a:r>
            <a:endParaRPr lang="en-IN"/>
          </a:p>
        </p:txBody>
      </p:sp>
      <p:pic>
        <p:nvPicPr>
          <p:cNvPr id="6" name="Picture 5">
            <a:extLst>
              <a:ext uri="{FF2B5EF4-FFF2-40B4-BE49-F238E27FC236}">
                <a16:creationId xmlns="" xmlns:a16="http://schemas.microsoft.com/office/drawing/2014/main" id="{FA43899D-08E8-44A2-ADB1-30FFF0F099A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65485" y="235453"/>
            <a:ext cx="1581591" cy="878662"/>
          </a:xfrm>
          <a:prstGeom prst="rect">
            <a:avLst/>
          </a:prstGeom>
        </p:spPr>
      </p:pic>
      <p:sp>
        <p:nvSpPr>
          <p:cNvPr id="7" name="TextBox 6">
            <a:extLst>
              <a:ext uri="{FF2B5EF4-FFF2-40B4-BE49-F238E27FC236}">
                <a16:creationId xmlns="" xmlns:a16="http://schemas.microsoft.com/office/drawing/2014/main" id="{52DE6456-D739-4E1F-8DA1-5FAE5B3DFF86}"/>
              </a:ext>
            </a:extLst>
          </p:cNvPr>
          <p:cNvSpPr txBox="1"/>
          <p:nvPr/>
        </p:nvSpPr>
        <p:spPr>
          <a:xfrm>
            <a:off x="0" y="33090"/>
            <a:ext cx="3883741" cy="215444"/>
          </a:xfrm>
          <a:prstGeom prst="rect">
            <a:avLst/>
          </a:prstGeom>
          <a:noFill/>
        </p:spPr>
        <p:txBody>
          <a:bodyPr wrap="square" rtlCol="0">
            <a:spAutoFit/>
          </a:bodyPr>
          <a:lstStyle/>
          <a:p>
            <a:r>
              <a:rPr lang="en-IN" sz="800" dirty="0">
                <a:latin typeface="Times New Roman" panose="02020603050405020304" pitchFamily="18" charset="0"/>
                <a:ea typeface="Tahoma" panose="020B0604030504040204" pitchFamily="34" charset="0"/>
                <a:cs typeface="Times New Roman" panose="02020603050405020304" pitchFamily="18" charset="0"/>
              </a:rPr>
              <a:t>A Hybrid Neural Network for EEG-based Depression Screening </a:t>
            </a:r>
            <a:r>
              <a:rPr lang="en-IN" sz="800">
                <a:latin typeface="Times New Roman" panose="02020603050405020304" pitchFamily="18" charset="0"/>
                <a:ea typeface="Tahoma" panose="020B0604030504040204" pitchFamily="34" charset="0"/>
                <a:cs typeface="Times New Roman" panose="02020603050405020304" pitchFamily="18" charset="0"/>
              </a:rPr>
              <a:t>Using CNN +LSTM</a:t>
            </a:r>
            <a:endParaRPr lang="en-IN" sz="8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 xmlns:a16="http://schemas.microsoft.com/office/drawing/2014/main" id="{D2C67360-7FDE-48DE-9098-507480140E70}"/>
              </a:ext>
            </a:extLst>
          </p:cNvPr>
          <p:cNvSpPr txBox="1"/>
          <p:nvPr/>
        </p:nvSpPr>
        <p:spPr>
          <a:xfrm>
            <a:off x="802433" y="569167"/>
            <a:ext cx="9163052" cy="523220"/>
          </a:xfrm>
          <a:prstGeom prst="rect">
            <a:avLst/>
          </a:prstGeom>
          <a:noFill/>
        </p:spPr>
        <p:txBody>
          <a:bodyPr wrap="square" rtlCol="0">
            <a:spAutoFit/>
          </a:bodyPr>
          <a:lstStyle/>
          <a:p>
            <a:pPr marL="0" algn="ctr" rtl="0" eaLnBrk="1" latinLnBrk="0" hangingPunct="1"/>
            <a:r>
              <a:rPr lang="en-IN" sz="2800" b="1" kern="1200" dirty="0">
                <a:solidFill>
                  <a:srgbClr val="000000"/>
                </a:solidFill>
                <a:effectLst/>
                <a:latin typeface="Times New Roman" panose="02020603050405020304" pitchFamily="18" charset="0"/>
                <a:cs typeface="Times New Roman" panose="02020603050405020304" pitchFamily="18" charset="0"/>
              </a:rPr>
              <a:t>INTRODUCTION</a:t>
            </a:r>
            <a:endParaRPr lang="en-IN" sz="2800" dirty="0">
              <a:effectLst/>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 xmlns:a16="http://schemas.microsoft.com/office/drawing/2014/main" id="{343FCED9-6426-4A1E-947D-85EE3F4153E9}"/>
              </a:ext>
            </a:extLst>
          </p:cNvPr>
          <p:cNvSpPr txBox="1"/>
          <p:nvPr/>
        </p:nvSpPr>
        <p:spPr>
          <a:xfrm>
            <a:off x="933061" y="1250302"/>
            <a:ext cx="10279422" cy="4154984"/>
          </a:xfrm>
          <a:prstGeom prst="rect">
            <a:avLst/>
          </a:prstGeom>
          <a:noFill/>
        </p:spPr>
        <p:txBody>
          <a:bodyPr wrap="square" rtlCol="0">
            <a:spAutoFit/>
          </a:bodyPr>
          <a:lstStyle/>
          <a:p>
            <a:pPr algn="just">
              <a:lnSpc>
                <a:spcPct val="150000"/>
              </a:lnSpc>
            </a:pPr>
            <a:r>
              <a:rPr lang="en-US" sz="2200" dirty="0">
                <a:latin typeface="Times New Roman" panose="02020603050405020304" pitchFamily="18" charset="0"/>
                <a:cs typeface="Times New Roman" panose="02020603050405020304" pitchFamily="18" charset="0"/>
              </a:rPr>
              <a:t>Depression affects over 322 million people worldwide, with a higher incidence among females. Although it is a treatable condition, nearly half of the cases remain undiagnosed due to factors like limited awareness, insufficient resources, and incorrect diagnoses. EEG signals, being non-invasive and cost-effective, serve as valuable biomarkers for identifying neurological disorders, including depression. However, their complexity makes manual analysis challenging. To address this, </a:t>
            </a:r>
            <a:r>
              <a:rPr lang="en-US" sz="2200" dirty="0" smtClean="0">
                <a:latin typeface="Times New Roman" panose="02020603050405020304" pitchFamily="18" charset="0"/>
                <a:cs typeface="Times New Roman" panose="02020603050405020304" pitchFamily="18" charset="0"/>
              </a:rPr>
              <a:t>we</a:t>
            </a:r>
            <a:r>
              <a:rPr lang="en-US" sz="2200" dirty="0" smtClean="0">
                <a:latin typeface="Times New Roman" panose="02020603050405020304" pitchFamily="18" charset="0"/>
                <a:cs typeface="Times New Roman" panose="02020603050405020304" pitchFamily="18" charset="0"/>
              </a:rPr>
              <a:t> proposed </a:t>
            </a:r>
            <a:r>
              <a:rPr lang="en-US" sz="2200" dirty="0">
                <a:latin typeface="Times New Roman" panose="02020603050405020304" pitchFamily="18" charset="0"/>
                <a:cs typeface="Times New Roman" panose="02020603050405020304" pitchFamily="18" charset="0"/>
              </a:rPr>
              <a:t>a hybrid </a:t>
            </a:r>
            <a:r>
              <a:rPr lang="en-US" sz="2200" dirty="0" smtClean="0">
                <a:latin typeface="Times New Roman" panose="02020603050405020304" pitchFamily="18" charset="0"/>
                <a:cs typeface="Times New Roman" panose="02020603050405020304" pitchFamily="18" charset="0"/>
              </a:rPr>
              <a:t>CNN</a:t>
            </a:r>
            <a:r>
              <a:rPr lang="en-US" sz="2200" b="1" dirty="0" smtClean="0">
                <a:latin typeface="Times New Roman" panose="02020603050405020304" pitchFamily="18" charset="0"/>
                <a:cs typeface="Times New Roman" panose="02020603050405020304" pitchFamily="18" charset="0"/>
              </a:rPr>
              <a:t>+</a:t>
            </a:r>
            <a:r>
              <a:rPr lang="en-US" sz="2200" dirty="0" smtClean="0">
                <a:latin typeface="Times New Roman" panose="02020603050405020304" pitchFamily="18" charset="0"/>
                <a:cs typeface="Times New Roman" panose="02020603050405020304" pitchFamily="18" charset="0"/>
              </a:rPr>
              <a:t>LSTM </a:t>
            </a:r>
            <a:r>
              <a:rPr lang="en-US" sz="2200" dirty="0">
                <a:latin typeface="Times New Roman" panose="02020603050405020304" pitchFamily="18" charset="0"/>
                <a:cs typeface="Times New Roman" panose="02020603050405020304" pitchFamily="18" charset="0"/>
              </a:rPr>
              <a:t>model (</a:t>
            </a:r>
            <a:r>
              <a:rPr lang="en-US" sz="2200" dirty="0" err="1">
                <a:latin typeface="Times New Roman" panose="02020603050405020304" pitchFamily="18" charset="0"/>
                <a:cs typeface="Times New Roman" panose="02020603050405020304" pitchFamily="18" charset="0"/>
              </a:rPr>
              <a:t>DepHNN</a:t>
            </a:r>
            <a:r>
              <a:rPr lang="en-US" sz="2200" dirty="0">
                <a:latin typeface="Times New Roman" panose="02020603050405020304" pitchFamily="18" charset="0"/>
                <a:cs typeface="Times New Roman" panose="02020603050405020304" pitchFamily="18" charset="0"/>
              </a:rPr>
              <a:t>) for efficient and accurate detection of depression using EEG data.</a:t>
            </a:r>
          </a:p>
          <a:p>
            <a:pPr algn="just">
              <a:lnSpc>
                <a:spcPct val="150000"/>
              </a:lnSpc>
            </a:pPr>
            <a:endParaRPr lang="en-IN" sz="2200" dirty="0"/>
          </a:p>
        </p:txBody>
      </p:sp>
    </p:spTree>
    <p:extLst>
      <p:ext uri="{BB962C8B-B14F-4D97-AF65-F5344CB8AC3E}">
        <p14:creationId xmlns:p14="http://schemas.microsoft.com/office/powerpoint/2010/main" val="12863146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 xmlns:a16="http://schemas.microsoft.com/office/drawing/2014/main" id="{31D9DC7A-1761-4947-92F2-FE75E8CE2DAA}"/>
              </a:ext>
            </a:extLst>
          </p:cNvPr>
          <p:cNvSpPr txBox="1"/>
          <p:nvPr/>
        </p:nvSpPr>
        <p:spPr>
          <a:xfrm>
            <a:off x="2407765" y="413174"/>
            <a:ext cx="6572906" cy="523220"/>
          </a:xfrm>
          <a:prstGeom prst="rect">
            <a:avLst/>
          </a:prstGeom>
          <a:noFill/>
        </p:spPr>
        <p:txBody>
          <a:bodyPr wrap="square" rtlCol="0">
            <a:spAutoFit/>
          </a:bodyPr>
          <a:lstStyle/>
          <a:p>
            <a:pPr algn="ctr"/>
            <a:r>
              <a:rPr lang="en-IN" sz="2800" dirty="0">
                <a:latin typeface="Times New Roman" panose="02020603050405020304" pitchFamily="18" charset="0"/>
                <a:cs typeface="Times New Roman" panose="02020603050405020304" pitchFamily="18" charset="0"/>
              </a:rPr>
              <a:t> </a:t>
            </a:r>
            <a:endParaRPr lang="en-IN" sz="4000" b="1" dirty="0">
              <a:solidFill>
                <a:srgbClr val="0070C0"/>
              </a:solidFill>
              <a:latin typeface="Times New Roman" panose="02020603050405020304" pitchFamily="18" charset="0"/>
              <a:cs typeface="Times New Roman" panose="02020603050405020304" pitchFamily="18" charset="0"/>
            </a:endParaRPr>
          </a:p>
        </p:txBody>
      </p:sp>
      <p:sp>
        <p:nvSpPr>
          <p:cNvPr id="3" name="Footer Placeholder 7">
            <a:extLst>
              <a:ext uri="{FF2B5EF4-FFF2-40B4-BE49-F238E27FC236}">
                <a16:creationId xmlns="" xmlns:a16="http://schemas.microsoft.com/office/drawing/2014/main" id="{1D7D071B-9760-4A0D-AD1D-6176772A06B7}"/>
              </a:ext>
            </a:extLst>
          </p:cNvPr>
          <p:cNvSpPr>
            <a:spLocks noGrp="1"/>
          </p:cNvSpPr>
          <p:nvPr>
            <p:ph type="ftr" sz="quarter" idx="11"/>
          </p:nvPr>
        </p:nvSpPr>
        <p:spPr>
          <a:xfrm>
            <a:off x="3686185" y="6459785"/>
            <a:ext cx="4822804" cy="365125"/>
          </a:xfrm>
        </p:spPr>
        <p:txBody>
          <a:bodyPr/>
          <a:lstStyle/>
          <a:p>
            <a:r>
              <a:rPr lang="en-IN" dirty="0"/>
              <a:t>2025-26</a:t>
            </a:r>
          </a:p>
        </p:txBody>
      </p:sp>
      <p:sp>
        <p:nvSpPr>
          <p:cNvPr id="4" name="Slide Number Placeholder 8">
            <a:extLst>
              <a:ext uri="{FF2B5EF4-FFF2-40B4-BE49-F238E27FC236}">
                <a16:creationId xmlns="" xmlns:a16="http://schemas.microsoft.com/office/drawing/2014/main" id="{C0F34EEE-A6E9-414C-B541-DA3A448C76CF}"/>
              </a:ext>
            </a:extLst>
          </p:cNvPr>
          <p:cNvSpPr>
            <a:spLocks noGrp="1"/>
          </p:cNvSpPr>
          <p:nvPr>
            <p:ph type="sldNum" sz="quarter" idx="12"/>
          </p:nvPr>
        </p:nvSpPr>
        <p:spPr>
          <a:xfrm>
            <a:off x="9900458" y="6459785"/>
            <a:ext cx="1312025" cy="365125"/>
          </a:xfrm>
        </p:spPr>
        <p:txBody>
          <a:bodyPr/>
          <a:lstStyle/>
          <a:p>
            <a:fld id="{69FBB93A-4B32-4007-AACF-5243CED557C7}" type="slidenum">
              <a:rPr lang="en-IN" smtClean="0"/>
              <a:t>5</a:t>
            </a:fld>
            <a:endParaRPr lang="en-IN"/>
          </a:p>
        </p:txBody>
      </p:sp>
      <p:sp>
        <p:nvSpPr>
          <p:cNvPr id="5" name="Date Placeholder 9">
            <a:extLst>
              <a:ext uri="{FF2B5EF4-FFF2-40B4-BE49-F238E27FC236}">
                <a16:creationId xmlns="" xmlns:a16="http://schemas.microsoft.com/office/drawing/2014/main" id="{D8E17E8D-EFDC-4866-A70E-23033397CCC1}"/>
              </a:ext>
            </a:extLst>
          </p:cNvPr>
          <p:cNvSpPr>
            <a:spLocks noGrp="1"/>
          </p:cNvSpPr>
          <p:nvPr>
            <p:ph type="dt" sz="half" idx="10"/>
          </p:nvPr>
        </p:nvSpPr>
        <p:spPr>
          <a:xfrm>
            <a:off x="1097280" y="6459785"/>
            <a:ext cx="2472271" cy="365125"/>
          </a:xfrm>
        </p:spPr>
        <p:txBody>
          <a:bodyPr/>
          <a:lstStyle/>
          <a:p>
            <a:r>
              <a:rPr lang="en-US"/>
              <a:t>Dept of AI&amp;DS, SJCIT</a:t>
            </a:r>
            <a:endParaRPr lang="en-IN"/>
          </a:p>
        </p:txBody>
      </p:sp>
      <p:pic>
        <p:nvPicPr>
          <p:cNvPr id="6" name="Picture 5">
            <a:extLst>
              <a:ext uri="{FF2B5EF4-FFF2-40B4-BE49-F238E27FC236}">
                <a16:creationId xmlns="" xmlns:a16="http://schemas.microsoft.com/office/drawing/2014/main" id="{DBDBA999-490F-40D5-973D-099087E5CE7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65485" y="235453"/>
            <a:ext cx="1581591" cy="878662"/>
          </a:xfrm>
          <a:prstGeom prst="rect">
            <a:avLst/>
          </a:prstGeom>
        </p:spPr>
      </p:pic>
      <p:sp>
        <p:nvSpPr>
          <p:cNvPr id="7" name="TextBox 6">
            <a:extLst>
              <a:ext uri="{FF2B5EF4-FFF2-40B4-BE49-F238E27FC236}">
                <a16:creationId xmlns="" xmlns:a16="http://schemas.microsoft.com/office/drawing/2014/main" id="{A64066E2-A58A-48DD-9867-7DEA5F41D319}"/>
              </a:ext>
            </a:extLst>
          </p:cNvPr>
          <p:cNvSpPr txBox="1"/>
          <p:nvPr/>
        </p:nvSpPr>
        <p:spPr>
          <a:xfrm>
            <a:off x="0" y="33090"/>
            <a:ext cx="3883741" cy="215444"/>
          </a:xfrm>
          <a:prstGeom prst="rect">
            <a:avLst/>
          </a:prstGeom>
          <a:noFill/>
        </p:spPr>
        <p:txBody>
          <a:bodyPr wrap="square" rtlCol="0">
            <a:spAutoFit/>
          </a:bodyPr>
          <a:lstStyle/>
          <a:p>
            <a:r>
              <a:rPr lang="en-IN" sz="800" dirty="0">
                <a:latin typeface="Times New Roman" panose="02020603050405020304" pitchFamily="18" charset="0"/>
                <a:ea typeface="Tahoma" panose="020B0604030504040204" pitchFamily="34" charset="0"/>
                <a:cs typeface="Times New Roman" panose="02020603050405020304" pitchFamily="18" charset="0"/>
              </a:rPr>
              <a:t>A Hybrid Neural Network for EEG-based Depression Screening </a:t>
            </a:r>
            <a:r>
              <a:rPr lang="en-IN" sz="800">
                <a:latin typeface="Times New Roman" panose="02020603050405020304" pitchFamily="18" charset="0"/>
                <a:ea typeface="Tahoma" panose="020B0604030504040204" pitchFamily="34" charset="0"/>
                <a:cs typeface="Times New Roman" panose="02020603050405020304" pitchFamily="18" charset="0"/>
              </a:rPr>
              <a:t>Using CNN +LSTM</a:t>
            </a:r>
            <a:endParaRPr lang="en-IN" sz="8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 xmlns:a16="http://schemas.microsoft.com/office/drawing/2014/main" id="{53A6A713-70D4-4F21-95B8-BFB54EA54FC7}"/>
              </a:ext>
            </a:extLst>
          </p:cNvPr>
          <p:cNvSpPr txBox="1"/>
          <p:nvPr/>
        </p:nvSpPr>
        <p:spPr>
          <a:xfrm>
            <a:off x="3228392" y="531844"/>
            <a:ext cx="4819394" cy="523220"/>
          </a:xfrm>
          <a:prstGeom prst="rect">
            <a:avLst/>
          </a:prstGeom>
          <a:noFill/>
        </p:spPr>
        <p:txBody>
          <a:bodyPr wrap="square" rtlCol="0">
            <a:spAutoFit/>
          </a:bodyPr>
          <a:lstStyle/>
          <a:p>
            <a:r>
              <a:rPr lang="en-US" sz="2800" b="1" spc="0" dirty="0">
                <a:effectLst/>
                <a:latin typeface="Times New Roman" panose="02020603050405020304" pitchFamily="18" charset="0"/>
                <a:ea typeface="Calibri" panose="020F0502020204030204" pitchFamily="34" charset="0"/>
                <a:cs typeface="Times New Roman" panose="02020603050405020304" pitchFamily="18" charset="0"/>
              </a:rPr>
              <a:t>PROBLEM</a:t>
            </a:r>
            <a:r>
              <a:rPr lang="en-US" sz="2800" b="1" spc="-1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800" b="1" spc="0" dirty="0">
                <a:effectLst/>
                <a:latin typeface="Times New Roman" panose="02020603050405020304" pitchFamily="18" charset="0"/>
                <a:ea typeface="Calibri" panose="020F0502020204030204" pitchFamily="34" charset="0"/>
                <a:cs typeface="Times New Roman" panose="02020603050405020304" pitchFamily="18" charset="0"/>
              </a:rPr>
              <a:t>STATEMENT</a:t>
            </a:r>
            <a:endParaRPr lang="en-IN" sz="2800" b="1" dirty="0"/>
          </a:p>
        </p:txBody>
      </p:sp>
      <p:sp>
        <p:nvSpPr>
          <p:cNvPr id="9" name="TextBox 8">
            <a:extLst>
              <a:ext uri="{FF2B5EF4-FFF2-40B4-BE49-F238E27FC236}">
                <a16:creationId xmlns="" xmlns:a16="http://schemas.microsoft.com/office/drawing/2014/main" id="{FCA89276-DD99-45F2-8B10-11923D49546E}"/>
              </a:ext>
            </a:extLst>
          </p:cNvPr>
          <p:cNvSpPr txBox="1"/>
          <p:nvPr/>
        </p:nvSpPr>
        <p:spPr>
          <a:xfrm>
            <a:off x="796413" y="1134978"/>
            <a:ext cx="10294375" cy="3985706"/>
          </a:xfrm>
          <a:prstGeom prst="rect">
            <a:avLst/>
          </a:prstGeom>
          <a:noFill/>
        </p:spPr>
        <p:txBody>
          <a:bodyPr wrap="square" rtlCol="0">
            <a:spAutoFit/>
          </a:bodyPr>
          <a:lstStyle/>
          <a:p>
            <a:pPr algn="just">
              <a:lnSpc>
                <a:spcPct val="150000"/>
              </a:lnSpc>
            </a:pP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Depression is a major mental health issue affecting over 322 million people worldwide, contributing to significant emotional, social, and economic burdens. Traditional methods for diagnosing depression, such as clinical interviews and self-reported questionnaires, are subjective and time-consuming. EEG-based diagnosis provides objective insights into brain activity but is prone to human error due to the complexity of interpreting EEG signals. Thus, there is a critical need for an automated and accurate depression screening system using EEG signals.</a:t>
            </a:r>
          </a:p>
          <a:p>
            <a:endParaRPr lang="en-IN" sz="2200" dirty="0"/>
          </a:p>
        </p:txBody>
      </p:sp>
    </p:spTree>
    <p:extLst>
      <p:ext uri="{BB962C8B-B14F-4D97-AF65-F5344CB8AC3E}">
        <p14:creationId xmlns:p14="http://schemas.microsoft.com/office/powerpoint/2010/main" val="6838056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7">
            <a:extLst>
              <a:ext uri="{FF2B5EF4-FFF2-40B4-BE49-F238E27FC236}">
                <a16:creationId xmlns="" xmlns:a16="http://schemas.microsoft.com/office/drawing/2014/main" id="{B33AFFD4-7292-4A8C-8A17-1A7CC0EFD172}"/>
              </a:ext>
            </a:extLst>
          </p:cNvPr>
          <p:cNvSpPr>
            <a:spLocks noGrp="1"/>
          </p:cNvSpPr>
          <p:nvPr>
            <p:ph type="ftr" sz="quarter" idx="11"/>
          </p:nvPr>
        </p:nvSpPr>
        <p:spPr>
          <a:xfrm>
            <a:off x="3686185" y="6459785"/>
            <a:ext cx="4822804" cy="365125"/>
          </a:xfrm>
        </p:spPr>
        <p:txBody>
          <a:bodyPr/>
          <a:lstStyle/>
          <a:p>
            <a:r>
              <a:rPr lang="en-IN" dirty="0"/>
              <a:t>2025-26</a:t>
            </a:r>
          </a:p>
        </p:txBody>
      </p:sp>
      <p:sp>
        <p:nvSpPr>
          <p:cNvPr id="4" name="Slide Number Placeholder 8">
            <a:extLst>
              <a:ext uri="{FF2B5EF4-FFF2-40B4-BE49-F238E27FC236}">
                <a16:creationId xmlns="" xmlns:a16="http://schemas.microsoft.com/office/drawing/2014/main" id="{C2BB9153-A7A0-4504-AC5F-56790DAEB5CD}"/>
              </a:ext>
            </a:extLst>
          </p:cNvPr>
          <p:cNvSpPr>
            <a:spLocks noGrp="1"/>
          </p:cNvSpPr>
          <p:nvPr>
            <p:ph type="sldNum" sz="quarter" idx="12"/>
          </p:nvPr>
        </p:nvSpPr>
        <p:spPr>
          <a:xfrm>
            <a:off x="9900458" y="6459785"/>
            <a:ext cx="1312025" cy="365125"/>
          </a:xfrm>
        </p:spPr>
        <p:txBody>
          <a:bodyPr/>
          <a:lstStyle/>
          <a:p>
            <a:fld id="{69FBB93A-4B32-4007-AACF-5243CED557C7}" type="slidenum">
              <a:rPr lang="en-IN" smtClean="0"/>
              <a:t>6</a:t>
            </a:fld>
            <a:endParaRPr lang="en-IN"/>
          </a:p>
        </p:txBody>
      </p:sp>
      <p:sp>
        <p:nvSpPr>
          <p:cNvPr id="5" name="Date Placeholder 9">
            <a:extLst>
              <a:ext uri="{FF2B5EF4-FFF2-40B4-BE49-F238E27FC236}">
                <a16:creationId xmlns="" xmlns:a16="http://schemas.microsoft.com/office/drawing/2014/main" id="{E2AF6416-E065-4DA5-B156-B7F578D2AF40}"/>
              </a:ext>
            </a:extLst>
          </p:cNvPr>
          <p:cNvSpPr>
            <a:spLocks noGrp="1"/>
          </p:cNvSpPr>
          <p:nvPr>
            <p:ph type="dt" sz="half" idx="10"/>
          </p:nvPr>
        </p:nvSpPr>
        <p:spPr>
          <a:xfrm>
            <a:off x="1097280" y="6459785"/>
            <a:ext cx="2472271" cy="365125"/>
          </a:xfrm>
        </p:spPr>
        <p:txBody>
          <a:bodyPr/>
          <a:lstStyle/>
          <a:p>
            <a:r>
              <a:rPr lang="en-US"/>
              <a:t>Dept of AI&amp;DS, SJCIT</a:t>
            </a:r>
            <a:endParaRPr lang="en-IN"/>
          </a:p>
        </p:txBody>
      </p:sp>
      <p:pic>
        <p:nvPicPr>
          <p:cNvPr id="6" name="Picture 5">
            <a:extLst>
              <a:ext uri="{FF2B5EF4-FFF2-40B4-BE49-F238E27FC236}">
                <a16:creationId xmlns="" xmlns:a16="http://schemas.microsoft.com/office/drawing/2014/main" id="{FA43899D-08E8-44A2-ADB1-30FFF0F099A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65485" y="235453"/>
            <a:ext cx="1581591" cy="878662"/>
          </a:xfrm>
          <a:prstGeom prst="rect">
            <a:avLst/>
          </a:prstGeom>
        </p:spPr>
      </p:pic>
      <p:sp>
        <p:nvSpPr>
          <p:cNvPr id="7" name="TextBox 6">
            <a:extLst>
              <a:ext uri="{FF2B5EF4-FFF2-40B4-BE49-F238E27FC236}">
                <a16:creationId xmlns="" xmlns:a16="http://schemas.microsoft.com/office/drawing/2014/main" id="{52DE6456-D739-4E1F-8DA1-5FAE5B3DFF86}"/>
              </a:ext>
            </a:extLst>
          </p:cNvPr>
          <p:cNvSpPr txBox="1"/>
          <p:nvPr/>
        </p:nvSpPr>
        <p:spPr>
          <a:xfrm>
            <a:off x="0" y="33090"/>
            <a:ext cx="3883741" cy="215444"/>
          </a:xfrm>
          <a:prstGeom prst="rect">
            <a:avLst/>
          </a:prstGeom>
          <a:noFill/>
        </p:spPr>
        <p:txBody>
          <a:bodyPr wrap="square" rtlCol="0">
            <a:spAutoFit/>
          </a:bodyPr>
          <a:lstStyle/>
          <a:p>
            <a:r>
              <a:rPr lang="en-IN" sz="800" dirty="0">
                <a:latin typeface="Times New Roman" panose="02020603050405020304" pitchFamily="18" charset="0"/>
                <a:ea typeface="Tahoma" panose="020B0604030504040204" pitchFamily="34" charset="0"/>
                <a:cs typeface="Times New Roman" panose="02020603050405020304" pitchFamily="18" charset="0"/>
              </a:rPr>
              <a:t>A Hybrid Neural Network for EEG-based Depression Screening </a:t>
            </a:r>
            <a:r>
              <a:rPr lang="en-IN" sz="800">
                <a:latin typeface="Times New Roman" panose="02020603050405020304" pitchFamily="18" charset="0"/>
                <a:ea typeface="Tahoma" panose="020B0604030504040204" pitchFamily="34" charset="0"/>
                <a:cs typeface="Times New Roman" panose="02020603050405020304" pitchFamily="18" charset="0"/>
              </a:rPr>
              <a:t>Using CNN +LSTM</a:t>
            </a:r>
            <a:endParaRPr lang="en-IN" sz="8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 xmlns:a16="http://schemas.microsoft.com/office/drawing/2014/main" id="{D2C67360-7FDE-48DE-9098-507480140E70}"/>
              </a:ext>
            </a:extLst>
          </p:cNvPr>
          <p:cNvSpPr txBox="1"/>
          <p:nvPr/>
        </p:nvSpPr>
        <p:spPr>
          <a:xfrm>
            <a:off x="569167" y="503853"/>
            <a:ext cx="9396318" cy="523220"/>
          </a:xfrm>
          <a:prstGeom prst="rect">
            <a:avLst/>
          </a:prstGeom>
          <a:noFill/>
        </p:spPr>
        <p:txBody>
          <a:bodyPr wrap="square" rtlCol="0">
            <a:spAutoFit/>
          </a:bodyPr>
          <a:lstStyle/>
          <a:p>
            <a:pPr algn="ctr"/>
            <a:r>
              <a:rPr lang="en-IN" sz="2800" b="1" dirty="0">
                <a:latin typeface="Times New Roman" panose="02020603050405020304" pitchFamily="18" charset="0"/>
                <a:cs typeface="Times New Roman" panose="02020603050405020304" pitchFamily="18" charset="0"/>
              </a:rPr>
              <a:t>OBJECTIVES</a:t>
            </a:r>
          </a:p>
        </p:txBody>
      </p:sp>
      <p:sp>
        <p:nvSpPr>
          <p:cNvPr id="9" name="TextBox 8">
            <a:extLst>
              <a:ext uri="{FF2B5EF4-FFF2-40B4-BE49-F238E27FC236}">
                <a16:creationId xmlns="" xmlns:a16="http://schemas.microsoft.com/office/drawing/2014/main" id="{97813525-4E4D-4C98-9A4B-6604AC22AEF6}"/>
              </a:ext>
            </a:extLst>
          </p:cNvPr>
          <p:cNvSpPr txBox="1"/>
          <p:nvPr/>
        </p:nvSpPr>
        <p:spPr>
          <a:xfrm>
            <a:off x="830425" y="1114116"/>
            <a:ext cx="10552922" cy="3985706"/>
          </a:xfrm>
          <a:prstGeom prst="rect">
            <a:avLst/>
          </a:prstGeom>
          <a:noFill/>
        </p:spPr>
        <p:txBody>
          <a:bodyPr wrap="square" rtlCol="0">
            <a:spAutoFit/>
          </a:bodyPr>
          <a:lstStyle/>
          <a:p>
            <a:pPr marL="457200" lvl="0" indent="-457200" algn="just" defTabSz="914400" eaLnBrk="0" fontAlgn="base" hangingPunct="0">
              <a:lnSpc>
                <a:spcPct val="150000"/>
              </a:lnSpc>
              <a:spcBef>
                <a:spcPct val="0"/>
              </a:spcBef>
              <a:spcAft>
                <a:spcPct val="0"/>
              </a:spcAft>
              <a:buFont typeface="+mj-lt"/>
              <a:buAutoNum type="arabicPeriod"/>
            </a:pPr>
            <a:r>
              <a:rPr lang="en-US" sz="2200" dirty="0">
                <a:latin typeface="Times New Roman" panose="02020603050405020304" pitchFamily="18" charset="0"/>
                <a:cs typeface="Times New Roman" panose="02020603050405020304" pitchFamily="18" charset="0"/>
              </a:rPr>
              <a:t>Develop a CNN-LSTM model for automated depression detection using EEG signals.</a:t>
            </a:r>
          </a:p>
          <a:p>
            <a:pPr marL="457200" lvl="0" indent="-457200" algn="just" defTabSz="914400" eaLnBrk="0" fontAlgn="base" hangingPunct="0">
              <a:lnSpc>
                <a:spcPct val="150000"/>
              </a:lnSpc>
              <a:spcBef>
                <a:spcPct val="0"/>
              </a:spcBef>
              <a:spcAft>
                <a:spcPct val="0"/>
              </a:spcAft>
              <a:buFont typeface="+mj-lt"/>
              <a:buAutoNum type="arabicPeriod"/>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Improve adaptability using Hold-Out validation and diverse </a:t>
            </a:r>
            <a:r>
              <a:rPr kumimoji="0" lang="en-US" altLang="en-US" sz="2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dataset.</a:t>
            </a: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lvl="0" indent="-457200" algn="just" defTabSz="914400" eaLnBrk="0" fontAlgn="base" hangingPunct="0">
              <a:lnSpc>
                <a:spcPct val="150000"/>
              </a:lnSpc>
              <a:spcBef>
                <a:spcPct val="0"/>
              </a:spcBef>
              <a:spcAft>
                <a:spcPct val="0"/>
              </a:spcAft>
              <a:buFont typeface="+mj-lt"/>
              <a:buAutoNum type="arabicPeriod"/>
            </a:pPr>
            <a:r>
              <a:rPr lang="en-US" sz="2200" dirty="0">
                <a:latin typeface="Times New Roman" panose="02020603050405020304" pitchFamily="18" charset="0"/>
                <a:cs typeface="Times New Roman" panose="02020603050405020304" pitchFamily="18" charset="0"/>
              </a:rPr>
              <a:t>Apply </a:t>
            </a:r>
            <a:r>
              <a:rPr lang="en-US" sz="2200" dirty="0" smtClean="0">
                <a:latin typeface="Times New Roman" panose="02020603050405020304" pitchFamily="18" charset="0"/>
                <a:cs typeface="Times New Roman" panose="02020603050405020304" pitchFamily="18" charset="0"/>
              </a:rPr>
              <a:t>regularization, </a:t>
            </a:r>
            <a:r>
              <a:rPr lang="en-IN" sz="2000" dirty="0" smtClean="0">
                <a:latin typeface="Times New Roman" panose="02020603050405020304" pitchFamily="18" charset="0"/>
                <a:cs typeface="Times New Roman" panose="02020603050405020304" pitchFamily="18" charset="0"/>
              </a:rPr>
              <a:t>Normalization</a:t>
            </a:r>
            <a:r>
              <a:rPr lang="en-IN" sz="2000" dirty="0" smtClean="0"/>
              <a:t> </a:t>
            </a:r>
            <a:r>
              <a:rPr lang="en-US" sz="2200" dirty="0" smtClean="0">
                <a:latin typeface="Times New Roman" panose="02020603050405020304" pitchFamily="18" charset="0"/>
                <a:cs typeface="Times New Roman" panose="02020603050405020304" pitchFamily="18" charset="0"/>
              </a:rPr>
              <a:t>techniques and </a:t>
            </a:r>
            <a:r>
              <a:rPr lang="en-US" sz="2200" dirty="0">
                <a:latin typeface="Times New Roman" panose="02020603050405020304" pitchFamily="18" charset="0"/>
                <a:cs typeface="Times New Roman" panose="02020603050405020304" pitchFamily="18" charset="0"/>
              </a:rPr>
              <a:t>adaptive learning rate optimization.</a:t>
            </a: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lvl="0" indent="-457200" algn="just" defTabSz="914400" eaLnBrk="0" fontAlgn="base" hangingPunct="0">
              <a:lnSpc>
                <a:spcPct val="150000"/>
              </a:lnSpc>
              <a:spcBef>
                <a:spcPct val="0"/>
              </a:spcBef>
              <a:spcAft>
                <a:spcPct val="0"/>
              </a:spcAft>
              <a:buFont typeface="+mj-lt"/>
              <a:buAutoNum type="arabicPeriod"/>
            </a:pPr>
            <a:r>
              <a:rPr lang="en-US" sz="2200" dirty="0">
                <a:latin typeface="Times New Roman" panose="02020603050405020304" pitchFamily="18" charset="0"/>
                <a:cs typeface="Times New Roman" panose="02020603050405020304" pitchFamily="18" charset="0"/>
              </a:rPr>
              <a:t>Enhance model accuracy and generalization using dropout, data augmentation, and early stopping.</a:t>
            </a:r>
          </a:p>
          <a:p>
            <a:pPr marL="457200" lvl="0" indent="-457200" algn="just" defTabSz="914400" eaLnBrk="0" fontAlgn="base" hangingPunct="0">
              <a:lnSpc>
                <a:spcPct val="150000"/>
              </a:lnSpc>
              <a:spcBef>
                <a:spcPct val="0"/>
              </a:spcBef>
              <a:spcAft>
                <a:spcPct val="0"/>
              </a:spcAft>
              <a:buFont typeface="+mj-lt"/>
              <a:buAutoNum type="arabicPeriod"/>
            </a:pPr>
            <a:r>
              <a:rPr lang="en-US" sz="2200" dirty="0">
                <a:latin typeface="Times New Roman" panose="02020603050405020304" pitchFamily="18" charset="0"/>
                <a:cs typeface="Times New Roman" panose="02020603050405020304" pitchFamily="18" charset="0"/>
              </a:rPr>
              <a:t>Minimize computational complexity and latency to enable real-time depression screening on portable and cloud-based platforms.</a:t>
            </a: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endParaRPr lang="en-IN" sz="2200" dirty="0"/>
          </a:p>
        </p:txBody>
      </p:sp>
    </p:spTree>
    <p:extLst>
      <p:ext uri="{BB962C8B-B14F-4D97-AF65-F5344CB8AC3E}">
        <p14:creationId xmlns:p14="http://schemas.microsoft.com/office/powerpoint/2010/main" val="18069855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7">
            <a:extLst>
              <a:ext uri="{FF2B5EF4-FFF2-40B4-BE49-F238E27FC236}">
                <a16:creationId xmlns="" xmlns:a16="http://schemas.microsoft.com/office/drawing/2014/main" id="{B33AFFD4-7292-4A8C-8A17-1A7CC0EFD172}"/>
              </a:ext>
            </a:extLst>
          </p:cNvPr>
          <p:cNvSpPr>
            <a:spLocks noGrp="1"/>
          </p:cNvSpPr>
          <p:nvPr>
            <p:ph type="ftr" sz="quarter" idx="11"/>
          </p:nvPr>
        </p:nvSpPr>
        <p:spPr>
          <a:xfrm>
            <a:off x="3686185" y="6459785"/>
            <a:ext cx="4822804" cy="365125"/>
          </a:xfrm>
        </p:spPr>
        <p:txBody>
          <a:bodyPr/>
          <a:lstStyle/>
          <a:p>
            <a:r>
              <a:rPr lang="en-IN" dirty="0"/>
              <a:t>2025-26</a:t>
            </a:r>
          </a:p>
        </p:txBody>
      </p:sp>
      <p:sp>
        <p:nvSpPr>
          <p:cNvPr id="4" name="Slide Number Placeholder 8">
            <a:extLst>
              <a:ext uri="{FF2B5EF4-FFF2-40B4-BE49-F238E27FC236}">
                <a16:creationId xmlns="" xmlns:a16="http://schemas.microsoft.com/office/drawing/2014/main" id="{C2BB9153-A7A0-4504-AC5F-56790DAEB5CD}"/>
              </a:ext>
            </a:extLst>
          </p:cNvPr>
          <p:cNvSpPr>
            <a:spLocks noGrp="1"/>
          </p:cNvSpPr>
          <p:nvPr>
            <p:ph type="sldNum" sz="quarter" idx="12"/>
          </p:nvPr>
        </p:nvSpPr>
        <p:spPr>
          <a:xfrm>
            <a:off x="9900458" y="6459785"/>
            <a:ext cx="1312025" cy="365125"/>
          </a:xfrm>
        </p:spPr>
        <p:txBody>
          <a:bodyPr/>
          <a:lstStyle/>
          <a:p>
            <a:fld id="{69FBB93A-4B32-4007-AACF-5243CED557C7}" type="slidenum">
              <a:rPr lang="en-IN" smtClean="0"/>
              <a:t>7</a:t>
            </a:fld>
            <a:endParaRPr lang="en-IN"/>
          </a:p>
        </p:txBody>
      </p:sp>
      <p:sp>
        <p:nvSpPr>
          <p:cNvPr id="5" name="Date Placeholder 9">
            <a:extLst>
              <a:ext uri="{FF2B5EF4-FFF2-40B4-BE49-F238E27FC236}">
                <a16:creationId xmlns="" xmlns:a16="http://schemas.microsoft.com/office/drawing/2014/main" id="{E2AF6416-E065-4DA5-B156-B7F578D2AF40}"/>
              </a:ext>
            </a:extLst>
          </p:cNvPr>
          <p:cNvSpPr>
            <a:spLocks noGrp="1"/>
          </p:cNvSpPr>
          <p:nvPr>
            <p:ph type="dt" sz="half" idx="10"/>
          </p:nvPr>
        </p:nvSpPr>
        <p:spPr>
          <a:xfrm>
            <a:off x="1097280" y="6459785"/>
            <a:ext cx="2472271" cy="365125"/>
          </a:xfrm>
        </p:spPr>
        <p:txBody>
          <a:bodyPr/>
          <a:lstStyle/>
          <a:p>
            <a:r>
              <a:rPr lang="en-US"/>
              <a:t>Dept of AI&amp;DS, SJCIT</a:t>
            </a:r>
            <a:endParaRPr lang="en-IN"/>
          </a:p>
        </p:txBody>
      </p:sp>
      <p:pic>
        <p:nvPicPr>
          <p:cNvPr id="6" name="Picture 5">
            <a:extLst>
              <a:ext uri="{FF2B5EF4-FFF2-40B4-BE49-F238E27FC236}">
                <a16:creationId xmlns="" xmlns:a16="http://schemas.microsoft.com/office/drawing/2014/main" id="{FA43899D-08E8-44A2-ADB1-30FFF0F099A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65485" y="235453"/>
            <a:ext cx="1581591" cy="878662"/>
          </a:xfrm>
          <a:prstGeom prst="rect">
            <a:avLst/>
          </a:prstGeom>
        </p:spPr>
      </p:pic>
      <p:sp>
        <p:nvSpPr>
          <p:cNvPr id="7" name="TextBox 6">
            <a:extLst>
              <a:ext uri="{FF2B5EF4-FFF2-40B4-BE49-F238E27FC236}">
                <a16:creationId xmlns="" xmlns:a16="http://schemas.microsoft.com/office/drawing/2014/main" id="{52DE6456-D739-4E1F-8DA1-5FAE5B3DFF86}"/>
              </a:ext>
            </a:extLst>
          </p:cNvPr>
          <p:cNvSpPr txBox="1"/>
          <p:nvPr/>
        </p:nvSpPr>
        <p:spPr>
          <a:xfrm>
            <a:off x="0" y="33090"/>
            <a:ext cx="3883741" cy="215444"/>
          </a:xfrm>
          <a:prstGeom prst="rect">
            <a:avLst/>
          </a:prstGeom>
          <a:noFill/>
        </p:spPr>
        <p:txBody>
          <a:bodyPr wrap="square" rtlCol="0">
            <a:spAutoFit/>
          </a:bodyPr>
          <a:lstStyle/>
          <a:p>
            <a:r>
              <a:rPr lang="en-IN" sz="800" dirty="0">
                <a:latin typeface="Times New Roman" panose="02020603050405020304" pitchFamily="18" charset="0"/>
                <a:ea typeface="Tahoma" panose="020B0604030504040204" pitchFamily="34" charset="0"/>
                <a:cs typeface="Times New Roman" panose="02020603050405020304" pitchFamily="18" charset="0"/>
              </a:rPr>
              <a:t>A Hybrid Neural Network for EEG-based Depression Screening </a:t>
            </a:r>
            <a:r>
              <a:rPr lang="en-IN" sz="800">
                <a:latin typeface="Times New Roman" panose="02020603050405020304" pitchFamily="18" charset="0"/>
                <a:ea typeface="Tahoma" panose="020B0604030504040204" pitchFamily="34" charset="0"/>
                <a:cs typeface="Times New Roman" panose="02020603050405020304" pitchFamily="18" charset="0"/>
              </a:rPr>
              <a:t>Using CNN +LSTM</a:t>
            </a:r>
            <a:endParaRPr lang="en-IN" sz="8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 xmlns:a16="http://schemas.microsoft.com/office/drawing/2014/main" id="{D2C67360-7FDE-48DE-9098-507480140E70}"/>
              </a:ext>
            </a:extLst>
          </p:cNvPr>
          <p:cNvSpPr txBox="1"/>
          <p:nvPr/>
        </p:nvSpPr>
        <p:spPr>
          <a:xfrm>
            <a:off x="569167" y="503853"/>
            <a:ext cx="9396318" cy="523220"/>
          </a:xfrm>
          <a:prstGeom prst="rect">
            <a:avLst/>
          </a:prstGeom>
          <a:noFill/>
        </p:spPr>
        <p:txBody>
          <a:bodyPr wrap="square" rtlCol="0">
            <a:spAutoFit/>
          </a:bodyPr>
          <a:lstStyle/>
          <a:p>
            <a:pPr algn="ctr"/>
            <a:endParaRPr lang="en-IN" sz="2800" dirty="0">
              <a:effectLst/>
              <a:latin typeface="Times New Roman" panose="02020603050405020304" pitchFamily="18" charset="0"/>
              <a:cs typeface="Times New Roman" panose="02020603050405020304" pitchFamily="18" charset="0"/>
            </a:endParaRPr>
          </a:p>
        </p:txBody>
      </p:sp>
      <p:graphicFrame>
        <p:nvGraphicFramePr>
          <p:cNvPr id="2" name="Table 8">
            <a:extLst>
              <a:ext uri="{FF2B5EF4-FFF2-40B4-BE49-F238E27FC236}">
                <a16:creationId xmlns="" xmlns:a16="http://schemas.microsoft.com/office/drawing/2014/main" id="{9832297D-DF1C-4BC2-94D7-3E1E56722D79}"/>
              </a:ext>
            </a:extLst>
          </p:cNvPr>
          <p:cNvGraphicFramePr>
            <a:graphicFrameLocks noGrp="1"/>
          </p:cNvGraphicFramePr>
          <p:nvPr>
            <p:extLst>
              <p:ext uri="{D42A27DB-BD31-4B8C-83A1-F6EECF244321}">
                <p14:modId xmlns:p14="http://schemas.microsoft.com/office/powerpoint/2010/main" val="2728465972"/>
              </p:ext>
            </p:extLst>
          </p:nvPr>
        </p:nvGraphicFramePr>
        <p:xfrm>
          <a:off x="504139" y="1201157"/>
          <a:ext cx="11112474" cy="5029200"/>
        </p:xfrm>
        <a:graphic>
          <a:graphicData uri="http://schemas.openxmlformats.org/drawingml/2006/table">
            <a:tbl>
              <a:tblPr firstRow="1" bandRow="1">
                <a:tableStyleId>{5C22544A-7EE6-4342-B048-85BDC9FD1C3A}</a:tableStyleId>
              </a:tblPr>
              <a:tblGrid>
                <a:gridCol w="993087">
                  <a:extLst>
                    <a:ext uri="{9D8B030D-6E8A-4147-A177-3AD203B41FA5}">
                      <a16:colId xmlns="" xmlns:a16="http://schemas.microsoft.com/office/drawing/2014/main" val="852377818"/>
                    </a:ext>
                  </a:extLst>
                </a:gridCol>
                <a:gridCol w="4604783">
                  <a:extLst>
                    <a:ext uri="{9D8B030D-6E8A-4147-A177-3AD203B41FA5}">
                      <a16:colId xmlns="" xmlns:a16="http://schemas.microsoft.com/office/drawing/2014/main" val="3411673261"/>
                    </a:ext>
                  </a:extLst>
                </a:gridCol>
                <a:gridCol w="5514604">
                  <a:extLst>
                    <a:ext uri="{9D8B030D-6E8A-4147-A177-3AD203B41FA5}">
                      <a16:colId xmlns="" xmlns:a16="http://schemas.microsoft.com/office/drawing/2014/main" val="362874076"/>
                    </a:ext>
                  </a:extLst>
                </a:gridCol>
              </a:tblGrid>
              <a:tr h="524558">
                <a:tc>
                  <a:txBody>
                    <a:bodyPr/>
                    <a:lstStyle/>
                    <a:p>
                      <a:pPr algn="ctr"/>
                      <a:endParaRPr lang="en-IN" dirty="0">
                        <a:latin typeface="Times New Roman" panose="02020603050405020304" pitchFamily="18" charset="0"/>
                        <a:cs typeface="Times New Roman" panose="02020603050405020304" pitchFamily="18" charset="0"/>
                      </a:endParaRPr>
                    </a:p>
                    <a:p>
                      <a:pPr algn="ctr"/>
                      <a:r>
                        <a:rPr lang="en-IN" dirty="0">
                          <a:latin typeface="Times New Roman" panose="02020603050405020304" pitchFamily="18" charset="0"/>
                          <a:cs typeface="Times New Roman" panose="02020603050405020304" pitchFamily="18" charset="0"/>
                        </a:rPr>
                        <a:t>SI.NO</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IN" dirty="0">
                        <a:latin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1" dirty="0">
                          <a:effectLst/>
                          <a:latin typeface="Times New Roman" panose="02020603050405020304" pitchFamily="18" charset="0"/>
                          <a:cs typeface="Times New Roman" panose="02020603050405020304" pitchFamily="18" charset="0"/>
                        </a:rPr>
                        <a:t>Software Requirements</a:t>
                      </a:r>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1" dirty="0">
                          <a:effectLst/>
                          <a:latin typeface="Times New Roman" panose="02020603050405020304" pitchFamily="18" charset="0"/>
                          <a:cs typeface="Times New Roman" panose="02020603050405020304" pitchFamily="18" charset="0"/>
                        </a:rPr>
                        <a:t> </a:t>
                      </a:r>
                    </a:p>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1" dirty="0">
                          <a:latin typeface="Times New Roman" panose="02020603050405020304" pitchFamily="18" charset="0"/>
                          <a:cs typeface="Times New Roman" panose="02020603050405020304" pitchFamily="18" charset="0"/>
                        </a:rPr>
                        <a:t>Hardware </a:t>
                      </a:r>
                      <a:r>
                        <a:rPr lang="en-IN" sz="1800" b="1" dirty="0">
                          <a:effectLst/>
                          <a:latin typeface="Times New Roman" panose="02020603050405020304" pitchFamily="18" charset="0"/>
                          <a:cs typeface="Times New Roman" panose="02020603050405020304" pitchFamily="18" charset="0"/>
                        </a:rPr>
                        <a:t>Requirements </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 xmlns:a16="http://schemas.microsoft.com/office/drawing/2014/main" val="3103318441"/>
                  </a:ext>
                </a:extLst>
              </a:tr>
              <a:tr h="524558">
                <a:tc>
                  <a:txBody>
                    <a:bodyPr/>
                    <a:lstStyle/>
                    <a:p>
                      <a:pPr algn="ctr"/>
                      <a:endParaRPr lang="en-IN" dirty="0">
                        <a:latin typeface="Times New Roman" panose="02020603050405020304" pitchFamily="18" charset="0"/>
                        <a:cs typeface="Times New Roman" panose="02020603050405020304" pitchFamily="18" charset="0"/>
                      </a:endParaRPr>
                    </a:p>
                    <a:p>
                      <a:pPr algn="ctr"/>
                      <a:r>
                        <a:rPr lang="en-IN" dirty="0">
                          <a:latin typeface="Times New Roman" panose="02020603050405020304" pitchFamily="18" charset="0"/>
                          <a:cs typeface="Times New Roman" panose="02020603050405020304" pitchFamily="18" charset="0"/>
                        </a:rPr>
                        <a:t>1</a:t>
                      </a:r>
                    </a:p>
                  </a:txBody>
                  <a:tcPr/>
                </a:tc>
                <a:tc>
                  <a:txBody>
                    <a:bodyPr/>
                    <a:lstStyle/>
                    <a:p>
                      <a:endParaRPr lang="en-IN" sz="1800" b="0" i="0" u="none" strike="noStrike" kern="1200" baseline="0" dirty="0">
                        <a:solidFill>
                          <a:schemeClr val="dk1"/>
                        </a:solidFill>
                        <a:latin typeface="Times New Roman" panose="02020603050405020304" pitchFamily="18" charset="0"/>
                        <a:ea typeface="+mn-ea"/>
                        <a:cs typeface="Times New Roman" panose="02020603050405020304" pitchFamily="18" charset="0"/>
                      </a:endParaRPr>
                    </a:p>
                    <a:p>
                      <a:r>
                        <a:rPr lang="en-IN" sz="1800" b="1" i="0" u="none" strike="noStrike" kern="1200" baseline="0" dirty="0">
                          <a:solidFill>
                            <a:schemeClr val="dk1"/>
                          </a:solidFill>
                          <a:latin typeface="Times New Roman" panose="02020603050405020304" pitchFamily="18" charset="0"/>
                          <a:ea typeface="+mn-ea"/>
                          <a:cs typeface="Times New Roman" panose="02020603050405020304" pitchFamily="18" charset="0"/>
                        </a:rPr>
                        <a:t>Operating System : </a:t>
                      </a:r>
                      <a:r>
                        <a:rPr lang="en-IN" sz="1800" b="0" i="0" u="none" strike="noStrike" kern="1200" baseline="0" dirty="0">
                          <a:solidFill>
                            <a:schemeClr val="dk1"/>
                          </a:solidFill>
                          <a:latin typeface="Times New Roman" panose="02020603050405020304" pitchFamily="18" charset="0"/>
                          <a:ea typeface="+mn-ea"/>
                          <a:cs typeface="Times New Roman" panose="02020603050405020304" pitchFamily="18" charset="0"/>
                        </a:rPr>
                        <a:t>Windows11 </a:t>
                      </a:r>
                    </a:p>
                  </a:txBody>
                  <a:tcPr/>
                </a:tc>
                <a:tc>
                  <a:txBody>
                    <a:bodyPr/>
                    <a:lstStyle/>
                    <a:p>
                      <a:endParaRPr lang="en-IN" sz="1800" b="0" i="0" u="none" strike="noStrike" kern="1200" baseline="0" dirty="0">
                        <a:solidFill>
                          <a:schemeClr val="dk1"/>
                        </a:solidFill>
                        <a:latin typeface="Times New Roman" panose="02020603050405020304" pitchFamily="18" charset="0"/>
                        <a:ea typeface="+mn-ea"/>
                        <a:cs typeface="Times New Roman" panose="02020603050405020304" pitchFamily="18" charset="0"/>
                      </a:endParaRPr>
                    </a:p>
                    <a:p>
                      <a:r>
                        <a:rPr lang="en-IN" sz="1800" b="1" i="0" u="none" strike="noStrike" kern="1200" baseline="0" dirty="0">
                          <a:solidFill>
                            <a:schemeClr val="dk1"/>
                          </a:solidFill>
                          <a:latin typeface="Times New Roman" panose="02020603050405020304" pitchFamily="18" charset="0"/>
                          <a:ea typeface="+mn-ea"/>
                          <a:cs typeface="Times New Roman" panose="02020603050405020304" pitchFamily="18" charset="0"/>
                        </a:rPr>
                        <a:t>System : </a:t>
                      </a:r>
                      <a:r>
                        <a:rPr lang="en-IN" sz="1800" b="0" i="0" u="none" strike="noStrike" kern="1200" baseline="0" dirty="0">
                          <a:solidFill>
                            <a:schemeClr val="dk1"/>
                          </a:solidFill>
                          <a:latin typeface="Times New Roman" panose="02020603050405020304" pitchFamily="18" charset="0"/>
                          <a:ea typeface="+mn-ea"/>
                          <a:cs typeface="Times New Roman" panose="02020603050405020304" pitchFamily="18" charset="0"/>
                        </a:rPr>
                        <a:t>Intel i5 </a:t>
                      </a:r>
                    </a:p>
                  </a:txBody>
                  <a:tcPr/>
                </a:tc>
                <a:extLst>
                  <a:ext uri="{0D108BD9-81ED-4DB2-BD59-A6C34878D82A}">
                    <a16:rowId xmlns="" xmlns:a16="http://schemas.microsoft.com/office/drawing/2014/main" val="856507130"/>
                  </a:ext>
                </a:extLst>
              </a:tr>
              <a:tr h="524558">
                <a:tc>
                  <a:txBody>
                    <a:bodyPr/>
                    <a:lstStyle/>
                    <a:p>
                      <a:endParaRPr lang="en-IN" dirty="0">
                        <a:latin typeface="Times New Roman" panose="02020603050405020304" pitchFamily="18" charset="0"/>
                        <a:cs typeface="Times New Roman" panose="02020603050405020304" pitchFamily="18" charset="0"/>
                      </a:endParaRPr>
                    </a:p>
                    <a:p>
                      <a:pPr algn="ctr"/>
                      <a:r>
                        <a:rPr lang="en-IN" dirty="0">
                          <a:latin typeface="Times New Roman" panose="02020603050405020304" pitchFamily="18" charset="0"/>
                          <a:cs typeface="Times New Roman" panose="02020603050405020304" pitchFamily="18" charset="0"/>
                        </a:rPr>
                        <a:t>2</a:t>
                      </a:r>
                    </a:p>
                  </a:txBody>
                  <a:tcPr/>
                </a:tc>
                <a:tc>
                  <a:txBody>
                    <a:bodyPr/>
                    <a:lstStyle/>
                    <a:p>
                      <a:endParaRPr lang="en-IN" sz="1800" b="0" i="0" u="none" strike="noStrike" kern="1200" baseline="0" dirty="0">
                        <a:solidFill>
                          <a:schemeClr val="dk1"/>
                        </a:solidFill>
                        <a:latin typeface="Times New Roman" panose="02020603050405020304" pitchFamily="18" charset="0"/>
                        <a:ea typeface="+mn-ea"/>
                        <a:cs typeface="Times New Roman" panose="02020603050405020304" pitchFamily="18" charset="0"/>
                      </a:endParaRPr>
                    </a:p>
                    <a:p>
                      <a:r>
                        <a:rPr lang="en-IN" sz="1800" b="1" i="0" u="none" strike="noStrike" kern="1200" baseline="0" dirty="0">
                          <a:solidFill>
                            <a:schemeClr val="dk1"/>
                          </a:solidFill>
                          <a:latin typeface="Times New Roman" panose="02020603050405020304" pitchFamily="18" charset="0"/>
                          <a:ea typeface="+mn-ea"/>
                          <a:cs typeface="Times New Roman" panose="02020603050405020304" pitchFamily="18" charset="0"/>
                        </a:rPr>
                        <a:t>Coding Language : </a:t>
                      </a:r>
                      <a:r>
                        <a:rPr lang="en-IN" sz="1800" b="0" i="0" u="none" strike="noStrike" kern="1200" baseline="0" dirty="0">
                          <a:solidFill>
                            <a:schemeClr val="dk1"/>
                          </a:solidFill>
                          <a:latin typeface="Times New Roman" panose="02020603050405020304" pitchFamily="18" charset="0"/>
                          <a:ea typeface="+mn-ea"/>
                          <a:cs typeface="Times New Roman" panose="02020603050405020304" pitchFamily="18" charset="0"/>
                        </a:rPr>
                        <a:t>Python 3.10 </a:t>
                      </a:r>
                    </a:p>
                  </a:txBody>
                  <a:tcPr/>
                </a:tc>
                <a:tc>
                  <a:txBody>
                    <a:bodyPr/>
                    <a:lstStyle/>
                    <a:p>
                      <a:endParaRPr lang="en-IN" sz="1800" b="0" i="0" u="none" strike="noStrike" kern="1200" baseline="0" dirty="0">
                        <a:solidFill>
                          <a:schemeClr val="dk1"/>
                        </a:solidFill>
                        <a:latin typeface="Times New Roman" panose="02020603050405020304" pitchFamily="18" charset="0"/>
                        <a:ea typeface="+mn-ea"/>
                        <a:cs typeface="Times New Roman" panose="02020603050405020304" pitchFamily="18" charset="0"/>
                      </a:endParaRPr>
                    </a:p>
                    <a:p>
                      <a:r>
                        <a:rPr lang="pt-BR" sz="1800" b="1" i="0" u="none" strike="noStrike" kern="1200" baseline="0" dirty="0">
                          <a:solidFill>
                            <a:schemeClr val="dk1"/>
                          </a:solidFill>
                          <a:latin typeface="Times New Roman" panose="02020603050405020304" pitchFamily="18" charset="0"/>
                          <a:ea typeface="+mn-ea"/>
                          <a:cs typeface="Times New Roman" panose="02020603050405020304" pitchFamily="18" charset="0"/>
                        </a:rPr>
                        <a:t>GPU : </a:t>
                      </a:r>
                      <a:r>
                        <a:rPr lang="pt-BR" sz="1800" b="0" i="0" u="none" strike="noStrike" kern="1200" baseline="0" dirty="0">
                          <a:solidFill>
                            <a:schemeClr val="dk1"/>
                          </a:solidFill>
                          <a:latin typeface="Times New Roman" panose="02020603050405020304" pitchFamily="18" charset="0"/>
                          <a:ea typeface="+mn-ea"/>
                          <a:cs typeface="Times New Roman" panose="02020603050405020304" pitchFamily="18" charset="0"/>
                        </a:rPr>
                        <a:t>Minimum NVIDIA 4 GB VRAM </a:t>
                      </a:r>
                    </a:p>
                  </a:txBody>
                  <a:tcPr/>
                </a:tc>
                <a:extLst>
                  <a:ext uri="{0D108BD9-81ED-4DB2-BD59-A6C34878D82A}">
                    <a16:rowId xmlns="" xmlns:a16="http://schemas.microsoft.com/office/drawing/2014/main" val="608502367"/>
                  </a:ext>
                </a:extLst>
              </a:tr>
              <a:tr h="749368">
                <a:tc>
                  <a:txBody>
                    <a:bodyPr/>
                    <a:lstStyle/>
                    <a:p>
                      <a:pPr algn="ctr"/>
                      <a:endParaRPr lang="en-IN" dirty="0">
                        <a:latin typeface="Times New Roman" panose="02020603050405020304" pitchFamily="18" charset="0"/>
                        <a:cs typeface="Times New Roman" panose="02020603050405020304" pitchFamily="18" charset="0"/>
                      </a:endParaRPr>
                    </a:p>
                    <a:p>
                      <a:pPr algn="ctr"/>
                      <a:r>
                        <a:rPr lang="en-IN" dirty="0">
                          <a:latin typeface="Times New Roman" panose="02020603050405020304" pitchFamily="18" charset="0"/>
                          <a:cs typeface="Times New Roman" panose="02020603050405020304" pitchFamily="18" charset="0"/>
                        </a:rPr>
                        <a:t>3</a:t>
                      </a:r>
                    </a:p>
                  </a:txBody>
                  <a:tcPr/>
                </a:tc>
                <a:tc>
                  <a:txBody>
                    <a:bodyPr/>
                    <a:lstStyle/>
                    <a:p>
                      <a:endParaRPr lang="en-IN" sz="1800" b="0" i="0" u="none" strike="noStrike" kern="1200" baseline="0" dirty="0">
                        <a:solidFill>
                          <a:schemeClr val="dk1"/>
                        </a:solidFill>
                        <a:latin typeface="Times New Roman" panose="02020603050405020304" pitchFamily="18" charset="0"/>
                        <a:ea typeface="+mn-ea"/>
                        <a:cs typeface="Times New Roman" panose="02020603050405020304" pitchFamily="18" charset="0"/>
                      </a:endParaRPr>
                    </a:p>
                    <a:p>
                      <a:r>
                        <a:rPr lang="en-IN" sz="1800" b="1" i="0" u="none" strike="noStrike" kern="1200" baseline="0" dirty="0">
                          <a:solidFill>
                            <a:schemeClr val="dk1"/>
                          </a:solidFill>
                          <a:latin typeface="Times New Roman" panose="02020603050405020304" pitchFamily="18" charset="0"/>
                          <a:ea typeface="+mn-ea"/>
                          <a:cs typeface="Times New Roman" panose="02020603050405020304" pitchFamily="18" charset="0"/>
                        </a:rPr>
                        <a:t>Frontend Language : </a:t>
                      </a:r>
                      <a:r>
                        <a:rPr lang="en-IN" sz="1800" b="0" i="0" u="none" strike="noStrike" kern="1200" baseline="0" dirty="0">
                          <a:solidFill>
                            <a:schemeClr val="dk1"/>
                          </a:solidFill>
                          <a:latin typeface="Times New Roman" panose="02020603050405020304" pitchFamily="18" charset="0"/>
                          <a:ea typeface="+mn-ea"/>
                          <a:cs typeface="Times New Roman" panose="02020603050405020304" pitchFamily="18" charset="0"/>
                        </a:rPr>
                        <a:t>HTML5, CSS3, JavaScript (ES6+) </a:t>
                      </a:r>
                    </a:p>
                  </a:txBody>
                  <a:tcPr/>
                </a:tc>
                <a:tc>
                  <a:txBody>
                    <a:bodyPr/>
                    <a:lstStyle/>
                    <a:p>
                      <a:endParaRPr lang="en-IN" sz="1800" b="0" i="0" u="none" strike="noStrike" kern="1200" baseline="0" dirty="0">
                        <a:solidFill>
                          <a:schemeClr val="dk1"/>
                        </a:solidFill>
                        <a:latin typeface="Times New Roman" panose="02020603050405020304" pitchFamily="18" charset="0"/>
                        <a:ea typeface="+mn-ea"/>
                        <a:cs typeface="Times New Roman" panose="02020603050405020304" pitchFamily="18" charset="0"/>
                      </a:endParaRPr>
                    </a:p>
                    <a:p>
                      <a:r>
                        <a:rPr lang="en-IN" sz="1800" b="1" i="0" u="none" strike="noStrike" kern="1200" baseline="0" dirty="0">
                          <a:solidFill>
                            <a:schemeClr val="dk1"/>
                          </a:solidFill>
                          <a:latin typeface="Times New Roman" panose="02020603050405020304" pitchFamily="18" charset="0"/>
                          <a:ea typeface="+mn-ea"/>
                          <a:cs typeface="Times New Roman" panose="02020603050405020304" pitchFamily="18" charset="0"/>
                        </a:rPr>
                        <a:t>Server : </a:t>
                      </a:r>
                      <a:r>
                        <a:rPr lang="en-IN" sz="1800" b="0" i="0" u="none" strike="noStrike" kern="1200" baseline="0" dirty="0">
                          <a:solidFill>
                            <a:schemeClr val="dk1"/>
                          </a:solidFill>
                          <a:latin typeface="Times New Roman" panose="02020603050405020304" pitchFamily="18" charset="0"/>
                          <a:ea typeface="+mn-ea"/>
                          <a:cs typeface="Times New Roman" panose="02020603050405020304" pitchFamily="18" charset="0"/>
                        </a:rPr>
                        <a:t>2-core CPU, 2-4 GB RAM </a:t>
                      </a:r>
                    </a:p>
                  </a:txBody>
                  <a:tcPr/>
                </a:tc>
                <a:extLst>
                  <a:ext uri="{0D108BD9-81ED-4DB2-BD59-A6C34878D82A}">
                    <a16:rowId xmlns="" xmlns:a16="http://schemas.microsoft.com/office/drawing/2014/main" val="2569900752"/>
                  </a:ext>
                </a:extLst>
              </a:tr>
              <a:tr h="749368">
                <a:tc>
                  <a:txBody>
                    <a:bodyPr/>
                    <a:lstStyle/>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pPr algn="ctr"/>
                      <a:r>
                        <a:rPr lang="en-IN" dirty="0">
                          <a:latin typeface="Times New Roman" panose="02020603050405020304" pitchFamily="18" charset="0"/>
                          <a:cs typeface="Times New Roman" panose="02020603050405020304" pitchFamily="18" charset="0"/>
                        </a:rPr>
                        <a:t>4</a:t>
                      </a:r>
                    </a:p>
                  </a:txBody>
                  <a:tcPr/>
                </a:tc>
                <a:tc>
                  <a:txBody>
                    <a:bodyPr/>
                    <a:lstStyle/>
                    <a:p>
                      <a:endParaRPr lang="en-IN" sz="1800" b="0" i="0" u="none" strike="noStrike" kern="1200" baseline="0" dirty="0" smtClean="0">
                        <a:solidFill>
                          <a:schemeClr val="dk1"/>
                        </a:solidFill>
                        <a:latin typeface="Times New Roman" panose="02020603050405020304" pitchFamily="18" charset="0"/>
                        <a:ea typeface="+mn-ea"/>
                        <a:cs typeface="Times New Roman" panose="02020603050405020304" pitchFamily="18" charset="0"/>
                      </a:endParaRPr>
                    </a:p>
                    <a:p>
                      <a:r>
                        <a:rPr lang="en-IN" sz="1800" b="1" i="0" u="none" strike="noStrike" kern="1200" baseline="0" dirty="0" smtClean="0">
                          <a:solidFill>
                            <a:schemeClr val="dk1"/>
                          </a:solidFill>
                          <a:latin typeface="Times New Roman" panose="02020603050405020304" pitchFamily="18" charset="0"/>
                          <a:ea typeface="+mn-ea"/>
                          <a:cs typeface="Times New Roman" panose="02020603050405020304" pitchFamily="18" charset="0"/>
                        </a:rPr>
                        <a:t>Backend </a:t>
                      </a:r>
                      <a:r>
                        <a:rPr lang="en-IN" sz="1800" b="1" i="0" u="none" strike="noStrike" kern="1200" baseline="0" dirty="0">
                          <a:solidFill>
                            <a:schemeClr val="dk1"/>
                          </a:solidFill>
                          <a:latin typeface="Times New Roman" panose="02020603050405020304" pitchFamily="18" charset="0"/>
                          <a:ea typeface="+mn-ea"/>
                          <a:cs typeface="Times New Roman" panose="02020603050405020304" pitchFamily="18" charset="0"/>
                        </a:rPr>
                        <a:t>Language </a:t>
                      </a:r>
                      <a:r>
                        <a:rPr lang="en-IN" sz="1800" b="0" i="0" u="none" strike="noStrike" kern="1200" baseline="0" dirty="0">
                          <a:solidFill>
                            <a:schemeClr val="dk1"/>
                          </a:solidFill>
                          <a:latin typeface="Times New Roman" panose="02020603050405020304" pitchFamily="18" charset="0"/>
                          <a:ea typeface="+mn-ea"/>
                          <a:cs typeface="Times New Roman" panose="02020603050405020304" pitchFamily="18" charset="0"/>
                        </a:rPr>
                        <a:t>: Django, SQLite </a:t>
                      </a:r>
                    </a:p>
                  </a:txBody>
                  <a:tcPr/>
                </a:tc>
                <a:tc>
                  <a:txBody>
                    <a:bodyPr/>
                    <a:lstStyle/>
                    <a:p>
                      <a:endParaRPr lang="en-IN" sz="1800" b="0" i="0" u="none" strike="noStrike" kern="1200" baseline="0" dirty="0" smtClean="0">
                        <a:solidFill>
                          <a:schemeClr val="dk1"/>
                        </a:solidFill>
                        <a:latin typeface="Times New Roman" panose="02020603050405020304" pitchFamily="18" charset="0"/>
                        <a:ea typeface="+mn-ea"/>
                        <a:cs typeface="Times New Roman" panose="02020603050405020304" pitchFamily="18" charset="0"/>
                      </a:endParaRPr>
                    </a:p>
                    <a:p>
                      <a:r>
                        <a:rPr lang="en-US" sz="1800" b="1" i="0" u="none" strike="noStrike" kern="1200" baseline="0" dirty="0" smtClean="0">
                          <a:solidFill>
                            <a:schemeClr val="dk1"/>
                          </a:solidFill>
                          <a:latin typeface="Times New Roman" panose="02020603050405020304" pitchFamily="18" charset="0"/>
                          <a:ea typeface="+mn-ea"/>
                          <a:cs typeface="Times New Roman" panose="02020603050405020304" pitchFamily="18" charset="0"/>
                        </a:rPr>
                        <a:t>Input </a:t>
                      </a:r>
                      <a:r>
                        <a:rPr lang="en-US" sz="1800" b="1" i="0" u="none" strike="noStrike" kern="1200" baseline="0" dirty="0">
                          <a:solidFill>
                            <a:schemeClr val="dk1"/>
                          </a:solidFill>
                          <a:latin typeface="Times New Roman" panose="02020603050405020304" pitchFamily="18" charset="0"/>
                          <a:ea typeface="+mn-ea"/>
                          <a:cs typeface="Times New Roman" panose="02020603050405020304" pitchFamily="18" charset="0"/>
                        </a:rPr>
                        <a:t>Devices : </a:t>
                      </a:r>
                      <a:r>
                        <a:rPr lang="en-US" sz="1800" b="0" i="0" u="none" strike="noStrike" kern="1200" baseline="0" dirty="0">
                          <a:solidFill>
                            <a:schemeClr val="dk1"/>
                          </a:solidFill>
                          <a:latin typeface="Times New Roman" panose="02020603050405020304" pitchFamily="18" charset="0"/>
                          <a:ea typeface="+mn-ea"/>
                          <a:cs typeface="Times New Roman" panose="02020603050405020304" pitchFamily="18" charset="0"/>
                        </a:rPr>
                        <a:t>Any modern computer with a web browser .</a:t>
                      </a:r>
                    </a:p>
                  </a:txBody>
                  <a:tcPr/>
                </a:tc>
                <a:extLst>
                  <a:ext uri="{0D108BD9-81ED-4DB2-BD59-A6C34878D82A}">
                    <a16:rowId xmlns="" xmlns:a16="http://schemas.microsoft.com/office/drawing/2014/main" val="3278710534"/>
                  </a:ext>
                </a:extLst>
              </a:tr>
              <a:tr h="564429">
                <a:tc>
                  <a:txBody>
                    <a:bodyPr/>
                    <a:lstStyle/>
                    <a:p>
                      <a:pPr algn="ctr"/>
                      <a:endParaRPr lang="en-IN" dirty="0">
                        <a:latin typeface="Times New Roman" panose="02020603050405020304" pitchFamily="18" charset="0"/>
                        <a:cs typeface="Times New Roman" panose="02020603050405020304" pitchFamily="18" charset="0"/>
                      </a:endParaRPr>
                    </a:p>
                    <a:p>
                      <a:pPr algn="ctr"/>
                      <a:r>
                        <a:rPr lang="en-IN" dirty="0">
                          <a:latin typeface="Times New Roman" panose="02020603050405020304" pitchFamily="18" charset="0"/>
                          <a:cs typeface="Times New Roman" panose="02020603050405020304" pitchFamily="18" charset="0"/>
                        </a:rPr>
                        <a:t>5</a:t>
                      </a:r>
                    </a:p>
                  </a:txBody>
                  <a:tcPr/>
                </a:tc>
                <a:tc>
                  <a:txBody>
                    <a:bodyPr/>
                    <a:lstStyle/>
                    <a:p>
                      <a:endParaRPr lang="en-IN" sz="1800" b="0" i="0" u="none" strike="noStrike" kern="1200" baseline="0" dirty="0" smtClean="0">
                        <a:solidFill>
                          <a:schemeClr val="dk1"/>
                        </a:solidFill>
                        <a:latin typeface="Times New Roman" panose="02020603050405020304" pitchFamily="18" charset="0"/>
                        <a:ea typeface="+mn-ea"/>
                        <a:cs typeface="Times New Roman" panose="02020603050405020304" pitchFamily="18" charset="0"/>
                      </a:endParaRPr>
                    </a:p>
                    <a:p>
                      <a:r>
                        <a:rPr lang="en-IN" sz="1800" b="1" i="0" u="none" strike="noStrike" kern="1200" baseline="0" dirty="0" smtClean="0">
                          <a:solidFill>
                            <a:schemeClr val="dk1"/>
                          </a:solidFill>
                          <a:latin typeface="Times New Roman" panose="02020603050405020304" pitchFamily="18" charset="0"/>
                          <a:ea typeface="+mn-ea"/>
                          <a:cs typeface="Times New Roman" panose="02020603050405020304" pitchFamily="18" charset="0"/>
                        </a:rPr>
                        <a:t>Tools </a:t>
                      </a:r>
                      <a:r>
                        <a:rPr lang="en-IN" sz="1800" b="1" i="0" u="none" strike="noStrike" kern="1200" baseline="0" dirty="0">
                          <a:solidFill>
                            <a:schemeClr val="dk1"/>
                          </a:solidFill>
                          <a:latin typeface="Times New Roman" panose="02020603050405020304" pitchFamily="18" charset="0"/>
                          <a:ea typeface="+mn-ea"/>
                          <a:cs typeface="Times New Roman" panose="02020603050405020304" pitchFamily="18" charset="0"/>
                        </a:rPr>
                        <a:t>: </a:t>
                      </a:r>
                      <a:r>
                        <a:rPr lang="en-IN" sz="1800" b="0" i="0" u="none" strike="noStrike" kern="1200" baseline="0" dirty="0" err="1">
                          <a:solidFill>
                            <a:schemeClr val="dk1"/>
                          </a:solidFill>
                          <a:latin typeface="Times New Roman" panose="02020603050405020304" pitchFamily="18" charset="0"/>
                          <a:ea typeface="+mn-ea"/>
                          <a:cs typeface="Times New Roman" panose="02020603050405020304" pitchFamily="18" charset="0"/>
                        </a:rPr>
                        <a:t>Keras</a:t>
                      </a:r>
                      <a:r>
                        <a:rPr lang="en-IN" sz="1800" b="0" i="0" u="none" strike="noStrike" kern="1200" baseline="0" dirty="0">
                          <a:solidFill>
                            <a:schemeClr val="dk1"/>
                          </a:solidFill>
                          <a:latin typeface="Times New Roman" panose="02020603050405020304" pitchFamily="18" charset="0"/>
                          <a:ea typeface="+mn-ea"/>
                          <a:cs typeface="Times New Roman" panose="02020603050405020304" pitchFamily="18" charset="0"/>
                        </a:rPr>
                        <a:t>, TensorFlow ,SciPy, MNE-Python </a:t>
                      </a:r>
                    </a:p>
                  </a:txBody>
                  <a:tcPr/>
                </a:tc>
                <a:tc>
                  <a:txBody>
                    <a:bodyPr/>
                    <a:lstStyle/>
                    <a:p>
                      <a:endParaRPr lang="en-IN" sz="1800" b="0" i="0" u="none" strike="noStrike" kern="1200" baseline="0" dirty="0" smtClean="0">
                        <a:solidFill>
                          <a:schemeClr val="dk1"/>
                        </a:solidFill>
                        <a:latin typeface="Times New Roman" panose="02020603050405020304" pitchFamily="18" charset="0"/>
                        <a:ea typeface="+mn-ea"/>
                        <a:cs typeface="Times New Roman" panose="02020603050405020304" pitchFamily="18" charset="0"/>
                      </a:endParaRPr>
                    </a:p>
                    <a:p>
                      <a:r>
                        <a:rPr lang="en-IN" sz="1800" b="1" i="0" u="none" strike="noStrike" kern="1200" baseline="0" dirty="0" smtClean="0">
                          <a:solidFill>
                            <a:schemeClr val="dk1"/>
                          </a:solidFill>
                          <a:latin typeface="Times New Roman" panose="02020603050405020304" pitchFamily="18" charset="0"/>
                          <a:ea typeface="+mn-ea"/>
                          <a:cs typeface="Times New Roman" panose="02020603050405020304" pitchFamily="18" charset="0"/>
                        </a:rPr>
                        <a:t>Ram </a:t>
                      </a:r>
                      <a:r>
                        <a:rPr lang="en-IN" sz="1800" b="1" i="0" u="none" strike="noStrike" kern="1200" baseline="0" dirty="0">
                          <a:solidFill>
                            <a:schemeClr val="dk1"/>
                          </a:solidFill>
                          <a:latin typeface="Times New Roman" panose="02020603050405020304" pitchFamily="18" charset="0"/>
                          <a:ea typeface="+mn-ea"/>
                          <a:cs typeface="Times New Roman" panose="02020603050405020304" pitchFamily="18" charset="0"/>
                        </a:rPr>
                        <a:t>: </a:t>
                      </a:r>
                      <a:r>
                        <a:rPr lang="en-IN" sz="1800" b="0" i="0" u="none" strike="noStrike" kern="1200" baseline="0" dirty="0">
                          <a:solidFill>
                            <a:schemeClr val="dk1"/>
                          </a:solidFill>
                          <a:latin typeface="Times New Roman" panose="02020603050405020304" pitchFamily="18" charset="0"/>
                          <a:ea typeface="+mn-ea"/>
                          <a:cs typeface="Times New Roman" panose="02020603050405020304" pitchFamily="18" charset="0"/>
                        </a:rPr>
                        <a:t>8 GB </a:t>
                      </a:r>
                    </a:p>
                  </a:txBody>
                  <a:tcPr/>
                </a:tc>
                <a:extLst>
                  <a:ext uri="{0D108BD9-81ED-4DB2-BD59-A6C34878D82A}">
                    <a16:rowId xmlns="" xmlns:a16="http://schemas.microsoft.com/office/drawing/2014/main" val="303939698"/>
                  </a:ext>
                </a:extLst>
              </a:tr>
              <a:tr h="564429">
                <a:tc>
                  <a:txBody>
                    <a:bodyPr/>
                    <a:lstStyle/>
                    <a:p>
                      <a:pPr algn="ctr"/>
                      <a:endParaRPr lang="en-IN" dirty="0">
                        <a:latin typeface="Times New Roman" panose="02020603050405020304" pitchFamily="18" charset="0"/>
                        <a:cs typeface="Times New Roman" panose="02020603050405020304" pitchFamily="18" charset="0"/>
                      </a:endParaRPr>
                    </a:p>
                    <a:p>
                      <a:pPr algn="ctr"/>
                      <a:r>
                        <a:rPr lang="en-IN" dirty="0">
                          <a:latin typeface="Times New Roman" panose="02020603050405020304" pitchFamily="18" charset="0"/>
                          <a:cs typeface="Times New Roman" panose="02020603050405020304" pitchFamily="18" charset="0"/>
                        </a:rPr>
                        <a:t>6</a:t>
                      </a:r>
                    </a:p>
                  </a:txBody>
                  <a:tcPr/>
                </a:tc>
                <a:tc>
                  <a:txBody>
                    <a:bodyPr/>
                    <a:lstStyle/>
                    <a:p>
                      <a:endParaRPr lang="en-IN" sz="1800" b="0" i="0" u="none" strike="noStrike" kern="1200" baseline="0" dirty="0">
                        <a:solidFill>
                          <a:schemeClr val="dk1"/>
                        </a:solidFill>
                        <a:latin typeface="Times New Roman" panose="02020603050405020304" pitchFamily="18" charset="0"/>
                        <a:ea typeface="+mn-ea"/>
                        <a:cs typeface="Times New Roman" panose="02020603050405020304" pitchFamily="18" charset="0"/>
                      </a:endParaRPr>
                    </a:p>
                    <a:p>
                      <a:r>
                        <a:rPr lang="en-US" sz="1800" b="1" i="0" u="none" strike="noStrike" kern="1200" baseline="0" dirty="0">
                          <a:solidFill>
                            <a:schemeClr val="dk1"/>
                          </a:solidFill>
                          <a:latin typeface="Times New Roman" panose="02020603050405020304" pitchFamily="18" charset="0"/>
                          <a:ea typeface="+mn-ea"/>
                          <a:cs typeface="Times New Roman" panose="02020603050405020304" pitchFamily="18" charset="0"/>
                        </a:rPr>
                        <a:t>Visualization : </a:t>
                      </a:r>
                      <a:r>
                        <a:rPr lang="en-US" sz="1800" b="0" i="0" u="none" strike="noStrike" kern="1200" baseline="0" dirty="0">
                          <a:solidFill>
                            <a:schemeClr val="dk1"/>
                          </a:solidFill>
                          <a:latin typeface="Times New Roman" panose="02020603050405020304" pitchFamily="18" charset="0"/>
                          <a:ea typeface="+mn-ea"/>
                          <a:cs typeface="Times New Roman" panose="02020603050405020304" pitchFamily="18" charset="0"/>
                        </a:rPr>
                        <a:t>Chart.js, Matplotlib , Seaborn </a:t>
                      </a:r>
                    </a:p>
                  </a:txBody>
                  <a:tcPr/>
                </a:tc>
                <a:tc>
                  <a:txBody>
                    <a:bodyPr/>
                    <a:lstStyle/>
                    <a:p>
                      <a:endParaRPr lang="en-IN" sz="1800" b="0" i="0" u="none" strike="noStrike" kern="1200" baseline="0" dirty="0">
                        <a:solidFill>
                          <a:schemeClr val="dk1"/>
                        </a:solidFill>
                        <a:latin typeface="Times New Roman" panose="02020603050405020304" pitchFamily="18" charset="0"/>
                        <a:ea typeface="+mn-ea"/>
                        <a:cs typeface="Times New Roman" panose="02020603050405020304" pitchFamily="18" charset="0"/>
                      </a:endParaRPr>
                    </a:p>
                  </a:txBody>
                  <a:tcPr/>
                </a:tc>
                <a:extLst>
                  <a:ext uri="{0D108BD9-81ED-4DB2-BD59-A6C34878D82A}">
                    <a16:rowId xmlns="" xmlns:a16="http://schemas.microsoft.com/office/drawing/2014/main" val="2177374539"/>
                  </a:ext>
                </a:extLst>
              </a:tr>
            </a:tbl>
          </a:graphicData>
        </a:graphic>
      </p:graphicFrame>
      <p:sp>
        <p:nvSpPr>
          <p:cNvPr id="9" name="TextBox 8">
            <a:extLst>
              <a:ext uri="{FF2B5EF4-FFF2-40B4-BE49-F238E27FC236}">
                <a16:creationId xmlns="" xmlns:a16="http://schemas.microsoft.com/office/drawing/2014/main" id="{F630C500-2E84-4B84-AAC0-A19C2C98522F}"/>
              </a:ext>
            </a:extLst>
          </p:cNvPr>
          <p:cNvSpPr txBox="1"/>
          <p:nvPr/>
        </p:nvSpPr>
        <p:spPr>
          <a:xfrm>
            <a:off x="340016" y="477962"/>
            <a:ext cx="9396318" cy="830997"/>
          </a:xfrm>
          <a:prstGeom prst="rect">
            <a:avLst/>
          </a:prstGeom>
          <a:noFill/>
        </p:spPr>
        <p:txBody>
          <a:bodyPr wrap="square" rtlCol="0">
            <a:spAutoFit/>
          </a:bodyPr>
          <a:lstStyle/>
          <a:p>
            <a:pPr algn="ctr"/>
            <a:r>
              <a:rPr lang="en-IN" sz="2400" b="1" dirty="0">
                <a:latin typeface="Times New Roman" panose="02020603050405020304" pitchFamily="18" charset="0"/>
                <a:cs typeface="Times New Roman" panose="02020603050405020304" pitchFamily="18" charset="0"/>
              </a:rPr>
              <a:t>SYSTEM REQUIREMENT AND SPECIFICATIONS </a:t>
            </a:r>
            <a:endParaRPr lang="en-IN" sz="2400" b="1" dirty="0">
              <a:latin typeface="Times New Roman" panose="02020603050405020304" pitchFamily="18" charset="0"/>
              <a:ea typeface="Calibri" panose="020F0502020204030204" pitchFamily="34" charset="0"/>
              <a:cs typeface="Times New Roman" panose="02020603050405020304" pitchFamily="18" charset="0"/>
            </a:endParaRPr>
          </a:p>
          <a:p>
            <a:pPr algn="ctr"/>
            <a:r>
              <a:rPr lang="en-IN" sz="2400" b="1" dirty="0">
                <a:effectLst/>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27757928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7">
            <a:extLst>
              <a:ext uri="{FF2B5EF4-FFF2-40B4-BE49-F238E27FC236}">
                <a16:creationId xmlns="" xmlns:a16="http://schemas.microsoft.com/office/drawing/2014/main" id="{B33AFFD4-7292-4A8C-8A17-1A7CC0EFD172}"/>
              </a:ext>
            </a:extLst>
          </p:cNvPr>
          <p:cNvSpPr>
            <a:spLocks noGrp="1"/>
          </p:cNvSpPr>
          <p:nvPr>
            <p:ph type="ftr" sz="quarter" idx="11"/>
          </p:nvPr>
        </p:nvSpPr>
        <p:spPr>
          <a:xfrm>
            <a:off x="3686185" y="6459785"/>
            <a:ext cx="4822804" cy="365125"/>
          </a:xfrm>
        </p:spPr>
        <p:txBody>
          <a:bodyPr/>
          <a:lstStyle/>
          <a:p>
            <a:r>
              <a:rPr lang="en-IN" dirty="0"/>
              <a:t>2025-26</a:t>
            </a:r>
          </a:p>
        </p:txBody>
      </p:sp>
      <p:sp>
        <p:nvSpPr>
          <p:cNvPr id="4" name="Slide Number Placeholder 8">
            <a:extLst>
              <a:ext uri="{FF2B5EF4-FFF2-40B4-BE49-F238E27FC236}">
                <a16:creationId xmlns="" xmlns:a16="http://schemas.microsoft.com/office/drawing/2014/main" id="{C2BB9153-A7A0-4504-AC5F-56790DAEB5CD}"/>
              </a:ext>
            </a:extLst>
          </p:cNvPr>
          <p:cNvSpPr>
            <a:spLocks noGrp="1"/>
          </p:cNvSpPr>
          <p:nvPr>
            <p:ph type="sldNum" sz="quarter" idx="12"/>
          </p:nvPr>
        </p:nvSpPr>
        <p:spPr>
          <a:xfrm>
            <a:off x="9900458" y="6459785"/>
            <a:ext cx="1312025" cy="365125"/>
          </a:xfrm>
        </p:spPr>
        <p:txBody>
          <a:bodyPr/>
          <a:lstStyle/>
          <a:p>
            <a:fld id="{69FBB93A-4B32-4007-AACF-5243CED557C7}" type="slidenum">
              <a:rPr lang="en-IN" smtClean="0"/>
              <a:t>8</a:t>
            </a:fld>
            <a:endParaRPr lang="en-IN"/>
          </a:p>
        </p:txBody>
      </p:sp>
      <p:sp>
        <p:nvSpPr>
          <p:cNvPr id="5" name="Date Placeholder 9">
            <a:extLst>
              <a:ext uri="{FF2B5EF4-FFF2-40B4-BE49-F238E27FC236}">
                <a16:creationId xmlns="" xmlns:a16="http://schemas.microsoft.com/office/drawing/2014/main" id="{E2AF6416-E065-4DA5-B156-B7F578D2AF40}"/>
              </a:ext>
            </a:extLst>
          </p:cNvPr>
          <p:cNvSpPr>
            <a:spLocks noGrp="1"/>
          </p:cNvSpPr>
          <p:nvPr>
            <p:ph type="dt" sz="half" idx="10"/>
          </p:nvPr>
        </p:nvSpPr>
        <p:spPr>
          <a:xfrm>
            <a:off x="1097280" y="6459785"/>
            <a:ext cx="2472271" cy="365125"/>
          </a:xfrm>
        </p:spPr>
        <p:txBody>
          <a:bodyPr/>
          <a:lstStyle/>
          <a:p>
            <a:r>
              <a:rPr lang="en-US"/>
              <a:t>Dept of AI&amp;DS, SJCIT</a:t>
            </a:r>
            <a:endParaRPr lang="en-IN"/>
          </a:p>
        </p:txBody>
      </p:sp>
      <p:pic>
        <p:nvPicPr>
          <p:cNvPr id="6" name="Picture 5">
            <a:extLst>
              <a:ext uri="{FF2B5EF4-FFF2-40B4-BE49-F238E27FC236}">
                <a16:creationId xmlns="" xmlns:a16="http://schemas.microsoft.com/office/drawing/2014/main" id="{FA43899D-08E8-44A2-ADB1-30FFF0F099A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65485" y="235453"/>
            <a:ext cx="1581591" cy="878662"/>
          </a:xfrm>
          <a:prstGeom prst="rect">
            <a:avLst/>
          </a:prstGeom>
        </p:spPr>
      </p:pic>
      <p:sp>
        <p:nvSpPr>
          <p:cNvPr id="7" name="TextBox 6">
            <a:extLst>
              <a:ext uri="{FF2B5EF4-FFF2-40B4-BE49-F238E27FC236}">
                <a16:creationId xmlns="" xmlns:a16="http://schemas.microsoft.com/office/drawing/2014/main" id="{52DE6456-D739-4E1F-8DA1-5FAE5B3DFF86}"/>
              </a:ext>
            </a:extLst>
          </p:cNvPr>
          <p:cNvSpPr txBox="1"/>
          <p:nvPr/>
        </p:nvSpPr>
        <p:spPr>
          <a:xfrm>
            <a:off x="0" y="33090"/>
            <a:ext cx="3883741" cy="215444"/>
          </a:xfrm>
          <a:prstGeom prst="rect">
            <a:avLst/>
          </a:prstGeom>
          <a:noFill/>
        </p:spPr>
        <p:txBody>
          <a:bodyPr wrap="square" rtlCol="0">
            <a:spAutoFit/>
          </a:bodyPr>
          <a:lstStyle/>
          <a:p>
            <a:r>
              <a:rPr lang="en-IN" sz="800" dirty="0">
                <a:latin typeface="Times New Roman" panose="02020603050405020304" pitchFamily="18" charset="0"/>
                <a:ea typeface="Tahoma" panose="020B0604030504040204" pitchFamily="34" charset="0"/>
                <a:cs typeface="Times New Roman" panose="02020603050405020304" pitchFamily="18" charset="0"/>
              </a:rPr>
              <a:t>A Hybrid Neural Network for EEG-based Depression Screening </a:t>
            </a:r>
            <a:r>
              <a:rPr lang="en-IN" sz="800">
                <a:latin typeface="Times New Roman" panose="02020603050405020304" pitchFamily="18" charset="0"/>
                <a:ea typeface="Tahoma" panose="020B0604030504040204" pitchFamily="34" charset="0"/>
                <a:cs typeface="Times New Roman" panose="02020603050405020304" pitchFamily="18" charset="0"/>
              </a:rPr>
              <a:t>Using CNN +LSTM</a:t>
            </a:r>
            <a:endParaRPr lang="en-IN" sz="8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 xmlns:a16="http://schemas.microsoft.com/office/drawing/2014/main" id="{D2C67360-7FDE-48DE-9098-507480140E70}"/>
              </a:ext>
            </a:extLst>
          </p:cNvPr>
          <p:cNvSpPr txBox="1"/>
          <p:nvPr/>
        </p:nvSpPr>
        <p:spPr>
          <a:xfrm>
            <a:off x="508000" y="256349"/>
            <a:ext cx="9457485" cy="523220"/>
          </a:xfrm>
          <a:prstGeom prst="rect">
            <a:avLst/>
          </a:prstGeom>
          <a:noFill/>
        </p:spPr>
        <p:txBody>
          <a:bodyPr wrap="square" rtlCol="0">
            <a:spAutoFit/>
          </a:bodyPr>
          <a:lstStyle/>
          <a:p>
            <a:pPr algn="ctr"/>
            <a:r>
              <a:rPr lang="en-US" sz="2800" b="1" spc="-10" dirty="0">
                <a:latin typeface="Times New Roman" panose="02020603050405020304" pitchFamily="18" charset="0"/>
                <a:ea typeface="Calibri" panose="020F0502020204030204" pitchFamily="34" charset="0"/>
                <a:cs typeface="Times New Roman" panose="02020603050405020304" pitchFamily="18" charset="0"/>
              </a:rPr>
              <a:t>DESIGN AND ARCHITECTURE</a:t>
            </a:r>
          </a:p>
        </p:txBody>
      </p:sp>
      <p:sp>
        <p:nvSpPr>
          <p:cNvPr id="2" name="TextBox 1">
            <a:extLst>
              <a:ext uri="{FF2B5EF4-FFF2-40B4-BE49-F238E27FC236}">
                <a16:creationId xmlns="" xmlns:a16="http://schemas.microsoft.com/office/drawing/2014/main" id="{62346646-5F10-42F1-AA72-4EC2AF6BF0A7}"/>
              </a:ext>
            </a:extLst>
          </p:cNvPr>
          <p:cNvSpPr txBox="1"/>
          <p:nvPr/>
        </p:nvSpPr>
        <p:spPr>
          <a:xfrm rot="10800000" flipV="1">
            <a:off x="961494" y="1065269"/>
            <a:ext cx="8938964" cy="430887"/>
          </a:xfrm>
          <a:prstGeom prst="rect">
            <a:avLst/>
          </a:prstGeom>
          <a:noFill/>
        </p:spPr>
        <p:txBody>
          <a:bodyPr wrap="square" rtlCol="0">
            <a:spAutoFit/>
          </a:bodyPr>
          <a:lstStyle/>
          <a:p>
            <a:r>
              <a:rPr lang="en-IN" sz="2200" b="1" dirty="0">
                <a:latin typeface="Times New Roman" panose="02020603050405020304" pitchFamily="18" charset="0"/>
                <a:cs typeface="Times New Roman" panose="02020603050405020304" pitchFamily="18" charset="0"/>
              </a:rPr>
              <a:t>MODEL ARCHITECTURE</a:t>
            </a:r>
          </a:p>
        </p:txBody>
      </p:sp>
      <p:pic>
        <p:nvPicPr>
          <p:cNvPr id="11" name="Picture 10">
            <a:extLst>
              <a:ext uri="{FF2B5EF4-FFF2-40B4-BE49-F238E27FC236}">
                <a16:creationId xmlns="" xmlns:a16="http://schemas.microsoft.com/office/drawing/2014/main" id="{84B92D6E-BC22-34F7-0B32-46FCD1A22F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79227" y="1519361"/>
            <a:ext cx="5401429" cy="4544329"/>
          </a:xfrm>
          <a:prstGeom prst="rect">
            <a:avLst/>
          </a:prstGeom>
        </p:spPr>
      </p:pic>
    </p:spTree>
    <p:extLst>
      <p:ext uri="{BB962C8B-B14F-4D97-AF65-F5344CB8AC3E}">
        <p14:creationId xmlns:p14="http://schemas.microsoft.com/office/powerpoint/2010/main" val="34726558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7">
            <a:extLst>
              <a:ext uri="{FF2B5EF4-FFF2-40B4-BE49-F238E27FC236}">
                <a16:creationId xmlns="" xmlns:a16="http://schemas.microsoft.com/office/drawing/2014/main" id="{B33AFFD4-7292-4A8C-8A17-1A7CC0EFD172}"/>
              </a:ext>
            </a:extLst>
          </p:cNvPr>
          <p:cNvSpPr>
            <a:spLocks noGrp="1"/>
          </p:cNvSpPr>
          <p:nvPr>
            <p:ph type="ftr" sz="quarter" idx="11"/>
          </p:nvPr>
        </p:nvSpPr>
        <p:spPr>
          <a:xfrm>
            <a:off x="3686185" y="6459785"/>
            <a:ext cx="4822804" cy="365125"/>
          </a:xfrm>
        </p:spPr>
        <p:txBody>
          <a:bodyPr/>
          <a:lstStyle/>
          <a:p>
            <a:r>
              <a:rPr lang="en-IN" dirty="0"/>
              <a:t>2025-26</a:t>
            </a:r>
          </a:p>
        </p:txBody>
      </p:sp>
      <p:sp>
        <p:nvSpPr>
          <p:cNvPr id="4" name="Slide Number Placeholder 8">
            <a:extLst>
              <a:ext uri="{FF2B5EF4-FFF2-40B4-BE49-F238E27FC236}">
                <a16:creationId xmlns="" xmlns:a16="http://schemas.microsoft.com/office/drawing/2014/main" id="{C2BB9153-A7A0-4504-AC5F-56790DAEB5CD}"/>
              </a:ext>
            </a:extLst>
          </p:cNvPr>
          <p:cNvSpPr>
            <a:spLocks noGrp="1"/>
          </p:cNvSpPr>
          <p:nvPr>
            <p:ph type="sldNum" sz="quarter" idx="12"/>
          </p:nvPr>
        </p:nvSpPr>
        <p:spPr>
          <a:xfrm>
            <a:off x="9900458" y="6459785"/>
            <a:ext cx="1312025" cy="365125"/>
          </a:xfrm>
        </p:spPr>
        <p:txBody>
          <a:bodyPr/>
          <a:lstStyle/>
          <a:p>
            <a:fld id="{69FBB93A-4B32-4007-AACF-5243CED557C7}" type="slidenum">
              <a:rPr lang="en-IN" smtClean="0"/>
              <a:t>9</a:t>
            </a:fld>
            <a:endParaRPr lang="en-IN"/>
          </a:p>
        </p:txBody>
      </p:sp>
      <p:sp>
        <p:nvSpPr>
          <p:cNvPr id="5" name="Date Placeholder 9">
            <a:extLst>
              <a:ext uri="{FF2B5EF4-FFF2-40B4-BE49-F238E27FC236}">
                <a16:creationId xmlns="" xmlns:a16="http://schemas.microsoft.com/office/drawing/2014/main" id="{E2AF6416-E065-4DA5-B156-B7F578D2AF40}"/>
              </a:ext>
            </a:extLst>
          </p:cNvPr>
          <p:cNvSpPr>
            <a:spLocks noGrp="1"/>
          </p:cNvSpPr>
          <p:nvPr>
            <p:ph type="dt" sz="half" idx="10"/>
          </p:nvPr>
        </p:nvSpPr>
        <p:spPr>
          <a:xfrm>
            <a:off x="1097280" y="6459785"/>
            <a:ext cx="2472271" cy="365125"/>
          </a:xfrm>
        </p:spPr>
        <p:txBody>
          <a:bodyPr/>
          <a:lstStyle/>
          <a:p>
            <a:r>
              <a:rPr lang="en-US"/>
              <a:t>Dept of AI&amp;DS, SJCIT</a:t>
            </a:r>
            <a:endParaRPr lang="en-IN"/>
          </a:p>
        </p:txBody>
      </p:sp>
      <p:pic>
        <p:nvPicPr>
          <p:cNvPr id="6" name="Picture 5">
            <a:extLst>
              <a:ext uri="{FF2B5EF4-FFF2-40B4-BE49-F238E27FC236}">
                <a16:creationId xmlns="" xmlns:a16="http://schemas.microsoft.com/office/drawing/2014/main" id="{FA43899D-08E8-44A2-ADB1-30FFF0F099A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65485" y="235453"/>
            <a:ext cx="1581591" cy="878662"/>
          </a:xfrm>
          <a:prstGeom prst="rect">
            <a:avLst/>
          </a:prstGeom>
        </p:spPr>
      </p:pic>
      <p:sp>
        <p:nvSpPr>
          <p:cNvPr id="7" name="TextBox 6">
            <a:extLst>
              <a:ext uri="{FF2B5EF4-FFF2-40B4-BE49-F238E27FC236}">
                <a16:creationId xmlns="" xmlns:a16="http://schemas.microsoft.com/office/drawing/2014/main" id="{52DE6456-D739-4E1F-8DA1-5FAE5B3DFF86}"/>
              </a:ext>
            </a:extLst>
          </p:cNvPr>
          <p:cNvSpPr txBox="1"/>
          <p:nvPr/>
        </p:nvSpPr>
        <p:spPr>
          <a:xfrm>
            <a:off x="0" y="33090"/>
            <a:ext cx="3883741" cy="215444"/>
          </a:xfrm>
          <a:prstGeom prst="rect">
            <a:avLst/>
          </a:prstGeom>
          <a:noFill/>
        </p:spPr>
        <p:txBody>
          <a:bodyPr wrap="square" rtlCol="0">
            <a:spAutoFit/>
          </a:bodyPr>
          <a:lstStyle/>
          <a:p>
            <a:r>
              <a:rPr lang="en-IN" sz="800" dirty="0">
                <a:latin typeface="Times New Roman" panose="02020603050405020304" pitchFamily="18" charset="0"/>
                <a:ea typeface="Tahoma" panose="020B0604030504040204" pitchFamily="34" charset="0"/>
                <a:cs typeface="Times New Roman" panose="02020603050405020304" pitchFamily="18" charset="0"/>
              </a:rPr>
              <a:t>A Hybrid Neural Network for EEG-based Depression Screening </a:t>
            </a:r>
            <a:r>
              <a:rPr lang="en-IN" sz="800">
                <a:latin typeface="Times New Roman" panose="02020603050405020304" pitchFamily="18" charset="0"/>
                <a:ea typeface="Tahoma" panose="020B0604030504040204" pitchFamily="34" charset="0"/>
                <a:cs typeface="Times New Roman" panose="02020603050405020304" pitchFamily="18" charset="0"/>
              </a:rPr>
              <a:t>Using CNN +LSTM</a:t>
            </a:r>
            <a:endParaRPr lang="en-IN" sz="8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 xmlns:a16="http://schemas.microsoft.com/office/drawing/2014/main" id="{D2C67360-7FDE-48DE-9098-507480140E70}"/>
              </a:ext>
            </a:extLst>
          </p:cNvPr>
          <p:cNvSpPr txBox="1"/>
          <p:nvPr/>
        </p:nvSpPr>
        <p:spPr>
          <a:xfrm>
            <a:off x="569167" y="503853"/>
            <a:ext cx="9396318" cy="523220"/>
          </a:xfrm>
          <a:prstGeom prst="rect">
            <a:avLst/>
          </a:prstGeom>
          <a:noFill/>
        </p:spPr>
        <p:txBody>
          <a:bodyPr wrap="square" rtlCol="0">
            <a:spAutoFit/>
          </a:bodyPr>
          <a:lstStyle/>
          <a:p>
            <a:pPr algn="ctr"/>
            <a:endParaRPr lang="en-IN" sz="2800" dirty="0">
              <a:effectLst/>
              <a:latin typeface="Times New Roman" panose="02020603050405020304" pitchFamily="18" charset="0"/>
              <a:cs typeface="Times New Roman" panose="02020603050405020304" pitchFamily="18" charset="0"/>
            </a:endParaRPr>
          </a:p>
        </p:txBody>
      </p:sp>
      <p:pic>
        <p:nvPicPr>
          <p:cNvPr id="9" name="Picture 2">
            <a:extLst>
              <a:ext uri="{FF2B5EF4-FFF2-40B4-BE49-F238E27FC236}">
                <a16:creationId xmlns="" xmlns:a16="http://schemas.microsoft.com/office/drawing/2014/main" id="{DB7603DE-AEB0-497B-A35E-F798753395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27634" y="1428290"/>
            <a:ext cx="6156460" cy="4329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a:extLst>
              <a:ext uri="{FF2B5EF4-FFF2-40B4-BE49-F238E27FC236}">
                <a16:creationId xmlns="" xmlns:a16="http://schemas.microsoft.com/office/drawing/2014/main" id="{57368456-FE00-4348-8BB5-5F8D28C33866}"/>
              </a:ext>
            </a:extLst>
          </p:cNvPr>
          <p:cNvSpPr txBox="1"/>
          <p:nvPr/>
        </p:nvSpPr>
        <p:spPr>
          <a:xfrm>
            <a:off x="644924" y="510144"/>
            <a:ext cx="9255534" cy="461665"/>
          </a:xfrm>
          <a:prstGeom prst="rect">
            <a:avLst/>
          </a:prstGeom>
          <a:noFill/>
        </p:spPr>
        <p:txBody>
          <a:bodyPr wrap="square" rtlCol="0">
            <a:spAutoFit/>
          </a:bodyPr>
          <a:lstStyle/>
          <a:p>
            <a:pPr algn="ctr"/>
            <a:r>
              <a:rPr lang="en-IN" sz="2400" b="1" dirty="0">
                <a:latin typeface="Times New Roman" panose="02020603050405020304" pitchFamily="18" charset="0"/>
                <a:cs typeface="Times New Roman" panose="02020603050405020304" pitchFamily="18" charset="0"/>
              </a:rPr>
              <a:t>LSTM ARCHITECTURE</a:t>
            </a:r>
          </a:p>
        </p:txBody>
      </p:sp>
    </p:spTree>
    <p:extLst>
      <p:ext uri="{BB962C8B-B14F-4D97-AF65-F5344CB8AC3E}">
        <p14:creationId xmlns:p14="http://schemas.microsoft.com/office/powerpoint/2010/main" val="7656885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7">
            <a:extLst>
              <a:ext uri="{FF2B5EF4-FFF2-40B4-BE49-F238E27FC236}">
                <a16:creationId xmlns="" xmlns:a16="http://schemas.microsoft.com/office/drawing/2014/main" id="{B33AFFD4-7292-4A8C-8A17-1A7CC0EFD172}"/>
              </a:ext>
            </a:extLst>
          </p:cNvPr>
          <p:cNvSpPr>
            <a:spLocks noGrp="1"/>
          </p:cNvSpPr>
          <p:nvPr>
            <p:ph type="ftr" sz="quarter" idx="11"/>
          </p:nvPr>
        </p:nvSpPr>
        <p:spPr>
          <a:xfrm>
            <a:off x="3686185" y="6459785"/>
            <a:ext cx="4822804" cy="365125"/>
          </a:xfrm>
        </p:spPr>
        <p:txBody>
          <a:bodyPr/>
          <a:lstStyle/>
          <a:p>
            <a:r>
              <a:rPr lang="en-IN" dirty="0"/>
              <a:t>2025-26</a:t>
            </a:r>
          </a:p>
        </p:txBody>
      </p:sp>
      <p:sp>
        <p:nvSpPr>
          <p:cNvPr id="4" name="Slide Number Placeholder 8">
            <a:extLst>
              <a:ext uri="{FF2B5EF4-FFF2-40B4-BE49-F238E27FC236}">
                <a16:creationId xmlns="" xmlns:a16="http://schemas.microsoft.com/office/drawing/2014/main" id="{C2BB9153-A7A0-4504-AC5F-56790DAEB5CD}"/>
              </a:ext>
            </a:extLst>
          </p:cNvPr>
          <p:cNvSpPr>
            <a:spLocks noGrp="1"/>
          </p:cNvSpPr>
          <p:nvPr>
            <p:ph type="sldNum" sz="quarter" idx="12"/>
          </p:nvPr>
        </p:nvSpPr>
        <p:spPr>
          <a:xfrm>
            <a:off x="9900458" y="6459785"/>
            <a:ext cx="1312025" cy="365125"/>
          </a:xfrm>
        </p:spPr>
        <p:txBody>
          <a:bodyPr/>
          <a:lstStyle/>
          <a:p>
            <a:fld id="{69FBB93A-4B32-4007-AACF-5243CED557C7}" type="slidenum">
              <a:rPr lang="en-IN" smtClean="0"/>
              <a:t>10</a:t>
            </a:fld>
            <a:endParaRPr lang="en-IN"/>
          </a:p>
        </p:txBody>
      </p:sp>
      <p:sp>
        <p:nvSpPr>
          <p:cNvPr id="5" name="Date Placeholder 9">
            <a:extLst>
              <a:ext uri="{FF2B5EF4-FFF2-40B4-BE49-F238E27FC236}">
                <a16:creationId xmlns="" xmlns:a16="http://schemas.microsoft.com/office/drawing/2014/main" id="{E2AF6416-E065-4DA5-B156-B7F578D2AF40}"/>
              </a:ext>
            </a:extLst>
          </p:cNvPr>
          <p:cNvSpPr>
            <a:spLocks noGrp="1"/>
          </p:cNvSpPr>
          <p:nvPr>
            <p:ph type="dt" sz="half" idx="10"/>
          </p:nvPr>
        </p:nvSpPr>
        <p:spPr>
          <a:xfrm>
            <a:off x="1097280" y="6459785"/>
            <a:ext cx="2472271" cy="365125"/>
          </a:xfrm>
        </p:spPr>
        <p:txBody>
          <a:bodyPr/>
          <a:lstStyle/>
          <a:p>
            <a:r>
              <a:rPr lang="en-US"/>
              <a:t>Dept of AI&amp;DS, SJCIT</a:t>
            </a:r>
            <a:endParaRPr lang="en-IN"/>
          </a:p>
        </p:txBody>
      </p:sp>
      <p:pic>
        <p:nvPicPr>
          <p:cNvPr id="6" name="Picture 5">
            <a:extLst>
              <a:ext uri="{FF2B5EF4-FFF2-40B4-BE49-F238E27FC236}">
                <a16:creationId xmlns="" xmlns:a16="http://schemas.microsoft.com/office/drawing/2014/main" id="{FA43899D-08E8-44A2-ADB1-30FFF0F099A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65485" y="235453"/>
            <a:ext cx="1581591" cy="878662"/>
          </a:xfrm>
          <a:prstGeom prst="rect">
            <a:avLst/>
          </a:prstGeom>
        </p:spPr>
      </p:pic>
      <p:sp>
        <p:nvSpPr>
          <p:cNvPr id="7" name="TextBox 6">
            <a:extLst>
              <a:ext uri="{FF2B5EF4-FFF2-40B4-BE49-F238E27FC236}">
                <a16:creationId xmlns="" xmlns:a16="http://schemas.microsoft.com/office/drawing/2014/main" id="{52DE6456-D739-4E1F-8DA1-5FAE5B3DFF86}"/>
              </a:ext>
            </a:extLst>
          </p:cNvPr>
          <p:cNvSpPr txBox="1"/>
          <p:nvPr/>
        </p:nvSpPr>
        <p:spPr>
          <a:xfrm>
            <a:off x="0" y="33090"/>
            <a:ext cx="3883741" cy="215444"/>
          </a:xfrm>
          <a:prstGeom prst="rect">
            <a:avLst/>
          </a:prstGeom>
          <a:noFill/>
        </p:spPr>
        <p:txBody>
          <a:bodyPr wrap="square" rtlCol="0">
            <a:spAutoFit/>
          </a:bodyPr>
          <a:lstStyle/>
          <a:p>
            <a:r>
              <a:rPr lang="en-IN" sz="800" dirty="0">
                <a:latin typeface="Times New Roman" panose="02020603050405020304" pitchFamily="18" charset="0"/>
                <a:ea typeface="Tahoma" panose="020B0604030504040204" pitchFamily="34" charset="0"/>
                <a:cs typeface="Times New Roman" panose="02020603050405020304" pitchFamily="18" charset="0"/>
              </a:rPr>
              <a:t>A Hybrid Neural Network for EEG-based Depression Screening </a:t>
            </a:r>
            <a:r>
              <a:rPr lang="en-IN" sz="800">
                <a:latin typeface="Times New Roman" panose="02020603050405020304" pitchFamily="18" charset="0"/>
                <a:ea typeface="Tahoma" panose="020B0604030504040204" pitchFamily="34" charset="0"/>
                <a:cs typeface="Times New Roman" panose="02020603050405020304" pitchFamily="18" charset="0"/>
              </a:rPr>
              <a:t>Using CNN +LSTM</a:t>
            </a:r>
            <a:endParaRPr lang="en-IN" sz="8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 xmlns:a16="http://schemas.microsoft.com/office/drawing/2014/main" id="{D2C67360-7FDE-48DE-9098-507480140E70}"/>
              </a:ext>
            </a:extLst>
          </p:cNvPr>
          <p:cNvSpPr txBox="1"/>
          <p:nvPr/>
        </p:nvSpPr>
        <p:spPr>
          <a:xfrm>
            <a:off x="569167" y="503853"/>
            <a:ext cx="9396318" cy="523220"/>
          </a:xfrm>
          <a:prstGeom prst="rect">
            <a:avLst/>
          </a:prstGeom>
          <a:noFill/>
        </p:spPr>
        <p:txBody>
          <a:bodyPr wrap="square" rtlCol="0">
            <a:spAutoFit/>
          </a:bodyPr>
          <a:lstStyle/>
          <a:p>
            <a:pPr algn="ctr"/>
            <a:endParaRPr lang="en-IN" sz="2800" dirty="0">
              <a:effectLst/>
              <a:latin typeface="Times New Roman" panose="02020603050405020304" pitchFamily="18" charset="0"/>
              <a:cs typeface="Times New Roman" panose="02020603050405020304" pitchFamily="18" charset="0"/>
            </a:endParaRPr>
          </a:p>
        </p:txBody>
      </p:sp>
      <p:pic>
        <p:nvPicPr>
          <p:cNvPr id="10" name="Picture 9" descr="C:\Users\chara\AppData\Local\Packages\5319275A.WhatsAppDesktop_cv1g1gvanyjgm\TempState\82AAFCA3E03771835C2E1ACB19FDE2D4\WhatsApp Image 2025-05-30 at 10.06.34_c239edf2.jpg">
            <a:extLst>
              <a:ext uri="{FF2B5EF4-FFF2-40B4-BE49-F238E27FC236}">
                <a16:creationId xmlns="" xmlns:a16="http://schemas.microsoft.com/office/drawing/2014/main" id="{D743D10E-28C1-4E87-9580-4F3712ECEAAF}"/>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379434" y="1295473"/>
            <a:ext cx="9215120" cy="3823653"/>
          </a:xfrm>
          <a:prstGeom prst="rect">
            <a:avLst/>
          </a:prstGeom>
          <a:noFill/>
          <a:ln>
            <a:noFill/>
          </a:ln>
        </p:spPr>
      </p:pic>
      <p:sp>
        <p:nvSpPr>
          <p:cNvPr id="11" name="TextBox 10">
            <a:extLst>
              <a:ext uri="{FF2B5EF4-FFF2-40B4-BE49-F238E27FC236}">
                <a16:creationId xmlns="" xmlns:a16="http://schemas.microsoft.com/office/drawing/2014/main" id="{FC82B180-BF6D-4C34-B16C-C9D29EE7D565}"/>
              </a:ext>
            </a:extLst>
          </p:cNvPr>
          <p:cNvSpPr txBox="1"/>
          <p:nvPr/>
        </p:nvSpPr>
        <p:spPr>
          <a:xfrm>
            <a:off x="354563" y="503853"/>
            <a:ext cx="9545895" cy="461665"/>
          </a:xfrm>
          <a:prstGeom prst="rect">
            <a:avLst/>
          </a:prstGeom>
          <a:noFill/>
        </p:spPr>
        <p:txBody>
          <a:bodyPr wrap="square" rtlCol="0">
            <a:spAutoFit/>
          </a:bodyPr>
          <a:lstStyle/>
          <a:p>
            <a:pPr algn="ctr"/>
            <a:r>
              <a:rPr lang="en-IN" sz="2400" b="1" dirty="0">
                <a:latin typeface="Times New Roman" panose="02020603050405020304" pitchFamily="18" charset="0"/>
                <a:cs typeface="Times New Roman" panose="02020603050405020304" pitchFamily="18" charset="0"/>
              </a:rPr>
              <a:t>FLOW CHART</a:t>
            </a:r>
          </a:p>
        </p:txBody>
      </p:sp>
    </p:spTree>
    <p:extLst>
      <p:ext uri="{BB962C8B-B14F-4D97-AF65-F5344CB8AC3E}">
        <p14:creationId xmlns:p14="http://schemas.microsoft.com/office/powerpoint/2010/main" val="26031301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7">
            <a:extLst>
              <a:ext uri="{FF2B5EF4-FFF2-40B4-BE49-F238E27FC236}">
                <a16:creationId xmlns="" xmlns:a16="http://schemas.microsoft.com/office/drawing/2014/main" id="{B33AFFD4-7292-4A8C-8A17-1A7CC0EFD172}"/>
              </a:ext>
            </a:extLst>
          </p:cNvPr>
          <p:cNvSpPr>
            <a:spLocks noGrp="1"/>
          </p:cNvSpPr>
          <p:nvPr>
            <p:ph type="ftr" sz="quarter" idx="11"/>
          </p:nvPr>
        </p:nvSpPr>
        <p:spPr>
          <a:xfrm>
            <a:off x="3686185" y="6459785"/>
            <a:ext cx="4822804" cy="365125"/>
          </a:xfrm>
        </p:spPr>
        <p:txBody>
          <a:bodyPr/>
          <a:lstStyle/>
          <a:p>
            <a:r>
              <a:rPr lang="en-IN" dirty="0"/>
              <a:t>2025-26</a:t>
            </a:r>
          </a:p>
        </p:txBody>
      </p:sp>
      <p:sp>
        <p:nvSpPr>
          <p:cNvPr id="4" name="Slide Number Placeholder 8">
            <a:extLst>
              <a:ext uri="{FF2B5EF4-FFF2-40B4-BE49-F238E27FC236}">
                <a16:creationId xmlns="" xmlns:a16="http://schemas.microsoft.com/office/drawing/2014/main" id="{C2BB9153-A7A0-4504-AC5F-56790DAEB5CD}"/>
              </a:ext>
            </a:extLst>
          </p:cNvPr>
          <p:cNvSpPr>
            <a:spLocks noGrp="1"/>
          </p:cNvSpPr>
          <p:nvPr>
            <p:ph type="sldNum" sz="quarter" idx="12"/>
          </p:nvPr>
        </p:nvSpPr>
        <p:spPr>
          <a:xfrm>
            <a:off x="9900458" y="6459785"/>
            <a:ext cx="1312025" cy="365125"/>
          </a:xfrm>
        </p:spPr>
        <p:txBody>
          <a:bodyPr/>
          <a:lstStyle/>
          <a:p>
            <a:fld id="{69FBB93A-4B32-4007-AACF-5243CED557C7}" type="slidenum">
              <a:rPr lang="en-IN" smtClean="0"/>
              <a:t>11</a:t>
            </a:fld>
            <a:endParaRPr lang="en-IN"/>
          </a:p>
        </p:txBody>
      </p:sp>
      <p:sp>
        <p:nvSpPr>
          <p:cNvPr id="5" name="Date Placeholder 9">
            <a:extLst>
              <a:ext uri="{FF2B5EF4-FFF2-40B4-BE49-F238E27FC236}">
                <a16:creationId xmlns="" xmlns:a16="http://schemas.microsoft.com/office/drawing/2014/main" id="{E2AF6416-E065-4DA5-B156-B7F578D2AF40}"/>
              </a:ext>
            </a:extLst>
          </p:cNvPr>
          <p:cNvSpPr>
            <a:spLocks noGrp="1"/>
          </p:cNvSpPr>
          <p:nvPr>
            <p:ph type="dt" sz="half" idx="10"/>
          </p:nvPr>
        </p:nvSpPr>
        <p:spPr>
          <a:xfrm>
            <a:off x="1097280" y="6459785"/>
            <a:ext cx="2472271" cy="365125"/>
          </a:xfrm>
        </p:spPr>
        <p:txBody>
          <a:bodyPr/>
          <a:lstStyle/>
          <a:p>
            <a:r>
              <a:rPr lang="en-US"/>
              <a:t>Dept of AI&amp;DS, SJCIT</a:t>
            </a:r>
            <a:endParaRPr lang="en-IN"/>
          </a:p>
        </p:txBody>
      </p:sp>
      <p:pic>
        <p:nvPicPr>
          <p:cNvPr id="6" name="Picture 5">
            <a:extLst>
              <a:ext uri="{FF2B5EF4-FFF2-40B4-BE49-F238E27FC236}">
                <a16:creationId xmlns="" xmlns:a16="http://schemas.microsoft.com/office/drawing/2014/main" id="{FA43899D-08E8-44A2-ADB1-30FFF0F099A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65485" y="235453"/>
            <a:ext cx="1581591" cy="878662"/>
          </a:xfrm>
          <a:prstGeom prst="rect">
            <a:avLst/>
          </a:prstGeom>
        </p:spPr>
      </p:pic>
      <p:sp>
        <p:nvSpPr>
          <p:cNvPr id="7" name="TextBox 6">
            <a:extLst>
              <a:ext uri="{FF2B5EF4-FFF2-40B4-BE49-F238E27FC236}">
                <a16:creationId xmlns="" xmlns:a16="http://schemas.microsoft.com/office/drawing/2014/main" id="{52DE6456-D739-4E1F-8DA1-5FAE5B3DFF86}"/>
              </a:ext>
            </a:extLst>
          </p:cNvPr>
          <p:cNvSpPr txBox="1"/>
          <p:nvPr/>
        </p:nvSpPr>
        <p:spPr>
          <a:xfrm>
            <a:off x="0" y="33090"/>
            <a:ext cx="3883741" cy="215444"/>
          </a:xfrm>
          <a:prstGeom prst="rect">
            <a:avLst/>
          </a:prstGeom>
          <a:noFill/>
        </p:spPr>
        <p:txBody>
          <a:bodyPr wrap="square" rtlCol="0">
            <a:spAutoFit/>
          </a:bodyPr>
          <a:lstStyle/>
          <a:p>
            <a:r>
              <a:rPr lang="en-IN" sz="800" dirty="0">
                <a:latin typeface="Times New Roman" panose="02020603050405020304" pitchFamily="18" charset="0"/>
                <a:ea typeface="Tahoma" panose="020B0604030504040204" pitchFamily="34" charset="0"/>
                <a:cs typeface="Times New Roman" panose="02020603050405020304" pitchFamily="18" charset="0"/>
              </a:rPr>
              <a:t>A Hybrid Neural Network for EEG-based Depression Screening </a:t>
            </a:r>
            <a:r>
              <a:rPr lang="en-IN" sz="800">
                <a:latin typeface="Times New Roman" panose="02020603050405020304" pitchFamily="18" charset="0"/>
                <a:ea typeface="Tahoma" panose="020B0604030504040204" pitchFamily="34" charset="0"/>
                <a:cs typeface="Times New Roman" panose="02020603050405020304" pitchFamily="18" charset="0"/>
              </a:rPr>
              <a:t>Using CNN +LSTM</a:t>
            </a:r>
            <a:endParaRPr lang="en-IN" sz="8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 xmlns:a16="http://schemas.microsoft.com/office/drawing/2014/main" id="{D2C67360-7FDE-48DE-9098-507480140E70}"/>
              </a:ext>
            </a:extLst>
          </p:cNvPr>
          <p:cNvSpPr txBox="1"/>
          <p:nvPr/>
        </p:nvSpPr>
        <p:spPr>
          <a:xfrm>
            <a:off x="569167" y="503853"/>
            <a:ext cx="9396318" cy="523220"/>
          </a:xfrm>
          <a:prstGeom prst="rect">
            <a:avLst/>
          </a:prstGeom>
          <a:noFill/>
        </p:spPr>
        <p:txBody>
          <a:bodyPr wrap="square" rtlCol="0">
            <a:spAutoFit/>
          </a:bodyPr>
          <a:lstStyle/>
          <a:p>
            <a:pPr algn="ctr"/>
            <a:endParaRPr lang="en-IN" sz="2800" dirty="0">
              <a:effectLst/>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 xmlns:a16="http://schemas.microsoft.com/office/drawing/2014/main" id="{1914BC09-B2FF-48AC-9916-9D08AA92A79F}"/>
              </a:ext>
            </a:extLst>
          </p:cNvPr>
          <p:cNvSpPr txBox="1"/>
          <p:nvPr/>
        </p:nvSpPr>
        <p:spPr>
          <a:xfrm>
            <a:off x="453292" y="328247"/>
            <a:ext cx="9512193" cy="461665"/>
          </a:xfrm>
          <a:prstGeom prst="rect">
            <a:avLst/>
          </a:prstGeom>
          <a:noFill/>
        </p:spPr>
        <p:txBody>
          <a:bodyPr wrap="square" rtlCol="0">
            <a:spAutoFit/>
          </a:bodyPr>
          <a:lstStyle/>
          <a:p>
            <a:pPr algn="ctr"/>
            <a:r>
              <a:rPr lang="en-IN" sz="2400" b="1" dirty="0">
                <a:latin typeface="Times New Roman" panose="02020603050405020304" pitchFamily="18" charset="0"/>
                <a:cs typeface="Times New Roman" panose="02020603050405020304" pitchFamily="18" charset="0"/>
              </a:rPr>
              <a:t>USE CASE DIAGRAM</a:t>
            </a:r>
            <a:r>
              <a:rPr lang="en-IN" sz="2000" b="1" dirty="0">
                <a:latin typeface="Times New Roman" panose="02020603050405020304" pitchFamily="18" charset="0"/>
                <a:cs typeface="Times New Roman" panose="02020603050405020304" pitchFamily="18" charset="0"/>
              </a:rPr>
              <a:t>:</a:t>
            </a:r>
          </a:p>
        </p:txBody>
      </p:sp>
      <p:pic>
        <p:nvPicPr>
          <p:cNvPr id="16" name="Picture 15">
            <a:extLst>
              <a:ext uri="{FF2B5EF4-FFF2-40B4-BE49-F238E27FC236}">
                <a16:creationId xmlns="" xmlns:a16="http://schemas.microsoft.com/office/drawing/2014/main" id="{7E568ED6-4F00-4764-8439-20A8BA052B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18824" y="965518"/>
            <a:ext cx="6746032" cy="4793229"/>
          </a:xfrm>
          <a:prstGeom prst="rect">
            <a:avLst/>
          </a:prstGeom>
        </p:spPr>
      </p:pic>
    </p:spTree>
    <p:extLst>
      <p:ext uri="{BB962C8B-B14F-4D97-AF65-F5344CB8AC3E}">
        <p14:creationId xmlns:p14="http://schemas.microsoft.com/office/powerpoint/2010/main" val="31823116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7">
            <a:extLst>
              <a:ext uri="{FF2B5EF4-FFF2-40B4-BE49-F238E27FC236}">
                <a16:creationId xmlns="" xmlns:a16="http://schemas.microsoft.com/office/drawing/2014/main" id="{B33AFFD4-7292-4A8C-8A17-1A7CC0EFD172}"/>
              </a:ext>
            </a:extLst>
          </p:cNvPr>
          <p:cNvSpPr>
            <a:spLocks noGrp="1"/>
          </p:cNvSpPr>
          <p:nvPr>
            <p:ph type="ftr" sz="quarter" idx="11"/>
          </p:nvPr>
        </p:nvSpPr>
        <p:spPr>
          <a:xfrm>
            <a:off x="3686185" y="6459785"/>
            <a:ext cx="4822804" cy="365125"/>
          </a:xfrm>
        </p:spPr>
        <p:txBody>
          <a:bodyPr/>
          <a:lstStyle/>
          <a:p>
            <a:r>
              <a:rPr lang="en-IN" dirty="0"/>
              <a:t>2025-26</a:t>
            </a:r>
          </a:p>
        </p:txBody>
      </p:sp>
      <p:sp>
        <p:nvSpPr>
          <p:cNvPr id="4" name="Slide Number Placeholder 8">
            <a:extLst>
              <a:ext uri="{FF2B5EF4-FFF2-40B4-BE49-F238E27FC236}">
                <a16:creationId xmlns="" xmlns:a16="http://schemas.microsoft.com/office/drawing/2014/main" id="{C2BB9153-A7A0-4504-AC5F-56790DAEB5CD}"/>
              </a:ext>
            </a:extLst>
          </p:cNvPr>
          <p:cNvSpPr>
            <a:spLocks noGrp="1"/>
          </p:cNvSpPr>
          <p:nvPr>
            <p:ph type="sldNum" sz="quarter" idx="12"/>
          </p:nvPr>
        </p:nvSpPr>
        <p:spPr>
          <a:xfrm>
            <a:off x="9900458" y="6459785"/>
            <a:ext cx="1312025" cy="365125"/>
          </a:xfrm>
        </p:spPr>
        <p:txBody>
          <a:bodyPr/>
          <a:lstStyle/>
          <a:p>
            <a:fld id="{69FBB93A-4B32-4007-AACF-5243CED557C7}" type="slidenum">
              <a:rPr lang="en-IN" smtClean="0"/>
              <a:t>12</a:t>
            </a:fld>
            <a:endParaRPr lang="en-IN"/>
          </a:p>
        </p:txBody>
      </p:sp>
      <p:sp>
        <p:nvSpPr>
          <p:cNvPr id="5" name="Date Placeholder 9">
            <a:extLst>
              <a:ext uri="{FF2B5EF4-FFF2-40B4-BE49-F238E27FC236}">
                <a16:creationId xmlns="" xmlns:a16="http://schemas.microsoft.com/office/drawing/2014/main" id="{E2AF6416-E065-4DA5-B156-B7F578D2AF40}"/>
              </a:ext>
            </a:extLst>
          </p:cNvPr>
          <p:cNvSpPr>
            <a:spLocks noGrp="1"/>
          </p:cNvSpPr>
          <p:nvPr>
            <p:ph type="dt" sz="half" idx="10"/>
          </p:nvPr>
        </p:nvSpPr>
        <p:spPr>
          <a:xfrm>
            <a:off x="1097280" y="6459785"/>
            <a:ext cx="2472271" cy="365125"/>
          </a:xfrm>
        </p:spPr>
        <p:txBody>
          <a:bodyPr/>
          <a:lstStyle/>
          <a:p>
            <a:r>
              <a:rPr lang="en-US"/>
              <a:t>Dept of AI&amp;DS, SJCIT</a:t>
            </a:r>
            <a:endParaRPr lang="en-IN"/>
          </a:p>
        </p:txBody>
      </p:sp>
      <p:pic>
        <p:nvPicPr>
          <p:cNvPr id="6" name="Picture 5">
            <a:extLst>
              <a:ext uri="{FF2B5EF4-FFF2-40B4-BE49-F238E27FC236}">
                <a16:creationId xmlns="" xmlns:a16="http://schemas.microsoft.com/office/drawing/2014/main" id="{FA43899D-08E8-44A2-ADB1-30FFF0F099A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65485" y="235453"/>
            <a:ext cx="1581591" cy="878662"/>
          </a:xfrm>
          <a:prstGeom prst="rect">
            <a:avLst/>
          </a:prstGeom>
        </p:spPr>
      </p:pic>
      <p:sp>
        <p:nvSpPr>
          <p:cNvPr id="7" name="TextBox 6">
            <a:extLst>
              <a:ext uri="{FF2B5EF4-FFF2-40B4-BE49-F238E27FC236}">
                <a16:creationId xmlns="" xmlns:a16="http://schemas.microsoft.com/office/drawing/2014/main" id="{52DE6456-D739-4E1F-8DA1-5FAE5B3DFF86}"/>
              </a:ext>
            </a:extLst>
          </p:cNvPr>
          <p:cNvSpPr txBox="1"/>
          <p:nvPr/>
        </p:nvSpPr>
        <p:spPr>
          <a:xfrm>
            <a:off x="0" y="33090"/>
            <a:ext cx="3883741" cy="215444"/>
          </a:xfrm>
          <a:prstGeom prst="rect">
            <a:avLst/>
          </a:prstGeom>
          <a:noFill/>
        </p:spPr>
        <p:txBody>
          <a:bodyPr wrap="square" rtlCol="0">
            <a:spAutoFit/>
          </a:bodyPr>
          <a:lstStyle/>
          <a:p>
            <a:r>
              <a:rPr lang="en-IN" sz="800" dirty="0">
                <a:latin typeface="Times New Roman" panose="02020603050405020304" pitchFamily="18" charset="0"/>
                <a:ea typeface="Tahoma" panose="020B0604030504040204" pitchFamily="34" charset="0"/>
                <a:cs typeface="Times New Roman" panose="02020603050405020304" pitchFamily="18" charset="0"/>
              </a:rPr>
              <a:t>A Hybrid Neural Network for EEG-based Depression Screening </a:t>
            </a:r>
            <a:r>
              <a:rPr lang="en-IN" sz="800">
                <a:latin typeface="Times New Roman" panose="02020603050405020304" pitchFamily="18" charset="0"/>
                <a:ea typeface="Tahoma" panose="020B0604030504040204" pitchFamily="34" charset="0"/>
                <a:cs typeface="Times New Roman" panose="02020603050405020304" pitchFamily="18" charset="0"/>
              </a:rPr>
              <a:t>Using CNN +LSTM</a:t>
            </a:r>
            <a:endParaRPr lang="en-IN" sz="8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 xmlns:a16="http://schemas.microsoft.com/office/drawing/2014/main" id="{D2C67360-7FDE-48DE-9098-507480140E70}"/>
              </a:ext>
            </a:extLst>
          </p:cNvPr>
          <p:cNvSpPr txBox="1"/>
          <p:nvPr/>
        </p:nvSpPr>
        <p:spPr>
          <a:xfrm>
            <a:off x="569167" y="503853"/>
            <a:ext cx="9396318" cy="523220"/>
          </a:xfrm>
          <a:prstGeom prst="rect">
            <a:avLst/>
          </a:prstGeom>
          <a:noFill/>
        </p:spPr>
        <p:txBody>
          <a:bodyPr wrap="square" rtlCol="0">
            <a:spAutoFit/>
          </a:bodyPr>
          <a:lstStyle/>
          <a:p>
            <a:pPr algn="ctr"/>
            <a:endParaRPr lang="en-IN" sz="2800" dirty="0">
              <a:effectLst/>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 xmlns:a16="http://schemas.microsoft.com/office/drawing/2014/main" id="{C2D16AC1-E299-4C53-8A7B-1E7EACDD6F9B}"/>
              </a:ext>
            </a:extLst>
          </p:cNvPr>
          <p:cNvSpPr txBox="1"/>
          <p:nvPr/>
        </p:nvSpPr>
        <p:spPr>
          <a:xfrm>
            <a:off x="555119" y="247048"/>
            <a:ext cx="9345339" cy="461665"/>
          </a:xfrm>
          <a:prstGeom prst="rect">
            <a:avLst/>
          </a:prstGeom>
          <a:noFill/>
        </p:spPr>
        <p:txBody>
          <a:bodyPr wrap="square" rtlCol="0">
            <a:spAutoFit/>
          </a:bodyPr>
          <a:lstStyle/>
          <a:p>
            <a:pPr algn="ctr"/>
            <a:r>
              <a:rPr lang="en-IN" sz="2400" b="1" dirty="0">
                <a:latin typeface="Times New Roman" panose="02020603050405020304" pitchFamily="18" charset="0"/>
                <a:cs typeface="Times New Roman" panose="02020603050405020304" pitchFamily="18" charset="0"/>
              </a:rPr>
              <a:t>ACTIVITY DIAGRAM</a:t>
            </a:r>
          </a:p>
        </p:txBody>
      </p:sp>
      <p:pic>
        <p:nvPicPr>
          <p:cNvPr id="11" name="Picture 10">
            <a:extLst>
              <a:ext uri="{FF2B5EF4-FFF2-40B4-BE49-F238E27FC236}">
                <a16:creationId xmlns="" xmlns:a16="http://schemas.microsoft.com/office/drawing/2014/main" id="{67717835-7DC6-41C5-855E-7D291CD6AFD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62065" y="761752"/>
            <a:ext cx="7838393" cy="5447491"/>
          </a:xfrm>
          <a:prstGeom prst="rect">
            <a:avLst/>
          </a:prstGeom>
        </p:spPr>
      </p:pic>
    </p:spTree>
    <p:extLst>
      <p:ext uri="{BB962C8B-B14F-4D97-AF65-F5344CB8AC3E}">
        <p14:creationId xmlns:p14="http://schemas.microsoft.com/office/powerpoint/2010/main" val="20886036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7">
            <a:extLst>
              <a:ext uri="{FF2B5EF4-FFF2-40B4-BE49-F238E27FC236}">
                <a16:creationId xmlns="" xmlns:a16="http://schemas.microsoft.com/office/drawing/2014/main" id="{B33AFFD4-7292-4A8C-8A17-1A7CC0EFD172}"/>
              </a:ext>
            </a:extLst>
          </p:cNvPr>
          <p:cNvSpPr>
            <a:spLocks noGrp="1"/>
          </p:cNvSpPr>
          <p:nvPr>
            <p:ph type="ftr" sz="quarter" idx="11"/>
          </p:nvPr>
        </p:nvSpPr>
        <p:spPr>
          <a:xfrm>
            <a:off x="3686185" y="6459785"/>
            <a:ext cx="4822804" cy="365125"/>
          </a:xfrm>
        </p:spPr>
        <p:txBody>
          <a:bodyPr/>
          <a:lstStyle/>
          <a:p>
            <a:r>
              <a:rPr lang="en-IN" dirty="0"/>
              <a:t>2025-26</a:t>
            </a:r>
          </a:p>
        </p:txBody>
      </p:sp>
      <p:sp>
        <p:nvSpPr>
          <p:cNvPr id="4" name="Slide Number Placeholder 8">
            <a:extLst>
              <a:ext uri="{FF2B5EF4-FFF2-40B4-BE49-F238E27FC236}">
                <a16:creationId xmlns="" xmlns:a16="http://schemas.microsoft.com/office/drawing/2014/main" id="{C2BB9153-A7A0-4504-AC5F-56790DAEB5CD}"/>
              </a:ext>
            </a:extLst>
          </p:cNvPr>
          <p:cNvSpPr>
            <a:spLocks noGrp="1"/>
          </p:cNvSpPr>
          <p:nvPr>
            <p:ph type="sldNum" sz="quarter" idx="12"/>
          </p:nvPr>
        </p:nvSpPr>
        <p:spPr>
          <a:xfrm>
            <a:off x="9900458" y="6459785"/>
            <a:ext cx="1312025" cy="365125"/>
          </a:xfrm>
        </p:spPr>
        <p:txBody>
          <a:bodyPr/>
          <a:lstStyle/>
          <a:p>
            <a:fld id="{69FBB93A-4B32-4007-AACF-5243CED557C7}" type="slidenum">
              <a:rPr lang="en-IN" smtClean="0"/>
              <a:t>13</a:t>
            </a:fld>
            <a:endParaRPr lang="en-IN"/>
          </a:p>
        </p:txBody>
      </p:sp>
      <p:sp>
        <p:nvSpPr>
          <p:cNvPr id="5" name="Date Placeholder 9">
            <a:extLst>
              <a:ext uri="{FF2B5EF4-FFF2-40B4-BE49-F238E27FC236}">
                <a16:creationId xmlns="" xmlns:a16="http://schemas.microsoft.com/office/drawing/2014/main" id="{E2AF6416-E065-4DA5-B156-B7F578D2AF40}"/>
              </a:ext>
            </a:extLst>
          </p:cNvPr>
          <p:cNvSpPr>
            <a:spLocks noGrp="1"/>
          </p:cNvSpPr>
          <p:nvPr>
            <p:ph type="dt" sz="half" idx="10"/>
          </p:nvPr>
        </p:nvSpPr>
        <p:spPr>
          <a:xfrm>
            <a:off x="1097280" y="6459785"/>
            <a:ext cx="2472271" cy="365125"/>
          </a:xfrm>
        </p:spPr>
        <p:txBody>
          <a:bodyPr/>
          <a:lstStyle/>
          <a:p>
            <a:r>
              <a:rPr lang="en-US"/>
              <a:t>Dept of AI&amp;DS, SJCIT</a:t>
            </a:r>
            <a:endParaRPr lang="en-IN"/>
          </a:p>
        </p:txBody>
      </p:sp>
      <p:pic>
        <p:nvPicPr>
          <p:cNvPr id="6" name="Picture 5">
            <a:extLst>
              <a:ext uri="{FF2B5EF4-FFF2-40B4-BE49-F238E27FC236}">
                <a16:creationId xmlns="" xmlns:a16="http://schemas.microsoft.com/office/drawing/2014/main" id="{FA43899D-08E8-44A2-ADB1-30FFF0F099A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65485" y="235453"/>
            <a:ext cx="1581591" cy="878662"/>
          </a:xfrm>
          <a:prstGeom prst="rect">
            <a:avLst/>
          </a:prstGeom>
        </p:spPr>
      </p:pic>
      <p:sp>
        <p:nvSpPr>
          <p:cNvPr id="7" name="TextBox 6">
            <a:extLst>
              <a:ext uri="{FF2B5EF4-FFF2-40B4-BE49-F238E27FC236}">
                <a16:creationId xmlns="" xmlns:a16="http://schemas.microsoft.com/office/drawing/2014/main" id="{52DE6456-D739-4E1F-8DA1-5FAE5B3DFF86}"/>
              </a:ext>
            </a:extLst>
          </p:cNvPr>
          <p:cNvSpPr txBox="1"/>
          <p:nvPr/>
        </p:nvSpPr>
        <p:spPr>
          <a:xfrm>
            <a:off x="0" y="33090"/>
            <a:ext cx="3883741" cy="215444"/>
          </a:xfrm>
          <a:prstGeom prst="rect">
            <a:avLst/>
          </a:prstGeom>
          <a:noFill/>
        </p:spPr>
        <p:txBody>
          <a:bodyPr wrap="square" rtlCol="0">
            <a:spAutoFit/>
          </a:bodyPr>
          <a:lstStyle/>
          <a:p>
            <a:r>
              <a:rPr lang="en-IN" sz="800" dirty="0">
                <a:latin typeface="Times New Roman" panose="02020603050405020304" pitchFamily="18" charset="0"/>
                <a:ea typeface="Tahoma" panose="020B0604030504040204" pitchFamily="34" charset="0"/>
                <a:cs typeface="Times New Roman" panose="02020603050405020304" pitchFamily="18" charset="0"/>
              </a:rPr>
              <a:t>A Hybrid Neural Network for EEG-based Depression Screening </a:t>
            </a:r>
            <a:r>
              <a:rPr lang="en-IN" sz="800">
                <a:latin typeface="Times New Roman" panose="02020603050405020304" pitchFamily="18" charset="0"/>
                <a:ea typeface="Tahoma" panose="020B0604030504040204" pitchFamily="34" charset="0"/>
                <a:cs typeface="Times New Roman" panose="02020603050405020304" pitchFamily="18" charset="0"/>
              </a:rPr>
              <a:t>Using CNN +LSTM</a:t>
            </a:r>
            <a:endParaRPr lang="en-IN" sz="8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 xmlns:a16="http://schemas.microsoft.com/office/drawing/2014/main" id="{D2C67360-7FDE-48DE-9098-507480140E70}"/>
              </a:ext>
            </a:extLst>
          </p:cNvPr>
          <p:cNvSpPr txBox="1"/>
          <p:nvPr/>
        </p:nvSpPr>
        <p:spPr>
          <a:xfrm>
            <a:off x="569167" y="503853"/>
            <a:ext cx="9396318" cy="523220"/>
          </a:xfrm>
          <a:prstGeom prst="rect">
            <a:avLst/>
          </a:prstGeom>
          <a:noFill/>
        </p:spPr>
        <p:txBody>
          <a:bodyPr wrap="square" rtlCol="0">
            <a:spAutoFit/>
          </a:bodyPr>
          <a:lstStyle/>
          <a:p>
            <a:pPr algn="ctr"/>
            <a:endParaRPr lang="en-IN" sz="2800" dirty="0">
              <a:effectLst/>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 xmlns:a16="http://schemas.microsoft.com/office/drawing/2014/main" id="{5C4BF44B-2DE7-4158-8442-D546F63A4A7E}"/>
              </a:ext>
            </a:extLst>
          </p:cNvPr>
          <p:cNvSpPr txBox="1"/>
          <p:nvPr/>
        </p:nvSpPr>
        <p:spPr>
          <a:xfrm>
            <a:off x="317240" y="393824"/>
            <a:ext cx="9583217" cy="461665"/>
          </a:xfrm>
          <a:prstGeom prst="rect">
            <a:avLst/>
          </a:prstGeom>
          <a:noFill/>
        </p:spPr>
        <p:txBody>
          <a:bodyPr wrap="square" rtlCol="0">
            <a:spAutoFit/>
          </a:bodyPr>
          <a:lstStyle/>
          <a:p>
            <a:pPr algn="ctr"/>
            <a:r>
              <a:rPr lang="en-IN" sz="2400" b="1" dirty="0">
                <a:latin typeface="Times New Roman" panose="02020603050405020304" pitchFamily="18" charset="0"/>
                <a:cs typeface="Times New Roman" panose="02020603050405020304" pitchFamily="18" charset="0"/>
              </a:rPr>
              <a:t>SEQUENCE DIAGRAM</a:t>
            </a:r>
          </a:p>
        </p:txBody>
      </p:sp>
      <p:pic>
        <p:nvPicPr>
          <p:cNvPr id="10" name="Picture 9">
            <a:extLst>
              <a:ext uri="{FF2B5EF4-FFF2-40B4-BE49-F238E27FC236}">
                <a16:creationId xmlns="" xmlns:a16="http://schemas.microsoft.com/office/drawing/2014/main" id="{31960336-1A8D-47CC-9ACC-3D4FE974AFB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1763" y="1224145"/>
            <a:ext cx="10670624" cy="4895668"/>
          </a:xfrm>
          <a:prstGeom prst="rect">
            <a:avLst/>
          </a:prstGeom>
        </p:spPr>
      </p:pic>
    </p:spTree>
    <p:extLst>
      <p:ext uri="{BB962C8B-B14F-4D97-AF65-F5344CB8AC3E}">
        <p14:creationId xmlns:p14="http://schemas.microsoft.com/office/powerpoint/2010/main" val="11186901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7">
            <a:extLst>
              <a:ext uri="{FF2B5EF4-FFF2-40B4-BE49-F238E27FC236}">
                <a16:creationId xmlns="" xmlns:a16="http://schemas.microsoft.com/office/drawing/2014/main" id="{B33AFFD4-7292-4A8C-8A17-1A7CC0EFD172}"/>
              </a:ext>
            </a:extLst>
          </p:cNvPr>
          <p:cNvSpPr>
            <a:spLocks noGrp="1"/>
          </p:cNvSpPr>
          <p:nvPr>
            <p:ph type="ftr" sz="quarter" idx="11"/>
          </p:nvPr>
        </p:nvSpPr>
        <p:spPr>
          <a:xfrm>
            <a:off x="3686185" y="6459785"/>
            <a:ext cx="4822804" cy="365125"/>
          </a:xfrm>
        </p:spPr>
        <p:txBody>
          <a:bodyPr/>
          <a:lstStyle/>
          <a:p>
            <a:r>
              <a:rPr lang="en-IN" dirty="0"/>
              <a:t>2025-26</a:t>
            </a:r>
          </a:p>
        </p:txBody>
      </p:sp>
      <p:sp>
        <p:nvSpPr>
          <p:cNvPr id="4" name="Slide Number Placeholder 8">
            <a:extLst>
              <a:ext uri="{FF2B5EF4-FFF2-40B4-BE49-F238E27FC236}">
                <a16:creationId xmlns="" xmlns:a16="http://schemas.microsoft.com/office/drawing/2014/main" id="{C2BB9153-A7A0-4504-AC5F-56790DAEB5CD}"/>
              </a:ext>
            </a:extLst>
          </p:cNvPr>
          <p:cNvSpPr>
            <a:spLocks noGrp="1"/>
          </p:cNvSpPr>
          <p:nvPr>
            <p:ph type="sldNum" sz="quarter" idx="12"/>
          </p:nvPr>
        </p:nvSpPr>
        <p:spPr>
          <a:xfrm>
            <a:off x="9900458" y="6459785"/>
            <a:ext cx="1312025" cy="365125"/>
          </a:xfrm>
        </p:spPr>
        <p:txBody>
          <a:bodyPr/>
          <a:lstStyle/>
          <a:p>
            <a:fld id="{69FBB93A-4B32-4007-AACF-5243CED557C7}" type="slidenum">
              <a:rPr lang="en-IN" smtClean="0"/>
              <a:t>14</a:t>
            </a:fld>
            <a:endParaRPr lang="en-IN"/>
          </a:p>
        </p:txBody>
      </p:sp>
      <p:sp>
        <p:nvSpPr>
          <p:cNvPr id="5" name="Date Placeholder 9">
            <a:extLst>
              <a:ext uri="{FF2B5EF4-FFF2-40B4-BE49-F238E27FC236}">
                <a16:creationId xmlns="" xmlns:a16="http://schemas.microsoft.com/office/drawing/2014/main" id="{E2AF6416-E065-4DA5-B156-B7F578D2AF40}"/>
              </a:ext>
            </a:extLst>
          </p:cNvPr>
          <p:cNvSpPr>
            <a:spLocks noGrp="1"/>
          </p:cNvSpPr>
          <p:nvPr>
            <p:ph type="dt" sz="half" idx="10"/>
          </p:nvPr>
        </p:nvSpPr>
        <p:spPr>
          <a:xfrm>
            <a:off x="1097280" y="6459785"/>
            <a:ext cx="2472271" cy="365125"/>
          </a:xfrm>
        </p:spPr>
        <p:txBody>
          <a:bodyPr/>
          <a:lstStyle/>
          <a:p>
            <a:r>
              <a:rPr lang="en-US"/>
              <a:t>Dept of AI&amp;DS, SJCIT</a:t>
            </a:r>
            <a:endParaRPr lang="en-IN"/>
          </a:p>
        </p:txBody>
      </p:sp>
      <p:pic>
        <p:nvPicPr>
          <p:cNvPr id="6" name="Picture 5">
            <a:extLst>
              <a:ext uri="{FF2B5EF4-FFF2-40B4-BE49-F238E27FC236}">
                <a16:creationId xmlns="" xmlns:a16="http://schemas.microsoft.com/office/drawing/2014/main" id="{FA43899D-08E8-44A2-ADB1-30FFF0F099A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65485" y="235453"/>
            <a:ext cx="1581591" cy="878662"/>
          </a:xfrm>
          <a:prstGeom prst="rect">
            <a:avLst/>
          </a:prstGeom>
        </p:spPr>
      </p:pic>
      <p:sp>
        <p:nvSpPr>
          <p:cNvPr id="7" name="TextBox 6">
            <a:extLst>
              <a:ext uri="{FF2B5EF4-FFF2-40B4-BE49-F238E27FC236}">
                <a16:creationId xmlns="" xmlns:a16="http://schemas.microsoft.com/office/drawing/2014/main" id="{52DE6456-D739-4E1F-8DA1-5FAE5B3DFF86}"/>
              </a:ext>
            </a:extLst>
          </p:cNvPr>
          <p:cNvSpPr txBox="1"/>
          <p:nvPr/>
        </p:nvSpPr>
        <p:spPr>
          <a:xfrm>
            <a:off x="0" y="33090"/>
            <a:ext cx="3883741" cy="215444"/>
          </a:xfrm>
          <a:prstGeom prst="rect">
            <a:avLst/>
          </a:prstGeom>
          <a:noFill/>
        </p:spPr>
        <p:txBody>
          <a:bodyPr wrap="square" rtlCol="0">
            <a:spAutoFit/>
          </a:bodyPr>
          <a:lstStyle/>
          <a:p>
            <a:r>
              <a:rPr lang="en-IN" sz="800" dirty="0">
                <a:latin typeface="Times New Roman" panose="02020603050405020304" pitchFamily="18" charset="0"/>
                <a:ea typeface="Tahoma" panose="020B0604030504040204" pitchFamily="34" charset="0"/>
                <a:cs typeface="Times New Roman" panose="02020603050405020304" pitchFamily="18" charset="0"/>
              </a:rPr>
              <a:t>A Hybrid Neural Network for EEG-based Depression Screening </a:t>
            </a:r>
            <a:r>
              <a:rPr lang="en-IN" sz="800">
                <a:latin typeface="Times New Roman" panose="02020603050405020304" pitchFamily="18" charset="0"/>
                <a:ea typeface="Tahoma" panose="020B0604030504040204" pitchFamily="34" charset="0"/>
                <a:cs typeface="Times New Roman" panose="02020603050405020304" pitchFamily="18" charset="0"/>
              </a:rPr>
              <a:t>Using CNN +LSTM</a:t>
            </a:r>
            <a:endParaRPr lang="en-IN" sz="8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 xmlns:a16="http://schemas.microsoft.com/office/drawing/2014/main" id="{D2C67360-7FDE-48DE-9098-507480140E70}"/>
              </a:ext>
            </a:extLst>
          </p:cNvPr>
          <p:cNvSpPr txBox="1"/>
          <p:nvPr/>
        </p:nvSpPr>
        <p:spPr>
          <a:xfrm>
            <a:off x="569167" y="503853"/>
            <a:ext cx="9396318" cy="523220"/>
          </a:xfrm>
          <a:prstGeom prst="rect">
            <a:avLst/>
          </a:prstGeom>
          <a:noFill/>
        </p:spPr>
        <p:txBody>
          <a:bodyPr wrap="square" rtlCol="0">
            <a:spAutoFit/>
          </a:bodyPr>
          <a:lstStyle/>
          <a:p>
            <a:pPr algn="ctr"/>
            <a:endParaRPr lang="en-IN" sz="2800" dirty="0">
              <a:effectLst/>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 xmlns:a16="http://schemas.microsoft.com/office/drawing/2014/main" id="{37D0C453-30F7-4F11-B956-4FA438CAA526}"/>
              </a:ext>
            </a:extLst>
          </p:cNvPr>
          <p:cNvSpPr txBox="1"/>
          <p:nvPr/>
        </p:nvSpPr>
        <p:spPr>
          <a:xfrm>
            <a:off x="0" y="289249"/>
            <a:ext cx="9900458" cy="523220"/>
          </a:xfrm>
          <a:prstGeom prst="rect">
            <a:avLst/>
          </a:prstGeom>
          <a:noFill/>
        </p:spPr>
        <p:txBody>
          <a:bodyPr wrap="square">
            <a:spAutoFit/>
          </a:bodyPr>
          <a:lstStyle/>
          <a:p>
            <a:pPr algn="ctr"/>
            <a:r>
              <a:rPr lang="en-IN" sz="2800" b="1" dirty="0">
                <a:latin typeface="Times New Roman" panose="02020603050405020304" pitchFamily="18" charset="0"/>
                <a:cs typeface="Times New Roman" panose="02020603050405020304" pitchFamily="18" charset="0"/>
              </a:rPr>
              <a:t>IMPLEMENTATION</a:t>
            </a:r>
          </a:p>
        </p:txBody>
      </p:sp>
      <p:sp>
        <p:nvSpPr>
          <p:cNvPr id="11" name="TextBox 10">
            <a:extLst>
              <a:ext uri="{FF2B5EF4-FFF2-40B4-BE49-F238E27FC236}">
                <a16:creationId xmlns="" xmlns:a16="http://schemas.microsoft.com/office/drawing/2014/main" id="{1E9AA5EE-4981-4B96-B1CE-D0CDEE0898DF}"/>
              </a:ext>
            </a:extLst>
          </p:cNvPr>
          <p:cNvSpPr txBox="1"/>
          <p:nvPr/>
        </p:nvSpPr>
        <p:spPr>
          <a:xfrm>
            <a:off x="858415" y="946489"/>
            <a:ext cx="10002417" cy="5028556"/>
          </a:xfrm>
          <a:prstGeom prst="rect">
            <a:avLst/>
          </a:prstGeom>
          <a:noFill/>
        </p:spPr>
        <p:txBody>
          <a:bodyPr wrap="square">
            <a:spAutoFit/>
          </a:bodyPr>
          <a:lstStyle/>
          <a:p>
            <a:pPr lvl="0" algn="just">
              <a:lnSpc>
                <a:spcPct val="150000"/>
              </a:lnSpc>
            </a:pPr>
            <a:r>
              <a:rPr lang="en-IN" sz="2000" b="1" dirty="0">
                <a:latin typeface="Times New Roman" panose="02020603050405020304" pitchFamily="18" charset="0"/>
                <a:cs typeface="Times New Roman" panose="02020603050405020304" pitchFamily="18" charset="0"/>
              </a:rPr>
              <a:t>CNN ALGORITHM:</a:t>
            </a:r>
          </a:p>
          <a:p>
            <a:pPr marL="285750" lvl="0" indent="-285750" algn="just">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Input Layer:</a:t>
            </a:r>
            <a:r>
              <a:rPr lang="en-IN" dirty="0">
                <a:latin typeface="Times New Roman" panose="02020603050405020304" pitchFamily="18" charset="0"/>
                <a:cs typeface="Times New Roman" panose="02020603050405020304" pitchFamily="18" charset="0"/>
              </a:rPr>
              <a:t> Receives EEG windows of shape </a:t>
            </a:r>
            <a:r>
              <a:rPr lang="en-IN" b="1" dirty="0">
                <a:latin typeface="Times New Roman" panose="02020603050405020304" pitchFamily="18" charset="0"/>
                <a:cs typeface="Times New Roman" panose="02020603050405020304" pitchFamily="18" charset="0"/>
              </a:rPr>
              <a:t>(19 × 256)</a:t>
            </a:r>
            <a:r>
              <a:rPr lang="en-IN" dirty="0">
                <a:latin typeface="Times New Roman" panose="02020603050405020304" pitchFamily="18" charset="0"/>
                <a:cs typeface="Times New Roman" panose="02020603050405020304" pitchFamily="18" charset="0"/>
              </a:rPr>
              <a:t>.</a:t>
            </a:r>
          </a:p>
          <a:p>
            <a:pPr marL="285750" lvl="0" indent="-285750" algn="just">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Conv1D Layer:</a:t>
            </a:r>
            <a:endParaRPr lang="en-IN" dirty="0">
              <a:latin typeface="Times New Roman" panose="02020603050405020304" pitchFamily="18" charset="0"/>
              <a:cs typeface="Times New Roman" panose="02020603050405020304" pitchFamily="18" charset="0"/>
            </a:endParaRPr>
          </a:p>
          <a:p>
            <a:pPr lvl="1" algn="just">
              <a:lnSpc>
                <a:spcPct val="150000"/>
              </a:lnSpc>
            </a:pPr>
            <a:r>
              <a:rPr lang="en-IN" b="1" dirty="0">
                <a:latin typeface="Times New Roman" panose="02020603050405020304" pitchFamily="18" charset="0"/>
                <a:cs typeface="Times New Roman" panose="02020603050405020304" pitchFamily="18" charset="0"/>
              </a:rPr>
              <a:t>Filters:</a:t>
            </a:r>
            <a:r>
              <a:rPr lang="en-IN" dirty="0">
                <a:latin typeface="Times New Roman" panose="02020603050405020304" pitchFamily="18" charset="0"/>
                <a:cs typeface="Times New Roman" panose="02020603050405020304" pitchFamily="18" charset="0"/>
              </a:rPr>
              <a:t> 64 filters with a kernel size of 5.</a:t>
            </a:r>
          </a:p>
          <a:p>
            <a:pPr lvl="1" algn="just">
              <a:lnSpc>
                <a:spcPct val="150000"/>
              </a:lnSpc>
            </a:pPr>
            <a:r>
              <a:rPr lang="en-IN" b="1" dirty="0">
                <a:latin typeface="Times New Roman" panose="02020603050405020304" pitchFamily="18" charset="0"/>
                <a:cs typeface="Times New Roman" panose="02020603050405020304" pitchFamily="18" charset="0"/>
              </a:rPr>
              <a:t>Sliding Window:</a:t>
            </a:r>
            <a:r>
              <a:rPr lang="en-IN" dirty="0">
                <a:latin typeface="Times New Roman" panose="02020603050405020304" pitchFamily="18" charset="0"/>
                <a:cs typeface="Times New Roman" panose="02020603050405020304" pitchFamily="18" charset="0"/>
              </a:rPr>
              <a:t> Each filter slides along the time dimension, simultaneously examining all 19 channels.</a:t>
            </a:r>
          </a:p>
          <a:p>
            <a:pPr lvl="1" algn="just">
              <a:lnSpc>
                <a:spcPct val="150000"/>
              </a:lnSpc>
            </a:pPr>
            <a:r>
              <a:rPr lang="en-IN" b="1" dirty="0">
                <a:latin typeface="Times New Roman" panose="02020603050405020304" pitchFamily="18" charset="0"/>
                <a:cs typeface="Times New Roman" panose="02020603050405020304" pitchFamily="18" charset="0"/>
              </a:rPr>
              <a:t>Spatial Feature Learning:</a:t>
            </a:r>
            <a:r>
              <a:rPr lang="en-IN" dirty="0">
                <a:latin typeface="Times New Roman" panose="02020603050405020304" pitchFamily="18" charset="0"/>
                <a:cs typeface="Times New Roman" panose="02020603050405020304" pitchFamily="18" charset="0"/>
              </a:rPr>
              <a:t> Filters capture diverse spatial patterns, including low/high-frequency waves, eye-blink artifacts, and frontal alpha asymmetry.</a:t>
            </a:r>
          </a:p>
          <a:p>
            <a:pPr marL="285750" lvl="0" indent="-285750" algn="just">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Activation (ReLU):</a:t>
            </a:r>
            <a:r>
              <a:rPr lang="en-IN" dirty="0">
                <a:latin typeface="Times New Roman" panose="02020603050405020304" pitchFamily="18" charset="0"/>
                <a:cs typeface="Times New Roman" panose="02020603050405020304" pitchFamily="18" charset="0"/>
              </a:rPr>
              <a:t> Rectified Linear Unit sets negative values to zero, preserving key activations and reducing noise.</a:t>
            </a:r>
            <a:endParaRPr lang="en-IN" b="1"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lnSpc>
                <a:spcPct val="150000"/>
              </a:lnSpc>
              <a:spcAft>
                <a:spcPts val="1000"/>
              </a:spcAft>
              <a:buSzPts val="1000"/>
              <a:buFont typeface="Symbol" panose="05050102010706020507" pitchFamily="18" charset="2"/>
              <a:buChar char=""/>
              <a:tabLst>
                <a:tab pos="457200" algn="l"/>
              </a:tabLst>
            </a:pPr>
            <a:r>
              <a:rPr lang="en-IN" b="1" dirty="0">
                <a:effectLst/>
                <a:latin typeface="Times New Roman" panose="02020603050405020304" pitchFamily="18" charset="0"/>
                <a:ea typeface="Times New Roman" panose="02020603050405020304" pitchFamily="18" charset="0"/>
                <a:cs typeface="Times New Roman" panose="02020603050405020304" pitchFamily="18" charset="0"/>
              </a:rPr>
              <a:t>Output Feature Map:</a:t>
            </a:r>
            <a:r>
              <a:rPr lang="en-IN" dirty="0">
                <a:effectLst/>
                <a:latin typeface="Times New Roman" panose="02020603050405020304" pitchFamily="18" charset="0"/>
                <a:ea typeface="Times New Roman" panose="02020603050405020304" pitchFamily="18" charset="0"/>
                <a:cs typeface="Times New Roman" panose="02020603050405020304" pitchFamily="18" charset="0"/>
              </a:rPr>
              <a:t> Produces a high-level spatial representation, e.g., </a:t>
            </a:r>
            <a:r>
              <a:rPr lang="en-IN" b="1" dirty="0">
                <a:effectLst/>
                <a:latin typeface="Times New Roman" panose="02020603050405020304" pitchFamily="18" charset="0"/>
                <a:ea typeface="Times New Roman" panose="02020603050405020304" pitchFamily="18" charset="0"/>
                <a:cs typeface="Times New Roman" panose="02020603050405020304" pitchFamily="18" charset="0"/>
              </a:rPr>
              <a:t>(64 filters × 252 time steps)</a:t>
            </a:r>
            <a:r>
              <a:rPr lang="en-IN" dirty="0">
                <a:effectLst/>
                <a:latin typeface="Times New Roman" panose="02020603050405020304" pitchFamily="18" charset="0"/>
                <a:ea typeface="Times New Roman" panose="02020603050405020304" pitchFamily="18" charset="0"/>
                <a:cs typeface="Times New Roman" panose="02020603050405020304" pitchFamily="18" charset="0"/>
              </a:rPr>
              <a:t>, which is then passed to LSTM layers for temporal </a:t>
            </a:r>
            <a:r>
              <a:rPr lang="en-IN" dirty="0" err="1">
                <a:effectLst/>
                <a:latin typeface="Times New Roman" panose="02020603050405020304" pitchFamily="18" charset="0"/>
                <a:ea typeface="Times New Roman" panose="02020603050405020304" pitchFamily="18" charset="0"/>
                <a:cs typeface="Times New Roman" panose="02020603050405020304" pitchFamily="18" charset="0"/>
              </a:rPr>
              <a:t>modeling</a:t>
            </a:r>
            <a:r>
              <a:rPr lang="en-IN"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IN"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451048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7">
            <a:extLst>
              <a:ext uri="{FF2B5EF4-FFF2-40B4-BE49-F238E27FC236}">
                <a16:creationId xmlns="" xmlns:a16="http://schemas.microsoft.com/office/drawing/2014/main" id="{B33AFFD4-7292-4A8C-8A17-1A7CC0EFD172}"/>
              </a:ext>
            </a:extLst>
          </p:cNvPr>
          <p:cNvSpPr>
            <a:spLocks noGrp="1"/>
          </p:cNvSpPr>
          <p:nvPr>
            <p:ph type="ftr" sz="quarter" idx="11"/>
          </p:nvPr>
        </p:nvSpPr>
        <p:spPr>
          <a:xfrm>
            <a:off x="3686185" y="6459785"/>
            <a:ext cx="4822804" cy="365125"/>
          </a:xfrm>
        </p:spPr>
        <p:txBody>
          <a:bodyPr/>
          <a:lstStyle/>
          <a:p>
            <a:r>
              <a:rPr lang="en-IN" dirty="0"/>
              <a:t>2025-26</a:t>
            </a:r>
          </a:p>
        </p:txBody>
      </p:sp>
      <p:sp>
        <p:nvSpPr>
          <p:cNvPr id="4" name="Slide Number Placeholder 8">
            <a:extLst>
              <a:ext uri="{FF2B5EF4-FFF2-40B4-BE49-F238E27FC236}">
                <a16:creationId xmlns="" xmlns:a16="http://schemas.microsoft.com/office/drawing/2014/main" id="{C2BB9153-A7A0-4504-AC5F-56790DAEB5CD}"/>
              </a:ext>
            </a:extLst>
          </p:cNvPr>
          <p:cNvSpPr>
            <a:spLocks noGrp="1"/>
          </p:cNvSpPr>
          <p:nvPr>
            <p:ph type="sldNum" sz="quarter" idx="12"/>
          </p:nvPr>
        </p:nvSpPr>
        <p:spPr>
          <a:xfrm>
            <a:off x="9900458" y="6459785"/>
            <a:ext cx="1312025" cy="365125"/>
          </a:xfrm>
        </p:spPr>
        <p:txBody>
          <a:bodyPr/>
          <a:lstStyle/>
          <a:p>
            <a:fld id="{69FBB93A-4B32-4007-AACF-5243CED557C7}" type="slidenum">
              <a:rPr lang="en-IN" smtClean="0"/>
              <a:t>15</a:t>
            </a:fld>
            <a:endParaRPr lang="en-IN"/>
          </a:p>
        </p:txBody>
      </p:sp>
      <p:sp>
        <p:nvSpPr>
          <p:cNvPr id="5" name="Date Placeholder 9">
            <a:extLst>
              <a:ext uri="{FF2B5EF4-FFF2-40B4-BE49-F238E27FC236}">
                <a16:creationId xmlns="" xmlns:a16="http://schemas.microsoft.com/office/drawing/2014/main" id="{E2AF6416-E065-4DA5-B156-B7F578D2AF40}"/>
              </a:ext>
            </a:extLst>
          </p:cNvPr>
          <p:cNvSpPr>
            <a:spLocks noGrp="1"/>
          </p:cNvSpPr>
          <p:nvPr>
            <p:ph type="dt" sz="half" idx="10"/>
          </p:nvPr>
        </p:nvSpPr>
        <p:spPr>
          <a:xfrm>
            <a:off x="1097280" y="6459785"/>
            <a:ext cx="2472271" cy="365125"/>
          </a:xfrm>
        </p:spPr>
        <p:txBody>
          <a:bodyPr/>
          <a:lstStyle/>
          <a:p>
            <a:r>
              <a:rPr lang="en-US"/>
              <a:t>Dept of AI&amp;DS, SJCIT</a:t>
            </a:r>
            <a:endParaRPr lang="en-IN"/>
          </a:p>
        </p:txBody>
      </p:sp>
      <p:pic>
        <p:nvPicPr>
          <p:cNvPr id="6" name="Picture 5">
            <a:extLst>
              <a:ext uri="{FF2B5EF4-FFF2-40B4-BE49-F238E27FC236}">
                <a16:creationId xmlns="" xmlns:a16="http://schemas.microsoft.com/office/drawing/2014/main" id="{FA43899D-08E8-44A2-ADB1-30FFF0F099A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65485" y="235453"/>
            <a:ext cx="1581591" cy="878662"/>
          </a:xfrm>
          <a:prstGeom prst="rect">
            <a:avLst/>
          </a:prstGeom>
        </p:spPr>
      </p:pic>
      <p:sp>
        <p:nvSpPr>
          <p:cNvPr id="7" name="TextBox 6">
            <a:extLst>
              <a:ext uri="{FF2B5EF4-FFF2-40B4-BE49-F238E27FC236}">
                <a16:creationId xmlns="" xmlns:a16="http://schemas.microsoft.com/office/drawing/2014/main" id="{52DE6456-D739-4E1F-8DA1-5FAE5B3DFF86}"/>
              </a:ext>
            </a:extLst>
          </p:cNvPr>
          <p:cNvSpPr txBox="1"/>
          <p:nvPr/>
        </p:nvSpPr>
        <p:spPr>
          <a:xfrm>
            <a:off x="0" y="33090"/>
            <a:ext cx="3883741" cy="215444"/>
          </a:xfrm>
          <a:prstGeom prst="rect">
            <a:avLst/>
          </a:prstGeom>
          <a:noFill/>
        </p:spPr>
        <p:txBody>
          <a:bodyPr wrap="square" rtlCol="0">
            <a:spAutoFit/>
          </a:bodyPr>
          <a:lstStyle/>
          <a:p>
            <a:r>
              <a:rPr lang="en-IN" sz="800" dirty="0">
                <a:latin typeface="Times New Roman" panose="02020603050405020304" pitchFamily="18" charset="0"/>
                <a:ea typeface="Tahoma" panose="020B0604030504040204" pitchFamily="34" charset="0"/>
                <a:cs typeface="Times New Roman" panose="02020603050405020304" pitchFamily="18" charset="0"/>
              </a:rPr>
              <a:t>A Hybrid Neural Network for EEG-based Depression Screening </a:t>
            </a:r>
            <a:r>
              <a:rPr lang="en-IN" sz="800">
                <a:latin typeface="Times New Roman" panose="02020603050405020304" pitchFamily="18" charset="0"/>
                <a:ea typeface="Tahoma" panose="020B0604030504040204" pitchFamily="34" charset="0"/>
                <a:cs typeface="Times New Roman" panose="02020603050405020304" pitchFamily="18" charset="0"/>
              </a:rPr>
              <a:t>Using CNN +LSTM</a:t>
            </a:r>
            <a:endParaRPr lang="en-IN" sz="8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 xmlns:a16="http://schemas.microsoft.com/office/drawing/2014/main" id="{D2C67360-7FDE-48DE-9098-507480140E70}"/>
              </a:ext>
            </a:extLst>
          </p:cNvPr>
          <p:cNvSpPr txBox="1"/>
          <p:nvPr/>
        </p:nvSpPr>
        <p:spPr>
          <a:xfrm>
            <a:off x="569167" y="503853"/>
            <a:ext cx="9396318" cy="523220"/>
          </a:xfrm>
          <a:prstGeom prst="rect">
            <a:avLst/>
          </a:prstGeom>
          <a:noFill/>
        </p:spPr>
        <p:txBody>
          <a:bodyPr wrap="square" rtlCol="0">
            <a:spAutoFit/>
          </a:bodyPr>
          <a:lstStyle/>
          <a:p>
            <a:pPr algn="ctr"/>
            <a:endParaRPr lang="en-IN" sz="2800" dirty="0">
              <a:effectLst/>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 xmlns:a16="http://schemas.microsoft.com/office/drawing/2014/main" id="{1238B9E7-C15D-47AD-B10F-58865E48D4E9}"/>
              </a:ext>
            </a:extLst>
          </p:cNvPr>
          <p:cNvSpPr txBox="1"/>
          <p:nvPr/>
        </p:nvSpPr>
        <p:spPr>
          <a:xfrm>
            <a:off x="111967" y="416812"/>
            <a:ext cx="9853518" cy="490199"/>
          </a:xfrm>
          <a:prstGeom prst="rect">
            <a:avLst/>
          </a:prstGeom>
          <a:noFill/>
        </p:spPr>
        <p:txBody>
          <a:bodyPr wrap="square">
            <a:spAutoFit/>
          </a:bodyPr>
          <a:lstStyle/>
          <a:p>
            <a:pPr marL="457200">
              <a:lnSpc>
                <a:spcPct val="115000"/>
              </a:lnSpc>
              <a:spcAft>
                <a:spcPts val="1000"/>
              </a:spcAft>
              <a:buNone/>
            </a:pPr>
            <a:r>
              <a:rPr lang="en-IN" sz="2400" b="1" dirty="0">
                <a:effectLst/>
                <a:latin typeface="Times New Roman" panose="02020603050405020304" pitchFamily="18" charset="0"/>
                <a:ea typeface="Times New Roman" panose="02020603050405020304" pitchFamily="18" charset="0"/>
                <a:cs typeface="Times New Roman" panose="02020603050405020304" pitchFamily="18" charset="0"/>
              </a:rPr>
              <a:t>CNN IMPLEMENTATION SNIPPET:</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0" name="TextBox 9">
            <a:extLst>
              <a:ext uri="{FF2B5EF4-FFF2-40B4-BE49-F238E27FC236}">
                <a16:creationId xmlns="" xmlns:a16="http://schemas.microsoft.com/office/drawing/2014/main" id="{04CA32D5-0087-441A-95CC-67BE76634791}"/>
              </a:ext>
            </a:extLst>
          </p:cNvPr>
          <p:cNvSpPr txBox="1"/>
          <p:nvPr/>
        </p:nvSpPr>
        <p:spPr>
          <a:xfrm>
            <a:off x="765110" y="1295474"/>
            <a:ext cx="10179698" cy="3016210"/>
          </a:xfrm>
          <a:prstGeom prst="rect">
            <a:avLst/>
          </a:prstGeom>
          <a:noFill/>
        </p:spPr>
        <p:txBody>
          <a:bodyPr wrap="square" rtlCol="0">
            <a:spAutoFit/>
          </a:bodyPr>
          <a:lstStyle/>
          <a:p>
            <a:pPr marL="914400" algn="just">
              <a:spcAft>
                <a:spcPts val="1000"/>
              </a:spcAft>
              <a:buNone/>
            </a:pPr>
            <a:r>
              <a:rPr lang="en-IN" sz="2000">
                <a:latin typeface="Times New Roman" panose="02020603050405020304" pitchFamily="18" charset="0"/>
                <a:ea typeface="Calibri" panose="020F0502020204030204" pitchFamily="34" charset="0"/>
                <a:cs typeface="Times New Roman" panose="02020603050405020304" pitchFamily="18" charset="0"/>
              </a:rPr>
              <a:t>from tensorflow.keras.models import Sequential</a:t>
            </a:r>
          </a:p>
          <a:p>
            <a:pPr marL="914400" algn="just">
              <a:spcAft>
                <a:spcPts val="1000"/>
              </a:spcAft>
              <a:buNone/>
            </a:pPr>
            <a:r>
              <a:rPr lang="en-IN" sz="2000">
                <a:latin typeface="Times New Roman" panose="02020603050405020304" pitchFamily="18" charset="0"/>
                <a:ea typeface="Calibri" panose="020F0502020204030204" pitchFamily="34" charset="0"/>
                <a:cs typeface="Times New Roman" panose="02020603050405020304" pitchFamily="18" charset="0"/>
              </a:rPr>
              <a:t>from tensorflow.keras.layers import Conv1D, ReLU</a:t>
            </a:r>
          </a:p>
          <a:p>
            <a:pPr marL="914400" algn="just">
              <a:spcAft>
                <a:spcPts val="1000"/>
              </a:spcAft>
              <a:buNone/>
            </a:pPr>
            <a:r>
              <a:rPr lang="en-IN" sz="2000">
                <a:latin typeface="Times New Roman" panose="02020603050405020304" pitchFamily="18" charset="0"/>
                <a:ea typeface="Calibri" panose="020F0502020204030204" pitchFamily="34" charset="0"/>
                <a:cs typeface="Times New Roman" panose="02020603050405020304" pitchFamily="18" charset="0"/>
              </a:rPr>
              <a:t>model = Sequential()</a:t>
            </a:r>
          </a:p>
          <a:p>
            <a:pPr marL="914400" algn="just">
              <a:spcAft>
                <a:spcPts val="1000"/>
              </a:spcAft>
              <a:buNone/>
            </a:pPr>
            <a:r>
              <a:rPr lang="en-IN" sz="2000">
                <a:latin typeface="Times New Roman" panose="02020603050405020304" pitchFamily="18" charset="0"/>
                <a:ea typeface="Calibri" panose="020F0502020204030204" pitchFamily="34" charset="0"/>
                <a:cs typeface="Times New Roman" panose="02020603050405020304" pitchFamily="18" charset="0"/>
              </a:rPr>
              <a:t># Input: (256 time steps, 19 channels)</a:t>
            </a:r>
          </a:p>
          <a:p>
            <a:pPr marL="914400" algn="just">
              <a:spcAft>
                <a:spcPts val="1000"/>
              </a:spcAft>
              <a:buNone/>
            </a:pPr>
            <a:r>
              <a:rPr lang="en-IN" sz="2000">
                <a:latin typeface="Times New Roman" panose="02020603050405020304" pitchFamily="18" charset="0"/>
                <a:ea typeface="Calibri" panose="020F0502020204030204" pitchFamily="34" charset="0"/>
                <a:cs typeface="Times New Roman" panose="02020603050405020304" pitchFamily="18" charset="0"/>
              </a:rPr>
              <a:t>model.add(Conv1D(filters=64, kernel_size=5, input_shape=(256, 19)))</a:t>
            </a:r>
          </a:p>
          <a:p>
            <a:pPr marL="914400" algn="just">
              <a:spcAft>
                <a:spcPts val="1000"/>
              </a:spcAft>
              <a:buNone/>
            </a:pPr>
            <a:r>
              <a:rPr lang="en-IN" sz="2000">
                <a:latin typeface="Times New Roman" panose="02020603050405020304" pitchFamily="18" charset="0"/>
                <a:ea typeface="Calibri" panose="020F0502020204030204" pitchFamily="34" charset="0"/>
                <a:cs typeface="Times New Roman" panose="02020603050405020304" pitchFamily="18" charset="0"/>
              </a:rPr>
              <a:t>model.add(ReLU())</a:t>
            </a:r>
          </a:p>
          <a:p>
            <a:pPr marL="914400" algn="just">
              <a:spcAft>
                <a:spcPts val="1000"/>
              </a:spcAft>
              <a:buNone/>
            </a:pPr>
            <a:r>
              <a:rPr lang="en-IN" sz="2000">
                <a:latin typeface="Times New Roman" panose="02020603050405020304" pitchFamily="18" charset="0"/>
                <a:ea typeface="Calibri" panose="020F0502020204030204" pitchFamily="34" charset="0"/>
                <a:cs typeface="Times New Roman" panose="02020603050405020304" pitchFamily="18" charset="0"/>
              </a:rPr>
              <a:t># Output: feature map of shape (252, 64)</a:t>
            </a:r>
            <a:endParaRPr lang="en-IN" sz="2000" dirty="0"/>
          </a:p>
        </p:txBody>
      </p:sp>
    </p:spTree>
    <p:extLst>
      <p:ext uri="{BB962C8B-B14F-4D97-AF65-F5344CB8AC3E}">
        <p14:creationId xmlns:p14="http://schemas.microsoft.com/office/powerpoint/2010/main" val="21094734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7">
            <a:extLst>
              <a:ext uri="{FF2B5EF4-FFF2-40B4-BE49-F238E27FC236}">
                <a16:creationId xmlns="" xmlns:a16="http://schemas.microsoft.com/office/drawing/2014/main" id="{B33AFFD4-7292-4A8C-8A17-1A7CC0EFD172}"/>
              </a:ext>
            </a:extLst>
          </p:cNvPr>
          <p:cNvSpPr>
            <a:spLocks noGrp="1"/>
          </p:cNvSpPr>
          <p:nvPr>
            <p:ph type="ftr" sz="quarter" idx="11"/>
          </p:nvPr>
        </p:nvSpPr>
        <p:spPr>
          <a:xfrm>
            <a:off x="3686185" y="6459785"/>
            <a:ext cx="4822804" cy="365125"/>
          </a:xfrm>
        </p:spPr>
        <p:txBody>
          <a:bodyPr/>
          <a:lstStyle/>
          <a:p>
            <a:r>
              <a:rPr lang="en-IN" dirty="0"/>
              <a:t>2025-26</a:t>
            </a:r>
          </a:p>
        </p:txBody>
      </p:sp>
      <p:sp>
        <p:nvSpPr>
          <p:cNvPr id="4" name="Slide Number Placeholder 8">
            <a:extLst>
              <a:ext uri="{FF2B5EF4-FFF2-40B4-BE49-F238E27FC236}">
                <a16:creationId xmlns="" xmlns:a16="http://schemas.microsoft.com/office/drawing/2014/main" id="{C2BB9153-A7A0-4504-AC5F-56790DAEB5CD}"/>
              </a:ext>
            </a:extLst>
          </p:cNvPr>
          <p:cNvSpPr>
            <a:spLocks noGrp="1"/>
          </p:cNvSpPr>
          <p:nvPr>
            <p:ph type="sldNum" sz="quarter" idx="12"/>
          </p:nvPr>
        </p:nvSpPr>
        <p:spPr>
          <a:xfrm>
            <a:off x="9900458" y="6459785"/>
            <a:ext cx="1312025" cy="365125"/>
          </a:xfrm>
        </p:spPr>
        <p:txBody>
          <a:bodyPr/>
          <a:lstStyle/>
          <a:p>
            <a:fld id="{69FBB93A-4B32-4007-AACF-5243CED557C7}" type="slidenum">
              <a:rPr lang="en-IN" smtClean="0"/>
              <a:t>16</a:t>
            </a:fld>
            <a:endParaRPr lang="en-IN"/>
          </a:p>
        </p:txBody>
      </p:sp>
      <p:sp>
        <p:nvSpPr>
          <p:cNvPr id="5" name="Date Placeholder 9">
            <a:extLst>
              <a:ext uri="{FF2B5EF4-FFF2-40B4-BE49-F238E27FC236}">
                <a16:creationId xmlns="" xmlns:a16="http://schemas.microsoft.com/office/drawing/2014/main" id="{E2AF6416-E065-4DA5-B156-B7F578D2AF40}"/>
              </a:ext>
            </a:extLst>
          </p:cNvPr>
          <p:cNvSpPr>
            <a:spLocks noGrp="1"/>
          </p:cNvSpPr>
          <p:nvPr>
            <p:ph type="dt" sz="half" idx="10"/>
          </p:nvPr>
        </p:nvSpPr>
        <p:spPr>
          <a:xfrm>
            <a:off x="1097280" y="6459785"/>
            <a:ext cx="2472271" cy="365125"/>
          </a:xfrm>
        </p:spPr>
        <p:txBody>
          <a:bodyPr/>
          <a:lstStyle/>
          <a:p>
            <a:r>
              <a:rPr lang="en-US"/>
              <a:t>Dept of AI&amp;DS, SJCIT</a:t>
            </a:r>
            <a:endParaRPr lang="en-IN"/>
          </a:p>
        </p:txBody>
      </p:sp>
      <p:pic>
        <p:nvPicPr>
          <p:cNvPr id="6" name="Picture 5">
            <a:extLst>
              <a:ext uri="{FF2B5EF4-FFF2-40B4-BE49-F238E27FC236}">
                <a16:creationId xmlns="" xmlns:a16="http://schemas.microsoft.com/office/drawing/2014/main" id="{FA43899D-08E8-44A2-ADB1-30FFF0F099A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65485" y="235453"/>
            <a:ext cx="1581591" cy="878662"/>
          </a:xfrm>
          <a:prstGeom prst="rect">
            <a:avLst/>
          </a:prstGeom>
        </p:spPr>
      </p:pic>
      <p:sp>
        <p:nvSpPr>
          <p:cNvPr id="7" name="TextBox 6">
            <a:extLst>
              <a:ext uri="{FF2B5EF4-FFF2-40B4-BE49-F238E27FC236}">
                <a16:creationId xmlns="" xmlns:a16="http://schemas.microsoft.com/office/drawing/2014/main" id="{52DE6456-D739-4E1F-8DA1-5FAE5B3DFF86}"/>
              </a:ext>
            </a:extLst>
          </p:cNvPr>
          <p:cNvSpPr txBox="1"/>
          <p:nvPr/>
        </p:nvSpPr>
        <p:spPr>
          <a:xfrm>
            <a:off x="0" y="33090"/>
            <a:ext cx="3883741" cy="215444"/>
          </a:xfrm>
          <a:prstGeom prst="rect">
            <a:avLst/>
          </a:prstGeom>
          <a:noFill/>
        </p:spPr>
        <p:txBody>
          <a:bodyPr wrap="square" rtlCol="0">
            <a:spAutoFit/>
          </a:bodyPr>
          <a:lstStyle/>
          <a:p>
            <a:r>
              <a:rPr lang="en-IN" sz="800" dirty="0">
                <a:latin typeface="Times New Roman" panose="02020603050405020304" pitchFamily="18" charset="0"/>
                <a:ea typeface="Tahoma" panose="020B0604030504040204" pitchFamily="34" charset="0"/>
                <a:cs typeface="Times New Roman" panose="02020603050405020304" pitchFamily="18" charset="0"/>
              </a:rPr>
              <a:t>A Hybrid Neural Network for EEG-based Depression Screening </a:t>
            </a:r>
            <a:r>
              <a:rPr lang="en-IN" sz="800">
                <a:latin typeface="Times New Roman" panose="02020603050405020304" pitchFamily="18" charset="0"/>
                <a:ea typeface="Tahoma" panose="020B0604030504040204" pitchFamily="34" charset="0"/>
                <a:cs typeface="Times New Roman" panose="02020603050405020304" pitchFamily="18" charset="0"/>
              </a:rPr>
              <a:t>Using CNN +LSTM</a:t>
            </a:r>
            <a:endParaRPr lang="en-IN" sz="8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 xmlns:a16="http://schemas.microsoft.com/office/drawing/2014/main" id="{D2C67360-7FDE-48DE-9098-507480140E70}"/>
              </a:ext>
            </a:extLst>
          </p:cNvPr>
          <p:cNvSpPr txBox="1"/>
          <p:nvPr/>
        </p:nvSpPr>
        <p:spPr>
          <a:xfrm>
            <a:off x="569167" y="503853"/>
            <a:ext cx="9396318" cy="523220"/>
          </a:xfrm>
          <a:prstGeom prst="rect">
            <a:avLst/>
          </a:prstGeom>
          <a:noFill/>
        </p:spPr>
        <p:txBody>
          <a:bodyPr wrap="square" rtlCol="0">
            <a:spAutoFit/>
          </a:bodyPr>
          <a:lstStyle/>
          <a:p>
            <a:pPr algn="ctr"/>
            <a:endParaRPr lang="en-IN" sz="2800" dirty="0">
              <a:effectLst/>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 xmlns:a16="http://schemas.microsoft.com/office/drawing/2014/main" id="{784A1493-883C-4208-A600-C7F0C8D0C2B3}"/>
              </a:ext>
            </a:extLst>
          </p:cNvPr>
          <p:cNvSpPr txBox="1"/>
          <p:nvPr/>
        </p:nvSpPr>
        <p:spPr>
          <a:xfrm>
            <a:off x="886407" y="653143"/>
            <a:ext cx="9246638" cy="4339650"/>
          </a:xfrm>
          <a:prstGeom prst="rect">
            <a:avLst/>
          </a:prstGeom>
          <a:noFill/>
        </p:spPr>
        <p:txBody>
          <a:bodyPr wrap="square" rtlCol="0">
            <a:spAutoFit/>
          </a:bodyPr>
          <a:lstStyle/>
          <a:p>
            <a:r>
              <a:rPr lang="en-IN" sz="2000" b="1" dirty="0">
                <a:effectLst/>
                <a:latin typeface="Times New Roman" panose="02020603050405020304" pitchFamily="18" charset="0"/>
                <a:ea typeface="Times New Roman" panose="02020603050405020304" pitchFamily="18" charset="0"/>
              </a:rPr>
              <a:t>2. LSTM ALOGRITHM:</a:t>
            </a:r>
          </a:p>
          <a:p>
            <a:endParaRPr lang="en-IN" sz="2000" b="1" dirty="0">
              <a:latin typeface="Times New Roman" panose="02020603050405020304" pitchFamily="18" charset="0"/>
              <a:ea typeface="Times New Roman" panose="02020603050405020304" pitchFamily="18" charset="0"/>
            </a:endParaRPr>
          </a:p>
          <a:p>
            <a:pPr marL="342900" lvl="0" indent="-342900" algn="just">
              <a:lnSpc>
                <a:spcPct val="150000"/>
              </a:lnSpc>
              <a:buSzPts val="1000"/>
              <a:buFont typeface="Symbol" panose="05050102010706020507" pitchFamily="18" charset="2"/>
              <a:buChar char=""/>
              <a:tabLst>
                <a:tab pos="914400" algn="l"/>
              </a:tabLst>
            </a:pPr>
            <a:r>
              <a:rPr lang="en-IN" b="1" dirty="0">
                <a:effectLst/>
                <a:latin typeface="Times New Roman" panose="02020603050405020304" pitchFamily="18" charset="0"/>
                <a:ea typeface="Times New Roman" panose="02020603050405020304" pitchFamily="18" charset="0"/>
                <a:cs typeface="Times New Roman" panose="02020603050405020304" pitchFamily="18" charset="0"/>
              </a:rPr>
              <a:t>Input Layer:</a:t>
            </a:r>
            <a:r>
              <a:rPr lang="en-IN" dirty="0">
                <a:effectLst/>
                <a:latin typeface="Times New Roman" panose="02020603050405020304" pitchFamily="18" charset="0"/>
                <a:ea typeface="Times New Roman" panose="02020603050405020304" pitchFamily="18" charset="0"/>
                <a:cs typeface="Times New Roman" panose="02020603050405020304" pitchFamily="18" charset="0"/>
              </a:rPr>
              <a:t> Receives CNN feature map as a sequence over time.</a:t>
            </a:r>
          </a:p>
          <a:p>
            <a:pPr marL="342900" lvl="0" indent="-342900" algn="just">
              <a:lnSpc>
                <a:spcPct val="150000"/>
              </a:lnSpc>
              <a:buSzPts val="1000"/>
              <a:buFont typeface="Symbol" panose="05050102010706020507" pitchFamily="18" charset="2"/>
              <a:buChar char=""/>
              <a:tabLst>
                <a:tab pos="457200" algn="l"/>
              </a:tabLst>
            </a:pPr>
            <a:r>
              <a:rPr lang="en-IN" b="1" dirty="0">
                <a:effectLst/>
                <a:latin typeface="Times New Roman" panose="02020603050405020304" pitchFamily="18" charset="0"/>
                <a:ea typeface="Times New Roman" panose="02020603050405020304" pitchFamily="18" charset="0"/>
                <a:cs typeface="Times New Roman" panose="02020603050405020304" pitchFamily="18" charset="0"/>
              </a:rPr>
              <a:t>Stacked LSTM Layers:</a:t>
            </a:r>
            <a:endParaRPr lang="en-IN"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742950" lvl="1" indent="-285750" algn="just">
              <a:lnSpc>
                <a:spcPct val="150000"/>
              </a:lnSpc>
              <a:buSzPts val="1000"/>
              <a:buFont typeface="Courier New" panose="02070309020205020404" pitchFamily="49" charset="0"/>
              <a:buChar char="o"/>
              <a:tabLst>
                <a:tab pos="914400" algn="l"/>
              </a:tabLst>
            </a:pPr>
            <a:r>
              <a:rPr lang="en-IN" dirty="0">
                <a:effectLst/>
                <a:latin typeface="Times New Roman" panose="02020603050405020304" pitchFamily="18" charset="0"/>
                <a:ea typeface="Times New Roman" panose="02020603050405020304" pitchFamily="18" charset="0"/>
                <a:cs typeface="Times New Roman" panose="02020603050405020304" pitchFamily="18" charset="0"/>
              </a:rPr>
              <a:t>First Layer: 64 units capturing short- and mid-term temporal dependencies.</a:t>
            </a:r>
          </a:p>
          <a:p>
            <a:pPr marL="742950" lvl="1" indent="-285750" algn="just">
              <a:lnSpc>
                <a:spcPct val="150000"/>
              </a:lnSpc>
              <a:buSzPts val="1000"/>
              <a:buFont typeface="Courier New" panose="02070309020205020404" pitchFamily="49" charset="0"/>
              <a:buChar char="o"/>
              <a:tabLst>
                <a:tab pos="914400" algn="l"/>
              </a:tabLst>
            </a:pPr>
            <a:r>
              <a:rPr lang="en-IN" dirty="0">
                <a:effectLst/>
                <a:latin typeface="Times New Roman" panose="02020603050405020304" pitchFamily="18" charset="0"/>
                <a:ea typeface="Times New Roman" panose="02020603050405020304" pitchFamily="18" charset="0"/>
                <a:cs typeface="Times New Roman" panose="02020603050405020304" pitchFamily="18" charset="0"/>
              </a:rPr>
              <a:t>Second Layer: 32 units for higher-level temporal abstraction.</a:t>
            </a:r>
          </a:p>
          <a:p>
            <a:pPr marL="342900" lvl="0" indent="-342900" algn="just">
              <a:lnSpc>
                <a:spcPct val="150000"/>
              </a:lnSpc>
              <a:buSzPts val="1000"/>
              <a:buFont typeface="Symbol" panose="05050102010706020507" pitchFamily="18" charset="2"/>
              <a:buChar char=""/>
              <a:tabLst>
                <a:tab pos="457200" algn="l"/>
              </a:tabLst>
            </a:pPr>
            <a:r>
              <a:rPr lang="en-IN" b="1" dirty="0">
                <a:effectLst/>
                <a:latin typeface="Times New Roman" panose="02020603050405020304" pitchFamily="18" charset="0"/>
                <a:ea typeface="Times New Roman" panose="02020603050405020304" pitchFamily="18" charset="0"/>
                <a:cs typeface="Times New Roman" panose="02020603050405020304" pitchFamily="18" charset="0"/>
              </a:rPr>
              <a:t>Gating Mechanisms:</a:t>
            </a:r>
            <a:r>
              <a:rPr lang="en-IN" dirty="0">
                <a:effectLst/>
                <a:latin typeface="Times New Roman" panose="02020603050405020304" pitchFamily="18" charset="0"/>
                <a:ea typeface="Times New Roman" panose="02020603050405020304" pitchFamily="18" charset="0"/>
                <a:cs typeface="Times New Roman" panose="02020603050405020304" pitchFamily="18" charset="0"/>
              </a:rPr>
              <a:t> Input, forget, and output gates control memory updates and flow of information.</a:t>
            </a:r>
          </a:p>
          <a:p>
            <a:pPr marL="342900" lvl="0" indent="-342900" algn="just">
              <a:lnSpc>
                <a:spcPct val="150000"/>
              </a:lnSpc>
              <a:buSzPts val="1000"/>
              <a:buFont typeface="Symbol" panose="05050102010706020507" pitchFamily="18" charset="2"/>
              <a:buChar char=""/>
              <a:tabLst>
                <a:tab pos="457200" algn="l"/>
              </a:tabLst>
            </a:pPr>
            <a:r>
              <a:rPr lang="en-IN" b="1" dirty="0">
                <a:effectLst/>
                <a:latin typeface="Times New Roman" panose="02020603050405020304" pitchFamily="18" charset="0"/>
                <a:ea typeface="Times New Roman" panose="02020603050405020304" pitchFamily="18" charset="0"/>
                <a:cs typeface="Times New Roman" panose="02020603050405020304" pitchFamily="18" charset="0"/>
              </a:rPr>
              <a:t>Output:</a:t>
            </a:r>
            <a:r>
              <a:rPr lang="en-IN" dirty="0">
                <a:effectLst/>
                <a:latin typeface="Times New Roman" panose="02020603050405020304" pitchFamily="18" charset="0"/>
                <a:ea typeface="Times New Roman" panose="02020603050405020304" pitchFamily="18" charset="0"/>
                <a:cs typeface="Times New Roman" panose="02020603050405020304" pitchFamily="18" charset="0"/>
              </a:rPr>
              <a:t> Final hidden state encodes temporal EEG patterns, passed to dense layers for classification</a:t>
            </a:r>
            <a:r>
              <a:rPr lang="en-IN" sz="1200" dirty="0">
                <a:effectLst/>
                <a:latin typeface="Times New Roman" panose="02020603050405020304" pitchFamily="18" charset="0"/>
                <a:ea typeface="Times New Roman" panose="02020603050405020304" pitchFamily="18" charset="0"/>
              </a:rPr>
              <a:t>.</a:t>
            </a:r>
          </a:p>
          <a:p>
            <a:endParaRPr lang="en-IN" sz="2000" b="1"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4211958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7">
            <a:extLst>
              <a:ext uri="{FF2B5EF4-FFF2-40B4-BE49-F238E27FC236}">
                <a16:creationId xmlns="" xmlns:a16="http://schemas.microsoft.com/office/drawing/2014/main" id="{B33AFFD4-7292-4A8C-8A17-1A7CC0EFD172}"/>
              </a:ext>
            </a:extLst>
          </p:cNvPr>
          <p:cNvSpPr>
            <a:spLocks noGrp="1"/>
          </p:cNvSpPr>
          <p:nvPr>
            <p:ph type="ftr" sz="quarter" idx="11"/>
          </p:nvPr>
        </p:nvSpPr>
        <p:spPr>
          <a:xfrm>
            <a:off x="3686185" y="6459785"/>
            <a:ext cx="4822804" cy="365125"/>
          </a:xfrm>
        </p:spPr>
        <p:txBody>
          <a:bodyPr/>
          <a:lstStyle/>
          <a:p>
            <a:r>
              <a:rPr lang="en-IN" dirty="0"/>
              <a:t>2025-26</a:t>
            </a:r>
          </a:p>
        </p:txBody>
      </p:sp>
      <p:sp>
        <p:nvSpPr>
          <p:cNvPr id="4" name="Slide Number Placeholder 8">
            <a:extLst>
              <a:ext uri="{FF2B5EF4-FFF2-40B4-BE49-F238E27FC236}">
                <a16:creationId xmlns="" xmlns:a16="http://schemas.microsoft.com/office/drawing/2014/main" id="{C2BB9153-A7A0-4504-AC5F-56790DAEB5CD}"/>
              </a:ext>
            </a:extLst>
          </p:cNvPr>
          <p:cNvSpPr>
            <a:spLocks noGrp="1"/>
          </p:cNvSpPr>
          <p:nvPr>
            <p:ph type="sldNum" sz="quarter" idx="12"/>
          </p:nvPr>
        </p:nvSpPr>
        <p:spPr>
          <a:xfrm>
            <a:off x="9900458" y="6459785"/>
            <a:ext cx="1312025" cy="365125"/>
          </a:xfrm>
        </p:spPr>
        <p:txBody>
          <a:bodyPr/>
          <a:lstStyle/>
          <a:p>
            <a:fld id="{69FBB93A-4B32-4007-AACF-5243CED557C7}" type="slidenum">
              <a:rPr lang="en-IN" smtClean="0"/>
              <a:t>17</a:t>
            </a:fld>
            <a:endParaRPr lang="en-IN"/>
          </a:p>
        </p:txBody>
      </p:sp>
      <p:sp>
        <p:nvSpPr>
          <p:cNvPr id="5" name="Date Placeholder 9">
            <a:extLst>
              <a:ext uri="{FF2B5EF4-FFF2-40B4-BE49-F238E27FC236}">
                <a16:creationId xmlns="" xmlns:a16="http://schemas.microsoft.com/office/drawing/2014/main" id="{E2AF6416-E065-4DA5-B156-B7F578D2AF40}"/>
              </a:ext>
            </a:extLst>
          </p:cNvPr>
          <p:cNvSpPr>
            <a:spLocks noGrp="1"/>
          </p:cNvSpPr>
          <p:nvPr>
            <p:ph type="dt" sz="half" idx="10"/>
          </p:nvPr>
        </p:nvSpPr>
        <p:spPr>
          <a:xfrm>
            <a:off x="1097280" y="6459785"/>
            <a:ext cx="2472271" cy="365125"/>
          </a:xfrm>
        </p:spPr>
        <p:txBody>
          <a:bodyPr/>
          <a:lstStyle/>
          <a:p>
            <a:r>
              <a:rPr lang="en-US"/>
              <a:t>Dept of AI&amp;DS, SJCIT</a:t>
            </a:r>
            <a:endParaRPr lang="en-IN"/>
          </a:p>
        </p:txBody>
      </p:sp>
      <p:pic>
        <p:nvPicPr>
          <p:cNvPr id="6" name="Picture 5">
            <a:extLst>
              <a:ext uri="{FF2B5EF4-FFF2-40B4-BE49-F238E27FC236}">
                <a16:creationId xmlns="" xmlns:a16="http://schemas.microsoft.com/office/drawing/2014/main" id="{FA43899D-08E8-44A2-ADB1-30FFF0F099A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65485" y="235453"/>
            <a:ext cx="1581591" cy="878662"/>
          </a:xfrm>
          <a:prstGeom prst="rect">
            <a:avLst/>
          </a:prstGeom>
        </p:spPr>
      </p:pic>
      <p:sp>
        <p:nvSpPr>
          <p:cNvPr id="7" name="TextBox 6">
            <a:extLst>
              <a:ext uri="{FF2B5EF4-FFF2-40B4-BE49-F238E27FC236}">
                <a16:creationId xmlns="" xmlns:a16="http://schemas.microsoft.com/office/drawing/2014/main" id="{52DE6456-D739-4E1F-8DA1-5FAE5B3DFF86}"/>
              </a:ext>
            </a:extLst>
          </p:cNvPr>
          <p:cNvSpPr txBox="1"/>
          <p:nvPr/>
        </p:nvSpPr>
        <p:spPr>
          <a:xfrm>
            <a:off x="0" y="33090"/>
            <a:ext cx="3883741" cy="215444"/>
          </a:xfrm>
          <a:prstGeom prst="rect">
            <a:avLst/>
          </a:prstGeom>
          <a:noFill/>
        </p:spPr>
        <p:txBody>
          <a:bodyPr wrap="square" rtlCol="0">
            <a:spAutoFit/>
          </a:bodyPr>
          <a:lstStyle/>
          <a:p>
            <a:r>
              <a:rPr lang="en-IN" sz="800" dirty="0">
                <a:latin typeface="Times New Roman" panose="02020603050405020304" pitchFamily="18" charset="0"/>
                <a:ea typeface="Tahoma" panose="020B0604030504040204" pitchFamily="34" charset="0"/>
                <a:cs typeface="Times New Roman" panose="02020603050405020304" pitchFamily="18" charset="0"/>
              </a:rPr>
              <a:t>A Hybrid Neural Network for EEG-based Depression Screening </a:t>
            </a:r>
            <a:r>
              <a:rPr lang="en-IN" sz="800">
                <a:latin typeface="Times New Roman" panose="02020603050405020304" pitchFamily="18" charset="0"/>
                <a:ea typeface="Tahoma" panose="020B0604030504040204" pitchFamily="34" charset="0"/>
                <a:cs typeface="Times New Roman" panose="02020603050405020304" pitchFamily="18" charset="0"/>
              </a:rPr>
              <a:t>Using CNN +LSTM</a:t>
            </a:r>
            <a:endParaRPr lang="en-IN" sz="8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 xmlns:a16="http://schemas.microsoft.com/office/drawing/2014/main" id="{D2C67360-7FDE-48DE-9098-507480140E70}"/>
              </a:ext>
            </a:extLst>
          </p:cNvPr>
          <p:cNvSpPr txBox="1"/>
          <p:nvPr/>
        </p:nvSpPr>
        <p:spPr>
          <a:xfrm>
            <a:off x="569167" y="503853"/>
            <a:ext cx="9396318" cy="523220"/>
          </a:xfrm>
          <a:prstGeom prst="rect">
            <a:avLst/>
          </a:prstGeom>
          <a:noFill/>
        </p:spPr>
        <p:txBody>
          <a:bodyPr wrap="square" rtlCol="0">
            <a:spAutoFit/>
          </a:bodyPr>
          <a:lstStyle/>
          <a:p>
            <a:pPr algn="ctr"/>
            <a:endParaRPr lang="en-IN" sz="2800" dirty="0">
              <a:effectLst/>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 xmlns:a16="http://schemas.microsoft.com/office/drawing/2014/main" id="{356F55A8-5FF3-4F2B-8F85-B7B2CC7BB52A}"/>
              </a:ext>
            </a:extLst>
          </p:cNvPr>
          <p:cNvSpPr txBox="1"/>
          <p:nvPr/>
        </p:nvSpPr>
        <p:spPr>
          <a:xfrm>
            <a:off x="74645" y="516933"/>
            <a:ext cx="9825813" cy="646331"/>
          </a:xfrm>
          <a:prstGeom prst="rect">
            <a:avLst/>
          </a:prstGeom>
          <a:noFill/>
        </p:spPr>
        <p:txBody>
          <a:bodyPr wrap="square" rtlCol="0">
            <a:spAutoFit/>
          </a:bodyPr>
          <a:lstStyle/>
          <a:p>
            <a:pPr marL="457200" algn="ctr">
              <a:buNone/>
            </a:pPr>
            <a:r>
              <a:rPr lang="en-IN" sz="2400" b="1" dirty="0">
                <a:effectLst/>
                <a:latin typeface="Times New Roman" panose="02020603050405020304" pitchFamily="18" charset="0"/>
                <a:ea typeface="Tahoma" panose="020B0604030504040204" pitchFamily="34" charset="0"/>
                <a:cs typeface="Times New Roman" panose="02020603050405020304" pitchFamily="18" charset="0"/>
              </a:rPr>
              <a:t>LSTM IMPLEMENTATION SNIPPET:</a:t>
            </a:r>
          </a:p>
          <a:p>
            <a:pPr marL="457200" algn="ctr">
              <a:buNone/>
            </a:pPr>
            <a:endParaRPr lang="en-IN" sz="1200" dirty="0">
              <a:effectLst/>
              <a:latin typeface="Tahoma" panose="020B0604030504040204" pitchFamily="34" charset="0"/>
              <a:ea typeface="Tahoma" panose="020B0604030504040204" pitchFamily="34" charset="0"/>
              <a:cs typeface="Tahoma" panose="020B0604030504040204" pitchFamily="34" charset="0"/>
            </a:endParaRPr>
          </a:p>
        </p:txBody>
      </p:sp>
      <p:sp>
        <p:nvSpPr>
          <p:cNvPr id="10" name="TextBox 9">
            <a:extLst>
              <a:ext uri="{FF2B5EF4-FFF2-40B4-BE49-F238E27FC236}">
                <a16:creationId xmlns="" xmlns:a16="http://schemas.microsoft.com/office/drawing/2014/main" id="{E54FEAE8-15C1-4878-8A53-D566103C3082}"/>
              </a:ext>
            </a:extLst>
          </p:cNvPr>
          <p:cNvSpPr txBox="1"/>
          <p:nvPr/>
        </p:nvSpPr>
        <p:spPr>
          <a:xfrm>
            <a:off x="1642187" y="1382514"/>
            <a:ext cx="9004041" cy="3268652"/>
          </a:xfrm>
          <a:prstGeom prst="rect">
            <a:avLst/>
          </a:prstGeom>
          <a:noFill/>
        </p:spPr>
        <p:txBody>
          <a:bodyPr wrap="square">
            <a:spAutoFit/>
          </a:bodyPr>
          <a:lstStyle/>
          <a:p>
            <a:pPr marL="581660">
              <a:lnSpc>
                <a:spcPct val="150000"/>
              </a:lnSpc>
              <a:buNone/>
            </a:pPr>
            <a:r>
              <a:rPr lang="en-IN" sz="2000" dirty="0">
                <a:effectLst/>
                <a:latin typeface="Times New Roman" panose="02020603050405020304" pitchFamily="18" charset="0"/>
                <a:ea typeface="Times New Roman" panose="02020603050405020304" pitchFamily="18" charset="0"/>
                <a:cs typeface="Times New Roman" panose="02020603050405020304" pitchFamily="18" charset="0"/>
              </a:rPr>
              <a:t>from tensorflow.keras.models import Sequential</a:t>
            </a:r>
          </a:p>
          <a:p>
            <a:pPr marL="581660">
              <a:lnSpc>
                <a:spcPct val="150000"/>
              </a:lnSpc>
              <a:buNone/>
            </a:pPr>
            <a:r>
              <a:rPr lang="en-IN" sz="2000" dirty="0">
                <a:effectLst/>
                <a:latin typeface="Times New Roman" panose="02020603050405020304" pitchFamily="18" charset="0"/>
                <a:ea typeface="Times New Roman" panose="02020603050405020304" pitchFamily="18" charset="0"/>
                <a:cs typeface="Times New Roman" panose="02020603050405020304" pitchFamily="18" charset="0"/>
              </a:rPr>
              <a:t>from tensorflow.keras.layers import LSTM, Dense </a:t>
            </a:r>
          </a:p>
          <a:p>
            <a:pPr marL="581660">
              <a:lnSpc>
                <a:spcPct val="150000"/>
              </a:lnSpc>
              <a:buNone/>
            </a:pPr>
            <a:r>
              <a:rPr lang="en-IN" sz="2000" dirty="0">
                <a:effectLst/>
                <a:latin typeface="Times New Roman" panose="02020603050405020304" pitchFamily="18" charset="0"/>
                <a:ea typeface="Times New Roman" panose="02020603050405020304" pitchFamily="18" charset="0"/>
                <a:cs typeface="Times New Roman" panose="02020603050405020304" pitchFamily="18" charset="0"/>
              </a:rPr>
              <a:t>model = Sequential()</a:t>
            </a:r>
          </a:p>
          <a:p>
            <a:pPr marL="581660">
              <a:lnSpc>
                <a:spcPct val="150000"/>
              </a:lnSpc>
              <a:buNone/>
            </a:pPr>
            <a:r>
              <a:rPr lang="en-IN" sz="2000" dirty="0">
                <a:effectLst/>
                <a:latin typeface="Times New Roman" panose="02020603050405020304" pitchFamily="18" charset="0"/>
                <a:ea typeface="Times New Roman" panose="02020603050405020304" pitchFamily="18" charset="0"/>
                <a:cs typeface="Times New Roman" panose="02020603050405020304" pitchFamily="18" charset="0"/>
              </a:rPr>
              <a:t>model.add(LSTM(64, </a:t>
            </a:r>
            <a:r>
              <a:rPr lang="en-IN" sz="2000" dirty="0" err="1">
                <a:effectLst/>
                <a:latin typeface="Times New Roman" panose="02020603050405020304" pitchFamily="18" charset="0"/>
                <a:ea typeface="Times New Roman" panose="02020603050405020304" pitchFamily="18" charset="0"/>
                <a:cs typeface="Times New Roman" panose="02020603050405020304" pitchFamily="18" charset="0"/>
              </a:rPr>
              <a:t>return_sequences</a:t>
            </a:r>
            <a:r>
              <a:rPr lang="en-IN" sz="2000" dirty="0">
                <a:effectLst/>
                <a:latin typeface="Times New Roman" panose="02020603050405020304" pitchFamily="18" charset="0"/>
                <a:ea typeface="Times New Roman" panose="02020603050405020304" pitchFamily="18" charset="0"/>
                <a:cs typeface="Times New Roman" panose="02020603050405020304" pitchFamily="18" charset="0"/>
              </a:rPr>
              <a:t>=True, input_shape=(252,64)))</a:t>
            </a:r>
          </a:p>
          <a:p>
            <a:pPr marL="581660">
              <a:lnSpc>
                <a:spcPct val="150000"/>
              </a:lnSpc>
              <a:buNone/>
            </a:pPr>
            <a:r>
              <a:rPr lang="en-IN" sz="2000" dirty="0">
                <a:effectLst/>
                <a:latin typeface="Times New Roman" panose="02020603050405020304" pitchFamily="18" charset="0"/>
                <a:ea typeface="Times New Roman" panose="02020603050405020304" pitchFamily="18" charset="0"/>
                <a:cs typeface="Times New Roman" panose="02020603050405020304" pitchFamily="18" charset="0"/>
              </a:rPr>
              <a:t>model.add(LSTM(32))</a:t>
            </a:r>
          </a:p>
          <a:p>
            <a:pPr marL="581660">
              <a:lnSpc>
                <a:spcPct val="150000"/>
              </a:lnSpc>
              <a:buNone/>
            </a:pPr>
            <a:r>
              <a:rPr lang="en-IN" sz="2000" dirty="0">
                <a:effectLst/>
                <a:latin typeface="Times New Roman" panose="02020603050405020304" pitchFamily="18" charset="0"/>
                <a:ea typeface="Times New Roman" panose="02020603050405020304" pitchFamily="18" charset="0"/>
                <a:cs typeface="Times New Roman" panose="02020603050405020304" pitchFamily="18" charset="0"/>
              </a:rPr>
              <a:t>model.add(Dense(16, activation='</a:t>
            </a:r>
            <a:r>
              <a:rPr lang="en-IN" sz="2000" dirty="0" err="1">
                <a:effectLst/>
                <a:latin typeface="Times New Roman" panose="02020603050405020304" pitchFamily="18" charset="0"/>
                <a:ea typeface="Times New Roman" panose="02020603050405020304" pitchFamily="18" charset="0"/>
                <a:cs typeface="Times New Roman" panose="02020603050405020304" pitchFamily="18" charset="0"/>
              </a:rPr>
              <a:t>relu</a:t>
            </a:r>
            <a:r>
              <a:rPr lang="en-IN" sz="2000" dirty="0">
                <a:effectLst/>
                <a:latin typeface="Times New Roman" panose="02020603050405020304" pitchFamily="18" charset="0"/>
                <a:ea typeface="Times New Roman" panose="02020603050405020304" pitchFamily="18" charset="0"/>
                <a:cs typeface="Times New Roman" panose="02020603050405020304" pitchFamily="18" charset="0"/>
              </a:rPr>
              <a:t>'))</a:t>
            </a:r>
          </a:p>
          <a:p>
            <a:pPr marL="581660">
              <a:lnSpc>
                <a:spcPct val="150000"/>
              </a:lnSpc>
              <a:buNone/>
            </a:pPr>
            <a:r>
              <a:rPr lang="en-IN" sz="2000" dirty="0">
                <a:effectLst/>
                <a:latin typeface="Times New Roman" panose="02020603050405020304" pitchFamily="18" charset="0"/>
                <a:ea typeface="Times New Roman" panose="02020603050405020304" pitchFamily="18" charset="0"/>
                <a:cs typeface="Times New Roman" panose="02020603050405020304" pitchFamily="18" charset="0"/>
              </a:rPr>
              <a:t>model.add(Dense(2, activation='</a:t>
            </a:r>
            <a:r>
              <a:rPr lang="en-IN" sz="2000" dirty="0" err="1">
                <a:effectLst/>
                <a:latin typeface="Times New Roman" panose="02020603050405020304" pitchFamily="18" charset="0"/>
                <a:ea typeface="Times New Roman" panose="02020603050405020304" pitchFamily="18" charset="0"/>
                <a:cs typeface="Times New Roman" panose="02020603050405020304" pitchFamily="18" charset="0"/>
              </a:rPr>
              <a:t>softmax</a:t>
            </a:r>
            <a:r>
              <a:rPr lang="en-IN" sz="2000" dirty="0">
                <a:effectLst/>
                <a:latin typeface="Times New Roman" panose="02020603050405020304" pitchFamily="18" charset="0"/>
                <a:ea typeface="Times New Roman" panose="02020603050405020304" pitchFamily="18" charset="0"/>
                <a:cs typeface="Times New Roman" panose="02020603050405020304" pitchFamily="18" charset="0"/>
              </a:rPr>
              <a:t>'))  # Depressed / Healthy</a:t>
            </a:r>
          </a:p>
        </p:txBody>
      </p:sp>
    </p:spTree>
    <p:extLst>
      <p:ext uri="{BB962C8B-B14F-4D97-AF65-F5344CB8AC3E}">
        <p14:creationId xmlns:p14="http://schemas.microsoft.com/office/powerpoint/2010/main" val="31012037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047ADBA0-9E19-4E3D-A326-2EDFFE89BBBE}"/>
              </a:ext>
            </a:extLst>
          </p:cNvPr>
          <p:cNvSpPr>
            <a:spLocks noGrp="1"/>
          </p:cNvSpPr>
          <p:nvPr>
            <p:ph type="dt" sz="half" idx="10"/>
          </p:nvPr>
        </p:nvSpPr>
        <p:spPr>
          <a:xfrm>
            <a:off x="1097280" y="6459785"/>
            <a:ext cx="2472271" cy="365125"/>
          </a:xfrm>
        </p:spPr>
        <p:txBody>
          <a:bodyPr/>
          <a:lstStyle/>
          <a:p>
            <a:r>
              <a:rPr lang="en-US"/>
              <a:t>Dept of AI&amp;DS, SJCIT</a:t>
            </a:r>
            <a:endParaRPr lang="en-IN"/>
          </a:p>
        </p:txBody>
      </p:sp>
      <p:sp>
        <p:nvSpPr>
          <p:cNvPr id="3" name="Footer Placeholder 2">
            <a:extLst>
              <a:ext uri="{FF2B5EF4-FFF2-40B4-BE49-F238E27FC236}">
                <a16:creationId xmlns="" xmlns:a16="http://schemas.microsoft.com/office/drawing/2014/main" id="{A270BB8D-CCB2-4A3C-AA73-AFF4811F3CEF}"/>
              </a:ext>
            </a:extLst>
          </p:cNvPr>
          <p:cNvSpPr>
            <a:spLocks noGrp="1"/>
          </p:cNvSpPr>
          <p:nvPr>
            <p:ph type="ftr" sz="quarter" idx="11"/>
          </p:nvPr>
        </p:nvSpPr>
        <p:spPr>
          <a:xfrm>
            <a:off x="3686185" y="6459785"/>
            <a:ext cx="4822804" cy="365125"/>
          </a:xfrm>
        </p:spPr>
        <p:txBody>
          <a:bodyPr/>
          <a:lstStyle/>
          <a:p>
            <a:r>
              <a:rPr lang="en-IN"/>
              <a:t>2025-26</a:t>
            </a:r>
          </a:p>
        </p:txBody>
      </p:sp>
      <p:sp>
        <p:nvSpPr>
          <p:cNvPr id="4" name="Slide Number Placeholder 3">
            <a:extLst>
              <a:ext uri="{FF2B5EF4-FFF2-40B4-BE49-F238E27FC236}">
                <a16:creationId xmlns="" xmlns:a16="http://schemas.microsoft.com/office/drawing/2014/main" id="{4A47A44E-57BD-4A81-9B4D-8C22F12939A0}"/>
              </a:ext>
            </a:extLst>
          </p:cNvPr>
          <p:cNvSpPr>
            <a:spLocks noGrp="1"/>
          </p:cNvSpPr>
          <p:nvPr>
            <p:ph type="sldNum" sz="quarter" idx="12"/>
          </p:nvPr>
        </p:nvSpPr>
        <p:spPr>
          <a:xfrm>
            <a:off x="9900458" y="6459785"/>
            <a:ext cx="1312025" cy="365125"/>
          </a:xfrm>
        </p:spPr>
        <p:txBody>
          <a:bodyPr/>
          <a:lstStyle/>
          <a:p>
            <a:fld id="{69FBB93A-4B32-4007-AACF-5243CED557C7}" type="slidenum">
              <a:rPr lang="en-IN" smtClean="0"/>
              <a:t>18</a:t>
            </a:fld>
            <a:endParaRPr lang="en-IN"/>
          </a:p>
        </p:txBody>
      </p:sp>
      <p:sp>
        <p:nvSpPr>
          <p:cNvPr id="5" name="TextBox 4">
            <a:extLst>
              <a:ext uri="{FF2B5EF4-FFF2-40B4-BE49-F238E27FC236}">
                <a16:creationId xmlns="" xmlns:a16="http://schemas.microsoft.com/office/drawing/2014/main" id="{B30BA85B-E9B9-401F-902F-75477B4524B2}"/>
              </a:ext>
            </a:extLst>
          </p:cNvPr>
          <p:cNvSpPr txBox="1"/>
          <p:nvPr/>
        </p:nvSpPr>
        <p:spPr>
          <a:xfrm>
            <a:off x="595834" y="364707"/>
            <a:ext cx="10115203" cy="584775"/>
          </a:xfrm>
          <a:prstGeom prst="rect">
            <a:avLst/>
          </a:prstGeom>
          <a:noFill/>
        </p:spPr>
        <p:txBody>
          <a:bodyPr wrap="square">
            <a:spAutoFit/>
          </a:bodyPr>
          <a:lstStyle/>
          <a:p>
            <a:pPr marL="0" algn="ctr" rtl="0" eaLnBrk="1" latinLnBrk="0" hangingPunct="1">
              <a:buNone/>
            </a:pPr>
            <a:r>
              <a:rPr lang="en-IN" sz="3200" b="1" dirty="0">
                <a:solidFill>
                  <a:srgbClr val="000000"/>
                </a:solidFill>
                <a:effectLst/>
                <a:latin typeface="Times New Roman" panose="02020603050405020304" pitchFamily="18" charset="0"/>
                <a:cs typeface="Times New Roman" panose="02020603050405020304" pitchFamily="18" charset="0"/>
              </a:rPr>
              <a:t>TESTING</a:t>
            </a:r>
            <a:endParaRPr lang="en-IN" sz="3200" dirty="0">
              <a:effectLst/>
            </a:endParaRPr>
          </a:p>
        </p:txBody>
      </p:sp>
      <p:pic>
        <p:nvPicPr>
          <p:cNvPr id="6" name="Picture 5">
            <a:extLst>
              <a:ext uri="{FF2B5EF4-FFF2-40B4-BE49-F238E27FC236}">
                <a16:creationId xmlns="" xmlns:a16="http://schemas.microsoft.com/office/drawing/2014/main" id="{B8294BA1-B3AC-42B7-B1DC-9BF55197D5DF}"/>
              </a:ext>
            </a:extLst>
          </p:cNvPr>
          <p:cNvPicPr>
            <a:picLocks noChangeAspect="1"/>
          </p:cNvPicPr>
          <p:nvPr/>
        </p:nvPicPr>
        <p:blipFill>
          <a:blip r:embed="rId2"/>
          <a:stretch>
            <a:fillRect/>
          </a:stretch>
        </p:blipFill>
        <p:spPr>
          <a:xfrm>
            <a:off x="10421908" y="198489"/>
            <a:ext cx="1581150" cy="876300"/>
          </a:xfrm>
          <a:prstGeom prst="rect">
            <a:avLst/>
          </a:prstGeom>
        </p:spPr>
      </p:pic>
      <p:sp>
        <p:nvSpPr>
          <p:cNvPr id="7" name="TextBox 6">
            <a:extLst>
              <a:ext uri="{FF2B5EF4-FFF2-40B4-BE49-F238E27FC236}">
                <a16:creationId xmlns="" xmlns:a16="http://schemas.microsoft.com/office/drawing/2014/main" id="{FF63A014-7B24-4CC6-BF4D-BEC72A55ABC8}"/>
              </a:ext>
            </a:extLst>
          </p:cNvPr>
          <p:cNvSpPr txBox="1"/>
          <p:nvPr/>
        </p:nvSpPr>
        <p:spPr>
          <a:xfrm>
            <a:off x="0" y="33090"/>
            <a:ext cx="9144000" cy="215444"/>
          </a:xfrm>
          <a:prstGeom prst="rect">
            <a:avLst/>
          </a:prstGeom>
          <a:noFill/>
        </p:spPr>
        <p:txBody>
          <a:bodyPr wrap="square">
            <a:spAutoFit/>
          </a:bodyPr>
          <a:lstStyle/>
          <a:p>
            <a:r>
              <a:rPr lang="en-IN" sz="800" kern="1200">
                <a:solidFill>
                  <a:srgbClr val="000000"/>
                </a:solidFill>
                <a:effectLst/>
                <a:latin typeface="Tahoma" panose="020B0604030504040204" pitchFamily="34" charset="0"/>
                <a:ea typeface="Tahoma" panose="020B0604030504040204" pitchFamily="34" charset="0"/>
                <a:cs typeface="Tahoma" panose="020B0604030504040204" pitchFamily="34" charset="0"/>
              </a:rPr>
              <a:t>A Hybrid Neural Network for EEG-based Depression Screening Using CNN</a:t>
            </a:r>
            <a:r>
              <a:rPr lang="en-IN" sz="800">
                <a:latin typeface="Times New Roman" panose="02020603050405020304" pitchFamily="18" charset="0"/>
                <a:ea typeface="Tahoma" panose="020B0604030504040204" pitchFamily="34" charset="0"/>
                <a:cs typeface="Times New Roman" panose="02020603050405020304" pitchFamily="18" charset="0"/>
              </a:rPr>
              <a:t> +LSTM</a:t>
            </a:r>
            <a:endParaRPr lang="en-IN" sz="800">
              <a:effectLst/>
            </a:endParaRPr>
          </a:p>
        </p:txBody>
      </p:sp>
      <p:sp>
        <p:nvSpPr>
          <p:cNvPr id="8" name="TextBox 7">
            <a:extLst>
              <a:ext uri="{FF2B5EF4-FFF2-40B4-BE49-F238E27FC236}">
                <a16:creationId xmlns="" xmlns:a16="http://schemas.microsoft.com/office/drawing/2014/main" id="{4A87ADCB-A339-4AD7-BC09-A1FF0E355F97}"/>
              </a:ext>
            </a:extLst>
          </p:cNvPr>
          <p:cNvSpPr txBox="1"/>
          <p:nvPr/>
        </p:nvSpPr>
        <p:spPr>
          <a:xfrm>
            <a:off x="521551" y="845751"/>
            <a:ext cx="6096000" cy="458074"/>
          </a:xfrm>
          <a:prstGeom prst="rect">
            <a:avLst/>
          </a:prstGeom>
          <a:noFill/>
        </p:spPr>
        <p:txBody>
          <a:bodyPr wrap="square">
            <a:spAutoFit/>
          </a:bodyPr>
          <a:lstStyle/>
          <a:p>
            <a:pPr algn="just">
              <a:lnSpc>
                <a:spcPct val="150000"/>
              </a:lnSpc>
            </a:pPr>
            <a:r>
              <a:rPr lang="en-US" b="1" dirty="0">
                <a:latin typeface="Times New Roman" panose="02020603050405020304" pitchFamily="18" charset="0"/>
                <a:cs typeface="Times New Roman" panose="02020603050405020304" pitchFamily="18" charset="0"/>
              </a:rPr>
              <a:t>1. UNIT TESTING</a:t>
            </a:r>
            <a:r>
              <a:rPr lang="en-US" sz="1800" b="1" dirty="0">
                <a:latin typeface="Times New Roman" panose="02020603050405020304" pitchFamily="18" charset="0"/>
                <a:cs typeface="Times New Roman" panose="02020603050405020304" pitchFamily="18" charset="0"/>
              </a:rPr>
              <a:t>:</a:t>
            </a:r>
            <a:endParaRPr lang="en-IN" sz="1800" b="1" dirty="0">
              <a:latin typeface="Times New Roman" panose="02020603050405020304" pitchFamily="18" charset="0"/>
              <a:cs typeface="Times New Roman" panose="02020603050405020304" pitchFamily="18" charset="0"/>
            </a:endParaRPr>
          </a:p>
        </p:txBody>
      </p:sp>
      <p:graphicFrame>
        <p:nvGraphicFramePr>
          <p:cNvPr id="9" name="Table 8">
            <a:extLst>
              <a:ext uri="{FF2B5EF4-FFF2-40B4-BE49-F238E27FC236}">
                <a16:creationId xmlns="" xmlns:a16="http://schemas.microsoft.com/office/drawing/2014/main" id="{0F956741-8F68-4FD1-A5A2-FBBF75EDEE89}"/>
              </a:ext>
            </a:extLst>
          </p:cNvPr>
          <p:cNvGraphicFramePr>
            <a:graphicFrameLocks noGrp="1"/>
          </p:cNvGraphicFramePr>
          <p:nvPr>
            <p:extLst>
              <p:ext uri="{D42A27DB-BD31-4B8C-83A1-F6EECF244321}">
                <p14:modId xmlns:p14="http://schemas.microsoft.com/office/powerpoint/2010/main" val="2950936728"/>
              </p:ext>
            </p:extLst>
          </p:nvPr>
        </p:nvGraphicFramePr>
        <p:xfrm>
          <a:off x="188942" y="1735644"/>
          <a:ext cx="11885071" cy="3967065"/>
        </p:xfrm>
        <a:graphic>
          <a:graphicData uri="http://schemas.openxmlformats.org/drawingml/2006/table">
            <a:tbl>
              <a:tblPr firstRow="1" bandRow="1"/>
              <a:tblGrid>
                <a:gridCol w="1118748">
                  <a:extLst>
                    <a:ext uri="{9D8B030D-6E8A-4147-A177-3AD203B41FA5}">
                      <a16:colId xmlns="" xmlns:a16="http://schemas.microsoft.com/office/drawing/2014/main" val="1764710113"/>
                    </a:ext>
                  </a:extLst>
                </a:gridCol>
                <a:gridCol w="1425678">
                  <a:extLst>
                    <a:ext uri="{9D8B030D-6E8A-4147-A177-3AD203B41FA5}">
                      <a16:colId xmlns="" xmlns:a16="http://schemas.microsoft.com/office/drawing/2014/main" val="3548562719"/>
                    </a:ext>
                  </a:extLst>
                </a:gridCol>
                <a:gridCol w="2125639">
                  <a:extLst>
                    <a:ext uri="{9D8B030D-6E8A-4147-A177-3AD203B41FA5}">
                      <a16:colId xmlns="" xmlns:a16="http://schemas.microsoft.com/office/drawing/2014/main" val="1915633020"/>
                    </a:ext>
                  </a:extLst>
                </a:gridCol>
                <a:gridCol w="1979018">
                  <a:extLst>
                    <a:ext uri="{9D8B030D-6E8A-4147-A177-3AD203B41FA5}">
                      <a16:colId xmlns="" xmlns:a16="http://schemas.microsoft.com/office/drawing/2014/main" val="1832155160"/>
                    </a:ext>
                  </a:extLst>
                </a:gridCol>
                <a:gridCol w="2125612">
                  <a:extLst>
                    <a:ext uri="{9D8B030D-6E8A-4147-A177-3AD203B41FA5}">
                      <a16:colId xmlns="" xmlns:a16="http://schemas.microsoft.com/office/drawing/2014/main" val="708372134"/>
                    </a:ext>
                  </a:extLst>
                </a:gridCol>
                <a:gridCol w="1937135">
                  <a:extLst>
                    <a:ext uri="{9D8B030D-6E8A-4147-A177-3AD203B41FA5}">
                      <a16:colId xmlns="" xmlns:a16="http://schemas.microsoft.com/office/drawing/2014/main" val="3438480492"/>
                    </a:ext>
                  </a:extLst>
                </a:gridCol>
                <a:gridCol w="1173241">
                  <a:extLst>
                    <a:ext uri="{9D8B030D-6E8A-4147-A177-3AD203B41FA5}">
                      <a16:colId xmlns="" xmlns:a16="http://schemas.microsoft.com/office/drawing/2014/main" val="2717388764"/>
                    </a:ext>
                  </a:extLst>
                </a:gridCol>
              </a:tblGrid>
              <a:tr h="661178">
                <a:tc>
                  <a:txBody>
                    <a:bodyPr/>
                    <a:lstStyle/>
                    <a:p>
                      <a:pPr algn="just"/>
                      <a:r>
                        <a:rPr lang="en-IN" sz="1800" dirty="0">
                          <a:latin typeface="Times New Roman" panose="02020603050405020304" pitchFamily="18" charset="0"/>
                          <a:cs typeface="Times New Roman" panose="02020603050405020304" pitchFamily="18" charset="0"/>
                        </a:rPr>
                        <a:t>Test Case</a:t>
                      </a:r>
                    </a:p>
                  </a:txBody>
                  <a:tcPr/>
                </a:tc>
                <a:tc>
                  <a:txBody>
                    <a:bodyPr/>
                    <a:lstStyle/>
                    <a:p>
                      <a:pPr algn="just"/>
                      <a:r>
                        <a:rPr lang="en-IN" sz="1800" dirty="0">
                          <a:latin typeface="Times New Roman" panose="02020603050405020304" pitchFamily="18" charset="0"/>
                          <a:cs typeface="Times New Roman" panose="02020603050405020304" pitchFamily="18" charset="0"/>
                        </a:rPr>
                        <a:t>Test Name</a:t>
                      </a:r>
                    </a:p>
                  </a:txBody>
                  <a:tcPr/>
                </a:tc>
                <a:tc>
                  <a:txBody>
                    <a:bodyPr/>
                    <a:lstStyle/>
                    <a:p>
                      <a:pPr algn="just"/>
                      <a:r>
                        <a:rPr lang="en-IN" sz="1800">
                          <a:latin typeface="Times New Roman" panose="02020603050405020304" pitchFamily="18" charset="0"/>
                          <a:cs typeface="Times New Roman" panose="02020603050405020304" pitchFamily="18" charset="0"/>
                        </a:rPr>
                        <a:t>Test Description</a:t>
                      </a:r>
                    </a:p>
                  </a:txBody>
                  <a:tcPr/>
                </a:tc>
                <a:tc>
                  <a:txBody>
                    <a:bodyPr/>
                    <a:lstStyle/>
                    <a:p>
                      <a:pPr algn="just"/>
                      <a:r>
                        <a:rPr lang="en-IN" sz="1800">
                          <a:latin typeface="Times New Roman" panose="02020603050405020304" pitchFamily="18" charset="0"/>
                          <a:cs typeface="Times New Roman" panose="02020603050405020304" pitchFamily="18" charset="0"/>
                        </a:rPr>
                        <a:t>Input</a:t>
                      </a:r>
                    </a:p>
                  </a:txBody>
                  <a:tcPr/>
                </a:tc>
                <a:tc>
                  <a:txBody>
                    <a:bodyPr/>
                    <a:lstStyle/>
                    <a:p>
                      <a:pPr algn="just"/>
                      <a:r>
                        <a:rPr lang="en-IN" sz="1800">
                          <a:latin typeface="Times New Roman" panose="02020603050405020304" pitchFamily="18" charset="0"/>
                          <a:cs typeface="Times New Roman" panose="02020603050405020304" pitchFamily="18" charset="0"/>
                        </a:rPr>
                        <a:t>Expected Output</a:t>
                      </a:r>
                    </a:p>
                  </a:txBody>
                  <a:tcPr/>
                </a:tc>
                <a:tc>
                  <a:txBody>
                    <a:bodyPr/>
                    <a:lstStyle/>
                    <a:p>
                      <a:pPr algn="just"/>
                      <a:r>
                        <a:rPr lang="en-IN" sz="1800">
                          <a:latin typeface="Times New Roman" panose="02020603050405020304" pitchFamily="18" charset="0"/>
                          <a:cs typeface="Times New Roman" panose="02020603050405020304" pitchFamily="18" charset="0"/>
                        </a:rPr>
                        <a:t>Actual Output</a:t>
                      </a:r>
                    </a:p>
                  </a:txBody>
                  <a:tcPr/>
                </a:tc>
                <a:tc>
                  <a:txBody>
                    <a:bodyPr/>
                    <a:lstStyle/>
                    <a:p>
                      <a:pPr algn="just"/>
                      <a:r>
                        <a:rPr lang="en-IN" sz="1800">
                          <a:latin typeface="Times New Roman" panose="02020603050405020304" pitchFamily="18" charset="0"/>
                          <a:cs typeface="Times New Roman" panose="02020603050405020304" pitchFamily="18" charset="0"/>
                        </a:rPr>
                        <a:t>Test Result</a:t>
                      </a:r>
                    </a:p>
                  </a:txBody>
                  <a:tcPr/>
                </a:tc>
                <a:extLst>
                  <a:ext uri="{0D108BD9-81ED-4DB2-BD59-A6C34878D82A}">
                    <a16:rowId xmlns="" xmlns:a16="http://schemas.microsoft.com/office/drawing/2014/main" val="3613306583"/>
                  </a:ext>
                </a:extLst>
              </a:tr>
              <a:tr h="1794625">
                <a:tc>
                  <a:txBody>
                    <a:bodyPr/>
                    <a:lstStyle/>
                    <a:p>
                      <a:pPr algn="just"/>
                      <a:r>
                        <a:rPr lang="en-IN" sz="1800" dirty="0">
                          <a:latin typeface="Times New Roman" panose="02020603050405020304" pitchFamily="18" charset="0"/>
                          <a:cs typeface="Times New Roman" panose="02020603050405020304" pitchFamily="18" charset="0"/>
                        </a:rPr>
                        <a:t>UTC01</a:t>
                      </a:r>
                    </a:p>
                  </a:txBody>
                  <a:tcPr/>
                </a:tc>
                <a:tc>
                  <a:txBody>
                    <a:bodyPr/>
                    <a:lstStyle/>
                    <a:p>
                      <a:pPr algn="just"/>
                      <a:r>
                        <a:rPr lang="en-IN" sz="1800" dirty="0">
                          <a:latin typeface="Times New Roman" panose="02020603050405020304" pitchFamily="18" charset="0"/>
                          <a:cs typeface="Times New Roman" panose="02020603050405020304" pitchFamily="18" charset="0"/>
                        </a:rPr>
                        <a:t>User Model Functionality</a:t>
                      </a:r>
                    </a:p>
                  </a:txBody>
                  <a:tcPr/>
                </a:tc>
                <a:tc>
                  <a:txBody>
                    <a:bodyPr/>
                    <a:lstStyle/>
                    <a:p>
                      <a:pPr algn="just"/>
                      <a:r>
                        <a:rPr lang="en-US" sz="1800">
                          <a:latin typeface="Times New Roman" panose="02020603050405020304" pitchFamily="18" charset="0"/>
                          <a:cs typeface="Times New Roman" panose="02020603050405020304" pitchFamily="18" charset="0"/>
                        </a:rPr>
                        <a:t>To verify creation, validation, and password hashing of the CustomUser model.</a:t>
                      </a:r>
                      <a:endParaRPr lang="en-IN" sz="1800">
                        <a:latin typeface="Times New Roman" panose="02020603050405020304" pitchFamily="18" charset="0"/>
                        <a:cs typeface="Times New Roman" panose="02020603050405020304" pitchFamily="18" charset="0"/>
                      </a:endParaRPr>
                    </a:p>
                  </a:txBody>
                  <a:tcPr/>
                </a:tc>
                <a:tc>
                  <a:txBody>
                    <a:bodyPr/>
                    <a:lstStyle/>
                    <a:p>
                      <a:pPr algn="just"/>
                      <a:r>
                        <a:rPr lang="en-US" sz="1800">
                          <a:latin typeface="Times New Roman" panose="02020603050405020304" pitchFamily="18" charset="0"/>
                          <a:cs typeface="Times New Roman" panose="02020603050405020304" pitchFamily="18" charset="0"/>
                        </a:rPr>
                        <a:t>Valid and invalid user data (missing username, weak password, etc.)</a:t>
                      </a:r>
                      <a:endParaRPr lang="en-IN" sz="1800">
                        <a:latin typeface="Times New Roman" panose="02020603050405020304" pitchFamily="18" charset="0"/>
                        <a:cs typeface="Times New Roman" panose="02020603050405020304" pitchFamily="18" charset="0"/>
                      </a:endParaRPr>
                    </a:p>
                  </a:txBody>
                  <a:tcPr/>
                </a:tc>
                <a:tc>
                  <a:txBody>
                    <a:bodyPr/>
                    <a:lstStyle/>
                    <a:p>
                      <a:pPr algn="just"/>
                      <a:r>
                        <a:rPr lang="en-US" sz="1800" dirty="0">
                          <a:latin typeface="Times New Roman" panose="02020603050405020304" pitchFamily="18" charset="0"/>
                          <a:cs typeface="Times New Roman" panose="02020603050405020304" pitchFamily="18" charset="0"/>
                        </a:rPr>
                        <a:t>User is created successfully with valid data, errors are raised for missing fields, and password is hashed correctly.</a:t>
                      </a:r>
                      <a:endParaRPr lang="en-IN" sz="1800" dirty="0">
                        <a:latin typeface="Times New Roman" panose="02020603050405020304" pitchFamily="18" charset="0"/>
                        <a:cs typeface="Times New Roman" panose="02020603050405020304" pitchFamily="18" charset="0"/>
                      </a:endParaRPr>
                    </a:p>
                  </a:txBody>
                  <a:tcPr/>
                </a:tc>
                <a:tc>
                  <a:txBody>
                    <a:bodyPr/>
                    <a:lstStyle/>
                    <a:p>
                      <a:pPr algn="just"/>
                      <a:r>
                        <a:rPr lang="en-US" sz="1800">
                          <a:latin typeface="Times New Roman" panose="02020603050405020304" pitchFamily="18" charset="0"/>
                          <a:cs typeface="Times New Roman" panose="02020603050405020304" pitchFamily="18" charset="0"/>
                        </a:rPr>
                        <a:t>Model loads successfully and returns valid prediction output.</a:t>
                      </a:r>
                      <a:endParaRPr lang="en-IN" sz="1800">
                        <a:latin typeface="Times New Roman" panose="02020603050405020304" pitchFamily="18" charset="0"/>
                        <a:cs typeface="Times New Roman" panose="02020603050405020304" pitchFamily="18" charset="0"/>
                      </a:endParaRPr>
                    </a:p>
                  </a:txBody>
                  <a:tcPr/>
                </a:tc>
                <a:tc>
                  <a:txBody>
                    <a:bodyPr/>
                    <a:lstStyle/>
                    <a:p>
                      <a:pPr algn="just"/>
                      <a:r>
                        <a:rPr lang="en-IN" sz="1800">
                          <a:latin typeface="Times New Roman" panose="02020603050405020304" pitchFamily="18" charset="0"/>
                          <a:cs typeface="Times New Roman" panose="02020603050405020304" pitchFamily="18" charset="0"/>
                        </a:rPr>
                        <a:t>Success</a:t>
                      </a:r>
                    </a:p>
                  </a:txBody>
                  <a:tcPr/>
                </a:tc>
                <a:extLst>
                  <a:ext uri="{0D108BD9-81ED-4DB2-BD59-A6C34878D82A}">
                    <a16:rowId xmlns="" xmlns:a16="http://schemas.microsoft.com/office/drawing/2014/main" val="1630784236"/>
                  </a:ext>
                </a:extLst>
              </a:tr>
              <a:tr h="1511262">
                <a:tc>
                  <a:txBody>
                    <a:bodyPr/>
                    <a:lstStyle/>
                    <a:p>
                      <a:pPr algn="just"/>
                      <a:r>
                        <a:rPr lang="en-IN" sz="1800" dirty="0">
                          <a:latin typeface="Times New Roman" panose="02020603050405020304" pitchFamily="18" charset="0"/>
                          <a:cs typeface="Times New Roman" panose="02020603050405020304" pitchFamily="18" charset="0"/>
                        </a:rPr>
                        <a:t>UTC02</a:t>
                      </a:r>
                    </a:p>
                  </a:txBody>
                  <a:tcPr/>
                </a:tc>
                <a:tc>
                  <a:txBody>
                    <a:bodyPr/>
                    <a:lstStyle/>
                    <a:p>
                      <a:pPr algn="just"/>
                      <a:r>
                        <a:rPr lang="en-IN" sz="1800" dirty="0">
                          <a:latin typeface="Times New Roman" panose="02020603050405020304" pitchFamily="18" charset="0"/>
                          <a:cs typeface="Times New Roman" panose="02020603050405020304" pitchFamily="18" charset="0"/>
                        </a:rPr>
                        <a:t>OTP Generation</a:t>
                      </a:r>
                    </a:p>
                  </a:txBody>
                  <a:tcPr/>
                </a:tc>
                <a:tc>
                  <a:txBody>
                    <a:bodyPr/>
                    <a:lstStyle/>
                    <a:p>
                      <a:pPr algn="just"/>
                      <a:r>
                        <a:rPr lang="en-US" sz="1800">
                          <a:latin typeface="Times New Roman" panose="02020603050405020304" pitchFamily="18" charset="0"/>
                          <a:cs typeface="Times New Roman" panose="02020603050405020304" pitchFamily="18" charset="0"/>
                        </a:rPr>
                        <a:t>To test OTP generation, database storage, and expiry mechanism.</a:t>
                      </a:r>
                      <a:endParaRPr lang="en-IN" sz="1800">
                        <a:latin typeface="Times New Roman" panose="02020603050405020304" pitchFamily="18" charset="0"/>
                        <a:cs typeface="Times New Roman" panose="02020603050405020304" pitchFamily="18" charset="0"/>
                      </a:endParaRPr>
                    </a:p>
                  </a:txBody>
                  <a:tcPr/>
                </a:tc>
                <a:tc>
                  <a:txBody>
                    <a:bodyPr/>
                    <a:lstStyle/>
                    <a:p>
                      <a:pPr algn="just"/>
                      <a:r>
                        <a:rPr lang="en-US" sz="1800" dirty="0">
                          <a:latin typeface="Times New Roman" panose="02020603050405020304" pitchFamily="18" charset="0"/>
                          <a:cs typeface="Times New Roman" panose="02020603050405020304" pitchFamily="18" charset="0"/>
                        </a:rPr>
                        <a:t>OTP request for a registered user</a:t>
                      </a:r>
                      <a:endParaRPr lang="en-IN" sz="1800" dirty="0">
                        <a:latin typeface="Times New Roman" panose="02020603050405020304" pitchFamily="18" charset="0"/>
                        <a:cs typeface="Times New Roman" panose="02020603050405020304" pitchFamily="18" charset="0"/>
                      </a:endParaRPr>
                    </a:p>
                  </a:txBody>
                  <a:tcPr/>
                </a:tc>
                <a:tc>
                  <a:txBody>
                    <a:bodyPr/>
                    <a:lstStyle/>
                    <a:p>
                      <a:pPr algn="just"/>
                      <a:r>
                        <a:rPr lang="en-US" sz="1800" dirty="0">
                          <a:latin typeface="Times New Roman" panose="02020603050405020304" pitchFamily="18" charset="0"/>
                          <a:cs typeface="Times New Roman" panose="02020603050405020304" pitchFamily="18" charset="0"/>
                        </a:rPr>
                        <a:t>A 6-digit OTP is generated, stored, and correct</a:t>
                      </a:r>
                      <a:endParaRPr lang="en-IN" sz="1800" dirty="0">
                        <a:latin typeface="Times New Roman" panose="02020603050405020304" pitchFamily="18" charset="0"/>
                        <a:cs typeface="Times New Roman" panose="02020603050405020304" pitchFamily="18" charset="0"/>
                      </a:endParaRPr>
                    </a:p>
                  </a:txBody>
                  <a:tcPr/>
                </a:tc>
                <a:tc>
                  <a:txBody>
                    <a:bodyPr/>
                    <a:lstStyle/>
                    <a:p>
                      <a:pPr algn="just"/>
                      <a:r>
                        <a:rPr lang="en-US" sz="1800" dirty="0">
                          <a:latin typeface="Times New Roman" panose="02020603050405020304" pitchFamily="18" charset="0"/>
                          <a:cs typeface="Times New Roman" panose="02020603050405020304" pitchFamily="18" charset="0"/>
                        </a:rPr>
                        <a:t>OTP generated correctly, stored in model</a:t>
                      </a:r>
                      <a:endParaRPr lang="en-IN" sz="1800" dirty="0">
                        <a:latin typeface="Times New Roman" panose="02020603050405020304" pitchFamily="18" charset="0"/>
                        <a:cs typeface="Times New Roman" panose="02020603050405020304" pitchFamily="18" charset="0"/>
                      </a:endParaRPr>
                    </a:p>
                  </a:txBody>
                  <a:tcPr/>
                </a:tc>
                <a:tc>
                  <a:txBody>
                    <a:bodyPr/>
                    <a:lstStyle/>
                    <a:p>
                      <a:pPr algn="just"/>
                      <a:r>
                        <a:rPr lang="en-IN" sz="1800" dirty="0">
                          <a:latin typeface="Times New Roman" panose="02020603050405020304" pitchFamily="18" charset="0"/>
                          <a:cs typeface="Times New Roman" panose="02020603050405020304" pitchFamily="18" charset="0"/>
                        </a:rPr>
                        <a:t>Success</a:t>
                      </a:r>
                    </a:p>
                  </a:txBody>
                  <a:tcPr/>
                </a:tc>
                <a:extLst>
                  <a:ext uri="{0D108BD9-81ED-4DB2-BD59-A6C34878D82A}">
                    <a16:rowId xmlns="" xmlns:a16="http://schemas.microsoft.com/office/drawing/2014/main" val="2060505593"/>
                  </a:ext>
                </a:extLst>
              </a:tr>
            </a:tbl>
          </a:graphicData>
        </a:graphic>
      </p:graphicFrame>
    </p:spTree>
    <p:extLst>
      <p:ext uri="{BB962C8B-B14F-4D97-AF65-F5344CB8AC3E}">
        <p14:creationId xmlns:p14="http://schemas.microsoft.com/office/powerpoint/2010/main" val="42886880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D57CD388-6170-489D-A537-6B2BD2A3B4FB}"/>
              </a:ext>
            </a:extLst>
          </p:cNvPr>
          <p:cNvSpPr>
            <a:spLocks noGrp="1"/>
          </p:cNvSpPr>
          <p:nvPr>
            <p:ph type="dt" sz="half" idx="10"/>
          </p:nvPr>
        </p:nvSpPr>
        <p:spPr>
          <a:xfrm>
            <a:off x="1097280" y="6459785"/>
            <a:ext cx="2472271" cy="365125"/>
          </a:xfrm>
        </p:spPr>
        <p:txBody>
          <a:bodyPr/>
          <a:lstStyle/>
          <a:p>
            <a:r>
              <a:rPr lang="en-US"/>
              <a:t>Dept of AI&amp;DS, SJCIT</a:t>
            </a:r>
            <a:endParaRPr lang="en-IN"/>
          </a:p>
        </p:txBody>
      </p:sp>
      <p:sp>
        <p:nvSpPr>
          <p:cNvPr id="3" name="Footer Placeholder 2">
            <a:extLst>
              <a:ext uri="{FF2B5EF4-FFF2-40B4-BE49-F238E27FC236}">
                <a16:creationId xmlns="" xmlns:a16="http://schemas.microsoft.com/office/drawing/2014/main" id="{A79511A7-6DDA-4784-AFEF-5B7AB144BE17}"/>
              </a:ext>
            </a:extLst>
          </p:cNvPr>
          <p:cNvSpPr>
            <a:spLocks noGrp="1"/>
          </p:cNvSpPr>
          <p:nvPr>
            <p:ph type="ftr" sz="quarter" idx="11"/>
          </p:nvPr>
        </p:nvSpPr>
        <p:spPr>
          <a:xfrm>
            <a:off x="3686185" y="6459785"/>
            <a:ext cx="4822804" cy="365125"/>
          </a:xfrm>
        </p:spPr>
        <p:txBody>
          <a:bodyPr/>
          <a:lstStyle/>
          <a:p>
            <a:r>
              <a:rPr lang="en-IN"/>
              <a:t>2025-26</a:t>
            </a:r>
          </a:p>
        </p:txBody>
      </p:sp>
      <p:sp>
        <p:nvSpPr>
          <p:cNvPr id="4" name="Slide Number Placeholder 3">
            <a:extLst>
              <a:ext uri="{FF2B5EF4-FFF2-40B4-BE49-F238E27FC236}">
                <a16:creationId xmlns="" xmlns:a16="http://schemas.microsoft.com/office/drawing/2014/main" id="{F054F16B-A57C-444D-B5BB-95E75533D299}"/>
              </a:ext>
            </a:extLst>
          </p:cNvPr>
          <p:cNvSpPr>
            <a:spLocks noGrp="1"/>
          </p:cNvSpPr>
          <p:nvPr>
            <p:ph type="sldNum" sz="quarter" idx="12"/>
          </p:nvPr>
        </p:nvSpPr>
        <p:spPr>
          <a:xfrm>
            <a:off x="9900458" y="6459785"/>
            <a:ext cx="1312025" cy="365125"/>
          </a:xfrm>
        </p:spPr>
        <p:txBody>
          <a:bodyPr/>
          <a:lstStyle/>
          <a:p>
            <a:fld id="{69FBB93A-4B32-4007-AACF-5243CED557C7}" type="slidenum">
              <a:rPr lang="en-IN" smtClean="0"/>
              <a:t>19</a:t>
            </a:fld>
            <a:endParaRPr lang="en-IN"/>
          </a:p>
        </p:txBody>
      </p:sp>
      <p:pic>
        <p:nvPicPr>
          <p:cNvPr id="5" name="Picture 4">
            <a:extLst>
              <a:ext uri="{FF2B5EF4-FFF2-40B4-BE49-F238E27FC236}">
                <a16:creationId xmlns="" xmlns:a16="http://schemas.microsoft.com/office/drawing/2014/main" id="{8654A075-D38C-4708-9384-7EADBEA8084E}"/>
              </a:ext>
            </a:extLst>
          </p:cNvPr>
          <p:cNvPicPr>
            <a:picLocks noChangeAspect="1"/>
          </p:cNvPicPr>
          <p:nvPr/>
        </p:nvPicPr>
        <p:blipFill>
          <a:blip r:embed="rId2"/>
          <a:stretch>
            <a:fillRect/>
          </a:stretch>
        </p:blipFill>
        <p:spPr>
          <a:xfrm>
            <a:off x="10421908" y="198489"/>
            <a:ext cx="1581150" cy="876300"/>
          </a:xfrm>
          <a:prstGeom prst="rect">
            <a:avLst/>
          </a:prstGeom>
        </p:spPr>
      </p:pic>
      <p:sp>
        <p:nvSpPr>
          <p:cNvPr id="6" name="TextBox 5">
            <a:extLst>
              <a:ext uri="{FF2B5EF4-FFF2-40B4-BE49-F238E27FC236}">
                <a16:creationId xmlns="" xmlns:a16="http://schemas.microsoft.com/office/drawing/2014/main" id="{0D58B7C1-904B-4331-95DC-8084908DE8B8}"/>
              </a:ext>
            </a:extLst>
          </p:cNvPr>
          <p:cNvSpPr txBox="1"/>
          <p:nvPr/>
        </p:nvSpPr>
        <p:spPr>
          <a:xfrm>
            <a:off x="83976" y="33090"/>
            <a:ext cx="9060024" cy="215444"/>
          </a:xfrm>
          <a:prstGeom prst="rect">
            <a:avLst/>
          </a:prstGeom>
          <a:noFill/>
        </p:spPr>
        <p:txBody>
          <a:bodyPr wrap="square">
            <a:spAutoFit/>
          </a:bodyPr>
          <a:lstStyle/>
          <a:p>
            <a:r>
              <a:rPr lang="en-IN" sz="800" kern="1200" dirty="0">
                <a:solidFill>
                  <a:srgbClr val="000000"/>
                </a:solidFill>
                <a:effectLst/>
                <a:latin typeface="Tahoma" panose="020B0604030504040204" pitchFamily="34" charset="0"/>
                <a:ea typeface="Tahoma" panose="020B0604030504040204" pitchFamily="34" charset="0"/>
                <a:cs typeface="Tahoma" panose="020B0604030504040204" pitchFamily="34" charset="0"/>
              </a:rPr>
              <a:t>A Hybrid Neural Network for EEG-based Depression Screening </a:t>
            </a:r>
            <a:r>
              <a:rPr lang="en-IN" sz="800" kern="1200">
                <a:solidFill>
                  <a:srgbClr val="000000"/>
                </a:solidFill>
                <a:effectLst/>
                <a:latin typeface="Tahoma" panose="020B0604030504040204" pitchFamily="34" charset="0"/>
                <a:ea typeface="Tahoma" panose="020B0604030504040204" pitchFamily="34" charset="0"/>
                <a:cs typeface="Tahoma" panose="020B0604030504040204" pitchFamily="34" charset="0"/>
              </a:rPr>
              <a:t>Using CNN</a:t>
            </a:r>
            <a:r>
              <a:rPr lang="en-IN" sz="800">
                <a:latin typeface="Times New Roman" panose="02020603050405020304" pitchFamily="18" charset="0"/>
                <a:ea typeface="Tahoma" panose="020B0604030504040204" pitchFamily="34" charset="0"/>
                <a:cs typeface="Times New Roman" panose="02020603050405020304" pitchFamily="18" charset="0"/>
              </a:rPr>
              <a:t> +LSTM</a:t>
            </a:r>
            <a:endParaRPr lang="en-IN" sz="800" dirty="0">
              <a:effectLst/>
            </a:endParaRPr>
          </a:p>
        </p:txBody>
      </p:sp>
      <p:graphicFrame>
        <p:nvGraphicFramePr>
          <p:cNvPr id="7" name="Table 6">
            <a:extLst>
              <a:ext uri="{FF2B5EF4-FFF2-40B4-BE49-F238E27FC236}">
                <a16:creationId xmlns="" xmlns:a16="http://schemas.microsoft.com/office/drawing/2014/main" id="{1769682A-338A-4EA3-BD6C-E6A776A883DC}"/>
              </a:ext>
            </a:extLst>
          </p:cNvPr>
          <p:cNvGraphicFramePr>
            <a:graphicFrameLocks noGrp="1"/>
          </p:cNvGraphicFramePr>
          <p:nvPr>
            <p:extLst>
              <p:ext uri="{D42A27DB-BD31-4B8C-83A1-F6EECF244321}">
                <p14:modId xmlns:p14="http://schemas.microsoft.com/office/powerpoint/2010/main" val="952006143"/>
              </p:ext>
            </p:extLst>
          </p:nvPr>
        </p:nvGraphicFramePr>
        <p:xfrm>
          <a:off x="188942" y="1160206"/>
          <a:ext cx="11814114" cy="4896466"/>
        </p:xfrm>
        <a:graphic>
          <a:graphicData uri="http://schemas.openxmlformats.org/drawingml/2006/table">
            <a:tbl>
              <a:tblPr firstRow="1" bandRow="1"/>
              <a:tblGrid>
                <a:gridCol w="999214">
                  <a:extLst>
                    <a:ext uri="{9D8B030D-6E8A-4147-A177-3AD203B41FA5}">
                      <a16:colId xmlns="" xmlns:a16="http://schemas.microsoft.com/office/drawing/2014/main" val="3553134890"/>
                    </a:ext>
                  </a:extLst>
                </a:gridCol>
                <a:gridCol w="1134525">
                  <a:extLst>
                    <a:ext uri="{9D8B030D-6E8A-4147-A177-3AD203B41FA5}">
                      <a16:colId xmlns="" xmlns:a16="http://schemas.microsoft.com/office/drawing/2014/main" val="3093012924"/>
                    </a:ext>
                  </a:extLst>
                </a:gridCol>
                <a:gridCol w="2508444">
                  <a:extLst>
                    <a:ext uri="{9D8B030D-6E8A-4147-A177-3AD203B41FA5}">
                      <a16:colId xmlns="" xmlns:a16="http://schemas.microsoft.com/office/drawing/2014/main" val="3413917862"/>
                    </a:ext>
                  </a:extLst>
                </a:gridCol>
                <a:gridCol w="1967203">
                  <a:extLst>
                    <a:ext uri="{9D8B030D-6E8A-4147-A177-3AD203B41FA5}">
                      <a16:colId xmlns="" xmlns:a16="http://schemas.microsoft.com/office/drawing/2014/main" val="2170773558"/>
                    </a:ext>
                  </a:extLst>
                </a:gridCol>
                <a:gridCol w="2112922">
                  <a:extLst>
                    <a:ext uri="{9D8B030D-6E8A-4147-A177-3AD203B41FA5}">
                      <a16:colId xmlns="" xmlns:a16="http://schemas.microsoft.com/office/drawing/2014/main" val="1620018930"/>
                    </a:ext>
                  </a:extLst>
                </a:gridCol>
                <a:gridCol w="1925569">
                  <a:extLst>
                    <a:ext uri="{9D8B030D-6E8A-4147-A177-3AD203B41FA5}">
                      <a16:colId xmlns="" xmlns:a16="http://schemas.microsoft.com/office/drawing/2014/main" val="555222249"/>
                    </a:ext>
                  </a:extLst>
                </a:gridCol>
                <a:gridCol w="1166237">
                  <a:extLst>
                    <a:ext uri="{9D8B030D-6E8A-4147-A177-3AD203B41FA5}">
                      <a16:colId xmlns="" xmlns:a16="http://schemas.microsoft.com/office/drawing/2014/main" val="2570250666"/>
                    </a:ext>
                  </a:extLst>
                </a:gridCol>
              </a:tblGrid>
              <a:tr h="1476712">
                <a:tc>
                  <a:txBody>
                    <a:bodyPr/>
                    <a:lstStyle/>
                    <a:p>
                      <a:pPr algn="just"/>
                      <a:r>
                        <a:rPr lang="en-IN" sz="1800" dirty="0">
                          <a:latin typeface="Times New Roman" panose="02020603050405020304" pitchFamily="18" charset="0"/>
                          <a:cs typeface="Times New Roman" panose="02020603050405020304" pitchFamily="18" charset="0"/>
                        </a:rPr>
                        <a:t>UTC03</a:t>
                      </a:r>
                    </a:p>
                  </a:txBody>
                  <a:tcPr/>
                </a:tc>
                <a:tc>
                  <a:txBody>
                    <a:bodyPr/>
                    <a:lstStyle/>
                    <a:p>
                      <a:pPr algn="just"/>
                      <a:r>
                        <a:rPr lang="en-IN" sz="1800">
                          <a:latin typeface="Times New Roman" panose="02020603050405020304" pitchFamily="18" charset="0"/>
                          <a:cs typeface="Times New Roman" panose="02020603050405020304" pitchFamily="18" charset="0"/>
                        </a:rPr>
                        <a:t>Form Validation (Registration &amp; Login)</a:t>
                      </a:r>
                    </a:p>
                  </a:txBody>
                  <a:tcPr/>
                </a:tc>
                <a:tc>
                  <a:txBody>
                    <a:bodyPr/>
                    <a:lstStyle/>
                    <a:p>
                      <a:pPr algn="just"/>
                      <a:r>
                        <a:rPr lang="en-IN" sz="1800" dirty="0">
                          <a:latin typeface="Times New Roman" panose="02020603050405020304" pitchFamily="18" charset="0"/>
                          <a:cs typeface="Times New Roman" panose="02020603050405020304" pitchFamily="18" charset="0"/>
                        </a:rPr>
                        <a:t>To validate input data for </a:t>
                      </a:r>
                      <a:r>
                        <a:rPr lang="en-IN" sz="1800" dirty="0" err="1">
                          <a:latin typeface="Times New Roman" panose="02020603050405020304" pitchFamily="18" charset="0"/>
                          <a:cs typeface="Times New Roman" panose="02020603050405020304" pitchFamily="18" charset="0"/>
                        </a:rPr>
                        <a:t>RegistrationForm</a:t>
                      </a:r>
                      <a:r>
                        <a:rPr lang="en-IN" sz="1800" dirty="0">
                          <a:latin typeface="Times New Roman" panose="02020603050405020304" pitchFamily="18" charset="0"/>
                          <a:cs typeface="Times New Roman" panose="02020603050405020304" pitchFamily="18" charset="0"/>
                        </a:rPr>
                        <a:t> and </a:t>
                      </a:r>
                      <a:r>
                        <a:rPr lang="en-IN" sz="1800" dirty="0" err="1">
                          <a:latin typeface="Times New Roman" panose="02020603050405020304" pitchFamily="18" charset="0"/>
                          <a:cs typeface="Times New Roman" panose="02020603050405020304" pitchFamily="18" charset="0"/>
                        </a:rPr>
                        <a:t>LoginForm</a:t>
                      </a:r>
                      <a:r>
                        <a:rPr lang="en-IN" sz="1800" dirty="0">
                          <a:latin typeface="Times New Roman" panose="02020603050405020304" pitchFamily="18" charset="0"/>
                          <a:cs typeface="Times New Roman" panose="02020603050405020304" pitchFamily="18" charset="0"/>
                        </a:rPr>
                        <a:t>.</a:t>
                      </a:r>
                    </a:p>
                  </a:txBody>
                  <a:tcPr/>
                </a:tc>
                <a:tc>
                  <a:txBody>
                    <a:bodyPr/>
                    <a:lstStyle/>
                    <a:p>
                      <a:pPr algn="just"/>
                      <a:r>
                        <a:rPr lang="en-US" sz="1800">
                          <a:latin typeface="Times New Roman" panose="02020603050405020304" pitchFamily="18" charset="0"/>
                          <a:cs typeface="Times New Roman" panose="02020603050405020304" pitchFamily="18" charset="0"/>
                        </a:rPr>
                        <a:t>Valid/invalid email, password, and username combinations</a:t>
                      </a:r>
                      <a:endParaRPr lang="en-IN" sz="1800">
                        <a:latin typeface="Times New Roman" panose="02020603050405020304" pitchFamily="18" charset="0"/>
                        <a:cs typeface="Times New Roman" panose="02020603050405020304" pitchFamily="18" charset="0"/>
                      </a:endParaRPr>
                    </a:p>
                  </a:txBody>
                  <a:tcPr/>
                </a:tc>
                <a:tc>
                  <a:txBody>
                    <a:bodyPr/>
                    <a:lstStyle/>
                    <a:p>
                      <a:pPr algn="just"/>
                      <a:r>
                        <a:rPr lang="en-US" sz="1800">
                          <a:latin typeface="Times New Roman" panose="02020603050405020304" pitchFamily="18" charset="0"/>
                          <a:cs typeface="Times New Roman" panose="02020603050405020304" pitchFamily="18" charset="0"/>
                        </a:rPr>
                        <a:t>Forms accept valid inputs, reject invalid/duplicate entries.</a:t>
                      </a:r>
                      <a:endParaRPr lang="en-IN" sz="1800">
                        <a:latin typeface="Times New Roman" panose="02020603050405020304" pitchFamily="18" charset="0"/>
                        <a:cs typeface="Times New Roman" panose="02020603050405020304" pitchFamily="18" charset="0"/>
                      </a:endParaRPr>
                    </a:p>
                  </a:txBody>
                  <a:tcPr/>
                </a:tc>
                <a:tc>
                  <a:txBody>
                    <a:bodyPr/>
                    <a:lstStyle/>
                    <a:p>
                      <a:pPr algn="just"/>
                      <a:r>
                        <a:rPr lang="en-US" sz="1800">
                          <a:latin typeface="Times New Roman" panose="02020603050405020304" pitchFamily="18" charset="0"/>
                          <a:cs typeface="Times New Roman" panose="02020603050405020304" pitchFamily="18" charset="0"/>
                        </a:rPr>
                        <a:t>Validation and error handling performed as expected.</a:t>
                      </a:r>
                      <a:endParaRPr lang="en-IN" sz="1800">
                        <a:latin typeface="Times New Roman" panose="02020603050405020304" pitchFamily="18" charset="0"/>
                        <a:cs typeface="Times New Roman" panose="02020603050405020304" pitchFamily="18" charset="0"/>
                      </a:endParaRPr>
                    </a:p>
                  </a:txBody>
                  <a:tcPr/>
                </a:tc>
                <a:tc>
                  <a:txBody>
                    <a:bodyPr/>
                    <a:lstStyle/>
                    <a:p>
                      <a:pPr algn="just"/>
                      <a:r>
                        <a:rPr lang="en-IN" sz="1800">
                          <a:latin typeface="Times New Roman" panose="02020603050405020304" pitchFamily="18" charset="0"/>
                          <a:cs typeface="Times New Roman" panose="02020603050405020304" pitchFamily="18" charset="0"/>
                        </a:rPr>
                        <a:t>Success</a:t>
                      </a:r>
                    </a:p>
                  </a:txBody>
                  <a:tcPr/>
                </a:tc>
                <a:extLst>
                  <a:ext uri="{0D108BD9-81ED-4DB2-BD59-A6C34878D82A}">
                    <a16:rowId xmlns="" xmlns:a16="http://schemas.microsoft.com/office/drawing/2014/main" val="3136290158"/>
                  </a:ext>
                </a:extLst>
              </a:tr>
              <a:tr h="1943042">
                <a:tc>
                  <a:txBody>
                    <a:bodyPr/>
                    <a:lstStyle/>
                    <a:p>
                      <a:pPr algn="just"/>
                      <a:r>
                        <a:rPr lang="en-IN" sz="1800">
                          <a:latin typeface="Times New Roman" panose="02020603050405020304" pitchFamily="18" charset="0"/>
                          <a:cs typeface="Times New Roman" panose="02020603050405020304" pitchFamily="18" charset="0"/>
                        </a:rPr>
                        <a:t>UTC04</a:t>
                      </a:r>
                    </a:p>
                  </a:txBody>
                  <a:tcPr/>
                </a:tc>
                <a:tc>
                  <a:txBody>
                    <a:bodyPr/>
                    <a:lstStyle/>
                    <a:p>
                      <a:pPr algn="just"/>
                      <a:r>
                        <a:rPr lang="en-IN" sz="1800">
                          <a:latin typeface="Times New Roman" panose="02020603050405020304" pitchFamily="18" charset="0"/>
                          <a:cs typeface="Times New Roman" panose="02020603050405020304" pitchFamily="18" charset="0"/>
                        </a:rPr>
                        <a:t>EEG Data Preprocessing</a:t>
                      </a:r>
                    </a:p>
                  </a:txBody>
                  <a:tcPr/>
                </a:tc>
                <a:tc>
                  <a:txBody>
                    <a:bodyPr/>
                    <a:lstStyle/>
                    <a:p>
                      <a:pPr algn="just"/>
                      <a:r>
                        <a:rPr lang="en-US" sz="1800" dirty="0">
                          <a:latin typeface="Times New Roman" panose="02020603050405020304" pitchFamily="18" charset="0"/>
                          <a:cs typeface="Times New Roman" panose="02020603050405020304" pitchFamily="18" charset="0"/>
                        </a:rPr>
                        <a:t>To verify preprocessing steps using MNE-Python functions.</a:t>
                      </a:r>
                      <a:endParaRPr lang="en-IN" sz="1800" dirty="0">
                        <a:latin typeface="Times New Roman" panose="02020603050405020304" pitchFamily="18" charset="0"/>
                        <a:cs typeface="Times New Roman" panose="02020603050405020304" pitchFamily="18" charset="0"/>
                      </a:endParaRPr>
                    </a:p>
                  </a:txBody>
                  <a:tcPr/>
                </a:tc>
                <a:tc>
                  <a:txBody>
                    <a:bodyPr/>
                    <a:lstStyle/>
                    <a:p>
                      <a:pPr algn="just"/>
                      <a:r>
                        <a:rPr lang="en-US" sz="1800">
                          <a:latin typeface="Times New Roman" panose="02020603050405020304" pitchFamily="18" charset="0"/>
                          <a:cs typeface="Times New Roman" panose="02020603050405020304" pitchFamily="18" charset="0"/>
                        </a:rPr>
                        <a:t>EEG </a:t>
                      </a:r>
                      <a:r>
                        <a:rPr lang="en-US" sz="1800" kern="1200">
                          <a:solidFill>
                            <a:schemeClr val="tx1"/>
                          </a:solidFill>
                          <a:latin typeface="Times New Roman" panose="02020603050405020304" pitchFamily="18" charset="0"/>
                          <a:ea typeface="+mn-ea"/>
                          <a:cs typeface="Times New Roman" panose="02020603050405020304" pitchFamily="18" charset="0"/>
                        </a:rPr>
                        <a:t>.edf</a:t>
                      </a:r>
                      <a:r>
                        <a:rPr lang="en-US" sz="1800">
                          <a:latin typeface="Times New Roman" panose="02020603050405020304" pitchFamily="18" charset="0"/>
                          <a:cs typeface="Times New Roman" panose="02020603050405020304" pitchFamily="18" charset="0"/>
                        </a:rPr>
                        <a:t> files (valid and invalid)</a:t>
                      </a:r>
                      <a:endParaRPr lang="en-IN" sz="1800">
                        <a:latin typeface="Times New Roman" panose="02020603050405020304" pitchFamily="18" charset="0"/>
                        <a:cs typeface="Times New Roman" panose="02020603050405020304" pitchFamily="18" charset="0"/>
                      </a:endParaRPr>
                    </a:p>
                  </a:txBody>
                  <a:tcPr/>
                </a:tc>
                <a:tc>
                  <a:txBody>
                    <a:bodyPr/>
                    <a:lstStyle/>
                    <a:p>
                      <a:pPr algn="just"/>
                      <a:r>
                        <a:rPr lang="en-US" sz="1800">
                          <a:latin typeface="Times New Roman" panose="02020603050405020304" pitchFamily="18" charset="0"/>
                          <a:cs typeface="Times New Roman" panose="02020603050405020304" pitchFamily="18" charset="0"/>
                        </a:rPr>
                        <a:t>Data loaded, filtered (0.5–45 Hz), resampled to 256 Hz, ICA applied, normalized, and windowed correctly.</a:t>
                      </a:r>
                      <a:endParaRPr lang="en-IN" sz="1800">
                        <a:latin typeface="Times New Roman" panose="02020603050405020304" pitchFamily="18" charset="0"/>
                        <a:cs typeface="Times New Roman" panose="02020603050405020304" pitchFamily="18" charset="0"/>
                      </a:endParaRPr>
                    </a:p>
                  </a:txBody>
                  <a:tcPr/>
                </a:tc>
                <a:tc>
                  <a:txBody>
                    <a:bodyPr/>
                    <a:lstStyle/>
                    <a:p>
                      <a:pPr algn="just"/>
                      <a:r>
                        <a:rPr lang="en-US" sz="1800">
                          <a:latin typeface="Times New Roman" panose="02020603050405020304" pitchFamily="18" charset="0"/>
                          <a:cs typeface="Times New Roman" panose="02020603050405020304" pitchFamily="18" charset="0"/>
                        </a:rPr>
                        <a:t>Each preprocessing function executed correctly, invalid files handled gracefully.</a:t>
                      </a:r>
                      <a:endParaRPr lang="en-IN" sz="1800">
                        <a:latin typeface="Times New Roman" panose="02020603050405020304" pitchFamily="18" charset="0"/>
                        <a:cs typeface="Times New Roman" panose="02020603050405020304" pitchFamily="18" charset="0"/>
                      </a:endParaRPr>
                    </a:p>
                  </a:txBody>
                  <a:tcPr/>
                </a:tc>
                <a:tc>
                  <a:txBody>
                    <a:bodyPr/>
                    <a:lstStyle/>
                    <a:p>
                      <a:pPr algn="just"/>
                      <a:r>
                        <a:rPr lang="en-IN" sz="1800">
                          <a:latin typeface="Times New Roman" panose="02020603050405020304" pitchFamily="18" charset="0"/>
                          <a:cs typeface="Times New Roman" panose="02020603050405020304" pitchFamily="18" charset="0"/>
                        </a:rPr>
                        <a:t>Success</a:t>
                      </a:r>
                    </a:p>
                  </a:txBody>
                  <a:tcPr/>
                </a:tc>
                <a:extLst>
                  <a:ext uri="{0D108BD9-81ED-4DB2-BD59-A6C34878D82A}">
                    <a16:rowId xmlns="" xmlns:a16="http://schemas.microsoft.com/office/drawing/2014/main" val="1735844990"/>
                  </a:ext>
                </a:extLst>
              </a:tr>
              <a:tr h="1476712">
                <a:tc>
                  <a:txBody>
                    <a:bodyPr/>
                    <a:lstStyle/>
                    <a:p>
                      <a:pPr algn="just"/>
                      <a:r>
                        <a:rPr lang="en-IN" sz="1800">
                          <a:latin typeface="Times New Roman" panose="02020603050405020304" pitchFamily="18" charset="0"/>
                          <a:cs typeface="Times New Roman" panose="02020603050405020304" pitchFamily="18" charset="0"/>
                        </a:rPr>
                        <a:t>UTC05</a:t>
                      </a:r>
                    </a:p>
                  </a:txBody>
                  <a:tcPr/>
                </a:tc>
                <a:tc>
                  <a:txBody>
                    <a:bodyPr/>
                    <a:lstStyle/>
                    <a:p>
                      <a:pPr algn="just"/>
                      <a:r>
                        <a:rPr lang="en-US" sz="1800">
                          <a:latin typeface="Times New Roman" panose="02020603050405020304" pitchFamily="18" charset="0"/>
                          <a:cs typeface="Times New Roman" panose="02020603050405020304" pitchFamily="18" charset="0"/>
                        </a:rPr>
                        <a:t>Keras Model Loading and Prediction</a:t>
                      </a:r>
                      <a:endParaRPr lang="en-IN" sz="1800">
                        <a:latin typeface="Times New Roman" panose="02020603050405020304" pitchFamily="18" charset="0"/>
                        <a:cs typeface="Times New Roman" panose="02020603050405020304" pitchFamily="18" charset="0"/>
                      </a:endParaRPr>
                    </a:p>
                  </a:txBody>
                  <a:tcPr/>
                </a:tc>
                <a:tc>
                  <a:txBody>
                    <a:bodyPr/>
                    <a:lstStyle/>
                    <a:p>
                      <a:pPr algn="just"/>
                      <a:r>
                        <a:rPr lang="en-US" sz="1800">
                          <a:latin typeface="Times New Roman" panose="02020603050405020304" pitchFamily="18" charset="0"/>
                          <a:cs typeface="Times New Roman" panose="02020603050405020304" pitchFamily="18" charset="0"/>
                        </a:rPr>
                        <a:t>To ensure model loads and performs prediction with correct input shape.</a:t>
                      </a:r>
                      <a:endParaRPr lang="en-IN" sz="1800">
                        <a:latin typeface="Times New Roman" panose="02020603050405020304" pitchFamily="18" charset="0"/>
                        <a:cs typeface="Times New Roman" panose="02020603050405020304" pitchFamily="18" charset="0"/>
                      </a:endParaRPr>
                    </a:p>
                  </a:txBody>
                  <a:tcPr/>
                </a:tc>
                <a:tc>
                  <a:txBody>
                    <a:bodyPr/>
                    <a:lstStyle/>
                    <a:p>
                      <a:pPr algn="just"/>
                      <a:r>
                        <a:rPr lang="en-US" sz="1800">
                          <a:latin typeface="Times New Roman" panose="02020603050405020304" pitchFamily="18" charset="0"/>
                          <a:cs typeface="Times New Roman" panose="02020603050405020304" pitchFamily="18" charset="0"/>
                        </a:rPr>
                        <a:t>Dummy EEG input of shape (1, 19, 256)</a:t>
                      </a:r>
                      <a:endParaRPr lang="en-IN" sz="1800">
                        <a:latin typeface="Times New Roman" panose="02020603050405020304" pitchFamily="18" charset="0"/>
                        <a:cs typeface="Times New Roman" panose="02020603050405020304" pitchFamily="18" charset="0"/>
                      </a:endParaRPr>
                    </a:p>
                  </a:txBody>
                  <a:tcPr/>
                </a:tc>
                <a:tc>
                  <a:txBody>
                    <a:bodyPr/>
                    <a:lstStyle/>
                    <a:p>
                      <a:pPr algn="just"/>
                      <a:r>
                        <a:rPr lang="en-US" sz="1800" dirty="0">
                          <a:latin typeface="Times New Roman" panose="02020603050405020304" pitchFamily="18" charset="0"/>
                          <a:cs typeface="Times New Roman" panose="02020603050405020304" pitchFamily="18" charset="0"/>
                        </a:rPr>
                        <a:t>Model loads successfully and returns valid prediction output.</a:t>
                      </a:r>
                      <a:endParaRPr lang="en-IN" sz="1800" dirty="0">
                        <a:latin typeface="Times New Roman" panose="02020603050405020304" pitchFamily="18" charset="0"/>
                        <a:cs typeface="Times New Roman" panose="02020603050405020304" pitchFamily="18" charset="0"/>
                      </a:endParaRPr>
                    </a:p>
                  </a:txBody>
                  <a:tcPr/>
                </a:tc>
                <a:tc>
                  <a:txBody>
                    <a:bodyPr/>
                    <a:lstStyle/>
                    <a:p>
                      <a:pPr algn="just"/>
                      <a:r>
                        <a:rPr lang="en-US" sz="1800">
                          <a:latin typeface="Times New Roman" panose="02020603050405020304" pitchFamily="18" charset="0"/>
                          <a:cs typeface="Times New Roman" panose="02020603050405020304" pitchFamily="18" charset="0"/>
                        </a:rPr>
                        <a:t>Model loaded without error and predicted correctly.</a:t>
                      </a:r>
                      <a:endParaRPr lang="en-IN" sz="1800">
                        <a:latin typeface="Times New Roman" panose="02020603050405020304" pitchFamily="18" charset="0"/>
                        <a:cs typeface="Times New Roman" panose="02020603050405020304" pitchFamily="18" charset="0"/>
                      </a:endParaRPr>
                    </a:p>
                  </a:txBody>
                  <a:tcPr/>
                </a:tc>
                <a:tc>
                  <a:txBody>
                    <a:bodyPr/>
                    <a:lstStyle/>
                    <a:p>
                      <a:pPr algn="just"/>
                      <a:r>
                        <a:rPr lang="en-IN" sz="1800" dirty="0">
                          <a:latin typeface="Times New Roman" panose="02020603050405020304" pitchFamily="18" charset="0"/>
                          <a:cs typeface="Times New Roman" panose="02020603050405020304" pitchFamily="18" charset="0"/>
                        </a:rPr>
                        <a:t>Success</a:t>
                      </a:r>
                    </a:p>
                  </a:txBody>
                  <a:tcPr/>
                </a:tc>
                <a:extLst>
                  <a:ext uri="{0D108BD9-81ED-4DB2-BD59-A6C34878D82A}">
                    <a16:rowId xmlns="" xmlns:a16="http://schemas.microsoft.com/office/drawing/2014/main" val="554589556"/>
                  </a:ext>
                </a:extLst>
              </a:tr>
            </a:tbl>
          </a:graphicData>
        </a:graphic>
      </p:graphicFrame>
    </p:spTree>
    <p:extLst>
      <p:ext uri="{BB962C8B-B14F-4D97-AF65-F5344CB8AC3E}">
        <p14:creationId xmlns:p14="http://schemas.microsoft.com/office/powerpoint/2010/main" val="2425759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0CF527BE-3BB2-4CA1-9618-79BE86DD4360}"/>
              </a:ext>
            </a:extLst>
          </p:cNvPr>
          <p:cNvSpPr>
            <a:spLocks noGrp="1"/>
          </p:cNvSpPr>
          <p:nvPr>
            <p:ph type="dt" sz="half" idx="10"/>
          </p:nvPr>
        </p:nvSpPr>
        <p:spPr>
          <a:xfrm>
            <a:off x="1097280" y="6459785"/>
            <a:ext cx="2472271" cy="365125"/>
          </a:xfrm>
        </p:spPr>
        <p:txBody>
          <a:bodyPr/>
          <a:lstStyle/>
          <a:p>
            <a:r>
              <a:rPr lang="en-US"/>
              <a:t>Dept of AI&amp;DS, SJCIT</a:t>
            </a:r>
            <a:endParaRPr lang="en-IN"/>
          </a:p>
        </p:txBody>
      </p:sp>
      <p:sp>
        <p:nvSpPr>
          <p:cNvPr id="3" name="Footer Placeholder 2">
            <a:extLst>
              <a:ext uri="{FF2B5EF4-FFF2-40B4-BE49-F238E27FC236}">
                <a16:creationId xmlns="" xmlns:a16="http://schemas.microsoft.com/office/drawing/2014/main" id="{F26453B4-C0CE-4079-8F88-57882DB1FEBB}"/>
              </a:ext>
            </a:extLst>
          </p:cNvPr>
          <p:cNvSpPr>
            <a:spLocks noGrp="1"/>
          </p:cNvSpPr>
          <p:nvPr>
            <p:ph type="ftr" sz="quarter" idx="11"/>
          </p:nvPr>
        </p:nvSpPr>
        <p:spPr>
          <a:xfrm>
            <a:off x="3686185" y="6459785"/>
            <a:ext cx="4822804" cy="365125"/>
          </a:xfrm>
        </p:spPr>
        <p:txBody>
          <a:bodyPr/>
          <a:lstStyle/>
          <a:p>
            <a:r>
              <a:rPr lang="en-IN"/>
              <a:t>2025-26</a:t>
            </a:r>
          </a:p>
        </p:txBody>
      </p:sp>
      <p:sp>
        <p:nvSpPr>
          <p:cNvPr id="4" name="Slide Number Placeholder 3">
            <a:extLst>
              <a:ext uri="{FF2B5EF4-FFF2-40B4-BE49-F238E27FC236}">
                <a16:creationId xmlns="" xmlns:a16="http://schemas.microsoft.com/office/drawing/2014/main" id="{B3E21C1E-22A1-4C80-A0BF-E41A441AD6D0}"/>
              </a:ext>
            </a:extLst>
          </p:cNvPr>
          <p:cNvSpPr>
            <a:spLocks noGrp="1"/>
          </p:cNvSpPr>
          <p:nvPr>
            <p:ph type="sldNum" sz="quarter" idx="12"/>
          </p:nvPr>
        </p:nvSpPr>
        <p:spPr>
          <a:xfrm>
            <a:off x="9900458" y="6459785"/>
            <a:ext cx="1312025" cy="365125"/>
          </a:xfrm>
        </p:spPr>
        <p:txBody>
          <a:bodyPr/>
          <a:lstStyle/>
          <a:p>
            <a:fld id="{69FBB93A-4B32-4007-AACF-5243CED557C7}" type="slidenum">
              <a:rPr lang="en-IN" smtClean="0"/>
              <a:t>20</a:t>
            </a:fld>
            <a:endParaRPr lang="en-IN"/>
          </a:p>
        </p:txBody>
      </p:sp>
      <p:pic>
        <p:nvPicPr>
          <p:cNvPr id="5" name="Picture 4">
            <a:extLst>
              <a:ext uri="{FF2B5EF4-FFF2-40B4-BE49-F238E27FC236}">
                <a16:creationId xmlns="" xmlns:a16="http://schemas.microsoft.com/office/drawing/2014/main" id="{38B757B9-0255-46A3-8524-011D0411DD75}"/>
              </a:ext>
            </a:extLst>
          </p:cNvPr>
          <p:cNvPicPr>
            <a:picLocks noChangeAspect="1"/>
          </p:cNvPicPr>
          <p:nvPr/>
        </p:nvPicPr>
        <p:blipFill>
          <a:blip r:embed="rId2"/>
          <a:stretch>
            <a:fillRect/>
          </a:stretch>
        </p:blipFill>
        <p:spPr>
          <a:xfrm>
            <a:off x="10421908" y="198489"/>
            <a:ext cx="1581150" cy="876300"/>
          </a:xfrm>
          <a:prstGeom prst="rect">
            <a:avLst/>
          </a:prstGeom>
        </p:spPr>
      </p:pic>
      <p:sp>
        <p:nvSpPr>
          <p:cNvPr id="6" name="TextBox 5">
            <a:extLst>
              <a:ext uri="{FF2B5EF4-FFF2-40B4-BE49-F238E27FC236}">
                <a16:creationId xmlns="" xmlns:a16="http://schemas.microsoft.com/office/drawing/2014/main" id="{6F0FEFD3-4401-412F-BB3C-4EE562E05F04}"/>
              </a:ext>
            </a:extLst>
          </p:cNvPr>
          <p:cNvSpPr txBox="1"/>
          <p:nvPr/>
        </p:nvSpPr>
        <p:spPr>
          <a:xfrm>
            <a:off x="88490" y="33091"/>
            <a:ext cx="9055510" cy="215444"/>
          </a:xfrm>
          <a:prstGeom prst="rect">
            <a:avLst/>
          </a:prstGeom>
          <a:noFill/>
        </p:spPr>
        <p:txBody>
          <a:bodyPr wrap="square">
            <a:spAutoFit/>
          </a:bodyPr>
          <a:lstStyle/>
          <a:p>
            <a:r>
              <a:rPr lang="en-IN" sz="800" kern="1200">
                <a:solidFill>
                  <a:srgbClr val="000000"/>
                </a:solidFill>
                <a:effectLst/>
                <a:latin typeface="Tahoma" panose="020B0604030504040204" pitchFamily="34" charset="0"/>
                <a:ea typeface="Tahoma" panose="020B0604030504040204" pitchFamily="34" charset="0"/>
                <a:cs typeface="Tahoma" panose="020B0604030504040204" pitchFamily="34" charset="0"/>
              </a:rPr>
              <a:t>A Hybrid Neural Network for EEG-based Depression Screening Using CNN</a:t>
            </a:r>
            <a:r>
              <a:rPr lang="en-IN" sz="800">
                <a:latin typeface="Times New Roman" panose="02020603050405020304" pitchFamily="18" charset="0"/>
                <a:ea typeface="Tahoma" panose="020B0604030504040204" pitchFamily="34" charset="0"/>
                <a:cs typeface="Times New Roman" panose="02020603050405020304" pitchFamily="18" charset="0"/>
              </a:rPr>
              <a:t> +LSTM</a:t>
            </a:r>
            <a:endParaRPr lang="en-IN" sz="800">
              <a:effectLst/>
            </a:endParaRPr>
          </a:p>
        </p:txBody>
      </p:sp>
      <p:sp>
        <p:nvSpPr>
          <p:cNvPr id="7" name="TextBox 6">
            <a:extLst>
              <a:ext uri="{FF2B5EF4-FFF2-40B4-BE49-F238E27FC236}">
                <a16:creationId xmlns="" xmlns:a16="http://schemas.microsoft.com/office/drawing/2014/main" id="{A65D4B5A-529C-4CF6-B023-296BDFEBB9CC}"/>
              </a:ext>
            </a:extLst>
          </p:cNvPr>
          <p:cNvSpPr txBox="1"/>
          <p:nvPr/>
        </p:nvSpPr>
        <p:spPr>
          <a:xfrm>
            <a:off x="727586" y="491613"/>
            <a:ext cx="8416413" cy="458074"/>
          </a:xfrm>
          <a:prstGeom prst="rect">
            <a:avLst/>
          </a:prstGeom>
          <a:noFill/>
        </p:spPr>
        <p:txBody>
          <a:bodyPr wrap="square">
            <a:spAutoFit/>
          </a:bodyPr>
          <a:lstStyle/>
          <a:p>
            <a:pPr algn="just">
              <a:lnSpc>
                <a:spcPct val="150000"/>
              </a:lnSpc>
            </a:pPr>
            <a:r>
              <a:rPr lang="en-US" b="1">
                <a:latin typeface="Times New Roman" panose="02020603050405020304" pitchFamily="18" charset="0"/>
                <a:cs typeface="Times New Roman" panose="02020603050405020304" pitchFamily="18" charset="0"/>
              </a:rPr>
              <a:t>  2. INTEGRATED TESTING</a:t>
            </a:r>
            <a:r>
              <a:rPr lang="en-US" sz="1800" b="1">
                <a:latin typeface="Times New Roman" panose="02020603050405020304" pitchFamily="18" charset="0"/>
                <a:cs typeface="Times New Roman" panose="02020603050405020304" pitchFamily="18" charset="0"/>
              </a:rPr>
              <a:t>:</a:t>
            </a:r>
            <a:endParaRPr lang="en-IN" sz="1800" b="1" dirty="0">
              <a:latin typeface="Times New Roman" panose="02020603050405020304" pitchFamily="18" charset="0"/>
              <a:cs typeface="Times New Roman" panose="02020603050405020304" pitchFamily="18" charset="0"/>
            </a:endParaRPr>
          </a:p>
        </p:txBody>
      </p:sp>
      <p:graphicFrame>
        <p:nvGraphicFramePr>
          <p:cNvPr id="8" name="Table 7">
            <a:extLst>
              <a:ext uri="{FF2B5EF4-FFF2-40B4-BE49-F238E27FC236}">
                <a16:creationId xmlns="" xmlns:a16="http://schemas.microsoft.com/office/drawing/2014/main" id="{94B79CD9-E27E-41E0-93FB-3B78B14037C3}"/>
              </a:ext>
            </a:extLst>
          </p:cNvPr>
          <p:cNvGraphicFramePr>
            <a:graphicFrameLocks noGrp="1"/>
          </p:cNvGraphicFramePr>
          <p:nvPr>
            <p:extLst>
              <p:ext uri="{D42A27DB-BD31-4B8C-83A1-F6EECF244321}">
                <p14:modId xmlns:p14="http://schemas.microsoft.com/office/powerpoint/2010/main" val="1582657408"/>
              </p:ext>
            </p:extLst>
          </p:nvPr>
        </p:nvGraphicFramePr>
        <p:xfrm>
          <a:off x="870821" y="1405375"/>
          <a:ext cx="9901082" cy="4353258"/>
        </p:xfrm>
        <a:graphic>
          <a:graphicData uri="http://schemas.openxmlformats.org/drawingml/2006/table">
            <a:tbl>
              <a:tblPr firstRow="1" bandRow="1">
                <a:tableStyleId>{5940675A-B579-460E-94D1-54222C63F5DA}</a:tableStyleId>
              </a:tblPr>
              <a:tblGrid>
                <a:gridCol w="2480842">
                  <a:extLst>
                    <a:ext uri="{9D8B030D-6E8A-4147-A177-3AD203B41FA5}">
                      <a16:colId xmlns="" xmlns:a16="http://schemas.microsoft.com/office/drawing/2014/main" val="4101911043"/>
                    </a:ext>
                  </a:extLst>
                </a:gridCol>
                <a:gridCol w="7420240">
                  <a:extLst>
                    <a:ext uri="{9D8B030D-6E8A-4147-A177-3AD203B41FA5}">
                      <a16:colId xmlns="" xmlns:a16="http://schemas.microsoft.com/office/drawing/2014/main" val="2587503188"/>
                    </a:ext>
                  </a:extLst>
                </a:gridCol>
              </a:tblGrid>
              <a:tr h="522719">
                <a:tc>
                  <a:txBody>
                    <a:bodyPr/>
                    <a:lstStyle/>
                    <a:p>
                      <a:pPr algn="just"/>
                      <a:r>
                        <a:rPr lang="en-US" dirty="0">
                          <a:latin typeface="Times New Roman" panose="02020603050405020304" pitchFamily="18" charset="0"/>
                          <a:cs typeface="Times New Roman" panose="02020603050405020304" pitchFamily="18" charset="0"/>
                        </a:rPr>
                        <a:t>Test Case</a:t>
                      </a:r>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IN">
                          <a:latin typeface="Times New Roman" panose="02020603050405020304" pitchFamily="18" charset="0"/>
                          <a:cs typeface="Times New Roman" panose="02020603050405020304" pitchFamily="18" charset="0"/>
                        </a:rPr>
                        <a:t>ITC01</a:t>
                      </a:r>
                    </a:p>
                  </a:txBody>
                  <a:tcPr/>
                </a:tc>
                <a:extLst>
                  <a:ext uri="{0D108BD9-81ED-4DB2-BD59-A6C34878D82A}">
                    <a16:rowId xmlns="" xmlns:a16="http://schemas.microsoft.com/office/drawing/2014/main" val="3863623940"/>
                  </a:ext>
                </a:extLst>
              </a:tr>
              <a:tr h="522719">
                <a:tc>
                  <a:txBody>
                    <a:bodyPr/>
                    <a:lstStyle/>
                    <a:p>
                      <a:pPr algn="just"/>
                      <a:r>
                        <a:rPr lang="en-US">
                          <a:latin typeface="Times New Roman" panose="02020603050405020304" pitchFamily="18" charset="0"/>
                          <a:cs typeface="Times New Roman" panose="02020603050405020304" pitchFamily="18" charset="0"/>
                        </a:rPr>
                        <a:t>Test Name</a:t>
                      </a:r>
                      <a:endParaRPr lang="en-IN">
                        <a:latin typeface="Times New Roman" panose="02020603050405020304" pitchFamily="18" charset="0"/>
                        <a:cs typeface="Times New Roman" panose="02020603050405020304" pitchFamily="18" charset="0"/>
                      </a:endParaRPr>
                    </a:p>
                  </a:txBody>
                  <a:tcPr/>
                </a:tc>
                <a:tc>
                  <a:txBody>
                    <a:bodyPr/>
                    <a:lstStyle/>
                    <a:p>
                      <a:pPr algn="just"/>
                      <a:r>
                        <a:rPr lang="en-US">
                          <a:latin typeface="Times New Roman" panose="02020603050405020304" pitchFamily="18" charset="0"/>
                          <a:cs typeface="Times New Roman" panose="02020603050405020304" pitchFamily="18" charset="0"/>
                        </a:rPr>
                        <a:t>Module Interaction and Data Flow Validation</a:t>
                      </a:r>
                      <a:endParaRPr lang="en-IN">
                        <a:latin typeface="Times New Roman" panose="02020603050405020304" pitchFamily="18" charset="0"/>
                        <a:cs typeface="Times New Roman" panose="02020603050405020304" pitchFamily="18" charset="0"/>
                      </a:endParaRPr>
                    </a:p>
                  </a:txBody>
                  <a:tcPr/>
                </a:tc>
                <a:extLst>
                  <a:ext uri="{0D108BD9-81ED-4DB2-BD59-A6C34878D82A}">
                    <a16:rowId xmlns="" xmlns:a16="http://schemas.microsoft.com/office/drawing/2014/main" val="3348611462"/>
                  </a:ext>
                </a:extLst>
              </a:tr>
              <a:tr h="673548">
                <a:tc>
                  <a:txBody>
                    <a:bodyPr/>
                    <a:lstStyle/>
                    <a:p>
                      <a:pPr algn="just"/>
                      <a:r>
                        <a:rPr lang="en-US">
                          <a:latin typeface="Times New Roman" panose="02020603050405020304" pitchFamily="18" charset="0"/>
                          <a:cs typeface="Times New Roman" panose="02020603050405020304" pitchFamily="18" charset="0"/>
                        </a:rPr>
                        <a:t>Test Description</a:t>
                      </a:r>
                      <a:endParaRPr lang="en-IN">
                        <a:latin typeface="Times New Roman" panose="02020603050405020304" pitchFamily="18" charset="0"/>
                        <a:cs typeface="Times New Roman" panose="02020603050405020304" pitchFamily="18" charset="0"/>
                      </a:endParaRPr>
                    </a:p>
                  </a:txBody>
                  <a:tcPr/>
                </a:tc>
                <a:tc>
                  <a:txBody>
                    <a:bodyPr/>
                    <a:lstStyle/>
                    <a:p>
                      <a:pPr algn="just"/>
                      <a:r>
                        <a:rPr lang="en-US">
                          <a:latin typeface="Times New Roman" panose="02020603050405020304" pitchFamily="18" charset="0"/>
                          <a:cs typeface="Times New Roman" panose="02020603050405020304" pitchFamily="18" charset="0"/>
                        </a:rPr>
                        <a:t>To verify that integrated modules function correctly and data flows seamlessly between system components.</a:t>
                      </a:r>
                      <a:endParaRPr lang="en-IN">
                        <a:latin typeface="Times New Roman" panose="02020603050405020304" pitchFamily="18" charset="0"/>
                        <a:cs typeface="Times New Roman" panose="02020603050405020304" pitchFamily="18" charset="0"/>
                      </a:endParaRPr>
                    </a:p>
                  </a:txBody>
                  <a:tcPr/>
                </a:tc>
                <a:extLst>
                  <a:ext uri="{0D108BD9-81ED-4DB2-BD59-A6C34878D82A}">
                    <a16:rowId xmlns="" xmlns:a16="http://schemas.microsoft.com/office/drawing/2014/main" val="3079092334"/>
                  </a:ext>
                </a:extLst>
              </a:tr>
              <a:tr h="522719">
                <a:tc>
                  <a:txBody>
                    <a:bodyPr/>
                    <a:lstStyle/>
                    <a:p>
                      <a:pPr algn="just"/>
                      <a:r>
                        <a:rPr lang="en-US">
                          <a:latin typeface="Times New Roman" panose="02020603050405020304" pitchFamily="18" charset="0"/>
                          <a:cs typeface="Times New Roman" panose="02020603050405020304" pitchFamily="18" charset="0"/>
                        </a:rPr>
                        <a:t>Input</a:t>
                      </a:r>
                      <a:endParaRPr lang="en-IN">
                        <a:latin typeface="Times New Roman" panose="02020603050405020304" pitchFamily="18" charset="0"/>
                        <a:cs typeface="Times New Roman" panose="02020603050405020304" pitchFamily="18" charset="0"/>
                      </a:endParaRPr>
                    </a:p>
                  </a:txBody>
                  <a:tcPr/>
                </a:tc>
                <a:tc>
                  <a:txBody>
                    <a:bodyPr/>
                    <a:lstStyle/>
                    <a:p>
                      <a:pPr algn="just"/>
                      <a:r>
                        <a:rPr lang="en-US">
                          <a:latin typeface="Times New Roman" panose="02020603050405020304" pitchFamily="18" charset="0"/>
                          <a:cs typeface="Times New Roman" panose="02020603050405020304" pitchFamily="18" charset="0"/>
                        </a:rPr>
                        <a:t>User registration, login, EEG file upload, and prediction requests.</a:t>
                      </a:r>
                      <a:endParaRPr lang="en-IN">
                        <a:latin typeface="Times New Roman" panose="02020603050405020304" pitchFamily="18" charset="0"/>
                        <a:cs typeface="Times New Roman" panose="02020603050405020304" pitchFamily="18" charset="0"/>
                      </a:endParaRPr>
                    </a:p>
                  </a:txBody>
                  <a:tcPr/>
                </a:tc>
                <a:extLst>
                  <a:ext uri="{0D108BD9-81ED-4DB2-BD59-A6C34878D82A}">
                    <a16:rowId xmlns="" xmlns:a16="http://schemas.microsoft.com/office/drawing/2014/main" val="2262227948"/>
                  </a:ext>
                </a:extLst>
              </a:tr>
              <a:tr h="915286">
                <a:tc>
                  <a:txBody>
                    <a:bodyPr/>
                    <a:lstStyle/>
                    <a:p>
                      <a:pPr algn="just"/>
                      <a:r>
                        <a:rPr lang="en-US">
                          <a:latin typeface="Times New Roman" panose="02020603050405020304" pitchFamily="18" charset="0"/>
                          <a:cs typeface="Times New Roman" panose="02020603050405020304" pitchFamily="18" charset="0"/>
                        </a:rPr>
                        <a:t>Expected Output</a:t>
                      </a:r>
                      <a:endParaRPr lang="en-IN">
                        <a:latin typeface="Times New Roman" panose="02020603050405020304" pitchFamily="18" charset="0"/>
                        <a:cs typeface="Times New Roman" panose="02020603050405020304" pitchFamily="18" charset="0"/>
                      </a:endParaRPr>
                    </a:p>
                  </a:txBody>
                  <a:tcPr/>
                </a:tc>
                <a:tc>
                  <a:txBody>
                    <a:bodyPr/>
                    <a:lstStyle/>
                    <a:p>
                      <a:pPr algn="just"/>
                      <a:r>
                        <a:rPr lang="en-US">
                          <a:latin typeface="Times New Roman" panose="02020603050405020304" pitchFamily="18" charset="0"/>
                          <a:cs typeface="Times New Roman" panose="02020603050405020304" pitchFamily="18" charset="0"/>
                        </a:rPr>
                        <a:t>Successful user creation and authentication, proper preprocessing of EEG data, and accurate model prediction with a JSON response.</a:t>
                      </a:r>
                      <a:endParaRPr lang="en-IN">
                        <a:latin typeface="Times New Roman" panose="02020603050405020304" pitchFamily="18" charset="0"/>
                        <a:cs typeface="Times New Roman" panose="02020603050405020304" pitchFamily="18" charset="0"/>
                      </a:endParaRPr>
                    </a:p>
                  </a:txBody>
                  <a:tcPr/>
                </a:tc>
                <a:extLst>
                  <a:ext uri="{0D108BD9-81ED-4DB2-BD59-A6C34878D82A}">
                    <a16:rowId xmlns="" xmlns:a16="http://schemas.microsoft.com/office/drawing/2014/main" val="2072077399"/>
                  </a:ext>
                </a:extLst>
              </a:tr>
              <a:tr h="673548">
                <a:tc>
                  <a:txBody>
                    <a:bodyPr/>
                    <a:lstStyle/>
                    <a:p>
                      <a:pPr algn="just"/>
                      <a:r>
                        <a:rPr lang="en-US">
                          <a:latin typeface="Times New Roman" panose="02020603050405020304" pitchFamily="18" charset="0"/>
                          <a:cs typeface="Times New Roman" panose="02020603050405020304" pitchFamily="18" charset="0"/>
                        </a:rPr>
                        <a:t>Actual Output</a:t>
                      </a:r>
                      <a:endParaRPr lang="en-IN">
                        <a:latin typeface="Times New Roman" panose="02020603050405020304" pitchFamily="18" charset="0"/>
                        <a:cs typeface="Times New Roman" panose="02020603050405020304" pitchFamily="18" charset="0"/>
                      </a:endParaRPr>
                    </a:p>
                  </a:txBody>
                  <a:tcPr/>
                </a:tc>
                <a:tc>
                  <a:txBody>
                    <a:bodyPr/>
                    <a:lstStyle/>
                    <a:p>
                      <a:pPr algn="just"/>
                      <a:r>
                        <a:rPr lang="en-US" dirty="0">
                          <a:latin typeface="Times New Roman" panose="02020603050405020304" pitchFamily="18" charset="0"/>
                          <a:cs typeface="Times New Roman" panose="02020603050405020304" pitchFamily="18" charset="0"/>
                        </a:rPr>
                        <a:t>All modules interacted correctly-registration, login, preprocessing, and prediction executed smoothly with consistent data flow.</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 xmlns:a16="http://schemas.microsoft.com/office/drawing/2014/main" val="2696254971"/>
                  </a:ext>
                </a:extLst>
              </a:tr>
              <a:tr h="522719">
                <a:tc>
                  <a:txBody>
                    <a:bodyPr/>
                    <a:lstStyle/>
                    <a:p>
                      <a:pPr algn="just"/>
                      <a:r>
                        <a:rPr lang="en-US">
                          <a:latin typeface="Times New Roman" panose="02020603050405020304" pitchFamily="18" charset="0"/>
                          <a:cs typeface="Times New Roman" panose="02020603050405020304" pitchFamily="18" charset="0"/>
                        </a:rPr>
                        <a:t>Test Result</a:t>
                      </a:r>
                      <a:endParaRPr lang="en-IN">
                        <a:latin typeface="Times New Roman" panose="02020603050405020304" pitchFamily="18" charset="0"/>
                        <a:cs typeface="Times New Roman" panose="02020603050405020304" pitchFamily="18" charset="0"/>
                      </a:endParaRPr>
                    </a:p>
                  </a:txBody>
                  <a:tcPr/>
                </a:tc>
                <a:tc>
                  <a:txBody>
                    <a:bodyPr/>
                    <a:lstStyle/>
                    <a:p>
                      <a:pPr algn="just"/>
                      <a:r>
                        <a:rPr lang="en-IN">
                          <a:latin typeface="Times New Roman" panose="02020603050405020304" pitchFamily="18" charset="0"/>
                          <a:cs typeface="Times New Roman" panose="02020603050405020304" pitchFamily="18" charset="0"/>
                        </a:rPr>
                        <a:t>Success</a:t>
                      </a:r>
                    </a:p>
                  </a:txBody>
                  <a:tcPr/>
                </a:tc>
                <a:extLst>
                  <a:ext uri="{0D108BD9-81ED-4DB2-BD59-A6C34878D82A}">
                    <a16:rowId xmlns="" xmlns:a16="http://schemas.microsoft.com/office/drawing/2014/main" val="4268969255"/>
                  </a:ext>
                </a:extLst>
              </a:tr>
            </a:tbl>
          </a:graphicData>
        </a:graphic>
      </p:graphicFrame>
    </p:spTree>
    <p:extLst>
      <p:ext uri="{BB962C8B-B14F-4D97-AF65-F5344CB8AC3E}">
        <p14:creationId xmlns:p14="http://schemas.microsoft.com/office/powerpoint/2010/main" val="17457553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90C4E6A4-F68B-4DDD-990D-60CFF2F7D13E}"/>
              </a:ext>
            </a:extLst>
          </p:cNvPr>
          <p:cNvSpPr>
            <a:spLocks noGrp="1"/>
          </p:cNvSpPr>
          <p:nvPr>
            <p:ph type="dt" sz="half" idx="10"/>
          </p:nvPr>
        </p:nvSpPr>
        <p:spPr>
          <a:xfrm>
            <a:off x="1097280" y="6459785"/>
            <a:ext cx="2472271" cy="365125"/>
          </a:xfrm>
        </p:spPr>
        <p:txBody>
          <a:bodyPr/>
          <a:lstStyle/>
          <a:p>
            <a:r>
              <a:rPr lang="en-US"/>
              <a:t>Dept of AI&amp;DS, SJCIT</a:t>
            </a:r>
            <a:endParaRPr lang="en-IN"/>
          </a:p>
        </p:txBody>
      </p:sp>
      <p:sp>
        <p:nvSpPr>
          <p:cNvPr id="3" name="Footer Placeholder 2">
            <a:extLst>
              <a:ext uri="{FF2B5EF4-FFF2-40B4-BE49-F238E27FC236}">
                <a16:creationId xmlns="" xmlns:a16="http://schemas.microsoft.com/office/drawing/2014/main" id="{A6595D1B-D07A-46E0-9263-80EAE4CBDF05}"/>
              </a:ext>
            </a:extLst>
          </p:cNvPr>
          <p:cNvSpPr>
            <a:spLocks noGrp="1"/>
          </p:cNvSpPr>
          <p:nvPr>
            <p:ph type="ftr" sz="quarter" idx="11"/>
          </p:nvPr>
        </p:nvSpPr>
        <p:spPr>
          <a:xfrm>
            <a:off x="3686185" y="6459785"/>
            <a:ext cx="4822804" cy="365125"/>
          </a:xfrm>
        </p:spPr>
        <p:txBody>
          <a:bodyPr/>
          <a:lstStyle/>
          <a:p>
            <a:r>
              <a:rPr lang="en-IN"/>
              <a:t>2025-26</a:t>
            </a:r>
          </a:p>
        </p:txBody>
      </p:sp>
      <p:sp>
        <p:nvSpPr>
          <p:cNvPr id="4" name="Slide Number Placeholder 3">
            <a:extLst>
              <a:ext uri="{FF2B5EF4-FFF2-40B4-BE49-F238E27FC236}">
                <a16:creationId xmlns="" xmlns:a16="http://schemas.microsoft.com/office/drawing/2014/main" id="{CE710F18-C814-48A9-9296-7D19FC001A4F}"/>
              </a:ext>
            </a:extLst>
          </p:cNvPr>
          <p:cNvSpPr>
            <a:spLocks noGrp="1"/>
          </p:cNvSpPr>
          <p:nvPr>
            <p:ph type="sldNum" sz="quarter" idx="12"/>
          </p:nvPr>
        </p:nvSpPr>
        <p:spPr>
          <a:xfrm>
            <a:off x="9900458" y="6459785"/>
            <a:ext cx="1312025" cy="365125"/>
          </a:xfrm>
        </p:spPr>
        <p:txBody>
          <a:bodyPr/>
          <a:lstStyle/>
          <a:p>
            <a:fld id="{69FBB93A-4B32-4007-AACF-5243CED557C7}" type="slidenum">
              <a:rPr lang="en-IN" smtClean="0"/>
              <a:t>21</a:t>
            </a:fld>
            <a:endParaRPr lang="en-IN"/>
          </a:p>
        </p:txBody>
      </p:sp>
      <p:pic>
        <p:nvPicPr>
          <p:cNvPr id="5" name="Picture 4">
            <a:extLst>
              <a:ext uri="{FF2B5EF4-FFF2-40B4-BE49-F238E27FC236}">
                <a16:creationId xmlns="" xmlns:a16="http://schemas.microsoft.com/office/drawing/2014/main" id="{0D2C658E-1AB7-4021-B96C-BADF2E50B3FA}"/>
              </a:ext>
            </a:extLst>
          </p:cNvPr>
          <p:cNvPicPr>
            <a:picLocks noChangeAspect="1"/>
          </p:cNvPicPr>
          <p:nvPr/>
        </p:nvPicPr>
        <p:blipFill>
          <a:blip r:embed="rId2"/>
          <a:stretch>
            <a:fillRect/>
          </a:stretch>
        </p:blipFill>
        <p:spPr>
          <a:xfrm>
            <a:off x="10421908" y="129663"/>
            <a:ext cx="1581150" cy="876300"/>
          </a:xfrm>
          <a:prstGeom prst="rect">
            <a:avLst/>
          </a:prstGeom>
        </p:spPr>
      </p:pic>
      <p:sp>
        <p:nvSpPr>
          <p:cNvPr id="6" name="TextBox 5">
            <a:extLst>
              <a:ext uri="{FF2B5EF4-FFF2-40B4-BE49-F238E27FC236}">
                <a16:creationId xmlns="" xmlns:a16="http://schemas.microsoft.com/office/drawing/2014/main" id="{167AAE80-C4E8-456E-8BE2-090BAD5C33BD}"/>
              </a:ext>
            </a:extLst>
          </p:cNvPr>
          <p:cNvSpPr txBox="1"/>
          <p:nvPr/>
        </p:nvSpPr>
        <p:spPr>
          <a:xfrm>
            <a:off x="188942" y="129663"/>
            <a:ext cx="8955058" cy="215444"/>
          </a:xfrm>
          <a:prstGeom prst="rect">
            <a:avLst/>
          </a:prstGeom>
          <a:noFill/>
        </p:spPr>
        <p:txBody>
          <a:bodyPr wrap="square">
            <a:spAutoFit/>
          </a:bodyPr>
          <a:lstStyle/>
          <a:p>
            <a:r>
              <a:rPr lang="en-IN" sz="800" kern="1200">
                <a:solidFill>
                  <a:srgbClr val="000000"/>
                </a:solidFill>
                <a:effectLst/>
                <a:latin typeface="Tahoma" panose="020B0604030504040204" pitchFamily="34" charset="0"/>
                <a:ea typeface="Tahoma" panose="020B0604030504040204" pitchFamily="34" charset="0"/>
                <a:cs typeface="Tahoma" panose="020B0604030504040204" pitchFamily="34" charset="0"/>
              </a:rPr>
              <a:t>A Hybrid Neural Network for EEG-based Depression Screening Using CNN</a:t>
            </a:r>
            <a:r>
              <a:rPr lang="en-IN" sz="800">
                <a:latin typeface="Times New Roman" panose="02020603050405020304" pitchFamily="18" charset="0"/>
                <a:ea typeface="Tahoma" panose="020B0604030504040204" pitchFamily="34" charset="0"/>
                <a:cs typeface="Times New Roman" panose="02020603050405020304" pitchFamily="18" charset="0"/>
              </a:rPr>
              <a:t> +LSTM</a:t>
            </a:r>
            <a:endParaRPr lang="en-IN" sz="800">
              <a:effectLst/>
            </a:endParaRPr>
          </a:p>
        </p:txBody>
      </p:sp>
      <p:sp>
        <p:nvSpPr>
          <p:cNvPr id="7" name="TextBox 6">
            <a:extLst>
              <a:ext uri="{FF2B5EF4-FFF2-40B4-BE49-F238E27FC236}">
                <a16:creationId xmlns="" xmlns:a16="http://schemas.microsoft.com/office/drawing/2014/main" id="{0311F3C5-49D4-46F3-845D-79A8764B052E}"/>
              </a:ext>
            </a:extLst>
          </p:cNvPr>
          <p:cNvSpPr txBox="1"/>
          <p:nvPr/>
        </p:nvSpPr>
        <p:spPr>
          <a:xfrm>
            <a:off x="511277" y="707923"/>
            <a:ext cx="8632723" cy="369332"/>
          </a:xfrm>
          <a:prstGeom prst="rect">
            <a:avLst/>
          </a:prstGeom>
          <a:noFill/>
        </p:spPr>
        <p:txBody>
          <a:bodyPr wrap="square">
            <a:spAutoFit/>
          </a:bodyPr>
          <a:lstStyle/>
          <a:p>
            <a:r>
              <a:rPr lang="en-US" b="1">
                <a:latin typeface="Times New Roman" panose="02020603050405020304" pitchFamily="18" charset="0"/>
                <a:cs typeface="Times New Roman" panose="02020603050405020304" pitchFamily="18" charset="0"/>
              </a:rPr>
              <a:t>3. SYSTEM TESTING</a:t>
            </a:r>
            <a:r>
              <a:rPr lang="en-US" sz="1800" b="1">
                <a:latin typeface="Times New Roman" panose="02020603050405020304" pitchFamily="18" charset="0"/>
                <a:cs typeface="Times New Roman" panose="02020603050405020304" pitchFamily="18" charset="0"/>
              </a:rPr>
              <a:t>:</a:t>
            </a:r>
            <a:endParaRPr lang="en-IN"/>
          </a:p>
        </p:txBody>
      </p:sp>
      <p:graphicFrame>
        <p:nvGraphicFramePr>
          <p:cNvPr id="8" name="Table 7">
            <a:extLst>
              <a:ext uri="{FF2B5EF4-FFF2-40B4-BE49-F238E27FC236}">
                <a16:creationId xmlns="" xmlns:a16="http://schemas.microsoft.com/office/drawing/2014/main" id="{CDBDB140-72F1-483D-8395-D7F6969D3CAA}"/>
              </a:ext>
            </a:extLst>
          </p:cNvPr>
          <p:cNvGraphicFramePr>
            <a:graphicFrameLocks noGrp="1"/>
          </p:cNvGraphicFramePr>
          <p:nvPr>
            <p:extLst>
              <p:ext uri="{D42A27DB-BD31-4B8C-83A1-F6EECF244321}">
                <p14:modId xmlns:p14="http://schemas.microsoft.com/office/powerpoint/2010/main" val="3790275526"/>
              </p:ext>
            </p:extLst>
          </p:nvPr>
        </p:nvGraphicFramePr>
        <p:xfrm>
          <a:off x="963561" y="1440072"/>
          <a:ext cx="10034484" cy="4739764"/>
        </p:xfrm>
        <a:graphic>
          <a:graphicData uri="http://schemas.openxmlformats.org/drawingml/2006/table">
            <a:tbl>
              <a:tblPr firstRow="1" bandRow="1">
                <a:tableStyleId>{5940675A-B579-460E-94D1-54222C63F5DA}</a:tableStyleId>
              </a:tblPr>
              <a:tblGrid>
                <a:gridCol w="2514268">
                  <a:extLst>
                    <a:ext uri="{9D8B030D-6E8A-4147-A177-3AD203B41FA5}">
                      <a16:colId xmlns="" xmlns:a16="http://schemas.microsoft.com/office/drawing/2014/main" val="3005879196"/>
                    </a:ext>
                  </a:extLst>
                </a:gridCol>
                <a:gridCol w="7520216">
                  <a:extLst>
                    <a:ext uri="{9D8B030D-6E8A-4147-A177-3AD203B41FA5}">
                      <a16:colId xmlns="" xmlns:a16="http://schemas.microsoft.com/office/drawing/2014/main" val="1907071217"/>
                    </a:ext>
                  </a:extLst>
                </a:gridCol>
              </a:tblGrid>
              <a:tr h="527404">
                <a:tc>
                  <a:txBody>
                    <a:bodyPr/>
                    <a:lstStyle/>
                    <a:p>
                      <a:pPr algn="just"/>
                      <a:r>
                        <a:rPr lang="en-US" dirty="0">
                          <a:latin typeface="Times New Roman" panose="02020603050405020304" pitchFamily="18" charset="0"/>
                          <a:cs typeface="Times New Roman" panose="02020603050405020304" pitchFamily="18" charset="0"/>
                        </a:rPr>
                        <a:t>Test Case</a:t>
                      </a:r>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IN">
                          <a:latin typeface="Times New Roman" panose="02020603050405020304" pitchFamily="18" charset="0"/>
                          <a:cs typeface="Times New Roman" panose="02020603050405020304" pitchFamily="18" charset="0"/>
                        </a:rPr>
                        <a:t>STC01</a:t>
                      </a:r>
                    </a:p>
                  </a:txBody>
                  <a:tcPr/>
                </a:tc>
                <a:extLst>
                  <a:ext uri="{0D108BD9-81ED-4DB2-BD59-A6C34878D82A}">
                    <a16:rowId xmlns="" xmlns:a16="http://schemas.microsoft.com/office/drawing/2014/main" val="4226530917"/>
                  </a:ext>
                </a:extLst>
              </a:tr>
              <a:tr h="527404">
                <a:tc>
                  <a:txBody>
                    <a:bodyPr/>
                    <a:lstStyle/>
                    <a:p>
                      <a:pPr algn="just"/>
                      <a:r>
                        <a:rPr lang="en-US" dirty="0">
                          <a:latin typeface="Times New Roman" panose="02020603050405020304" pitchFamily="18" charset="0"/>
                          <a:cs typeface="Times New Roman" panose="02020603050405020304" pitchFamily="18" charset="0"/>
                        </a:rPr>
                        <a:t>Test Name</a:t>
                      </a:r>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IN" dirty="0">
                          <a:latin typeface="Times New Roman" panose="02020603050405020304" pitchFamily="18" charset="0"/>
                          <a:cs typeface="Times New Roman" panose="02020603050405020304" pitchFamily="18" charset="0"/>
                        </a:rPr>
                        <a:t>End-to-End System Functionality Validation</a:t>
                      </a:r>
                    </a:p>
                  </a:txBody>
                  <a:tcPr/>
                </a:tc>
                <a:extLst>
                  <a:ext uri="{0D108BD9-81ED-4DB2-BD59-A6C34878D82A}">
                    <a16:rowId xmlns="" xmlns:a16="http://schemas.microsoft.com/office/drawing/2014/main" val="415313301"/>
                  </a:ext>
                </a:extLst>
              </a:tr>
              <a:tr h="896895">
                <a:tc>
                  <a:txBody>
                    <a:bodyPr/>
                    <a:lstStyle/>
                    <a:p>
                      <a:pPr algn="just"/>
                      <a:r>
                        <a:rPr lang="en-US">
                          <a:latin typeface="Times New Roman" panose="02020603050405020304" pitchFamily="18" charset="0"/>
                          <a:cs typeface="Times New Roman" panose="02020603050405020304" pitchFamily="18" charset="0"/>
                        </a:rPr>
                        <a:t>Test Description</a:t>
                      </a:r>
                      <a:endParaRPr lang="en-IN">
                        <a:latin typeface="Times New Roman" panose="02020603050405020304" pitchFamily="18" charset="0"/>
                        <a:cs typeface="Times New Roman" panose="02020603050405020304" pitchFamily="18" charset="0"/>
                      </a:endParaRPr>
                    </a:p>
                  </a:txBody>
                  <a:tcPr/>
                </a:tc>
                <a:tc>
                  <a:txBody>
                    <a:bodyPr/>
                    <a:lstStyle/>
                    <a:p>
                      <a:pPr algn="just"/>
                      <a:r>
                        <a:rPr lang="en-US" dirty="0">
                          <a:latin typeface="Times New Roman" panose="02020603050405020304" pitchFamily="18" charset="0"/>
                          <a:cs typeface="Times New Roman" panose="02020603050405020304" pitchFamily="18" charset="0"/>
                        </a:rPr>
                        <a:t>To verify that the fully integrated </a:t>
                      </a:r>
                      <a:r>
                        <a:rPr lang="en-US" dirty="0" err="1">
                          <a:latin typeface="Times New Roman" panose="02020603050405020304" pitchFamily="18" charset="0"/>
                          <a:cs typeface="Times New Roman" panose="02020603050405020304" pitchFamily="18" charset="0"/>
                        </a:rPr>
                        <a:t>DepHNN</a:t>
                      </a:r>
                      <a:r>
                        <a:rPr lang="en-US" dirty="0">
                          <a:latin typeface="Times New Roman" panose="02020603050405020304" pitchFamily="18" charset="0"/>
                          <a:cs typeface="Times New Roman" panose="02020603050405020304" pitchFamily="18" charset="0"/>
                        </a:rPr>
                        <a:t> Analyzer performs all operations correctly under real-world conditions, including data upload, analysis, and prediction.</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 xmlns:a16="http://schemas.microsoft.com/office/drawing/2014/main" val="4291119884"/>
                  </a:ext>
                </a:extLst>
              </a:tr>
              <a:tr h="627827">
                <a:tc>
                  <a:txBody>
                    <a:bodyPr/>
                    <a:lstStyle/>
                    <a:p>
                      <a:pPr algn="just"/>
                      <a:r>
                        <a:rPr lang="en-US">
                          <a:latin typeface="Times New Roman" panose="02020603050405020304" pitchFamily="18" charset="0"/>
                          <a:cs typeface="Times New Roman" panose="02020603050405020304" pitchFamily="18" charset="0"/>
                        </a:rPr>
                        <a:t>Input</a:t>
                      </a:r>
                      <a:endParaRPr lang="en-IN">
                        <a:latin typeface="Times New Roman" panose="02020603050405020304" pitchFamily="18" charset="0"/>
                        <a:cs typeface="Times New Roman" panose="02020603050405020304" pitchFamily="18" charset="0"/>
                      </a:endParaRPr>
                    </a:p>
                  </a:txBody>
                  <a:tcPr/>
                </a:tc>
                <a:tc>
                  <a:txBody>
                    <a:bodyPr/>
                    <a:lstStyle/>
                    <a:p>
                      <a:pPr algn="just"/>
                      <a:r>
                        <a:rPr lang="en-US" dirty="0">
                          <a:latin typeface="Times New Roman" panose="02020603050405020304" pitchFamily="18" charset="0"/>
                          <a:cs typeface="Times New Roman" panose="02020603050405020304" pitchFamily="18" charset="0"/>
                        </a:rPr>
                        <a:t>EEG </a:t>
                      </a:r>
                      <a:r>
                        <a:rPr lang="en-US" sz="1800" kern="1200" dirty="0">
                          <a:solidFill>
                            <a:schemeClr val="tx1"/>
                          </a:solidFill>
                          <a:latin typeface="Times New Roman" panose="02020603050405020304" pitchFamily="18" charset="0"/>
                          <a:ea typeface="+mn-ea"/>
                          <a:cs typeface="Times New Roman" panose="02020603050405020304" pitchFamily="18" charset="0"/>
                        </a:rPr>
                        <a:t>.</a:t>
                      </a:r>
                      <a:r>
                        <a:rPr lang="en-US" sz="1800" kern="1200" dirty="0" err="1">
                          <a:solidFill>
                            <a:schemeClr val="tx1"/>
                          </a:solidFill>
                          <a:latin typeface="Times New Roman" panose="02020603050405020304" pitchFamily="18" charset="0"/>
                          <a:ea typeface="+mn-ea"/>
                          <a:cs typeface="Times New Roman" panose="02020603050405020304" pitchFamily="18" charset="0"/>
                        </a:rPr>
                        <a:t>edf</a:t>
                      </a:r>
                      <a:r>
                        <a:rPr lang="en-US" dirty="0">
                          <a:latin typeface="Times New Roman" panose="02020603050405020304" pitchFamily="18" charset="0"/>
                          <a:cs typeface="Times New Roman" panose="02020603050405020304" pitchFamily="18" charset="0"/>
                        </a:rPr>
                        <a:t> files (both healthy and depressed datasets) uploaded by registered users.</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 xmlns:a16="http://schemas.microsoft.com/office/drawing/2014/main" val="3750016052"/>
                  </a:ext>
                </a:extLst>
              </a:tr>
              <a:tr h="923488">
                <a:tc>
                  <a:txBody>
                    <a:bodyPr/>
                    <a:lstStyle/>
                    <a:p>
                      <a:pPr algn="just"/>
                      <a:r>
                        <a:rPr lang="en-US">
                          <a:latin typeface="Times New Roman" panose="02020603050405020304" pitchFamily="18" charset="0"/>
                          <a:cs typeface="Times New Roman" panose="02020603050405020304" pitchFamily="18" charset="0"/>
                        </a:rPr>
                        <a:t>Expected Output</a:t>
                      </a:r>
                      <a:endParaRPr lang="en-IN">
                        <a:latin typeface="Times New Roman" panose="02020603050405020304" pitchFamily="18" charset="0"/>
                        <a:cs typeface="Times New Roman" panose="02020603050405020304" pitchFamily="18" charset="0"/>
                      </a:endParaRPr>
                    </a:p>
                  </a:txBody>
                  <a:tcPr/>
                </a:tc>
                <a:tc>
                  <a:txBody>
                    <a:bodyPr/>
                    <a:lstStyle/>
                    <a:p>
                      <a:pPr algn="just"/>
                      <a:r>
                        <a:rPr lang="en-US" dirty="0">
                          <a:latin typeface="Times New Roman" panose="02020603050405020304" pitchFamily="18" charset="0"/>
                          <a:cs typeface="Times New Roman" panose="02020603050405020304" pitchFamily="18" charset="0"/>
                        </a:rPr>
                        <a:t>The system should successfully complete the full workflow — registration, login, file upload, analysis, result display, and logout — with accurate depression predictions and stable performance.</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 xmlns:a16="http://schemas.microsoft.com/office/drawing/2014/main" val="3519647422"/>
                  </a:ext>
                </a:extLst>
              </a:tr>
              <a:tr h="679584">
                <a:tc>
                  <a:txBody>
                    <a:bodyPr/>
                    <a:lstStyle/>
                    <a:p>
                      <a:pPr algn="just"/>
                      <a:r>
                        <a:rPr lang="en-US">
                          <a:latin typeface="Times New Roman" panose="02020603050405020304" pitchFamily="18" charset="0"/>
                          <a:cs typeface="Times New Roman" panose="02020603050405020304" pitchFamily="18" charset="0"/>
                        </a:rPr>
                        <a:t>Actual Output</a:t>
                      </a:r>
                      <a:endParaRPr lang="en-IN">
                        <a:latin typeface="Times New Roman" panose="02020603050405020304" pitchFamily="18" charset="0"/>
                        <a:cs typeface="Times New Roman" panose="02020603050405020304" pitchFamily="18" charset="0"/>
                      </a:endParaRPr>
                    </a:p>
                  </a:txBody>
                  <a:tcPr/>
                </a:tc>
                <a:tc>
                  <a:txBody>
                    <a:bodyPr/>
                    <a:lstStyle/>
                    <a:p>
                      <a:pPr algn="just"/>
                      <a:r>
                        <a:rPr lang="en-US">
                          <a:latin typeface="Times New Roman" panose="02020603050405020304" pitchFamily="18" charset="0"/>
                          <a:cs typeface="Times New Roman" panose="02020603050405020304" pitchFamily="18" charset="0"/>
                        </a:rPr>
                        <a:t>The complete workflow was executed successfully with consistent and accurate predictions; system remained stable under load.</a:t>
                      </a:r>
                      <a:endParaRPr lang="en-IN">
                        <a:latin typeface="Times New Roman" panose="02020603050405020304" pitchFamily="18" charset="0"/>
                        <a:cs typeface="Times New Roman" panose="02020603050405020304" pitchFamily="18" charset="0"/>
                      </a:endParaRPr>
                    </a:p>
                  </a:txBody>
                  <a:tcPr/>
                </a:tc>
                <a:extLst>
                  <a:ext uri="{0D108BD9-81ED-4DB2-BD59-A6C34878D82A}">
                    <a16:rowId xmlns="" xmlns:a16="http://schemas.microsoft.com/office/drawing/2014/main" val="2070077468"/>
                  </a:ext>
                </a:extLst>
              </a:tr>
              <a:tr h="527404">
                <a:tc>
                  <a:txBody>
                    <a:bodyPr/>
                    <a:lstStyle/>
                    <a:p>
                      <a:pPr algn="just"/>
                      <a:r>
                        <a:rPr lang="en-US">
                          <a:latin typeface="Times New Roman" panose="02020603050405020304" pitchFamily="18" charset="0"/>
                          <a:cs typeface="Times New Roman" panose="02020603050405020304" pitchFamily="18" charset="0"/>
                        </a:rPr>
                        <a:t>Test Result</a:t>
                      </a:r>
                      <a:endParaRPr lang="en-IN">
                        <a:latin typeface="Times New Roman" panose="02020603050405020304" pitchFamily="18" charset="0"/>
                        <a:cs typeface="Times New Roman" panose="02020603050405020304" pitchFamily="18" charset="0"/>
                      </a:endParaRPr>
                    </a:p>
                  </a:txBody>
                  <a:tcPr/>
                </a:tc>
                <a:tc>
                  <a:txBody>
                    <a:bodyPr/>
                    <a:lstStyle/>
                    <a:p>
                      <a:pPr algn="just"/>
                      <a:r>
                        <a:rPr lang="en-IN">
                          <a:latin typeface="Times New Roman" panose="02020603050405020304" pitchFamily="18" charset="0"/>
                          <a:cs typeface="Times New Roman" panose="02020603050405020304" pitchFamily="18" charset="0"/>
                        </a:rPr>
                        <a:t>Success</a:t>
                      </a:r>
                    </a:p>
                  </a:txBody>
                  <a:tcPr/>
                </a:tc>
                <a:extLst>
                  <a:ext uri="{0D108BD9-81ED-4DB2-BD59-A6C34878D82A}">
                    <a16:rowId xmlns="" xmlns:a16="http://schemas.microsoft.com/office/drawing/2014/main" val="2583853028"/>
                  </a:ext>
                </a:extLst>
              </a:tr>
            </a:tbl>
          </a:graphicData>
        </a:graphic>
      </p:graphicFrame>
    </p:spTree>
    <p:extLst>
      <p:ext uri="{BB962C8B-B14F-4D97-AF65-F5344CB8AC3E}">
        <p14:creationId xmlns:p14="http://schemas.microsoft.com/office/powerpoint/2010/main" val="29079992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1015E614-7143-4865-9E73-EA9EDA1620D8}"/>
              </a:ext>
            </a:extLst>
          </p:cNvPr>
          <p:cNvSpPr>
            <a:spLocks noGrp="1"/>
          </p:cNvSpPr>
          <p:nvPr>
            <p:ph type="dt" sz="half" idx="10"/>
          </p:nvPr>
        </p:nvSpPr>
        <p:spPr>
          <a:xfrm>
            <a:off x="1097280" y="6459785"/>
            <a:ext cx="2472271" cy="365125"/>
          </a:xfrm>
        </p:spPr>
        <p:txBody>
          <a:bodyPr/>
          <a:lstStyle/>
          <a:p>
            <a:r>
              <a:rPr lang="en-US"/>
              <a:t>Dept of AI&amp;DS, SJCIT</a:t>
            </a:r>
            <a:endParaRPr lang="en-IN"/>
          </a:p>
        </p:txBody>
      </p:sp>
      <p:sp>
        <p:nvSpPr>
          <p:cNvPr id="3" name="Footer Placeholder 2">
            <a:extLst>
              <a:ext uri="{FF2B5EF4-FFF2-40B4-BE49-F238E27FC236}">
                <a16:creationId xmlns="" xmlns:a16="http://schemas.microsoft.com/office/drawing/2014/main" id="{ECAE717B-103E-4EC2-9EE8-47B4089FFF56}"/>
              </a:ext>
            </a:extLst>
          </p:cNvPr>
          <p:cNvSpPr>
            <a:spLocks noGrp="1"/>
          </p:cNvSpPr>
          <p:nvPr>
            <p:ph type="ftr" sz="quarter" idx="11"/>
          </p:nvPr>
        </p:nvSpPr>
        <p:spPr>
          <a:xfrm>
            <a:off x="3686185" y="6459785"/>
            <a:ext cx="4822804" cy="365125"/>
          </a:xfrm>
        </p:spPr>
        <p:txBody>
          <a:bodyPr/>
          <a:lstStyle/>
          <a:p>
            <a:r>
              <a:rPr lang="en-IN"/>
              <a:t>2025-26</a:t>
            </a:r>
          </a:p>
        </p:txBody>
      </p:sp>
      <p:sp>
        <p:nvSpPr>
          <p:cNvPr id="4" name="Slide Number Placeholder 3">
            <a:extLst>
              <a:ext uri="{FF2B5EF4-FFF2-40B4-BE49-F238E27FC236}">
                <a16:creationId xmlns="" xmlns:a16="http://schemas.microsoft.com/office/drawing/2014/main" id="{F870507C-D4D8-4A94-9EAE-F0D3A22BA424}"/>
              </a:ext>
            </a:extLst>
          </p:cNvPr>
          <p:cNvSpPr>
            <a:spLocks noGrp="1"/>
          </p:cNvSpPr>
          <p:nvPr>
            <p:ph type="sldNum" sz="quarter" idx="12"/>
          </p:nvPr>
        </p:nvSpPr>
        <p:spPr>
          <a:xfrm>
            <a:off x="9900458" y="6459785"/>
            <a:ext cx="1312025" cy="365125"/>
          </a:xfrm>
        </p:spPr>
        <p:txBody>
          <a:bodyPr/>
          <a:lstStyle/>
          <a:p>
            <a:fld id="{69FBB93A-4B32-4007-AACF-5243CED557C7}" type="slidenum">
              <a:rPr lang="en-IN" smtClean="0"/>
              <a:t>22</a:t>
            </a:fld>
            <a:endParaRPr lang="en-IN"/>
          </a:p>
        </p:txBody>
      </p:sp>
      <p:sp>
        <p:nvSpPr>
          <p:cNvPr id="5" name="TextBox 4">
            <a:extLst>
              <a:ext uri="{FF2B5EF4-FFF2-40B4-BE49-F238E27FC236}">
                <a16:creationId xmlns="" xmlns:a16="http://schemas.microsoft.com/office/drawing/2014/main" id="{87D5754A-A0D1-4630-8153-32E1E37EF360}"/>
              </a:ext>
            </a:extLst>
          </p:cNvPr>
          <p:cNvSpPr txBox="1"/>
          <p:nvPr/>
        </p:nvSpPr>
        <p:spPr>
          <a:xfrm>
            <a:off x="3781487" y="902070"/>
            <a:ext cx="2983107" cy="523220"/>
          </a:xfrm>
          <a:prstGeom prst="rect">
            <a:avLst/>
          </a:prstGeom>
          <a:noFill/>
        </p:spPr>
        <p:txBody>
          <a:bodyPr wrap="square" rtlCol="0">
            <a:spAutoFit/>
          </a:bodyPr>
          <a:lstStyle/>
          <a:p>
            <a:pPr algn="ctr"/>
            <a:r>
              <a:rPr lang="en-IN" sz="2800" b="1" dirty="0">
                <a:latin typeface="Times New Roman" panose="02020603050405020304" pitchFamily="18" charset="0"/>
                <a:cs typeface="Times New Roman" panose="02020603050405020304" pitchFamily="18" charset="0"/>
              </a:rPr>
              <a:t>CONCLUSION</a:t>
            </a:r>
          </a:p>
        </p:txBody>
      </p:sp>
      <p:pic>
        <p:nvPicPr>
          <p:cNvPr id="6" name="Picture 5">
            <a:extLst>
              <a:ext uri="{FF2B5EF4-FFF2-40B4-BE49-F238E27FC236}">
                <a16:creationId xmlns="" xmlns:a16="http://schemas.microsoft.com/office/drawing/2014/main" id="{DA350372-BF72-42A5-80E5-8C90A5CBE407}"/>
              </a:ext>
            </a:extLst>
          </p:cNvPr>
          <p:cNvPicPr>
            <a:picLocks noChangeAspect="1"/>
          </p:cNvPicPr>
          <p:nvPr/>
        </p:nvPicPr>
        <p:blipFill>
          <a:blip r:embed="rId2"/>
          <a:stretch>
            <a:fillRect/>
          </a:stretch>
        </p:blipFill>
        <p:spPr>
          <a:xfrm>
            <a:off x="10310044" y="192842"/>
            <a:ext cx="1581150" cy="876300"/>
          </a:xfrm>
          <a:prstGeom prst="rect">
            <a:avLst/>
          </a:prstGeom>
        </p:spPr>
      </p:pic>
      <p:sp>
        <p:nvSpPr>
          <p:cNvPr id="7" name="TextBox 6">
            <a:extLst>
              <a:ext uri="{FF2B5EF4-FFF2-40B4-BE49-F238E27FC236}">
                <a16:creationId xmlns="" xmlns:a16="http://schemas.microsoft.com/office/drawing/2014/main" id="{46804EC8-4BF9-4775-BA92-66AAF47D6B36}"/>
              </a:ext>
            </a:extLst>
          </p:cNvPr>
          <p:cNvSpPr txBox="1"/>
          <p:nvPr/>
        </p:nvSpPr>
        <p:spPr>
          <a:xfrm>
            <a:off x="176981" y="192843"/>
            <a:ext cx="8967019" cy="215444"/>
          </a:xfrm>
          <a:prstGeom prst="rect">
            <a:avLst/>
          </a:prstGeom>
          <a:noFill/>
        </p:spPr>
        <p:txBody>
          <a:bodyPr wrap="square">
            <a:spAutoFit/>
          </a:bodyPr>
          <a:lstStyle/>
          <a:p>
            <a:r>
              <a:rPr lang="en-IN" sz="800" kern="1200">
                <a:solidFill>
                  <a:srgbClr val="000000"/>
                </a:solidFill>
                <a:effectLst/>
                <a:latin typeface="Tahoma" panose="020B0604030504040204" pitchFamily="34" charset="0"/>
                <a:ea typeface="Tahoma" panose="020B0604030504040204" pitchFamily="34" charset="0"/>
                <a:cs typeface="Tahoma" panose="020B0604030504040204" pitchFamily="34" charset="0"/>
              </a:rPr>
              <a:t>A Hybrid Neural Network for EEG-based Depression Screening Using CNN</a:t>
            </a:r>
            <a:r>
              <a:rPr lang="en-IN" sz="800">
                <a:latin typeface="Times New Roman" panose="02020603050405020304" pitchFamily="18" charset="0"/>
                <a:ea typeface="Tahoma" panose="020B0604030504040204" pitchFamily="34" charset="0"/>
                <a:cs typeface="Times New Roman" panose="02020603050405020304" pitchFamily="18" charset="0"/>
              </a:rPr>
              <a:t> +LSTM</a:t>
            </a:r>
            <a:endParaRPr lang="en-IN" sz="800">
              <a:effectLst/>
            </a:endParaRPr>
          </a:p>
        </p:txBody>
      </p:sp>
      <p:sp>
        <p:nvSpPr>
          <p:cNvPr id="8" name="TextBox 7">
            <a:extLst>
              <a:ext uri="{FF2B5EF4-FFF2-40B4-BE49-F238E27FC236}">
                <a16:creationId xmlns="" xmlns:a16="http://schemas.microsoft.com/office/drawing/2014/main" id="{FC741601-BCD0-41B0-863D-AD903E2B4590}"/>
              </a:ext>
            </a:extLst>
          </p:cNvPr>
          <p:cNvSpPr txBox="1"/>
          <p:nvPr/>
        </p:nvSpPr>
        <p:spPr>
          <a:xfrm>
            <a:off x="1343608" y="1562925"/>
            <a:ext cx="9554547" cy="3268652"/>
          </a:xfrm>
          <a:prstGeom prst="rect">
            <a:avLst/>
          </a:prstGeom>
          <a:noFill/>
        </p:spPr>
        <p:txBody>
          <a:bodyPr wrap="square">
            <a:spAutoFit/>
          </a:bodyPr>
          <a:lstStyle/>
          <a:p>
            <a:pPr algn="just">
              <a:lnSpc>
                <a:spcPct val="150000"/>
              </a:lnSpc>
            </a:pPr>
            <a:r>
              <a:rPr lang="en-US" sz="2000" dirty="0" err="1">
                <a:latin typeface="Times New Roman" panose="02020603050405020304" pitchFamily="18" charset="0"/>
                <a:cs typeface="Times New Roman" panose="02020603050405020304" pitchFamily="18" charset="0"/>
              </a:rPr>
              <a:t>DepHNN</a:t>
            </a:r>
            <a:r>
              <a:rPr lang="en-US" sz="2000" dirty="0">
                <a:latin typeface="Times New Roman" panose="02020603050405020304" pitchFamily="18" charset="0"/>
                <a:cs typeface="Times New Roman" panose="02020603050405020304" pitchFamily="18" charset="0"/>
              </a:rPr>
              <a:t> is a hybrid deep learning model combining CNN and LSTM for automated depression detection using EEG signals. It efficiently extracts temporal and sequential features without manual engineering and achieves high accuracy with minimal error and computation time. The model surpasses existing approaches in accuracy, efficiency, and robustness, making it a reliable computer-aided tool for early depression screening. Future improvements can enable severity analysis, use of larger datasets, and integration with </a:t>
            </a:r>
            <a:r>
              <a:rPr lang="en-US" sz="2000" dirty="0" err="1">
                <a:latin typeface="Times New Roman" panose="02020603050405020304" pitchFamily="18" charset="0"/>
                <a:cs typeface="Times New Roman" panose="02020603050405020304" pitchFamily="18" charset="0"/>
              </a:rPr>
              <a:t>IoMT</a:t>
            </a:r>
            <a:r>
              <a:rPr lang="en-US" sz="2000" dirty="0">
                <a:latin typeface="Times New Roman" panose="02020603050405020304" pitchFamily="18" charset="0"/>
                <a:cs typeface="Times New Roman" panose="02020603050405020304" pitchFamily="18" charset="0"/>
              </a:rPr>
              <a:t> systems for real-time mental health monitoring.</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450854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9C21CBD3-3FD4-4F6C-8536-1CFA5E80A30C}"/>
              </a:ext>
            </a:extLst>
          </p:cNvPr>
          <p:cNvSpPr>
            <a:spLocks noGrp="1"/>
          </p:cNvSpPr>
          <p:nvPr>
            <p:ph type="dt" sz="half" idx="10"/>
          </p:nvPr>
        </p:nvSpPr>
        <p:spPr>
          <a:xfrm>
            <a:off x="1097280" y="6459785"/>
            <a:ext cx="2472271" cy="365125"/>
          </a:xfrm>
        </p:spPr>
        <p:txBody>
          <a:bodyPr/>
          <a:lstStyle/>
          <a:p>
            <a:r>
              <a:rPr lang="en-US"/>
              <a:t>Dept of AI&amp;DS, SJCIT</a:t>
            </a:r>
            <a:endParaRPr lang="en-IN"/>
          </a:p>
        </p:txBody>
      </p:sp>
      <p:sp>
        <p:nvSpPr>
          <p:cNvPr id="3" name="Footer Placeholder 2">
            <a:extLst>
              <a:ext uri="{FF2B5EF4-FFF2-40B4-BE49-F238E27FC236}">
                <a16:creationId xmlns="" xmlns:a16="http://schemas.microsoft.com/office/drawing/2014/main" id="{C2F9F60A-D1FF-4830-A7D0-FA9144900DB5}"/>
              </a:ext>
            </a:extLst>
          </p:cNvPr>
          <p:cNvSpPr>
            <a:spLocks noGrp="1"/>
          </p:cNvSpPr>
          <p:nvPr>
            <p:ph type="ftr" sz="quarter" idx="11"/>
          </p:nvPr>
        </p:nvSpPr>
        <p:spPr>
          <a:xfrm>
            <a:off x="3686185" y="6459785"/>
            <a:ext cx="4822804" cy="365125"/>
          </a:xfrm>
        </p:spPr>
        <p:txBody>
          <a:bodyPr/>
          <a:lstStyle/>
          <a:p>
            <a:r>
              <a:rPr lang="en-IN"/>
              <a:t>2025-26</a:t>
            </a:r>
          </a:p>
        </p:txBody>
      </p:sp>
      <p:sp>
        <p:nvSpPr>
          <p:cNvPr id="4" name="Slide Number Placeholder 3">
            <a:extLst>
              <a:ext uri="{FF2B5EF4-FFF2-40B4-BE49-F238E27FC236}">
                <a16:creationId xmlns="" xmlns:a16="http://schemas.microsoft.com/office/drawing/2014/main" id="{5C160125-9D80-44EA-8837-25D5AE855225}"/>
              </a:ext>
            </a:extLst>
          </p:cNvPr>
          <p:cNvSpPr>
            <a:spLocks noGrp="1"/>
          </p:cNvSpPr>
          <p:nvPr>
            <p:ph type="sldNum" sz="quarter" idx="12"/>
          </p:nvPr>
        </p:nvSpPr>
        <p:spPr>
          <a:xfrm>
            <a:off x="9900458" y="6459785"/>
            <a:ext cx="1312025" cy="365125"/>
          </a:xfrm>
        </p:spPr>
        <p:txBody>
          <a:bodyPr/>
          <a:lstStyle/>
          <a:p>
            <a:fld id="{69FBB93A-4B32-4007-AACF-5243CED557C7}" type="slidenum">
              <a:rPr lang="en-IN" smtClean="0"/>
              <a:t>23</a:t>
            </a:fld>
            <a:endParaRPr lang="en-IN"/>
          </a:p>
        </p:txBody>
      </p:sp>
      <p:pic>
        <p:nvPicPr>
          <p:cNvPr id="5" name="Picture 4">
            <a:extLst>
              <a:ext uri="{FF2B5EF4-FFF2-40B4-BE49-F238E27FC236}">
                <a16:creationId xmlns="" xmlns:a16="http://schemas.microsoft.com/office/drawing/2014/main" id="{127AE58A-0FB3-4860-9337-65DAB4573B88}"/>
              </a:ext>
            </a:extLst>
          </p:cNvPr>
          <p:cNvPicPr>
            <a:picLocks noChangeAspect="1"/>
          </p:cNvPicPr>
          <p:nvPr/>
        </p:nvPicPr>
        <p:blipFill>
          <a:blip r:embed="rId2"/>
          <a:stretch>
            <a:fillRect/>
          </a:stretch>
        </p:blipFill>
        <p:spPr>
          <a:xfrm>
            <a:off x="10310044" y="192842"/>
            <a:ext cx="1581150" cy="876300"/>
          </a:xfrm>
          <a:prstGeom prst="rect">
            <a:avLst/>
          </a:prstGeom>
        </p:spPr>
      </p:pic>
      <p:sp>
        <p:nvSpPr>
          <p:cNvPr id="6" name="TextBox 5">
            <a:extLst>
              <a:ext uri="{FF2B5EF4-FFF2-40B4-BE49-F238E27FC236}">
                <a16:creationId xmlns="" xmlns:a16="http://schemas.microsoft.com/office/drawing/2014/main" id="{EDCB07F0-86C8-4D04-9690-E0798A383418}"/>
              </a:ext>
            </a:extLst>
          </p:cNvPr>
          <p:cNvSpPr txBox="1"/>
          <p:nvPr/>
        </p:nvSpPr>
        <p:spPr>
          <a:xfrm>
            <a:off x="0" y="33091"/>
            <a:ext cx="9144000" cy="215444"/>
          </a:xfrm>
          <a:prstGeom prst="rect">
            <a:avLst/>
          </a:prstGeom>
          <a:noFill/>
        </p:spPr>
        <p:txBody>
          <a:bodyPr wrap="square">
            <a:spAutoFit/>
          </a:bodyPr>
          <a:lstStyle/>
          <a:p>
            <a:r>
              <a:rPr lang="en-IN" sz="800" kern="1200">
                <a:solidFill>
                  <a:srgbClr val="000000"/>
                </a:solidFill>
                <a:effectLst/>
                <a:latin typeface="Tahoma" panose="020B0604030504040204" pitchFamily="34" charset="0"/>
                <a:ea typeface="Tahoma" panose="020B0604030504040204" pitchFamily="34" charset="0"/>
                <a:cs typeface="Tahoma" panose="020B0604030504040204" pitchFamily="34" charset="0"/>
              </a:rPr>
              <a:t>A Hybrid Neural Network for EEG-based Depression Screening Using CNN</a:t>
            </a:r>
            <a:r>
              <a:rPr lang="en-IN" sz="800">
                <a:latin typeface="Times New Roman" panose="02020603050405020304" pitchFamily="18" charset="0"/>
                <a:ea typeface="Tahoma" panose="020B0604030504040204" pitchFamily="34" charset="0"/>
                <a:cs typeface="Times New Roman" panose="02020603050405020304" pitchFamily="18" charset="0"/>
              </a:rPr>
              <a:t> +LSTM</a:t>
            </a:r>
            <a:endParaRPr lang="en-IN" sz="800">
              <a:effectLst/>
            </a:endParaRPr>
          </a:p>
        </p:txBody>
      </p:sp>
      <p:sp>
        <p:nvSpPr>
          <p:cNvPr id="7" name="TextBox 6">
            <a:extLst>
              <a:ext uri="{FF2B5EF4-FFF2-40B4-BE49-F238E27FC236}">
                <a16:creationId xmlns="" xmlns:a16="http://schemas.microsoft.com/office/drawing/2014/main" id="{B239BF36-F184-4D2D-BFFC-CBB76C30BFF3}"/>
              </a:ext>
            </a:extLst>
          </p:cNvPr>
          <p:cNvSpPr txBox="1"/>
          <p:nvPr/>
        </p:nvSpPr>
        <p:spPr>
          <a:xfrm>
            <a:off x="2379306" y="597647"/>
            <a:ext cx="5614320" cy="523220"/>
          </a:xfrm>
          <a:prstGeom prst="rect">
            <a:avLst/>
          </a:prstGeom>
          <a:noFill/>
        </p:spPr>
        <p:txBody>
          <a:bodyPr wrap="square">
            <a:spAutoFit/>
          </a:bodyPr>
          <a:lstStyle/>
          <a:p>
            <a:pPr algn="ctr"/>
            <a:r>
              <a:rPr lang="en-IN" sz="2800" b="1" dirty="0">
                <a:latin typeface="Times New Roman" panose="02020603050405020304" pitchFamily="18" charset="0"/>
                <a:cs typeface="Times New Roman" panose="02020603050405020304" pitchFamily="18" charset="0"/>
              </a:rPr>
              <a:t>FUTURE ENHANCEMENT</a:t>
            </a:r>
            <a:endParaRPr lang="en-IN" sz="2800" dirty="0"/>
          </a:p>
        </p:txBody>
      </p:sp>
      <p:sp>
        <p:nvSpPr>
          <p:cNvPr id="8" name="TextBox 7">
            <a:extLst>
              <a:ext uri="{FF2B5EF4-FFF2-40B4-BE49-F238E27FC236}">
                <a16:creationId xmlns="" xmlns:a16="http://schemas.microsoft.com/office/drawing/2014/main" id="{2C1CC708-9F61-446C-BE84-E0371FE56346}"/>
              </a:ext>
            </a:extLst>
          </p:cNvPr>
          <p:cNvSpPr txBox="1"/>
          <p:nvPr/>
        </p:nvSpPr>
        <p:spPr>
          <a:xfrm>
            <a:off x="1446244" y="1418254"/>
            <a:ext cx="8966117" cy="2806987"/>
          </a:xfrm>
          <a:prstGeom prst="rect">
            <a:avLst/>
          </a:prstGeom>
          <a:noFill/>
        </p:spPr>
        <p:txBody>
          <a:bodyPr wrap="square">
            <a:spAutoFit/>
          </a:bodyPr>
          <a:lstStyle/>
          <a:p>
            <a:pPr algn="just">
              <a:lnSpc>
                <a:spcPct val="150000"/>
              </a:lnSpc>
            </a:pPr>
            <a:r>
              <a:rPr lang="en-US" sz="2000" dirty="0">
                <a:latin typeface="Times New Roman" panose="02020603050405020304" pitchFamily="18" charset="0"/>
                <a:cs typeface="Times New Roman" panose="02020603050405020304" pitchFamily="18" charset="0"/>
              </a:rPr>
              <a:t>The system can be extended beyond binary classification to estimate depression severity levels, providing deeper clinical insights. Incorporating longitudinal EEG monitoring enables continuous tracking of treatment response and early relapse detection. By integrating multi-modal data such as EEG signals, heart rate variability, speech patterns, and facial micro-expressions, the system can offer a more comprehensive and reliable diagnosis of depressive disorders</a:t>
            </a:r>
            <a:r>
              <a:rPr lang="en-US"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540584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7">
            <a:extLst>
              <a:ext uri="{FF2B5EF4-FFF2-40B4-BE49-F238E27FC236}">
                <a16:creationId xmlns="" xmlns:a16="http://schemas.microsoft.com/office/drawing/2014/main" id="{B33AFFD4-7292-4A8C-8A17-1A7CC0EFD172}"/>
              </a:ext>
            </a:extLst>
          </p:cNvPr>
          <p:cNvSpPr>
            <a:spLocks noGrp="1"/>
          </p:cNvSpPr>
          <p:nvPr>
            <p:ph type="ftr" sz="quarter" idx="11"/>
          </p:nvPr>
        </p:nvSpPr>
        <p:spPr>
          <a:xfrm>
            <a:off x="3686185" y="6459785"/>
            <a:ext cx="4822804" cy="365125"/>
          </a:xfrm>
        </p:spPr>
        <p:txBody>
          <a:bodyPr/>
          <a:lstStyle/>
          <a:p>
            <a:r>
              <a:rPr lang="en-IN" dirty="0"/>
              <a:t>2025-26</a:t>
            </a:r>
          </a:p>
        </p:txBody>
      </p:sp>
      <p:sp>
        <p:nvSpPr>
          <p:cNvPr id="4" name="Slide Number Placeholder 8">
            <a:extLst>
              <a:ext uri="{FF2B5EF4-FFF2-40B4-BE49-F238E27FC236}">
                <a16:creationId xmlns="" xmlns:a16="http://schemas.microsoft.com/office/drawing/2014/main" id="{C2BB9153-A7A0-4504-AC5F-56790DAEB5CD}"/>
              </a:ext>
            </a:extLst>
          </p:cNvPr>
          <p:cNvSpPr>
            <a:spLocks noGrp="1"/>
          </p:cNvSpPr>
          <p:nvPr>
            <p:ph type="sldNum" sz="quarter" idx="12"/>
          </p:nvPr>
        </p:nvSpPr>
        <p:spPr>
          <a:xfrm>
            <a:off x="9900458" y="6459785"/>
            <a:ext cx="1312025" cy="365125"/>
          </a:xfrm>
        </p:spPr>
        <p:txBody>
          <a:bodyPr/>
          <a:lstStyle/>
          <a:p>
            <a:fld id="{69FBB93A-4B32-4007-AACF-5243CED557C7}" type="slidenum">
              <a:rPr lang="en-IN" smtClean="0"/>
              <a:t>24</a:t>
            </a:fld>
            <a:endParaRPr lang="en-IN"/>
          </a:p>
        </p:txBody>
      </p:sp>
      <p:sp>
        <p:nvSpPr>
          <p:cNvPr id="5" name="Date Placeholder 9">
            <a:extLst>
              <a:ext uri="{FF2B5EF4-FFF2-40B4-BE49-F238E27FC236}">
                <a16:creationId xmlns="" xmlns:a16="http://schemas.microsoft.com/office/drawing/2014/main" id="{E2AF6416-E065-4DA5-B156-B7F578D2AF40}"/>
              </a:ext>
            </a:extLst>
          </p:cNvPr>
          <p:cNvSpPr>
            <a:spLocks noGrp="1"/>
          </p:cNvSpPr>
          <p:nvPr>
            <p:ph type="dt" sz="half" idx="10"/>
          </p:nvPr>
        </p:nvSpPr>
        <p:spPr>
          <a:xfrm>
            <a:off x="1097280" y="6459785"/>
            <a:ext cx="2472271" cy="365125"/>
          </a:xfrm>
        </p:spPr>
        <p:txBody>
          <a:bodyPr/>
          <a:lstStyle/>
          <a:p>
            <a:r>
              <a:rPr lang="en-US"/>
              <a:t>Dept of AI&amp;DS, SJCIT</a:t>
            </a:r>
            <a:endParaRPr lang="en-IN"/>
          </a:p>
        </p:txBody>
      </p:sp>
      <p:pic>
        <p:nvPicPr>
          <p:cNvPr id="6" name="Picture 5">
            <a:extLst>
              <a:ext uri="{FF2B5EF4-FFF2-40B4-BE49-F238E27FC236}">
                <a16:creationId xmlns="" xmlns:a16="http://schemas.microsoft.com/office/drawing/2014/main" id="{FA43899D-08E8-44A2-ADB1-30FFF0F099A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254734" y="64522"/>
            <a:ext cx="1581591" cy="878662"/>
          </a:xfrm>
          <a:prstGeom prst="rect">
            <a:avLst/>
          </a:prstGeom>
        </p:spPr>
      </p:pic>
      <p:sp>
        <p:nvSpPr>
          <p:cNvPr id="7" name="TextBox 6">
            <a:extLst>
              <a:ext uri="{FF2B5EF4-FFF2-40B4-BE49-F238E27FC236}">
                <a16:creationId xmlns="" xmlns:a16="http://schemas.microsoft.com/office/drawing/2014/main" id="{52DE6456-D739-4E1F-8DA1-5FAE5B3DFF86}"/>
              </a:ext>
            </a:extLst>
          </p:cNvPr>
          <p:cNvSpPr txBox="1"/>
          <p:nvPr/>
        </p:nvSpPr>
        <p:spPr>
          <a:xfrm>
            <a:off x="0" y="33090"/>
            <a:ext cx="3883741" cy="215444"/>
          </a:xfrm>
          <a:prstGeom prst="rect">
            <a:avLst/>
          </a:prstGeom>
          <a:noFill/>
        </p:spPr>
        <p:txBody>
          <a:bodyPr wrap="square" rtlCol="0">
            <a:spAutoFit/>
          </a:bodyPr>
          <a:lstStyle/>
          <a:p>
            <a:r>
              <a:rPr lang="en-IN" sz="800" dirty="0">
                <a:latin typeface="Times New Roman" panose="02020603050405020304" pitchFamily="18" charset="0"/>
                <a:ea typeface="Tahoma" panose="020B0604030504040204" pitchFamily="34" charset="0"/>
                <a:cs typeface="Times New Roman" panose="02020603050405020304" pitchFamily="18" charset="0"/>
              </a:rPr>
              <a:t>A Hybrid Neural Network for EEG-based Depression Screening </a:t>
            </a:r>
            <a:r>
              <a:rPr lang="en-IN" sz="800">
                <a:latin typeface="Times New Roman" panose="02020603050405020304" pitchFamily="18" charset="0"/>
                <a:ea typeface="Tahoma" panose="020B0604030504040204" pitchFamily="34" charset="0"/>
                <a:cs typeface="Times New Roman" panose="02020603050405020304" pitchFamily="18" charset="0"/>
              </a:rPr>
              <a:t>Using CNN +LSTM</a:t>
            </a:r>
            <a:endParaRPr lang="en-IN" sz="8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 xmlns:a16="http://schemas.microsoft.com/office/drawing/2014/main" id="{D2C67360-7FDE-48DE-9098-507480140E70}"/>
              </a:ext>
            </a:extLst>
          </p:cNvPr>
          <p:cNvSpPr txBox="1"/>
          <p:nvPr/>
        </p:nvSpPr>
        <p:spPr>
          <a:xfrm>
            <a:off x="569167" y="503853"/>
            <a:ext cx="9396318" cy="523220"/>
          </a:xfrm>
          <a:prstGeom prst="rect">
            <a:avLst/>
          </a:prstGeom>
          <a:noFill/>
        </p:spPr>
        <p:txBody>
          <a:bodyPr wrap="square" rtlCol="0">
            <a:spAutoFit/>
          </a:bodyPr>
          <a:lstStyle/>
          <a:p>
            <a:pPr algn="ctr"/>
            <a:endParaRPr lang="en-IN" sz="2800" dirty="0">
              <a:effectLst/>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 xmlns:a16="http://schemas.microsoft.com/office/drawing/2014/main" id="{28B93B8D-26A0-4041-B70C-D7D9A947C517}"/>
              </a:ext>
            </a:extLst>
          </p:cNvPr>
          <p:cNvSpPr txBox="1"/>
          <p:nvPr/>
        </p:nvSpPr>
        <p:spPr>
          <a:xfrm>
            <a:off x="121298" y="345233"/>
            <a:ext cx="9779160" cy="523220"/>
          </a:xfrm>
          <a:prstGeom prst="rect">
            <a:avLst/>
          </a:prstGeom>
          <a:noFill/>
        </p:spPr>
        <p:txBody>
          <a:bodyPr wrap="square">
            <a:spAutoFit/>
          </a:bodyPr>
          <a:lstStyle/>
          <a:p>
            <a:pPr marL="0" algn="ctr" rtl="0" eaLnBrk="1" latinLnBrk="0" hangingPunct="1">
              <a:spcBef>
                <a:spcPts val="0"/>
              </a:spcBef>
              <a:spcAft>
                <a:spcPts val="0"/>
              </a:spcAft>
            </a:pPr>
            <a:r>
              <a:rPr lang="en-IN" sz="2800" b="1" kern="1200" dirty="0">
                <a:solidFill>
                  <a:srgbClr val="000000"/>
                </a:solidFill>
                <a:effectLst/>
                <a:latin typeface="Times New Roman" panose="02020603050405020304" pitchFamily="18" charset="0"/>
                <a:ea typeface="+mn-ea"/>
                <a:cs typeface="Times New Roman" panose="02020603050405020304" pitchFamily="18" charset="0"/>
              </a:rPr>
              <a:t>REFERENCES</a:t>
            </a:r>
            <a:endParaRPr lang="en-IN" sz="2800" dirty="0">
              <a:effectLst/>
            </a:endParaRPr>
          </a:p>
        </p:txBody>
      </p:sp>
      <p:sp>
        <p:nvSpPr>
          <p:cNvPr id="10" name="TextBox 9">
            <a:extLst>
              <a:ext uri="{FF2B5EF4-FFF2-40B4-BE49-F238E27FC236}">
                <a16:creationId xmlns="" xmlns:a16="http://schemas.microsoft.com/office/drawing/2014/main" id="{F09BC811-8E6B-4430-8506-F6E9F5071A36}"/>
              </a:ext>
            </a:extLst>
          </p:cNvPr>
          <p:cNvSpPr txBox="1"/>
          <p:nvPr/>
        </p:nvSpPr>
        <p:spPr>
          <a:xfrm>
            <a:off x="279918" y="774441"/>
            <a:ext cx="10478278" cy="6003322"/>
          </a:xfrm>
          <a:prstGeom prst="rect">
            <a:avLst/>
          </a:prstGeom>
          <a:noFill/>
        </p:spPr>
        <p:txBody>
          <a:bodyPr wrap="square" rtlCol="0">
            <a:spAutoFit/>
          </a:bodyPr>
          <a:lstStyle/>
          <a:p>
            <a:pPr marL="0" rtl="0" eaLnBrk="1" latinLnBrk="0" hangingPunct="1">
              <a:lnSpc>
                <a:spcPct val="150000"/>
              </a:lnSpc>
              <a:spcBef>
                <a:spcPts val="0"/>
              </a:spcBef>
              <a:spcAft>
                <a:spcPts val="0"/>
              </a:spcAft>
            </a:pPr>
            <a:r>
              <a:rPr lang="en-IN" sz="1600" b="1" kern="1200" dirty="0">
                <a:solidFill>
                  <a:srgbClr val="000000"/>
                </a:solidFill>
                <a:effectLst/>
                <a:latin typeface="Times New Roman" panose="02020603050405020304" pitchFamily="18" charset="0"/>
                <a:ea typeface="+mn-ea"/>
                <a:cs typeface="Times New Roman" panose="02020603050405020304" pitchFamily="18" charset="0"/>
              </a:rPr>
              <a:t>[</a:t>
            </a:r>
            <a:r>
              <a:rPr lang="en-IN" sz="1600" b="1" kern="1200" dirty="0">
                <a:solidFill>
                  <a:srgbClr val="000000"/>
                </a:solidFill>
                <a:effectLst/>
                <a:latin typeface="Times New Roman" panose="02020603050405020304" pitchFamily="18" charset="0"/>
                <a:cs typeface="Times New Roman" panose="02020603050405020304" pitchFamily="18" charset="0"/>
              </a:rPr>
              <a:t>1] Automated EEG-based screening of depression using deep convolutional neural network,</a:t>
            </a:r>
            <a:r>
              <a:rPr lang="en-IN" sz="1600" kern="1200" dirty="0">
                <a:solidFill>
                  <a:srgbClr val="000000"/>
                </a:solidFill>
                <a:effectLst/>
                <a:latin typeface="Times New Roman" panose="02020603050405020304" pitchFamily="18" charset="0"/>
                <a:cs typeface="Times New Roman" panose="02020603050405020304" pitchFamily="18" charset="0"/>
              </a:rPr>
              <a:t> U. R. Acharya, H. Fujita, S. L. Oh, Y. Hagiwara, J. H. Tan, and M. Adam</a:t>
            </a:r>
            <a:br>
              <a:rPr lang="en-IN" sz="1600" kern="1200" dirty="0">
                <a:solidFill>
                  <a:srgbClr val="000000"/>
                </a:solidFill>
                <a:effectLst/>
                <a:latin typeface="Times New Roman" panose="02020603050405020304" pitchFamily="18" charset="0"/>
                <a:cs typeface="Times New Roman" panose="02020603050405020304" pitchFamily="18" charset="0"/>
              </a:rPr>
            </a:br>
            <a:r>
              <a:rPr lang="en-IN" sz="1600" u="sng" kern="1200" dirty="0">
                <a:solidFill>
                  <a:srgbClr val="000000"/>
                </a:solidFill>
                <a:effectLst/>
                <a:latin typeface="Times New Roman" panose="02020603050405020304" pitchFamily="18" charset="0"/>
                <a:cs typeface="Times New Roman" panose="02020603050405020304" pitchFamily="18" charset="0"/>
                <a:hlinkClick r:id="rId3"/>
              </a:rPr>
              <a:t>https://doi.org/10.1016/j.compbiomed.2018.06.008</a:t>
            </a:r>
            <a:endParaRPr lang="en-IN" sz="1600" dirty="0">
              <a:effectLst/>
              <a:latin typeface="Times New Roman" panose="02020603050405020304" pitchFamily="18" charset="0"/>
              <a:cs typeface="Times New Roman" panose="02020603050405020304" pitchFamily="18" charset="0"/>
            </a:endParaRPr>
          </a:p>
          <a:p>
            <a:pPr marL="0" rtl="0" eaLnBrk="1" latinLnBrk="0" hangingPunct="1">
              <a:lnSpc>
                <a:spcPct val="150000"/>
              </a:lnSpc>
              <a:spcBef>
                <a:spcPts val="0"/>
              </a:spcBef>
              <a:spcAft>
                <a:spcPts val="0"/>
              </a:spcAft>
            </a:pPr>
            <a:r>
              <a:rPr lang="en-IN" sz="1600" b="1" kern="1200" dirty="0">
                <a:solidFill>
                  <a:srgbClr val="000000"/>
                </a:solidFill>
                <a:effectLst/>
                <a:latin typeface="Times New Roman" panose="02020603050405020304" pitchFamily="18" charset="0"/>
                <a:cs typeface="Times New Roman" panose="02020603050405020304" pitchFamily="18" charset="0"/>
              </a:rPr>
              <a:t>[2] Deep convolutional neural network model for automated diagnosis of depression using EEG signals</a:t>
            </a:r>
            <a:r>
              <a:rPr lang="en-IN" sz="1600" kern="1200" dirty="0">
                <a:solidFill>
                  <a:srgbClr val="000000"/>
                </a:solidFill>
                <a:effectLst/>
                <a:latin typeface="Times New Roman" panose="02020603050405020304" pitchFamily="18" charset="0"/>
                <a:cs typeface="Times New Roman" panose="02020603050405020304" pitchFamily="18" charset="0"/>
              </a:rPr>
              <a:t>, S. L. Oh, U. R. Acharya, Y. Hagiwara, J. H. Tan, and H. </a:t>
            </a:r>
            <a:r>
              <a:rPr lang="en-IN" sz="1600" kern="1200" dirty="0" err="1">
                <a:solidFill>
                  <a:srgbClr val="000000"/>
                </a:solidFill>
                <a:effectLst/>
                <a:latin typeface="Times New Roman" panose="02020603050405020304" pitchFamily="18" charset="0"/>
                <a:cs typeface="Times New Roman" panose="02020603050405020304" pitchFamily="18" charset="0"/>
              </a:rPr>
              <a:t>Adeli</a:t>
            </a:r>
            <a:r>
              <a:rPr lang="en-IN" sz="1600" kern="1200" dirty="0">
                <a:solidFill>
                  <a:srgbClr val="000000"/>
                </a:solidFill>
                <a:effectLst/>
                <a:latin typeface="Times New Roman" panose="02020603050405020304" pitchFamily="18" charset="0"/>
                <a:cs typeface="Times New Roman" panose="02020603050405020304" pitchFamily="18" charset="0"/>
              </a:rPr>
              <a:t/>
            </a:r>
            <a:br>
              <a:rPr lang="en-IN" sz="1600" kern="1200" dirty="0">
                <a:solidFill>
                  <a:srgbClr val="000000"/>
                </a:solidFill>
                <a:effectLst/>
                <a:latin typeface="Times New Roman" panose="02020603050405020304" pitchFamily="18" charset="0"/>
                <a:cs typeface="Times New Roman" panose="02020603050405020304" pitchFamily="18" charset="0"/>
              </a:rPr>
            </a:br>
            <a:r>
              <a:rPr lang="en-IN" sz="1600" u="sng" kern="1200" dirty="0">
                <a:solidFill>
                  <a:srgbClr val="000000"/>
                </a:solidFill>
                <a:effectLst/>
                <a:latin typeface="Times New Roman" panose="02020603050405020304" pitchFamily="18" charset="0"/>
                <a:cs typeface="Times New Roman" panose="02020603050405020304" pitchFamily="18" charset="0"/>
                <a:hlinkClick r:id="rId4"/>
              </a:rPr>
              <a:t>https://doi.org/10.3390/app9153319</a:t>
            </a:r>
            <a:endParaRPr lang="en-IN" sz="1600" dirty="0">
              <a:effectLst/>
              <a:latin typeface="Times New Roman" panose="02020603050405020304" pitchFamily="18" charset="0"/>
              <a:cs typeface="Times New Roman" panose="02020603050405020304" pitchFamily="18" charset="0"/>
            </a:endParaRPr>
          </a:p>
          <a:p>
            <a:pPr marL="0" rtl="0" eaLnBrk="1" latinLnBrk="0" hangingPunct="1">
              <a:lnSpc>
                <a:spcPct val="150000"/>
              </a:lnSpc>
              <a:spcBef>
                <a:spcPts val="0"/>
              </a:spcBef>
              <a:spcAft>
                <a:spcPts val="0"/>
              </a:spcAft>
            </a:pPr>
            <a:r>
              <a:rPr lang="en-IN" sz="1600" b="1" kern="1200" dirty="0">
                <a:solidFill>
                  <a:srgbClr val="000000"/>
                </a:solidFill>
                <a:effectLst/>
                <a:latin typeface="Times New Roman" panose="02020603050405020304" pitchFamily="18" charset="0"/>
                <a:cs typeface="Times New Roman" panose="02020603050405020304" pitchFamily="18" charset="0"/>
              </a:rPr>
              <a:t>[3] Implementation guides for CNN and LSTM using </a:t>
            </a:r>
            <a:r>
              <a:rPr lang="en-IN" sz="1600" b="1" kern="1200" dirty="0" err="1">
                <a:solidFill>
                  <a:srgbClr val="000000"/>
                </a:solidFill>
                <a:effectLst/>
                <a:latin typeface="Times New Roman" panose="02020603050405020304" pitchFamily="18" charset="0"/>
                <a:cs typeface="Times New Roman" panose="02020603050405020304" pitchFamily="18" charset="0"/>
              </a:rPr>
              <a:t>Keras</a:t>
            </a:r>
            <a:r>
              <a:rPr lang="en-IN" sz="1600" b="1" kern="1200" dirty="0">
                <a:solidFill>
                  <a:srgbClr val="000000"/>
                </a:solidFill>
                <a:effectLst/>
                <a:latin typeface="Times New Roman" panose="02020603050405020304" pitchFamily="18" charset="0"/>
                <a:cs typeface="Times New Roman" panose="02020603050405020304" pitchFamily="18" charset="0"/>
              </a:rPr>
              <a:t>’ Sequential API.</a:t>
            </a:r>
            <a:r>
              <a:rPr lang="en-IN" sz="1600" kern="1200" dirty="0">
                <a:solidFill>
                  <a:srgbClr val="000000"/>
                </a:solidFill>
                <a:effectLst/>
                <a:latin typeface="Times New Roman" panose="02020603050405020304" pitchFamily="18" charset="0"/>
                <a:cs typeface="Times New Roman" panose="02020603050405020304" pitchFamily="18" charset="0"/>
              </a:rPr>
              <a:t/>
            </a:r>
            <a:br>
              <a:rPr lang="en-IN" sz="1600" kern="1200" dirty="0">
                <a:solidFill>
                  <a:srgbClr val="000000"/>
                </a:solidFill>
                <a:effectLst/>
                <a:latin typeface="Times New Roman" panose="02020603050405020304" pitchFamily="18" charset="0"/>
                <a:cs typeface="Times New Roman" panose="02020603050405020304" pitchFamily="18" charset="0"/>
              </a:rPr>
            </a:br>
            <a:r>
              <a:rPr lang="en-IN" sz="1600" u="sng" kern="1200" dirty="0">
                <a:solidFill>
                  <a:srgbClr val="000000"/>
                </a:solidFill>
                <a:effectLst/>
                <a:latin typeface="Times New Roman" panose="02020603050405020304" pitchFamily="18" charset="0"/>
                <a:cs typeface="Times New Roman" panose="02020603050405020304" pitchFamily="18" charset="0"/>
                <a:hlinkClick r:id="rId5"/>
              </a:rPr>
              <a:t>https://keras.io/guides/sequential_model/</a:t>
            </a:r>
            <a:endParaRPr lang="en-IN" sz="1600" dirty="0">
              <a:effectLst/>
              <a:latin typeface="Times New Roman" panose="02020603050405020304" pitchFamily="18" charset="0"/>
              <a:cs typeface="Times New Roman" panose="02020603050405020304" pitchFamily="18" charset="0"/>
            </a:endParaRPr>
          </a:p>
          <a:p>
            <a:pPr marL="0" rtl="0" eaLnBrk="1" latinLnBrk="0" hangingPunct="1">
              <a:lnSpc>
                <a:spcPct val="150000"/>
              </a:lnSpc>
              <a:spcBef>
                <a:spcPts val="0"/>
              </a:spcBef>
              <a:spcAft>
                <a:spcPts val="0"/>
              </a:spcAft>
            </a:pPr>
            <a:r>
              <a:rPr lang="en-IN" sz="1600" b="1" kern="1200" dirty="0">
                <a:solidFill>
                  <a:srgbClr val="000000"/>
                </a:solidFill>
                <a:effectLst/>
                <a:latin typeface="Times New Roman" panose="02020603050405020304" pitchFamily="18" charset="0"/>
                <a:cs typeface="Times New Roman" panose="02020603050405020304" pitchFamily="18" charset="0"/>
              </a:rPr>
              <a:t>[4] U.R. Acharya, S.L. Oh, Y. Hagiwara, J.H. Tan, H. </a:t>
            </a:r>
            <a:r>
              <a:rPr lang="en-IN" sz="1600" b="1" kern="1200" dirty="0" err="1">
                <a:solidFill>
                  <a:srgbClr val="000000"/>
                </a:solidFill>
                <a:effectLst/>
                <a:latin typeface="Times New Roman" panose="02020603050405020304" pitchFamily="18" charset="0"/>
                <a:cs typeface="Times New Roman" panose="02020603050405020304" pitchFamily="18" charset="0"/>
              </a:rPr>
              <a:t>Adeli</a:t>
            </a:r>
            <a:r>
              <a:rPr lang="en-IN" sz="1600" b="1" kern="1200" dirty="0">
                <a:solidFill>
                  <a:srgbClr val="000000"/>
                </a:solidFill>
                <a:effectLst/>
                <a:latin typeface="Times New Roman" panose="02020603050405020304" pitchFamily="18" charset="0"/>
                <a:cs typeface="Times New Roman" panose="02020603050405020304" pitchFamily="18" charset="0"/>
              </a:rPr>
              <a:t>, D.P. Subha, Automated EEG-based screening of depression using deep convolutional neural network, </a:t>
            </a:r>
            <a:r>
              <a:rPr lang="en-IN" sz="1600" b="1" kern="1200" dirty="0" err="1">
                <a:solidFill>
                  <a:srgbClr val="000000"/>
                </a:solidFill>
                <a:effectLst/>
                <a:latin typeface="Times New Roman" panose="02020603050405020304" pitchFamily="18" charset="0"/>
                <a:cs typeface="Times New Roman" panose="02020603050405020304" pitchFamily="18" charset="0"/>
              </a:rPr>
              <a:t>Comput</a:t>
            </a:r>
            <a:r>
              <a:rPr lang="en-IN" sz="1600" b="1" kern="1200" dirty="0">
                <a:solidFill>
                  <a:srgbClr val="000000"/>
                </a:solidFill>
                <a:effectLst/>
                <a:latin typeface="Times New Roman" panose="02020603050405020304" pitchFamily="18" charset="0"/>
                <a:cs typeface="Times New Roman" panose="02020603050405020304" pitchFamily="18" charset="0"/>
              </a:rPr>
              <a:t>. Methods Programs Biomed. 161 (2018) 103–113. </a:t>
            </a:r>
            <a:r>
              <a:rPr lang="en-IN" sz="1600" b="1" kern="1200" dirty="0">
                <a:solidFill>
                  <a:srgbClr val="000000"/>
                </a:solidFill>
                <a:effectLst/>
                <a:latin typeface="Times New Roman" panose="02020603050405020304" pitchFamily="18" charset="0"/>
                <a:cs typeface="Times New Roman" panose="02020603050405020304" pitchFamily="18" charset="0"/>
                <a:hlinkClick r:id="rId6"/>
              </a:rPr>
              <a:t>https://www.sciencedirect.com/science/article/pii/S0169260718301494</a:t>
            </a:r>
            <a:endParaRPr lang="en-IN" sz="1600" dirty="0">
              <a:effectLst/>
              <a:latin typeface="Times New Roman" panose="02020603050405020304" pitchFamily="18" charset="0"/>
              <a:cs typeface="Times New Roman" panose="02020603050405020304" pitchFamily="18" charset="0"/>
            </a:endParaRPr>
          </a:p>
          <a:p>
            <a:pPr marL="0" rtl="0" eaLnBrk="1" latinLnBrk="0" hangingPunct="1">
              <a:spcBef>
                <a:spcPts val="0"/>
              </a:spcBef>
              <a:spcAft>
                <a:spcPts val="0"/>
              </a:spcAft>
            </a:pPr>
            <a:r>
              <a:rPr lang="en-IN" sz="1600" b="1" kern="1200" dirty="0">
                <a:solidFill>
                  <a:srgbClr val="000000"/>
                </a:solidFill>
                <a:effectLst/>
                <a:latin typeface="Times New Roman" panose="02020603050405020304" pitchFamily="18" charset="0"/>
                <a:cs typeface="Times New Roman" panose="02020603050405020304" pitchFamily="18" charset="0"/>
              </a:rPr>
              <a:t>[5] Electroencephalogram (EEG)-based computer-aided technique to diagnose major depressive disorder (MDD)”</a:t>
            </a:r>
            <a:r>
              <a:rPr lang="en-IN" sz="1600" kern="1200" dirty="0">
                <a:solidFill>
                  <a:srgbClr val="000000"/>
                </a:solidFill>
                <a:effectLst/>
                <a:latin typeface="Times New Roman" panose="02020603050405020304" pitchFamily="18" charset="0"/>
                <a:cs typeface="Times New Roman" panose="02020603050405020304" pitchFamily="18" charset="0"/>
              </a:rPr>
              <a:t> by W. Mumtaz, L. Xia, S. S. A. Ali, M. A. M. Yasin, M. Hussain, A. S. Malik (2017),  </a:t>
            </a:r>
            <a:r>
              <a:rPr lang="en-IN" sz="1600" kern="1200" dirty="0">
                <a:solidFill>
                  <a:srgbClr val="000000"/>
                </a:solidFill>
                <a:effectLst/>
                <a:latin typeface="Times New Roman" panose="02020603050405020304" pitchFamily="18" charset="0"/>
                <a:cs typeface="Times New Roman" panose="02020603050405020304" pitchFamily="18" charset="0"/>
                <a:hlinkClick r:id="rId7"/>
              </a:rPr>
              <a:t>https://www.sciencedirect.com/science/article/abs/pii/S1746809416300866</a:t>
            </a:r>
            <a:endParaRPr lang="en-IN" sz="1600" dirty="0">
              <a:effectLst/>
              <a:latin typeface="Times New Roman" panose="02020603050405020304" pitchFamily="18" charset="0"/>
              <a:cs typeface="Times New Roman" panose="02020603050405020304" pitchFamily="18" charset="0"/>
            </a:endParaRPr>
          </a:p>
          <a:p>
            <a:pPr marL="0" rtl="0" eaLnBrk="1" latinLnBrk="0" hangingPunct="1">
              <a:spcBef>
                <a:spcPts val="0"/>
              </a:spcBef>
              <a:spcAft>
                <a:spcPts val="0"/>
              </a:spcAft>
            </a:pPr>
            <a:r>
              <a:rPr lang="en-IN" sz="1600" kern="1200" dirty="0">
                <a:solidFill>
                  <a:srgbClr val="000000"/>
                </a:solidFill>
                <a:effectLst/>
                <a:latin typeface="Times New Roman" panose="02020603050405020304" pitchFamily="18" charset="0"/>
                <a:cs typeface="Times New Roman" panose="02020603050405020304" pitchFamily="18" charset="0"/>
              </a:rPr>
              <a:t>[6] </a:t>
            </a:r>
            <a:r>
              <a:rPr lang="en-IN" sz="1600" b="1" kern="1200" dirty="0">
                <a:solidFill>
                  <a:srgbClr val="000000"/>
                </a:solidFill>
                <a:effectLst/>
                <a:latin typeface="Times New Roman" panose="02020603050405020304" pitchFamily="18" charset="0"/>
                <a:cs typeface="Times New Roman" panose="02020603050405020304" pitchFamily="18" charset="0"/>
              </a:rPr>
              <a:t>Deep convolutional neural networks for computer-aided detection: CNN architectures, dataset characteristics and transfer learning”</a:t>
            </a:r>
            <a:r>
              <a:rPr lang="en-IN" sz="1600" kern="1200" dirty="0">
                <a:solidFill>
                  <a:srgbClr val="000000"/>
                </a:solidFill>
                <a:effectLst/>
                <a:latin typeface="Times New Roman" panose="02020603050405020304" pitchFamily="18" charset="0"/>
                <a:cs typeface="Times New Roman" panose="02020603050405020304" pitchFamily="18" charset="0"/>
              </a:rPr>
              <a:t> by H.-C. Shin, H. R. Roth, M. Gao, L. Lu, Z. Xu, I. </a:t>
            </a:r>
            <a:r>
              <a:rPr lang="en-IN" sz="1600" kern="1200" dirty="0" err="1">
                <a:solidFill>
                  <a:srgbClr val="000000"/>
                </a:solidFill>
                <a:effectLst/>
                <a:latin typeface="Times New Roman" panose="02020603050405020304" pitchFamily="18" charset="0"/>
                <a:cs typeface="Times New Roman" panose="02020603050405020304" pitchFamily="18" charset="0"/>
              </a:rPr>
              <a:t>Nogues</a:t>
            </a:r>
            <a:r>
              <a:rPr lang="en-IN" sz="1600" kern="1200" dirty="0">
                <a:solidFill>
                  <a:srgbClr val="000000"/>
                </a:solidFill>
                <a:effectLst/>
                <a:latin typeface="Times New Roman" panose="02020603050405020304" pitchFamily="18" charset="0"/>
                <a:cs typeface="Times New Roman" panose="02020603050405020304" pitchFamily="18" charset="0"/>
              </a:rPr>
              <a:t>, J. Yao, D. </a:t>
            </a:r>
            <a:r>
              <a:rPr lang="en-IN" sz="1600" kern="1200" dirty="0" err="1">
                <a:solidFill>
                  <a:srgbClr val="000000"/>
                </a:solidFill>
                <a:effectLst/>
                <a:latin typeface="Times New Roman" panose="02020603050405020304" pitchFamily="18" charset="0"/>
                <a:cs typeface="Times New Roman" panose="02020603050405020304" pitchFamily="18" charset="0"/>
              </a:rPr>
              <a:t>Mollura</a:t>
            </a:r>
            <a:r>
              <a:rPr lang="en-IN" sz="1600" kern="1200" dirty="0">
                <a:solidFill>
                  <a:srgbClr val="000000"/>
                </a:solidFill>
                <a:effectLst/>
                <a:latin typeface="Times New Roman" panose="02020603050405020304" pitchFamily="18" charset="0"/>
                <a:cs typeface="Times New Roman" panose="02020603050405020304" pitchFamily="18" charset="0"/>
              </a:rPr>
              <a:t>, R. M. Summers (2016),  </a:t>
            </a:r>
            <a:r>
              <a:rPr lang="en-IN" sz="1600" kern="1200" dirty="0">
                <a:solidFill>
                  <a:srgbClr val="000000"/>
                </a:solidFill>
                <a:effectLst/>
                <a:latin typeface="Times New Roman" panose="02020603050405020304" pitchFamily="18" charset="0"/>
                <a:cs typeface="Times New Roman" panose="02020603050405020304" pitchFamily="18" charset="0"/>
                <a:hlinkClick r:id="rId8"/>
              </a:rPr>
              <a:t>https://pubmed.ncbi.nlm.nih.gov/26886976/</a:t>
            </a:r>
            <a:endParaRPr lang="en-IN" sz="1600" dirty="0">
              <a:effectLst/>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6458710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0411C114-E6D8-4FD2-BBDC-6EDBEC01E691}"/>
              </a:ext>
            </a:extLst>
          </p:cNvPr>
          <p:cNvSpPr>
            <a:spLocks noGrp="1"/>
          </p:cNvSpPr>
          <p:nvPr>
            <p:ph type="dt" sz="half" idx="10"/>
          </p:nvPr>
        </p:nvSpPr>
        <p:spPr>
          <a:xfrm>
            <a:off x="1097280" y="6459785"/>
            <a:ext cx="2472271" cy="365125"/>
          </a:xfrm>
        </p:spPr>
        <p:txBody>
          <a:bodyPr/>
          <a:lstStyle/>
          <a:p>
            <a:r>
              <a:rPr lang="en-US"/>
              <a:t>Dept of AI&amp;DS, SJCIT</a:t>
            </a:r>
            <a:endParaRPr lang="en-IN"/>
          </a:p>
        </p:txBody>
      </p:sp>
      <p:sp>
        <p:nvSpPr>
          <p:cNvPr id="3" name="Footer Placeholder 2">
            <a:extLst>
              <a:ext uri="{FF2B5EF4-FFF2-40B4-BE49-F238E27FC236}">
                <a16:creationId xmlns="" xmlns:a16="http://schemas.microsoft.com/office/drawing/2014/main" id="{B1B7ABD4-9B09-405B-AA63-9473DE2A7526}"/>
              </a:ext>
            </a:extLst>
          </p:cNvPr>
          <p:cNvSpPr>
            <a:spLocks noGrp="1"/>
          </p:cNvSpPr>
          <p:nvPr>
            <p:ph type="ftr" sz="quarter" idx="11"/>
          </p:nvPr>
        </p:nvSpPr>
        <p:spPr>
          <a:xfrm>
            <a:off x="3686185" y="6459785"/>
            <a:ext cx="4822804" cy="365125"/>
          </a:xfrm>
        </p:spPr>
        <p:txBody>
          <a:bodyPr/>
          <a:lstStyle/>
          <a:p>
            <a:r>
              <a:rPr lang="en-IN"/>
              <a:t>2025-26</a:t>
            </a:r>
          </a:p>
        </p:txBody>
      </p:sp>
      <p:sp>
        <p:nvSpPr>
          <p:cNvPr id="4" name="Slide Number Placeholder 3">
            <a:extLst>
              <a:ext uri="{FF2B5EF4-FFF2-40B4-BE49-F238E27FC236}">
                <a16:creationId xmlns="" xmlns:a16="http://schemas.microsoft.com/office/drawing/2014/main" id="{FB75FD1E-3E93-4095-A7A4-50F564D02F8C}"/>
              </a:ext>
            </a:extLst>
          </p:cNvPr>
          <p:cNvSpPr>
            <a:spLocks noGrp="1"/>
          </p:cNvSpPr>
          <p:nvPr>
            <p:ph type="sldNum" sz="quarter" idx="12"/>
          </p:nvPr>
        </p:nvSpPr>
        <p:spPr>
          <a:xfrm>
            <a:off x="9900458" y="6459785"/>
            <a:ext cx="1312025" cy="365125"/>
          </a:xfrm>
        </p:spPr>
        <p:txBody>
          <a:bodyPr/>
          <a:lstStyle/>
          <a:p>
            <a:fld id="{69FBB93A-4B32-4007-AACF-5243CED557C7}" type="slidenum">
              <a:rPr lang="en-IN" smtClean="0"/>
              <a:t>25</a:t>
            </a:fld>
            <a:endParaRPr lang="en-IN"/>
          </a:p>
        </p:txBody>
      </p:sp>
      <p:sp>
        <p:nvSpPr>
          <p:cNvPr id="5" name="TextBox 4">
            <a:extLst>
              <a:ext uri="{FF2B5EF4-FFF2-40B4-BE49-F238E27FC236}">
                <a16:creationId xmlns="" xmlns:a16="http://schemas.microsoft.com/office/drawing/2014/main" id="{5356AB22-1C3A-4E64-A8F5-19238286BACB}"/>
              </a:ext>
            </a:extLst>
          </p:cNvPr>
          <p:cNvSpPr txBox="1"/>
          <p:nvPr/>
        </p:nvSpPr>
        <p:spPr>
          <a:xfrm>
            <a:off x="3348756" y="184203"/>
            <a:ext cx="6213987" cy="523220"/>
          </a:xfrm>
          <a:prstGeom prst="rect">
            <a:avLst/>
          </a:prstGeom>
          <a:noFill/>
        </p:spPr>
        <p:txBody>
          <a:bodyPr wrap="square">
            <a:spAutoFit/>
          </a:bodyPr>
          <a:lstStyle/>
          <a:p>
            <a:pPr marL="0" algn="just" rtl="0" eaLnBrk="1" latinLnBrk="0" hangingPunct="1">
              <a:buNone/>
            </a:pPr>
            <a:r>
              <a:rPr lang="en-IN" sz="2800" b="1">
                <a:solidFill>
                  <a:srgbClr val="000000"/>
                </a:solidFill>
                <a:effectLst/>
                <a:latin typeface="Times New Roman" panose="02020603050405020304" pitchFamily="18" charset="0"/>
                <a:cs typeface="Times New Roman" panose="02020603050405020304" pitchFamily="18" charset="0"/>
              </a:rPr>
              <a:t>             SNAPSHOTS</a:t>
            </a:r>
            <a:endParaRPr lang="en-IN" sz="2800" dirty="0">
              <a:effectLst/>
            </a:endParaRPr>
          </a:p>
        </p:txBody>
      </p:sp>
      <p:pic>
        <p:nvPicPr>
          <p:cNvPr id="6" name="Picture 5">
            <a:extLst>
              <a:ext uri="{FF2B5EF4-FFF2-40B4-BE49-F238E27FC236}">
                <a16:creationId xmlns="" xmlns:a16="http://schemas.microsoft.com/office/drawing/2014/main" id="{97A9F554-AB11-4391-81BB-2C7B468F44AF}"/>
              </a:ext>
            </a:extLst>
          </p:cNvPr>
          <p:cNvPicPr>
            <a:picLocks noChangeAspect="1"/>
          </p:cNvPicPr>
          <p:nvPr/>
        </p:nvPicPr>
        <p:blipFill>
          <a:blip r:embed="rId2"/>
          <a:stretch>
            <a:fillRect/>
          </a:stretch>
        </p:blipFill>
        <p:spPr>
          <a:xfrm>
            <a:off x="10421908" y="257361"/>
            <a:ext cx="1581150" cy="876300"/>
          </a:xfrm>
          <a:prstGeom prst="rect">
            <a:avLst/>
          </a:prstGeom>
        </p:spPr>
      </p:pic>
      <p:sp>
        <p:nvSpPr>
          <p:cNvPr id="7" name="TextBox 6">
            <a:extLst>
              <a:ext uri="{FF2B5EF4-FFF2-40B4-BE49-F238E27FC236}">
                <a16:creationId xmlns="" xmlns:a16="http://schemas.microsoft.com/office/drawing/2014/main" id="{9D78DB1C-729E-4C39-88C8-54457024D9F4}"/>
              </a:ext>
            </a:extLst>
          </p:cNvPr>
          <p:cNvSpPr txBox="1"/>
          <p:nvPr/>
        </p:nvSpPr>
        <p:spPr>
          <a:xfrm>
            <a:off x="188942" y="33091"/>
            <a:ext cx="8955058" cy="215444"/>
          </a:xfrm>
          <a:prstGeom prst="rect">
            <a:avLst/>
          </a:prstGeom>
          <a:noFill/>
        </p:spPr>
        <p:txBody>
          <a:bodyPr wrap="square">
            <a:spAutoFit/>
          </a:bodyPr>
          <a:lstStyle/>
          <a:p>
            <a:r>
              <a:rPr lang="en-IN" sz="800" kern="1200">
                <a:solidFill>
                  <a:srgbClr val="000000"/>
                </a:solidFill>
                <a:effectLst/>
                <a:latin typeface="Tahoma" panose="020B0604030504040204" pitchFamily="34" charset="0"/>
                <a:ea typeface="Tahoma" panose="020B0604030504040204" pitchFamily="34" charset="0"/>
                <a:cs typeface="Tahoma" panose="020B0604030504040204" pitchFamily="34" charset="0"/>
              </a:rPr>
              <a:t>A Hybrid Neural Network for EEG-based Depression Screening Using CNN</a:t>
            </a:r>
            <a:r>
              <a:rPr lang="en-IN" sz="800">
                <a:latin typeface="Times New Roman" panose="02020603050405020304" pitchFamily="18" charset="0"/>
                <a:ea typeface="Tahoma" panose="020B0604030504040204" pitchFamily="34" charset="0"/>
                <a:cs typeface="Times New Roman" panose="02020603050405020304" pitchFamily="18" charset="0"/>
              </a:rPr>
              <a:t> +LSTM</a:t>
            </a:r>
            <a:endParaRPr lang="en-IN" sz="800">
              <a:effectLst/>
            </a:endParaRPr>
          </a:p>
        </p:txBody>
      </p:sp>
      <p:pic>
        <p:nvPicPr>
          <p:cNvPr id="13" name="Picture 12">
            <a:extLst>
              <a:ext uri="{FF2B5EF4-FFF2-40B4-BE49-F238E27FC236}">
                <a16:creationId xmlns="" xmlns:a16="http://schemas.microsoft.com/office/drawing/2014/main" id="{BEE2C078-D2B4-872A-05C9-F039B6CF031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8942" y="707423"/>
            <a:ext cx="5878457" cy="2830816"/>
          </a:xfrm>
          <a:prstGeom prst="rect">
            <a:avLst/>
          </a:prstGeom>
        </p:spPr>
      </p:pic>
      <p:pic>
        <p:nvPicPr>
          <p:cNvPr id="15" name="Picture 14">
            <a:extLst>
              <a:ext uri="{FF2B5EF4-FFF2-40B4-BE49-F238E27FC236}">
                <a16:creationId xmlns="" xmlns:a16="http://schemas.microsoft.com/office/drawing/2014/main" id="{8F02B6D9-8231-EAD9-4335-BAD3995C99A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59532" y="695511"/>
            <a:ext cx="4062376" cy="4700337"/>
          </a:xfrm>
          <a:prstGeom prst="rect">
            <a:avLst/>
          </a:prstGeom>
        </p:spPr>
      </p:pic>
      <p:pic>
        <p:nvPicPr>
          <p:cNvPr id="17" name="Picture 16">
            <a:extLst>
              <a:ext uri="{FF2B5EF4-FFF2-40B4-BE49-F238E27FC236}">
                <a16:creationId xmlns="" xmlns:a16="http://schemas.microsoft.com/office/drawing/2014/main" id="{A7712FAD-1B4F-2351-A98B-2D6B655A1B7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22766" y="3628969"/>
            <a:ext cx="5873234" cy="2453108"/>
          </a:xfrm>
          <a:prstGeom prst="rect">
            <a:avLst/>
          </a:prstGeom>
        </p:spPr>
      </p:pic>
    </p:spTree>
    <p:extLst>
      <p:ext uri="{BB962C8B-B14F-4D97-AF65-F5344CB8AC3E}">
        <p14:creationId xmlns:p14="http://schemas.microsoft.com/office/powerpoint/2010/main" val="1462213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C71501F4-05A1-28A9-059E-47F384A35E5B}"/>
            </a:ext>
          </a:extLst>
        </p:cNvPr>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9034F425-64C8-D1CD-DBA8-1BEC1BBE4760}"/>
              </a:ext>
            </a:extLst>
          </p:cNvPr>
          <p:cNvSpPr>
            <a:spLocks noGrp="1"/>
          </p:cNvSpPr>
          <p:nvPr>
            <p:ph type="dt" sz="half" idx="10"/>
          </p:nvPr>
        </p:nvSpPr>
        <p:spPr>
          <a:xfrm>
            <a:off x="1097280" y="6459785"/>
            <a:ext cx="2472271" cy="365125"/>
          </a:xfrm>
        </p:spPr>
        <p:txBody>
          <a:bodyPr/>
          <a:lstStyle/>
          <a:p>
            <a:r>
              <a:rPr lang="en-US"/>
              <a:t>Dept of AI&amp;DS, SJCIT</a:t>
            </a:r>
            <a:endParaRPr lang="en-IN"/>
          </a:p>
        </p:txBody>
      </p:sp>
      <p:sp>
        <p:nvSpPr>
          <p:cNvPr id="3" name="Footer Placeholder 2">
            <a:extLst>
              <a:ext uri="{FF2B5EF4-FFF2-40B4-BE49-F238E27FC236}">
                <a16:creationId xmlns="" xmlns:a16="http://schemas.microsoft.com/office/drawing/2014/main" id="{56ED8698-8850-5455-B243-6294FEE68F48}"/>
              </a:ext>
            </a:extLst>
          </p:cNvPr>
          <p:cNvSpPr>
            <a:spLocks noGrp="1"/>
          </p:cNvSpPr>
          <p:nvPr>
            <p:ph type="ftr" sz="quarter" idx="11"/>
          </p:nvPr>
        </p:nvSpPr>
        <p:spPr>
          <a:xfrm>
            <a:off x="3686185" y="6459785"/>
            <a:ext cx="4822804" cy="365125"/>
          </a:xfrm>
        </p:spPr>
        <p:txBody>
          <a:bodyPr/>
          <a:lstStyle/>
          <a:p>
            <a:r>
              <a:rPr lang="en-IN"/>
              <a:t>2025-26</a:t>
            </a:r>
          </a:p>
        </p:txBody>
      </p:sp>
      <p:sp>
        <p:nvSpPr>
          <p:cNvPr id="4" name="Slide Number Placeholder 3">
            <a:extLst>
              <a:ext uri="{FF2B5EF4-FFF2-40B4-BE49-F238E27FC236}">
                <a16:creationId xmlns="" xmlns:a16="http://schemas.microsoft.com/office/drawing/2014/main" id="{C5E8A8CC-B2F9-A7CF-0C5E-AAC4929CC49A}"/>
              </a:ext>
            </a:extLst>
          </p:cNvPr>
          <p:cNvSpPr>
            <a:spLocks noGrp="1"/>
          </p:cNvSpPr>
          <p:nvPr>
            <p:ph type="sldNum" sz="quarter" idx="12"/>
          </p:nvPr>
        </p:nvSpPr>
        <p:spPr>
          <a:xfrm>
            <a:off x="9900458" y="6459785"/>
            <a:ext cx="1312025" cy="365125"/>
          </a:xfrm>
        </p:spPr>
        <p:txBody>
          <a:bodyPr/>
          <a:lstStyle/>
          <a:p>
            <a:fld id="{69FBB93A-4B32-4007-AACF-5243CED557C7}" type="slidenum">
              <a:rPr lang="en-IN" smtClean="0"/>
              <a:t>26</a:t>
            </a:fld>
            <a:endParaRPr lang="en-IN"/>
          </a:p>
        </p:txBody>
      </p:sp>
      <p:pic>
        <p:nvPicPr>
          <p:cNvPr id="6" name="Picture 5">
            <a:extLst>
              <a:ext uri="{FF2B5EF4-FFF2-40B4-BE49-F238E27FC236}">
                <a16:creationId xmlns="" xmlns:a16="http://schemas.microsoft.com/office/drawing/2014/main" id="{1A583636-608C-730D-C70A-AC12B88F83A6}"/>
              </a:ext>
            </a:extLst>
          </p:cNvPr>
          <p:cNvPicPr>
            <a:picLocks noChangeAspect="1"/>
          </p:cNvPicPr>
          <p:nvPr/>
        </p:nvPicPr>
        <p:blipFill>
          <a:blip r:embed="rId2"/>
          <a:stretch>
            <a:fillRect/>
          </a:stretch>
        </p:blipFill>
        <p:spPr>
          <a:xfrm>
            <a:off x="10421908" y="257361"/>
            <a:ext cx="1581150" cy="876300"/>
          </a:xfrm>
          <a:prstGeom prst="rect">
            <a:avLst/>
          </a:prstGeom>
        </p:spPr>
      </p:pic>
      <p:sp>
        <p:nvSpPr>
          <p:cNvPr id="7" name="TextBox 6">
            <a:extLst>
              <a:ext uri="{FF2B5EF4-FFF2-40B4-BE49-F238E27FC236}">
                <a16:creationId xmlns="" xmlns:a16="http://schemas.microsoft.com/office/drawing/2014/main" id="{1621FC2C-C384-0438-4433-C188909776DC}"/>
              </a:ext>
            </a:extLst>
          </p:cNvPr>
          <p:cNvSpPr txBox="1"/>
          <p:nvPr/>
        </p:nvSpPr>
        <p:spPr>
          <a:xfrm>
            <a:off x="188942" y="33091"/>
            <a:ext cx="8955058" cy="215444"/>
          </a:xfrm>
          <a:prstGeom prst="rect">
            <a:avLst/>
          </a:prstGeom>
          <a:noFill/>
        </p:spPr>
        <p:txBody>
          <a:bodyPr wrap="square">
            <a:spAutoFit/>
          </a:bodyPr>
          <a:lstStyle/>
          <a:p>
            <a:r>
              <a:rPr lang="en-IN" sz="800" kern="1200">
                <a:solidFill>
                  <a:srgbClr val="000000"/>
                </a:solidFill>
                <a:effectLst/>
                <a:latin typeface="Tahoma" panose="020B0604030504040204" pitchFamily="34" charset="0"/>
                <a:ea typeface="Tahoma" panose="020B0604030504040204" pitchFamily="34" charset="0"/>
                <a:cs typeface="Tahoma" panose="020B0604030504040204" pitchFamily="34" charset="0"/>
              </a:rPr>
              <a:t>A Hybrid Neural Network for EEG-based Depression Screening Using CNN</a:t>
            </a:r>
            <a:r>
              <a:rPr lang="en-IN" sz="800">
                <a:latin typeface="Times New Roman" panose="02020603050405020304" pitchFamily="18" charset="0"/>
                <a:ea typeface="Tahoma" panose="020B0604030504040204" pitchFamily="34" charset="0"/>
                <a:cs typeface="Times New Roman" panose="02020603050405020304" pitchFamily="18" charset="0"/>
              </a:rPr>
              <a:t> +LSTM</a:t>
            </a:r>
            <a:endParaRPr lang="en-IN" sz="800">
              <a:effectLst/>
            </a:endParaRPr>
          </a:p>
        </p:txBody>
      </p:sp>
      <p:pic>
        <p:nvPicPr>
          <p:cNvPr id="9" name="Picture 8">
            <a:extLst>
              <a:ext uri="{FF2B5EF4-FFF2-40B4-BE49-F238E27FC236}">
                <a16:creationId xmlns="" xmlns:a16="http://schemas.microsoft.com/office/drawing/2014/main" id="{0F9CC944-BB7D-615D-C5AB-A974903871B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4280" y="343151"/>
            <a:ext cx="4198269" cy="2247650"/>
          </a:xfrm>
          <a:prstGeom prst="rect">
            <a:avLst/>
          </a:prstGeom>
        </p:spPr>
      </p:pic>
      <p:pic>
        <p:nvPicPr>
          <p:cNvPr id="11" name="Picture 10">
            <a:extLst>
              <a:ext uri="{FF2B5EF4-FFF2-40B4-BE49-F238E27FC236}">
                <a16:creationId xmlns="" xmlns:a16="http://schemas.microsoft.com/office/drawing/2014/main" id="{FB5352A5-7052-6477-F5A6-C3EAF202147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99104" y="33090"/>
            <a:ext cx="4822804" cy="3827710"/>
          </a:xfrm>
          <a:prstGeom prst="rect">
            <a:avLst/>
          </a:prstGeom>
        </p:spPr>
      </p:pic>
      <p:pic>
        <p:nvPicPr>
          <p:cNvPr id="14" name="Picture 13">
            <a:extLst>
              <a:ext uri="{FF2B5EF4-FFF2-40B4-BE49-F238E27FC236}">
                <a16:creationId xmlns="" xmlns:a16="http://schemas.microsoft.com/office/drawing/2014/main" id="{0953917F-8855-8FD0-6DB0-BD00D2E5D9C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34280" y="2773404"/>
            <a:ext cx="4973222" cy="3306554"/>
          </a:xfrm>
          <a:prstGeom prst="rect">
            <a:avLst/>
          </a:prstGeom>
        </p:spPr>
      </p:pic>
      <p:pic>
        <p:nvPicPr>
          <p:cNvPr id="18" name="Picture 17">
            <a:extLst>
              <a:ext uri="{FF2B5EF4-FFF2-40B4-BE49-F238E27FC236}">
                <a16:creationId xmlns="" xmlns:a16="http://schemas.microsoft.com/office/drawing/2014/main" id="{C82EA262-8055-E793-F8F1-55D9AF6C1E4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599104" y="3933764"/>
            <a:ext cx="4973222" cy="2248205"/>
          </a:xfrm>
          <a:prstGeom prst="rect">
            <a:avLst/>
          </a:prstGeom>
        </p:spPr>
      </p:pic>
    </p:spTree>
    <p:extLst>
      <p:ext uri="{BB962C8B-B14F-4D97-AF65-F5344CB8AC3E}">
        <p14:creationId xmlns:p14="http://schemas.microsoft.com/office/powerpoint/2010/main" val="21821108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 xmlns:a16="http://schemas.microsoft.com/office/drawing/2014/main" id="{46B6A559-D785-C8D8-3831-6BEDDEAAF91E}"/>
              </a:ext>
            </a:extLst>
          </p:cNvPr>
          <p:cNvPicPr>
            <a:picLocks noChangeAspect="1"/>
          </p:cNvPicPr>
          <p:nvPr/>
        </p:nvPicPr>
        <p:blipFill>
          <a:blip r:embed="rId3"/>
          <a:stretch>
            <a:fillRect/>
          </a:stretch>
        </p:blipFill>
        <p:spPr>
          <a:xfrm>
            <a:off x="10494949" y="0"/>
            <a:ext cx="1581150" cy="876300"/>
          </a:xfrm>
          <a:prstGeom prst="rect">
            <a:avLst/>
          </a:prstGeom>
        </p:spPr>
      </p:pic>
      <p:pic>
        <p:nvPicPr>
          <p:cNvPr id="4" name="Picture 3">
            <a:extLst>
              <a:ext uri="{FF2B5EF4-FFF2-40B4-BE49-F238E27FC236}">
                <a16:creationId xmlns="" xmlns:a16="http://schemas.microsoft.com/office/drawing/2014/main" id="{4FE1AE9F-FD3D-1011-BD96-D9C78748486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5901" y="466530"/>
            <a:ext cx="3518254" cy="5543499"/>
          </a:xfrm>
          <a:prstGeom prst="rect">
            <a:avLst/>
          </a:prstGeom>
        </p:spPr>
      </p:pic>
      <p:pic>
        <p:nvPicPr>
          <p:cNvPr id="6" name="Picture 5">
            <a:extLst>
              <a:ext uri="{FF2B5EF4-FFF2-40B4-BE49-F238E27FC236}">
                <a16:creationId xmlns="" xmlns:a16="http://schemas.microsoft.com/office/drawing/2014/main" id="{3FCFA07E-F04B-F178-6D9E-58B1457D7E0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802333" y="0"/>
            <a:ext cx="3755144" cy="6221046"/>
          </a:xfrm>
          <a:prstGeom prst="rect">
            <a:avLst/>
          </a:prstGeom>
        </p:spPr>
      </p:pic>
      <p:pic>
        <p:nvPicPr>
          <p:cNvPr id="8" name="Picture 7">
            <a:extLst>
              <a:ext uri="{FF2B5EF4-FFF2-40B4-BE49-F238E27FC236}">
                <a16:creationId xmlns="" xmlns:a16="http://schemas.microsoft.com/office/drawing/2014/main" id="{146731C5-A52A-4314-F632-8B7B7FD38D6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823200" y="1034195"/>
            <a:ext cx="4192337" cy="5186851"/>
          </a:xfrm>
          <a:prstGeom prst="rect">
            <a:avLst/>
          </a:prstGeom>
        </p:spPr>
      </p:pic>
      <p:sp>
        <p:nvSpPr>
          <p:cNvPr id="5" name="TextBox 4">
            <a:extLst>
              <a:ext uri="{FF2B5EF4-FFF2-40B4-BE49-F238E27FC236}">
                <a16:creationId xmlns="" xmlns:a16="http://schemas.microsoft.com/office/drawing/2014/main" id="{9F445184-7137-ECAF-C0BB-07066B607DC9}"/>
              </a:ext>
            </a:extLst>
          </p:cNvPr>
          <p:cNvSpPr txBox="1"/>
          <p:nvPr/>
        </p:nvSpPr>
        <p:spPr>
          <a:xfrm>
            <a:off x="1" y="205273"/>
            <a:ext cx="9146332" cy="215444"/>
          </a:xfrm>
          <a:prstGeom prst="rect">
            <a:avLst/>
          </a:prstGeom>
          <a:noFill/>
        </p:spPr>
        <p:txBody>
          <a:bodyPr wrap="square">
            <a:spAutoFit/>
          </a:bodyPr>
          <a:lstStyle/>
          <a:p>
            <a:r>
              <a:rPr lang="en-IN" sz="800" kern="1200">
                <a:solidFill>
                  <a:srgbClr val="000000"/>
                </a:solidFill>
                <a:effectLst/>
                <a:latin typeface="Tahoma" panose="020B0604030504040204" pitchFamily="34" charset="0"/>
                <a:ea typeface="Tahoma" panose="020B0604030504040204" pitchFamily="34" charset="0"/>
                <a:cs typeface="Tahoma" panose="020B0604030504040204" pitchFamily="34" charset="0"/>
              </a:rPr>
              <a:t>A Hybrid Neural Network for EEG-based Depression Screening Using CNN</a:t>
            </a:r>
            <a:r>
              <a:rPr lang="en-IN" sz="800">
                <a:latin typeface="Times New Roman" panose="02020603050405020304" pitchFamily="18" charset="0"/>
                <a:ea typeface="Tahoma" panose="020B0604030504040204" pitchFamily="34" charset="0"/>
                <a:cs typeface="Times New Roman" panose="02020603050405020304" pitchFamily="18" charset="0"/>
              </a:rPr>
              <a:t> +LSTM</a:t>
            </a:r>
            <a:endParaRPr lang="en-IN" sz="800">
              <a:effectLst/>
            </a:endParaRPr>
          </a:p>
        </p:txBody>
      </p:sp>
      <p:sp>
        <p:nvSpPr>
          <p:cNvPr id="7" name="TextBox 6">
            <a:extLst>
              <a:ext uri="{FF2B5EF4-FFF2-40B4-BE49-F238E27FC236}">
                <a16:creationId xmlns="" xmlns:a16="http://schemas.microsoft.com/office/drawing/2014/main" id="{8A3B50C5-6574-482D-EB77-F013FF297C63}"/>
              </a:ext>
            </a:extLst>
          </p:cNvPr>
          <p:cNvSpPr txBox="1"/>
          <p:nvPr/>
        </p:nvSpPr>
        <p:spPr>
          <a:xfrm>
            <a:off x="115901" y="6391470"/>
            <a:ext cx="2076793" cy="230832"/>
          </a:xfrm>
          <a:prstGeom prst="rect">
            <a:avLst/>
          </a:prstGeom>
          <a:noFill/>
        </p:spPr>
        <p:txBody>
          <a:bodyPr wrap="square">
            <a:spAutoFit/>
          </a:bodyPr>
          <a:lstStyle/>
          <a:p>
            <a:r>
              <a:rPr lang="en-US" sz="900">
                <a:solidFill>
                  <a:schemeClr val="bg1"/>
                </a:solidFill>
              </a:rPr>
              <a:t>Dept of AI&amp;DS, SJCIT</a:t>
            </a:r>
            <a:endParaRPr lang="en-IN" sz="900">
              <a:solidFill>
                <a:schemeClr val="bg1"/>
              </a:solidFill>
            </a:endParaRPr>
          </a:p>
        </p:txBody>
      </p:sp>
      <p:sp>
        <p:nvSpPr>
          <p:cNvPr id="10" name="TextBox 9">
            <a:extLst>
              <a:ext uri="{FF2B5EF4-FFF2-40B4-BE49-F238E27FC236}">
                <a16:creationId xmlns="" xmlns:a16="http://schemas.microsoft.com/office/drawing/2014/main" id="{3C5F60C7-4856-D76D-23C0-6A52E6AB77E7}"/>
              </a:ext>
            </a:extLst>
          </p:cNvPr>
          <p:cNvSpPr txBox="1"/>
          <p:nvPr/>
        </p:nvSpPr>
        <p:spPr>
          <a:xfrm>
            <a:off x="4907902" y="6426319"/>
            <a:ext cx="615820" cy="230832"/>
          </a:xfrm>
          <a:prstGeom prst="rect">
            <a:avLst/>
          </a:prstGeom>
          <a:noFill/>
        </p:spPr>
        <p:txBody>
          <a:bodyPr wrap="square">
            <a:spAutoFit/>
          </a:bodyPr>
          <a:lstStyle/>
          <a:p>
            <a:r>
              <a:rPr lang="en-IN" sz="900">
                <a:solidFill>
                  <a:schemeClr val="bg1"/>
                </a:solidFill>
              </a:rPr>
              <a:t>2025-26</a:t>
            </a:r>
          </a:p>
        </p:txBody>
      </p:sp>
      <p:sp>
        <p:nvSpPr>
          <p:cNvPr id="12" name="TextBox 11">
            <a:extLst>
              <a:ext uri="{FF2B5EF4-FFF2-40B4-BE49-F238E27FC236}">
                <a16:creationId xmlns="" xmlns:a16="http://schemas.microsoft.com/office/drawing/2014/main" id="{FF543F7A-57C3-5AC8-DD4A-47837B53DD58}"/>
              </a:ext>
            </a:extLst>
          </p:cNvPr>
          <p:cNvSpPr txBox="1"/>
          <p:nvPr/>
        </p:nvSpPr>
        <p:spPr>
          <a:xfrm>
            <a:off x="11460279" y="6426319"/>
            <a:ext cx="615820" cy="230832"/>
          </a:xfrm>
          <a:prstGeom prst="rect">
            <a:avLst/>
          </a:prstGeom>
          <a:noFill/>
        </p:spPr>
        <p:txBody>
          <a:bodyPr wrap="square">
            <a:spAutoFit/>
          </a:bodyPr>
          <a:lstStyle/>
          <a:p>
            <a:fld id="{69FBB93A-4B32-4007-AACF-5243CED557C7}" type="slidenum">
              <a:rPr lang="en-IN" sz="900" smtClean="0">
                <a:solidFill>
                  <a:schemeClr val="bg1"/>
                </a:solidFill>
              </a:rPr>
              <a:pPr/>
              <a:t>27</a:t>
            </a:fld>
            <a:endParaRPr lang="en-IN" sz="900">
              <a:solidFill>
                <a:schemeClr val="bg1"/>
              </a:solidFill>
            </a:endParaRPr>
          </a:p>
        </p:txBody>
      </p:sp>
    </p:spTree>
    <p:extLst>
      <p:ext uri="{BB962C8B-B14F-4D97-AF65-F5344CB8AC3E}">
        <p14:creationId xmlns:p14="http://schemas.microsoft.com/office/powerpoint/2010/main" val="12552833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 xmlns:a16="http://schemas.microsoft.com/office/drawing/2014/main" id="{961F207B-D3E5-A4BA-AAF4-4C1068AFDD69}"/>
              </a:ext>
            </a:extLst>
          </p:cNvPr>
          <p:cNvPicPr>
            <a:picLocks noChangeAspect="1"/>
          </p:cNvPicPr>
          <p:nvPr/>
        </p:nvPicPr>
        <p:blipFill>
          <a:blip r:embed="rId2"/>
          <a:stretch>
            <a:fillRect/>
          </a:stretch>
        </p:blipFill>
        <p:spPr>
          <a:xfrm>
            <a:off x="10393348" y="273538"/>
            <a:ext cx="1581150" cy="876300"/>
          </a:xfrm>
          <a:prstGeom prst="rect">
            <a:avLst/>
          </a:prstGeom>
        </p:spPr>
      </p:pic>
      <p:pic>
        <p:nvPicPr>
          <p:cNvPr id="4" name="Picture 3">
            <a:extLst>
              <a:ext uri="{FF2B5EF4-FFF2-40B4-BE49-F238E27FC236}">
                <a16:creationId xmlns="" xmlns:a16="http://schemas.microsoft.com/office/drawing/2014/main" id="{058A7AE4-5D72-7F73-465E-C4474174E13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1258" y="466530"/>
            <a:ext cx="4739665" cy="5691993"/>
          </a:xfrm>
          <a:prstGeom prst="rect">
            <a:avLst/>
          </a:prstGeom>
        </p:spPr>
      </p:pic>
      <p:pic>
        <p:nvPicPr>
          <p:cNvPr id="6" name="Picture 5">
            <a:extLst>
              <a:ext uri="{FF2B5EF4-FFF2-40B4-BE49-F238E27FC236}">
                <a16:creationId xmlns="" xmlns:a16="http://schemas.microsoft.com/office/drawing/2014/main" id="{CBBB8561-1475-F5B0-A00E-7898E6AD249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02032" y="1362625"/>
            <a:ext cx="5666154" cy="4053436"/>
          </a:xfrm>
          <a:prstGeom prst="rect">
            <a:avLst/>
          </a:prstGeom>
        </p:spPr>
      </p:pic>
      <p:sp>
        <p:nvSpPr>
          <p:cNvPr id="5" name="TextBox 4">
            <a:extLst>
              <a:ext uri="{FF2B5EF4-FFF2-40B4-BE49-F238E27FC236}">
                <a16:creationId xmlns="" xmlns:a16="http://schemas.microsoft.com/office/drawing/2014/main" id="{956F4172-8290-E958-30AE-97A2A3F8CC9A}"/>
              </a:ext>
            </a:extLst>
          </p:cNvPr>
          <p:cNvSpPr txBox="1"/>
          <p:nvPr/>
        </p:nvSpPr>
        <p:spPr>
          <a:xfrm>
            <a:off x="217502" y="65315"/>
            <a:ext cx="8928830" cy="215444"/>
          </a:xfrm>
          <a:prstGeom prst="rect">
            <a:avLst/>
          </a:prstGeom>
          <a:noFill/>
        </p:spPr>
        <p:txBody>
          <a:bodyPr wrap="square">
            <a:spAutoFit/>
          </a:bodyPr>
          <a:lstStyle/>
          <a:p>
            <a:r>
              <a:rPr lang="en-IN" sz="800" kern="1200">
                <a:solidFill>
                  <a:srgbClr val="000000"/>
                </a:solidFill>
                <a:effectLst/>
                <a:latin typeface="Tahoma" panose="020B0604030504040204" pitchFamily="34" charset="0"/>
                <a:ea typeface="Tahoma" panose="020B0604030504040204" pitchFamily="34" charset="0"/>
                <a:cs typeface="Tahoma" panose="020B0604030504040204" pitchFamily="34" charset="0"/>
              </a:rPr>
              <a:t>A Hybrid Neural Network for EEG-based Depression Screening Using CNN</a:t>
            </a:r>
            <a:r>
              <a:rPr lang="en-IN" sz="800">
                <a:latin typeface="Times New Roman" panose="02020603050405020304" pitchFamily="18" charset="0"/>
                <a:ea typeface="Tahoma" panose="020B0604030504040204" pitchFamily="34" charset="0"/>
                <a:cs typeface="Times New Roman" panose="02020603050405020304" pitchFamily="18" charset="0"/>
              </a:rPr>
              <a:t> +LSTM</a:t>
            </a:r>
            <a:endParaRPr lang="en-IN" sz="800">
              <a:effectLst/>
            </a:endParaRPr>
          </a:p>
        </p:txBody>
      </p:sp>
      <p:sp>
        <p:nvSpPr>
          <p:cNvPr id="7" name="TextBox 6">
            <a:extLst>
              <a:ext uri="{FF2B5EF4-FFF2-40B4-BE49-F238E27FC236}">
                <a16:creationId xmlns="" xmlns:a16="http://schemas.microsoft.com/office/drawing/2014/main" id="{EFE5E8B9-11A0-49AA-A6D1-71D3C12DD52B}"/>
              </a:ext>
            </a:extLst>
          </p:cNvPr>
          <p:cNvSpPr txBox="1"/>
          <p:nvPr/>
        </p:nvSpPr>
        <p:spPr>
          <a:xfrm>
            <a:off x="373626" y="6423352"/>
            <a:ext cx="1238864" cy="230832"/>
          </a:xfrm>
          <a:prstGeom prst="rect">
            <a:avLst/>
          </a:prstGeom>
          <a:noFill/>
        </p:spPr>
        <p:txBody>
          <a:bodyPr wrap="square">
            <a:spAutoFit/>
          </a:bodyPr>
          <a:lstStyle/>
          <a:p>
            <a:pPr marL="0" algn="l" rtl="0" eaLnBrk="1" latinLnBrk="0" hangingPunct="1">
              <a:buNone/>
            </a:pPr>
            <a:r>
              <a:rPr lang="en-US" sz="900" kern="1200">
                <a:solidFill>
                  <a:srgbClr val="FFFFFF"/>
                </a:solidFill>
                <a:effectLst/>
                <a:latin typeface="Calibri" panose="020F0502020204030204" pitchFamily="34" charset="0"/>
                <a:ea typeface="+mn-ea"/>
                <a:cs typeface="+mn-cs"/>
              </a:rPr>
              <a:t>Dept of AI&amp;DS, SJCIT</a:t>
            </a:r>
            <a:endParaRPr lang="en-IN" sz="900">
              <a:effectLst/>
            </a:endParaRPr>
          </a:p>
        </p:txBody>
      </p:sp>
      <p:sp>
        <p:nvSpPr>
          <p:cNvPr id="9" name="TextBox 8">
            <a:extLst>
              <a:ext uri="{FF2B5EF4-FFF2-40B4-BE49-F238E27FC236}">
                <a16:creationId xmlns="" xmlns:a16="http://schemas.microsoft.com/office/drawing/2014/main" id="{53ECCD12-8B0F-D144-1B53-C4C6435CF553}"/>
              </a:ext>
            </a:extLst>
          </p:cNvPr>
          <p:cNvSpPr txBox="1"/>
          <p:nvPr/>
        </p:nvSpPr>
        <p:spPr>
          <a:xfrm>
            <a:off x="2454032" y="6391470"/>
            <a:ext cx="5746071" cy="230832"/>
          </a:xfrm>
          <a:prstGeom prst="rect">
            <a:avLst/>
          </a:prstGeom>
          <a:noFill/>
        </p:spPr>
        <p:txBody>
          <a:bodyPr wrap="square">
            <a:spAutoFit/>
          </a:bodyPr>
          <a:lstStyle/>
          <a:p>
            <a:pPr marL="0" algn="ctr" rtl="0" eaLnBrk="1" latinLnBrk="0" hangingPunct="1">
              <a:buNone/>
            </a:pPr>
            <a:r>
              <a:rPr lang="en-IN" sz="900" kern="1200" cap="all" baseline="0">
                <a:solidFill>
                  <a:srgbClr val="FFFFFF"/>
                </a:solidFill>
                <a:effectLst/>
                <a:latin typeface="Calibri" panose="020F0502020204030204" pitchFamily="34" charset="0"/>
                <a:ea typeface="+mn-ea"/>
                <a:cs typeface="+mn-cs"/>
              </a:rPr>
              <a:t>2025-26</a:t>
            </a:r>
            <a:endParaRPr lang="en-IN" sz="900">
              <a:effectLst/>
            </a:endParaRPr>
          </a:p>
        </p:txBody>
      </p:sp>
      <p:sp>
        <p:nvSpPr>
          <p:cNvPr id="11" name="TextBox 10">
            <a:extLst>
              <a:ext uri="{FF2B5EF4-FFF2-40B4-BE49-F238E27FC236}">
                <a16:creationId xmlns="" xmlns:a16="http://schemas.microsoft.com/office/drawing/2014/main" id="{46286C4A-1DF7-A399-1847-8497C5DA2AF4}"/>
              </a:ext>
            </a:extLst>
          </p:cNvPr>
          <p:cNvSpPr txBox="1"/>
          <p:nvPr/>
        </p:nvSpPr>
        <p:spPr>
          <a:xfrm>
            <a:off x="11316928" y="6391468"/>
            <a:ext cx="501445" cy="230832"/>
          </a:xfrm>
          <a:prstGeom prst="rect">
            <a:avLst/>
          </a:prstGeom>
          <a:noFill/>
        </p:spPr>
        <p:txBody>
          <a:bodyPr wrap="square">
            <a:spAutoFit/>
          </a:bodyPr>
          <a:lstStyle/>
          <a:p>
            <a:r>
              <a:rPr lang="en-IN" sz="900" kern="1200">
                <a:solidFill>
                  <a:srgbClr val="FFFFFF"/>
                </a:solidFill>
                <a:effectLst/>
                <a:latin typeface="Calibri" panose="020F0502020204030204" pitchFamily="34" charset="0"/>
                <a:ea typeface="+mn-ea"/>
                <a:cs typeface="+mn-cs"/>
              </a:rPr>
              <a:t>28</a:t>
            </a:r>
            <a:endParaRPr lang="en-IN" sz="900"/>
          </a:p>
        </p:txBody>
      </p:sp>
    </p:spTree>
    <p:extLst>
      <p:ext uri="{BB962C8B-B14F-4D97-AF65-F5344CB8AC3E}">
        <p14:creationId xmlns:p14="http://schemas.microsoft.com/office/powerpoint/2010/main" val="82481688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 xmlns:a16="http://schemas.microsoft.com/office/drawing/2014/main" id="{C97CAA7E-D535-41EC-BD96-76E957419A28}"/>
              </a:ext>
            </a:extLst>
          </p:cNvPr>
          <p:cNvSpPr txBox="1"/>
          <p:nvPr/>
        </p:nvSpPr>
        <p:spPr>
          <a:xfrm>
            <a:off x="2407765" y="413174"/>
            <a:ext cx="6572906" cy="523220"/>
          </a:xfrm>
          <a:prstGeom prst="rect">
            <a:avLst/>
          </a:prstGeom>
          <a:noFill/>
        </p:spPr>
        <p:txBody>
          <a:bodyPr wrap="square" rtlCol="0">
            <a:spAutoFit/>
          </a:bodyPr>
          <a:lstStyle/>
          <a:p>
            <a:pPr algn="ctr"/>
            <a:r>
              <a:rPr lang="en-IN" sz="2800" dirty="0">
                <a:latin typeface="Times New Roman" panose="02020603050405020304" pitchFamily="18" charset="0"/>
                <a:cs typeface="Times New Roman" panose="02020603050405020304" pitchFamily="18" charset="0"/>
              </a:rPr>
              <a:t> </a:t>
            </a:r>
            <a:endParaRPr lang="en-IN" sz="4000" b="1" dirty="0">
              <a:solidFill>
                <a:srgbClr val="0070C0"/>
              </a:solidFill>
              <a:latin typeface="Times New Roman" panose="02020603050405020304" pitchFamily="18" charset="0"/>
              <a:cs typeface="Times New Roman" panose="02020603050405020304" pitchFamily="18" charset="0"/>
            </a:endParaRPr>
          </a:p>
        </p:txBody>
      </p:sp>
      <p:sp>
        <p:nvSpPr>
          <p:cNvPr id="3" name="Footer Placeholder 7">
            <a:extLst>
              <a:ext uri="{FF2B5EF4-FFF2-40B4-BE49-F238E27FC236}">
                <a16:creationId xmlns="" xmlns:a16="http://schemas.microsoft.com/office/drawing/2014/main" id="{3C17ECD8-EB70-4649-86A4-63ABD15EAB6B}"/>
              </a:ext>
            </a:extLst>
          </p:cNvPr>
          <p:cNvSpPr>
            <a:spLocks noGrp="1"/>
          </p:cNvSpPr>
          <p:nvPr>
            <p:ph type="ftr" sz="quarter" idx="11"/>
          </p:nvPr>
        </p:nvSpPr>
        <p:spPr>
          <a:xfrm>
            <a:off x="3686185" y="6459785"/>
            <a:ext cx="4822804" cy="365125"/>
          </a:xfrm>
        </p:spPr>
        <p:txBody>
          <a:bodyPr/>
          <a:lstStyle/>
          <a:p>
            <a:r>
              <a:rPr lang="en-IN" dirty="0"/>
              <a:t>2025-26</a:t>
            </a:r>
          </a:p>
        </p:txBody>
      </p:sp>
      <p:sp>
        <p:nvSpPr>
          <p:cNvPr id="4" name="Slide Number Placeholder 8">
            <a:extLst>
              <a:ext uri="{FF2B5EF4-FFF2-40B4-BE49-F238E27FC236}">
                <a16:creationId xmlns="" xmlns:a16="http://schemas.microsoft.com/office/drawing/2014/main" id="{89902FA9-103C-4240-8804-14F032C13AF4}"/>
              </a:ext>
            </a:extLst>
          </p:cNvPr>
          <p:cNvSpPr>
            <a:spLocks noGrp="1"/>
          </p:cNvSpPr>
          <p:nvPr>
            <p:ph type="sldNum" sz="quarter" idx="12"/>
          </p:nvPr>
        </p:nvSpPr>
        <p:spPr>
          <a:xfrm>
            <a:off x="9900458" y="6459785"/>
            <a:ext cx="1312025" cy="365125"/>
          </a:xfrm>
        </p:spPr>
        <p:txBody>
          <a:bodyPr/>
          <a:lstStyle/>
          <a:p>
            <a:fld id="{69FBB93A-4B32-4007-AACF-5243CED557C7}" type="slidenum">
              <a:rPr lang="en-IN" smtClean="0"/>
              <a:t>29</a:t>
            </a:fld>
            <a:endParaRPr lang="en-IN"/>
          </a:p>
        </p:txBody>
      </p:sp>
      <p:sp>
        <p:nvSpPr>
          <p:cNvPr id="5" name="Date Placeholder 9">
            <a:extLst>
              <a:ext uri="{FF2B5EF4-FFF2-40B4-BE49-F238E27FC236}">
                <a16:creationId xmlns="" xmlns:a16="http://schemas.microsoft.com/office/drawing/2014/main" id="{06BEB982-7167-4AA2-84DF-913ED5DF9555}"/>
              </a:ext>
            </a:extLst>
          </p:cNvPr>
          <p:cNvSpPr>
            <a:spLocks noGrp="1"/>
          </p:cNvSpPr>
          <p:nvPr>
            <p:ph type="dt" sz="half" idx="10"/>
          </p:nvPr>
        </p:nvSpPr>
        <p:spPr>
          <a:xfrm>
            <a:off x="1097280" y="6459785"/>
            <a:ext cx="2472271" cy="365125"/>
          </a:xfrm>
        </p:spPr>
        <p:txBody>
          <a:bodyPr/>
          <a:lstStyle/>
          <a:p>
            <a:r>
              <a:rPr lang="en-US"/>
              <a:t>Dept of AI&amp;DS, SJCIT</a:t>
            </a:r>
            <a:endParaRPr lang="en-IN"/>
          </a:p>
        </p:txBody>
      </p:sp>
      <p:pic>
        <p:nvPicPr>
          <p:cNvPr id="6" name="Picture 5">
            <a:extLst>
              <a:ext uri="{FF2B5EF4-FFF2-40B4-BE49-F238E27FC236}">
                <a16:creationId xmlns="" xmlns:a16="http://schemas.microsoft.com/office/drawing/2014/main" id="{5AE98273-56D1-478E-87E9-EC5EFD38140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65485" y="235453"/>
            <a:ext cx="1581591" cy="878662"/>
          </a:xfrm>
          <a:prstGeom prst="rect">
            <a:avLst/>
          </a:prstGeom>
        </p:spPr>
      </p:pic>
      <p:sp>
        <p:nvSpPr>
          <p:cNvPr id="7" name="TextBox 6">
            <a:extLst>
              <a:ext uri="{FF2B5EF4-FFF2-40B4-BE49-F238E27FC236}">
                <a16:creationId xmlns="" xmlns:a16="http://schemas.microsoft.com/office/drawing/2014/main" id="{7309C2C5-31F8-4B05-9225-DDE4F224DBBF}"/>
              </a:ext>
            </a:extLst>
          </p:cNvPr>
          <p:cNvSpPr txBox="1"/>
          <p:nvPr/>
        </p:nvSpPr>
        <p:spPr>
          <a:xfrm>
            <a:off x="0" y="33090"/>
            <a:ext cx="3883741" cy="215444"/>
          </a:xfrm>
          <a:prstGeom prst="rect">
            <a:avLst/>
          </a:prstGeom>
          <a:noFill/>
        </p:spPr>
        <p:txBody>
          <a:bodyPr wrap="square" rtlCol="0">
            <a:spAutoFit/>
          </a:bodyPr>
          <a:lstStyle/>
          <a:p>
            <a:r>
              <a:rPr lang="en-IN" sz="800" dirty="0">
                <a:latin typeface="Times New Roman" panose="02020603050405020304" pitchFamily="18" charset="0"/>
                <a:ea typeface="Tahoma" panose="020B0604030504040204" pitchFamily="34" charset="0"/>
                <a:cs typeface="Times New Roman" panose="02020603050405020304" pitchFamily="18" charset="0"/>
              </a:rPr>
              <a:t>A Hybrid Neural Network for EEG-based Depression Screening Using CNN</a:t>
            </a:r>
            <a:endParaRPr lang="en-IN" sz="800" dirty="0">
              <a:latin typeface="Times New Roman" panose="02020603050405020304" pitchFamily="18" charset="0"/>
              <a:cs typeface="Times New Roman" panose="02020603050405020304" pitchFamily="18" charset="0"/>
            </a:endParaRPr>
          </a:p>
        </p:txBody>
      </p:sp>
      <p:sp>
        <p:nvSpPr>
          <p:cNvPr id="8" name="Date Placeholder 1">
            <a:extLst>
              <a:ext uri="{FF2B5EF4-FFF2-40B4-BE49-F238E27FC236}">
                <a16:creationId xmlns="" xmlns:a16="http://schemas.microsoft.com/office/drawing/2014/main" id="{8CF54576-DB69-4A2C-B10F-E7DE80DE5F40}"/>
              </a:ext>
            </a:extLst>
          </p:cNvPr>
          <p:cNvSpPr txBox="1">
            <a:spLocks/>
          </p:cNvSpPr>
          <p:nvPr/>
        </p:nvSpPr>
        <p:spPr>
          <a:xfrm>
            <a:off x="1097280" y="6459785"/>
            <a:ext cx="2472271" cy="365125"/>
          </a:xfrm>
          <a:prstGeom prst="rect">
            <a:avLst/>
          </a:prstGeom>
        </p:spPr>
        <p:txBody>
          <a:bodyPr vert="horz" lIns="91440" tIns="45720" rIns="91440" bIns="45720" rtlCol="0" anchor="ctr"/>
          <a:lstStyle>
            <a:defPPr>
              <a:defRPr lang="en-US"/>
            </a:defPPr>
            <a:lvl1pPr marL="0" algn="l" defTabSz="457200" rtl="0" eaLnBrk="1" latinLnBrk="0" hangingPunct="1">
              <a:defRPr sz="900" kern="120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t>Dept of AI&amp;DS, SJCIT</a:t>
            </a:r>
            <a:endParaRPr lang="en-IN"/>
          </a:p>
        </p:txBody>
      </p:sp>
      <p:sp>
        <p:nvSpPr>
          <p:cNvPr id="9" name="Footer Placeholder 2">
            <a:extLst>
              <a:ext uri="{FF2B5EF4-FFF2-40B4-BE49-F238E27FC236}">
                <a16:creationId xmlns="" xmlns:a16="http://schemas.microsoft.com/office/drawing/2014/main" id="{98F87FAA-FA07-4221-A84B-111E11E3AC81}"/>
              </a:ext>
            </a:extLst>
          </p:cNvPr>
          <p:cNvSpPr txBox="1">
            <a:spLocks/>
          </p:cNvSpPr>
          <p:nvPr/>
        </p:nvSpPr>
        <p:spPr>
          <a:xfrm>
            <a:off x="3686185" y="6459785"/>
            <a:ext cx="4822804" cy="365125"/>
          </a:xfrm>
          <a:prstGeom prst="rect">
            <a:avLst/>
          </a:prstGeom>
        </p:spPr>
        <p:txBody>
          <a:bodyPr vert="horz" lIns="91440" tIns="45720" rIns="91440" bIns="45720" rtlCol="0" anchor="ctr"/>
          <a:lstStyle>
            <a:defPPr>
              <a:defRPr lang="en-US"/>
            </a:defPPr>
            <a:lvl1pPr marL="0" algn="ctr" defTabSz="457200" rtl="0" eaLnBrk="1" latinLnBrk="0" hangingPunct="1">
              <a:defRPr sz="900" kern="1200" cap="all" baseline="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a:t>2025-26</a:t>
            </a:r>
          </a:p>
        </p:txBody>
      </p:sp>
      <p:sp>
        <p:nvSpPr>
          <p:cNvPr id="10" name="Slide Number Placeholder 3">
            <a:extLst>
              <a:ext uri="{FF2B5EF4-FFF2-40B4-BE49-F238E27FC236}">
                <a16:creationId xmlns="" xmlns:a16="http://schemas.microsoft.com/office/drawing/2014/main" id="{2326827C-B987-4322-8D7B-67368592C610}"/>
              </a:ext>
            </a:extLst>
          </p:cNvPr>
          <p:cNvSpPr txBox="1">
            <a:spLocks/>
          </p:cNvSpPr>
          <p:nvPr/>
        </p:nvSpPr>
        <p:spPr>
          <a:xfrm>
            <a:off x="9900458" y="6459785"/>
            <a:ext cx="1312025" cy="365125"/>
          </a:xfrm>
          <a:prstGeom prst="rect">
            <a:avLst/>
          </a:prstGeom>
        </p:spPr>
        <p:txBody>
          <a:bodyPr vert="horz" lIns="91440" tIns="45720" rIns="91440" bIns="45720" rtlCol="0" anchor="ctr"/>
          <a:lstStyle>
            <a:defPPr>
              <a:defRPr lang="en-US"/>
            </a:defPPr>
            <a:lvl1pPr marL="0" algn="r" defTabSz="457200" rtl="0" eaLnBrk="1" latinLnBrk="0" hangingPunct="1">
              <a:defRPr sz="1050" kern="120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69FBB93A-4B32-4007-AACF-5243CED557C7}" type="slidenum">
              <a:rPr lang="en-IN" smtClean="0"/>
              <a:pPr/>
              <a:t>29</a:t>
            </a:fld>
            <a:endParaRPr lang="en-IN"/>
          </a:p>
        </p:txBody>
      </p:sp>
      <p:pic>
        <p:nvPicPr>
          <p:cNvPr id="11" name="Picture 10">
            <a:extLst>
              <a:ext uri="{FF2B5EF4-FFF2-40B4-BE49-F238E27FC236}">
                <a16:creationId xmlns="" xmlns:a16="http://schemas.microsoft.com/office/drawing/2014/main" id="{CBD4A71E-8277-4557-8523-0FA8C0C87479}"/>
              </a:ext>
            </a:extLst>
          </p:cNvPr>
          <p:cNvPicPr>
            <a:picLocks noChangeAspect="1"/>
          </p:cNvPicPr>
          <p:nvPr/>
        </p:nvPicPr>
        <p:blipFill>
          <a:blip r:embed="rId3"/>
          <a:stretch>
            <a:fillRect/>
          </a:stretch>
        </p:blipFill>
        <p:spPr>
          <a:xfrm>
            <a:off x="0" y="0"/>
            <a:ext cx="12192000" cy="6405510"/>
          </a:xfrm>
          <a:prstGeom prst="rect">
            <a:avLst/>
          </a:prstGeom>
        </p:spPr>
      </p:pic>
    </p:spTree>
    <p:extLst>
      <p:ext uri="{BB962C8B-B14F-4D97-AF65-F5344CB8AC3E}">
        <p14:creationId xmlns:p14="http://schemas.microsoft.com/office/powerpoint/2010/main" val="2257351001"/>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305</TotalTime>
  <Words>2001</Words>
  <Application>Microsoft Office PowerPoint</Application>
  <PresentationFormat>Custom</PresentationFormat>
  <Paragraphs>327</Paragraphs>
  <Slides>29</Slides>
  <Notes>1</Notes>
  <HiddenSlides>0</HiddenSlides>
  <MMClips>0</MMClips>
  <ScaleCrop>false</ScaleCrop>
  <HeadingPairs>
    <vt:vector size="4" baseType="variant">
      <vt:variant>
        <vt:lpstr>Theme</vt:lpstr>
      </vt:variant>
      <vt:variant>
        <vt:i4>1</vt:i4>
      </vt:variant>
      <vt:variant>
        <vt:lpstr>Slide Titles</vt:lpstr>
      </vt:variant>
      <vt:variant>
        <vt:i4>29</vt:i4>
      </vt:variant>
    </vt:vector>
  </HeadingPairs>
  <TitlesOfParts>
    <vt:vector size="30" baseType="lpstr">
      <vt:lpstr>Retrospect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balappagari pranathi</dc:creator>
  <cp:lastModifiedBy>mareddy charan</cp:lastModifiedBy>
  <cp:revision>21</cp:revision>
  <dcterms:created xsi:type="dcterms:W3CDTF">2025-11-21T15:45:01Z</dcterms:created>
  <dcterms:modified xsi:type="dcterms:W3CDTF">2026-01-08T03:52:23Z</dcterms:modified>
</cp:coreProperties>
</file>
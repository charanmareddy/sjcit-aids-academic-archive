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Lst>
  <p:sldSz cx="12192000" cy="6858000"/>
  <p:notesSz cx="6858000" cy="9144000"/>
  <p:embeddedFontLst>
    <p:embeddedFont>
      <p:font typeface="Gill Sans" panose="020B0604020202020204" charset="0"/>
      <p:regular r:id="rId151"/>
      <p:bold r:id="rId152"/>
    </p:embeddedFont>
    <p:embeddedFont>
      <p:font typeface="EB Garamond" panose="020B0604020202020204" charset="0"/>
      <p:regular r:id="rId153"/>
      <p:bold r:id="rId154"/>
      <p:italic r:id="rId155"/>
      <p:boldItalic r:id="rId156"/>
    </p:embeddedFont>
    <p:embeddedFont>
      <p:font typeface="Georgia" panose="02040502050405020303" pitchFamily="18" charset="0"/>
      <p:regular r:id="rId157"/>
      <p:bold r:id="rId158"/>
      <p:italic r:id="rId159"/>
      <p:boldItalic r:id="rId160"/>
    </p:embeddedFont>
    <p:embeddedFont>
      <p:font typeface="Calibri" panose="020F0502020204030204" pitchFamily="34" charset="0"/>
      <p:regular r:id="rId161"/>
      <p:bold r:id="rId162"/>
      <p:italic r:id="rId163"/>
      <p:boldItalic r:id="rId164"/>
    </p:embeddedFont>
    <p:embeddedFont>
      <p:font typeface="Impact" panose="020B0806030902050204" pitchFamily="34" charset="0"/>
      <p:regular r:id="rId165"/>
    </p:embeddedFont>
    <p:embeddedFont>
      <p:font typeface="Roboto" panose="020B0604020202020204" charset="0"/>
      <p:regular r:id="rId166"/>
      <p:bold r:id="rId167"/>
      <p:italic r:id="rId168"/>
      <p:boldItalic r:id="rId1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0" roundtripDataSignature="AMtx7mgeWPjhmRD27XWOwGWDvE8wgebBc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C49AFCA2-374B-4C82-9F9E-54E23B5331E3}">
  <a:tblStyle styleId="{C49AFCA2-374B-4C82-9F9E-54E23B5331E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691"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font" Target="fonts/font4.fntdata"/><Relationship Id="rId159" Type="http://schemas.openxmlformats.org/officeDocument/2006/relationships/font" Target="fonts/font9.fntdata"/><Relationship Id="rId170" Type="http://customschemas.google.com/relationships/presentationmetadata" Target="meta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font" Target="fonts/font10.fntdata"/><Relationship Id="rId165" Type="http://schemas.openxmlformats.org/officeDocument/2006/relationships/font" Target="fonts/font15.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55" Type="http://schemas.openxmlformats.org/officeDocument/2006/relationships/font" Target="fonts/font5.fntdata"/><Relationship Id="rId171"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font" Target="fonts/font11.fntdata"/><Relationship Id="rId166"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font" Target="fonts/font1.fntdata"/><Relationship Id="rId156" Type="http://schemas.openxmlformats.org/officeDocument/2006/relationships/font" Target="fonts/font6.fntdata"/><Relationship Id="rId164" Type="http://schemas.openxmlformats.org/officeDocument/2006/relationships/font" Target="fonts/font14.fntdata"/><Relationship Id="rId169"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1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font" Target="fonts/font1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7.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fntdata"/><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font" Target="fonts/font13.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3.fntdata"/><Relationship Id="rId17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5539670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55f8378242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8" name="Google Shape;108;g155f8378242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d26e7bbf5f_1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g2d26e7bbf5f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 name="Google Shape;12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6" name="Google Shape;12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55f837824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g155f8378242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55f8378242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8" name="Google Shape;138;g155f8378242_0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decipher - means to make out, to translate, to figure out</a:t>
            </a:r>
            <a:endParaRPr/>
          </a:p>
        </p:txBody>
      </p:sp>
      <p:sp>
        <p:nvSpPr>
          <p:cNvPr id="150" name="Google Shape;150;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55f8378242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decipher - means to make out, to translate, to figure out</a:t>
            </a:r>
            <a:endParaRPr/>
          </a:p>
        </p:txBody>
      </p:sp>
      <p:sp>
        <p:nvSpPr>
          <p:cNvPr id="156" name="Google Shape;156;g155f8378242_0_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f1f4b03acb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f1f4b03acb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sz="1350">
              <a:solidFill>
                <a:srgbClr val="1A1A1A"/>
              </a:solidFill>
              <a:highlight>
                <a:srgbClr val="FFFFFF"/>
              </a:highlight>
            </a:endParaRPr>
          </a:p>
          <a:p>
            <a:pPr marL="0" lvl="0" indent="0" algn="l" rtl="0">
              <a:lnSpc>
                <a:spcPct val="100000"/>
              </a:lnSpc>
              <a:spcBef>
                <a:spcPts val="30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55f8378242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155f8378242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0" algn="l" rtl="0">
              <a:lnSpc>
                <a:spcPct val="218181"/>
              </a:lnSpc>
              <a:spcBef>
                <a:spcPts val="3000"/>
              </a:spcBef>
              <a:spcAft>
                <a:spcPts val="0"/>
              </a:spcAft>
              <a:buClr>
                <a:schemeClr val="dk1"/>
              </a:buClr>
              <a:buSzPts val="1100"/>
              <a:buFont typeface="Arial"/>
              <a:buNone/>
            </a:pPr>
            <a:endParaRPr/>
          </a:p>
          <a:p>
            <a:pPr marL="0" lvl="0" indent="0" algn="l" rtl="0">
              <a:lnSpc>
                <a:spcPct val="100000"/>
              </a:lnSpc>
              <a:spcBef>
                <a:spcPts val="30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f1f4b03acb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gf1f4b03acb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f1f4b03acb_0_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f1f4b03acb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55f8378242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155f8378242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f1f4b03acb_0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f1f4b03acb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f6f041fea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f6f041fea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55f8378242_0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155f8378242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 name="Google Shape;21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55f8378242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g155f8378242_0_4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 name="Google Shape;225;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55f8378242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1" name="Google Shape;231;g155f8378242_0_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55f8378242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7" name="Google Shape;237;g155f8378242_0_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3121ad585e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3121ad58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3121ad585e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3121ad585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3121ad585e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3121ad585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3121ad585e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3121ad585e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3121ad585e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3121ad585e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3" name="Google Shape;28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57bb7497e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9" name="Google Shape;289;g157bb7497ea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5" name="Google Shape;29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f7b2675688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1" name="Google Shape;301;gf7b2675688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f7b2675688_0_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gf7b2675688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f7b2675688_0_3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gf7b2675688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0" name="Google Shape;32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7" name="Google Shape;327;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3" name="Google Shape;333;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f7b2675688_0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gf7b2675688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f7b2675688_0_4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gf7b2675688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f7b2675688_0_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gf7b2675688_0_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f7b2675688_0_5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gf7b2675688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f7b2675688_0_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4" name="Google Shape;364;gf7b2675688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1" name="Google Shape;371;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7" name="Google Shape;377;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050">
                <a:solidFill>
                  <a:srgbClr val="4D5156"/>
                </a:solidFill>
                <a:highlight>
                  <a:srgbClr val="FFFFFF"/>
                </a:highlight>
              </a:rPr>
              <a:t>delicate in </a:t>
            </a:r>
            <a:r>
              <a:rPr lang="en-US" sz="1050" b="1">
                <a:solidFill>
                  <a:srgbClr val="5F6368"/>
                </a:solidFill>
                <a:highlight>
                  <a:srgbClr val="FFFFFF"/>
                </a:highlight>
              </a:rPr>
              <a:t>meaning</a:t>
            </a:r>
            <a:r>
              <a:rPr lang="en-US" sz="1050">
                <a:solidFill>
                  <a:srgbClr val="4D5156"/>
                </a:solidFill>
                <a:highlight>
                  <a:srgbClr val="FFFFFF"/>
                </a:highlight>
              </a:rPr>
              <a:t> or intent; difficult to perceive or understand</a:t>
            </a:r>
            <a:endParaRPr/>
          </a:p>
        </p:txBody>
      </p:sp>
      <p:sp>
        <p:nvSpPr>
          <p:cNvPr id="383" name="Google Shape;383;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9" name="Google Shape;389;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f917f9c746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gf917f9c746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f917f9c746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f917f9c746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f917f9c746_0_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7" name="Google Shape;407;gf917f9c746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5" name="Google Shape;415;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1" name="Google Shape;421;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f917f9c746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7" name="Google Shape;427;gf917f9c746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200">
                <a:solidFill>
                  <a:srgbClr val="202124"/>
                </a:solidFill>
                <a:highlight>
                  <a:srgbClr val="FFFFFF"/>
                </a:highlight>
              </a:rPr>
              <a:t>A polyseme - a word or phrase with different, but related senses. ... English has many polysemous words. For example, the verb "</a:t>
            </a:r>
            <a:r>
              <a:rPr lang="en-US" sz="1200" b="1">
                <a:solidFill>
                  <a:srgbClr val="202124"/>
                </a:solidFill>
                <a:highlight>
                  <a:srgbClr val="FFFFFF"/>
                </a:highlight>
              </a:rPr>
              <a:t>to get" can mean "procure"</a:t>
            </a:r>
            <a:r>
              <a:rPr lang="en-US" sz="1200">
                <a:solidFill>
                  <a:srgbClr val="202124"/>
                </a:solidFill>
                <a:highlight>
                  <a:srgbClr val="FFFFFF"/>
                </a:highlight>
              </a:rPr>
              <a:t> (I'll get the drinks), "become" (she got scared), "understand" (I get it) etc.</a:t>
            </a:r>
            <a:endParaRPr sz="1200">
              <a:solidFill>
                <a:srgbClr val="202124"/>
              </a:solidFill>
              <a:highlight>
                <a:srgbClr val="FFFFFF"/>
              </a:highlight>
            </a:endParaRPr>
          </a:p>
          <a:p>
            <a:pPr marL="0" lvl="0" indent="0" algn="l" rtl="0">
              <a:lnSpc>
                <a:spcPct val="100000"/>
              </a:lnSpc>
              <a:spcBef>
                <a:spcPts val="0"/>
              </a:spcBef>
              <a:spcAft>
                <a:spcPts val="0"/>
              </a:spcAft>
              <a:buSzPts val="1100"/>
              <a:buNone/>
            </a:pPr>
            <a:endParaRPr sz="1200">
              <a:solidFill>
                <a:srgbClr val="202124"/>
              </a:solidFill>
              <a:highlight>
                <a:srgbClr val="FFFFFF"/>
              </a:highlight>
            </a:endParaRPr>
          </a:p>
          <a:p>
            <a:pPr marL="0" lvl="0" indent="0" algn="l" rtl="0">
              <a:lnSpc>
                <a:spcPct val="100000"/>
              </a:lnSpc>
              <a:spcBef>
                <a:spcPts val="0"/>
              </a:spcBef>
              <a:spcAft>
                <a:spcPts val="0"/>
              </a:spcAft>
              <a:buSzPts val="1100"/>
              <a:buNone/>
            </a:pPr>
            <a:r>
              <a:rPr lang="en-US" sz="1200">
                <a:solidFill>
                  <a:srgbClr val="202124"/>
                </a:solidFill>
                <a:highlight>
                  <a:srgbClr val="FFFFFF"/>
                </a:highlight>
              </a:rPr>
              <a:t>lexeme - a language's most basic unit of meaning, often also thought of as a word in its most basic form. Not all lexemes consist of just one word, though, as a combination of words are necessary to convey the intended meaning. Examples of lexemes include </a:t>
            </a:r>
            <a:r>
              <a:rPr lang="en-US" sz="1200" b="1">
                <a:solidFill>
                  <a:srgbClr val="202124"/>
                </a:solidFill>
                <a:highlight>
                  <a:srgbClr val="FFFFFF"/>
                </a:highlight>
              </a:rPr>
              <a:t>walk, fire station, and change of heart, bus stop.</a:t>
            </a:r>
            <a:endParaRPr sz="1200" b="1">
              <a:solidFill>
                <a:srgbClr val="202124"/>
              </a:solidFill>
              <a:highlight>
                <a:srgbClr val="FFFFFF"/>
              </a:highlight>
            </a:endParaRPr>
          </a:p>
          <a:p>
            <a:pPr marL="0" lvl="0" indent="0" algn="l" rtl="0">
              <a:lnSpc>
                <a:spcPct val="100000"/>
              </a:lnSpc>
              <a:spcBef>
                <a:spcPts val="0"/>
              </a:spcBef>
              <a:spcAft>
                <a:spcPts val="0"/>
              </a:spcAft>
              <a:buSzPts val="1100"/>
              <a:buNone/>
            </a:pPr>
            <a:endParaRPr sz="1200" b="1">
              <a:solidFill>
                <a:srgbClr val="202124"/>
              </a:solidFill>
              <a:highlight>
                <a:srgbClr val="FFFFFF"/>
              </a:highlight>
            </a:endParaRPr>
          </a:p>
          <a:p>
            <a:pPr marL="0" lvl="0" indent="0" algn="l" rtl="0">
              <a:lnSpc>
                <a:spcPct val="100000"/>
              </a:lnSpc>
              <a:spcBef>
                <a:spcPts val="0"/>
              </a:spcBef>
              <a:spcAft>
                <a:spcPts val="0"/>
              </a:spcAft>
              <a:buSzPts val="1100"/>
              <a:buNone/>
            </a:pPr>
            <a:r>
              <a:rPr lang="en-US" sz="1200">
                <a:solidFill>
                  <a:srgbClr val="202124"/>
                </a:solidFill>
                <a:highlight>
                  <a:srgbClr val="FFFFFF"/>
                </a:highlight>
              </a:rPr>
              <a:t>The word Homonymy (from the Greek—homos: same, onoma: name) is </a:t>
            </a:r>
            <a:r>
              <a:rPr lang="en-US" sz="1200" b="1">
                <a:solidFill>
                  <a:srgbClr val="202124"/>
                </a:solidFill>
                <a:highlight>
                  <a:srgbClr val="FFFFFF"/>
                </a:highlight>
              </a:rPr>
              <a:t>the relation between words with identical forms but different meaning. </a:t>
            </a:r>
            <a:r>
              <a:rPr lang="en-US" sz="1200">
                <a:solidFill>
                  <a:srgbClr val="202124"/>
                </a:solidFill>
                <a:highlight>
                  <a:srgbClr val="FFFFFF"/>
                </a:highlight>
              </a:rPr>
              <a:t>example: the word bank as it appears in "river bank" and "savings ​bank."</a:t>
            </a:r>
            <a:endParaRPr sz="1200" b="1">
              <a:solidFill>
                <a:srgbClr val="202124"/>
              </a:solidFill>
              <a:highlight>
                <a:srgbClr val="FFFFFF"/>
              </a:highlight>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f917f9c746_0_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f917f9c746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f917f9c746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gf917f9c746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5" name="Google Shape;445;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f9de61988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1" name="Google Shape;451;gf9de61988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f917f9c746_0_5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7" name="Google Shape;457;gf917f9c746_0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f917f9c746_0_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3" name="Google Shape;463;gf917f9c746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9" name="Google Shape;469;p2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f917f9c746_0_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5" name="Google Shape;475;gf917f9c746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f917f9c746_0_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gf917f9c746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f917f9c746_0_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gf917f9c746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f9de619886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4" name="Google Shape;494;gf9de619886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15e0b3a52ec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2" name="Google Shape;502;g15e0b3a52ec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9" name="Google Shape;509;p3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15e0b3a52ec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6" name="Google Shape;516;g15e0b3a52ec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15e0b3a52ec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3" name="Google Shape;523;g15e0b3a52ec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9" name="Google Shape;529;p3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15e0b3a52ec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36" name="Google Shape;536;g15e0b3a52ec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3" name="Google Shape;543;p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9" name="Google Shape;549;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f9de619886_0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5" name="Google Shape;555;gf9de619886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f9de619886_0_2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1" name="Google Shape;561;gf9de619886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68" name="Google Shape;568;p3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fb3c5a04c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4" name="Google Shape;574;gfb3c5a04c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2" name="Google Shape;582;p3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15fa291c0c5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0" name="Google Shape;590;g15fa291c0c5_0_3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15fa291c0c5_0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8" name="Google Shape;598;g15fa291c0c5_0_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g15fa291c0c5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5" name="Google Shape;605;g15fa291c0c5_0_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15fa291c0c5_0_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3" name="Google Shape;613;g15fa291c0c5_0_4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15fa291c0c5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1" name="Google Shape;621;g15fa291c0c5_0_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9" name="Google Shape;629;p4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fd78de434d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7" name="Google Shape;637;gfd78de434d_0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5fa291c0c5_0_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4" name="Google Shape;644;g15fa291c0c5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1" name="Google Shape;651;p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161ca8c6f1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7" name="Google Shape;657;g161ca8c6f1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3" name="Google Shape;663;p4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fd90740400_0_1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9" name="Google Shape;669;gfd90740400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other theta roles are 1. experiencer</a:t>
            </a:r>
            <a:endParaRPr/>
          </a:p>
          <a:p>
            <a:pPr marL="0" lvl="0" indent="0" algn="l" rtl="0">
              <a:lnSpc>
                <a:spcPct val="100000"/>
              </a:lnSpc>
              <a:spcBef>
                <a:spcPts val="0"/>
              </a:spcBef>
              <a:spcAft>
                <a:spcPts val="0"/>
              </a:spcAft>
              <a:buSzPts val="1100"/>
              <a:buNone/>
            </a:pPr>
            <a:r>
              <a:rPr lang="en-US"/>
              <a:t>2. goal</a:t>
            </a:r>
            <a:endParaRPr/>
          </a:p>
          <a:p>
            <a:pPr marL="0" lvl="0" indent="0" algn="l" rtl="0">
              <a:lnSpc>
                <a:spcPct val="100000"/>
              </a:lnSpc>
              <a:spcBef>
                <a:spcPts val="0"/>
              </a:spcBef>
              <a:spcAft>
                <a:spcPts val="0"/>
              </a:spcAft>
              <a:buSzPts val="1100"/>
              <a:buNone/>
            </a:pPr>
            <a:r>
              <a:rPr lang="en-US"/>
              <a:t>3. location</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7" name="Google Shape;677;p4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fb3c5a04c7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4" name="Google Shape;684;gfb3c5a04c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45998e394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0" name="Google Shape;690;g245998e394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1007a4dec7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8" name="Google Shape;698;g1007a4dec7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5" name="Google Shape;705;p4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1007a4dec7d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2" name="Google Shape;712;g1007a4dec7d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Anaphore: </a:t>
            </a:r>
            <a:r>
              <a:rPr lang="en-US" sz="1050">
                <a:solidFill>
                  <a:srgbClr val="202124"/>
                </a:solidFill>
                <a:highlight>
                  <a:srgbClr val="FFFFFF"/>
                </a:highlight>
              </a:rPr>
              <a:t>a word or phrase that refers back to an earlier word or phrase</a:t>
            </a:r>
            <a:endParaRPr sz="1050">
              <a:solidFill>
                <a:srgbClr val="202124"/>
              </a:solidFill>
              <a:highlight>
                <a:srgbClr val="FFFFFF"/>
              </a:highlight>
            </a:endParaRPr>
          </a:p>
          <a:p>
            <a:pPr marL="0" lvl="0" indent="0" algn="l" rtl="0">
              <a:lnSpc>
                <a:spcPct val="100000"/>
              </a:lnSpc>
              <a:spcBef>
                <a:spcPts val="0"/>
              </a:spcBef>
              <a:spcAft>
                <a:spcPts val="0"/>
              </a:spcAft>
              <a:buSzPts val="1100"/>
              <a:buNone/>
            </a:pPr>
            <a:r>
              <a:rPr lang="en-US" sz="1350">
                <a:solidFill>
                  <a:srgbClr val="212529"/>
                </a:solidFill>
                <a:highlight>
                  <a:srgbClr val="FFFFFF"/>
                </a:highlight>
              </a:rPr>
              <a:t>Anaphoric: a word or phrase that takes its reference from another word or phrase and especially from a preceding word or phrase</a:t>
            </a:r>
            <a:endParaRPr sz="1350">
              <a:solidFill>
                <a:srgbClr val="212529"/>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r>
              <a:rPr lang="en-US" sz="1050">
                <a:solidFill>
                  <a:srgbClr val="4D5156"/>
                </a:solidFill>
                <a:highlight>
                  <a:srgbClr val="FFFFFF"/>
                </a:highlight>
              </a:rPr>
              <a:t>Pronominal means </a:t>
            </a:r>
            <a:r>
              <a:rPr lang="en-US" sz="1050" b="1">
                <a:solidFill>
                  <a:srgbClr val="5F6368"/>
                </a:solidFill>
                <a:highlight>
                  <a:srgbClr val="FFFFFF"/>
                </a:highlight>
              </a:rPr>
              <a:t>relating to pronouns or like a pronoun</a:t>
            </a:r>
            <a:endParaRPr sz="1350">
              <a:solidFill>
                <a:srgbClr val="212529"/>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endParaRPr sz="1350">
              <a:solidFill>
                <a:srgbClr val="212529"/>
              </a:solidFill>
              <a:highlight>
                <a:srgbClr val="FFFFFF"/>
              </a:highlight>
            </a:endParaRPr>
          </a:p>
          <a:p>
            <a:pPr marL="0" lvl="0" indent="0" algn="l" rtl="0">
              <a:lnSpc>
                <a:spcPct val="100000"/>
              </a:lnSpc>
              <a:spcBef>
                <a:spcPts val="0"/>
              </a:spcBef>
              <a:spcAft>
                <a:spcPts val="0"/>
              </a:spcAft>
              <a:buSzPts val="1100"/>
              <a:buNone/>
            </a:pPr>
            <a:endParaRPr sz="1050">
              <a:solidFill>
                <a:srgbClr val="202124"/>
              </a:solidFill>
              <a:highlight>
                <a:srgbClr val="FFFFFF"/>
              </a:highlight>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45998e394d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8" name="Google Shape;718;g245998e394d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350">
                <a:solidFill>
                  <a:srgbClr val="212529"/>
                </a:solidFill>
                <a:highlight>
                  <a:srgbClr val="FFFFFF"/>
                </a:highlight>
              </a:rPr>
              <a:t>Anaphoric: a word or phrase that takes its reference from another word or phrase and especially from a preceding word or phrase</a:t>
            </a:r>
            <a:endParaRPr sz="1350">
              <a:solidFill>
                <a:srgbClr val="212529"/>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r>
              <a:rPr lang="en-US" sz="1050">
                <a:solidFill>
                  <a:srgbClr val="4D5156"/>
                </a:solidFill>
                <a:highlight>
                  <a:srgbClr val="FFFFFF"/>
                </a:highlight>
              </a:rPr>
              <a:t>Pronominal means </a:t>
            </a:r>
            <a:r>
              <a:rPr lang="en-US" sz="1050" b="1">
                <a:solidFill>
                  <a:srgbClr val="5F6368"/>
                </a:solidFill>
                <a:highlight>
                  <a:srgbClr val="FFFFFF"/>
                </a:highlight>
              </a:rPr>
              <a:t>relating to pronouns or like a pronoun</a:t>
            </a:r>
            <a:endParaRPr sz="1050" b="1">
              <a:solidFill>
                <a:srgbClr val="5F6368"/>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r>
              <a:rPr lang="en-US" sz="1200">
                <a:solidFill>
                  <a:srgbClr val="374151"/>
                </a:solidFill>
                <a:highlight>
                  <a:srgbClr val="F7F7F8"/>
                </a:highlight>
                <a:latin typeface="Roboto"/>
                <a:ea typeface="Roboto"/>
                <a:cs typeface="Roboto"/>
                <a:sym typeface="Roboto"/>
              </a:rPr>
              <a:t>"wh-word" (such as "who," "what," "where," "when," "why," etc.)</a:t>
            </a:r>
            <a:endParaRPr sz="1050" b="1">
              <a:solidFill>
                <a:srgbClr val="5F6368"/>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endParaRPr sz="1350">
              <a:solidFill>
                <a:srgbClr val="212529"/>
              </a:solidFill>
              <a:highlight>
                <a:srgbClr val="FFFFFF"/>
              </a:highlight>
            </a:endParaRPr>
          </a:p>
          <a:p>
            <a:pPr marL="0" lvl="0" indent="0" algn="l" rtl="0">
              <a:lnSpc>
                <a:spcPct val="100000"/>
              </a:lnSpc>
              <a:spcBef>
                <a:spcPts val="0"/>
              </a:spcBef>
              <a:spcAft>
                <a:spcPts val="0"/>
              </a:spcAft>
              <a:buSzPts val="1100"/>
              <a:buNone/>
            </a:pPr>
            <a:endParaRPr sz="1050">
              <a:solidFill>
                <a:srgbClr val="202124"/>
              </a:solidFill>
              <a:highlight>
                <a:srgbClr val="FFFFFF"/>
              </a:highlight>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45998e394d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4" name="Google Shape;724;g245998e394d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350">
                <a:solidFill>
                  <a:srgbClr val="212529"/>
                </a:solidFill>
                <a:highlight>
                  <a:srgbClr val="FFFFFF"/>
                </a:highlight>
              </a:rPr>
              <a:t>Anaphoric: a word or phrase that takes its reference from another word or phrase and especially from a preceding word or phrase</a:t>
            </a:r>
            <a:endParaRPr sz="1350">
              <a:solidFill>
                <a:srgbClr val="212529"/>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r>
              <a:rPr lang="en-US" sz="1050">
                <a:solidFill>
                  <a:srgbClr val="4D5156"/>
                </a:solidFill>
                <a:highlight>
                  <a:srgbClr val="FFFFFF"/>
                </a:highlight>
              </a:rPr>
              <a:t>Pronominal means </a:t>
            </a:r>
            <a:r>
              <a:rPr lang="en-US" sz="1050" b="1">
                <a:solidFill>
                  <a:srgbClr val="5F6368"/>
                </a:solidFill>
                <a:highlight>
                  <a:srgbClr val="FFFFFF"/>
                </a:highlight>
              </a:rPr>
              <a:t>relating to pronouns or like a pronoun</a:t>
            </a:r>
            <a:endParaRPr sz="1050" b="1">
              <a:solidFill>
                <a:srgbClr val="5F6368"/>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r>
              <a:rPr lang="en-US" sz="1200">
                <a:solidFill>
                  <a:srgbClr val="374151"/>
                </a:solidFill>
                <a:highlight>
                  <a:srgbClr val="F7F7F8"/>
                </a:highlight>
                <a:latin typeface="Roboto"/>
                <a:ea typeface="Roboto"/>
                <a:cs typeface="Roboto"/>
                <a:sym typeface="Roboto"/>
              </a:rPr>
              <a:t>"wh-word" (such as "who," "what," "where," "when," "why," etc.)</a:t>
            </a:r>
            <a:endParaRPr sz="1050" b="1">
              <a:solidFill>
                <a:srgbClr val="5F6368"/>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endParaRPr sz="1350">
              <a:solidFill>
                <a:srgbClr val="212529"/>
              </a:solidFill>
              <a:highlight>
                <a:srgbClr val="FFFFFF"/>
              </a:highlight>
            </a:endParaRPr>
          </a:p>
          <a:p>
            <a:pPr marL="0" lvl="0" indent="0" algn="l" rtl="0">
              <a:lnSpc>
                <a:spcPct val="100000"/>
              </a:lnSpc>
              <a:spcBef>
                <a:spcPts val="0"/>
              </a:spcBef>
              <a:spcAft>
                <a:spcPts val="0"/>
              </a:spcAft>
              <a:buSzPts val="1100"/>
              <a:buNone/>
            </a:pPr>
            <a:endParaRPr sz="1050">
              <a:solidFill>
                <a:srgbClr val="202124"/>
              </a:solidFill>
              <a:highlight>
                <a:srgbClr val="FFFFFF"/>
              </a:highlight>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45998e394d_0_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0" name="Google Shape;730;g245998e394d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350">
                <a:solidFill>
                  <a:srgbClr val="212529"/>
                </a:solidFill>
                <a:highlight>
                  <a:srgbClr val="FFFFFF"/>
                </a:highlight>
              </a:rPr>
              <a:t>Anaphoric: a word or phrase that takes its reference from another word or phrase and especially from a preceding word or phrase</a:t>
            </a:r>
            <a:endParaRPr sz="1350">
              <a:solidFill>
                <a:srgbClr val="212529"/>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r>
              <a:rPr lang="en-US" sz="1050">
                <a:solidFill>
                  <a:srgbClr val="4D5156"/>
                </a:solidFill>
                <a:highlight>
                  <a:srgbClr val="FFFFFF"/>
                </a:highlight>
              </a:rPr>
              <a:t>Pronominal means </a:t>
            </a:r>
            <a:r>
              <a:rPr lang="en-US" sz="1050" b="1">
                <a:solidFill>
                  <a:srgbClr val="5F6368"/>
                </a:solidFill>
                <a:highlight>
                  <a:srgbClr val="FFFFFF"/>
                </a:highlight>
              </a:rPr>
              <a:t>relating to pronouns or like a pronoun</a:t>
            </a:r>
            <a:endParaRPr sz="1050" b="1">
              <a:solidFill>
                <a:srgbClr val="5F6368"/>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r>
              <a:rPr lang="en-US" sz="1200">
                <a:solidFill>
                  <a:srgbClr val="374151"/>
                </a:solidFill>
                <a:highlight>
                  <a:srgbClr val="F7F7F8"/>
                </a:highlight>
                <a:latin typeface="Roboto"/>
                <a:ea typeface="Roboto"/>
                <a:cs typeface="Roboto"/>
                <a:sym typeface="Roboto"/>
              </a:rPr>
              <a:t>"wh-word" (such as "who," "what," "where," "when," "why," etc.)</a:t>
            </a:r>
            <a:endParaRPr sz="1050" b="1">
              <a:solidFill>
                <a:srgbClr val="5F6368"/>
              </a:solidFill>
              <a:highlight>
                <a:srgbClr val="FFFFFF"/>
              </a:highlight>
            </a:endParaRPr>
          </a:p>
          <a:p>
            <a:pPr marL="0" lvl="0" indent="0" algn="l" rtl="0">
              <a:lnSpc>
                <a:spcPct val="100000"/>
              </a:lnSpc>
              <a:spcBef>
                <a:spcPts val="0"/>
              </a:spcBef>
              <a:spcAft>
                <a:spcPts val="0"/>
              </a:spcAft>
              <a:buClr>
                <a:schemeClr val="dk1"/>
              </a:buClr>
              <a:buSzPts val="1100"/>
              <a:buFont typeface="Arial"/>
              <a:buNone/>
            </a:pPr>
            <a:endParaRPr sz="1350">
              <a:solidFill>
                <a:srgbClr val="212529"/>
              </a:solidFill>
              <a:highlight>
                <a:srgbClr val="FFFFFF"/>
              </a:highlight>
            </a:endParaRPr>
          </a:p>
          <a:p>
            <a:pPr marL="0" lvl="0" indent="0" algn="l" rtl="0">
              <a:lnSpc>
                <a:spcPct val="100000"/>
              </a:lnSpc>
              <a:spcBef>
                <a:spcPts val="0"/>
              </a:spcBef>
              <a:spcAft>
                <a:spcPts val="0"/>
              </a:spcAft>
              <a:buSzPts val="1100"/>
              <a:buNone/>
            </a:pPr>
            <a:endParaRPr sz="1050">
              <a:solidFill>
                <a:srgbClr val="202124"/>
              </a:solidFill>
              <a:highlight>
                <a:srgbClr val="FFFFFF"/>
              </a:highlight>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6" name="Google Shape;736;p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1007a4dec7d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2" name="Google Shape;742;g1007a4dec7d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161111f0164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8" name="Google Shape;748;g161111f0164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160cea89954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6" name="Google Shape;756;g160cea89954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160cea89954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2" name="Google Shape;762;g160cea8995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69" name="Google Shape;769;p4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5" name="Google Shape;775;p4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81f7e1184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1" name="Google Shape;781;g281f7e1184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7" name="Google Shape;787;p4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3" name="Google Shape;793;p5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9" name="Google Shape;799;p5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5" name="Google Shape;805;p5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2" name="Google Shape;812;p5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9" name="Google Shape;819;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6" name="Google Shape;826;p5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4" name="Google Shape;834;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0" name="Google Shape;840;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7" name="Google Shape;847;p5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3" name="Google Shape;853;p5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845e49713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9" name="Google Shape;859;g2845e497139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845e49713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5" name="Google Shape;865;g2845e497139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71" name="Google Shape;871;p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1700b00d60f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highlight>
                <a:srgbClr val="FFFFFF"/>
              </a:highlight>
              <a:latin typeface="Times New Roman"/>
              <a:ea typeface="Times New Roman"/>
              <a:cs typeface="Times New Roman"/>
              <a:sym typeface="Times New Roman"/>
            </a:endParaRPr>
          </a:p>
        </p:txBody>
      </p:sp>
      <p:sp>
        <p:nvSpPr>
          <p:cNvPr id="878" name="Google Shape;878;g1700b00d60f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latin typeface="Times New Roman"/>
              <a:ea typeface="Times New Roman"/>
              <a:cs typeface="Times New Roman"/>
              <a:sym typeface="Times New Roman"/>
            </a:endParaRPr>
          </a:p>
        </p:txBody>
      </p:sp>
      <p:sp>
        <p:nvSpPr>
          <p:cNvPr id="884" name="Google Shape;884;p6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700b00d60f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88900"/>
              </a:lnSpc>
              <a:spcBef>
                <a:spcPts val="0"/>
              </a:spcBef>
              <a:spcAft>
                <a:spcPts val="0"/>
              </a:spcAft>
              <a:buClr>
                <a:schemeClr val="dk1"/>
              </a:buClr>
              <a:buSzPts val="1100"/>
              <a:buFont typeface="Arial"/>
              <a:buNone/>
            </a:pPr>
            <a:endParaRPr sz="1200">
              <a:solidFill>
                <a:schemeClr val="dk1"/>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sz="1200">
              <a:solidFill>
                <a:schemeClr val="dk1"/>
              </a:solidFill>
              <a:highlight>
                <a:srgbClr val="FFFFFF"/>
              </a:highlight>
              <a:latin typeface="Times New Roman"/>
              <a:ea typeface="Times New Roman"/>
              <a:cs typeface="Times New Roman"/>
              <a:sym typeface="Times New Roman"/>
            </a:endParaRPr>
          </a:p>
        </p:txBody>
      </p:sp>
      <p:sp>
        <p:nvSpPr>
          <p:cNvPr id="890" name="Google Shape;890;g1700b00d60f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16e7d34f1b0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90600"/>
              </a:lnSpc>
              <a:spcBef>
                <a:spcPts val="0"/>
              </a:spcBef>
              <a:spcAft>
                <a:spcPts val="0"/>
              </a:spcAft>
              <a:buClr>
                <a:schemeClr val="dk1"/>
              </a:buClr>
              <a:buSzPts val="1100"/>
              <a:buFont typeface="Arial"/>
              <a:buNone/>
            </a:pPr>
            <a:endParaRPr sz="1200">
              <a:solidFill>
                <a:schemeClr val="dk1"/>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sz="1200">
              <a:latin typeface="Times New Roman"/>
              <a:ea typeface="Times New Roman"/>
              <a:cs typeface="Times New Roman"/>
              <a:sym typeface="Times New Roman"/>
            </a:endParaRPr>
          </a:p>
        </p:txBody>
      </p:sp>
      <p:sp>
        <p:nvSpPr>
          <p:cNvPr id="896" name="Google Shape;896;g16e7d34f1b0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17124379822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90600"/>
              </a:lnSpc>
              <a:spcBef>
                <a:spcPts val="0"/>
              </a:spcBef>
              <a:spcAft>
                <a:spcPts val="0"/>
              </a:spcAft>
              <a:buClr>
                <a:schemeClr val="dk1"/>
              </a:buClr>
              <a:buSzPts val="1100"/>
              <a:buFont typeface="Arial"/>
              <a:buNone/>
            </a:pPr>
            <a:endParaRPr sz="1200">
              <a:solidFill>
                <a:schemeClr val="dk1"/>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100"/>
              <a:buNone/>
            </a:pPr>
            <a:endParaRPr sz="1200">
              <a:latin typeface="Times New Roman"/>
              <a:ea typeface="Times New Roman"/>
              <a:cs typeface="Times New Roman"/>
              <a:sym typeface="Times New Roman"/>
            </a:endParaRPr>
          </a:p>
        </p:txBody>
      </p:sp>
      <p:sp>
        <p:nvSpPr>
          <p:cNvPr id="902" name="Google Shape;902;g17124379822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1712437982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800">
              <a:solidFill>
                <a:schemeClr val="dk1"/>
              </a:solidFill>
              <a:highlight>
                <a:srgbClr val="FFFFFF"/>
              </a:highlight>
              <a:latin typeface="Times New Roman"/>
              <a:ea typeface="Times New Roman"/>
              <a:cs typeface="Times New Roman"/>
              <a:sym typeface="Times New Roman"/>
            </a:endParaRPr>
          </a:p>
        </p:txBody>
      </p:sp>
      <p:sp>
        <p:nvSpPr>
          <p:cNvPr id="908" name="Google Shape;908;g17124379822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17124379822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800">
              <a:solidFill>
                <a:schemeClr val="dk1"/>
              </a:solidFill>
              <a:highlight>
                <a:srgbClr val="FFFFFF"/>
              </a:highlight>
              <a:latin typeface="Times New Roman"/>
              <a:ea typeface="Times New Roman"/>
              <a:cs typeface="Times New Roman"/>
              <a:sym typeface="Times New Roman"/>
            </a:endParaRPr>
          </a:p>
        </p:txBody>
      </p:sp>
      <p:sp>
        <p:nvSpPr>
          <p:cNvPr id="914" name="Google Shape;914;g17124379822_0_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17124379822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800">
              <a:solidFill>
                <a:schemeClr val="dk1"/>
              </a:solidFill>
              <a:highlight>
                <a:srgbClr val="FFFFFF"/>
              </a:highlight>
              <a:latin typeface="Times New Roman"/>
              <a:ea typeface="Times New Roman"/>
              <a:cs typeface="Times New Roman"/>
              <a:sym typeface="Times New Roman"/>
            </a:endParaRPr>
          </a:p>
        </p:txBody>
      </p:sp>
      <p:sp>
        <p:nvSpPr>
          <p:cNvPr id="920" name="Google Shape;920;g17124379822_0_1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17124379822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800">
              <a:solidFill>
                <a:schemeClr val="dk1"/>
              </a:solidFill>
              <a:highlight>
                <a:srgbClr val="FFFFFF"/>
              </a:highlight>
              <a:latin typeface="Times New Roman"/>
              <a:ea typeface="Times New Roman"/>
              <a:cs typeface="Times New Roman"/>
              <a:sym typeface="Times New Roman"/>
            </a:endParaRPr>
          </a:p>
        </p:txBody>
      </p:sp>
      <p:sp>
        <p:nvSpPr>
          <p:cNvPr id="926" name="Google Shape;926;g17124379822_0_1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17124379822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800">
              <a:solidFill>
                <a:schemeClr val="dk1"/>
              </a:solidFill>
              <a:highlight>
                <a:srgbClr val="FFFFFF"/>
              </a:highlight>
              <a:latin typeface="Times New Roman"/>
              <a:ea typeface="Times New Roman"/>
              <a:cs typeface="Times New Roman"/>
              <a:sym typeface="Times New Roman"/>
            </a:endParaRPr>
          </a:p>
        </p:txBody>
      </p:sp>
      <p:sp>
        <p:nvSpPr>
          <p:cNvPr id="933" name="Google Shape;933;g17124379822_0_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9" name="Google Shape;939;p6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5" name="Google Shape;945;p6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33789ed7c5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33789ed7c5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33789ed7c53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9" name="Google Shape;959;g33789ed7c5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33789ed7c53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33789ed7c5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33789ed7c53_0_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4" name="Google Shape;974;g33789ed7c53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33789ed7c53_0_6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33789ed7c5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33789ed7c53_0_6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6" name="Google Shape;986;g33789ed7c53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33789ed7c53_0_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33789ed7c53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4adb8a8f5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7" name="Google Shape;997;g24adb8a8f5e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4adb8a8f5e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3" name="Google Shape;1003;g24adb8a8f5e_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4adb8a8f5e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0" name="Google Shape;1010;g24adb8a8f5e_0_1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4adb8a8f5e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6" name="Google Shape;1016;g24adb8a8f5e_0_1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33789ed7c53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33789ed7c5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337da8589d3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337da8589d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337da8589d3_0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5" name="Google Shape;1035;g337da8589d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337da8589d3_0_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2" name="Google Shape;1042;g337da8589d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337da8589d3_0_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337da8589d3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accent1"/>
        </a:solidFill>
        <a:effectLst/>
      </p:bgPr>
    </p:bg>
    <p:spTree>
      <p:nvGrpSpPr>
        <p:cNvPr id="1" name="Shape 13"/>
        <p:cNvGrpSpPr/>
        <p:nvPr/>
      </p:nvGrpSpPr>
      <p:grpSpPr>
        <a:xfrm>
          <a:off x="0" y="0"/>
          <a:ext cx="0" cy="0"/>
          <a:chOff x="0" y="0"/>
          <a:chExt cx="0" cy="0"/>
        </a:xfrm>
      </p:grpSpPr>
      <p:sp>
        <p:nvSpPr>
          <p:cNvPr id="14" name="Google Shape;14;p65" title="scalloped circle"/>
          <p:cNvSpPr/>
          <p:nvPr/>
        </p:nvSpPr>
        <p:spPr>
          <a:xfrm>
            <a:off x="3557016" y="630936"/>
            <a:ext cx="5235575" cy="5229225"/>
          </a:xfrm>
          <a:custGeom>
            <a:avLst/>
            <a:gdLst/>
            <a:ahLst/>
            <a:cxnLst/>
            <a:rect l="l" t="t" r="r" b="b"/>
            <a:pathLst>
              <a:path w="3298" h="3294" extrusionOk="0">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lt2"/>
          </a:solidFill>
          <a:ln>
            <a:noFill/>
          </a:ln>
        </p:spPr>
      </p:sp>
      <p:sp>
        <p:nvSpPr>
          <p:cNvPr id="15" name="Google Shape;15;p65"/>
          <p:cNvSpPr txBox="1">
            <a:spLocks noGrp="1"/>
          </p:cNvSpPr>
          <p:nvPr>
            <p:ph type="ctrTitle"/>
          </p:nvPr>
        </p:nvSpPr>
        <p:spPr>
          <a:xfrm>
            <a:off x="1078523" y="1098388"/>
            <a:ext cx="10318418" cy="4394988"/>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262626"/>
              </a:buClr>
              <a:buSzPts val="10000"/>
              <a:buFont typeface="Impact"/>
              <a:buNone/>
              <a:defRPr sz="10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65"/>
          <p:cNvSpPr txBox="1">
            <a:spLocks noGrp="1"/>
          </p:cNvSpPr>
          <p:nvPr>
            <p:ph type="subTitle" idx="1"/>
          </p:nvPr>
        </p:nvSpPr>
        <p:spPr>
          <a:xfrm>
            <a:off x="2215045" y="5979196"/>
            <a:ext cx="8045373" cy="742279"/>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700"/>
              </a:spcBef>
              <a:spcAft>
                <a:spcPts val="0"/>
              </a:spcAft>
              <a:buSzPts val="2000"/>
              <a:buNone/>
              <a:defRPr sz="2000" b="1" i="0" cap="none">
                <a:solidFill>
                  <a:srgbClr val="262626"/>
                </a:solidFill>
              </a:defRPr>
            </a:lvl1pPr>
            <a:lvl2pPr lvl="1" algn="ctr">
              <a:lnSpc>
                <a:spcPct val="110000"/>
              </a:lnSpc>
              <a:spcBef>
                <a:spcPts val="700"/>
              </a:spcBef>
              <a:spcAft>
                <a:spcPts val="0"/>
              </a:spcAft>
              <a:buSzPts val="2000"/>
              <a:buNone/>
              <a:defRPr sz="2000"/>
            </a:lvl2pPr>
            <a:lvl3pPr lvl="2" algn="ctr">
              <a:lnSpc>
                <a:spcPct val="110000"/>
              </a:lnSpc>
              <a:spcBef>
                <a:spcPts val="700"/>
              </a:spcBef>
              <a:spcAft>
                <a:spcPts val="0"/>
              </a:spcAft>
              <a:buSzPts val="1800"/>
              <a:buNone/>
              <a:defRPr sz="1800"/>
            </a:lvl3pPr>
            <a:lvl4pPr lvl="3" algn="ctr">
              <a:lnSpc>
                <a:spcPct val="110000"/>
              </a:lnSpc>
              <a:spcBef>
                <a:spcPts val="700"/>
              </a:spcBef>
              <a:spcAft>
                <a:spcPts val="0"/>
              </a:spcAft>
              <a:buSzPts val="1600"/>
              <a:buNone/>
              <a:defRPr sz="1600"/>
            </a:lvl4pPr>
            <a:lvl5pPr lvl="4" algn="ctr">
              <a:lnSpc>
                <a:spcPct val="110000"/>
              </a:lnSpc>
              <a:spcBef>
                <a:spcPts val="700"/>
              </a:spcBef>
              <a:spcAft>
                <a:spcPts val="0"/>
              </a:spcAft>
              <a:buSzPts val="1600"/>
              <a:buNone/>
              <a:defRPr sz="1600"/>
            </a:lvl5pPr>
            <a:lvl6pPr lvl="5" algn="ctr">
              <a:lnSpc>
                <a:spcPct val="110000"/>
              </a:lnSpc>
              <a:spcBef>
                <a:spcPts val="700"/>
              </a:spcBef>
              <a:spcAft>
                <a:spcPts val="0"/>
              </a:spcAft>
              <a:buSzPts val="1600"/>
              <a:buNone/>
              <a:defRPr sz="1600"/>
            </a:lvl6pPr>
            <a:lvl7pPr lvl="6" algn="ctr">
              <a:lnSpc>
                <a:spcPct val="110000"/>
              </a:lnSpc>
              <a:spcBef>
                <a:spcPts val="700"/>
              </a:spcBef>
              <a:spcAft>
                <a:spcPts val="0"/>
              </a:spcAft>
              <a:buSzPts val="1600"/>
              <a:buNone/>
              <a:defRPr sz="1600"/>
            </a:lvl7pPr>
            <a:lvl8pPr lvl="7" algn="ctr">
              <a:lnSpc>
                <a:spcPct val="110000"/>
              </a:lnSpc>
              <a:spcBef>
                <a:spcPts val="700"/>
              </a:spcBef>
              <a:spcAft>
                <a:spcPts val="0"/>
              </a:spcAft>
              <a:buSzPts val="1600"/>
              <a:buNone/>
              <a:defRPr sz="1600"/>
            </a:lvl8pPr>
            <a:lvl9pPr lvl="8" algn="ctr">
              <a:lnSpc>
                <a:spcPct val="110000"/>
              </a:lnSpc>
              <a:spcBef>
                <a:spcPts val="700"/>
              </a:spcBef>
              <a:spcAft>
                <a:spcPts val="0"/>
              </a:spcAft>
              <a:buSzPts val="1600"/>
              <a:buNone/>
              <a:defRPr sz="1600"/>
            </a:lvl9pPr>
          </a:lstStyle>
          <a:p>
            <a:endParaRPr/>
          </a:p>
        </p:txBody>
      </p:sp>
      <p:sp>
        <p:nvSpPr>
          <p:cNvPr id="17" name="Google Shape;17;p65"/>
          <p:cNvSpPr txBox="1">
            <a:spLocks noGrp="1"/>
          </p:cNvSpPr>
          <p:nvPr>
            <p:ph type="dt" idx="10"/>
          </p:nvPr>
        </p:nvSpPr>
        <p:spPr>
          <a:xfrm>
            <a:off x="1078523"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65"/>
          <p:cNvSpPr txBox="1">
            <a:spLocks noGrp="1"/>
          </p:cNvSpPr>
          <p:nvPr>
            <p:ph type="ftr" idx="11"/>
          </p:nvPr>
        </p:nvSpPr>
        <p:spPr>
          <a:xfrm>
            <a:off x="4180332"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5"/>
          <p:cNvSpPr txBox="1">
            <a:spLocks noGrp="1"/>
          </p:cNvSpPr>
          <p:nvPr>
            <p:ph type="sldNum" idx="12"/>
          </p:nvPr>
        </p:nvSpPr>
        <p:spPr>
          <a:xfrm>
            <a:off x="9067218" y="6375679"/>
            <a:ext cx="2329723"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65" title="left edge border"/>
          <p:cNvSpPr/>
          <p:nvPr/>
        </p:nvSpPr>
        <p:spPr>
          <a:xfrm>
            <a:off x="0" y="0"/>
            <a:ext cx="283464" cy="68580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66"/>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6"/>
          <p:cNvSpPr txBox="1">
            <a:spLocks noGrp="1"/>
          </p:cNvSpPr>
          <p:nvPr>
            <p:ph type="body" idx="1"/>
          </p:nvPr>
        </p:nvSpPr>
        <p:spPr>
          <a:xfrm>
            <a:off x="1251678" y="2286001"/>
            <a:ext cx="10178322" cy="3593591"/>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24" name="Google Shape;24;p66"/>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6"/>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6"/>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rgbClr val="262626"/>
        </a:solidFill>
        <a:effectLst/>
      </p:bgPr>
    </p:bg>
    <p:spTree>
      <p:nvGrpSpPr>
        <p:cNvPr id="1" name="Shape 27"/>
        <p:cNvGrpSpPr/>
        <p:nvPr/>
      </p:nvGrpSpPr>
      <p:grpSpPr>
        <a:xfrm>
          <a:off x="0" y="0"/>
          <a:ext cx="0" cy="0"/>
          <a:chOff x="0" y="0"/>
          <a:chExt cx="0" cy="0"/>
        </a:xfrm>
      </p:grpSpPr>
      <p:sp>
        <p:nvSpPr>
          <p:cNvPr id="28" name="Google Shape;28;p67"/>
          <p:cNvSpPr txBox="1">
            <a:spLocks noGrp="1"/>
          </p:cNvSpPr>
          <p:nvPr>
            <p:ph type="title"/>
          </p:nvPr>
        </p:nvSpPr>
        <p:spPr>
          <a:xfrm>
            <a:off x="3242929" y="1073888"/>
            <a:ext cx="8187071" cy="406462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8400"/>
              <a:buFont typeface="Impact"/>
              <a:buNone/>
              <a:defRPr sz="84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7"/>
          <p:cNvSpPr txBox="1">
            <a:spLocks noGrp="1"/>
          </p:cNvSpPr>
          <p:nvPr>
            <p:ph type="body" idx="1"/>
          </p:nvPr>
        </p:nvSpPr>
        <p:spPr>
          <a:xfrm>
            <a:off x="3242930" y="5159781"/>
            <a:ext cx="7017488" cy="95113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700"/>
              </a:spcBef>
              <a:spcAft>
                <a:spcPts val="0"/>
              </a:spcAft>
              <a:buSzPts val="2000"/>
              <a:buNone/>
              <a:defRPr sz="2000" b="1" i="0" cap="none">
                <a:solidFill>
                  <a:schemeClr val="accent1"/>
                </a:solidFill>
              </a:defRPr>
            </a:lvl1pPr>
            <a:lvl2pPr marL="914400" lvl="1" indent="-228600" algn="l">
              <a:lnSpc>
                <a:spcPct val="110000"/>
              </a:lnSpc>
              <a:spcBef>
                <a:spcPts val="700"/>
              </a:spcBef>
              <a:spcAft>
                <a:spcPts val="0"/>
              </a:spcAft>
              <a:buSzPts val="2000"/>
              <a:buNone/>
              <a:defRPr sz="2000">
                <a:solidFill>
                  <a:schemeClr val="lt1"/>
                </a:solidFill>
              </a:defRPr>
            </a:lvl2pPr>
            <a:lvl3pPr marL="1371600" lvl="2" indent="-228600" algn="l">
              <a:lnSpc>
                <a:spcPct val="110000"/>
              </a:lnSpc>
              <a:spcBef>
                <a:spcPts val="700"/>
              </a:spcBef>
              <a:spcAft>
                <a:spcPts val="0"/>
              </a:spcAft>
              <a:buSzPts val="1800"/>
              <a:buNone/>
              <a:defRPr sz="1800">
                <a:solidFill>
                  <a:schemeClr val="lt1"/>
                </a:solidFill>
              </a:defRPr>
            </a:lvl3pPr>
            <a:lvl4pPr marL="1828800" lvl="3" indent="-228600" algn="l">
              <a:lnSpc>
                <a:spcPct val="110000"/>
              </a:lnSpc>
              <a:spcBef>
                <a:spcPts val="700"/>
              </a:spcBef>
              <a:spcAft>
                <a:spcPts val="0"/>
              </a:spcAft>
              <a:buSzPts val="1600"/>
              <a:buNone/>
              <a:defRPr sz="1600">
                <a:solidFill>
                  <a:schemeClr val="lt1"/>
                </a:solidFill>
              </a:defRPr>
            </a:lvl4pPr>
            <a:lvl5pPr marL="2286000" lvl="4" indent="-228600" algn="l">
              <a:lnSpc>
                <a:spcPct val="110000"/>
              </a:lnSpc>
              <a:spcBef>
                <a:spcPts val="700"/>
              </a:spcBef>
              <a:spcAft>
                <a:spcPts val="0"/>
              </a:spcAft>
              <a:buSzPts val="1600"/>
              <a:buNone/>
              <a:defRPr sz="1600">
                <a:solidFill>
                  <a:schemeClr val="lt1"/>
                </a:solidFill>
              </a:defRPr>
            </a:lvl5pPr>
            <a:lvl6pPr marL="2743200" lvl="5" indent="-228600" algn="l">
              <a:lnSpc>
                <a:spcPct val="110000"/>
              </a:lnSpc>
              <a:spcBef>
                <a:spcPts val="700"/>
              </a:spcBef>
              <a:spcAft>
                <a:spcPts val="0"/>
              </a:spcAft>
              <a:buSzPts val="1600"/>
              <a:buNone/>
              <a:defRPr sz="1600">
                <a:solidFill>
                  <a:schemeClr val="lt1"/>
                </a:solidFill>
              </a:defRPr>
            </a:lvl6pPr>
            <a:lvl7pPr marL="3200400" lvl="6" indent="-228600" algn="l">
              <a:lnSpc>
                <a:spcPct val="110000"/>
              </a:lnSpc>
              <a:spcBef>
                <a:spcPts val="700"/>
              </a:spcBef>
              <a:spcAft>
                <a:spcPts val="0"/>
              </a:spcAft>
              <a:buSzPts val="1600"/>
              <a:buNone/>
              <a:defRPr sz="1600">
                <a:solidFill>
                  <a:schemeClr val="lt1"/>
                </a:solidFill>
              </a:defRPr>
            </a:lvl7pPr>
            <a:lvl8pPr marL="3657600" lvl="7" indent="-228600" algn="l">
              <a:lnSpc>
                <a:spcPct val="110000"/>
              </a:lnSpc>
              <a:spcBef>
                <a:spcPts val="700"/>
              </a:spcBef>
              <a:spcAft>
                <a:spcPts val="0"/>
              </a:spcAft>
              <a:buSzPts val="1600"/>
              <a:buNone/>
              <a:defRPr sz="1600">
                <a:solidFill>
                  <a:schemeClr val="lt1"/>
                </a:solidFill>
              </a:defRPr>
            </a:lvl8pPr>
            <a:lvl9pPr marL="4114800" lvl="8" indent="-228600" algn="l">
              <a:lnSpc>
                <a:spcPct val="110000"/>
              </a:lnSpc>
              <a:spcBef>
                <a:spcPts val="700"/>
              </a:spcBef>
              <a:spcAft>
                <a:spcPts val="0"/>
              </a:spcAft>
              <a:buSzPts val="1600"/>
              <a:buNone/>
              <a:defRPr sz="1600">
                <a:solidFill>
                  <a:schemeClr val="lt1"/>
                </a:solidFill>
              </a:defRPr>
            </a:lvl9pPr>
          </a:lstStyle>
          <a:p>
            <a:endParaRPr/>
          </a:p>
        </p:txBody>
      </p:sp>
      <p:sp>
        <p:nvSpPr>
          <p:cNvPr id="30" name="Google Shape;30;p67"/>
          <p:cNvSpPr txBox="1">
            <a:spLocks noGrp="1"/>
          </p:cNvSpPr>
          <p:nvPr>
            <p:ph type="dt" idx="10"/>
          </p:nvPr>
        </p:nvSpPr>
        <p:spPr>
          <a:xfrm>
            <a:off x="3236546" y="6375679"/>
            <a:ext cx="1493947"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7"/>
          <p:cNvSpPr txBox="1">
            <a:spLocks noGrp="1"/>
          </p:cNvSpPr>
          <p:nvPr>
            <p:ph type="ftr" idx="11"/>
          </p:nvPr>
        </p:nvSpPr>
        <p:spPr>
          <a:xfrm>
            <a:off x="5279064"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7"/>
          <p:cNvSpPr txBox="1">
            <a:spLocks noGrp="1"/>
          </p:cNvSpPr>
          <p:nvPr>
            <p:ph type="sldNum" idx="12"/>
          </p:nvPr>
        </p:nvSpPr>
        <p:spPr>
          <a:xfrm>
            <a:off x="9942434" y="6375679"/>
            <a:ext cx="1487566"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grpSp>
        <p:nvGrpSpPr>
          <p:cNvPr id="33" name="Google Shape;33;p67" title="left scallop shape"/>
          <p:cNvGrpSpPr/>
          <p:nvPr/>
        </p:nvGrpSpPr>
        <p:grpSpPr>
          <a:xfrm>
            <a:off x="0" y="0"/>
            <a:ext cx="2814638" cy="6858000"/>
            <a:chOff x="0" y="0"/>
            <a:chExt cx="2814638" cy="6858000"/>
          </a:xfrm>
        </p:grpSpPr>
        <p:sp>
          <p:nvSpPr>
            <p:cNvPr id="34" name="Google Shape;34;p67" title="left scallop shape"/>
            <p:cNvSpPr/>
            <p:nvPr/>
          </p:nvSpPr>
          <p:spPr>
            <a:xfrm>
              <a:off x="0" y="0"/>
              <a:ext cx="2814638" cy="6858000"/>
            </a:xfrm>
            <a:custGeom>
              <a:avLst/>
              <a:gdLst/>
              <a:ahLst/>
              <a:cxnLst/>
              <a:rect l="l" t="t" r="r" b="b"/>
              <a:pathLst>
                <a:path w="1773" h="4320" extrusionOk="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lt2"/>
            </a:solidFill>
            <a:ln>
              <a:noFill/>
            </a:ln>
          </p:spPr>
        </p:sp>
        <p:sp>
          <p:nvSpPr>
            <p:cNvPr id="35" name="Google Shape;35;p67" title="left scallop inline"/>
            <p:cNvSpPr/>
            <p:nvPr/>
          </p:nvSpPr>
          <p:spPr>
            <a:xfrm>
              <a:off x="874382" y="0"/>
              <a:ext cx="1646238" cy="6858000"/>
            </a:xfrm>
            <a:custGeom>
              <a:avLst/>
              <a:gdLst/>
              <a:ahLst/>
              <a:cxnLst/>
              <a:rect l="l" t="t" r="r" b="b"/>
              <a:pathLst>
                <a:path w="1037" h="4320" extrusionOk="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a:noFill/>
            </a:ln>
          </p:spPr>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68"/>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8"/>
          <p:cNvSpPr txBox="1">
            <a:spLocks noGrp="1"/>
          </p:cNvSpPr>
          <p:nvPr>
            <p:ph type="body" idx="1"/>
          </p:nvPr>
        </p:nvSpPr>
        <p:spPr>
          <a:xfrm>
            <a:off x="1257300" y="2286000"/>
            <a:ext cx="4800600" cy="36195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39" name="Google Shape;39;p68"/>
          <p:cNvSpPr txBox="1">
            <a:spLocks noGrp="1"/>
          </p:cNvSpPr>
          <p:nvPr>
            <p:ph type="body" idx="2"/>
          </p:nvPr>
        </p:nvSpPr>
        <p:spPr>
          <a:xfrm>
            <a:off x="6647796" y="2286000"/>
            <a:ext cx="4800600" cy="36195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0" name="Google Shape;40;p68"/>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8"/>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8"/>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69"/>
          <p:cNvSpPr txBox="1">
            <a:spLocks noGrp="1"/>
          </p:cNvSpPr>
          <p:nvPr>
            <p:ph type="title"/>
          </p:nvPr>
        </p:nvSpPr>
        <p:spPr>
          <a:xfrm>
            <a:off x="1252728" y="381000"/>
            <a:ext cx="10172700" cy="149351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9"/>
          <p:cNvSpPr txBox="1">
            <a:spLocks noGrp="1"/>
          </p:cNvSpPr>
          <p:nvPr>
            <p:ph type="body" idx="1"/>
          </p:nvPr>
        </p:nvSpPr>
        <p:spPr>
          <a:xfrm>
            <a:off x="1251678" y="2199633"/>
            <a:ext cx="4800600" cy="632529"/>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700"/>
              </a:spcBef>
              <a:spcAft>
                <a:spcPts val="0"/>
              </a:spcAft>
              <a:buSzPts val="1900"/>
              <a:buNone/>
              <a:defRPr sz="1900" b="1" cap="none">
                <a:solidFill>
                  <a:srgbClr val="262626"/>
                </a:solidFill>
              </a:defRPr>
            </a:lvl1pPr>
            <a:lvl2pPr marL="914400" lvl="1" indent="-228600" algn="l">
              <a:lnSpc>
                <a:spcPct val="110000"/>
              </a:lnSpc>
              <a:spcBef>
                <a:spcPts val="700"/>
              </a:spcBef>
              <a:spcAft>
                <a:spcPts val="0"/>
              </a:spcAft>
              <a:buSzPts val="1900"/>
              <a:buNone/>
              <a:defRPr sz="1900" b="1"/>
            </a:lvl2pPr>
            <a:lvl3pPr marL="1371600" lvl="2" indent="-228600" algn="l">
              <a:lnSpc>
                <a:spcPct val="110000"/>
              </a:lnSpc>
              <a:spcBef>
                <a:spcPts val="700"/>
              </a:spcBef>
              <a:spcAft>
                <a:spcPts val="0"/>
              </a:spcAft>
              <a:buSzPts val="1800"/>
              <a:buNone/>
              <a:defRPr sz="1800" b="1"/>
            </a:lvl3pPr>
            <a:lvl4pPr marL="1828800" lvl="3" indent="-228600" algn="l">
              <a:lnSpc>
                <a:spcPct val="110000"/>
              </a:lnSpc>
              <a:spcBef>
                <a:spcPts val="700"/>
              </a:spcBef>
              <a:spcAft>
                <a:spcPts val="0"/>
              </a:spcAft>
              <a:buSzPts val="1600"/>
              <a:buNone/>
              <a:defRPr sz="1600" b="1"/>
            </a:lvl4pPr>
            <a:lvl5pPr marL="2286000" lvl="4" indent="-228600" algn="l">
              <a:lnSpc>
                <a:spcPct val="110000"/>
              </a:lnSpc>
              <a:spcBef>
                <a:spcPts val="700"/>
              </a:spcBef>
              <a:spcAft>
                <a:spcPts val="0"/>
              </a:spcAft>
              <a:buSzPts val="1600"/>
              <a:buNone/>
              <a:defRPr sz="1600" b="1"/>
            </a:lvl5pPr>
            <a:lvl6pPr marL="2743200" lvl="5" indent="-228600" algn="l">
              <a:lnSpc>
                <a:spcPct val="110000"/>
              </a:lnSpc>
              <a:spcBef>
                <a:spcPts val="700"/>
              </a:spcBef>
              <a:spcAft>
                <a:spcPts val="0"/>
              </a:spcAft>
              <a:buSzPts val="1600"/>
              <a:buNone/>
              <a:defRPr sz="1600" b="1"/>
            </a:lvl6pPr>
            <a:lvl7pPr marL="3200400" lvl="6" indent="-228600" algn="l">
              <a:lnSpc>
                <a:spcPct val="110000"/>
              </a:lnSpc>
              <a:spcBef>
                <a:spcPts val="700"/>
              </a:spcBef>
              <a:spcAft>
                <a:spcPts val="0"/>
              </a:spcAft>
              <a:buSzPts val="1600"/>
              <a:buNone/>
              <a:defRPr sz="1600" b="1"/>
            </a:lvl7pPr>
            <a:lvl8pPr marL="3657600" lvl="7" indent="-228600" algn="l">
              <a:lnSpc>
                <a:spcPct val="110000"/>
              </a:lnSpc>
              <a:spcBef>
                <a:spcPts val="700"/>
              </a:spcBef>
              <a:spcAft>
                <a:spcPts val="0"/>
              </a:spcAft>
              <a:buSzPts val="1600"/>
              <a:buNone/>
              <a:defRPr sz="1600" b="1"/>
            </a:lvl8pPr>
            <a:lvl9pPr marL="4114800" lvl="8" indent="-228600" algn="l">
              <a:lnSpc>
                <a:spcPct val="110000"/>
              </a:lnSpc>
              <a:spcBef>
                <a:spcPts val="700"/>
              </a:spcBef>
              <a:spcAft>
                <a:spcPts val="0"/>
              </a:spcAft>
              <a:buSzPts val="1600"/>
              <a:buNone/>
              <a:defRPr sz="1600" b="1"/>
            </a:lvl9pPr>
          </a:lstStyle>
          <a:p>
            <a:endParaRPr/>
          </a:p>
        </p:txBody>
      </p:sp>
      <p:sp>
        <p:nvSpPr>
          <p:cNvPr id="46" name="Google Shape;46;p69"/>
          <p:cNvSpPr txBox="1">
            <a:spLocks noGrp="1"/>
          </p:cNvSpPr>
          <p:nvPr>
            <p:ph type="body" idx="2"/>
          </p:nvPr>
        </p:nvSpPr>
        <p:spPr>
          <a:xfrm>
            <a:off x="1257300" y="2909102"/>
            <a:ext cx="4800600" cy="299639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7" name="Google Shape;47;p69"/>
          <p:cNvSpPr txBox="1">
            <a:spLocks noGrp="1"/>
          </p:cNvSpPr>
          <p:nvPr>
            <p:ph type="body" idx="3"/>
          </p:nvPr>
        </p:nvSpPr>
        <p:spPr>
          <a:xfrm>
            <a:off x="6633864" y="2199633"/>
            <a:ext cx="4800600" cy="632529"/>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700"/>
              </a:spcBef>
              <a:spcAft>
                <a:spcPts val="0"/>
              </a:spcAft>
              <a:buSzPts val="1900"/>
              <a:buNone/>
              <a:defRPr sz="1900" b="1" cap="none">
                <a:solidFill>
                  <a:srgbClr val="262626"/>
                </a:solidFill>
              </a:defRPr>
            </a:lvl1pPr>
            <a:lvl2pPr marL="914400" lvl="1" indent="-228600" algn="l">
              <a:lnSpc>
                <a:spcPct val="110000"/>
              </a:lnSpc>
              <a:spcBef>
                <a:spcPts val="700"/>
              </a:spcBef>
              <a:spcAft>
                <a:spcPts val="0"/>
              </a:spcAft>
              <a:buSzPts val="1900"/>
              <a:buNone/>
              <a:defRPr sz="1900" b="1"/>
            </a:lvl2pPr>
            <a:lvl3pPr marL="1371600" lvl="2" indent="-228600" algn="l">
              <a:lnSpc>
                <a:spcPct val="110000"/>
              </a:lnSpc>
              <a:spcBef>
                <a:spcPts val="700"/>
              </a:spcBef>
              <a:spcAft>
                <a:spcPts val="0"/>
              </a:spcAft>
              <a:buSzPts val="1800"/>
              <a:buNone/>
              <a:defRPr sz="1800" b="1"/>
            </a:lvl3pPr>
            <a:lvl4pPr marL="1828800" lvl="3" indent="-228600" algn="l">
              <a:lnSpc>
                <a:spcPct val="110000"/>
              </a:lnSpc>
              <a:spcBef>
                <a:spcPts val="700"/>
              </a:spcBef>
              <a:spcAft>
                <a:spcPts val="0"/>
              </a:spcAft>
              <a:buSzPts val="1600"/>
              <a:buNone/>
              <a:defRPr sz="1600" b="1"/>
            </a:lvl4pPr>
            <a:lvl5pPr marL="2286000" lvl="4" indent="-228600" algn="l">
              <a:lnSpc>
                <a:spcPct val="110000"/>
              </a:lnSpc>
              <a:spcBef>
                <a:spcPts val="700"/>
              </a:spcBef>
              <a:spcAft>
                <a:spcPts val="0"/>
              </a:spcAft>
              <a:buSzPts val="1600"/>
              <a:buNone/>
              <a:defRPr sz="1600" b="1"/>
            </a:lvl5pPr>
            <a:lvl6pPr marL="2743200" lvl="5" indent="-228600" algn="l">
              <a:lnSpc>
                <a:spcPct val="110000"/>
              </a:lnSpc>
              <a:spcBef>
                <a:spcPts val="700"/>
              </a:spcBef>
              <a:spcAft>
                <a:spcPts val="0"/>
              </a:spcAft>
              <a:buSzPts val="1600"/>
              <a:buNone/>
              <a:defRPr sz="1600" b="1"/>
            </a:lvl6pPr>
            <a:lvl7pPr marL="3200400" lvl="6" indent="-228600" algn="l">
              <a:lnSpc>
                <a:spcPct val="110000"/>
              </a:lnSpc>
              <a:spcBef>
                <a:spcPts val="700"/>
              </a:spcBef>
              <a:spcAft>
                <a:spcPts val="0"/>
              </a:spcAft>
              <a:buSzPts val="1600"/>
              <a:buNone/>
              <a:defRPr sz="1600" b="1"/>
            </a:lvl7pPr>
            <a:lvl8pPr marL="3657600" lvl="7" indent="-228600" algn="l">
              <a:lnSpc>
                <a:spcPct val="110000"/>
              </a:lnSpc>
              <a:spcBef>
                <a:spcPts val="700"/>
              </a:spcBef>
              <a:spcAft>
                <a:spcPts val="0"/>
              </a:spcAft>
              <a:buSzPts val="1600"/>
              <a:buNone/>
              <a:defRPr sz="1600" b="1"/>
            </a:lvl8pPr>
            <a:lvl9pPr marL="4114800" lvl="8" indent="-228600" algn="l">
              <a:lnSpc>
                <a:spcPct val="110000"/>
              </a:lnSpc>
              <a:spcBef>
                <a:spcPts val="700"/>
              </a:spcBef>
              <a:spcAft>
                <a:spcPts val="0"/>
              </a:spcAft>
              <a:buSzPts val="1600"/>
              <a:buNone/>
              <a:defRPr sz="1600" b="1"/>
            </a:lvl9pPr>
          </a:lstStyle>
          <a:p>
            <a:endParaRPr/>
          </a:p>
        </p:txBody>
      </p:sp>
      <p:sp>
        <p:nvSpPr>
          <p:cNvPr id="48" name="Google Shape;48;p69"/>
          <p:cNvSpPr txBox="1">
            <a:spLocks noGrp="1"/>
          </p:cNvSpPr>
          <p:nvPr>
            <p:ph type="body" idx="4"/>
          </p:nvPr>
        </p:nvSpPr>
        <p:spPr>
          <a:xfrm>
            <a:off x="6633864" y="2909102"/>
            <a:ext cx="4800600" cy="299639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49" name="Google Shape;49;p69"/>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69"/>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9"/>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70"/>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0"/>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0"/>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0"/>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71"/>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1"/>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71"/>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1"/>
        <p:cNvGrpSpPr/>
        <p:nvPr/>
      </p:nvGrpSpPr>
      <p:grpSpPr>
        <a:xfrm>
          <a:off x="0" y="0"/>
          <a:ext cx="0" cy="0"/>
          <a:chOff x="0" y="0"/>
          <a:chExt cx="0" cy="0"/>
        </a:xfrm>
      </p:grpSpPr>
      <p:sp>
        <p:nvSpPr>
          <p:cNvPr id="62" name="Google Shape;62;p72" title="right scallop background shape"/>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rgbClr val="262626"/>
          </a:solidFill>
          <a:ln>
            <a:noFill/>
          </a:ln>
        </p:spPr>
      </p:sp>
      <p:sp>
        <p:nvSpPr>
          <p:cNvPr id="63" name="Google Shape;63;p72"/>
          <p:cNvSpPr txBox="1">
            <a:spLocks noGrp="1"/>
          </p:cNvSpPr>
          <p:nvPr>
            <p:ph type="title"/>
          </p:nvPr>
        </p:nvSpPr>
        <p:spPr>
          <a:xfrm>
            <a:off x="8337884" y="457199"/>
            <a:ext cx="3092115" cy="1196671"/>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1900"/>
              <a:buFont typeface="Gill Sans"/>
              <a:buNone/>
              <a:defRPr sz="1900" b="1" i="0" cap="none">
                <a:solidFill>
                  <a:schemeClr val="accen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72"/>
          <p:cNvSpPr txBox="1">
            <a:spLocks noGrp="1"/>
          </p:cNvSpPr>
          <p:nvPr>
            <p:ph type="body" idx="1"/>
          </p:nvPr>
        </p:nvSpPr>
        <p:spPr>
          <a:xfrm>
            <a:off x="765051" y="920377"/>
            <a:ext cx="6158418" cy="4985124"/>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700"/>
              </a:spcBef>
              <a:spcAft>
                <a:spcPts val="0"/>
              </a:spcAft>
              <a:buSzPts val="3200"/>
              <a:buChar char="•"/>
              <a:defRPr sz="3200"/>
            </a:lvl1pPr>
            <a:lvl2pPr marL="914400" lvl="1" indent="-406400" algn="l">
              <a:lnSpc>
                <a:spcPct val="110000"/>
              </a:lnSpc>
              <a:spcBef>
                <a:spcPts val="700"/>
              </a:spcBef>
              <a:spcAft>
                <a:spcPts val="0"/>
              </a:spcAft>
              <a:buSzPts val="2800"/>
              <a:buChar char="–"/>
              <a:defRPr sz="2800"/>
            </a:lvl2pPr>
            <a:lvl3pPr marL="1371600" lvl="2" indent="-381000" algn="l">
              <a:lnSpc>
                <a:spcPct val="110000"/>
              </a:lnSpc>
              <a:spcBef>
                <a:spcPts val="700"/>
              </a:spcBef>
              <a:spcAft>
                <a:spcPts val="0"/>
              </a:spcAft>
              <a:buSzPts val="2400"/>
              <a:buChar char="•"/>
              <a:defRPr sz="2400"/>
            </a:lvl3pPr>
            <a:lvl4pPr marL="1828800" lvl="3" indent="-355600" algn="l">
              <a:lnSpc>
                <a:spcPct val="110000"/>
              </a:lnSpc>
              <a:spcBef>
                <a:spcPts val="700"/>
              </a:spcBef>
              <a:spcAft>
                <a:spcPts val="0"/>
              </a:spcAft>
              <a:buSzPts val="2000"/>
              <a:buChar char="–"/>
              <a:defRPr sz="2000"/>
            </a:lvl4pPr>
            <a:lvl5pPr marL="2286000" lvl="4" indent="-355600" algn="l">
              <a:lnSpc>
                <a:spcPct val="110000"/>
              </a:lnSpc>
              <a:spcBef>
                <a:spcPts val="700"/>
              </a:spcBef>
              <a:spcAft>
                <a:spcPts val="0"/>
              </a:spcAft>
              <a:buSzPts val="2000"/>
              <a:buChar char="•"/>
              <a:defRPr sz="2000"/>
            </a:lvl5pPr>
            <a:lvl6pPr marL="2743200" lvl="5" indent="-355600" algn="l">
              <a:lnSpc>
                <a:spcPct val="110000"/>
              </a:lnSpc>
              <a:spcBef>
                <a:spcPts val="700"/>
              </a:spcBef>
              <a:spcAft>
                <a:spcPts val="0"/>
              </a:spcAft>
              <a:buSzPts val="2000"/>
              <a:buChar char="–"/>
              <a:defRPr sz="2000"/>
            </a:lvl6pPr>
            <a:lvl7pPr marL="3200400" lvl="6" indent="-355600" algn="l">
              <a:lnSpc>
                <a:spcPct val="110000"/>
              </a:lnSpc>
              <a:spcBef>
                <a:spcPts val="700"/>
              </a:spcBef>
              <a:spcAft>
                <a:spcPts val="0"/>
              </a:spcAft>
              <a:buSzPts val="2000"/>
              <a:buChar char="•"/>
              <a:defRPr sz="2000"/>
            </a:lvl7pPr>
            <a:lvl8pPr marL="3657600" lvl="7" indent="-355600" algn="l">
              <a:lnSpc>
                <a:spcPct val="110000"/>
              </a:lnSpc>
              <a:spcBef>
                <a:spcPts val="700"/>
              </a:spcBef>
              <a:spcAft>
                <a:spcPts val="0"/>
              </a:spcAft>
              <a:buSzPts val="2000"/>
              <a:buChar char="–"/>
              <a:defRPr sz="2000"/>
            </a:lvl8pPr>
            <a:lvl9pPr marL="4114800" lvl="8" indent="-355600" algn="l">
              <a:lnSpc>
                <a:spcPct val="110000"/>
              </a:lnSpc>
              <a:spcBef>
                <a:spcPts val="700"/>
              </a:spcBef>
              <a:spcAft>
                <a:spcPts val="0"/>
              </a:spcAft>
              <a:buSzPts val="2000"/>
              <a:buChar char="•"/>
              <a:defRPr sz="2000"/>
            </a:lvl9pPr>
          </a:lstStyle>
          <a:p>
            <a:endParaRPr/>
          </a:p>
        </p:txBody>
      </p:sp>
      <p:sp>
        <p:nvSpPr>
          <p:cNvPr id="65" name="Google Shape;65;p72"/>
          <p:cNvSpPr txBox="1">
            <a:spLocks noGrp="1"/>
          </p:cNvSpPr>
          <p:nvPr>
            <p:ph type="body" idx="2"/>
          </p:nvPr>
        </p:nvSpPr>
        <p:spPr>
          <a:xfrm>
            <a:off x="8337885" y="1741336"/>
            <a:ext cx="3092115" cy="416416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200"/>
              </a:spcBef>
              <a:spcAft>
                <a:spcPts val="0"/>
              </a:spcAft>
              <a:buSzPts val="1600"/>
              <a:buNone/>
              <a:defRPr sz="1600">
                <a:solidFill>
                  <a:schemeClr val="lt2"/>
                </a:solidFill>
              </a:defRPr>
            </a:lvl1pPr>
            <a:lvl2pPr marL="914400" lvl="1" indent="-228600" algn="l">
              <a:lnSpc>
                <a:spcPct val="110000"/>
              </a:lnSpc>
              <a:spcBef>
                <a:spcPts val="700"/>
              </a:spcBef>
              <a:spcAft>
                <a:spcPts val="0"/>
              </a:spcAft>
              <a:buSzPts val="1400"/>
              <a:buNone/>
              <a:defRPr sz="1400"/>
            </a:lvl2pPr>
            <a:lvl3pPr marL="1371600" lvl="2" indent="-228600" algn="l">
              <a:lnSpc>
                <a:spcPct val="110000"/>
              </a:lnSpc>
              <a:spcBef>
                <a:spcPts val="700"/>
              </a:spcBef>
              <a:spcAft>
                <a:spcPts val="0"/>
              </a:spcAft>
              <a:buSzPts val="1200"/>
              <a:buNone/>
              <a:defRPr sz="1200"/>
            </a:lvl3pPr>
            <a:lvl4pPr marL="1828800" lvl="3" indent="-228600" algn="l">
              <a:lnSpc>
                <a:spcPct val="110000"/>
              </a:lnSpc>
              <a:spcBef>
                <a:spcPts val="700"/>
              </a:spcBef>
              <a:spcAft>
                <a:spcPts val="0"/>
              </a:spcAft>
              <a:buSzPts val="1000"/>
              <a:buNone/>
              <a:defRPr sz="1000"/>
            </a:lvl4pPr>
            <a:lvl5pPr marL="2286000" lvl="4" indent="-228600" algn="l">
              <a:lnSpc>
                <a:spcPct val="110000"/>
              </a:lnSpc>
              <a:spcBef>
                <a:spcPts val="700"/>
              </a:spcBef>
              <a:spcAft>
                <a:spcPts val="0"/>
              </a:spcAft>
              <a:buSzPts val="1000"/>
              <a:buNone/>
              <a:defRPr sz="1000"/>
            </a:lvl5pPr>
            <a:lvl6pPr marL="2743200" lvl="5" indent="-228600" algn="l">
              <a:lnSpc>
                <a:spcPct val="110000"/>
              </a:lnSpc>
              <a:spcBef>
                <a:spcPts val="700"/>
              </a:spcBef>
              <a:spcAft>
                <a:spcPts val="0"/>
              </a:spcAft>
              <a:buSzPts val="1000"/>
              <a:buNone/>
              <a:defRPr sz="1000"/>
            </a:lvl6pPr>
            <a:lvl7pPr marL="3200400" lvl="6" indent="-228600" algn="l">
              <a:lnSpc>
                <a:spcPct val="110000"/>
              </a:lnSpc>
              <a:spcBef>
                <a:spcPts val="700"/>
              </a:spcBef>
              <a:spcAft>
                <a:spcPts val="0"/>
              </a:spcAft>
              <a:buSzPts val="1000"/>
              <a:buNone/>
              <a:defRPr sz="1000"/>
            </a:lvl7pPr>
            <a:lvl8pPr marL="3657600" lvl="7" indent="-228600" algn="l">
              <a:lnSpc>
                <a:spcPct val="110000"/>
              </a:lnSpc>
              <a:spcBef>
                <a:spcPts val="700"/>
              </a:spcBef>
              <a:spcAft>
                <a:spcPts val="0"/>
              </a:spcAft>
              <a:buSzPts val="1000"/>
              <a:buNone/>
              <a:defRPr sz="1000"/>
            </a:lvl8pPr>
            <a:lvl9pPr marL="4114800" lvl="8" indent="-228600" algn="l">
              <a:lnSpc>
                <a:spcPct val="110000"/>
              </a:lnSpc>
              <a:spcBef>
                <a:spcPts val="700"/>
              </a:spcBef>
              <a:spcAft>
                <a:spcPts val="0"/>
              </a:spcAft>
              <a:buSzPts val="1000"/>
              <a:buNone/>
              <a:defRPr sz="1000"/>
            </a:lvl9pPr>
          </a:lstStyle>
          <a:p>
            <a:endParaRPr/>
          </a:p>
        </p:txBody>
      </p:sp>
      <p:sp>
        <p:nvSpPr>
          <p:cNvPr id="66" name="Google Shape;66;p72"/>
          <p:cNvSpPr txBox="1">
            <a:spLocks noGrp="1"/>
          </p:cNvSpPr>
          <p:nvPr>
            <p:ph type="dt" idx="10"/>
          </p:nvPr>
        </p:nvSpPr>
        <p:spPr>
          <a:xfrm>
            <a:off x="765051" y="6375679"/>
            <a:ext cx="1233355"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72"/>
          <p:cNvSpPr txBox="1">
            <a:spLocks noGrp="1"/>
          </p:cNvSpPr>
          <p:nvPr>
            <p:ph type="ftr" idx="11"/>
          </p:nvPr>
        </p:nvSpPr>
        <p:spPr>
          <a:xfrm>
            <a:off x="2103620" y="6375679"/>
            <a:ext cx="3482179"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72"/>
          <p:cNvSpPr txBox="1">
            <a:spLocks noGrp="1"/>
          </p:cNvSpPr>
          <p:nvPr>
            <p:ph type="sldNum" idx="12"/>
          </p:nvPr>
        </p:nvSpPr>
        <p:spPr>
          <a:xfrm>
            <a:off x="5691014" y="6375679"/>
            <a:ext cx="1232456"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69" name="Google Shape;69;p72" title="left edge border"/>
          <p:cNvSpPr/>
          <p:nvPr/>
        </p:nvSpPr>
        <p:spPr>
          <a:xfrm>
            <a:off x="0"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extLst>
    <p:ext uri="{DCECCB84-F9BA-43D5-87BE-67443E8EF086}">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0"/>
        <p:cNvGrpSpPr/>
        <p:nvPr/>
      </p:nvGrpSpPr>
      <p:grpSpPr>
        <a:xfrm>
          <a:off x="0" y="0"/>
          <a:ext cx="0" cy="0"/>
          <a:chOff x="0" y="0"/>
          <a:chExt cx="0" cy="0"/>
        </a:xfrm>
      </p:grpSpPr>
      <p:sp>
        <p:nvSpPr>
          <p:cNvPr id="71" name="Google Shape;71;p73"/>
          <p:cNvSpPr>
            <a:spLocks noGrp="1"/>
          </p:cNvSpPr>
          <p:nvPr>
            <p:ph type="pic" idx="2"/>
          </p:nvPr>
        </p:nvSpPr>
        <p:spPr>
          <a:xfrm>
            <a:off x="283464" y="0"/>
            <a:ext cx="7355585" cy="6857999"/>
          </a:xfrm>
          <a:prstGeom prst="rect">
            <a:avLst/>
          </a:prstGeom>
          <a:noFill/>
          <a:ln>
            <a:noFill/>
          </a:ln>
        </p:spPr>
      </p:sp>
      <p:sp>
        <p:nvSpPr>
          <p:cNvPr id="72" name="Google Shape;72;p73" title="right scallop background shape"/>
          <p:cNvSpPr/>
          <p:nvPr/>
        </p:nvSpPr>
        <p:spPr>
          <a:xfrm>
            <a:off x="7389812" y="0"/>
            <a:ext cx="4802188" cy="6858000"/>
          </a:xfrm>
          <a:custGeom>
            <a:avLst/>
            <a:gdLst/>
            <a:ahLst/>
            <a:cxnLst/>
            <a:rect l="l" t="t" r="r" b="b"/>
            <a:pathLst>
              <a:path w="3025" h="4320" extrusionOk="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rgbClr val="262626"/>
          </a:solidFill>
          <a:ln>
            <a:noFill/>
          </a:ln>
        </p:spPr>
      </p:sp>
      <p:sp>
        <p:nvSpPr>
          <p:cNvPr id="73" name="Google Shape;73;p73" title="left edge border"/>
          <p:cNvSpPr/>
          <p:nvPr/>
        </p:nvSpPr>
        <p:spPr>
          <a:xfrm>
            <a:off x="0"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73"/>
          <p:cNvSpPr txBox="1">
            <a:spLocks noGrp="1"/>
          </p:cNvSpPr>
          <p:nvPr>
            <p:ph type="title"/>
          </p:nvPr>
        </p:nvSpPr>
        <p:spPr>
          <a:xfrm>
            <a:off x="8337883" y="457200"/>
            <a:ext cx="3092117" cy="119667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1900"/>
              <a:buFont typeface="Gill Sans"/>
              <a:buNone/>
              <a:defRPr sz="1900" b="1" i="0">
                <a:solidFill>
                  <a:schemeClr val="accent1"/>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73"/>
          <p:cNvSpPr txBox="1">
            <a:spLocks noGrp="1"/>
          </p:cNvSpPr>
          <p:nvPr>
            <p:ph type="body" idx="1"/>
          </p:nvPr>
        </p:nvSpPr>
        <p:spPr>
          <a:xfrm>
            <a:off x="8337883" y="1741336"/>
            <a:ext cx="3092117" cy="4164164"/>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200"/>
              </a:spcBef>
              <a:spcAft>
                <a:spcPts val="0"/>
              </a:spcAft>
              <a:buSzPts val="1600"/>
              <a:buNone/>
              <a:defRPr sz="1600">
                <a:solidFill>
                  <a:schemeClr val="lt2"/>
                </a:solidFill>
              </a:defRPr>
            </a:lvl1pPr>
            <a:lvl2pPr marL="914400" lvl="1" indent="-228600" algn="l">
              <a:lnSpc>
                <a:spcPct val="110000"/>
              </a:lnSpc>
              <a:spcBef>
                <a:spcPts val="700"/>
              </a:spcBef>
              <a:spcAft>
                <a:spcPts val="0"/>
              </a:spcAft>
              <a:buSzPts val="1400"/>
              <a:buNone/>
              <a:defRPr sz="1400"/>
            </a:lvl2pPr>
            <a:lvl3pPr marL="1371600" lvl="2" indent="-228600" algn="l">
              <a:lnSpc>
                <a:spcPct val="110000"/>
              </a:lnSpc>
              <a:spcBef>
                <a:spcPts val="700"/>
              </a:spcBef>
              <a:spcAft>
                <a:spcPts val="0"/>
              </a:spcAft>
              <a:buSzPts val="1200"/>
              <a:buNone/>
              <a:defRPr sz="1200"/>
            </a:lvl3pPr>
            <a:lvl4pPr marL="1828800" lvl="3" indent="-228600" algn="l">
              <a:lnSpc>
                <a:spcPct val="110000"/>
              </a:lnSpc>
              <a:spcBef>
                <a:spcPts val="700"/>
              </a:spcBef>
              <a:spcAft>
                <a:spcPts val="0"/>
              </a:spcAft>
              <a:buSzPts val="1000"/>
              <a:buNone/>
              <a:defRPr sz="1000"/>
            </a:lvl4pPr>
            <a:lvl5pPr marL="2286000" lvl="4" indent="-228600" algn="l">
              <a:lnSpc>
                <a:spcPct val="110000"/>
              </a:lnSpc>
              <a:spcBef>
                <a:spcPts val="700"/>
              </a:spcBef>
              <a:spcAft>
                <a:spcPts val="0"/>
              </a:spcAft>
              <a:buSzPts val="1000"/>
              <a:buNone/>
              <a:defRPr sz="1000"/>
            </a:lvl5pPr>
            <a:lvl6pPr marL="2743200" lvl="5" indent="-228600" algn="l">
              <a:lnSpc>
                <a:spcPct val="110000"/>
              </a:lnSpc>
              <a:spcBef>
                <a:spcPts val="700"/>
              </a:spcBef>
              <a:spcAft>
                <a:spcPts val="0"/>
              </a:spcAft>
              <a:buSzPts val="1000"/>
              <a:buNone/>
              <a:defRPr sz="1000"/>
            </a:lvl6pPr>
            <a:lvl7pPr marL="3200400" lvl="6" indent="-228600" algn="l">
              <a:lnSpc>
                <a:spcPct val="110000"/>
              </a:lnSpc>
              <a:spcBef>
                <a:spcPts val="700"/>
              </a:spcBef>
              <a:spcAft>
                <a:spcPts val="0"/>
              </a:spcAft>
              <a:buSzPts val="1000"/>
              <a:buNone/>
              <a:defRPr sz="1000"/>
            </a:lvl7pPr>
            <a:lvl8pPr marL="3657600" lvl="7" indent="-228600" algn="l">
              <a:lnSpc>
                <a:spcPct val="110000"/>
              </a:lnSpc>
              <a:spcBef>
                <a:spcPts val="700"/>
              </a:spcBef>
              <a:spcAft>
                <a:spcPts val="0"/>
              </a:spcAft>
              <a:buSzPts val="1000"/>
              <a:buNone/>
              <a:defRPr sz="1000"/>
            </a:lvl8pPr>
            <a:lvl9pPr marL="4114800" lvl="8" indent="-228600" algn="l">
              <a:lnSpc>
                <a:spcPct val="110000"/>
              </a:lnSpc>
              <a:spcBef>
                <a:spcPts val="700"/>
              </a:spcBef>
              <a:spcAft>
                <a:spcPts val="0"/>
              </a:spcAft>
              <a:buSzPts val="1000"/>
              <a:buNone/>
              <a:defRPr sz="1000"/>
            </a:lvl9pPr>
          </a:lstStyle>
          <a:p>
            <a:endParaRPr/>
          </a:p>
        </p:txBody>
      </p:sp>
      <p:sp>
        <p:nvSpPr>
          <p:cNvPr id="76" name="Google Shape;76;p73"/>
          <p:cNvSpPr txBox="1">
            <a:spLocks noGrp="1"/>
          </p:cNvSpPr>
          <p:nvPr>
            <p:ph type="dt" idx="10"/>
          </p:nvPr>
        </p:nvSpPr>
        <p:spPr>
          <a:xfrm>
            <a:off x="765950" y="6375679"/>
            <a:ext cx="1232456"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73"/>
          <p:cNvSpPr txBox="1">
            <a:spLocks noGrp="1"/>
          </p:cNvSpPr>
          <p:nvPr>
            <p:ph type="ftr" idx="11"/>
          </p:nvPr>
        </p:nvSpPr>
        <p:spPr>
          <a:xfrm>
            <a:off x="2103621" y="6375679"/>
            <a:ext cx="3482178"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73"/>
          <p:cNvSpPr txBox="1">
            <a:spLocks noGrp="1"/>
          </p:cNvSpPr>
          <p:nvPr>
            <p:ph type="sldNum" idx="12"/>
          </p:nvPr>
        </p:nvSpPr>
        <p:spPr>
          <a:xfrm>
            <a:off x="5687568" y="6375679"/>
            <a:ext cx="1234440"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9"/>
        <p:cNvGrpSpPr/>
        <p:nvPr/>
      </p:nvGrpSpPr>
      <p:grpSpPr>
        <a:xfrm>
          <a:off x="0" y="0"/>
          <a:ext cx="0" cy="0"/>
          <a:chOff x="0" y="0"/>
          <a:chExt cx="0" cy="0"/>
        </a:xfrm>
      </p:grpSpPr>
      <p:sp>
        <p:nvSpPr>
          <p:cNvPr id="80" name="Google Shape;80;p74"/>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74"/>
          <p:cNvSpPr txBox="1">
            <a:spLocks noGrp="1"/>
          </p:cNvSpPr>
          <p:nvPr>
            <p:ph type="body" idx="1"/>
          </p:nvPr>
        </p:nvSpPr>
        <p:spPr>
          <a:xfrm rot="5400000">
            <a:off x="4544043" y="-1006365"/>
            <a:ext cx="3593591" cy="10178322"/>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82" name="Google Shape;82;p74"/>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74"/>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74"/>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5"/>
        <p:cNvGrpSpPr/>
        <p:nvPr/>
      </p:nvGrpSpPr>
      <p:grpSpPr>
        <a:xfrm>
          <a:off x="0" y="0"/>
          <a:ext cx="0" cy="0"/>
          <a:chOff x="0" y="0"/>
          <a:chExt cx="0" cy="0"/>
        </a:xfrm>
      </p:grpSpPr>
      <p:sp>
        <p:nvSpPr>
          <p:cNvPr id="86" name="Google Shape;86;p75"/>
          <p:cNvSpPr txBox="1">
            <a:spLocks noGrp="1"/>
          </p:cNvSpPr>
          <p:nvPr>
            <p:ph type="title"/>
          </p:nvPr>
        </p:nvSpPr>
        <p:spPr>
          <a:xfrm rot="5400000">
            <a:off x="8012185" y="2436522"/>
            <a:ext cx="5600404" cy="14921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75"/>
          <p:cNvSpPr txBox="1">
            <a:spLocks noGrp="1"/>
          </p:cNvSpPr>
          <p:nvPr>
            <p:ph type="body" idx="1"/>
          </p:nvPr>
        </p:nvSpPr>
        <p:spPr>
          <a:xfrm rot="5400000">
            <a:off x="2653390" y="-1013705"/>
            <a:ext cx="5600405" cy="8392585"/>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700"/>
              </a:spcBef>
              <a:spcAft>
                <a:spcPts val="0"/>
              </a:spcAft>
              <a:buSzPts val="1800"/>
              <a:buChar char="•"/>
              <a:defRPr/>
            </a:lvl1pPr>
            <a:lvl2pPr marL="914400" lvl="1" indent="-342900" algn="l">
              <a:lnSpc>
                <a:spcPct val="110000"/>
              </a:lnSpc>
              <a:spcBef>
                <a:spcPts val="700"/>
              </a:spcBef>
              <a:spcAft>
                <a:spcPts val="0"/>
              </a:spcAft>
              <a:buSzPts val="1800"/>
              <a:buChar char="–"/>
              <a:defRPr/>
            </a:lvl2pPr>
            <a:lvl3pPr marL="1371600" lvl="2" indent="-342900" algn="l">
              <a:lnSpc>
                <a:spcPct val="110000"/>
              </a:lnSpc>
              <a:spcBef>
                <a:spcPts val="700"/>
              </a:spcBef>
              <a:spcAft>
                <a:spcPts val="0"/>
              </a:spcAft>
              <a:buSzPts val="1800"/>
              <a:buChar char="•"/>
              <a:defRPr/>
            </a:lvl3pPr>
            <a:lvl4pPr marL="1828800" lvl="3" indent="-342900" algn="l">
              <a:lnSpc>
                <a:spcPct val="110000"/>
              </a:lnSpc>
              <a:spcBef>
                <a:spcPts val="700"/>
              </a:spcBef>
              <a:spcAft>
                <a:spcPts val="0"/>
              </a:spcAft>
              <a:buSzPts val="1800"/>
              <a:buChar char="–"/>
              <a:defRPr/>
            </a:lvl4pPr>
            <a:lvl5pPr marL="2286000" lvl="4" indent="-342900" algn="l">
              <a:lnSpc>
                <a:spcPct val="110000"/>
              </a:lnSpc>
              <a:spcBef>
                <a:spcPts val="700"/>
              </a:spcBef>
              <a:spcAft>
                <a:spcPts val="0"/>
              </a:spcAft>
              <a:buSzPts val="1800"/>
              <a:buChar char="•"/>
              <a:defRPr/>
            </a:lvl5pPr>
            <a:lvl6pPr marL="2743200" lvl="5" indent="-342900" algn="l">
              <a:lnSpc>
                <a:spcPct val="110000"/>
              </a:lnSpc>
              <a:spcBef>
                <a:spcPts val="700"/>
              </a:spcBef>
              <a:spcAft>
                <a:spcPts val="0"/>
              </a:spcAft>
              <a:buSzPts val="1800"/>
              <a:buChar char="–"/>
              <a:defRPr/>
            </a:lvl6pPr>
            <a:lvl7pPr marL="3200400" lvl="6" indent="-342900" algn="l">
              <a:lnSpc>
                <a:spcPct val="110000"/>
              </a:lnSpc>
              <a:spcBef>
                <a:spcPts val="700"/>
              </a:spcBef>
              <a:spcAft>
                <a:spcPts val="0"/>
              </a:spcAft>
              <a:buSzPts val="1800"/>
              <a:buChar char="•"/>
              <a:defRPr/>
            </a:lvl7pPr>
            <a:lvl8pPr marL="3657600" lvl="7" indent="-342900" algn="l">
              <a:lnSpc>
                <a:spcPct val="110000"/>
              </a:lnSpc>
              <a:spcBef>
                <a:spcPts val="700"/>
              </a:spcBef>
              <a:spcAft>
                <a:spcPts val="0"/>
              </a:spcAft>
              <a:buSzPts val="1800"/>
              <a:buChar char="–"/>
              <a:defRPr/>
            </a:lvl8pPr>
            <a:lvl9pPr marL="4114800" lvl="8" indent="-342900" algn="l">
              <a:lnSpc>
                <a:spcPct val="110000"/>
              </a:lnSpc>
              <a:spcBef>
                <a:spcPts val="700"/>
              </a:spcBef>
              <a:spcAft>
                <a:spcPts val="0"/>
              </a:spcAft>
              <a:buSzPts val="1800"/>
              <a:buChar char="•"/>
              <a:defRPr/>
            </a:lvl9pPr>
          </a:lstStyle>
          <a:p>
            <a:endParaRPr/>
          </a:p>
        </p:txBody>
      </p:sp>
      <p:sp>
        <p:nvSpPr>
          <p:cNvPr id="88" name="Google Shape;88;p75"/>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75"/>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75"/>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64"/>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rgbClr val="262626"/>
              </a:buClr>
              <a:buSzPts val="5100"/>
              <a:buFont typeface="Impact"/>
              <a:buNone/>
              <a:defRPr sz="5100" b="0" i="0" u="none" strike="noStrike" cap="none">
                <a:solidFill>
                  <a:srgbClr val="262626"/>
                </a:solidFill>
                <a:latin typeface="Impact"/>
                <a:ea typeface="Impact"/>
                <a:cs typeface="Impact"/>
                <a:sym typeface="Impac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4"/>
          <p:cNvSpPr txBox="1">
            <a:spLocks noGrp="1"/>
          </p:cNvSpPr>
          <p:nvPr>
            <p:ph type="body" idx="1"/>
          </p:nvPr>
        </p:nvSpPr>
        <p:spPr>
          <a:xfrm>
            <a:off x="1251678" y="2286001"/>
            <a:ext cx="10178322" cy="3593591"/>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10000"/>
              </a:lnSpc>
              <a:spcBef>
                <a:spcPts val="700"/>
              </a:spcBef>
              <a:spcAft>
                <a:spcPts val="0"/>
              </a:spcAft>
              <a:buClr>
                <a:schemeClr val="dk2"/>
              </a:buClr>
              <a:buSzPts val="2000"/>
              <a:buFont typeface="Arial"/>
              <a:buChar char="•"/>
              <a:defRPr sz="2000" b="0" i="0" u="none" strike="noStrike" cap="none">
                <a:solidFill>
                  <a:srgbClr val="595959"/>
                </a:solidFill>
                <a:latin typeface="Gill Sans"/>
                <a:ea typeface="Gill Sans"/>
                <a:cs typeface="Gill Sans"/>
                <a:sym typeface="Gill Sans"/>
              </a:defRPr>
            </a:lvl1pPr>
            <a:lvl2pPr marL="914400" marR="0" lvl="1" indent="-342900" algn="l" rtl="0">
              <a:lnSpc>
                <a:spcPct val="110000"/>
              </a:lnSpc>
              <a:spcBef>
                <a:spcPts val="700"/>
              </a:spcBef>
              <a:spcAft>
                <a:spcPts val="0"/>
              </a:spcAft>
              <a:buClr>
                <a:schemeClr val="dk2"/>
              </a:buClr>
              <a:buSzPts val="1800"/>
              <a:buFont typeface="Gill Sans"/>
              <a:buChar char="–"/>
              <a:defRPr sz="1800" b="0" i="0" u="none" strike="noStrike" cap="none">
                <a:solidFill>
                  <a:srgbClr val="595959"/>
                </a:solidFill>
                <a:latin typeface="Gill Sans"/>
                <a:ea typeface="Gill Sans"/>
                <a:cs typeface="Gill Sans"/>
                <a:sym typeface="Gill Sans"/>
              </a:defRPr>
            </a:lvl2pPr>
            <a:lvl3pPr marL="1371600" marR="0" lvl="2" indent="-330200" algn="l" rtl="0">
              <a:lnSpc>
                <a:spcPct val="110000"/>
              </a:lnSpc>
              <a:spcBef>
                <a:spcPts val="700"/>
              </a:spcBef>
              <a:spcAft>
                <a:spcPts val="0"/>
              </a:spcAft>
              <a:buClr>
                <a:schemeClr val="dk2"/>
              </a:buClr>
              <a:buSzPts val="1600"/>
              <a:buFont typeface="Arial"/>
              <a:buChar char="•"/>
              <a:defRPr sz="1600" b="0" i="0" u="none" strike="noStrike" cap="none">
                <a:solidFill>
                  <a:srgbClr val="595959"/>
                </a:solidFill>
                <a:latin typeface="Gill Sans"/>
                <a:ea typeface="Gill Sans"/>
                <a:cs typeface="Gill Sans"/>
                <a:sym typeface="Gill Sans"/>
              </a:defRPr>
            </a:lvl3pPr>
            <a:lvl4pPr marL="1828800" marR="0" lvl="3"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4pPr>
            <a:lvl5pPr marL="2286000" marR="0" lvl="4"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5pPr>
            <a:lvl6pPr marL="2743200" marR="0" lvl="5"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6pPr>
            <a:lvl7pPr marL="3200400" marR="0" lvl="6"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7pPr>
            <a:lvl8pPr marL="3657600" marR="0" lvl="7" indent="-317500" algn="l" rtl="0">
              <a:lnSpc>
                <a:spcPct val="110000"/>
              </a:lnSpc>
              <a:spcBef>
                <a:spcPts val="700"/>
              </a:spcBef>
              <a:spcAft>
                <a:spcPts val="0"/>
              </a:spcAft>
              <a:buClr>
                <a:schemeClr val="dk2"/>
              </a:buClr>
              <a:buSzPts val="1400"/>
              <a:buFont typeface="Gill Sans"/>
              <a:buChar char="–"/>
              <a:defRPr sz="1400" b="0" i="0" u="none" strike="noStrike" cap="none">
                <a:solidFill>
                  <a:srgbClr val="595959"/>
                </a:solidFill>
                <a:latin typeface="Gill Sans"/>
                <a:ea typeface="Gill Sans"/>
                <a:cs typeface="Gill Sans"/>
                <a:sym typeface="Gill Sans"/>
              </a:defRPr>
            </a:lvl8pPr>
            <a:lvl9pPr marL="4114800" marR="0" lvl="8" indent="-317500" algn="l" rtl="0">
              <a:lnSpc>
                <a:spcPct val="110000"/>
              </a:lnSpc>
              <a:spcBef>
                <a:spcPts val="700"/>
              </a:spcBef>
              <a:spcAft>
                <a:spcPts val="0"/>
              </a:spcAft>
              <a:buClr>
                <a:schemeClr val="dk2"/>
              </a:buClr>
              <a:buSzPts val="1400"/>
              <a:buFont typeface="Arial"/>
              <a:buChar char="•"/>
              <a:defRPr sz="1400" b="0" i="0" u="none" strike="noStrike" cap="none">
                <a:solidFill>
                  <a:srgbClr val="595959"/>
                </a:solidFill>
                <a:latin typeface="Gill Sans"/>
                <a:ea typeface="Gill Sans"/>
                <a:cs typeface="Gill Sans"/>
                <a:sym typeface="Gill Sans"/>
              </a:defRPr>
            </a:lvl9pPr>
          </a:lstStyle>
          <a:p>
            <a:endParaRPr/>
          </a:p>
        </p:txBody>
      </p:sp>
      <p:sp>
        <p:nvSpPr>
          <p:cNvPr id="8" name="Google Shape;8;p64"/>
          <p:cNvSpPr txBox="1">
            <a:spLocks noGrp="1"/>
          </p:cNvSpPr>
          <p:nvPr>
            <p:ph type="dt" idx="10"/>
          </p:nvPr>
        </p:nvSpPr>
        <p:spPr>
          <a:xfrm>
            <a:off x="1251678" y="6375679"/>
            <a:ext cx="2329722" cy="348462"/>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595959"/>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9" name="Google Shape;9;p64"/>
          <p:cNvSpPr txBox="1">
            <a:spLocks noGrp="1"/>
          </p:cNvSpPr>
          <p:nvPr>
            <p:ph type="ftr" idx="11"/>
          </p:nvPr>
        </p:nvSpPr>
        <p:spPr>
          <a:xfrm>
            <a:off x="4038600" y="6375679"/>
            <a:ext cx="4114800" cy="34579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595959"/>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0" name="Google Shape;10;p64"/>
          <p:cNvSpPr txBox="1">
            <a:spLocks noGrp="1"/>
          </p:cNvSpPr>
          <p:nvPr>
            <p:ph type="sldNum" idx="12"/>
          </p:nvPr>
        </p:nvSpPr>
        <p:spPr>
          <a:xfrm>
            <a:off x="8610601" y="6375679"/>
            <a:ext cx="2819399" cy="345796"/>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595959"/>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64" title="Left scallop edge"/>
          <p:cNvSpPr/>
          <p:nvPr/>
        </p:nvSpPr>
        <p:spPr>
          <a:xfrm>
            <a:off x="0" y="0"/>
            <a:ext cx="885825" cy="6858000"/>
          </a:xfrm>
          <a:custGeom>
            <a:avLst/>
            <a:gdLst/>
            <a:ahLst/>
            <a:cxnLst/>
            <a:rect l="l" t="t" r="r" b="b"/>
            <a:pathLst>
              <a:path w="558" h="4320" extrusionOk="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262626"/>
          </a:solidFill>
          <a:ln>
            <a:noFill/>
          </a:ln>
        </p:spPr>
      </p:sp>
      <p:sp>
        <p:nvSpPr>
          <p:cNvPr id="12" name="Google Shape;12;p64" title="right edge border"/>
          <p:cNvSpPr/>
          <p:nvPr/>
        </p:nvSpPr>
        <p:spPr>
          <a:xfrm>
            <a:off x="11908536" y="0"/>
            <a:ext cx="283464"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hyperlink" Target="https://dictionary.cambridge.org/dictionary/english/add" TargetMode="External"/><Relationship Id="rId3" Type="http://schemas.openxmlformats.org/officeDocument/2006/relationships/hyperlink" Target="https://dictionary.cambridge.org/dictionary/english/addition" TargetMode="External"/><Relationship Id="rId7" Type="http://schemas.openxmlformats.org/officeDocument/2006/relationships/hyperlink" Target="https://dictionary.cambridge.org/dictionary/english/sentence"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hyperlink" Target="https://dictionary.cambridge.org/dictionary/english/change" TargetMode="External"/><Relationship Id="rId11" Type="http://schemas.openxmlformats.org/officeDocument/2006/relationships/hyperlink" Target="https://dictionary.cambridge.org/dictionary/english/tense" TargetMode="External"/><Relationship Id="rId5" Type="http://schemas.openxmlformats.org/officeDocument/2006/relationships/hyperlink" Target="https://dictionary.cambridge.org/dictionary/english/show" TargetMode="External"/><Relationship Id="rId10" Type="http://schemas.openxmlformats.org/officeDocument/2006/relationships/hyperlink" Target="https://dictionary.cambridge.org/dictionary/english/dog" TargetMode="External"/><Relationship Id="rId4" Type="http://schemas.openxmlformats.org/officeDocument/2006/relationships/hyperlink" Target="https://dictionary.cambridge.org/dictionary/english/form" TargetMode="External"/><Relationship Id="rId9" Type="http://schemas.openxmlformats.org/officeDocument/2006/relationships/hyperlink" Target="https://dictionary.cambridge.org/dictionary/english/plural"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9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9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hyperlink" Target="https://www.youtube.com/watch?v=BiSX3Hi5zaM&amp;t=52s" TargetMode="External"/><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02.xml.rels><?xml version="1.0" encoding="UTF-8" standalone="yes"?>
<Relationships xmlns="http://schemas.openxmlformats.org/package/2006/relationships"><Relationship Id="rId3" Type="http://schemas.openxmlformats.org/officeDocument/2006/relationships/hyperlink" Target="https://www.youtube.com/watch?v=U6McDsR9YeA&amp;t=50s" TargetMode="External"/><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www.youtube.com/watch?v=EoCLhS_0cmE" TargetMode="External"/><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hyperlink" Target="https://www.youtube.com/watch?v=VMkCdkkyYsU&amp;list=PLLBpKrZiIqZ97ZhbbwSLV6nDZXVdsPbCy&amp;index=1&amp;t=1s" TargetMode="External"/><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hyperlink" Target="https://www.studocu.com/in/document/mahatma-gandhi-university/english-i/karaka-theory-in-literature/23621721" TargetMode="External"/><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3.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1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hyperlink" Target="https://medium.com/@abhishekjainindore24/n-grams-in-nlp-a7c05c1aff12" TargetMode="External"/><Relationship Id="rId2" Type="http://schemas.openxmlformats.org/officeDocument/2006/relationships/notesSlide" Target="../notesSlides/notesSlide144.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pic>
        <p:nvPicPr>
          <p:cNvPr id="95" name="Google Shape;95;p1"/>
          <p:cNvPicPr preferRelativeResize="0"/>
          <p:nvPr/>
        </p:nvPicPr>
        <p:blipFill rotWithShape="1">
          <a:blip r:embed="rId3">
            <a:alphaModFix/>
          </a:blip>
          <a:srcRect t="12934" b="12934"/>
          <a:stretch/>
        </p:blipFill>
        <p:spPr>
          <a:xfrm>
            <a:off x="-44860" y="0"/>
            <a:ext cx="12191979" cy="6857990"/>
          </a:xfrm>
          <a:prstGeom prst="rect">
            <a:avLst/>
          </a:prstGeom>
          <a:noFill/>
          <a:ln>
            <a:noFill/>
          </a:ln>
        </p:spPr>
      </p:pic>
      <p:sp>
        <p:nvSpPr>
          <p:cNvPr id="96" name="Google Shape;96;p1"/>
          <p:cNvSpPr txBox="1">
            <a:spLocks noGrp="1"/>
          </p:cNvSpPr>
          <p:nvPr>
            <p:ph type="ctrTitle"/>
          </p:nvPr>
        </p:nvSpPr>
        <p:spPr>
          <a:xfrm>
            <a:off x="415030" y="250317"/>
            <a:ext cx="4775100" cy="1630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Impact"/>
              <a:buNone/>
            </a:pPr>
            <a:r>
              <a:rPr lang="en-US" sz="4400">
                <a:solidFill>
                  <a:schemeClr val="dk1"/>
                </a:solidFill>
              </a:rPr>
              <a:t>MODULE 1</a:t>
            </a:r>
            <a:endParaRPr/>
          </a:p>
        </p:txBody>
      </p:sp>
      <p:sp>
        <p:nvSpPr>
          <p:cNvPr id="97" name="Google Shape;97;p1"/>
          <p:cNvSpPr txBox="1"/>
          <p:nvPr/>
        </p:nvSpPr>
        <p:spPr>
          <a:xfrm>
            <a:off x="6134600" y="3907375"/>
            <a:ext cx="4135500" cy="173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Gill Sans"/>
                <a:ea typeface="Gill Sans"/>
                <a:cs typeface="Gill Sans"/>
                <a:sym typeface="Gill Sans"/>
              </a:rPr>
              <a:t>By</a:t>
            </a:r>
            <a:endParaRPr sz="2000" b="0" i="0" u="none" strike="noStrike" cap="none">
              <a:solidFill>
                <a:schemeClr val="dk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Gill Sans"/>
                <a:ea typeface="Gill Sans"/>
                <a:cs typeface="Gill Sans"/>
                <a:sym typeface="Gill Sans"/>
              </a:rPr>
              <a:t>Ms.NOVY JACOB,</a:t>
            </a:r>
            <a:endParaRPr sz="2000" b="0" i="0" u="none" strike="noStrike" cap="none">
              <a:solidFill>
                <a:schemeClr val="dk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Gill Sans"/>
                <a:ea typeface="Gill Sans"/>
                <a:cs typeface="Gill Sans"/>
                <a:sym typeface="Gill Sans"/>
              </a:rPr>
              <a:t>Assistant Professor,</a:t>
            </a:r>
            <a:endParaRPr sz="2000" b="0" i="0" u="none" strike="noStrike" cap="none">
              <a:solidFill>
                <a:schemeClr val="dk1"/>
              </a:solidFill>
              <a:latin typeface="Gill Sans"/>
              <a:ea typeface="Gill Sans"/>
              <a:cs typeface="Gill Sans"/>
              <a:sym typeface="Gill Sans"/>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Gill Sans"/>
                <a:ea typeface="Gill Sans"/>
                <a:cs typeface="Gill Sans"/>
                <a:sym typeface="Gill Sans"/>
              </a:rPr>
              <a:t>AIML</a:t>
            </a:r>
            <a:endParaRPr sz="2000" b="0" i="0" u="none" strike="noStrike" cap="none">
              <a:solidFill>
                <a:schemeClr val="dk1"/>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p:nvPr>
        </p:nvSpPr>
        <p:spPr>
          <a:xfrm>
            <a:off x="1251675" y="382379"/>
            <a:ext cx="10178400" cy="950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262626"/>
              </a:buClr>
              <a:buSzPts val="5100"/>
              <a:buFont typeface="Impact"/>
              <a:buNone/>
            </a:pPr>
            <a:r>
              <a:rPr lang="en-US"/>
              <a:t>WHAT IS NLP</a:t>
            </a:r>
            <a:endParaRPr/>
          </a:p>
        </p:txBody>
      </p:sp>
      <p:sp>
        <p:nvSpPr>
          <p:cNvPr id="103" name="Google Shape;103;p2"/>
          <p:cNvSpPr txBox="1">
            <a:spLocks noGrp="1"/>
          </p:cNvSpPr>
          <p:nvPr>
            <p:ph type="body" idx="1"/>
          </p:nvPr>
        </p:nvSpPr>
        <p:spPr>
          <a:xfrm>
            <a:off x="1066800" y="1140076"/>
            <a:ext cx="10058400" cy="4812600"/>
          </a:xfrm>
          <a:prstGeom prst="rect">
            <a:avLst/>
          </a:prstGeom>
          <a:noFill/>
          <a:ln>
            <a:noFill/>
          </a:ln>
        </p:spPr>
        <p:txBody>
          <a:bodyPr spcFirstLastPara="1" wrap="square" lIns="91425" tIns="45700" rIns="91425" bIns="45700" anchor="t" anchorCtr="0">
            <a:normAutofit/>
          </a:bodyPr>
          <a:lstStyle/>
          <a:p>
            <a:pPr marL="457200" lvl="0" indent="-228600" algn="l" rtl="0">
              <a:lnSpc>
                <a:spcPct val="100000"/>
              </a:lnSpc>
              <a:spcBef>
                <a:spcPts val="1000"/>
              </a:spcBef>
              <a:spcAft>
                <a:spcPts val="0"/>
              </a:spcAft>
              <a:buClr>
                <a:schemeClr val="dk1"/>
              </a:buClr>
              <a:buSzPts val="2000"/>
              <a:buChar char="•"/>
            </a:pPr>
            <a:r>
              <a:rPr lang="en-US" b="1">
                <a:solidFill>
                  <a:schemeClr val="dk1"/>
                </a:solidFill>
                <a:latin typeface="Calibri"/>
                <a:ea typeface="Calibri"/>
                <a:cs typeface="Calibri"/>
                <a:sym typeface="Calibri"/>
              </a:rPr>
              <a:t>Language i</a:t>
            </a:r>
            <a:r>
              <a:rPr lang="en-US">
                <a:solidFill>
                  <a:schemeClr val="dk1"/>
                </a:solidFill>
                <a:latin typeface="Calibri"/>
                <a:ea typeface="Calibri"/>
                <a:cs typeface="Calibri"/>
                <a:sym typeface="Calibri"/>
              </a:rPr>
              <a:t>s the Primary means of c</a:t>
            </a:r>
            <a:r>
              <a:rPr lang="en-US" sz="2000">
                <a:solidFill>
                  <a:schemeClr val="dk1"/>
                </a:solidFill>
                <a:latin typeface="Calibri"/>
                <a:ea typeface="Calibri"/>
                <a:cs typeface="Calibri"/>
                <a:sym typeface="Calibri"/>
              </a:rPr>
              <a:t>ommunication use</a:t>
            </a:r>
            <a:r>
              <a:rPr lang="en-US">
                <a:solidFill>
                  <a:schemeClr val="dk1"/>
                </a:solidFill>
                <a:latin typeface="Calibri"/>
                <a:ea typeface="Calibri"/>
                <a:cs typeface="Calibri"/>
                <a:sym typeface="Calibri"/>
              </a:rPr>
              <a:t>d by human beings.</a:t>
            </a:r>
            <a:endParaRPr>
              <a:solidFill>
                <a:schemeClr val="dk1"/>
              </a:solidFill>
            </a:endParaRPr>
          </a:p>
          <a:p>
            <a:pPr marL="457200" lvl="0" indent="-228600" algn="l" rtl="0">
              <a:lnSpc>
                <a:spcPct val="100000"/>
              </a:lnSpc>
              <a:spcBef>
                <a:spcPts val="1000"/>
              </a:spcBef>
              <a:spcAft>
                <a:spcPts val="0"/>
              </a:spcAft>
              <a:buClr>
                <a:schemeClr val="dk1"/>
              </a:buClr>
              <a:buSzPts val="2000"/>
              <a:buChar char="•"/>
            </a:pPr>
            <a:r>
              <a:rPr lang="en-US">
                <a:solidFill>
                  <a:schemeClr val="dk1"/>
                </a:solidFill>
                <a:latin typeface="Calibri"/>
                <a:ea typeface="Calibri"/>
                <a:cs typeface="Calibri"/>
                <a:sym typeface="Calibri"/>
              </a:rPr>
              <a:t>It is the t</a:t>
            </a:r>
            <a:r>
              <a:rPr lang="en-US" sz="2000">
                <a:solidFill>
                  <a:schemeClr val="dk1"/>
                </a:solidFill>
                <a:latin typeface="Calibri"/>
                <a:ea typeface="Calibri"/>
                <a:cs typeface="Calibri"/>
                <a:sym typeface="Calibri"/>
              </a:rPr>
              <a:t>ool used to express our ideas and emotions.</a:t>
            </a:r>
            <a:endParaRPr>
              <a:solidFill>
                <a:schemeClr val="dk1"/>
              </a:solidFill>
            </a:endParaRPr>
          </a:p>
          <a:p>
            <a:pPr marL="457200" lvl="0" indent="-228600" algn="l" rtl="0">
              <a:lnSpc>
                <a:spcPct val="100000"/>
              </a:lnSpc>
              <a:spcBef>
                <a:spcPts val="1000"/>
              </a:spcBef>
              <a:spcAft>
                <a:spcPts val="0"/>
              </a:spcAft>
              <a:buClr>
                <a:schemeClr val="dk1"/>
              </a:buClr>
              <a:buSzPts val="2000"/>
              <a:buChar char="•"/>
            </a:pPr>
            <a:r>
              <a:rPr lang="en-US">
                <a:solidFill>
                  <a:schemeClr val="dk1"/>
                </a:solidFill>
                <a:latin typeface="Calibri"/>
                <a:ea typeface="Calibri"/>
                <a:cs typeface="Calibri"/>
                <a:sym typeface="Calibri"/>
              </a:rPr>
              <a:t>It s</a:t>
            </a:r>
            <a:r>
              <a:rPr lang="en-US" sz="2000">
                <a:solidFill>
                  <a:schemeClr val="dk1"/>
                </a:solidFill>
                <a:latin typeface="Calibri"/>
                <a:ea typeface="Calibri"/>
                <a:cs typeface="Calibri"/>
                <a:sym typeface="Calibri"/>
              </a:rPr>
              <a:t>hapes thoughts</a:t>
            </a:r>
            <a:r>
              <a:rPr lang="en-US">
                <a:solidFill>
                  <a:schemeClr val="dk1"/>
                </a:solidFill>
                <a:latin typeface="Calibri"/>
                <a:ea typeface="Calibri"/>
                <a:cs typeface="Calibri"/>
                <a:sym typeface="Calibri"/>
              </a:rPr>
              <a:t>, has a </a:t>
            </a:r>
            <a:r>
              <a:rPr lang="en-US" sz="2000">
                <a:solidFill>
                  <a:schemeClr val="dk1"/>
                </a:solidFill>
                <a:latin typeface="Calibri"/>
                <a:ea typeface="Calibri"/>
                <a:cs typeface="Calibri"/>
                <a:sym typeface="Calibri"/>
              </a:rPr>
              <a:t>structure and carries meaning.</a:t>
            </a:r>
            <a:endParaRPr sz="2000">
              <a:solidFill>
                <a:schemeClr val="dk1"/>
              </a:solidFill>
              <a:latin typeface="Calibri"/>
              <a:ea typeface="Calibri"/>
              <a:cs typeface="Calibri"/>
              <a:sym typeface="Calibri"/>
            </a:endParaRPr>
          </a:p>
          <a:p>
            <a:pPr marL="457200" lvl="0" indent="-215900" algn="l" rtl="0">
              <a:lnSpc>
                <a:spcPct val="100000"/>
              </a:lnSpc>
              <a:spcBef>
                <a:spcPts val="1000"/>
              </a:spcBef>
              <a:spcAft>
                <a:spcPts val="0"/>
              </a:spcAft>
              <a:buClr>
                <a:schemeClr val="dk1"/>
              </a:buClr>
              <a:buSzPts val="1800"/>
              <a:buFont typeface="Calibri"/>
              <a:buChar char="•"/>
            </a:pPr>
            <a:r>
              <a:rPr lang="en-US">
                <a:solidFill>
                  <a:schemeClr val="dk1"/>
                </a:solidFill>
                <a:latin typeface="Calibri"/>
                <a:ea typeface="Calibri"/>
                <a:cs typeface="Calibri"/>
                <a:sym typeface="Calibri"/>
              </a:rPr>
              <a:t>Learning new concepts and expressing ideas through a language is so natural to human beings that we hardly realize how we process natural language.</a:t>
            </a:r>
            <a:endParaRPr>
              <a:solidFill>
                <a:schemeClr val="dk1"/>
              </a:solidFill>
              <a:latin typeface="Calibri"/>
              <a:ea typeface="Calibri"/>
              <a:cs typeface="Calibri"/>
              <a:sym typeface="Calibri"/>
            </a:endParaRPr>
          </a:p>
          <a:p>
            <a:pPr marL="457200" lvl="0" indent="-215900" algn="l" rtl="0">
              <a:lnSpc>
                <a:spcPct val="100000"/>
              </a:lnSpc>
              <a:spcBef>
                <a:spcPts val="1000"/>
              </a:spcBef>
              <a:spcAft>
                <a:spcPts val="0"/>
              </a:spcAft>
              <a:buClr>
                <a:schemeClr val="dk1"/>
              </a:buClr>
              <a:buSzPts val="1800"/>
              <a:buFont typeface="Calibri"/>
              <a:buChar char="•"/>
            </a:pPr>
            <a:r>
              <a:rPr lang="en-US">
                <a:solidFill>
                  <a:schemeClr val="dk1"/>
                </a:solidFill>
                <a:latin typeface="Calibri"/>
                <a:ea typeface="Calibri"/>
                <a:cs typeface="Calibri"/>
                <a:sym typeface="Calibri"/>
              </a:rPr>
              <a:t>We never learn a computational model of language. But,</a:t>
            </a:r>
            <a:r>
              <a:rPr lang="en-US">
                <a:solidFill>
                  <a:schemeClr val="dk1"/>
                </a:solidFill>
                <a:highlight>
                  <a:srgbClr val="FFFF00"/>
                </a:highlight>
                <a:latin typeface="Calibri"/>
                <a:ea typeface="Calibri"/>
                <a:cs typeface="Calibri"/>
                <a:sym typeface="Calibri"/>
              </a:rPr>
              <a:t> If we want to automate processing of language, the very first step is to build a computational model.</a:t>
            </a:r>
            <a:endParaRPr>
              <a:solidFill>
                <a:schemeClr val="dk1"/>
              </a:solidFill>
              <a:highlight>
                <a:srgbClr val="FFFF00"/>
              </a:highlight>
              <a:latin typeface="Calibri"/>
              <a:ea typeface="Calibri"/>
              <a:cs typeface="Calibri"/>
              <a:sym typeface="Calibri"/>
            </a:endParaRPr>
          </a:p>
          <a:p>
            <a:pPr marL="0" lvl="0" indent="0" algn="l" rtl="0">
              <a:lnSpc>
                <a:spcPct val="100000"/>
              </a:lnSpc>
              <a:spcBef>
                <a:spcPts val="1000"/>
              </a:spcBef>
              <a:spcAft>
                <a:spcPts val="1000"/>
              </a:spcAft>
              <a:buSzPts val="1800"/>
              <a:buNone/>
            </a:pPr>
            <a:endParaRPr>
              <a:solidFill>
                <a:schemeClr val="dk1"/>
              </a:solidFill>
            </a:endParaRPr>
          </a:p>
        </p:txBody>
      </p:sp>
      <p:pic>
        <p:nvPicPr>
          <p:cNvPr id="104" name="Google Shape;104;p2"/>
          <p:cNvPicPr preferRelativeResize="0"/>
          <p:nvPr/>
        </p:nvPicPr>
        <p:blipFill rotWithShape="1">
          <a:blip r:embed="rId3">
            <a:alphaModFix/>
          </a:blip>
          <a:srcRect/>
          <a:stretch/>
        </p:blipFill>
        <p:spPr>
          <a:xfrm>
            <a:off x="6997325" y="3941175"/>
            <a:ext cx="3832352" cy="2011974"/>
          </a:xfrm>
          <a:prstGeom prst="rect">
            <a:avLst/>
          </a:prstGeom>
          <a:noFill/>
          <a:ln>
            <a:noFill/>
          </a:ln>
        </p:spPr>
      </p:pic>
      <p:pic>
        <p:nvPicPr>
          <p:cNvPr id="105" name="Google Shape;105;p2"/>
          <p:cNvPicPr preferRelativeResize="0"/>
          <p:nvPr/>
        </p:nvPicPr>
        <p:blipFill rotWithShape="1">
          <a:blip r:embed="rId4">
            <a:alphaModFix/>
          </a:blip>
          <a:srcRect/>
          <a:stretch/>
        </p:blipFill>
        <p:spPr>
          <a:xfrm>
            <a:off x="1796710" y="3941175"/>
            <a:ext cx="3621564" cy="2011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155f8378242_0_25"/>
          <p:cNvSpPr txBox="1">
            <a:spLocks noGrp="1"/>
          </p:cNvSpPr>
          <p:nvPr>
            <p:ph type="title"/>
          </p:nvPr>
        </p:nvSpPr>
        <p:spPr>
          <a:xfrm>
            <a:off x="1251675" y="382379"/>
            <a:ext cx="10178400" cy="950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262626"/>
              </a:buClr>
              <a:buSzPts val="5100"/>
              <a:buFont typeface="Impact"/>
              <a:buNone/>
            </a:pPr>
            <a:r>
              <a:rPr lang="en-US"/>
              <a:t>WHAT IS NLP</a:t>
            </a:r>
            <a:endParaRPr/>
          </a:p>
        </p:txBody>
      </p:sp>
      <p:sp>
        <p:nvSpPr>
          <p:cNvPr id="111" name="Google Shape;111;g155f8378242_0_25"/>
          <p:cNvSpPr txBox="1">
            <a:spLocks noGrp="1"/>
          </p:cNvSpPr>
          <p:nvPr>
            <p:ph type="body" idx="1"/>
          </p:nvPr>
        </p:nvSpPr>
        <p:spPr>
          <a:xfrm>
            <a:off x="1066800" y="1140076"/>
            <a:ext cx="10058400" cy="4812600"/>
          </a:xfrm>
          <a:prstGeom prst="rect">
            <a:avLst/>
          </a:prstGeom>
          <a:noFill/>
          <a:ln>
            <a:noFill/>
          </a:ln>
        </p:spPr>
        <p:txBody>
          <a:bodyPr spcFirstLastPara="1" wrap="square" lIns="91425" tIns="45700" rIns="91425" bIns="45700" anchor="ctr" anchorCtr="0">
            <a:noAutofit/>
          </a:bodyPr>
          <a:lstStyle/>
          <a:p>
            <a:pPr marL="457200" lvl="0" indent="-381000" algn="l" rtl="0">
              <a:lnSpc>
                <a:spcPct val="100000"/>
              </a:lnSpc>
              <a:spcBef>
                <a:spcPts val="1000"/>
              </a:spcBef>
              <a:spcAft>
                <a:spcPts val="0"/>
              </a:spcAft>
              <a:buClr>
                <a:schemeClr val="dk1"/>
              </a:buClr>
              <a:buSzPts val="2400"/>
              <a:buFont typeface="Calibri"/>
              <a:buChar char="•"/>
            </a:pPr>
            <a:r>
              <a:rPr lang="en-US" sz="2400" b="1">
                <a:solidFill>
                  <a:schemeClr val="dk1"/>
                </a:solidFill>
                <a:latin typeface="Times New Roman"/>
                <a:ea typeface="Times New Roman"/>
                <a:cs typeface="Times New Roman"/>
                <a:sym typeface="Times New Roman"/>
              </a:rPr>
              <a:t>Natural Language Processing</a:t>
            </a:r>
            <a:r>
              <a:rPr lang="en-US" sz="2400">
                <a:solidFill>
                  <a:schemeClr val="dk1"/>
                </a:solidFill>
                <a:latin typeface="Times New Roman"/>
                <a:ea typeface="Times New Roman"/>
                <a:cs typeface="Times New Roman"/>
                <a:sym typeface="Times New Roman"/>
              </a:rPr>
              <a:t> is concerned with </a:t>
            </a:r>
            <a:r>
              <a:rPr lang="en-US" sz="2400" b="1">
                <a:solidFill>
                  <a:schemeClr val="dk1"/>
                </a:solidFill>
                <a:highlight>
                  <a:srgbClr val="FFFF00"/>
                </a:highlight>
                <a:latin typeface="Times New Roman"/>
                <a:ea typeface="Times New Roman"/>
                <a:cs typeface="Times New Roman"/>
                <a:sym typeface="Times New Roman"/>
              </a:rPr>
              <a:t>development of computational models </a:t>
            </a:r>
            <a:r>
              <a:rPr lang="en-US" sz="2400">
                <a:solidFill>
                  <a:schemeClr val="dk1"/>
                </a:solidFill>
                <a:latin typeface="Times New Roman"/>
                <a:ea typeface="Times New Roman"/>
                <a:cs typeface="Times New Roman"/>
                <a:sym typeface="Times New Roman"/>
              </a:rPr>
              <a:t>of aspects of human language processing. </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two main reasons for this development are:</a:t>
            </a:r>
            <a:endParaRPr sz="2400">
              <a:solidFill>
                <a:schemeClr val="dk1"/>
              </a:solidFill>
              <a:latin typeface="Times New Roman"/>
              <a:ea typeface="Times New Roman"/>
              <a:cs typeface="Times New Roman"/>
              <a:sym typeface="Times New Roman"/>
            </a:endParaRPr>
          </a:p>
          <a:p>
            <a:pPr marL="914400" lvl="1"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develop </a:t>
            </a:r>
            <a:r>
              <a:rPr lang="en-US" sz="2400">
                <a:solidFill>
                  <a:schemeClr val="dk1"/>
                </a:solidFill>
                <a:highlight>
                  <a:srgbClr val="00FFFF"/>
                </a:highlight>
                <a:latin typeface="Times New Roman"/>
                <a:ea typeface="Times New Roman"/>
                <a:cs typeface="Times New Roman"/>
                <a:sym typeface="Times New Roman"/>
              </a:rPr>
              <a:t>automated tool </a:t>
            </a:r>
            <a:r>
              <a:rPr lang="en-US" sz="2400">
                <a:solidFill>
                  <a:schemeClr val="dk1"/>
                </a:solidFill>
                <a:latin typeface="Times New Roman"/>
                <a:ea typeface="Times New Roman"/>
                <a:cs typeface="Times New Roman"/>
                <a:sym typeface="Times New Roman"/>
              </a:rPr>
              <a:t>for language processing.</a:t>
            </a:r>
            <a:endParaRPr sz="2400">
              <a:solidFill>
                <a:schemeClr val="dk1"/>
              </a:solidFill>
              <a:latin typeface="Times New Roman"/>
              <a:ea typeface="Times New Roman"/>
              <a:cs typeface="Times New Roman"/>
              <a:sym typeface="Times New Roman"/>
            </a:endParaRPr>
          </a:p>
          <a:p>
            <a:pPr marL="914400" lvl="1"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To gain </a:t>
            </a:r>
            <a:r>
              <a:rPr lang="en-US" sz="2400">
                <a:solidFill>
                  <a:schemeClr val="dk1"/>
                </a:solidFill>
                <a:highlight>
                  <a:srgbClr val="00FFFF"/>
                </a:highlight>
                <a:latin typeface="Times New Roman"/>
                <a:ea typeface="Times New Roman"/>
                <a:cs typeface="Times New Roman"/>
                <a:sym typeface="Times New Roman"/>
              </a:rPr>
              <a:t>a better understanding </a:t>
            </a:r>
            <a:r>
              <a:rPr lang="en-US" sz="2400">
                <a:solidFill>
                  <a:schemeClr val="dk1"/>
                </a:solidFill>
                <a:latin typeface="Times New Roman"/>
                <a:ea typeface="Times New Roman"/>
                <a:cs typeface="Times New Roman"/>
                <a:sym typeface="Times New Roman"/>
              </a:rPr>
              <a:t>of human communication. </a:t>
            </a:r>
            <a:endParaRPr sz="2400">
              <a:solidFill>
                <a:schemeClr val="dk1"/>
              </a:solidFill>
              <a:latin typeface="Times New Roman"/>
              <a:ea typeface="Times New Roman"/>
              <a:cs typeface="Times New Roman"/>
              <a:sym typeface="Times New Roman"/>
            </a:endParaRPr>
          </a:p>
          <a:p>
            <a:pPr marL="914400" lvl="1"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eg: google analyst, Alexa,Siri.</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rgbClr val="222222"/>
              </a:buClr>
              <a:buSzPts val="2400"/>
              <a:buFont typeface="Times New Roman"/>
              <a:buChar char="•"/>
            </a:pPr>
            <a:r>
              <a:rPr lang="en-US" sz="2400">
                <a:solidFill>
                  <a:srgbClr val="222222"/>
                </a:solidFill>
                <a:latin typeface="Times New Roman"/>
                <a:ea typeface="Times New Roman"/>
                <a:cs typeface="Times New Roman"/>
                <a:sym typeface="Times New Roman"/>
              </a:rPr>
              <a:t>To build computational models with human language-processing abilities requires a </a:t>
            </a:r>
            <a:r>
              <a:rPr lang="en-US" sz="2400">
                <a:solidFill>
                  <a:srgbClr val="222222"/>
                </a:solidFill>
                <a:highlight>
                  <a:srgbClr val="FFFF00"/>
                </a:highlight>
                <a:latin typeface="Times New Roman"/>
                <a:ea typeface="Times New Roman"/>
                <a:cs typeface="Times New Roman"/>
                <a:sym typeface="Times New Roman"/>
              </a:rPr>
              <a:t>knowledge of how human acquire, store, and process language</a:t>
            </a:r>
            <a:r>
              <a:rPr lang="en-US" sz="2400">
                <a:solidFill>
                  <a:srgbClr val="222222"/>
                </a:solidFill>
                <a:latin typeface="Times New Roman"/>
                <a:ea typeface="Times New Roman"/>
                <a:cs typeface="Times New Roman"/>
                <a:sym typeface="Times New Roman"/>
              </a:rPr>
              <a:t>.</a:t>
            </a:r>
            <a:endParaRPr sz="2400">
              <a:solidFill>
                <a:srgbClr val="222222"/>
              </a:solidFill>
              <a:latin typeface="Times New Roman"/>
              <a:ea typeface="Times New Roman"/>
              <a:cs typeface="Times New Roman"/>
              <a:sym typeface="Times New Roman"/>
            </a:endParaRPr>
          </a:p>
          <a:p>
            <a:pPr marL="457200" lvl="0" indent="-381000" algn="l" rtl="0">
              <a:lnSpc>
                <a:spcPct val="100000"/>
              </a:lnSpc>
              <a:spcBef>
                <a:spcPts val="1000"/>
              </a:spcBef>
              <a:spcAft>
                <a:spcPts val="1000"/>
              </a:spcAft>
              <a:buClr>
                <a:srgbClr val="222222"/>
              </a:buClr>
              <a:buSzPts val="2400"/>
              <a:buFont typeface="Times New Roman"/>
              <a:buChar char="•"/>
            </a:pPr>
            <a:r>
              <a:rPr lang="en-US" sz="2400">
                <a:solidFill>
                  <a:srgbClr val="222222"/>
                </a:solidFill>
                <a:latin typeface="Times New Roman"/>
                <a:ea typeface="Times New Roman"/>
                <a:cs typeface="Times New Roman"/>
                <a:sym typeface="Times New Roman"/>
              </a:rPr>
              <a:t>It also requires a </a:t>
            </a:r>
            <a:r>
              <a:rPr lang="en-US" sz="2400">
                <a:solidFill>
                  <a:srgbClr val="222222"/>
                </a:solidFill>
                <a:highlight>
                  <a:srgbClr val="FFFF00"/>
                </a:highlight>
                <a:latin typeface="Times New Roman"/>
                <a:ea typeface="Times New Roman"/>
                <a:cs typeface="Times New Roman"/>
                <a:sym typeface="Times New Roman"/>
              </a:rPr>
              <a:t>knowledge of the world and of language</a:t>
            </a:r>
            <a:r>
              <a:rPr lang="en-US" sz="2400">
                <a:solidFill>
                  <a:srgbClr val="222222"/>
                </a:solidFill>
                <a:latin typeface="Times New Roman"/>
                <a:ea typeface="Times New Roman"/>
                <a:cs typeface="Times New Roman"/>
                <a:sym typeface="Times New Roman"/>
              </a:rPr>
              <a:t>.</a:t>
            </a:r>
            <a:endParaRPr sz="2400">
              <a:solidFill>
                <a:srgbClr val="22222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g2d26e7bbf5f_1_1"/>
          <p:cNvSpPr txBox="1">
            <a:spLocks noGrp="1"/>
          </p:cNvSpPr>
          <p:nvPr>
            <p:ph type="title"/>
          </p:nvPr>
        </p:nvSpPr>
        <p:spPr>
          <a:xfrm>
            <a:off x="1251678" y="382385"/>
            <a:ext cx="10178400" cy="1492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n-US"/>
              <a:t>challenges </a:t>
            </a:r>
            <a:endParaRPr/>
          </a:p>
        </p:txBody>
      </p:sp>
      <p:sp>
        <p:nvSpPr>
          <p:cNvPr id="117" name="Google Shape;117;g2d26e7bbf5f_1_1"/>
          <p:cNvSpPr txBox="1">
            <a:spLocks noGrp="1"/>
          </p:cNvSpPr>
          <p:nvPr>
            <p:ph type="body" idx="1"/>
          </p:nvPr>
        </p:nvSpPr>
        <p:spPr>
          <a:xfrm>
            <a:off x="1251678" y="2286001"/>
            <a:ext cx="10178400" cy="35937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ct val="97297"/>
              <a:buNone/>
            </a:pPr>
            <a:r>
              <a:rPr lang="en-US"/>
              <a:t>Data Complexity.</a:t>
            </a:r>
            <a:endParaRPr/>
          </a:p>
          <a:p>
            <a:pPr marL="0" lvl="0" indent="457200" algn="l" rtl="0">
              <a:lnSpc>
                <a:spcPct val="110000"/>
              </a:lnSpc>
              <a:spcBef>
                <a:spcPts val="700"/>
              </a:spcBef>
              <a:spcAft>
                <a:spcPts val="0"/>
              </a:spcAft>
              <a:buSzPct val="97297"/>
              <a:buNone/>
            </a:pPr>
            <a:r>
              <a:rPr lang="en-US"/>
              <a:t>phrasing ambiguity.</a:t>
            </a:r>
            <a:endParaRPr/>
          </a:p>
          <a:p>
            <a:pPr marL="0" lvl="0" indent="457200" algn="l" rtl="0">
              <a:lnSpc>
                <a:spcPct val="110000"/>
              </a:lnSpc>
              <a:spcBef>
                <a:spcPts val="700"/>
              </a:spcBef>
              <a:spcAft>
                <a:spcPts val="0"/>
              </a:spcAft>
              <a:buSzPct val="97297"/>
              <a:buNone/>
            </a:pPr>
            <a:r>
              <a:rPr lang="en-US"/>
              <a:t>Identify the semantics</a:t>
            </a:r>
            <a:endParaRPr/>
          </a:p>
          <a:p>
            <a:pPr marL="0" lvl="0" indent="457200" algn="l" rtl="0">
              <a:lnSpc>
                <a:spcPct val="110000"/>
              </a:lnSpc>
              <a:spcBef>
                <a:spcPts val="700"/>
              </a:spcBef>
              <a:spcAft>
                <a:spcPts val="0"/>
              </a:spcAft>
              <a:buSzPct val="97297"/>
              <a:buNone/>
            </a:pPr>
            <a:r>
              <a:rPr lang="en-US"/>
              <a:t>complexity of words</a:t>
            </a:r>
            <a:endParaRPr/>
          </a:p>
          <a:p>
            <a:pPr marL="0" lvl="0" indent="457200" algn="l" rtl="0">
              <a:lnSpc>
                <a:spcPct val="110000"/>
              </a:lnSpc>
              <a:spcBef>
                <a:spcPts val="700"/>
              </a:spcBef>
              <a:spcAft>
                <a:spcPts val="0"/>
              </a:spcAft>
              <a:buSzPct val="97297"/>
              <a:buNone/>
            </a:pPr>
            <a:r>
              <a:rPr lang="en-US"/>
              <a:t>quantifier scoping</a:t>
            </a:r>
            <a:endParaRPr/>
          </a:p>
          <a:p>
            <a:pPr marL="0" lvl="0" indent="457200" algn="l" rtl="0">
              <a:lnSpc>
                <a:spcPct val="110000"/>
              </a:lnSpc>
              <a:spcBef>
                <a:spcPts val="700"/>
              </a:spcBef>
              <a:spcAft>
                <a:spcPts val="0"/>
              </a:spcAft>
              <a:buSzPct val="97297"/>
              <a:buNone/>
            </a:pPr>
            <a:r>
              <a:rPr lang="en-US"/>
              <a:t>Language references</a:t>
            </a:r>
            <a:endParaRPr/>
          </a:p>
          <a:p>
            <a:pPr marL="0" lvl="0" indent="457200" algn="l" rtl="0">
              <a:lnSpc>
                <a:spcPct val="110000"/>
              </a:lnSpc>
              <a:spcBef>
                <a:spcPts val="700"/>
              </a:spcBef>
              <a:spcAft>
                <a:spcPts val="0"/>
              </a:spcAft>
              <a:buSzPct val="97297"/>
              <a:buNone/>
            </a:pPr>
            <a:r>
              <a:rPr lang="en-US"/>
              <a:t>words with multiple meanings.</a:t>
            </a:r>
            <a:endParaRPr/>
          </a:p>
          <a:p>
            <a:pPr marL="0" lvl="0" indent="457200" algn="l" rtl="0">
              <a:lnSpc>
                <a:spcPct val="110000"/>
              </a:lnSpc>
              <a:spcBef>
                <a:spcPts val="700"/>
              </a:spcBef>
              <a:spcAft>
                <a:spcPts val="0"/>
              </a:spcAft>
              <a:buSzPct val="97297"/>
              <a:buNone/>
            </a:pPr>
            <a:r>
              <a:rPr lang="en-US"/>
              <a:t>sentences with ambiguous meaning.</a:t>
            </a:r>
            <a:endParaRPr/>
          </a:p>
          <a:p>
            <a:pPr marL="0" lvl="0" indent="457200" algn="l" rtl="0">
              <a:lnSpc>
                <a:spcPct val="110000"/>
              </a:lnSpc>
              <a:spcBef>
                <a:spcPts val="700"/>
              </a:spcBef>
              <a:spcAft>
                <a:spcPts val="0"/>
              </a:spcAft>
              <a:buSzPct val="97297"/>
              <a:buNone/>
            </a:pPr>
            <a:endParaRPr/>
          </a:p>
          <a:p>
            <a:pPr marL="0" lvl="0" indent="0" algn="l" rtl="0">
              <a:lnSpc>
                <a:spcPct val="110000"/>
              </a:lnSpc>
              <a:spcBef>
                <a:spcPts val="700"/>
              </a:spcBef>
              <a:spcAft>
                <a:spcPts val="0"/>
              </a:spcAft>
              <a:buSzPct val="97297"/>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
          <p:cNvSpPr txBox="1">
            <a:spLocks noGrp="1"/>
          </p:cNvSpPr>
          <p:nvPr>
            <p:ph type="title"/>
          </p:nvPr>
        </p:nvSpPr>
        <p:spPr>
          <a:xfrm>
            <a:off x="1251675" y="382380"/>
            <a:ext cx="10178400" cy="7929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262626"/>
              </a:buClr>
              <a:buSzPts val="5100"/>
              <a:buFont typeface="Impact"/>
              <a:buNone/>
            </a:pPr>
            <a:r>
              <a:rPr lang="en-US"/>
              <a:t>APPROACHES</a:t>
            </a:r>
            <a:endParaRPr/>
          </a:p>
        </p:txBody>
      </p:sp>
      <p:sp>
        <p:nvSpPr>
          <p:cNvPr id="123" name="Google Shape;123;p3"/>
          <p:cNvSpPr txBox="1">
            <a:spLocks noGrp="1"/>
          </p:cNvSpPr>
          <p:nvPr>
            <p:ph type="body" idx="1"/>
          </p:nvPr>
        </p:nvSpPr>
        <p:spPr>
          <a:xfrm>
            <a:off x="1251675" y="1333027"/>
            <a:ext cx="10178400" cy="45465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1000"/>
              </a:spcBef>
              <a:spcAft>
                <a:spcPts val="0"/>
              </a:spcAft>
              <a:buSzPts val="1800"/>
              <a:buNone/>
            </a:pPr>
            <a:r>
              <a:rPr lang="en-US" sz="1800">
                <a:solidFill>
                  <a:schemeClr val="dk1"/>
                </a:solidFill>
                <a:latin typeface="Times New Roman"/>
                <a:ea typeface="Times New Roman"/>
                <a:cs typeface="Times New Roman"/>
                <a:sym typeface="Times New Roman"/>
              </a:rPr>
              <a:t>The two major approaches to NLP -</a:t>
            </a:r>
            <a:endParaRPr sz="1800">
              <a:solidFill>
                <a:schemeClr val="dk1"/>
              </a:solidFill>
              <a:latin typeface="Times New Roman"/>
              <a:ea typeface="Times New Roman"/>
              <a:cs typeface="Times New Roman"/>
              <a:sym typeface="Times New Roman"/>
            </a:endParaRPr>
          </a:p>
          <a:p>
            <a:pPr marL="457200" lvl="0" indent="-342900" algn="l" rtl="0">
              <a:lnSpc>
                <a:spcPct val="100000"/>
              </a:lnSpc>
              <a:spcBef>
                <a:spcPts val="1000"/>
              </a:spcBef>
              <a:spcAft>
                <a:spcPts val="0"/>
              </a:spcAft>
              <a:buClr>
                <a:schemeClr val="dk1"/>
              </a:buClr>
              <a:buSzPts val="1800"/>
              <a:buFont typeface="Times New Roman"/>
              <a:buAutoNum type="arabicPeriod"/>
            </a:pPr>
            <a:r>
              <a:rPr lang="en-US" sz="1800" b="1">
                <a:solidFill>
                  <a:schemeClr val="dk1"/>
                </a:solidFill>
                <a:latin typeface="Times New Roman"/>
                <a:ea typeface="Times New Roman"/>
                <a:cs typeface="Times New Roman"/>
                <a:sym typeface="Times New Roman"/>
              </a:rPr>
              <a:t>Rationalist Approach</a:t>
            </a:r>
            <a:endParaRPr sz="1800" b="1">
              <a:solidFill>
                <a:schemeClr val="dk1"/>
              </a:solidFill>
              <a:latin typeface="Times New Roman"/>
              <a:ea typeface="Times New Roman"/>
              <a:cs typeface="Times New Roman"/>
              <a:sym typeface="Times New Roman"/>
            </a:endParaRPr>
          </a:p>
          <a:p>
            <a:pPr marL="457200" lvl="0" indent="-342900" algn="l" rtl="0">
              <a:lnSpc>
                <a:spcPct val="100000"/>
              </a:lnSpc>
              <a:spcBef>
                <a:spcPts val="1000"/>
              </a:spcBef>
              <a:spcAft>
                <a:spcPts val="0"/>
              </a:spcAft>
              <a:buClr>
                <a:schemeClr val="dk1"/>
              </a:buClr>
              <a:buSzPts val="1800"/>
              <a:buFont typeface="Times New Roman"/>
              <a:buAutoNum type="arabicPeriod"/>
            </a:pPr>
            <a:r>
              <a:rPr lang="en-US" sz="1800" b="1">
                <a:solidFill>
                  <a:schemeClr val="dk1"/>
                </a:solidFill>
                <a:latin typeface="Times New Roman"/>
                <a:ea typeface="Times New Roman"/>
                <a:cs typeface="Times New Roman"/>
                <a:sym typeface="Times New Roman"/>
              </a:rPr>
              <a:t>Empiricist Approach</a:t>
            </a:r>
            <a:endParaRPr sz="1800" b="1">
              <a:solidFill>
                <a:schemeClr val="dk1"/>
              </a:solidFill>
              <a:latin typeface="Times New Roman"/>
              <a:ea typeface="Times New Roman"/>
              <a:cs typeface="Times New Roman"/>
              <a:sym typeface="Times New Roman"/>
            </a:endParaRPr>
          </a:p>
          <a:p>
            <a:pPr marL="0" lvl="0" indent="0" algn="l" rtl="0">
              <a:lnSpc>
                <a:spcPct val="100000"/>
              </a:lnSpc>
              <a:spcBef>
                <a:spcPts val="1000"/>
              </a:spcBef>
              <a:spcAft>
                <a:spcPts val="0"/>
              </a:spcAft>
              <a:buSzPts val="1800"/>
              <a:buNone/>
            </a:pPr>
            <a:r>
              <a:rPr lang="en-US" sz="1800" b="1">
                <a:solidFill>
                  <a:schemeClr val="dk1"/>
                </a:solidFill>
                <a:latin typeface="Times New Roman"/>
                <a:ea typeface="Times New Roman"/>
                <a:cs typeface="Times New Roman"/>
                <a:sym typeface="Times New Roman"/>
              </a:rPr>
              <a:t>1. Rationalist Approach:</a:t>
            </a:r>
            <a:endParaRPr sz="1800" b="1">
              <a:solidFill>
                <a:schemeClr val="dk1"/>
              </a:solidFill>
              <a:latin typeface="Times New Roman"/>
              <a:ea typeface="Times New Roman"/>
              <a:cs typeface="Times New Roman"/>
              <a:sym typeface="Times New Roman"/>
            </a:endParaRPr>
          </a:p>
          <a:p>
            <a:pPr marL="457200" lvl="0" indent="-342900" algn="l" rtl="0">
              <a:lnSpc>
                <a:spcPct val="100000"/>
              </a:lnSpc>
              <a:spcBef>
                <a:spcPts val="1000"/>
              </a:spcBef>
              <a:spcAft>
                <a:spcPts val="0"/>
              </a:spcAft>
              <a:buClr>
                <a:schemeClr val="dk1"/>
              </a:buClr>
              <a:buSzPts val="1800"/>
              <a:buFont typeface="Calibri"/>
              <a:buChar char="•"/>
            </a:pPr>
            <a:r>
              <a:rPr lang="en-US" sz="1800">
                <a:solidFill>
                  <a:schemeClr val="dk1"/>
                </a:solidFill>
                <a:latin typeface="Times New Roman"/>
                <a:ea typeface="Times New Roman"/>
                <a:cs typeface="Times New Roman"/>
                <a:sym typeface="Times New Roman"/>
              </a:rPr>
              <a:t>Early NLP research is based on rationalist approach,  which assumes the </a:t>
            </a:r>
            <a:r>
              <a:rPr lang="en-US" sz="1800" b="1">
                <a:solidFill>
                  <a:schemeClr val="dk1"/>
                </a:solidFill>
                <a:highlight>
                  <a:srgbClr val="FFFF00"/>
                </a:highlight>
                <a:latin typeface="Times New Roman"/>
                <a:ea typeface="Times New Roman"/>
                <a:cs typeface="Times New Roman"/>
                <a:sym typeface="Times New Roman"/>
              </a:rPr>
              <a:t>existence of some language faculty </a:t>
            </a:r>
            <a:r>
              <a:rPr lang="en-US" sz="1800">
                <a:solidFill>
                  <a:schemeClr val="dk1"/>
                </a:solidFill>
                <a:highlight>
                  <a:srgbClr val="FFFF00"/>
                </a:highlight>
                <a:latin typeface="Times New Roman"/>
                <a:ea typeface="Times New Roman"/>
                <a:cs typeface="Times New Roman"/>
                <a:sym typeface="Times New Roman"/>
              </a:rPr>
              <a:t>i</a:t>
            </a:r>
            <a:r>
              <a:rPr lang="en-US" sz="1800">
                <a:solidFill>
                  <a:schemeClr val="dk1"/>
                </a:solidFill>
                <a:latin typeface="Times New Roman"/>
                <a:ea typeface="Times New Roman"/>
                <a:cs typeface="Times New Roman"/>
                <a:sym typeface="Times New Roman"/>
              </a:rPr>
              <a:t>n human brain. </a:t>
            </a:r>
            <a:endParaRPr sz="1800">
              <a:solidFill>
                <a:schemeClr val="dk1"/>
              </a:solidFill>
              <a:latin typeface="Times New Roman"/>
              <a:ea typeface="Times New Roman"/>
              <a:cs typeface="Times New Roman"/>
              <a:sym typeface="Times New Roman"/>
            </a:endParaRPr>
          </a:p>
          <a:p>
            <a:pPr marL="457200" lvl="0" indent="-342900" algn="l" rtl="0">
              <a:lnSpc>
                <a:spcPct val="100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Supporters argued that it is not possible for children to learn a complex thing like natural language from limited sensory input.</a:t>
            </a:r>
            <a:endParaRPr sz="1800">
              <a:solidFill>
                <a:schemeClr val="dk1"/>
              </a:solidFill>
              <a:latin typeface="Times New Roman"/>
              <a:ea typeface="Times New Roman"/>
              <a:cs typeface="Times New Roman"/>
              <a:sym typeface="Times New Roman"/>
            </a:endParaRPr>
          </a:p>
          <a:p>
            <a:pPr marL="0" lvl="0" indent="0" algn="l" rtl="0">
              <a:lnSpc>
                <a:spcPct val="100000"/>
              </a:lnSpc>
              <a:spcBef>
                <a:spcPts val="1000"/>
              </a:spcBef>
              <a:spcAft>
                <a:spcPts val="0"/>
              </a:spcAft>
              <a:buSzPts val="1800"/>
              <a:buNone/>
            </a:pPr>
            <a:r>
              <a:rPr lang="en-US" sz="1800" b="1">
                <a:solidFill>
                  <a:schemeClr val="dk1"/>
                </a:solidFill>
                <a:latin typeface="Times New Roman"/>
                <a:ea typeface="Times New Roman"/>
                <a:cs typeface="Times New Roman"/>
                <a:sym typeface="Times New Roman"/>
              </a:rPr>
              <a:t>2. Empiricist:</a:t>
            </a:r>
            <a:endParaRPr sz="1800" b="1">
              <a:solidFill>
                <a:schemeClr val="dk1"/>
              </a:solidFill>
              <a:latin typeface="Times New Roman"/>
              <a:ea typeface="Times New Roman"/>
              <a:cs typeface="Times New Roman"/>
              <a:sym typeface="Times New Roman"/>
            </a:endParaRPr>
          </a:p>
          <a:p>
            <a:pPr marL="457200" lvl="0" indent="-342900" algn="l" rtl="0">
              <a:lnSpc>
                <a:spcPct val="100000"/>
              </a:lnSpc>
              <a:spcBef>
                <a:spcPts val="1000"/>
              </a:spcBef>
              <a:spcAft>
                <a:spcPts val="0"/>
              </a:spcAft>
              <a:buClr>
                <a:schemeClr val="dk1"/>
              </a:buClr>
              <a:buSzPts val="1800"/>
              <a:buFont typeface="Calibri"/>
              <a:buChar char="•"/>
            </a:pPr>
            <a:r>
              <a:rPr lang="en-US" sz="1800" b="1">
                <a:solidFill>
                  <a:schemeClr val="dk1"/>
                </a:solidFill>
                <a:latin typeface="Times New Roman"/>
                <a:ea typeface="Times New Roman"/>
                <a:cs typeface="Times New Roman"/>
                <a:sym typeface="Times New Roman"/>
              </a:rPr>
              <a:t>Empiricists</a:t>
            </a:r>
            <a:r>
              <a:rPr lang="en-US" sz="1800">
                <a:solidFill>
                  <a:schemeClr val="dk1"/>
                </a:solidFill>
                <a:latin typeface="Times New Roman"/>
                <a:ea typeface="Times New Roman"/>
                <a:cs typeface="Times New Roman"/>
                <a:sym typeface="Times New Roman"/>
              </a:rPr>
              <a:t> do not believe in existence of language faculty.</a:t>
            </a:r>
            <a:endParaRPr sz="1800">
              <a:solidFill>
                <a:schemeClr val="dk1"/>
              </a:solidFill>
              <a:latin typeface="Times New Roman"/>
              <a:ea typeface="Times New Roman"/>
              <a:cs typeface="Times New Roman"/>
              <a:sym typeface="Times New Roman"/>
            </a:endParaRPr>
          </a:p>
          <a:p>
            <a:pPr marL="457200" lvl="0" indent="-342900" algn="l" rtl="0">
              <a:lnSpc>
                <a:spcPct val="100000"/>
              </a:lnSpc>
              <a:spcBef>
                <a:spcPts val="1000"/>
              </a:spcBef>
              <a:spcAft>
                <a:spcPts val="0"/>
              </a:spcAft>
              <a:buClr>
                <a:schemeClr val="dk1"/>
              </a:buClr>
              <a:buSzPts val="1800"/>
              <a:buFont typeface="Calibri"/>
              <a:buChar char="•"/>
            </a:pPr>
            <a:r>
              <a:rPr lang="en-US" sz="1800">
                <a:solidFill>
                  <a:schemeClr val="dk1"/>
                </a:solidFill>
                <a:latin typeface="Times New Roman"/>
                <a:ea typeface="Times New Roman"/>
                <a:cs typeface="Times New Roman"/>
                <a:sym typeface="Times New Roman"/>
              </a:rPr>
              <a:t>They believe  in the existence of some general organization principles such as </a:t>
            </a:r>
            <a:r>
              <a:rPr lang="en-US" sz="1800" b="1">
                <a:solidFill>
                  <a:schemeClr val="dk1"/>
                </a:solidFill>
                <a:highlight>
                  <a:srgbClr val="FFFF00"/>
                </a:highlight>
                <a:latin typeface="Times New Roman"/>
                <a:ea typeface="Times New Roman"/>
                <a:cs typeface="Times New Roman"/>
                <a:sym typeface="Times New Roman"/>
              </a:rPr>
              <a:t>pattern recognition, generalization and association</a:t>
            </a: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marL="457200" lvl="0" indent="-342900" algn="l" rtl="0">
              <a:lnSpc>
                <a:spcPct val="100000"/>
              </a:lnSpc>
              <a:spcBef>
                <a:spcPts val="1000"/>
              </a:spcBef>
              <a:spcAft>
                <a:spcPts val="100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Learning of detailed structures is therefore possible through the application of these principles on sensory inputs available to the child.</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1066800" y="380994"/>
            <a:ext cx="10058400" cy="6228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ORIGINS OF NLP</a:t>
            </a:r>
            <a:endParaRPr/>
          </a:p>
        </p:txBody>
      </p:sp>
      <p:sp>
        <p:nvSpPr>
          <p:cNvPr id="129" name="Google Shape;129;p4"/>
          <p:cNvSpPr txBox="1">
            <a:spLocks noGrp="1"/>
          </p:cNvSpPr>
          <p:nvPr>
            <p:ph type="body" idx="1"/>
          </p:nvPr>
        </p:nvSpPr>
        <p:spPr>
          <a:xfrm>
            <a:off x="1066900" y="1182250"/>
            <a:ext cx="10058400" cy="5200200"/>
          </a:xfrm>
          <a:prstGeom prst="rect">
            <a:avLst/>
          </a:prstGeom>
          <a:noFill/>
          <a:ln>
            <a:noFill/>
          </a:ln>
        </p:spPr>
        <p:txBody>
          <a:bodyPr spcFirstLastPara="1" wrap="square" lIns="91425" tIns="45700" rIns="91425" bIns="45700" anchor="ctr" anchorCtr="0">
            <a:normAutofit fontScale="92500" lnSpcReduction="10000"/>
          </a:bodyPr>
          <a:lstStyle/>
          <a:p>
            <a:pPr marL="457200" lvl="0" indent="-394492" algn="l" rtl="0">
              <a:lnSpc>
                <a:spcPct val="115000"/>
              </a:lnSpc>
              <a:spcBef>
                <a:spcPts val="1000"/>
              </a:spcBef>
              <a:spcAft>
                <a:spcPts val="0"/>
              </a:spcAft>
              <a:buClr>
                <a:schemeClr val="dk1"/>
              </a:buClr>
              <a:buSzPts val="2613"/>
              <a:buFont typeface="Times New Roman"/>
              <a:buChar char="❏"/>
            </a:pPr>
            <a:r>
              <a:rPr lang="en-US" sz="2612">
                <a:solidFill>
                  <a:schemeClr val="dk1"/>
                </a:solidFill>
                <a:latin typeface="Times New Roman"/>
                <a:ea typeface="Times New Roman"/>
                <a:cs typeface="Times New Roman"/>
                <a:sym typeface="Times New Roman"/>
              </a:rPr>
              <a:t>Natural Language Processing sometimes mistakenly termed </a:t>
            </a:r>
            <a:r>
              <a:rPr lang="en-US" sz="2612">
                <a:solidFill>
                  <a:schemeClr val="dk1"/>
                </a:solidFill>
                <a:highlight>
                  <a:srgbClr val="00FF00"/>
                </a:highlight>
                <a:latin typeface="Times New Roman"/>
                <a:ea typeface="Times New Roman"/>
                <a:cs typeface="Times New Roman"/>
                <a:sym typeface="Times New Roman"/>
              </a:rPr>
              <a:t>Natural Language understanding,</a:t>
            </a:r>
            <a:r>
              <a:rPr lang="en-US" sz="2612">
                <a:solidFill>
                  <a:schemeClr val="dk1"/>
                </a:solidFill>
                <a:latin typeface="Times New Roman"/>
                <a:ea typeface="Times New Roman"/>
                <a:cs typeface="Times New Roman"/>
                <a:sym typeface="Times New Roman"/>
              </a:rPr>
              <a:t> originated from </a:t>
            </a:r>
            <a:r>
              <a:rPr lang="en-US" sz="2612">
                <a:solidFill>
                  <a:schemeClr val="dk1"/>
                </a:solidFill>
                <a:highlight>
                  <a:srgbClr val="FFFF00"/>
                </a:highlight>
                <a:latin typeface="Times New Roman"/>
                <a:ea typeface="Times New Roman"/>
                <a:cs typeface="Times New Roman"/>
                <a:sym typeface="Times New Roman"/>
              </a:rPr>
              <a:t>machine translation research.</a:t>
            </a:r>
            <a:endParaRPr sz="2612">
              <a:solidFill>
                <a:schemeClr val="dk1"/>
              </a:solidFill>
              <a:highlight>
                <a:srgbClr val="FFFF00"/>
              </a:highlight>
              <a:latin typeface="Times New Roman"/>
              <a:ea typeface="Times New Roman"/>
              <a:cs typeface="Times New Roman"/>
              <a:sym typeface="Times New Roman"/>
            </a:endParaRPr>
          </a:p>
          <a:p>
            <a:pPr marL="457200" lvl="0" indent="-394492" algn="l" rtl="0">
              <a:lnSpc>
                <a:spcPct val="115000"/>
              </a:lnSpc>
              <a:spcBef>
                <a:spcPts val="1000"/>
              </a:spcBef>
              <a:spcAft>
                <a:spcPts val="0"/>
              </a:spcAft>
              <a:buClr>
                <a:schemeClr val="dk1"/>
              </a:buClr>
              <a:buSzPts val="2613"/>
              <a:buFont typeface="Times New Roman"/>
              <a:buChar char="❏"/>
            </a:pPr>
            <a:r>
              <a:rPr lang="en-US" sz="2612">
                <a:solidFill>
                  <a:schemeClr val="dk1"/>
                </a:solidFill>
                <a:highlight>
                  <a:srgbClr val="FFFF00"/>
                </a:highlight>
                <a:latin typeface="Times New Roman"/>
                <a:ea typeface="Times New Roman"/>
                <a:cs typeface="Times New Roman"/>
                <a:sym typeface="Times New Roman"/>
              </a:rPr>
              <a:t>Natural language understanding involves only the interpretation of language.</a:t>
            </a:r>
            <a:endParaRPr sz="2612">
              <a:solidFill>
                <a:schemeClr val="dk1"/>
              </a:solidFill>
              <a:highlight>
                <a:srgbClr val="FFFF00"/>
              </a:highlight>
              <a:latin typeface="Times New Roman"/>
              <a:ea typeface="Times New Roman"/>
              <a:cs typeface="Times New Roman"/>
              <a:sym typeface="Times New Roman"/>
            </a:endParaRPr>
          </a:p>
          <a:p>
            <a:pPr marL="457200" lvl="0" indent="-394492" algn="l" rtl="0">
              <a:lnSpc>
                <a:spcPct val="115000"/>
              </a:lnSpc>
              <a:spcBef>
                <a:spcPts val="1000"/>
              </a:spcBef>
              <a:spcAft>
                <a:spcPts val="0"/>
              </a:spcAft>
              <a:buClr>
                <a:schemeClr val="dk1"/>
              </a:buClr>
              <a:buSzPts val="2613"/>
              <a:buFont typeface="Times New Roman"/>
              <a:buChar char="❏"/>
            </a:pPr>
            <a:r>
              <a:rPr lang="en-US" sz="2612">
                <a:solidFill>
                  <a:schemeClr val="dk1"/>
                </a:solidFill>
                <a:highlight>
                  <a:srgbClr val="00FFFF"/>
                </a:highlight>
                <a:latin typeface="Times New Roman"/>
                <a:ea typeface="Times New Roman"/>
                <a:cs typeface="Times New Roman"/>
                <a:sym typeface="Times New Roman"/>
              </a:rPr>
              <a:t>Natural Language Processing  includes both understanding (interpretation) and generation (production). NLP also includes speech processing.</a:t>
            </a:r>
            <a:endParaRPr sz="2612">
              <a:solidFill>
                <a:schemeClr val="dk1"/>
              </a:solidFill>
              <a:highlight>
                <a:srgbClr val="00FFFF"/>
              </a:highlight>
              <a:latin typeface="Times New Roman"/>
              <a:ea typeface="Times New Roman"/>
              <a:cs typeface="Times New Roman"/>
              <a:sym typeface="Times New Roman"/>
            </a:endParaRPr>
          </a:p>
          <a:p>
            <a:pPr marL="457200" lvl="0" indent="-394492" algn="l" rtl="0">
              <a:lnSpc>
                <a:spcPct val="115000"/>
              </a:lnSpc>
              <a:spcBef>
                <a:spcPts val="1000"/>
              </a:spcBef>
              <a:spcAft>
                <a:spcPts val="0"/>
              </a:spcAft>
              <a:buClr>
                <a:schemeClr val="dk1"/>
              </a:buClr>
              <a:buSzPts val="2613"/>
              <a:buFont typeface="Times New Roman"/>
              <a:buChar char="❏"/>
            </a:pPr>
            <a:r>
              <a:rPr lang="en-US" sz="2612">
                <a:solidFill>
                  <a:schemeClr val="dk1"/>
                </a:solidFill>
                <a:latin typeface="Times New Roman"/>
                <a:ea typeface="Times New Roman"/>
                <a:cs typeface="Times New Roman"/>
                <a:sym typeface="Times New Roman"/>
              </a:rPr>
              <a:t>(NLP Syllabus is concerned with only text processing covering work in the area of computational linguistics.)</a:t>
            </a:r>
            <a:endParaRPr sz="2612">
              <a:solidFill>
                <a:schemeClr val="dk1"/>
              </a:solidFill>
              <a:latin typeface="Times New Roman"/>
              <a:ea typeface="Times New Roman"/>
              <a:cs typeface="Times New Roman"/>
              <a:sym typeface="Times New Roman"/>
            </a:endParaRPr>
          </a:p>
          <a:p>
            <a:pPr marL="457200" lvl="0" indent="-394492" algn="l" rtl="0">
              <a:lnSpc>
                <a:spcPct val="115000"/>
              </a:lnSpc>
              <a:spcBef>
                <a:spcPts val="1000"/>
              </a:spcBef>
              <a:spcAft>
                <a:spcPts val="1000"/>
              </a:spcAft>
              <a:buClr>
                <a:schemeClr val="dk1"/>
              </a:buClr>
              <a:buSzPts val="2613"/>
              <a:buFont typeface="Times New Roman"/>
              <a:buChar char="❏"/>
            </a:pPr>
            <a:r>
              <a:rPr lang="en-US" sz="2612">
                <a:solidFill>
                  <a:schemeClr val="dk1"/>
                </a:solidFill>
                <a:highlight>
                  <a:srgbClr val="FFFF00"/>
                </a:highlight>
                <a:latin typeface="Times New Roman"/>
                <a:ea typeface="Times New Roman"/>
                <a:cs typeface="Times New Roman"/>
                <a:sym typeface="Times New Roman"/>
              </a:rPr>
              <a:t>Linguistics </a:t>
            </a:r>
            <a:r>
              <a:rPr lang="en-US" sz="2612">
                <a:solidFill>
                  <a:schemeClr val="dk1"/>
                </a:solidFill>
                <a:latin typeface="Times New Roman"/>
                <a:ea typeface="Times New Roman"/>
                <a:cs typeface="Times New Roman"/>
                <a:sym typeface="Times New Roman"/>
              </a:rPr>
              <a:t>is a term that refers to the study of language, its structure, grammar, syntax and phonetics.</a:t>
            </a:r>
            <a:endParaRPr sz="2612">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g155f8378242_0_0"/>
          <p:cNvSpPr txBox="1">
            <a:spLocks noGrp="1"/>
          </p:cNvSpPr>
          <p:nvPr>
            <p:ph type="title"/>
          </p:nvPr>
        </p:nvSpPr>
        <p:spPr>
          <a:xfrm>
            <a:off x="1257300" y="380994"/>
            <a:ext cx="10058400" cy="6228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ORIGINS OF NLP</a:t>
            </a:r>
            <a:endParaRPr/>
          </a:p>
        </p:txBody>
      </p:sp>
      <p:sp>
        <p:nvSpPr>
          <p:cNvPr id="135" name="Google Shape;135;g155f8378242_0_0"/>
          <p:cNvSpPr txBox="1">
            <a:spLocks noGrp="1"/>
          </p:cNvSpPr>
          <p:nvPr>
            <p:ph type="body" idx="1"/>
          </p:nvPr>
        </p:nvSpPr>
        <p:spPr>
          <a:xfrm>
            <a:off x="1066800" y="1182255"/>
            <a:ext cx="10058400" cy="5200200"/>
          </a:xfrm>
          <a:prstGeom prst="rect">
            <a:avLst/>
          </a:prstGeom>
          <a:noFill/>
          <a:ln>
            <a:noFill/>
          </a:ln>
        </p:spPr>
        <p:txBody>
          <a:bodyPr spcFirstLastPara="1" wrap="square" lIns="91425" tIns="45700" rIns="91425" bIns="45700" anchor="ctr" anchorCtr="0">
            <a:normAutofit fontScale="62500" lnSpcReduction="20000"/>
          </a:bodyPr>
          <a:lstStyle/>
          <a:p>
            <a:pPr marL="0" lvl="0" indent="0" algn="l" rtl="0">
              <a:lnSpc>
                <a:spcPct val="115000"/>
              </a:lnSpc>
              <a:spcBef>
                <a:spcPts val="700"/>
              </a:spcBef>
              <a:spcAft>
                <a:spcPts val="0"/>
              </a:spcAft>
              <a:buSzPct val="72727"/>
              <a:buNone/>
            </a:pPr>
            <a:r>
              <a:rPr lang="en-US" sz="4500" b="1">
                <a:solidFill>
                  <a:schemeClr val="dk1"/>
                </a:solidFill>
                <a:latin typeface="Calibri"/>
                <a:ea typeface="Calibri"/>
                <a:cs typeface="Calibri"/>
                <a:sym typeface="Calibri"/>
              </a:rPr>
              <a:t>Computational linguistics</a:t>
            </a:r>
            <a:r>
              <a:rPr lang="en-US" sz="4500">
                <a:solidFill>
                  <a:schemeClr val="dk1"/>
                </a:solidFill>
                <a:latin typeface="Calibri"/>
                <a:ea typeface="Calibri"/>
                <a:cs typeface="Calibri"/>
                <a:sym typeface="Calibri"/>
              </a:rPr>
              <a:t> is similar to </a:t>
            </a:r>
            <a:r>
              <a:rPr lang="en-US" sz="4500">
                <a:solidFill>
                  <a:schemeClr val="dk1"/>
                </a:solidFill>
                <a:highlight>
                  <a:srgbClr val="00FFFF"/>
                </a:highlight>
                <a:latin typeface="Calibri"/>
                <a:ea typeface="Calibri"/>
                <a:cs typeface="Calibri"/>
                <a:sym typeface="Calibri"/>
              </a:rPr>
              <a:t>theoretical  and psycho-linguistics</a:t>
            </a:r>
            <a:r>
              <a:rPr lang="en-US" sz="4500">
                <a:solidFill>
                  <a:schemeClr val="dk1"/>
                </a:solidFill>
                <a:latin typeface="Calibri"/>
                <a:ea typeface="Calibri"/>
                <a:cs typeface="Calibri"/>
                <a:sym typeface="Calibri"/>
              </a:rPr>
              <a:t> but uses different tools.</a:t>
            </a:r>
            <a:endParaRPr sz="4500">
              <a:solidFill>
                <a:schemeClr val="dk1"/>
              </a:solidFill>
              <a:latin typeface="Calibri"/>
              <a:ea typeface="Calibri"/>
              <a:cs typeface="Calibri"/>
              <a:sym typeface="Calibri"/>
            </a:endParaRPr>
          </a:p>
          <a:p>
            <a:pPr marL="0" lvl="0" indent="0" algn="l" rtl="0">
              <a:lnSpc>
                <a:spcPct val="115000"/>
              </a:lnSpc>
              <a:spcBef>
                <a:spcPts val="700"/>
              </a:spcBef>
              <a:spcAft>
                <a:spcPts val="0"/>
              </a:spcAft>
              <a:buSzPct val="72727"/>
              <a:buNone/>
            </a:pPr>
            <a:r>
              <a:rPr lang="en-US" sz="4500" b="1" u="sng">
                <a:solidFill>
                  <a:schemeClr val="dk1"/>
                </a:solidFill>
                <a:latin typeface="Calibri"/>
                <a:ea typeface="Calibri"/>
                <a:cs typeface="Calibri"/>
                <a:sym typeface="Calibri"/>
              </a:rPr>
              <a:t>Theoretical Linguistics</a:t>
            </a:r>
            <a:r>
              <a:rPr lang="en-US" sz="4500" b="1">
                <a:solidFill>
                  <a:schemeClr val="dk1"/>
                </a:solidFill>
                <a:latin typeface="Calibri"/>
                <a:ea typeface="Calibri"/>
                <a:cs typeface="Calibri"/>
                <a:sym typeface="Calibri"/>
              </a:rPr>
              <a:t>:</a:t>
            </a:r>
            <a:endParaRPr sz="4500" b="1">
              <a:solidFill>
                <a:schemeClr val="dk1"/>
              </a:solidFill>
              <a:latin typeface="Calibri"/>
              <a:ea typeface="Calibri"/>
              <a:cs typeface="Calibri"/>
              <a:sym typeface="Calibri"/>
            </a:endParaRPr>
          </a:p>
          <a:p>
            <a:pPr marL="228600" lvl="0" indent="-228600" algn="l" rtl="0">
              <a:lnSpc>
                <a:spcPct val="115000"/>
              </a:lnSpc>
              <a:spcBef>
                <a:spcPts val="700"/>
              </a:spcBef>
              <a:spcAft>
                <a:spcPts val="0"/>
              </a:spcAft>
              <a:buClr>
                <a:schemeClr val="dk1"/>
              </a:buClr>
              <a:buSzPct val="100000"/>
              <a:buFont typeface="Noto Sans Symbols"/>
              <a:buChar char="▪"/>
            </a:pPr>
            <a:r>
              <a:rPr lang="en-US" sz="4500">
                <a:solidFill>
                  <a:schemeClr val="dk1"/>
                </a:solidFill>
                <a:latin typeface="Calibri"/>
                <a:ea typeface="Calibri"/>
                <a:cs typeface="Calibri"/>
                <a:sym typeface="Calibri"/>
              </a:rPr>
              <a:t>provides </a:t>
            </a:r>
            <a:r>
              <a:rPr lang="en-US" sz="4500">
                <a:solidFill>
                  <a:schemeClr val="dk1"/>
                </a:solidFill>
                <a:highlight>
                  <a:srgbClr val="FFFF00"/>
                </a:highlight>
                <a:latin typeface="Calibri"/>
                <a:ea typeface="Calibri"/>
                <a:cs typeface="Calibri"/>
                <a:sym typeface="Calibri"/>
              </a:rPr>
              <a:t>structural description </a:t>
            </a:r>
            <a:r>
              <a:rPr lang="en-US" sz="4500">
                <a:solidFill>
                  <a:schemeClr val="dk1"/>
                </a:solidFill>
                <a:latin typeface="Calibri"/>
                <a:ea typeface="Calibri"/>
                <a:cs typeface="Calibri"/>
                <a:sym typeface="Calibri"/>
              </a:rPr>
              <a:t>of natural language and its semantics. </a:t>
            </a:r>
            <a:endParaRPr sz="4500">
              <a:solidFill>
                <a:schemeClr val="dk1"/>
              </a:solidFill>
              <a:latin typeface="Calibri"/>
              <a:ea typeface="Calibri"/>
              <a:cs typeface="Calibri"/>
              <a:sym typeface="Calibri"/>
            </a:endParaRPr>
          </a:p>
          <a:p>
            <a:pPr marL="228600" lvl="0" indent="-228600" algn="l" rtl="0">
              <a:lnSpc>
                <a:spcPct val="115000"/>
              </a:lnSpc>
              <a:spcBef>
                <a:spcPts val="700"/>
              </a:spcBef>
              <a:spcAft>
                <a:spcPts val="0"/>
              </a:spcAft>
              <a:buClr>
                <a:schemeClr val="dk1"/>
              </a:buClr>
              <a:buSzPct val="100000"/>
              <a:buFont typeface="Noto Sans Symbols"/>
              <a:buChar char="▪"/>
            </a:pPr>
            <a:r>
              <a:rPr lang="en-US" sz="4500">
                <a:solidFill>
                  <a:schemeClr val="dk1"/>
                </a:solidFill>
                <a:latin typeface="Calibri"/>
                <a:ea typeface="Calibri"/>
                <a:cs typeface="Calibri"/>
                <a:sym typeface="Calibri"/>
              </a:rPr>
              <a:t>It is not concerned with the actual processing of sentences or generation of sentences from structural description. </a:t>
            </a:r>
            <a:endParaRPr sz="4500">
              <a:solidFill>
                <a:schemeClr val="dk1"/>
              </a:solidFill>
              <a:latin typeface="Calibri"/>
              <a:ea typeface="Calibri"/>
              <a:cs typeface="Calibri"/>
              <a:sym typeface="Calibri"/>
            </a:endParaRPr>
          </a:p>
          <a:p>
            <a:pPr marL="228600" lvl="0" indent="-228600" algn="l" rtl="0">
              <a:lnSpc>
                <a:spcPct val="115000"/>
              </a:lnSpc>
              <a:spcBef>
                <a:spcPts val="700"/>
              </a:spcBef>
              <a:spcAft>
                <a:spcPts val="0"/>
              </a:spcAft>
              <a:buClr>
                <a:schemeClr val="dk1"/>
              </a:buClr>
              <a:buSzPct val="100000"/>
              <a:buFont typeface="Noto Sans Symbols"/>
              <a:buChar char="▪"/>
            </a:pPr>
            <a:r>
              <a:rPr lang="en-US" sz="4500">
                <a:solidFill>
                  <a:schemeClr val="dk1"/>
                </a:solidFill>
                <a:latin typeface="Calibri"/>
                <a:ea typeface="Calibri"/>
                <a:cs typeface="Calibri"/>
                <a:sym typeface="Calibri"/>
              </a:rPr>
              <a:t>It defines principles that </a:t>
            </a:r>
            <a:r>
              <a:rPr lang="en-US" sz="4500">
                <a:solidFill>
                  <a:schemeClr val="dk1"/>
                </a:solidFill>
                <a:highlight>
                  <a:srgbClr val="FFFF00"/>
                </a:highlight>
                <a:latin typeface="Calibri"/>
                <a:ea typeface="Calibri"/>
                <a:cs typeface="Calibri"/>
                <a:sym typeface="Calibri"/>
              </a:rPr>
              <a:t>remain common across languages</a:t>
            </a:r>
            <a:r>
              <a:rPr lang="en-US" sz="4500">
                <a:solidFill>
                  <a:schemeClr val="dk1"/>
                </a:solidFill>
                <a:latin typeface="Calibri"/>
                <a:ea typeface="Calibri"/>
                <a:cs typeface="Calibri"/>
                <a:sym typeface="Calibri"/>
              </a:rPr>
              <a:t> and </a:t>
            </a:r>
            <a:r>
              <a:rPr lang="en-US" sz="4500">
                <a:solidFill>
                  <a:schemeClr val="dk1"/>
                </a:solidFill>
                <a:highlight>
                  <a:srgbClr val="FFFF00"/>
                </a:highlight>
                <a:latin typeface="Calibri"/>
                <a:ea typeface="Calibri"/>
                <a:cs typeface="Calibri"/>
                <a:sym typeface="Calibri"/>
              </a:rPr>
              <a:t>identify rules that capture linguistic generalization.</a:t>
            </a:r>
            <a:endParaRPr sz="4500">
              <a:solidFill>
                <a:schemeClr val="dk1"/>
              </a:solidFill>
              <a:highlight>
                <a:srgbClr val="FFFF00"/>
              </a:highlight>
              <a:latin typeface="Calibri"/>
              <a:ea typeface="Calibri"/>
              <a:cs typeface="Calibri"/>
              <a:sym typeface="Calibri"/>
            </a:endParaRPr>
          </a:p>
          <a:p>
            <a:pPr marL="228600" lvl="0" indent="-228600" algn="l" rtl="0">
              <a:lnSpc>
                <a:spcPct val="115000"/>
              </a:lnSpc>
              <a:spcBef>
                <a:spcPts val="700"/>
              </a:spcBef>
              <a:spcAft>
                <a:spcPts val="0"/>
              </a:spcAft>
              <a:buClr>
                <a:schemeClr val="dk1"/>
              </a:buClr>
              <a:buSzPct val="100000"/>
              <a:buFont typeface="Calibri"/>
              <a:buChar char="▪"/>
            </a:pPr>
            <a:r>
              <a:rPr lang="en-US" sz="4500">
                <a:solidFill>
                  <a:schemeClr val="dk1"/>
                </a:solidFill>
                <a:latin typeface="Calibri"/>
                <a:ea typeface="Calibri"/>
                <a:cs typeface="Calibri"/>
                <a:sym typeface="Calibri"/>
              </a:rPr>
              <a:t>For example, most languages have constructs like noun and verb phrases.</a:t>
            </a:r>
            <a:endParaRPr sz="4500">
              <a:solidFill>
                <a:schemeClr val="dk1"/>
              </a:solidFill>
              <a:latin typeface="Calibri"/>
              <a:ea typeface="Calibri"/>
              <a:cs typeface="Calibri"/>
              <a:sym typeface="Calibri"/>
            </a:endParaRPr>
          </a:p>
          <a:p>
            <a:pPr marL="228600" lvl="0" indent="-228600" algn="l" rtl="0">
              <a:lnSpc>
                <a:spcPct val="115000"/>
              </a:lnSpc>
              <a:spcBef>
                <a:spcPts val="700"/>
              </a:spcBef>
              <a:spcAft>
                <a:spcPts val="0"/>
              </a:spcAft>
              <a:buClr>
                <a:schemeClr val="dk1"/>
              </a:buClr>
              <a:buSzPct val="100000"/>
              <a:buFont typeface="Calibri"/>
              <a:buChar char="▪"/>
            </a:pPr>
            <a:r>
              <a:rPr lang="en-US" sz="4500">
                <a:solidFill>
                  <a:schemeClr val="dk1"/>
                </a:solidFill>
                <a:latin typeface="Calibri"/>
                <a:ea typeface="Calibri"/>
                <a:cs typeface="Calibri"/>
                <a:sym typeface="Calibri"/>
              </a:rPr>
              <a:t>It identifies rules that describe and restrict the structure of  languages (grammar).</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155f8378242_0_12"/>
          <p:cNvSpPr txBox="1">
            <a:spLocks noGrp="1"/>
          </p:cNvSpPr>
          <p:nvPr>
            <p:ph type="title"/>
          </p:nvPr>
        </p:nvSpPr>
        <p:spPr>
          <a:xfrm>
            <a:off x="1257300" y="380994"/>
            <a:ext cx="10058400" cy="6228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ORIGINS OF NLP</a:t>
            </a:r>
            <a:endParaRPr/>
          </a:p>
        </p:txBody>
      </p:sp>
      <p:sp>
        <p:nvSpPr>
          <p:cNvPr id="141" name="Google Shape;141;g155f8378242_0_12"/>
          <p:cNvSpPr txBox="1">
            <a:spLocks noGrp="1"/>
          </p:cNvSpPr>
          <p:nvPr>
            <p:ph type="body" idx="1"/>
          </p:nvPr>
        </p:nvSpPr>
        <p:spPr>
          <a:xfrm>
            <a:off x="1066800" y="1182255"/>
            <a:ext cx="10058400" cy="5200200"/>
          </a:xfrm>
          <a:prstGeom prst="rect">
            <a:avLst/>
          </a:prstGeom>
          <a:noFill/>
          <a:ln>
            <a:noFill/>
          </a:ln>
        </p:spPr>
        <p:txBody>
          <a:bodyPr spcFirstLastPara="1" wrap="square" lIns="91425" tIns="45700" rIns="91425" bIns="45700" anchor="ctr" anchorCtr="0">
            <a:normAutofit fontScale="70000" lnSpcReduction="20000"/>
          </a:bodyPr>
          <a:lstStyle/>
          <a:p>
            <a:pPr marL="0" lvl="0" indent="0" algn="l" rtl="0">
              <a:lnSpc>
                <a:spcPct val="115000"/>
              </a:lnSpc>
              <a:spcBef>
                <a:spcPts val="700"/>
              </a:spcBef>
              <a:spcAft>
                <a:spcPts val="0"/>
              </a:spcAft>
              <a:buSzPct val="64000"/>
              <a:buNone/>
            </a:pPr>
            <a:r>
              <a:rPr lang="en-US" sz="4500" b="1" u="sng">
                <a:solidFill>
                  <a:schemeClr val="dk1"/>
                </a:solidFill>
                <a:latin typeface="Calibri"/>
                <a:ea typeface="Calibri"/>
                <a:cs typeface="Calibri"/>
                <a:sym typeface="Calibri"/>
              </a:rPr>
              <a:t>Psycho-linguistics:</a:t>
            </a:r>
            <a:endParaRPr sz="4500" b="1" u="sng">
              <a:solidFill>
                <a:schemeClr val="dk1"/>
              </a:solidFill>
              <a:latin typeface="Calibri"/>
              <a:ea typeface="Calibri"/>
              <a:cs typeface="Calibri"/>
              <a:sym typeface="Calibri"/>
            </a:endParaRPr>
          </a:p>
          <a:p>
            <a:pPr marL="228600" lvl="0" indent="-228631" algn="l" rtl="0">
              <a:lnSpc>
                <a:spcPct val="115000"/>
              </a:lnSpc>
              <a:spcBef>
                <a:spcPts val="700"/>
              </a:spcBef>
              <a:spcAft>
                <a:spcPts val="0"/>
              </a:spcAft>
              <a:buClr>
                <a:schemeClr val="dk1"/>
              </a:buClr>
              <a:buSzPct val="100000"/>
              <a:buFont typeface="Noto Sans Symbols"/>
              <a:buChar char="▪"/>
            </a:pPr>
            <a:r>
              <a:rPr lang="en-US" sz="4500">
                <a:solidFill>
                  <a:schemeClr val="dk1"/>
                </a:solidFill>
                <a:latin typeface="Calibri"/>
                <a:ea typeface="Calibri"/>
                <a:cs typeface="Calibri"/>
                <a:sym typeface="Calibri"/>
              </a:rPr>
              <a:t>deals with </a:t>
            </a:r>
            <a:r>
              <a:rPr lang="en-US" sz="4500">
                <a:solidFill>
                  <a:schemeClr val="dk1"/>
                </a:solidFill>
                <a:highlight>
                  <a:srgbClr val="FFFF00"/>
                </a:highlight>
                <a:latin typeface="Calibri"/>
                <a:ea typeface="Calibri"/>
                <a:cs typeface="Calibri"/>
                <a:sym typeface="Calibri"/>
              </a:rPr>
              <a:t>how humans produce and comprehend natural language</a:t>
            </a:r>
            <a:r>
              <a:rPr lang="en-US" sz="4500">
                <a:solidFill>
                  <a:schemeClr val="dk1"/>
                </a:solidFill>
                <a:latin typeface="Calibri"/>
                <a:ea typeface="Calibri"/>
                <a:cs typeface="Calibri"/>
                <a:sym typeface="Calibri"/>
              </a:rPr>
              <a:t> </a:t>
            </a:r>
            <a:endParaRPr sz="4500">
              <a:solidFill>
                <a:schemeClr val="dk1"/>
              </a:solidFill>
              <a:latin typeface="Calibri"/>
              <a:ea typeface="Calibri"/>
              <a:cs typeface="Calibri"/>
              <a:sym typeface="Calibri"/>
            </a:endParaRPr>
          </a:p>
          <a:p>
            <a:pPr marL="228600" lvl="0" indent="-228631" algn="l" rtl="0">
              <a:lnSpc>
                <a:spcPct val="115000"/>
              </a:lnSpc>
              <a:spcBef>
                <a:spcPts val="700"/>
              </a:spcBef>
              <a:spcAft>
                <a:spcPts val="0"/>
              </a:spcAft>
              <a:buClr>
                <a:schemeClr val="dk1"/>
              </a:buClr>
              <a:buSzPct val="100000"/>
              <a:buFont typeface="Calibri"/>
              <a:buChar char="▪"/>
            </a:pPr>
            <a:r>
              <a:rPr lang="en-US" sz="4500">
                <a:solidFill>
                  <a:schemeClr val="dk1"/>
                </a:solidFill>
                <a:latin typeface="Calibri"/>
                <a:ea typeface="Calibri"/>
                <a:cs typeface="Calibri"/>
                <a:sym typeface="Calibri"/>
              </a:rPr>
              <a:t>It is mainly concerned with representation of  linguistic structures and the process by which the structures are produced.</a:t>
            </a:r>
            <a:endParaRPr sz="4500">
              <a:solidFill>
                <a:schemeClr val="dk1"/>
              </a:solidFill>
              <a:latin typeface="Calibri"/>
              <a:ea typeface="Calibri"/>
              <a:cs typeface="Calibri"/>
              <a:sym typeface="Calibri"/>
            </a:endParaRPr>
          </a:p>
          <a:p>
            <a:pPr marL="0" lvl="0" indent="0" algn="l" rtl="0">
              <a:lnSpc>
                <a:spcPct val="115000"/>
              </a:lnSpc>
              <a:spcBef>
                <a:spcPts val="700"/>
              </a:spcBef>
              <a:spcAft>
                <a:spcPts val="0"/>
              </a:spcAft>
              <a:buSzPct val="64000"/>
              <a:buNone/>
            </a:pPr>
            <a:r>
              <a:rPr lang="en-US" sz="4500" b="1" u="sng">
                <a:solidFill>
                  <a:schemeClr val="dk1"/>
                </a:solidFill>
                <a:latin typeface="Calibri"/>
                <a:ea typeface="Calibri"/>
                <a:cs typeface="Calibri"/>
                <a:sym typeface="Calibri"/>
              </a:rPr>
              <a:t>Computational Linguistics:</a:t>
            </a:r>
            <a:endParaRPr sz="4500" b="1">
              <a:solidFill>
                <a:schemeClr val="dk1"/>
              </a:solidFill>
              <a:latin typeface="Calibri"/>
              <a:ea typeface="Calibri"/>
              <a:cs typeface="Calibri"/>
              <a:sym typeface="Calibri"/>
            </a:endParaRPr>
          </a:p>
          <a:p>
            <a:pPr marL="228600" lvl="0" indent="-228631" algn="l" rtl="0">
              <a:lnSpc>
                <a:spcPct val="115000"/>
              </a:lnSpc>
              <a:spcBef>
                <a:spcPts val="700"/>
              </a:spcBef>
              <a:spcAft>
                <a:spcPts val="0"/>
              </a:spcAft>
              <a:buClr>
                <a:schemeClr val="dk1"/>
              </a:buClr>
              <a:buSzPct val="100000"/>
              <a:buFont typeface="Noto Sans Symbols"/>
              <a:buChar char="▪"/>
            </a:pPr>
            <a:r>
              <a:rPr lang="en-US" sz="4500">
                <a:solidFill>
                  <a:schemeClr val="dk1"/>
                </a:solidFill>
                <a:latin typeface="Calibri"/>
                <a:ea typeface="Calibri"/>
                <a:cs typeface="Calibri"/>
                <a:sym typeface="Calibri"/>
              </a:rPr>
              <a:t>is concerned with the study of language using </a:t>
            </a:r>
            <a:r>
              <a:rPr lang="en-US" sz="4500">
                <a:solidFill>
                  <a:schemeClr val="dk1"/>
                </a:solidFill>
                <a:highlight>
                  <a:srgbClr val="FFFF00"/>
                </a:highlight>
                <a:latin typeface="Calibri"/>
                <a:ea typeface="Calibri"/>
                <a:cs typeface="Calibri"/>
                <a:sym typeface="Calibri"/>
              </a:rPr>
              <a:t>computational models </a:t>
            </a:r>
            <a:r>
              <a:rPr lang="en-US" sz="4500">
                <a:solidFill>
                  <a:schemeClr val="dk1"/>
                </a:solidFill>
                <a:highlight>
                  <a:schemeClr val="lt1"/>
                </a:highlight>
                <a:latin typeface="Calibri"/>
                <a:ea typeface="Calibri"/>
                <a:cs typeface="Calibri"/>
                <a:sym typeface="Calibri"/>
              </a:rPr>
              <a:t>of</a:t>
            </a:r>
            <a:r>
              <a:rPr lang="en-US" sz="4500">
                <a:solidFill>
                  <a:schemeClr val="dk1"/>
                </a:solidFill>
                <a:latin typeface="Calibri"/>
                <a:ea typeface="Calibri"/>
                <a:cs typeface="Calibri"/>
                <a:sym typeface="Calibri"/>
              </a:rPr>
              <a:t> linguistic phenomena. </a:t>
            </a:r>
            <a:endParaRPr sz="4500">
              <a:solidFill>
                <a:schemeClr val="dk1"/>
              </a:solidFill>
              <a:latin typeface="Calibri"/>
              <a:ea typeface="Calibri"/>
              <a:cs typeface="Calibri"/>
              <a:sym typeface="Calibri"/>
            </a:endParaRPr>
          </a:p>
          <a:p>
            <a:pPr marL="228600" lvl="0" indent="-228631" algn="l" rtl="0">
              <a:lnSpc>
                <a:spcPct val="115000"/>
              </a:lnSpc>
              <a:spcBef>
                <a:spcPts val="700"/>
              </a:spcBef>
              <a:spcAft>
                <a:spcPts val="0"/>
              </a:spcAft>
              <a:buClr>
                <a:schemeClr val="dk1"/>
              </a:buClr>
              <a:buSzPct val="100000"/>
              <a:buFont typeface="Noto Sans Symbols"/>
              <a:buChar char="▪"/>
            </a:pPr>
            <a:r>
              <a:rPr lang="en-US" sz="4500">
                <a:solidFill>
                  <a:schemeClr val="dk1"/>
                </a:solidFill>
                <a:latin typeface="Calibri"/>
                <a:ea typeface="Calibri"/>
                <a:cs typeface="Calibri"/>
                <a:sym typeface="Calibri"/>
              </a:rPr>
              <a:t>It deals with application of linguistics theories and computational techniques for Natural Language Processing.</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5"/>
          <p:cNvSpPr txBox="1">
            <a:spLocks noGrp="1"/>
          </p:cNvSpPr>
          <p:nvPr>
            <p:ph type="title"/>
          </p:nvPr>
        </p:nvSpPr>
        <p:spPr>
          <a:xfrm>
            <a:off x="1251675" y="382381"/>
            <a:ext cx="10178400" cy="6606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ORIGINS OF NLP</a:t>
            </a:r>
            <a:endParaRPr/>
          </a:p>
        </p:txBody>
      </p:sp>
      <p:sp>
        <p:nvSpPr>
          <p:cNvPr id="147" name="Google Shape;147;p5"/>
          <p:cNvSpPr txBox="1">
            <a:spLocks noGrp="1"/>
          </p:cNvSpPr>
          <p:nvPr>
            <p:ph type="body" idx="1"/>
          </p:nvPr>
        </p:nvSpPr>
        <p:spPr>
          <a:xfrm>
            <a:off x="1251675" y="1042975"/>
            <a:ext cx="10178400" cy="57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sz="2400" b="1">
                <a:solidFill>
                  <a:schemeClr val="dk1"/>
                </a:solidFill>
              </a:rPr>
              <a:t>Computational models</a:t>
            </a:r>
            <a:r>
              <a:rPr lang="en-US" sz="2400">
                <a:solidFill>
                  <a:schemeClr val="dk1"/>
                </a:solidFill>
              </a:rPr>
              <a:t> can be broadly classified as</a:t>
            </a:r>
            <a:endParaRPr>
              <a:solidFill>
                <a:schemeClr val="dk1"/>
              </a:solidFill>
            </a:endParaRPr>
          </a:p>
          <a:p>
            <a:pPr marL="457200" lvl="0" indent="-381000" algn="l" rtl="0">
              <a:lnSpc>
                <a:spcPct val="100000"/>
              </a:lnSpc>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Knowledge Driven</a:t>
            </a:r>
            <a:endParaRPr sz="2400">
              <a:solidFill>
                <a:schemeClr val="dk1"/>
              </a:solidFill>
              <a:latin typeface="Calibri"/>
              <a:ea typeface="Calibri"/>
              <a:cs typeface="Calibri"/>
              <a:sym typeface="Calibri"/>
            </a:endParaRPr>
          </a:p>
          <a:p>
            <a:pPr marL="457200" lvl="0" indent="-381000" algn="l" rtl="0">
              <a:lnSpc>
                <a:spcPct val="100000"/>
              </a:lnSpc>
              <a:spcBef>
                <a:spcPts val="0"/>
              </a:spcBef>
              <a:spcAft>
                <a:spcPts val="0"/>
              </a:spcAft>
              <a:buClr>
                <a:schemeClr val="dk1"/>
              </a:buClr>
              <a:buSzPts val="2400"/>
              <a:buFont typeface="Calibri"/>
              <a:buAutoNum type="arabicPeriod"/>
            </a:pPr>
            <a:r>
              <a:rPr lang="en-US" sz="2400">
                <a:solidFill>
                  <a:schemeClr val="dk1"/>
                </a:solidFill>
                <a:latin typeface="Calibri"/>
                <a:ea typeface="Calibri"/>
                <a:cs typeface="Calibri"/>
                <a:sym typeface="Calibri"/>
              </a:rPr>
              <a:t>Data Driven</a:t>
            </a:r>
            <a:endParaRPr sz="2400">
              <a:solidFill>
                <a:schemeClr val="dk1"/>
              </a:solidFill>
              <a:latin typeface="Calibri"/>
              <a:ea typeface="Calibri"/>
              <a:cs typeface="Calibri"/>
              <a:sym typeface="Calibri"/>
            </a:endParaRPr>
          </a:p>
          <a:p>
            <a:pPr marL="457200" lvl="0" indent="-381000" algn="l" rtl="0">
              <a:lnSpc>
                <a:spcPct val="100000"/>
              </a:lnSpc>
              <a:spcBef>
                <a:spcPts val="0"/>
              </a:spcBef>
              <a:spcAft>
                <a:spcPts val="0"/>
              </a:spcAft>
              <a:buClr>
                <a:schemeClr val="dk1"/>
              </a:buClr>
              <a:buSzPts val="2400"/>
              <a:buFont typeface="Calibri"/>
              <a:buAutoNum type="arabicPeriod"/>
            </a:pPr>
            <a:r>
              <a:rPr lang="en-US" sz="2400" b="1">
                <a:solidFill>
                  <a:schemeClr val="dk1"/>
                </a:solidFill>
                <a:latin typeface="Calibri"/>
                <a:ea typeface="Calibri"/>
                <a:cs typeface="Calibri"/>
                <a:sym typeface="Calibri"/>
              </a:rPr>
              <a:t>Knowledge Driven:</a:t>
            </a:r>
            <a:endParaRPr sz="2400" b="1">
              <a:solidFill>
                <a:schemeClr val="dk1"/>
              </a:solidFill>
              <a:latin typeface="Calibri"/>
              <a:ea typeface="Calibri"/>
              <a:cs typeface="Calibri"/>
              <a:sym typeface="Calibri"/>
            </a:endParaRPr>
          </a:p>
          <a:p>
            <a:pPr marL="914400" lvl="1" indent="-381000" algn="l" rtl="0">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Knowledge driven systems rely on </a:t>
            </a:r>
            <a:r>
              <a:rPr lang="en-US" sz="2400">
                <a:solidFill>
                  <a:schemeClr val="dk1"/>
                </a:solidFill>
                <a:highlight>
                  <a:srgbClr val="FFFF00"/>
                </a:highlight>
                <a:latin typeface="Calibri"/>
                <a:ea typeface="Calibri"/>
                <a:cs typeface="Calibri"/>
                <a:sym typeface="Calibri"/>
              </a:rPr>
              <a:t>explicitly coded linguistic knowledge</a:t>
            </a:r>
            <a:r>
              <a:rPr lang="en-US" sz="2400">
                <a:solidFill>
                  <a:schemeClr val="dk1"/>
                </a:solidFill>
                <a:latin typeface="Calibri"/>
                <a:ea typeface="Calibri"/>
                <a:cs typeface="Calibri"/>
                <a:sym typeface="Calibri"/>
              </a:rPr>
              <a:t>, often expressed as a set of </a:t>
            </a:r>
            <a:r>
              <a:rPr lang="en-US" sz="2400">
                <a:solidFill>
                  <a:schemeClr val="dk1"/>
                </a:solidFill>
                <a:highlight>
                  <a:srgbClr val="FFFF00"/>
                </a:highlight>
                <a:latin typeface="Calibri"/>
                <a:ea typeface="Calibri"/>
                <a:cs typeface="Calibri"/>
                <a:sym typeface="Calibri"/>
              </a:rPr>
              <a:t>handcrafted grammar rules</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800"/>
              <a:buNone/>
            </a:pPr>
            <a:r>
              <a:rPr lang="en-US" sz="2400">
                <a:solidFill>
                  <a:schemeClr val="dk1"/>
                </a:solidFill>
                <a:latin typeface="Calibri"/>
                <a:ea typeface="Calibri"/>
                <a:cs typeface="Calibri"/>
                <a:sym typeface="Calibri"/>
              </a:rPr>
              <a:t>     </a:t>
            </a:r>
            <a:r>
              <a:rPr lang="en-US" sz="2400" b="1">
                <a:solidFill>
                  <a:schemeClr val="dk1"/>
                </a:solidFill>
                <a:latin typeface="Calibri"/>
                <a:ea typeface="Calibri"/>
                <a:cs typeface="Calibri"/>
                <a:sym typeface="Calibri"/>
              </a:rPr>
              <a:t>Drawback</a:t>
            </a:r>
            <a:endParaRPr sz="2400" b="1">
              <a:solidFill>
                <a:schemeClr val="dk1"/>
              </a:solidFill>
              <a:latin typeface="Calibri"/>
              <a:ea typeface="Calibri"/>
              <a:cs typeface="Calibri"/>
              <a:sym typeface="Calibri"/>
            </a:endParaRPr>
          </a:p>
          <a:p>
            <a:pPr marL="1371600" lvl="2" indent="-381000" algn="l" rtl="0">
              <a:lnSpc>
                <a:spcPct val="100000"/>
              </a:lnSpc>
              <a:spcBef>
                <a:spcPts val="0"/>
              </a:spcBef>
              <a:spcAft>
                <a:spcPts val="0"/>
              </a:spcAft>
              <a:buClr>
                <a:schemeClr val="dk1"/>
              </a:buClr>
              <a:buSzPts val="2400"/>
              <a:buFont typeface="Calibri"/>
              <a:buAutoNum type="romanLcPeriod"/>
            </a:pPr>
            <a:r>
              <a:rPr lang="en-US" sz="2400">
                <a:solidFill>
                  <a:schemeClr val="dk1"/>
                </a:solidFill>
                <a:latin typeface="Calibri"/>
                <a:ea typeface="Calibri"/>
                <a:cs typeface="Calibri"/>
                <a:sym typeface="Calibri"/>
              </a:rPr>
              <a:t>Acquiring and Encoding knowledge is difficult. </a:t>
            </a:r>
            <a:endParaRPr>
              <a:solidFill>
                <a:schemeClr val="dk1"/>
              </a:solidFill>
            </a:endParaRPr>
          </a:p>
          <a:p>
            <a:pPr marL="1371600" lvl="2" indent="-381000" algn="l" rtl="0">
              <a:lnSpc>
                <a:spcPct val="100000"/>
              </a:lnSpc>
              <a:spcBef>
                <a:spcPts val="0"/>
              </a:spcBef>
              <a:spcAft>
                <a:spcPts val="0"/>
              </a:spcAft>
              <a:buClr>
                <a:schemeClr val="dk1"/>
              </a:buClr>
              <a:buSzPts val="2400"/>
              <a:buFont typeface="Calibri"/>
              <a:buAutoNum type="romanLcPeriod"/>
            </a:pPr>
            <a:r>
              <a:rPr lang="en-US" sz="2400">
                <a:solidFill>
                  <a:schemeClr val="dk1"/>
                </a:solidFill>
                <a:latin typeface="Calibri"/>
                <a:ea typeface="Calibri"/>
                <a:cs typeface="Calibri"/>
                <a:sym typeface="Calibri"/>
              </a:rPr>
              <a:t>It is constrained by lack of sufficient coverage of domain knowledge.</a:t>
            </a:r>
            <a:endParaRPr sz="2400">
              <a:solidFill>
                <a:schemeClr val="dk1"/>
              </a:solidFill>
              <a:latin typeface="Calibri"/>
              <a:ea typeface="Calibri"/>
              <a:cs typeface="Calibri"/>
              <a:sym typeface="Calibri"/>
            </a:endParaRPr>
          </a:p>
          <a:p>
            <a:pPr marL="0" lvl="0" indent="0" algn="l" rtl="0">
              <a:lnSpc>
                <a:spcPct val="100000"/>
              </a:lnSpc>
              <a:spcBef>
                <a:spcPts val="700"/>
              </a:spcBef>
              <a:spcAft>
                <a:spcPts val="0"/>
              </a:spcAft>
              <a:buSzPts val="2400"/>
              <a:buNone/>
            </a:pPr>
            <a:r>
              <a:rPr lang="en-US" sz="2400">
                <a:solidFill>
                  <a:schemeClr val="dk1"/>
                </a:solidFill>
                <a:latin typeface="Calibri"/>
                <a:ea typeface="Calibri"/>
                <a:cs typeface="Calibri"/>
                <a:sym typeface="Calibri"/>
              </a:rPr>
              <a:t>2.  </a:t>
            </a:r>
            <a:r>
              <a:rPr lang="en-US" sz="2400" b="1">
                <a:solidFill>
                  <a:schemeClr val="dk1"/>
                </a:solidFill>
                <a:latin typeface="Calibri"/>
                <a:ea typeface="Calibri"/>
                <a:cs typeface="Calibri"/>
                <a:sym typeface="Calibri"/>
              </a:rPr>
              <a:t>Data Driven:</a:t>
            </a:r>
            <a:endParaRPr sz="2400">
              <a:solidFill>
                <a:schemeClr val="dk1"/>
              </a:solidFill>
              <a:latin typeface="Calibri"/>
              <a:ea typeface="Calibri"/>
              <a:cs typeface="Calibri"/>
              <a:sym typeface="Calibri"/>
            </a:endParaRPr>
          </a:p>
          <a:p>
            <a:pPr marL="914400" lvl="1" indent="-381000" algn="l" rtl="0">
              <a:lnSpc>
                <a:spcPct val="100000"/>
              </a:lnSpc>
              <a:spcBef>
                <a:spcPts val="70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Presume the existence of </a:t>
            </a:r>
            <a:r>
              <a:rPr lang="en-US" sz="2400">
                <a:solidFill>
                  <a:schemeClr val="dk1"/>
                </a:solidFill>
                <a:highlight>
                  <a:srgbClr val="00FFFF"/>
                </a:highlight>
                <a:latin typeface="Calibri"/>
                <a:ea typeface="Calibri"/>
                <a:cs typeface="Calibri"/>
                <a:sym typeface="Calibri"/>
              </a:rPr>
              <a:t>large amount of data and use machine learning tools to learn syntactic patterns. </a:t>
            </a:r>
            <a:endParaRPr sz="2400">
              <a:solidFill>
                <a:schemeClr val="dk1"/>
              </a:solidFill>
              <a:highlight>
                <a:srgbClr val="00FFFF"/>
              </a:highlight>
              <a:latin typeface="Calibri"/>
              <a:ea typeface="Calibri"/>
              <a:cs typeface="Calibri"/>
              <a:sym typeface="Calibri"/>
            </a:endParaRPr>
          </a:p>
          <a:p>
            <a:pPr marL="914400" lvl="1" indent="-381000" algn="l" rtl="0">
              <a:lnSpc>
                <a:spcPct val="100000"/>
              </a:lnSpc>
              <a:spcBef>
                <a:spcPts val="70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Human effort is less but performance of these systems is dependent on the amount of data.</a:t>
            </a:r>
            <a:endParaRPr sz="2400">
              <a:solidFill>
                <a:schemeClr val="dk1"/>
              </a:solidFill>
              <a:latin typeface="Calibri"/>
              <a:ea typeface="Calibri"/>
              <a:cs typeface="Calibri"/>
              <a:sym typeface="Calibri"/>
            </a:endParaRPr>
          </a:p>
          <a:p>
            <a:pPr marL="228600" lvl="0" indent="-76200" algn="l" rtl="0">
              <a:lnSpc>
                <a:spcPct val="110000"/>
              </a:lnSpc>
              <a:spcBef>
                <a:spcPts val="1700"/>
              </a:spcBef>
              <a:spcAft>
                <a:spcPts val="0"/>
              </a:spcAft>
              <a:buSzPts val="2400"/>
              <a:buNone/>
            </a:pP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1251675" y="382381"/>
            <a:ext cx="10178400" cy="6588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r>
              <a:rPr lang="en-US" sz="1800">
                <a:latin typeface="Calibri"/>
                <a:ea typeface="Calibri"/>
                <a:cs typeface="Calibri"/>
                <a:sym typeface="Calibri"/>
              </a:rPr>
              <a:t/>
            </a:r>
            <a:br>
              <a:rPr lang="en-US" sz="1800">
                <a:latin typeface="Calibri"/>
                <a:ea typeface="Calibri"/>
                <a:cs typeface="Calibri"/>
                <a:sym typeface="Calibri"/>
              </a:rPr>
            </a:br>
            <a:endParaRPr/>
          </a:p>
        </p:txBody>
      </p:sp>
      <p:sp>
        <p:nvSpPr>
          <p:cNvPr id="153" name="Google Shape;153;p6"/>
          <p:cNvSpPr txBox="1">
            <a:spLocks noGrp="1"/>
          </p:cNvSpPr>
          <p:nvPr>
            <p:ph type="body" idx="1"/>
          </p:nvPr>
        </p:nvSpPr>
        <p:spPr>
          <a:xfrm>
            <a:off x="1066800" y="1041175"/>
            <a:ext cx="10058400" cy="5651700"/>
          </a:xfrm>
          <a:prstGeom prst="rect">
            <a:avLst/>
          </a:prstGeom>
          <a:noFill/>
          <a:ln>
            <a:noFill/>
          </a:ln>
        </p:spPr>
        <p:txBody>
          <a:bodyPr spcFirstLastPara="1" wrap="square" lIns="91425" tIns="45700" rIns="91425" bIns="45700" anchor="ctr" anchorCtr="0">
            <a:noAutofit/>
          </a:bodyPr>
          <a:lstStyle/>
          <a:p>
            <a:pPr marL="0" lvl="0" indent="0" algn="l" rtl="0">
              <a:lnSpc>
                <a:spcPct val="95000"/>
              </a:lnSpc>
              <a:spcBef>
                <a:spcPts val="0"/>
              </a:spcBef>
              <a:spcAft>
                <a:spcPts val="0"/>
              </a:spcAft>
              <a:buSzPts val="770"/>
              <a:buNone/>
            </a:pPr>
            <a:r>
              <a:rPr lang="en-US" sz="2560" b="1" u="sng">
                <a:solidFill>
                  <a:schemeClr val="dk1"/>
                </a:solidFill>
                <a:latin typeface="Times New Roman"/>
                <a:ea typeface="Times New Roman"/>
                <a:cs typeface="Times New Roman"/>
                <a:sym typeface="Times New Roman"/>
              </a:rPr>
              <a:t>Relation between language and knowledge:</a:t>
            </a:r>
            <a:endParaRPr sz="2560" b="1" u="sng">
              <a:solidFill>
                <a:schemeClr val="dk1"/>
              </a:solidFill>
              <a:latin typeface="Times New Roman"/>
              <a:ea typeface="Times New Roman"/>
              <a:cs typeface="Times New Roman"/>
              <a:sym typeface="Times New Roman"/>
            </a:endParaRPr>
          </a:p>
          <a:p>
            <a:pPr marL="0" lvl="0" indent="0" algn="l" rtl="0">
              <a:lnSpc>
                <a:spcPct val="95000"/>
              </a:lnSpc>
              <a:spcBef>
                <a:spcPts val="0"/>
              </a:spcBef>
              <a:spcAft>
                <a:spcPts val="0"/>
              </a:spcAft>
              <a:buSzPts val="770"/>
              <a:buNone/>
            </a:pPr>
            <a:endParaRPr sz="1960" b="1" u="sng">
              <a:solidFill>
                <a:schemeClr val="dk1"/>
              </a:solidFill>
              <a:latin typeface="Calibri"/>
              <a:ea typeface="Calibri"/>
              <a:cs typeface="Calibri"/>
              <a:sym typeface="Calibri"/>
            </a:endParaRPr>
          </a:p>
          <a:p>
            <a:pPr marL="457200" lvl="0" indent="-397510" algn="just" rtl="0">
              <a:lnSpc>
                <a:spcPct val="100000"/>
              </a:lnSpc>
              <a:spcBef>
                <a:spcPts val="1000"/>
              </a:spcBef>
              <a:spcAft>
                <a:spcPts val="0"/>
              </a:spcAft>
              <a:buClr>
                <a:schemeClr val="dk1"/>
              </a:buClr>
              <a:buSzPts val="2660"/>
              <a:buFont typeface="Times New Roman"/>
              <a:buChar char="•"/>
            </a:pPr>
            <a:r>
              <a:rPr lang="en-US" sz="2660">
                <a:solidFill>
                  <a:schemeClr val="dk1"/>
                </a:solidFill>
                <a:latin typeface="Times New Roman"/>
                <a:ea typeface="Times New Roman"/>
                <a:cs typeface="Times New Roman"/>
                <a:sym typeface="Times New Roman"/>
              </a:rPr>
              <a:t>Language is the </a:t>
            </a:r>
            <a:r>
              <a:rPr lang="en-US" sz="2660">
                <a:solidFill>
                  <a:schemeClr val="dk1"/>
                </a:solidFill>
                <a:highlight>
                  <a:srgbClr val="FFFF00"/>
                </a:highlight>
                <a:latin typeface="Times New Roman"/>
                <a:ea typeface="Times New Roman"/>
                <a:cs typeface="Times New Roman"/>
                <a:sym typeface="Times New Roman"/>
              </a:rPr>
              <a:t>medium of expression</a:t>
            </a:r>
            <a:r>
              <a:rPr lang="en-US" sz="2660">
                <a:solidFill>
                  <a:schemeClr val="dk1"/>
                </a:solidFill>
                <a:latin typeface="Times New Roman"/>
                <a:ea typeface="Times New Roman"/>
                <a:cs typeface="Times New Roman"/>
                <a:sym typeface="Times New Roman"/>
              </a:rPr>
              <a:t> in which  knowledge is deciphered. </a:t>
            </a:r>
            <a:endParaRPr sz="2660">
              <a:solidFill>
                <a:schemeClr val="dk1"/>
              </a:solidFill>
              <a:latin typeface="Times New Roman"/>
              <a:ea typeface="Times New Roman"/>
              <a:cs typeface="Times New Roman"/>
              <a:sym typeface="Times New Roman"/>
            </a:endParaRPr>
          </a:p>
          <a:p>
            <a:pPr marL="457200" lvl="0" indent="-397510" algn="just" rtl="0">
              <a:lnSpc>
                <a:spcPct val="100000"/>
              </a:lnSpc>
              <a:spcBef>
                <a:spcPts val="1000"/>
              </a:spcBef>
              <a:spcAft>
                <a:spcPts val="0"/>
              </a:spcAft>
              <a:buClr>
                <a:schemeClr val="dk1"/>
              </a:buClr>
              <a:buSzPts val="2660"/>
              <a:buFont typeface="Times New Roman"/>
              <a:buChar char="•"/>
            </a:pPr>
            <a:r>
              <a:rPr lang="en-US" sz="2660">
                <a:solidFill>
                  <a:schemeClr val="dk1"/>
                </a:solidFill>
                <a:latin typeface="Times New Roman"/>
                <a:ea typeface="Times New Roman"/>
                <a:cs typeface="Times New Roman"/>
                <a:sym typeface="Times New Roman"/>
              </a:rPr>
              <a:t>We are considering the </a:t>
            </a:r>
            <a:r>
              <a:rPr lang="en-US" sz="2660">
                <a:solidFill>
                  <a:schemeClr val="dk1"/>
                </a:solidFill>
                <a:highlight>
                  <a:srgbClr val="00FFFF"/>
                </a:highlight>
                <a:latin typeface="Times New Roman"/>
                <a:ea typeface="Times New Roman"/>
                <a:cs typeface="Times New Roman"/>
                <a:sym typeface="Times New Roman"/>
              </a:rPr>
              <a:t>text as the language</a:t>
            </a:r>
            <a:r>
              <a:rPr lang="en-US" sz="2660">
                <a:solidFill>
                  <a:schemeClr val="dk1"/>
                </a:solidFill>
                <a:latin typeface="Times New Roman"/>
                <a:ea typeface="Times New Roman"/>
                <a:cs typeface="Times New Roman"/>
                <a:sym typeface="Times New Roman"/>
              </a:rPr>
              <a:t> and the </a:t>
            </a:r>
            <a:r>
              <a:rPr lang="en-US" sz="2660">
                <a:solidFill>
                  <a:schemeClr val="dk1"/>
                </a:solidFill>
                <a:highlight>
                  <a:srgbClr val="00FFFF"/>
                </a:highlight>
                <a:latin typeface="Times New Roman"/>
                <a:ea typeface="Times New Roman"/>
                <a:cs typeface="Times New Roman"/>
                <a:sym typeface="Times New Roman"/>
              </a:rPr>
              <a:t>content of it as knowledge.</a:t>
            </a:r>
            <a:endParaRPr sz="2660">
              <a:solidFill>
                <a:schemeClr val="dk1"/>
              </a:solidFill>
              <a:highlight>
                <a:srgbClr val="00FFFF"/>
              </a:highlight>
              <a:latin typeface="Times New Roman"/>
              <a:ea typeface="Times New Roman"/>
              <a:cs typeface="Times New Roman"/>
              <a:sym typeface="Times New Roman"/>
            </a:endParaRPr>
          </a:p>
          <a:p>
            <a:pPr marL="457200" lvl="0" indent="-397510" algn="just" rtl="0">
              <a:lnSpc>
                <a:spcPct val="100000"/>
              </a:lnSpc>
              <a:spcBef>
                <a:spcPts val="1000"/>
              </a:spcBef>
              <a:spcAft>
                <a:spcPts val="0"/>
              </a:spcAft>
              <a:buClr>
                <a:schemeClr val="dk1"/>
              </a:buClr>
              <a:buSzPts val="2660"/>
              <a:buFont typeface="Times New Roman"/>
              <a:buChar char="•"/>
            </a:pPr>
            <a:r>
              <a:rPr lang="en-US" sz="2660">
                <a:solidFill>
                  <a:schemeClr val="dk1"/>
                </a:solidFill>
                <a:latin typeface="Times New Roman"/>
                <a:ea typeface="Times New Roman"/>
                <a:cs typeface="Times New Roman"/>
                <a:sym typeface="Times New Roman"/>
              </a:rPr>
              <a:t>Language is the outer form of the content it expresses. </a:t>
            </a:r>
            <a:endParaRPr sz="2660">
              <a:solidFill>
                <a:schemeClr val="dk1"/>
              </a:solidFill>
              <a:latin typeface="Times New Roman"/>
              <a:ea typeface="Times New Roman"/>
              <a:cs typeface="Times New Roman"/>
              <a:sym typeface="Times New Roman"/>
            </a:endParaRPr>
          </a:p>
          <a:p>
            <a:pPr marL="457200" lvl="0" indent="-397510" algn="just" rtl="0">
              <a:lnSpc>
                <a:spcPct val="100000"/>
              </a:lnSpc>
              <a:spcBef>
                <a:spcPts val="1000"/>
              </a:spcBef>
              <a:spcAft>
                <a:spcPts val="0"/>
              </a:spcAft>
              <a:buClr>
                <a:schemeClr val="dk1"/>
              </a:buClr>
              <a:buSzPts val="2660"/>
              <a:buFont typeface="Times New Roman"/>
              <a:buChar char="•"/>
            </a:pPr>
            <a:r>
              <a:rPr lang="en-US" sz="2660">
                <a:solidFill>
                  <a:schemeClr val="dk1"/>
                </a:solidFill>
                <a:latin typeface="Times New Roman"/>
                <a:ea typeface="Times New Roman"/>
                <a:cs typeface="Times New Roman"/>
                <a:sym typeface="Times New Roman"/>
              </a:rPr>
              <a:t>The same content can be expressed in different languages.</a:t>
            </a:r>
            <a:endParaRPr sz="2660">
              <a:solidFill>
                <a:schemeClr val="dk1"/>
              </a:solidFill>
              <a:latin typeface="Times New Roman"/>
              <a:ea typeface="Times New Roman"/>
              <a:cs typeface="Times New Roman"/>
              <a:sym typeface="Times New Roman"/>
            </a:endParaRPr>
          </a:p>
          <a:p>
            <a:pPr marL="457200" lvl="0" indent="-397510" algn="just" rtl="0">
              <a:lnSpc>
                <a:spcPct val="100000"/>
              </a:lnSpc>
              <a:spcBef>
                <a:spcPts val="1000"/>
              </a:spcBef>
              <a:spcAft>
                <a:spcPts val="0"/>
              </a:spcAft>
              <a:buClr>
                <a:schemeClr val="dk1"/>
              </a:buClr>
              <a:buSzPts val="2660"/>
              <a:buFont typeface="Times New Roman"/>
              <a:buChar char="•"/>
            </a:pPr>
            <a:r>
              <a:rPr lang="en-US" sz="2660">
                <a:solidFill>
                  <a:schemeClr val="dk1"/>
                </a:solidFill>
                <a:latin typeface="Times New Roman"/>
                <a:ea typeface="Times New Roman"/>
                <a:cs typeface="Times New Roman"/>
                <a:sym typeface="Times New Roman"/>
              </a:rPr>
              <a:t>To process a language is to process the content of it. </a:t>
            </a:r>
            <a:endParaRPr sz="2660">
              <a:solidFill>
                <a:schemeClr val="dk1"/>
              </a:solidFill>
              <a:latin typeface="Times New Roman"/>
              <a:ea typeface="Times New Roman"/>
              <a:cs typeface="Times New Roman"/>
              <a:sym typeface="Times New Roman"/>
            </a:endParaRPr>
          </a:p>
          <a:p>
            <a:pPr marL="457200" lvl="0" indent="-397510" algn="just" rtl="0">
              <a:lnSpc>
                <a:spcPct val="100000"/>
              </a:lnSpc>
              <a:spcBef>
                <a:spcPts val="1000"/>
              </a:spcBef>
              <a:spcAft>
                <a:spcPts val="0"/>
              </a:spcAft>
              <a:buClr>
                <a:schemeClr val="dk1"/>
              </a:buClr>
              <a:buSzPts val="2660"/>
              <a:buFont typeface="Times New Roman"/>
              <a:buChar char="•"/>
            </a:pPr>
            <a:r>
              <a:rPr lang="en-US" sz="2660">
                <a:solidFill>
                  <a:schemeClr val="dk1"/>
                </a:solidFill>
                <a:latin typeface="Times New Roman"/>
                <a:ea typeface="Times New Roman"/>
                <a:cs typeface="Times New Roman"/>
                <a:sym typeface="Times New Roman"/>
              </a:rPr>
              <a:t>As computers are not able to understand natural language, methods are developed to map its content in a formal language.</a:t>
            </a:r>
            <a:endParaRPr sz="2300">
              <a:highlight>
                <a:srgbClr val="FFFF00"/>
              </a:highlight>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155f8378242_0_17"/>
          <p:cNvSpPr txBox="1">
            <a:spLocks noGrp="1"/>
          </p:cNvSpPr>
          <p:nvPr>
            <p:ph type="title"/>
          </p:nvPr>
        </p:nvSpPr>
        <p:spPr>
          <a:xfrm>
            <a:off x="1251675" y="382381"/>
            <a:ext cx="10178400" cy="6588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r>
              <a:rPr lang="en-US" sz="1800">
                <a:latin typeface="Calibri"/>
                <a:ea typeface="Calibri"/>
                <a:cs typeface="Calibri"/>
                <a:sym typeface="Calibri"/>
              </a:rPr>
              <a:t/>
            </a:r>
            <a:br>
              <a:rPr lang="en-US" sz="1800">
                <a:latin typeface="Calibri"/>
                <a:ea typeface="Calibri"/>
                <a:cs typeface="Calibri"/>
                <a:sym typeface="Calibri"/>
              </a:rPr>
            </a:br>
            <a:endParaRPr/>
          </a:p>
        </p:txBody>
      </p:sp>
      <p:sp>
        <p:nvSpPr>
          <p:cNvPr id="159" name="Google Shape;159;g155f8378242_0_17"/>
          <p:cNvSpPr txBox="1">
            <a:spLocks noGrp="1"/>
          </p:cNvSpPr>
          <p:nvPr>
            <p:ph type="body" idx="1"/>
          </p:nvPr>
        </p:nvSpPr>
        <p:spPr>
          <a:xfrm>
            <a:off x="1066800" y="1041175"/>
            <a:ext cx="10058400" cy="5651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800"/>
              <a:buNone/>
            </a:pPr>
            <a:r>
              <a:rPr lang="en-US" sz="2460" b="1" u="sng">
                <a:solidFill>
                  <a:schemeClr val="dk1"/>
                </a:solidFill>
                <a:latin typeface="Calibri"/>
                <a:ea typeface="Calibri"/>
                <a:cs typeface="Calibri"/>
                <a:sym typeface="Calibri"/>
              </a:rPr>
              <a:t>Language Processing: </a:t>
            </a:r>
            <a:endParaRPr sz="2460" b="1" u="sng">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800"/>
              <a:buNone/>
            </a:pPr>
            <a:endParaRPr sz="1960" b="1" u="sng">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800"/>
              <a:buNone/>
            </a:pPr>
            <a:r>
              <a:rPr lang="en-US" sz="1960">
                <a:solidFill>
                  <a:schemeClr val="dk1"/>
                </a:solidFill>
                <a:latin typeface="Calibri"/>
                <a:ea typeface="Calibri"/>
                <a:cs typeface="Calibri"/>
                <a:sym typeface="Calibri"/>
              </a:rPr>
              <a:t>Language or text processing has different levels and each level involves different types of knowledge.</a:t>
            </a:r>
            <a:endParaRPr sz="1960">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800"/>
              <a:buNone/>
            </a:pPr>
            <a:endParaRPr sz="1960">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800"/>
              <a:buNone/>
            </a:pPr>
            <a:r>
              <a:rPr lang="en-US" sz="1960">
                <a:solidFill>
                  <a:schemeClr val="dk1"/>
                </a:solidFill>
                <a:latin typeface="Calibri"/>
                <a:ea typeface="Calibri"/>
                <a:cs typeface="Calibri"/>
                <a:sym typeface="Calibri"/>
              </a:rPr>
              <a:t>Various levels of processing text and the types of knowledge it involves -</a:t>
            </a:r>
            <a:endParaRPr sz="1960">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800"/>
              <a:buNone/>
            </a:pPr>
            <a:endParaRPr sz="1960">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800"/>
              <a:buNone/>
            </a:pPr>
            <a:endParaRPr sz="1960">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800"/>
              <a:buNone/>
            </a:pPr>
            <a:endParaRPr sz="1960">
              <a:solidFill>
                <a:schemeClr val="dk1"/>
              </a:solidFill>
              <a:latin typeface="Calibri"/>
              <a:ea typeface="Calibri"/>
              <a:cs typeface="Calibri"/>
              <a:sym typeface="Calibri"/>
            </a:endParaRPr>
          </a:p>
        </p:txBody>
      </p:sp>
      <p:graphicFrame>
        <p:nvGraphicFramePr>
          <p:cNvPr id="160" name="Google Shape;160;g155f8378242_0_17"/>
          <p:cNvGraphicFramePr/>
          <p:nvPr/>
        </p:nvGraphicFramePr>
        <p:xfrm>
          <a:off x="1346013" y="3241450"/>
          <a:ext cx="5652950" cy="3121225"/>
        </p:xfrm>
        <a:graphic>
          <a:graphicData uri="http://schemas.openxmlformats.org/drawingml/2006/table">
            <a:tbl>
              <a:tblPr>
                <a:noFill/>
                <a:tableStyleId>{C49AFCA2-374B-4C82-9F9E-54E23B5331E3}</a:tableStyleId>
              </a:tblPr>
              <a:tblGrid>
                <a:gridCol w="894225"/>
                <a:gridCol w="1940975"/>
                <a:gridCol w="2817750"/>
              </a:tblGrid>
              <a:tr h="48935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t>Sl. No. </a:t>
                      </a:r>
                      <a:endParaRPr sz="1400" b="1" u="none" strike="noStrike" cap="none"/>
                    </a:p>
                  </a:txBody>
                  <a:tcPr marL="91425" marR="91425" marT="91425" marB="91425" anchor="ctr">
                    <a:solidFill>
                      <a:srgbClr val="EAD1D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Text Processing</a:t>
                      </a:r>
                      <a:endParaRPr sz="1400" b="1" u="none" strike="noStrike" cap="none"/>
                    </a:p>
                  </a:txBody>
                  <a:tcPr marL="91425" marR="91425" marT="91425" marB="91425" anchor="ctr">
                    <a:solidFill>
                      <a:srgbClr val="EAD1D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Knowledge</a:t>
                      </a:r>
                      <a:endParaRPr sz="1400" b="1" u="none" strike="noStrike" cap="none"/>
                    </a:p>
                  </a:txBody>
                  <a:tcPr marL="91425" marR="91425" marT="91425" marB="91425" anchor="ctr">
                    <a:solidFill>
                      <a:srgbClr val="EAD1DC"/>
                    </a:solidFill>
                  </a:tcPr>
                </a:tc>
              </a:tr>
              <a:tr h="489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1</a:t>
                      </a:r>
                      <a:endParaRPr sz="1400" u="none" strike="noStrike" cap="none"/>
                    </a:p>
                  </a:txBody>
                  <a:tcPr marL="91425" marR="91425" marT="91425" marB="91425" anchor="ctr">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Lexical Analysis</a:t>
                      </a:r>
                      <a:endParaRPr sz="1400" u="none" strike="noStrike" cap="none"/>
                    </a:p>
                  </a:txBody>
                  <a:tcPr marL="91425" marR="91425" marT="91425" marB="91425">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Morphological knowledge</a:t>
                      </a:r>
                      <a:endParaRPr sz="1400" u="none" strike="noStrike" cap="none"/>
                    </a:p>
                  </a:txBody>
                  <a:tcPr marL="91425" marR="91425" marT="91425" marB="91425">
                    <a:solidFill>
                      <a:srgbClr val="D9D2E9"/>
                    </a:solidFill>
                  </a:tcPr>
                </a:tc>
              </a:tr>
              <a:tr h="7141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25" marR="91425" marT="91425" marB="91425" anchor="ctr">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Syntactic Analysis</a:t>
                      </a:r>
                      <a:endParaRPr sz="1400" u="none" strike="noStrike" cap="none"/>
                    </a:p>
                  </a:txBody>
                  <a:tcPr marL="91425" marR="91425" marT="91425" marB="91425">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Syntactic knowledge</a:t>
                      </a:r>
                      <a:endParaRPr sz="1400" u="none" strike="noStrike" cap="none"/>
                    </a:p>
                  </a:txBody>
                  <a:tcPr marL="91425" marR="91425" marT="91425" marB="91425">
                    <a:solidFill>
                      <a:srgbClr val="D9D2E9"/>
                    </a:solidFill>
                  </a:tcPr>
                </a:tc>
              </a:tr>
              <a:tr h="7141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3</a:t>
                      </a:r>
                      <a:endParaRPr sz="1400" u="none" strike="noStrike" cap="none"/>
                    </a:p>
                  </a:txBody>
                  <a:tcPr marL="91425" marR="91425" marT="91425" marB="91425" anchor="ctr">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Semantic Analysis</a:t>
                      </a:r>
                      <a:endParaRPr sz="1400" u="none" strike="noStrike" cap="none"/>
                    </a:p>
                  </a:txBody>
                  <a:tcPr marL="91425" marR="91425" marT="91425" marB="91425">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Pragmatic knowledge</a:t>
                      </a:r>
                      <a:endParaRPr sz="1400" u="none" strike="noStrike" cap="none"/>
                    </a:p>
                  </a:txBody>
                  <a:tcPr marL="91425" marR="91425" marT="91425" marB="91425">
                    <a:solidFill>
                      <a:srgbClr val="D9D2E9"/>
                    </a:solidFill>
                  </a:tcPr>
                </a:tc>
              </a:tr>
              <a:tr h="7141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4</a:t>
                      </a:r>
                      <a:endParaRPr sz="1400" u="none" strike="noStrike" cap="none"/>
                    </a:p>
                  </a:txBody>
                  <a:tcPr marL="91425" marR="91425" marT="91425" marB="91425" anchor="ctr">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Discourse Analysis</a:t>
                      </a:r>
                      <a:endParaRPr sz="1400" u="none" strike="noStrike" cap="none"/>
                    </a:p>
                  </a:txBody>
                  <a:tcPr marL="91425" marR="91425" marT="91425" marB="91425">
                    <a:solidFill>
                      <a:srgbClr val="D9D2E9"/>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Discourse knowledge</a:t>
                      </a:r>
                      <a:endParaRPr sz="1400" u="none" strike="noStrike" cap="none"/>
                    </a:p>
                  </a:txBody>
                  <a:tcPr marL="91425" marR="91425" marT="91425" marB="91425">
                    <a:solidFill>
                      <a:srgbClr val="D9D2E9"/>
                    </a:solidFill>
                  </a:tcPr>
                </a:tc>
              </a:tr>
            </a:tbl>
          </a:graphicData>
        </a:graphic>
      </p:graphicFrame>
      <p:pic>
        <p:nvPicPr>
          <p:cNvPr id="161" name="Google Shape;161;g155f8378242_0_17"/>
          <p:cNvPicPr preferRelativeResize="0"/>
          <p:nvPr/>
        </p:nvPicPr>
        <p:blipFill rotWithShape="1">
          <a:blip r:embed="rId3">
            <a:alphaModFix/>
          </a:blip>
          <a:srcRect/>
          <a:stretch/>
        </p:blipFill>
        <p:spPr>
          <a:xfrm>
            <a:off x="7446275" y="3270098"/>
            <a:ext cx="3983725" cy="302765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f1f4b03acb_0_2"/>
          <p:cNvSpPr txBox="1">
            <a:spLocks noGrp="1"/>
          </p:cNvSpPr>
          <p:nvPr>
            <p:ph type="title"/>
          </p:nvPr>
        </p:nvSpPr>
        <p:spPr>
          <a:xfrm>
            <a:off x="1251675" y="382380"/>
            <a:ext cx="10178400" cy="7248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167" name="Google Shape;167;gf1f4b03acb_0_2"/>
          <p:cNvSpPr txBox="1">
            <a:spLocks noGrp="1"/>
          </p:cNvSpPr>
          <p:nvPr>
            <p:ph type="body" idx="1"/>
          </p:nvPr>
        </p:nvSpPr>
        <p:spPr>
          <a:xfrm>
            <a:off x="1251675" y="1239400"/>
            <a:ext cx="10178400" cy="5304600"/>
          </a:xfrm>
          <a:prstGeom prst="rect">
            <a:avLst/>
          </a:prstGeom>
          <a:noFill/>
          <a:ln>
            <a:noFill/>
          </a:ln>
        </p:spPr>
        <p:txBody>
          <a:bodyPr spcFirstLastPara="1" wrap="square" lIns="91425" tIns="45700" rIns="91425" bIns="45700" anchor="ctr" anchorCtr="0">
            <a:normAutofit fontScale="92500"/>
          </a:bodyPr>
          <a:lstStyle/>
          <a:p>
            <a:pPr marL="457200" lvl="0" indent="-410748" algn="l" rtl="0">
              <a:lnSpc>
                <a:spcPct val="115000"/>
              </a:lnSpc>
              <a:spcBef>
                <a:spcPts val="1000"/>
              </a:spcBef>
              <a:spcAft>
                <a:spcPts val="0"/>
              </a:spcAft>
              <a:buClr>
                <a:schemeClr val="dk1"/>
              </a:buClr>
              <a:buSzPct val="100000"/>
              <a:buFont typeface="Times New Roman"/>
              <a:buAutoNum type="arabicPeriod"/>
            </a:pPr>
            <a:r>
              <a:rPr lang="en-US" sz="3100" b="1">
                <a:solidFill>
                  <a:schemeClr val="dk1"/>
                </a:solidFill>
                <a:latin typeface="Times New Roman"/>
                <a:ea typeface="Times New Roman"/>
                <a:cs typeface="Times New Roman"/>
                <a:sym typeface="Times New Roman"/>
              </a:rPr>
              <a:t>Lexical Analysis:</a:t>
            </a:r>
            <a:endParaRPr sz="3100" b="1">
              <a:solidFill>
                <a:schemeClr val="dk1"/>
              </a:solidFill>
              <a:latin typeface="Times New Roman"/>
              <a:ea typeface="Times New Roman"/>
              <a:cs typeface="Times New Roman"/>
              <a:sym typeface="Times New Roman"/>
            </a:endParaRPr>
          </a:p>
          <a:p>
            <a:pPr marL="457200" lvl="0" indent="-387249" algn="l" rtl="0">
              <a:lnSpc>
                <a:spcPct val="115000"/>
              </a:lnSpc>
              <a:spcBef>
                <a:spcPts val="1000"/>
              </a:spcBef>
              <a:spcAft>
                <a:spcPts val="0"/>
              </a:spcAft>
              <a:buClr>
                <a:schemeClr val="dk1"/>
              </a:buClr>
              <a:buSzPct val="93103"/>
              <a:buChar char="➢"/>
            </a:pPr>
            <a:r>
              <a:rPr lang="en-US" sz="2900">
                <a:solidFill>
                  <a:schemeClr val="dk1"/>
                </a:solidFill>
                <a:latin typeface="Times New Roman"/>
                <a:ea typeface="Times New Roman"/>
                <a:cs typeface="Times New Roman"/>
                <a:sym typeface="Times New Roman"/>
              </a:rPr>
              <a:t>The simplest level of analysis is lexical analysis which involves analysis of </a:t>
            </a:r>
            <a:r>
              <a:rPr lang="en-US" sz="2900" b="1">
                <a:solidFill>
                  <a:schemeClr val="dk1"/>
                </a:solidFill>
                <a:latin typeface="Times New Roman"/>
                <a:ea typeface="Times New Roman"/>
                <a:cs typeface="Times New Roman"/>
                <a:sym typeface="Times New Roman"/>
              </a:rPr>
              <a:t>words</a:t>
            </a:r>
            <a:r>
              <a:rPr lang="en-US" sz="2900">
                <a:solidFill>
                  <a:schemeClr val="dk1"/>
                </a:solidFill>
                <a:latin typeface="Times New Roman"/>
                <a:ea typeface="Times New Roman"/>
                <a:cs typeface="Times New Roman"/>
                <a:sym typeface="Times New Roman"/>
              </a:rPr>
              <a:t>.</a:t>
            </a:r>
            <a:r>
              <a:rPr lang="en-US" sz="2900">
                <a:solidFill>
                  <a:schemeClr val="dk1"/>
                </a:solidFill>
                <a:highlight>
                  <a:schemeClr val="lt2"/>
                </a:highlight>
                <a:latin typeface="Times New Roman"/>
                <a:ea typeface="Times New Roman"/>
                <a:cs typeface="Times New Roman"/>
                <a:sym typeface="Times New Roman"/>
              </a:rPr>
              <a:t> (Lexical - </a:t>
            </a:r>
            <a:r>
              <a:rPr lang="en-US" sz="2900">
                <a:solidFill>
                  <a:srgbClr val="202124"/>
                </a:solidFill>
                <a:highlight>
                  <a:schemeClr val="lt2"/>
                </a:highlight>
                <a:latin typeface="Times New Roman"/>
                <a:ea typeface="Times New Roman"/>
                <a:cs typeface="Times New Roman"/>
                <a:sym typeface="Times New Roman"/>
              </a:rPr>
              <a:t>relating to the words or vocabulary of a language)</a:t>
            </a:r>
            <a:endParaRPr sz="2900">
              <a:solidFill>
                <a:schemeClr val="dk1"/>
              </a:solidFill>
              <a:highlight>
                <a:schemeClr val="lt2"/>
              </a:highlight>
              <a:latin typeface="Times New Roman"/>
              <a:ea typeface="Times New Roman"/>
              <a:cs typeface="Times New Roman"/>
              <a:sym typeface="Times New Roman"/>
            </a:endParaRPr>
          </a:p>
          <a:p>
            <a:pPr marL="457200" lvl="0" indent="-387249" algn="l" rtl="0">
              <a:lnSpc>
                <a:spcPct val="115000"/>
              </a:lnSpc>
              <a:spcBef>
                <a:spcPts val="1000"/>
              </a:spcBef>
              <a:spcAft>
                <a:spcPts val="0"/>
              </a:spcAft>
              <a:buClr>
                <a:schemeClr val="dk1"/>
              </a:buClr>
              <a:buSzPct val="93103"/>
              <a:buFont typeface="Times New Roman"/>
              <a:buChar char="➢"/>
            </a:pPr>
            <a:r>
              <a:rPr lang="en-US" sz="2900">
                <a:solidFill>
                  <a:schemeClr val="dk1"/>
                </a:solidFill>
                <a:latin typeface="Times New Roman"/>
                <a:ea typeface="Times New Roman"/>
                <a:cs typeface="Times New Roman"/>
                <a:sym typeface="Times New Roman"/>
              </a:rPr>
              <a:t>Words are the most fundamental unit of any natural language text.</a:t>
            </a:r>
            <a:endParaRPr sz="2900">
              <a:solidFill>
                <a:schemeClr val="dk1"/>
              </a:solidFill>
              <a:latin typeface="Times New Roman"/>
              <a:ea typeface="Times New Roman"/>
              <a:cs typeface="Times New Roman"/>
              <a:sym typeface="Times New Roman"/>
            </a:endParaRPr>
          </a:p>
          <a:p>
            <a:pPr marL="457200" lvl="0" indent="-387249" algn="l" rtl="0">
              <a:lnSpc>
                <a:spcPct val="115000"/>
              </a:lnSpc>
              <a:spcBef>
                <a:spcPts val="1000"/>
              </a:spcBef>
              <a:spcAft>
                <a:spcPts val="0"/>
              </a:spcAft>
              <a:buClr>
                <a:schemeClr val="dk1"/>
              </a:buClr>
              <a:buSzPct val="93103"/>
              <a:buChar char="➢"/>
            </a:pPr>
            <a:r>
              <a:rPr lang="en-US" sz="2900">
                <a:solidFill>
                  <a:schemeClr val="dk1"/>
                </a:solidFill>
                <a:latin typeface="Times New Roman"/>
                <a:ea typeface="Times New Roman"/>
                <a:cs typeface="Times New Roman"/>
                <a:sym typeface="Times New Roman"/>
              </a:rPr>
              <a:t>Word-level processing requires </a:t>
            </a:r>
            <a:r>
              <a:rPr lang="en-US" sz="2900" b="1">
                <a:solidFill>
                  <a:schemeClr val="dk1"/>
                </a:solidFill>
                <a:latin typeface="Times New Roman"/>
                <a:ea typeface="Times New Roman"/>
                <a:cs typeface="Times New Roman"/>
                <a:sym typeface="Times New Roman"/>
              </a:rPr>
              <a:t>morphological knowledge.</a:t>
            </a:r>
            <a:endParaRPr sz="2900" b="1">
              <a:solidFill>
                <a:schemeClr val="dk1"/>
              </a:solidFill>
              <a:latin typeface="Times New Roman"/>
              <a:ea typeface="Times New Roman"/>
              <a:cs typeface="Times New Roman"/>
              <a:sym typeface="Times New Roman"/>
            </a:endParaRPr>
          </a:p>
          <a:p>
            <a:pPr marL="457200" lvl="0" indent="-387249" algn="l" rtl="0">
              <a:lnSpc>
                <a:spcPct val="115000"/>
              </a:lnSpc>
              <a:spcBef>
                <a:spcPts val="1000"/>
              </a:spcBef>
              <a:spcAft>
                <a:spcPts val="0"/>
              </a:spcAft>
              <a:buClr>
                <a:schemeClr val="dk1"/>
              </a:buClr>
              <a:buSzPct val="93103"/>
              <a:buChar char="➢"/>
            </a:pPr>
            <a:r>
              <a:rPr lang="en-US" sz="2900" b="1">
                <a:solidFill>
                  <a:schemeClr val="dk1"/>
                </a:solidFill>
                <a:latin typeface="Times New Roman"/>
                <a:ea typeface="Times New Roman"/>
                <a:cs typeface="Times New Roman"/>
                <a:sym typeface="Times New Roman"/>
              </a:rPr>
              <a:t>Morphological knowledge - </a:t>
            </a:r>
            <a:r>
              <a:rPr lang="en-US" sz="2900">
                <a:solidFill>
                  <a:schemeClr val="dk1"/>
                </a:solidFill>
                <a:latin typeface="Times New Roman"/>
                <a:ea typeface="Times New Roman"/>
                <a:cs typeface="Times New Roman"/>
                <a:sym typeface="Times New Roman"/>
              </a:rPr>
              <a:t>knowledge about the structure and formation of words from basic units called </a:t>
            </a:r>
            <a:r>
              <a:rPr lang="en-US" sz="2900">
                <a:solidFill>
                  <a:schemeClr val="dk1"/>
                </a:solidFill>
                <a:highlight>
                  <a:srgbClr val="FFFF00"/>
                </a:highlight>
                <a:latin typeface="Times New Roman"/>
                <a:ea typeface="Times New Roman"/>
                <a:cs typeface="Times New Roman"/>
                <a:sym typeface="Times New Roman"/>
              </a:rPr>
              <a:t>morphemes</a:t>
            </a:r>
            <a:r>
              <a:rPr lang="en-US" sz="2900">
                <a:solidFill>
                  <a:schemeClr val="dk1"/>
                </a:solidFill>
                <a:latin typeface="Times New Roman"/>
                <a:ea typeface="Times New Roman"/>
                <a:cs typeface="Times New Roman"/>
                <a:sym typeface="Times New Roman"/>
              </a:rPr>
              <a:t>. </a:t>
            </a:r>
            <a:endParaRPr sz="2900">
              <a:solidFill>
                <a:schemeClr val="dk1"/>
              </a:solidFill>
              <a:latin typeface="Times New Roman"/>
              <a:ea typeface="Times New Roman"/>
              <a:cs typeface="Times New Roman"/>
              <a:sym typeface="Times New Roman"/>
            </a:endParaRPr>
          </a:p>
          <a:p>
            <a:pPr marL="457200" lvl="0" indent="-387249" algn="l" rtl="0">
              <a:lnSpc>
                <a:spcPct val="115000"/>
              </a:lnSpc>
              <a:spcBef>
                <a:spcPts val="1000"/>
              </a:spcBef>
              <a:spcAft>
                <a:spcPts val="1000"/>
              </a:spcAft>
              <a:buClr>
                <a:schemeClr val="dk1"/>
              </a:buClr>
              <a:buSzPct val="93103"/>
              <a:buFont typeface="Times New Roman"/>
              <a:buChar char="➢"/>
            </a:pPr>
            <a:r>
              <a:rPr lang="en-US" sz="2900">
                <a:solidFill>
                  <a:schemeClr val="dk1"/>
                </a:solidFill>
                <a:latin typeface="Times New Roman"/>
                <a:ea typeface="Times New Roman"/>
                <a:cs typeface="Times New Roman"/>
                <a:sym typeface="Times New Roman"/>
              </a:rPr>
              <a:t>The rules for forming words from morphemes are language specific.</a:t>
            </a:r>
            <a:endParaRPr sz="29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155f8378242_0_5"/>
          <p:cNvSpPr txBox="1">
            <a:spLocks noGrp="1"/>
          </p:cNvSpPr>
          <p:nvPr>
            <p:ph type="title"/>
          </p:nvPr>
        </p:nvSpPr>
        <p:spPr>
          <a:xfrm>
            <a:off x="1251675" y="382380"/>
            <a:ext cx="10178400" cy="7248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173" name="Google Shape;173;g155f8378242_0_5"/>
          <p:cNvSpPr txBox="1">
            <a:spLocks noGrp="1"/>
          </p:cNvSpPr>
          <p:nvPr>
            <p:ph type="body" idx="1"/>
          </p:nvPr>
        </p:nvSpPr>
        <p:spPr>
          <a:xfrm>
            <a:off x="1251675" y="1192950"/>
            <a:ext cx="10178400" cy="53046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3000"/>
              </a:spcBef>
              <a:spcAft>
                <a:spcPts val="0"/>
              </a:spcAft>
              <a:buSzPts val="1800"/>
              <a:buNone/>
            </a:pPr>
            <a:r>
              <a:rPr lang="en-US" sz="2200" b="1" dirty="0">
                <a:solidFill>
                  <a:srgbClr val="292929"/>
                </a:solidFill>
                <a:latin typeface="Times New Roman"/>
                <a:ea typeface="Times New Roman"/>
                <a:cs typeface="Times New Roman"/>
                <a:sym typeface="Times New Roman"/>
              </a:rPr>
              <a:t>Morphological Analysis:</a:t>
            </a:r>
            <a:endParaRPr sz="2200" b="1" dirty="0">
              <a:solidFill>
                <a:srgbClr val="292929"/>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rgbClr val="292929"/>
              </a:buClr>
              <a:buSzPts val="2200"/>
              <a:buFont typeface="Times New Roman"/>
              <a:buChar char="•"/>
            </a:pPr>
            <a:r>
              <a:rPr lang="en-US" sz="2200" dirty="0">
                <a:solidFill>
                  <a:srgbClr val="292929"/>
                </a:solidFill>
                <a:latin typeface="Times New Roman"/>
                <a:ea typeface="Times New Roman"/>
                <a:cs typeface="Times New Roman"/>
                <a:sym typeface="Times New Roman"/>
              </a:rPr>
              <a:t>Morphological analysis is a field of linguistics that studies the structure of words. </a:t>
            </a:r>
            <a:endParaRPr sz="2200" dirty="0">
              <a:solidFill>
                <a:srgbClr val="292929"/>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rgbClr val="292929"/>
              </a:buClr>
              <a:buSzPts val="2200"/>
              <a:buFont typeface="Times New Roman"/>
              <a:buChar char="•"/>
            </a:pPr>
            <a:r>
              <a:rPr lang="en-US" sz="2200" dirty="0">
                <a:solidFill>
                  <a:srgbClr val="292929"/>
                </a:solidFill>
                <a:latin typeface="Times New Roman"/>
                <a:ea typeface="Times New Roman"/>
                <a:cs typeface="Times New Roman"/>
                <a:sym typeface="Times New Roman"/>
              </a:rPr>
              <a:t>It identifies how a word is produced through the use of </a:t>
            </a:r>
            <a:r>
              <a:rPr lang="en-US" sz="2200" dirty="0">
                <a:solidFill>
                  <a:srgbClr val="292929"/>
                </a:solidFill>
                <a:highlight>
                  <a:srgbClr val="FFFF00"/>
                </a:highlight>
                <a:latin typeface="Times New Roman"/>
                <a:ea typeface="Times New Roman"/>
                <a:cs typeface="Times New Roman"/>
                <a:sym typeface="Times New Roman"/>
              </a:rPr>
              <a:t>morphemes</a:t>
            </a:r>
            <a:r>
              <a:rPr lang="en-US" sz="2200" dirty="0">
                <a:solidFill>
                  <a:srgbClr val="292929"/>
                </a:solidFill>
                <a:latin typeface="Times New Roman"/>
                <a:ea typeface="Times New Roman"/>
                <a:cs typeface="Times New Roman"/>
                <a:sym typeface="Times New Roman"/>
              </a:rPr>
              <a:t>. </a:t>
            </a:r>
            <a:endParaRPr sz="2200" dirty="0">
              <a:solidFill>
                <a:srgbClr val="292929"/>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rgbClr val="292929"/>
              </a:buClr>
              <a:buSzPts val="2200"/>
              <a:buFont typeface="Times New Roman"/>
              <a:buChar char="•"/>
            </a:pPr>
            <a:r>
              <a:rPr lang="en-US" sz="2200" dirty="0">
                <a:solidFill>
                  <a:srgbClr val="292929"/>
                </a:solidFill>
                <a:latin typeface="Times New Roman"/>
                <a:ea typeface="Times New Roman"/>
                <a:cs typeface="Times New Roman"/>
                <a:sym typeface="Times New Roman"/>
              </a:rPr>
              <a:t>Morphemes are the smallest meaningful words which cannot be divided further. It is the smallest element of a word that has grammatical function and meaning. </a:t>
            </a:r>
            <a:endParaRPr sz="2200" dirty="0">
              <a:solidFill>
                <a:srgbClr val="292929"/>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rgbClr val="292929"/>
              </a:buClr>
              <a:buSzPts val="2200"/>
              <a:buFont typeface="Times New Roman"/>
              <a:buChar char="•"/>
            </a:pPr>
            <a:r>
              <a:rPr lang="en-US" sz="2200" dirty="0">
                <a:solidFill>
                  <a:srgbClr val="292929"/>
                </a:solidFill>
                <a:highlight>
                  <a:srgbClr val="00FFFF"/>
                </a:highlight>
                <a:latin typeface="Times New Roman"/>
                <a:ea typeface="Times New Roman"/>
                <a:cs typeface="Times New Roman"/>
                <a:sym typeface="Times New Roman"/>
              </a:rPr>
              <a:t>Free morpheme and bound morpheme</a:t>
            </a:r>
            <a:r>
              <a:rPr lang="en-US" sz="2200" dirty="0">
                <a:solidFill>
                  <a:srgbClr val="292929"/>
                </a:solidFill>
                <a:latin typeface="Times New Roman"/>
                <a:ea typeface="Times New Roman"/>
                <a:cs typeface="Times New Roman"/>
                <a:sym typeface="Times New Roman"/>
              </a:rPr>
              <a:t> are the two types of morphemes. </a:t>
            </a:r>
            <a:endParaRPr sz="2200" dirty="0">
              <a:solidFill>
                <a:srgbClr val="292929"/>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rgbClr val="292929"/>
              </a:buClr>
              <a:buSzPts val="2200"/>
              <a:buFont typeface="Times New Roman"/>
              <a:buChar char="•"/>
            </a:pPr>
            <a:r>
              <a:rPr lang="en-US" sz="2200" dirty="0">
                <a:solidFill>
                  <a:srgbClr val="292929"/>
                </a:solidFill>
                <a:latin typeface="Times New Roman"/>
                <a:ea typeface="Times New Roman"/>
                <a:cs typeface="Times New Roman"/>
                <a:sym typeface="Times New Roman"/>
              </a:rPr>
              <a:t>A single free morpheme can become a complete word. For instance, a bus, a bicycle, and so forth. </a:t>
            </a:r>
            <a:endParaRPr sz="2200" dirty="0">
              <a:solidFill>
                <a:srgbClr val="292929"/>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rgbClr val="292929"/>
              </a:buClr>
              <a:buSzPts val="2200"/>
              <a:buFont typeface="Times New Roman"/>
              <a:buChar char="•"/>
            </a:pPr>
            <a:r>
              <a:rPr lang="en-US" sz="2200" dirty="0">
                <a:solidFill>
                  <a:srgbClr val="292929"/>
                </a:solidFill>
                <a:latin typeface="Times New Roman"/>
                <a:ea typeface="Times New Roman"/>
                <a:cs typeface="Times New Roman"/>
                <a:sym typeface="Times New Roman"/>
              </a:rPr>
              <a:t>A bound morpheme, on the other hand, cannot stand alone and must be joined to a free morpheme to produce a word. </a:t>
            </a:r>
            <a:r>
              <a:rPr lang="en-US" sz="2200" dirty="0" err="1">
                <a:solidFill>
                  <a:srgbClr val="292929"/>
                </a:solidFill>
                <a:highlight>
                  <a:srgbClr val="FFFF00"/>
                </a:highlight>
                <a:latin typeface="Times New Roman"/>
                <a:ea typeface="Times New Roman"/>
                <a:cs typeface="Times New Roman"/>
                <a:sym typeface="Times New Roman"/>
              </a:rPr>
              <a:t>ing</a:t>
            </a:r>
            <a:r>
              <a:rPr lang="en-US" sz="2200" dirty="0">
                <a:solidFill>
                  <a:srgbClr val="292929"/>
                </a:solidFill>
                <a:highlight>
                  <a:srgbClr val="FFFF00"/>
                </a:highlight>
                <a:latin typeface="Times New Roman"/>
                <a:ea typeface="Times New Roman"/>
                <a:cs typeface="Times New Roman"/>
                <a:sym typeface="Times New Roman"/>
              </a:rPr>
              <a:t>, un, and other bound morphemes</a:t>
            </a:r>
            <a:r>
              <a:rPr lang="en-US" sz="2200" dirty="0">
                <a:solidFill>
                  <a:srgbClr val="292929"/>
                </a:solidFill>
                <a:latin typeface="Times New Roman"/>
                <a:ea typeface="Times New Roman"/>
                <a:cs typeface="Times New Roman"/>
                <a:sym typeface="Times New Roman"/>
              </a:rPr>
              <a:t> are examples.</a:t>
            </a:r>
            <a:endParaRPr sz="2200" dirty="0">
              <a:solidFill>
                <a:srgbClr val="292929"/>
              </a:solidFill>
              <a:latin typeface="Times New Roman"/>
              <a:ea typeface="Times New Roman"/>
              <a:cs typeface="Times New Roman"/>
              <a:sym typeface="Times New Roman"/>
            </a:endParaRPr>
          </a:p>
          <a:p>
            <a:pPr marL="1828800" lvl="0" indent="0" algn="l" rtl="0">
              <a:lnSpc>
                <a:spcPct val="100000"/>
              </a:lnSpc>
              <a:spcBef>
                <a:spcPts val="1000"/>
              </a:spcBef>
              <a:spcAft>
                <a:spcPts val="0"/>
              </a:spcAft>
              <a:buSzPts val="1800"/>
              <a:buNone/>
            </a:pPr>
            <a:r>
              <a:rPr lang="en-US" sz="2200" dirty="0" err="1">
                <a:solidFill>
                  <a:srgbClr val="292929"/>
                </a:solidFill>
                <a:highlight>
                  <a:srgbClr val="EAD1DC"/>
                </a:highlight>
                <a:latin typeface="Times New Roman"/>
                <a:ea typeface="Times New Roman"/>
                <a:cs typeface="Times New Roman"/>
                <a:sym typeface="Times New Roman"/>
              </a:rPr>
              <a:t>Unsuccessfull</a:t>
            </a:r>
            <a:r>
              <a:rPr lang="en-US" sz="2200" dirty="0">
                <a:solidFill>
                  <a:srgbClr val="292929"/>
                </a:solidFill>
                <a:highlight>
                  <a:srgbClr val="EAD1DC"/>
                </a:highlight>
                <a:latin typeface="Times New Roman"/>
                <a:ea typeface="Times New Roman"/>
                <a:cs typeface="Times New Roman"/>
                <a:sym typeface="Times New Roman"/>
              </a:rPr>
              <a:t> →    un       success    </a:t>
            </a:r>
            <a:r>
              <a:rPr lang="en-US" sz="2200" dirty="0" err="1">
                <a:solidFill>
                  <a:srgbClr val="292929"/>
                </a:solidFill>
                <a:highlight>
                  <a:srgbClr val="EAD1DC"/>
                </a:highlight>
                <a:latin typeface="Times New Roman"/>
                <a:ea typeface="Times New Roman"/>
                <a:cs typeface="Times New Roman"/>
                <a:sym typeface="Times New Roman"/>
              </a:rPr>
              <a:t>ful</a:t>
            </a:r>
            <a:endParaRPr sz="2200" dirty="0">
              <a:solidFill>
                <a:srgbClr val="292929"/>
              </a:solidFill>
              <a:highlight>
                <a:srgbClr val="EAD1DC"/>
              </a:highlight>
              <a:latin typeface="Times New Roman"/>
              <a:ea typeface="Times New Roman"/>
              <a:cs typeface="Times New Roman"/>
              <a:sym typeface="Times New Roman"/>
            </a:endParaRPr>
          </a:p>
          <a:p>
            <a:pPr marL="1828800" lvl="0" indent="0" algn="l" rtl="0">
              <a:lnSpc>
                <a:spcPct val="100000"/>
              </a:lnSpc>
              <a:spcBef>
                <a:spcPts val="1000"/>
              </a:spcBef>
              <a:spcAft>
                <a:spcPts val="0"/>
              </a:spcAft>
              <a:buSzPts val="1800"/>
              <a:buNone/>
            </a:pPr>
            <a:r>
              <a:rPr lang="en-US" sz="2200" dirty="0">
                <a:solidFill>
                  <a:srgbClr val="292929"/>
                </a:solidFill>
                <a:highlight>
                  <a:srgbClr val="EAD1DC"/>
                </a:highlight>
                <a:latin typeface="Times New Roman"/>
                <a:ea typeface="Times New Roman"/>
                <a:cs typeface="Times New Roman"/>
                <a:sym typeface="Times New Roman"/>
              </a:rPr>
              <a:t>                           (prefix)   (stem)    (suffix)</a:t>
            </a:r>
            <a:endParaRPr sz="2200" dirty="0">
              <a:solidFill>
                <a:srgbClr val="292929"/>
              </a:solidFill>
              <a:highlight>
                <a:srgbClr val="EAD1DC"/>
              </a:highlight>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f1f4b03acb_0_13"/>
          <p:cNvSpPr txBox="1">
            <a:spLocks noGrp="1"/>
          </p:cNvSpPr>
          <p:nvPr>
            <p:ph type="title"/>
          </p:nvPr>
        </p:nvSpPr>
        <p:spPr>
          <a:xfrm>
            <a:off x="1251675" y="382380"/>
            <a:ext cx="10178400" cy="7413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179" name="Google Shape;179;gf1f4b03acb_0_13"/>
          <p:cNvSpPr txBox="1">
            <a:spLocks noGrp="1"/>
          </p:cNvSpPr>
          <p:nvPr>
            <p:ph type="body" idx="1"/>
          </p:nvPr>
        </p:nvSpPr>
        <p:spPr>
          <a:xfrm>
            <a:off x="1251675" y="1206350"/>
            <a:ext cx="10178400" cy="53706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r>
              <a:rPr lang="en-US" sz="2200" b="1"/>
              <a:t>2.</a:t>
            </a:r>
            <a:r>
              <a:rPr lang="en-US" sz="2200" b="1">
                <a:solidFill>
                  <a:schemeClr val="dk1"/>
                </a:solidFill>
              </a:rPr>
              <a:t> Syntactic Analysis:</a:t>
            </a:r>
            <a:endParaRPr sz="2200" b="1">
              <a:solidFill>
                <a:schemeClr val="dk1"/>
              </a:solidFill>
            </a:endParaRPr>
          </a:p>
          <a:p>
            <a:pPr marL="457200" lvl="0" indent="-342900" algn="l" rtl="0">
              <a:lnSpc>
                <a:spcPct val="110000"/>
              </a:lnSpc>
              <a:spcBef>
                <a:spcPts val="700"/>
              </a:spcBef>
              <a:spcAft>
                <a:spcPts val="0"/>
              </a:spcAft>
              <a:buClr>
                <a:schemeClr val="dk1"/>
              </a:buClr>
              <a:buSzPts val="1800"/>
              <a:buChar char="•"/>
            </a:pPr>
            <a:r>
              <a:rPr lang="en-US">
                <a:solidFill>
                  <a:schemeClr val="dk1"/>
                </a:solidFill>
              </a:rPr>
              <a:t>Syntactic analysis considers a </a:t>
            </a:r>
            <a:r>
              <a:rPr lang="en-US" b="1">
                <a:solidFill>
                  <a:schemeClr val="dk1"/>
                </a:solidFill>
                <a:highlight>
                  <a:srgbClr val="00FF00"/>
                </a:highlight>
              </a:rPr>
              <a:t>sequence of words as a unit</a:t>
            </a:r>
            <a:r>
              <a:rPr lang="en-US">
                <a:solidFill>
                  <a:schemeClr val="dk1"/>
                </a:solidFill>
              </a:rPr>
              <a:t>, usually a sentence and finds its structure.</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rPr>
              <a:t>Syntactic analysis decomposes a sentence by looking into its constituents (or words) and identifies how they relate to each other. </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rPr>
              <a:t>It captures grammaticality or non-grammaticality of sentences by looking at constraints like word order, number, and case agreement. </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rPr>
              <a:t>This level of processing requires syntactic knowledge.</a:t>
            </a:r>
            <a:endParaRPr>
              <a:solidFill>
                <a:schemeClr val="dk1"/>
              </a:solidFill>
            </a:endParaRPr>
          </a:p>
          <a:p>
            <a:pPr marL="0" lvl="0" indent="0" algn="l" rtl="0">
              <a:lnSpc>
                <a:spcPct val="110000"/>
              </a:lnSpc>
              <a:spcBef>
                <a:spcPts val="700"/>
              </a:spcBef>
              <a:spcAft>
                <a:spcPts val="0"/>
              </a:spcAft>
              <a:buSzPts val="1800"/>
              <a:buNone/>
            </a:pPr>
            <a:r>
              <a:rPr lang="en-US" b="1">
                <a:solidFill>
                  <a:schemeClr val="dk1"/>
                </a:solidFill>
              </a:rPr>
              <a:t>Syntactic Knowledge:</a:t>
            </a:r>
            <a:endParaRPr b="1">
              <a:solidFill>
                <a:schemeClr val="dk1"/>
              </a:solidFill>
            </a:endParaRPr>
          </a:p>
          <a:p>
            <a:pPr marL="457200" lvl="0" indent="-342900" algn="l" rtl="0">
              <a:lnSpc>
                <a:spcPct val="110000"/>
              </a:lnSpc>
              <a:spcBef>
                <a:spcPts val="700"/>
              </a:spcBef>
              <a:spcAft>
                <a:spcPts val="0"/>
              </a:spcAft>
              <a:buClr>
                <a:schemeClr val="dk1"/>
              </a:buClr>
              <a:buSzPts val="1800"/>
              <a:buChar char="•"/>
            </a:pPr>
            <a:r>
              <a:rPr lang="en-US">
                <a:solidFill>
                  <a:schemeClr val="dk1"/>
                </a:solidFill>
              </a:rPr>
              <a:t>Syntactic knowledge is knowledge about how words are combined to form larger units such as phrases and sentences and what constraints are imposed on them. </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rPr>
              <a:t>Not every sequence of words results in a sentence - For example, ‘</a:t>
            </a:r>
            <a:r>
              <a:rPr lang="en-US" b="1">
                <a:solidFill>
                  <a:schemeClr val="dk1"/>
                </a:solidFill>
                <a:highlight>
                  <a:srgbClr val="FFFF00"/>
                </a:highlight>
              </a:rPr>
              <a:t>I went to the market</a:t>
            </a:r>
            <a:r>
              <a:rPr lang="en-US">
                <a:solidFill>
                  <a:schemeClr val="dk1"/>
                </a:solidFill>
              </a:rPr>
              <a:t>’ is a valid sentence whereas </a:t>
            </a:r>
            <a:r>
              <a:rPr lang="en-US" b="1">
                <a:solidFill>
                  <a:schemeClr val="dk1"/>
                </a:solidFill>
                <a:highlight>
                  <a:srgbClr val="FFFF00"/>
                </a:highlight>
              </a:rPr>
              <a:t>‘went the I market to</a:t>
            </a:r>
            <a:r>
              <a:rPr lang="en-US" b="1">
                <a:solidFill>
                  <a:schemeClr val="dk1"/>
                </a:solidFill>
              </a:rPr>
              <a:t>’</a:t>
            </a:r>
            <a:r>
              <a:rPr lang="en-US">
                <a:solidFill>
                  <a:schemeClr val="dk1"/>
                </a:solidFill>
              </a:rPr>
              <a:t> is not</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highlight>
                  <a:srgbClr val="00FFFF"/>
                </a:highlight>
              </a:rPr>
              <a:t>This level of analysis requires detailed knowledge about the rules of grammar. </a:t>
            </a:r>
            <a:endParaRPr>
              <a:solidFill>
                <a:schemeClr val="dk1"/>
              </a:solidFill>
              <a:highlight>
                <a:srgbClr val="00FFFF"/>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f1f4b03acb_0_18"/>
          <p:cNvSpPr txBox="1">
            <a:spLocks noGrp="1"/>
          </p:cNvSpPr>
          <p:nvPr>
            <p:ph type="title"/>
          </p:nvPr>
        </p:nvSpPr>
        <p:spPr>
          <a:xfrm>
            <a:off x="1251675" y="382376"/>
            <a:ext cx="10178400" cy="5760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185" name="Google Shape;185;gf1f4b03acb_0_18"/>
          <p:cNvSpPr txBox="1">
            <a:spLocks noGrp="1"/>
          </p:cNvSpPr>
          <p:nvPr>
            <p:ph type="body" idx="1"/>
          </p:nvPr>
        </p:nvSpPr>
        <p:spPr>
          <a:xfrm>
            <a:off x="1251675" y="958375"/>
            <a:ext cx="10178400" cy="5734500"/>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700"/>
              </a:spcBef>
              <a:spcAft>
                <a:spcPts val="0"/>
              </a:spcAft>
              <a:buSzPts val="1800"/>
              <a:buNone/>
            </a:pPr>
            <a:r>
              <a:rPr lang="en-US" sz="2200" b="1" dirty="0"/>
              <a:t>3. </a:t>
            </a:r>
            <a:r>
              <a:rPr lang="en-US" sz="2400" b="1" dirty="0">
                <a:solidFill>
                  <a:schemeClr val="dk1"/>
                </a:solidFill>
                <a:latin typeface="Times New Roman"/>
                <a:ea typeface="Times New Roman"/>
                <a:cs typeface="Times New Roman"/>
                <a:sym typeface="Times New Roman"/>
              </a:rPr>
              <a:t>Semantic Analysis:</a:t>
            </a:r>
            <a:endParaRPr sz="2400" b="1" dirty="0">
              <a:solidFill>
                <a:schemeClr val="dk1"/>
              </a:solidFill>
              <a:latin typeface="Times New Roman"/>
              <a:ea typeface="Times New Roman"/>
              <a:cs typeface="Times New Roman"/>
              <a:sym typeface="Times New Roman"/>
            </a:endParaRPr>
          </a:p>
          <a:p>
            <a:pPr marL="457200" lvl="0" indent="-381000" algn="l" rtl="0">
              <a:lnSpc>
                <a:spcPct val="110000"/>
              </a:lnSpc>
              <a:spcBef>
                <a:spcPts val="70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Semantic analysis is </a:t>
            </a:r>
            <a:r>
              <a:rPr lang="en-US" sz="2400" dirty="0">
                <a:solidFill>
                  <a:schemeClr val="dk1"/>
                </a:solidFill>
                <a:highlight>
                  <a:srgbClr val="FFFF00"/>
                </a:highlight>
                <a:latin typeface="Times New Roman"/>
                <a:ea typeface="Times New Roman"/>
                <a:cs typeface="Times New Roman"/>
                <a:sym typeface="Times New Roman"/>
              </a:rPr>
              <a:t>associated with the meaning of the language</a:t>
            </a:r>
            <a:r>
              <a:rPr lang="en-US" sz="2400"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It is concerned with creating meaningful representation of linguistic inputs. </a:t>
            </a:r>
            <a:endParaRPr sz="2400" dirty="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Defining meaning components is difficult as grammatically valid sentences can be meaningless.</a:t>
            </a:r>
            <a:endParaRPr sz="2400" dirty="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Humans apply all sorts of knowledge - </a:t>
            </a:r>
            <a:r>
              <a:rPr lang="en-US" sz="2400" dirty="0">
                <a:solidFill>
                  <a:schemeClr val="dk1"/>
                </a:solidFill>
                <a:highlight>
                  <a:srgbClr val="FFFF00"/>
                </a:highlight>
                <a:latin typeface="Times New Roman"/>
                <a:ea typeface="Times New Roman"/>
                <a:cs typeface="Times New Roman"/>
                <a:sym typeface="Times New Roman"/>
              </a:rPr>
              <a:t>lexical, syntactic, semantic, discourse, pragmatic, and world knowledge</a:t>
            </a:r>
            <a:r>
              <a:rPr lang="en-US" sz="2400" dirty="0">
                <a:solidFill>
                  <a:schemeClr val="dk1"/>
                </a:solidFill>
                <a:latin typeface="Times New Roman"/>
                <a:ea typeface="Times New Roman"/>
                <a:cs typeface="Times New Roman"/>
                <a:sym typeface="Times New Roman"/>
              </a:rPr>
              <a:t> to arrive at the meaning of a sentence. </a:t>
            </a:r>
            <a:endParaRPr sz="2400" dirty="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The starting point in semantic analysis is lexical semantics (meaning of words).</a:t>
            </a:r>
            <a:endParaRPr sz="2400" dirty="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A word can have any number of possible meanings associated with it. But in a given context, only one of those meanings will be applied.</a:t>
            </a:r>
            <a:endParaRPr sz="2400" dirty="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dirty="0">
                <a:solidFill>
                  <a:schemeClr val="dk1"/>
                </a:solidFill>
                <a:latin typeface="Times New Roman"/>
                <a:ea typeface="Times New Roman"/>
                <a:cs typeface="Times New Roman"/>
                <a:sym typeface="Times New Roman"/>
              </a:rPr>
              <a:t>The meaning of a sentence cannot be composed solely on the basis of meaning of its words. </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155f8378242_0_32"/>
          <p:cNvSpPr txBox="1">
            <a:spLocks noGrp="1"/>
          </p:cNvSpPr>
          <p:nvPr>
            <p:ph type="title"/>
          </p:nvPr>
        </p:nvSpPr>
        <p:spPr>
          <a:xfrm>
            <a:off x="1251675" y="382376"/>
            <a:ext cx="10178400" cy="5760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191" name="Google Shape;191;g155f8378242_0_32"/>
          <p:cNvSpPr txBox="1">
            <a:spLocks noGrp="1"/>
          </p:cNvSpPr>
          <p:nvPr>
            <p:ph type="body" idx="1"/>
          </p:nvPr>
        </p:nvSpPr>
        <p:spPr>
          <a:xfrm>
            <a:off x="1251675" y="958375"/>
            <a:ext cx="10178400" cy="57345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10000"/>
              </a:lnSpc>
              <a:spcBef>
                <a:spcPts val="700"/>
              </a:spcBef>
              <a:spcAft>
                <a:spcPts val="0"/>
              </a:spcAft>
              <a:buSzPts val="1800"/>
              <a:buNone/>
            </a:pPr>
            <a:r>
              <a:rPr lang="en-US" sz="2400">
                <a:solidFill>
                  <a:schemeClr val="dk1"/>
                </a:solidFill>
                <a:latin typeface="Times New Roman"/>
                <a:ea typeface="Times New Roman"/>
                <a:cs typeface="Times New Roman"/>
                <a:sym typeface="Times New Roman"/>
              </a:rPr>
              <a:t>Consider the following sentences:</a:t>
            </a:r>
            <a:endParaRPr sz="2400">
              <a:solidFill>
                <a:schemeClr val="dk1"/>
              </a:solidFill>
              <a:latin typeface="Times New Roman"/>
              <a:ea typeface="Times New Roman"/>
              <a:cs typeface="Times New Roman"/>
              <a:sym typeface="Times New Roman"/>
            </a:endParaRPr>
          </a:p>
          <a:p>
            <a:pPr marL="914400" lvl="1" indent="-381000" algn="l" rtl="0">
              <a:lnSpc>
                <a:spcPct val="110000"/>
              </a:lnSpc>
              <a:spcBef>
                <a:spcPts val="0"/>
              </a:spcBef>
              <a:spcAft>
                <a:spcPts val="0"/>
              </a:spcAft>
              <a:buClr>
                <a:schemeClr val="dk1"/>
              </a:buClr>
              <a:buSzPts val="2400"/>
              <a:buFont typeface="Times New Roman"/>
              <a:buChar char="–"/>
            </a:pPr>
            <a:r>
              <a:rPr lang="en-US" sz="2400">
                <a:solidFill>
                  <a:schemeClr val="dk1"/>
                </a:solidFill>
                <a:highlight>
                  <a:srgbClr val="00FFFF"/>
                </a:highlight>
                <a:latin typeface="Times New Roman"/>
                <a:ea typeface="Times New Roman"/>
                <a:cs typeface="Times New Roman"/>
                <a:sym typeface="Times New Roman"/>
              </a:rPr>
              <a:t>Kabir and Ayan are married.</a:t>
            </a:r>
            <a:endParaRPr sz="2400">
              <a:solidFill>
                <a:schemeClr val="dk1"/>
              </a:solidFill>
              <a:highlight>
                <a:srgbClr val="00FFFF"/>
              </a:highlight>
              <a:latin typeface="Times New Roman"/>
              <a:ea typeface="Times New Roman"/>
              <a:cs typeface="Times New Roman"/>
              <a:sym typeface="Times New Roman"/>
            </a:endParaRPr>
          </a:p>
          <a:p>
            <a:pPr marL="914400" lvl="1" indent="-381000" algn="l" rtl="0">
              <a:lnSpc>
                <a:spcPct val="110000"/>
              </a:lnSpc>
              <a:spcBef>
                <a:spcPts val="0"/>
              </a:spcBef>
              <a:spcAft>
                <a:spcPts val="0"/>
              </a:spcAft>
              <a:buClr>
                <a:schemeClr val="dk1"/>
              </a:buClr>
              <a:buSzPts val="2400"/>
              <a:buFont typeface="Times New Roman"/>
              <a:buChar char="–"/>
            </a:pPr>
            <a:r>
              <a:rPr lang="en-US" sz="2400">
                <a:solidFill>
                  <a:schemeClr val="dk1"/>
                </a:solidFill>
                <a:highlight>
                  <a:srgbClr val="00FFFF"/>
                </a:highlight>
                <a:latin typeface="Times New Roman"/>
                <a:ea typeface="Times New Roman"/>
                <a:cs typeface="Times New Roman"/>
                <a:sym typeface="Times New Roman"/>
              </a:rPr>
              <a:t>Kabir and Suha are married.</a:t>
            </a:r>
            <a:endParaRPr sz="2400">
              <a:solidFill>
                <a:schemeClr val="dk1"/>
              </a:solidFill>
              <a:highlight>
                <a:srgbClr val="00FFFF"/>
              </a:highlight>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Both sentences have identical structures, and the meaning of individual words are clear. But most of us end up with two different interpretations. </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We may interpret the second sentence to mean that Kabir and Suha are married to each other, but this interpretation does not occur from the first sentence. </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highlight>
                  <a:srgbClr val="FFFF00"/>
                </a:highlight>
                <a:latin typeface="Times New Roman"/>
                <a:ea typeface="Times New Roman"/>
                <a:cs typeface="Times New Roman"/>
                <a:sym typeface="Times New Roman"/>
              </a:rPr>
              <a:t>Syntactic structure and compositional semantics fail to explain these interpretations.</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Here we make use of </a:t>
            </a:r>
            <a:r>
              <a:rPr lang="en-US" sz="2400">
                <a:solidFill>
                  <a:schemeClr val="dk1"/>
                </a:solidFill>
                <a:highlight>
                  <a:srgbClr val="00FFFF"/>
                </a:highlight>
                <a:latin typeface="Times New Roman"/>
                <a:ea typeface="Times New Roman"/>
                <a:cs typeface="Times New Roman"/>
                <a:sym typeface="Times New Roman"/>
              </a:rPr>
              <a:t>pragmatic information</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Hence semantic analysis requires pragmatic knowledge besides semantic and syntactic knowledge. </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Pragmatic analysis deals with outside word knowledge, which means knowledge that is external to the documents and/or queries. </a:t>
            </a:r>
            <a:endParaRPr sz="2400">
              <a:solidFill>
                <a:schemeClr val="dk1"/>
              </a:solidFill>
              <a:latin typeface="Times New Roman"/>
              <a:ea typeface="Times New Roman"/>
              <a:cs typeface="Times New Roman"/>
              <a:sym typeface="Times New Roman"/>
            </a:endParaRPr>
          </a:p>
          <a:p>
            <a:pPr marL="0" lvl="0" indent="0" algn="l" rtl="0">
              <a:lnSpc>
                <a:spcPct val="100000"/>
              </a:lnSpc>
              <a:spcBef>
                <a:spcPts val="1000"/>
              </a:spcBef>
              <a:spcAft>
                <a:spcPts val="0"/>
              </a:spcAft>
              <a:buSzPts val="1800"/>
              <a:buNone/>
            </a:pP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f1f4b03acb_0_23"/>
          <p:cNvSpPr txBox="1">
            <a:spLocks noGrp="1"/>
          </p:cNvSpPr>
          <p:nvPr>
            <p:ph type="title"/>
          </p:nvPr>
        </p:nvSpPr>
        <p:spPr>
          <a:xfrm>
            <a:off x="1251675" y="381001"/>
            <a:ext cx="10178400" cy="5610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197" name="Google Shape;197;gf1f4b03acb_0_23"/>
          <p:cNvSpPr txBox="1">
            <a:spLocks noGrp="1"/>
          </p:cNvSpPr>
          <p:nvPr>
            <p:ph type="body" idx="1"/>
          </p:nvPr>
        </p:nvSpPr>
        <p:spPr>
          <a:xfrm>
            <a:off x="1251675" y="942000"/>
            <a:ext cx="10178400" cy="59160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endParaRPr>
              <a:highlight>
                <a:schemeClr val="lt1"/>
              </a:highlight>
            </a:endParaRPr>
          </a:p>
        </p:txBody>
      </p:sp>
      <p:pic>
        <p:nvPicPr>
          <p:cNvPr id="198" name="Google Shape;198;gf1f4b03acb_0_23"/>
          <p:cNvPicPr preferRelativeResize="0"/>
          <p:nvPr/>
        </p:nvPicPr>
        <p:blipFill rotWithShape="1">
          <a:blip r:embed="rId3">
            <a:alphaModFix/>
          </a:blip>
          <a:srcRect/>
          <a:stretch/>
        </p:blipFill>
        <p:spPr>
          <a:xfrm>
            <a:off x="2238400" y="1095400"/>
            <a:ext cx="8443374" cy="56092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f6f041fea6_0_0"/>
          <p:cNvSpPr txBox="1">
            <a:spLocks noGrp="1"/>
          </p:cNvSpPr>
          <p:nvPr>
            <p:ph type="title"/>
          </p:nvPr>
        </p:nvSpPr>
        <p:spPr>
          <a:xfrm>
            <a:off x="1251675" y="151031"/>
            <a:ext cx="10178400" cy="6093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204" name="Google Shape;204;gf6f041fea6_0_0"/>
          <p:cNvSpPr txBox="1">
            <a:spLocks noGrp="1"/>
          </p:cNvSpPr>
          <p:nvPr>
            <p:ph type="body" idx="1"/>
          </p:nvPr>
        </p:nvSpPr>
        <p:spPr>
          <a:xfrm>
            <a:off x="1251675" y="677525"/>
            <a:ext cx="10178400" cy="59985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700"/>
              </a:spcBef>
              <a:spcAft>
                <a:spcPts val="0"/>
              </a:spcAft>
              <a:buSzPts val="1800"/>
              <a:buNone/>
            </a:pPr>
            <a:r>
              <a:rPr lang="en-US" sz="3000" b="1">
                <a:solidFill>
                  <a:schemeClr val="dk1"/>
                </a:solidFill>
                <a:latin typeface="Times New Roman"/>
                <a:ea typeface="Times New Roman"/>
                <a:cs typeface="Times New Roman"/>
                <a:sym typeface="Times New Roman"/>
              </a:rPr>
              <a:t>4. Discourse Analysis:</a:t>
            </a:r>
            <a:endParaRPr sz="3000" b="1">
              <a:solidFill>
                <a:schemeClr val="dk1"/>
              </a:solidFill>
              <a:latin typeface="Times New Roman"/>
              <a:ea typeface="Times New Roman"/>
              <a:cs typeface="Times New Roman"/>
              <a:sym typeface="Times New Roman"/>
            </a:endParaRPr>
          </a:p>
          <a:p>
            <a:pPr marL="457200" lvl="0" indent="-419100" algn="l" rtl="0">
              <a:lnSpc>
                <a:spcPct val="100000"/>
              </a:lnSpc>
              <a:spcBef>
                <a:spcPts val="1000"/>
              </a:spcBef>
              <a:spcAft>
                <a:spcPts val="0"/>
              </a:spcAft>
              <a:buClr>
                <a:schemeClr val="dk1"/>
              </a:buClr>
              <a:buSzPts val="3000"/>
              <a:buFont typeface="Times New Roman"/>
              <a:buChar char="•"/>
            </a:pPr>
            <a:r>
              <a:rPr lang="en-US" sz="3000" b="1">
                <a:solidFill>
                  <a:schemeClr val="dk1"/>
                </a:solidFill>
                <a:latin typeface="Times New Roman"/>
                <a:ea typeface="Times New Roman"/>
                <a:cs typeface="Times New Roman"/>
                <a:sym typeface="Times New Roman"/>
              </a:rPr>
              <a:t>Discourse-level processing</a:t>
            </a:r>
            <a:r>
              <a:rPr lang="en-US" sz="3000">
                <a:solidFill>
                  <a:schemeClr val="dk1"/>
                </a:solidFill>
                <a:latin typeface="Times New Roman"/>
                <a:ea typeface="Times New Roman"/>
                <a:cs typeface="Times New Roman"/>
                <a:sym typeface="Times New Roman"/>
              </a:rPr>
              <a:t> attempts to interpret the structure and meaning of even larger units, e.g., </a:t>
            </a:r>
            <a:r>
              <a:rPr lang="en-US" sz="3000" b="1">
                <a:solidFill>
                  <a:schemeClr val="dk1"/>
                </a:solidFill>
                <a:latin typeface="Times New Roman"/>
                <a:ea typeface="Times New Roman"/>
                <a:cs typeface="Times New Roman"/>
                <a:sym typeface="Times New Roman"/>
              </a:rPr>
              <a:t>at the paragraph and document level, in terms of words, phrases, clusters and sentences.</a:t>
            </a:r>
            <a:endParaRPr sz="3000" b="1">
              <a:solidFill>
                <a:schemeClr val="dk1"/>
              </a:solidFill>
              <a:latin typeface="Times New Roman"/>
              <a:ea typeface="Times New Roman"/>
              <a:cs typeface="Times New Roman"/>
              <a:sym typeface="Times New Roman"/>
            </a:endParaRPr>
          </a:p>
          <a:p>
            <a:pPr marL="457200" lvl="0" indent="-419100" algn="l" rtl="0">
              <a:lnSpc>
                <a:spcPct val="100000"/>
              </a:lnSpc>
              <a:spcBef>
                <a:spcPts val="1000"/>
              </a:spcBef>
              <a:spcAft>
                <a:spcPts val="0"/>
              </a:spcAft>
              <a:buClr>
                <a:schemeClr val="dk1"/>
              </a:buClr>
              <a:buSzPts val="3000"/>
              <a:buFont typeface="Times New Roman"/>
              <a:buChar char="•"/>
            </a:pPr>
            <a:r>
              <a:rPr lang="en-US" sz="3000">
                <a:solidFill>
                  <a:schemeClr val="dk1"/>
                </a:solidFill>
                <a:latin typeface="Times New Roman"/>
                <a:ea typeface="Times New Roman"/>
                <a:cs typeface="Times New Roman"/>
                <a:sym typeface="Times New Roman"/>
              </a:rPr>
              <a:t>It requires the </a:t>
            </a:r>
            <a:r>
              <a:rPr lang="en-US" sz="3000" b="1">
                <a:solidFill>
                  <a:schemeClr val="dk1"/>
                </a:solidFill>
                <a:latin typeface="Times New Roman"/>
                <a:ea typeface="Times New Roman"/>
                <a:cs typeface="Times New Roman"/>
                <a:sym typeface="Times New Roman"/>
              </a:rPr>
              <a:t>resolution of anaphoric references</a:t>
            </a:r>
            <a:r>
              <a:rPr lang="en-US" sz="3000">
                <a:solidFill>
                  <a:schemeClr val="dk1"/>
                </a:solidFill>
                <a:latin typeface="Times New Roman"/>
                <a:ea typeface="Times New Roman"/>
                <a:cs typeface="Times New Roman"/>
                <a:sym typeface="Times New Roman"/>
              </a:rPr>
              <a:t> and identification of discourse structure.</a:t>
            </a:r>
            <a:endParaRPr sz="3000">
              <a:solidFill>
                <a:schemeClr val="dk1"/>
              </a:solidFill>
              <a:latin typeface="Times New Roman"/>
              <a:ea typeface="Times New Roman"/>
              <a:cs typeface="Times New Roman"/>
              <a:sym typeface="Times New Roman"/>
            </a:endParaRPr>
          </a:p>
          <a:p>
            <a:pPr marL="457200" lvl="0" indent="-419100" algn="l" rtl="0">
              <a:lnSpc>
                <a:spcPct val="100000"/>
              </a:lnSpc>
              <a:spcBef>
                <a:spcPts val="1000"/>
              </a:spcBef>
              <a:spcAft>
                <a:spcPts val="0"/>
              </a:spcAft>
              <a:buClr>
                <a:schemeClr val="dk1"/>
              </a:buClr>
              <a:buSzPts val="3000"/>
              <a:buFont typeface="Times New Roman"/>
              <a:buChar char="•"/>
            </a:pPr>
            <a:r>
              <a:rPr lang="en-US" sz="3000">
                <a:solidFill>
                  <a:schemeClr val="dk1"/>
                </a:solidFill>
                <a:latin typeface="Times New Roman"/>
                <a:ea typeface="Times New Roman"/>
                <a:cs typeface="Times New Roman"/>
                <a:sym typeface="Times New Roman"/>
              </a:rPr>
              <a:t>It requires </a:t>
            </a:r>
            <a:r>
              <a:rPr lang="en-US" sz="3000" b="1">
                <a:solidFill>
                  <a:schemeClr val="dk1"/>
                </a:solidFill>
                <a:latin typeface="Times New Roman"/>
                <a:ea typeface="Times New Roman"/>
                <a:cs typeface="Times New Roman"/>
                <a:sym typeface="Times New Roman"/>
              </a:rPr>
              <a:t>discourse knowledge</a:t>
            </a:r>
            <a:r>
              <a:rPr lang="en-US" sz="3000">
                <a:solidFill>
                  <a:schemeClr val="dk1"/>
                </a:solidFill>
                <a:latin typeface="Times New Roman"/>
                <a:ea typeface="Times New Roman"/>
                <a:cs typeface="Times New Roman"/>
                <a:sym typeface="Times New Roman"/>
              </a:rPr>
              <a:t> - </a:t>
            </a:r>
            <a:r>
              <a:rPr lang="en-US" sz="3000">
                <a:solidFill>
                  <a:schemeClr val="dk1"/>
                </a:solidFill>
                <a:highlight>
                  <a:srgbClr val="FFFF00"/>
                </a:highlight>
                <a:latin typeface="Times New Roman"/>
                <a:ea typeface="Times New Roman"/>
                <a:cs typeface="Times New Roman"/>
                <a:sym typeface="Times New Roman"/>
              </a:rPr>
              <a:t>knowledge of how the meaning of a sentence is determined by preceding sentences. </a:t>
            </a:r>
            <a:endParaRPr sz="3000">
              <a:solidFill>
                <a:schemeClr val="dk1"/>
              </a:solidFill>
              <a:highlight>
                <a:srgbClr val="FFFF00"/>
              </a:highlight>
              <a:latin typeface="Times New Roman"/>
              <a:ea typeface="Times New Roman"/>
              <a:cs typeface="Times New Roman"/>
              <a:sym typeface="Times New Roman"/>
            </a:endParaRPr>
          </a:p>
          <a:p>
            <a:pPr marL="914400" lvl="1" indent="-419100" algn="l" rtl="0">
              <a:lnSpc>
                <a:spcPct val="100000"/>
              </a:lnSpc>
              <a:spcBef>
                <a:spcPts val="1000"/>
              </a:spcBef>
              <a:spcAft>
                <a:spcPts val="1000"/>
              </a:spcAft>
              <a:buClr>
                <a:schemeClr val="dk1"/>
              </a:buClr>
              <a:buSzPts val="3000"/>
              <a:buFont typeface="Times New Roman"/>
              <a:buChar char="–"/>
            </a:pPr>
            <a:r>
              <a:rPr lang="en-US" sz="3000">
                <a:solidFill>
                  <a:schemeClr val="dk1"/>
                </a:solidFill>
                <a:latin typeface="Times New Roman"/>
                <a:ea typeface="Times New Roman"/>
                <a:cs typeface="Times New Roman"/>
                <a:sym typeface="Times New Roman"/>
              </a:rPr>
              <a:t>example, how a pronoun refers to the preceding noun and how to determine the function of a sentence in the text.</a:t>
            </a:r>
            <a:endParaRPr sz="3000">
              <a:solidFill>
                <a:schemeClr val="dk1"/>
              </a:solidFill>
              <a:highlight>
                <a:srgbClr val="FFFF00"/>
              </a:highlight>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155f8378242_0_39"/>
          <p:cNvSpPr txBox="1">
            <a:spLocks noGrp="1"/>
          </p:cNvSpPr>
          <p:nvPr>
            <p:ph type="title"/>
          </p:nvPr>
        </p:nvSpPr>
        <p:spPr>
          <a:xfrm>
            <a:off x="1251675" y="151031"/>
            <a:ext cx="10178400" cy="6093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70588"/>
              <a:buFont typeface="Calibri"/>
              <a:buNone/>
            </a:pPr>
            <a:r>
              <a:rPr lang="en-US"/>
              <a:t>LANGUAGE AND KNOWLEDGE</a:t>
            </a:r>
            <a:endParaRPr/>
          </a:p>
        </p:txBody>
      </p:sp>
      <p:sp>
        <p:nvSpPr>
          <p:cNvPr id="210" name="Google Shape;210;g155f8378242_0_39"/>
          <p:cNvSpPr txBox="1">
            <a:spLocks noGrp="1"/>
          </p:cNvSpPr>
          <p:nvPr>
            <p:ph type="body" idx="1"/>
          </p:nvPr>
        </p:nvSpPr>
        <p:spPr>
          <a:xfrm>
            <a:off x="1251675" y="913375"/>
            <a:ext cx="10178400" cy="5762700"/>
          </a:xfrm>
          <a:prstGeom prst="rect">
            <a:avLst/>
          </a:prstGeom>
          <a:noFill/>
          <a:ln>
            <a:noFill/>
          </a:ln>
        </p:spPr>
        <p:txBody>
          <a:bodyPr spcFirstLastPara="1" wrap="square" lIns="91425" tIns="45700" rIns="91425" bIns="45700" anchor="ctr" anchorCtr="0">
            <a:noAutofit/>
          </a:bodyPr>
          <a:lstStyle/>
          <a:p>
            <a:pPr marL="0" lvl="0" indent="0" algn="l" rtl="0">
              <a:lnSpc>
                <a:spcPct val="110000"/>
              </a:lnSpc>
              <a:spcBef>
                <a:spcPts val="700"/>
              </a:spcBef>
              <a:spcAft>
                <a:spcPts val="0"/>
              </a:spcAft>
              <a:buSzPts val="1800"/>
              <a:buNone/>
            </a:pPr>
            <a:r>
              <a:rPr lang="en-US" sz="2400" b="1">
                <a:solidFill>
                  <a:schemeClr val="dk1"/>
                </a:solidFill>
                <a:latin typeface="Times New Roman"/>
                <a:ea typeface="Times New Roman"/>
                <a:cs typeface="Times New Roman"/>
                <a:sym typeface="Times New Roman"/>
              </a:rPr>
              <a:t>4. Discourse Analysis:</a:t>
            </a:r>
            <a:endParaRPr sz="240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Pragmatic knowledge may be needed for resolving the </a:t>
            </a:r>
            <a:r>
              <a:rPr lang="en-US" sz="2400">
                <a:solidFill>
                  <a:schemeClr val="dk1"/>
                </a:solidFill>
                <a:highlight>
                  <a:srgbClr val="FFFF00"/>
                </a:highlight>
                <a:latin typeface="Times New Roman"/>
                <a:ea typeface="Times New Roman"/>
                <a:cs typeface="Times New Roman"/>
                <a:sym typeface="Times New Roman"/>
              </a:rPr>
              <a:t>anaphoric references.</a:t>
            </a:r>
            <a:endParaRPr sz="2400">
              <a:solidFill>
                <a:schemeClr val="dk1"/>
              </a:solidFill>
              <a:latin typeface="Times New Roman"/>
              <a:ea typeface="Times New Roman"/>
              <a:cs typeface="Times New Roman"/>
              <a:sym typeface="Times New Roman"/>
            </a:endParaRPr>
          </a:p>
          <a:p>
            <a:pPr marL="457200" lvl="0" indent="-381000" algn="l" rtl="0">
              <a:lnSpc>
                <a:spcPct val="110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In the following sentences, pragmatic knowledge is required to resolve the anaphoric reference - ‘they’.</a:t>
            </a:r>
            <a:endParaRPr sz="2400">
              <a:solidFill>
                <a:schemeClr val="dk1"/>
              </a:solidFill>
              <a:latin typeface="Times New Roman"/>
              <a:ea typeface="Times New Roman"/>
              <a:cs typeface="Times New Roman"/>
              <a:sym typeface="Times New Roman"/>
            </a:endParaRPr>
          </a:p>
          <a:p>
            <a:pPr marL="1371600" lvl="0" indent="0" algn="l" rtl="0">
              <a:lnSpc>
                <a:spcPct val="110000"/>
              </a:lnSpc>
              <a:spcBef>
                <a:spcPts val="700"/>
              </a:spcBef>
              <a:spcAft>
                <a:spcPts val="0"/>
              </a:spcAft>
              <a:buSzPts val="1800"/>
              <a:buNone/>
            </a:pPr>
            <a:r>
              <a:rPr lang="en-US" sz="2400" i="1">
                <a:solidFill>
                  <a:schemeClr val="dk1"/>
                </a:solidFill>
                <a:highlight>
                  <a:srgbClr val="EAD1DC"/>
                </a:highlight>
                <a:latin typeface="Times New Roman"/>
                <a:ea typeface="Times New Roman"/>
                <a:cs typeface="Times New Roman"/>
                <a:sym typeface="Times New Roman"/>
              </a:rPr>
              <a:t>The district administration refused to give the trade union</a:t>
            </a:r>
            <a:endParaRPr sz="2400" i="1">
              <a:solidFill>
                <a:schemeClr val="dk1"/>
              </a:solidFill>
              <a:highlight>
                <a:srgbClr val="EAD1DC"/>
              </a:highlight>
              <a:latin typeface="Times New Roman"/>
              <a:ea typeface="Times New Roman"/>
              <a:cs typeface="Times New Roman"/>
              <a:sym typeface="Times New Roman"/>
            </a:endParaRPr>
          </a:p>
          <a:p>
            <a:pPr marL="1371600" lvl="0" indent="0" algn="l" rtl="0">
              <a:lnSpc>
                <a:spcPct val="110000"/>
              </a:lnSpc>
              <a:spcBef>
                <a:spcPts val="700"/>
              </a:spcBef>
              <a:spcAft>
                <a:spcPts val="0"/>
              </a:spcAft>
              <a:buSzPts val="1800"/>
              <a:buNone/>
            </a:pPr>
            <a:r>
              <a:rPr lang="en-US" sz="2400" i="1">
                <a:solidFill>
                  <a:schemeClr val="dk1"/>
                </a:solidFill>
                <a:highlight>
                  <a:srgbClr val="EAD1DC"/>
                </a:highlight>
                <a:latin typeface="Times New Roman"/>
                <a:ea typeface="Times New Roman"/>
                <a:cs typeface="Times New Roman"/>
                <a:sym typeface="Times New Roman"/>
              </a:rPr>
              <a:t>permission for the meeting because </a:t>
            </a:r>
            <a:r>
              <a:rPr lang="en-US" sz="2400" i="1">
                <a:solidFill>
                  <a:schemeClr val="dk1"/>
                </a:solidFill>
                <a:highlight>
                  <a:srgbClr val="FFFF00"/>
                </a:highlight>
                <a:latin typeface="Times New Roman"/>
                <a:ea typeface="Times New Roman"/>
                <a:cs typeface="Times New Roman"/>
                <a:sym typeface="Times New Roman"/>
              </a:rPr>
              <a:t>they </a:t>
            </a:r>
            <a:r>
              <a:rPr lang="en-US" sz="2400" i="1">
                <a:solidFill>
                  <a:schemeClr val="dk1"/>
                </a:solidFill>
                <a:highlight>
                  <a:srgbClr val="EAD1DC"/>
                </a:highlight>
                <a:latin typeface="Times New Roman"/>
                <a:ea typeface="Times New Roman"/>
                <a:cs typeface="Times New Roman"/>
                <a:sym typeface="Times New Roman"/>
              </a:rPr>
              <a:t>feared violence.  </a:t>
            </a:r>
            <a:endParaRPr sz="2400" i="1">
              <a:solidFill>
                <a:schemeClr val="dk1"/>
              </a:solidFill>
              <a:highlight>
                <a:srgbClr val="EAD1DC"/>
              </a:highlight>
              <a:latin typeface="Times New Roman"/>
              <a:ea typeface="Times New Roman"/>
              <a:cs typeface="Times New Roman"/>
              <a:sym typeface="Times New Roman"/>
            </a:endParaRPr>
          </a:p>
          <a:p>
            <a:pPr marL="1371600" lvl="0" indent="0" algn="l" rtl="0">
              <a:lnSpc>
                <a:spcPct val="110000"/>
              </a:lnSpc>
              <a:spcBef>
                <a:spcPts val="700"/>
              </a:spcBef>
              <a:spcAft>
                <a:spcPts val="0"/>
              </a:spcAft>
              <a:buSzPts val="1800"/>
              <a:buNone/>
            </a:pPr>
            <a:r>
              <a:rPr lang="en-US" sz="2400" i="1">
                <a:solidFill>
                  <a:schemeClr val="dk1"/>
                </a:solidFill>
                <a:highlight>
                  <a:srgbClr val="EAD1DC"/>
                </a:highlight>
                <a:latin typeface="Times New Roman"/>
                <a:ea typeface="Times New Roman"/>
                <a:cs typeface="Times New Roman"/>
                <a:sym typeface="Times New Roman"/>
              </a:rPr>
              <a:t>The district administration refused to give the trade union</a:t>
            </a:r>
            <a:endParaRPr sz="2400" i="1">
              <a:solidFill>
                <a:schemeClr val="dk1"/>
              </a:solidFill>
              <a:highlight>
                <a:srgbClr val="EAD1DC"/>
              </a:highlight>
              <a:latin typeface="Times New Roman"/>
              <a:ea typeface="Times New Roman"/>
              <a:cs typeface="Times New Roman"/>
              <a:sym typeface="Times New Roman"/>
            </a:endParaRPr>
          </a:p>
          <a:p>
            <a:pPr marL="1371600" lvl="0" indent="0" algn="l" rtl="0">
              <a:lnSpc>
                <a:spcPct val="110000"/>
              </a:lnSpc>
              <a:spcBef>
                <a:spcPts val="700"/>
              </a:spcBef>
              <a:spcAft>
                <a:spcPts val="0"/>
              </a:spcAft>
              <a:buSzPts val="1800"/>
              <a:buNone/>
            </a:pPr>
            <a:r>
              <a:rPr lang="en-US" sz="2400" i="1">
                <a:solidFill>
                  <a:schemeClr val="dk1"/>
                </a:solidFill>
                <a:highlight>
                  <a:srgbClr val="EAD1DC"/>
                </a:highlight>
                <a:latin typeface="Times New Roman"/>
                <a:ea typeface="Times New Roman"/>
                <a:cs typeface="Times New Roman"/>
                <a:sym typeface="Times New Roman"/>
              </a:rPr>
              <a:t>permission for the meeting because </a:t>
            </a:r>
            <a:r>
              <a:rPr lang="en-US" sz="2400" i="1">
                <a:solidFill>
                  <a:schemeClr val="dk1"/>
                </a:solidFill>
                <a:highlight>
                  <a:srgbClr val="FFFF00"/>
                </a:highlight>
                <a:latin typeface="Times New Roman"/>
                <a:ea typeface="Times New Roman"/>
                <a:cs typeface="Times New Roman"/>
                <a:sym typeface="Times New Roman"/>
              </a:rPr>
              <a:t>they </a:t>
            </a:r>
            <a:r>
              <a:rPr lang="en-US" sz="2400" i="1">
                <a:solidFill>
                  <a:schemeClr val="dk1"/>
                </a:solidFill>
                <a:highlight>
                  <a:srgbClr val="EAD1DC"/>
                </a:highlight>
                <a:latin typeface="Times New Roman"/>
                <a:ea typeface="Times New Roman"/>
                <a:cs typeface="Times New Roman"/>
                <a:sym typeface="Times New Roman"/>
              </a:rPr>
              <a:t>oppose government. </a:t>
            </a:r>
            <a:endParaRPr sz="2400" i="1">
              <a:solidFill>
                <a:schemeClr val="dk1"/>
              </a:solidFill>
              <a:highlight>
                <a:srgbClr val="EAD1DC"/>
              </a:highlight>
              <a:latin typeface="Times New Roman"/>
              <a:ea typeface="Times New Roman"/>
              <a:cs typeface="Times New Roman"/>
              <a:sym typeface="Times New Roman"/>
            </a:endParaRPr>
          </a:p>
          <a:p>
            <a:pPr marL="457200" lvl="0" indent="-381000" algn="l" rtl="0">
              <a:lnSpc>
                <a:spcPct val="110000"/>
              </a:lnSpc>
              <a:spcBef>
                <a:spcPts val="7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highest level of processing is pragmatic analysis, which deals with the purposeful use of sentences in situations. </a:t>
            </a:r>
            <a:endParaRPr sz="2400">
              <a:solidFill>
                <a:schemeClr val="dk1"/>
              </a:solidFill>
              <a:latin typeface="Times New Roman"/>
              <a:ea typeface="Times New Roman"/>
              <a:cs typeface="Times New Roman"/>
              <a:sym typeface="Times New Roman"/>
            </a:endParaRPr>
          </a:p>
          <a:p>
            <a:pPr marL="457200" lvl="0" indent="-381000" algn="l" rtl="0">
              <a:lnSpc>
                <a:spcPct val="110000"/>
              </a:lnSpc>
              <a:spcBef>
                <a:spcPts val="7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It requires </a:t>
            </a:r>
            <a:r>
              <a:rPr lang="en-US" sz="2400">
                <a:solidFill>
                  <a:schemeClr val="dk1"/>
                </a:solidFill>
                <a:highlight>
                  <a:srgbClr val="FFFF00"/>
                </a:highlight>
                <a:latin typeface="Times New Roman"/>
                <a:ea typeface="Times New Roman"/>
                <a:cs typeface="Times New Roman"/>
                <a:sym typeface="Times New Roman"/>
              </a:rPr>
              <a:t>knowledge of the world i.e., knowledge that extends beyond the content of the text.</a:t>
            </a:r>
            <a:endParaRPr sz="2400">
              <a:solidFill>
                <a:schemeClr val="dk1"/>
              </a:solidFill>
              <a:highlight>
                <a:srgbClr val="FFFF00"/>
              </a:highlight>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8"/>
          <p:cNvSpPr txBox="1">
            <a:spLocks noGrp="1"/>
          </p:cNvSpPr>
          <p:nvPr>
            <p:ph type="title"/>
          </p:nvPr>
        </p:nvSpPr>
        <p:spPr>
          <a:xfrm>
            <a:off x="1149325" y="381006"/>
            <a:ext cx="10178400" cy="6426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CHALLENGES OF NLP</a:t>
            </a:r>
            <a:endParaRPr/>
          </a:p>
        </p:txBody>
      </p:sp>
      <p:sp>
        <p:nvSpPr>
          <p:cNvPr id="216" name="Google Shape;216;p8"/>
          <p:cNvSpPr txBox="1">
            <a:spLocks noGrp="1"/>
          </p:cNvSpPr>
          <p:nvPr>
            <p:ph type="body" idx="1"/>
          </p:nvPr>
        </p:nvSpPr>
        <p:spPr>
          <a:xfrm>
            <a:off x="1251675" y="1125950"/>
            <a:ext cx="10178400" cy="55068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1000"/>
              </a:spcBef>
              <a:spcAft>
                <a:spcPts val="0"/>
              </a:spcAft>
              <a:buSzPts val="1946"/>
              <a:buNone/>
            </a:pPr>
            <a:r>
              <a:rPr lang="en-US" b="1">
                <a:solidFill>
                  <a:schemeClr val="dk1"/>
                </a:solidFill>
                <a:latin typeface="Times New Roman"/>
                <a:ea typeface="Times New Roman"/>
                <a:cs typeface="Times New Roman"/>
                <a:sym typeface="Times New Roman"/>
              </a:rPr>
              <a:t>There are a number of factors that make NLP difficult -</a:t>
            </a:r>
            <a:endParaRPr b="1">
              <a:solidFill>
                <a:schemeClr val="dk1"/>
              </a:solidFill>
              <a:latin typeface="Times New Roman"/>
              <a:ea typeface="Times New Roman"/>
              <a:cs typeface="Times New Roman"/>
              <a:sym typeface="Times New Roman"/>
            </a:endParaRPr>
          </a:p>
          <a:p>
            <a:pPr marL="228600" lvl="0" indent="-228600" algn="l" rtl="0">
              <a:lnSpc>
                <a:spcPct val="100000"/>
              </a:lnSpc>
              <a:spcBef>
                <a:spcPts val="1000"/>
              </a:spcBef>
              <a:spcAft>
                <a:spcPts val="0"/>
              </a:spcAft>
              <a:buClr>
                <a:schemeClr val="dk1"/>
              </a:buClr>
              <a:buSzPts val="2000"/>
              <a:buFont typeface="Times New Roman"/>
              <a:buChar char="•"/>
            </a:pPr>
            <a:r>
              <a:rPr lang="en-US" b="1">
                <a:solidFill>
                  <a:schemeClr val="dk1"/>
                </a:solidFill>
                <a:latin typeface="Times New Roman"/>
                <a:ea typeface="Times New Roman"/>
                <a:cs typeface="Times New Roman"/>
                <a:sym typeface="Times New Roman"/>
              </a:rPr>
              <a:t>P</a:t>
            </a:r>
            <a:r>
              <a:rPr lang="en-US" sz="2000" b="1">
                <a:solidFill>
                  <a:schemeClr val="dk1"/>
                </a:solidFill>
                <a:latin typeface="Times New Roman"/>
                <a:ea typeface="Times New Roman"/>
                <a:cs typeface="Times New Roman"/>
                <a:sym typeface="Times New Roman"/>
              </a:rPr>
              <a:t>roblems of representation and interpretation</a:t>
            </a:r>
            <a:endParaRPr b="1">
              <a:solidFill>
                <a:schemeClr val="dk1"/>
              </a:solidFill>
              <a:latin typeface="Times New Roman"/>
              <a:ea typeface="Times New Roman"/>
              <a:cs typeface="Times New Roman"/>
              <a:sym typeface="Times New Roman"/>
            </a:endParaRPr>
          </a:p>
          <a:p>
            <a:pPr marL="685800" lvl="1" indent="-228598" algn="l" rtl="0">
              <a:lnSpc>
                <a:spcPct val="100000"/>
              </a:lnSpc>
              <a:spcBef>
                <a:spcPts val="100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Language computing requires precise representation of content.</a:t>
            </a:r>
            <a:endParaRPr>
              <a:solidFill>
                <a:schemeClr val="dk1"/>
              </a:solidFill>
              <a:latin typeface="Times New Roman"/>
              <a:ea typeface="Times New Roman"/>
              <a:cs typeface="Times New Roman"/>
              <a:sym typeface="Times New Roman"/>
            </a:endParaRPr>
          </a:p>
          <a:p>
            <a:pPr marL="685800" lvl="1" indent="-228598" algn="l" rtl="0">
              <a:lnSpc>
                <a:spcPct val="100000"/>
              </a:lnSpc>
              <a:spcBef>
                <a:spcPts val="100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As natural languages are highly ambiguous and vague, achieving such representation is difficult.</a:t>
            </a:r>
            <a:endParaRPr>
              <a:solidFill>
                <a:schemeClr val="dk1"/>
              </a:solidFill>
              <a:latin typeface="Times New Roman"/>
              <a:ea typeface="Times New Roman"/>
              <a:cs typeface="Times New Roman"/>
              <a:sym typeface="Times New Roman"/>
            </a:endParaRPr>
          </a:p>
          <a:p>
            <a:pPr marL="228600" lvl="0" indent="-228600" algn="l" rtl="0">
              <a:lnSpc>
                <a:spcPct val="100000"/>
              </a:lnSpc>
              <a:spcBef>
                <a:spcPts val="1000"/>
              </a:spcBef>
              <a:spcAft>
                <a:spcPts val="0"/>
              </a:spcAft>
              <a:buClr>
                <a:schemeClr val="dk1"/>
              </a:buClr>
              <a:buSzPts val="2000"/>
              <a:buFont typeface="Times New Roman"/>
              <a:buChar char="•"/>
            </a:pPr>
            <a:r>
              <a:rPr lang="en-US" b="1">
                <a:solidFill>
                  <a:schemeClr val="dk1"/>
                </a:solidFill>
                <a:latin typeface="Times New Roman"/>
                <a:ea typeface="Times New Roman"/>
                <a:cs typeface="Times New Roman"/>
                <a:sym typeface="Times New Roman"/>
              </a:rPr>
              <a:t>The inability to capture all the required knowledge is another source of difficulty</a:t>
            </a:r>
            <a:endParaRPr b="1">
              <a:solidFill>
                <a:schemeClr val="dk1"/>
              </a:solidFill>
              <a:latin typeface="Times New Roman"/>
              <a:ea typeface="Times New Roman"/>
              <a:cs typeface="Times New Roman"/>
              <a:sym typeface="Times New Roman"/>
            </a:endParaRPr>
          </a:p>
          <a:p>
            <a:pPr marL="685800" lvl="1" indent="-228598" algn="l" rtl="0">
              <a:lnSpc>
                <a:spcPct val="100000"/>
              </a:lnSpc>
              <a:spcBef>
                <a:spcPts val="100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It is almost impossible to embody all sources of knowledge that humans use to process language.</a:t>
            </a:r>
            <a:endParaRPr>
              <a:solidFill>
                <a:schemeClr val="dk1"/>
              </a:solidFill>
              <a:latin typeface="Times New Roman"/>
              <a:ea typeface="Times New Roman"/>
              <a:cs typeface="Times New Roman"/>
              <a:sym typeface="Times New Roman"/>
            </a:endParaRPr>
          </a:p>
          <a:p>
            <a:pPr marL="685800" lvl="1" indent="-228598" algn="l" rtl="0">
              <a:lnSpc>
                <a:spcPct val="100000"/>
              </a:lnSpc>
              <a:spcBef>
                <a:spcPts val="100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Even if it is done, it is not possible to write procedures that imitate language processing as done by humans.</a:t>
            </a:r>
            <a:endParaRPr>
              <a:solidFill>
                <a:schemeClr val="dk1"/>
              </a:solidFill>
              <a:latin typeface="Times New Roman"/>
              <a:ea typeface="Times New Roman"/>
              <a:cs typeface="Times New Roman"/>
              <a:sym typeface="Times New Roman"/>
            </a:endParaRPr>
          </a:p>
          <a:p>
            <a:pPr marL="228600" lvl="0" indent="-215898" algn="l" rtl="0">
              <a:lnSpc>
                <a:spcPct val="100000"/>
              </a:lnSpc>
              <a:spcBef>
                <a:spcPts val="1000"/>
              </a:spcBef>
              <a:spcAft>
                <a:spcPts val="0"/>
              </a:spcAft>
              <a:buClr>
                <a:schemeClr val="dk1"/>
              </a:buClr>
              <a:buSzPts val="1800"/>
              <a:buFont typeface="Times New Roman"/>
              <a:buChar char="•"/>
            </a:pPr>
            <a:r>
              <a:rPr lang="en-US" b="1">
                <a:solidFill>
                  <a:schemeClr val="dk1"/>
                </a:solidFill>
                <a:latin typeface="Times New Roman"/>
                <a:ea typeface="Times New Roman"/>
                <a:cs typeface="Times New Roman"/>
                <a:sym typeface="Times New Roman"/>
              </a:rPr>
              <a:t>Greatest source of difficulty in natural language is identifying its semantics</a:t>
            </a:r>
            <a:endParaRPr b="1">
              <a:solidFill>
                <a:schemeClr val="dk1"/>
              </a:solidFill>
              <a:latin typeface="Times New Roman"/>
              <a:ea typeface="Times New Roman"/>
              <a:cs typeface="Times New Roman"/>
              <a:sym typeface="Times New Roman"/>
            </a:endParaRPr>
          </a:p>
          <a:p>
            <a:pPr marL="685800" lvl="1" indent="-228600" algn="l" rtl="0">
              <a:lnSpc>
                <a:spcPct val="100000"/>
              </a:lnSpc>
              <a:spcBef>
                <a:spcPts val="1000"/>
              </a:spcBef>
              <a:spcAft>
                <a:spcPts val="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The principle of compositional semantics considers the meaning of a sentence to be a composition of the meaning of the words appearing in it.</a:t>
            </a:r>
            <a:endParaRPr>
              <a:solidFill>
                <a:schemeClr val="dk1"/>
              </a:solidFill>
              <a:latin typeface="Times New Roman"/>
              <a:ea typeface="Times New Roman"/>
              <a:cs typeface="Times New Roman"/>
              <a:sym typeface="Times New Roman"/>
            </a:endParaRPr>
          </a:p>
          <a:p>
            <a:pPr marL="685800" lvl="1" indent="-228600" algn="l" rtl="0">
              <a:lnSpc>
                <a:spcPct val="100000"/>
              </a:lnSpc>
              <a:spcBef>
                <a:spcPts val="1000"/>
              </a:spcBef>
              <a:spcAft>
                <a:spcPts val="1000"/>
              </a:spcAft>
              <a:buClr>
                <a:schemeClr val="dk1"/>
              </a:buClr>
              <a:buSzPts val="1800"/>
              <a:buFont typeface="Times New Roman"/>
              <a:buChar char="–"/>
            </a:pPr>
            <a:r>
              <a:rPr lang="en-US">
                <a:solidFill>
                  <a:schemeClr val="dk1"/>
                </a:solidFill>
                <a:latin typeface="Times New Roman"/>
                <a:ea typeface="Times New Roman"/>
                <a:cs typeface="Times New Roman"/>
                <a:sym typeface="Times New Roman"/>
              </a:rPr>
              <a:t>Words alone do not make a sentence.</a:t>
            </a:r>
            <a:r>
              <a:rPr lang="en-US">
                <a:solidFill>
                  <a:schemeClr val="dk1"/>
                </a:solidFill>
                <a:highlight>
                  <a:srgbClr val="FFFF00"/>
                </a:highlight>
                <a:latin typeface="Times New Roman"/>
                <a:ea typeface="Times New Roman"/>
                <a:cs typeface="Times New Roman"/>
                <a:sym typeface="Times New Roman"/>
              </a:rPr>
              <a:t> It is the words as well as their syntactic and semantic relation that give meaning to sentence. </a:t>
            </a:r>
            <a:endParaRPr>
              <a:solidFill>
                <a:schemeClr val="dk1"/>
              </a:solidFill>
              <a:highlight>
                <a:srgbClr val="FFFF00"/>
              </a:highlight>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155f8378242_0_44"/>
          <p:cNvSpPr txBox="1">
            <a:spLocks noGrp="1"/>
          </p:cNvSpPr>
          <p:nvPr>
            <p:ph type="title"/>
          </p:nvPr>
        </p:nvSpPr>
        <p:spPr>
          <a:xfrm>
            <a:off x="1149325" y="381006"/>
            <a:ext cx="10178400" cy="6426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CHALLENGES OF NLP</a:t>
            </a:r>
            <a:endParaRPr/>
          </a:p>
        </p:txBody>
      </p:sp>
      <p:sp>
        <p:nvSpPr>
          <p:cNvPr id="222" name="Google Shape;222;g155f8378242_0_44"/>
          <p:cNvSpPr txBox="1">
            <a:spLocks noGrp="1"/>
          </p:cNvSpPr>
          <p:nvPr>
            <p:ph type="body" idx="1"/>
          </p:nvPr>
        </p:nvSpPr>
        <p:spPr>
          <a:xfrm>
            <a:off x="1251675" y="1125950"/>
            <a:ext cx="10178400" cy="5506800"/>
          </a:xfrm>
          <a:prstGeom prst="rect">
            <a:avLst/>
          </a:prstGeom>
          <a:noFill/>
          <a:ln>
            <a:noFill/>
          </a:ln>
        </p:spPr>
        <p:txBody>
          <a:bodyPr spcFirstLastPara="1" wrap="square" lIns="91425" tIns="45700" rIns="91425" bIns="45700" anchor="ctr" anchorCtr="0">
            <a:noAutofit/>
          </a:bodyPr>
          <a:lstStyle/>
          <a:p>
            <a:pPr marL="457200" lvl="0" indent="-368300" algn="l" rtl="0">
              <a:lnSpc>
                <a:spcPct val="100000"/>
              </a:lnSpc>
              <a:spcBef>
                <a:spcPts val="700"/>
              </a:spcBef>
              <a:spcAft>
                <a:spcPts val="0"/>
              </a:spcAft>
              <a:buClr>
                <a:schemeClr val="dk1"/>
              </a:buClr>
              <a:buSzPts val="2200"/>
              <a:buFont typeface="Calibri"/>
              <a:buChar char="-"/>
            </a:pPr>
            <a:r>
              <a:rPr lang="en-US" sz="2200">
                <a:solidFill>
                  <a:schemeClr val="dk1"/>
                </a:solidFill>
                <a:latin typeface="Times New Roman"/>
                <a:ea typeface="Times New Roman"/>
                <a:cs typeface="Times New Roman"/>
                <a:sym typeface="Times New Roman"/>
              </a:rPr>
              <a:t>A language keeps on evolving. New words are added continuously and existing words are introduced in new context.</a:t>
            </a:r>
            <a:r>
              <a:rPr lang="en-US" sz="2200" b="1">
                <a:solidFill>
                  <a:schemeClr val="dk1"/>
                </a:solidFill>
                <a:latin typeface="Times New Roman"/>
                <a:ea typeface="Times New Roman"/>
                <a:cs typeface="Times New Roman"/>
                <a:sym typeface="Times New Roman"/>
              </a:rPr>
              <a:t> </a:t>
            </a:r>
            <a:endParaRPr sz="2200" b="1">
              <a:solidFill>
                <a:schemeClr val="dk1"/>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chemeClr val="dk1"/>
              </a:buClr>
              <a:buSzPts val="2200"/>
              <a:buFont typeface="Calibri"/>
              <a:buChar char="-"/>
            </a:pPr>
            <a:r>
              <a:rPr lang="en-US" sz="2200" b="1">
                <a:solidFill>
                  <a:schemeClr val="dk1"/>
                </a:solidFill>
                <a:latin typeface="Times New Roman"/>
                <a:ea typeface="Times New Roman"/>
                <a:cs typeface="Times New Roman"/>
                <a:sym typeface="Times New Roman"/>
              </a:rPr>
              <a:t>Example 9/11</a:t>
            </a:r>
            <a:r>
              <a:rPr lang="en-US" sz="2200">
                <a:solidFill>
                  <a:schemeClr val="dk1"/>
                </a:solidFill>
                <a:latin typeface="Times New Roman"/>
                <a:ea typeface="Times New Roman"/>
                <a:cs typeface="Times New Roman"/>
                <a:sym typeface="Times New Roman"/>
              </a:rPr>
              <a:t> - refers to the terrorist attack on WTC in USA in 2004. When we process such written text, we have access to underlying mental representation.</a:t>
            </a:r>
            <a:endParaRPr sz="2200">
              <a:solidFill>
                <a:schemeClr val="dk1"/>
              </a:solidFill>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chemeClr val="dk1"/>
              </a:buClr>
              <a:buSzPts val="2200"/>
              <a:buFont typeface="Times New Roman"/>
              <a:buChar char="-"/>
            </a:pPr>
            <a:r>
              <a:rPr lang="en-US" sz="2200">
                <a:solidFill>
                  <a:schemeClr val="dk1"/>
                </a:solidFill>
                <a:highlight>
                  <a:srgbClr val="FFFF00"/>
                </a:highlight>
                <a:latin typeface="Times New Roman"/>
                <a:ea typeface="Times New Roman"/>
                <a:cs typeface="Times New Roman"/>
                <a:sym typeface="Times New Roman"/>
              </a:rPr>
              <a:t>The only way a machine can learn the meaning of a specific word in a message is by considering its context, unless some explicitly coded general world or domain knowledge is available.</a:t>
            </a:r>
            <a:endParaRPr sz="2200">
              <a:solidFill>
                <a:schemeClr val="dk1"/>
              </a:solidFill>
              <a:highlight>
                <a:srgbClr val="FFFF00"/>
              </a:highlight>
              <a:latin typeface="Times New Roman"/>
              <a:ea typeface="Times New Roman"/>
              <a:cs typeface="Times New Roman"/>
              <a:sym typeface="Times New Roman"/>
            </a:endParaRPr>
          </a:p>
          <a:p>
            <a:pPr marL="457200" lvl="0" indent="-368300" algn="l" rtl="0">
              <a:lnSpc>
                <a:spcPct val="100000"/>
              </a:lnSpc>
              <a:spcBef>
                <a:spcPts val="100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The context of a word is defined by co-occurring words. It includes everything that occurs before or after a word.</a:t>
            </a:r>
            <a:endParaRPr sz="2200">
              <a:solidFill>
                <a:schemeClr val="dk1"/>
              </a:solidFill>
              <a:latin typeface="Times New Roman"/>
              <a:ea typeface="Times New Roman"/>
              <a:cs typeface="Times New Roman"/>
              <a:sym typeface="Times New Roman"/>
            </a:endParaRPr>
          </a:p>
          <a:p>
            <a:pPr marL="228600" lvl="0" indent="-228600" algn="l" rtl="0">
              <a:lnSpc>
                <a:spcPct val="100000"/>
              </a:lnSpc>
              <a:spcBef>
                <a:spcPts val="1000"/>
              </a:spcBef>
              <a:spcAft>
                <a:spcPts val="0"/>
              </a:spcAft>
              <a:buClr>
                <a:schemeClr val="dk1"/>
              </a:buClr>
              <a:buSzPts val="2200"/>
              <a:buFont typeface="Times New Roman"/>
              <a:buChar char="•"/>
            </a:pPr>
            <a:r>
              <a:rPr lang="en-US" sz="2200" b="1">
                <a:solidFill>
                  <a:schemeClr val="dk1"/>
                </a:solidFill>
                <a:latin typeface="Times New Roman"/>
                <a:ea typeface="Times New Roman"/>
                <a:cs typeface="Times New Roman"/>
                <a:sym typeface="Times New Roman"/>
              </a:rPr>
              <a:t>Idioms, metaphor and ellipses add more complexity to identify the meaning of the written text</a:t>
            </a:r>
            <a:endParaRPr sz="2200" b="1">
              <a:solidFill>
                <a:schemeClr val="dk1"/>
              </a:solidFill>
              <a:latin typeface="Times New Roman"/>
              <a:ea typeface="Times New Roman"/>
              <a:cs typeface="Times New Roman"/>
              <a:sym typeface="Times New Roman"/>
            </a:endParaRPr>
          </a:p>
          <a:p>
            <a:pPr marL="685800" lvl="1" indent="-254000" algn="l" rtl="0">
              <a:lnSpc>
                <a:spcPct val="100000"/>
              </a:lnSpc>
              <a:spcBef>
                <a:spcPts val="1000"/>
              </a:spcBef>
              <a:spcAft>
                <a:spcPts val="0"/>
              </a:spcAft>
              <a:buClr>
                <a:schemeClr val="dk1"/>
              </a:buClr>
              <a:buSzPts val="2200"/>
              <a:buFont typeface="Calibri"/>
              <a:buChar char="–"/>
            </a:pPr>
            <a:r>
              <a:rPr lang="en-US" sz="2200">
                <a:solidFill>
                  <a:schemeClr val="dk1"/>
                </a:solidFill>
                <a:latin typeface="Times New Roman"/>
                <a:ea typeface="Times New Roman"/>
                <a:cs typeface="Times New Roman"/>
                <a:sym typeface="Times New Roman"/>
              </a:rPr>
              <a:t>Ex.: </a:t>
            </a:r>
            <a:r>
              <a:rPr lang="en-US" sz="2200" b="1">
                <a:solidFill>
                  <a:schemeClr val="dk1"/>
                </a:solidFill>
                <a:highlight>
                  <a:srgbClr val="FFFF00"/>
                </a:highlight>
                <a:latin typeface="Times New Roman"/>
                <a:ea typeface="Times New Roman"/>
                <a:cs typeface="Times New Roman"/>
                <a:sym typeface="Times New Roman"/>
              </a:rPr>
              <a:t>The old man finally kicked the bucket</a:t>
            </a:r>
            <a:r>
              <a:rPr lang="en-US" sz="2200">
                <a:solidFill>
                  <a:schemeClr val="dk1"/>
                </a:solidFill>
                <a:highlight>
                  <a:srgbClr val="FFFF00"/>
                </a:highlight>
                <a:latin typeface="Times New Roman"/>
                <a:ea typeface="Times New Roman"/>
                <a:cs typeface="Times New Roman"/>
                <a:sym typeface="Times New Roman"/>
              </a:rPr>
              <a:t>.</a:t>
            </a:r>
            <a:r>
              <a:rPr lang="en-US"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a:p>
            <a:pPr marL="685800" lvl="1" indent="-254000" algn="l" rtl="0">
              <a:lnSpc>
                <a:spcPct val="100000"/>
              </a:lnSpc>
              <a:spcBef>
                <a:spcPts val="1000"/>
              </a:spcBef>
              <a:spcAft>
                <a:spcPts val="100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The meaning of this sentence has nothing to do with words ‘kick’ and ‘bucket’ appearing in it.</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9"/>
          <p:cNvSpPr txBox="1">
            <a:spLocks noGrp="1"/>
          </p:cNvSpPr>
          <p:nvPr>
            <p:ph type="title"/>
          </p:nvPr>
        </p:nvSpPr>
        <p:spPr>
          <a:xfrm>
            <a:off x="1251675" y="382380"/>
            <a:ext cx="10178400" cy="7845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CHALLENGES OF NLP</a:t>
            </a:r>
            <a:endParaRPr/>
          </a:p>
        </p:txBody>
      </p:sp>
      <p:sp>
        <p:nvSpPr>
          <p:cNvPr id="228" name="Google Shape;228;p9"/>
          <p:cNvSpPr txBox="1">
            <a:spLocks noGrp="1"/>
          </p:cNvSpPr>
          <p:nvPr>
            <p:ph type="body" idx="1"/>
          </p:nvPr>
        </p:nvSpPr>
        <p:spPr>
          <a:xfrm>
            <a:off x="1169775" y="1034850"/>
            <a:ext cx="10178400" cy="5556900"/>
          </a:xfrm>
          <a:prstGeom prst="rect">
            <a:avLst/>
          </a:prstGeom>
          <a:noFill/>
          <a:ln>
            <a:noFill/>
          </a:ln>
        </p:spPr>
        <p:txBody>
          <a:bodyPr spcFirstLastPara="1" wrap="square" lIns="91425" tIns="45700" rIns="91425" bIns="45700" anchor="ctr" anchorCtr="0">
            <a:noAutofit/>
          </a:bodyPr>
          <a:lstStyle/>
          <a:p>
            <a:pPr marL="228600" lvl="0" indent="-222250" algn="l" rtl="0">
              <a:lnSpc>
                <a:spcPct val="100000"/>
              </a:lnSpc>
              <a:spcBef>
                <a:spcPts val="1000"/>
              </a:spcBef>
              <a:spcAft>
                <a:spcPts val="0"/>
              </a:spcAft>
              <a:buClr>
                <a:schemeClr val="dk1"/>
              </a:buClr>
              <a:buSzPts val="1700"/>
              <a:buFont typeface="Times New Roman"/>
              <a:buChar char="•"/>
            </a:pPr>
            <a:r>
              <a:rPr lang="en-US" sz="1700" b="1">
                <a:solidFill>
                  <a:schemeClr val="dk1"/>
                </a:solidFill>
                <a:latin typeface="Times New Roman"/>
                <a:ea typeface="Times New Roman"/>
                <a:cs typeface="Times New Roman"/>
                <a:sym typeface="Times New Roman"/>
              </a:rPr>
              <a:t>Quantifier scoping:</a:t>
            </a:r>
            <a:endParaRPr sz="1700" b="1">
              <a:solidFill>
                <a:schemeClr val="dk1"/>
              </a:solidFill>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The scope of quantifiers (the, each, etc.) is not clear and poses problem in automatic processing.</a:t>
            </a:r>
            <a:endParaRPr sz="1700">
              <a:solidFill>
                <a:schemeClr val="dk1"/>
              </a:solidFill>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Calibri"/>
              <a:buChar char="–"/>
            </a:pPr>
            <a:r>
              <a:rPr lang="en-US" sz="1700">
                <a:solidFill>
                  <a:schemeClr val="dk1"/>
                </a:solidFill>
                <a:latin typeface="Times New Roman"/>
                <a:ea typeface="Times New Roman"/>
                <a:cs typeface="Times New Roman"/>
                <a:sym typeface="Times New Roman"/>
              </a:rPr>
              <a:t>A quantifier is a word that usually goes before a noun to express the quantity of the object; for example, a little milk.</a:t>
            </a:r>
            <a:endParaRPr sz="1700">
              <a:solidFill>
                <a:schemeClr val="dk1"/>
              </a:solidFill>
              <a:latin typeface="Times New Roman"/>
              <a:ea typeface="Times New Roman"/>
              <a:cs typeface="Times New Roman"/>
              <a:sym typeface="Times New Roman"/>
            </a:endParaRPr>
          </a:p>
          <a:p>
            <a:pPr marL="228600" lvl="0" indent="-222250" algn="l" rtl="0">
              <a:lnSpc>
                <a:spcPct val="100000"/>
              </a:lnSpc>
              <a:spcBef>
                <a:spcPts val="1000"/>
              </a:spcBef>
              <a:spcAft>
                <a:spcPts val="0"/>
              </a:spcAft>
              <a:buClr>
                <a:schemeClr val="dk1"/>
              </a:buClr>
              <a:buSzPts val="1700"/>
              <a:buFont typeface="Times New Roman"/>
              <a:buChar char="•"/>
            </a:pPr>
            <a:r>
              <a:rPr lang="en-US" sz="1700" b="1">
                <a:solidFill>
                  <a:schemeClr val="dk1"/>
                </a:solidFill>
                <a:latin typeface="Times New Roman"/>
                <a:ea typeface="Times New Roman"/>
                <a:cs typeface="Times New Roman"/>
                <a:sym typeface="Times New Roman"/>
              </a:rPr>
              <a:t>Ambiguity:</a:t>
            </a:r>
            <a:endParaRPr sz="1700" b="1">
              <a:solidFill>
                <a:schemeClr val="dk1"/>
              </a:solidFill>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Ambiguity, often goes unnoticed, yet are correctly interpreted because we use explicit and as well as implicit sources of knowledge.</a:t>
            </a:r>
            <a:endParaRPr sz="1700">
              <a:solidFill>
                <a:schemeClr val="dk1"/>
              </a:solidFill>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highlight>
                  <a:srgbClr val="FFFF00"/>
                </a:highlight>
                <a:latin typeface="Times New Roman"/>
                <a:ea typeface="Times New Roman"/>
                <a:cs typeface="Times New Roman"/>
                <a:sym typeface="Times New Roman"/>
              </a:rPr>
              <a:t>Communication via language involves two brains, the brain of the speaker/writer and that of the hearer/reader.</a:t>
            </a:r>
            <a:endParaRPr sz="1700">
              <a:solidFill>
                <a:schemeClr val="dk1"/>
              </a:solidFill>
              <a:highlight>
                <a:srgbClr val="FFFF00"/>
              </a:highlight>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Anything that is assumed to be known to the receiver is not explicitly encoded. </a:t>
            </a:r>
            <a:endParaRPr sz="1700">
              <a:solidFill>
                <a:schemeClr val="dk1"/>
              </a:solidFill>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The receiver possesses the necessary knowledge and fills in the gaps while making an interpretation.</a:t>
            </a:r>
            <a:endParaRPr sz="1700">
              <a:solidFill>
                <a:schemeClr val="dk1"/>
              </a:solidFill>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As humans, we are aware of the context and current cultural knowledge and also of the language and traditions and use these to process the meaning. </a:t>
            </a:r>
            <a:endParaRPr sz="1700">
              <a:solidFill>
                <a:schemeClr val="dk1"/>
              </a:solidFill>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latin typeface="Times New Roman"/>
                <a:ea typeface="Times New Roman"/>
                <a:cs typeface="Times New Roman"/>
                <a:sym typeface="Times New Roman"/>
              </a:rPr>
              <a:t>But, </a:t>
            </a:r>
            <a:r>
              <a:rPr lang="en-US" sz="1700">
                <a:solidFill>
                  <a:schemeClr val="dk1"/>
                </a:solidFill>
                <a:highlight>
                  <a:srgbClr val="FFFF00"/>
                </a:highlight>
                <a:latin typeface="Times New Roman"/>
                <a:ea typeface="Times New Roman"/>
                <a:cs typeface="Times New Roman"/>
                <a:sym typeface="Times New Roman"/>
              </a:rPr>
              <a:t>incorporating contextual and world knowledge poses the greatest difficulty in language computing.</a:t>
            </a:r>
            <a:endParaRPr sz="1700">
              <a:solidFill>
                <a:schemeClr val="dk1"/>
              </a:solidFill>
              <a:highlight>
                <a:srgbClr val="FFFF00"/>
              </a:highlight>
              <a:latin typeface="Times New Roman"/>
              <a:ea typeface="Times New Roman"/>
              <a:cs typeface="Times New Roman"/>
              <a:sym typeface="Times New Roman"/>
            </a:endParaRPr>
          </a:p>
          <a:p>
            <a:pPr marL="685800" lvl="1" indent="-222250" algn="l" rtl="0">
              <a:lnSpc>
                <a:spcPct val="100000"/>
              </a:lnSpc>
              <a:spcBef>
                <a:spcPts val="1000"/>
              </a:spcBef>
              <a:spcAft>
                <a:spcPts val="0"/>
              </a:spcAft>
              <a:buClr>
                <a:schemeClr val="dk1"/>
              </a:buClr>
              <a:buSzPts val="1700"/>
              <a:buFont typeface="Times New Roman"/>
              <a:buChar char="–"/>
            </a:pPr>
            <a:r>
              <a:rPr lang="en-US" sz="1700">
                <a:solidFill>
                  <a:schemeClr val="dk1"/>
                </a:solidFill>
                <a:highlight>
                  <a:srgbClr val="00FFFF"/>
                </a:highlight>
                <a:latin typeface="Times New Roman"/>
                <a:ea typeface="Times New Roman"/>
                <a:cs typeface="Times New Roman"/>
                <a:sym typeface="Times New Roman"/>
              </a:rPr>
              <a:t>Ex: To an Indian, the word ‘Taj’ mean a monument, a brand of tea, or a hotel, which may not be so for a non-Indian</a:t>
            </a:r>
            <a:endParaRPr sz="1700">
              <a:solidFill>
                <a:schemeClr val="dk1"/>
              </a:solidFill>
              <a:highlight>
                <a:srgbClr val="00FFFF"/>
              </a:highlight>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155f8378242_0_50"/>
          <p:cNvSpPr txBox="1">
            <a:spLocks noGrp="1"/>
          </p:cNvSpPr>
          <p:nvPr>
            <p:ph type="title"/>
          </p:nvPr>
        </p:nvSpPr>
        <p:spPr>
          <a:xfrm>
            <a:off x="1251675" y="382380"/>
            <a:ext cx="10178400" cy="7845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CHALLENGES OF NLP</a:t>
            </a:r>
            <a:endParaRPr/>
          </a:p>
        </p:txBody>
      </p:sp>
      <p:sp>
        <p:nvSpPr>
          <p:cNvPr id="234" name="Google Shape;234;g155f8378242_0_50"/>
          <p:cNvSpPr txBox="1">
            <a:spLocks noGrp="1"/>
          </p:cNvSpPr>
          <p:nvPr>
            <p:ph type="body" idx="1"/>
          </p:nvPr>
        </p:nvSpPr>
        <p:spPr>
          <a:xfrm>
            <a:off x="1169775" y="1166875"/>
            <a:ext cx="10178400" cy="5424900"/>
          </a:xfrm>
          <a:prstGeom prst="rect">
            <a:avLst/>
          </a:prstGeom>
          <a:noFill/>
          <a:ln>
            <a:noFill/>
          </a:ln>
        </p:spPr>
        <p:txBody>
          <a:bodyPr spcFirstLastPara="1" wrap="square" lIns="91425" tIns="45700" rIns="91425" bIns="45700" anchor="ctr" anchorCtr="0">
            <a:noAutofit/>
          </a:bodyPr>
          <a:lstStyle/>
          <a:p>
            <a:pPr marL="685800" lvl="1" indent="-241300" algn="l" rtl="0">
              <a:lnSpc>
                <a:spcPct val="100000"/>
              </a:lnSpc>
              <a:spcBef>
                <a:spcPts val="700"/>
              </a:spcBef>
              <a:spcAft>
                <a:spcPts val="0"/>
              </a:spcAft>
              <a:buClr>
                <a:schemeClr val="dk1"/>
              </a:buClr>
              <a:buSzPts val="2000"/>
              <a:buFont typeface="Times New Roman"/>
              <a:buChar char="–"/>
            </a:pPr>
            <a:r>
              <a:rPr lang="en-US" sz="2000" b="1">
                <a:solidFill>
                  <a:schemeClr val="dk1"/>
                </a:solidFill>
                <a:latin typeface="Times New Roman"/>
                <a:ea typeface="Times New Roman"/>
                <a:cs typeface="Times New Roman"/>
                <a:sym typeface="Times New Roman"/>
              </a:rPr>
              <a:t>Various sources of ambiguities in natural languages:</a:t>
            </a:r>
            <a:endParaRPr sz="2000" b="1">
              <a:solidFill>
                <a:schemeClr val="dk1"/>
              </a:solidFill>
              <a:latin typeface="Times New Roman"/>
              <a:ea typeface="Times New Roman"/>
              <a:cs typeface="Times New Roman"/>
              <a:sym typeface="Times New Roman"/>
            </a:endParaRPr>
          </a:p>
          <a:p>
            <a:pPr marL="1143000" lvl="2" indent="-241300" algn="l" rtl="0">
              <a:lnSpc>
                <a:spcPct val="100000"/>
              </a:lnSpc>
              <a:spcBef>
                <a:spcPts val="10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First level of ambiguity is at the word level.</a:t>
            </a:r>
            <a:endParaRPr sz="2000">
              <a:solidFill>
                <a:schemeClr val="dk1"/>
              </a:solidFill>
              <a:latin typeface="Times New Roman"/>
              <a:ea typeface="Times New Roman"/>
              <a:cs typeface="Times New Roman"/>
              <a:sym typeface="Times New Roman"/>
            </a:endParaRPr>
          </a:p>
          <a:p>
            <a:pPr marL="1828800" lvl="3" indent="-355600" algn="l" rtl="0">
              <a:lnSpc>
                <a:spcPct val="100000"/>
              </a:lnSpc>
              <a:spcBef>
                <a:spcPts val="10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There are words that have multiple meaning associated with them.</a:t>
            </a:r>
            <a:endParaRPr sz="2000">
              <a:solidFill>
                <a:schemeClr val="dk1"/>
              </a:solidFill>
              <a:latin typeface="Times New Roman"/>
              <a:ea typeface="Times New Roman"/>
              <a:cs typeface="Times New Roman"/>
              <a:sym typeface="Times New Roman"/>
            </a:endParaRPr>
          </a:p>
          <a:p>
            <a:pPr marL="1828800" lvl="3" indent="-355600" algn="l" rtl="0">
              <a:lnSpc>
                <a:spcPct val="100000"/>
              </a:lnSpc>
              <a:spcBef>
                <a:spcPts val="1000"/>
              </a:spcBef>
              <a:spcAft>
                <a:spcPts val="0"/>
              </a:spcAft>
              <a:buClr>
                <a:schemeClr val="dk1"/>
              </a:buClr>
              <a:buSzPts val="2000"/>
              <a:buFont typeface="Times New Roman"/>
              <a:buChar char="–"/>
            </a:pPr>
            <a:r>
              <a:rPr lang="en-US" sz="2000" b="1">
                <a:solidFill>
                  <a:schemeClr val="dk1"/>
                </a:solidFill>
                <a:latin typeface="Times New Roman"/>
                <a:ea typeface="Times New Roman"/>
                <a:cs typeface="Times New Roman"/>
                <a:sym typeface="Times New Roman"/>
              </a:rPr>
              <a:t>Ex: bank, can, bat and still</a:t>
            </a:r>
            <a:endParaRPr sz="2000" b="1">
              <a:solidFill>
                <a:schemeClr val="dk1"/>
              </a:solidFill>
              <a:latin typeface="Times New Roman"/>
              <a:ea typeface="Times New Roman"/>
              <a:cs typeface="Times New Roman"/>
              <a:sym typeface="Times New Roman"/>
            </a:endParaRPr>
          </a:p>
          <a:p>
            <a:pPr marL="1600200" lvl="3" indent="-241300" algn="l" rtl="0">
              <a:lnSpc>
                <a:spcPct val="100000"/>
              </a:lnSpc>
              <a:spcBef>
                <a:spcPts val="1000"/>
              </a:spcBef>
              <a:spcAft>
                <a:spcPts val="0"/>
              </a:spcAft>
              <a:buClr>
                <a:schemeClr val="dk1"/>
              </a:buClr>
              <a:buSzPts val="2000"/>
              <a:buFont typeface="Times New Roman"/>
              <a:buChar char="–"/>
            </a:pPr>
            <a:r>
              <a:rPr lang="en-US" sz="2000">
                <a:solidFill>
                  <a:schemeClr val="dk1"/>
                </a:solidFill>
                <a:highlight>
                  <a:srgbClr val="FFFF00"/>
                </a:highlight>
                <a:latin typeface="Times New Roman"/>
                <a:ea typeface="Times New Roman"/>
                <a:cs typeface="Times New Roman"/>
                <a:sym typeface="Times New Roman"/>
              </a:rPr>
              <a:t>A word may be ambiguous in its part-of-speech or it may be ambiguous in its meaning</a:t>
            </a:r>
            <a:endParaRPr sz="2000">
              <a:solidFill>
                <a:schemeClr val="dk1"/>
              </a:solidFill>
              <a:highlight>
                <a:srgbClr val="FFFF00"/>
              </a:highlight>
              <a:latin typeface="Times New Roman"/>
              <a:ea typeface="Times New Roman"/>
              <a:cs typeface="Times New Roman"/>
              <a:sym typeface="Times New Roman"/>
            </a:endParaRPr>
          </a:p>
          <a:p>
            <a:pPr marL="1600200" lvl="3" indent="-241300" algn="l" rtl="0">
              <a:lnSpc>
                <a:spcPct val="100000"/>
              </a:lnSpc>
              <a:spcBef>
                <a:spcPts val="10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word ‘can’ is ambiguous in its part-of-speech, but the word ‘bat’ is ambiguous in its meaning.</a:t>
            </a:r>
            <a:endParaRPr sz="2000">
              <a:solidFill>
                <a:schemeClr val="dk1"/>
              </a:solidFill>
              <a:latin typeface="Times New Roman"/>
              <a:ea typeface="Times New Roman"/>
              <a:cs typeface="Times New Roman"/>
              <a:sym typeface="Times New Roman"/>
            </a:endParaRPr>
          </a:p>
          <a:p>
            <a:pPr marL="1600200" lvl="3" indent="-241300" algn="l" rtl="0">
              <a:lnSpc>
                <a:spcPct val="100000"/>
              </a:lnSpc>
              <a:spcBef>
                <a:spcPts val="10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program must be explicitly coded to resolve each meaning. We need to develop various models and algorithms to resolve them.</a:t>
            </a:r>
            <a:endParaRPr sz="2000">
              <a:solidFill>
                <a:schemeClr val="dk1"/>
              </a:solidFill>
              <a:latin typeface="Times New Roman"/>
              <a:ea typeface="Times New Roman"/>
              <a:cs typeface="Times New Roman"/>
              <a:sym typeface="Times New Roman"/>
            </a:endParaRPr>
          </a:p>
          <a:p>
            <a:pPr marL="1600200" lvl="3" indent="-241300" algn="l" rtl="0">
              <a:lnSpc>
                <a:spcPct val="100000"/>
              </a:lnSpc>
              <a:spcBef>
                <a:spcPts val="10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Deciding whether ‘can’ is a noun or a verb is solved by ‘part-of-speech-tagging’.</a:t>
            </a:r>
            <a:endParaRPr sz="2000">
              <a:solidFill>
                <a:schemeClr val="dk1"/>
              </a:solidFill>
              <a:latin typeface="Times New Roman"/>
              <a:ea typeface="Times New Roman"/>
              <a:cs typeface="Times New Roman"/>
              <a:sym typeface="Times New Roman"/>
            </a:endParaRPr>
          </a:p>
          <a:p>
            <a:pPr marL="1600200" lvl="3" indent="-241300" algn="l" rtl="0">
              <a:lnSpc>
                <a:spcPct val="100000"/>
              </a:lnSpc>
              <a:spcBef>
                <a:spcPts val="10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Identifying whether a particular use of ‘bank’ corresponds to ‘financial institution’ sense or ‘river bank’ sense is solved by ‘word sense disambiguation’.</a:t>
            </a:r>
            <a:endParaRPr sz="2000">
              <a:solidFill>
                <a:schemeClr val="dk1"/>
              </a:solidFill>
              <a:latin typeface="Times New Roman"/>
              <a:ea typeface="Times New Roman"/>
              <a:cs typeface="Times New Roman"/>
              <a:sym typeface="Times New Roman"/>
            </a:endParaRPr>
          </a:p>
          <a:p>
            <a:pPr marL="0" lvl="0" indent="0" algn="l" rtl="0">
              <a:lnSpc>
                <a:spcPct val="100000"/>
              </a:lnSpc>
              <a:spcBef>
                <a:spcPts val="1000"/>
              </a:spcBef>
              <a:spcAft>
                <a:spcPts val="1000"/>
              </a:spcAft>
              <a:buSzPts val="1800"/>
              <a:buNone/>
            </a:pP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155f8378242_0_55"/>
          <p:cNvSpPr txBox="1">
            <a:spLocks noGrp="1"/>
          </p:cNvSpPr>
          <p:nvPr>
            <p:ph type="title"/>
          </p:nvPr>
        </p:nvSpPr>
        <p:spPr>
          <a:xfrm>
            <a:off x="1251675" y="382380"/>
            <a:ext cx="10178400" cy="7845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CHALLENGES OF NLP</a:t>
            </a:r>
            <a:endParaRPr/>
          </a:p>
        </p:txBody>
      </p:sp>
      <p:sp>
        <p:nvSpPr>
          <p:cNvPr id="240" name="Google Shape;240;g155f8378242_0_55"/>
          <p:cNvSpPr txBox="1">
            <a:spLocks noGrp="1"/>
          </p:cNvSpPr>
          <p:nvPr>
            <p:ph type="body" idx="1"/>
          </p:nvPr>
        </p:nvSpPr>
        <p:spPr>
          <a:xfrm>
            <a:off x="1169775" y="1166875"/>
            <a:ext cx="10178400" cy="5424900"/>
          </a:xfrm>
          <a:prstGeom prst="rect">
            <a:avLst/>
          </a:prstGeom>
          <a:noFill/>
          <a:ln>
            <a:noFill/>
          </a:ln>
        </p:spPr>
        <p:txBody>
          <a:bodyPr spcFirstLastPara="1" wrap="square" lIns="91425" tIns="45700" rIns="91425" bIns="45700" anchor="t" anchorCtr="0">
            <a:noAutofit/>
          </a:bodyPr>
          <a:lstStyle/>
          <a:p>
            <a:pPr marL="1143000" lvl="2" indent="-241300" algn="l" rtl="0">
              <a:lnSpc>
                <a:spcPct val="100000"/>
              </a:lnSpc>
              <a:spcBef>
                <a:spcPts val="7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second level of ambiguity is at sentence level</a:t>
            </a:r>
            <a:endParaRPr sz="2000">
              <a:solidFill>
                <a:schemeClr val="dk1"/>
              </a:solidFill>
              <a:latin typeface="Times New Roman"/>
              <a:ea typeface="Times New Roman"/>
              <a:cs typeface="Times New Roman"/>
              <a:sym typeface="Times New Roman"/>
            </a:endParaRPr>
          </a:p>
          <a:p>
            <a:pPr marL="1828800" lvl="3" indent="-355600" algn="l" rtl="0">
              <a:lnSpc>
                <a:spcPct val="100000"/>
              </a:lnSpc>
              <a:spcBef>
                <a:spcPts val="7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A sentence may be ambiguous even if the words are not.</a:t>
            </a:r>
            <a:endParaRPr sz="2000">
              <a:solidFill>
                <a:schemeClr val="dk1"/>
              </a:solidFill>
              <a:latin typeface="Times New Roman"/>
              <a:ea typeface="Times New Roman"/>
              <a:cs typeface="Times New Roman"/>
              <a:sym typeface="Times New Roman"/>
            </a:endParaRPr>
          </a:p>
          <a:p>
            <a:pPr marL="1828800" lvl="3" indent="-355600" algn="l" rtl="0">
              <a:lnSpc>
                <a:spcPct val="100000"/>
              </a:lnSpc>
              <a:spcBef>
                <a:spcPts val="700"/>
              </a:spcBef>
              <a:spcAft>
                <a:spcPts val="0"/>
              </a:spcAft>
              <a:buClr>
                <a:schemeClr val="dk1"/>
              </a:buClr>
              <a:buSzPts val="2000"/>
              <a:buFont typeface="Times New Roman"/>
              <a:buChar char="–"/>
            </a:pPr>
            <a:r>
              <a:rPr lang="en-US" sz="2000" b="1">
                <a:solidFill>
                  <a:schemeClr val="dk1"/>
                </a:solidFill>
                <a:latin typeface="Times New Roman"/>
                <a:ea typeface="Times New Roman"/>
                <a:cs typeface="Times New Roman"/>
                <a:sym typeface="Times New Roman"/>
              </a:rPr>
              <a:t>Ex: ‘Stolen rifle found by tree’ </a:t>
            </a:r>
            <a:endParaRPr sz="2000" b="1">
              <a:solidFill>
                <a:schemeClr val="dk1"/>
              </a:solidFill>
              <a:latin typeface="Times New Roman"/>
              <a:ea typeface="Times New Roman"/>
              <a:cs typeface="Times New Roman"/>
              <a:sym typeface="Times New Roman"/>
            </a:endParaRPr>
          </a:p>
          <a:p>
            <a:pPr marL="1828800" lvl="3" indent="-355600" algn="l" rtl="0">
              <a:lnSpc>
                <a:spcPct val="100000"/>
              </a:lnSpc>
              <a:spcBef>
                <a:spcPts val="70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None of the words in this sentence is ambiguous but the sentence is. </a:t>
            </a:r>
            <a:endParaRPr sz="2000">
              <a:solidFill>
                <a:schemeClr val="dk1"/>
              </a:solidFill>
              <a:latin typeface="Times New Roman"/>
              <a:ea typeface="Times New Roman"/>
              <a:cs typeface="Times New Roman"/>
              <a:sym typeface="Times New Roman"/>
            </a:endParaRPr>
          </a:p>
          <a:p>
            <a:pPr marL="1828800" lvl="3" indent="-355600" algn="l" rtl="0">
              <a:lnSpc>
                <a:spcPct val="100000"/>
              </a:lnSpc>
              <a:spcBef>
                <a:spcPts val="700"/>
              </a:spcBef>
              <a:spcAft>
                <a:spcPts val="0"/>
              </a:spcAft>
              <a:buClr>
                <a:schemeClr val="dk1"/>
              </a:buClr>
              <a:buSzPts val="2000"/>
              <a:buFont typeface="Times New Roman"/>
              <a:buChar char="–"/>
            </a:pPr>
            <a:r>
              <a:rPr lang="en-US" sz="2000">
                <a:solidFill>
                  <a:schemeClr val="dk1"/>
                </a:solidFill>
                <a:highlight>
                  <a:srgbClr val="00FFFF"/>
                </a:highlight>
                <a:latin typeface="Times New Roman"/>
                <a:ea typeface="Times New Roman"/>
                <a:cs typeface="Times New Roman"/>
                <a:sym typeface="Times New Roman"/>
              </a:rPr>
              <a:t>This is an example of  structural ambiguity.</a:t>
            </a:r>
            <a:r>
              <a:rPr lang="en-US"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marL="1828800" lvl="3" indent="-355600" algn="l" rtl="0">
              <a:lnSpc>
                <a:spcPct val="100000"/>
              </a:lnSpc>
              <a:spcBef>
                <a:spcPts val="700"/>
              </a:spcBef>
              <a:spcAft>
                <a:spcPts val="0"/>
              </a:spcAft>
              <a:buClr>
                <a:schemeClr val="dk1"/>
              </a:buClr>
              <a:buSzPts val="2000"/>
              <a:buFont typeface="Times New Roman"/>
              <a:buChar char="–"/>
            </a:pPr>
            <a:r>
              <a:rPr lang="en-US" sz="2000">
                <a:solidFill>
                  <a:schemeClr val="dk1"/>
                </a:solidFill>
                <a:highlight>
                  <a:srgbClr val="FFFF00"/>
                </a:highlight>
                <a:latin typeface="Times New Roman"/>
                <a:ea typeface="Times New Roman"/>
                <a:cs typeface="Times New Roman"/>
                <a:sym typeface="Times New Roman"/>
              </a:rPr>
              <a:t>Verb subcategorization will help resolve this type of ambiguity but not always.</a:t>
            </a:r>
            <a:endParaRPr sz="2000">
              <a:solidFill>
                <a:schemeClr val="dk1"/>
              </a:solidFill>
              <a:highlight>
                <a:srgbClr val="FFFF00"/>
              </a:highlight>
              <a:latin typeface="Times New Roman"/>
              <a:ea typeface="Times New Roman"/>
              <a:cs typeface="Times New Roman"/>
              <a:sym typeface="Times New Roman"/>
            </a:endParaRPr>
          </a:p>
          <a:p>
            <a:pPr marL="1828800" lvl="3" indent="-355600" algn="l" rtl="0">
              <a:lnSpc>
                <a:spcPct val="100000"/>
              </a:lnSpc>
              <a:spcBef>
                <a:spcPts val="700"/>
              </a:spcBef>
              <a:spcAft>
                <a:spcPts val="0"/>
              </a:spcAft>
              <a:buClr>
                <a:schemeClr val="dk1"/>
              </a:buClr>
              <a:buSzPts val="2000"/>
              <a:buFont typeface="Times New Roman"/>
              <a:buChar char="–"/>
            </a:pPr>
            <a:r>
              <a:rPr lang="en-US" sz="2000">
                <a:solidFill>
                  <a:schemeClr val="dk1"/>
                </a:solidFill>
                <a:highlight>
                  <a:srgbClr val="FFFF00"/>
                </a:highlight>
                <a:latin typeface="Times New Roman"/>
                <a:ea typeface="Times New Roman"/>
                <a:cs typeface="Times New Roman"/>
                <a:sym typeface="Times New Roman"/>
              </a:rPr>
              <a:t>Probabilistic parsing is another solution.</a:t>
            </a:r>
            <a:endParaRPr sz="2000">
              <a:solidFill>
                <a:schemeClr val="dk1"/>
              </a:solidFill>
              <a:highlight>
                <a:srgbClr val="FFFF00"/>
              </a:highlight>
              <a:latin typeface="Times New Roman"/>
              <a:ea typeface="Times New Roman"/>
              <a:cs typeface="Times New Roman"/>
              <a:sym typeface="Times New Roman"/>
            </a:endParaRPr>
          </a:p>
          <a:p>
            <a:pPr marL="1371600" lvl="0" indent="-355600" algn="l" rtl="0">
              <a:lnSpc>
                <a:spcPct val="100000"/>
              </a:lnSpc>
              <a:spcBef>
                <a:spcPts val="0"/>
              </a:spcBef>
              <a:spcAft>
                <a:spcPts val="0"/>
              </a:spcAft>
              <a:buClr>
                <a:schemeClr val="dk1"/>
              </a:buClr>
              <a:buSzPts val="2000"/>
              <a:buFont typeface="Times New Roman"/>
              <a:buChar char="●"/>
            </a:pPr>
            <a:r>
              <a:rPr lang="en-US">
                <a:solidFill>
                  <a:schemeClr val="dk1"/>
                </a:solidFill>
                <a:highlight>
                  <a:srgbClr val="FFFF00"/>
                </a:highlight>
                <a:latin typeface="Times New Roman"/>
                <a:ea typeface="Times New Roman"/>
                <a:cs typeface="Times New Roman"/>
                <a:sym typeface="Times New Roman"/>
              </a:rPr>
              <a:t>Higher level ambiguities are pragmatic and discourse ambiguities.</a:t>
            </a:r>
            <a:endParaRPr>
              <a:solidFill>
                <a:schemeClr val="dk1"/>
              </a:solidFill>
              <a:highlight>
                <a:srgbClr val="FFFF00"/>
              </a:highlight>
              <a:latin typeface="Times New Roman"/>
              <a:ea typeface="Times New Roman"/>
              <a:cs typeface="Times New Roman"/>
              <a:sym typeface="Times New Roman"/>
            </a:endParaRPr>
          </a:p>
          <a:p>
            <a:pPr marL="228600" lvl="0" indent="-228600" algn="l" rtl="0">
              <a:lnSpc>
                <a:spcPct val="100000"/>
              </a:lnSpc>
              <a:spcBef>
                <a:spcPts val="70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Number of Grammars:</a:t>
            </a:r>
            <a:endParaRPr>
              <a:solidFill>
                <a:schemeClr val="dk1"/>
              </a:solidFill>
              <a:latin typeface="Times New Roman"/>
              <a:ea typeface="Times New Roman"/>
              <a:cs typeface="Times New Roman"/>
              <a:sym typeface="Times New Roman"/>
            </a:endParaRPr>
          </a:p>
          <a:p>
            <a:pPr marL="457200" lvl="0" indent="-355600" algn="l" rtl="0">
              <a:lnSpc>
                <a:spcPct val="100000"/>
              </a:lnSpc>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A number of grammars have been proposed to describe the structure of sentences.</a:t>
            </a:r>
            <a:endParaRPr>
              <a:solidFill>
                <a:schemeClr val="dk1"/>
              </a:solidFill>
              <a:latin typeface="Times New Roman"/>
              <a:ea typeface="Times New Roman"/>
              <a:cs typeface="Times New Roman"/>
              <a:sym typeface="Times New Roman"/>
            </a:endParaRPr>
          </a:p>
          <a:p>
            <a:pPr marL="457200" lvl="0" indent="-355600" algn="l" rtl="0">
              <a:lnSpc>
                <a:spcPct val="100000"/>
              </a:lnSpc>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There are infinite number of ways to generate grammar, which makes the grammar rules, and grammar itself, extremely complex.</a:t>
            </a:r>
            <a:endParaRPr>
              <a:solidFill>
                <a:schemeClr val="dk1"/>
              </a:solidFill>
              <a:latin typeface="Times New Roman"/>
              <a:ea typeface="Times New Roman"/>
              <a:cs typeface="Times New Roman"/>
              <a:sym typeface="Times New Roman"/>
            </a:endParaRPr>
          </a:p>
          <a:p>
            <a:pPr marL="457200" lvl="0" indent="-355600" algn="l" rtl="0">
              <a:lnSpc>
                <a:spcPct val="100000"/>
              </a:lnSpc>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We make correct semantic interpretations of non-grammatical sentences. </a:t>
            </a:r>
            <a:endParaRPr>
              <a:solidFill>
                <a:schemeClr val="dk1"/>
              </a:solidFill>
              <a:latin typeface="Times New Roman"/>
              <a:ea typeface="Times New Roman"/>
              <a:cs typeface="Times New Roman"/>
              <a:sym typeface="Times New Roman"/>
            </a:endParaRPr>
          </a:p>
          <a:p>
            <a:pPr marL="457200" lvl="0" indent="-355600" algn="l" rtl="0">
              <a:lnSpc>
                <a:spcPct val="100000"/>
              </a:lnSpc>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This makes it impossible for grammar to capture the structure of all and only meaningful text.</a:t>
            </a:r>
            <a:endParaRPr>
              <a:solidFill>
                <a:schemeClr val="dk1"/>
              </a:solidFill>
              <a:latin typeface="Times New Roman"/>
              <a:ea typeface="Times New Roman"/>
              <a:cs typeface="Times New Roman"/>
              <a:sym typeface="Times New Roman"/>
            </a:endParaRPr>
          </a:p>
          <a:p>
            <a:pPr marL="0" lvl="0" indent="0" algn="l" rtl="0">
              <a:lnSpc>
                <a:spcPct val="100000"/>
              </a:lnSpc>
              <a:spcBef>
                <a:spcPts val="700"/>
              </a:spcBef>
              <a:spcAft>
                <a:spcPts val="0"/>
              </a:spcAft>
              <a:buSzPts val="1800"/>
              <a:buNone/>
            </a:pP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33121ad585e_0_0"/>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46" name="Google Shape;246;g33121ad585e_0_0"/>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247" name="Google Shape;247;g33121ad585e_0_0"/>
          <p:cNvPicPr preferRelativeResize="0"/>
          <p:nvPr/>
        </p:nvPicPr>
        <p:blipFill>
          <a:blip r:embed="rId3">
            <a:alphaModFix/>
          </a:blip>
          <a:stretch>
            <a:fillRect/>
          </a:stretch>
        </p:blipFill>
        <p:spPr>
          <a:xfrm>
            <a:off x="1385825" y="382375"/>
            <a:ext cx="7003624" cy="1885950"/>
          </a:xfrm>
          <a:prstGeom prst="rect">
            <a:avLst/>
          </a:prstGeom>
          <a:noFill/>
          <a:ln>
            <a:noFill/>
          </a:ln>
        </p:spPr>
      </p:pic>
      <p:pic>
        <p:nvPicPr>
          <p:cNvPr id="248" name="Google Shape;248;g33121ad585e_0_0"/>
          <p:cNvPicPr preferRelativeResize="0"/>
          <p:nvPr/>
        </p:nvPicPr>
        <p:blipFill>
          <a:blip r:embed="rId4">
            <a:alphaModFix/>
          </a:blip>
          <a:stretch>
            <a:fillRect/>
          </a:stretch>
        </p:blipFill>
        <p:spPr>
          <a:xfrm>
            <a:off x="1257302" y="2314575"/>
            <a:ext cx="10016199" cy="3590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3121ad585e_0_7"/>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g33121ad585e_0_7"/>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255" name="Google Shape;255;g33121ad585e_0_7"/>
          <p:cNvPicPr preferRelativeResize="0"/>
          <p:nvPr/>
        </p:nvPicPr>
        <p:blipFill>
          <a:blip r:embed="rId3">
            <a:alphaModFix/>
          </a:blip>
          <a:stretch>
            <a:fillRect/>
          </a:stretch>
        </p:blipFill>
        <p:spPr>
          <a:xfrm>
            <a:off x="1409975" y="498751"/>
            <a:ext cx="6554295" cy="673499"/>
          </a:xfrm>
          <a:prstGeom prst="rect">
            <a:avLst/>
          </a:prstGeom>
          <a:noFill/>
          <a:ln>
            <a:noFill/>
          </a:ln>
        </p:spPr>
      </p:pic>
      <p:pic>
        <p:nvPicPr>
          <p:cNvPr id="256" name="Google Shape;256;g33121ad585e_0_7"/>
          <p:cNvPicPr preferRelativeResize="0"/>
          <p:nvPr/>
        </p:nvPicPr>
        <p:blipFill>
          <a:blip r:embed="rId4">
            <a:alphaModFix/>
          </a:blip>
          <a:stretch>
            <a:fillRect/>
          </a:stretch>
        </p:blipFill>
        <p:spPr>
          <a:xfrm>
            <a:off x="1076325" y="2247900"/>
            <a:ext cx="10344150" cy="2667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3121ad585e_0_14"/>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62" name="Google Shape;262;g33121ad585e_0_14"/>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263" name="Google Shape;263;g33121ad585e_0_14"/>
          <p:cNvPicPr preferRelativeResize="0"/>
          <p:nvPr/>
        </p:nvPicPr>
        <p:blipFill>
          <a:blip r:embed="rId3">
            <a:alphaModFix/>
          </a:blip>
          <a:stretch>
            <a:fillRect/>
          </a:stretch>
        </p:blipFill>
        <p:spPr>
          <a:xfrm>
            <a:off x="1326125" y="515526"/>
            <a:ext cx="9153525" cy="552450"/>
          </a:xfrm>
          <a:prstGeom prst="rect">
            <a:avLst/>
          </a:prstGeom>
          <a:noFill/>
          <a:ln>
            <a:noFill/>
          </a:ln>
        </p:spPr>
      </p:pic>
      <p:pic>
        <p:nvPicPr>
          <p:cNvPr id="264" name="Google Shape;264;g33121ad585e_0_14"/>
          <p:cNvPicPr preferRelativeResize="0"/>
          <p:nvPr/>
        </p:nvPicPr>
        <p:blipFill>
          <a:blip r:embed="rId4">
            <a:alphaModFix/>
          </a:blip>
          <a:stretch>
            <a:fillRect/>
          </a:stretch>
        </p:blipFill>
        <p:spPr>
          <a:xfrm>
            <a:off x="1179326" y="2266950"/>
            <a:ext cx="9569651" cy="2628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3121ad585e_0_21"/>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70" name="Google Shape;270;g33121ad585e_0_21"/>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271" name="Google Shape;271;g33121ad585e_0_21"/>
          <p:cNvPicPr preferRelativeResize="0"/>
          <p:nvPr/>
        </p:nvPicPr>
        <p:blipFill>
          <a:blip r:embed="rId3">
            <a:alphaModFix/>
          </a:blip>
          <a:stretch>
            <a:fillRect/>
          </a:stretch>
        </p:blipFill>
        <p:spPr>
          <a:xfrm>
            <a:off x="1414450" y="304325"/>
            <a:ext cx="9363075" cy="2057400"/>
          </a:xfrm>
          <a:prstGeom prst="rect">
            <a:avLst/>
          </a:prstGeom>
          <a:noFill/>
          <a:ln>
            <a:noFill/>
          </a:ln>
        </p:spPr>
      </p:pic>
      <p:pic>
        <p:nvPicPr>
          <p:cNvPr id="272" name="Google Shape;272;g33121ad585e_0_21"/>
          <p:cNvPicPr preferRelativeResize="0"/>
          <p:nvPr/>
        </p:nvPicPr>
        <p:blipFill>
          <a:blip r:embed="rId4">
            <a:alphaModFix/>
          </a:blip>
          <a:stretch>
            <a:fillRect/>
          </a:stretch>
        </p:blipFill>
        <p:spPr>
          <a:xfrm>
            <a:off x="1414438" y="2506450"/>
            <a:ext cx="10372725" cy="3152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3121ad585e_0_28"/>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78" name="Google Shape;278;g33121ad585e_0_28"/>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279" name="Google Shape;279;g33121ad585e_0_28"/>
          <p:cNvPicPr preferRelativeResize="0"/>
          <p:nvPr/>
        </p:nvPicPr>
        <p:blipFill>
          <a:blip r:embed="rId3">
            <a:alphaModFix/>
          </a:blip>
          <a:stretch>
            <a:fillRect/>
          </a:stretch>
        </p:blipFill>
        <p:spPr>
          <a:xfrm>
            <a:off x="1494525" y="451775"/>
            <a:ext cx="8096250" cy="1695450"/>
          </a:xfrm>
          <a:prstGeom prst="rect">
            <a:avLst/>
          </a:prstGeom>
          <a:noFill/>
          <a:ln>
            <a:noFill/>
          </a:ln>
        </p:spPr>
      </p:pic>
      <p:pic>
        <p:nvPicPr>
          <p:cNvPr id="280" name="Google Shape;280;g33121ad585e_0_28"/>
          <p:cNvPicPr preferRelativeResize="0"/>
          <p:nvPr/>
        </p:nvPicPr>
        <p:blipFill>
          <a:blip r:embed="rId4">
            <a:alphaModFix/>
          </a:blip>
          <a:stretch>
            <a:fillRect/>
          </a:stretch>
        </p:blipFill>
        <p:spPr>
          <a:xfrm>
            <a:off x="1804988" y="2605088"/>
            <a:ext cx="8886825" cy="1952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0"/>
          <p:cNvSpPr txBox="1">
            <a:spLocks noGrp="1"/>
          </p:cNvSpPr>
          <p:nvPr>
            <p:ph type="title"/>
          </p:nvPr>
        </p:nvSpPr>
        <p:spPr>
          <a:xfrm>
            <a:off x="1066800" y="642594"/>
            <a:ext cx="10058400" cy="696679"/>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LANGUAGE AND GRAMMAR</a:t>
            </a:r>
            <a:endParaRPr/>
          </a:p>
        </p:txBody>
      </p:sp>
      <p:sp>
        <p:nvSpPr>
          <p:cNvPr id="286" name="Google Shape;286;p10"/>
          <p:cNvSpPr txBox="1">
            <a:spLocks noGrp="1"/>
          </p:cNvSpPr>
          <p:nvPr>
            <p:ph type="body" idx="1"/>
          </p:nvPr>
        </p:nvSpPr>
        <p:spPr>
          <a:xfrm>
            <a:off x="1066800" y="1339275"/>
            <a:ext cx="10765800" cy="55188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0"/>
              </a:spcBef>
              <a:spcAft>
                <a:spcPts val="0"/>
              </a:spcAft>
              <a:buSzPts val="2400"/>
              <a:buChar char="•"/>
            </a:pPr>
            <a:r>
              <a:rPr lang="en-US" sz="2400" dirty="0">
                <a:latin typeface="Calibri"/>
                <a:ea typeface="Calibri"/>
                <a:cs typeface="Calibri"/>
                <a:sym typeface="Calibri"/>
              </a:rPr>
              <a:t>Automatic processing of language  requires the rules and expectations of a language to be explained to the computer.</a:t>
            </a:r>
            <a:endParaRPr dirty="0"/>
          </a:p>
          <a:p>
            <a:pPr marL="228600" lvl="0" indent="-228600" algn="l" rtl="0">
              <a:lnSpc>
                <a:spcPct val="110000"/>
              </a:lnSpc>
              <a:spcBef>
                <a:spcPts val="700"/>
              </a:spcBef>
              <a:spcAft>
                <a:spcPts val="0"/>
              </a:spcAft>
              <a:buSzPts val="2400"/>
              <a:buChar char="•"/>
            </a:pPr>
            <a:r>
              <a:rPr lang="en-US" sz="2400" dirty="0">
                <a:latin typeface="Calibri"/>
                <a:ea typeface="Calibri"/>
                <a:cs typeface="Calibri"/>
                <a:sym typeface="Calibri"/>
              </a:rPr>
              <a:t>Grammar defines the language. </a:t>
            </a:r>
            <a:endParaRPr sz="2400" dirty="0">
              <a:latin typeface="Calibri"/>
              <a:ea typeface="Calibri"/>
              <a:cs typeface="Calibri"/>
              <a:sym typeface="Calibri"/>
            </a:endParaRPr>
          </a:p>
          <a:p>
            <a:pPr marL="685800" lvl="1" indent="-266698" algn="l" rtl="0">
              <a:lnSpc>
                <a:spcPct val="110000"/>
              </a:lnSpc>
              <a:spcBef>
                <a:spcPts val="700"/>
              </a:spcBef>
              <a:spcAft>
                <a:spcPts val="0"/>
              </a:spcAft>
              <a:buSzPts val="2400"/>
              <a:buChar char="–"/>
            </a:pPr>
            <a:r>
              <a:rPr lang="en-US" sz="2400" dirty="0">
                <a:latin typeface="Calibri"/>
                <a:ea typeface="Calibri"/>
                <a:cs typeface="Calibri"/>
                <a:sym typeface="Calibri"/>
              </a:rPr>
              <a:t>It consists of set of rules that allows us to parse and generate sentences in a language.</a:t>
            </a:r>
            <a:endParaRPr sz="2400" dirty="0">
              <a:latin typeface="Calibri"/>
              <a:ea typeface="Calibri"/>
              <a:cs typeface="Calibri"/>
              <a:sym typeface="Calibri"/>
            </a:endParaRPr>
          </a:p>
          <a:p>
            <a:pPr marL="685800" lvl="1" indent="-266698" algn="l" rtl="0">
              <a:lnSpc>
                <a:spcPct val="110000"/>
              </a:lnSpc>
              <a:spcBef>
                <a:spcPts val="700"/>
              </a:spcBef>
              <a:spcAft>
                <a:spcPts val="0"/>
              </a:spcAft>
              <a:buSzPts val="2400"/>
              <a:buFont typeface="Calibri"/>
              <a:buChar char="–"/>
            </a:pPr>
            <a:r>
              <a:rPr lang="en-US" sz="2400" dirty="0">
                <a:latin typeface="Calibri"/>
                <a:ea typeface="Calibri"/>
                <a:cs typeface="Calibri"/>
                <a:sym typeface="Calibri"/>
              </a:rPr>
              <a:t>Thus, it provides the means to specify natural language. </a:t>
            </a:r>
            <a:endParaRPr sz="2400" dirty="0">
              <a:latin typeface="Calibri"/>
              <a:ea typeface="Calibri"/>
              <a:cs typeface="Calibri"/>
              <a:sym typeface="Calibri"/>
            </a:endParaRPr>
          </a:p>
          <a:p>
            <a:pPr marL="685800" lvl="1" indent="-266698" algn="l" rtl="0">
              <a:lnSpc>
                <a:spcPct val="110000"/>
              </a:lnSpc>
              <a:spcBef>
                <a:spcPts val="700"/>
              </a:spcBef>
              <a:spcAft>
                <a:spcPts val="0"/>
              </a:spcAft>
              <a:buSzPts val="2400"/>
              <a:buFont typeface="Calibri"/>
              <a:buChar char="–"/>
            </a:pPr>
            <a:r>
              <a:rPr lang="en-US" sz="2400" dirty="0">
                <a:latin typeface="Calibri"/>
                <a:ea typeface="Calibri"/>
                <a:cs typeface="Calibri"/>
                <a:sym typeface="Calibri"/>
              </a:rPr>
              <a:t>These rules relate information to coding devices at the language level, but not at the world knowledge level.</a:t>
            </a:r>
            <a:endParaRPr sz="2400" dirty="0">
              <a:latin typeface="Calibri"/>
              <a:ea typeface="Calibri"/>
              <a:cs typeface="Calibri"/>
              <a:sym typeface="Calibri"/>
            </a:endParaRPr>
          </a:p>
          <a:p>
            <a:pPr marL="228600" lvl="0" indent="-228600" algn="l" rtl="0">
              <a:lnSpc>
                <a:spcPct val="110000"/>
              </a:lnSpc>
              <a:spcBef>
                <a:spcPts val="700"/>
              </a:spcBef>
              <a:spcAft>
                <a:spcPts val="0"/>
              </a:spcAft>
              <a:buSzPts val="2400"/>
              <a:buChar char="•"/>
            </a:pPr>
            <a:r>
              <a:rPr lang="en-US" sz="2400" dirty="0">
                <a:latin typeface="Calibri"/>
                <a:ea typeface="Calibri"/>
                <a:cs typeface="Calibri"/>
                <a:sym typeface="Calibri"/>
              </a:rPr>
              <a:t>Main hurdle in language specification comes from </a:t>
            </a:r>
            <a:endParaRPr sz="2400" dirty="0">
              <a:latin typeface="Calibri"/>
              <a:ea typeface="Calibri"/>
              <a:cs typeface="Calibri"/>
              <a:sym typeface="Calibri"/>
            </a:endParaRPr>
          </a:p>
          <a:p>
            <a:pPr marL="685800" lvl="1" indent="-266698" algn="l" rtl="0">
              <a:lnSpc>
                <a:spcPct val="110000"/>
              </a:lnSpc>
              <a:spcBef>
                <a:spcPts val="700"/>
              </a:spcBef>
              <a:spcAft>
                <a:spcPts val="0"/>
              </a:spcAft>
              <a:buSzPts val="2400"/>
              <a:buChar char="–"/>
            </a:pPr>
            <a:r>
              <a:rPr lang="en-US" sz="2400" dirty="0">
                <a:latin typeface="Calibri"/>
                <a:ea typeface="Calibri"/>
                <a:cs typeface="Calibri"/>
                <a:sym typeface="Calibri"/>
              </a:rPr>
              <a:t>the constantly changing nature of  natural languages and </a:t>
            </a:r>
            <a:endParaRPr sz="2400" dirty="0">
              <a:latin typeface="Calibri"/>
              <a:ea typeface="Calibri"/>
              <a:cs typeface="Calibri"/>
              <a:sym typeface="Calibri"/>
            </a:endParaRPr>
          </a:p>
          <a:p>
            <a:pPr marL="685800" lvl="1" indent="-266698" algn="l" rtl="0">
              <a:lnSpc>
                <a:spcPct val="110000"/>
              </a:lnSpc>
              <a:spcBef>
                <a:spcPts val="700"/>
              </a:spcBef>
              <a:spcAft>
                <a:spcPts val="0"/>
              </a:spcAft>
              <a:buSzPts val="2400"/>
              <a:buChar char="–"/>
            </a:pPr>
            <a:r>
              <a:rPr lang="en-US" sz="2400" dirty="0">
                <a:latin typeface="Calibri"/>
                <a:ea typeface="Calibri"/>
                <a:cs typeface="Calibri"/>
                <a:sym typeface="Calibri"/>
              </a:rPr>
              <a:t>the presence of large number of hard-to-specify exceptions.</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g157bb7497ea_0_0"/>
          <p:cNvSpPr txBox="1">
            <a:spLocks noGrp="1"/>
          </p:cNvSpPr>
          <p:nvPr>
            <p:ph type="title"/>
          </p:nvPr>
        </p:nvSpPr>
        <p:spPr>
          <a:xfrm>
            <a:off x="1154500" y="380994"/>
            <a:ext cx="10058400" cy="6966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LANGUAGE AND GRAMMAR</a:t>
            </a:r>
            <a:endParaRPr/>
          </a:p>
        </p:txBody>
      </p:sp>
      <p:sp>
        <p:nvSpPr>
          <p:cNvPr id="292" name="Google Shape;292;g157bb7497ea_0_0"/>
          <p:cNvSpPr txBox="1">
            <a:spLocks noGrp="1"/>
          </p:cNvSpPr>
          <p:nvPr>
            <p:ph type="body" idx="1"/>
          </p:nvPr>
        </p:nvSpPr>
        <p:spPr>
          <a:xfrm>
            <a:off x="1066800" y="1339275"/>
            <a:ext cx="10765800" cy="5518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000"/>
              </a:spcBef>
              <a:spcAft>
                <a:spcPts val="0"/>
              </a:spcAft>
              <a:buSzPts val="1800"/>
              <a:buNone/>
            </a:pPr>
            <a:r>
              <a:rPr lang="en-US" sz="2600" b="1">
                <a:solidFill>
                  <a:schemeClr val="dk1"/>
                </a:solidFill>
                <a:latin typeface="Times New Roman"/>
                <a:ea typeface="Times New Roman"/>
                <a:cs typeface="Times New Roman"/>
                <a:sym typeface="Times New Roman"/>
              </a:rPr>
              <a:t>Several efforts have been made to provide language specifications which has led to the development of a number of grammars as follows - </a:t>
            </a:r>
            <a:endParaRPr sz="2600" b="1">
              <a:solidFill>
                <a:schemeClr val="dk1"/>
              </a:solidFill>
              <a:latin typeface="Times New Roman"/>
              <a:ea typeface="Times New Roman"/>
              <a:cs typeface="Times New Roman"/>
              <a:sym typeface="Times New Roman"/>
            </a:endParaRPr>
          </a:p>
          <a:p>
            <a:pPr marL="914400" lvl="0" indent="-393700" algn="l" rtl="0">
              <a:lnSpc>
                <a:spcPct val="100000"/>
              </a:lnSpc>
              <a:spcBef>
                <a:spcPts val="1000"/>
              </a:spcBef>
              <a:spcAft>
                <a:spcPts val="0"/>
              </a:spcAft>
              <a:buClr>
                <a:schemeClr val="dk1"/>
              </a:buClr>
              <a:buSzPts val="2600"/>
              <a:buFont typeface="Times New Roman"/>
              <a:buAutoNum type="arabicPeriod"/>
            </a:pPr>
            <a:r>
              <a:rPr lang="en-US" sz="2600">
                <a:solidFill>
                  <a:schemeClr val="dk1"/>
                </a:solidFill>
                <a:highlight>
                  <a:srgbClr val="FFFF00"/>
                </a:highlight>
                <a:latin typeface="Times New Roman"/>
                <a:ea typeface="Times New Roman"/>
                <a:cs typeface="Times New Roman"/>
                <a:sym typeface="Times New Roman"/>
              </a:rPr>
              <a:t>Transformational Grammar introduced by Chomsky in 1957.</a:t>
            </a:r>
            <a:endParaRPr sz="2600">
              <a:solidFill>
                <a:schemeClr val="dk1"/>
              </a:solidFill>
              <a:highlight>
                <a:srgbClr val="FFFF00"/>
              </a:highlight>
              <a:latin typeface="Times New Roman"/>
              <a:ea typeface="Times New Roman"/>
              <a:cs typeface="Times New Roman"/>
              <a:sym typeface="Times New Roman"/>
            </a:endParaRPr>
          </a:p>
          <a:p>
            <a:pPr marL="914400" lvl="0" indent="-393700" algn="l" rtl="0">
              <a:lnSpc>
                <a:spcPct val="100000"/>
              </a:lnSpc>
              <a:spcBef>
                <a:spcPts val="1000"/>
              </a:spcBef>
              <a:spcAft>
                <a:spcPts val="0"/>
              </a:spcAft>
              <a:buClr>
                <a:schemeClr val="dk1"/>
              </a:buClr>
              <a:buSzPts val="2600"/>
              <a:buFont typeface="Times New Roman"/>
              <a:buAutoNum type="arabicPeriod"/>
            </a:pPr>
            <a:r>
              <a:rPr lang="en-US" sz="2600">
                <a:solidFill>
                  <a:schemeClr val="dk1"/>
                </a:solidFill>
                <a:highlight>
                  <a:srgbClr val="FFFF00"/>
                </a:highlight>
                <a:latin typeface="Times New Roman"/>
                <a:ea typeface="Times New Roman"/>
                <a:cs typeface="Times New Roman"/>
                <a:sym typeface="Times New Roman"/>
              </a:rPr>
              <a:t>Lexical Functional Grammar developed by Kaplan and Bresnan in 1982. (focus is on relationships).</a:t>
            </a:r>
            <a:endParaRPr sz="2600">
              <a:solidFill>
                <a:schemeClr val="dk1"/>
              </a:solidFill>
              <a:highlight>
                <a:srgbClr val="FFFF00"/>
              </a:highlight>
              <a:latin typeface="Times New Roman"/>
              <a:ea typeface="Times New Roman"/>
              <a:cs typeface="Times New Roman"/>
              <a:sym typeface="Times New Roman"/>
            </a:endParaRPr>
          </a:p>
          <a:p>
            <a:pPr marL="914400" lvl="0" indent="-393700" algn="l" rtl="0">
              <a:lnSpc>
                <a:spcPct val="100000"/>
              </a:lnSpc>
              <a:spcBef>
                <a:spcPts val="1000"/>
              </a:spcBef>
              <a:spcAft>
                <a:spcPts val="0"/>
              </a:spcAft>
              <a:buClr>
                <a:schemeClr val="dk1"/>
              </a:buClr>
              <a:buSzPts val="2600"/>
              <a:buFont typeface="Times New Roman"/>
              <a:buAutoNum type="arabicPeriod"/>
            </a:pPr>
            <a:r>
              <a:rPr lang="en-US" sz="2600">
                <a:solidFill>
                  <a:schemeClr val="dk1"/>
                </a:solidFill>
                <a:highlight>
                  <a:srgbClr val="FFFF00"/>
                </a:highlight>
                <a:latin typeface="Times New Roman"/>
                <a:ea typeface="Times New Roman"/>
                <a:cs typeface="Times New Roman"/>
                <a:sym typeface="Times New Roman"/>
              </a:rPr>
              <a:t>Government and Binding by Chomsky in 1981.</a:t>
            </a:r>
            <a:endParaRPr sz="2600">
              <a:solidFill>
                <a:schemeClr val="dk1"/>
              </a:solidFill>
              <a:highlight>
                <a:srgbClr val="FFFF00"/>
              </a:highlight>
              <a:latin typeface="Times New Roman"/>
              <a:ea typeface="Times New Roman"/>
              <a:cs typeface="Times New Roman"/>
              <a:sym typeface="Times New Roman"/>
            </a:endParaRPr>
          </a:p>
          <a:p>
            <a:pPr marL="914400" lvl="0" indent="-393700" algn="l" rtl="0">
              <a:lnSpc>
                <a:spcPct val="100000"/>
              </a:lnSpc>
              <a:spcBef>
                <a:spcPts val="1000"/>
              </a:spcBef>
              <a:spcAft>
                <a:spcPts val="0"/>
              </a:spcAft>
              <a:buClr>
                <a:schemeClr val="dk1"/>
              </a:buClr>
              <a:buSzPts val="2600"/>
              <a:buFont typeface="Times New Roman"/>
              <a:buAutoNum type="arabicPeriod"/>
            </a:pPr>
            <a:r>
              <a:rPr lang="en-US" sz="2600">
                <a:solidFill>
                  <a:schemeClr val="dk1"/>
                </a:solidFill>
                <a:latin typeface="Times New Roman"/>
                <a:ea typeface="Times New Roman"/>
                <a:cs typeface="Times New Roman"/>
                <a:sym typeface="Times New Roman"/>
              </a:rPr>
              <a:t>Generalized Phrase Structure Grammar. (focus is on derivation).</a:t>
            </a:r>
            <a:endParaRPr sz="2600">
              <a:solidFill>
                <a:schemeClr val="dk1"/>
              </a:solidFill>
              <a:latin typeface="Times New Roman"/>
              <a:ea typeface="Times New Roman"/>
              <a:cs typeface="Times New Roman"/>
              <a:sym typeface="Times New Roman"/>
            </a:endParaRPr>
          </a:p>
          <a:p>
            <a:pPr marL="914400" lvl="0" indent="-393700" algn="l" rtl="0">
              <a:lnSpc>
                <a:spcPct val="100000"/>
              </a:lnSpc>
              <a:spcBef>
                <a:spcPts val="1000"/>
              </a:spcBef>
              <a:spcAft>
                <a:spcPts val="0"/>
              </a:spcAft>
              <a:buClr>
                <a:schemeClr val="dk1"/>
              </a:buClr>
              <a:buSzPts val="2600"/>
              <a:buFont typeface="Times New Roman"/>
              <a:buAutoNum type="arabicPeriod"/>
            </a:pPr>
            <a:r>
              <a:rPr lang="en-US" sz="2600">
                <a:solidFill>
                  <a:schemeClr val="dk1"/>
                </a:solidFill>
                <a:latin typeface="Times New Roman"/>
                <a:ea typeface="Times New Roman"/>
                <a:cs typeface="Times New Roman"/>
                <a:sym typeface="Times New Roman"/>
              </a:rPr>
              <a:t>Dependency Grammar (focus is on relationships).</a:t>
            </a:r>
            <a:endParaRPr sz="2600">
              <a:solidFill>
                <a:schemeClr val="dk1"/>
              </a:solidFill>
              <a:latin typeface="Times New Roman"/>
              <a:ea typeface="Times New Roman"/>
              <a:cs typeface="Times New Roman"/>
              <a:sym typeface="Times New Roman"/>
            </a:endParaRPr>
          </a:p>
          <a:p>
            <a:pPr marL="914400" lvl="0" indent="-393700" algn="l" rtl="0">
              <a:lnSpc>
                <a:spcPct val="100000"/>
              </a:lnSpc>
              <a:spcBef>
                <a:spcPts val="1000"/>
              </a:spcBef>
              <a:spcAft>
                <a:spcPts val="0"/>
              </a:spcAft>
              <a:buClr>
                <a:schemeClr val="dk1"/>
              </a:buClr>
              <a:buSzPts val="2600"/>
              <a:buFont typeface="Times New Roman"/>
              <a:buAutoNum type="arabicPeriod"/>
            </a:pPr>
            <a:r>
              <a:rPr lang="en-US" sz="2600">
                <a:solidFill>
                  <a:schemeClr val="dk1"/>
                </a:solidFill>
                <a:highlight>
                  <a:srgbClr val="FFFF00"/>
                </a:highlight>
                <a:latin typeface="Times New Roman"/>
                <a:ea typeface="Times New Roman"/>
                <a:cs typeface="Times New Roman"/>
                <a:sym typeface="Times New Roman"/>
              </a:rPr>
              <a:t>Paninian Grammar (focus is on relationships).</a:t>
            </a:r>
            <a:endParaRPr sz="2600">
              <a:solidFill>
                <a:schemeClr val="dk1"/>
              </a:solidFill>
              <a:highlight>
                <a:srgbClr val="FFFF00"/>
              </a:highlight>
              <a:latin typeface="Times New Roman"/>
              <a:ea typeface="Times New Roman"/>
              <a:cs typeface="Times New Roman"/>
              <a:sym typeface="Times New Roman"/>
            </a:endParaRPr>
          </a:p>
          <a:p>
            <a:pPr marL="914400" lvl="0" indent="-393700" algn="l" rtl="0">
              <a:lnSpc>
                <a:spcPct val="100000"/>
              </a:lnSpc>
              <a:spcBef>
                <a:spcPts val="1000"/>
              </a:spcBef>
              <a:spcAft>
                <a:spcPts val="1000"/>
              </a:spcAft>
              <a:buClr>
                <a:schemeClr val="dk1"/>
              </a:buClr>
              <a:buSzPts val="2600"/>
              <a:buFont typeface="Times New Roman"/>
              <a:buAutoNum type="arabicPeriod"/>
            </a:pPr>
            <a:r>
              <a:rPr lang="en-US" sz="2600">
                <a:solidFill>
                  <a:schemeClr val="dk1"/>
                </a:solidFill>
                <a:latin typeface="Times New Roman"/>
                <a:ea typeface="Times New Roman"/>
                <a:cs typeface="Times New Roman"/>
                <a:sym typeface="Times New Roman"/>
              </a:rPr>
              <a:t>Tree adjoining Grammar introduced by Joshi in 1985.</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11"/>
          <p:cNvSpPr txBox="1">
            <a:spLocks noGrp="1"/>
          </p:cNvSpPr>
          <p:nvPr>
            <p:ph type="title"/>
          </p:nvPr>
        </p:nvSpPr>
        <p:spPr>
          <a:xfrm>
            <a:off x="1066800" y="642594"/>
            <a:ext cx="10058400" cy="650497"/>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LANGUAGE AND GRAMMAR</a:t>
            </a:r>
            <a:endParaRPr/>
          </a:p>
        </p:txBody>
      </p:sp>
      <p:sp>
        <p:nvSpPr>
          <p:cNvPr id="298" name="Google Shape;298;p11"/>
          <p:cNvSpPr txBox="1">
            <a:spLocks noGrp="1"/>
          </p:cNvSpPr>
          <p:nvPr>
            <p:ph type="body" idx="1"/>
          </p:nvPr>
        </p:nvSpPr>
        <p:spPr>
          <a:xfrm>
            <a:off x="1066800" y="1293100"/>
            <a:ext cx="10058400" cy="5565000"/>
          </a:xfrm>
          <a:prstGeom prst="rect">
            <a:avLst/>
          </a:prstGeom>
          <a:noFill/>
          <a:ln>
            <a:noFill/>
          </a:ln>
        </p:spPr>
        <p:txBody>
          <a:bodyPr spcFirstLastPara="1" wrap="square" lIns="91425" tIns="45700" rIns="91425" bIns="45700" anchor="t" anchorCtr="0">
            <a:normAutofit/>
          </a:bodyPr>
          <a:lstStyle/>
          <a:p>
            <a:pPr marL="228600" lvl="0" indent="-228600" algn="l" rtl="0">
              <a:lnSpc>
                <a:spcPct val="115000"/>
              </a:lnSpc>
              <a:spcBef>
                <a:spcPts val="0"/>
              </a:spcBef>
              <a:spcAft>
                <a:spcPts val="0"/>
              </a:spcAft>
              <a:buClr>
                <a:schemeClr val="dk1"/>
              </a:buClr>
              <a:buSzPts val="2000"/>
              <a:buFont typeface="Times New Roman"/>
              <a:buChar char="•"/>
            </a:pPr>
            <a:r>
              <a:rPr lang="en-US" b="1">
                <a:solidFill>
                  <a:schemeClr val="dk1"/>
                </a:solidFill>
                <a:latin typeface="Times New Roman"/>
                <a:ea typeface="Times New Roman"/>
                <a:cs typeface="Times New Roman"/>
                <a:sym typeface="Times New Roman"/>
              </a:rPr>
              <a:t>Noam Chomsky Grammar:</a:t>
            </a:r>
            <a:endParaRPr b="1">
              <a:solidFill>
                <a:schemeClr val="dk1"/>
              </a:solidFill>
              <a:latin typeface="Times New Roman"/>
              <a:ea typeface="Times New Roman"/>
              <a:cs typeface="Times New Roman"/>
              <a:sym typeface="Times New Roman"/>
            </a:endParaRPr>
          </a:p>
          <a:p>
            <a:pPr marL="685800" lvl="1" indent="-241300" algn="l" rtl="0">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greatest contribution to grammar comes from Noam Chomsky.</a:t>
            </a:r>
            <a:endParaRPr sz="2000">
              <a:solidFill>
                <a:schemeClr val="dk1"/>
              </a:solidFill>
              <a:latin typeface="Times New Roman"/>
              <a:ea typeface="Times New Roman"/>
              <a:cs typeface="Times New Roman"/>
              <a:sym typeface="Times New Roman"/>
            </a:endParaRPr>
          </a:p>
          <a:p>
            <a:pPr marL="685800" lvl="1" indent="-241300" algn="l" rtl="0">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He proposed a hierarchy of formal grammar based on the level of complexity.</a:t>
            </a:r>
            <a:endParaRPr sz="2000">
              <a:solidFill>
                <a:schemeClr val="dk1"/>
              </a:solidFill>
              <a:latin typeface="Times New Roman"/>
              <a:ea typeface="Times New Roman"/>
              <a:cs typeface="Times New Roman"/>
              <a:sym typeface="Times New Roman"/>
            </a:endParaRPr>
          </a:p>
          <a:p>
            <a:pPr marL="685800" lvl="1" indent="-241300" algn="l" rtl="0">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These grammars use phrase structure rules or rewrite rules.</a:t>
            </a:r>
            <a:endParaRPr sz="2000">
              <a:solidFill>
                <a:schemeClr val="dk1"/>
              </a:solidFill>
              <a:latin typeface="Times New Roman"/>
              <a:ea typeface="Times New Roman"/>
              <a:cs typeface="Times New Roman"/>
              <a:sym typeface="Times New Roman"/>
            </a:endParaRPr>
          </a:p>
          <a:p>
            <a:pPr marL="228600" lvl="0" indent="-228600" algn="l" rtl="0">
              <a:lnSpc>
                <a:spcPct val="115000"/>
              </a:lnSpc>
              <a:spcBef>
                <a:spcPts val="0"/>
              </a:spcBef>
              <a:spcAft>
                <a:spcPts val="0"/>
              </a:spcAft>
              <a:buClr>
                <a:schemeClr val="dk1"/>
              </a:buClr>
              <a:buSzPts val="2000"/>
              <a:buFont typeface="Times New Roman"/>
              <a:buChar char="•"/>
            </a:pPr>
            <a:r>
              <a:rPr lang="en-US" b="1">
                <a:solidFill>
                  <a:schemeClr val="dk1"/>
                </a:solidFill>
                <a:latin typeface="Times New Roman"/>
                <a:ea typeface="Times New Roman"/>
                <a:cs typeface="Times New Roman"/>
                <a:sym typeface="Times New Roman"/>
              </a:rPr>
              <a:t>Generative grammar:</a:t>
            </a:r>
            <a:endParaRPr b="1">
              <a:solidFill>
                <a:schemeClr val="dk1"/>
              </a:solidFill>
              <a:latin typeface="Times New Roman"/>
              <a:ea typeface="Times New Roman"/>
              <a:cs typeface="Times New Roman"/>
              <a:sym typeface="Times New Roman"/>
            </a:endParaRPr>
          </a:p>
          <a:p>
            <a:pPr marL="685800" lvl="1" indent="-241300" algn="l" rtl="0">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The term generative grammar refers to the general framework introduced by Chomsky.</a:t>
            </a:r>
            <a:endParaRPr sz="2000">
              <a:solidFill>
                <a:schemeClr val="dk1"/>
              </a:solidFill>
              <a:latin typeface="Times New Roman"/>
              <a:ea typeface="Times New Roman"/>
              <a:cs typeface="Times New Roman"/>
              <a:sym typeface="Times New Roman"/>
            </a:endParaRPr>
          </a:p>
          <a:p>
            <a:pPr marL="685800" lvl="1" indent="-241300" algn="l" rtl="0">
              <a:lnSpc>
                <a:spcPct val="115000"/>
              </a:lnSpc>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It basically refers to any grammar that uses a set of rules to specify or generate all and only grammatical sentences in a language.</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According to Chompski phrase structure grammars are not adequate to specify natural language. So Chomsky proposed complex system of transformational grammar, according to which each sentence in a language has two levels of representation.</a:t>
            </a:r>
            <a:endParaRPr>
              <a:solidFill>
                <a:schemeClr val="dk1"/>
              </a:solidFill>
              <a:latin typeface="Times New Roman"/>
              <a:ea typeface="Times New Roman"/>
              <a:cs typeface="Times New Roman"/>
              <a:sym typeface="Times New Roman"/>
            </a:endParaRPr>
          </a:p>
          <a:p>
            <a:pPr marL="0" lvl="0" indent="457200" algn="l" rtl="0">
              <a:lnSpc>
                <a:spcPct val="115000"/>
              </a:lnSpc>
              <a:spcBef>
                <a:spcPts val="700"/>
              </a:spcBef>
              <a:spcAft>
                <a:spcPts val="0"/>
              </a:spcAft>
              <a:buSzPts val="1800"/>
              <a:buNone/>
            </a:pPr>
            <a:r>
              <a:rPr lang="en-US" sz="2200">
                <a:solidFill>
                  <a:schemeClr val="dk1"/>
                </a:solidFill>
                <a:latin typeface="Times New Roman"/>
                <a:ea typeface="Times New Roman"/>
                <a:cs typeface="Times New Roman"/>
                <a:sym typeface="Times New Roman"/>
              </a:rPr>
              <a:t>1. </a:t>
            </a:r>
            <a:r>
              <a:rPr lang="en-US">
                <a:solidFill>
                  <a:schemeClr val="dk1"/>
                </a:solidFill>
                <a:latin typeface="Times New Roman"/>
                <a:ea typeface="Times New Roman"/>
                <a:cs typeface="Times New Roman"/>
                <a:sym typeface="Times New Roman"/>
              </a:rPr>
              <a:t>Deep Structure (DS)</a:t>
            </a:r>
            <a:endParaRPr>
              <a:solidFill>
                <a:schemeClr val="dk1"/>
              </a:solidFill>
              <a:latin typeface="Times New Roman"/>
              <a:ea typeface="Times New Roman"/>
              <a:cs typeface="Times New Roman"/>
              <a:sym typeface="Times New Roman"/>
            </a:endParaRPr>
          </a:p>
          <a:p>
            <a:pPr marL="0" lvl="0" indent="457200" algn="l" rtl="0">
              <a:lnSpc>
                <a:spcPct val="115000"/>
              </a:lnSpc>
              <a:spcBef>
                <a:spcPts val="700"/>
              </a:spcBef>
              <a:spcAft>
                <a:spcPts val="0"/>
              </a:spcAft>
              <a:buSzPts val="1800"/>
              <a:buNone/>
            </a:pPr>
            <a:r>
              <a:rPr lang="en-US">
                <a:solidFill>
                  <a:schemeClr val="dk1"/>
                </a:solidFill>
                <a:latin typeface="Times New Roman"/>
                <a:ea typeface="Times New Roman"/>
                <a:cs typeface="Times New Roman"/>
                <a:sym typeface="Times New Roman"/>
              </a:rPr>
              <a:t>2. Surface Structure (SS)</a:t>
            </a:r>
            <a:endParaRPr>
              <a:solidFill>
                <a:schemeClr val="dk1"/>
              </a:solidFill>
              <a:latin typeface="Times New Roman"/>
              <a:ea typeface="Times New Roman"/>
              <a:cs typeface="Times New Roman"/>
              <a:sym typeface="Times New Roman"/>
            </a:endParaRPr>
          </a:p>
          <a:p>
            <a:pPr marL="228600" lvl="0" indent="-228600" algn="l" rtl="0">
              <a:lnSpc>
                <a:spcPct val="110000"/>
              </a:lnSpc>
              <a:spcBef>
                <a:spcPts val="1700"/>
              </a:spcBef>
              <a:spcAft>
                <a:spcPts val="0"/>
              </a:spcAft>
              <a:buClr>
                <a:schemeClr val="dk1"/>
              </a:buClr>
              <a:buSzPts val="2000"/>
              <a:buFont typeface="Times New Roman"/>
              <a:buChar char="•"/>
            </a:pPr>
            <a:r>
              <a:rPr lang="en-US">
                <a:solidFill>
                  <a:schemeClr val="dk1"/>
                </a:solidFill>
                <a:latin typeface="Times New Roman"/>
                <a:ea typeface="Times New Roman"/>
                <a:cs typeface="Times New Roman"/>
                <a:sym typeface="Times New Roman"/>
              </a:rPr>
              <a:t>Mapping from DS to SS is carried out by Transformations.</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f7b2675688_0_11"/>
          <p:cNvSpPr txBox="1">
            <a:spLocks noGrp="1"/>
          </p:cNvSpPr>
          <p:nvPr>
            <p:ph type="title"/>
          </p:nvPr>
        </p:nvSpPr>
        <p:spPr>
          <a:xfrm>
            <a:off x="1066800" y="642598"/>
            <a:ext cx="10058400" cy="7431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TRANSFORMATIONAL GRAMMAR</a:t>
            </a:r>
            <a:endParaRPr/>
          </a:p>
        </p:txBody>
      </p:sp>
      <p:sp>
        <p:nvSpPr>
          <p:cNvPr id="304" name="Google Shape;304;gf7b2675688_0_11"/>
          <p:cNvSpPr txBox="1">
            <a:spLocks noGrp="1"/>
          </p:cNvSpPr>
          <p:nvPr>
            <p:ph type="body" idx="1"/>
          </p:nvPr>
        </p:nvSpPr>
        <p:spPr>
          <a:xfrm>
            <a:off x="900750" y="1496300"/>
            <a:ext cx="10952400" cy="5197800"/>
          </a:xfrm>
          <a:prstGeom prst="rect">
            <a:avLst/>
          </a:prstGeom>
          <a:noFill/>
          <a:ln>
            <a:noFill/>
          </a:ln>
        </p:spPr>
        <p:txBody>
          <a:bodyPr spcFirstLastPara="1" wrap="square" lIns="91425" tIns="45700" rIns="91425" bIns="45700" anchor="ctr" anchorCtr="0">
            <a:noAutofit/>
          </a:bodyPr>
          <a:lstStyle/>
          <a:p>
            <a:pPr marL="457200" lvl="0" indent="-431800" algn="just" rtl="0">
              <a:lnSpc>
                <a:spcPct val="100000"/>
              </a:lnSpc>
              <a:spcBef>
                <a:spcPts val="100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Transformational grammar was introduced by Chomsky in 1957. </a:t>
            </a:r>
            <a:endParaRPr sz="3200">
              <a:solidFill>
                <a:schemeClr val="dk1"/>
              </a:solidFill>
              <a:latin typeface="Times New Roman"/>
              <a:ea typeface="Times New Roman"/>
              <a:cs typeface="Times New Roman"/>
              <a:sym typeface="Times New Roman"/>
            </a:endParaRPr>
          </a:p>
          <a:p>
            <a:pPr marL="457200" lvl="0" indent="-431800" algn="just" rtl="0">
              <a:lnSpc>
                <a:spcPct val="100000"/>
              </a:lnSpc>
              <a:spcBef>
                <a:spcPts val="100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According to him, an utterance is  the surface representation of a ‘deeper structure’ representing its meaning. </a:t>
            </a:r>
            <a:endParaRPr sz="3200">
              <a:solidFill>
                <a:schemeClr val="dk1"/>
              </a:solidFill>
              <a:latin typeface="Times New Roman"/>
              <a:ea typeface="Times New Roman"/>
              <a:cs typeface="Times New Roman"/>
              <a:sym typeface="Times New Roman"/>
            </a:endParaRPr>
          </a:p>
          <a:p>
            <a:pPr marL="457200" lvl="0" indent="-431800" algn="just" rtl="0">
              <a:lnSpc>
                <a:spcPct val="100000"/>
              </a:lnSpc>
              <a:spcBef>
                <a:spcPts val="1000"/>
              </a:spcBef>
              <a:spcAft>
                <a:spcPts val="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The deep structure can be transformed in number of ways to yield many different surface level representation.</a:t>
            </a:r>
            <a:endParaRPr sz="3200">
              <a:solidFill>
                <a:schemeClr val="dk1"/>
              </a:solidFill>
              <a:latin typeface="Times New Roman"/>
              <a:ea typeface="Times New Roman"/>
              <a:cs typeface="Times New Roman"/>
              <a:sym typeface="Times New Roman"/>
            </a:endParaRPr>
          </a:p>
          <a:p>
            <a:pPr marL="457200" lvl="0" indent="-431800" algn="just" rtl="0">
              <a:lnSpc>
                <a:spcPct val="100000"/>
              </a:lnSpc>
              <a:spcBef>
                <a:spcPts val="1000"/>
              </a:spcBef>
              <a:spcAft>
                <a:spcPts val="1000"/>
              </a:spcAft>
              <a:buClr>
                <a:schemeClr val="dk1"/>
              </a:buClr>
              <a:buSzPts val="3200"/>
              <a:buFont typeface="Times New Roman"/>
              <a:buChar char="❖"/>
            </a:pPr>
            <a:r>
              <a:rPr lang="en-US" sz="3200">
                <a:solidFill>
                  <a:schemeClr val="dk1"/>
                </a:solidFill>
                <a:latin typeface="Times New Roman"/>
                <a:ea typeface="Times New Roman"/>
                <a:cs typeface="Times New Roman"/>
                <a:sym typeface="Times New Roman"/>
              </a:rPr>
              <a:t>Sentence with different surface level representations having the same meaning,   share a common deep level representation.</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f7b2675688_0_17"/>
          <p:cNvSpPr txBox="1">
            <a:spLocks noGrp="1"/>
          </p:cNvSpPr>
          <p:nvPr>
            <p:ph type="title"/>
          </p:nvPr>
        </p:nvSpPr>
        <p:spPr>
          <a:xfrm>
            <a:off x="1251675" y="382380"/>
            <a:ext cx="10178400" cy="80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TRANSFORMATIONAL GRAMMAR</a:t>
            </a:r>
            <a:endParaRPr/>
          </a:p>
        </p:txBody>
      </p:sp>
      <p:sp>
        <p:nvSpPr>
          <p:cNvPr id="310" name="Google Shape;310;gf7b2675688_0_17"/>
          <p:cNvSpPr txBox="1">
            <a:spLocks noGrp="1"/>
          </p:cNvSpPr>
          <p:nvPr>
            <p:ph type="body" idx="1"/>
          </p:nvPr>
        </p:nvSpPr>
        <p:spPr>
          <a:xfrm>
            <a:off x="1251675" y="1187275"/>
            <a:ext cx="5790600" cy="5175300"/>
          </a:xfrm>
          <a:prstGeom prst="rect">
            <a:avLst/>
          </a:prstGeom>
          <a:noFill/>
          <a:ln>
            <a:noFill/>
          </a:ln>
        </p:spPr>
        <p:txBody>
          <a:bodyPr spcFirstLastPara="1" wrap="square" lIns="91425" tIns="45700" rIns="91425" bIns="45700" anchor="t" anchorCtr="0">
            <a:normAutofit/>
          </a:bodyPr>
          <a:lstStyle/>
          <a:p>
            <a:pPr marL="228600" lvl="0" indent="0" algn="l" rtl="0">
              <a:lnSpc>
                <a:spcPct val="110000"/>
              </a:lnSpc>
              <a:spcBef>
                <a:spcPts val="1700"/>
              </a:spcBef>
              <a:spcAft>
                <a:spcPts val="0"/>
              </a:spcAft>
              <a:buSzPts val="1800"/>
              <a:buNone/>
            </a:pPr>
            <a:r>
              <a:rPr lang="en-US" sz="2400">
                <a:latin typeface="Calibri"/>
                <a:ea typeface="Calibri"/>
                <a:cs typeface="Calibri"/>
                <a:sym typeface="Calibri"/>
              </a:rPr>
              <a:t>Ex: 	</a:t>
            </a:r>
            <a:r>
              <a:rPr lang="en-US" sz="2400">
                <a:highlight>
                  <a:srgbClr val="FFFF00"/>
                </a:highlight>
                <a:latin typeface="Calibri"/>
                <a:ea typeface="Calibri"/>
                <a:cs typeface="Calibri"/>
                <a:sym typeface="Calibri"/>
              </a:rPr>
              <a:t>Pooja plays Veena</a:t>
            </a:r>
            <a:endParaRPr/>
          </a:p>
          <a:p>
            <a:pPr marL="457200" lvl="0" indent="457200" algn="l" rtl="0">
              <a:lnSpc>
                <a:spcPct val="110000"/>
              </a:lnSpc>
              <a:spcBef>
                <a:spcPts val="700"/>
              </a:spcBef>
              <a:spcAft>
                <a:spcPts val="0"/>
              </a:spcAft>
              <a:buClr>
                <a:schemeClr val="dk1"/>
              </a:buClr>
              <a:buSzPts val="2400"/>
              <a:buFont typeface="Arial"/>
              <a:buNone/>
            </a:pPr>
            <a:r>
              <a:rPr lang="en-US" sz="2400">
                <a:highlight>
                  <a:srgbClr val="FFFF00"/>
                </a:highlight>
                <a:latin typeface="Calibri"/>
                <a:ea typeface="Calibri"/>
                <a:cs typeface="Calibri"/>
                <a:sym typeface="Calibri"/>
              </a:rPr>
              <a:t>Veena is played by Pooja</a:t>
            </a:r>
            <a:r>
              <a:rPr lang="en-US" sz="2400">
                <a:latin typeface="Calibri"/>
                <a:ea typeface="Calibri"/>
                <a:cs typeface="Calibri"/>
                <a:sym typeface="Calibri"/>
              </a:rPr>
              <a:t>.</a:t>
            </a:r>
            <a:endParaRPr sz="2400">
              <a:latin typeface="Calibri"/>
              <a:ea typeface="Calibri"/>
              <a:cs typeface="Calibri"/>
              <a:sym typeface="Calibri"/>
            </a:endParaRPr>
          </a:p>
          <a:p>
            <a:pPr marL="228600" lvl="0" indent="-228600" algn="l" rtl="0">
              <a:lnSpc>
                <a:spcPct val="110000"/>
              </a:lnSpc>
              <a:spcBef>
                <a:spcPts val="700"/>
              </a:spcBef>
              <a:spcAft>
                <a:spcPts val="0"/>
              </a:spcAft>
              <a:buSzPts val="2400"/>
              <a:buChar char="•"/>
            </a:pPr>
            <a:r>
              <a:rPr lang="en-US" sz="2400"/>
              <a:t>Both the sentences have the same meaning but different surface structures. Roles of subject and object are inverted.</a:t>
            </a:r>
            <a:endParaRPr sz="2400"/>
          </a:p>
          <a:p>
            <a:pPr marL="228600" lvl="0" indent="-228600" algn="l" rtl="0">
              <a:lnSpc>
                <a:spcPct val="110000"/>
              </a:lnSpc>
              <a:spcBef>
                <a:spcPts val="700"/>
              </a:spcBef>
              <a:spcAft>
                <a:spcPts val="0"/>
              </a:spcAft>
              <a:buSzPts val="2400"/>
              <a:buChar char="•"/>
            </a:pPr>
            <a:r>
              <a:rPr lang="en-US" sz="2400"/>
              <a:t>Both the sentences are generated from the same ‘</a:t>
            </a:r>
            <a:r>
              <a:rPr lang="en-US" sz="2400" b="1"/>
              <a:t>deep structure’</a:t>
            </a:r>
            <a:r>
              <a:rPr lang="en-US" sz="2400"/>
              <a:t> in which the ‘</a:t>
            </a:r>
            <a:r>
              <a:rPr lang="en-US" sz="2400" b="1"/>
              <a:t>deep subject’</a:t>
            </a:r>
            <a:r>
              <a:rPr lang="en-US" sz="2400"/>
              <a:t> is Pooja and ‘</a:t>
            </a:r>
            <a:r>
              <a:rPr lang="en-US" sz="2400" b="1"/>
              <a:t>deep object’</a:t>
            </a:r>
            <a:r>
              <a:rPr lang="en-US" sz="2400"/>
              <a:t> is the veena. </a:t>
            </a:r>
            <a:endParaRPr sz="2400"/>
          </a:p>
          <a:p>
            <a:pPr marL="228600" lvl="0" indent="0" algn="l" rtl="0">
              <a:lnSpc>
                <a:spcPct val="110000"/>
              </a:lnSpc>
              <a:spcBef>
                <a:spcPts val="700"/>
              </a:spcBef>
              <a:spcAft>
                <a:spcPts val="0"/>
              </a:spcAft>
              <a:buSzPts val="1800"/>
              <a:buNone/>
            </a:pPr>
            <a:endParaRPr sz="2400"/>
          </a:p>
          <a:p>
            <a:pPr marL="0" lvl="0" indent="0" algn="l" rtl="0">
              <a:lnSpc>
                <a:spcPct val="110000"/>
              </a:lnSpc>
              <a:spcBef>
                <a:spcPts val="700"/>
              </a:spcBef>
              <a:spcAft>
                <a:spcPts val="0"/>
              </a:spcAft>
              <a:buSzPts val="1800"/>
              <a:buNone/>
            </a:pPr>
            <a:endParaRPr/>
          </a:p>
        </p:txBody>
      </p:sp>
      <p:pic>
        <p:nvPicPr>
          <p:cNvPr id="311" name="Google Shape;311;gf7b2675688_0_17"/>
          <p:cNvPicPr preferRelativeResize="0"/>
          <p:nvPr/>
        </p:nvPicPr>
        <p:blipFill rotWithShape="1">
          <a:blip r:embed="rId3">
            <a:alphaModFix/>
          </a:blip>
          <a:srcRect/>
          <a:stretch/>
        </p:blipFill>
        <p:spPr>
          <a:xfrm>
            <a:off x="7226325" y="1102975"/>
            <a:ext cx="4426575" cy="5259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f7b2675688_0_30"/>
          <p:cNvSpPr txBox="1">
            <a:spLocks noGrp="1"/>
          </p:cNvSpPr>
          <p:nvPr>
            <p:ph type="title"/>
          </p:nvPr>
        </p:nvSpPr>
        <p:spPr>
          <a:xfrm>
            <a:off x="1251675" y="382380"/>
            <a:ext cx="10178400" cy="7845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TRANSFORMATIONAL GRAMMAR</a:t>
            </a:r>
            <a:endParaRPr/>
          </a:p>
          <a:p>
            <a:pPr marL="0" lvl="0" indent="0" algn="l" rtl="0">
              <a:lnSpc>
                <a:spcPct val="90000"/>
              </a:lnSpc>
              <a:spcBef>
                <a:spcPts val="0"/>
              </a:spcBef>
              <a:spcAft>
                <a:spcPts val="0"/>
              </a:spcAft>
              <a:buSzPct val="39215"/>
              <a:buNone/>
            </a:pPr>
            <a:endParaRPr/>
          </a:p>
        </p:txBody>
      </p:sp>
      <p:sp>
        <p:nvSpPr>
          <p:cNvPr id="317" name="Google Shape;317;gf7b2675688_0_30"/>
          <p:cNvSpPr txBox="1">
            <a:spLocks noGrp="1"/>
          </p:cNvSpPr>
          <p:nvPr>
            <p:ph type="body" idx="1"/>
          </p:nvPr>
        </p:nvSpPr>
        <p:spPr>
          <a:xfrm>
            <a:off x="1251675" y="1166875"/>
            <a:ext cx="10178400" cy="5547900"/>
          </a:xfrm>
          <a:prstGeom prst="rect">
            <a:avLst/>
          </a:prstGeom>
          <a:noFill/>
          <a:ln>
            <a:noFill/>
          </a:ln>
        </p:spPr>
        <p:txBody>
          <a:bodyPr spcFirstLastPara="1" wrap="square" lIns="91425" tIns="45700" rIns="91425" bIns="45700" anchor="ctr" anchorCtr="0">
            <a:normAutofit/>
          </a:bodyPr>
          <a:lstStyle/>
          <a:p>
            <a:pPr marL="457200" lvl="0" indent="-457200" algn="l" rtl="0">
              <a:lnSpc>
                <a:spcPct val="110000"/>
              </a:lnSpc>
              <a:spcBef>
                <a:spcPts val="0"/>
              </a:spcBef>
              <a:spcAft>
                <a:spcPts val="0"/>
              </a:spcAft>
              <a:buClr>
                <a:schemeClr val="dk1"/>
              </a:buClr>
              <a:buSzPts val="3900"/>
              <a:buChar char="•"/>
            </a:pPr>
            <a:r>
              <a:rPr lang="en-US" sz="3900">
                <a:solidFill>
                  <a:schemeClr val="dk1"/>
                </a:solidFill>
              </a:rPr>
              <a:t>Transformational Grammar has 3 Components </a:t>
            </a:r>
            <a:endParaRPr sz="3900">
              <a:solidFill>
                <a:schemeClr val="dk1"/>
              </a:solidFill>
            </a:endParaRPr>
          </a:p>
          <a:p>
            <a:pPr marL="1371600" lvl="0" indent="-463550" algn="l" rtl="0">
              <a:lnSpc>
                <a:spcPct val="110000"/>
              </a:lnSpc>
              <a:spcBef>
                <a:spcPts val="0"/>
              </a:spcBef>
              <a:spcAft>
                <a:spcPts val="0"/>
              </a:spcAft>
              <a:buClr>
                <a:schemeClr val="dk1"/>
              </a:buClr>
              <a:buSzPts val="3700"/>
              <a:buAutoNum type="arabicPeriod"/>
            </a:pPr>
            <a:r>
              <a:rPr lang="en-US" sz="3900">
                <a:solidFill>
                  <a:schemeClr val="dk1"/>
                </a:solidFill>
              </a:rPr>
              <a:t>Phrase Structure Grammar</a:t>
            </a:r>
            <a:endParaRPr sz="3900">
              <a:solidFill>
                <a:schemeClr val="dk1"/>
              </a:solidFill>
            </a:endParaRPr>
          </a:p>
          <a:p>
            <a:pPr marL="1371600" lvl="0" indent="-463550" algn="l" rtl="0">
              <a:lnSpc>
                <a:spcPct val="110000"/>
              </a:lnSpc>
              <a:spcBef>
                <a:spcPts val="0"/>
              </a:spcBef>
              <a:spcAft>
                <a:spcPts val="0"/>
              </a:spcAft>
              <a:buClr>
                <a:schemeClr val="dk1"/>
              </a:buClr>
              <a:buSzPts val="3700"/>
              <a:buAutoNum type="arabicPeriod"/>
            </a:pPr>
            <a:r>
              <a:rPr lang="en-US" sz="3900">
                <a:solidFill>
                  <a:schemeClr val="dk1"/>
                </a:solidFill>
              </a:rPr>
              <a:t>Transformational Rules</a:t>
            </a:r>
            <a:endParaRPr sz="3900">
              <a:solidFill>
                <a:schemeClr val="dk1"/>
              </a:solidFill>
            </a:endParaRPr>
          </a:p>
          <a:p>
            <a:pPr marL="1371600" lvl="0" indent="-463550" algn="l" rtl="0">
              <a:lnSpc>
                <a:spcPct val="110000"/>
              </a:lnSpc>
              <a:spcBef>
                <a:spcPts val="0"/>
              </a:spcBef>
              <a:spcAft>
                <a:spcPts val="0"/>
              </a:spcAft>
              <a:buClr>
                <a:schemeClr val="dk1"/>
              </a:buClr>
              <a:buSzPts val="3700"/>
              <a:buAutoNum type="arabicPeriod"/>
            </a:pPr>
            <a:r>
              <a:rPr lang="en-US" sz="3900">
                <a:solidFill>
                  <a:schemeClr val="dk1"/>
                </a:solidFill>
              </a:rPr>
              <a:t>Morphophonemic rules   </a:t>
            </a:r>
            <a:endParaRPr sz="3900">
              <a:solidFill>
                <a:schemeClr val="dk1"/>
              </a:solidFill>
            </a:endParaRPr>
          </a:p>
          <a:p>
            <a:pPr marL="228600" lvl="0" indent="-234950" algn="l" rtl="0">
              <a:lnSpc>
                <a:spcPct val="110000"/>
              </a:lnSpc>
              <a:spcBef>
                <a:spcPts val="0"/>
              </a:spcBef>
              <a:spcAft>
                <a:spcPts val="0"/>
              </a:spcAft>
              <a:buClr>
                <a:schemeClr val="dk1"/>
              </a:buClr>
              <a:buSzPts val="3700"/>
              <a:buChar char="•"/>
            </a:pPr>
            <a:r>
              <a:rPr lang="en-US" sz="3900">
                <a:solidFill>
                  <a:schemeClr val="dk1"/>
                </a:solidFill>
              </a:rPr>
              <a:t>All three components consists of a set of rules.</a:t>
            </a:r>
            <a:endParaRPr sz="3900">
              <a:solidFill>
                <a:schemeClr val="dk1"/>
              </a:solidFill>
            </a:endParaRPr>
          </a:p>
          <a:p>
            <a:pPr marL="228600" lvl="0" indent="-101600" algn="l" rtl="0">
              <a:lnSpc>
                <a:spcPct val="110000"/>
              </a:lnSpc>
              <a:spcBef>
                <a:spcPts val="700"/>
              </a:spcBef>
              <a:spcAft>
                <a:spcPts val="0"/>
              </a:spcAft>
              <a:buClr>
                <a:schemeClr val="dk1"/>
              </a:buClr>
              <a:buSzPts val="2000"/>
              <a:buFont typeface="Arial"/>
              <a:buNone/>
            </a:pPr>
            <a:endParaRPr sz="3900"/>
          </a:p>
          <a:p>
            <a:pPr marL="0" lvl="0" indent="0" algn="l" rtl="0">
              <a:lnSpc>
                <a:spcPct val="110000"/>
              </a:lnSpc>
              <a:spcBef>
                <a:spcPts val="700"/>
              </a:spcBef>
              <a:spcAft>
                <a:spcPts val="0"/>
              </a:spcAft>
              <a:buSzPts val="18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4"/>
          <p:cNvSpPr txBox="1">
            <a:spLocks noGrp="1"/>
          </p:cNvSpPr>
          <p:nvPr>
            <p:ph type="title"/>
          </p:nvPr>
        </p:nvSpPr>
        <p:spPr>
          <a:xfrm>
            <a:off x="1066800" y="642595"/>
            <a:ext cx="10058400" cy="612274"/>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TRANSFORMATIONAL GRAMMAR</a:t>
            </a:r>
            <a:endParaRPr/>
          </a:p>
        </p:txBody>
      </p:sp>
      <p:sp>
        <p:nvSpPr>
          <p:cNvPr id="323" name="Google Shape;323;p14"/>
          <p:cNvSpPr txBox="1">
            <a:spLocks noGrp="1"/>
          </p:cNvSpPr>
          <p:nvPr>
            <p:ph type="body" idx="1"/>
          </p:nvPr>
        </p:nvSpPr>
        <p:spPr>
          <a:xfrm>
            <a:off x="1066800" y="1459350"/>
            <a:ext cx="10643100" cy="5193900"/>
          </a:xfrm>
          <a:prstGeom prst="rect">
            <a:avLst/>
          </a:prstGeom>
          <a:noFill/>
          <a:ln>
            <a:noFill/>
          </a:ln>
        </p:spPr>
        <p:txBody>
          <a:bodyPr spcFirstLastPara="1" wrap="square" lIns="91425" tIns="45700" rIns="91425" bIns="45700" anchor="t" anchorCtr="0">
            <a:normAutofit/>
          </a:bodyPr>
          <a:lstStyle/>
          <a:p>
            <a:pPr marL="457200" lvl="0" indent="-342900" algn="l" rtl="0">
              <a:lnSpc>
                <a:spcPct val="110000"/>
              </a:lnSpc>
              <a:spcBef>
                <a:spcPts val="700"/>
              </a:spcBef>
              <a:spcAft>
                <a:spcPts val="0"/>
              </a:spcAft>
              <a:buSzPts val="1800"/>
              <a:buAutoNum type="arabicPeriod"/>
            </a:pPr>
            <a:r>
              <a:rPr lang="en-US" b="1">
                <a:highlight>
                  <a:srgbClr val="FFFF00"/>
                </a:highlight>
              </a:rPr>
              <a:t>Phrase structure grammar:</a:t>
            </a:r>
            <a:endParaRPr b="1">
              <a:solidFill>
                <a:schemeClr val="dk1"/>
              </a:solidFill>
              <a:highlight>
                <a:srgbClr val="FFFF00"/>
              </a:highlight>
            </a:endParaRPr>
          </a:p>
          <a:p>
            <a:pPr marL="228600" lvl="0" indent="-228600" algn="l" rtl="0">
              <a:lnSpc>
                <a:spcPct val="100000"/>
              </a:lnSpc>
              <a:spcBef>
                <a:spcPts val="1000"/>
              </a:spcBef>
              <a:spcAft>
                <a:spcPts val="0"/>
              </a:spcAft>
              <a:buClr>
                <a:schemeClr val="dk1"/>
              </a:buClr>
              <a:buSzPts val="1800"/>
              <a:buChar char="•"/>
            </a:pPr>
            <a:r>
              <a:rPr lang="en-US">
                <a:solidFill>
                  <a:schemeClr val="dk1"/>
                </a:solidFill>
              </a:rPr>
              <a:t>Phrase structure grammar</a:t>
            </a:r>
            <a:r>
              <a:rPr lang="en-US" b="1">
                <a:solidFill>
                  <a:schemeClr val="dk1"/>
                </a:solidFill>
              </a:rPr>
              <a:t> </a:t>
            </a:r>
            <a:r>
              <a:rPr lang="en-US">
                <a:solidFill>
                  <a:schemeClr val="dk1"/>
                </a:solidFill>
              </a:rPr>
              <a:t>consists of rules that generate natural language sentences and assign a structural description to them. </a:t>
            </a:r>
            <a:endParaRPr>
              <a:solidFill>
                <a:schemeClr val="dk1"/>
              </a:solidFill>
            </a:endParaRPr>
          </a:p>
          <a:p>
            <a:pPr marL="228600" lvl="0" indent="-228600" algn="l" rtl="0">
              <a:lnSpc>
                <a:spcPct val="100000"/>
              </a:lnSpc>
              <a:spcBef>
                <a:spcPts val="1000"/>
              </a:spcBef>
              <a:spcAft>
                <a:spcPts val="0"/>
              </a:spcAft>
              <a:buClr>
                <a:schemeClr val="dk1"/>
              </a:buClr>
              <a:buSzPts val="1800"/>
              <a:buChar char="•"/>
            </a:pPr>
            <a:r>
              <a:rPr lang="en-US">
                <a:solidFill>
                  <a:schemeClr val="dk1"/>
                </a:solidFill>
              </a:rPr>
              <a:t>Following are the set of rules:</a:t>
            </a:r>
            <a:endParaRPr>
              <a:solidFill>
                <a:schemeClr val="dk1"/>
              </a:solidFill>
            </a:endParaRPr>
          </a:p>
          <a:p>
            <a:pPr marL="0" lvl="0" indent="0" algn="l" rtl="0">
              <a:lnSpc>
                <a:spcPct val="100000"/>
              </a:lnSpc>
              <a:spcBef>
                <a:spcPts val="1000"/>
              </a:spcBef>
              <a:spcAft>
                <a:spcPts val="0"/>
              </a:spcAft>
              <a:buSzPts val="1800"/>
              <a:buNone/>
            </a:pPr>
            <a:r>
              <a:rPr lang="en-US" sz="1400">
                <a:solidFill>
                  <a:schemeClr val="dk1"/>
                </a:solidFill>
              </a:rPr>
              <a:t>								</a:t>
            </a:r>
            <a:r>
              <a:rPr lang="en-US" sz="2100">
                <a:solidFill>
                  <a:schemeClr val="dk1"/>
                </a:solidFill>
              </a:rPr>
              <a:t>	</a:t>
            </a:r>
            <a:endParaRPr sz="2100">
              <a:solidFill>
                <a:schemeClr val="dk1"/>
              </a:solidFill>
            </a:endParaRPr>
          </a:p>
          <a:p>
            <a:pPr marL="0" lvl="0" indent="0" algn="l" rtl="0">
              <a:lnSpc>
                <a:spcPct val="100000"/>
              </a:lnSpc>
              <a:spcBef>
                <a:spcPts val="1000"/>
              </a:spcBef>
              <a:spcAft>
                <a:spcPts val="0"/>
              </a:spcAft>
              <a:buSzPts val="1800"/>
              <a:buNone/>
            </a:pPr>
            <a:r>
              <a:rPr lang="en-US" sz="2100">
                <a:solidFill>
                  <a:schemeClr val="dk1"/>
                </a:solidFill>
              </a:rPr>
              <a:t>S - sentence</a:t>
            </a:r>
            <a:endParaRPr sz="2100">
              <a:solidFill>
                <a:schemeClr val="dk1"/>
              </a:solidFill>
            </a:endParaRPr>
          </a:p>
          <a:p>
            <a:pPr marL="0" lvl="0" indent="0" algn="l" rtl="0">
              <a:lnSpc>
                <a:spcPct val="100000"/>
              </a:lnSpc>
              <a:spcBef>
                <a:spcPts val="1000"/>
              </a:spcBef>
              <a:spcAft>
                <a:spcPts val="0"/>
              </a:spcAft>
              <a:buSzPts val="1800"/>
              <a:buNone/>
            </a:pPr>
            <a:r>
              <a:rPr lang="en-US" sz="2100">
                <a:solidFill>
                  <a:schemeClr val="dk1"/>
                </a:solidFill>
              </a:rPr>
              <a:t>VP - verb phrase</a:t>
            </a:r>
            <a:endParaRPr sz="2100">
              <a:solidFill>
                <a:schemeClr val="dk1"/>
              </a:solidFill>
            </a:endParaRPr>
          </a:p>
          <a:p>
            <a:pPr marL="0" lvl="0" indent="0" algn="l" rtl="0">
              <a:lnSpc>
                <a:spcPct val="100000"/>
              </a:lnSpc>
              <a:spcBef>
                <a:spcPts val="1000"/>
              </a:spcBef>
              <a:spcAft>
                <a:spcPts val="0"/>
              </a:spcAft>
              <a:buSzPts val="1800"/>
              <a:buNone/>
            </a:pPr>
            <a:r>
              <a:rPr lang="en-US" sz="2100">
                <a:solidFill>
                  <a:schemeClr val="dk1"/>
                </a:solidFill>
              </a:rPr>
              <a:t>NP - noun phrase</a:t>
            </a:r>
            <a:endParaRPr sz="2100">
              <a:solidFill>
                <a:schemeClr val="dk1"/>
              </a:solidFill>
            </a:endParaRPr>
          </a:p>
          <a:p>
            <a:pPr marL="0" lvl="0" indent="0" algn="l" rtl="0">
              <a:lnSpc>
                <a:spcPct val="100000"/>
              </a:lnSpc>
              <a:spcBef>
                <a:spcPts val="1000"/>
              </a:spcBef>
              <a:spcAft>
                <a:spcPts val="0"/>
              </a:spcAft>
              <a:buSzPts val="1800"/>
              <a:buNone/>
            </a:pPr>
            <a:r>
              <a:rPr lang="en-US" sz="2100">
                <a:solidFill>
                  <a:schemeClr val="dk1"/>
                </a:solidFill>
              </a:rPr>
              <a:t>V - verb</a:t>
            </a:r>
            <a:endParaRPr sz="2100">
              <a:solidFill>
                <a:schemeClr val="dk1"/>
              </a:solidFill>
            </a:endParaRPr>
          </a:p>
          <a:p>
            <a:pPr marL="0" lvl="0" indent="0" algn="l" rtl="0">
              <a:lnSpc>
                <a:spcPct val="100000"/>
              </a:lnSpc>
              <a:spcBef>
                <a:spcPts val="1000"/>
              </a:spcBef>
              <a:spcAft>
                <a:spcPts val="0"/>
              </a:spcAft>
              <a:buSzPts val="1800"/>
              <a:buNone/>
            </a:pPr>
            <a:r>
              <a:rPr lang="en-US" sz="2100">
                <a:solidFill>
                  <a:schemeClr val="dk1"/>
                </a:solidFill>
              </a:rPr>
              <a:t>Det - determiner</a:t>
            </a:r>
            <a:endParaRPr sz="2100">
              <a:solidFill>
                <a:schemeClr val="dk1"/>
              </a:solidFill>
            </a:endParaRPr>
          </a:p>
          <a:p>
            <a:pPr marL="0" lvl="0" indent="0" algn="l" rtl="0">
              <a:lnSpc>
                <a:spcPct val="100000"/>
              </a:lnSpc>
              <a:spcBef>
                <a:spcPts val="1000"/>
              </a:spcBef>
              <a:spcAft>
                <a:spcPts val="0"/>
              </a:spcAft>
              <a:buSzPts val="1800"/>
              <a:buNone/>
            </a:pPr>
            <a:r>
              <a:rPr lang="en-US" sz="2100">
                <a:solidFill>
                  <a:schemeClr val="dk1"/>
                </a:solidFill>
              </a:rPr>
              <a:t>Aux - Auxiliary verb</a:t>
            </a:r>
            <a:endParaRPr sz="2100">
              <a:solidFill>
                <a:schemeClr val="dk1"/>
              </a:solidFill>
            </a:endParaRPr>
          </a:p>
          <a:p>
            <a:pPr marL="0" lvl="0" indent="0" algn="l" rtl="0">
              <a:lnSpc>
                <a:spcPct val="100000"/>
              </a:lnSpc>
              <a:spcBef>
                <a:spcPts val="1000"/>
              </a:spcBef>
              <a:spcAft>
                <a:spcPts val="0"/>
              </a:spcAft>
              <a:buSzPts val="1800"/>
              <a:buNone/>
            </a:pPr>
            <a:endParaRPr>
              <a:solidFill>
                <a:schemeClr val="dk1"/>
              </a:solidFill>
            </a:endParaRPr>
          </a:p>
          <a:p>
            <a:pPr marL="228600" lvl="0" indent="-101600" algn="l" rtl="0">
              <a:lnSpc>
                <a:spcPct val="110000"/>
              </a:lnSpc>
              <a:spcBef>
                <a:spcPts val="1000"/>
              </a:spcBef>
              <a:spcAft>
                <a:spcPts val="0"/>
              </a:spcAft>
              <a:buSzPts val="2000"/>
              <a:buNone/>
            </a:pPr>
            <a:endParaRPr/>
          </a:p>
        </p:txBody>
      </p:sp>
      <p:sp>
        <p:nvSpPr>
          <p:cNvPr id="324" name="Google Shape;324;p14"/>
          <p:cNvSpPr/>
          <p:nvPr/>
        </p:nvSpPr>
        <p:spPr>
          <a:xfrm>
            <a:off x="5203700" y="2753700"/>
            <a:ext cx="5144700" cy="3609000"/>
          </a:xfrm>
          <a:prstGeom prst="roundRect">
            <a:avLst>
              <a:gd name="adj" fmla="val 19600"/>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S 🡪 NP + VP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VP 🡪 V + NP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NP 🡪 Det + Noun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V 🡪 Aux + Verb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Det -&gt; the, a, an,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Verb -&gt; catch, write, eat,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Noun -&gt; police, snatcher,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2000"/>
              <a:buFont typeface="Arial"/>
              <a:buNone/>
            </a:pPr>
            <a:r>
              <a:rPr lang="en-US" sz="2000" b="1" i="0" u="none" strike="noStrike" cap="none">
                <a:solidFill>
                  <a:schemeClr val="lt1"/>
                </a:solidFill>
                <a:latin typeface="Arial"/>
                <a:ea typeface="Arial"/>
                <a:cs typeface="Arial"/>
                <a:sym typeface="Arial"/>
              </a:rPr>
              <a:t>Aux -&gt; will, is, can, …</a:t>
            </a:r>
            <a:endParaRPr sz="20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5"/>
          <p:cNvSpPr txBox="1">
            <a:spLocks noGrp="1"/>
          </p:cNvSpPr>
          <p:nvPr>
            <p:ph type="title"/>
          </p:nvPr>
        </p:nvSpPr>
        <p:spPr>
          <a:xfrm>
            <a:off x="1251675" y="382379"/>
            <a:ext cx="10178400" cy="846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PRACTICE</a:t>
            </a:r>
            <a:endParaRPr/>
          </a:p>
        </p:txBody>
      </p:sp>
      <p:sp>
        <p:nvSpPr>
          <p:cNvPr id="330" name="Google Shape;330;p15"/>
          <p:cNvSpPr txBox="1">
            <a:spLocks noGrp="1"/>
          </p:cNvSpPr>
          <p:nvPr>
            <p:ph type="body" idx="1"/>
          </p:nvPr>
        </p:nvSpPr>
        <p:spPr>
          <a:xfrm>
            <a:off x="1251675" y="1433025"/>
            <a:ext cx="10178400" cy="5076900"/>
          </a:xfrm>
          <a:prstGeom prst="rect">
            <a:avLst/>
          </a:prstGeom>
          <a:noFill/>
          <a:ln>
            <a:noFill/>
          </a:ln>
        </p:spPr>
        <p:txBody>
          <a:bodyPr spcFirstLastPara="1" wrap="square" lIns="91425" tIns="45700" rIns="91425" bIns="45700" anchor="t" anchorCtr="0">
            <a:normAutofit/>
          </a:bodyPr>
          <a:lstStyle/>
          <a:p>
            <a:pPr marL="1371600" lvl="0" indent="457200" algn="l" rtl="0">
              <a:lnSpc>
                <a:spcPct val="110000"/>
              </a:lnSpc>
              <a:spcBef>
                <a:spcPts val="0"/>
              </a:spcBef>
              <a:spcAft>
                <a:spcPts val="0"/>
              </a:spcAft>
              <a:buSzPts val="1800"/>
              <a:buNone/>
            </a:pPr>
            <a:r>
              <a:rPr lang="en-US" b="1"/>
              <a:t>Sentence:</a:t>
            </a:r>
            <a:r>
              <a:rPr lang="en-US"/>
              <a:t> </a:t>
            </a:r>
            <a:r>
              <a:rPr lang="en-US">
                <a:highlight>
                  <a:srgbClr val="FFFF00"/>
                </a:highlight>
              </a:rPr>
              <a:t>I ate apple</a:t>
            </a:r>
            <a:endParaRPr>
              <a:highlight>
                <a:srgbClr val="FFFF00"/>
              </a:highlight>
            </a:endParaRPr>
          </a:p>
          <a:p>
            <a:pPr marL="1371600" lvl="0" indent="457200" algn="l" rtl="0">
              <a:lnSpc>
                <a:spcPct val="110000"/>
              </a:lnSpc>
              <a:spcBef>
                <a:spcPts val="0"/>
              </a:spcBef>
              <a:spcAft>
                <a:spcPts val="0"/>
              </a:spcAft>
              <a:buSzPts val="1800"/>
              <a:buNone/>
            </a:pPr>
            <a:endParaRPr>
              <a:highlight>
                <a:srgbClr val="FFFF00"/>
              </a:highlight>
            </a:endParaRPr>
          </a:p>
          <a:p>
            <a:pPr marL="1371600" lvl="0" indent="457200" algn="l" rtl="0">
              <a:lnSpc>
                <a:spcPct val="110000"/>
              </a:lnSpc>
              <a:spcBef>
                <a:spcPts val="0"/>
              </a:spcBef>
              <a:spcAft>
                <a:spcPts val="0"/>
              </a:spcAft>
              <a:buSzPts val="1800"/>
              <a:buNone/>
            </a:pPr>
            <a:r>
              <a:rPr lang="en-US">
                <a:highlight>
                  <a:srgbClr val="FFFF00"/>
                </a:highlight>
              </a:rPr>
              <a:t>Transformational Grammar for the sentence - I ate apple</a:t>
            </a:r>
            <a:endParaRPr>
              <a:highlight>
                <a:srgbClr val="FFFF00"/>
              </a:highlight>
            </a:endParaRPr>
          </a:p>
          <a:p>
            <a:pPr marL="1828800" lvl="0" indent="0" algn="l" rtl="0">
              <a:lnSpc>
                <a:spcPct val="110000"/>
              </a:lnSpc>
              <a:spcBef>
                <a:spcPts val="700"/>
              </a:spcBef>
              <a:spcAft>
                <a:spcPts val="0"/>
              </a:spcAft>
              <a:buSzPts val="2000"/>
              <a:buNone/>
            </a:pPr>
            <a:r>
              <a:rPr lang="en-US"/>
              <a:t>S -&gt; Np+VP</a:t>
            </a:r>
            <a:endParaRPr/>
          </a:p>
          <a:p>
            <a:pPr marL="1828800" lvl="0" indent="0" algn="l" rtl="0">
              <a:lnSpc>
                <a:spcPct val="110000"/>
              </a:lnSpc>
              <a:spcBef>
                <a:spcPts val="700"/>
              </a:spcBef>
              <a:spcAft>
                <a:spcPts val="0"/>
              </a:spcAft>
              <a:buSzPts val="2000"/>
              <a:buNone/>
            </a:pPr>
            <a:r>
              <a:rPr lang="en-US"/>
              <a:t>NP -&gt; I</a:t>
            </a:r>
            <a:endParaRPr/>
          </a:p>
          <a:p>
            <a:pPr marL="1828800" lvl="0" indent="0" algn="l" rtl="0">
              <a:lnSpc>
                <a:spcPct val="110000"/>
              </a:lnSpc>
              <a:spcBef>
                <a:spcPts val="700"/>
              </a:spcBef>
              <a:spcAft>
                <a:spcPts val="0"/>
              </a:spcAft>
              <a:buSzPts val="2000"/>
              <a:buNone/>
            </a:pPr>
            <a:r>
              <a:rPr lang="en-US"/>
              <a:t>VP -&gt; V+NP</a:t>
            </a:r>
            <a:endParaRPr/>
          </a:p>
          <a:p>
            <a:pPr marL="1828800" lvl="0" indent="0" algn="l" rtl="0">
              <a:lnSpc>
                <a:spcPct val="110000"/>
              </a:lnSpc>
              <a:spcBef>
                <a:spcPts val="700"/>
              </a:spcBef>
              <a:spcAft>
                <a:spcPts val="0"/>
              </a:spcAft>
              <a:buSzPts val="2000"/>
              <a:buNone/>
            </a:pPr>
            <a:r>
              <a:rPr lang="en-US"/>
              <a:t>V -&gt; ate</a:t>
            </a:r>
            <a:endParaRPr/>
          </a:p>
          <a:p>
            <a:pPr marL="1828800" lvl="0" indent="0" algn="l" rtl="0">
              <a:lnSpc>
                <a:spcPct val="110000"/>
              </a:lnSpc>
              <a:spcBef>
                <a:spcPts val="700"/>
              </a:spcBef>
              <a:spcAft>
                <a:spcPts val="0"/>
              </a:spcAft>
              <a:buSzPts val="2000"/>
              <a:buNone/>
            </a:pPr>
            <a:r>
              <a:rPr lang="en-US"/>
              <a:t>NP -&gt; apple</a:t>
            </a: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6"/>
          <p:cNvSpPr txBox="1">
            <a:spLocks noGrp="1"/>
          </p:cNvSpPr>
          <p:nvPr>
            <p:ph type="title"/>
          </p:nvPr>
        </p:nvSpPr>
        <p:spPr>
          <a:xfrm>
            <a:off x="1251675" y="382380"/>
            <a:ext cx="10178400" cy="846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PRACTICE</a:t>
            </a:r>
            <a:endParaRPr/>
          </a:p>
        </p:txBody>
      </p:sp>
      <p:sp>
        <p:nvSpPr>
          <p:cNvPr id="336" name="Google Shape;336;p16"/>
          <p:cNvSpPr txBox="1">
            <a:spLocks noGrp="1"/>
          </p:cNvSpPr>
          <p:nvPr>
            <p:ph type="body" idx="1"/>
          </p:nvPr>
        </p:nvSpPr>
        <p:spPr>
          <a:xfrm>
            <a:off x="1257300" y="1228300"/>
            <a:ext cx="10178400" cy="5302200"/>
          </a:xfrm>
          <a:prstGeom prst="rect">
            <a:avLst/>
          </a:prstGeom>
          <a:noFill/>
          <a:ln>
            <a:noFill/>
          </a:ln>
        </p:spPr>
        <p:txBody>
          <a:bodyPr spcFirstLastPara="1" wrap="square" lIns="91425" tIns="45700" rIns="91425" bIns="45700" anchor="t" anchorCtr="0">
            <a:normAutofit/>
          </a:bodyPr>
          <a:lstStyle/>
          <a:p>
            <a:pPr marL="1828800" lvl="0" indent="0" algn="l" rtl="0">
              <a:lnSpc>
                <a:spcPct val="110000"/>
              </a:lnSpc>
              <a:spcBef>
                <a:spcPts val="0"/>
              </a:spcBef>
              <a:spcAft>
                <a:spcPts val="0"/>
              </a:spcAft>
              <a:buSzPts val="1800"/>
              <a:buNone/>
            </a:pPr>
            <a:r>
              <a:rPr lang="en-US"/>
              <a:t>Sentence: </a:t>
            </a:r>
            <a:r>
              <a:rPr lang="en-US">
                <a:highlight>
                  <a:srgbClr val="FFFF00"/>
                </a:highlight>
              </a:rPr>
              <a:t>Pooja Plays Veena</a:t>
            </a:r>
            <a:endParaRPr>
              <a:highlight>
                <a:srgbClr val="FFFF00"/>
              </a:highlight>
            </a:endParaRPr>
          </a:p>
          <a:p>
            <a:pPr marL="1828800" lvl="0" indent="0" algn="l" rtl="0">
              <a:lnSpc>
                <a:spcPct val="110000"/>
              </a:lnSpc>
              <a:spcBef>
                <a:spcPts val="0"/>
              </a:spcBef>
              <a:spcAft>
                <a:spcPts val="0"/>
              </a:spcAft>
              <a:buSzPts val="1800"/>
              <a:buNone/>
            </a:pPr>
            <a:endParaRPr>
              <a:highlight>
                <a:srgbClr val="FFFF00"/>
              </a:highlight>
            </a:endParaRPr>
          </a:p>
          <a:p>
            <a:pPr marL="1828800" lvl="0" indent="0" algn="l" rtl="0">
              <a:lnSpc>
                <a:spcPct val="110000"/>
              </a:lnSpc>
              <a:spcBef>
                <a:spcPts val="0"/>
              </a:spcBef>
              <a:spcAft>
                <a:spcPts val="0"/>
              </a:spcAft>
              <a:buSzPts val="1800"/>
              <a:buNone/>
            </a:pPr>
            <a:r>
              <a:rPr lang="en-US">
                <a:highlight>
                  <a:srgbClr val="FFFF00"/>
                </a:highlight>
              </a:rPr>
              <a:t>Transformational grammar for the sentence - Pooja plays veena</a:t>
            </a:r>
            <a:endParaRPr>
              <a:highlight>
                <a:srgbClr val="FFFF00"/>
              </a:highlight>
            </a:endParaRPr>
          </a:p>
          <a:p>
            <a:pPr marL="1828800" lvl="0" indent="0" algn="l" rtl="0">
              <a:lnSpc>
                <a:spcPct val="110000"/>
              </a:lnSpc>
              <a:spcBef>
                <a:spcPts val="700"/>
              </a:spcBef>
              <a:spcAft>
                <a:spcPts val="0"/>
              </a:spcAft>
              <a:buSzPts val="2000"/>
              <a:buNone/>
            </a:pPr>
            <a:r>
              <a:rPr lang="en-US"/>
              <a:t>S -&gt; NP+VP</a:t>
            </a:r>
            <a:endParaRPr/>
          </a:p>
          <a:p>
            <a:pPr marL="1828800" lvl="0" indent="0" algn="l" rtl="0">
              <a:lnSpc>
                <a:spcPct val="110000"/>
              </a:lnSpc>
              <a:spcBef>
                <a:spcPts val="700"/>
              </a:spcBef>
              <a:spcAft>
                <a:spcPts val="0"/>
              </a:spcAft>
              <a:buSzPts val="2000"/>
              <a:buNone/>
            </a:pPr>
            <a:r>
              <a:rPr lang="en-US"/>
              <a:t>Np -&gt; pooja</a:t>
            </a:r>
            <a:endParaRPr/>
          </a:p>
          <a:p>
            <a:pPr marL="1828800" lvl="0" indent="0" algn="l" rtl="0">
              <a:lnSpc>
                <a:spcPct val="110000"/>
              </a:lnSpc>
              <a:spcBef>
                <a:spcPts val="700"/>
              </a:spcBef>
              <a:spcAft>
                <a:spcPts val="0"/>
              </a:spcAft>
              <a:buSzPts val="2000"/>
              <a:buNone/>
            </a:pPr>
            <a:r>
              <a:rPr lang="en-US"/>
              <a:t>VP -&gt; V+Np</a:t>
            </a:r>
            <a:endParaRPr/>
          </a:p>
          <a:p>
            <a:pPr marL="1828800" lvl="0" indent="0" algn="l" rtl="0">
              <a:lnSpc>
                <a:spcPct val="110000"/>
              </a:lnSpc>
              <a:spcBef>
                <a:spcPts val="700"/>
              </a:spcBef>
              <a:spcAft>
                <a:spcPts val="0"/>
              </a:spcAft>
              <a:buSzPts val="2000"/>
              <a:buNone/>
            </a:pPr>
            <a:r>
              <a:rPr lang="en-US"/>
              <a:t>V -&gt; plays</a:t>
            </a:r>
            <a:endParaRPr/>
          </a:p>
          <a:p>
            <a:pPr marL="1828800" lvl="0" indent="0" algn="l" rtl="0">
              <a:lnSpc>
                <a:spcPct val="110000"/>
              </a:lnSpc>
              <a:spcBef>
                <a:spcPts val="700"/>
              </a:spcBef>
              <a:spcAft>
                <a:spcPts val="0"/>
              </a:spcAft>
              <a:buSzPts val="2000"/>
              <a:buNone/>
            </a:pPr>
            <a:r>
              <a:rPr lang="en-US"/>
              <a:t>NP -&gt; veena</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f7b2675688_0_39"/>
          <p:cNvSpPr txBox="1">
            <a:spLocks noGrp="1"/>
          </p:cNvSpPr>
          <p:nvPr>
            <p:ph type="title"/>
          </p:nvPr>
        </p:nvSpPr>
        <p:spPr>
          <a:xfrm>
            <a:off x="1251675" y="382380"/>
            <a:ext cx="10178400" cy="764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PRACTICE</a:t>
            </a:r>
            <a:endParaRPr/>
          </a:p>
        </p:txBody>
      </p:sp>
      <p:sp>
        <p:nvSpPr>
          <p:cNvPr id="342" name="Google Shape;342;gf7b2675688_0_39"/>
          <p:cNvSpPr txBox="1">
            <a:spLocks noGrp="1"/>
          </p:cNvSpPr>
          <p:nvPr>
            <p:ph type="body" idx="1"/>
          </p:nvPr>
        </p:nvSpPr>
        <p:spPr>
          <a:xfrm>
            <a:off x="1251675" y="1023575"/>
            <a:ext cx="10178400" cy="5650200"/>
          </a:xfrm>
          <a:prstGeom prst="rect">
            <a:avLst/>
          </a:prstGeom>
          <a:noFill/>
          <a:ln>
            <a:noFill/>
          </a:ln>
        </p:spPr>
        <p:txBody>
          <a:bodyPr spcFirstLastPara="1" wrap="square" lIns="91425" tIns="45700" rIns="91425" bIns="45700" anchor="t" anchorCtr="0">
            <a:normAutofit/>
          </a:bodyPr>
          <a:lstStyle/>
          <a:p>
            <a:pPr marL="1371600" lvl="0" indent="457200" algn="l" rtl="0">
              <a:lnSpc>
                <a:spcPct val="110000"/>
              </a:lnSpc>
              <a:spcBef>
                <a:spcPts val="0"/>
              </a:spcBef>
              <a:spcAft>
                <a:spcPts val="0"/>
              </a:spcAft>
              <a:buClr>
                <a:schemeClr val="dk1"/>
              </a:buClr>
              <a:buSzPts val="1100"/>
              <a:buFont typeface="Arial"/>
              <a:buNone/>
            </a:pPr>
            <a:r>
              <a:rPr lang="en-US" b="1"/>
              <a:t>Sentence:</a:t>
            </a:r>
            <a:r>
              <a:rPr lang="en-US"/>
              <a:t> </a:t>
            </a:r>
            <a:r>
              <a:rPr lang="en-US">
                <a:highlight>
                  <a:srgbClr val="FFFF00"/>
                </a:highlight>
              </a:rPr>
              <a:t>A boy hit the girl</a:t>
            </a:r>
            <a:endParaRPr>
              <a:highlight>
                <a:srgbClr val="FFFF00"/>
              </a:highlight>
            </a:endParaRPr>
          </a:p>
          <a:p>
            <a:pPr marL="1371600" lvl="0" indent="457200" algn="l" rtl="0">
              <a:lnSpc>
                <a:spcPct val="110000"/>
              </a:lnSpc>
              <a:spcBef>
                <a:spcPts val="0"/>
              </a:spcBef>
              <a:spcAft>
                <a:spcPts val="0"/>
              </a:spcAft>
              <a:buClr>
                <a:schemeClr val="dk1"/>
              </a:buClr>
              <a:buSzPts val="1100"/>
              <a:buFont typeface="Arial"/>
              <a:buNone/>
            </a:pPr>
            <a:endParaRPr>
              <a:highlight>
                <a:srgbClr val="FFFF00"/>
              </a:highlight>
            </a:endParaRPr>
          </a:p>
          <a:p>
            <a:pPr marL="1371600" lvl="0" indent="457200" algn="l" rtl="0">
              <a:lnSpc>
                <a:spcPct val="110000"/>
              </a:lnSpc>
              <a:spcBef>
                <a:spcPts val="0"/>
              </a:spcBef>
              <a:spcAft>
                <a:spcPts val="0"/>
              </a:spcAft>
              <a:buClr>
                <a:schemeClr val="dk1"/>
              </a:buClr>
              <a:buSzPts val="1100"/>
              <a:buFont typeface="Arial"/>
              <a:buNone/>
            </a:pPr>
            <a:r>
              <a:rPr lang="en-US">
                <a:highlight>
                  <a:srgbClr val="FFFF00"/>
                </a:highlight>
              </a:rPr>
              <a:t>Transformational Grammar for the sentence - A boy hit the girl</a:t>
            </a:r>
            <a:endParaRPr>
              <a:highlight>
                <a:srgbClr val="FFFF00"/>
              </a:highlight>
            </a:endParaRPr>
          </a:p>
          <a:p>
            <a:pPr marL="1828800" lvl="0" indent="0" algn="l" rtl="0">
              <a:lnSpc>
                <a:spcPct val="110000"/>
              </a:lnSpc>
              <a:spcBef>
                <a:spcPts val="700"/>
              </a:spcBef>
              <a:spcAft>
                <a:spcPts val="0"/>
              </a:spcAft>
              <a:buClr>
                <a:schemeClr val="dk1"/>
              </a:buClr>
              <a:buSzPts val="1100"/>
              <a:buFont typeface="Arial"/>
              <a:buNone/>
            </a:pPr>
            <a:r>
              <a:rPr lang="en-US"/>
              <a:t>S -&gt; NP + VP</a:t>
            </a:r>
            <a:endParaRPr/>
          </a:p>
          <a:p>
            <a:pPr marL="1828800" lvl="0" indent="0" algn="l" rtl="0">
              <a:lnSpc>
                <a:spcPct val="110000"/>
              </a:lnSpc>
              <a:spcBef>
                <a:spcPts val="700"/>
              </a:spcBef>
              <a:spcAft>
                <a:spcPts val="0"/>
              </a:spcAft>
              <a:buClr>
                <a:schemeClr val="dk1"/>
              </a:buClr>
              <a:buSzPts val="1100"/>
              <a:buFont typeface="Arial"/>
              <a:buNone/>
            </a:pPr>
            <a:r>
              <a:rPr lang="en-US"/>
              <a:t>NP -&gt; Det + Noun</a:t>
            </a:r>
            <a:endParaRPr/>
          </a:p>
          <a:p>
            <a:pPr marL="1828800" lvl="0" indent="0" algn="l" rtl="0">
              <a:lnSpc>
                <a:spcPct val="110000"/>
              </a:lnSpc>
              <a:spcBef>
                <a:spcPts val="700"/>
              </a:spcBef>
              <a:spcAft>
                <a:spcPts val="0"/>
              </a:spcAft>
              <a:buClr>
                <a:schemeClr val="dk1"/>
              </a:buClr>
              <a:buSzPts val="1100"/>
              <a:buFont typeface="Arial"/>
              <a:buNone/>
            </a:pPr>
            <a:r>
              <a:rPr lang="en-US"/>
              <a:t>VP -&gt; V + NP</a:t>
            </a:r>
            <a:endParaRPr/>
          </a:p>
          <a:p>
            <a:pPr marL="1828800" lvl="0" indent="0" algn="l" rtl="0">
              <a:lnSpc>
                <a:spcPct val="110000"/>
              </a:lnSpc>
              <a:spcBef>
                <a:spcPts val="700"/>
              </a:spcBef>
              <a:spcAft>
                <a:spcPts val="0"/>
              </a:spcAft>
              <a:buClr>
                <a:schemeClr val="dk1"/>
              </a:buClr>
              <a:buSzPts val="1100"/>
              <a:buFont typeface="Arial"/>
              <a:buNone/>
            </a:pPr>
            <a:r>
              <a:rPr lang="en-US"/>
              <a:t>V -&gt; Aux + V</a:t>
            </a:r>
            <a:endParaRPr/>
          </a:p>
          <a:p>
            <a:pPr marL="1828800" lvl="0" indent="0" algn="l" rtl="0">
              <a:lnSpc>
                <a:spcPct val="110000"/>
              </a:lnSpc>
              <a:spcBef>
                <a:spcPts val="700"/>
              </a:spcBef>
              <a:spcAft>
                <a:spcPts val="0"/>
              </a:spcAft>
              <a:buClr>
                <a:schemeClr val="dk1"/>
              </a:buClr>
              <a:buSzPts val="1100"/>
              <a:buFont typeface="Arial"/>
              <a:buNone/>
            </a:pPr>
            <a:r>
              <a:rPr lang="en-US"/>
              <a:t>Det -&gt; A, the</a:t>
            </a:r>
            <a:endParaRPr/>
          </a:p>
          <a:p>
            <a:pPr marL="1828800" lvl="0" indent="0" algn="l" rtl="0">
              <a:lnSpc>
                <a:spcPct val="110000"/>
              </a:lnSpc>
              <a:spcBef>
                <a:spcPts val="700"/>
              </a:spcBef>
              <a:spcAft>
                <a:spcPts val="0"/>
              </a:spcAft>
              <a:buClr>
                <a:schemeClr val="dk1"/>
              </a:buClr>
              <a:buSzPts val="1100"/>
              <a:buFont typeface="Arial"/>
              <a:buNone/>
            </a:pPr>
            <a:r>
              <a:rPr lang="en-US"/>
              <a:t>Noun -&gt; boy, girl</a:t>
            </a:r>
            <a:endParaRPr/>
          </a:p>
          <a:p>
            <a:pPr marL="1828800" lvl="0" indent="0" algn="l" rtl="0">
              <a:lnSpc>
                <a:spcPct val="110000"/>
              </a:lnSpc>
              <a:spcBef>
                <a:spcPts val="700"/>
              </a:spcBef>
              <a:spcAft>
                <a:spcPts val="0"/>
              </a:spcAft>
              <a:buClr>
                <a:schemeClr val="dk1"/>
              </a:buClr>
              <a:buSzPts val="1100"/>
              <a:buFont typeface="Arial"/>
              <a:buNone/>
            </a:pPr>
            <a:r>
              <a:rPr lang="en-US"/>
              <a:t>Verb -&gt; hit</a:t>
            </a:r>
            <a:endParaRPr/>
          </a:p>
          <a:p>
            <a:pPr marL="1828800" lvl="0" indent="0" algn="l" rtl="0">
              <a:lnSpc>
                <a:spcPct val="110000"/>
              </a:lnSpc>
              <a:spcBef>
                <a:spcPts val="700"/>
              </a:spcBef>
              <a:spcAft>
                <a:spcPts val="0"/>
              </a:spcAft>
              <a:buClr>
                <a:schemeClr val="dk1"/>
              </a:buClr>
              <a:buSzPts val="1100"/>
              <a:buFont typeface="Arial"/>
              <a:buNone/>
            </a:pPr>
            <a:endParaRPr/>
          </a:p>
          <a:p>
            <a:pPr marL="1828800" lvl="0" indent="0" algn="l" rtl="0">
              <a:lnSpc>
                <a:spcPct val="110000"/>
              </a:lnSpc>
              <a:spcBef>
                <a:spcPts val="700"/>
              </a:spcBef>
              <a:spcAft>
                <a:spcPts val="0"/>
              </a:spcAft>
              <a:buClr>
                <a:schemeClr val="dk1"/>
              </a:buClr>
              <a:buSzPts val="2000"/>
              <a:buFont typeface="Arial"/>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f7b2675688_0_44"/>
          <p:cNvSpPr txBox="1">
            <a:spLocks noGrp="1"/>
          </p:cNvSpPr>
          <p:nvPr>
            <p:ph type="title"/>
          </p:nvPr>
        </p:nvSpPr>
        <p:spPr>
          <a:xfrm>
            <a:off x="1251675" y="382380"/>
            <a:ext cx="10178400" cy="7026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990"/>
              <a:buFont typeface="Arial"/>
              <a:buNone/>
            </a:pPr>
            <a:r>
              <a:rPr lang="en-US"/>
              <a:t>PRACTICE</a:t>
            </a:r>
            <a:endParaRPr/>
          </a:p>
        </p:txBody>
      </p:sp>
      <p:sp>
        <p:nvSpPr>
          <p:cNvPr id="348" name="Google Shape;348;gf7b2675688_0_44"/>
          <p:cNvSpPr txBox="1">
            <a:spLocks noGrp="1"/>
          </p:cNvSpPr>
          <p:nvPr>
            <p:ph type="body" idx="1"/>
          </p:nvPr>
        </p:nvSpPr>
        <p:spPr>
          <a:xfrm>
            <a:off x="1251675" y="1084975"/>
            <a:ext cx="10178400" cy="5650200"/>
          </a:xfrm>
          <a:prstGeom prst="rect">
            <a:avLst/>
          </a:prstGeom>
          <a:noFill/>
          <a:ln>
            <a:noFill/>
          </a:ln>
        </p:spPr>
        <p:txBody>
          <a:bodyPr spcFirstLastPara="1" wrap="square" lIns="91425" tIns="45700" rIns="91425" bIns="45700" anchor="t" anchorCtr="0">
            <a:noAutofit/>
          </a:bodyPr>
          <a:lstStyle/>
          <a:p>
            <a:pPr marL="1371600" lvl="0" indent="457200" algn="l" rtl="0">
              <a:lnSpc>
                <a:spcPct val="110000"/>
              </a:lnSpc>
              <a:spcBef>
                <a:spcPts val="0"/>
              </a:spcBef>
              <a:spcAft>
                <a:spcPts val="0"/>
              </a:spcAft>
              <a:buClr>
                <a:schemeClr val="dk1"/>
              </a:buClr>
              <a:buSzPts val="1100"/>
              <a:buFont typeface="Arial"/>
              <a:buNone/>
            </a:pPr>
            <a:r>
              <a:rPr lang="en-US" sz="1800" b="1"/>
              <a:t>Sentence:</a:t>
            </a:r>
            <a:r>
              <a:rPr lang="en-US" sz="1800"/>
              <a:t> </a:t>
            </a:r>
            <a:r>
              <a:rPr lang="en-US" sz="1800">
                <a:highlight>
                  <a:srgbClr val="FFFF00"/>
                </a:highlight>
              </a:rPr>
              <a:t>The Police will catch the snatcher</a:t>
            </a:r>
            <a:endParaRPr sz="1800">
              <a:highlight>
                <a:srgbClr val="FFFF00"/>
              </a:highlight>
            </a:endParaRPr>
          </a:p>
          <a:p>
            <a:pPr marL="1371600" lvl="0" indent="457200" algn="l" rtl="0">
              <a:lnSpc>
                <a:spcPct val="110000"/>
              </a:lnSpc>
              <a:spcBef>
                <a:spcPts val="0"/>
              </a:spcBef>
              <a:spcAft>
                <a:spcPts val="0"/>
              </a:spcAft>
              <a:buClr>
                <a:schemeClr val="dk1"/>
              </a:buClr>
              <a:buSzPts val="1100"/>
              <a:buFont typeface="Arial"/>
              <a:buNone/>
            </a:pPr>
            <a:endParaRPr sz="1800">
              <a:highlight>
                <a:srgbClr val="FFFF00"/>
              </a:highlight>
            </a:endParaRPr>
          </a:p>
          <a:p>
            <a:pPr marL="1371600" lvl="0" indent="457200" algn="l" rtl="0">
              <a:lnSpc>
                <a:spcPct val="110000"/>
              </a:lnSpc>
              <a:spcBef>
                <a:spcPts val="0"/>
              </a:spcBef>
              <a:spcAft>
                <a:spcPts val="0"/>
              </a:spcAft>
              <a:buClr>
                <a:schemeClr val="dk1"/>
              </a:buClr>
              <a:buSzPts val="1100"/>
              <a:buFont typeface="Arial"/>
              <a:buNone/>
            </a:pPr>
            <a:r>
              <a:rPr lang="en-US" sz="1800">
                <a:highlight>
                  <a:srgbClr val="FFFF00"/>
                </a:highlight>
              </a:rPr>
              <a:t>Transformational Grammar for the sentence - The Police will catch the snatcher</a:t>
            </a:r>
            <a:endParaRPr sz="1800">
              <a:highlight>
                <a:srgbClr val="FFFF00"/>
              </a:highlight>
            </a:endParaRPr>
          </a:p>
          <a:p>
            <a:pPr marL="1828800" lvl="0" indent="0" algn="l" rtl="0">
              <a:lnSpc>
                <a:spcPct val="110000"/>
              </a:lnSpc>
              <a:spcBef>
                <a:spcPts val="700"/>
              </a:spcBef>
              <a:spcAft>
                <a:spcPts val="0"/>
              </a:spcAft>
              <a:buSzPts val="1800"/>
              <a:buNone/>
            </a:pPr>
            <a:r>
              <a:rPr lang="en-US"/>
              <a:t>S -&gt; NP+VP</a:t>
            </a:r>
            <a:endParaRPr/>
          </a:p>
          <a:p>
            <a:pPr marL="1828800" lvl="0" indent="0" algn="l" rtl="0">
              <a:lnSpc>
                <a:spcPct val="110000"/>
              </a:lnSpc>
              <a:spcBef>
                <a:spcPts val="700"/>
              </a:spcBef>
              <a:spcAft>
                <a:spcPts val="0"/>
              </a:spcAft>
              <a:buSzPts val="1800"/>
              <a:buNone/>
            </a:pPr>
            <a:r>
              <a:rPr lang="en-US"/>
              <a:t>NP -&gt; Det+Noun</a:t>
            </a:r>
            <a:endParaRPr/>
          </a:p>
          <a:p>
            <a:pPr marL="1828800" lvl="0" indent="0" algn="l" rtl="0">
              <a:lnSpc>
                <a:spcPct val="110000"/>
              </a:lnSpc>
              <a:spcBef>
                <a:spcPts val="700"/>
              </a:spcBef>
              <a:spcAft>
                <a:spcPts val="0"/>
              </a:spcAft>
              <a:buSzPts val="1800"/>
              <a:buNone/>
            </a:pPr>
            <a:r>
              <a:rPr lang="en-US"/>
              <a:t>VP -&gt; V+NP</a:t>
            </a:r>
            <a:endParaRPr/>
          </a:p>
          <a:p>
            <a:pPr marL="1828800" lvl="0" indent="0" algn="l" rtl="0">
              <a:lnSpc>
                <a:spcPct val="110000"/>
              </a:lnSpc>
              <a:spcBef>
                <a:spcPts val="700"/>
              </a:spcBef>
              <a:spcAft>
                <a:spcPts val="0"/>
              </a:spcAft>
              <a:buSzPts val="1800"/>
              <a:buNone/>
            </a:pPr>
            <a:r>
              <a:rPr lang="en-US"/>
              <a:t>V -&gt; Aux+V</a:t>
            </a:r>
            <a:endParaRPr/>
          </a:p>
          <a:p>
            <a:pPr marL="1828800" lvl="0" indent="0" algn="l" rtl="0">
              <a:lnSpc>
                <a:spcPct val="110000"/>
              </a:lnSpc>
              <a:spcBef>
                <a:spcPts val="700"/>
              </a:spcBef>
              <a:spcAft>
                <a:spcPts val="0"/>
              </a:spcAft>
              <a:buSzPts val="1800"/>
              <a:buNone/>
            </a:pPr>
            <a:r>
              <a:rPr lang="en-US"/>
              <a:t>Det -&gt; the</a:t>
            </a:r>
            <a:endParaRPr/>
          </a:p>
          <a:p>
            <a:pPr marL="1828800" lvl="0" indent="0" algn="l" rtl="0">
              <a:lnSpc>
                <a:spcPct val="110000"/>
              </a:lnSpc>
              <a:spcBef>
                <a:spcPts val="700"/>
              </a:spcBef>
              <a:spcAft>
                <a:spcPts val="0"/>
              </a:spcAft>
              <a:buSzPts val="1800"/>
              <a:buNone/>
            </a:pPr>
            <a:r>
              <a:rPr lang="en-US"/>
              <a:t>Noun -&gt; police, snatcher</a:t>
            </a:r>
            <a:endParaRPr/>
          </a:p>
          <a:p>
            <a:pPr marL="1828800" lvl="0" indent="0" algn="l" rtl="0">
              <a:lnSpc>
                <a:spcPct val="110000"/>
              </a:lnSpc>
              <a:spcBef>
                <a:spcPts val="700"/>
              </a:spcBef>
              <a:spcAft>
                <a:spcPts val="0"/>
              </a:spcAft>
              <a:buSzPts val="1800"/>
              <a:buNone/>
            </a:pPr>
            <a:r>
              <a:rPr lang="en-US"/>
              <a:t>Verb -&gt; catch</a:t>
            </a:r>
            <a:endParaRPr/>
          </a:p>
          <a:p>
            <a:pPr marL="1828800" lvl="0" indent="0" algn="l" rtl="0">
              <a:lnSpc>
                <a:spcPct val="110000"/>
              </a:lnSpc>
              <a:spcBef>
                <a:spcPts val="700"/>
              </a:spcBef>
              <a:spcAft>
                <a:spcPts val="0"/>
              </a:spcAft>
              <a:buSzPts val="1800"/>
              <a:buNone/>
            </a:pPr>
            <a:r>
              <a:rPr lang="en-US"/>
              <a:t>Aux -&gt; will</a:t>
            </a:r>
            <a:endParaRPr/>
          </a:p>
          <a:p>
            <a:pPr marL="1828800" lvl="0" indent="0" algn="l" rtl="0">
              <a:lnSpc>
                <a:spcPct val="110000"/>
              </a:lnSpc>
              <a:spcBef>
                <a:spcPts val="700"/>
              </a:spcBef>
              <a:spcAft>
                <a:spcPts val="0"/>
              </a:spcAft>
              <a:buClr>
                <a:schemeClr val="dk1"/>
              </a:buClr>
              <a:buSzPts val="1100"/>
              <a:buFont typeface="Arial"/>
              <a:buNone/>
            </a:pPr>
            <a:endParaRPr sz="1800"/>
          </a:p>
          <a:p>
            <a:pPr marL="0" lvl="0" indent="0" algn="l" rtl="0">
              <a:lnSpc>
                <a:spcPct val="110000"/>
              </a:lnSpc>
              <a:spcBef>
                <a:spcPts val="700"/>
              </a:spcBef>
              <a:spcAft>
                <a:spcPts val="0"/>
              </a:spcAft>
              <a:buSzPts val="1800"/>
              <a:buNone/>
            </a:pP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f7b2675688_0_49"/>
          <p:cNvSpPr txBox="1">
            <a:spLocks noGrp="1"/>
          </p:cNvSpPr>
          <p:nvPr>
            <p:ph type="title"/>
          </p:nvPr>
        </p:nvSpPr>
        <p:spPr>
          <a:xfrm>
            <a:off x="1251675" y="382379"/>
            <a:ext cx="10178400" cy="825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100"/>
              <a:buFont typeface="Arial"/>
              <a:buNone/>
            </a:pPr>
            <a:r>
              <a:rPr lang="en-US"/>
              <a:t>TRANSFORMATIONAL GRAMMAR</a:t>
            </a:r>
            <a:endParaRPr/>
          </a:p>
        </p:txBody>
      </p:sp>
      <p:sp>
        <p:nvSpPr>
          <p:cNvPr id="354" name="Google Shape;354;gf7b2675688_0_49"/>
          <p:cNvSpPr txBox="1">
            <a:spLocks noGrp="1"/>
          </p:cNvSpPr>
          <p:nvPr>
            <p:ph type="body" idx="1"/>
          </p:nvPr>
        </p:nvSpPr>
        <p:spPr>
          <a:xfrm>
            <a:off x="1251675" y="1105475"/>
            <a:ext cx="10178400" cy="56298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15000"/>
              </a:lnSpc>
              <a:spcBef>
                <a:spcPts val="0"/>
              </a:spcBef>
              <a:spcAft>
                <a:spcPts val="0"/>
              </a:spcAft>
              <a:buSzPts val="1800"/>
              <a:buNone/>
            </a:pPr>
            <a:r>
              <a:rPr lang="en-US" sz="1800" b="1" dirty="0">
                <a:solidFill>
                  <a:schemeClr val="dk1"/>
                </a:solidFill>
                <a:highlight>
                  <a:srgbClr val="FFFF00"/>
                </a:highlight>
                <a:latin typeface="Calibri"/>
                <a:ea typeface="Calibri"/>
                <a:cs typeface="Calibri"/>
                <a:sym typeface="Calibri"/>
              </a:rPr>
              <a:t>2. Transformational rules:</a:t>
            </a:r>
            <a:endParaRPr sz="1800" b="1"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Font typeface="Calibri"/>
              <a:buChar char="•"/>
            </a:pPr>
            <a:r>
              <a:rPr lang="en-US" sz="1800" dirty="0">
                <a:solidFill>
                  <a:schemeClr val="dk1"/>
                </a:solidFill>
                <a:latin typeface="Calibri"/>
                <a:ea typeface="Calibri"/>
                <a:cs typeface="Calibri"/>
                <a:sym typeface="Calibri"/>
              </a:rPr>
              <a:t>The second component of transformational grammar is a set of </a:t>
            </a:r>
            <a:r>
              <a:rPr lang="en-US" sz="1800" b="1" dirty="0">
                <a:solidFill>
                  <a:schemeClr val="dk1"/>
                </a:solidFill>
                <a:latin typeface="Calibri"/>
                <a:ea typeface="Calibri"/>
                <a:cs typeface="Calibri"/>
                <a:sym typeface="Calibri"/>
              </a:rPr>
              <a:t>transformational rules</a:t>
            </a:r>
            <a:r>
              <a:rPr lang="en-US" sz="1800" dirty="0">
                <a:solidFill>
                  <a:schemeClr val="dk1"/>
                </a:solidFill>
                <a:latin typeface="Calibri"/>
                <a:ea typeface="Calibri"/>
                <a:cs typeface="Calibri"/>
                <a:sym typeface="Calibri"/>
              </a:rPr>
              <a:t>, which transform one phrase-maker into another phrase maker.</a:t>
            </a:r>
            <a:endParaRPr sz="1800" dirty="0">
              <a:solidFill>
                <a:schemeClr val="dk1"/>
              </a:solidFill>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Char char="•"/>
            </a:pPr>
            <a:r>
              <a:rPr lang="en-US" sz="1800" dirty="0">
                <a:solidFill>
                  <a:schemeClr val="dk1"/>
                </a:solidFill>
                <a:latin typeface="Calibri"/>
                <a:ea typeface="Calibri"/>
                <a:cs typeface="Calibri"/>
                <a:sym typeface="Calibri"/>
              </a:rPr>
              <a:t>These rules are applied on the terminal string generated by phrase structure rules.</a:t>
            </a:r>
            <a:endParaRPr sz="1800" dirty="0">
              <a:solidFill>
                <a:schemeClr val="dk1"/>
              </a:solidFill>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Font typeface="Calibri"/>
              <a:buChar char="•"/>
            </a:pPr>
            <a:r>
              <a:rPr lang="en-US" sz="1800" dirty="0">
                <a:solidFill>
                  <a:schemeClr val="dk1"/>
                </a:solidFill>
                <a:latin typeface="Calibri"/>
                <a:ea typeface="Calibri"/>
                <a:cs typeface="Calibri"/>
                <a:sym typeface="Calibri"/>
              </a:rPr>
              <a:t>Unlike phrase structure rules, transformational rules are heterogeneous and may have more than one symbol on their left hand side.</a:t>
            </a:r>
            <a:endParaRPr sz="1800" dirty="0">
              <a:solidFill>
                <a:schemeClr val="dk1"/>
              </a:solidFill>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Font typeface="Calibri"/>
              <a:buChar char="•"/>
            </a:pPr>
            <a:r>
              <a:rPr lang="en-US" sz="1800" dirty="0">
                <a:solidFill>
                  <a:schemeClr val="dk1"/>
                </a:solidFill>
                <a:latin typeface="Calibri"/>
                <a:ea typeface="Calibri"/>
                <a:cs typeface="Calibri"/>
                <a:sym typeface="Calibri"/>
              </a:rPr>
              <a:t>These rules are used to transform one surface representation into another, for example, an active sentence into passive sentence</a:t>
            </a:r>
            <a:endParaRPr sz="1800" dirty="0">
              <a:solidFill>
                <a:schemeClr val="dk1"/>
              </a:solidFill>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Font typeface="Calibri"/>
              <a:buChar char="•"/>
            </a:pPr>
            <a:r>
              <a:rPr lang="en-US" sz="1800" dirty="0">
                <a:solidFill>
                  <a:schemeClr val="dk1"/>
                </a:solidFill>
                <a:latin typeface="Calibri"/>
                <a:ea typeface="Calibri"/>
                <a:cs typeface="Calibri"/>
                <a:sym typeface="Calibri"/>
              </a:rPr>
              <a:t>The rule relating to active and passive sentences is -</a:t>
            </a:r>
            <a:endParaRPr sz="1800" dirty="0">
              <a:solidFill>
                <a:schemeClr val="dk1"/>
              </a:solidFill>
              <a:latin typeface="Calibri"/>
              <a:ea typeface="Calibri"/>
              <a:cs typeface="Calibri"/>
              <a:sym typeface="Calibri"/>
            </a:endParaRPr>
          </a:p>
          <a:p>
            <a:pPr marL="735330" lvl="0" indent="0" algn="l" rtl="0">
              <a:lnSpc>
                <a:spcPct val="100000"/>
              </a:lnSpc>
              <a:spcBef>
                <a:spcPts val="1000"/>
              </a:spcBef>
              <a:spcAft>
                <a:spcPts val="0"/>
              </a:spcAft>
              <a:buClr>
                <a:schemeClr val="dk1"/>
              </a:buClr>
              <a:buSzPts val="2800"/>
              <a:buFont typeface="Arial"/>
              <a:buNone/>
            </a:pPr>
            <a:r>
              <a:rPr lang="en-US" sz="2800" dirty="0">
                <a:solidFill>
                  <a:schemeClr val="dk1"/>
                </a:solidFill>
                <a:highlight>
                  <a:srgbClr val="FFFF00"/>
                </a:highlight>
                <a:latin typeface="Calibri"/>
                <a:ea typeface="Calibri"/>
                <a:cs typeface="Calibri"/>
                <a:sym typeface="Calibri"/>
              </a:rPr>
              <a:t>NP1- Aux – V - NP2 🡪 NP2 – Aux + be + </a:t>
            </a:r>
            <a:r>
              <a:rPr lang="en-US" sz="2800" dirty="0" err="1">
                <a:solidFill>
                  <a:schemeClr val="dk1"/>
                </a:solidFill>
                <a:highlight>
                  <a:srgbClr val="FFFF00"/>
                </a:highlight>
                <a:latin typeface="Calibri"/>
                <a:ea typeface="Calibri"/>
                <a:cs typeface="Calibri"/>
                <a:sym typeface="Calibri"/>
              </a:rPr>
              <a:t>en</a:t>
            </a:r>
            <a:r>
              <a:rPr lang="en-US" sz="2800" dirty="0">
                <a:solidFill>
                  <a:schemeClr val="dk1"/>
                </a:solidFill>
                <a:highlight>
                  <a:srgbClr val="FFFF00"/>
                </a:highlight>
                <a:latin typeface="Calibri"/>
                <a:ea typeface="Calibri"/>
                <a:cs typeface="Calibri"/>
                <a:sym typeface="Calibri"/>
              </a:rPr>
              <a:t> – V – by - NP1</a:t>
            </a:r>
            <a:endParaRPr sz="2800" dirty="0">
              <a:solidFill>
                <a:schemeClr val="dk1"/>
              </a:solidFill>
              <a:highlight>
                <a:srgbClr val="FFFF00"/>
              </a:highlight>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Char char="•"/>
            </a:pPr>
            <a:r>
              <a:rPr lang="en-US" sz="1800" dirty="0">
                <a:solidFill>
                  <a:schemeClr val="dk1"/>
                </a:solidFill>
                <a:latin typeface="Calibri"/>
                <a:ea typeface="Calibri"/>
                <a:cs typeface="Calibri"/>
                <a:sym typeface="Calibri"/>
              </a:rPr>
              <a:t>Transformational Rules can be obligatory or optional.</a:t>
            </a:r>
            <a:endParaRPr sz="1800" dirty="0">
              <a:solidFill>
                <a:schemeClr val="dk1"/>
              </a:solidFill>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Char char="•"/>
            </a:pPr>
            <a:r>
              <a:rPr lang="en-US" sz="1800" dirty="0">
                <a:solidFill>
                  <a:schemeClr val="dk1"/>
                </a:solidFill>
                <a:latin typeface="Calibri"/>
                <a:ea typeface="Calibri"/>
                <a:cs typeface="Calibri"/>
                <a:sym typeface="Calibri"/>
              </a:rPr>
              <a:t>An obligatory transformation is one that which ensures agreement in number of subject and verb.</a:t>
            </a:r>
            <a:endParaRPr sz="1800" dirty="0">
              <a:solidFill>
                <a:schemeClr val="dk1"/>
              </a:solidFill>
              <a:latin typeface="Calibri"/>
              <a:ea typeface="Calibri"/>
              <a:cs typeface="Calibri"/>
              <a:sym typeface="Calibri"/>
            </a:endParaRPr>
          </a:p>
          <a:p>
            <a:pPr marL="228600" lvl="0" indent="-228600" algn="l" rtl="0">
              <a:lnSpc>
                <a:spcPct val="100000"/>
              </a:lnSpc>
              <a:spcBef>
                <a:spcPts val="1000"/>
              </a:spcBef>
              <a:spcAft>
                <a:spcPts val="0"/>
              </a:spcAft>
              <a:buClr>
                <a:schemeClr val="dk1"/>
              </a:buClr>
              <a:buSzPts val="1800"/>
              <a:buChar char="•"/>
            </a:pPr>
            <a:r>
              <a:rPr lang="en-US" sz="1800" dirty="0">
                <a:solidFill>
                  <a:schemeClr val="dk1"/>
                </a:solidFill>
                <a:latin typeface="Calibri"/>
                <a:ea typeface="Calibri"/>
                <a:cs typeface="Calibri"/>
                <a:sym typeface="Calibri"/>
              </a:rPr>
              <a:t>An  optional transformation is one that modifies the structure of a sentence while preserving its meaning.</a:t>
            </a:r>
            <a:endParaRPr dirty="0">
              <a:solidFill>
                <a:schemeClr val="dk1"/>
              </a:solidFill>
            </a:endParaRPr>
          </a:p>
          <a:p>
            <a:pPr marL="228600" lvl="0" indent="-228600" algn="l" rtl="0">
              <a:lnSpc>
                <a:spcPct val="100000"/>
              </a:lnSpc>
              <a:spcBef>
                <a:spcPts val="1000"/>
              </a:spcBef>
              <a:spcAft>
                <a:spcPts val="0"/>
              </a:spcAft>
              <a:buClr>
                <a:schemeClr val="dk1"/>
              </a:buClr>
              <a:buSzPts val="1800"/>
              <a:buChar char="•"/>
            </a:pPr>
            <a:r>
              <a:rPr lang="en-US" sz="1800" dirty="0">
                <a:solidFill>
                  <a:schemeClr val="dk1"/>
                </a:solidFill>
                <a:latin typeface="Calibri"/>
                <a:ea typeface="Calibri"/>
                <a:cs typeface="Calibri"/>
                <a:sym typeface="Calibri"/>
              </a:rPr>
              <a:t>Morphophonemic rules match each sentence representation to a string of phonemes</a:t>
            </a:r>
            <a:endParaRPr dirty="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gf7b2675688_0_54"/>
          <p:cNvSpPr txBox="1">
            <a:spLocks noGrp="1"/>
          </p:cNvSpPr>
          <p:nvPr>
            <p:ph type="title"/>
          </p:nvPr>
        </p:nvSpPr>
        <p:spPr>
          <a:xfrm>
            <a:off x="1251675" y="382380"/>
            <a:ext cx="10178400" cy="7845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990"/>
              <a:buFont typeface="Arial"/>
              <a:buNone/>
            </a:pPr>
            <a:r>
              <a:rPr lang="en-US"/>
              <a:t>TRANSFORMATIONAL GRAMMAR</a:t>
            </a:r>
            <a:endParaRPr/>
          </a:p>
          <a:p>
            <a:pPr marL="0" lvl="0" indent="0" algn="l" rtl="0">
              <a:lnSpc>
                <a:spcPct val="90000"/>
              </a:lnSpc>
              <a:spcBef>
                <a:spcPts val="0"/>
              </a:spcBef>
              <a:spcAft>
                <a:spcPts val="0"/>
              </a:spcAft>
              <a:buSzPct val="39215"/>
              <a:buNone/>
            </a:pPr>
            <a:endParaRPr/>
          </a:p>
        </p:txBody>
      </p:sp>
      <p:sp>
        <p:nvSpPr>
          <p:cNvPr id="360" name="Google Shape;360;gf7b2675688_0_54"/>
          <p:cNvSpPr txBox="1">
            <a:spLocks noGrp="1"/>
          </p:cNvSpPr>
          <p:nvPr>
            <p:ph type="body" idx="1"/>
          </p:nvPr>
        </p:nvSpPr>
        <p:spPr>
          <a:xfrm>
            <a:off x="1251675" y="1248775"/>
            <a:ext cx="10178400" cy="56091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10000"/>
              </a:lnSpc>
              <a:spcBef>
                <a:spcPts val="700"/>
              </a:spcBef>
              <a:spcAft>
                <a:spcPts val="0"/>
              </a:spcAft>
              <a:buSzPts val="1800"/>
              <a:buNone/>
            </a:pPr>
            <a:r>
              <a:rPr lang="en-US"/>
              <a:t>Example for transformational rules:</a:t>
            </a:r>
            <a:endParaRPr/>
          </a:p>
          <a:p>
            <a:pPr marL="457200" lvl="0" indent="-342900" algn="l" rtl="0">
              <a:lnSpc>
                <a:spcPct val="110000"/>
              </a:lnSpc>
              <a:spcBef>
                <a:spcPts val="700"/>
              </a:spcBef>
              <a:spcAft>
                <a:spcPts val="0"/>
              </a:spcAft>
              <a:buSzPts val="1800"/>
              <a:buChar char="•"/>
            </a:pPr>
            <a:r>
              <a:rPr lang="en-US"/>
              <a:t>Consider the active sentence - </a:t>
            </a:r>
            <a:r>
              <a:rPr lang="en-US">
                <a:highlight>
                  <a:srgbClr val="FFFF00"/>
                </a:highlight>
              </a:rPr>
              <a:t>The police will catch the snatcher.</a:t>
            </a:r>
            <a:endParaRPr>
              <a:highlight>
                <a:srgbClr val="FFFF00"/>
              </a:highlight>
            </a:endParaRPr>
          </a:p>
          <a:p>
            <a:pPr marL="457200" lvl="0" indent="-342900" algn="l" rtl="0">
              <a:lnSpc>
                <a:spcPct val="110000"/>
              </a:lnSpc>
              <a:spcBef>
                <a:spcPts val="0"/>
              </a:spcBef>
              <a:spcAft>
                <a:spcPts val="0"/>
              </a:spcAft>
              <a:buSzPts val="1800"/>
              <a:buChar char="•"/>
            </a:pPr>
            <a:r>
              <a:rPr lang="en-US"/>
              <a:t>The application of phrase structure rules will assign the structure as shown below</a:t>
            </a: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914400" lvl="0" indent="0" algn="l" rtl="0">
              <a:lnSpc>
                <a:spcPct val="110000"/>
              </a:lnSpc>
              <a:spcBef>
                <a:spcPts val="700"/>
              </a:spcBef>
              <a:spcAft>
                <a:spcPts val="0"/>
              </a:spcAft>
              <a:buSzPts val="1800"/>
              <a:buNone/>
            </a:pPr>
            <a:endParaRPr/>
          </a:p>
          <a:p>
            <a:pPr marL="914400" lvl="0" indent="0" algn="l" rtl="0">
              <a:lnSpc>
                <a:spcPct val="110000"/>
              </a:lnSpc>
              <a:spcBef>
                <a:spcPts val="700"/>
              </a:spcBef>
              <a:spcAft>
                <a:spcPts val="0"/>
              </a:spcAft>
              <a:buSzPts val="1800"/>
              <a:buNone/>
            </a:pPr>
            <a:endParaRPr/>
          </a:p>
          <a:p>
            <a:pPr marL="914400" lvl="0" indent="0" algn="l" rtl="0">
              <a:lnSpc>
                <a:spcPct val="110000"/>
              </a:lnSpc>
              <a:spcBef>
                <a:spcPts val="700"/>
              </a:spcBef>
              <a:spcAft>
                <a:spcPts val="0"/>
              </a:spcAft>
              <a:buSzPts val="1800"/>
              <a:buNone/>
            </a:pPr>
            <a:endParaRPr/>
          </a:p>
          <a:p>
            <a:pPr marL="91440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r>
              <a:rPr lang="en-US"/>
              <a:t>			Parse structure of the sentence - ‘The police will catch the snatcher’</a:t>
            </a:r>
            <a:endParaRPr/>
          </a:p>
        </p:txBody>
      </p:sp>
      <p:pic>
        <p:nvPicPr>
          <p:cNvPr id="361" name="Google Shape;361;gf7b2675688_0_54"/>
          <p:cNvPicPr preferRelativeResize="0"/>
          <p:nvPr/>
        </p:nvPicPr>
        <p:blipFill rotWithShape="1">
          <a:blip r:embed="rId3">
            <a:alphaModFix/>
          </a:blip>
          <a:srcRect/>
          <a:stretch/>
        </p:blipFill>
        <p:spPr>
          <a:xfrm>
            <a:off x="2906975" y="2533075"/>
            <a:ext cx="5793475" cy="3615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gf7b2675688_0_60"/>
          <p:cNvSpPr txBox="1">
            <a:spLocks noGrp="1"/>
          </p:cNvSpPr>
          <p:nvPr>
            <p:ph type="title"/>
          </p:nvPr>
        </p:nvSpPr>
        <p:spPr>
          <a:xfrm>
            <a:off x="1251675" y="382380"/>
            <a:ext cx="10178400" cy="68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chemeClr val="dk1"/>
              </a:buClr>
              <a:buSzPts val="990"/>
              <a:buFont typeface="Arial"/>
              <a:buNone/>
            </a:pPr>
            <a:r>
              <a:rPr lang="en-US"/>
              <a:t>TRANSFORMATIONAL GRAMMAR</a:t>
            </a:r>
            <a:endParaRPr/>
          </a:p>
        </p:txBody>
      </p:sp>
      <p:sp>
        <p:nvSpPr>
          <p:cNvPr id="367" name="Google Shape;367;gf7b2675688_0_60"/>
          <p:cNvSpPr txBox="1">
            <a:spLocks noGrp="1"/>
          </p:cNvSpPr>
          <p:nvPr>
            <p:ph type="body" idx="1"/>
          </p:nvPr>
        </p:nvSpPr>
        <p:spPr>
          <a:xfrm>
            <a:off x="1251675" y="941675"/>
            <a:ext cx="10178400" cy="56502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r>
              <a:rPr lang="en-US"/>
              <a:t>The passive transformation rules will convert the sentence into:</a:t>
            </a:r>
            <a:endParaRPr/>
          </a:p>
          <a:p>
            <a:pPr marL="0" lvl="0" indent="0" algn="l" rtl="0">
              <a:lnSpc>
                <a:spcPct val="110000"/>
              </a:lnSpc>
              <a:spcBef>
                <a:spcPts val="700"/>
              </a:spcBef>
              <a:spcAft>
                <a:spcPts val="0"/>
              </a:spcAft>
              <a:buSzPts val="1800"/>
              <a:buNone/>
            </a:pPr>
            <a:r>
              <a:rPr lang="en-US"/>
              <a:t>The + snatcher + will + be + en + catch + by + the + police </a:t>
            </a:r>
            <a:endParaRPr/>
          </a:p>
        </p:txBody>
      </p:sp>
      <p:pic>
        <p:nvPicPr>
          <p:cNvPr id="368" name="Google Shape;368;gf7b2675688_0_60"/>
          <p:cNvPicPr preferRelativeResize="0"/>
          <p:nvPr/>
        </p:nvPicPr>
        <p:blipFill rotWithShape="1">
          <a:blip r:embed="rId3">
            <a:alphaModFix/>
          </a:blip>
          <a:srcRect/>
          <a:stretch/>
        </p:blipFill>
        <p:spPr>
          <a:xfrm>
            <a:off x="2354250" y="2295725"/>
            <a:ext cx="7206000" cy="42961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7"/>
          <p:cNvSpPr txBox="1">
            <a:spLocks noGrp="1"/>
          </p:cNvSpPr>
          <p:nvPr>
            <p:ph type="title"/>
          </p:nvPr>
        </p:nvSpPr>
        <p:spPr>
          <a:xfrm>
            <a:off x="1251675" y="382380"/>
            <a:ext cx="10178400" cy="825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100"/>
              <a:buFont typeface="Arial"/>
              <a:buNone/>
            </a:pPr>
            <a:r>
              <a:rPr lang="en-US"/>
              <a:t>TRANSFORMATIONAL GRAMMAR</a:t>
            </a:r>
            <a:endParaRPr/>
          </a:p>
        </p:txBody>
      </p:sp>
      <p:sp>
        <p:nvSpPr>
          <p:cNvPr id="374" name="Google Shape;374;p17"/>
          <p:cNvSpPr txBox="1">
            <a:spLocks noGrp="1"/>
          </p:cNvSpPr>
          <p:nvPr>
            <p:ph type="body" idx="1"/>
          </p:nvPr>
        </p:nvSpPr>
        <p:spPr>
          <a:xfrm>
            <a:off x="1251675" y="1207824"/>
            <a:ext cx="10178400" cy="56502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1800"/>
              <a:buNone/>
            </a:pPr>
            <a:r>
              <a:rPr lang="en-US" sz="2800"/>
              <a:t>The Police will catch the snatcher.  </a:t>
            </a:r>
            <a:r>
              <a:rPr lang="en-US" sz="4000">
                <a:highlight>
                  <a:srgbClr val="FFFF00"/>
                </a:highlight>
              </a:rPr>
              <a:t>NP1-Aux-V-NP2</a:t>
            </a:r>
            <a:endParaRPr sz="1200"/>
          </a:p>
          <a:p>
            <a:pPr marL="0" lvl="0" indent="0" algn="l" rtl="0">
              <a:lnSpc>
                <a:spcPct val="110000"/>
              </a:lnSpc>
              <a:spcBef>
                <a:spcPts val="700"/>
              </a:spcBef>
              <a:spcAft>
                <a:spcPts val="0"/>
              </a:spcAft>
              <a:buSzPts val="1800"/>
              <a:buNone/>
            </a:pPr>
            <a:r>
              <a:rPr lang="en-US" sz="2500"/>
              <a:t>The snatcher will be caught by the police </a:t>
            </a:r>
            <a:r>
              <a:rPr lang="en-US" sz="2500">
                <a:highlight>
                  <a:srgbClr val="FFFF00"/>
                </a:highlight>
              </a:rPr>
              <a:t>NP2-Aux-be+en-V+by+NP1</a:t>
            </a:r>
            <a:endParaRPr sz="2500">
              <a:highlight>
                <a:srgbClr val="FFFF00"/>
              </a:highlight>
            </a:endParaRPr>
          </a:p>
          <a:p>
            <a:pPr marL="0" lvl="0" indent="0" algn="l" rtl="0">
              <a:lnSpc>
                <a:spcPct val="110000"/>
              </a:lnSpc>
              <a:spcBef>
                <a:spcPts val="700"/>
              </a:spcBef>
              <a:spcAft>
                <a:spcPts val="0"/>
              </a:spcAft>
              <a:buSzPts val="1800"/>
              <a:buNone/>
            </a:pPr>
            <a:endParaRPr sz="2500">
              <a:highlight>
                <a:srgbClr val="FFFF00"/>
              </a:highlight>
            </a:endParaRPr>
          </a:p>
          <a:p>
            <a:pPr marL="735330" lvl="0" indent="0" algn="l" rtl="0">
              <a:lnSpc>
                <a:spcPct val="100000"/>
              </a:lnSpc>
              <a:spcBef>
                <a:spcPts val="1000"/>
              </a:spcBef>
              <a:spcAft>
                <a:spcPts val="0"/>
              </a:spcAft>
              <a:buSzPts val="1800"/>
              <a:buNone/>
            </a:pPr>
            <a:r>
              <a:rPr lang="en-US" sz="2800">
                <a:latin typeface="Calibri"/>
                <a:ea typeface="Calibri"/>
                <a:cs typeface="Calibri"/>
                <a:sym typeface="Calibri"/>
              </a:rPr>
              <a:t>The rule relating to conversion of active to passive sentence - </a:t>
            </a:r>
            <a:endParaRPr sz="2800">
              <a:latin typeface="Calibri"/>
              <a:ea typeface="Calibri"/>
              <a:cs typeface="Calibri"/>
              <a:sym typeface="Calibri"/>
            </a:endParaRPr>
          </a:p>
          <a:p>
            <a:pPr marL="735330" lvl="0" indent="0" algn="l" rtl="0">
              <a:lnSpc>
                <a:spcPct val="100000"/>
              </a:lnSpc>
              <a:spcBef>
                <a:spcPts val="1000"/>
              </a:spcBef>
              <a:spcAft>
                <a:spcPts val="0"/>
              </a:spcAft>
              <a:buClr>
                <a:schemeClr val="dk1"/>
              </a:buClr>
              <a:buSzPts val="1100"/>
              <a:buFont typeface="Arial"/>
              <a:buNone/>
            </a:pPr>
            <a:r>
              <a:rPr lang="en-US" sz="2800">
                <a:highlight>
                  <a:srgbClr val="FFFF00"/>
                </a:highlight>
                <a:latin typeface="Calibri"/>
                <a:ea typeface="Calibri"/>
                <a:cs typeface="Calibri"/>
                <a:sym typeface="Calibri"/>
              </a:rPr>
              <a:t>NP1- Aux – V - NP2 🡪 NP2 – Aux + be + en – V – by - NP1</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1"/>
          <p:cNvSpPr txBox="1">
            <a:spLocks noGrp="1"/>
          </p:cNvSpPr>
          <p:nvPr>
            <p:ph type="title"/>
          </p:nvPr>
        </p:nvSpPr>
        <p:spPr>
          <a:xfrm>
            <a:off x="1251678" y="382385"/>
            <a:ext cx="10178322" cy="762924"/>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TRANSFORMATIONAL GRAMMAR</a:t>
            </a:r>
            <a:endParaRPr/>
          </a:p>
        </p:txBody>
      </p:sp>
      <p:sp>
        <p:nvSpPr>
          <p:cNvPr id="380" name="Google Shape;380;p21"/>
          <p:cNvSpPr txBox="1">
            <a:spLocks noGrp="1"/>
          </p:cNvSpPr>
          <p:nvPr>
            <p:ph type="body" idx="1"/>
          </p:nvPr>
        </p:nvSpPr>
        <p:spPr>
          <a:xfrm>
            <a:off x="1251675" y="1145300"/>
            <a:ext cx="10178400" cy="5589900"/>
          </a:xfrm>
          <a:prstGeom prst="rect">
            <a:avLst/>
          </a:prstGeom>
          <a:noFill/>
          <a:ln>
            <a:noFill/>
          </a:ln>
        </p:spPr>
        <p:txBody>
          <a:bodyPr spcFirstLastPara="1" wrap="square" lIns="91425" tIns="45700" rIns="91425" bIns="45700" anchor="t" anchorCtr="0">
            <a:normAutofit/>
          </a:bodyPr>
          <a:lstStyle/>
          <a:p>
            <a:pPr marL="228600" lvl="0" indent="-25400" algn="l" rtl="0">
              <a:lnSpc>
                <a:spcPct val="110000"/>
              </a:lnSpc>
              <a:spcBef>
                <a:spcPts val="0"/>
              </a:spcBef>
              <a:spcAft>
                <a:spcPts val="0"/>
              </a:spcAft>
              <a:buSzPts val="3200"/>
              <a:buNone/>
            </a:pPr>
            <a:r>
              <a:rPr lang="en-US" sz="2400" b="1">
                <a:latin typeface="Calibri"/>
                <a:ea typeface="Calibri"/>
                <a:cs typeface="Calibri"/>
                <a:sym typeface="Calibri"/>
              </a:rPr>
              <a:t>3. Morphophonemic rules:</a:t>
            </a:r>
            <a:endParaRPr sz="2400" b="1">
              <a:latin typeface="Calibri"/>
              <a:ea typeface="Calibri"/>
              <a:cs typeface="Calibri"/>
              <a:sym typeface="Calibri"/>
            </a:endParaRPr>
          </a:p>
          <a:p>
            <a:pPr marL="0" lvl="0" indent="0" algn="l" rtl="0">
              <a:lnSpc>
                <a:spcPct val="110000"/>
              </a:lnSpc>
              <a:spcBef>
                <a:spcPts val="700"/>
              </a:spcBef>
              <a:spcAft>
                <a:spcPts val="0"/>
              </a:spcAft>
              <a:buSzPts val="3200"/>
              <a:buNone/>
            </a:pPr>
            <a:r>
              <a:rPr lang="en-US" sz="2400">
                <a:latin typeface="Calibri"/>
                <a:ea typeface="Calibri"/>
                <a:cs typeface="Calibri"/>
                <a:sym typeface="Calibri"/>
              </a:rPr>
              <a:t>Transformational rule will reorder ‘en + catch’ to ‘catch + en’ and subsequently one of the morphophonemic rules will convert ‘catch + en’ to ‘caught’. </a:t>
            </a:r>
            <a:endParaRPr sz="2400">
              <a:latin typeface="Calibri"/>
              <a:ea typeface="Calibri"/>
              <a:cs typeface="Calibri"/>
              <a:sym typeface="Calibri"/>
            </a:endParaRPr>
          </a:p>
          <a:p>
            <a:pPr marL="0" lvl="0" indent="0" algn="l" rtl="0">
              <a:lnSpc>
                <a:spcPct val="110000"/>
              </a:lnSpc>
              <a:spcBef>
                <a:spcPts val="700"/>
              </a:spcBef>
              <a:spcAft>
                <a:spcPts val="0"/>
              </a:spcAft>
              <a:buSzPts val="3200"/>
              <a:buNone/>
            </a:pPr>
            <a:endParaRPr sz="2400">
              <a:latin typeface="Calibri"/>
              <a:ea typeface="Calibri"/>
              <a:cs typeface="Calibri"/>
              <a:sym typeface="Calibri"/>
            </a:endParaRPr>
          </a:p>
          <a:p>
            <a:pPr marL="228600" lvl="0" indent="-228600" algn="l" rtl="0">
              <a:lnSpc>
                <a:spcPct val="110000"/>
              </a:lnSpc>
              <a:spcBef>
                <a:spcPts val="700"/>
              </a:spcBef>
              <a:spcAft>
                <a:spcPts val="0"/>
              </a:spcAft>
              <a:buSzPts val="3200"/>
              <a:buChar char="•"/>
            </a:pPr>
            <a:r>
              <a:rPr lang="en-US" sz="3200">
                <a:highlight>
                  <a:srgbClr val="00FFFF"/>
                </a:highlight>
                <a:latin typeface="Calibri"/>
                <a:ea typeface="Calibri"/>
                <a:cs typeface="Calibri"/>
                <a:sym typeface="Calibri"/>
              </a:rPr>
              <a:t>‘en + catch’ ---&gt;  ’Catch + en’  ---&gt;  Caught</a:t>
            </a:r>
            <a:endParaRPr sz="3200">
              <a:highlight>
                <a:srgbClr val="00FFFF"/>
              </a:highlight>
              <a:latin typeface="Calibri"/>
              <a:ea typeface="Calibri"/>
              <a:cs typeface="Calibri"/>
              <a:sym typeface="Calibri"/>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r>
              <a:rPr lang="en-US"/>
              <a:t>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3"/>
          <p:cNvSpPr txBox="1">
            <a:spLocks noGrp="1"/>
          </p:cNvSpPr>
          <p:nvPr>
            <p:ph type="title"/>
          </p:nvPr>
        </p:nvSpPr>
        <p:spPr>
          <a:xfrm>
            <a:off x="1251675" y="262350"/>
            <a:ext cx="10178400" cy="7344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62626"/>
              </a:buClr>
              <a:buSzPts val="5100"/>
              <a:buFont typeface="Impact"/>
              <a:buNone/>
            </a:pPr>
            <a:r>
              <a:rPr lang="en-US" sz="4400"/>
              <a:t>PROCESSING INDIAN LANGUAGE</a:t>
            </a:r>
            <a:endParaRPr sz="4400"/>
          </a:p>
        </p:txBody>
      </p:sp>
      <p:sp>
        <p:nvSpPr>
          <p:cNvPr id="386" name="Google Shape;386;p23"/>
          <p:cNvSpPr txBox="1">
            <a:spLocks noGrp="1"/>
          </p:cNvSpPr>
          <p:nvPr>
            <p:ph type="body" idx="1"/>
          </p:nvPr>
        </p:nvSpPr>
        <p:spPr>
          <a:xfrm>
            <a:off x="1251675" y="996750"/>
            <a:ext cx="10178400" cy="58614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1800"/>
              <a:buNone/>
            </a:pPr>
            <a:r>
              <a:rPr lang="en-US" sz="1800">
                <a:solidFill>
                  <a:schemeClr val="dk1"/>
                </a:solidFill>
                <a:latin typeface="Calibri"/>
                <a:ea typeface="Calibri"/>
                <a:cs typeface="Calibri"/>
                <a:sym typeface="Calibri"/>
              </a:rPr>
              <a:t>There are a number of differences between Indian language and English as a result there exists differences in their processing. The following are the differences - </a:t>
            </a:r>
            <a:endParaRPr sz="1800">
              <a:solidFill>
                <a:schemeClr val="dk1"/>
              </a:solidFill>
              <a:latin typeface="Calibri"/>
              <a:ea typeface="Calibri"/>
              <a:cs typeface="Calibri"/>
              <a:sym typeface="Calibri"/>
            </a:endParaRPr>
          </a:p>
          <a:p>
            <a:pPr marL="457200" lvl="0" indent="-342900" algn="l" rtl="0">
              <a:lnSpc>
                <a:spcPct val="115000"/>
              </a:lnSpc>
              <a:spcBef>
                <a:spcPts val="70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Unlike English, Indian Scripts have a non linear structure.</a:t>
            </a: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Unlike English, Indian languages have Subject Object Verb (SOV) as a default sentence structure.</a:t>
            </a: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Indian languages have a free word order i.e, words can be moved freely within a sentence without changing the meaning of the sentence.</a:t>
            </a: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Spelling Standardization is more subtle in Hindi than in English. That is,  it is delicate in meaning or intent and difficult to understand. </a:t>
            </a:r>
            <a:endParaRPr sz="1050">
              <a:solidFill>
                <a:schemeClr val="dk1"/>
              </a:solidFill>
              <a:highlight>
                <a:srgbClr val="FFFFFF"/>
              </a:highlight>
              <a:latin typeface="Arial"/>
              <a:ea typeface="Arial"/>
              <a:cs typeface="Arial"/>
              <a:sym typeface="Arial"/>
            </a:endParaRPr>
          </a:p>
          <a:p>
            <a:pPr marL="457200" lvl="0" indent="-342900" algn="l" rtl="0">
              <a:lnSpc>
                <a:spcPct val="115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Indian Languages have a rich set of morphological variants.</a:t>
            </a: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Indian Languages makes extensive and productive use of complex predicates (CPs).</a:t>
            </a:r>
            <a:endParaRPr sz="1800">
              <a:solidFill>
                <a:schemeClr val="dk1"/>
              </a:solidFill>
              <a:latin typeface="Calibri"/>
              <a:ea typeface="Calibri"/>
              <a:cs typeface="Calibri"/>
              <a:sym typeface="Calibri"/>
            </a:endParaRPr>
          </a:p>
          <a:p>
            <a:pPr marL="457200" lvl="0" indent="-342900" algn="l" rtl="0">
              <a:lnSpc>
                <a:spcPct val="115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 Indian Languages uses post-position (Karakas) case markers instead of preposition.</a:t>
            </a:r>
            <a:endParaRPr>
              <a:solidFill>
                <a:schemeClr val="dk1"/>
              </a:solidFill>
            </a:endParaRPr>
          </a:p>
          <a:p>
            <a:pPr marL="457200" lvl="0" indent="-342900" algn="l" rtl="0">
              <a:lnSpc>
                <a:spcPct val="115000"/>
              </a:lnSpc>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Indian Languages uses verb complexes consisting of sequences of verbs.</a:t>
            </a:r>
            <a:endParaRPr sz="1800">
              <a:solidFill>
                <a:schemeClr val="dk1"/>
              </a:solidFill>
              <a:latin typeface="Calibri"/>
              <a:ea typeface="Calibri"/>
              <a:cs typeface="Calibri"/>
              <a:sym typeface="Calibri"/>
            </a:endParaRPr>
          </a:p>
          <a:p>
            <a:pPr marL="457200" lvl="0" indent="-228600" algn="l" rtl="0">
              <a:lnSpc>
                <a:spcPct val="115000"/>
              </a:lnSpc>
              <a:spcBef>
                <a:spcPts val="700"/>
              </a:spcBef>
              <a:spcAft>
                <a:spcPts val="0"/>
              </a:spcAft>
              <a:buClr>
                <a:schemeClr val="dk1"/>
              </a:buClr>
              <a:buSzPts val="1800"/>
              <a:buChar char="•"/>
            </a:pPr>
            <a:r>
              <a:rPr lang="en-US" sz="1800">
                <a:solidFill>
                  <a:schemeClr val="dk1"/>
                </a:solidFill>
                <a:latin typeface="Calibri"/>
                <a:ea typeface="Calibri"/>
                <a:cs typeface="Calibri"/>
                <a:sym typeface="Calibri"/>
              </a:rPr>
              <a:t> Ex1:  </a:t>
            </a:r>
            <a:r>
              <a:rPr lang="en-US" sz="1500">
                <a:solidFill>
                  <a:schemeClr val="dk1"/>
                </a:solidFill>
                <a:highlight>
                  <a:srgbClr val="FFFFFF"/>
                </a:highlight>
                <a:latin typeface="Arial"/>
                <a:ea typeface="Arial"/>
                <a:cs typeface="Arial"/>
                <a:sym typeface="Arial"/>
              </a:rPr>
              <a:t>गा रहा</a:t>
            </a:r>
            <a:r>
              <a:rPr lang="en-US" sz="1800">
                <a:solidFill>
                  <a:schemeClr val="dk1"/>
                </a:solidFill>
                <a:latin typeface="Calibri"/>
                <a:ea typeface="Calibri"/>
                <a:cs typeface="Calibri"/>
                <a:sym typeface="Calibri"/>
              </a:rPr>
              <a:t> </a:t>
            </a:r>
            <a:r>
              <a:rPr lang="en-US" sz="1500">
                <a:solidFill>
                  <a:schemeClr val="dk1"/>
                </a:solidFill>
                <a:highlight>
                  <a:srgbClr val="FFFFFF"/>
                </a:highlight>
                <a:latin typeface="Arial"/>
                <a:ea typeface="Arial"/>
                <a:cs typeface="Arial"/>
                <a:sym typeface="Arial"/>
              </a:rPr>
              <a:t>है</a:t>
            </a:r>
            <a:r>
              <a:rPr lang="en-US" sz="1800">
                <a:solidFill>
                  <a:schemeClr val="dk1"/>
                </a:solidFill>
                <a:latin typeface="Calibri"/>
                <a:ea typeface="Calibri"/>
                <a:cs typeface="Calibri"/>
                <a:sym typeface="Calibri"/>
              </a:rPr>
              <a:t>  -&gt; Singing</a:t>
            </a:r>
            <a:endParaRPr sz="1800">
              <a:solidFill>
                <a:schemeClr val="dk1"/>
              </a:solidFill>
              <a:latin typeface="Calibri"/>
              <a:ea typeface="Calibri"/>
              <a:cs typeface="Calibri"/>
              <a:sym typeface="Calibri"/>
            </a:endParaRPr>
          </a:p>
          <a:p>
            <a:pPr marL="457200" lvl="0" indent="-228600" algn="l" rtl="0">
              <a:lnSpc>
                <a:spcPct val="115000"/>
              </a:lnSpc>
              <a:spcBef>
                <a:spcPts val="700"/>
              </a:spcBef>
              <a:spcAft>
                <a:spcPts val="0"/>
              </a:spcAft>
              <a:buClr>
                <a:schemeClr val="dk1"/>
              </a:buClr>
              <a:buSzPts val="1800"/>
              <a:buChar char="•"/>
            </a:pPr>
            <a:r>
              <a:rPr lang="en-US" sz="1800">
                <a:solidFill>
                  <a:schemeClr val="dk1"/>
                </a:solidFill>
                <a:latin typeface="Calibri"/>
                <a:ea typeface="Calibri"/>
                <a:cs typeface="Calibri"/>
                <a:sym typeface="Calibri"/>
              </a:rPr>
              <a:t> Ex2: खेल रही है -&gt; Playing</a:t>
            </a:r>
            <a:endParaRPr sz="1800">
              <a:solidFill>
                <a:schemeClr val="dk1"/>
              </a:solidFill>
              <a:latin typeface="Calibri"/>
              <a:ea typeface="Calibri"/>
              <a:cs typeface="Calibri"/>
              <a:sym typeface="Calibri"/>
            </a:endParaRPr>
          </a:p>
          <a:p>
            <a:pPr marL="457200" lvl="0" indent="-228600" algn="l" rtl="0">
              <a:lnSpc>
                <a:spcPct val="115000"/>
              </a:lnSpc>
              <a:spcBef>
                <a:spcPts val="7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 auxiliary verbs in these examples provide information about tense, aspect, modality etc.</a:t>
            </a:r>
            <a:endParaRPr sz="1800">
              <a:solidFill>
                <a:schemeClr val="dk1"/>
              </a:solidFill>
              <a:latin typeface="Calibri"/>
              <a:ea typeface="Calibri"/>
              <a:cs typeface="Calibri"/>
              <a:sym typeface="Calibri"/>
            </a:endParaRPr>
          </a:p>
          <a:p>
            <a:pPr marL="457200" lvl="0" indent="-228600" algn="l" rtl="0">
              <a:lnSpc>
                <a:spcPct val="115000"/>
              </a:lnSpc>
              <a:spcBef>
                <a:spcPts val="7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Paninian grammar provides a framework for Indian language models</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4"/>
          <p:cNvSpPr txBox="1">
            <a:spLocks noGrp="1"/>
          </p:cNvSpPr>
          <p:nvPr>
            <p:ph type="title"/>
          </p:nvPr>
        </p:nvSpPr>
        <p:spPr>
          <a:xfrm>
            <a:off x="1251675" y="382378"/>
            <a:ext cx="10178400" cy="590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62626"/>
              </a:buClr>
              <a:buSzPct val="118604"/>
              <a:buFont typeface="Impact"/>
              <a:buNone/>
            </a:pPr>
            <a:r>
              <a:rPr lang="en-US" sz="4300"/>
              <a:t>NLP APPLICATIONS</a:t>
            </a:r>
            <a:endParaRPr sz="4300"/>
          </a:p>
        </p:txBody>
      </p:sp>
      <p:sp>
        <p:nvSpPr>
          <p:cNvPr id="392" name="Google Shape;392;p24"/>
          <p:cNvSpPr txBox="1">
            <a:spLocks noGrp="1"/>
          </p:cNvSpPr>
          <p:nvPr>
            <p:ph type="body" idx="1"/>
          </p:nvPr>
        </p:nvSpPr>
        <p:spPr>
          <a:xfrm>
            <a:off x="1251678" y="1117600"/>
            <a:ext cx="10178322" cy="5237017"/>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10000"/>
              </a:lnSpc>
              <a:spcBef>
                <a:spcPts val="0"/>
              </a:spcBef>
              <a:spcAft>
                <a:spcPts val="0"/>
              </a:spcAft>
              <a:buSzPts val="1800"/>
              <a:buNone/>
            </a:pPr>
            <a:r>
              <a:rPr lang="en-US" sz="2200" b="1" u="sng" dirty="0">
                <a:highlight>
                  <a:srgbClr val="FFFF00"/>
                </a:highlight>
                <a:latin typeface="Calibri"/>
                <a:ea typeface="Calibri"/>
                <a:cs typeface="Calibri"/>
                <a:sym typeface="Calibri"/>
              </a:rPr>
              <a:t>Applications of NLP:</a:t>
            </a:r>
            <a:endParaRPr sz="2200" b="1" u="sng" dirty="0">
              <a:highlight>
                <a:srgbClr val="FFFF00"/>
              </a:highlight>
              <a:latin typeface="Calibri"/>
              <a:ea typeface="Calibri"/>
              <a:cs typeface="Calibri"/>
              <a:sym typeface="Calibri"/>
            </a:endParaRPr>
          </a:p>
          <a:p>
            <a:pPr marL="0" lvl="0" indent="0" algn="l" rtl="0">
              <a:lnSpc>
                <a:spcPct val="110000"/>
              </a:lnSpc>
              <a:spcBef>
                <a:spcPts val="0"/>
              </a:spcBef>
              <a:spcAft>
                <a:spcPts val="0"/>
              </a:spcAft>
              <a:buSzPts val="1800"/>
              <a:buNone/>
            </a:pPr>
            <a:endParaRPr sz="1800" dirty="0">
              <a:highlight>
                <a:srgbClr val="FFFF00"/>
              </a:highlight>
              <a:latin typeface="Calibri"/>
              <a:ea typeface="Calibri"/>
              <a:cs typeface="Calibri"/>
              <a:sym typeface="Calibri"/>
            </a:endParaRPr>
          </a:p>
          <a:p>
            <a:pPr marL="228600" lvl="0" indent="-228600" algn="l" rtl="0">
              <a:lnSpc>
                <a:spcPct val="110000"/>
              </a:lnSpc>
              <a:spcBef>
                <a:spcPts val="0"/>
              </a:spcBef>
              <a:spcAft>
                <a:spcPts val="0"/>
              </a:spcAft>
              <a:buSzPts val="1800"/>
              <a:buFont typeface="Calibri"/>
              <a:buChar char="•"/>
            </a:pPr>
            <a:r>
              <a:rPr lang="en-US" sz="1800" dirty="0">
                <a:highlight>
                  <a:srgbClr val="FFFF00"/>
                </a:highlight>
                <a:latin typeface="Calibri"/>
                <a:ea typeface="Calibri"/>
                <a:cs typeface="Calibri"/>
                <a:sym typeface="Calibri"/>
              </a:rPr>
              <a:t>Machine Translation</a:t>
            </a:r>
            <a:r>
              <a:rPr lang="en-US" sz="1800" dirty="0">
                <a:latin typeface="Calibri"/>
                <a:ea typeface="Calibri"/>
                <a:cs typeface="Calibri"/>
                <a:sym typeface="Calibri"/>
              </a:rPr>
              <a:t>:</a:t>
            </a:r>
            <a:endParaRPr sz="1800" dirty="0">
              <a:latin typeface="Calibri"/>
              <a:ea typeface="Calibri"/>
              <a:cs typeface="Calibri"/>
              <a:sym typeface="Calibri"/>
            </a:endParaRPr>
          </a:p>
          <a:p>
            <a:pPr marL="685800" lvl="1" indent="-228600" algn="l" rtl="0">
              <a:lnSpc>
                <a:spcPct val="110000"/>
              </a:lnSpc>
              <a:spcBef>
                <a:spcPts val="0"/>
              </a:spcBef>
              <a:spcAft>
                <a:spcPts val="0"/>
              </a:spcAft>
              <a:buSzPts val="1800"/>
              <a:buFont typeface="Calibri"/>
              <a:buChar char="–"/>
            </a:pPr>
            <a:r>
              <a:rPr lang="en-US" dirty="0">
                <a:latin typeface="Calibri"/>
                <a:ea typeface="Calibri"/>
                <a:cs typeface="Calibri"/>
                <a:sym typeface="Calibri"/>
              </a:rPr>
              <a:t>refers to automatic translation of text from one hum</a:t>
            </a:r>
            <a:r>
              <a:rPr lang="en-US" sz="1800" dirty="0">
                <a:latin typeface="Calibri"/>
                <a:ea typeface="Calibri"/>
                <a:cs typeface="Calibri"/>
                <a:sym typeface="Calibri"/>
              </a:rPr>
              <a:t>an language to another.</a:t>
            </a:r>
            <a:endParaRPr sz="1800" dirty="0">
              <a:latin typeface="Calibri"/>
              <a:ea typeface="Calibri"/>
              <a:cs typeface="Calibri"/>
              <a:sym typeface="Calibri"/>
            </a:endParaRPr>
          </a:p>
          <a:p>
            <a:pPr marL="685800" lvl="1" indent="-228600" algn="l" rtl="0">
              <a:lnSpc>
                <a:spcPct val="110000"/>
              </a:lnSpc>
              <a:spcBef>
                <a:spcPts val="0"/>
              </a:spcBef>
              <a:spcAft>
                <a:spcPts val="0"/>
              </a:spcAft>
              <a:buSzPts val="1800"/>
              <a:buFont typeface="Calibri"/>
              <a:buChar char="–"/>
            </a:pPr>
            <a:r>
              <a:rPr lang="en-US" dirty="0">
                <a:latin typeface="Calibri"/>
                <a:ea typeface="Calibri"/>
                <a:cs typeface="Calibri"/>
                <a:sym typeface="Calibri"/>
              </a:rPr>
              <a:t>For machine translation it is necessary to have </a:t>
            </a:r>
            <a:r>
              <a:rPr lang="en-US" sz="1800" dirty="0">
                <a:latin typeface="Calibri"/>
                <a:ea typeface="Calibri"/>
                <a:cs typeface="Calibri"/>
                <a:sym typeface="Calibri"/>
              </a:rPr>
              <a:t> understanding of words and phrases, grammars of two languages involved, semantics of the language and world knowledge.</a:t>
            </a:r>
            <a:endParaRPr dirty="0">
              <a:latin typeface="Calibri"/>
              <a:ea typeface="Calibri"/>
              <a:cs typeface="Calibri"/>
              <a:sym typeface="Calibri"/>
            </a:endParaRPr>
          </a:p>
          <a:p>
            <a:pPr marL="228600" lvl="0" indent="-228600" algn="l" rtl="0">
              <a:lnSpc>
                <a:spcPct val="110000"/>
              </a:lnSpc>
              <a:spcBef>
                <a:spcPts val="700"/>
              </a:spcBef>
              <a:spcAft>
                <a:spcPts val="0"/>
              </a:spcAft>
              <a:buSzPts val="1800"/>
              <a:buChar char="•"/>
            </a:pPr>
            <a:r>
              <a:rPr lang="en-US" sz="1800" dirty="0">
                <a:highlight>
                  <a:srgbClr val="FFFF00"/>
                </a:highlight>
                <a:latin typeface="Calibri"/>
                <a:ea typeface="Calibri"/>
                <a:cs typeface="Calibri"/>
                <a:sym typeface="Calibri"/>
              </a:rPr>
              <a:t>Speech Recognition</a:t>
            </a:r>
            <a:r>
              <a:rPr lang="en-US" sz="1800" dirty="0">
                <a:latin typeface="Calibri"/>
                <a:ea typeface="Calibri"/>
                <a:cs typeface="Calibri"/>
                <a:sym typeface="Calibri"/>
              </a:rPr>
              <a:t>:</a:t>
            </a:r>
            <a:endParaRPr sz="1800" dirty="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dirty="0">
                <a:latin typeface="Calibri"/>
                <a:ea typeface="Calibri"/>
                <a:cs typeface="Calibri"/>
                <a:sym typeface="Calibri"/>
              </a:rPr>
              <a:t>Speech recognition is the process of mapping acoustic speech signals to a set of words.</a:t>
            </a:r>
            <a:endParaRPr dirty="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dirty="0">
                <a:latin typeface="Calibri"/>
                <a:ea typeface="Calibri"/>
                <a:cs typeface="Calibri"/>
                <a:sym typeface="Calibri"/>
              </a:rPr>
              <a:t>The difficulties arise due to wide </a:t>
            </a:r>
            <a:r>
              <a:rPr lang="en-US" sz="1800" dirty="0">
                <a:latin typeface="Calibri"/>
                <a:ea typeface="Calibri"/>
                <a:cs typeface="Calibri"/>
                <a:sym typeface="Calibri"/>
              </a:rPr>
              <a:t>variations in the pronunciation of words, homonym (Ex: dear and deer)</a:t>
            </a:r>
            <a:r>
              <a:rPr lang="en-US" dirty="0">
                <a:latin typeface="Calibri"/>
                <a:ea typeface="Calibri"/>
                <a:cs typeface="Calibri"/>
                <a:sym typeface="Calibri"/>
              </a:rPr>
              <a:t> and </a:t>
            </a:r>
            <a:r>
              <a:rPr lang="en-US" sz="1800" dirty="0">
                <a:latin typeface="Calibri"/>
                <a:ea typeface="Calibri"/>
                <a:cs typeface="Calibri"/>
                <a:sym typeface="Calibri"/>
              </a:rPr>
              <a:t>acoustic ambiguities in the sense of hearing (Ex: interest and in the rest).</a:t>
            </a:r>
            <a:endParaRPr dirty="0">
              <a:latin typeface="Calibri"/>
              <a:ea typeface="Calibri"/>
              <a:cs typeface="Calibri"/>
              <a:sym typeface="Calibri"/>
            </a:endParaRPr>
          </a:p>
          <a:p>
            <a:pPr marL="228600" lvl="0" indent="-228600" algn="l" rtl="0">
              <a:lnSpc>
                <a:spcPct val="110000"/>
              </a:lnSpc>
              <a:spcBef>
                <a:spcPts val="700"/>
              </a:spcBef>
              <a:spcAft>
                <a:spcPts val="0"/>
              </a:spcAft>
              <a:buSzPts val="1800"/>
              <a:buChar char="•"/>
            </a:pPr>
            <a:r>
              <a:rPr lang="en-US" sz="1800" dirty="0">
                <a:highlight>
                  <a:srgbClr val="FFFF00"/>
                </a:highlight>
                <a:latin typeface="Calibri"/>
                <a:ea typeface="Calibri"/>
                <a:cs typeface="Calibri"/>
                <a:sym typeface="Calibri"/>
              </a:rPr>
              <a:t>Speech Synthesis</a:t>
            </a:r>
            <a:r>
              <a:rPr lang="en-US" sz="1800" dirty="0">
                <a:latin typeface="Calibri"/>
                <a:ea typeface="Calibri"/>
                <a:cs typeface="Calibri"/>
                <a:sym typeface="Calibri"/>
              </a:rPr>
              <a:t>:</a:t>
            </a:r>
            <a:endParaRPr sz="1800" dirty="0">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dirty="0">
                <a:latin typeface="Calibri"/>
                <a:ea typeface="Calibri"/>
                <a:cs typeface="Calibri"/>
                <a:sym typeface="Calibri"/>
              </a:rPr>
              <a:t>Speech synthesis refers to automatic production of speech (utterance of natural language sentences).</a:t>
            </a:r>
            <a:endParaRPr sz="1800" dirty="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sz="1800" dirty="0">
                <a:latin typeface="Calibri"/>
                <a:ea typeface="Calibri"/>
                <a:cs typeface="Calibri"/>
                <a:sym typeface="Calibri"/>
              </a:rPr>
              <a:t>Systems can read out mails on telephone or even read out a story book.</a:t>
            </a:r>
            <a:endParaRPr sz="1800" dirty="0">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dirty="0">
                <a:latin typeface="Calibri"/>
                <a:ea typeface="Calibri"/>
                <a:cs typeface="Calibri"/>
                <a:sym typeface="Calibri"/>
              </a:rPr>
              <a:t>NLP is an important component of speech synthesis system because in order to generate utterances text has to be processed.</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gf917f9c746_0_5"/>
          <p:cNvSpPr txBox="1">
            <a:spLocks noGrp="1"/>
          </p:cNvSpPr>
          <p:nvPr>
            <p:ph type="title"/>
          </p:nvPr>
        </p:nvSpPr>
        <p:spPr>
          <a:xfrm>
            <a:off x="1478313" y="168830"/>
            <a:ext cx="10178400" cy="6855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262626"/>
              </a:buClr>
              <a:buSzPts val="5100"/>
              <a:buFont typeface="Impact"/>
              <a:buNone/>
            </a:pPr>
            <a:r>
              <a:rPr lang="en-US" sz="4300"/>
              <a:t>NLP APPLICATIONS</a:t>
            </a:r>
            <a:endParaRPr/>
          </a:p>
        </p:txBody>
      </p:sp>
      <p:sp>
        <p:nvSpPr>
          <p:cNvPr id="398" name="Google Shape;398;gf917f9c746_0_5"/>
          <p:cNvSpPr txBox="1">
            <a:spLocks noGrp="1"/>
          </p:cNvSpPr>
          <p:nvPr>
            <p:ph type="body" idx="1"/>
          </p:nvPr>
        </p:nvSpPr>
        <p:spPr>
          <a:xfrm>
            <a:off x="1251675" y="854325"/>
            <a:ext cx="10178400" cy="5908800"/>
          </a:xfrm>
          <a:prstGeom prst="rect">
            <a:avLst/>
          </a:prstGeom>
          <a:noFill/>
          <a:ln>
            <a:noFill/>
          </a:ln>
        </p:spPr>
        <p:txBody>
          <a:bodyPr spcFirstLastPara="1" wrap="square" lIns="91425" tIns="45700" rIns="91425" bIns="45700" anchor="ctr" anchorCtr="0">
            <a:normAutofit/>
          </a:bodyPr>
          <a:lstStyle/>
          <a:p>
            <a:pPr marL="228600" lvl="0" indent="-228600" algn="l" rtl="0">
              <a:lnSpc>
                <a:spcPct val="110000"/>
              </a:lnSpc>
              <a:spcBef>
                <a:spcPts val="700"/>
              </a:spcBef>
              <a:spcAft>
                <a:spcPts val="0"/>
              </a:spcAft>
              <a:buSzPts val="1800"/>
              <a:buChar char="•"/>
            </a:pPr>
            <a:r>
              <a:rPr lang="en-US" sz="1800">
                <a:highlight>
                  <a:srgbClr val="FFFF00"/>
                </a:highlight>
                <a:latin typeface="Calibri"/>
                <a:ea typeface="Calibri"/>
                <a:cs typeface="Calibri"/>
                <a:sym typeface="Calibri"/>
              </a:rPr>
              <a:t>Natural Language interfaces to databases</a:t>
            </a:r>
            <a:r>
              <a:rPr lang="en-US" sz="1800">
                <a:latin typeface="Calibri"/>
                <a:ea typeface="Calibri"/>
                <a:cs typeface="Calibri"/>
                <a:sym typeface="Calibri"/>
              </a:rPr>
              <a:t>:</a:t>
            </a:r>
            <a:endParaRPr sz="180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a:latin typeface="Calibri"/>
                <a:ea typeface="Calibri"/>
                <a:cs typeface="Calibri"/>
                <a:sym typeface="Calibri"/>
              </a:rPr>
              <a:t>This allows querying a structured database using natural language sentence.</a:t>
            </a:r>
            <a:endParaRPr>
              <a:latin typeface="Calibri"/>
              <a:ea typeface="Calibri"/>
              <a:cs typeface="Calibri"/>
              <a:sym typeface="Calibri"/>
            </a:endParaRPr>
          </a:p>
          <a:p>
            <a:pPr marL="685800" lvl="0" indent="0" algn="l" rtl="0">
              <a:lnSpc>
                <a:spcPct val="110000"/>
              </a:lnSpc>
              <a:spcBef>
                <a:spcPts val="700"/>
              </a:spcBef>
              <a:spcAft>
                <a:spcPts val="0"/>
              </a:spcAft>
              <a:buSzPts val="1800"/>
              <a:buNone/>
            </a:pPr>
            <a:endParaRPr>
              <a:latin typeface="Calibri"/>
              <a:ea typeface="Calibri"/>
              <a:cs typeface="Calibri"/>
              <a:sym typeface="Calibri"/>
            </a:endParaRPr>
          </a:p>
          <a:p>
            <a:pPr marL="228600" lvl="0" indent="-228600" algn="l" rtl="0">
              <a:lnSpc>
                <a:spcPct val="110000"/>
              </a:lnSpc>
              <a:spcBef>
                <a:spcPts val="700"/>
              </a:spcBef>
              <a:spcAft>
                <a:spcPts val="0"/>
              </a:spcAft>
              <a:buSzPts val="1800"/>
              <a:buChar char="•"/>
            </a:pPr>
            <a:r>
              <a:rPr lang="en-US" sz="1800">
                <a:highlight>
                  <a:srgbClr val="FFFF00"/>
                </a:highlight>
                <a:latin typeface="Calibri"/>
                <a:ea typeface="Calibri"/>
                <a:cs typeface="Calibri"/>
                <a:sym typeface="Calibri"/>
              </a:rPr>
              <a:t>Information Retrieval</a:t>
            </a:r>
            <a:r>
              <a:rPr lang="en-US" sz="1800">
                <a:latin typeface="Calibri"/>
                <a:ea typeface="Calibri"/>
                <a:cs typeface="Calibri"/>
                <a:sym typeface="Calibri"/>
              </a:rPr>
              <a:t>:</a:t>
            </a:r>
            <a:endParaRPr sz="180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a:latin typeface="Calibri"/>
                <a:ea typeface="Calibri"/>
                <a:cs typeface="Calibri"/>
                <a:sym typeface="Calibri"/>
              </a:rPr>
              <a:t>Information retrieval is concerned with </a:t>
            </a:r>
            <a:r>
              <a:rPr lang="en-US" b="1">
                <a:solidFill>
                  <a:srgbClr val="FF0000"/>
                </a:solidFill>
                <a:latin typeface="Calibri"/>
                <a:ea typeface="Calibri"/>
                <a:cs typeface="Calibri"/>
                <a:sym typeface="Calibri"/>
              </a:rPr>
              <a:t>i</a:t>
            </a:r>
            <a:r>
              <a:rPr lang="en-US" sz="1800" b="1">
                <a:solidFill>
                  <a:srgbClr val="FF0000"/>
                </a:solidFill>
                <a:latin typeface="Calibri"/>
                <a:ea typeface="Calibri"/>
                <a:cs typeface="Calibri"/>
                <a:sym typeface="Calibri"/>
              </a:rPr>
              <a:t>dentifying documents</a:t>
            </a:r>
            <a:r>
              <a:rPr lang="en-US" sz="1800">
                <a:latin typeface="Calibri"/>
                <a:ea typeface="Calibri"/>
                <a:cs typeface="Calibri"/>
                <a:sym typeface="Calibri"/>
              </a:rPr>
              <a:t> </a:t>
            </a:r>
            <a:r>
              <a:rPr lang="en-US" sz="1800" b="1">
                <a:solidFill>
                  <a:srgbClr val="FF0000"/>
                </a:solidFill>
                <a:latin typeface="Calibri"/>
                <a:ea typeface="Calibri"/>
                <a:cs typeface="Calibri"/>
                <a:sym typeface="Calibri"/>
              </a:rPr>
              <a:t>relevant to a users query</a:t>
            </a:r>
            <a:r>
              <a:rPr lang="en-US" sz="1800">
                <a:latin typeface="Calibri"/>
                <a:ea typeface="Calibri"/>
                <a:cs typeface="Calibri"/>
                <a:sym typeface="Calibri"/>
              </a:rPr>
              <a:t>.</a:t>
            </a:r>
            <a:endParaRPr sz="1800">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Indexing (stop word elimination, stemming, phrase extraction, etc.), word sense disambiguation, query modification and knowledge bases are used in IR system to enhance performance. </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WordNet, LDOCE (Longman Dictionary of Contemporary English) and Roget’s Thesaurus are few lexical resources for IR research.</a:t>
            </a:r>
            <a:endParaRPr>
              <a:latin typeface="Calibri"/>
              <a:ea typeface="Calibri"/>
              <a:cs typeface="Calibri"/>
              <a:sym typeface="Calibri"/>
            </a:endParaRPr>
          </a:p>
          <a:p>
            <a:pPr marL="685800" lvl="0" indent="0" algn="l" rtl="0">
              <a:lnSpc>
                <a:spcPct val="110000"/>
              </a:lnSpc>
              <a:spcBef>
                <a:spcPts val="700"/>
              </a:spcBef>
              <a:spcAft>
                <a:spcPts val="0"/>
              </a:spcAft>
              <a:buSzPts val="1800"/>
              <a:buNone/>
            </a:pPr>
            <a:endParaRPr>
              <a:latin typeface="Calibri"/>
              <a:ea typeface="Calibri"/>
              <a:cs typeface="Calibri"/>
              <a:sym typeface="Calibri"/>
            </a:endParaRPr>
          </a:p>
          <a:p>
            <a:pPr marL="228600" lvl="0" indent="-228600" algn="l" rtl="0">
              <a:lnSpc>
                <a:spcPct val="110000"/>
              </a:lnSpc>
              <a:spcBef>
                <a:spcPts val="700"/>
              </a:spcBef>
              <a:spcAft>
                <a:spcPts val="0"/>
              </a:spcAft>
              <a:buSzPts val="1800"/>
              <a:buChar char="•"/>
            </a:pPr>
            <a:r>
              <a:rPr lang="en-US" sz="1800">
                <a:highlight>
                  <a:srgbClr val="FFFF00"/>
                </a:highlight>
                <a:latin typeface="Calibri"/>
                <a:ea typeface="Calibri"/>
                <a:cs typeface="Calibri"/>
                <a:sym typeface="Calibri"/>
              </a:rPr>
              <a:t>Information Extraction</a:t>
            </a:r>
            <a:r>
              <a:rPr lang="en-US" sz="1800">
                <a:latin typeface="Calibri"/>
                <a:ea typeface="Calibri"/>
                <a:cs typeface="Calibri"/>
                <a:sym typeface="Calibri"/>
              </a:rPr>
              <a:t>:</a:t>
            </a:r>
            <a:endParaRPr sz="180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a:latin typeface="Calibri"/>
                <a:ea typeface="Calibri"/>
                <a:cs typeface="Calibri"/>
                <a:sym typeface="Calibri"/>
              </a:rPr>
              <a:t>Information extraction system c</a:t>
            </a:r>
            <a:r>
              <a:rPr lang="en-US" sz="1800">
                <a:latin typeface="Calibri"/>
                <a:ea typeface="Calibri"/>
                <a:cs typeface="Calibri"/>
                <a:sym typeface="Calibri"/>
              </a:rPr>
              <a:t>aptures and </a:t>
            </a:r>
            <a:r>
              <a:rPr lang="en-US">
                <a:latin typeface="Calibri"/>
                <a:ea typeface="Calibri"/>
                <a:cs typeface="Calibri"/>
                <a:sym typeface="Calibri"/>
              </a:rPr>
              <a:t>o</a:t>
            </a:r>
            <a:r>
              <a:rPr lang="en-US" sz="1800">
                <a:latin typeface="Calibri"/>
                <a:ea typeface="Calibri"/>
                <a:cs typeface="Calibri"/>
                <a:sym typeface="Calibri"/>
              </a:rPr>
              <a:t>utputs </a:t>
            </a:r>
            <a:r>
              <a:rPr lang="en-US" sz="1800" b="1">
                <a:solidFill>
                  <a:srgbClr val="FF0000"/>
                </a:solidFill>
                <a:latin typeface="Calibri"/>
                <a:ea typeface="Calibri"/>
                <a:cs typeface="Calibri"/>
                <a:sym typeface="Calibri"/>
              </a:rPr>
              <a:t>factual information contained within a document.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f917f9c746_0_28"/>
          <p:cNvSpPr txBox="1">
            <a:spLocks noGrp="1"/>
          </p:cNvSpPr>
          <p:nvPr>
            <p:ph type="title"/>
          </p:nvPr>
        </p:nvSpPr>
        <p:spPr>
          <a:xfrm>
            <a:off x="1251675" y="382381"/>
            <a:ext cx="10178400" cy="5667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SzPct val="46510"/>
              <a:buNone/>
            </a:pPr>
            <a:r>
              <a:rPr lang="en-US" sz="4300"/>
              <a:t>NLP APPLICATIONS</a:t>
            </a:r>
            <a:endParaRPr/>
          </a:p>
        </p:txBody>
      </p:sp>
      <p:sp>
        <p:nvSpPr>
          <p:cNvPr id="404" name="Google Shape;404;gf917f9c746_0_28"/>
          <p:cNvSpPr txBox="1">
            <a:spLocks noGrp="1"/>
          </p:cNvSpPr>
          <p:nvPr>
            <p:ph type="body" idx="1"/>
          </p:nvPr>
        </p:nvSpPr>
        <p:spPr>
          <a:xfrm>
            <a:off x="1251675" y="1091575"/>
            <a:ext cx="10178400" cy="5007000"/>
          </a:xfrm>
          <a:prstGeom prst="rect">
            <a:avLst/>
          </a:prstGeom>
          <a:noFill/>
          <a:ln>
            <a:noFill/>
          </a:ln>
        </p:spPr>
        <p:txBody>
          <a:bodyPr spcFirstLastPara="1" wrap="square" lIns="91425" tIns="45700" rIns="91425" bIns="45700" anchor="ctr" anchorCtr="0">
            <a:normAutofit/>
          </a:bodyPr>
          <a:lstStyle/>
          <a:p>
            <a:pPr marL="228600" lvl="0" indent="-228600" algn="l" rtl="0">
              <a:lnSpc>
                <a:spcPct val="110000"/>
              </a:lnSpc>
              <a:spcBef>
                <a:spcPts val="700"/>
              </a:spcBef>
              <a:spcAft>
                <a:spcPts val="0"/>
              </a:spcAft>
              <a:buSzPts val="1800"/>
              <a:buChar char="•"/>
            </a:pPr>
            <a:r>
              <a:rPr lang="en-US" sz="1800">
                <a:highlight>
                  <a:srgbClr val="FFFF00"/>
                </a:highlight>
                <a:latin typeface="Calibri"/>
                <a:ea typeface="Calibri"/>
                <a:cs typeface="Calibri"/>
                <a:sym typeface="Calibri"/>
              </a:rPr>
              <a:t>Question Answering</a:t>
            </a:r>
            <a:r>
              <a:rPr lang="en-US" sz="1800">
                <a:latin typeface="Calibri"/>
                <a:ea typeface="Calibri"/>
                <a:cs typeface="Calibri"/>
                <a:sym typeface="Calibri"/>
              </a:rPr>
              <a:t>:</a:t>
            </a:r>
            <a:endParaRPr sz="180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sz="1800">
                <a:latin typeface="Calibri"/>
                <a:ea typeface="Calibri"/>
                <a:cs typeface="Calibri"/>
                <a:sym typeface="Calibri"/>
              </a:rPr>
              <a:t>Given a question and a set of documents, a question answering system attempts to find the precise answer</a:t>
            </a:r>
            <a:r>
              <a:rPr lang="en-US">
                <a:latin typeface="Calibri"/>
                <a:ea typeface="Calibri"/>
                <a:cs typeface="Calibri"/>
                <a:sym typeface="Calibri"/>
              </a:rPr>
              <a:t>.</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It requires more NLP than IR system or an information extraction system</a:t>
            </a:r>
            <a:endParaRPr>
              <a:latin typeface="Calibri"/>
              <a:ea typeface="Calibri"/>
              <a:cs typeface="Calibri"/>
              <a:sym typeface="Calibri"/>
            </a:endParaRPr>
          </a:p>
          <a:p>
            <a:pPr marL="228600" lvl="0" indent="-228600" algn="l" rtl="0">
              <a:lnSpc>
                <a:spcPct val="110000"/>
              </a:lnSpc>
              <a:spcBef>
                <a:spcPts val="700"/>
              </a:spcBef>
              <a:spcAft>
                <a:spcPts val="0"/>
              </a:spcAft>
              <a:buSzPts val="1800"/>
              <a:buChar char="•"/>
            </a:pPr>
            <a:r>
              <a:rPr lang="en-US" sz="1800">
                <a:highlight>
                  <a:srgbClr val="FFFF00"/>
                </a:highlight>
                <a:latin typeface="Calibri"/>
                <a:ea typeface="Calibri"/>
                <a:cs typeface="Calibri"/>
                <a:sym typeface="Calibri"/>
              </a:rPr>
              <a:t>Text Summarization</a:t>
            </a:r>
            <a:r>
              <a:rPr lang="en-US" sz="1800">
                <a:latin typeface="Calibri"/>
                <a:ea typeface="Calibri"/>
                <a:cs typeface="Calibri"/>
                <a:sym typeface="Calibri"/>
              </a:rPr>
              <a:t>:</a:t>
            </a:r>
            <a:endParaRPr sz="1800">
              <a:latin typeface="Calibri"/>
              <a:ea typeface="Calibri"/>
              <a:cs typeface="Calibri"/>
              <a:sym typeface="Calibri"/>
            </a:endParaRPr>
          </a:p>
          <a:p>
            <a:pPr marL="685800" lvl="1" indent="-228600" algn="l" rtl="0">
              <a:lnSpc>
                <a:spcPct val="110000"/>
              </a:lnSpc>
              <a:spcBef>
                <a:spcPts val="700"/>
              </a:spcBef>
              <a:spcAft>
                <a:spcPts val="0"/>
              </a:spcAft>
              <a:buSzPts val="1800"/>
              <a:buChar char="–"/>
            </a:pPr>
            <a:r>
              <a:rPr lang="en-US" sz="1800">
                <a:latin typeface="Calibri"/>
                <a:ea typeface="Calibri"/>
                <a:cs typeface="Calibri"/>
                <a:sym typeface="Calibri"/>
              </a:rPr>
              <a:t>It deals with creation of summaries of documents and involves syntactic, semantic discourse level processing of text.</a:t>
            </a: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gf917f9c746_0_21"/>
          <p:cNvSpPr txBox="1">
            <a:spLocks noGrp="1"/>
          </p:cNvSpPr>
          <p:nvPr>
            <p:ph type="title"/>
          </p:nvPr>
        </p:nvSpPr>
        <p:spPr>
          <a:xfrm>
            <a:off x="1251675" y="382381"/>
            <a:ext cx="10178400" cy="566700"/>
          </a:xfrm>
          <a:prstGeom prst="rect">
            <a:avLst/>
          </a:prstGeom>
          <a:noFill/>
          <a:ln>
            <a:noFill/>
          </a:ln>
        </p:spPr>
        <p:txBody>
          <a:bodyPr spcFirstLastPara="1" wrap="square" lIns="91425" tIns="45700" rIns="91425" bIns="45700" anchor="t" anchorCtr="0">
            <a:noAutofit/>
          </a:bodyPr>
          <a:lstStyle/>
          <a:p>
            <a:pPr marL="0" lvl="0" indent="0" algn="ctr" rtl="0">
              <a:lnSpc>
                <a:spcPct val="110000"/>
              </a:lnSpc>
              <a:spcBef>
                <a:spcPts val="700"/>
              </a:spcBef>
              <a:spcAft>
                <a:spcPts val="0"/>
              </a:spcAft>
              <a:buClr>
                <a:schemeClr val="dk1"/>
              </a:buClr>
              <a:buSzPts val="990"/>
              <a:buFont typeface="Arial"/>
              <a:buNone/>
            </a:pPr>
            <a:r>
              <a:rPr lang="en-US" sz="2660" b="1">
                <a:solidFill>
                  <a:srgbClr val="595959"/>
                </a:solidFill>
                <a:latin typeface="Gill Sans"/>
                <a:ea typeface="Gill Sans"/>
                <a:cs typeface="Gill Sans"/>
                <a:sym typeface="Gill Sans"/>
              </a:rPr>
              <a:t>Difference between IR and IE</a:t>
            </a:r>
            <a:endParaRPr sz="4370"/>
          </a:p>
          <a:p>
            <a:pPr marL="0" lvl="0" indent="0" algn="l" rtl="0">
              <a:lnSpc>
                <a:spcPct val="90000"/>
              </a:lnSpc>
              <a:spcBef>
                <a:spcPts val="0"/>
              </a:spcBef>
              <a:spcAft>
                <a:spcPts val="0"/>
              </a:spcAft>
              <a:buSzPts val="990"/>
              <a:buNone/>
            </a:pPr>
            <a:endParaRPr sz="5090"/>
          </a:p>
        </p:txBody>
      </p:sp>
      <p:sp>
        <p:nvSpPr>
          <p:cNvPr id="410" name="Google Shape;410;gf917f9c746_0_21"/>
          <p:cNvSpPr txBox="1">
            <a:spLocks noGrp="1"/>
          </p:cNvSpPr>
          <p:nvPr>
            <p:ph type="body" idx="1"/>
          </p:nvPr>
        </p:nvSpPr>
        <p:spPr>
          <a:xfrm>
            <a:off x="1251678" y="2286001"/>
            <a:ext cx="10178400" cy="3593700"/>
          </a:xfrm>
          <a:prstGeom prst="rect">
            <a:avLst/>
          </a:prstGeom>
          <a:noFill/>
          <a:ln>
            <a:noFill/>
          </a:ln>
        </p:spPr>
        <p:txBody>
          <a:bodyPr spcFirstLastPara="1" wrap="square" lIns="91425" tIns="45700" rIns="91425" bIns="45700" anchor="t" anchorCtr="0">
            <a:normAutofit/>
          </a:bodyPr>
          <a:lstStyle/>
          <a:p>
            <a:pPr marL="228600" lvl="0" indent="-228600" algn="l" rtl="0">
              <a:lnSpc>
                <a:spcPct val="110000"/>
              </a:lnSpc>
              <a:spcBef>
                <a:spcPts val="700"/>
              </a:spcBef>
              <a:spcAft>
                <a:spcPts val="0"/>
              </a:spcAft>
              <a:buSzPts val="1800"/>
              <a:buChar char="•"/>
            </a:pPr>
            <a:endParaRPr>
              <a:latin typeface="Calibri"/>
              <a:ea typeface="Calibri"/>
              <a:cs typeface="Calibri"/>
              <a:sym typeface="Calibri"/>
            </a:endParaRPr>
          </a:p>
          <a:p>
            <a:pPr marL="0" lvl="0" indent="0" algn="l" rtl="0">
              <a:lnSpc>
                <a:spcPct val="110000"/>
              </a:lnSpc>
              <a:spcBef>
                <a:spcPts val="700"/>
              </a:spcBef>
              <a:spcAft>
                <a:spcPts val="0"/>
              </a:spcAft>
              <a:buClr>
                <a:schemeClr val="dk1"/>
              </a:buClr>
              <a:buSzPts val="1100"/>
              <a:buFont typeface="Arial"/>
              <a:buNone/>
            </a:pPr>
            <a:endParaRPr>
              <a:latin typeface="Calibri"/>
              <a:ea typeface="Calibri"/>
              <a:cs typeface="Calibri"/>
              <a:sym typeface="Calibri"/>
            </a:endParaRPr>
          </a:p>
          <a:p>
            <a:pPr marL="0" lvl="0" indent="0" algn="l" rtl="0">
              <a:lnSpc>
                <a:spcPct val="110000"/>
              </a:lnSpc>
              <a:spcBef>
                <a:spcPts val="700"/>
              </a:spcBef>
              <a:spcAft>
                <a:spcPts val="0"/>
              </a:spcAft>
              <a:buClr>
                <a:schemeClr val="dk1"/>
              </a:buClr>
              <a:buSzPts val="1100"/>
              <a:buFont typeface="Arial"/>
              <a:buNone/>
            </a:pPr>
            <a:endParaRPr/>
          </a:p>
          <a:p>
            <a:pPr marL="0" lvl="0" indent="0" algn="l" rtl="0">
              <a:lnSpc>
                <a:spcPct val="110000"/>
              </a:lnSpc>
              <a:spcBef>
                <a:spcPts val="700"/>
              </a:spcBef>
              <a:spcAft>
                <a:spcPts val="0"/>
              </a:spcAft>
              <a:buSzPts val="1800"/>
              <a:buNone/>
            </a:pPr>
            <a:endParaRPr/>
          </a:p>
        </p:txBody>
      </p:sp>
      <p:sp>
        <p:nvSpPr>
          <p:cNvPr id="411" name="Google Shape;411;gf917f9c746_0_21"/>
          <p:cNvSpPr txBox="1">
            <a:spLocks noGrp="1"/>
          </p:cNvSpPr>
          <p:nvPr>
            <p:ph type="body" idx="1"/>
          </p:nvPr>
        </p:nvSpPr>
        <p:spPr>
          <a:xfrm>
            <a:off x="1251675" y="949075"/>
            <a:ext cx="10376100" cy="5814000"/>
          </a:xfrm>
          <a:prstGeom prst="rect">
            <a:avLst/>
          </a:prstGeom>
          <a:noFill/>
          <a:ln>
            <a:noFill/>
          </a:ln>
        </p:spPr>
        <p:txBody>
          <a:bodyPr spcFirstLastPara="1" wrap="square" lIns="91425" tIns="45700" rIns="91425" bIns="45700" anchor="t" anchorCtr="0">
            <a:normAutofit/>
          </a:bodyPr>
          <a:lstStyle/>
          <a:p>
            <a:pPr marL="0" lvl="0" indent="0" algn="ctr" rtl="0">
              <a:lnSpc>
                <a:spcPct val="110000"/>
              </a:lnSpc>
              <a:spcBef>
                <a:spcPts val="700"/>
              </a:spcBef>
              <a:spcAft>
                <a:spcPts val="0"/>
              </a:spcAft>
              <a:buSzPts val="1800"/>
              <a:buNone/>
            </a:pPr>
            <a:endParaRPr sz="2400" b="1"/>
          </a:p>
        </p:txBody>
      </p:sp>
      <p:graphicFrame>
        <p:nvGraphicFramePr>
          <p:cNvPr id="412" name="Google Shape;412;gf917f9c746_0_21"/>
          <p:cNvGraphicFramePr/>
          <p:nvPr/>
        </p:nvGraphicFramePr>
        <p:xfrm>
          <a:off x="1575950" y="1905432"/>
          <a:ext cx="9727500" cy="4000075"/>
        </p:xfrm>
        <a:graphic>
          <a:graphicData uri="http://schemas.openxmlformats.org/drawingml/2006/table">
            <a:tbl>
              <a:tblPr>
                <a:noFill/>
                <a:tableStyleId>{C49AFCA2-374B-4C82-9F9E-54E23B5331E3}</a:tableStyleId>
              </a:tblPr>
              <a:tblGrid>
                <a:gridCol w="646250"/>
                <a:gridCol w="4364350"/>
                <a:gridCol w="4716900"/>
              </a:tblGrid>
              <a:tr h="64507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highlight>
                            <a:srgbClr val="EAD1DC"/>
                          </a:highlight>
                        </a:rPr>
                        <a:t>Sl. No.</a:t>
                      </a:r>
                      <a:endParaRPr sz="1400" b="1" u="none" strike="noStrike" cap="none">
                        <a:highlight>
                          <a:srgbClr val="EAD1DC"/>
                        </a:highlight>
                      </a:endParaRPr>
                    </a:p>
                  </a:txBody>
                  <a:tcPr marL="91425" marR="91425" marT="91425" marB="91425" anchor="ctr">
                    <a:solidFill>
                      <a:srgbClr val="EAD1D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highlight>
                            <a:srgbClr val="EAD1DC"/>
                          </a:highlight>
                        </a:rPr>
                        <a:t>IR system</a:t>
                      </a:r>
                      <a:endParaRPr sz="1400" b="1" u="none" strike="noStrike" cap="none">
                        <a:highlight>
                          <a:srgbClr val="EAD1DC"/>
                        </a:highlight>
                      </a:endParaRPr>
                    </a:p>
                  </a:txBody>
                  <a:tcPr marL="91425" marR="91425" marT="91425" marB="91425" anchor="ctr">
                    <a:solidFill>
                      <a:srgbClr val="EAD1DC"/>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highlight>
                            <a:srgbClr val="EAD1DC"/>
                          </a:highlight>
                        </a:rPr>
                        <a:t>IE system</a:t>
                      </a:r>
                      <a:endParaRPr sz="1400" b="1" u="none" strike="noStrike" cap="none">
                        <a:highlight>
                          <a:srgbClr val="EAD1DC"/>
                        </a:highlight>
                      </a:endParaRPr>
                    </a:p>
                  </a:txBody>
                  <a:tcPr marL="91425" marR="91425" marT="91425" marB="91425" anchor="ctr">
                    <a:solidFill>
                      <a:srgbClr val="EAD1DC"/>
                    </a:solidFill>
                  </a:tcPr>
                </a:tc>
              </a:tr>
              <a:tr h="8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1</a:t>
                      </a:r>
                      <a:endParaRPr sz="1400" u="none" strike="noStrike" cap="none"/>
                    </a:p>
                  </a:txBody>
                  <a:tcPr marL="91425" marR="91425" marT="91425" marB="91425" anchor="ctr">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Responds to user’s information need and the information need is expressed as a keyword query</a:t>
                      </a:r>
                      <a:endParaRPr sz="1400" u="none" strike="noStrike" cap="none"/>
                    </a:p>
                  </a:txBody>
                  <a:tcPr marL="91425" marR="91425" marT="91425" marB="91425">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Responds to user’s information need and the information need is specified as predefined database schemas or templates.</a:t>
                      </a:r>
                      <a:endParaRPr sz="1400" u="none" strike="noStrike" cap="none"/>
                    </a:p>
                  </a:txBody>
                  <a:tcPr marL="91425" marR="91425" marT="91425" marB="91425">
                    <a:solidFill>
                      <a:srgbClr val="CFE2F3"/>
                    </a:solidFill>
                  </a:tcPr>
                </a:tc>
              </a:tr>
              <a:tr h="8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2</a:t>
                      </a:r>
                      <a:endParaRPr sz="1400" u="none" strike="noStrike" cap="none"/>
                    </a:p>
                  </a:txBody>
                  <a:tcPr marL="91425" marR="91425" marT="91425" marB="91425" anchor="ctr">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Task of finding text documents which are relevant to a user’s information need</a:t>
                      </a:r>
                      <a:endParaRPr sz="1400" u="none" strike="noStrike" cap="none"/>
                    </a:p>
                  </a:txBody>
                  <a:tcPr marL="91425" marR="91425" marT="91425" marB="91425">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Goal is to extract prespecified features from documents</a:t>
                      </a:r>
                      <a:endParaRPr sz="1400" u="none" strike="noStrike" cap="none"/>
                    </a:p>
                  </a:txBody>
                  <a:tcPr marL="91425" marR="91425" marT="91425" marB="91425">
                    <a:solidFill>
                      <a:srgbClr val="CFE2F3"/>
                    </a:solidFill>
                  </a:tcPr>
                </a:tc>
              </a:tr>
              <a:tr h="870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3</a:t>
                      </a:r>
                      <a:endParaRPr sz="1400" u="none" strike="noStrike" cap="none"/>
                    </a:p>
                  </a:txBody>
                  <a:tcPr marL="91425" marR="91425" marT="91425" marB="91425" anchor="ctr">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Document retrieval</a:t>
                      </a:r>
                      <a:endParaRPr sz="1400" u="none" strike="noStrike" cap="none"/>
                    </a:p>
                  </a:txBody>
                  <a:tcPr marL="91425" marR="91425" marT="91425" marB="91425">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Feature retrieval</a:t>
                      </a:r>
                      <a:endParaRPr sz="1400" u="none" strike="noStrike" cap="none"/>
                    </a:p>
                  </a:txBody>
                  <a:tcPr marL="91425" marR="91425" marT="91425" marB="91425">
                    <a:solidFill>
                      <a:srgbClr val="CFE2F3"/>
                    </a:solidFill>
                  </a:tcPr>
                </a:tc>
              </a:tr>
              <a:tr h="7424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t>4</a:t>
                      </a:r>
                      <a:endParaRPr sz="1400" u="none" strike="noStrike" cap="none"/>
                    </a:p>
                  </a:txBody>
                  <a:tcPr marL="91425" marR="91425" marT="91425" marB="91425" anchor="ctr">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Actual information buried inside the document</a:t>
                      </a:r>
                      <a:endParaRPr sz="1400" u="none" strike="noStrike" cap="none"/>
                    </a:p>
                  </a:txBody>
                  <a:tcPr marL="91425" marR="91425" marT="91425" marB="91425">
                    <a:solidFill>
                      <a:srgbClr val="CFE2F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Extract information from within the document</a:t>
                      </a:r>
                      <a:endParaRPr sz="1400" u="none" strike="noStrike" cap="none"/>
                    </a:p>
                  </a:txBody>
                  <a:tcPr marL="91425" marR="91425" marT="91425" marB="91425">
                    <a:solidFill>
                      <a:srgbClr val="CFE2F3"/>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25"/>
          <p:cNvSpPr txBox="1">
            <a:spLocks noGrp="1"/>
          </p:cNvSpPr>
          <p:nvPr>
            <p:ph type="title"/>
          </p:nvPr>
        </p:nvSpPr>
        <p:spPr>
          <a:xfrm>
            <a:off x="1251678" y="382385"/>
            <a:ext cx="10178322" cy="68903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EARLY NLP SYSTEMS</a:t>
            </a:r>
            <a:endParaRPr/>
          </a:p>
        </p:txBody>
      </p:sp>
      <p:sp>
        <p:nvSpPr>
          <p:cNvPr id="418" name="Google Shape;418;p25"/>
          <p:cNvSpPr txBox="1">
            <a:spLocks noGrp="1"/>
          </p:cNvSpPr>
          <p:nvPr>
            <p:ph type="body" idx="1"/>
          </p:nvPr>
        </p:nvSpPr>
        <p:spPr>
          <a:xfrm>
            <a:off x="1251675" y="1071424"/>
            <a:ext cx="10178400" cy="5620500"/>
          </a:xfrm>
          <a:prstGeom prst="rect">
            <a:avLst/>
          </a:prstGeom>
          <a:noFill/>
          <a:ln>
            <a:noFill/>
          </a:ln>
        </p:spPr>
        <p:txBody>
          <a:bodyPr spcFirstLastPara="1" wrap="square" lIns="91425" tIns="45700" rIns="91425" bIns="45700" anchor="t" anchorCtr="0">
            <a:normAutofit fontScale="62500" lnSpcReduction="20000"/>
          </a:bodyPr>
          <a:lstStyle/>
          <a:p>
            <a:pPr marL="228600" lvl="0" indent="-167640" algn="l" rtl="0">
              <a:lnSpc>
                <a:spcPct val="110000"/>
              </a:lnSpc>
              <a:spcBef>
                <a:spcPts val="0"/>
              </a:spcBef>
              <a:spcAft>
                <a:spcPts val="0"/>
              </a:spcAft>
              <a:buSzPct val="100000"/>
              <a:buChar char="•"/>
            </a:pPr>
            <a:r>
              <a:rPr lang="en-US" sz="3200" b="1"/>
              <a:t>ELIZA (Weizenbaum 1966)</a:t>
            </a:r>
            <a:endParaRPr sz="3200" b="1"/>
          </a:p>
          <a:p>
            <a:pPr marL="685800" lvl="1" indent="-241300" algn="l" rtl="0">
              <a:lnSpc>
                <a:spcPct val="110000"/>
              </a:lnSpc>
              <a:spcBef>
                <a:spcPts val="0"/>
              </a:spcBef>
              <a:spcAft>
                <a:spcPts val="0"/>
              </a:spcAft>
              <a:buSzPct val="100000"/>
              <a:buChar char="–"/>
            </a:pPr>
            <a:r>
              <a:rPr lang="en-US" sz="3200"/>
              <a:t>One of the earliest natural language understanding programs.</a:t>
            </a:r>
            <a:endParaRPr sz="3200"/>
          </a:p>
          <a:p>
            <a:pPr marL="685800" lvl="1" indent="-241300" algn="l" rtl="0">
              <a:lnSpc>
                <a:spcPct val="110000"/>
              </a:lnSpc>
              <a:spcBef>
                <a:spcPts val="0"/>
              </a:spcBef>
              <a:spcAft>
                <a:spcPts val="0"/>
              </a:spcAft>
              <a:buSzPct val="100000"/>
              <a:buChar char="–"/>
            </a:pPr>
            <a:r>
              <a:rPr lang="en-US" sz="3200"/>
              <a:t>Uses syntactic patterns to mimic human conversation with the user.</a:t>
            </a:r>
            <a:endParaRPr sz="3200"/>
          </a:p>
          <a:p>
            <a:pPr marL="228600" lvl="0" indent="-167640" algn="l" rtl="0">
              <a:lnSpc>
                <a:spcPct val="110000"/>
              </a:lnSpc>
              <a:spcBef>
                <a:spcPts val="700"/>
              </a:spcBef>
              <a:spcAft>
                <a:spcPts val="0"/>
              </a:spcAft>
              <a:buSzPct val="100000"/>
              <a:buChar char="•"/>
            </a:pPr>
            <a:r>
              <a:rPr lang="en-US" sz="3200" b="1"/>
              <a:t>SysTran (System Translation)</a:t>
            </a:r>
            <a:endParaRPr sz="3200" b="1"/>
          </a:p>
          <a:p>
            <a:pPr marL="685800" lvl="1" indent="-241300" algn="l" rtl="0">
              <a:lnSpc>
                <a:spcPct val="110000"/>
              </a:lnSpc>
              <a:spcBef>
                <a:spcPts val="700"/>
              </a:spcBef>
              <a:spcAft>
                <a:spcPts val="0"/>
              </a:spcAft>
              <a:buSzPct val="100000"/>
              <a:buChar char="–"/>
            </a:pPr>
            <a:r>
              <a:rPr lang="en-US" sz="3200"/>
              <a:t>Developed in 1969 for Russian-English translation.</a:t>
            </a:r>
            <a:endParaRPr sz="3200"/>
          </a:p>
          <a:p>
            <a:pPr marL="685800" lvl="1" indent="-241300" algn="l" rtl="0">
              <a:lnSpc>
                <a:spcPct val="110000"/>
              </a:lnSpc>
              <a:spcBef>
                <a:spcPts val="700"/>
              </a:spcBef>
              <a:spcAft>
                <a:spcPts val="0"/>
              </a:spcAft>
              <a:buSzPct val="100000"/>
              <a:buChar char="–"/>
            </a:pPr>
            <a:r>
              <a:rPr lang="en-US" sz="3200"/>
              <a:t>Provided the first online machine translation service called Babel Fish which is used by Alta Vista search engines for handling translation requests from users</a:t>
            </a:r>
            <a:endParaRPr sz="3200"/>
          </a:p>
          <a:p>
            <a:pPr marL="228600" lvl="0" indent="-167640" algn="l" rtl="0">
              <a:lnSpc>
                <a:spcPct val="110000"/>
              </a:lnSpc>
              <a:spcBef>
                <a:spcPts val="700"/>
              </a:spcBef>
              <a:spcAft>
                <a:spcPts val="0"/>
              </a:spcAft>
              <a:buSzPct val="100000"/>
              <a:buChar char="•"/>
            </a:pPr>
            <a:r>
              <a:rPr lang="en-US" sz="3200" b="1"/>
              <a:t>TAUM METEO</a:t>
            </a:r>
            <a:endParaRPr sz="3200" b="1"/>
          </a:p>
          <a:p>
            <a:pPr marL="685800" lvl="1" indent="-241300" algn="l" rtl="0">
              <a:lnSpc>
                <a:spcPct val="110000"/>
              </a:lnSpc>
              <a:spcBef>
                <a:spcPts val="700"/>
              </a:spcBef>
              <a:spcAft>
                <a:spcPts val="0"/>
              </a:spcAft>
              <a:buSzPct val="100000"/>
              <a:buChar char="–"/>
            </a:pPr>
            <a:r>
              <a:rPr lang="en-US" sz="3200"/>
              <a:t>a natural language generation system used in Canada to generate weather reports.</a:t>
            </a:r>
            <a:endParaRPr sz="3200"/>
          </a:p>
          <a:p>
            <a:pPr marL="685800" lvl="1" indent="-241300" algn="l" rtl="0">
              <a:lnSpc>
                <a:spcPct val="110000"/>
              </a:lnSpc>
              <a:spcBef>
                <a:spcPts val="700"/>
              </a:spcBef>
              <a:spcAft>
                <a:spcPts val="0"/>
              </a:spcAft>
              <a:buSzPct val="100000"/>
              <a:buChar char="–"/>
            </a:pPr>
            <a:r>
              <a:rPr lang="en-US" sz="3200"/>
              <a:t>Accepts daily weather data and generates weather reports in English and French.</a:t>
            </a:r>
            <a:endParaRPr sz="3200"/>
          </a:p>
          <a:p>
            <a:pPr marL="228600" lvl="0" indent="-167640" algn="l" rtl="0">
              <a:lnSpc>
                <a:spcPct val="110000"/>
              </a:lnSpc>
              <a:spcBef>
                <a:spcPts val="700"/>
              </a:spcBef>
              <a:spcAft>
                <a:spcPts val="0"/>
              </a:spcAft>
              <a:buSzPct val="100000"/>
              <a:buChar char="•"/>
            </a:pPr>
            <a:r>
              <a:rPr lang="en-US" sz="3200" b="1"/>
              <a:t>SHRDLU (Winogard 1972)</a:t>
            </a:r>
            <a:endParaRPr sz="3200" b="1"/>
          </a:p>
          <a:p>
            <a:pPr marL="685800" lvl="1" indent="-241300" algn="l" rtl="0">
              <a:lnSpc>
                <a:spcPct val="110000"/>
              </a:lnSpc>
              <a:spcBef>
                <a:spcPts val="700"/>
              </a:spcBef>
              <a:spcAft>
                <a:spcPts val="0"/>
              </a:spcAft>
              <a:buSzPct val="100000"/>
              <a:buChar char="–"/>
            </a:pPr>
            <a:r>
              <a:rPr lang="en-US" sz="3200"/>
              <a:t>a natural language understanding system that simulates actions of a robot in a block world domain. </a:t>
            </a:r>
            <a:endParaRPr sz="3200"/>
          </a:p>
          <a:p>
            <a:pPr marL="685800" lvl="1" indent="-241300" algn="l" rtl="0">
              <a:lnSpc>
                <a:spcPct val="110000"/>
              </a:lnSpc>
              <a:spcBef>
                <a:spcPts val="700"/>
              </a:spcBef>
              <a:spcAft>
                <a:spcPts val="0"/>
              </a:spcAft>
              <a:buSzPct val="100000"/>
              <a:buChar char="–"/>
            </a:pPr>
            <a:r>
              <a:rPr lang="en-US" sz="3200"/>
              <a:t>uses syntactic parsing and semantic reasoning to understand instructions. </a:t>
            </a:r>
            <a:endParaRPr sz="3200"/>
          </a:p>
          <a:p>
            <a:pPr marL="228600" lvl="0" indent="-167640" algn="l" rtl="0">
              <a:lnSpc>
                <a:spcPct val="110000"/>
              </a:lnSpc>
              <a:spcBef>
                <a:spcPts val="700"/>
              </a:spcBef>
              <a:spcAft>
                <a:spcPts val="0"/>
              </a:spcAft>
              <a:buSzPct val="100000"/>
              <a:buChar char="•"/>
            </a:pPr>
            <a:r>
              <a:rPr lang="en-US" sz="3200" b="1"/>
              <a:t>LUNAR (Woods 1977)</a:t>
            </a:r>
            <a:endParaRPr sz="3200" b="1"/>
          </a:p>
          <a:p>
            <a:pPr marL="685800" lvl="1" indent="-241300" algn="l" rtl="0">
              <a:lnSpc>
                <a:spcPct val="110000"/>
              </a:lnSpc>
              <a:spcBef>
                <a:spcPts val="700"/>
              </a:spcBef>
              <a:spcAft>
                <a:spcPts val="0"/>
              </a:spcAft>
              <a:buSzPct val="100000"/>
              <a:buChar char="–"/>
            </a:pPr>
            <a:r>
              <a:rPr lang="en-US" sz="3200"/>
              <a:t>a early question answering system that answered questions about moon rock.</a:t>
            </a:r>
            <a:endParaRPr sz="3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6"/>
          <p:cNvSpPr txBox="1">
            <a:spLocks noGrp="1"/>
          </p:cNvSpPr>
          <p:nvPr>
            <p:ph type="title"/>
          </p:nvPr>
        </p:nvSpPr>
        <p:spPr>
          <a:xfrm>
            <a:off x="1251675" y="382377"/>
            <a:ext cx="10178400" cy="661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62626"/>
              </a:buClr>
              <a:buSzPct val="121428"/>
              <a:buFont typeface="Impact"/>
              <a:buNone/>
            </a:pPr>
            <a:r>
              <a:rPr lang="en-US" sz="4200"/>
              <a:t>INFORMATION RETRIEVAL</a:t>
            </a:r>
            <a:endParaRPr sz="4200"/>
          </a:p>
        </p:txBody>
      </p:sp>
      <p:sp>
        <p:nvSpPr>
          <p:cNvPr id="424" name="Google Shape;424;p26"/>
          <p:cNvSpPr txBox="1">
            <a:spLocks noGrp="1"/>
          </p:cNvSpPr>
          <p:nvPr>
            <p:ph type="body" idx="1"/>
          </p:nvPr>
        </p:nvSpPr>
        <p:spPr>
          <a:xfrm>
            <a:off x="1251675" y="1044175"/>
            <a:ext cx="10178400" cy="5529000"/>
          </a:xfrm>
          <a:prstGeom prst="rect">
            <a:avLst/>
          </a:prstGeom>
          <a:noFill/>
          <a:ln>
            <a:noFill/>
          </a:ln>
        </p:spPr>
        <p:txBody>
          <a:bodyPr spcFirstLastPara="1" wrap="square" lIns="91425" tIns="45700" rIns="91425" bIns="45700" anchor="ctr" anchorCtr="0">
            <a:noAutofit/>
          </a:bodyPr>
          <a:lstStyle/>
          <a:p>
            <a:pPr marL="228600" lvl="0" indent="-222250" algn="l" rtl="0">
              <a:lnSpc>
                <a:spcPct val="110000"/>
              </a:lnSpc>
              <a:spcBef>
                <a:spcPts val="0"/>
              </a:spcBef>
              <a:spcAft>
                <a:spcPts val="0"/>
              </a:spcAft>
              <a:buSzPts val="1700"/>
              <a:buFont typeface="Calibri"/>
              <a:buChar char="•"/>
            </a:pPr>
            <a:r>
              <a:rPr lang="en-US" sz="1700">
                <a:latin typeface="Calibri"/>
                <a:ea typeface="Calibri"/>
                <a:cs typeface="Calibri"/>
                <a:sym typeface="Calibri"/>
              </a:rPr>
              <a:t>IR systems aim at providing a solution to get relevant information from large amount of text which  is available in electronic form.</a:t>
            </a:r>
            <a:endParaRPr sz="1700">
              <a:latin typeface="Calibri"/>
              <a:ea typeface="Calibri"/>
              <a:cs typeface="Calibri"/>
              <a:sym typeface="Calibri"/>
            </a:endParaRPr>
          </a:p>
          <a:p>
            <a:pPr marL="228600" lvl="0" indent="-222250" algn="l" rtl="0">
              <a:lnSpc>
                <a:spcPct val="110000"/>
              </a:lnSpc>
              <a:spcBef>
                <a:spcPts val="0"/>
              </a:spcBef>
              <a:spcAft>
                <a:spcPts val="0"/>
              </a:spcAft>
              <a:buSzPts val="1700"/>
              <a:buFont typeface="Calibri"/>
              <a:buChar char="•"/>
            </a:pPr>
            <a:r>
              <a:rPr lang="en-US" sz="1700" b="1">
                <a:latin typeface="Calibri"/>
                <a:ea typeface="Calibri"/>
                <a:cs typeface="Calibri"/>
                <a:sym typeface="Calibri"/>
              </a:rPr>
              <a:t>Information </a:t>
            </a:r>
            <a:r>
              <a:rPr lang="en-US" sz="1700">
                <a:latin typeface="Calibri"/>
                <a:ea typeface="Calibri"/>
                <a:cs typeface="Calibri"/>
                <a:sym typeface="Calibri"/>
              </a:rPr>
              <a:t>- reflects ‘subject matter’ or the ‘content’ of some text. Its is concerned with text only.</a:t>
            </a:r>
            <a:endParaRPr sz="1700">
              <a:latin typeface="Calibri"/>
              <a:ea typeface="Calibri"/>
              <a:cs typeface="Calibri"/>
              <a:sym typeface="Calibri"/>
            </a:endParaRPr>
          </a:p>
          <a:p>
            <a:pPr marL="228600" lvl="0" indent="-222250" algn="l" rtl="0">
              <a:lnSpc>
                <a:spcPct val="110000"/>
              </a:lnSpc>
              <a:spcBef>
                <a:spcPts val="0"/>
              </a:spcBef>
              <a:spcAft>
                <a:spcPts val="0"/>
              </a:spcAft>
              <a:buSzPts val="1700"/>
              <a:buFont typeface="Calibri"/>
              <a:buChar char="•"/>
            </a:pPr>
            <a:r>
              <a:rPr lang="en-US" sz="1700" b="1">
                <a:latin typeface="Calibri"/>
                <a:ea typeface="Calibri"/>
                <a:cs typeface="Calibri"/>
                <a:sym typeface="Calibri"/>
              </a:rPr>
              <a:t>Retrieval </a:t>
            </a:r>
            <a:r>
              <a:rPr lang="en-US" sz="1700">
                <a:latin typeface="Calibri"/>
                <a:ea typeface="Calibri"/>
                <a:cs typeface="Calibri"/>
                <a:sym typeface="Calibri"/>
              </a:rPr>
              <a:t>- refers to operation of  accessing information from text</a:t>
            </a:r>
            <a:endParaRPr sz="1700">
              <a:latin typeface="Calibri"/>
              <a:ea typeface="Calibri"/>
              <a:cs typeface="Calibri"/>
              <a:sym typeface="Calibri"/>
            </a:endParaRPr>
          </a:p>
          <a:p>
            <a:pPr marL="685800" lvl="1" indent="-222250" algn="l" rtl="0">
              <a:lnSpc>
                <a:spcPct val="110000"/>
              </a:lnSpc>
              <a:spcBef>
                <a:spcPts val="0"/>
              </a:spcBef>
              <a:spcAft>
                <a:spcPts val="0"/>
              </a:spcAft>
              <a:buSzPts val="1700"/>
              <a:buFont typeface="Calibri"/>
              <a:buChar char="–"/>
            </a:pPr>
            <a:r>
              <a:rPr lang="en-US" sz="1700">
                <a:latin typeface="Calibri"/>
                <a:ea typeface="Calibri"/>
                <a:cs typeface="Calibri"/>
                <a:sym typeface="Calibri"/>
              </a:rPr>
              <a:t>it requires information to be processed and stored</a:t>
            </a:r>
            <a:endParaRPr sz="1700">
              <a:latin typeface="Calibri"/>
              <a:ea typeface="Calibri"/>
              <a:cs typeface="Calibri"/>
              <a:sym typeface="Calibri"/>
            </a:endParaRPr>
          </a:p>
          <a:p>
            <a:pPr marL="685800" lvl="1" indent="-222250" algn="l" rtl="0">
              <a:lnSpc>
                <a:spcPct val="110000"/>
              </a:lnSpc>
              <a:spcBef>
                <a:spcPts val="0"/>
              </a:spcBef>
              <a:spcAft>
                <a:spcPts val="0"/>
              </a:spcAft>
              <a:buSzPts val="1700"/>
              <a:buFont typeface="Calibri"/>
              <a:buChar char="–"/>
            </a:pPr>
            <a:r>
              <a:rPr lang="en-US" sz="1700">
                <a:latin typeface="Calibri"/>
                <a:ea typeface="Calibri"/>
                <a:cs typeface="Calibri"/>
                <a:sym typeface="Calibri"/>
              </a:rPr>
              <a:t>Not all information is retrieved, only the information relevant to the needs expressed in the form of query is located.</a:t>
            </a:r>
            <a:endParaRPr sz="1700">
              <a:latin typeface="Calibri"/>
              <a:ea typeface="Calibri"/>
              <a:cs typeface="Calibri"/>
              <a:sym typeface="Calibri"/>
            </a:endParaRPr>
          </a:p>
          <a:p>
            <a:pPr marL="685800" lvl="1" indent="-222250" algn="l" rtl="0">
              <a:lnSpc>
                <a:spcPct val="110000"/>
              </a:lnSpc>
              <a:spcBef>
                <a:spcPts val="0"/>
              </a:spcBef>
              <a:spcAft>
                <a:spcPts val="0"/>
              </a:spcAft>
              <a:buSzPts val="1700"/>
              <a:buFont typeface="Calibri"/>
              <a:buChar char="–"/>
            </a:pPr>
            <a:r>
              <a:rPr lang="en-US" sz="1700">
                <a:latin typeface="Calibri"/>
                <a:ea typeface="Calibri"/>
                <a:cs typeface="Calibri"/>
                <a:sym typeface="Calibri"/>
              </a:rPr>
              <a:t>to ensure the relevance, the stored and processed information will be compared against query.</a:t>
            </a:r>
            <a:endParaRPr sz="1700">
              <a:latin typeface="Calibri"/>
              <a:ea typeface="Calibri"/>
              <a:cs typeface="Calibri"/>
              <a:sym typeface="Calibri"/>
            </a:endParaRPr>
          </a:p>
          <a:p>
            <a:pPr marL="228600" lvl="0" indent="-222250" algn="l" rtl="0">
              <a:lnSpc>
                <a:spcPct val="110000"/>
              </a:lnSpc>
              <a:spcBef>
                <a:spcPts val="0"/>
              </a:spcBef>
              <a:spcAft>
                <a:spcPts val="0"/>
              </a:spcAft>
              <a:buSzPts val="1700"/>
              <a:buFont typeface="Calibri"/>
              <a:buChar char="•"/>
            </a:pPr>
            <a:r>
              <a:rPr lang="en-US" sz="1700">
                <a:latin typeface="Calibri"/>
                <a:ea typeface="Calibri"/>
                <a:cs typeface="Calibri"/>
                <a:sym typeface="Calibri"/>
              </a:rPr>
              <a:t>Hence, IR is concerned with the organization, storage, retrieval and evaluation of information relevant to the query.</a:t>
            </a:r>
            <a:endParaRPr sz="1700">
              <a:latin typeface="Calibri"/>
              <a:ea typeface="Calibri"/>
              <a:cs typeface="Calibri"/>
              <a:sym typeface="Calibri"/>
            </a:endParaRPr>
          </a:p>
          <a:p>
            <a:pPr marL="228600" lvl="0" indent="-222250" algn="l" rtl="0">
              <a:lnSpc>
                <a:spcPct val="110000"/>
              </a:lnSpc>
              <a:spcBef>
                <a:spcPts val="0"/>
              </a:spcBef>
              <a:spcAft>
                <a:spcPts val="0"/>
              </a:spcAft>
              <a:buSzPts val="1700"/>
              <a:buFont typeface="Calibri"/>
              <a:buChar char="•"/>
            </a:pPr>
            <a:r>
              <a:rPr lang="en-US" sz="1700">
                <a:latin typeface="Calibri"/>
                <a:ea typeface="Calibri"/>
                <a:cs typeface="Calibri"/>
                <a:sym typeface="Calibri"/>
              </a:rPr>
              <a:t>IR deals with unstructured data. Retrieval is performed based on the content of the document rather than on its structure.</a:t>
            </a:r>
            <a:endParaRPr sz="1700">
              <a:latin typeface="Calibri"/>
              <a:ea typeface="Calibri"/>
              <a:cs typeface="Calibri"/>
              <a:sym typeface="Calibri"/>
            </a:endParaRPr>
          </a:p>
          <a:p>
            <a:pPr marL="228600" lvl="0" indent="-222250" algn="l" rtl="0">
              <a:lnSpc>
                <a:spcPct val="110000"/>
              </a:lnSpc>
              <a:spcBef>
                <a:spcPts val="0"/>
              </a:spcBef>
              <a:spcAft>
                <a:spcPts val="0"/>
              </a:spcAft>
              <a:buSzPts val="1700"/>
              <a:buFont typeface="Calibri"/>
              <a:buChar char="•"/>
            </a:pPr>
            <a:r>
              <a:rPr lang="en-US" sz="1700">
                <a:latin typeface="Calibri"/>
                <a:ea typeface="Calibri"/>
                <a:cs typeface="Calibri"/>
                <a:sym typeface="Calibri"/>
              </a:rPr>
              <a:t>IR system returns a ranked list of documents.</a:t>
            </a:r>
            <a:endParaRPr sz="1700">
              <a:latin typeface="Calibri"/>
              <a:ea typeface="Calibri"/>
              <a:cs typeface="Calibri"/>
              <a:sym typeface="Calibri"/>
            </a:endParaRPr>
          </a:p>
          <a:p>
            <a:pPr marL="228600" lvl="0" indent="-209550" algn="l" rtl="0">
              <a:lnSpc>
                <a:spcPct val="110000"/>
              </a:lnSpc>
              <a:spcBef>
                <a:spcPts val="0"/>
              </a:spcBef>
              <a:spcAft>
                <a:spcPts val="0"/>
              </a:spcAft>
              <a:buSzPts val="1700"/>
              <a:buChar char="•"/>
            </a:pPr>
            <a:r>
              <a:rPr lang="en-US" sz="1700"/>
              <a:t>Two approaches for accessing large text collections -</a:t>
            </a:r>
            <a:endParaRPr sz="1700"/>
          </a:p>
          <a:p>
            <a:pPr marL="685800" lvl="1" indent="-222250" algn="l" rtl="0">
              <a:lnSpc>
                <a:spcPct val="110000"/>
              </a:lnSpc>
              <a:spcBef>
                <a:spcPts val="0"/>
              </a:spcBef>
              <a:spcAft>
                <a:spcPts val="0"/>
              </a:spcAft>
              <a:buSzPts val="1700"/>
              <a:buChar char="–"/>
            </a:pPr>
            <a:r>
              <a:rPr lang="en-US" sz="1700" b="1"/>
              <a:t>constructs topic hierarchy</a:t>
            </a:r>
            <a:r>
              <a:rPr lang="en-US" sz="1700"/>
              <a:t>, eg. Yahoo </a:t>
            </a:r>
            <a:endParaRPr sz="1700"/>
          </a:p>
          <a:p>
            <a:pPr marL="1143000" lvl="2" indent="-222250" algn="l" rtl="0">
              <a:lnSpc>
                <a:spcPct val="110000"/>
              </a:lnSpc>
              <a:spcBef>
                <a:spcPts val="0"/>
              </a:spcBef>
              <a:spcAft>
                <a:spcPts val="0"/>
              </a:spcAft>
              <a:buSzPts val="1700"/>
              <a:buChar char="•"/>
            </a:pPr>
            <a:r>
              <a:rPr lang="en-US" sz="1700"/>
              <a:t>helps the user locate documents of interest manually by traversing the hierarchy</a:t>
            </a:r>
            <a:endParaRPr sz="1700"/>
          </a:p>
          <a:p>
            <a:pPr marL="1143000" lvl="2" indent="-222250" algn="l" rtl="0">
              <a:lnSpc>
                <a:spcPct val="110000"/>
              </a:lnSpc>
              <a:spcBef>
                <a:spcPts val="0"/>
              </a:spcBef>
              <a:spcAft>
                <a:spcPts val="0"/>
              </a:spcAft>
              <a:buSzPts val="1700"/>
              <a:buChar char="•"/>
            </a:pPr>
            <a:r>
              <a:rPr lang="en-US" sz="1700"/>
              <a:t>its cost ineffective and inapplicable due to rapid growth of documents on WEB</a:t>
            </a:r>
            <a:endParaRPr sz="1700"/>
          </a:p>
          <a:p>
            <a:pPr marL="685800" lvl="1" indent="-222250" algn="l" rtl="0">
              <a:lnSpc>
                <a:spcPct val="110000"/>
              </a:lnSpc>
              <a:spcBef>
                <a:spcPts val="0"/>
              </a:spcBef>
              <a:spcAft>
                <a:spcPts val="0"/>
              </a:spcAft>
              <a:buSzPts val="1700"/>
              <a:buChar char="–"/>
            </a:pPr>
            <a:r>
              <a:rPr lang="en-US" sz="1700" b="1"/>
              <a:t>ranks the retrieved documents according to relevance.</a:t>
            </a:r>
            <a:endParaRPr sz="1700" b="1"/>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gf917f9c746_0_33"/>
          <p:cNvSpPr txBox="1">
            <a:spLocks noGrp="1"/>
          </p:cNvSpPr>
          <p:nvPr>
            <p:ph type="title"/>
          </p:nvPr>
        </p:nvSpPr>
        <p:spPr>
          <a:xfrm>
            <a:off x="1251675" y="382380"/>
            <a:ext cx="10178400" cy="7329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62626"/>
              </a:buClr>
              <a:buSzPts val="5100"/>
              <a:buFont typeface="Impact"/>
              <a:buNone/>
            </a:pPr>
            <a:r>
              <a:rPr lang="en-US" sz="4500"/>
              <a:t>INFORMATION RETRIEVAL</a:t>
            </a:r>
            <a:endParaRPr sz="4500"/>
          </a:p>
        </p:txBody>
      </p:sp>
      <p:sp>
        <p:nvSpPr>
          <p:cNvPr id="430" name="Google Shape;430;gf917f9c746_0_33"/>
          <p:cNvSpPr txBox="1">
            <a:spLocks noGrp="1"/>
          </p:cNvSpPr>
          <p:nvPr>
            <p:ph type="body" idx="1"/>
          </p:nvPr>
        </p:nvSpPr>
        <p:spPr>
          <a:xfrm>
            <a:off x="1251675" y="1115325"/>
            <a:ext cx="10178400" cy="5624100"/>
          </a:xfrm>
          <a:prstGeom prst="rect">
            <a:avLst/>
          </a:prstGeom>
          <a:noFill/>
          <a:ln>
            <a:noFill/>
          </a:ln>
        </p:spPr>
        <p:txBody>
          <a:bodyPr spcFirstLastPara="1" wrap="square" lIns="91425" tIns="45700" rIns="91425" bIns="45700" anchor="ctr" anchorCtr="0">
            <a:normAutofit fontScale="92500" lnSpcReduction="10000"/>
          </a:bodyPr>
          <a:lstStyle/>
          <a:p>
            <a:pPr marL="0" lvl="0" indent="0" algn="l" rtl="0">
              <a:lnSpc>
                <a:spcPct val="110000"/>
              </a:lnSpc>
              <a:spcBef>
                <a:spcPts val="700"/>
              </a:spcBef>
              <a:spcAft>
                <a:spcPts val="0"/>
              </a:spcAft>
              <a:buSzPct val="92664"/>
              <a:buNone/>
            </a:pPr>
            <a:r>
              <a:rPr lang="en-US" sz="2100" b="1">
                <a:highlight>
                  <a:srgbClr val="00FFFF"/>
                </a:highlight>
                <a:latin typeface="Calibri"/>
                <a:ea typeface="Calibri"/>
                <a:cs typeface="Calibri"/>
                <a:sym typeface="Calibri"/>
              </a:rPr>
              <a:t>Major issues in Information Retrieval:</a:t>
            </a:r>
            <a:endParaRPr sz="2100" b="1">
              <a:highlight>
                <a:srgbClr val="00FFFF"/>
              </a:highlight>
              <a:latin typeface="Calibri"/>
              <a:ea typeface="Calibri"/>
              <a:cs typeface="Calibri"/>
              <a:sym typeface="Calibri"/>
            </a:endParaRPr>
          </a:p>
          <a:p>
            <a:pPr marL="228600" lvl="0" indent="-220027" algn="l" rtl="0">
              <a:lnSpc>
                <a:spcPct val="110000"/>
              </a:lnSpc>
              <a:spcBef>
                <a:spcPts val="700"/>
              </a:spcBef>
              <a:spcAft>
                <a:spcPts val="0"/>
              </a:spcAft>
              <a:buSzPct val="100000"/>
              <a:buFont typeface="Noto Sans Symbols"/>
              <a:buChar char="❖"/>
            </a:pPr>
            <a:r>
              <a:rPr lang="en-US" sz="1800" b="1">
                <a:latin typeface="Calibri"/>
                <a:ea typeface="Calibri"/>
                <a:cs typeface="Calibri"/>
                <a:sym typeface="Calibri"/>
              </a:rPr>
              <a:t>To choose a representation of the document</a:t>
            </a:r>
            <a:endParaRPr sz="1800" b="1">
              <a:latin typeface="Calibri"/>
              <a:ea typeface="Calibri"/>
              <a:cs typeface="Calibri"/>
              <a:sym typeface="Calibri"/>
            </a:endParaRPr>
          </a:p>
          <a:p>
            <a:pPr marL="685800" lvl="1" indent="-220026" algn="l" rtl="0">
              <a:lnSpc>
                <a:spcPct val="110000"/>
              </a:lnSpc>
              <a:spcBef>
                <a:spcPts val="700"/>
              </a:spcBef>
              <a:spcAft>
                <a:spcPts val="0"/>
              </a:spcAft>
              <a:buSzPct val="100000"/>
              <a:buFont typeface="Calibri"/>
              <a:buChar char="–"/>
            </a:pPr>
            <a:r>
              <a:rPr lang="en-US">
                <a:latin typeface="Calibri"/>
                <a:ea typeface="Calibri"/>
                <a:cs typeface="Calibri"/>
                <a:sym typeface="Calibri"/>
              </a:rPr>
              <a:t>Most Human knowledge is coded in natural language, which is difficult to use as knowledge representation language for computer systems.</a:t>
            </a:r>
            <a:endParaRPr sz="1800">
              <a:latin typeface="Calibri"/>
              <a:ea typeface="Calibri"/>
              <a:cs typeface="Calibri"/>
              <a:sym typeface="Calibri"/>
            </a:endParaRPr>
          </a:p>
          <a:p>
            <a:pPr marL="228600" lvl="0" indent="-220027" algn="l" rtl="0">
              <a:lnSpc>
                <a:spcPct val="110000"/>
              </a:lnSpc>
              <a:spcBef>
                <a:spcPts val="700"/>
              </a:spcBef>
              <a:spcAft>
                <a:spcPts val="0"/>
              </a:spcAft>
              <a:buSzPct val="90000"/>
              <a:buFont typeface="Noto Sans Symbols"/>
              <a:buChar char="❖"/>
            </a:pPr>
            <a:r>
              <a:rPr lang="en-US" b="1">
                <a:latin typeface="Calibri"/>
                <a:ea typeface="Calibri"/>
                <a:cs typeface="Calibri"/>
                <a:sym typeface="Calibri"/>
              </a:rPr>
              <a:t>Keyword based retrieval:</a:t>
            </a:r>
            <a:endParaRPr b="1">
              <a:latin typeface="Calibri"/>
              <a:ea typeface="Calibri"/>
              <a:cs typeface="Calibri"/>
              <a:sym typeface="Calibri"/>
            </a:endParaRPr>
          </a:p>
          <a:p>
            <a:pPr marL="685800" lvl="1" indent="-220026" algn="l" rtl="0">
              <a:lnSpc>
                <a:spcPct val="110000"/>
              </a:lnSpc>
              <a:spcBef>
                <a:spcPts val="700"/>
              </a:spcBef>
              <a:spcAft>
                <a:spcPts val="0"/>
              </a:spcAft>
              <a:buSzPct val="100000"/>
              <a:buFont typeface="Calibri"/>
              <a:buChar char="–"/>
            </a:pPr>
            <a:r>
              <a:rPr lang="en-US">
                <a:latin typeface="Calibri"/>
                <a:ea typeface="Calibri"/>
                <a:cs typeface="Calibri"/>
                <a:sym typeface="Calibri"/>
              </a:rPr>
              <a:t>ignores semantic and contextual information in the retrieval process.</a:t>
            </a:r>
            <a:endParaRPr>
              <a:latin typeface="Calibri"/>
              <a:ea typeface="Calibri"/>
              <a:cs typeface="Calibri"/>
              <a:sym typeface="Calibri"/>
            </a:endParaRPr>
          </a:p>
          <a:p>
            <a:pPr marL="685800" lvl="1" indent="-220026" algn="l" rtl="0">
              <a:lnSpc>
                <a:spcPct val="110000"/>
              </a:lnSpc>
              <a:spcBef>
                <a:spcPts val="700"/>
              </a:spcBef>
              <a:spcAft>
                <a:spcPts val="0"/>
              </a:spcAft>
              <a:buSzPct val="100000"/>
              <a:buFont typeface="Noto Sans Symbols"/>
              <a:buChar char="–"/>
            </a:pPr>
            <a:r>
              <a:rPr lang="en-US">
                <a:latin typeface="Calibri"/>
                <a:ea typeface="Calibri"/>
                <a:cs typeface="Calibri"/>
                <a:sym typeface="Calibri"/>
              </a:rPr>
              <a:t>creates problem during retrieval due to polysemy, homonymy and synonymy</a:t>
            </a:r>
            <a:endParaRPr>
              <a:latin typeface="Calibri"/>
              <a:ea typeface="Calibri"/>
              <a:cs typeface="Calibri"/>
              <a:sym typeface="Calibri"/>
            </a:endParaRPr>
          </a:p>
          <a:p>
            <a:pPr marL="685800" lvl="1" indent="-220026" algn="l" rtl="0">
              <a:lnSpc>
                <a:spcPct val="110000"/>
              </a:lnSpc>
              <a:spcBef>
                <a:spcPts val="700"/>
              </a:spcBef>
              <a:spcAft>
                <a:spcPts val="0"/>
              </a:spcAft>
              <a:buSzPct val="100000"/>
              <a:buFont typeface="Calibri"/>
              <a:buChar char="–"/>
            </a:pPr>
            <a:r>
              <a:rPr lang="en-US" b="1">
                <a:latin typeface="Calibri"/>
                <a:ea typeface="Calibri"/>
                <a:cs typeface="Calibri"/>
                <a:sym typeface="Calibri"/>
              </a:rPr>
              <a:t>polysemy </a:t>
            </a:r>
            <a:r>
              <a:rPr lang="en-US">
                <a:latin typeface="Calibri"/>
                <a:ea typeface="Calibri"/>
                <a:cs typeface="Calibri"/>
                <a:sym typeface="Calibri"/>
              </a:rPr>
              <a:t>- lexeme with multiple meaning, eg.: the verb ‘to get’ means</a:t>
            </a:r>
            <a:endParaRPr>
              <a:latin typeface="Calibri"/>
              <a:ea typeface="Calibri"/>
              <a:cs typeface="Calibri"/>
              <a:sym typeface="Calibri"/>
            </a:endParaRPr>
          </a:p>
          <a:p>
            <a:pPr marL="1143000" lvl="2" indent="-220026" algn="l" rtl="0">
              <a:lnSpc>
                <a:spcPct val="110000"/>
              </a:lnSpc>
              <a:spcBef>
                <a:spcPts val="700"/>
              </a:spcBef>
              <a:spcAft>
                <a:spcPts val="0"/>
              </a:spcAft>
              <a:buSzPct val="112500"/>
              <a:buFont typeface="Calibri"/>
              <a:buChar char="•"/>
            </a:pPr>
            <a:r>
              <a:rPr lang="en-US">
                <a:latin typeface="Calibri"/>
                <a:ea typeface="Calibri"/>
                <a:cs typeface="Calibri"/>
                <a:sym typeface="Calibri"/>
              </a:rPr>
              <a:t> ‘procure’ (I’ll get the drinks)</a:t>
            </a:r>
            <a:endParaRPr>
              <a:latin typeface="Calibri"/>
              <a:ea typeface="Calibri"/>
              <a:cs typeface="Calibri"/>
              <a:sym typeface="Calibri"/>
            </a:endParaRPr>
          </a:p>
          <a:p>
            <a:pPr marL="1143000" lvl="2" indent="-220026" algn="l" rtl="0">
              <a:lnSpc>
                <a:spcPct val="110000"/>
              </a:lnSpc>
              <a:spcBef>
                <a:spcPts val="700"/>
              </a:spcBef>
              <a:spcAft>
                <a:spcPts val="0"/>
              </a:spcAft>
              <a:buSzPct val="112500"/>
              <a:buFont typeface="Calibri"/>
              <a:buChar char="•"/>
            </a:pPr>
            <a:r>
              <a:rPr lang="en-US">
                <a:latin typeface="Calibri"/>
                <a:ea typeface="Calibri"/>
                <a:cs typeface="Calibri"/>
                <a:sym typeface="Calibri"/>
              </a:rPr>
              <a:t>‘become’ (she got scared)</a:t>
            </a:r>
            <a:endParaRPr>
              <a:latin typeface="Calibri"/>
              <a:ea typeface="Calibri"/>
              <a:cs typeface="Calibri"/>
              <a:sym typeface="Calibri"/>
            </a:endParaRPr>
          </a:p>
          <a:p>
            <a:pPr marL="1143000" lvl="2" indent="-220026" algn="l" rtl="0">
              <a:lnSpc>
                <a:spcPct val="110000"/>
              </a:lnSpc>
              <a:spcBef>
                <a:spcPts val="700"/>
              </a:spcBef>
              <a:spcAft>
                <a:spcPts val="0"/>
              </a:spcAft>
              <a:buSzPct val="112500"/>
              <a:buFont typeface="Calibri"/>
              <a:buChar char="•"/>
            </a:pPr>
            <a:r>
              <a:rPr lang="en-US">
                <a:latin typeface="Calibri"/>
                <a:ea typeface="Calibri"/>
                <a:cs typeface="Calibri"/>
                <a:sym typeface="Calibri"/>
              </a:rPr>
              <a:t>‘understand’ (I get it)</a:t>
            </a:r>
            <a:endParaRPr>
              <a:latin typeface="Calibri"/>
              <a:ea typeface="Calibri"/>
              <a:cs typeface="Calibri"/>
              <a:sym typeface="Calibri"/>
            </a:endParaRPr>
          </a:p>
          <a:p>
            <a:pPr marL="685800" lvl="1" indent="-220026" algn="l" rtl="0">
              <a:lnSpc>
                <a:spcPct val="110000"/>
              </a:lnSpc>
              <a:spcBef>
                <a:spcPts val="700"/>
              </a:spcBef>
              <a:spcAft>
                <a:spcPts val="0"/>
              </a:spcAft>
              <a:buSzPct val="100000"/>
              <a:buFont typeface="Calibri"/>
              <a:buChar char="–"/>
            </a:pPr>
            <a:r>
              <a:rPr lang="en-US" b="1">
                <a:latin typeface="Calibri"/>
                <a:ea typeface="Calibri"/>
                <a:cs typeface="Calibri"/>
                <a:sym typeface="Calibri"/>
              </a:rPr>
              <a:t>homonymy </a:t>
            </a:r>
            <a:r>
              <a:rPr lang="en-US">
                <a:latin typeface="Calibri"/>
                <a:ea typeface="Calibri"/>
                <a:cs typeface="Calibri"/>
                <a:sym typeface="Calibri"/>
              </a:rPr>
              <a:t>- words that are spelled and pronounced the same but have unrelated meanings, eg. bat, bank, read etc. </a:t>
            </a:r>
            <a:endParaRPr>
              <a:latin typeface="Calibri"/>
              <a:ea typeface="Calibri"/>
              <a:cs typeface="Calibri"/>
              <a:sym typeface="Calibri"/>
            </a:endParaRPr>
          </a:p>
          <a:p>
            <a:pPr marL="1143000" lvl="2" indent="-220026" algn="l" rtl="0">
              <a:lnSpc>
                <a:spcPct val="110000"/>
              </a:lnSpc>
              <a:spcBef>
                <a:spcPts val="700"/>
              </a:spcBef>
              <a:spcAft>
                <a:spcPts val="0"/>
              </a:spcAft>
              <a:buSzPct val="112500"/>
              <a:buFont typeface="Calibri"/>
              <a:buChar char="•"/>
            </a:pPr>
            <a:r>
              <a:rPr lang="en-US">
                <a:latin typeface="Calibri"/>
                <a:ea typeface="Calibri"/>
                <a:cs typeface="Calibri"/>
                <a:sym typeface="Calibri"/>
              </a:rPr>
              <a:t>Ambiguity makes it difficult to for a computer to automatically determine the conceptual content of documents.</a:t>
            </a:r>
            <a:endParaRPr>
              <a:latin typeface="Calibri"/>
              <a:ea typeface="Calibri"/>
              <a:cs typeface="Calibri"/>
              <a:sym typeface="Calibri"/>
            </a:endParaRPr>
          </a:p>
          <a:p>
            <a:pPr marL="685800" lvl="1" indent="-220026" algn="l" rtl="0">
              <a:lnSpc>
                <a:spcPct val="110000"/>
              </a:lnSpc>
              <a:spcBef>
                <a:spcPts val="700"/>
              </a:spcBef>
              <a:spcAft>
                <a:spcPts val="0"/>
              </a:spcAft>
              <a:buSzPct val="100000"/>
              <a:buFont typeface="Calibri"/>
              <a:buChar char="–"/>
            </a:pPr>
            <a:r>
              <a:rPr lang="en-US" b="1">
                <a:latin typeface="Calibri"/>
                <a:ea typeface="Calibri"/>
                <a:cs typeface="Calibri"/>
                <a:sym typeface="Calibri"/>
              </a:rPr>
              <a:t>synonymy </a:t>
            </a:r>
            <a:r>
              <a:rPr lang="en-US">
                <a:latin typeface="Calibri"/>
                <a:ea typeface="Calibri"/>
                <a:cs typeface="Calibri"/>
                <a:sym typeface="Calibri"/>
              </a:rPr>
              <a:t>- two different words with similar meanings. eg. start, begin, initiate, commence.</a:t>
            </a:r>
            <a:endParaRPr>
              <a:latin typeface="Calibri"/>
              <a:ea typeface="Calibri"/>
              <a:cs typeface="Calibri"/>
              <a:sym typeface="Calibri"/>
            </a:endParaRPr>
          </a:p>
          <a:p>
            <a:pPr marL="1143000" lvl="2" indent="-220026" algn="l" rtl="0">
              <a:lnSpc>
                <a:spcPct val="110000"/>
              </a:lnSpc>
              <a:spcBef>
                <a:spcPts val="700"/>
              </a:spcBef>
              <a:spcAft>
                <a:spcPts val="0"/>
              </a:spcAft>
              <a:buSzPct val="112500"/>
              <a:buFont typeface="Calibri"/>
              <a:buChar char="•"/>
            </a:pPr>
            <a:r>
              <a:rPr lang="en-US">
                <a:latin typeface="Calibri"/>
                <a:ea typeface="Calibri"/>
                <a:cs typeface="Calibri"/>
                <a:sym typeface="Calibri"/>
              </a:rPr>
              <a:t>Synonymy creates problem when a document is indexed with one term and the query contains a different term, and the two terms share a common meaning.</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gf917f9c746_0_41"/>
          <p:cNvSpPr txBox="1">
            <a:spLocks noGrp="1"/>
          </p:cNvSpPr>
          <p:nvPr>
            <p:ph type="title"/>
          </p:nvPr>
        </p:nvSpPr>
        <p:spPr>
          <a:xfrm>
            <a:off x="1251675" y="382381"/>
            <a:ext cx="10178400" cy="5907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21428"/>
              <a:buFont typeface="Impact"/>
              <a:buNone/>
            </a:pPr>
            <a:r>
              <a:rPr lang="en-US" sz="4200"/>
              <a:t>INFORMATION RETRIEVAL</a:t>
            </a:r>
            <a:endParaRPr/>
          </a:p>
        </p:txBody>
      </p:sp>
      <p:sp>
        <p:nvSpPr>
          <p:cNvPr id="436" name="Google Shape;436;gf917f9c746_0_41"/>
          <p:cNvSpPr txBox="1">
            <a:spLocks noGrp="1"/>
          </p:cNvSpPr>
          <p:nvPr>
            <p:ph type="body" idx="1"/>
          </p:nvPr>
        </p:nvSpPr>
        <p:spPr>
          <a:xfrm>
            <a:off x="1251675" y="973075"/>
            <a:ext cx="10178400" cy="5790000"/>
          </a:xfrm>
          <a:prstGeom prst="rect">
            <a:avLst/>
          </a:prstGeom>
          <a:noFill/>
          <a:ln>
            <a:noFill/>
          </a:ln>
        </p:spPr>
        <p:txBody>
          <a:bodyPr spcFirstLastPara="1" wrap="square" lIns="91425" tIns="45700" rIns="91425" bIns="45700" anchor="ctr" anchorCtr="0">
            <a:normAutofit/>
          </a:bodyPr>
          <a:lstStyle/>
          <a:p>
            <a:pPr marL="228600" lvl="0" indent="-228600" algn="l" rtl="0">
              <a:lnSpc>
                <a:spcPct val="110000"/>
              </a:lnSpc>
              <a:spcBef>
                <a:spcPts val="700"/>
              </a:spcBef>
              <a:spcAft>
                <a:spcPts val="0"/>
              </a:spcAft>
              <a:buSzPts val="1800"/>
              <a:buFont typeface="Noto Sans Symbols"/>
              <a:buChar char="❖"/>
            </a:pPr>
            <a:r>
              <a:rPr lang="en-US" sz="1800" b="1">
                <a:latin typeface="Calibri"/>
                <a:ea typeface="Calibri"/>
                <a:cs typeface="Calibri"/>
                <a:sym typeface="Calibri"/>
              </a:rPr>
              <a:t>Inappropriate characterization of queries by the user:</a:t>
            </a:r>
            <a:endParaRPr sz="1800" b="1">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There can be many reasons for vagueness and inaccuracy of the user’s queries eg.: lack of knowledge of the subject</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user may fail to include relevant terms in the query or may include irrelevant terms </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inaccurate queries lead to poor retrieval performance</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illspecified queries can be dealt with by modifying or expanding queries</a:t>
            </a:r>
            <a:endParaRPr>
              <a:latin typeface="Calibri"/>
              <a:ea typeface="Calibri"/>
              <a:cs typeface="Calibri"/>
              <a:sym typeface="Calibri"/>
            </a:endParaRPr>
          </a:p>
          <a:p>
            <a:pPr marL="228600" lvl="0" indent="-228600" algn="l" rtl="0">
              <a:lnSpc>
                <a:spcPct val="110000"/>
              </a:lnSpc>
              <a:spcBef>
                <a:spcPts val="700"/>
              </a:spcBef>
              <a:spcAft>
                <a:spcPts val="0"/>
              </a:spcAft>
              <a:buSzPts val="1800"/>
              <a:buFont typeface="Noto Sans Symbols"/>
              <a:buChar char="❖"/>
            </a:pPr>
            <a:r>
              <a:rPr lang="en-US" sz="1800" b="1">
                <a:latin typeface="Calibri"/>
                <a:ea typeface="Calibri"/>
                <a:cs typeface="Calibri"/>
                <a:sym typeface="Calibri"/>
              </a:rPr>
              <a:t>Matching query representation with document:</a:t>
            </a:r>
            <a:endParaRPr sz="1800" b="1">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To satisfy user’s request, an IR system matches document representation with query representation.</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A number of measures have been proposed to quantify the similarity between a query and the document to produce a ranked list of results. </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selection of appropriate similarity measure is a crucial issue in the design of IR systems.</a:t>
            </a:r>
            <a:endParaRPr>
              <a:latin typeface="Calibri"/>
              <a:ea typeface="Calibri"/>
              <a:cs typeface="Calibri"/>
              <a:sym typeface="Calibri"/>
            </a:endParaRPr>
          </a:p>
          <a:p>
            <a:pPr marL="228600" lvl="0" indent="-228600" algn="l" rtl="0">
              <a:lnSpc>
                <a:spcPct val="110000"/>
              </a:lnSpc>
              <a:spcBef>
                <a:spcPts val="700"/>
              </a:spcBef>
              <a:spcAft>
                <a:spcPts val="0"/>
              </a:spcAft>
              <a:buSzPts val="1800"/>
              <a:buFont typeface="Noto Sans Symbols"/>
              <a:buChar char="❖"/>
            </a:pPr>
            <a:r>
              <a:rPr lang="en-US" sz="1800" b="1">
                <a:latin typeface="Calibri"/>
                <a:ea typeface="Calibri"/>
                <a:cs typeface="Calibri"/>
                <a:sym typeface="Calibri"/>
              </a:rPr>
              <a:t>Choosing an appropriate metric to Evaluate the performance of IR systems:</a:t>
            </a:r>
            <a:endParaRPr sz="1800" b="1">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sz="1800">
                <a:latin typeface="Calibri"/>
                <a:ea typeface="Calibri"/>
                <a:cs typeface="Calibri"/>
                <a:sym typeface="Calibri"/>
              </a:rPr>
              <a:t>Among many aspects of evaluation, the most important among them  is effectiveness of the system</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sz="1800">
                <a:latin typeface="Calibri"/>
                <a:ea typeface="Calibri"/>
                <a:cs typeface="Calibri"/>
                <a:sym typeface="Calibri"/>
              </a:rPr>
              <a:t>recall and precision are the most widely used measures of effectiveness.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gf917f9c746_0_46"/>
          <p:cNvSpPr txBox="1">
            <a:spLocks noGrp="1"/>
          </p:cNvSpPr>
          <p:nvPr>
            <p:ph type="title"/>
          </p:nvPr>
        </p:nvSpPr>
        <p:spPr>
          <a:xfrm>
            <a:off x="1251675" y="382381"/>
            <a:ext cx="10178400" cy="6381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chemeClr val="dk1"/>
              </a:buClr>
              <a:buSzPct val="26190"/>
              <a:buFont typeface="Arial"/>
              <a:buNone/>
            </a:pPr>
            <a:r>
              <a:rPr lang="en-US" sz="4200"/>
              <a:t>INFORMATION RETRIEVAL</a:t>
            </a:r>
            <a:endParaRPr/>
          </a:p>
          <a:p>
            <a:pPr marL="0" lvl="0" indent="0" algn="l" rtl="0">
              <a:lnSpc>
                <a:spcPct val="90000"/>
              </a:lnSpc>
              <a:spcBef>
                <a:spcPts val="0"/>
              </a:spcBef>
              <a:spcAft>
                <a:spcPts val="0"/>
              </a:spcAft>
              <a:buSzPct val="39215"/>
              <a:buNone/>
            </a:pPr>
            <a:endParaRPr/>
          </a:p>
        </p:txBody>
      </p:sp>
      <p:sp>
        <p:nvSpPr>
          <p:cNvPr id="442" name="Google Shape;442;gf917f9c746_0_46"/>
          <p:cNvSpPr txBox="1">
            <a:spLocks noGrp="1"/>
          </p:cNvSpPr>
          <p:nvPr>
            <p:ph type="body" idx="1"/>
          </p:nvPr>
        </p:nvSpPr>
        <p:spPr>
          <a:xfrm>
            <a:off x="1251675" y="1020475"/>
            <a:ext cx="10178400" cy="5742600"/>
          </a:xfrm>
          <a:prstGeom prst="rect">
            <a:avLst/>
          </a:prstGeom>
          <a:noFill/>
          <a:ln>
            <a:noFill/>
          </a:ln>
        </p:spPr>
        <p:txBody>
          <a:bodyPr spcFirstLastPara="1" wrap="square" lIns="91425" tIns="45700" rIns="91425" bIns="45700" anchor="ctr" anchorCtr="0">
            <a:normAutofit/>
          </a:bodyPr>
          <a:lstStyle/>
          <a:p>
            <a:pPr marL="228600" lvl="0" indent="-228600" algn="l" rtl="0">
              <a:lnSpc>
                <a:spcPct val="110000"/>
              </a:lnSpc>
              <a:spcBef>
                <a:spcPts val="700"/>
              </a:spcBef>
              <a:spcAft>
                <a:spcPts val="0"/>
              </a:spcAft>
              <a:buSzPts val="1800"/>
              <a:buFont typeface="Calibri"/>
              <a:buChar char="❖"/>
            </a:pPr>
            <a:r>
              <a:rPr lang="en-US" sz="1800" b="1">
                <a:latin typeface="Calibri"/>
                <a:ea typeface="Calibri"/>
                <a:cs typeface="Calibri"/>
                <a:sym typeface="Calibri"/>
              </a:rPr>
              <a:t>Relevance issue:</a:t>
            </a:r>
            <a:endParaRPr sz="1800" b="1">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major goal of IR is to search a document in a manner relevant to the query, understanding what constitutes relevance is an important issue.</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relevance is subjective in nature.</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only the user can tell the true relevance. It is not possible to measure true relevance.</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a number of relevance framework have been proposed which includes system, communication, psychological and situational frameworks. </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the most inclusive is the situational framework, which considers the importance of situation, context, multi-dimensionality and time</a:t>
            </a:r>
            <a:endParaRPr>
              <a:latin typeface="Calibri"/>
              <a:ea typeface="Calibri"/>
              <a:cs typeface="Calibri"/>
              <a:sym typeface="Calibri"/>
            </a:endParaRPr>
          </a:p>
          <a:p>
            <a:pPr marL="228600" lvl="0" indent="-228600" algn="l" rtl="0">
              <a:lnSpc>
                <a:spcPct val="110000"/>
              </a:lnSpc>
              <a:spcBef>
                <a:spcPts val="700"/>
              </a:spcBef>
              <a:spcAft>
                <a:spcPts val="0"/>
              </a:spcAft>
              <a:buSzPts val="1800"/>
              <a:buFont typeface="Calibri"/>
              <a:buChar char="❖"/>
            </a:pPr>
            <a:r>
              <a:rPr lang="en-US" sz="1800" b="1">
                <a:latin typeface="Calibri"/>
                <a:ea typeface="Calibri"/>
                <a:cs typeface="Calibri"/>
                <a:sym typeface="Calibri"/>
              </a:rPr>
              <a:t>Size of document collections and the varying needs of users:</a:t>
            </a:r>
            <a:endParaRPr sz="1800" b="1">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some users require answers of limited scope</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some require documents with a wider scope</a:t>
            </a:r>
            <a:endParaRPr>
              <a:latin typeface="Calibri"/>
              <a:ea typeface="Calibri"/>
              <a:cs typeface="Calibri"/>
              <a:sym typeface="Calibri"/>
            </a:endParaRPr>
          </a:p>
          <a:p>
            <a:pPr marL="685800" lvl="1" indent="-228600" algn="l" rtl="0">
              <a:lnSpc>
                <a:spcPct val="110000"/>
              </a:lnSpc>
              <a:spcBef>
                <a:spcPts val="700"/>
              </a:spcBef>
              <a:spcAft>
                <a:spcPts val="0"/>
              </a:spcAft>
              <a:buSzPts val="1800"/>
              <a:buFont typeface="Calibri"/>
              <a:buChar char="–"/>
            </a:pPr>
            <a:r>
              <a:rPr lang="en-US">
                <a:latin typeface="Calibri"/>
                <a:ea typeface="Calibri"/>
                <a:cs typeface="Calibri"/>
                <a:sym typeface="Calibri"/>
              </a:rPr>
              <a:t>these differing needs require different and specialized retrieval methods</a:t>
            </a:r>
            <a:endParaRPr>
              <a:latin typeface="Calibri"/>
              <a:ea typeface="Calibri"/>
              <a:cs typeface="Calibri"/>
              <a:sym typeface="Calibri"/>
            </a:endParaRPr>
          </a:p>
          <a:p>
            <a:pPr marL="0" lvl="0" indent="0" algn="l" rtl="0">
              <a:lnSpc>
                <a:spcPct val="110000"/>
              </a:lnSpc>
              <a:spcBef>
                <a:spcPts val="700"/>
              </a:spcBef>
              <a:spcAft>
                <a:spcPts val="0"/>
              </a:spcAft>
              <a:buSzPts val="1800"/>
              <a:buNone/>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27"/>
          <p:cNvSpPr txBox="1">
            <a:spLocks noGrp="1"/>
          </p:cNvSpPr>
          <p:nvPr>
            <p:ph type="title"/>
          </p:nvPr>
        </p:nvSpPr>
        <p:spPr>
          <a:xfrm>
            <a:off x="1251675" y="382379"/>
            <a:ext cx="10178400" cy="8853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64516"/>
              <a:buFont typeface="Impact"/>
              <a:buNone/>
            </a:pPr>
            <a:r>
              <a:rPr lang="en-US" sz="3100">
                <a:highlight>
                  <a:srgbClr val="00FFFF"/>
                </a:highlight>
              </a:rPr>
              <a:t>CHAPTER 2</a:t>
            </a:r>
            <a:r>
              <a:rPr lang="en-US" sz="3100"/>
              <a:t/>
            </a:r>
            <a:br>
              <a:rPr lang="en-US" sz="3100"/>
            </a:br>
            <a:r>
              <a:rPr lang="en-US" sz="3100"/>
              <a:t>LANGUAGE MODELLING</a:t>
            </a:r>
            <a:endParaRPr sz="3100"/>
          </a:p>
        </p:txBody>
      </p:sp>
      <p:sp>
        <p:nvSpPr>
          <p:cNvPr id="448" name="Google Shape;448;p27"/>
          <p:cNvSpPr txBox="1">
            <a:spLocks noGrp="1"/>
          </p:cNvSpPr>
          <p:nvPr>
            <p:ph type="body" idx="1"/>
          </p:nvPr>
        </p:nvSpPr>
        <p:spPr>
          <a:xfrm>
            <a:off x="1251675" y="1267675"/>
            <a:ext cx="10178400" cy="559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1000"/>
              </a:spcBef>
              <a:spcAft>
                <a:spcPts val="0"/>
              </a:spcAft>
              <a:buSzPts val="1800"/>
              <a:buNone/>
            </a:pPr>
            <a:r>
              <a:rPr lang="en-US"/>
              <a:t>Two approaches to understand and generate natural language from a computational viewpoint - </a:t>
            </a:r>
            <a:endParaRPr/>
          </a:p>
          <a:p>
            <a:pPr marL="457200" lvl="0" indent="-355600" algn="l" rtl="0">
              <a:lnSpc>
                <a:spcPct val="100000"/>
              </a:lnSpc>
              <a:spcBef>
                <a:spcPts val="1000"/>
              </a:spcBef>
              <a:spcAft>
                <a:spcPts val="0"/>
              </a:spcAft>
              <a:buSzPts val="2000"/>
              <a:buAutoNum type="arabicPeriod"/>
            </a:pPr>
            <a:r>
              <a:rPr lang="en-US"/>
              <a:t>To take a language, understand every word and sentence of it and draw the conclusion. This approach has not succeeded as there are difficulties in each stage.</a:t>
            </a:r>
            <a:endParaRPr/>
          </a:p>
          <a:p>
            <a:pPr marL="457200" lvl="0" indent="-355600" algn="l" rtl="0">
              <a:lnSpc>
                <a:spcPct val="100000"/>
              </a:lnSpc>
              <a:spcBef>
                <a:spcPts val="1000"/>
              </a:spcBef>
              <a:spcAft>
                <a:spcPts val="0"/>
              </a:spcAft>
              <a:buSzPts val="2000"/>
              <a:buAutoNum type="arabicPeriod"/>
            </a:pPr>
            <a:r>
              <a:rPr lang="en-US"/>
              <a:t>An alternative approach is to study the grammar of various languages, compare them and arrive at reasonable models.</a:t>
            </a:r>
            <a:endParaRPr/>
          </a:p>
          <a:p>
            <a:pPr marL="0" lvl="0" indent="0" algn="l" rtl="0">
              <a:lnSpc>
                <a:spcPct val="100000"/>
              </a:lnSpc>
              <a:spcBef>
                <a:spcPts val="1000"/>
              </a:spcBef>
              <a:spcAft>
                <a:spcPts val="0"/>
              </a:spcAft>
              <a:buSzPts val="1800"/>
              <a:buNone/>
            </a:pPr>
            <a:r>
              <a:rPr lang="en-US" b="1"/>
              <a:t>Model:</a:t>
            </a:r>
            <a:endParaRPr b="1"/>
          </a:p>
          <a:p>
            <a:pPr marL="228600" lvl="0" indent="-215900" algn="l" rtl="0">
              <a:lnSpc>
                <a:spcPct val="100000"/>
              </a:lnSpc>
              <a:spcBef>
                <a:spcPts val="1000"/>
              </a:spcBef>
              <a:spcAft>
                <a:spcPts val="0"/>
              </a:spcAft>
              <a:buSzPts val="1800"/>
              <a:buChar char="•"/>
            </a:pPr>
            <a:r>
              <a:rPr lang="en-US"/>
              <a:t>A model is a description of some complex entity or process.</a:t>
            </a:r>
            <a:endParaRPr/>
          </a:p>
          <a:p>
            <a:pPr marL="0" lvl="0" indent="0" algn="l" rtl="0">
              <a:lnSpc>
                <a:spcPct val="100000"/>
              </a:lnSpc>
              <a:spcBef>
                <a:spcPts val="1000"/>
              </a:spcBef>
              <a:spcAft>
                <a:spcPts val="0"/>
              </a:spcAft>
              <a:buSzPts val="1800"/>
              <a:buNone/>
            </a:pPr>
            <a:r>
              <a:rPr lang="en-US" b="1"/>
              <a:t>Language Modelling:</a:t>
            </a:r>
            <a:endParaRPr b="1"/>
          </a:p>
          <a:p>
            <a:pPr marL="228600" lvl="0" indent="-215900" algn="l" rtl="0">
              <a:lnSpc>
                <a:spcPct val="100000"/>
              </a:lnSpc>
              <a:spcBef>
                <a:spcPts val="1000"/>
              </a:spcBef>
              <a:spcAft>
                <a:spcPts val="0"/>
              </a:spcAft>
              <a:buSzPts val="1800"/>
              <a:buChar char="•"/>
            </a:pPr>
            <a:r>
              <a:rPr lang="en-US"/>
              <a:t>A language model is a description of language where the natural language is the complex entity. </a:t>
            </a:r>
            <a:endParaRPr/>
          </a:p>
          <a:p>
            <a:pPr marL="228600" lvl="0" indent="-228600" algn="l" rtl="0">
              <a:lnSpc>
                <a:spcPct val="100000"/>
              </a:lnSpc>
              <a:spcBef>
                <a:spcPts val="1000"/>
              </a:spcBef>
              <a:spcAft>
                <a:spcPts val="0"/>
              </a:spcAft>
              <a:buSzPts val="2000"/>
              <a:buChar char="•"/>
            </a:pPr>
            <a:r>
              <a:rPr lang="en-US"/>
              <a:t>To process a language model through a computer based program, we need to build a representation or model of the language. This is known as </a:t>
            </a:r>
            <a:r>
              <a:rPr lang="en-US" b="1"/>
              <a:t>language modelling</a:t>
            </a:r>
            <a:r>
              <a:rPr lang="en-US"/>
              <a:t>.</a:t>
            </a:r>
            <a:endParaRPr/>
          </a:p>
          <a:p>
            <a:pPr marL="0" lvl="0" indent="0" algn="just" rtl="0">
              <a:lnSpc>
                <a:spcPct val="110000"/>
              </a:lnSpc>
              <a:spcBef>
                <a:spcPts val="1000"/>
              </a:spcBef>
              <a:spcAft>
                <a:spcPts val="0"/>
              </a:spcAft>
              <a:buSzPts val="1800"/>
              <a:buNone/>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gf9de619886_0_0"/>
          <p:cNvSpPr txBox="1">
            <a:spLocks noGrp="1"/>
          </p:cNvSpPr>
          <p:nvPr>
            <p:ph type="title"/>
          </p:nvPr>
        </p:nvSpPr>
        <p:spPr>
          <a:xfrm>
            <a:off x="1251675" y="382381"/>
            <a:ext cx="10178400" cy="574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1800"/>
              <a:buNone/>
            </a:pPr>
            <a:r>
              <a:rPr lang="en-US" sz="3100"/>
              <a:t>LANGUAGE MODELLING</a:t>
            </a:r>
            <a:endParaRPr/>
          </a:p>
        </p:txBody>
      </p:sp>
      <p:sp>
        <p:nvSpPr>
          <p:cNvPr id="454" name="Google Shape;454;gf9de619886_0_0"/>
          <p:cNvSpPr txBox="1">
            <a:spLocks noGrp="1"/>
          </p:cNvSpPr>
          <p:nvPr>
            <p:ph type="body" idx="1"/>
          </p:nvPr>
        </p:nvSpPr>
        <p:spPr>
          <a:xfrm>
            <a:off x="1251675" y="1071575"/>
            <a:ext cx="10178400" cy="5615100"/>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SzPts val="1800"/>
              <a:buNone/>
            </a:pPr>
            <a:r>
              <a:rPr lang="en-US" sz="2700" b="1"/>
              <a:t>Two approaches of Language Modelling:</a:t>
            </a:r>
            <a:endParaRPr sz="2700" b="1"/>
          </a:p>
          <a:p>
            <a:pPr marL="0" lvl="0" indent="0" algn="l" rtl="0">
              <a:lnSpc>
                <a:spcPct val="110000"/>
              </a:lnSpc>
              <a:spcBef>
                <a:spcPts val="0"/>
              </a:spcBef>
              <a:spcAft>
                <a:spcPts val="0"/>
              </a:spcAft>
              <a:buSzPts val="1800"/>
              <a:buNone/>
            </a:pPr>
            <a:endParaRPr sz="2700" b="1"/>
          </a:p>
          <a:p>
            <a:pPr marL="457200" lvl="0" indent="-387350" algn="l" rtl="0">
              <a:lnSpc>
                <a:spcPct val="110000"/>
              </a:lnSpc>
              <a:spcBef>
                <a:spcPts val="700"/>
              </a:spcBef>
              <a:spcAft>
                <a:spcPts val="0"/>
              </a:spcAft>
              <a:buSzPts val="2500"/>
              <a:buAutoNum type="arabicPeriod"/>
            </a:pPr>
            <a:r>
              <a:rPr lang="en-US" sz="2500" b="1"/>
              <a:t>Grammar based language model </a:t>
            </a:r>
            <a:endParaRPr sz="2500" b="1"/>
          </a:p>
          <a:p>
            <a:pPr marL="914400" lvl="1" indent="-374650" algn="l" rtl="0">
              <a:lnSpc>
                <a:spcPct val="110000"/>
              </a:lnSpc>
              <a:spcBef>
                <a:spcPts val="0"/>
              </a:spcBef>
              <a:spcAft>
                <a:spcPts val="0"/>
              </a:spcAft>
              <a:buSzPts val="2300"/>
              <a:buChar char="–"/>
            </a:pPr>
            <a:r>
              <a:rPr lang="en-US" sz="2300"/>
              <a:t>attempts to distinguish a grammatical sentence from a non-grammatical one.</a:t>
            </a:r>
            <a:endParaRPr sz="2300"/>
          </a:p>
          <a:p>
            <a:pPr marL="914400" lvl="0" indent="0" algn="l" rtl="0">
              <a:lnSpc>
                <a:spcPct val="110000"/>
              </a:lnSpc>
              <a:spcBef>
                <a:spcPts val="700"/>
              </a:spcBef>
              <a:spcAft>
                <a:spcPts val="0"/>
              </a:spcAft>
              <a:buSzPts val="1800"/>
              <a:buNone/>
            </a:pPr>
            <a:endParaRPr sz="2300"/>
          </a:p>
          <a:p>
            <a:pPr marL="0" lvl="0" indent="0" algn="l" rtl="0">
              <a:lnSpc>
                <a:spcPct val="110000"/>
              </a:lnSpc>
              <a:spcBef>
                <a:spcPts val="700"/>
              </a:spcBef>
              <a:spcAft>
                <a:spcPts val="0"/>
              </a:spcAft>
              <a:buSzPts val="1800"/>
              <a:buNone/>
            </a:pPr>
            <a:r>
              <a:rPr lang="en-US" sz="2500" b="1"/>
              <a:t>2. Probabilistic or Statistical language model</a:t>
            </a:r>
            <a:endParaRPr sz="2300"/>
          </a:p>
          <a:p>
            <a:pPr marL="914400" lvl="1" indent="-374650" algn="l" rtl="0">
              <a:lnSpc>
                <a:spcPct val="110000"/>
              </a:lnSpc>
              <a:spcBef>
                <a:spcPts val="0"/>
              </a:spcBef>
              <a:spcAft>
                <a:spcPts val="0"/>
              </a:spcAft>
              <a:buSzPts val="2300"/>
              <a:buChar char="–"/>
            </a:pPr>
            <a:r>
              <a:rPr lang="en-US" sz="2300"/>
              <a:t>attempts to identify a sentence based on a probability measure. </a:t>
            </a:r>
            <a:endParaRPr sz="23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gf917f9c746_0_51"/>
          <p:cNvSpPr txBox="1">
            <a:spLocks noGrp="1"/>
          </p:cNvSpPr>
          <p:nvPr>
            <p:ph type="title"/>
          </p:nvPr>
        </p:nvSpPr>
        <p:spPr>
          <a:xfrm>
            <a:off x="1251675" y="382380"/>
            <a:ext cx="10178400" cy="7551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10000"/>
              </a:lnSpc>
              <a:spcBef>
                <a:spcPts val="700"/>
              </a:spcBef>
              <a:spcAft>
                <a:spcPts val="0"/>
              </a:spcAft>
              <a:buSzPts val="1800"/>
              <a:buNone/>
            </a:pPr>
            <a:r>
              <a:rPr lang="en-US" sz="3800">
                <a:solidFill>
                  <a:schemeClr val="dk1"/>
                </a:solidFill>
                <a:latin typeface="Gill Sans"/>
                <a:ea typeface="Gill Sans"/>
                <a:cs typeface="Gill Sans"/>
                <a:sym typeface="Gill Sans"/>
              </a:rPr>
              <a:t>Grammar based language model</a:t>
            </a:r>
            <a:endParaRPr sz="3800">
              <a:solidFill>
                <a:schemeClr val="dk1"/>
              </a:solidFill>
            </a:endParaRPr>
          </a:p>
        </p:txBody>
      </p:sp>
      <p:sp>
        <p:nvSpPr>
          <p:cNvPr id="460" name="Google Shape;460;gf917f9c746_0_51"/>
          <p:cNvSpPr txBox="1">
            <a:spLocks noGrp="1"/>
          </p:cNvSpPr>
          <p:nvPr>
            <p:ph type="body" idx="1"/>
          </p:nvPr>
        </p:nvSpPr>
        <p:spPr>
          <a:xfrm>
            <a:off x="1251675" y="1235100"/>
            <a:ext cx="10178400" cy="5460300"/>
          </a:xfrm>
          <a:prstGeom prst="rect">
            <a:avLst/>
          </a:prstGeom>
          <a:noFill/>
          <a:ln>
            <a:noFill/>
          </a:ln>
        </p:spPr>
        <p:txBody>
          <a:bodyPr spcFirstLastPara="1" wrap="square" lIns="91425" tIns="45700" rIns="91425" bIns="45700" anchor="ctr" anchorCtr="0">
            <a:noAutofit/>
          </a:bodyPr>
          <a:lstStyle/>
          <a:p>
            <a:pPr marL="457200" lvl="0" indent="-412750" algn="just" rtl="0">
              <a:lnSpc>
                <a:spcPct val="100000"/>
              </a:lnSpc>
              <a:spcBef>
                <a:spcPts val="1000"/>
              </a:spcBef>
              <a:spcAft>
                <a:spcPts val="0"/>
              </a:spcAft>
              <a:buSzPts val="2900"/>
              <a:buChar char="•"/>
            </a:pPr>
            <a:r>
              <a:rPr lang="en-US" sz="2900" dirty="0"/>
              <a:t>A grammar based approach uses the </a:t>
            </a:r>
            <a:r>
              <a:rPr lang="en-US" sz="2900" b="1" dirty="0"/>
              <a:t>grammar of a language</a:t>
            </a:r>
            <a:r>
              <a:rPr lang="en-US" sz="2900" dirty="0"/>
              <a:t> to create its model.</a:t>
            </a:r>
            <a:endParaRPr sz="2900" dirty="0"/>
          </a:p>
          <a:p>
            <a:pPr marL="457200" lvl="0" indent="-412750" algn="just" rtl="0">
              <a:lnSpc>
                <a:spcPct val="100000"/>
              </a:lnSpc>
              <a:spcBef>
                <a:spcPts val="1000"/>
              </a:spcBef>
              <a:spcAft>
                <a:spcPts val="0"/>
              </a:spcAft>
              <a:buSzPts val="2900"/>
              <a:buChar char="•"/>
            </a:pPr>
            <a:r>
              <a:rPr lang="en-US" sz="2900" dirty="0"/>
              <a:t>It attempts to  represent the </a:t>
            </a:r>
            <a:r>
              <a:rPr lang="en-US" sz="2900" b="1" dirty="0"/>
              <a:t>syntactic structure</a:t>
            </a:r>
            <a:r>
              <a:rPr lang="en-US" sz="2900" dirty="0"/>
              <a:t> of language.</a:t>
            </a:r>
            <a:endParaRPr sz="2900" dirty="0"/>
          </a:p>
          <a:p>
            <a:pPr marL="457200" lvl="0" indent="-412750" algn="just" rtl="0">
              <a:lnSpc>
                <a:spcPct val="100000"/>
              </a:lnSpc>
              <a:spcBef>
                <a:spcPts val="1000"/>
              </a:spcBef>
              <a:spcAft>
                <a:spcPts val="0"/>
              </a:spcAft>
              <a:buSzPts val="2900"/>
              <a:buChar char="•"/>
            </a:pPr>
            <a:r>
              <a:rPr lang="en-US" sz="2900" dirty="0"/>
              <a:t>Grammar consists of </a:t>
            </a:r>
            <a:r>
              <a:rPr lang="en-US" sz="2900" b="1" dirty="0"/>
              <a:t>hand-coded rules defining the structure and ordering of various constituents</a:t>
            </a:r>
            <a:r>
              <a:rPr lang="en-US" sz="2900" dirty="0"/>
              <a:t> appearing in a linguistic unit (phrase, sentence, etc.)</a:t>
            </a:r>
            <a:endParaRPr sz="2900" dirty="0"/>
          </a:p>
          <a:p>
            <a:pPr marL="457200" lvl="0" indent="-412750" algn="just" rtl="0">
              <a:lnSpc>
                <a:spcPct val="100000"/>
              </a:lnSpc>
              <a:spcBef>
                <a:spcPts val="1000"/>
              </a:spcBef>
              <a:spcAft>
                <a:spcPts val="0"/>
              </a:spcAft>
              <a:buSzPts val="2900"/>
              <a:buChar char="•"/>
            </a:pPr>
            <a:r>
              <a:rPr lang="en-US" sz="2900" dirty="0"/>
              <a:t>Example, a sentence usually consists of noun phrase and a verb phrase. </a:t>
            </a:r>
            <a:endParaRPr sz="2900" dirty="0"/>
          </a:p>
          <a:p>
            <a:pPr marL="457200" lvl="0" indent="-412750" algn="just" rtl="0">
              <a:lnSpc>
                <a:spcPct val="100000"/>
              </a:lnSpc>
              <a:spcBef>
                <a:spcPts val="1000"/>
              </a:spcBef>
              <a:spcAft>
                <a:spcPts val="1000"/>
              </a:spcAft>
              <a:buSzPts val="2900"/>
              <a:buChar char="•"/>
            </a:pPr>
            <a:r>
              <a:rPr lang="en-US" sz="2900" dirty="0"/>
              <a:t>The grammar based approach attempts to utilize this structure and also the relationship between these structures.</a:t>
            </a:r>
            <a:endParaRPr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gf917f9c746_0_56"/>
          <p:cNvSpPr txBox="1">
            <a:spLocks noGrp="1"/>
          </p:cNvSpPr>
          <p:nvPr>
            <p:ph type="title"/>
          </p:nvPr>
        </p:nvSpPr>
        <p:spPr>
          <a:xfrm>
            <a:off x="1251675" y="382380"/>
            <a:ext cx="10178400" cy="6903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110000"/>
              </a:lnSpc>
              <a:spcBef>
                <a:spcPts val="700"/>
              </a:spcBef>
              <a:spcAft>
                <a:spcPts val="0"/>
              </a:spcAft>
              <a:buSzPts val="1800"/>
              <a:buNone/>
            </a:pPr>
            <a:r>
              <a:rPr lang="en-US" sz="3800">
                <a:solidFill>
                  <a:srgbClr val="595959"/>
                </a:solidFill>
                <a:latin typeface="Gill Sans"/>
                <a:ea typeface="Gill Sans"/>
                <a:cs typeface="Gill Sans"/>
                <a:sym typeface="Gill Sans"/>
              </a:rPr>
              <a:t>Statistical language modelling</a:t>
            </a:r>
            <a:endParaRPr sz="2000">
              <a:solidFill>
                <a:srgbClr val="595959"/>
              </a:solidFill>
              <a:latin typeface="Gill Sans"/>
              <a:ea typeface="Gill Sans"/>
              <a:cs typeface="Gill Sans"/>
              <a:sym typeface="Gill Sans"/>
            </a:endParaRPr>
          </a:p>
        </p:txBody>
      </p:sp>
      <p:sp>
        <p:nvSpPr>
          <p:cNvPr id="466" name="Google Shape;466;gf917f9c746_0_56"/>
          <p:cNvSpPr txBox="1">
            <a:spLocks noGrp="1"/>
          </p:cNvSpPr>
          <p:nvPr>
            <p:ph type="body" idx="1"/>
          </p:nvPr>
        </p:nvSpPr>
        <p:spPr>
          <a:xfrm>
            <a:off x="1251675" y="1072675"/>
            <a:ext cx="10178400" cy="5687700"/>
          </a:xfrm>
          <a:prstGeom prst="rect">
            <a:avLst/>
          </a:prstGeom>
          <a:noFill/>
          <a:ln>
            <a:noFill/>
          </a:ln>
        </p:spPr>
        <p:txBody>
          <a:bodyPr spcFirstLastPara="1" wrap="square" lIns="91425" tIns="45700" rIns="91425" bIns="45700" anchor="ctr" anchorCtr="0">
            <a:normAutofit/>
          </a:bodyPr>
          <a:lstStyle/>
          <a:p>
            <a:pPr marL="457200" lvl="0" indent="-400050" algn="just" rtl="0">
              <a:lnSpc>
                <a:spcPct val="110000"/>
              </a:lnSpc>
              <a:spcBef>
                <a:spcPts val="700"/>
              </a:spcBef>
              <a:spcAft>
                <a:spcPts val="0"/>
              </a:spcAft>
              <a:buSzPts val="2700"/>
              <a:buFont typeface="Calibri"/>
              <a:buChar char="•"/>
            </a:pPr>
            <a:r>
              <a:rPr lang="en-US" sz="2900">
                <a:latin typeface="Calibri"/>
                <a:ea typeface="Calibri"/>
                <a:cs typeface="Calibri"/>
                <a:sym typeface="Calibri"/>
              </a:rPr>
              <a:t>T</a:t>
            </a:r>
            <a:r>
              <a:rPr lang="en-US" sz="2400">
                <a:latin typeface="Times New Roman"/>
                <a:ea typeface="Times New Roman"/>
                <a:cs typeface="Times New Roman"/>
                <a:sym typeface="Times New Roman"/>
              </a:rPr>
              <a:t>he statistical approach creates a language model by </a:t>
            </a:r>
            <a:r>
              <a:rPr lang="en-US" sz="2400" b="1">
                <a:latin typeface="Times New Roman"/>
                <a:ea typeface="Times New Roman"/>
                <a:cs typeface="Times New Roman"/>
                <a:sym typeface="Times New Roman"/>
              </a:rPr>
              <a:t>training it from a </a:t>
            </a:r>
            <a:r>
              <a:rPr lang="en-US" sz="2400" b="1">
                <a:highlight>
                  <a:srgbClr val="FFFF00"/>
                </a:highlight>
                <a:latin typeface="Times New Roman"/>
                <a:ea typeface="Times New Roman"/>
                <a:cs typeface="Times New Roman"/>
                <a:sym typeface="Times New Roman"/>
              </a:rPr>
              <a:t>corpus</a:t>
            </a: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457200" lvl="0" indent="-381000" algn="just" rtl="0">
              <a:lnSpc>
                <a:spcPct val="110000"/>
              </a:lnSpc>
              <a:spcBef>
                <a:spcPts val="700"/>
              </a:spcBef>
              <a:spcAft>
                <a:spcPts val="0"/>
              </a:spcAft>
              <a:buSzPts val="2400"/>
              <a:buFont typeface="Calibri"/>
              <a:buChar char="•"/>
            </a:pPr>
            <a:r>
              <a:rPr lang="en-US" sz="2400">
                <a:latin typeface="Times New Roman"/>
                <a:ea typeface="Times New Roman"/>
                <a:cs typeface="Times New Roman"/>
                <a:sym typeface="Times New Roman"/>
              </a:rPr>
              <a:t>corpus - </a:t>
            </a:r>
            <a:r>
              <a:rPr lang="en-US" sz="2400" b="1">
                <a:solidFill>
                  <a:srgbClr val="5F6368"/>
                </a:solidFill>
                <a:latin typeface="Times New Roman"/>
                <a:ea typeface="Times New Roman"/>
                <a:cs typeface="Times New Roman"/>
                <a:sym typeface="Times New Roman"/>
              </a:rPr>
              <a:t>A large collection of texts selected in a systematic way and stored as an electronic database</a:t>
            </a:r>
            <a:r>
              <a:rPr lang="en-US" sz="2400">
                <a:solidFill>
                  <a:srgbClr val="4D5156"/>
                </a:solidFill>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a:p>
            <a:pPr marL="457200" lvl="0" indent="-381000" algn="just" rtl="0">
              <a:lnSpc>
                <a:spcPct val="110000"/>
              </a:lnSpc>
              <a:spcBef>
                <a:spcPts val="0"/>
              </a:spcBef>
              <a:spcAft>
                <a:spcPts val="0"/>
              </a:spcAft>
              <a:buSzPts val="2400"/>
              <a:buFont typeface="Times New Roman"/>
              <a:buChar char="•"/>
            </a:pPr>
            <a:r>
              <a:rPr lang="en-US" sz="2400">
                <a:latin typeface="Times New Roman"/>
                <a:ea typeface="Times New Roman"/>
                <a:cs typeface="Times New Roman"/>
                <a:sym typeface="Times New Roman"/>
              </a:rPr>
              <a:t>Statistical language modelling is one of the fundamental tasks in many NLP applications - speech recognition, spelling correction, handwriting recognition, machine translation, information retrieval, text summarization and question answering.</a:t>
            </a:r>
            <a:endParaRPr sz="2400">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28"/>
          <p:cNvSpPr txBox="1">
            <a:spLocks noGrp="1"/>
          </p:cNvSpPr>
          <p:nvPr>
            <p:ph type="title"/>
          </p:nvPr>
        </p:nvSpPr>
        <p:spPr>
          <a:xfrm>
            <a:off x="1251675" y="382380"/>
            <a:ext cx="10178400" cy="543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262626"/>
              </a:buClr>
              <a:buSzPct val="118604"/>
              <a:buFont typeface="Impact"/>
              <a:buNone/>
            </a:pPr>
            <a:r>
              <a:rPr lang="en-US" sz="4300"/>
              <a:t>VARIOUS GRAMMAR BASED LANGUAGE MODELS</a:t>
            </a:r>
            <a:endParaRPr sz="4300"/>
          </a:p>
        </p:txBody>
      </p:sp>
      <p:sp>
        <p:nvSpPr>
          <p:cNvPr id="472" name="Google Shape;472;p28"/>
          <p:cNvSpPr txBox="1">
            <a:spLocks noGrp="1"/>
          </p:cNvSpPr>
          <p:nvPr>
            <p:ph type="body" idx="1"/>
          </p:nvPr>
        </p:nvSpPr>
        <p:spPr>
          <a:xfrm>
            <a:off x="1251675" y="1007575"/>
            <a:ext cx="10178400" cy="5752800"/>
          </a:xfrm>
          <a:prstGeom prst="rect">
            <a:avLst/>
          </a:prstGeom>
          <a:noFill/>
          <a:ln>
            <a:noFill/>
          </a:ln>
        </p:spPr>
        <p:txBody>
          <a:bodyPr spcFirstLastPara="1" wrap="square" lIns="91425" tIns="45700" rIns="91425" bIns="45700" anchor="ctr" anchorCtr="0">
            <a:normAutofit/>
          </a:bodyPr>
          <a:lstStyle/>
          <a:p>
            <a:pPr marL="228600" lvl="0" indent="-285750" algn="l" rtl="0">
              <a:lnSpc>
                <a:spcPct val="110000"/>
              </a:lnSpc>
              <a:spcBef>
                <a:spcPts val="0"/>
              </a:spcBef>
              <a:spcAft>
                <a:spcPts val="0"/>
              </a:spcAft>
              <a:buSzPts val="4500"/>
              <a:buAutoNum type="arabicPeriod"/>
            </a:pPr>
            <a:r>
              <a:rPr lang="en-US" sz="4500"/>
              <a:t>Generative Grammar</a:t>
            </a:r>
            <a:endParaRPr sz="4500"/>
          </a:p>
          <a:p>
            <a:pPr marL="228600" lvl="0" indent="-285750" algn="l" rtl="0">
              <a:lnSpc>
                <a:spcPct val="110000"/>
              </a:lnSpc>
              <a:spcBef>
                <a:spcPts val="700"/>
              </a:spcBef>
              <a:spcAft>
                <a:spcPts val="0"/>
              </a:spcAft>
              <a:buSzPts val="4500"/>
              <a:buAutoNum type="arabicPeriod"/>
            </a:pPr>
            <a:r>
              <a:rPr lang="en-US" sz="4500"/>
              <a:t>Hierarchical Grammar           </a:t>
            </a:r>
            <a:endParaRPr sz="4500"/>
          </a:p>
          <a:p>
            <a:pPr marL="228600" lvl="0" indent="-285750" algn="l" rtl="0">
              <a:lnSpc>
                <a:spcPct val="110000"/>
              </a:lnSpc>
              <a:spcBef>
                <a:spcPts val="700"/>
              </a:spcBef>
              <a:spcAft>
                <a:spcPts val="0"/>
              </a:spcAft>
              <a:buSzPts val="4500"/>
              <a:buAutoNum type="arabicPeriod"/>
            </a:pPr>
            <a:r>
              <a:rPr lang="en-US" sz="4500"/>
              <a:t>Government and Binding (GB)</a:t>
            </a:r>
            <a:endParaRPr sz="4500"/>
          </a:p>
          <a:p>
            <a:pPr marL="228600" lvl="0" indent="-273050" algn="l" rtl="0">
              <a:lnSpc>
                <a:spcPct val="110000"/>
              </a:lnSpc>
              <a:spcBef>
                <a:spcPts val="700"/>
              </a:spcBef>
              <a:spcAft>
                <a:spcPts val="0"/>
              </a:spcAft>
              <a:buSzPts val="4300"/>
              <a:buAutoNum type="arabicPeriod"/>
            </a:pPr>
            <a:r>
              <a:rPr lang="en-US" sz="4500"/>
              <a:t>Lexical Functional Grammar (LFG)</a:t>
            </a:r>
            <a:endParaRPr sz="4500"/>
          </a:p>
          <a:p>
            <a:pPr marL="228600" lvl="0" indent="-273050" algn="l" rtl="0">
              <a:lnSpc>
                <a:spcPct val="110000"/>
              </a:lnSpc>
              <a:spcBef>
                <a:spcPts val="700"/>
              </a:spcBef>
              <a:spcAft>
                <a:spcPts val="0"/>
              </a:spcAft>
              <a:buSzPts val="4300"/>
              <a:buAutoNum type="arabicPeriod"/>
            </a:pPr>
            <a:r>
              <a:rPr lang="en-US" sz="4500"/>
              <a:t>Paninian Grammar (PG)</a:t>
            </a:r>
            <a:endParaRPr sz="45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gf917f9c746_0_70"/>
          <p:cNvSpPr txBox="1">
            <a:spLocks noGrp="1"/>
          </p:cNvSpPr>
          <p:nvPr>
            <p:ph type="title"/>
          </p:nvPr>
        </p:nvSpPr>
        <p:spPr>
          <a:xfrm>
            <a:off x="1251675" y="382381"/>
            <a:ext cx="10178400" cy="641400"/>
          </a:xfrm>
          <a:prstGeom prst="rect">
            <a:avLst/>
          </a:prstGeom>
          <a:noFill/>
          <a:ln>
            <a:noFill/>
          </a:ln>
        </p:spPr>
        <p:txBody>
          <a:bodyPr spcFirstLastPara="1" wrap="square" lIns="91425" tIns="45700" rIns="91425" bIns="45700" anchor="ctr" anchorCtr="0">
            <a:normAutofit fontScale="90000"/>
          </a:bodyPr>
          <a:lstStyle/>
          <a:p>
            <a:pPr marL="228600" lvl="0" indent="0" algn="ctr" rtl="0">
              <a:lnSpc>
                <a:spcPct val="110000"/>
              </a:lnSpc>
              <a:spcBef>
                <a:spcPts val="0"/>
              </a:spcBef>
              <a:spcAft>
                <a:spcPts val="0"/>
              </a:spcAft>
              <a:buSzPct val="44444"/>
              <a:buNone/>
            </a:pPr>
            <a:r>
              <a:rPr lang="en-US" sz="4500">
                <a:solidFill>
                  <a:schemeClr val="dk1"/>
                </a:solidFill>
                <a:latin typeface="Gill Sans"/>
                <a:ea typeface="Gill Sans"/>
                <a:cs typeface="Gill Sans"/>
                <a:sym typeface="Gill Sans"/>
              </a:rPr>
              <a:t>Generative Grammar</a:t>
            </a:r>
            <a:endParaRPr>
              <a:solidFill>
                <a:schemeClr val="dk1"/>
              </a:solidFill>
            </a:endParaRPr>
          </a:p>
        </p:txBody>
      </p:sp>
      <p:sp>
        <p:nvSpPr>
          <p:cNvPr id="478" name="Google Shape;478;gf917f9c746_0_70"/>
          <p:cNvSpPr txBox="1">
            <a:spLocks noGrp="1"/>
          </p:cNvSpPr>
          <p:nvPr>
            <p:ph type="body" idx="1"/>
          </p:nvPr>
        </p:nvSpPr>
        <p:spPr>
          <a:xfrm>
            <a:off x="1251675" y="1023775"/>
            <a:ext cx="10178400" cy="5704200"/>
          </a:xfrm>
          <a:prstGeom prst="rect">
            <a:avLst/>
          </a:prstGeom>
          <a:noFill/>
          <a:ln>
            <a:noFill/>
          </a:ln>
        </p:spPr>
        <p:txBody>
          <a:bodyPr spcFirstLastPara="1" wrap="square" lIns="91425" tIns="45700" rIns="91425" bIns="45700" anchor="ctr" anchorCtr="0">
            <a:normAutofit/>
          </a:bodyPr>
          <a:lstStyle/>
          <a:p>
            <a:pPr marL="457200" lvl="0" indent="-381000" algn="just" rtl="0">
              <a:lnSpc>
                <a:spcPct val="100000"/>
              </a:lnSpc>
              <a:spcBef>
                <a:spcPts val="1000"/>
              </a:spcBef>
              <a:spcAft>
                <a:spcPts val="0"/>
              </a:spcAft>
              <a:buClr>
                <a:schemeClr val="dk1"/>
              </a:buClr>
              <a:buSzPts val="2400"/>
              <a:buFont typeface="Times New Roman"/>
              <a:buChar char="•"/>
            </a:pPr>
            <a:r>
              <a:rPr lang="en-US" sz="2600">
                <a:solidFill>
                  <a:schemeClr val="dk1"/>
                </a:solidFill>
                <a:latin typeface="Times New Roman"/>
                <a:ea typeface="Times New Roman"/>
                <a:cs typeface="Times New Roman"/>
                <a:sym typeface="Times New Roman"/>
              </a:rPr>
              <a:t>According to Noam Chomsky “</a:t>
            </a:r>
            <a:r>
              <a:rPr lang="en-US" sz="2600" i="1">
                <a:solidFill>
                  <a:schemeClr val="dk1"/>
                </a:solidFill>
                <a:highlight>
                  <a:srgbClr val="FFFF00"/>
                </a:highlight>
                <a:latin typeface="Times New Roman"/>
                <a:ea typeface="Times New Roman"/>
                <a:cs typeface="Times New Roman"/>
                <a:sym typeface="Times New Roman"/>
              </a:rPr>
              <a:t>We can generate sentences in a language if we know a collection of words and rules in that language.”</a:t>
            </a:r>
            <a:endParaRPr sz="2600" i="1">
              <a:solidFill>
                <a:schemeClr val="dk1"/>
              </a:solidFill>
              <a:highlight>
                <a:srgbClr val="FFFF00"/>
              </a:highlight>
              <a:latin typeface="Times New Roman"/>
              <a:ea typeface="Times New Roman"/>
              <a:cs typeface="Times New Roman"/>
              <a:sym typeface="Times New Roman"/>
            </a:endParaRPr>
          </a:p>
          <a:p>
            <a:pPr marL="457200" lvl="0" indent="-381000" algn="just" rtl="0">
              <a:lnSpc>
                <a:spcPct val="100000"/>
              </a:lnSpc>
              <a:spcBef>
                <a:spcPts val="1000"/>
              </a:spcBef>
              <a:spcAft>
                <a:spcPts val="0"/>
              </a:spcAft>
              <a:buClr>
                <a:schemeClr val="dk1"/>
              </a:buClr>
              <a:buSzPts val="2400"/>
              <a:buChar char="•"/>
            </a:pPr>
            <a:r>
              <a:rPr lang="en-US" sz="2600">
                <a:solidFill>
                  <a:schemeClr val="dk1"/>
                </a:solidFill>
                <a:latin typeface="Times New Roman"/>
                <a:ea typeface="Times New Roman"/>
                <a:cs typeface="Times New Roman"/>
                <a:sym typeface="Times New Roman"/>
              </a:rPr>
              <a:t>Only those sentences that are generated as per the rules are grammatical.</a:t>
            </a:r>
            <a:endParaRPr sz="2600">
              <a:solidFill>
                <a:schemeClr val="dk1"/>
              </a:solidFill>
              <a:latin typeface="Times New Roman"/>
              <a:ea typeface="Times New Roman"/>
              <a:cs typeface="Times New Roman"/>
              <a:sym typeface="Times New Roman"/>
            </a:endParaRPr>
          </a:p>
          <a:p>
            <a:pPr marL="457200" lvl="0" indent="-381000" algn="just" rtl="0">
              <a:lnSpc>
                <a:spcPct val="100000"/>
              </a:lnSpc>
              <a:spcBef>
                <a:spcPts val="1000"/>
              </a:spcBef>
              <a:spcAft>
                <a:spcPts val="0"/>
              </a:spcAft>
              <a:buClr>
                <a:schemeClr val="dk1"/>
              </a:buClr>
              <a:buSzPts val="2400"/>
              <a:buChar char="•"/>
            </a:pPr>
            <a:r>
              <a:rPr lang="en-US" sz="2600">
                <a:solidFill>
                  <a:schemeClr val="dk1"/>
                </a:solidFill>
                <a:latin typeface="Times New Roman"/>
                <a:ea typeface="Times New Roman"/>
                <a:cs typeface="Times New Roman"/>
                <a:sym typeface="Times New Roman"/>
              </a:rPr>
              <a:t>This is termed as </a:t>
            </a:r>
            <a:r>
              <a:rPr lang="en-US" sz="2600" b="1">
                <a:solidFill>
                  <a:schemeClr val="dk1"/>
                </a:solidFill>
                <a:latin typeface="Times New Roman"/>
                <a:ea typeface="Times New Roman"/>
                <a:cs typeface="Times New Roman"/>
                <a:sym typeface="Times New Roman"/>
              </a:rPr>
              <a:t>generative grammar</a:t>
            </a:r>
            <a:r>
              <a:rPr lang="en-US" sz="2600">
                <a:solidFill>
                  <a:schemeClr val="dk1"/>
                </a:solidFill>
                <a:latin typeface="Times New Roman"/>
                <a:ea typeface="Times New Roman"/>
                <a:cs typeface="Times New Roman"/>
                <a:sym typeface="Times New Roman"/>
              </a:rPr>
              <a:t> and the same idea can be used to </a:t>
            </a:r>
            <a:r>
              <a:rPr lang="en-US" sz="2600" b="1">
                <a:solidFill>
                  <a:schemeClr val="dk1"/>
                </a:solidFill>
                <a:latin typeface="Times New Roman"/>
                <a:ea typeface="Times New Roman"/>
                <a:cs typeface="Times New Roman"/>
                <a:sym typeface="Times New Roman"/>
              </a:rPr>
              <a:t>model a language.</a:t>
            </a:r>
            <a:endParaRPr sz="2600" b="1">
              <a:solidFill>
                <a:schemeClr val="dk1"/>
              </a:solidFill>
              <a:latin typeface="Times New Roman"/>
              <a:ea typeface="Times New Roman"/>
              <a:cs typeface="Times New Roman"/>
              <a:sym typeface="Times New Roman"/>
            </a:endParaRPr>
          </a:p>
          <a:p>
            <a:pPr marL="457200" lvl="0" indent="-381000" algn="just" rtl="0">
              <a:lnSpc>
                <a:spcPct val="100000"/>
              </a:lnSpc>
              <a:spcBef>
                <a:spcPts val="1000"/>
              </a:spcBef>
              <a:spcAft>
                <a:spcPts val="1000"/>
              </a:spcAft>
              <a:buClr>
                <a:schemeClr val="dk1"/>
              </a:buClr>
              <a:buSzPts val="2400"/>
              <a:buFont typeface="Times New Roman"/>
              <a:buChar char="•"/>
            </a:pPr>
            <a:r>
              <a:rPr lang="en-US" sz="2600">
                <a:solidFill>
                  <a:schemeClr val="dk1"/>
                </a:solidFill>
                <a:latin typeface="Times New Roman"/>
                <a:ea typeface="Times New Roman"/>
                <a:cs typeface="Times New Roman"/>
                <a:sym typeface="Times New Roman"/>
              </a:rPr>
              <a:t>If we have </a:t>
            </a:r>
            <a:r>
              <a:rPr lang="en-US" sz="2600" b="1">
                <a:solidFill>
                  <a:schemeClr val="dk1"/>
                </a:solidFill>
                <a:latin typeface="Times New Roman"/>
                <a:ea typeface="Times New Roman"/>
                <a:cs typeface="Times New Roman"/>
                <a:sym typeface="Times New Roman"/>
              </a:rPr>
              <a:t>complete set of rules</a:t>
            </a:r>
            <a:r>
              <a:rPr lang="en-US" sz="2600">
                <a:solidFill>
                  <a:schemeClr val="dk1"/>
                </a:solidFill>
                <a:latin typeface="Times New Roman"/>
                <a:ea typeface="Times New Roman"/>
                <a:cs typeface="Times New Roman"/>
                <a:sym typeface="Times New Roman"/>
              </a:rPr>
              <a:t> that can generate all possible sentences in a language, those rules provide a model of that language. </a:t>
            </a:r>
            <a:endParaRPr sz="2600">
              <a:solidFill>
                <a:schemeClr val="dk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f917f9c746_0_75"/>
          <p:cNvSpPr txBox="1">
            <a:spLocks noGrp="1"/>
          </p:cNvSpPr>
          <p:nvPr>
            <p:ph type="title"/>
          </p:nvPr>
        </p:nvSpPr>
        <p:spPr>
          <a:xfrm>
            <a:off x="1251675" y="382380"/>
            <a:ext cx="10178400" cy="771600"/>
          </a:xfrm>
          <a:prstGeom prst="rect">
            <a:avLst/>
          </a:prstGeom>
          <a:noFill/>
          <a:ln>
            <a:noFill/>
          </a:ln>
        </p:spPr>
        <p:txBody>
          <a:bodyPr spcFirstLastPara="1" wrap="square" lIns="91425" tIns="45700" rIns="91425" bIns="45700" anchor="ctr" anchorCtr="0">
            <a:normAutofit fontScale="90000"/>
          </a:bodyPr>
          <a:lstStyle/>
          <a:p>
            <a:pPr marL="228600" lvl="0" indent="0" algn="ctr" rtl="0">
              <a:lnSpc>
                <a:spcPct val="110000"/>
              </a:lnSpc>
              <a:spcBef>
                <a:spcPts val="700"/>
              </a:spcBef>
              <a:spcAft>
                <a:spcPts val="0"/>
              </a:spcAft>
              <a:buSzPct val="44444"/>
              <a:buNone/>
            </a:pPr>
            <a:r>
              <a:rPr lang="en-US" sz="4500">
                <a:solidFill>
                  <a:schemeClr val="dk1"/>
                </a:solidFill>
                <a:latin typeface="Gill Sans"/>
                <a:ea typeface="Gill Sans"/>
                <a:cs typeface="Gill Sans"/>
                <a:sym typeface="Gill Sans"/>
              </a:rPr>
              <a:t>Hierarchical Grammar</a:t>
            </a:r>
            <a:endParaRPr>
              <a:solidFill>
                <a:schemeClr val="dk1"/>
              </a:solidFill>
            </a:endParaRPr>
          </a:p>
        </p:txBody>
      </p:sp>
      <p:sp>
        <p:nvSpPr>
          <p:cNvPr id="484" name="Google Shape;484;gf917f9c746_0_75"/>
          <p:cNvSpPr txBox="1">
            <a:spLocks noGrp="1"/>
          </p:cNvSpPr>
          <p:nvPr>
            <p:ph type="body" idx="1"/>
          </p:nvPr>
        </p:nvSpPr>
        <p:spPr>
          <a:xfrm>
            <a:off x="1251675" y="1153975"/>
            <a:ext cx="10178400" cy="5557800"/>
          </a:xfrm>
          <a:prstGeom prst="rect">
            <a:avLst/>
          </a:prstGeom>
          <a:noFill/>
          <a:ln>
            <a:noFill/>
          </a:ln>
        </p:spPr>
        <p:txBody>
          <a:bodyPr spcFirstLastPara="1" wrap="square" lIns="91425" tIns="45700" rIns="91425" bIns="45700" anchor="ctr" anchorCtr="0">
            <a:normAutofit/>
          </a:bodyPr>
          <a:lstStyle/>
          <a:p>
            <a:pPr marL="228600" lvl="0" indent="-228600" algn="just" rtl="0">
              <a:lnSpc>
                <a:spcPct val="110000"/>
              </a:lnSpc>
              <a:spcBef>
                <a:spcPts val="700"/>
              </a:spcBef>
              <a:spcAft>
                <a:spcPts val="0"/>
              </a:spcAft>
              <a:buClr>
                <a:schemeClr val="dk1"/>
              </a:buClr>
              <a:buSzPts val="2400"/>
              <a:buChar char="•"/>
            </a:pPr>
            <a:r>
              <a:rPr lang="en-US" sz="2400">
                <a:solidFill>
                  <a:schemeClr val="dk1"/>
                </a:solidFill>
              </a:rPr>
              <a:t>Chomsky described classes of grammar in a hierarchical manner, where the top layer contained the grammars represented by its subclasses.</a:t>
            </a:r>
            <a:endParaRPr sz="2400">
              <a:solidFill>
                <a:schemeClr val="dk1"/>
              </a:solidFill>
            </a:endParaRPr>
          </a:p>
          <a:p>
            <a:pPr marL="228600" lvl="0" indent="-228600" algn="just" rtl="0">
              <a:lnSpc>
                <a:spcPct val="110000"/>
              </a:lnSpc>
              <a:spcBef>
                <a:spcPts val="700"/>
              </a:spcBef>
              <a:spcAft>
                <a:spcPts val="0"/>
              </a:spcAft>
              <a:buClr>
                <a:schemeClr val="dk1"/>
              </a:buClr>
              <a:buSzPts val="2400"/>
              <a:buChar char="•"/>
            </a:pPr>
            <a:r>
              <a:rPr lang="en-US" sz="2400">
                <a:solidFill>
                  <a:schemeClr val="dk1"/>
                </a:solidFill>
              </a:rPr>
              <a:t>Type 0 (or unrestricted) grammar contains Type 1 (or context sensitive grammar) which in turn contains Type 2 (context free grammar) and that again contains Type 3 grammar (regular grammar)</a:t>
            </a:r>
            <a:endParaRPr sz="2400">
              <a:solidFill>
                <a:schemeClr val="dk1"/>
              </a:solidFill>
            </a:endParaRPr>
          </a:p>
          <a:p>
            <a:pPr marL="228600" lvl="0" indent="-228600" algn="just" rtl="0">
              <a:lnSpc>
                <a:spcPct val="110000"/>
              </a:lnSpc>
              <a:spcBef>
                <a:spcPts val="700"/>
              </a:spcBef>
              <a:spcAft>
                <a:spcPts val="0"/>
              </a:spcAft>
              <a:buClr>
                <a:schemeClr val="dk1"/>
              </a:buClr>
              <a:buSzPts val="2200"/>
              <a:buChar char="•"/>
            </a:pPr>
            <a:r>
              <a:rPr lang="en-US" sz="2400">
                <a:solidFill>
                  <a:schemeClr val="dk1"/>
                </a:solidFill>
              </a:rPr>
              <a:t>It can be extended to describe grammars at various levels.</a:t>
            </a:r>
            <a:endParaRPr sz="2400">
              <a:solidFill>
                <a:schemeClr val="dk1"/>
              </a:solidFill>
            </a:endParaRPr>
          </a:p>
          <a:p>
            <a:pPr marL="1828800" lvl="0" indent="0" algn="just" rtl="0">
              <a:lnSpc>
                <a:spcPct val="110000"/>
              </a:lnSpc>
              <a:spcBef>
                <a:spcPts val="700"/>
              </a:spcBef>
              <a:spcAft>
                <a:spcPts val="0"/>
              </a:spcAft>
              <a:buSzPts val="1800"/>
              <a:buNone/>
            </a:pPr>
            <a:r>
              <a:rPr lang="en-US" sz="2400">
                <a:solidFill>
                  <a:schemeClr val="dk1"/>
                </a:solidFill>
              </a:rPr>
              <a:t>Type 0</a:t>
            </a:r>
            <a:r>
              <a:rPr lang="en-US" sz="2400">
                <a:solidFill>
                  <a:schemeClr val="dk1"/>
                </a:solidFill>
                <a:highlight>
                  <a:srgbClr val="FFFF00"/>
                </a:highlight>
              </a:rPr>
              <a:t> Unrestricted</a:t>
            </a:r>
            <a:endParaRPr sz="2400">
              <a:solidFill>
                <a:schemeClr val="dk1"/>
              </a:solidFill>
              <a:highlight>
                <a:srgbClr val="FFFF00"/>
              </a:highlight>
            </a:endParaRPr>
          </a:p>
          <a:p>
            <a:pPr marL="1828800" lvl="0" indent="0" algn="just" rtl="0">
              <a:lnSpc>
                <a:spcPct val="110000"/>
              </a:lnSpc>
              <a:spcBef>
                <a:spcPts val="700"/>
              </a:spcBef>
              <a:spcAft>
                <a:spcPts val="0"/>
              </a:spcAft>
              <a:buClr>
                <a:schemeClr val="dk1"/>
              </a:buClr>
              <a:buSzPts val="1100"/>
              <a:buFont typeface="Arial"/>
              <a:buNone/>
            </a:pPr>
            <a:r>
              <a:rPr lang="en-US" sz="2400">
                <a:solidFill>
                  <a:schemeClr val="dk1"/>
                </a:solidFill>
              </a:rPr>
              <a:t>Type 1 </a:t>
            </a:r>
            <a:r>
              <a:rPr lang="en-US" sz="2400">
                <a:solidFill>
                  <a:schemeClr val="dk1"/>
                </a:solidFill>
                <a:highlight>
                  <a:srgbClr val="FFFF00"/>
                </a:highlight>
              </a:rPr>
              <a:t>Context Sensitive Grammar</a:t>
            </a:r>
            <a:endParaRPr sz="2400">
              <a:solidFill>
                <a:schemeClr val="dk1"/>
              </a:solidFill>
              <a:highlight>
                <a:srgbClr val="FFFF00"/>
              </a:highlight>
            </a:endParaRPr>
          </a:p>
          <a:p>
            <a:pPr marL="1828800" lvl="0" indent="0" algn="just" rtl="0">
              <a:lnSpc>
                <a:spcPct val="110000"/>
              </a:lnSpc>
              <a:spcBef>
                <a:spcPts val="700"/>
              </a:spcBef>
              <a:spcAft>
                <a:spcPts val="0"/>
              </a:spcAft>
              <a:buClr>
                <a:schemeClr val="dk1"/>
              </a:buClr>
              <a:buSzPts val="1100"/>
              <a:buFont typeface="Arial"/>
              <a:buNone/>
            </a:pPr>
            <a:r>
              <a:rPr lang="en-US" sz="2400">
                <a:solidFill>
                  <a:schemeClr val="dk1"/>
                </a:solidFill>
              </a:rPr>
              <a:t>Type 2 </a:t>
            </a:r>
            <a:r>
              <a:rPr lang="en-US" sz="2400">
                <a:solidFill>
                  <a:schemeClr val="dk1"/>
                </a:solidFill>
                <a:highlight>
                  <a:srgbClr val="FFFF00"/>
                </a:highlight>
              </a:rPr>
              <a:t>Context Free Grammar</a:t>
            </a:r>
            <a:endParaRPr sz="2400">
              <a:solidFill>
                <a:schemeClr val="dk1"/>
              </a:solidFill>
              <a:highlight>
                <a:srgbClr val="FFFF00"/>
              </a:highlight>
            </a:endParaRPr>
          </a:p>
          <a:p>
            <a:pPr marL="1828800" lvl="0" indent="0" algn="just" rtl="0">
              <a:lnSpc>
                <a:spcPct val="110000"/>
              </a:lnSpc>
              <a:spcBef>
                <a:spcPts val="700"/>
              </a:spcBef>
              <a:spcAft>
                <a:spcPts val="0"/>
              </a:spcAft>
              <a:buSzPts val="1800"/>
              <a:buNone/>
            </a:pPr>
            <a:r>
              <a:rPr lang="en-US" sz="2400">
                <a:solidFill>
                  <a:schemeClr val="dk1"/>
                </a:solidFill>
              </a:rPr>
              <a:t>Type 3</a:t>
            </a:r>
            <a:r>
              <a:rPr lang="en-US" sz="2400">
                <a:solidFill>
                  <a:schemeClr val="dk1"/>
                </a:solidFill>
                <a:highlight>
                  <a:srgbClr val="FFFF00"/>
                </a:highlight>
              </a:rPr>
              <a:t> Regular Grammar</a:t>
            </a:r>
            <a:endParaRPr sz="2400">
              <a:solidFill>
                <a:schemeClr val="dk1"/>
              </a:solidFill>
              <a:highlight>
                <a:srgbClr val="FFFF00"/>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gf917f9c746_0_80"/>
          <p:cNvSpPr txBox="1">
            <a:spLocks noGrp="1"/>
          </p:cNvSpPr>
          <p:nvPr>
            <p:ph type="title"/>
          </p:nvPr>
        </p:nvSpPr>
        <p:spPr>
          <a:xfrm>
            <a:off x="1251675" y="382380"/>
            <a:ext cx="10178400" cy="804000"/>
          </a:xfrm>
          <a:prstGeom prst="rect">
            <a:avLst/>
          </a:prstGeom>
          <a:noFill/>
          <a:ln>
            <a:noFill/>
          </a:ln>
        </p:spPr>
        <p:txBody>
          <a:bodyPr spcFirstLastPara="1" wrap="square" lIns="91425" tIns="45700" rIns="91425" bIns="45700" anchor="ctr" anchorCtr="0">
            <a:normAutofit fontScale="90000"/>
          </a:bodyPr>
          <a:lstStyle/>
          <a:p>
            <a:pPr marL="228600" lvl="0" indent="0" algn="ctr" rtl="0">
              <a:lnSpc>
                <a:spcPct val="110000"/>
              </a:lnSpc>
              <a:spcBef>
                <a:spcPts val="700"/>
              </a:spcBef>
              <a:spcAft>
                <a:spcPts val="0"/>
              </a:spcAft>
              <a:buSzPct val="44444"/>
              <a:buNone/>
            </a:pPr>
            <a:r>
              <a:rPr lang="en-US" sz="4500">
                <a:solidFill>
                  <a:schemeClr val="dk1"/>
                </a:solidFill>
                <a:latin typeface="Gill Sans"/>
                <a:ea typeface="Gill Sans"/>
                <a:cs typeface="Gill Sans"/>
                <a:sym typeface="Gill Sans"/>
              </a:rPr>
              <a:t>Government and Binding (GB)</a:t>
            </a:r>
            <a:endParaRPr>
              <a:solidFill>
                <a:schemeClr val="dk1"/>
              </a:solidFill>
            </a:endParaRPr>
          </a:p>
        </p:txBody>
      </p:sp>
      <p:sp>
        <p:nvSpPr>
          <p:cNvPr id="490" name="Google Shape;490;gf917f9c746_0_80"/>
          <p:cNvSpPr txBox="1">
            <a:spLocks noGrp="1"/>
          </p:cNvSpPr>
          <p:nvPr>
            <p:ph type="body" idx="1"/>
          </p:nvPr>
        </p:nvSpPr>
        <p:spPr>
          <a:xfrm>
            <a:off x="1251675" y="1105075"/>
            <a:ext cx="10178400" cy="5655300"/>
          </a:xfrm>
          <a:prstGeom prst="rect">
            <a:avLst/>
          </a:prstGeom>
          <a:noFill/>
          <a:ln>
            <a:noFill/>
          </a:ln>
        </p:spPr>
        <p:txBody>
          <a:bodyPr spcFirstLastPara="1" wrap="square" lIns="91425" tIns="45700" rIns="91425" bIns="45700" anchor="t" anchorCtr="0">
            <a:normAutofit/>
          </a:bodyPr>
          <a:lstStyle/>
          <a:p>
            <a:pPr marL="457200" lvl="0" indent="-342900" algn="l" rtl="0">
              <a:lnSpc>
                <a:spcPct val="110000"/>
              </a:lnSpc>
              <a:spcBef>
                <a:spcPts val="700"/>
              </a:spcBef>
              <a:spcAft>
                <a:spcPts val="0"/>
              </a:spcAft>
              <a:buClr>
                <a:schemeClr val="dk1"/>
              </a:buClr>
              <a:buSzPts val="1800"/>
              <a:buChar char="•"/>
            </a:pPr>
            <a:r>
              <a:rPr lang="en-US">
                <a:solidFill>
                  <a:schemeClr val="dk1"/>
                </a:solidFill>
              </a:rPr>
              <a:t>Chomsky was the first to put forward GB theory.</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rPr>
              <a:t>Transformational grammars assume two levels of existence of sentences  -</a:t>
            </a:r>
            <a:endParaRPr>
              <a:solidFill>
                <a:schemeClr val="dk1"/>
              </a:solidFill>
            </a:endParaRPr>
          </a:p>
          <a:p>
            <a:pPr marL="914400" lvl="0" indent="-342900" algn="l" rtl="0">
              <a:lnSpc>
                <a:spcPct val="110000"/>
              </a:lnSpc>
              <a:spcBef>
                <a:spcPts val="0"/>
              </a:spcBef>
              <a:spcAft>
                <a:spcPts val="0"/>
              </a:spcAft>
              <a:buClr>
                <a:schemeClr val="dk1"/>
              </a:buClr>
              <a:buSzPts val="1800"/>
              <a:buAutoNum type="arabicPeriod"/>
            </a:pPr>
            <a:r>
              <a:rPr lang="en-US">
                <a:solidFill>
                  <a:schemeClr val="dk1"/>
                </a:solidFill>
              </a:rPr>
              <a:t>surface level </a:t>
            </a:r>
            <a:endParaRPr>
              <a:solidFill>
                <a:schemeClr val="dk1"/>
              </a:solidFill>
            </a:endParaRPr>
          </a:p>
          <a:p>
            <a:pPr marL="914400" lvl="0" indent="-342900" algn="l" rtl="0">
              <a:lnSpc>
                <a:spcPct val="110000"/>
              </a:lnSpc>
              <a:spcBef>
                <a:spcPts val="0"/>
              </a:spcBef>
              <a:spcAft>
                <a:spcPts val="0"/>
              </a:spcAft>
              <a:buClr>
                <a:schemeClr val="dk1"/>
              </a:buClr>
              <a:buSzPts val="1800"/>
              <a:buAutoNum type="arabicPeriod"/>
            </a:pPr>
            <a:r>
              <a:rPr lang="en-US">
                <a:solidFill>
                  <a:schemeClr val="dk1"/>
                </a:solidFill>
              </a:rPr>
              <a:t>deep root level </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rPr>
              <a:t>Government and binding (GB) theory has four levels </a:t>
            </a:r>
            <a:endParaRPr>
              <a:solidFill>
                <a:schemeClr val="dk1"/>
              </a:solidFill>
            </a:endParaRPr>
          </a:p>
          <a:p>
            <a:pPr marL="914400" lvl="0" indent="-342900" algn="l" rtl="0">
              <a:lnSpc>
                <a:spcPct val="110000"/>
              </a:lnSpc>
              <a:spcBef>
                <a:spcPts val="0"/>
              </a:spcBef>
              <a:spcAft>
                <a:spcPts val="0"/>
              </a:spcAft>
              <a:buClr>
                <a:schemeClr val="dk1"/>
              </a:buClr>
              <a:buSzPts val="1800"/>
              <a:buAutoNum type="arabicPeriod"/>
            </a:pPr>
            <a:r>
              <a:rPr lang="en-US">
                <a:solidFill>
                  <a:schemeClr val="dk1"/>
                </a:solidFill>
              </a:rPr>
              <a:t>s-level  (surface level of transformational grammar is renamed as s-level)</a:t>
            </a:r>
            <a:endParaRPr>
              <a:solidFill>
                <a:schemeClr val="dk1"/>
              </a:solidFill>
            </a:endParaRPr>
          </a:p>
          <a:p>
            <a:pPr marL="914400" lvl="0" indent="-342900" algn="l" rtl="0">
              <a:lnSpc>
                <a:spcPct val="110000"/>
              </a:lnSpc>
              <a:spcBef>
                <a:spcPts val="0"/>
              </a:spcBef>
              <a:spcAft>
                <a:spcPts val="0"/>
              </a:spcAft>
              <a:buClr>
                <a:schemeClr val="dk1"/>
              </a:buClr>
              <a:buSzPts val="1800"/>
              <a:buAutoNum type="arabicPeriod"/>
            </a:pPr>
            <a:r>
              <a:rPr lang="en-US">
                <a:solidFill>
                  <a:schemeClr val="dk1"/>
                </a:solidFill>
              </a:rPr>
              <a:t>d-level (deep root level of transformational grammar is renamed as d-level)</a:t>
            </a:r>
            <a:endParaRPr>
              <a:solidFill>
                <a:schemeClr val="dk1"/>
              </a:solidFill>
            </a:endParaRPr>
          </a:p>
          <a:p>
            <a:pPr marL="914400" lvl="0" indent="-342900" algn="l" rtl="0">
              <a:lnSpc>
                <a:spcPct val="110000"/>
              </a:lnSpc>
              <a:spcBef>
                <a:spcPts val="0"/>
              </a:spcBef>
              <a:spcAft>
                <a:spcPts val="0"/>
              </a:spcAft>
              <a:buClr>
                <a:schemeClr val="dk1"/>
              </a:buClr>
              <a:buSzPts val="1800"/>
              <a:buAutoNum type="arabicPeriod"/>
            </a:pPr>
            <a:r>
              <a:rPr lang="en-US">
                <a:solidFill>
                  <a:schemeClr val="dk1"/>
                </a:solidFill>
              </a:rPr>
              <a:t>phonetic form</a:t>
            </a:r>
            <a:endParaRPr>
              <a:solidFill>
                <a:schemeClr val="dk1"/>
              </a:solidFill>
            </a:endParaRPr>
          </a:p>
          <a:p>
            <a:pPr marL="914400" lvl="0" indent="-342900" algn="l" rtl="0">
              <a:lnSpc>
                <a:spcPct val="110000"/>
              </a:lnSpc>
              <a:spcBef>
                <a:spcPts val="0"/>
              </a:spcBef>
              <a:spcAft>
                <a:spcPts val="0"/>
              </a:spcAft>
              <a:buClr>
                <a:schemeClr val="dk1"/>
              </a:buClr>
              <a:buSzPts val="1800"/>
              <a:buAutoNum type="arabicPeriod"/>
            </a:pPr>
            <a:r>
              <a:rPr lang="en-US">
                <a:solidFill>
                  <a:schemeClr val="dk1"/>
                </a:solidFill>
              </a:rPr>
              <a:t>logical form	</a:t>
            </a:r>
            <a:endParaRPr>
              <a:solidFill>
                <a:schemeClr val="dk1"/>
              </a:solidFill>
            </a:endParaRPr>
          </a:p>
          <a:p>
            <a:pPr marL="457200" lvl="0" indent="-342900" algn="l" rtl="0">
              <a:lnSpc>
                <a:spcPct val="110000"/>
              </a:lnSpc>
              <a:spcBef>
                <a:spcPts val="0"/>
              </a:spcBef>
              <a:spcAft>
                <a:spcPts val="0"/>
              </a:spcAft>
              <a:buClr>
                <a:schemeClr val="dk1"/>
              </a:buClr>
              <a:buSzPts val="1800"/>
              <a:buChar char="•"/>
            </a:pPr>
            <a:r>
              <a:rPr lang="en-US">
                <a:solidFill>
                  <a:schemeClr val="dk1"/>
                </a:solidFill>
              </a:rPr>
              <a:t>phonetic form and logical form are parallel to each other.</a:t>
            </a:r>
            <a:endParaRPr>
              <a:solidFill>
                <a:schemeClr val="dk1"/>
              </a:solidFill>
            </a:endParaRPr>
          </a:p>
        </p:txBody>
      </p:sp>
      <p:pic>
        <p:nvPicPr>
          <p:cNvPr id="491" name="Google Shape;491;gf917f9c746_0_80"/>
          <p:cNvPicPr preferRelativeResize="0"/>
          <p:nvPr/>
        </p:nvPicPr>
        <p:blipFill rotWithShape="1">
          <a:blip r:embed="rId3">
            <a:alphaModFix/>
          </a:blip>
          <a:srcRect/>
          <a:stretch/>
        </p:blipFill>
        <p:spPr>
          <a:xfrm>
            <a:off x="6657075" y="4473225"/>
            <a:ext cx="4558626" cy="20263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gf9de619886_0_6"/>
          <p:cNvSpPr txBox="1">
            <a:spLocks noGrp="1"/>
          </p:cNvSpPr>
          <p:nvPr>
            <p:ph type="title"/>
          </p:nvPr>
        </p:nvSpPr>
        <p:spPr>
          <a:xfrm>
            <a:off x="1251675" y="382379"/>
            <a:ext cx="10178400" cy="8322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1100"/>
              <a:buFont typeface="Arial"/>
              <a:buNone/>
            </a:pPr>
            <a:r>
              <a:rPr lang="en-US" sz="4500">
                <a:solidFill>
                  <a:srgbClr val="595959"/>
                </a:solidFill>
                <a:latin typeface="Gill Sans"/>
                <a:ea typeface="Gill Sans"/>
                <a:cs typeface="Gill Sans"/>
                <a:sym typeface="Gill Sans"/>
              </a:rPr>
              <a:t>Government and Binding (GB)</a:t>
            </a:r>
            <a:endParaRPr/>
          </a:p>
        </p:txBody>
      </p:sp>
      <p:sp>
        <p:nvSpPr>
          <p:cNvPr id="497" name="Google Shape;497;gf9de619886_0_6"/>
          <p:cNvSpPr txBox="1">
            <a:spLocks noGrp="1"/>
          </p:cNvSpPr>
          <p:nvPr>
            <p:ph type="body" idx="1"/>
          </p:nvPr>
        </p:nvSpPr>
        <p:spPr>
          <a:xfrm>
            <a:off x="1251675" y="1143000"/>
            <a:ext cx="10178400" cy="5586300"/>
          </a:xfrm>
          <a:prstGeom prst="rect">
            <a:avLst/>
          </a:prstGeom>
          <a:noFill/>
          <a:ln>
            <a:noFill/>
          </a:ln>
        </p:spPr>
        <p:txBody>
          <a:bodyPr spcFirstLastPara="1" wrap="square" lIns="91425" tIns="45700" rIns="91425" bIns="45700" anchor="t" anchorCtr="0">
            <a:normAutofit/>
          </a:bodyPr>
          <a:lstStyle/>
          <a:p>
            <a:pPr marL="457200" lvl="0" indent="-342900" algn="l" rtl="0">
              <a:lnSpc>
                <a:spcPct val="110000"/>
              </a:lnSpc>
              <a:spcBef>
                <a:spcPts val="700"/>
              </a:spcBef>
              <a:spcAft>
                <a:spcPts val="0"/>
              </a:spcAft>
              <a:buSzPts val="1800"/>
              <a:buChar char="•"/>
            </a:pPr>
            <a:r>
              <a:rPr lang="en-US"/>
              <a:t>Language is the representation of some </a:t>
            </a:r>
            <a:r>
              <a:rPr lang="en-US" b="1"/>
              <a:t>‘meaning’ </a:t>
            </a:r>
            <a:r>
              <a:rPr lang="en-US"/>
              <a:t>in a </a:t>
            </a:r>
            <a:r>
              <a:rPr lang="en-US" b="1"/>
              <a:t>‘sound’ </a:t>
            </a:r>
            <a:r>
              <a:rPr lang="en-US"/>
              <a:t>form.</a:t>
            </a:r>
            <a:endParaRPr/>
          </a:p>
          <a:p>
            <a:pPr marL="0" lvl="0" indent="0" algn="l" rtl="0">
              <a:lnSpc>
                <a:spcPct val="110000"/>
              </a:lnSpc>
              <a:spcBef>
                <a:spcPts val="700"/>
              </a:spcBef>
              <a:spcAft>
                <a:spcPts val="0"/>
              </a:spcAft>
              <a:buSzPts val="1800"/>
              <a:buNone/>
            </a:pPr>
            <a:r>
              <a:rPr lang="en-US"/>
              <a:t>                      ‘meaning’             logical form (LF) and</a:t>
            </a:r>
            <a:endParaRPr/>
          </a:p>
          <a:p>
            <a:pPr marL="0" lvl="0" indent="0" algn="l" rtl="0">
              <a:lnSpc>
                <a:spcPct val="110000"/>
              </a:lnSpc>
              <a:spcBef>
                <a:spcPts val="700"/>
              </a:spcBef>
              <a:spcAft>
                <a:spcPts val="0"/>
              </a:spcAft>
              <a:buSzPts val="1800"/>
              <a:buNone/>
            </a:pPr>
            <a:r>
              <a:rPr lang="en-US"/>
              <a:t>                        ‘sound’              phonetic form (PF)</a:t>
            </a:r>
            <a:endParaRPr/>
          </a:p>
          <a:p>
            <a:pPr marL="457200" lvl="0" indent="-342900" algn="l" rtl="0">
              <a:lnSpc>
                <a:spcPct val="110000"/>
              </a:lnSpc>
              <a:spcBef>
                <a:spcPts val="700"/>
              </a:spcBef>
              <a:spcAft>
                <a:spcPts val="0"/>
              </a:spcAft>
              <a:buSzPts val="1800"/>
              <a:buChar char="•"/>
            </a:pPr>
            <a:r>
              <a:rPr lang="en-US">
                <a:highlight>
                  <a:srgbClr val="FFFF00"/>
                </a:highlight>
              </a:rPr>
              <a:t>GB is concerned with Logical Form rather than Phonetic Form.</a:t>
            </a:r>
            <a:endParaRPr>
              <a:highlight>
                <a:srgbClr val="FFFF00"/>
              </a:highlight>
            </a:endParaRPr>
          </a:p>
          <a:p>
            <a:pPr marL="457200" lvl="0" indent="-342900" algn="l" rtl="0">
              <a:lnSpc>
                <a:spcPct val="110000"/>
              </a:lnSpc>
              <a:spcBef>
                <a:spcPts val="0"/>
              </a:spcBef>
              <a:spcAft>
                <a:spcPts val="0"/>
              </a:spcAft>
              <a:buSzPts val="1800"/>
              <a:buChar char="•"/>
            </a:pPr>
            <a:r>
              <a:rPr lang="en-US"/>
              <a:t>Transformational grammars have hundreds of rewriting rules, which are </a:t>
            </a:r>
            <a:r>
              <a:rPr lang="en-US" b="1"/>
              <a:t>language specific and construct specific</a:t>
            </a:r>
            <a:r>
              <a:rPr lang="en-US"/>
              <a:t> - like different rules for </a:t>
            </a:r>
            <a:r>
              <a:rPr lang="en-US" b="1"/>
              <a:t>assertive, interrogative</a:t>
            </a:r>
            <a:r>
              <a:rPr lang="en-US"/>
              <a:t>, </a:t>
            </a:r>
            <a:r>
              <a:rPr lang="en-US" b="1"/>
              <a:t>active and passive voice sentences</a:t>
            </a:r>
            <a:r>
              <a:rPr lang="en-US"/>
              <a:t>. </a:t>
            </a:r>
            <a:endParaRPr/>
          </a:p>
          <a:p>
            <a:pPr marL="457200" lvl="0" indent="-342900" algn="l" rtl="0">
              <a:lnSpc>
                <a:spcPct val="110000"/>
              </a:lnSpc>
              <a:spcBef>
                <a:spcPts val="0"/>
              </a:spcBef>
              <a:spcAft>
                <a:spcPts val="0"/>
              </a:spcAft>
              <a:buSzPts val="1800"/>
              <a:buChar char="•"/>
            </a:pPr>
            <a:r>
              <a:rPr lang="en-US"/>
              <a:t>Generation of a complete set of generic rules is not possible. </a:t>
            </a:r>
            <a:endParaRPr/>
          </a:p>
          <a:p>
            <a:pPr marL="457200" lvl="0" indent="-342900" algn="l" rtl="0">
              <a:lnSpc>
                <a:spcPct val="110000"/>
              </a:lnSpc>
              <a:spcBef>
                <a:spcPts val="0"/>
              </a:spcBef>
              <a:spcAft>
                <a:spcPts val="0"/>
              </a:spcAft>
              <a:buSzPts val="1800"/>
              <a:buChar char="•"/>
            </a:pPr>
            <a:r>
              <a:rPr lang="en-US">
                <a:highlight>
                  <a:srgbClr val="FFFF00"/>
                </a:highlight>
              </a:rPr>
              <a:t>The vision of GB is, if we define rules for </a:t>
            </a:r>
            <a:r>
              <a:rPr lang="en-US" b="1">
                <a:highlight>
                  <a:srgbClr val="FFFF00"/>
                </a:highlight>
              </a:rPr>
              <a:t>structural units at the deep level</a:t>
            </a:r>
            <a:r>
              <a:rPr lang="en-US">
                <a:highlight>
                  <a:srgbClr val="FFFF00"/>
                </a:highlight>
              </a:rPr>
              <a:t>, it will be possible to generate any language with fewer rules.</a:t>
            </a:r>
            <a:r>
              <a:rPr lang="en-US"/>
              <a:t> </a:t>
            </a:r>
            <a:endParaRPr/>
          </a:p>
          <a:p>
            <a:pPr marL="457200" lvl="0" indent="-342900" algn="l" rtl="0">
              <a:lnSpc>
                <a:spcPct val="110000"/>
              </a:lnSpc>
              <a:spcBef>
                <a:spcPts val="0"/>
              </a:spcBef>
              <a:spcAft>
                <a:spcPts val="0"/>
              </a:spcAft>
              <a:buSzPts val="1800"/>
              <a:buChar char="•"/>
            </a:pPr>
            <a:r>
              <a:rPr lang="en-US"/>
              <a:t>These deep level structures are common to all languages.</a:t>
            </a:r>
            <a:endParaRPr/>
          </a:p>
          <a:p>
            <a:pPr marL="457200" lvl="0" indent="-342900" algn="l" rtl="0">
              <a:lnSpc>
                <a:spcPct val="110000"/>
              </a:lnSpc>
              <a:spcBef>
                <a:spcPts val="0"/>
              </a:spcBef>
              <a:spcAft>
                <a:spcPts val="0"/>
              </a:spcAft>
              <a:buSzPts val="1800"/>
              <a:buChar char="•"/>
            </a:pPr>
            <a:r>
              <a:rPr lang="en-US" b="1"/>
              <a:t>The existence of deep level, language-independent, abstract structures, and the expression of these in surface level, language-specific structures with the help of simple rules is the main concern of GB theory.</a:t>
            </a:r>
            <a:r>
              <a:rPr lang="en-US"/>
              <a:t> </a:t>
            </a:r>
            <a:endParaRPr/>
          </a:p>
        </p:txBody>
      </p:sp>
      <p:cxnSp>
        <p:nvCxnSpPr>
          <p:cNvPr id="498" name="Google Shape;498;gf9de619886_0_6"/>
          <p:cNvCxnSpPr/>
          <p:nvPr/>
        </p:nvCxnSpPr>
        <p:spPr>
          <a:xfrm>
            <a:off x="4100525" y="1800225"/>
            <a:ext cx="485700" cy="0"/>
          </a:xfrm>
          <a:prstGeom prst="straightConnector1">
            <a:avLst/>
          </a:prstGeom>
          <a:noFill/>
          <a:ln w="9525" cap="flat" cmpd="sng">
            <a:solidFill>
              <a:schemeClr val="dk2"/>
            </a:solidFill>
            <a:prstDash val="solid"/>
            <a:round/>
            <a:headEnd type="none" w="sm" len="sm"/>
            <a:tailEnd type="triangle" w="med" len="med"/>
          </a:ln>
        </p:spPr>
      </p:cxnSp>
      <p:cxnSp>
        <p:nvCxnSpPr>
          <p:cNvPr id="499" name="Google Shape;499;gf9de619886_0_6"/>
          <p:cNvCxnSpPr/>
          <p:nvPr/>
        </p:nvCxnSpPr>
        <p:spPr>
          <a:xfrm>
            <a:off x="4100525" y="2209800"/>
            <a:ext cx="485700" cy="0"/>
          </a:xfrm>
          <a:prstGeom prst="straightConnector1">
            <a:avLst/>
          </a:prstGeom>
          <a:noFill/>
          <a:ln w="9525" cap="flat" cmpd="sng">
            <a:solidFill>
              <a:schemeClr val="dk2"/>
            </a:solidFill>
            <a:prstDash val="solid"/>
            <a:round/>
            <a:headEnd type="none" w="sm" len="sm"/>
            <a:tailEnd type="triangle" w="med" len="med"/>
          </a:ln>
        </p:spPr>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g15e0b3a52ec_0_2"/>
          <p:cNvSpPr txBox="1">
            <a:spLocks noGrp="1"/>
          </p:cNvSpPr>
          <p:nvPr>
            <p:ph type="title"/>
          </p:nvPr>
        </p:nvSpPr>
        <p:spPr>
          <a:xfrm>
            <a:off x="1251678" y="382385"/>
            <a:ext cx="10178400" cy="7446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Government and Binding (GB)</a:t>
            </a:r>
            <a:endParaRPr/>
          </a:p>
          <a:p>
            <a:pPr marL="0" lvl="0" indent="0" algn="l" rtl="0">
              <a:lnSpc>
                <a:spcPct val="90000"/>
              </a:lnSpc>
              <a:spcBef>
                <a:spcPts val="0"/>
              </a:spcBef>
              <a:spcAft>
                <a:spcPts val="0"/>
              </a:spcAft>
              <a:buClr>
                <a:srgbClr val="262626"/>
              </a:buClr>
              <a:buSzPct val="100000"/>
              <a:buFont typeface="Impact"/>
              <a:buNone/>
            </a:pPr>
            <a:endParaRPr/>
          </a:p>
        </p:txBody>
      </p:sp>
      <p:sp>
        <p:nvSpPr>
          <p:cNvPr id="505" name="Google Shape;505;g15e0b3a52ec_0_2"/>
          <p:cNvSpPr txBox="1">
            <a:spLocks noGrp="1"/>
          </p:cNvSpPr>
          <p:nvPr>
            <p:ph type="body" idx="1"/>
          </p:nvPr>
        </p:nvSpPr>
        <p:spPr>
          <a:xfrm>
            <a:off x="1251675" y="1034475"/>
            <a:ext cx="10178400" cy="572340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SzPts val="1800"/>
              <a:buNone/>
            </a:pPr>
            <a:r>
              <a:rPr lang="en-US" sz="1800" b="1">
                <a:solidFill>
                  <a:schemeClr val="dk1"/>
                </a:solidFill>
                <a:latin typeface="Times New Roman"/>
                <a:ea typeface="Times New Roman"/>
                <a:cs typeface="Times New Roman"/>
                <a:sym typeface="Times New Roman"/>
              </a:rPr>
              <a:t>Example to explain d- and s- structures</a:t>
            </a:r>
            <a:endParaRPr sz="1800" b="1">
              <a:solidFill>
                <a:schemeClr val="dk1"/>
              </a:solidFill>
              <a:latin typeface="Times New Roman"/>
              <a:ea typeface="Times New Roman"/>
              <a:cs typeface="Times New Roman"/>
              <a:sym typeface="Times New Roman"/>
            </a:endParaRPr>
          </a:p>
          <a:p>
            <a:pPr marL="0" lvl="0" indent="0" algn="l" rtl="0">
              <a:lnSpc>
                <a:spcPct val="110000"/>
              </a:lnSpc>
              <a:spcBef>
                <a:spcPts val="0"/>
              </a:spcBef>
              <a:spcAft>
                <a:spcPts val="0"/>
              </a:spcAft>
              <a:buSzPts val="1800"/>
              <a:buNone/>
            </a:pPr>
            <a:endParaRPr sz="1800" b="1">
              <a:solidFill>
                <a:schemeClr val="dk1"/>
              </a:solidFill>
              <a:latin typeface="Times New Roman"/>
              <a:ea typeface="Times New Roman"/>
              <a:cs typeface="Times New Roman"/>
              <a:sym typeface="Times New Roman"/>
            </a:endParaRPr>
          </a:p>
          <a:p>
            <a:pPr marL="0" lvl="0" indent="0" algn="l" rtl="0">
              <a:lnSpc>
                <a:spcPct val="110000"/>
              </a:lnSpc>
              <a:spcBef>
                <a:spcPts val="0"/>
              </a:spcBef>
              <a:spcAft>
                <a:spcPts val="0"/>
              </a:spcAft>
              <a:buSzPts val="1800"/>
              <a:buNone/>
            </a:pPr>
            <a:r>
              <a:rPr lang="en-US" sz="1800" b="1">
                <a:solidFill>
                  <a:schemeClr val="dk1"/>
                </a:solidFill>
                <a:latin typeface="Times New Roman"/>
                <a:ea typeface="Times New Roman"/>
                <a:cs typeface="Times New Roman"/>
                <a:sym typeface="Times New Roman"/>
              </a:rPr>
              <a:t>Sentence: Mukesh was killed</a:t>
            </a:r>
            <a:endParaRPr sz="1800" b="1">
              <a:solidFill>
                <a:schemeClr val="dk1"/>
              </a:solidFill>
              <a:latin typeface="Times New Roman"/>
              <a:ea typeface="Times New Roman"/>
              <a:cs typeface="Times New Roman"/>
              <a:sym typeface="Times New Roman"/>
            </a:endParaRPr>
          </a:p>
          <a:p>
            <a:pPr marL="0" lvl="0" indent="0" algn="l" rtl="0">
              <a:lnSpc>
                <a:spcPct val="110000"/>
              </a:lnSpc>
              <a:spcBef>
                <a:spcPts val="700"/>
              </a:spcBef>
              <a:spcAft>
                <a:spcPts val="0"/>
              </a:spcAft>
              <a:buSzPts val="1800"/>
              <a:buNone/>
            </a:pPr>
            <a:r>
              <a:rPr lang="en-US" sz="1800">
                <a:solidFill>
                  <a:schemeClr val="dk1"/>
                </a:solidFill>
                <a:latin typeface="Times New Roman"/>
                <a:ea typeface="Times New Roman"/>
                <a:cs typeface="Times New Roman"/>
                <a:sym typeface="Times New Roman"/>
              </a:rPr>
              <a:t>(i) In transformational grammar, this can be represented as </a:t>
            </a:r>
            <a:endParaRPr sz="1800">
              <a:solidFill>
                <a:schemeClr val="dk1"/>
              </a:solidFill>
              <a:latin typeface="Times New Roman"/>
              <a:ea typeface="Times New Roman"/>
              <a:cs typeface="Times New Roman"/>
              <a:sym typeface="Times New Roman"/>
            </a:endParaRPr>
          </a:p>
          <a:p>
            <a:pPr marL="0" lvl="0" indent="0" algn="l" rtl="0">
              <a:lnSpc>
                <a:spcPct val="110000"/>
              </a:lnSpc>
              <a:spcBef>
                <a:spcPts val="700"/>
              </a:spcBef>
              <a:spcAft>
                <a:spcPts val="0"/>
              </a:spcAft>
              <a:buSzPts val="1800"/>
              <a:buNone/>
            </a:pPr>
            <a:r>
              <a:rPr lang="en-US" sz="1800" b="1">
                <a:solidFill>
                  <a:schemeClr val="dk1"/>
                </a:solidFill>
                <a:latin typeface="Times New Roman"/>
                <a:ea typeface="Times New Roman"/>
                <a:cs typeface="Times New Roman"/>
                <a:sym typeface="Times New Roman"/>
              </a:rPr>
              <a:t>                     </a:t>
            </a:r>
            <a:r>
              <a:rPr lang="en-US" sz="1800" b="1">
                <a:solidFill>
                  <a:schemeClr val="dk1"/>
                </a:solidFill>
                <a:highlight>
                  <a:srgbClr val="FFFF00"/>
                </a:highlight>
                <a:latin typeface="Times New Roman"/>
                <a:ea typeface="Times New Roman"/>
                <a:cs typeface="Times New Roman"/>
                <a:sym typeface="Times New Roman"/>
              </a:rPr>
              <a:t>   S - NP Aux VP</a:t>
            </a:r>
            <a:endParaRPr sz="1800" b="1">
              <a:solidFill>
                <a:schemeClr val="dk1"/>
              </a:solidFill>
              <a:highlight>
                <a:srgbClr val="FFFF00"/>
              </a:highlight>
              <a:latin typeface="Times New Roman"/>
              <a:ea typeface="Times New Roman"/>
              <a:cs typeface="Times New Roman"/>
              <a:sym typeface="Times New Roman"/>
            </a:endParaRPr>
          </a:p>
          <a:p>
            <a:pPr marL="2057400" lvl="0" indent="0" algn="l" rtl="0">
              <a:lnSpc>
                <a:spcPct val="115000"/>
              </a:lnSpc>
              <a:spcBef>
                <a:spcPts val="0"/>
              </a:spcBef>
              <a:spcAft>
                <a:spcPts val="0"/>
              </a:spcAft>
              <a:buSzPts val="1800"/>
              <a:buNone/>
            </a:pPr>
            <a:endParaRPr sz="1800">
              <a:solidFill>
                <a:schemeClr val="dk1"/>
              </a:solidFill>
              <a:latin typeface="Times New Roman"/>
              <a:ea typeface="Times New Roman"/>
              <a:cs typeface="Times New Roman"/>
              <a:sym typeface="Times New Roman"/>
            </a:endParaRPr>
          </a:p>
          <a:p>
            <a:pPr marL="2057400" lvl="0" indent="0" algn="l" rtl="0">
              <a:lnSpc>
                <a:spcPct val="115000"/>
              </a:lnSpc>
              <a:spcBef>
                <a:spcPts val="0"/>
              </a:spcBef>
              <a:spcAft>
                <a:spcPts val="0"/>
              </a:spcAft>
              <a:buSzPts val="1800"/>
              <a:buNone/>
            </a:pPr>
            <a:endParaRPr sz="1800">
              <a:solidFill>
                <a:schemeClr val="dk1"/>
              </a:solidFill>
              <a:latin typeface="Times New Roman"/>
              <a:ea typeface="Times New Roman"/>
              <a:cs typeface="Times New Roman"/>
              <a:sym typeface="Times New Roman"/>
            </a:endParaRPr>
          </a:p>
          <a:p>
            <a:pPr marL="2057400" lvl="0" indent="0" algn="l" rtl="0">
              <a:lnSpc>
                <a:spcPct val="115000"/>
              </a:lnSpc>
              <a:spcBef>
                <a:spcPts val="0"/>
              </a:spcBef>
              <a:spcAft>
                <a:spcPts val="0"/>
              </a:spcAft>
              <a:buSzPts val="1800"/>
              <a:buNone/>
            </a:pPr>
            <a:endParaRPr sz="1800">
              <a:solidFill>
                <a:schemeClr val="dk1"/>
              </a:solidFill>
              <a:latin typeface="Times New Roman"/>
              <a:ea typeface="Times New Roman"/>
              <a:cs typeface="Times New Roman"/>
              <a:sym typeface="Times New Roman"/>
            </a:endParaRPr>
          </a:p>
          <a:p>
            <a:pPr marL="2057400" lvl="0" indent="0" algn="l" rtl="0">
              <a:lnSpc>
                <a:spcPct val="115000"/>
              </a:lnSpc>
              <a:spcBef>
                <a:spcPts val="0"/>
              </a:spcBef>
              <a:spcAft>
                <a:spcPts val="0"/>
              </a:spcAft>
              <a:buSzPts val="1800"/>
              <a:buNone/>
            </a:pPr>
            <a:endParaRPr sz="1800">
              <a:solidFill>
                <a:schemeClr val="dk1"/>
              </a:solidFill>
              <a:latin typeface="Times New Roman"/>
              <a:ea typeface="Times New Roman"/>
              <a:cs typeface="Times New Roman"/>
              <a:sym typeface="Times New Roman"/>
            </a:endParaRPr>
          </a:p>
          <a:p>
            <a:pPr marL="2057400" lvl="0" indent="0" algn="l" rtl="0">
              <a:lnSpc>
                <a:spcPct val="115000"/>
              </a:lnSpc>
              <a:spcBef>
                <a:spcPts val="0"/>
              </a:spcBef>
              <a:spcAft>
                <a:spcPts val="0"/>
              </a:spcAft>
              <a:buSzPts val="1800"/>
              <a:buNone/>
            </a:pP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800"/>
              <a:buNone/>
            </a:pPr>
            <a:endParaRPr sz="1800">
              <a:solidFill>
                <a:schemeClr val="dk1"/>
              </a:solidFill>
              <a:latin typeface="Times New Roman"/>
              <a:ea typeface="Times New Roman"/>
              <a:cs typeface="Times New Roman"/>
              <a:sym typeface="Times New Roman"/>
            </a:endParaRPr>
          </a:p>
          <a:p>
            <a:pPr marL="228600" lvl="0" indent="-114300" algn="l" rtl="0">
              <a:lnSpc>
                <a:spcPct val="110000"/>
              </a:lnSpc>
              <a:spcBef>
                <a:spcPts val="1700"/>
              </a:spcBef>
              <a:spcAft>
                <a:spcPts val="0"/>
              </a:spcAft>
              <a:buSzPts val="1800"/>
              <a:buNone/>
            </a:pPr>
            <a:r>
              <a:rPr lang="en-US" sz="1800">
                <a:solidFill>
                  <a:schemeClr val="dk1"/>
                </a:solidFill>
                <a:latin typeface="Times New Roman"/>
                <a:ea typeface="Times New Roman"/>
                <a:cs typeface="Times New Roman"/>
                <a:sym typeface="Times New Roman"/>
              </a:rPr>
              <a:t>    Transformational Grammar of  sentence - Mukesh was killed</a:t>
            </a:r>
            <a:endParaRPr sz="1800">
              <a:solidFill>
                <a:schemeClr val="dk1"/>
              </a:solidFill>
              <a:latin typeface="Times New Roman"/>
              <a:ea typeface="Times New Roman"/>
              <a:cs typeface="Times New Roman"/>
              <a:sym typeface="Times New Roman"/>
            </a:endParaRPr>
          </a:p>
          <a:p>
            <a:pPr marL="228600" lvl="0" indent="-101600" algn="l" rtl="0">
              <a:lnSpc>
                <a:spcPct val="110000"/>
              </a:lnSpc>
              <a:spcBef>
                <a:spcPts val="700"/>
              </a:spcBef>
              <a:spcAft>
                <a:spcPts val="0"/>
              </a:spcAft>
              <a:buSzPts val="2000"/>
              <a:buNone/>
            </a:pPr>
            <a:r>
              <a:rPr lang="en-US"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228600" lvl="0" indent="-101600" algn="l" rtl="0">
              <a:lnSpc>
                <a:spcPct val="110000"/>
              </a:lnSpc>
              <a:spcBef>
                <a:spcPts val="700"/>
              </a:spcBef>
              <a:spcAft>
                <a:spcPts val="0"/>
              </a:spcAft>
              <a:buSzPts val="2000"/>
              <a:buNone/>
            </a:pPr>
            <a:endParaRPr sz="1800">
              <a:solidFill>
                <a:schemeClr val="dk1"/>
              </a:solidFill>
              <a:latin typeface="Times New Roman"/>
              <a:ea typeface="Times New Roman"/>
              <a:cs typeface="Times New Roman"/>
              <a:sym typeface="Times New Roman"/>
            </a:endParaRPr>
          </a:p>
          <a:p>
            <a:pPr marL="228600" lvl="0" indent="-101600" algn="l" rtl="0">
              <a:lnSpc>
                <a:spcPct val="110000"/>
              </a:lnSpc>
              <a:spcBef>
                <a:spcPts val="700"/>
              </a:spcBef>
              <a:spcAft>
                <a:spcPts val="0"/>
              </a:spcAft>
              <a:buSzPts val="2000"/>
              <a:buNone/>
            </a:pPr>
            <a:endParaRPr sz="1800">
              <a:solidFill>
                <a:schemeClr val="dk1"/>
              </a:solidFill>
              <a:latin typeface="Times New Roman"/>
              <a:ea typeface="Times New Roman"/>
              <a:cs typeface="Times New Roman"/>
              <a:sym typeface="Times New Roman"/>
            </a:endParaRPr>
          </a:p>
        </p:txBody>
      </p:sp>
      <p:pic>
        <p:nvPicPr>
          <p:cNvPr id="506" name="Google Shape;506;g15e0b3a52ec_0_2"/>
          <p:cNvPicPr preferRelativeResize="0"/>
          <p:nvPr/>
        </p:nvPicPr>
        <p:blipFill rotWithShape="1">
          <a:blip r:embed="rId3">
            <a:alphaModFix/>
          </a:blip>
          <a:srcRect/>
          <a:stretch/>
        </p:blipFill>
        <p:spPr>
          <a:xfrm>
            <a:off x="1966575" y="3059716"/>
            <a:ext cx="2924175" cy="167292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30"/>
          <p:cNvSpPr txBox="1">
            <a:spLocks noGrp="1"/>
          </p:cNvSpPr>
          <p:nvPr>
            <p:ph type="title"/>
          </p:nvPr>
        </p:nvSpPr>
        <p:spPr>
          <a:xfrm>
            <a:off x="1251678" y="382385"/>
            <a:ext cx="10178322" cy="744451"/>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Government and Binding (GB)</a:t>
            </a:r>
            <a:endParaRPr/>
          </a:p>
          <a:p>
            <a:pPr marL="0" lvl="0" indent="0" algn="l" rtl="0">
              <a:lnSpc>
                <a:spcPct val="90000"/>
              </a:lnSpc>
              <a:spcBef>
                <a:spcPts val="0"/>
              </a:spcBef>
              <a:spcAft>
                <a:spcPts val="0"/>
              </a:spcAft>
              <a:buClr>
                <a:srgbClr val="262626"/>
              </a:buClr>
              <a:buSzPct val="100000"/>
              <a:buFont typeface="Impact"/>
              <a:buNone/>
            </a:pPr>
            <a:endParaRPr/>
          </a:p>
        </p:txBody>
      </p:sp>
      <p:sp>
        <p:nvSpPr>
          <p:cNvPr id="512" name="Google Shape;512;p30"/>
          <p:cNvSpPr txBox="1">
            <a:spLocks noGrp="1"/>
          </p:cNvSpPr>
          <p:nvPr>
            <p:ph type="body" idx="1"/>
          </p:nvPr>
        </p:nvSpPr>
        <p:spPr>
          <a:xfrm>
            <a:off x="1251675" y="1034475"/>
            <a:ext cx="10178400" cy="57234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endParaRPr sz="18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800"/>
              <a:buNone/>
            </a:pPr>
            <a:r>
              <a:rPr lang="en-US">
                <a:solidFill>
                  <a:schemeClr val="dk1"/>
                </a:solidFill>
                <a:latin typeface="Times New Roman"/>
                <a:ea typeface="Times New Roman"/>
                <a:cs typeface="Times New Roman"/>
                <a:sym typeface="Times New Roman"/>
              </a:rPr>
              <a:t>(ii) In  GB, the s-structure of the sentence - Mukesh was killed</a:t>
            </a:r>
            <a:endParaRPr>
              <a:latin typeface="Times New Roman"/>
              <a:ea typeface="Times New Roman"/>
              <a:cs typeface="Times New Roman"/>
              <a:sym typeface="Times New Roman"/>
            </a:endParaRPr>
          </a:p>
          <a:p>
            <a:pPr marL="0" lvl="0" indent="0" algn="l" rtl="0">
              <a:lnSpc>
                <a:spcPct val="110000"/>
              </a:lnSpc>
              <a:spcBef>
                <a:spcPts val="1700"/>
              </a:spcBef>
              <a:spcAft>
                <a:spcPts val="0"/>
              </a:spcAft>
              <a:buSzPts val="1800"/>
              <a:buNone/>
            </a:pPr>
            <a:endParaRPr>
              <a:latin typeface="Times New Roman"/>
              <a:ea typeface="Times New Roman"/>
              <a:cs typeface="Times New Roman"/>
              <a:sym typeface="Times New Roman"/>
            </a:endParaRPr>
          </a:p>
          <a:p>
            <a:pPr marL="228600" lvl="0" indent="-101600" algn="l" rtl="0">
              <a:lnSpc>
                <a:spcPct val="110000"/>
              </a:lnSpc>
              <a:spcBef>
                <a:spcPts val="700"/>
              </a:spcBef>
              <a:spcAft>
                <a:spcPts val="0"/>
              </a:spcAft>
              <a:buSzPts val="20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228600" lvl="0" indent="-101600" algn="l" rtl="0">
              <a:lnSpc>
                <a:spcPct val="110000"/>
              </a:lnSpc>
              <a:spcBef>
                <a:spcPts val="700"/>
              </a:spcBef>
              <a:spcAft>
                <a:spcPts val="0"/>
              </a:spcAft>
              <a:buSzPts val="2000"/>
              <a:buNone/>
            </a:pPr>
            <a:endParaRPr>
              <a:latin typeface="Times New Roman"/>
              <a:ea typeface="Times New Roman"/>
              <a:cs typeface="Times New Roman"/>
              <a:sym typeface="Times New Roman"/>
            </a:endParaRPr>
          </a:p>
          <a:p>
            <a:pPr marL="1600200" lvl="0" indent="-101600" algn="l" rtl="0">
              <a:lnSpc>
                <a:spcPct val="110000"/>
              </a:lnSpc>
              <a:spcBef>
                <a:spcPts val="700"/>
              </a:spcBef>
              <a:spcAft>
                <a:spcPts val="0"/>
              </a:spcAft>
              <a:buSzPts val="2000"/>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marL="1600200" lvl="0" indent="-101600" algn="l" rtl="0">
              <a:lnSpc>
                <a:spcPct val="110000"/>
              </a:lnSpc>
              <a:spcBef>
                <a:spcPts val="700"/>
              </a:spcBef>
              <a:spcAft>
                <a:spcPts val="0"/>
              </a:spcAft>
              <a:buSzPts val="2000"/>
              <a:buNone/>
            </a:pPr>
            <a:endParaRPr>
              <a:latin typeface="Times New Roman"/>
              <a:ea typeface="Times New Roman"/>
              <a:cs typeface="Times New Roman"/>
              <a:sym typeface="Times New Roman"/>
            </a:endParaRPr>
          </a:p>
          <a:p>
            <a:pPr marL="1600200" lvl="0" indent="-101600" algn="l" rtl="0">
              <a:lnSpc>
                <a:spcPct val="110000"/>
              </a:lnSpc>
              <a:spcBef>
                <a:spcPts val="700"/>
              </a:spcBef>
              <a:spcAft>
                <a:spcPts val="0"/>
              </a:spcAft>
              <a:buSzPts val="2000"/>
              <a:buNone/>
            </a:pPr>
            <a:endParaRPr>
              <a:latin typeface="Times New Roman"/>
              <a:ea typeface="Times New Roman"/>
              <a:cs typeface="Times New Roman"/>
              <a:sym typeface="Times New Roman"/>
            </a:endParaRPr>
          </a:p>
          <a:p>
            <a:pPr marL="1600200" lvl="0" indent="-101600" algn="l" rtl="0">
              <a:lnSpc>
                <a:spcPct val="110000"/>
              </a:lnSpc>
              <a:spcBef>
                <a:spcPts val="700"/>
              </a:spcBef>
              <a:spcAft>
                <a:spcPts val="0"/>
              </a:spcAft>
              <a:buSzPts val="2000"/>
              <a:buNone/>
            </a:pPr>
            <a:endParaRPr>
              <a:latin typeface="Times New Roman"/>
              <a:ea typeface="Times New Roman"/>
              <a:cs typeface="Times New Roman"/>
              <a:sym typeface="Times New Roman"/>
            </a:endParaRPr>
          </a:p>
          <a:p>
            <a:pPr marL="0" lvl="0" indent="0" algn="l" rtl="0">
              <a:lnSpc>
                <a:spcPct val="110000"/>
              </a:lnSpc>
              <a:spcBef>
                <a:spcPts val="700"/>
              </a:spcBef>
              <a:spcAft>
                <a:spcPts val="0"/>
              </a:spcAft>
              <a:buSzPts val="2000"/>
              <a:buNone/>
            </a:pPr>
            <a:endParaRPr>
              <a:latin typeface="Times New Roman"/>
              <a:ea typeface="Times New Roman"/>
              <a:cs typeface="Times New Roman"/>
              <a:sym typeface="Times New Roman"/>
            </a:endParaRPr>
          </a:p>
          <a:p>
            <a:pPr marL="1828800" lvl="0" indent="457200" algn="l" rtl="0">
              <a:lnSpc>
                <a:spcPct val="110000"/>
              </a:lnSpc>
              <a:spcBef>
                <a:spcPts val="700"/>
              </a:spcBef>
              <a:spcAft>
                <a:spcPts val="0"/>
              </a:spcAft>
              <a:buSzPts val="2000"/>
              <a:buNone/>
            </a:pPr>
            <a:r>
              <a:rPr lang="en-US">
                <a:latin typeface="Times New Roman"/>
                <a:ea typeface="Times New Roman"/>
                <a:cs typeface="Times New Roman"/>
                <a:sym typeface="Times New Roman"/>
              </a:rPr>
              <a:t>Surface structure of sentence - Mukesh was killed</a:t>
            </a:r>
            <a:endParaRPr>
              <a:latin typeface="Times New Roman"/>
              <a:ea typeface="Times New Roman"/>
              <a:cs typeface="Times New Roman"/>
              <a:sym typeface="Times New Roman"/>
            </a:endParaRPr>
          </a:p>
        </p:txBody>
      </p:sp>
      <p:pic>
        <p:nvPicPr>
          <p:cNvPr id="513" name="Google Shape;513;p30"/>
          <p:cNvPicPr preferRelativeResize="0"/>
          <p:nvPr/>
        </p:nvPicPr>
        <p:blipFill rotWithShape="1">
          <a:blip r:embed="rId3">
            <a:alphaModFix/>
          </a:blip>
          <a:srcRect/>
          <a:stretch/>
        </p:blipFill>
        <p:spPr>
          <a:xfrm>
            <a:off x="3668200" y="1877600"/>
            <a:ext cx="5345275" cy="33747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15e0b3a52ec_0_10"/>
          <p:cNvSpPr txBox="1">
            <a:spLocks noGrp="1"/>
          </p:cNvSpPr>
          <p:nvPr>
            <p:ph type="title"/>
          </p:nvPr>
        </p:nvSpPr>
        <p:spPr>
          <a:xfrm>
            <a:off x="1251678" y="382385"/>
            <a:ext cx="10178400" cy="7446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Government and Binding (GB)</a:t>
            </a:r>
            <a:endParaRPr/>
          </a:p>
          <a:p>
            <a:pPr marL="0" lvl="0" indent="0" algn="l" rtl="0">
              <a:lnSpc>
                <a:spcPct val="90000"/>
              </a:lnSpc>
              <a:spcBef>
                <a:spcPts val="0"/>
              </a:spcBef>
              <a:spcAft>
                <a:spcPts val="0"/>
              </a:spcAft>
              <a:buClr>
                <a:srgbClr val="262626"/>
              </a:buClr>
              <a:buSzPct val="100000"/>
              <a:buFont typeface="Impact"/>
              <a:buNone/>
            </a:pPr>
            <a:endParaRPr/>
          </a:p>
        </p:txBody>
      </p:sp>
      <p:sp>
        <p:nvSpPr>
          <p:cNvPr id="519" name="Google Shape;519;g15e0b3a52ec_0_10"/>
          <p:cNvSpPr txBox="1">
            <a:spLocks noGrp="1"/>
          </p:cNvSpPr>
          <p:nvPr>
            <p:ph type="body" idx="1"/>
          </p:nvPr>
        </p:nvSpPr>
        <p:spPr>
          <a:xfrm>
            <a:off x="1251675" y="1034475"/>
            <a:ext cx="10178400" cy="57234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endParaRPr sz="1800"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800"/>
              <a:buNone/>
            </a:pPr>
            <a:r>
              <a:rPr lang="en-US" sz="1800">
                <a:solidFill>
                  <a:schemeClr val="dk1"/>
                </a:solidFill>
                <a:latin typeface="Calibri"/>
                <a:ea typeface="Calibri"/>
                <a:cs typeface="Calibri"/>
                <a:sym typeface="Calibri"/>
              </a:rPr>
              <a:t>(ii) In  GB, the d-structure of the sentence - Mukesh was killed</a:t>
            </a:r>
            <a:endParaRPr sz="1800">
              <a:solidFill>
                <a:schemeClr val="dk1"/>
              </a:solidFill>
              <a:latin typeface="Calibri"/>
              <a:ea typeface="Calibri"/>
              <a:cs typeface="Calibri"/>
              <a:sym typeface="Calibri"/>
            </a:endParaRPr>
          </a:p>
          <a:p>
            <a:pPr marL="2057400" lvl="0" indent="0" algn="l" rtl="0">
              <a:lnSpc>
                <a:spcPct val="115000"/>
              </a:lnSpc>
              <a:spcBef>
                <a:spcPts val="0"/>
              </a:spcBef>
              <a:spcAft>
                <a:spcPts val="0"/>
              </a:spcAft>
              <a:buSzPts val="1800"/>
              <a:buNone/>
            </a:pPr>
            <a:endParaRPr sz="1800">
              <a:latin typeface="Calibri"/>
              <a:ea typeface="Calibri"/>
              <a:cs typeface="Calibri"/>
              <a:sym typeface="Calibri"/>
            </a:endParaRPr>
          </a:p>
          <a:p>
            <a:pPr marL="2057400" lvl="0" indent="0" algn="l" rtl="0">
              <a:lnSpc>
                <a:spcPct val="115000"/>
              </a:lnSpc>
              <a:spcBef>
                <a:spcPts val="0"/>
              </a:spcBef>
              <a:spcAft>
                <a:spcPts val="0"/>
              </a:spcAft>
              <a:buSzPts val="1800"/>
              <a:buNone/>
            </a:pPr>
            <a:endParaRPr sz="1800">
              <a:latin typeface="Calibri"/>
              <a:ea typeface="Calibri"/>
              <a:cs typeface="Calibri"/>
              <a:sym typeface="Calibri"/>
            </a:endParaRPr>
          </a:p>
          <a:p>
            <a:pPr marL="2057400" lvl="0" indent="0" algn="l" rtl="0">
              <a:lnSpc>
                <a:spcPct val="115000"/>
              </a:lnSpc>
              <a:spcBef>
                <a:spcPts val="0"/>
              </a:spcBef>
              <a:spcAft>
                <a:spcPts val="0"/>
              </a:spcAft>
              <a:buSzPts val="1800"/>
              <a:buNone/>
            </a:pPr>
            <a:endParaRPr sz="1800">
              <a:latin typeface="Calibri"/>
              <a:ea typeface="Calibri"/>
              <a:cs typeface="Calibri"/>
              <a:sym typeface="Calibri"/>
            </a:endParaRPr>
          </a:p>
          <a:p>
            <a:pPr marL="2057400" lvl="0" indent="0" algn="l" rtl="0">
              <a:lnSpc>
                <a:spcPct val="115000"/>
              </a:lnSpc>
              <a:spcBef>
                <a:spcPts val="0"/>
              </a:spcBef>
              <a:spcAft>
                <a:spcPts val="0"/>
              </a:spcAft>
              <a:buSzPts val="1800"/>
              <a:buNone/>
            </a:pPr>
            <a:endParaRPr sz="1800">
              <a:latin typeface="Calibri"/>
              <a:ea typeface="Calibri"/>
              <a:cs typeface="Calibri"/>
              <a:sym typeface="Calibri"/>
            </a:endParaRPr>
          </a:p>
          <a:p>
            <a:pPr marL="2057400" lvl="0" indent="0" algn="l" rtl="0">
              <a:lnSpc>
                <a:spcPct val="115000"/>
              </a:lnSpc>
              <a:spcBef>
                <a:spcPts val="0"/>
              </a:spcBef>
              <a:spcAft>
                <a:spcPts val="0"/>
              </a:spcAft>
              <a:buSzPts val="1800"/>
              <a:buNone/>
            </a:pPr>
            <a:endParaRPr sz="1800">
              <a:latin typeface="Calibri"/>
              <a:ea typeface="Calibri"/>
              <a:cs typeface="Calibri"/>
              <a:sym typeface="Calibri"/>
            </a:endParaRPr>
          </a:p>
          <a:p>
            <a:pPr marL="0" lvl="0" indent="0" algn="l" rtl="0">
              <a:lnSpc>
                <a:spcPct val="115000"/>
              </a:lnSpc>
              <a:spcBef>
                <a:spcPts val="0"/>
              </a:spcBef>
              <a:spcAft>
                <a:spcPts val="0"/>
              </a:spcAft>
              <a:buSzPts val="1800"/>
              <a:buNone/>
            </a:pPr>
            <a:endParaRPr sz="1800">
              <a:latin typeface="Calibri"/>
              <a:ea typeface="Calibri"/>
              <a:cs typeface="Calibri"/>
              <a:sym typeface="Calibri"/>
            </a:endParaRPr>
          </a:p>
          <a:p>
            <a:pPr marL="228600" lvl="0" indent="-114300" algn="l" rtl="0">
              <a:lnSpc>
                <a:spcPct val="110000"/>
              </a:lnSpc>
              <a:spcBef>
                <a:spcPts val="1700"/>
              </a:spcBef>
              <a:spcAft>
                <a:spcPts val="0"/>
              </a:spcAft>
              <a:buSzPts val="1800"/>
              <a:buNone/>
            </a:pPr>
            <a:endParaRPr sz="1800">
              <a:latin typeface="Calibri"/>
              <a:ea typeface="Calibri"/>
              <a:cs typeface="Calibri"/>
              <a:sym typeface="Calibri"/>
            </a:endParaRPr>
          </a:p>
          <a:p>
            <a:pPr marL="228600" lvl="0" indent="-101600" algn="l" rtl="0">
              <a:lnSpc>
                <a:spcPct val="110000"/>
              </a:lnSpc>
              <a:spcBef>
                <a:spcPts val="700"/>
              </a:spcBef>
              <a:spcAft>
                <a:spcPts val="0"/>
              </a:spcAft>
              <a:buSzPts val="2000"/>
              <a:buNone/>
            </a:pPr>
            <a:r>
              <a:rPr lang="en-US"/>
              <a:t>                </a:t>
            </a:r>
            <a:endParaRPr/>
          </a:p>
          <a:p>
            <a:pPr marL="228600" lvl="0" indent="-101600" algn="l" rtl="0">
              <a:lnSpc>
                <a:spcPct val="110000"/>
              </a:lnSpc>
              <a:spcBef>
                <a:spcPts val="700"/>
              </a:spcBef>
              <a:spcAft>
                <a:spcPts val="0"/>
              </a:spcAft>
              <a:buSzPts val="2000"/>
              <a:buNone/>
            </a:pPr>
            <a:endParaRPr/>
          </a:p>
          <a:p>
            <a:pPr marL="1600200" lvl="0" indent="-101600" algn="l" rtl="0">
              <a:lnSpc>
                <a:spcPct val="110000"/>
              </a:lnSpc>
              <a:spcBef>
                <a:spcPts val="700"/>
              </a:spcBef>
              <a:spcAft>
                <a:spcPts val="0"/>
              </a:spcAft>
              <a:buSzPts val="2000"/>
              <a:buNone/>
            </a:pPr>
            <a:r>
              <a:rPr lang="en-US"/>
              <a:t>                                   			 </a:t>
            </a:r>
            <a:endParaRPr/>
          </a:p>
        </p:txBody>
      </p:sp>
      <p:pic>
        <p:nvPicPr>
          <p:cNvPr id="520" name="Google Shape;520;g15e0b3a52ec_0_10"/>
          <p:cNvPicPr preferRelativeResize="0"/>
          <p:nvPr/>
        </p:nvPicPr>
        <p:blipFill rotWithShape="1">
          <a:blip r:embed="rId3">
            <a:alphaModFix/>
          </a:blip>
          <a:srcRect/>
          <a:stretch/>
        </p:blipFill>
        <p:spPr>
          <a:xfrm>
            <a:off x="3991575" y="2047875"/>
            <a:ext cx="3647475" cy="32647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15e0b3a52ec_0_19"/>
          <p:cNvSpPr txBox="1">
            <a:spLocks noGrp="1"/>
          </p:cNvSpPr>
          <p:nvPr>
            <p:ph type="title"/>
          </p:nvPr>
        </p:nvSpPr>
        <p:spPr>
          <a:xfrm>
            <a:off x="1251678" y="382385"/>
            <a:ext cx="10178400" cy="7446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Government and Binding (GB)</a:t>
            </a:r>
            <a:endParaRPr/>
          </a:p>
          <a:p>
            <a:pPr marL="0" lvl="0" indent="0" algn="l" rtl="0">
              <a:lnSpc>
                <a:spcPct val="90000"/>
              </a:lnSpc>
              <a:spcBef>
                <a:spcPts val="0"/>
              </a:spcBef>
              <a:spcAft>
                <a:spcPts val="0"/>
              </a:spcAft>
              <a:buClr>
                <a:srgbClr val="262626"/>
              </a:buClr>
              <a:buSzPct val="100000"/>
              <a:buFont typeface="Impact"/>
              <a:buNone/>
            </a:pPr>
            <a:endParaRPr/>
          </a:p>
        </p:txBody>
      </p:sp>
      <p:sp>
        <p:nvSpPr>
          <p:cNvPr id="526" name="Google Shape;526;g15e0b3a52ec_0_19"/>
          <p:cNvSpPr txBox="1">
            <a:spLocks noGrp="1"/>
          </p:cNvSpPr>
          <p:nvPr>
            <p:ph type="body" idx="1"/>
          </p:nvPr>
        </p:nvSpPr>
        <p:spPr>
          <a:xfrm>
            <a:off x="1251675" y="1034475"/>
            <a:ext cx="10178400" cy="57234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10000"/>
              </a:lnSpc>
              <a:spcBef>
                <a:spcPts val="700"/>
              </a:spcBef>
              <a:spcAft>
                <a:spcPts val="0"/>
              </a:spcAft>
              <a:buSzPct val="142857"/>
              <a:buNone/>
            </a:pPr>
            <a:endParaRPr sz="1800" b="1">
              <a:solidFill>
                <a:schemeClr val="dk1"/>
              </a:solidFill>
              <a:latin typeface="Calibri"/>
              <a:ea typeface="Calibri"/>
              <a:cs typeface="Calibri"/>
              <a:sym typeface="Calibri"/>
            </a:endParaRPr>
          </a:p>
          <a:p>
            <a:pPr marL="0" lvl="0" indent="0" algn="l" rtl="0">
              <a:lnSpc>
                <a:spcPct val="150000"/>
              </a:lnSpc>
              <a:spcBef>
                <a:spcPts val="1900"/>
              </a:spcBef>
              <a:spcAft>
                <a:spcPts val="0"/>
              </a:spcAft>
              <a:buSzPct val="43137"/>
              <a:buNone/>
            </a:pPr>
            <a:r>
              <a:rPr lang="en-US" sz="2550" b="1">
                <a:solidFill>
                  <a:schemeClr val="dk1"/>
                </a:solidFill>
                <a:latin typeface="Times New Roman"/>
                <a:ea typeface="Times New Roman"/>
                <a:cs typeface="Times New Roman"/>
                <a:sym typeface="Times New Roman"/>
              </a:rPr>
              <a:t>INFL - Inflection</a:t>
            </a:r>
            <a:endParaRPr sz="2550" b="1">
              <a:solidFill>
                <a:schemeClr val="dk1"/>
              </a:solidFill>
              <a:latin typeface="Times New Roman"/>
              <a:ea typeface="Times New Roman"/>
              <a:cs typeface="Times New Roman"/>
              <a:sym typeface="Times New Roman"/>
            </a:endParaRPr>
          </a:p>
          <a:p>
            <a:pPr marL="457200" lvl="0" indent="-341947" algn="l" rtl="0">
              <a:lnSpc>
                <a:spcPct val="150000"/>
              </a:lnSpc>
              <a:spcBef>
                <a:spcPts val="1900"/>
              </a:spcBef>
              <a:spcAft>
                <a:spcPts val="0"/>
              </a:spcAft>
              <a:buClr>
                <a:schemeClr val="dk1"/>
              </a:buClr>
              <a:buSzPct val="100000"/>
              <a:buFont typeface="Times New Roman"/>
              <a:buChar char="-"/>
            </a:pPr>
            <a:r>
              <a:rPr lang="en-US" sz="2550" b="1">
                <a:solidFill>
                  <a:schemeClr val="dk1"/>
                </a:solidFill>
                <a:latin typeface="Times New Roman"/>
                <a:ea typeface="Times New Roman"/>
                <a:cs typeface="Times New Roman"/>
                <a:sym typeface="Times New Roman"/>
              </a:rPr>
              <a:t>a change in or </a:t>
            </a:r>
            <a:r>
              <a:rPr lang="en-US" sz="2550" b="1">
                <a:solidFill>
                  <a:schemeClr val="dk1"/>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addition</a:t>
            </a:r>
            <a:r>
              <a:rPr lang="en-US" sz="2550" b="1">
                <a:solidFill>
                  <a:schemeClr val="dk1"/>
                </a:solidFill>
                <a:latin typeface="Times New Roman"/>
                <a:ea typeface="Times New Roman"/>
                <a:cs typeface="Times New Roman"/>
                <a:sym typeface="Times New Roman"/>
              </a:rPr>
              <a:t> to the </a:t>
            </a:r>
            <a:r>
              <a:rPr lang="en-US" sz="2550" b="1">
                <a:solidFill>
                  <a:schemeClr val="dk1"/>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form</a:t>
            </a:r>
            <a:r>
              <a:rPr lang="en-US" sz="2550" b="1">
                <a:solidFill>
                  <a:schemeClr val="dk1"/>
                </a:solidFill>
                <a:latin typeface="Times New Roman"/>
                <a:ea typeface="Times New Roman"/>
                <a:cs typeface="Times New Roman"/>
                <a:sym typeface="Times New Roman"/>
              </a:rPr>
              <a:t> of a word that </a:t>
            </a:r>
            <a:r>
              <a:rPr lang="en-US" sz="2550" b="1">
                <a:solidFill>
                  <a:schemeClr val="dk1"/>
                </a:solidFill>
                <a:uFill>
                  <a:noFill/>
                </a:uFill>
                <a:latin typeface="Times New Roman"/>
                <a:ea typeface="Times New Roman"/>
                <a:cs typeface="Times New Roman"/>
                <a:sym typeface="Times New Roman"/>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shows</a:t>
            </a:r>
            <a:r>
              <a:rPr lang="en-US" sz="2550" b="1">
                <a:solidFill>
                  <a:schemeClr val="dk1"/>
                </a:solidFill>
                <a:latin typeface="Times New Roman"/>
                <a:ea typeface="Times New Roman"/>
                <a:cs typeface="Times New Roman"/>
                <a:sym typeface="Times New Roman"/>
              </a:rPr>
              <a:t> a </a:t>
            </a:r>
            <a:r>
              <a:rPr lang="en-US" sz="2550" b="1">
                <a:solidFill>
                  <a:schemeClr val="dk1"/>
                </a:solidFill>
                <a:uFill>
                  <a:noFill/>
                </a:uFill>
                <a:latin typeface="Times New Roman"/>
                <a:ea typeface="Times New Roman"/>
                <a:cs typeface="Times New Roman"/>
                <a:sym typeface="Times New Roman"/>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change</a:t>
            </a:r>
            <a:r>
              <a:rPr lang="en-US" sz="2550" b="1">
                <a:solidFill>
                  <a:schemeClr val="dk1"/>
                </a:solidFill>
                <a:latin typeface="Times New Roman"/>
                <a:ea typeface="Times New Roman"/>
                <a:cs typeface="Times New Roman"/>
                <a:sym typeface="Times New Roman"/>
              </a:rPr>
              <a:t> in the way it is used in </a:t>
            </a:r>
            <a:r>
              <a:rPr lang="en-US" sz="2550" b="1">
                <a:solidFill>
                  <a:schemeClr val="dk1"/>
                </a:solidFill>
                <a:uFill>
                  <a:noFill/>
                </a:uFill>
                <a:latin typeface="Times New Roman"/>
                <a:ea typeface="Times New Roman"/>
                <a:cs typeface="Times New Roman"/>
                <a:sym typeface="Times New Roman"/>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sentences</a:t>
            </a:r>
            <a:r>
              <a:rPr lang="en-US" sz="2550" b="1">
                <a:solidFill>
                  <a:schemeClr val="dk1"/>
                </a:solidFill>
                <a:latin typeface="Times New Roman"/>
                <a:ea typeface="Times New Roman"/>
                <a:cs typeface="Times New Roman"/>
                <a:sym typeface="Times New Roman"/>
              </a:rPr>
              <a:t>.</a:t>
            </a:r>
            <a:endParaRPr sz="2550" b="1">
              <a:solidFill>
                <a:schemeClr val="dk1"/>
              </a:solidFill>
              <a:latin typeface="Times New Roman"/>
              <a:ea typeface="Times New Roman"/>
              <a:cs typeface="Times New Roman"/>
              <a:sym typeface="Times New Roman"/>
            </a:endParaRPr>
          </a:p>
          <a:p>
            <a:pPr marL="457200" lvl="0" indent="-341947" algn="l" rtl="0">
              <a:lnSpc>
                <a:spcPct val="150000"/>
              </a:lnSpc>
              <a:spcBef>
                <a:spcPts val="0"/>
              </a:spcBef>
              <a:spcAft>
                <a:spcPts val="0"/>
              </a:spcAft>
              <a:buClr>
                <a:schemeClr val="dk1"/>
              </a:buClr>
              <a:buSzPct val="100000"/>
              <a:buFont typeface="Times New Roman"/>
              <a:buChar char="-"/>
            </a:pPr>
            <a:r>
              <a:rPr lang="en-US" sz="2550" b="1">
                <a:solidFill>
                  <a:schemeClr val="dk1"/>
                </a:solidFill>
                <a:latin typeface="Times New Roman"/>
                <a:ea typeface="Times New Roman"/>
                <a:cs typeface="Times New Roman"/>
                <a:sym typeface="Times New Roman"/>
              </a:rPr>
              <a:t>Example </a:t>
            </a:r>
            <a:endParaRPr sz="2550" b="1">
              <a:solidFill>
                <a:schemeClr val="dk1"/>
              </a:solidFill>
              <a:latin typeface="Times New Roman"/>
              <a:ea typeface="Times New Roman"/>
              <a:cs typeface="Times New Roman"/>
              <a:sym typeface="Times New Roman"/>
            </a:endParaRPr>
          </a:p>
          <a:p>
            <a:pPr marL="1371600" lvl="0" indent="-341946" algn="l" rtl="0">
              <a:lnSpc>
                <a:spcPct val="150000"/>
              </a:lnSpc>
              <a:spcBef>
                <a:spcPts val="0"/>
              </a:spcBef>
              <a:spcAft>
                <a:spcPts val="0"/>
              </a:spcAft>
              <a:buClr>
                <a:schemeClr val="dk1"/>
              </a:buClr>
              <a:buSzPct val="100000"/>
              <a:buFont typeface="Times New Roman"/>
              <a:buAutoNum type="arabicPeriod"/>
            </a:pPr>
            <a:r>
              <a:rPr lang="en-US" sz="2550" i="1">
                <a:solidFill>
                  <a:schemeClr val="dk1"/>
                </a:solidFill>
                <a:latin typeface="Times New Roman"/>
                <a:ea typeface="Times New Roman"/>
                <a:cs typeface="Times New Roman"/>
                <a:sym typeface="Times New Roman"/>
              </a:rPr>
              <a:t>If you </a:t>
            </a:r>
            <a:r>
              <a:rPr lang="en-US" sz="2550" i="1">
                <a:solidFill>
                  <a:schemeClr val="dk1"/>
                </a:solidFill>
                <a:uFill>
                  <a:noFill/>
                </a:uFill>
                <a:latin typeface="Times New Roman"/>
                <a:ea typeface="Times New Roman"/>
                <a:cs typeface="Times New Roman"/>
                <a:sym typeface="Times New Roman"/>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add</a:t>
            </a:r>
            <a:r>
              <a:rPr lang="en-US" sz="2550" i="1">
                <a:solidFill>
                  <a:schemeClr val="dk1"/>
                </a:solidFill>
                <a:latin typeface="Times New Roman"/>
                <a:ea typeface="Times New Roman"/>
                <a:cs typeface="Times New Roman"/>
                <a:sym typeface="Times New Roman"/>
              </a:rPr>
              <a:t> the </a:t>
            </a:r>
            <a:r>
              <a:rPr lang="en-US" sz="2550" i="1">
                <a:solidFill>
                  <a:schemeClr val="dk1"/>
                </a:solidFill>
                <a:uFill>
                  <a:noFill/>
                </a:uFill>
                <a:latin typeface="Times New Roman"/>
                <a:ea typeface="Times New Roman"/>
                <a:cs typeface="Times New Roman"/>
                <a:sym typeface="Times New Roman"/>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plural</a:t>
            </a:r>
            <a:r>
              <a:rPr lang="en-US" sz="2550" i="1">
                <a:solidFill>
                  <a:schemeClr val="dk1"/>
                </a:solidFill>
                <a:latin typeface="Times New Roman"/>
                <a:ea typeface="Times New Roman"/>
                <a:cs typeface="Times New Roman"/>
                <a:sym typeface="Times New Roman"/>
              </a:rPr>
              <a:t> inflection "-s" to "</a:t>
            </a:r>
            <a:r>
              <a:rPr lang="en-US" sz="2550" i="1">
                <a:solidFill>
                  <a:schemeClr val="dk1"/>
                </a:solidFill>
                <a:uFill>
                  <a:noFill/>
                </a:uFill>
                <a:latin typeface="Times New Roman"/>
                <a:ea typeface="Times New Roman"/>
                <a:cs typeface="Times New Roman"/>
                <a:sym typeface="Times New Roman"/>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dog</a:t>
            </a:r>
            <a:r>
              <a:rPr lang="en-US" sz="2550" i="1">
                <a:solidFill>
                  <a:schemeClr val="dk1"/>
                </a:solidFill>
                <a:latin typeface="Times New Roman"/>
                <a:ea typeface="Times New Roman"/>
                <a:cs typeface="Times New Roman"/>
                <a:sym typeface="Times New Roman"/>
              </a:rPr>
              <a:t>" you get "</a:t>
            </a:r>
            <a:r>
              <a:rPr lang="en-US" sz="2550" i="1">
                <a:solidFill>
                  <a:schemeClr val="dk1"/>
                </a:solidFill>
                <a:uFill>
                  <a:noFill/>
                </a:uFill>
                <a:latin typeface="Times New Roman"/>
                <a:ea typeface="Times New Roman"/>
                <a:cs typeface="Times New Roman"/>
                <a:sym typeface="Times New Roman"/>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dogs</a:t>
            </a:r>
            <a:r>
              <a:rPr lang="en-US" sz="2550" i="1">
                <a:solidFill>
                  <a:schemeClr val="dk1"/>
                </a:solidFill>
                <a:latin typeface="Times New Roman"/>
                <a:ea typeface="Times New Roman"/>
                <a:cs typeface="Times New Roman"/>
                <a:sym typeface="Times New Roman"/>
              </a:rPr>
              <a:t>".</a:t>
            </a:r>
            <a:endParaRPr sz="2550" i="1">
              <a:solidFill>
                <a:schemeClr val="dk1"/>
              </a:solidFill>
              <a:latin typeface="Times New Roman"/>
              <a:ea typeface="Times New Roman"/>
              <a:cs typeface="Times New Roman"/>
              <a:sym typeface="Times New Roman"/>
            </a:endParaRPr>
          </a:p>
          <a:p>
            <a:pPr marL="1371600" lvl="0" indent="-341946" algn="l" rtl="0">
              <a:lnSpc>
                <a:spcPct val="150000"/>
              </a:lnSpc>
              <a:spcBef>
                <a:spcPts val="0"/>
              </a:spcBef>
              <a:spcAft>
                <a:spcPts val="0"/>
              </a:spcAft>
              <a:buClr>
                <a:schemeClr val="dk1"/>
              </a:buClr>
              <a:buSzPct val="100000"/>
              <a:buFont typeface="Times New Roman"/>
              <a:buAutoNum type="arabicPeriod"/>
            </a:pPr>
            <a:r>
              <a:rPr lang="en-US" sz="2550" i="1">
                <a:solidFill>
                  <a:schemeClr val="dk1"/>
                </a:solidFill>
                <a:latin typeface="Times New Roman"/>
                <a:ea typeface="Times New Roman"/>
                <a:cs typeface="Times New Roman"/>
                <a:sym typeface="Times New Roman"/>
              </a:rPr>
              <a:t>By </a:t>
            </a:r>
            <a:r>
              <a:rPr lang="en-US" sz="2550" i="1">
                <a:solidFill>
                  <a:schemeClr val="dk1"/>
                </a:solidFill>
                <a:uFill>
                  <a:noFill/>
                </a:uFill>
                <a:latin typeface="Times New Roman"/>
                <a:ea typeface="Times New Roman"/>
                <a:cs typeface="Times New Roman"/>
                <a:sym typeface="Times New Roman"/>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adding</a:t>
            </a:r>
            <a:r>
              <a:rPr lang="en-US" sz="2550" i="1">
                <a:solidFill>
                  <a:schemeClr val="dk1"/>
                </a:solidFill>
                <a:latin typeface="Times New Roman"/>
                <a:ea typeface="Times New Roman"/>
                <a:cs typeface="Times New Roman"/>
                <a:sym typeface="Times New Roman"/>
              </a:rPr>
              <a:t> the inflection "-ed", you </a:t>
            </a:r>
            <a:r>
              <a:rPr lang="en-US" sz="2550" i="1">
                <a:solidFill>
                  <a:schemeClr val="dk1"/>
                </a:solidFill>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form</a:t>
            </a:r>
            <a:r>
              <a:rPr lang="en-US" sz="2550" i="1">
                <a:solidFill>
                  <a:schemeClr val="dk1"/>
                </a:solidFill>
                <a:latin typeface="Times New Roman"/>
                <a:ea typeface="Times New Roman"/>
                <a:cs typeface="Times New Roman"/>
                <a:sym typeface="Times New Roman"/>
              </a:rPr>
              <a:t> the past </a:t>
            </a:r>
            <a:r>
              <a:rPr lang="en-US" sz="2550" i="1">
                <a:solidFill>
                  <a:schemeClr val="dk1"/>
                </a:solidFill>
                <a:uFill>
                  <a:noFill/>
                </a:uFill>
                <a:latin typeface="Times New Roman"/>
                <a:ea typeface="Times New Roman"/>
                <a:cs typeface="Times New Roman"/>
                <a:sym typeface="Times New Roman"/>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tense</a:t>
            </a:r>
            <a:r>
              <a:rPr lang="en-US" sz="2550" i="1">
                <a:solidFill>
                  <a:schemeClr val="dk1"/>
                </a:solidFill>
                <a:latin typeface="Times New Roman"/>
                <a:ea typeface="Times New Roman"/>
                <a:cs typeface="Times New Roman"/>
                <a:sym typeface="Times New Roman"/>
              </a:rPr>
              <a:t> of the verb.</a:t>
            </a:r>
            <a:endParaRPr sz="2550" i="1">
              <a:solidFill>
                <a:schemeClr val="dk1"/>
              </a:solidFill>
              <a:latin typeface="Times New Roman"/>
              <a:ea typeface="Times New Roman"/>
              <a:cs typeface="Times New Roman"/>
              <a:sym typeface="Times New Roman"/>
            </a:endParaRPr>
          </a:p>
          <a:p>
            <a:pPr marL="2057400" lvl="0" indent="0" algn="l" rtl="0">
              <a:lnSpc>
                <a:spcPct val="115000"/>
              </a:lnSpc>
              <a:spcBef>
                <a:spcPts val="1500"/>
              </a:spcBef>
              <a:spcAft>
                <a:spcPts val="0"/>
              </a:spcAft>
              <a:buSzPct val="70588"/>
              <a:buNone/>
            </a:pPr>
            <a:endParaRPr sz="2550">
              <a:solidFill>
                <a:schemeClr val="dk1"/>
              </a:solidFill>
              <a:latin typeface="Times New Roman"/>
              <a:ea typeface="Times New Roman"/>
              <a:cs typeface="Times New Roman"/>
              <a:sym typeface="Times New Roman"/>
            </a:endParaRPr>
          </a:p>
          <a:p>
            <a:pPr marL="2057400" lvl="0" indent="0" algn="l" rtl="0">
              <a:lnSpc>
                <a:spcPct val="115000"/>
              </a:lnSpc>
              <a:spcBef>
                <a:spcPts val="0"/>
              </a:spcBef>
              <a:spcAft>
                <a:spcPts val="0"/>
              </a:spcAft>
              <a:buSzPct val="100000"/>
              <a:buNone/>
            </a:pPr>
            <a:endParaRPr sz="1800">
              <a:latin typeface="Calibri"/>
              <a:ea typeface="Calibri"/>
              <a:cs typeface="Calibri"/>
              <a:sym typeface="Calibri"/>
            </a:endParaRPr>
          </a:p>
          <a:p>
            <a:pPr marL="2057400" lvl="0" indent="0" algn="l" rtl="0">
              <a:lnSpc>
                <a:spcPct val="115000"/>
              </a:lnSpc>
              <a:spcBef>
                <a:spcPts val="0"/>
              </a:spcBef>
              <a:spcAft>
                <a:spcPts val="0"/>
              </a:spcAft>
              <a:buSzPct val="100000"/>
              <a:buNone/>
            </a:pPr>
            <a:endParaRPr sz="1800">
              <a:latin typeface="Calibri"/>
              <a:ea typeface="Calibri"/>
              <a:cs typeface="Calibri"/>
              <a:sym typeface="Calibri"/>
            </a:endParaRPr>
          </a:p>
          <a:p>
            <a:pPr marL="2057400" lvl="0" indent="0" algn="l" rtl="0">
              <a:lnSpc>
                <a:spcPct val="115000"/>
              </a:lnSpc>
              <a:spcBef>
                <a:spcPts val="0"/>
              </a:spcBef>
              <a:spcAft>
                <a:spcPts val="0"/>
              </a:spcAft>
              <a:buSzPct val="100000"/>
              <a:buNone/>
            </a:pPr>
            <a:endParaRPr sz="1800">
              <a:latin typeface="Calibri"/>
              <a:ea typeface="Calibri"/>
              <a:cs typeface="Calibri"/>
              <a:sym typeface="Calibri"/>
            </a:endParaRPr>
          </a:p>
          <a:p>
            <a:pPr marL="2057400" lvl="0" indent="0" algn="l" rtl="0">
              <a:lnSpc>
                <a:spcPct val="115000"/>
              </a:lnSpc>
              <a:spcBef>
                <a:spcPts val="0"/>
              </a:spcBef>
              <a:spcAft>
                <a:spcPts val="0"/>
              </a:spcAft>
              <a:buSzPct val="100000"/>
              <a:buNone/>
            </a:pPr>
            <a:endParaRPr sz="1800">
              <a:latin typeface="Calibri"/>
              <a:ea typeface="Calibri"/>
              <a:cs typeface="Calibri"/>
              <a:sym typeface="Calibri"/>
            </a:endParaRPr>
          </a:p>
          <a:p>
            <a:pPr marL="0" lvl="0" indent="0" algn="l" rtl="0">
              <a:lnSpc>
                <a:spcPct val="115000"/>
              </a:lnSpc>
              <a:spcBef>
                <a:spcPts val="0"/>
              </a:spcBef>
              <a:spcAft>
                <a:spcPts val="0"/>
              </a:spcAft>
              <a:buSzPct val="100000"/>
              <a:buNone/>
            </a:pPr>
            <a:endParaRPr sz="1800">
              <a:latin typeface="Calibri"/>
              <a:ea typeface="Calibri"/>
              <a:cs typeface="Calibri"/>
              <a:sym typeface="Calibri"/>
            </a:endParaRPr>
          </a:p>
          <a:p>
            <a:pPr marL="228600" lvl="0" indent="-114300" algn="l" rtl="0">
              <a:lnSpc>
                <a:spcPct val="110000"/>
              </a:lnSpc>
              <a:spcBef>
                <a:spcPts val="1700"/>
              </a:spcBef>
              <a:spcAft>
                <a:spcPts val="0"/>
              </a:spcAft>
              <a:buSzPct val="100000"/>
              <a:buNone/>
            </a:pPr>
            <a:endParaRPr sz="1800">
              <a:latin typeface="Calibri"/>
              <a:ea typeface="Calibri"/>
              <a:cs typeface="Calibri"/>
              <a:sym typeface="Calibri"/>
            </a:endParaRPr>
          </a:p>
          <a:p>
            <a:pPr marL="228600" lvl="0" indent="-101600" algn="l" rtl="0">
              <a:lnSpc>
                <a:spcPct val="110000"/>
              </a:lnSpc>
              <a:spcBef>
                <a:spcPts val="700"/>
              </a:spcBef>
              <a:spcAft>
                <a:spcPts val="0"/>
              </a:spcAft>
              <a:buSzPct val="100000"/>
              <a:buNone/>
            </a:pPr>
            <a:r>
              <a:rPr lang="en-US"/>
              <a:t>                </a:t>
            </a:r>
            <a:endParaRPr/>
          </a:p>
          <a:p>
            <a:pPr marL="228600" lvl="0" indent="-101600" algn="l" rtl="0">
              <a:lnSpc>
                <a:spcPct val="110000"/>
              </a:lnSpc>
              <a:spcBef>
                <a:spcPts val="700"/>
              </a:spcBef>
              <a:spcAft>
                <a:spcPts val="0"/>
              </a:spcAft>
              <a:buSzPct val="100000"/>
              <a:buNone/>
            </a:pPr>
            <a:endParaRPr/>
          </a:p>
          <a:p>
            <a:pPr marL="1600200" lvl="0" indent="-101600" algn="l" rtl="0">
              <a:lnSpc>
                <a:spcPct val="110000"/>
              </a:lnSpc>
              <a:spcBef>
                <a:spcPts val="700"/>
              </a:spcBef>
              <a:spcAft>
                <a:spcPts val="0"/>
              </a:spcAft>
              <a:buSzPct val="100000"/>
              <a:buNone/>
            </a:pPr>
            <a:r>
              <a:rPr lang="en-US"/>
              <a:t>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31"/>
          <p:cNvSpPr txBox="1">
            <a:spLocks noGrp="1"/>
          </p:cNvSpPr>
          <p:nvPr>
            <p:ph type="title"/>
          </p:nvPr>
        </p:nvSpPr>
        <p:spPr>
          <a:xfrm>
            <a:off x="1565978" y="434598"/>
            <a:ext cx="10178400" cy="5961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Components of GB</a:t>
            </a:r>
            <a:endParaRPr/>
          </a:p>
        </p:txBody>
      </p:sp>
      <p:sp>
        <p:nvSpPr>
          <p:cNvPr id="532" name="Google Shape;532;p31"/>
          <p:cNvSpPr txBox="1">
            <a:spLocks noGrp="1"/>
          </p:cNvSpPr>
          <p:nvPr>
            <p:ph type="body" idx="1"/>
          </p:nvPr>
        </p:nvSpPr>
        <p:spPr>
          <a:xfrm>
            <a:off x="1251675" y="1043698"/>
            <a:ext cx="10178400" cy="56715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1800"/>
              <a:buNone/>
            </a:pPr>
            <a:endParaRPr b="1"/>
          </a:p>
          <a:p>
            <a:pPr marL="228600" lvl="0" indent="-228600" algn="l" rtl="0">
              <a:lnSpc>
                <a:spcPct val="110000"/>
              </a:lnSpc>
              <a:spcBef>
                <a:spcPts val="700"/>
              </a:spcBef>
              <a:spcAft>
                <a:spcPts val="0"/>
              </a:spcAft>
              <a:buSzPts val="2000"/>
              <a:buChar char="•"/>
            </a:pPr>
            <a:r>
              <a:rPr lang="en-US"/>
              <a:t>GB comprises a set of theories that map the structures from d-structure to s-structure and to logical form. Note: The phonetic form is not considered. </a:t>
            </a:r>
            <a:endParaRPr/>
          </a:p>
          <a:p>
            <a:pPr marL="228600" lvl="0" indent="-228600" algn="l" rtl="0">
              <a:lnSpc>
                <a:spcPct val="110000"/>
              </a:lnSpc>
              <a:spcBef>
                <a:spcPts val="700"/>
              </a:spcBef>
              <a:spcAft>
                <a:spcPts val="0"/>
              </a:spcAft>
              <a:buSzPts val="2000"/>
              <a:buChar char="•"/>
            </a:pPr>
            <a:r>
              <a:rPr lang="en-US"/>
              <a:t>A general transformational rule called “</a:t>
            </a:r>
            <a:r>
              <a:rPr lang="en-US" b="1">
                <a:highlight>
                  <a:srgbClr val="FFFF00"/>
                </a:highlight>
              </a:rPr>
              <a:t>Move ∝</a:t>
            </a:r>
            <a:r>
              <a:rPr lang="en-US"/>
              <a:t>” is applied to d-structure level and s-structure level.</a:t>
            </a:r>
            <a:endParaRPr/>
          </a:p>
          <a:p>
            <a:pPr marL="228600" lvl="0" indent="-215900" algn="l" rtl="0">
              <a:lnSpc>
                <a:spcPct val="110000"/>
              </a:lnSpc>
              <a:spcBef>
                <a:spcPts val="700"/>
              </a:spcBef>
              <a:spcAft>
                <a:spcPts val="0"/>
              </a:spcAft>
              <a:buSzPts val="1800"/>
              <a:buChar char="•"/>
            </a:pPr>
            <a:r>
              <a:rPr lang="en-US"/>
              <a:t>This can move the constituents at any place if it does not violate the constraints put by several theories and principles. </a:t>
            </a:r>
            <a:endParaRPr/>
          </a:p>
          <a:p>
            <a:pPr marL="228600" lvl="0" indent="-215900" algn="l" rtl="0">
              <a:lnSpc>
                <a:spcPct val="110000"/>
              </a:lnSpc>
              <a:spcBef>
                <a:spcPts val="700"/>
              </a:spcBef>
              <a:spcAft>
                <a:spcPts val="0"/>
              </a:spcAft>
              <a:buSzPts val="1800"/>
              <a:buChar char="•"/>
            </a:pPr>
            <a:r>
              <a:rPr lang="en-US"/>
              <a:t>GB is represented as shown in fig.</a:t>
            </a:r>
            <a:endParaRPr/>
          </a:p>
          <a:p>
            <a:pPr marL="228600" lvl="0" indent="0" algn="l" rtl="0">
              <a:lnSpc>
                <a:spcPct val="110000"/>
              </a:lnSpc>
              <a:spcBef>
                <a:spcPts val="700"/>
              </a:spcBef>
              <a:spcAft>
                <a:spcPts val="0"/>
              </a:spcAft>
              <a:buSzPts val="1800"/>
              <a:buNone/>
            </a:pPr>
            <a:endParaRPr/>
          </a:p>
          <a:p>
            <a:pPr marL="228600" lvl="0" indent="-10160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r>
              <a:rPr lang="en-US"/>
              <a:t>	                                                    </a:t>
            </a:r>
            <a:endParaRPr/>
          </a:p>
        </p:txBody>
      </p:sp>
      <p:pic>
        <p:nvPicPr>
          <p:cNvPr id="533" name="Google Shape;533;p31"/>
          <p:cNvPicPr preferRelativeResize="0"/>
          <p:nvPr/>
        </p:nvPicPr>
        <p:blipFill rotWithShape="1">
          <a:blip r:embed="rId3">
            <a:alphaModFix/>
          </a:blip>
          <a:srcRect/>
          <a:stretch/>
        </p:blipFill>
        <p:spPr>
          <a:xfrm>
            <a:off x="5810327" y="3471877"/>
            <a:ext cx="5457750" cy="311102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15e0b3a52ec_0_27"/>
          <p:cNvSpPr txBox="1">
            <a:spLocks noGrp="1"/>
          </p:cNvSpPr>
          <p:nvPr>
            <p:ph type="title"/>
          </p:nvPr>
        </p:nvSpPr>
        <p:spPr>
          <a:xfrm>
            <a:off x="1565978" y="434598"/>
            <a:ext cx="10178400" cy="5961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Components of GB</a:t>
            </a:r>
            <a:endParaRPr/>
          </a:p>
        </p:txBody>
      </p:sp>
      <p:sp>
        <p:nvSpPr>
          <p:cNvPr id="539" name="Google Shape;539;g15e0b3a52ec_0_27"/>
          <p:cNvSpPr txBox="1">
            <a:spLocks noGrp="1"/>
          </p:cNvSpPr>
          <p:nvPr>
            <p:ph type="body" idx="1"/>
          </p:nvPr>
        </p:nvSpPr>
        <p:spPr>
          <a:xfrm>
            <a:off x="1251675" y="1043698"/>
            <a:ext cx="10178400" cy="56715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1800"/>
              <a:buNone/>
            </a:pPr>
            <a:endParaRPr b="1"/>
          </a:p>
          <a:p>
            <a:pPr marL="0" lvl="0" indent="0" algn="l" rtl="0">
              <a:lnSpc>
                <a:spcPct val="110000"/>
              </a:lnSpc>
              <a:spcBef>
                <a:spcPts val="700"/>
              </a:spcBef>
              <a:spcAft>
                <a:spcPts val="0"/>
              </a:spcAft>
              <a:buSzPts val="2000"/>
              <a:buNone/>
            </a:pPr>
            <a:endParaRPr/>
          </a:p>
        </p:txBody>
      </p:sp>
      <p:pic>
        <p:nvPicPr>
          <p:cNvPr id="540" name="Google Shape;540;g15e0b3a52ec_0_27"/>
          <p:cNvPicPr preferRelativeResize="0"/>
          <p:nvPr/>
        </p:nvPicPr>
        <p:blipFill rotWithShape="1">
          <a:blip r:embed="rId3">
            <a:alphaModFix/>
          </a:blip>
          <a:srcRect/>
          <a:stretch/>
        </p:blipFill>
        <p:spPr>
          <a:xfrm>
            <a:off x="1532625" y="1654875"/>
            <a:ext cx="9897376" cy="388597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2"/>
          <p:cNvSpPr txBox="1">
            <a:spLocks noGrp="1"/>
          </p:cNvSpPr>
          <p:nvPr>
            <p:ph type="title"/>
          </p:nvPr>
        </p:nvSpPr>
        <p:spPr>
          <a:xfrm>
            <a:off x="1251678" y="382385"/>
            <a:ext cx="10178322" cy="596023"/>
          </a:xfrm>
          <a:prstGeom prst="rect">
            <a:avLst/>
          </a:prstGeom>
          <a:noFill/>
          <a:ln>
            <a:noFill/>
          </a:ln>
        </p:spPr>
        <p:txBody>
          <a:bodyPr spcFirstLastPara="1" wrap="square" lIns="91425" tIns="45700" rIns="91425" bIns="45700" anchor="ctr"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Government and Binding (GB)</a:t>
            </a:r>
            <a:endParaRPr/>
          </a:p>
        </p:txBody>
      </p:sp>
      <p:sp>
        <p:nvSpPr>
          <p:cNvPr id="546" name="Google Shape;546;p32"/>
          <p:cNvSpPr txBox="1">
            <a:spLocks noGrp="1"/>
          </p:cNvSpPr>
          <p:nvPr>
            <p:ph type="body" idx="1"/>
          </p:nvPr>
        </p:nvSpPr>
        <p:spPr>
          <a:xfrm>
            <a:off x="1251675" y="978398"/>
            <a:ext cx="10178400" cy="5751000"/>
          </a:xfrm>
          <a:prstGeom prst="rect">
            <a:avLst/>
          </a:prstGeom>
          <a:noFill/>
          <a:ln>
            <a:noFill/>
          </a:ln>
        </p:spPr>
        <p:txBody>
          <a:bodyPr spcFirstLastPara="1" wrap="square" lIns="91425" tIns="45700" rIns="91425" bIns="45700" anchor="ctr" anchorCtr="0">
            <a:normAutofit/>
          </a:bodyPr>
          <a:lstStyle/>
          <a:p>
            <a:pPr marL="457200" lvl="0" indent="-342900" algn="l" rtl="0">
              <a:lnSpc>
                <a:spcPct val="115000"/>
              </a:lnSpc>
              <a:spcBef>
                <a:spcPts val="0"/>
              </a:spcBef>
              <a:spcAft>
                <a:spcPts val="0"/>
              </a:spcAft>
              <a:buClr>
                <a:schemeClr val="dk1"/>
              </a:buClr>
              <a:buSzPts val="1800"/>
              <a:buChar char="•"/>
            </a:pPr>
            <a:r>
              <a:rPr lang="en-US" sz="2400">
                <a:solidFill>
                  <a:schemeClr val="dk1"/>
                </a:solidFill>
                <a:latin typeface="Calibri"/>
                <a:ea typeface="Calibri"/>
                <a:cs typeface="Calibri"/>
                <a:sym typeface="Calibri"/>
              </a:rPr>
              <a:t>GB consists of ‘a series of modules that contain constraints and principles’ applied at various levels of its representation and the transformation rule, </a:t>
            </a:r>
            <a:r>
              <a:rPr lang="en-US" sz="2400">
                <a:solidFill>
                  <a:schemeClr val="dk1"/>
                </a:solidFill>
                <a:highlight>
                  <a:srgbClr val="FFFF00"/>
                </a:highlight>
                <a:latin typeface="Calibri"/>
                <a:ea typeface="Calibri"/>
                <a:cs typeface="Calibri"/>
                <a:sym typeface="Calibri"/>
              </a:rPr>
              <a:t>Move </a:t>
            </a:r>
            <a:r>
              <a:rPr lang="en-US" sz="2600" b="1">
                <a:solidFill>
                  <a:schemeClr val="dk1"/>
                </a:solidFill>
                <a:highlight>
                  <a:srgbClr val="FFFF00"/>
                </a:highlight>
              </a:rPr>
              <a:t>∝.</a:t>
            </a:r>
            <a:endParaRPr sz="2400">
              <a:solidFill>
                <a:schemeClr val="dk1"/>
              </a:solidFill>
              <a:highlight>
                <a:srgbClr val="FFFF00"/>
              </a:highlight>
              <a:latin typeface="Calibri"/>
              <a:ea typeface="Calibri"/>
              <a:cs typeface="Calibri"/>
              <a:sym typeface="Calibri"/>
            </a:endParaRPr>
          </a:p>
          <a:p>
            <a:pPr marL="457200" lvl="0"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 modules include:</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X-bar theory</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Projection Principle</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θ -Theory</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θ - Criterion</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C-Command and Government</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Case Study or Theory</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Empty Category Principle (ECP)</a:t>
            </a:r>
            <a:endParaRPr sz="2400">
              <a:solidFill>
                <a:schemeClr val="dk1"/>
              </a:solidFill>
              <a:latin typeface="Calibri"/>
              <a:ea typeface="Calibri"/>
              <a:cs typeface="Calibri"/>
              <a:sym typeface="Calibri"/>
            </a:endParaRPr>
          </a:p>
          <a:p>
            <a:pPr marL="1371600" lvl="1" indent="-381000" algn="l" rtl="0">
              <a:lnSpc>
                <a:spcPct val="115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Binding Theory</a:t>
            </a:r>
            <a:endParaRPr sz="2400">
              <a:solidFill>
                <a:schemeClr val="dk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33"/>
          <p:cNvSpPr txBox="1">
            <a:spLocks noGrp="1"/>
          </p:cNvSpPr>
          <p:nvPr>
            <p:ph type="title"/>
          </p:nvPr>
        </p:nvSpPr>
        <p:spPr>
          <a:xfrm>
            <a:off x="1251678" y="382385"/>
            <a:ext cx="10178322" cy="596023"/>
          </a:xfrm>
          <a:prstGeom prst="rect">
            <a:avLst/>
          </a:prstGeom>
          <a:noFill/>
          <a:ln>
            <a:noFill/>
          </a:ln>
        </p:spPr>
        <p:txBody>
          <a:bodyPr spcFirstLastPara="1" wrap="square" lIns="91425" tIns="45700" rIns="91425" bIns="45700" anchor="ctr" anchorCtr="0">
            <a:normAutofit fontScale="90000"/>
          </a:bodyPr>
          <a:lstStyle/>
          <a:p>
            <a:pPr marL="228600" lvl="0" indent="0" algn="ctr" rtl="0">
              <a:lnSpc>
                <a:spcPct val="110000"/>
              </a:lnSpc>
              <a:spcBef>
                <a:spcPts val="700"/>
              </a:spcBef>
              <a:spcAft>
                <a:spcPts val="0"/>
              </a:spcAft>
              <a:buClr>
                <a:schemeClr val="dk1"/>
              </a:buClr>
              <a:buSzPts val="990"/>
              <a:buFont typeface="Arial"/>
              <a:buNone/>
            </a:pPr>
            <a:r>
              <a:rPr lang="en-US" sz="4500">
                <a:solidFill>
                  <a:srgbClr val="595959"/>
                </a:solidFill>
                <a:latin typeface="Gill Sans"/>
                <a:ea typeface="Gill Sans"/>
                <a:cs typeface="Gill Sans"/>
                <a:sym typeface="Gill Sans"/>
              </a:rPr>
              <a:t>General characteristics of GB</a:t>
            </a:r>
            <a:endParaRPr/>
          </a:p>
        </p:txBody>
      </p:sp>
      <p:sp>
        <p:nvSpPr>
          <p:cNvPr id="552" name="Google Shape;552;p33"/>
          <p:cNvSpPr txBox="1">
            <a:spLocks noGrp="1"/>
          </p:cNvSpPr>
          <p:nvPr>
            <p:ph type="body" idx="1"/>
          </p:nvPr>
        </p:nvSpPr>
        <p:spPr>
          <a:xfrm>
            <a:off x="1251675" y="978398"/>
            <a:ext cx="10178400" cy="5736600"/>
          </a:xfrm>
          <a:prstGeom prst="rect">
            <a:avLst/>
          </a:prstGeom>
          <a:noFill/>
          <a:ln>
            <a:noFill/>
          </a:ln>
        </p:spPr>
        <p:txBody>
          <a:bodyPr spcFirstLastPara="1" wrap="square" lIns="91425" tIns="45700" rIns="91425" bIns="45700" anchor="ctr" anchorCtr="0">
            <a:normAutofit/>
          </a:bodyPr>
          <a:lstStyle/>
          <a:p>
            <a:pPr marL="228600" lvl="0" indent="-228600" algn="l" rtl="0">
              <a:lnSpc>
                <a:spcPct val="115000"/>
              </a:lnSpc>
              <a:spcBef>
                <a:spcPts val="0"/>
              </a:spcBef>
              <a:spcAft>
                <a:spcPts val="0"/>
              </a:spcAft>
              <a:buClr>
                <a:schemeClr val="dk1"/>
              </a:buClr>
              <a:buSzPts val="2000"/>
              <a:buChar char="•"/>
            </a:pPr>
            <a:r>
              <a:rPr lang="en-US">
                <a:solidFill>
                  <a:schemeClr val="dk1"/>
                </a:solidFill>
                <a:latin typeface="Calibri"/>
                <a:ea typeface="Calibri"/>
                <a:cs typeface="Calibri"/>
                <a:sym typeface="Calibri"/>
              </a:rPr>
              <a:t>GB considers all three levels of representation, that is, d-, s- and LF as syntactic and LF is also related to meaning or semantic-interpretive mechanisms.</a:t>
            </a:r>
            <a:endParaRPr>
              <a:solidFill>
                <a:schemeClr val="dk1"/>
              </a:solidFill>
              <a:latin typeface="Calibri"/>
              <a:ea typeface="Calibri"/>
              <a:cs typeface="Calibri"/>
              <a:sym typeface="Calibri"/>
            </a:endParaRPr>
          </a:p>
          <a:p>
            <a:pPr marL="228600" lvl="0" indent="-228600" algn="l" rtl="0">
              <a:lnSpc>
                <a:spcPct val="115000"/>
              </a:lnSpc>
              <a:spcBef>
                <a:spcPts val="0"/>
              </a:spcBef>
              <a:spcAft>
                <a:spcPts val="0"/>
              </a:spcAft>
              <a:buClr>
                <a:schemeClr val="dk1"/>
              </a:buClr>
              <a:buSzPts val="2000"/>
              <a:buFont typeface="Calibri"/>
              <a:buChar char="•"/>
            </a:pPr>
            <a:r>
              <a:rPr lang="en-US">
                <a:solidFill>
                  <a:schemeClr val="dk1"/>
                </a:solidFill>
                <a:latin typeface="Calibri"/>
                <a:ea typeface="Calibri"/>
                <a:cs typeface="Calibri"/>
                <a:sym typeface="Calibri"/>
              </a:rPr>
              <a:t>GB applies the same </a:t>
            </a:r>
            <a:r>
              <a:rPr lang="en-US">
                <a:solidFill>
                  <a:schemeClr val="dk1"/>
                </a:solidFill>
                <a:highlight>
                  <a:srgbClr val="FFFF00"/>
                </a:highlight>
                <a:latin typeface="Calibri"/>
                <a:ea typeface="Calibri"/>
                <a:cs typeface="Calibri"/>
                <a:sym typeface="Calibri"/>
              </a:rPr>
              <a:t>Move </a:t>
            </a:r>
            <a:r>
              <a:rPr lang="en-US" b="1">
                <a:solidFill>
                  <a:schemeClr val="dk1"/>
                </a:solidFill>
                <a:highlight>
                  <a:srgbClr val="FFFF00"/>
                </a:highlight>
                <a:latin typeface="Calibri"/>
                <a:ea typeface="Calibri"/>
                <a:cs typeface="Calibri"/>
                <a:sym typeface="Calibri"/>
              </a:rPr>
              <a:t>∝ </a:t>
            </a:r>
            <a:r>
              <a:rPr lang="en-US">
                <a:solidFill>
                  <a:schemeClr val="dk1"/>
                </a:solidFill>
                <a:latin typeface="Calibri"/>
                <a:ea typeface="Calibri"/>
                <a:cs typeface="Calibri"/>
                <a:sym typeface="Calibri"/>
              </a:rPr>
              <a:t>transformational rule to map d-levels to s-levels or s-levels to LF level. </a:t>
            </a:r>
            <a:endParaRPr>
              <a:solidFill>
                <a:schemeClr val="dk1"/>
              </a:solidFill>
              <a:latin typeface="Calibri"/>
              <a:ea typeface="Calibri"/>
              <a:cs typeface="Calibri"/>
              <a:sym typeface="Calibri"/>
            </a:endParaRPr>
          </a:p>
          <a:p>
            <a:pPr marL="228600" lvl="0" indent="-228600" algn="l" rtl="0">
              <a:lnSpc>
                <a:spcPct val="115000"/>
              </a:lnSpc>
              <a:spcBef>
                <a:spcPts val="0"/>
              </a:spcBef>
              <a:spcAft>
                <a:spcPts val="0"/>
              </a:spcAft>
              <a:buClr>
                <a:schemeClr val="dk1"/>
              </a:buClr>
              <a:buSzPts val="2000"/>
              <a:buChar char="•"/>
            </a:pPr>
            <a:r>
              <a:rPr lang="en-US" b="1">
                <a:solidFill>
                  <a:schemeClr val="dk1"/>
                </a:solidFill>
                <a:latin typeface="Calibri"/>
                <a:ea typeface="Calibri"/>
                <a:cs typeface="Calibri"/>
                <a:sym typeface="Calibri"/>
              </a:rPr>
              <a:t>LF level helps in quantifier scoping and also in handling various sentence constructions such as Passive or Interrogative Constructions.</a:t>
            </a:r>
            <a:endParaRPr b="1">
              <a:solidFill>
                <a:schemeClr val="dk1"/>
              </a:solidFill>
              <a:latin typeface="Calibri"/>
              <a:ea typeface="Calibri"/>
              <a:cs typeface="Calibri"/>
              <a:sym typeface="Calibri"/>
            </a:endParaRPr>
          </a:p>
          <a:p>
            <a:pPr marL="228600" lvl="0" indent="-228600" algn="l" rtl="0">
              <a:lnSpc>
                <a:spcPct val="115000"/>
              </a:lnSpc>
              <a:spcBef>
                <a:spcPts val="0"/>
              </a:spcBef>
              <a:spcAft>
                <a:spcPts val="0"/>
              </a:spcAft>
              <a:buClr>
                <a:schemeClr val="dk1"/>
              </a:buClr>
              <a:buSzPts val="2000"/>
              <a:buFont typeface="Calibri"/>
              <a:buChar char="•"/>
            </a:pPr>
            <a:r>
              <a:rPr lang="en-US">
                <a:solidFill>
                  <a:schemeClr val="dk1"/>
                </a:solidFill>
                <a:latin typeface="Calibri"/>
                <a:ea typeface="Calibri"/>
                <a:cs typeface="Calibri"/>
                <a:sym typeface="Calibri"/>
              </a:rPr>
              <a:t>Eg. Consider the sentence</a:t>
            </a:r>
            <a:endParaRPr>
              <a:solidFill>
                <a:schemeClr val="dk1"/>
              </a:solidFill>
              <a:latin typeface="Calibri"/>
              <a:ea typeface="Calibri"/>
              <a:cs typeface="Calibri"/>
              <a:sym typeface="Calibri"/>
            </a:endParaRPr>
          </a:p>
          <a:p>
            <a:pPr marL="0" lvl="0" indent="0" algn="l" rtl="0">
              <a:lnSpc>
                <a:spcPct val="115000"/>
              </a:lnSpc>
              <a:spcBef>
                <a:spcPts val="1700"/>
              </a:spcBef>
              <a:spcAft>
                <a:spcPts val="0"/>
              </a:spcAft>
              <a:buSzPts val="2600"/>
              <a:buNone/>
            </a:pPr>
            <a:r>
              <a:rPr lang="en-US" sz="2800">
                <a:solidFill>
                  <a:schemeClr val="dk1"/>
                </a:solidFill>
                <a:highlight>
                  <a:srgbClr val="FFFF00"/>
                </a:highlight>
                <a:latin typeface="Calibri"/>
                <a:ea typeface="Calibri"/>
                <a:cs typeface="Calibri"/>
                <a:sym typeface="Calibri"/>
              </a:rPr>
              <a:t>Two countries are visited by most travelers</a:t>
            </a:r>
            <a:endParaRPr sz="2800">
              <a:solidFill>
                <a:schemeClr val="dk1"/>
              </a:solidFill>
              <a:highlight>
                <a:srgbClr val="FFFF00"/>
              </a:highlight>
              <a:latin typeface="Calibri"/>
              <a:ea typeface="Calibri"/>
              <a:cs typeface="Calibri"/>
              <a:sym typeface="Calibri"/>
            </a:endParaRPr>
          </a:p>
          <a:p>
            <a:pPr marL="0" lvl="0" indent="0" algn="l" rtl="0">
              <a:lnSpc>
                <a:spcPct val="115000"/>
              </a:lnSpc>
              <a:spcBef>
                <a:spcPts val="0"/>
              </a:spcBef>
              <a:spcAft>
                <a:spcPts val="0"/>
              </a:spcAft>
              <a:buSzPts val="1800"/>
              <a:buNone/>
            </a:pPr>
            <a:r>
              <a:rPr lang="en-US">
                <a:solidFill>
                  <a:schemeClr val="dk1"/>
                </a:solidFill>
                <a:latin typeface="Calibri"/>
                <a:ea typeface="Calibri"/>
                <a:cs typeface="Calibri"/>
                <a:sym typeface="Calibri"/>
              </a:rPr>
              <a:t>2 possible logical forms of the above sentence are:</a:t>
            </a:r>
            <a:endParaRPr>
              <a:solidFill>
                <a:schemeClr val="dk1"/>
              </a:solidFill>
              <a:latin typeface="Calibri"/>
              <a:ea typeface="Calibri"/>
              <a:cs typeface="Calibri"/>
              <a:sym typeface="Calibri"/>
            </a:endParaRPr>
          </a:p>
          <a:p>
            <a:pPr marL="457200" lvl="0" indent="0" algn="l" rtl="0">
              <a:lnSpc>
                <a:spcPct val="115000"/>
              </a:lnSpc>
              <a:spcBef>
                <a:spcPts val="0"/>
              </a:spcBef>
              <a:spcAft>
                <a:spcPts val="0"/>
              </a:spcAft>
              <a:buSzPts val="1800"/>
              <a:buNone/>
            </a:pPr>
            <a:r>
              <a:rPr lang="en-US" b="1">
                <a:solidFill>
                  <a:schemeClr val="dk1"/>
                </a:solidFill>
                <a:latin typeface="Calibri"/>
                <a:ea typeface="Calibri"/>
                <a:cs typeface="Calibri"/>
                <a:sym typeface="Calibri"/>
              </a:rPr>
              <a:t>LF1: [</a:t>
            </a:r>
            <a:r>
              <a:rPr lang="en-US" sz="2248" b="1" baseline="-25000">
                <a:solidFill>
                  <a:schemeClr val="dk1"/>
                </a:solidFill>
                <a:latin typeface="Calibri"/>
                <a:ea typeface="Calibri"/>
                <a:cs typeface="Calibri"/>
                <a:sym typeface="Calibri"/>
              </a:rPr>
              <a:t>S</a:t>
            </a:r>
            <a:r>
              <a:rPr lang="en-US" sz="1600" b="1">
                <a:solidFill>
                  <a:schemeClr val="dk1"/>
                </a:solidFill>
                <a:latin typeface="Calibri"/>
                <a:ea typeface="Calibri"/>
                <a:cs typeface="Calibri"/>
                <a:sym typeface="Calibri"/>
              </a:rPr>
              <a:t> </a:t>
            </a:r>
            <a:r>
              <a:rPr lang="en-US" b="1">
                <a:solidFill>
                  <a:schemeClr val="dk1"/>
                </a:solidFill>
                <a:latin typeface="Calibri"/>
                <a:ea typeface="Calibri"/>
                <a:cs typeface="Calibri"/>
                <a:sym typeface="Calibri"/>
              </a:rPr>
              <a:t>Two Countries are visited by [</a:t>
            </a:r>
            <a:r>
              <a:rPr lang="en-US" sz="2006" b="1" baseline="-25000">
                <a:solidFill>
                  <a:schemeClr val="dk1"/>
                </a:solidFill>
                <a:latin typeface="Calibri"/>
                <a:ea typeface="Calibri"/>
                <a:cs typeface="Calibri"/>
                <a:sym typeface="Calibri"/>
              </a:rPr>
              <a:t>NP</a:t>
            </a:r>
            <a:r>
              <a:rPr lang="en-US" b="1">
                <a:solidFill>
                  <a:schemeClr val="dk1"/>
                </a:solidFill>
                <a:latin typeface="Calibri"/>
                <a:ea typeface="Calibri"/>
                <a:cs typeface="Calibri"/>
                <a:sym typeface="Calibri"/>
              </a:rPr>
              <a:t> most travelers]]</a:t>
            </a:r>
            <a:endParaRPr b="1">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800"/>
              <a:buNone/>
            </a:pPr>
            <a:r>
              <a:rPr lang="en-US">
                <a:solidFill>
                  <a:schemeClr val="dk1"/>
                </a:solidFill>
                <a:latin typeface="Calibri"/>
                <a:ea typeface="Calibri"/>
                <a:cs typeface="Calibri"/>
                <a:sym typeface="Calibri"/>
              </a:rPr>
              <a:t>The interpretation is most travelers visit the same two countries (Ex: India and China)</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800"/>
              <a:buNone/>
            </a:pPr>
            <a:r>
              <a:rPr lang="en-US">
                <a:solidFill>
                  <a:schemeClr val="dk1"/>
                </a:solidFill>
                <a:latin typeface="Calibri"/>
                <a:ea typeface="Calibri"/>
                <a:cs typeface="Calibri"/>
                <a:sym typeface="Calibri"/>
              </a:rPr>
              <a:t>LF2: Applying </a:t>
            </a:r>
            <a:r>
              <a:rPr lang="en-US">
                <a:solidFill>
                  <a:schemeClr val="dk1"/>
                </a:solidFill>
                <a:highlight>
                  <a:srgbClr val="FFFF00"/>
                </a:highlight>
                <a:latin typeface="Calibri"/>
                <a:ea typeface="Calibri"/>
                <a:cs typeface="Calibri"/>
                <a:sym typeface="Calibri"/>
              </a:rPr>
              <a:t>Move </a:t>
            </a:r>
            <a:r>
              <a:rPr lang="en-US" b="1">
                <a:solidFill>
                  <a:schemeClr val="dk1"/>
                </a:solidFill>
                <a:highlight>
                  <a:srgbClr val="FFFF00"/>
                </a:highlight>
                <a:latin typeface="Calibri"/>
                <a:ea typeface="Calibri"/>
                <a:cs typeface="Calibri"/>
                <a:sym typeface="Calibri"/>
              </a:rPr>
              <a:t>∝ </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800"/>
              <a:buNone/>
            </a:pPr>
            <a:r>
              <a:rPr lang="en-US">
                <a:solidFill>
                  <a:schemeClr val="dk1"/>
                </a:solidFill>
                <a:latin typeface="Calibri"/>
                <a:ea typeface="Calibri"/>
                <a:cs typeface="Calibri"/>
                <a:sym typeface="Calibri"/>
              </a:rPr>
              <a:t>        </a:t>
            </a:r>
            <a:r>
              <a:rPr lang="en-US" b="1">
                <a:solidFill>
                  <a:schemeClr val="dk1"/>
                </a:solidFill>
                <a:latin typeface="Calibri"/>
                <a:ea typeface="Calibri"/>
                <a:cs typeface="Calibri"/>
                <a:sym typeface="Calibri"/>
              </a:rPr>
              <a:t>[</a:t>
            </a:r>
            <a:r>
              <a:rPr lang="en-US" sz="1840" b="1" baseline="-25000">
                <a:solidFill>
                  <a:schemeClr val="dk1"/>
                </a:solidFill>
                <a:latin typeface="Calibri"/>
                <a:ea typeface="Calibri"/>
                <a:cs typeface="Calibri"/>
                <a:sym typeface="Calibri"/>
              </a:rPr>
              <a:t>NP</a:t>
            </a:r>
            <a:r>
              <a:rPr lang="en-US" sz="1300" b="1">
                <a:solidFill>
                  <a:schemeClr val="dk1"/>
                </a:solidFill>
                <a:latin typeface="Calibri"/>
                <a:ea typeface="Calibri"/>
                <a:cs typeface="Calibri"/>
                <a:sym typeface="Calibri"/>
              </a:rPr>
              <a:t> </a:t>
            </a:r>
            <a:r>
              <a:rPr lang="en-US" b="1">
                <a:solidFill>
                  <a:schemeClr val="dk1"/>
                </a:solidFill>
                <a:latin typeface="Calibri"/>
                <a:ea typeface="Calibri"/>
                <a:cs typeface="Calibri"/>
                <a:sym typeface="Calibri"/>
              </a:rPr>
              <a:t>Most travellers</a:t>
            </a:r>
            <a:r>
              <a:rPr lang="en-US" b="1" baseline="-25000">
                <a:solidFill>
                  <a:schemeClr val="dk1"/>
                </a:solidFill>
                <a:latin typeface="Calibri"/>
                <a:ea typeface="Calibri"/>
                <a:cs typeface="Calibri"/>
                <a:sym typeface="Calibri"/>
              </a:rPr>
              <a:t>i </a:t>
            </a:r>
            <a:r>
              <a:rPr lang="en-US" b="1">
                <a:solidFill>
                  <a:schemeClr val="dk1"/>
                </a:solidFill>
                <a:latin typeface="Calibri"/>
                <a:ea typeface="Calibri"/>
                <a:cs typeface="Calibri"/>
                <a:sym typeface="Calibri"/>
              </a:rPr>
              <a:t>] [</a:t>
            </a:r>
            <a:r>
              <a:rPr lang="en-US" b="1" baseline="-25000">
                <a:solidFill>
                  <a:schemeClr val="dk1"/>
                </a:solidFill>
                <a:latin typeface="Calibri"/>
                <a:ea typeface="Calibri"/>
                <a:cs typeface="Calibri"/>
                <a:sym typeface="Calibri"/>
              </a:rPr>
              <a:t> </a:t>
            </a:r>
            <a:r>
              <a:rPr lang="en-US" sz="2156" b="1" baseline="-25000">
                <a:solidFill>
                  <a:schemeClr val="dk1"/>
                </a:solidFill>
                <a:latin typeface="Calibri"/>
                <a:ea typeface="Calibri"/>
                <a:cs typeface="Calibri"/>
                <a:sym typeface="Calibri"/>
              </a:rPr>
              <a:t>S</a:t>
            </a:r>
            <a:r>
              <a:rPr lang="en-US" b="1">
                <a:solidFill>
                  <a:schemeClr val="dk1"/>
                </a:solidFill>
                <a:latin typeface="Calibri"/>
                <a:ea typeface="Calibri"/>
                <a:cs typeface="Calibri"/>
                <a:sym typeface="Calibri"/>
              </a:rPr>
              <a:t>two countries are visited by e</a:t>
            </a:r>
            <a:r>
              <a:rPr lang="en-US" b="1" baseline="-25000">
                <a:solidFill>
                  <a:schemeClr val="dk1"/>
                </a:solidFill>
                <a:latin typeface="Calibri"/>
                <a:ea typeface="Calibri"/>
                <a:cs typeface="Calibri"/>
                <a:sym typeface="Calibri"/>
              </a:rPr>
              <a:t>i</a:t>
            </a:r>
            <a:r>
              <a:rPr lang="en-US" b="1">
                <a:solidFill>
                  <a:schemeClr val="dk1"/>
                </a:solidFill>
                <a:latin typeface="Calibri"/>
                <a:ea typeface="Calibri"/>
                <a:cs typeface="Calibri"/>
                <a:sym typeface="Calibri"/>
              </a:rPr>
              <a:t>]</a:t>
            </a:r>
            <a:r>
              <a:rPr lang="en-US">
                <a:solidFill>
                  <a:schemeClr val="dk1"/>
                </a:solidFill>
                <a:latin typeface="Calibri"/>
                <a:ea typeface="Calibri"/>
                <a:cs typeface="Calibri"/>
                <a:sym typeface="Calibri"/>
              </a:rPr>
              <a:t>    // e</a:t>
            </a:r>
            <a:r>
              <a:rPr lang="en-US" baseline="-25000">
                <a:solidFill>
                  <a:schemeClr val="dk1"/>
                </a:solidFill>
                <a:latin typeface="Calibri"/>
                <a:ea typeface="Calibri"/>
                <a:cs typeface="Calibri"/>
                <a:sym typeface="Calibri"/>
              </a:rPr>
              <a:t>i </a:t>
            </a:r>
            <a:r>
              <a:rPr lang="en-US">
                <a:solidFill>
                  <a:schemeClr val="dk1"/>
                </a:solidFill>
                <a:latin typeface="Calibri"/>
                <a:ea typeface="Calibri"/>
                <a:cs typeface="Calibri"/>
                <a:sym typeface="Calibri"/>
              </a:rPr>
              <a:t>means empty element</a:t>
            </a:r>
            <a:endParaRPr>
              <a:solidFill>
                <a:schemeClr val="dk1"/>
              </a:solidFill>
              <a:latin typeface="Calibri"/>
              <a:ea typeface="Calibri"/>
              <a:cs typeface="Calibri"/>
              <a:sym typeface="Calibri"/>
            </a:endParaRPr>
          </a:p>
          <a:p>
            <a:pPr marL="0" lvl="0" indent="0" algn="l" rtl="0">
              <a:lnSpc>
                <a:spcPct val="115000"/>
              </a:lnSpc>
              <a:spcBef>
                <a:spcPts val="0"/>
              </a:spcBef>
              <a:spcAft>
                <a:spcPts val="0"/>
              </a:spcAft>
              <a:buSzPts val="1800"/>
              <a:buNone/>
            </a:pPr>
            <a:r>
              <a:rPr lang="en-US">
                <a:solidFill>
                  <a:schemeClr val="dk1"/>
                </a:solidFill>
                <a:latin typeface="Calibri"/>
                <a:ea typeface="Calibri"/>
                <a:cs typeface="Calibri"/>
                <a:sym typeface="Calibri"/>
              </a:rPr>
              <a:t>  When we move [most travelers] outside the scope of sentence, the interpretation can be that most travelers visit two countries, which may be different for different travelers.</a:t>
            </a:r>
            <a:endParaRPr sz="2200">
              <a:solidFill>
                <a:schemeClr val="dk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gf9de619886_0_20"/>
          <p:cNvSpPr txBox="1">
            <a:spLocks noGrp="1"/>
          </p:cNvSpPr>
          <p:nvPr>
            <p:ph type="title"/>
          </p:nvPr>
        </p:nvSpPr>
        <p:spPr>
          <a:xfrm>
            <a:off x="1251675" y="382380"/>
            <a:ext cx="10178400" cy="6891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SzPct val="44444"/>
              <a:buNone/>
            </a:pPr>
            <a:r>
              <a:rPr lang="en-US" sz="4500">
                <a:solidFill>
                  <a:schemeClr val="dk1"/>
                </a:solidFill>
                <a:latin typeface="Gill Sans"/>
                <a:ea typeface="Gill Sans"/>
                <a:cs typeface="Gill Sans"/>
                <a:sym typeface="Gill Sans"/>
              </a:rPr>
              <a:t>General characteristics of GB</a:t>
            </a:r>
            <a:endParaRPr>
              <a:solidFill>
                <a:schemeClr val="dk1"/>
              </a:solidFill>
            </a:endParaRPr>
          </a:p>
        </p:txBody>
      </p:sp>
      <p:sp>
        <p:nvSpPr>
          <p:cNvPr id="558" name="Google Shape;558;gf9de619886_0_20"/>
          <p:cNvSpPr txBox="1">
            <a:spLocks noGrp="1"/>
          </p:cNvSpPr>
          <p:nvPr>
            <p:ph type="body" idx="1"/>
          </p:nvPr>
        </p:nvSpPr>
        <p:spPr>
          <a:xfrm>
            <a:off x="1251675" y="1071475"/>
            <a:ext cx="10178400" cy="5658000"/>
          </a:xfrm>
          <a:prstGeom prst="rect">
            <a:avLst/>
          </a:prstGeom>
          <a:noFill/>
          <a:ln>
            <a:noFill/>
          </a:ln>
        </p:spPr>
        <p:txBody>
          <a:bodyPr spcFirstLastPara="1" wrap="square" lIns="91425" tIns="45700" rIns="91425" bIns="45700" anchor="ctr" anchorCtr="0">
            <a:normAutofit/>
          </a:bodyPr>
          <a:lstStyle/>
          <a:p>
            <a:pPr marL="457200" lvl="0" indent="-393700" algn="just" rtl="0">
              <a:lnSpc>
                <a:spcPct val="110000"/>
              </a:lnSpc>
              <a:spcBef>
                <a:spcPts val="700"/>
              </a:spcBef>
              <a:spcAft>
                <a:spcPts val="0"/>
              </a:spcAft>
              <a:buClr>
                <a:schemeClr val="dk1"/>
              </a:buClr>
              <a:buSzPts val="2600"/>
              <a:buChar char="•"/>
            </a:pPr>
            <a:r>
              <a:rPr lang="en-US" sz="2800">
                <a:solidFill>
                  <a:schemeClr val="dk1"/>
                </a:solidFill>
              </a:rPr>
              <a:t>One of the important concepts in GB is that of constraints. </a:t>
            </a:r>
            <a:endParaRPr sz="2800">
              <a:solidFill>
                <a:schemeClr val="dk1"/>
              </a:solidFill>
            </a:endParaRPr>
          </a:p>
          <a:p>
            <a:pPr marL="457200" lvl="0" indent="-393700" algn="just" rtl="0">
              <a:lnSpc>
                <a:spcPct val="110000"/>
              </a:lnSpc>
              <a:spcBef>
                <a:spcPts val="0"/>
              </a:spcBef>
              <a:spcAft>
                <a:spcPts val="0"/>
              </a:spcAft>
              <a:buClr>
                <a:schemeClr val="dk1"/>
              </a:buClr>
              <a:buSzPts val="2600"/>
              <a:buChar char="•"/>
            </a:pPr>
            <a:r>
              <a:rPr lang="en-US" sz="2800">
                <a:solidFill>
                  <a:schemeClr val="dk1"/>
                </a:solidFill>
              </a:rPr>
              <a:t>It is the part of the grammar which prohibits certain combinations and movements, otherwise </a:t>
            </a:r>
            <a:r>
              <a:rPr lang="en-US" sz="2800">
                <a:solidFill>
                  <a:schemeClr val="dk1"/>
                </a:solidFill>
                <a:highlight>
                  <a:srgbClr val="FFFF00"/>
                </a:highlight>
                <a:latin typeface="Calibri"/>
                <a:ea typeface="Calibri"/>
                <a:cs typeface="Calibri"/>
                <a:sym typeface="Calibri"/>
              </a:rPr>
              <a:t>Move </a:t>
            </a:r>
            <a:r>
              <a:rPr lang="en-US" sz="2800" b="1">
                <a:solidFill>
                  <a:schemeClr val="dk1"/>
                </a:solidFill>
                <a:highlight>
                  <a:srgbClr val="FFFF00"/>
                </a:highlight>
                <a:latin typeface="Calibri"/>
                <a:ea typeface="Calibri"/>
                <a:cs typeface="Calibri"/>
                <a:sym typeface="Calibri"/>
              </a:rPr>
              <a:t>∝ </a:t>
            </a:r>
            <a:r>
              <a:rPr lang="en-US" sz="2800">
                <a:solidFill>
                  <a:schemeClr val="dk1"/>
                </a:solidFill>
                <a:latin typeface="Calibri"/>
                <a:ea typeface="Calibri"/>
                <a:cs typeface="Calibri"/>
                <a:sym typeface="Calibri"/>
              </a:rPr>
              <a:t>can move anything to any possible position.</a:t>
            </a:r>
            <a:endParaRPr sz="2800">
              <a:solidFill>
                <a:schemeClr val="dk1"/>
              </a:solidFill>
              <a:latin typeface="Calibri"/>
              <a:ea typeface="Calibri"/>
              <a:cs typeface="Calibri"/>
              <a:sym typeface="Calibri"/>
            </a:endParaRPr>
          </a:p>
          <a:p>
            <a:pPr marL="457200" lvl="0" indent="-393700" algn="just" rtl="0">
              <a:lnSpc>
                <a:spcPct val="110000"/>
              </a:lnSpc>
              <a:spcBef>
                <a:spcPts val="0"/>
              </a:spcBef>
              <a:spcAft>
                <a:spcPts val="0"/>
              </a:spcAft>
              <a:buClr>
                <a:schemeClr val="dk1"/>
              </a:buClr>
              <a:buSzPts val="2600"/>
              <a:buFont typeface="Calibri"/>
              <a:buChar char="•"/>
            </a:pPr>
            <a:r>
              <a:rPr lang="en-US" sz="2800">
                <a:solidFill>
                  <a:schemeClr val="dk1"/>
                </a:solidFill>
                <a:latin typeface="Calibri"/>
                <a:ea typeface="Calibri"/>
                <a:cs typeface="Calibri"/>
                <a:sym typeface="Calibri"/>
              </a:rPr>
              <a:t>Thus, GB is basically the formulation of theories or principles which create constraints to disallow the construction of ill-formed sentences. </a:t>
            </a:r>
            <a:endParaRPr sz="2800">
              <a:solidFill>
                <a:schemeClr val="dk1"/>
              </a:solidFill>
              <a:latin typeface="Calibri"/>
              <a:ea typeface="Calibri"/>
              <a:cs typeface="Calibri"/>
              <a:sym typeface="Calibri"/>
            </a:endParaRPr>
          </a:p>
          <a:p>
            <a:pPr marL="457200" lvl="0" indent="-393700" algn="just" rtl="0">
              <a:lnSpc>
                <a:spcPct val="110000"/>
              </a:lnSpc>
              <a:spcBef>
                <a:spcPts val="0"/>
              </a:spcBef>
              <a:spcAft>
                <a:spcPts val="0"/>
              </a:spcAft>
              <a:buClr>
                <a:schemeClr val="dk1"/>
              </a:buClr>
              <a:buSzPts val="2600"/>
              <a:buFont typeface="Calibri"/>
              <a:buChar char="•"/>
            </a:pPr>
            <a:r>
              <a:rPr lang="en-US" sz="2800">
                <a:solidFill>
                  <a:schemeClr val="dk1"/>
                </a:solidFill>
                <a:latin typeface="Calibri"/>
                <a:ea typeface="Calibri"/>
                <a:cs typeface="Calibri"/>
                <a:sym typeface="Calibri"/>
              </a:rPr>
              <a:t>GB can specify that ‘a constituent cannot be moved from position X’, where X can have value X</a:t>
            </a:r>
            <a:r>
              <a:rPr lang="en-US" sz="2800" baseline="-25000">
                <a:solidFill>
                  <a:schemeClr val="dk1"/>
                </a:solidFill>
                <a:latin typeface="Calibri"/>
                <a:ea typeface="Calibri"/>
                <a:cs typeface="Calibri"/>
                <a:sym typeface="Calibri"/>
              </a:rPr>
              <a:t>1</a:t>
            </a:r>
            <a:r>
              <a:rPr lang="en-US" sz="2800">
                <a:solidFill>
                  <a:schemeClr val="dk1"/>
                </a:solidFill>
                <a:latin typeface="Calibri"/>
                <a:ea typeface="Calibri"/>
                <a:cs typeface="Calibri"/>
                <a:sym typeface="Calibri"/>
              </a:rPr>
              <a:t> in one language, X</a:t>
            </a:r>
            <a:r>
              <a:rPr lang="en-US" sz="2800" baseline="-25000">
                <a:solidFill>
                  <a:schemeClr val="dk1"/>
                </a:solidFill>
                <a:latin typeface="Calibri"/>
                <a:ea typeface="Calibri"/>
                <a:cs typeface="Calibri"/>
                <a:sym typeface="Calibri"/>
              </a:rPr>
              <a:t>2</a:t>
            </a:r>
            <a:r>
              <a:rPr lang="en-US" sz="2800">
                <a:solidFill>
                  <a:schemeClr val="dk1"/>
                </a:solidFill>
                <a:latin typeface="Calibri"/>
                <a:ea typeface="Calibri"/>
                <a:cs typeface="Calibri"/>
                <a:sym typeface="Calibri"/>
              </a:rPr>
              <a:t> in another language, and so on.</a:t>
            </a:r>
            <a:endParaRPr sz="28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gf9de619886_0_25"/>
          <p:cNvSpPr txBox="1">
            <a:spLocks noGrp="1"/>
          </p:cNvSpPr>
          <p:nvPr>
            <p:ph type="title"/>
          </p:nvPr>
        </p:nvSpPr>
        <p:spPr>
          <a:xfrm>
            <a:off x="1251675" y="382380"/>
            <a:ext cx="10178400" cy="789300"/>
          </a:xfrm>
          <a:prstGeom prst="rect">
            <a:avLst/>
          </a:prstGeom>
          <a:noFill/>
          <a:ln>
            <a:noFill/>
          </a:ln>
        </p:spPr>
        <p:txBody>
          <a:bodyPr spcFirstLastPara="1" wrap="square" lIns="91425" tIns="45700" rIns="91425" bIns="45700" anchor="t" anchorCtr="0">
            <a:normAutofit fontScale="90000"/>
          </a:bodyPr>
          <a:lstStyle/>
          <a:p>
            <a:pPr marL="228600" lvl="0" indent="0" algn="ctr" rtl="0">
              <a:lnSpc>
                <a:spcPct val="110000"/>
              </a:lnSpc>
              <a:spcBef>
                <a:spcPts val="700"/>
              </a:spcBef>
              <a:spcAft>
                <a:spcPts val="0"/>
              </a:spcAft>
              <a:buClr>
                <a:schemeClr val="dk1"/>
              </a:buClr>
              <a:buSzPts val="1100"/>
              <a:buFont typeface="Arial"/>
              <a:buNone/>
            </a:pPr>
            <a:r>
              <a:rPr lang="en-US" sz="4500">
                <a:solidFill>
                  <a:srgbClr val="595959"/>
                </a:solidFill>
                <a:latin typeface="Gill Sans"/>
                <a:ea typeface="Gill Sans"/>
                <a:cs typeface="Gill Sans"/>
                <a:sym typeface="Gill Sans"/>
              </a:rPr>
              <a:t>General characteristics of GB</a:t>
            </a:r>
            <a:endParaRPr/>
          </a:p>
        </p:txBody>
      </p:sp>
      <p:sp>
        <p:nvSpPr>
          <p:cNvPr id="564" name="Google Shape;564;gf9de619886_0_25"/>
          <p:cNvSpPr txBox="1">
            <a:spLocks noGrp="1"/>
          </p:cNvSpPr>
          <p:nvPr>
            <p:ph type="body" idx="1"/>
          </p:nvPr>
        </p:nvSpPr>
        <p:spPr>
          <a:xfrm>
            <a:off x="1251675" y="1314450"/>
            <a:ext cx="10178400" cy="53721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1800"/>
              <a:buNone/>
            </a:pPr>
            <a:r>
              <a:rPr lang="en-US"/>
              <a:t>The figure - </a:t>
            </a:r>
            <a:r>
              <a:rPr lang="en-US" b="1"/>
              <a:t>components of GB</a:t>
            </a:r>
            <a:r>
              <a:rPr lang="en-US"/>
              <a:t> showed the application of various theories and principles at three different levels of representations in GB. The above figure mentions the various theories and principles explicitly to understand the organization of GB.</a:t>
            </a:r>
            <a:endParaRPr/>
          </a:p>
        </p:txBody>
      </p:sp>
      <p:pic>
        <p:nvPicPr>
          <p:cNvPr id="565" name="Google Shape;565;gf9de619886_0_25"/>
          <p:cNvPicPr preferRelativeResize="0">
            <a:picLocks noGrp="1"/>
          </p:cNvPicPr>
          <p:nvPr>
            <p:ph type="body" idx="1"/>
          </p:nvPr>
        </p:nvPicPr>
        <p:blipFill rotWithShape="1">
          <a:blip r:embed="rId3">
            <a:alphaModFix/>
          </a:blip>
          <a:srcRect/>
          <a:stretch/>
        </p:blipFill>
        <p:spPr>
          <a:xfrm>
            <a:off x="1543050" y="1439600"/>
            <a:ext cx="9486900" cy="40326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35"/>
          <p:cNvSpPr txBox="1">
            <a:spLocks noGrp="1"/>
          </p:cNvSpPr>
          <p:nvPr>
            <p:ph type="title"/>
          </p:nvPr>
        </p:nvSpPr>
        <p:spPr>
          <a:xfrm>
            <a:off x="1251678" y="1965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GB- </a:t>
            </a:r>
            <a:r>
              <a:rPr lang="en-US" sz="4400">
                <a:highlight>
                  <a:srgbClr val="FFFF00"/>
                </a:highlight>
                <a:latin typeface="Calibri"/>
                <a:ea typeface="Calibri"/>
                <a:cs typeface="Calibri"/>
                <a:sym typeface="Calibri"/>
              </a:rPr>
              <a:t>X BAR THEORY</a:t>
            </a:r>
            <a:r>
              <a:rPr lang="en-US" sz="1800">
                <a:latin typeface="Calibri"/>
                <a:ea typeface="Calibri"/>
                <a:cs typeface="Calibri"/>
                <a:sym typeface="Calibri"/>
              </a:rPr>
              <a:t/>
            </a:r>
            <a:br>
              <a:rPr lang="en-US" sz="1800">
                <a:latin typeface="Calibri"/>
                <a:ea typeface="Calibri"/>
                <a:cs typeface="Calibri"/>
                <a:sym typeface="Calibri"/>
              </a:rPr>
            </a:br>
            <a:endParaRPr/>
          </a:p>
        </p:txBody>
      </p:sp>
      <p:sp>
        <p:nvSpPr>
          <p:cNvPr id="571" name="Google Shape;571;p35"/>
          <p:cNvSpPr txBox="1">
            <a:spLocks noGrp="1"/>
          </p:cNvSpPr>
          <p:nvPr>
            <p:ph type="body" idx="1"/>
          </p:nvPr>
        </p:nvSpPr>
        <p:spPr>
          <a:xfrm>
            <a:off x="1251675" y="874975"/>
            <a:ext cx="10178400" cy="5844600"/>
          </a:xfrm>
          <a:prstGeom prst="rect">
            <a:avLst/>
          </a:prstGeom>
          <a:noFill/>
          <a:ln>
            <a:noFill/>
          </a:ln>
        </p:spPr>
        <p:txBody>
          <a:bodyPr spcFirstLastPara="1" wrap="square" lIns="91425" tIns="45700" rIns="91425" bIns="45700" anchor="ctr" anchorCtr="0">
            <a:noAutofit/>
          </a:bodyPr>
          <a:lstStyle/>
          <a:p>
            <a:pPr marL="228600" lvl="0" indent="-2222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The x bar  theory is one of the central concepts in GB.</a:t>
            </a:r>
            <a:endParaRPr sz="1900">
              <a:solidFill>
                <a:schemeClr val="dk1"/>
              </a:solidFill>
              <a:latin typeface="Times New Roman"/>
              <a:ea typeface="Times New Roman"/>
              <a:cs typeface="Times New Roman"/>
              <a:sym typeface="Times New Roman"/>
            </a:endParaRPr>
          </a:p>
          <a:p>
            <a:pPr marL="228600" lvl="0" indent="-222250" algn="l" rtl="0">
              <a:lnSpc>
                <a:spcPct val="110000"/>
              </a:lnSpc>
              <a:spcBef>
                <a:spcPts val="0"/>
              </a:spcBef>
              <a:spcAft>
                <a:spcPts val="0"/>
              </a:spcAft>
              <a:buClr>
                <a:schemeClr val="dk1"/>
              </a:buClr>
              <a:buSzPts val="1900"/>
              <a:buChar char="•"/>
            </a:pPr>
            <a:r>
              <a:rPr lang="en-US" sz="1900">
                <a:solidFill>
                  <a:schemeClr val="dk1"/>
                </a:solidFill>
                <a:latin typeface="Times New Roman"/>
                <a:ea typeface="Times New Roman"/>
                <a:cs typeface="Times New Roman"/>
                <a:sym typeface="Times New Roman"/>
              </a:rPr>
              <a:t>Instead of defining several </a:t>
            </a:r>
            <a:r>
              <a:rPr lang="en-US" sz="1900" b="1">
                <a:solidFill>
                  <a:schemeClr val="dk1"/>
                </a:solidFill>
                <a:latin typeface="Times New Roman"/>
                <a:ea typeface="Times New Roman"/>
                <a:cs typeface="Times New Roman"/>
                <a:sym typeface="Times New Roman"/>
              </a:rPr>
              <a:t>phrase structures and the sentence structure</a:t>
            </a:r>
            <a:r>
              <a:rPr lang="en-US" sz="1900">
                <a:solidFill>
                  <a:schemeClr val="dk1"/>
                </a:solidFill>
                <a:latin typeface="Times New Roman"/>
                <a:ea typeface="Times New Roman"/>
                <a:cs typeface="Times New Roman"/>
                <a:sym typeface="Times New Roman"/>
              </a:rPr>
              <a:t> with separate sets of rules, X</a:t>
            </a:r>
            <a:r>
              <a:rPr lang="en-US" sz="1900" baseline="30000">
                <a:solidFill>
                  <a:schemeClr val="dk1"/>
                </a:solidFill>
                <a:latin typeface="Times New Roman"/>
                <a:ea typeface="Times New Roman"/>
                <a:cs typeface="Times New Roman"/>
                <a:sym typeface="Times New Roman"/>
              </a:rPr>
              <a:t> </a:t>
            </a:r>
            <a:r>
              <a:rPr lang="en-US" sz="1900">
                <a:solidFill>
                  <a:schemeClr val="dk1"/>
                </a:solidFill>
                <a:latin typeface="Times New Roman"/>
                <a:ea typeface="Times New Roman"/>
                <a:cs typeface="Times New Roman"/>
                <a:sym typeface="Times New Roman"/>
              </a:rPr>
              <a:t>bar theory defines them both as </a:t>
            </a:r>
            <a:r>
              <a:rPr lang="en-US" sz="1900" b="1">
                <a:solidFill>
                  <a:schemeClr val="dk1"/>
                </a:solidFill>
                <a:highlight>
                  <a:srgbClr val="EAD1DC"/>
                </a:highlight>
                <a:latin typeface="Times New Roman"/>
                <a:ea typeface="Times New Roman"/>
                <a:cs typeface="Times New Roman"/>
                <a:sym typeface="Times New Roman"/>
              </a:rPr>
              <a:t>maximal projections of some head. </a:t>
            </a:r>
            <a:r>
              <a:rPr lang="en-US" sz="1900">
                <a:solidFill>
                  <a:schemeClr val="dk1"/>
                </a:solidFill>
                <a:latin typeface="Times New Roman"/>
                <a:ea typeface="Times New Roman"/>
                <a:cs typeface="Times New Roman"/>
                <a:sym typeface="Times New Roman"/>
              </a:rPr>
              <a:t>Hence the entities defined become </a:t>
            </a:r>
            <a:r>
              <a:rPr lang="en-US" sz="1900">
                <a:solidFill>
                  <a:schemeClr val="dk1"/>
                </a:solidFill>
                <a:highlight>
                  <a:srgbClr val="FFFF00"/>
                </a:highlight>
                <a:latin typeface="Times New Roman"/>
                <a:ea typeface="Times New Roman"/>
                <a:cs typeface="Times New Roman"/>
                <a:sym typeface="Times New Roman"/>
              </a:rPr>
              <a:t>language independent</a:t>
            </a:r>
            <a:r>
              <a:rPr lang="en-US" sz="1900">
                <a:solidFill>
                  <a:schemeClr val="dk1"/>
                </a:solidFill>
                <a:latin typeface="Times New Roman"/>
                <a:ea typeface="Times New Roman"/>
                <a:cs typeface="Times New Roman"/>
                <a:sym typeface="Times New Roman"/>
              </a:rPr>
              <a:t>.</a:t>
            </a:r>
            <a:endParaRPr sz="1900">
              <a:solidFill>
                <a:schemeClr val="dk1"/>
              </a:solidFill>
              <a:latin typeface="Times New Roman"/>
              <a:ea typeface="Times New Roman"/>
              <a:cs typeface="Times New Roman"/>
              <a:sym typeface="Times New Roman"/>
            </a:endParaRPr>
          </a:p>
          <a:p>
            <a:pPr marL="1371600" lvl="0" indent="-3492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Noun phrase (NP) is the maximal projection of Noun (N)</a:t>
            </a:r>
            <a:endParaRPr sz="1900">
              <a:solidFill>
                <a:schemeClr val="dk1"/>
              </a:solidFill>
              <a:latin typeface="Times New Roman"/>
              <a:ea typeface="Times New Roman"/>
              <a:cs typeface="Times New Roman"/>
              <a:sym typeface="Times New Roman"/>
            </a:endParaRPr>
          </a:p>
          <a:p>
            <a:pPr marL="1371600" lvl="0" indent="-3492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verb phrase (VP) is the maximal projection of Verb (V)</a:t>
            </a:r>
            <a:endParaRPr sz="1900">
              <a:solidFill>
                <a:schemeClr val="dk1"/>
              </a:solidFill>
              <a:latin typeface="Times New Roman"/>
              <a:ea typeface="Times New Roman"/>
              <a:cs typeface="Times New Roman"/>
              <a:sym typeface="Times New Roman"/>
            </a:endParaRPr>
          </a:p>
          <a:p>
            <a:pPr marL="1371600" lvl="0" indent="-3492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adjective phrase (AP) is the maximal projection of Adjective (A)</a:t>
            </a:r>
            <a:endParaRPr sz="1900">
              <a:solidFill>
                <a:schemeClr val="dk1"/>
              </a:solidFill>
              <a:latin typeface="Times New Roman"/>
              <a:ea typeface="Times New Roman"/>
              <a:cs typeface="Times New Roman"/>
              <a:sym typeface="Times New Roman"/>
            </a:endParaRPr>
          </a:p>
          <a:p>
            <a:pPr marL="1371600" lvl="0" indent="-3492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preposition phrase (PP) is the maximal projection of Preposition (P)</a:t>
            </a:r>
            <a:endParaRPr sz="1900">
              <a:solidFill>
                <a:schemeClr val="dk1"/>
              </a:solidFill>
              <a:latin typeface="Times New Roman"/>
              <a:ea typeface="Times New Roman"/>
              <a:cs typeface="Times New Roman"/>
              <a:sym typeface="Times New Roman"/>
            </a:endParaRPr>
          </a:p>
          <a:p>
            <a:pPr marL="228600" lvl="0" indent="-2222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They can be represented as head X of their corresponding phrase (where X = {N, V, A, P}</a:t>
            </a:r>
            <a:endParaRPr sz="1900">
              <a:solidFill>
                <a:schemeClr val="dk1"/>
              </a:solidFill>
              <a:latin typeface="Times New Roman"/>
              <a:ea typeface="Times New Roman"/>
              <a:cs typeface="Times New Roman"/>
              <a:sym typeface="Times New Roman"/>
            </a:endParaRPr>
          </a:p>
          <a:p>
            <a:pPr marL="228600" lvl="0" indent="-2222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Even the sentence structure S’ - which is projection of sentence can be regarded as the maximal projection of inflection (INFL).</a:t>
            </a:r>
            <a:endParaRPr sz="190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GB envisages projection at 2 levels:</a:t>
            </a:r>
            <a:endParaRPr sz="1900">
              <a:solidFill>
                <a:schemeClr val="dk1"/>
              </a:solidFill>
              <a:latin typeface="Times New Roman"/>
              <a:ea typeface="Times New Roman"/>
              <a:cs typeface="Times New Roman"/>
              <a:sym typeface="Times New Roman"/>
            </a:endParaRPr>
          </a:p>
          <a:p>
            <a:pPr marL="914400" lvl="1" indent="-349250" algn="l" rtl="0">
              <a:lnSpc>
                <a:spcPct val="10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1.	The projection of head at semi phrase level, denoted by X bar</a:t>
            </a:r>
            <a:endParaRPr sz="1900">
              <a:solidFill>
                <a:schemeClr val="dk1"/>
              </a:solidFill>
              <a:latin typeface="Times New Roman"/>
              <a:ea typeface="Times New Roman"/>
              <a:cs typeface="Times New Roman"/>
              <a:sym typeface="Times New Roman"/>
            </a:endParaRPr>
          </a:p>
          <a:p>
            <a:pPr marL="914400" lvl="1" indent="-349250" algn="l" rtl="0">
              <a:lnSpc>
                <a:spcPct val="10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2.	The maximal projection at the phrase level, denoted by X double bar</a:t>
            </a:r>
            <a:endParaRPr sz="1900">
              <a:solidFill>
                <a:schemeClr val="dk1"/>
              </a:solidFill>
              <a:latin typeface="Times New Roman"/>
              <a:ea typeface="Times New Roman"/>
              <a:cs typeface="Times New Roman"/>
              <a:sym typeface="Times New Roman"/>
            </a:endParaRPr>
          </a:p>
          <a:p>
            <a:pPr marL="228600" lvl="0" indent="-22860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For sentences -</a:t>
            </a:r>
            <a:endParaRPr sz="1900">
              <a:solidFill>
                <a:schemeClr val="dk1"/>
              </a:solidFill>
              <a:latin typeface="Times New Roman"/>
              <a:ea typeface="Times New Roman"/>
              <a:cs typeface="Times New Roman"/>
              <a:sym typeface="Times New Roman"/>
            </a:endParaRPr>
          </a:p>
          <a:p>
            <a:pPr marL="685800" lvl="1" indent="-2349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the first level projection is denoted as S</a:t>
            </a:r>
            <a:endParaRPr sz="1900">
              <a:solidFill>
                <a:schemeClr val="dk1"/>
              </a:solidFill>
              <a:latin typeface="Times New Roman"/>
              <a:ea typeface="Times New Roman"/>
              <a:cs typeface="Times New Roman"/>
              <a:sym typeface="Times New Roman"/>
            </a:endParaRPr>
          </a:p>
          <a:p>
            <a:pPr marL="685800" lvl="1" indent="-234950" algn="l" rtl="0">
              <a:lnSpc>
                <a:spcPct val="110000"/>
              </a:lnSpc>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and the second level maximal projection is defined as S’.</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gfb3c5a04c7_0_0"/>
          <p:cNvSpPr txBox="1">
            <a:spLocks noGrp="1"/>
          </p:cNvSpPr>
          <p:nvPr>
            <p:ph type="title"/>
          </p:nvPr>
        </p:nvSpPr>
        <p:spPr>
          <a:xfrm>
            <a:off x="1251675" y="382376"/>
            <a:ext cx="10178400" cy="541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35294"/>
              <a:buNone/>
            </a:pPr>
            <a:r>
              <a:rPr lang="en-US"/>
              <a:t>GB- </a:t>
            </a:r>
            <a:r>
              <a:rPr lang="en-US" sz="5400">
                <a:highlight>
                  <a:srgbClr val="FFFF00"/>
                </a:highlight>
                <a:latin typeface="Calibri"/>
                <a:ea typeface="Calibri"/>
                <a:cs typeface="Calibri"/>
                <a:sym typeface="Calibri"/>
              </a:rPr>
              <a:t>X BAR THEORY</a:t>
            </a:r>
            <a:endParaRPr/>
          </a:p>
        </p:txBody>
      </p:sp>
      <p:sp>
        <p:nvSpPr>
          <p:cNvPr id="577" name="Google Shape;577;gfb3c5a04c7_0_0"/>
          <p:cNvSpPr txBox="1">
            <a:spLocks noGrp="1"/>
          </p:cNvSpPr>
          <p:nvPr>
            <p:ph type="body" idx="1"/>
          </p:nvPr>
        </p:nvSpPr>
        <p:spPr>
          <a:xfrm>
            <a:off x="1251675" y="1216075"/>
            <a:ext cx="10178400" cy="55236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r>
              <a:rPr lang="en-US" b="1"/>
              <a:t>General Phrase and Sentential Structure:</a:t>
            </a:r>
            <a:endParaRPr b="1"/>
          </a:p>
        </p:txBody>
      </p:sp>
      <p:pic>
        <p:nvPicPr>
          <p:cNvPr id="578" name="Google Shape;578;gfb3c5a04c7_0_0"/>
          <p:cNvPicPr preferRelativeResize="0"/>
          <p:nvPr/>
        </p:nvPicPr>
        <p:blipFill rotWithShape="1">
          <a:blip r:embed="rId3">
            <a:alphaModFix/>
          </a:blip>
          <a:srcRect/>
          <a:stretch/>
        </p:blipFill>
        <p:spPr>
          <a:xfrm>
            <a:off x="1373125" y="1687675"/>
            <a:ext cx="4614225" cy="2544950"/>
          </a:xfrm>
          <a:prstGeom prst="rect">
            <a:avLst/>
          </a:prstGeom>
          <a:noFill/>
          <a:ln>
            <a:noFill/>
          </a:ln>
        </p:spPr>
      </p:pic>
      <p:pic>
        <p:nvPicPr>
          <p:cNvPr id="579" name="Google Shape;579;gfb3c5a04c7_0_0"/>
          <p:cNvPicPr preferRelativeResize="0"/>
          <p:nvPr/>
        </p:nvPicPr>
        <p:blipFill rotWithShape="1">
          <a:blip r:embed="rId4">
            <a:alphaModFix/>
          </a:blip>
          <a:srcRect/>
          <a:stretch/>
        </p:blipFill>
        <p:spPr>
          <a:xfrm>
            <a:off x="5987350" y="3574700"/>
            <a:ext cx="5289280" cy="29752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37"/>
          <p:cNvSpPr txBox="1">
            <a:spLocks noGrp="1"/>
          </p:cNvSpPr>
          <p:nvPr>
            <p:ph type="title"/>
          </p:nvPr>
        </p:nvSpPr>
        <p:spPr>
          <a:xfrm>
            <a:off x="1251641" y="381010"/>
            <a:ext cx="10178400" cy="6705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585" name="Google Shape;585;p37"/>
          <p:cNvSpPr txBox="1">
            <a:spLocks noGrp="1"/>
          </p:cNvSpPr>
          <p:nvPr>
            <p:ph type="body" idx="1"/>
          </p:nvPr>
        </p:nvSpPr>
        <p:spPr>
          <a:xfrm>
            <a:off x="1251678" y="1052945"/>
            <a:ext cx="10178322" cy="5144655"/>
          </a:xfrm>
          <a:prstGeom prst="rect">
            <a:avLst/>
          </a:prstGeom>
          <a:noFill/>
          <a:ln>
            <a:noFill/>
          </a:ln>
        </p:spPr>
        <p:txBody>
          <a:bodyPr spcFirstLastPara="1" wrap="square" lIns="91425" tIns="45700" rIns="91425" bIns="45700" anchor="t" anchorCtr="0">
            <a:normAutofit/>
          </a:bodyPr>
          <a:lstStyle/>
          <a:p>
            <a:pPr marL="457200" lvl="0" indent="0" algn="l" rtl="0">
              <a:lnSpc>
                <a:spcPct val="115000"/>
              </a:lnSpc>
              <a:spcBef>
                <a:spcPts val="0"/>
              </a:spcBef>
              <a:spcAft>
                <a:spcPts val="0"/>
              </a:spcAft>
              <a:buSzPts val="1800"/>
              <a:buNone/>
            </a:pPr>
            <a:r>
              <a:rPr lang="en-US" sz="1800" b="1">
                <a:highlight>
                  <a:srgbClr val="00FF00"/>
                </a:highlight>
                <a:latin typeface="Calibri"/>
                <a:ea typeface="Calibri"/>
                <a:cs typeface="Calibri"/>
                <a:sym typeface="Calibri"/>
              </a:rPr>
              <a:t>1.NP</a:t>
            </a:r>
            <a:endParaRPr b="1"/>
          </a:p>
          <a:p>
            <a:pPr marL="457200" lvl="0" indent="0" algn="l" rtl="0">
              <a:lnSpc>
                <a:spcPct val="115000"/>
              </a:lnSpc>
              <a:spcBef>
                <a:spcPts val="700"/>
              </a:spcBef>
              <a:spcAft>
                <a:spcPts val="0"/>
              </a:spcAft>
              <a:buSzPts val="1800"/>
              <a:buNone/>
            </a:pPr>
            <a:r>
              <a:rPr lang="en-US" sz="1800" b="1">
                <a:solidFill>
                  <a:srgbClr val="FF0000"/>
                </a:solidFill>
                <a:latin typeface="Calibri"/>
                <a:ea typeface="Calibri"/>
                <a:cs typeface="Calibri"/>
                <a:sym typeface="Calibri"/>
              </a:rPr>
              <a:t>The food in a dhaba.</a:t>
            </a:r>
            <a:endParaRPr sz="1800" b="1">
              <a:solidFill>
                <a:srgbClr val="FF0000"/>
              </a:solidFill>
              <a:latin typeface="Calibri"/>
              <a:ea typeface="Calibri"/>
              <a:cs typeface="Calibri"/>
              <a:sym typeface="Calibri"/>
            </a:endParaRPr>
          </a:p>
          <a:p>
            <a:pPr marL="457200" lvl="0" indent="0" algn="l" rtl="0">
              <a:lnSpc>
                <a:spcPct val="115000"/>
              </a:lnSpc>
              <a:spcBef>
                <a:spcPts val="700"/>
              </a:spcBef>
              <a:spcAft>
                <a:spcPts val="0"/>
              </a:spcAft>
              <a:buSzPts val="1800"/>
              <a:buNone/>
            </a:pPr>
            <a:r>
              <a:rPr lang="en-US" sz="1800">
                <a:latin typeface="Calibri"/>
                <a:ea typeface="Calibri"/>
                <a:cs typeface="Calibri"/>
                <a:sym typeface="Calibri"/>
              </a:rPr>
              <a:t>	</a:t>
            </a:r>
            <a:r>
              <a:rPr lang="en-US" sz="1800">
                <a:solidFill>
                  <a:schemeClr val="dk1"/>
                </a:solidFill>
                <a:latin typeface="Calibri"/>
                <a:ea typeface="Calibri"/>
                <a:cs typeface="Calibri"/>
                <a:sym typeface="Calibri"/>
              </a:rPr>
              <a:t>[</a:t>
            </a:r>
            <a:r>
              <a:rPr lang="en-US" sz="1800" baseline="-25000">
                <a:solidFill>
                  <a:schemeClr val="dk1"/>
                </a:solidFill>
                <a:latin typeface="Calibri"/>
                <a:ea typeface="Calibri"/>
                <a:cs typeface="Calibri"/>
                <a:sym typeface="Calibri"/>
              </a:rPr>
              <a:t>NP</a:t>
            </a:r>
            <a:r>
              <a:rPr lang="en-US" sz="1800">
                <a:solidFill>
                  <a:schemeClr val="dk1"/>
                </a:solidFill>
                <a:latin typeface="Calibri"/>
                <a:ea typeface="Calibri"/>
                <a:cs typeface="Calibri"/>
                <a:sym typeface="Calibri"/>
              </a:rPr>
              <a:t>[</a:t>
            </a:r>
            <a:r>
              <a:rPr lang="en-US" sz="1800" baseline="-25000">
                <a:solidFill>
                  <a:schemeClr val="dk1"/>
                </a:solidFill>
                <a:latin typeface="Calibri"/>
                <a:ea typeface="Calibri"/>
                <a:cs typeface="Calibri"/>
                <a:sym typeface="Calibri"/>
              </a:rPr>
              <a:t>Det</a:t>
            </a:r>
            <a:r>
              <a:rPr lang="en-US" sz="1800">
                <a:solidFill>
                  <a:schemeClr val="dk1"/>
                </a:solidFill>
                <a:latin typeface="Calibri"/>
                <a:ea typeface="Calibri"/>
                <a:cs typeface="Calibri"/>
                <a:sym typeface="Calibri"/>
              </a:rPr>
              <a:t> the] [</a:t>
            </a:r>
            <a:r>
              <a:rPr lang="en-US" baseline="-25000">
                <a:solidFill>
                  <a:schemeClr val="dk1"/>
                </a:solidFill>
                <a:latin typeface="Calibri"/>
                <a:ea typeface="Calibri"/>
                <a:cs typeface="Calibri"/>
                <a:sym typeface="Calibri"/>
              </a:rPr>
              <a:t>N</a:t>
            </a:r>
            <a:r>
              <a:rPr lang="en-US">
                <a:solidFill>
                  <a:schemeClr val="dk1"/>
                </a:solidFill>
                <a:latin typeface="Calibri"/>
                <a:ea typeface="Calibri"/>
                <a:cs typeface="Calibri"/>
                <a:sym typeface="Calibri"/>
              </a:rPr>
              <a:t>[</a:t>
            </a:r>
            <a:r>
              <a:rPr lang="en-US" baseline="-25000">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food] [</a:t>
            </a:r>
            <a:r>
              <a:rPr lang="en-US" sz="1800" baseline="-25000">
                <a:solidFill>
                  <a:schemeClr val="dk1"/>
                </a:solidFill>
                <a:latin typeface="Calibri"/>
                <a:ea typeface="Calibri"/>
                <a:cs typeface="Calibri"/>
                <a:sym typeface="Calibri"/>
              </a:rPr>
              <a:t>pp</a:t>
            </a:r>
            <a:r>
              <a:rPr lang="en-US" sz="1800">
                <a:solidFill>
                  <a:schemeClr val="dk1"/>
                </a:solidFill>
                <a:latin typeface="Calibri"/>
                <a:ea typeface="Calibri"/>
                <a:cs typeface="Calibri"/>
                <a:sym typeface="Calibri"/>
              </a:rPr>
              <a:t>in a dhaba]]</a:t>
            </a:r>
            <a:endParaRPr/>
          </a:p>
          <a:p>
            <a:pPr marL="228600" lvl="0" indent="-101600" algn="l" rtl="0">
              <a:lnSpc>
                <a:spcPct val="110000"/>
              </a:lnSpc>
              <a:spcBef>
                <a:spcPts val="700"/>
              </a:spcBef>
              <a:spcAft>
                <a:spcPts val="0"/>
              </a:spcAft>
              <a:buSzPts val="2000"/>
              <a:buNone/>
            </a:pPr>
            <a:endParaRPr/>
          </a:p>
          <a:p>
            <a:pPr marL="228600" lvl="0" indent="-101600" algn="l" rtl="0">
              <a:lnSpc>
                <a:spcPct val="110000"/>
              </a:lnSpc>
              <a:spcBef>
                <a:spcPts val="700"/>
              </a:spcBef>
              <a:spcAft>
                <a:spcPts val="0"/>
              </a:spcAft>
              <a:buSzPts val="2000"/>
              <a:buNone/>
            </a:pPr>
            <a:endParaRPr/>
          </a:p>
          <a:p>
            <a:pPr marL="228600" lvl="0" indent="-101600" algn="l" rtl="0">
              <a:lnSpc>
                <a:spcPct val="110000"/>
              </a:lnSpc>
              <a:spcBef>
                <a:spcPts val="700"/>
              </a:spcBef>
              <a:spcAft>
                <a:spcPts val="0"/>
              </a:spcAft>
              <a:buSzPts val="2000"/>
              <a:buNone/>
            </a:pPr>
            <a:endParaRPr/>
          </a:p>
          <a:p>
            <a:pPr marL="228600" lvl="0" indent="-101600" algn="l" rtl="0">
              <a:lnSpc>
                <a:spcPct val="110000"/>
              </a:lnSpc>
              <a:spcBef>
                <a:spcPts val="700"/>
              </a:spcBef>
              <a:spcAft>
                <a:spcPts val="0"/>
              </a:spcAft>
              <a:buSzPts val="2000"/>
              <a:buNone/>
            </a:pPr>
            <a:endParaRPr/>
          </a:p>
          <a:p>
            <a:pPr marL="228600" lvl="0" indent="-10160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r>
              <a:rPr lang="en-US"/>
              <a:t>TRY!!!</a:t>
            </a:r>
            <a:endParaRPr/>
          </a:p>
          <a:p>
            <a:pPr marL="457200" lvl="0" indent="-342900" algn="l" rtl="0">
              <a:lnSpc>
                <a:spcPct val="110000"/>
              </a:lnSpc>
              <a:spcBef>
                <a:spcPts val="0"/>
              </a:spcBef>
              <a:spcAft>
                <a:spcPts val="0"/>
              </a:spcAft>
              <a:buSzPts val="1800"/>
              <a:buAutoNum type="arabicPeriod"/>
            </a:pPr>
            <a:r>
              <a:rPr lang="en-US"/>
              <a:t>The student in a college</a:t>
            </a:r>
            <a:endParaRPr/>
          </a:p>
          <a:p>
            <a:pPr marL="228600" lvl="0" indent="-101600" algn="l" rtl="0">
              <a:lnSpc>
                <a:spcPct val="110000"/>
              </a:lnSpc>
              <a:spcBef>
                <a:spcPts val="700"/>
              </a:spcBef>
              <a:spcAft>
                <a:spcPts val="0"/>
              </a:spcAft>
              <a:buSzPts val="2000"/>
              <a:buNone/>
            </a:pPr>
            <a:endParaRPr/>
          </a:p>
          <a:p>
            <a:pPr marL="228600" lvl="0" indent="-101600" algn="l" rtl="0">
              <a:lnSpc>
                <a:spcPct val="110000"/>
              </a:lnSpc>
              <a:spcBef>
                <a:spcPts val="700"/>
              </a:spcBef>
              <a:spcAft>
                <a:spcPts val="0"/>
              </a:spcAft>
              <a:buSzPts val="2000"/>
              <a:buNone/>
            </a:pPr>
            <a:endParaRPr/>
          </a:p>
        </p:txBody>
      </p:sp>
      <p:pic>
        <p:nvPicPr>
          <p:cNvPr id="586" name="Google Shape;586;p37"/>
          <p:cNvPicPr preferRelativeResize="0"/>
          <p:nvPr/>
        </p:nvPicPr>
        <p:blipFill rotWithShape="1">
          <a:blip r:embed="rId3">
            <a:alphaModFix/>
          </a:blip>
          <a:srcRect/>
          <a:stretch/>
        </p:blipFill>
        <p:spPr>
          <a:xfrm>
            <a:off x="3721464" y="2471737"/>
            <a:ext cx="2619375" cy="1914525"/>
          </a:xfrm>
          <a:prstGeom prst="rect">
            <a:avLst/>
          </a:prstGeom>
          <a:noFill/>
          <a:ln>
            <a:noFill/>
          </a:ln>
        </p:spPr>
      </p:pic>
      <p:cxnSp>
        <p:nvCxnSpPr>
          <p:cNvPr id="587" name="Google Shape;587;p37"/>
          <p:cNvCxnSpPr/>
          <p:nvPr/>
        </p:nvCxnSpPr>
        <p:spPr>
          <a:xfrm>
            <a:off x="3267975" y="2150225"/>
            <a:ext cx="129300" cy="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g15fa291c0c5_0_33"/>
          <p:cNvSpPr txBox="1">
            <a:spLocks noGrp="1"/>
          </p:cNvSpPr>
          <p:nvPr>
            <p:ph type="title"/>
          </p:nvPr>
        </p:nvSpPr>
        <p:spPr>
          <a:xfrm>
            <a:off x="1251678" y="382385"/>
            <a:ext cx="10178400" cy="7074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593" name="Google Shape;593;g15fa291c0c5_0_33"/>
          <p:cNvSpPr txBox="1">
            <a:spLocks noGrp="1"/>
          </p:cNvSpPr>
          <p:nvPr>
            <p:ph type="body" idx="1"/>
          </p:nvPr>
        </p:nvSpPr>
        <p:spPr>
          <a:xfrm>
            <a:off x="1175478" y="1089891"/>
            <a:ext cx="10178400" cy="5597100"/>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110000"/>
              </a:lnSpc>
              <a:spcBef>
                <a:spcPts val="0"/>
              </a:spcBef>
              <a:spcAft>
                <a:spcPts val="0"/>
              </a:spcAft>
              <a:buSzPct val="100000"/>
              <a:buNone/>
            </a:pPr>
            <a:r>
              <a:rPr lang="en-US" b="1">
                <a:highlight>
                  <a:srgbClr val="00FF00"/>
                </a:highlight>
              </a:rPr>
              <a:t>2. VP</a:t>
            </a:r>
            <a:endParaRPr b="1"/>
          </a:p>
          <a:p>
            <a:pPr marL="0" lvl="0" indent="0" algn="l" rtl="0">
              <a:lnSpc>
                <a:spcPct val="110000"/>
              </a:lnSpc>
              <a:spcBef>
                <a:spcPts val="700"/>
              </a:spcBef>
              <a:spcAft>
                <a:spcPts val="0"/>
              </a:spcAft>
              <a:buSzPct val="100000"/>
              <a:buNone/>
            </a:pPr>
            <a:r>
              <a:rPr lang="en-US" sz="1800" b="1">
                <a:solidFill>
                  <a:srgbClr val="FF0000"/>
                </a:solidFill>
                <a:latin typeface="Calibri"/>
                <a:ea typeface="Calibri"/>
                <a:cs typeface="Calibri"/>
                <a:sym typeface="Calibri"/>
              </a:rPr>
              <a:t>ate the food in a dhaba</a:t>
            </a:r>
            <a:endParaRPr sz="1800" b="1">
              <a:solidFill>
                <a:srgbClr val="FF0000"/>
              </a:solidFill>
              <a:latin typeface="Calibri"/>
              <a:ea typeface="Calibri"/>
              <a:cs typeface="Calibri"/>
              <a:sym typeface="Calibri"/>
            </a:endParaRPr>
          </a:p>
          <a:p>
            <a:pPr marL="0" lvl="0" indent="0" algn="l" rtl="0">
              <a:lnSpc>
                <a:spcPct val="110000"/>
              </a:lnSpc>
              <a:spcBef>
                <a:spcPts val="700"/>
              </a:spcBef>
              <a:spcAft>
                <a:spcPts val="0"/>
              </a:spcAft>
              <a:buSzPct val="100000"/>
              <a:buNone/>
            </a:pPr>
            <a:r>
              <a:rPr lang="en-US" sz="1800" b="1">
                <a:solidFill>
                  <a:schemeClr val="dk1"/>
                </a:solidFill>
                <a:latin typeface="Calibri"/>
                <a:ea typeface="Calibri"/>
                <a:cs typeface="Calibri"/>
                <a:sym typeface="Calibri"/>
              </a:rPr>
              <a:t>[ VP [</a:t>
            </a:r>
            <a:r>
              <a:rPr lang="en-US" sz="2772" b="1" baseline="-25000">
                <a:solidFill>
                  <a:schemeClr val="dk1"/>
                </a:solidFill>
                <a:latin typeface="Calibri"/>
                <a:ea typeface="Calibri"/>
                <a:cs typeface="Calibri"/>
                <a:sym typeface="Calibri"/>
              </a:rPr>
              <a:t>  v</a:t>
            </a:r>
            <a:r>
              <a:rPr lang="en-US" sz="1800" b="1">
                <a:solidFill>
                  <a:schemeClr val="dk1"/>
                </a:solidFill>
                <a:latin typeface="Calibri"/>
                <a:ea typeface="Calibri"/>
                <a:cs typeface="Calibri"/>
                <a:sym typeface="Calibri"/>
              </a:rPr>
              <a:t> [</a:t>
            </a:r>
            <a:r>
              <a:rPr lang="en-US" sz="1400" b="1">
                <a:solidFill>
                  <a:schemeClr val="dk1"/>
                </a:solidFill>
                <a:latin typeface="Calibri"/>
                <a:ea typeface="Calibri"/>
                <a:cs typeface="Calibri"/>
                <a:sym typeface="Calibri"/>
              </a:rPr>
              <a:t> </a:t>
            </a:r>
            <a:r>
              <a:rPr lang="en-US" sz="2589" b="1" baseline="-25000">
                <a:solidFill>
                  <a:schemeClr val="dk1"/>
                </a:solidFill>
                <a:latin typeface="Calibri"/>
                <a:ea typeface="Calibri"/>
                <a:cs typeface="Calibri"/>
                <a:sym typeface="Calibri"/>
              </a:rPr>
              <a:t>v </a:t>
            </a:r>
            <a:r>
              <a:rPr lang="en-US" sz="1800" b="1">
                <a:solidFill>
                  <a:schemeClr val="dk1"/>
                </a:solidFill>
                <a:latin typeface="Calibri"/>
                <a:ea typeface="Calibri"/>
                <a:cs typeface="Calibri"/>
                <a:sym typeface="Calibri"/>
              </a:rPr>
              <a:t>ate] [</a:t>
            </a:r>
            <a:r>
              <a:rPr lang="en-US" sz="1956" b="1" baseline="-25000">
                <a:solidFill>
                  <a:schemeClr val="dk1"/>
                </a:solidFill>
                <a:latin typeface="Calibri"/>
                <a:ea typeface="Calibri"/>
                <a:cs typeface="Calibri"/>
                <a:sym typeface="Calibri"/>
              </a:rPr>
              <a:t>NP</a:t>
            </a:r>
            <a:r>
              <a:rPr lang="en-US" sz="1800" b="1">
                <a:solidFill>
                  <a:schemeClr val="dk1"/>
                </a:solidFill>
                <a:latin typeface="Calibri"/>
                <a:ea typeface="Calibri"/>
                <a:cs typeface="Calibri"/>
                <a:sym typeface="Calibri"/>
              </a:rPr>
              <a:t> the food ] ] [</a:t>
            </a:r>
            <a:r>
              <a:rPr lang="en-US" sz="2264" b="1" baseline="-25000">
                <a:solidFill>
                  <a:schemeClr val="dk1"/>
                </a:solidFill>
                <a:latin typeface="Calibri"/>
                <a:ea typeface="Calibri"/>
                <a:cs typeface="Calibri"/>
                <a:sym typeface="Calibri"/>
              </a:rPr>
              <a:t>PP</a:t>
            </a:r>
            <a:r>
              <a:rPr lang="en-US" sz="1800" b="1">
                <a:solidFill>
                  <a:schemeClr val="dk1"/>
                </a:solidFill>
                <a:latin typeface="Calibri"/>
                <a:ea typeface="Calibri"/>
                <a:cs typeface="Calibri"/>
                <a:sym typeface="Calibri"/>
              </a:rPr>
              <a:t> in a dhaba ] ]</a:t>
            </a:r>
            <a:endParaRPr sz="1800" b="1">
              <a:solidFill>
                <a:schemeClr val="dk1"/>
              </a:solidFill>
              <a:latin typeface="Calibri"/>
              <a:ea typeface="Calibri"/>
              <a:cs typeface="Calibri"/>
              <a:sym typeface="Calibri"/>
            </a:endParaRPr>
          </a:p>
          <a:p>
            <a:pPr marL="0" lvl="0" indent="0" algn="l" rtl="0">
              <a:lnSpc>
                <a:spcPct val="110000"/>
              </a:lnSpc>
              <a:spcBef>
                <a:spcPts val="700"/>
              </a:spcBef>
              <a:spcAft>
                <a:spcPts val="0"/>
              </a:spcAft>
              <a:buSzPct val="100000"/>
              <a:buNone/>
            </a:pPr>
            <a:endParaRPr sz="1800">
              <a:latin typeface="Calibri"/>
              <a:ea typeface="Calibri"/>
              <a:cs typeface="Calibri"/>
              <a:sym typeface="Calibri"/>
            </a:endParaRPr>
          </a:p>
          <a:p>
            <a:pPr marL="0" lvl="0" indent="0" algn="l" rtl="0">
              <a:lnSpc>
                <a:spcPct val="110000"/>
              </a:lnSpc>
              <a:spcBef>
                <a:spcPts val="700"/>
              </a:spcBef>
              <a:spcAft>
                <a:spcPts val="0"/>
              </a:spcAft>
              <a:buSzPct val="100000"/>
              <a:buNone/>
            </a:pPr>
            <a:endParaRPr sz="1800">
              <a:latin typeface="Calibri"/>
              <a:ea typeface="Calibri"/>
              <a:cs typeface="Calibri"/>
              <a:sym typeface="Calibri"/>
            </a:endParaRPr>
          </a:p>
          <a:p>
            <a:pPr marL="0" lvl="0" indent="0" algn="l" rtl="0">
              <a:lnSpc>
                <a:spcPct val="110000"/>
              </a:lnSpc>
              <a:spcBef>
                <a:spcPts val="700"/>
              </a:spcBef>
              <a:spcAft>
                <a:spcPts val="0"/>
              </a:spcAft>
              <a:buSzPct val="100000"/>
              <a:buNone/>
            </a:pPr>
            <a:endParaRPr sz="1800">
              <a:latin typeface="Calibri"/>
              <a:ea typeface="Calibri"/>
              <a:cs typeface="Calibri"/>
              <a:sym typeface="Calibri"/>
            </a:endParaRPr>
          </a:p>
          <a:p>
            <a:pPr marL="0" lvl="0" indent="0" algn="l" rtl="0">
              <a:lnSpc>
                <a:spcPct val="110000"/>
              </a:lnSpc>
              <a:spcBef>
                <a:spcPts val="700"/>
              </a:spcBef>
              <a:spcAft>
                <a:spcPts val="0"/>
              </a:spcAft>
              <a:buSzPct val="100000"/>
              <a:buNone/>
            </a:pPr>
            <a:endParaRPr sz="1800">
              <a:latin typeface="Calibri"/>
              <a:ea typeface="Calibri"/>
              <a:cs typeface="Calibri"/>
              <a:sym typeface="Calibri"/>
            </a:endParaRPr>
          </a:p>
          <a:p>
            <a:pPr marL="0" lvl="0" indent="0" algn="l" rtl="0">
              <a:lnSpc>
                <a:spcPct val="110000"/>
              </a:lnSpc>
              <a:spcBef>
                <a:spcPts val="700"/>
              </a:spcBef>
              <a:spcAft>
                <a:spcPts val="0"/>
              </a:spcAft>
              <a:buSzPct val="100000"/>
              <a:buNone/>
            </a:pPr>
            <a:endParaRPr sz="1800">
              <a:latin typeface="Calibri"/>
              <a:ea typeface="Calibri"/>
              <a:cs typeface="Calibri"/>
              <a:sym typeface="Calibri"/>
            </a:endParaRPr>
          </a:p>
          <a:p>
            <a:pPr marL="0" lvl="0" indent="0" algn="l" rtl="0">
              <a:lnSpc>
                <a:spcPct val="110000"/>
              </a:lnSpc>
              <a:spcBef>
                <a:spcPts val="700"/>
              </a:spcBef>
              <a:spcAft>
                <a:spcPts val="0"/>
              </a:spcAft>
              <a:buSzPct val="100000"/>
              <a:buNone/>
            </a:pPr>
            <a:endParaRPr/>
          </a:p>
          <a:p>
            <a:pPr marL="0" lvl="0" indent="0" algn="l" rtl="0">
              <a:lnSpc>
                <a:spcPct val="110000"/>
              </a:lnSpc>
              <a:spcBef>
                <a:spcPts val="700"/>
              </a:spcBef>
              <a:spcAft>
                <a:spcPts val="0"/>
              </a:spcAft>
              <a:buSzPct val="100000"/>
              <a:buNone/>
            </a:pPr>
            <a:endParaRPr>
              <a:latin typeface="Calibri"/>
              <a:ea typeface="Calibri"/>
              <a:cs typeface="Calibri"/>
              <a:sym typeface="Calibri"/>
            </a:endParaRPr>
          </a:p>
          <a:p>
            <a:pPr marL="0" lvl="0" indent="0" algn="l" rtl="0">
              <a:lnSpc>
                <a:spcPct val="110000"/>
              </a:lnSpc>
              <a:spcBef>
                <a:spcPts val="700"/>
              </a:spcBef>
              <a:spcAft>
                <a:spcPts val="0"/>
              </a:spcAft>
              <a:buSzPct val="100000"/>
              <a:buNone/>
            </a:pPr>
            <a:endParaRPr sz="1800">
              <a:latin typeface="Calibri"/>
              <a:ea typeface="Calibri"/>
              <a:cs typeface="Calibri"/>
              <a:sym typeface="Calibri"/>
            </a:endParaRPr>
          </a:p>
          <a:p>
            <a:pPr marL="457200" lvl="0" indent="0" algn="l" rtl="0">
              <a:lnSpc>
                <a:spcPct val="115000"/>
              </a:lnSpc>
              <a:spcBef>
                <a:spcPts val="700"/>
              </a:spcBef>
              <a:spcAft>
                <a:spcPts val="0"/>
              </a:spcAft>
              <a:buSzPct val="100000"/>
              <a:buNone/>
            </a:pPr>
            <a:endParaRPr sz="1800">
              <a:latin typeface="Calibri"/>
              <a:ea typeface="Calibri"/>
              <a:cs typeface="Calibri"/>
              <a:sym typeface="Calibri"/>
            </a:endParaRPr>
          </a:p>
          <a:p>
            <a:pPr marL="0" lvl="0" indent="0" algn="l" rtl="0">
              <a:lnSpc>
                <a:spcPct val="110000"/>
              </a:lnSpc>
              <a:spcBef>
                <a:spcPts val="700"/>
              </a:spcBef>
              <a:spcAft>
                <a:spcPts val="0"/>
              </a:spcAft>
              <a:buClr>
                <a:schemeClr val="dk1"/>
              </a:buClr>
              <a:buSzPct val="100000"/>
              <a:buFont typeface="Arial"/>
              <a:buNone/>
            </a:pPr>
            <a:endParaRPr sz="2800">
              <a:latin typeface="Calibri"/>
              <a:ea typeface="Calibri"/>
              <a:cs typeface="Calibri"/>
              <a:sym typeface="Calibri"/>
            </a:endParaRPr>
          </a:p>
          <a:p>
            <a:pPr marL="0" lvl="0" indent="0" algn="l" rtl="0">
              <a:lnSpc>
                <a:spcPct val="110000"/>
              </a:lnSpc>
              <a:spcBef>
                <a:spcPts val="700"/>
              </a:spcBef>
              <a:spcAft>
                <a:spcPts val="0"/>
              </a:spcAft>
              <a:buClr>
                <a:schemeClr val="dk1"/>
              </a:buClr>
              <a:buSzPct val="100000"/>
              <a:buFont typeface="Arial"/>
              <a:buNone/>
            </a:pPr>
            <a:endParaRPr sz="2800">
              <a:latin typeface="Calibri"/>
              <a:ea typeface="Calibri"/>
              <a:cs typeface="Calibri"/>
              <a:sym typeface="Calibri"/>
            </a:endParaRPr>
          </a:p>
          <a:p>
            <a:pPr marL="0" lvl="0" indent="0" algn="l" rtl="0">
              <a:lnSpc>
                <a:spcPct val="110000"/>
              </a:lnSpc>
              <a:spcBef>
                <a:spcPts val="700"/>
              </a:spcBef>
              <a:spcAft>
                <a:spcPts val="0"/>
              </a:spcAft>
              <a:buClr>
                <a:schemeClr val="dk1"/>
              </a:buClr>
              <a:buSzPct val="100000"/>
              <a:buFont typeface="Arial"/>
              <a:buNone/>
            </a:pPr>
            <a:r>
              <a:rPr lang="en-US" sz="2800">
                <a:latin typeface="Calibri"/>
                <a:ea typeface="Calibri"/>
                <a:cs typeface="Calibri"/>
                <a:sym typeface="Calibri"/>
              </a:rPr>
              <a:t>TRY!!!</a:t>
            </a:r>
            <a:endParaRPr/>
          </a:p>
          <a:p>
            <a:pPr marL="0" lvl="0" indent="0" algn="l" rtl="0">
              <a:lnSpc>
                <a:spcPct val="110000"/>
              </a:lnSpc>
              <a:spcBef>
                <a:spcPts val="700"/>
              </a:spcBef>
              <a:spcAft>
                <a:spcPts val="0"/>
              </a:spcAft>
              <a:buClr>
                <a:schemeClr val="dk1"/>
              </a:buClr>
              <a:buSzPct val="100000"/>
              <a:buFont typeface="Arial"/>
              <a:buNone/>
            </a:pPr>
            <a:r>
              <a:rPr lang="en-US">
                <a:latin typeface="Calibri"/>
                <a:ea typeface="Calibri"/>
                <a:cs typeface="Calibri"/>
                <a:sym typeface="Calibri"/>
              </a:rPr>
              <a:t>Will do my home</a:t>
            </a:r>
            <a:endParaRPr>
              <a:highlight>
                <a:srgbClr val="00FF00"/>
              </a:highlight>
            </a:endParaRPr>
          </a:p>
        </p:txBody>
      </p:sp>
      <p:cxnSp>
        <p:nvCxnSpPr>
          <p:cNvPr id="594" name="Google Shape;594;g15fa291c0c5_0_33"/>
          <p:cNvCxnSpPr/>
          <p:nvPr/>
        </p:nvCxnSpPr>
        <p:spPr>
          <a:xfrm>
            <a:off x="1743975" y="1997825"/>
            <a:ext cx="129300" cy="0"/>
          </a:xfrm>
          <a:prstGeom prst="straightConnector1">
            <a:avLst/>
          </a:prstGeom>
          <a:noFill/>
          <a:ln w="19050" cap="flat" cmpd="sng">
            <a:solidFill>
              <a:srgbClr val="000000"/>
            </a:solidFill>
            <a:prstDash val="solid"/>
            <a:round/>
            <a:headEnd type="none" w="sm" len="sm"/>
            <a:tailEnd type="none" w="sm" len="sm"/>
          </a:ln>
        </p:spPr>
      </p:cxnSp>
      <p:pic>
        <p:nvPicPr>
          <p:cNvPr id="595" name="Google Shape;595;g15fa291c0c5_0_33"/>
          <p:cNvPicPr preferRelativeResize="0"/>
          <p:nvPr/>
        </p:nvPicPr>
        <p:blipFill rotWithShape="1">
          <a:blip r:embed="rId3">
            <a:alphaModFix/>
          </a:blip>
          <a:srcRect/>
          <a:stretch/>
        </p:blipFill>
        <p:spPr>
          <a:xfrm>
            <a:off x="5313950" y="1971276"/>
            <a:ext cx="6116050" cy="340662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g15fa291c0c5_0_55"/>
          <p:cNvSpPr txBox="1">
            <a:spLocks noGrp="1"/>
          </p:cNvSpPr>
          <p:nvPr>
            <p:ph type="title"/>
          </p:nvPr>
        </p:nvSpPr>
        <p:spPr>
          <a:xfrm>
            <a:off x="1251678" y="382385"/>
            <a:ext cx="10178400" cy="7074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601" name="Google Shape;601;g15fa291c0c5_0_55"/>
          <p:cNvSpPr txBox="1">
            <a:spLocks noGrp="1"/>
          </p:cNvSpPr>
          <p:nvPr>
            <p:ph type="body" idx="1"/>
          </p:nvPr>
        </p:nvSpPr>
        <p:spPr>
          <a:xfrm>
            <a:off x="1175478" y="1089891"/>
            <a:ext cx="10178400" cy="55971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000"/>
              <a:buNone/>
            </a:pPr>
            <a:r>
              <a:rPr lang="en-US" b="1">
                <a:highlight>
                  <a:srgbClr val="00FF00"/>
                </a:highlight>
              </a:rPr>
              <a:t>2. VP</a:t>
            </a:r>
            <a:endParaRPr b="1"/>
          </a:p>
          <a:p>
            <a:pPr marL="0" lvl="0" indent="0" algn="l" rtl="0">
              <a:lnSpc>
                <a:spcPct val="110000"/>
              </a:lnSpc>
              <a:spcBef>
                <a:spcPts val="700"/>
              </a:spcBef>
              <a:spcAft>
                <a:spcPts val="0"/>
              </a:spcAft>
              <a:buSzPts val="1800"/>
              <a:buNone/>
            </a:pPr>
            <a:r>
              <a:rPr lang="en-US" sz="1800" b="1">
                <a:solidFill>
                  <a:srgbClr val="FF0000"/>
                </a:solidFill>
                <a:latin typeface="Calibri"/>
                <a:ea typeface="Calibri"/>
                <a:cs typeface="Calibri"/>
                <a:sym typeface="Calibri"/>
              </a:rPr>
              <a:t>will do my homework</a:t>
            </a:r>
            <a:endParaRPr sz="1800" b="1">
              <a:solidFill>
                <a:srgbClr val="FF0000"/>
              </a:solidFill>
              <a:latin typeface="Calibri"/>
              <a:ea typeface="Calibri"/>
              <a:cs typeface="Calibri"/>
              <a:sym typeface="Calibri"/>
            </a:endParaRPr>
          </a:p>
          <a:p>
            <a:pPr marL="0" lvl="0" indent="0" algn="l" rtl="0">
              <a:lnSpc>
                <a:spcPct val="110000"/>
              </a:lnSpc>
              <a:spcBef>
                <a:spcPts val="700"/>
              </a:spcBef>
              <a:spcAft>
                <a:spcPts val="0"/>
              </a:spcAft>
              <a:buSzPts val="1800"/>
              <a:buNone/>
            </a:pPr>
            <a:r>
              <a:rPr lang="en-US" sz="1800" b="1">
                <a:solidFill>
                  <a:schemeClr val="dk1"/>
                </a:solidFill>
                <a:latin typeface="Calibri"/>
                <a:ea typeface="Calibri"/>
                <a:cs typeface="Calibri"/>
                <a:sym typeface="Calibri"/>
              </a:rPr>
              <a:t>[</a:t>
            </a:r>
            <a:r>
              <a:rPr lang="en-US" sz="1800" b="1" baseline="-25000">
                <a:solidFill>
                  <a:schemeClr val="dk1"/>
                </a:solidFill>
                <a:latin typeface="Calibri"/>
                <a:ea typeface="Calibri"/>
                <a:cs typeface="Calibri"/>
                <a:sym typeface="Calibri"/>
              </a:rPr>
              <a:t>vp</a:t>
            </a:r>
            <a:r>
              <a:rPr lang="en-US" sz="1800" b="1">
                <a:solidFill>
                  <a:schemeClr val="dk1"/>
                </a:solidFill>
                <a:latin typeface="Calibri"/>
                <a:ea typeface="Calibri"/>
                <a:cs typeface="Calibri"/>
                <a:sym typeface="Calibri"/>
              </a:rPr>
              <a:t>[</a:t>
            </a:r>
            <a:r>
              <a:rPr lang="en-US" sz="1800" b="1" baseline="-25000">
                <a:solidFill>
                  <a:schemeClr val="dk1"/>
                </a:solidFill>
                <a:latin typeface="Calibri"/>
                <a:ea typeface="Calibri"/>
                <a:cs typeface="Calibri"/>
                <a:sym typeface="Calibri"/>
              </a:rPr>
              <a:t>spec</a:t>
            </a:r>
            <a:r>
              <a:rPr lang="en-US" sz="1800" b="1">
                <a:solidFill>
                  <a:schemeClr val="dk1"/>
                </a:solidFill>
                <a:latin typeface="Calibri"/>
                <a:ea typeface="Calibri"/>
                <a:cs typeface="Calibri"/>
                <a:sym typeface="Calibri"/>
              </a:rPr>
              <a:t>will] [</a:t>
            </a:r>
            <a:r>
              <a:rPr lang="en-US" sz="1800" b="1" baseline="-25000">
                <a:solidFill>
                  <a:schemeClr val="dk1"/>
                </a:solidFill>
                <a:latin typeface="Calibri"/>
                <a:ea typeface="Calibri"/>
                <a:cs typeface="Calibri"/>
                <a:sym typeface="Calibri"/>
              </a:rPr>
              <a:t>v’</a:t>
            </a:r>
            <a:r>
              <a:rPr lang="en-US" sz="1800" b="1">
                <a:solidFill>
                  <a:schemeClr val="dk1"/>
                </a:solidFill>
                <a:latin typeface="Calibri"/>
                <a:ea typeface="Calibri"/>
                <a:cs typeface="Calibri"/>
                <a:sym typeface="Calibri"/>
              </a:rPr>
              <a:t>[</a:t>
            </a:r>
            <a:r>
              <a:rPr lang="en-US" sz="1800" b="1" baseline="-25000">
                <a:solidFill>
                  <a:schemeClr val="dk1"/>
                </a:solidFill>
                <a:latin typeface="Calibri"/>
                <a:ea typeface="Calibri"/>
                <a:cs typeface="Calibri"/>
                <a:sym typeface="Calibri"/>
              </a:rPr>
              <a:t>v</a:t>
            </a:r>
            <a:r>
              <a:rPr lang="en-US" sz="1800" b="1">
                <a:solidFill>
                  <a:schemeClr val="dk1"/>
                </a:solidFill>
                <a:latin typeface="Calibri"/>
                <a:ea typeface="Calibri"/>
                <a:cs typeface="Calibri"/>
                <a:sym typeface="Calibri"/>
              </a:rPr>
              <a:t> do] [</a:t>
            </a:r>
            <a:r>
              <a:rPr lang="en-US" sz="1800" b="1" baseline="-25000">
                <a:solidFill>
                  <a:schemeClr val="dk1"/>
                </a:solidFill>
                <a:latin typeface="Calibri"/>
                <a:ea typeface="Calibri"/>
                <a:cs typeface="Calibri"/>
                <a:sym typeface="Calibri"/>
              </a:rPr>
              <a:t>np</a:t>
            </a:r>
            <a:r>
              <a:rPr lang="en-US" sz="1800" b="1">
                <a:solidFill>
                  <a:schemeClr val="dk1"/>
                </a:solidFill>
                <a:latin typeface="Calibri"/>
                <a:ea typeface="Calibri"/>
                <a:cs typeface="Calibri"/>
                <a:sym typeface="Calibri"/>
              </a:rPr>
              <a:t>my homework] ] ]</a:t>
            </a:r>
            <a:endParaRPr sz="1800" b="1">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b="1">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457200" lvl="0" indent="0" algn="l" rtl="0">
              <a:lnSpc>
                <a:spcPct val="115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Clr>
                <a:schemeClr val="dk1"/>
              </a:buClr>
              <a:buSzPts val="2800"/>
              <a:buFont typeface="Arial"/>
              <a:buNone/>
            </a:pPr>
            <a:endParaRPr sz="2800">
              <a:latin typeface="Calibri"/>
              <a:ea typeface="Calibri"/>
              <a:cs typeface="Calibri"/>
              <a:sym typeface="Calibri"/>
            </a:endParaRPr>
          </a:p>
          <a:p>
            <a:pPr marL="0" lvl="0" indent="0" algn="l" rtl="0">
              <a:lnSpc>
                <a:spcPct val="110000"/>
              </a:lnSpc>
              <a:spcBef>
                <a:spcPts val="700"/>
              </a:spcBef>
              <a:spcAft>
                <a:spcPts val="0"/>
              </a:spcAft>
              <a:buClr>
                <a:schemeClr val="dk1"/>
              </a:buClr>
              <a:buSzPts val="2800"/>
              <a:buFont typeface="Arial"/>
              <a:buNone/>
            </a:pPr>
            <a:endParaRPr sz="2800">
              <a:latin typeface="Calibri"/>
              <a:ea typeface="Calibri"/>
              <a:cs typeface="Calibri"/>
              <a:sym typeface="Calibri"/>
            </a:endParaRPr>
          </a:p>
          <a:p>
            <a:pPr marL="0" lvl="0" indent="0" algn="l" rtl="0">
              <a:lnSpc>
                <a:spcPct val="110000"/>
              </a:lnSpc>
              <a:spcBef>
                <a:spcPts val="700"/>
              </a:spcBef>
              <a:spcAft>
                <a:spcPts val="0"/>
              </a:spcAft>
              <a:buClr>
                <a:schemeClr val="dk1"/>
              </a:buClr>
              <a:buSzPts val="2000"/>
              <a:buFont typeface="Arial"/>
              <a:buNone/>
            </a:pPr>
            <a:endParaRPr>
              <a:highlight>
                <a:srgbClr val="00FF00"/>
              </a:highlight>
            </a:endParaRPr>
          </a:p>
        </p:txBody>
      </p:sp>
      <p:pic>
        <p:nvPicPr>
          <p:cNvPr id="602" name="Google Shape;602;g15fa291c0c5_0_55"/>
          <p:cNvPicPr preferRelativeResize="0"/>
          <p:nvPr/>
        </p:nvPicPr>
        <p:blipFill rotWithShape="1">
          <a:blip r:embed="rId3">
            <a:alphaModFix/>
          </a:blip>
          <a:srcRect/>
          <a:stretch/>
        </p:blipFill>
        <p:spPr>
          <a:xfrm>
            <a:off x="5156900" y="2058603"/>
            <a:ext cx="4935200" cy="336617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15fa291c0c5_0_40"/>
          <p:cNvSpPr txBox="1">
            <a:spLocks noGrp="1"/>
          </p:cNvSpPr>
          <p:nvPr>
            <p:ph type="title"/>
          </p:nvPr>
        </p:nvSpPr>
        <p:spPr>
          <a:xfrm>
            <a:off x="1251678" y="382385"/>
            <a:ext cx="10178400" cy="6705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608" name="Google Shape;608;g15fa291c0c5_0_40"/>
          <p:cNvSpPr txBox="1">
            <a:spLocks noGrp="1"/>
          </p:cNvSpPr>
          <p:nvPr>
            <p:ph type="body" idx="1"/>
          </p:nvPr>
        </p:nvSpPr>
        <p:spPr>
          <a:xfrm>
            <a:off x="1251675" y="1052951"/>
            <a:ext cx="10178400" cy="57036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000"/>
              <a:buNone/>
            </a:pPr>
            <a:r>
              <a:rPr lang="en-US" b="1">
                <a:highlight>
                  <a:srgbClr val="00FF00"/>
                </a:highlight>
              </a:rPr>
              <a:t>3.AP</a:t>
            </a:r>
            <a:endParaRPr b="1"/>
          </a:p>
          <a:p>
            <a:pPr marL="0" lvl="0" indent="0" algn="l" rtl="0">
              <a:lnSpc>
                <a:spcPct val="110000"/>
              </a:lnSpc>
              <a:spcBef>
                <a:spcPts val="700"/>
              </a:spcBef>
              <a:spcAft>
                <a:spcPts val="0"/>
              </a:spcAft>
              <a:buSzPts val="1800"/>
              <a:buNone/>
            </a:pPr>
            <a:r>
              <a:rPr lang="en-US" sz="1800" b="1">
                <a:solidFill>
                  <a:srgbClr val="FF0000"/>
                </a:solidFill>
                <a:latin typeface="Calibri"/>
                <a:ea typeface="Calibri"/>
                <a:cs typeface="Calibri"/>
                <a:sym typeface="Calibri"/>
              </a:rPr>
              <a:t>Very proud of his country</a:t>
            </a:r>
            <a:endParaRPr b="1"/>
          </a:p>
          <a:p>
            <a:pPr marL="0" lvl="0" indent="0" algn="l" rtl="0">
              <a:lnSpc>
                <a:spcPct val="110000"/>
              </a:lnSpc>
              <a:spcBef>
                <a:spcPts val="700"/>
              </a:spcBef>
              <a:spcAft>
                <a:spcPts val="0"/>
              </a:spcAft>
              <a:buSzPts val="1800"/>
              <a:buNone/>
            </a:pPr>
            <a:r>
              <a:rPr lang="en-US" sz="1800">
                <a:solidFill>
                  <a:srgbClr val="1A1A1A"/>
                </a:solidFill>
                <a:latin typeface="Calibri"/>
                <a:ea typeface="Calibri"/>
                <a:cs typeface="Calibri"/>
                <a:sym typeface="Calibri"/>
              </a:rPr>
              <a:t>[</a:t>
            </a:r>
            <a:r>
              <a:rPr lang="en-US" baseline="-25000">
                <a:solidFill>
                  <a:srgbClr val="1A1A1A"/>
                </a:solidFill>
                <a:latin typeface="Calibri"/>
                <a:ea typeface="Calibri"/>
                <a:cs typeface="Calibri"/>
                <a:sym typeface="Calibri"/>
              </a:rPr>
              <a:t>AP</a:t>
            </a:r>
            <a:r>
              <a:rPr lang="en-US" sz="1400">
                <a:solidFill>
                  <a:srgbClr val="1A1A1A"/>
                </a:solidFill>
                <a:latin typeface="Calibri"/>
                <a:ea typeface="Calibri"/>
                <a:cs typeface="Calibri"/>
                <a:sym typeface="Calibri"/>
              </a:rPr>
              <a:t> </a:t>
            </a:r>
            <a:r>
              <a:rPr lang="en-US" sz="1800">
                <a:solidFill>
                  <a:srgbClr val="1A1A1A"/>
                </a:solidFill>
                <a:latin typeface="Calibri"/>
                <a:ea typeface="Calibri"/>
                <a:cs typeface="Calibri"/>
                <a:sym typeface="Calibri"/>
              </a:rPr>
              <a:t>[</a:t>
            </a:r>
            <a:r>
              <a:rPr lang="en-US" sz="2100" baseline="-25000">
                <a:solidFill>
                  <a:srgbClr val="1A1A1A"/>
                </a:solidFill>
                <a:latin typeface="Calibri"/>
                <a:ea typeface="Calibri"/>
                <a:cs typeface="Calibri"/>
                <a:sym typeface="Calibri"/>
              </a:rPr>
              <a:t>Deg</a:t>
            </a:r>
            <a:r>
              <a:rPr lang="en-US" sz="1800">
                <a:solidFill>
                  <a:srgbClr val="1A1A1A"/>
                </a:solidFill>
                <a:latin typeface="Calibri"/>
                <a:ea typeface="Calibri"/>
                <a:cs typeface="Calibri"/>
                <a:sym typeface="Calibri"/>
              </a:rPr>
              <a:t> Very ] [</a:t>
            </a:r>
            <a:r>
              <a:rPr lang="en-US" sz="1800" baseline="-25000">
                <a:solidFill>
                  <a:srgbClr val="1A1A1A"/>
                </a:solidFill>
                <a:latin typeface="Calibri"/>
                <a:ea typeface="Calibri"/>
                <a:cs typeface="Calibri"/>
                <a:sym typeface="Calibri"/>
              </a:rPr>
              <a:t> </a:t>
            </a:r>
            <a:r>
              <a:rPr lang="en-US" sz="2100" baseline="-25000">
                <a:solidFill>
                  <a:srgbClr val="1A1A1A"/>
                </a:solidFill>
                <a:latin typeface="Calibri"/>
                <a:ea typeface="Calibri"/>
                <a:cs typeface="Calibri"/>
                <a:sym typeface="Calibri"/>
              </a:rPr>
              <a:t>A  </a:t>
            </a:r>
            <a:r>
              <a:rPr lang="en-US" sz="1800">
                <a:solidFill>
                  <a:srgbClr val="1A1A1A"/>
                </a:solidFill>
                <a:latin typeface="Calibri"/>
                <a:ea typeface="Calibri"/>
                <a:cs typeface="Calibri"/>
                <a:sym typeface="Calibri"/>
              </a:rPr>
              <a:t>[</a:t>
            </a:r>
            <a:r>
              <a:rPr lang="en-US" sz="2100" baseline="-25000">
                <a:solidFill>
                  <a:srgbClr val="1A1A1A"/>
                </a:solidFill>
                <a:latin typeface="Calibri"/>
                <a:ea typeface="Calibri"/>
                <a:cs typeface="Calibri"/>
                <a:sym typeface="Calibri"/>
              </a:rPr>
              <a:t>A</a:t>
            </a:r>
            <a:r>
              <a:rPr lang="en-US" sz="1800">
                <a:solidFill>
                  <a:srgbClr val="1A1A1A"/>
                </a:solidFill>
                <a:latin typeface="Calibri"/>
                <a:ea typeface="Calibri"/>
                <a:cs typeface="Calibri"/>
                <a:sym typeface="Calibri"/>
              </a:rPr>
              <a:t>proud] [</a:t>
            </a:r>
            <a:r>
              <a:rPr lang="en-US" sz="2300" baseline="-25000">
                <a:solidFill>
                  <a:srgbClr val="1A1A1A"/>
                </a:solidFill>
                <a:latin typeface="Calibri"/>
                <a:ea typeface="Calibri"/>
                <a:cs typeface="Calibri"/>
                <a:sym typeface="Calibri"/>
              </a:rPr>
              <a:t>PP</a:t>
            </a:r>
            <a:r>
              <a:rPr lang="en-US" sz="1800">
                <a:solidFill>
                  <a:srgbClr val="1A1A1A"/>
                </a:solidFill>
                <a:latin typeface="Calibri"/>
                <a:ea typeface="Calibri"/>
                <a:cs typeface="Calibri"/>
                <a:sym typeface="Calibri"/>
              </a:rPr>
              <a:t> of his country] ] ]</a:t>
            </a:r>
            <a:endParaRPr>
              <a:solidFill>
                <a:srgbClr val="1A1A1A"/>
              </a:solidFill>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a:p>
          <a:p>
            <a:pPr marL="0" lvl="0" indent="0" algn="l" rtl="0">
              <a:lnSpc>
                <a:spcPct val="110000"/>
              </a:lnSpc>
              <a:spcBef>
                <a:spcPts val="700"/>
              </a:spcBef>
              <a:spcAft>
                <a:spcPts val="0"/>
              </a:spcAft>
              <a:buSzPts val="2000"/>
              <a:buNone/>
            </a:pPr>
            <a:endParaRPr>
              <a:solidFill>
                <a:schemeClr val="dk1"/>
              </a:solidFill>
            </a:endParaRPr>
          </a:p>
        </p:txBody>
      </p:sp>
      <p:cxnSp>
        <p:nvCxnSpPr>
          <p:cNvPr id="609" name="Google Shape;609;g15fa291c0c5_0_40"/>
          <p:cNvCxnSpPr/>
          <p:nvPr/>
        </p:nvCxnSpPr>
        <p:spPr>
          <a:xfrm>
            <a:off x="2659698" y="2127384"/>
            <a:ext cx="156900" cy="0"/>
          </a:xfrm>
          <a:prstGeom prst="straightConnector1">
            <a:avLst/>
          </a:prstGeom>
          <a:noFill/>
          <a:ln w="19050" cap="flat" cmpd="sng">
            <a:solidFill>
              <a:srgbClr val="000000"/>
            </a:solidFill>
            <a:prstDash val="solid"/>
            <a:round/>
            <a:headEnd type="none" w="sm" len="sm"/>
            <a:tailEnd type="none" w="sm" len="sm"/>
          </a:ln>
        </p:spPr>
      </p:cxnSp>
      <p:pic>
        <p:nvPicPr>
          <p:cNvPr id="610" name="Google Shape;610;g15fa291c0c5_0_40"/>
          <p:cNvPicPr preferRelativeResize="0"/>
          <p:nvPr/>
        </p:nvPicPr>
        <p:blipFill rotWithShape="1">
          <a:blip r:embed="rId3">
            <a:alphaModFix/>
          </a:blip>
          <a:srcRect/>
          <a:stretch/>
        </p:blipFill>
        <p:spPr>
          <a:xfrm>
            <a:off x="4338619" y="2395519"/>
            <a:ext cx="5238925" cy="30809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g15fa291c0c5_0_47"/>
          <p:cNvSpPr txBox="1">
            <a:spLocks noGrp="1"/>
          </p:cNvSpPr>
          <p:nvPr>
            <p:ph type="title"/>
          </p:nvPr>
        </p:nvSpPr>
        <p:spPr>
          <a:xfrm>
            <a:off x="1251678" y="382385"/>
            <a:ext cx="10178400" cy="7167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616" name="Google Shape;616;g15fa291c0c5_0_47"/>
          <p:cNvSpPr txBox="1">
            <a:spLocks noGrp="1"/>
          </p:cNvSpPr>
          <p:nvPr>
            <p:ph type="body" idx="1"/>
          </p:nvPr>
        </p:nvSpPr>
        <p:spPr>
          <a:xfrm>
            <a:off x="1251678" y="1099127"/>
            <a:ext cx="10178400" cy="53766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000"/>
              <a:buNone/>
            </a:pPr>
            <a:r>
              <a:rPr lang="en-US" b="1">
                <a:highlight>
                  <a:srgbClr val="00FF00"/>
                </a:highlight>
              </a:rPr>
              <a:t>4.PP</a:t>
            </a:r>
            <a:endParaRPr b="1"/>
          </a:p>
          <a:p>
            <a:pPr marL="0" lvl="0" indent="0" algn="l" rtl="0">
              <a:lnSpc>
                <a:spcPct val="110000"/>
              </a:lnSpc>
              <a:spcBef>
                <a:spcPts val="700"/>
              </a:spcBef>
              <a:spcAft>
                <a:spcPts val="0"/>
              </a:spcAft>
              <a:buSzPts val="2000"/>
              <a:buNone/>
            </a:pPr>
            <a:r>
              <a:rPr lang="en-US" b="1">
                <a:solidFill>
                  <a:srgbClr val="FF0000"/>
                </a:solidFill>
              </a:rPr>
              <a:t>in a dhaba</a:t>
            </a:r>
            <a:endParaRPr b="1">
              <a:solidFill>
                <a:srgbClr val="FF0000"/>
              </a:solidFill>
            </a:endParaRPr>
          </a:p>
          <a:p>
            <a:pPr marL="0" lvl="0" indent="0" algn="l" rtl="0">
              <a:lnSpc>
                <a:spcPct val="110000"/>
              </a:lnSpc>
              <a:spcBef>
                <a:spcPts val="700"/>
              </a:spcBef>
              <a:spcAft>
                <a:spcPts val="0"/>
              </a:spcAft>
              <a:buSzPts val="2000"/>
              <a:buNone/>
            </a:pPr>
            <a:r>
              <a:rPr lang="en-US"/>
              <a:t>[</a:t>
            </a:r>
            <a:r>
              <a:rPr lang="en-US" baseline="-25000"/>
              <a:t>PP</a:t>
            </a:r>
            <a:r>
              <a:rPr lang="en-US"/>
              <a:t> [ </a:t>
            </a:r>
            <a:r>
              <a:rPr lang="en-US" sz="2400" baseline="-25000"/>
              <a:t>P</a:t>
            </a:r>
            <a:r>
              <a:rPr lang="en-US"/>
              <a:t>  [ </a:t>
            </a:r>
            <a:r>
              <a:rPr lang="en-US" sz="2200" baseline="-25000"/>
              <a:t>P</a:t>
            </a:r>
            <a:r>
              <a:rPr lang="en-US"/>
              <a:t>in] [</a:t>
            </a:r>
            <a:r>
              <a:rPr lang="en-US" sz="1900" baseline="-25000"/>
              <a:t>NP</a:t>
            </a:r>
            <a:r>
              <a:rPr lang="en-US" sz="1100"/>
              <a:t> </a:t>
            </a:r>
            <a:r>
              <a:rPr lang="en-US"/>
              <a:t>[ </a:t>
            </a:r>
            <a:r>
              <a:rPr lang="en-US" sz="1700" baseline="-25000"/>
              <a:t>Det</a:t>
            </a:r>
            <a:r>
              <a:rPr lang="en-US" sz="2500" baseline="-25000"/>
              <a:t> </a:t>
            </a:r>
            <a:r>
              <a:rPr lang="en-US"/>
              <a:t>a][</a:t>
            </a:r>
            <a:r>
              <a:rPr lang="en-US" sz="2100" baseline="-25000"/>
              <a:t>N </a:t>
            </a:r>
            <a:r>
              <a:rPr lang="en-US"/>
              <a:t>dhaba ] ] ] ]</a:t>
            </a: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r>
              <a:rPr lang="en-US"/>
              <a:t>TRY!!!</a:t>
            </a:r>
            <a:endParaRPr/>
          </a:p>
          <a:p>
            <a:pPr marL="0" lvl="0" indent="0" algn="l" rtl="0">
              <a:lnSpc>
                <a:spcPct val="110000"/>
              </a:lnSpc>
              <a:spcBef>
                <a:spcPts val="700"/>
              </a:spcBef>
              <a:spcAft>
                <a:spcPts val="0"/>
              </a:spcAft>
              <a:buSzPts val="2000"/>
              <a:buNone/>
            </a:pPr>
            <a:r>
              <a:rPr lang="en-US"/>
              <a:t>from Hamilton</a:t>
            </a:r>
            <a:endParaRPr/>
          </a:p>
          <a:p>
            <a:pPr marL="0" lvl="0" indent="0" algn="l" rtl="0">
              <a:lnSpc>
                <a:spcPct val="110000"/>
              </a:lnSpc>
              <a:spcBef>
                <a:spcPts val="700"/>
              </a:spcBef>
              <a:spcAft>
                <a:spcPts val="0"/>
              </a:spcAft>
              <a:buSzPts val="2000"/>
              <a:buNone/>
            </a:pPr>
            <a:endParaRPr/>
          </a:p>
        </p:txBody>
      </p:sp>
      <p:cxnSp>
        <p:nvCxnSpPr>
          <p:cNvPr id="617" name="Google Shape;617;g15fa291c0c5_0_47"/>
          <p:cNvCxnSpPr/>
          <p:nvPr/>
        </p:nvCxnSpPr>
        <p:spPr>
          <a:xfrm>
            <a:off x="1810327" y="2145145"/>
            <a:ext cx="138600" cy="0"/>
          </a:xfrm>
          <a:prstGeom prst="straightConnector1">
            <a:avLst/>
          </a:prstGeom>
          <a:noFill/>
          <a:ln w="19050" cap="flat" cmpd="sng">
            <a:solidFill>
              <a:schemeClr val="dk1"/>
            </a:solidFill>
            <a:prstDash val="solid"/>
            <a:round/>
            <a:headEnd type="none" w="sm" len="sm"/>
            <a:tailEnd type="none" w="sm" len="sm"/>
          </a:ln>
        </p:spPr>
      </p:cxnSp>
      <p:pic>
        <p:nvPicPr>
          <p:cNvPr id="618" name="Google Shape;618;g15fa291c0c5_0_47"/>
          <p:cNvPicPr preferRelativeResize="0"/>
          <p:nvPr/>
        </p:nvPicPr>
        <p:blipFill rotWithShape="1">
          <a:blip r:embed="rId3">
            <a:alphaModFix/>
          </a:blip>
          <a:srcRect/>
          <a:stretch/>
        </p:blipFill>
        <p:spPr>
          <a:xfrm>
            <a:off x="4805903" y="2488877"/>
            <a:ext cx="5193950" cy="36670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g15fa291c0c5_0_61"/>
          <p:cNvSpPr txBox="1">
            <a:spLocks noGrp="1"/>
          </p:cNvSpPr>
          <p:nvPr>
            <p:ph type="title"/>
          </p:nvPr>
        </p:nvSpPr>
        <p:spPr>
          <a:xfrm>
            <a:off x="1251678" y="382385"/>
            <a:ext cx="10178400" cy="7167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624" name="Google Shape;624;g15fa291c0c5_0_61"/>
          <p:cNvSpPr txBox="1">
            <a:spLocks noGrp="1"/>
          </p:cNvSpPr>
          <p:nvPr>
            <p:ph type="body" idx="1"/>
          </p:nvPr>
        </p:nvSpPr>
        <p:spPr>
          <a:xfrm>
            <a:off x="1251678" y="1099127"/>
            <a:ext cx="10178400" cy="53766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000"/>
              <a:buNone/>
            </a:pPr>
            <a:r>
              <a:rPr lang="en-US" b="1">
                <a:highlight>
                  <a:srgbClr val="00FF00"/>
                </a:highlight>
              </a:rPr>
              <a:t>4.PP</a:t>
            </a:r>
            <a:endParaRPr b="1"/>
          </a:p>
          <a:p>
            <a:pPr marL="0" lvl="0" indent="0" algn="l" rtl="0">
              <a:lnSpc>
                <a:spcPct val="110000"/>
              </a:lnSpc>
              <a:spcBef>
                <a:spcPts val="700"/>
              </a:spcBef>
              <a:spcAft>
                <a:spcPts val="0"/>
              </a:spcAft>
              <a:buSzPts val="2000"/>
              <a:buNone/>
            </a:pPr>
            <a:r>
              <a:rPr lang="en-US" b="1">
                <a:solidFill>
                  <a:srgbClr val="FF0000"/>
                </a:solidFill>
              </a:rPr>
              <a:t>from Hamilton</a:t>
            </a:r>
            <a:endParaRPr b="1">
              <a:solidFill>
                <a:srgbClr val="FF0000"/>
              </a:solidFill>
            </a:endParaRPr>
          </a:p>
          <a:p>
            <a:pPr marL="0" lvl="0" indent="0" algn="l" rtl="0">
              <a:lnSpc>
                <a:spcPct val="110000"/>
              </a:lnSpc>
              <a:spcBef>
                <a:spcPts val="700"/>
              </a:spcBef>
              <a:spcAft>
                <a:spcPts val="0"/>
              </a:spcAft>
              <a:buSzPts val="2000"/>
              <a:buNone/>
            </a:pPr>
            <a:r>
              <a:rPr lang="en-US"/>
              <a:t>[</a:t>
            </a:r>
            <a:r>
              <a:rPr lang="en-US" baseline="-25000"/>
              <a:t>PP</a:t>
            </a:r>
            <a:r>
              <a:rPr lang="en-US"/>
              <a:t> [ </a:t>
            </a:r>
            <a:r>
              <a:rPr lang="en-US" sz="2400" baseline="-25000"/>
              <a:t>P</a:t>
            </a:r>
            <a:r>
              <a:rPr lang="en-US"/>
              <a:t>  [ </a:t>
            </a:r>
            <a:r>
              <a:rPr lang="en-US" sz="2200" baseline="-25000"/>
              <a:t>P</a:t>
            </a:r>
            <a:r>
              <a:rPr lang="en-US"/>
              <a:t>from] [</a:t>
            </a:r>
            <a:r>
              <a:rPr lang="en-US" sz="1900" baseline="-25000"/>
              <a:t>NP</a:t>
            </a:r>
            <a:r>
              <a:rPr lang="en-US" sz="1100"/>
              <a:t> </a:t>
            </a:r>
            <a:r>
              <a:rPr lang="en-US"/>
              <a:t>[</a:t>
            </a:r>
            <a:r>
              <a:rPr lang="en-US" sz="2100" baseline="-25000"/>
              <a:t>N’</a:t>
            </a:r>
            <a:r>
              <a:rPr lang="en-US"/>
              <a:t>[</a:t>
            </a:r>
            <a:r>
              <a:rPr lang="en-US" baseline="-25000"/>
              <a:t>N</a:t>
            </a:r>
            <a:r>
              <a:rPr lang="en-US"/>
              <a:t>Hamilton] ]] ] ]</a:t>
            </a: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endParaRPr/>
          </a:p>
          <a:p>
            <a:pPr marL="0" lvl="0" indent="0" algn="l" rtl="0">
              <a:lnSpc>
                <a:spcPct val="110000"/>
              </a:lnSpc>
              <a:spcBef>
                <a:spcPts val="700"/>
              </a:spcBef>
              <a:spcAft>
                <a:spcPts val="0"/>
              </a:spcAft>
              <a:buSzPts val="2000"/>
              <a:buNone/>
            </a:pPr>
            <a:r>
              <a:rPr lang="en-US"/>
              <a:t>TRY!!!</a:t>
            </a:r>
            <a:endParaRPr/>
          </a:p>
          <a:p>
            <a:pPr marL="0" lvl="0" indent="0" algn="l" rtl="0">
              <a:lnSpc>
                <a:spcPct val="110000"/>
              </a:lnSpc>
              <a:spcBef>
                <a:spcPts val="700"/>
              </a:spcBef>
              <a:spcAft>
                <a:spcPts val="0"/>
              </a:spcAft>
              <a:buSzPts val="2000"/>
              <a:buNone/>
            </a:pPr>
            <a:r>
              <a:rPr lang="en-US"/>
              <a:t>On the table</a:t>
            </a:r>
            <a:endParaRPr/>
          </a:p>
          <a:p>
            <a:pPr marL="0" lvl="0" indent="0" algn="l" rtl="0">
              <a:lnSpc>
                <a:spcPct val="110000"/>
              </a:lnSpc>
              <a:spcBef>
                <a:spcPts val="700"/>
              </a:spcBef>
              <a:spcAft>
                <a:spcPts val="0"/>
              </a:spcAft>
              <a:buSzPts val="2000"/>
              <a:buNone/>
            </a:pPr>
            <a:endParaRPr/>
          </a:p>
        </p:txBody>
      </p:sp>
      <p:cxnSp>
        <p:nvCxnSpPr>
          <p:cNvPr id="625" name="Google Shape;625;g15fa291c0c5_0_61"/>
          <p:cNvCxnSpPr/>
          <p:nvPr/>
        </p:nvCxnSpPr>
        <p:spPr>
          <a:xfrm>
            <a:off x="1810327" y="2145145"/>
            <a:ext cx="138600" cy="0"/>
          </a:xfrm>
          <a:prstGeom prst="straightConnector1">
            <a:avLst/>
          </a:prstGeom>
          <a:noFill/>
          <a:ln w="19050" cap="flat" cmpd="sng">
            <a:solidFill>
              <a:schemeClr val="dk1"/>
            </a:solidFill>
            <a:prstDash val="solid"/>
            <a:round/>
            <a:headEnd type="none" w="sm" len="sm"/>
            <a:tailEnd type="none" w="sm" len="sm"/>
          </a:ln>
        </p:spPr>
      </p:cxnSp>
      <p:pic>
        <p:nvPicPr>
          <p:cNvPr id="626" name="Google Shape;626;g15fa291c0c5_0_61"/>
          <p:cNvPicPr preferRelativeResize="0"/>
          <p:nvPr/>
        </p:nvPicPr>
        <p:blipFill rotWithShape="1">
          <a:blip r:embed="rId3">
            <a:alphaModFix/>
          </a:blip>
          <a:srcRect/>
          <a:stretch/>
        </p:blipFill>
        <p:spPr>
          <a:xfrm>
            <a:off x="7131250" y="2926838"/>
            <a:ext cx="1733550" cy="263842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41"/>
          <p:cNvSpPr txBox="1">
            <a:spLocks noGrp="1"/>
          </p:cNvSpPr>
          <p:nvPr>
            <p:ph type="title"/>
          </p:nvPr>
        </p:nvSpPr>
        <p:spPr>
          <a:xfrm>
            <a:off x="1251678" y="382385"/>
            <a:ext cx="10178322" cy="735215"/>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632" name="Google Shape;632;p41"/>
          <p:cNvSpPr txBox="1">
            <a:spLocks noGrp="1"/>
          </p:cNvSpPr>
          <p:nvPr>
            <p:ph type="body" idx="1"/>
          </p:nvPr>
        </p:nvSpPr>
        <p:spPr>
          <a:xfrm>
            <a:off x="1251678" y="1117601"/>
            <a:ext cx="10178400" cy="53580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000"/>
              <a:buNone/>
            </a:pPr>
            <a:r>
              <a:rPr lang="en-US" b="1">
                <a:highlight>
                  <a:srgbClr val="00FF00"/>
                </a:highlight>
              </a:rPr>
              <a:t>5.S</a:t>
            </a:r>
            <a:endParaRPr b="1"/>
          </a:p>
          <a:p>
            <a:pPr marL="0" lvl="0" indent="0" algn="l" rtl="0">
              <a:lnSpc>
                <a:spcPct val="110000"/>
              </a:lnSpc>
              <a:spcBef>
                <a:spcPts val="700"/>
              </a:spcBef>
              <a:spcAft>
                <a:spcPts val="0"/>
              </a:spcAft>
              <a:buSzPts val="1800"/>
              <a:buNone/>
            </a:pPr>
            <a:r>
              <a:rPr lang="en-US" sz="1800" b="1">
                <a:solidFill>
                  <a:srgbClr val="FF0000"/>
                </a:solidFill>
                <a:latin typeface="Calibri"/>
                <a:ea typeface="Calibri"/>
                <a:cs typeface="Calibri"/>
                <a:sym typeface="Calibri"/>
              </a:rPr>
              <a:t>that she ate the food in a dhaba</a:t>
            </a:r>
            <a:endParaRPr sz="1800" b="1">
              <a:solidFill>
                <a:srgbClr val="FF0000"/>
              </a:solidFill>
              <a:latin typeface="Calibri"/>
              <a:ea typeface="Calibri"/>
              <a:cs typeface="Calibri"/>
              <a:sym typeface="Calibri"/>
            </a:endParaRPr>
          </a:p>
          <a:p>
            <a:pPr marL="0" lvl="0" indent="0" algn="l" rtl="0">
              <a:lnSpc>
                <a:spcPct val="110000"/>
              </a:lnSpc>
              <a:spcBef>
                <a:spcPts val="700"/>
              </a:spcBef>
              <a:spcAft>
                <a:spcPts val="0"/>
              </a:spcAft>
              <a:buSzPts val="1800"/>
              <a:buNone/>
            </a:pPr>
            <a:r>
              <a:rPr lang="en-US" sz="1800" b="1">
                <a:solidFill>
                  <a:schemeClr val="dk1"/>
                </a:solidFill>
                <a:latin typeface="Calibri"/>
                <a:ea typeface="Calibri"/>
                <a:cs typeface="Calibri"/>
                <a:sym typeface="Calibri"/>
              </a:rPr>
              <a:t>[</a:t>
            </a:r>
            <a:r>
              <a:rPr lang="en-US" sz="2300" b="1" baseline="-25000">
                <a:solidFill>
                  <a:schemeClr val="dk1"/>
                </a:solidFill>
                <a:latin typeface="Calibri"/>
                <a:ea typeface="Calibri"/>
                <a:cs typeface="Calibri"/>
                <a:sym typeface="Calibri"/>
              </a:rPr>
              <a:t>   </a:t>
            </a:r>
            <a:r>
              <a:rPr lang="en-US" sz="1900" b="1" baseline="-25000">
                <a:solidFill>
                  <a:schemeClr val="dk1"/>
                </a:solidFill>
                <a:latin typeface="Calibri"/>
                <a:ea typeface="Calibri"/>
                <a:cs typeface="Calibri"/>
                <a:sym typeface="Calibri"/>
              </a:rPr>
              <a:t>S</a:t>
            </a:r>
            <a:r>
              <a:rPr lang="en-US" sz="1400" b="1">
                <a:solidFill>
                  <a:schemeClr val="dk1"/>
                </a:solidFill>
                <a:latin typeface="Calibri"/>
                <a:ea typeface="Calibri"/>
                <a:cs typeface="Calibri"/>
                <a:sym typeface="Calibri"/>
              </a:rPr>
              <a:t>  </a:t>
            </a:r>
            <a:r>
              <a:rPr lang="en-US" sz="1800" b="1">
                <a:solidFill>
                  <a:schemeClr val="dk1"/>
                </a:solidFill>
                <a:latin typeface="Calibri"/>
                <a:ea typeface="Calibri"/>
                <a:cs typeface="Calibri"/>
                <a:sym typeface="Calibri"/>
              </a:rPr>
              <a:t>[</a:t>
            </a:r>
            <a:r>
              <a:rPr lang="en-US" sz="1900" b="1" baseline="-25000">
                <a:solidFill>
                  <a:schemeClr val="dk1"/>
                </a:solidFill>
                <a:latin typeface="Calibri"/>
                <a:ea typeface="Calibri"/>
                <a:cs typeface="Calibri"/>
                <a:sym typeface="Calibri"/>
              </a:rPr>
              <a:t>comp</a:t>
            </a:r>
            <a:r>
              <a:rPr lang="en-US" sz="1800" b="1">
                <a:solidFill>
                  <a:schemeClr val="dk1"/>
                </a:solidFill>
                <a:latin typeface="Calibri"/>
                <a:ea typeface="Calibri"/>
                <a:cs typeface="Calibri"/>
                <a:sym typeface="Calibri"/>
              </a:rPr>
              <a:t>that ][ </a:t>
            </a:r>
            <a:r>
              <a:rPr lang="en-US" sz="2300" b="1" baseline="-25000">
                <a:solidFill>
                  <a:schemeClr val="dk1"/>
                </a:solidFill>
                <a:latin typeface="Calibri"/>
                <a:ea typeface="Calibri"/>
                <a:cs typeface="Calibri"/>
                <a:sym typeface="Calibri"/>
              </a:rPr>
              <a:t>S</a:t>
            </a:r>
            <a:r>
              <a:rPr lang="en-US" sz="1800" b="1">
                <a:solidFill>
                  <a:schemeClr val="dk1"/>
                </a:solidFill>
                <a:latin typeface="Calibri"/>
                <a:ea typeface="Calibri"/>
                <a:cs typeface="Calibri"/>
                <a:sym typeface="Calibri"/>
              </a:rPr>
              <a:t>[ </a:t>
            </a:r>
            <a:r>
              <a:rPr lang="en-US" sz="1900" b="1" baseline="-25000">
                <a:solidFill>
                  <a:schemeClr val="dk1"/>
                </a:solidFill>
                <a:latin typeface="Calibri"/>
                <a:ea typeface="Calibri"/>
                <a:cs typeface="Calibri"/>
                <a:sym typeface="Calibri"/>
              </a:rPr>
              <a:t>Det</a:t>
            </a:r>
            <a:r>
              <a:rPr lang="en-US" sz="2500" b="1" baseline="-25000">
                <a:solidFill>
                  <a:schemeClr val="dk1"/>
                </a:solidFill>
                <a:latin typeface="Calibri"/>
                <a:ea typeface="Calibri"/>
                <a:cs typeface="Calibri"/>
                <a:sym typeface="Calibri"/>
              </a:rPr>
              <a:t> </a:t>
            </a:r>
            <a:r>
              <a:rPr lang="en-US" sz="1800" b="1">
                <a:solidFill>
                  <a:schemeClr val="dk1"/>
                </a:solidFill>
                <a:latin typeface="Calibri"/>
                <a:ea typeface="Calibri"/>
                <a:cs typeface="Calibri"/>
                <a:sym typeface="Calibri"/>
              </a:rPr>
              <a:t>she ] [ </a:t>
            </a:r>
            <a:r>
              <a:rPr lang="en-US" sz="1800" b="1" baseline="-25000">
                <a:solidFill>
                  <a:schemeClr val="dk1"/>
                </a:solidFill>
                <a:latin typeface="Calibri"/>
                <a:ea typeface="Calibri"/>
                <a:cs typeface="Calibri"/>
                <a:sym typeface="Calibri"/>
              </a:rPr>
              <a:t>INFL</a:t>
            </a:r>
            <a:r>
              <a:rPr lang="en-US" sz="2500" b="1" baseline="-25000">
                <a:solidFill>
                  <a:schemeClr val="dk1"/>
                </a:solidFill>
                <a:latin typeface="Calibri"/>
                <a:ea typeface="Calibri"/>
                <a:cs typeface="Calibri"/>
                <a:sym typeface="Calibri"/>
              </a:rPr>
              <a:t> </a:t>
            </a:r>
            <a:r>
              <a:rPr lang="en-US" sz="1800" b="1">
                <a:solidFill>
                  <a:schemeClr val="dk1"/>
                </a:solidFill>
                <a:latin typeface="Calibri"/>
                <a:ea typeface="Calibri"/>
                <a:cs typeface="Calibri"/>
                <a:sym typeface="Calibri"/>
              </a:rPr>
              <a:t>past ] [ </a:t>
            </a:r>
            <a:r>
              <a:rPr lang="en-US" sz="1800" b="1" baseline="-25000">
                <a:solidFill>
                  <a:schemeClr val="dk1"/>
                </a:solidFill>
                <a:latin typeface="Calibri"/>
                <a:ea typeface="Calibri"/>
                <a:cs typeface="Calibri"/>
                <a:sym typeface="Calibri"/>
              </a:rPr>
              <a:t>VP </a:t>
            </a:r>
            <a:r>
              <a:rPr lang="en-US" sz="1800" b="1">
                <a:solidFill>
                  <a:schemeClr val="dk1"/>
                </a:solidFill>
                <a:latin typeface="Calibri"/>
                <a:ea typeface="Calibri"/>
                <a:cs typeface="Calibri"/>
                <a:sym typeface="Calibri"/>
              </a:rPr>
              <a:t>ate the food in a dhaba ] ] ]</a:t>
            </a:r>
            <a:endParaRPr sz="1800" b="1">
              <a:solidFill>
                <a:schemeClr val="dk1"/>
              </a:solidFill>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SzPts val="1800"/>
              <a:buNone/>
            </a:pPr>
            <a:endParaRPr sz="2500">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0" lvl="0" indent="0" algn="l" rtl="0">
              <a:lnSpc>
                <a:spcPct val="110000"/>
              </a:lnSpc>
              <a:spcBef>
                <a:spcPts val="700"/>
              </a:spcBef>
              <a:spcAft>
                <a:spcPts val="0"/>
              </a:spcAft>
              <a:buSzPts val="1800"/>
              <a:buNone/>
            </a:pPr>
            <a:r>
              <a:rPr lang="en-US" sz="1800">
                <a:latin typeface="Calibri"/>
                <a:ea typeface="Calibri"/>
                <a:cs typeface="Calibri"/>
                <a:sym typeface="Calibri"/>
              </a:rPr>
              <a:t>The sentence is considered to be the head of INFL and the projection of sentence is denoted by S bar, which has complementizer (COMP)</a:t>
            </a:r>
            <a:endParaRPr sz="1800">
              <a:latin typeface="Calibri"/>
              <a:ea typeface="Calibri"/>
              <a:cs typeface="Calibri"/>
              <a:sym typeface="Calibri"/>
            </a:endParaRPr>
          </a:p>
          <a:p>
            <a:pPr marL="0" lvl="0" indent="0" algn="l" rtl="0">
              <a:lnSpc>
                <a:spcPct val="110000"/>
              </a:lnSpc>
              <a:spcBef>
                <a:spcPts val="700"/>
              </a:spcBef>
              <a:spcAft>
                <a:spcPts val="0"/>
              </a:spcAft>
              <a:buClr>
                <a:schemeClr val="dk1"/>
              </a:buClr>
              <a:buSzPts val="1800"/>
              <a:buFont typeface="Arial"/>
              <a:buNone/>
            </a:pPr>
            <a:r>
              <a:rPr lang="en-US" sz="1800">
                <a:latin typeface="Calibri"/>
                <a:ea typeface="Calibri"/>
                <a:cs typeface="Calibri"/>
                <a:sym typeface="Calibri"/>
              </a:rPr>
              <a:t>TRY!!!</a:t>
            </a:r>
            <a:endParaRPr/>
          </a:p>
          <a:p>
            <a:pPr marL="0" lvl="0" indent="0" algn="l" rtl="0">
              <a:lnSpc>
                <a:spcPct val="110000"/>
              </a:lnSpc>
              <a:spcBef>
                <a:spcPts val="700"/>
              </a:spcBef>
              <a:spcAft>
                <a:spcPts val="0"/>
              </a:spcAft>
              <a:buSzPts val="1800"/>
              <a:buNone/>
            </a:pPr>
            <a:r>
              <a:rPr lang="en-US" sz="1800">
                <a:latin typeface="Calibri"/>
                <a:ea typeface="Calibri"/>
                <a:cs typeface="Calibri"/>
                <a:sym typeface="Calibri"/>
              </a:rPr>
              <a:t>That huge black and white extremely angry dog</a:t>
            </a:r>
            <a:endParaRPr>
              <a:highlight>
                <a:srgbClr val="00FF00"/>
              </a:highlight>
            </a:endParaRPr>
          </a:p>
        </p:txBody>
      </p:sp>
      <p:cxnSp>
        <p:nvCxnSpPr>
          <p:cNvPr id="633" name="Google Shape;633;p41"/>
          <p:cNvCxnSpPr/>
          <p:nvPr/>
        </p:nvCxnSpPr>
        <p:spPr>
          <a:xfrm>
            <a:off x="1493732" y="2169123"/>
            <a:ext cx="138600" cy="0"/>
          </a:xfrm>
          <a:prstGeom prst="straightConnector1">
            <a:avLst/>
          </a:prstGeom>
          <a:noFill/>
          <a:ln w="19050" cap="flat" cmpd="sng">
            <a:solidFill>
              <a:srgbClr val="1A1A1A"/>
            </a:solidFill>
            <a:prstDash val="solid"/>
            <a:round/>
            <a:headEnd type="none" w="sm" len="sm"/>
            <a:tailEnd type="none" w="sm" len="sm"/>
          </a:ln>
        </p:spPr>
      </p:cxnSp>
      <p:pic>
        <p:nvPicPr>
          <p:cNvPr id="634" name="Google Shape;634;p41"/>
          <p:cNvPicPr preferRelativeResize="0"/>
          <p:nvPr/>
        </p:nvPicPr>
        <p:blipFill rotWithShape="1">
          <a:blip r:embed="rId3">
            <a:alphaModFix/>
          </a:blip>
          <a:srcRect/>
          <a:stretch/>
        </p:blipFill>
        <p:spPr>
          <a:xfrm>
            <a:off x="3215600" y="2431925"/>
            <a:ext cx="6108575" cy="242907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gfd78de434d_0_14"/>
          <p:cNvSpPr txBox="1">
            <a:spLocks noGrp="1"/>
          </p:cNvSpPr>
          <p:nvPr>
            <p:ph type="title"/>
          </p:nvPr>
        </p:nvSpPr>
        <p:spPr>
          <a:xfrm>
            <a:off x="1251675" y="382380"/>
            <a:ext cx="10178400" cy="7005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640" name="Google Shape;640;gfd78de434d_0_14"/>
          <p:cNvSpPr txBox="1">
            <a:spLocks noGrp="1"/>
          </p:cNvSpPr>
          <p:nvPr>
            <p:ph type="body" idx="1"/>
          </p:nvPr>
        </p:nvSpPr>
        <p:spPr>
          <a:xfrm>
            <a:off x="1251675" y="999550"/>
            <a:ext cx="10590300" cy="57195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r>
              <a:rPr lang="en-US" sz="1800">
                <a:latin typeface="Calibri"/>
                <a:ea typeface="Calibri"/>
                <a:cs typeface="Calibri"/>
                <a:sym typeface="Calibri"/>
              </a:rPr>
              <a:t>The huge black and white extremely angry dog</a:t>
            </a:r>
            <a:endParaRPr sz="1800">
              <a:latin typeface="Calibri"/>
              <a:ea typeface="Calibri"/>
              <a:cs typeface="Calibri"/>
              <a:sym typeface="Calibri"/>
            </a:endParaRPr>
          </a:p>
          <a:p>
            <a:pPr marL="0" lvl="0" indent="0" algn="l" rtl="0">
              <a:lnSpc>
                <a:spcPct val="110000"/>
              </a:lnSpc>
              <a:spcBef>
                <a:spcPts val="700"/>
              </a:spcBef>
              <a:spcAft>
                <a:spcPts val="0"/>
              </a:spcAft>
              <a:buClr>
                <a:schemeClr val="dk1"/>
              </a:buClr>
              <a:buSzPts val="1800"/>
              <a:buFont typeface="Arial"/>
              <a:buNone/>
            </a:pPr>
            <a:endParaRPr sz="1800">
              <a:latin typeface="Calibri"/>
              <a:ea typeface="Calibri"/>
              <a:cs typeface="Calibri"/>
              <a:sym typeface="Calibri"/>
            </a:endParaRPr>
          </a:p>
        </p:txBody>
      </p:sp>
      <p:pic>
        <p:nvPicPr>
          <p:cNvPr id="641" name="Google Shape;641;gfd78de434d_0_14"/>
          <p:cNvPicPr preferRelativeResize="0"/>
          <p:nvPr/>
        </p:nvPicPr>
        <p:blipFill rotWithShape="1">
          <a:blip r:embed="rId3">
            <a:alphaModFix/>
          </a:blip>
          <a:srcRect/>
          <a:stretch/>
        </p:blipFill>
        <p:spPr>
          <a:xfrm>
            <a:off x="4178650" y="1471550"/>
            <a:ext cx="7472000" cy="52475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g15fa291c0c5_0_26"/>
          <p:cNvSpPr txBox="1">
            <a:spLocks noGrp="1"/>
          </p:cNvSpPr>
          <p:nvPr>
            <p:ph type="title"/>
          </p:nvPr>
        </p:nvSpPr>
        <p:spPr>
          <a:xfrm>
            <a:off x="1251675" y="382380"/>
            <a:ext cx="10178400" cy="7005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EXAMPLE</a:t>
            </a:r>
            <a:endParaRPr/>
          </a:p>
        </p:txBody>
      </p:sp>
      <p:sp>
        <p:nvSpPr>
          <p:cNvPr id="647" name="Google Shape;647;g15fa291c0c5_0_26"/>
          <p:cNvSpPr txBox="1">
            <a:spLocks noGrp="1"/>
          </p:cNvSpPr>
          <p:nvPr>
            <p:ph type="body" idx="1"/>
          </p:nvPr>
        </p:nvSpPr>
        <p:spPr>
          <a:xfrm>
            <a:off x="1251675" y="999550"/>
            <a:ext cx="10590300" cy="57195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r>
              <a:rPr lang="en-US" sz="1800" b="1">
                <a:latin typeface="Calibri"/>
                <a:ea typeface="Calibri"/>
                <a:cs typeface="Calibri"/>
                <a:sym typeface="Calibri"/>
              </a:rPr>
              <a:t>S: John ate an apple</a:t>
            </a:r>
            <a:endParaRPr sz="1800" b="1">
              <a:latin typeface="Calibri"/>
              <a:ea typeface="Calibri"/>
              <a:cs typeface="Calibri"/>
              <a:sym typeface="Calibri"/>
            </a:endParaRPr>
          </a:p>
          <a:p>
            <a:pPr marL="0" lvl="0" indent="0" algn="l" rtl="0">
              <a:lnSpc>
                <a:spcPct val="110000"/>
              </a:lnSpc>
              <a:spcBef>
                <a:spcPts val="700"/>
              </a:spcBef>
              <a:spcAft>
                <a:spcPts val="0"/>
              </a:spcAft>
              <a:buClr>
                <a:schemeClr val="dk1"/>
              </a:buClr>
              <a:buSzPts val="1800"/>
              <a:buFont typeface="Arial"/>
              <a:buNone/>
            </a:pPr>
            <a:endParaRPr sz="1800">
              <a:latin typeface="Calibri"/>
              <a:ea typeface="Calibri"/>
              <a:cs typeface="Calibri"/>
              <a:sym typeface="Calibri"/>
            </a:endParaRPr>
          </a:p>
        </p:txBody>
      </p:sp>
      <p:pic>
        <p:nvPicPr>
          <p:cNvPr id="648" name="Google Shape;648;g15fa291c0c5_0_26"/>
          <p:cNvPicPr preferRelativeResize="0"/>
          <p:nvPr/>
        </p:nvPicPr>
        <p:blipFill rotWithShape="1">
          <a:blip r:embed="rId3">
            <a:alphaModFix/>
          </a:blip>
          <a:srcRect/>
          <a:stretch/>
        </p:blipFill>
        <p:spPr>
          <a:xfrm>
            <a:off x="4938737" y="2443187"/>
            <a:ext cx="4477625" cy="38142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42"/>
          <p:cNvSpPr txBox="1">
            <a:spLocks noGrp="1"/>
          </p:cNvSpPr>
          <p:nvPr>
            <p:ph type="title"/>
          </p:nvPr>
        </p:nvSpPr>
        <p:spPr>
          <a:xfrm>
            <a:off x="1251675" y="382377"/>
            <a:ext cx="10178400" cy="560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ts val="15228"/>
              <a:buFont typeface="Impact"/>
              <a:buNone/>
            </a:pPr>
            <a:r>
              <a:rPr lang="en-US"/>
              <a:t>GB</a:t>
            </a:r>
            <a:endParaRPr sz="2800"/>
          </a:p>
        </p:txBody>
      </p:sp>
      <p:sp>
        <p:nvSpPr>
          <p:cNvPr id="654" name="Google Shape;654;p42"/>
          <p:cNvSpPr txBox="1">
            <a:spLocks noGrp="1"/>
          </p:cNvSpPr>
          <p:nvPr>
            <p:ph type="body" idx="1"/>
          </p:nvPr>
        </p:nvSpPr>
        <p:spPr>
          <a:xfrm>
            <a:off x="1251675" y="942475"/>
            <a:ext cx="10178400" cy="5720700"/>
          </a:xfrm>
          <a:prstGeom prst="rect">
            <a:avLst/>
          </a:prstGeom>
          <a:noFill/>
          <a:ln>
            <a:noFill/>
          </a:ln>
        </p:spPr>
        <p:txBody>
          <a:bodyPr spcFirstLastPara="1" wrap="square" lIns="91425" tIns="45700" rIns="91425" bIns="45700" anchor="ctr" anchorCtr="0">
            <a:normAutofit fontScale="92500" lnSpcReduction="20000"/>
          </a:bodyPr>
          <a:lstStyle/>
          <a:p>
            <a:pPr marL="0" lvl="0" indent="0" algn="just" rtl="0">
              <a:lnSpc>
                <a:spcPct val="100000"/>
              </a:lnSpc>
              <a:spcBef>
                <a:spcPts val="1000"/>
              </a:spcBef>
              <a:spcAft>
                <a:spcPts val="0"/>
              </a:spcAft>
              <a:buSzPts val="1800"/>
              <a:buNone/>
            </a:pPr>
            <a:r>
              <a:rPr lang="en-US" sz="2800" b="1">
                <a:solidFill>
                  <a:schemeClr val="dk1"/>
                </a:solidFill>
                <a:highlight>
                  <a:srgbClr val="00FF00"/>
                </a:highlight>
                <a:latin typeface="Times New Roman"/>
                <a:ea typeface="Times New Roman"/>
                <a:cs typeface="Times New Roman"/>
                <a:sym typeface="Times New Roman"/>
              </a:rPr>
              <a:t>Sub- Categorization</a:t>
            </a:r>
            <a:endParaRPr sz="3000" b="1">
              <a:solidFill>
                <a:schemeClr val="dk1"/>
              </a:solidFill>
              <a:latin typeface="Times New Roman"/>
              <a:ea typeface="Times New Roman"/>
              <a:cs typeface="Times New Roman"/>
              <a:sym typeface="Times New Roman"/>
            </a:endParaRPr>
          </a:p>
          <a:p>
            <a:pPr marL="457200" lvl="0" indent="-406400" algn="just" rtl="0">
              <a:lnSpc>
                <a:spcPct val="100000"/>
              </a:lnSpc>
              <a:spcBef>
                <a:spcPts val="100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GB places the burden of ascertaining well-formedness to sub-categorization frames of heads. </a:t>
            </a:r>
            <a:endParaRPr sz="2800">
              <a:solidFill>
                <a:schemeClr val="dk1"/>
              </a:solidFill>
              <a:latin typeface="Times New Roman"/>
              <a:ea typeface="Times New Roman"/>
              <a:cs typeface="Times New Roman"/>
              <a:sym typeface="Times New Roman"/>
            </a:endParaRPr>
          </a:p>
          <a:p>
            <a:pPr marL="457200" lvl="0" indent="-406400" algn="just" rtl="0">
              <a:lnSpc>
                <a:spcPct val="100000"/>
              </a:lnSpc>
              <a:spcBef>
                <a:spcPts val="100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In principle, any Maximal projection can be argument of a head, but sub-categorization is used as a filter to permit various heads to select a certain subset of the range of maximal projection.</a:t>
            </a:r>
            <a:endParaRPr sz="2800">
              <a:solidFill>
                <a:schemeClr val="dk1"/>
              </a:solidFill>
              <a:latin typeface="Times New Roman"/>
              <a:ea typeface="Times New Roman"/>
              <a:cs typeface="Times New Roman"/>
              <a:sym typeface="Times New Roman"/>
            </a:endParaRPr>
          </a:p>
          <a:p>
            <a:pPr marL="457200" lvl="0" indent="-406400" algn="just" rtl="0">
              <a:lnSpc>
                <a:spcPct val="100000"/>
              </a:lnSpc>
              <a:spcBef>
                <a:spcPts val="100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Ex: the verb ‘eat’ can subcategorize for NP, whereas the verb ‘sleep’ cannot. Hence ‘ate food’ is well formed but the sentence ‘slept the bed ‘ is not.</a:t>
            </a:r>
            <a:endParaRPr sz="2800">
              <a:solidFill>
                <a:schemeClr val="dk1"/>
              </a:solidFill>
              <a:latin typeface="Times New Roman"/>
              <a:ea typeface="Times New Roman"/>
              <a:cs typeface="Times New Roman"/>
              <a:sym typeface="Times New Roman"/>
            </a:endParaRPr>
          </a:p>
          <a:p>
            <a:pPr marL="457200" lvl="0" indent="-406400" algn="just" rtl="0">
              <a:lnSpc>
                <a:spcPct val="100000"/>
              </a:lnSpc>
              <a:spcBef>
                <a:spcPts val="1000"/>
              </a:spcBef>
              <a:spcAft>
                <a:spcPts val="0"/>
              </a:spcAft>
              <a:buClr>
                <a:schemeClr val="dk1"/>
              </a:buClr>
              <a:buSzPts val="2800"/>
              <a:buFont typeface="Times New Roman"/>
              <a:buChar char="•"/>
            </a:pPr>
            <a:r>
              <a:rPr lang="en-US" sz="2800">
                <a:solidFill>
                  <a:schemeClr val="dk1"/>
                </a:solidFill>
                <a:highlight>
                  <a:srgbClr val="FFFF00"/>
                </a:highlight>
                <a:latin typeface="Times New Roman"/>
                <a:ea typeface="Times New Roman"/>
                <a:cs typeface="Times New Roman"/>
                <a:sym typeface="Times New Roman"/>
              </a:rPr>
              <a:t>GB claims that defining phrase structures as head projections and sub-categorization helps ensure well-formed structures even at the sentence level.</a:t>
            </a:r>
            <a:endParaRPr sz="2800">
              <a:solidFill>
                <a:schemeClr val="dk1"/>
              </a:solidFill>
              <a:highlight>
                <a:srgbClr val="FFFF00"/>
              </a:highlight>
              <a:latin typeface="Times New Roman"/>
              <a:ea typeface="Times New Roman"/>
              <a:cs typeface="Times New Roman"/>
              <a:sym typeface="Times New Roman"/>
            </a:endParaRPr>
          </a:p>
          <a:p>
            <a:pPr marL="457200" lvl="0" indent="-406400" algn="just" rtl="0">
              <a:lnSpc>
                <a:spcPct val="100000"/>
              </a:lnSpc>
              <a:spcBef>
                <a:spcPts val="1000"/>
              </a:spcBef>
              <a:spcAft>
                <a:spcPts val="1000"/>
              </a:spcAft>
              <a:buClr>
                <a:schemeClr val="dk1"/>
              </a:buClr>
              <a:buSzPts val="2800"/>
              <a:buFont typeface="Times New Roman"/>
              <a:buChar char="•"/>
            </a:pPr>
            <a:r>
              <a:rPr lang="en-US" sz="2800">
                <a:solidFill>
                  <a:schemeClr val="dk1"/>
                </a:solidFill>
                <a:highlight>
                  <a:srgbClr val="FFFF00"/>
                </a:highlight>
                <a:latin typeface="Times New Roman"/>
                <a:ea typeface="Times New Roman"/>
                <a:cs typeface="Times New Roman"/>
                <a:sym typeface="Times New Roman"/>
              </a:rPr>
              <a:t>Sub-categorization places a restriction on syntactic categories which the head can accept.</a:t>
            </a:r>
            <a:endParaRPr sz="2800">
              <a:solidFill>
                <a:schemeClr val="dk1"/>
              </a:solidFill>
              <a:highlight>
                <a:srgbClr val="FFFF00"/>
              </a:highlight>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g161ca8c6f15_0_0"/>
          <p:cNvSpPr txBox="1">
            <a:spLocks noGrp="1"/>
          </p:cNvSpPr>
          <p:nvPr>
            <p:ph type="title"/>
          </p:nvPr>
        </p:nvSpPr>
        <p:spPr>
          <a:xfrm>
            <a:off x="1251675" y="382377"/>
            <a:ext cx="10178400" cy="560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ts val="15228"/>
              <a:buFont typeface="Impact"/>
              <a:buNone/>
            </a:pPr>
            <a:r>
              <a:rPr lang="en-US"/>
              <a:t>GB</a:t>
            </a:r>
            <a:endParaRPr sz="2800"/>
          </a:p>
        </p:txBody>
      </p:sp>
      <p:sp>
        <p:nvSpPr>
          <p:cNvPr id="660" name="Google Shape;660;g161ca8c6f15_0_0"/>
          <p:cNvSpPr txBox="1">
            <a:spLocks noGrp="1"/>
          </p:cNvSpPr>
          <p:nvPr>
            <p:ph type="body" idx="1"/>
          </p:nvPr>
        </p:nvSpPr>
        <p:spPr>
          <a:xfrm>
            <a:off x="1251675" y="942475"/>
            <a:ext cx="10178400" cy="5720700"/>
          </a:xfrm>
          <a:prstGeom prst="rect">
            <a:avLst/>
          </a:prstGeom>
          <a:noFill/>
          <a:ln>
            <a:noFill/>
          </a:ln>
        </p:spPr>
        <p:txBody>
          <a:bodyPr spcFirstLastPara="1" wrap="square" lIns="91425" tIns="45700" rIns="91425" bIns="45700" anchor="t" anchorCtr="0">
            <a:normAutofit fontScale="92500"/>
          </a:bodyPr>
          <a:lstStyle/>
          <a:p>
            <a:pPr marL="0" lvl="0" indent="0" algn="just" rtl="0">
              <a:lnSpc>
                <a:spcPct val="115000"/>
              </a:lnSpc>
              <a:spcBef>
                <a:spcPts val="0"/>
              </a:spcBef>
              <a:spcAft>
                <a:spcPts val="0"/>
              </a:spcAft>
              <a:buSzPts val="1800"/>
              <a:buNone/>
            </a:pPr>
            <a:endParaRPr sz="1800">
              <a:solidFill>
                <a:schemeClr val="dk1"/>
              </a:solidFill>
              <a:highlight>
                <a:srgbClr val="FFFF00"/>
              </a:highlight>
              <a:latin typeface="Calibri"/>
              <a:ea typeface="Calibri"/>
              <a:cs typeface="Calibri"/>
              <a:sym typeface="Calibri"/>
            </a:endParaRPr>
          </a:p>
          <a:p>
            <a:pPr marL="0" lvl="0" indent="0" algn="l" rtl="0">
              <a:lnSpc>
                <a:spcPct val="110000"/>
              </a:lnSpc>
              <a:spcBef>
                <a:spcPts val="1000"/>
              </a:spcBef>
              <a:spcAft>
                <a:spcPts val="0"/>
              </a:spcAft>
              <a:buSzPts val="1800"/>
              <a:buNone/>
            </a:pPr>
            <a:r>
              <a:rPr lang="en-US" sz="2400" b="1">
                <a:solidFill>
                  <a:schemeClr val="dk1"/>
                </a:solidFill>
                <a:highlight>
                  <a:srgbClr val="00FF00"/>
                </a:highlight>
                <a:latin typeface="Times New Roman"/>
                <a:ea typeface="Times New Roman"/>
                <a:cs typeface="Times New Roman"/>
                <a:sym typeface="Times New Roman"/>
              </a:rPr>
              <a:t>Projection principle</a:t>
            </a:r>
            <a:endParaRPr sz="2400">
              <a:solidFill>
                <a:schemeClr val="dk1"/>
              </a:solidFill>
              <a:latin typeface="Times New Roman"/>
              <a:ea typeface="Times New Roman"/>
              <a:cs typeface="Times New Roman"/>
              <a:sym typeface="Times New Roman"/>
            </a:endParaRPr>
          </a:p>
          <a:p>
            <a:pPr marL="457200" lvl="0" indent="-381000" algn="just" rtl="0">
              <a:lnSpc>
                <a:spcPct val="11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Projection principle  places a constraint on the three syntactic representations and their mapping from one to the other. </a:t>
            </a:r>
            <a:endParaRPr sz="2400">
              <a:solidFill>
                <a:schemeClr val="dk1"/>
              </a:solidFill>
              <a:latin typeface="Times New Roman"/>
              <a:ea typeface="Times New Roman"/>
              <a:cs typeface="Times New Roman"/>
              <a:sym typeface="Times New Roman"/>
            </a:endParaRPr>
          </a:p>
          <a:p>
            <a:pPr marL="457200" lvl="0" indent="-381000" algn="just" rtl="0">
              <a:lnSpc>
                <a:spcPct val="11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projection principle states that representations at all syntactic levels (i.e., d-level, s-level, LF-level) are projection from the lexicon (head). Thus, lexical properties of categorical structure (sub-categorization) must be observed at each level. </a:t>
            </a:r>
            <a:endParaRPr sz="2400">
              <a:solidFill>
                <a:schemeClr val="dk1"/>
              </a:solidFill>
              <a:latin typeface="Times New Roman"/>
              <a:ea typeface="Times New Roman"/>
              <a:cs typeface="Times New Roman"/>
              <a:sym typeface="Times New Roman"/>
            </a:endParaRPr>
          </a:p>
          <a:p>
            <a:pPr marL="457200" lvl="0" indent="-381000" algn="just" rtl="0">
              <a:lnSpc>
                <a:spcPct val="11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Ex: </a:t>
            </a:r>
            <a:r>
              <a:rPr lang="en-US" sz="2400">
                <a:solidFill>
                  <a:schemeClr val="dk1"/>
                </a:solidFill>
                <a:highlight>
                  <a:srgbClr val="FFFF00"/>
                </a:highlight>
                <a:latin typeface="Times New Roman"/>
                <a:ea typeface="Times New Roman"/>
                <a:cs typeface="Times New Roman"/>
                <a:sym typeface="Times New Roman"/>
              </a:rPr>
              <a:t>Suppose the ‘object’ is not present at d-level, then another NP cannot take this position at s-level.</a:t>
            </a:r>
            <a:endParaRPr sz="2400">
              <a:solidFill>
                <a:schemeClr val="dk1"/>
              </a:solidFill>
              <a:latin typeface="Times New Roman"/>
              <a:ea typeface="Times New Roman"/>
              <a:cs typeface="Times New Roman"/>
              <a:sym typeface="Times New Roman"/>
            </a:endParaRPr>
          </a:p>
          <a:p>
            <a:pPr marL="914400" lvl="1" indent="-381000" algn="just" rtl="0">
              <a:lnSpc>
                <a:spcPct val="11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Mukesh was killed OBJECT  </a:t>
            </a:r>
            <a:endParaRPr sz="2400">
              <a:solidFill>
                <a:schemeClr val="dk1"/>
              </a:solidFill>
              <a:latin typeface="Times New Roman"/>
              <a:ea typeface="Times New Roman"/>
              <a:cs typeface="Times New Roman"/>
              <a:sym typeface="Times New Roman"/>
            </a:endParaRPr>
          </a:p>
          <a:p>
            <a:pPr marL="457200" lvl="0" indent="-381000" algn="just" rtl="0">
              <a:lnSpc>
                <a:spcPct val="110000"/>
              </a:lnSpc>
              <a:spcBef>
                <a:spcPts val="1000"/>
              </a:spcBef>
              <a:spcAft>
                <a:spcPts val="100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Projection principle, in conjunction with the  possibility of presence of </a:t>
            </a:r>
            <a:r>
              <a:rPr lang="en-US" sz="2400">
                <a:solidFill>
                  <a:schemeClr val="dk1"/>
                </a:solidFill>
                <a:highlight>
                  <a:srgbClr val="FFFF00"/>
                </a:highlight>
                <a:latin typeface="Times New Roman"/>
                <a:ea typeface="Times New Roman"/>
                <a:cs typeface="Times New Roman"/>
                <a:sym typeface="Times New Roman"/>
              </a:rPr>
              <a:t>empty category and other theories (Binding theory)</a:t>
            </a:r>
            <a:r>
              <a:rPr lang="en-US" sz="2400">
                <a:solidFill>
                  <a:schemeClr val="dk1"/>
                </a:solidFill>
                <a:latin typeface="Times New Roman"/>
                <a:ea typeface="Times New Roman"/>
                <a:cs typeface="Times New Roman"/>
                <a:sym typeface="Times New Roman"/>
              </a:rPr>
              <a:t> ensures correct movement and well formed structure.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43"/>
          <p:cNvSpPr txBox="1">
            <a:spLocks noGrp="1"/>
          </p:cNvSpPr>
          <p:nvPr>
            <p:ph type="title"/>
          </p:nvPr>
        </p:nvSpPr>
        <p:spPr>
          <a:xfrm>
            <a:off x="1251678" y="382385"/>
            <a:ext cx="10178322" cy="790633"/>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GB</a:t>
            </a:r>
            <a:endParaRPr/>
          </a:p>
        </p:txBody>
      </p:sp>
      <p:sp>
        <p:nvSpPr>
          <p:cNvPr id="666" name="Google Shape;666;p43"/>
          <p:cNvSpPr txBox="1">
            <a:spLocks noGrp="1"/>
          </p:cNvSpPr>
          <p:nvPr>
            <p:ph type="body" idx="1"/>
          </p:nvPr>
        </p:nvSpPr>
        <p:spPr>
          <a:xfrm>
            <a:off x="1251675" y="1173026"/>
            <a:ext cx="10178400" cy="552240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SzPts val="1800"/>
              <a:buNone/>
            </a:pPr>
            <a:r>
              <a:rPr lang="en-US" sz="1900" b="1">
                <a:solidFill>
                  <a:schemeClr val="dk1"/>
                </a:solidFill>
                <a:highlight>
                  <a:srgbClr val="00FF00"/>
                </a:highlight>
                <a:latin typeface="Times New Roman"/>
                <a:ea typeface="Times New Roman"/>
                <a:cs typeface="Times New Roman"/>
                <a:sym typeface="Times New Roman"/>
              </a:rPr>
              <a:t>Theta Theory (θ-theory) or the Theory of Thematic Relations</a:t>
            </a:r>
            <a:endParaRPr sz="1900" b="1">
              <a:solidFill>
                <a:schemeClr val="dk1"/>
              </a:solidFill>
              <a:highlight>
                <a:srgbClr val="00FF00"/>
              </a:highlight>
              <a:latin typeface="Times New Roman"/>
              <a:ea typeface="Times New Roman"/>
              <a:cs typeface="Times New Roman"/>
              <a:sym typeface="Times New Roman"/>
            </a:endParaRPr>
          </a:p>
          <a:p>
            <a:pPr marL="685800" lvl="0" indent="-209550" algn="l" rtl="0">
              <a:lnSpc>
                <a:spcPct val="100000"/>
              </a:lnSpc>
              <a:spcBef>
                <a:spcPts val="700"/>
              </a:spcBef>
              <a:spcAft>
                <a:spcPts val="0"/>
              </a:spcAft>
              <a:buClr>
                <a:schemeClr val="dk1"/>
              </a:buClr>
              <a:buSzPts val="1900"/>
              <a:buChar char="➢"/>
            </a:pPr>
            <a:r>
              <a:rPr lang="en-US" sz="1900">
                <a:solidFill>
                  <a:schemeClr val="dk1"/>
                </a:solidFill>
                <a:latin typeface="Times New Roman"/>
                <a:ea typeface="Times New Roman"/>
                <a:cs typeface="Times New Roman"/>
                <a:sym typeface="Times New Roman"/>
              </a:rPr>
              <a:t>GB puts restriction on lexical heads through which it </a:t>
            </a:r>
            <a:r>
              <a:rPr lang="en-US" sz="1900" b="1">
                <a:solidFill>
                  <a:schemeClr val="dk1"/>
                </a:solidFill>
                <a:highlight>
                  <a:srgbClr val="FFFF00"/>
                </a:highlight>
                <a:latin typeface="Times New Roman"/>
                <a:ea typeface="Times New Roman"/>
                <a:cs typeface="Times New Roman"/>
                <a:sym typeface="Times New Roman"/>
              </a:rPr>
              <a:t>assigns certain roles to its arguments.</a:t>
            </a:r>
            <a:endParaRPr sz="1900" b="1">
              <a:solidFill>
                <a:schemeClr val="dk1"/>
              </a:solidFill>
              <a:highlight>
                <a:srgbClr val="FFFF00"/>
              </a:highlight>
              <a:latin typeface="Times New Roman"/>
              <a:ea typeface="Times New Roman"/>
              <a:cs typeface="Times New Roman"/>
              <a:sym typeface="Times New Roman"/>
            </a:endParaRPr>
          </a:p>
          <a:p>
            <a:pPr marL="685800" lvl="0" indent="-209550" algn="l" rtl="0">
              <a:lnSpc>
                <a:spcPct val="100000"/>
              </a:lnSpc>
              <a:spcBef>
                <a:spcPts val="100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These roles are pre-assigned and cannot be violated at any syntactic level as per the projection principle. </a:t>
            </a:r>
            <a:endParaRPr sz="1900">
              <a:solidFill>
                <a:schemeClr val="dk1"/>
              </a:solidFill>
              <a:latin typeface="Times New Roman"/>
              <a:ea typeface="Times New Roman"/>
              <a:cs typeface="Times New Roman"/>
              <a:sym typeface="Times New Roman"/>
            </a:endParaRPr>
          </a:p>
          <a:p>
            <a:pPr marL="685800" lvl="0" indent="-209550" algn="l" rtl="0">
              <a:lnSpc>
                <a:spcPct val="100000"/>
              </a:lnSpc>
              <a:spcBef>
                <a:spcPts val="1000"/>
              </a:spcBef>
              <a:spcAft>
                <a:spcPts val="0"/>
              </a:spcAft>
              <a:buClr>
                <a:schemeClr val="dk1"/>
              </a:buClr>
              <a:buSzPts val="1900"/>
              <a:buChar char="➢"/>
            </a:pPr>
            <a:r>
              <a:rPr lang="en-US" sz="1900">
                <a:solidFill>
                  <a:schemeClr val="dk1"/>
                </a:solidFill>
                <a:latin typeface="Times New Roman"/>
                <a:ea typeface="Times New Roman"/>
                <a:cs typeface="Times New Roman"/>
                <a:sym typeface="Times New Roman"/>
              </a:rPr>
              <a:t>These role assignments are called </a:t>
            </a:r>
            <a:r>
              <a:rPr lang="en-US" sz="1900" b="1">
                <a:solidFill>
                  <a:schemeClr val="dk1"/>
                </a:solidFill>
                <a:highlight>
                  <a:srgbClr val="FFFF00"/>
                </a:highlight>
                <a:latin typeface="Times New Roman"/>
                <a:ea typeface="Times New Roman"/>
                <a:cs typeface="Times New Roman"/>
                <a:sym typeface="Times New Roman"/>
              </a:rPr>
              <a:t>theta roles</a:t>
            </a:r>
            <a:r>
              <a:rPr lang="en-US" sz="1900">
                <a:solidFill>
                  <a:schemeClr val="dk1"/>
                </a:solidFill>
                <a:latin typeface="Times New Roman"/>
                <a:ea typeface="Times New Roman"/>
                <a:cs typeface="Times New Roman"/>
                <a:sym typeface="Times New Roman"/>
              </a:rPr>
              <a:t> and are related to ‘semantic selection’.</a:t>
            </a:r>
            <a:endParaRPr sz="1900">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0"/>
              </a:spcAft>
              <a:buSzPts val="1800"/>
              <a:buNone/>
            </a:pPr>
            <a:r>
              <a:rPr lang="en-US" sz="1900" b="1">
                <a:solidFill>
                  <a:schemeClr val="dk1"/>
                </a:solidFill>
                <a:highlight>
                  <a:srgbClr val="00FF00"/>
                </a:highlight>
                <a:latin typeface="Times New Roman"/>
                <a:ea typeface="Times New Roman"/>
                <a:cs typeface="Times New Roman"/>
                <a:sym typeface="Times New Roman"/>
              </a:rPr>
              <a:t>Theta-role and theta-criterion</a:t>
            </a:r>
            <a:endParaRPr sz="1900">
              <a:solidFill>
                <a:schemeClr val="dk1"/>
              </a:solidFill>
              <a:highlight>
                <a:srgbClr val="00FF00"/>
              </a:highlight>
              <a:latin typeface="Times New Roman"/>
              <a:ea typeface="Times New Roman"/>
              <a:cs typeface="Times New Roman"/>
              <a:sym typeface="Times New Roman"/>
            </a:endParaRPr>
          </a:p>
          <a:p>
            <a:pPr marL="685800" lvl="0" indent="-209550" algn="just" rtl="0">
              <a:lnSpc>
                <a:spcPct val="115000"/>
              </a:lnSpc>
              <a:spcBef>
                <a:spcPts val="100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There are certain thematic roles from which a head can select. </a:t>
            </a:r>
            <a:r>
              <a:rPr lang="en-US" sz="1900">
                <a:solidFill>
                  <a:schemeClr val="dk1"/>
                </a:solidFill>
                <a:highlight>
                  <a:srgbClr val="FFFF00"/>
                </a:highlight>
                <a:latin typeface="Times New Roman"/>
                <a:ea typeface="Times New Roman"/>
                <a:cs typeface="Times New Roman"/>
                <a:sym typeface="Times New Roman"/>
              </a:rPr>
              <a:t>These are called theta-roles and they are mentioned in the lexicon.</a:t>
            </a:r>
            <a:endParaRPr sz="1900">
              <a:solidFill>
                <a:schemeClr val="dk1"/>
              </a:solidFill>
              <a:highlight>
                <a:srgbClr val="FFFF00"/>
              </a:highlight>
              <a:latin typeface="Times New Roman"/>
              <a:ea typeface="Times New Roman"/>
              <a:cs typeface="Times New Roman"/>
              <a:sym typeface="Times New Roman"/>
            </a:endParaRPr>
          </a:p>
          <a:p>
            <a:pPr marL="457200" lvl="0" indent="457200" algn="just" rtl="0">
              <a:lnSpc>
                <a:spcPct val="115000"/>
              </a:lnSpc>
              <a:spcBef>
                <a:spcPts val="1000"/>
              </a:spcBef>
              <a:spcAft>
                <a:spcPts val="0"/>
              </a:spcAft>
              <a:buSzPts val="1800"/>
              <a:buNone/>
            </a:pPr>
            <a:r>
              <a:rPr lang="en-US" sz="1900">
                <a:solidFill>
                  <a:schemeClr val="dk1"/>
                </a:solidFill>
                <a:latin typeface="Times New Roman"/>
                <a:ea typeface="Times New Roman"/>
                <a:cs typeface="Times New Roman"/>
                <a:sym typeface="Times New Roman"/>
              </a:rPr>
              <a:t>Ex: The verb ‘eat’ can take arguments with θ-roles </a:t>
            </a:r>
            <a:r>
              <a:rPr lang="en-US" sz="1900">
                <a:solidFill>
                  <a:schemeClr val="dk1"/>
                </a:solidFill>
                <a:highlight>
                  <a:srgbClr val="00FFFF"/>
                </a:highlight>
                <a:latin typeface="Times New Roman"/>
                <a:ea typeface="Times New Roman"/>
                <a:cs typeface="Times New Roman"/>
                <a:sym typeface="Times New Roman"/>
              </a:rPr>
              <a:t>‘(Agent-Theme)’.</a:t>
            </a:r>
            <a:endParaRPr sz="1900">
              <a:solidFill>
                <a:schemeClr val="dk1"/>
              </a:solidFill>
              <a:highlight>
                <a:srgbClr val="00FFFF"/>
              </a:highlight>
              <a:latin typeface="Times New Roman"/>
              <a:ea typeface="Times New Roman"/>
              <a:cs typeface="Times New Roman"/>
              <a:sym typeface="Times New Roman"/>
            </a:endParaRPr>
          </a:p>
          <a:p>
            <a:pPr marL="685800" lvl="0" indent="-209550" algn="just" rtl="0">
              <a:lnSpc>
                <a:spcPct val="115000"/>
              </a:lnSpc>
              <a:spcBef>
                <a:spcPts val="1000"/>
              </a:spcBef>
              <a:spcAft>
                <a:spcPts val="0"/>
              </a:spcAft>
              <a:buClr>
                <a:schemeClr val="dk1"/>
              </a:buClr>
              <a:buSzPts val="1900"/>
              <a:buFont typeface="Times New Roman"/>
              <a:buChar char="➢"/>
            </a:pPr>
            <a:r>
              <a:rPr lang="en-US" sz="1900">
                <a:solidFill>
                  <a:schemeClr val="dk1"/>
                </a:solidFill>
                <a:highlight>
                  <a:srgbClr val="FFFF00"/>
                </a:highlight>
                <a:latin typeface="Times New Roman"/>
                <a:ea typeface="Times New Roman"/>
                <a:cs typeface="Times New Roman"/>
                <a:sym typeface="Times New Roman"/>
              </a:rPr>
              <a:t>Agent is a special type of role</a:t>
            </a:r>
            <a:r>
              <a:rPr lang="en-US" sz="1900">
                <a:solidFill>
                  <a:schemeClr val="dk1"/>
                </a:solidFill>
                <a:latin typeface="Times New Roman"/>
                <a:ea typeface="Times New Roman"/>
                <a:cs typeface="Times New Roman"/>
                <a:sym typeface="Times New Roman"/>
              </a:rPr>
              <a:t> which can be assigned by a head to outside arguments (external arguments) whereas other roles are assigned within its domain (internal arguments).</a:t>
            </a:r>
            <a:endParaRPr sz="1900">
              <a:solidFill>
                <a:schemeClr val="dk1"/>
              </a:solidFill>
              <a:latin typeface="Times New Roman"/>
              <a:ea typeface="Times New Roman"/>
              <a:cs typeface="Times New Roman"/>
              <a:sym typeface="Times New Roman"/>
            </a:endParaRPr>
          </a:p>
          <a:p>
            <a:pPr marL="685800" lvl="0" indent="-209550" algn="just" rtl="0">
              <a:lnSpc>
                <a:spcPct val="115000"/>
              </a:lnSpc>
              <a:spcBef>
                <a:spcPts val="1000"/>
              </a:spcBef>
              <a:spcAft>
                <a:spcPts val="1000"/>
              </a:spcAft>
              <a:buClr>
                <a:schemeClr val="dk1"/>
              </a:buClr>
              <a:buSzPts val="1900"/>
              <a:buChar char="➢"/>
            </a:pPr>
            <a:r>
              <a:rPr lang="en-US" sz="1900">
                <a:solidFill>
                  <a:schemeClr val="dk1"/>
                </a:solidFill>
                <a:latin typeface="Times New Roman"/>
                <a:ea typeface="Times New Roman"/>
                <a:cs typeface="Times New Roman"/>
                <a:sym typeface="Times New Roman"/>
              </a:rPr>
              <a:t>For Eg., In </a:t>
            </a:r>
            <a:r>
              <a:rPr lang="en-US" sz="1900" b="1">
                <a:solidFill>
                  <a:schemeClr val="dk1"/>
                </a:solidFill>
                <a:latin typeface="Times New Roman"/>
                <a:ea typeface="Times New Roman"/>
                <a:cs typeface="Times New Roman"/>
                <a:sym typeface="Times New Roman"/>
              </a:rPr>
              <a:t>‘Mukesh ate food’</a:t>
            </a:r>
            <a:r>
              <a:rPr lang="en-US" sz="1900">
                <a:solidFill>
                  <a:schemeClr val="dk1"/>
                </a:solidFill>
                <a:latin typeface="Times New Roman"/>
                <a:ea typeface="Times New Roman"/>
                <a:cs typeface="Times New Roman"/>
                <a:sym typeface="Times New Roman"/>
              </a:rPr>
              <a:t> the verb ‘eat’ assigns the ‘Agent’ role to ‘Mukesh’ (outside VP) and ‘Theme’ (or ‘patient’) role to ‘food’ (within its domain). </a:t>
            </a:r>
            <a:endParaRPr sz="1900">
              <a:solidFill>
                <a:schemeClr val="dk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gfd90740400_0_15"/>
          <p:cNvSpPr txBox="1">
            <a:spLocks noGrp="1"/>
          </p:cNvSpPr>
          <p:nvPr>
            <p:ph type="title"/>
          </p:nvPr>
        </p:nvSpPr>
        <p:spPr>
          <a:xfrm>
            <a:off x="1251675" y="382381"/>
            <a:ext cx="10178400" cy="6624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35294"/>
              <a:buNone/>
            </a:pPr>
            <a:r>
              <a:rPr lang="en-US"/>
              <a:t>Examples for Agent and Theme</a:t>
            </a:r>
            <a:endParaRPr/>
          </a:p>
        </p:txBody>
      </p:sp>
      <p:sp>
        <p:nvSpPr>
          <p:cNvPr id="672" name="Google Shape;672;gfd90740400_0_15"/>
          <p:cNvSpPr txBox="1">
            <a:spLocks noGrp="1"/>
          </p:cNvSpPr>
          <p:nvPr>
            <p:ph type="body" idx="1"/>
          </p:nvPr>
        </p:nvSpPr>
        <p:spPr>
          <a:xfrm>
            <a:off x="1251675" y="1165325"/>
            <a:ext cx="10178400" cy="51303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endParaRPr/>
          </a:p>
        </p:txBody>
      </p:sp>
      <p:pic>
        <p:nvPicPr>
          <p:cNvPr id="673" name="Google Shape;673;gfd90740400_0_15"/>
          <p:cNvPicPr preferRelativeResize="0"/>
          <p:nvPr/>
        </p:nvPicPr>
        <p:blipFill rotWithShape="1">
          <a:blip r:embed="rId3">
            <a:alphaModFix/>
          </a:blip>
          <a:srcRect/>
          <a:stretch/>
        </p:blipFill>
        <p:spPr>
          <a:xfrm>
            <a:off x="1257300" y="1091325"/>
            <a:ext cx="5011350" cy="2435325"/>
          </a:xfrm>
          <a:prstGeom prst="rect">
            <a:avLst/>
          </a:prstGeom>
          <a:noFill/>
          <a:ln>
            <a:noFill/>
          </a:ln>
        </p:spPr>
      </p:pic>
      <p:pic>
        <p:nvPicPr>
          <p:cNvPr id="674" name="Google Shape;674;gfd90740400_0_15"/>
          <p:cNvPicPr preferRelativeResize="0"/>
          <p:nvPr/>
        </p:nvPicPr>
        <p:blipFill rotWithShape="1">
          <a:blip r:embed="rId4">
            <a:alphaModFix/>
          </a:blip>
          <a:srcRect/>
          <a:stretch/>
        </p:blipFill>
        <p:spPr>
          <a:xfrm>
            <a:off x="5994000" y="3385755"/>
            <a:ext cx="5436001" cy="290987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44"/>
          <p:cNvSpPr txBox="1">
            <a:spLocks noGrp="1"/>
          </p:cNvSpPr>
          <p:nvPr>
            <p:ph type="title"/>
          </p:nvPr>
        </p:nvSpPr>
        <p:spPr>
          <a:xfrm>
            <a:off x="1257300" y="187374"/>
            <a:ext cx="10178400" cy="6903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GB</a:t>
            </a:r>
            <a:endParaRPr/>
          </a:p>
        </p:txBody>
      </p:sp>
      <p:sp>
        <p:nvSpPr>
          <p:cNvPr id="680" name="Google Shape;680;p44"/>
          <p:cNvSpPr txBox="1">
            <a:spLocks noGrp="1"/>
          </p:cNvSpPr>
          <p:nvPr>
            <p:ph type="body" idx="1"/>
          </p:nvPr>
        </p:nvSpPr>
        <p:spPr>
          <a:xfrm>
            <a:off x="942575" y="763800"/>
            <a:ext cx="10872000" cy="5990700"/>
          </a:xfrm>
          <a:prstGeom prst="rect">
            <a:avLst/>
          </a:prstGeom>
          <a:noFill/>
          <a:ln>
            <a:noFill/>
          </a:ln>
        </p:spPr>
        <p:txBody>
          <a:bodyPr spcFirstLastPara="1" wrap="square" lIns="91425" tIns="45700" rIns="91425" bIns="45700" anchor="t" anchorCtr="0">
            <a:normAutofit/>
          </a:bodyPr>
          <a:lstStyle/>
          <a:p>
            <a:pPr marL="457200" lvl="0" indent="-342900" algn="just" rtl="0">
              <a:lnSpc>
                <a:spcPct val="100000"/>
              </a:lnSpc>
              <a:spcBef>
                <a:spcPts val="1000"/>
              </a:spcBef>
              <a:spcAft>
                <a:spcPts val="0"/>
              </a:spcAft>
              <a:buClr>
                <a:schemeClr val="dk1"/>
              </a:buClr>
              <a:buSzPts val="1800"/>
              <a:buFont typeface="Calibri"/>
              <a:buChar char="➢"/>
            </a:pPr>
            <a:r>
              <a:rPr lang="en-US" sz="2200">
                <a:solidFill>
                  <a:schemeClr val="dk1"/>
                </a:solidFill>
                <a:latin typeface="Calibri"/>
                <a:ea typeface="Calibri"/>
                <a:cs typeface="Calibri"/>
                <a:sym typeface="Calibri"/>
              </a:rPr>
              <a:t>As roles are assigned based on the syntactic positions of the arguments, there should be a match between the number of roles and number of arguments as depicted by </a:t>
            </a:r>
            <a:r>
              <a:rPr lang="en-US" sz="2100">
                <a:solidFill>
                  <a:schemeClr val="dk1"/>
                </a:solidFill>
                <a:latin typeface="Calibri"/>
                <a:ea typeface="Calibri"/>
                <a:cs typeface="Calibri"/>
                <a:sym typeface="Calibri"/>
              </a:rPr>
              <a:t>θ</a:t>
            </a:r>
            <a:r>
              <a:rPr lang="en-US" sz="2200">
                <a:solidFill>
                  <a:schemeClr val="dk1"/>
                </a:solidFill>
                <a:latin typeface="Calibri"/>
                <a:ea typeface="Calibri"/>
                <a:cs typeface="Calibri"/>
                <a:sym typeface="Calibri"/>
              </a:rPr>
              <a:t>-criterion.</a:t>
            </a:r>
            <a:endParaRPr>
              <a:solidFill>
                <a:schemeClr val="dk1"/>
              </a:solidFill>
              <a:latin typeface="Calibri"/>
              <a:ea typeface="Calibri"/>
              <a:cs typeface="Calibri"/>
              <a:sym typeface="Calibri"/>
            </a:endParaRPr>
          </a:p>
          <a:p>
            <a:pPr marL="457200" lvl="0" indent="-342900" algn="just" rtl="0">
              <a:lnSpc>
                <a:spcPct val="100000"/>
              </a:lnSpc>
              <a:spcBef>
                <a:spcPts val="1000"/>
              </a:spcBef>
              <a:spcAft>
                <a:spcPts val="0"/>
              </a:spcAft>
              <a:buClr>
                <a:srgbClr val="FF0000"/>
              </a:buClr>
              <a:buSzPts val="1800"/>
              <a:buFont typeface="Calibri"/>
              <a:buChar char="➢"/>
            </a:pPr>
            <a:r>
              <a:rPr lang="en-US" sz="2200" b="1">
                <a:solidFill>
                  <a:srgbClr val="FF0000"/>
                </a:solidFill>
                <a:latin typeface="Calibri"/>
                <a:ea typeface="Calibri"/>
                <a:cs typeface="Calibri"/>
                <a:sym typeface="Calibri"/>
              </a:rPr>
              <a:t>Theta-criterion states that ‘each argument bears one and only one theta-role and each </a:t>
            </a:r>
            <a:r>
              <a:rPr lang="en-US" sz="2100" b="1">
                <a:solidFill>
                  <a:srgbClr val="FF0000"/>
                </a:solidFill>
                <a:latin typeface="Calibri"/>
                <a:ea typeface="Calibri"/>
                <a:cs typeface="Calibri"/>
                <a:sym typeface="Calibri"/>
              </a:rPr>
              <a:t>θ</a:t>
            </a:r>
            <a:r>
              <a:rPr lang="en-US" sz="2200" b="1">
                <a:solidFill>
                  <a:srgbClr val="FF0000"/>
                </a:solidFill>
                <a:latin typeface="Calibri"/>
                <a:ea typeface="Calibri"/>
                <a:cs typeface="Calibri"/>
                <a:sym typeface="Calibri"/>
              </a:rPr>
              <a:t>–role is assigned to one and only one argument’. Hence, each argument will have a unique </a:t>
            </a:r>
            <a:r>
              <a:rPr lang="en-US" sz="2100" b="1">
                <a:solidFill>
                  <a:srgbClr val="FF0000"/>
                </a:solidFill>
                <a:latin typeface="Calibri"/>
                <a:ea typeface="Calibri"/>
                <a:cs typeface="Calibri"/>
                <a:sym typeface="Calibri"/>
              </a:rPr>
              <a:t>θ-role and cannot be moved to a position where it may acquire another θ-role.</a:t>
            </a:r>
            <a:endParaRPr sz="2200" b="1">
              <a:solidFill>
                <a:srgbClr val="FF0000"/>
              </a:solidFill>
              <a:latin typeface="Calibri"/>
              <a:ea typeface="Calibri"/>
              <a:cs typeface="Calibri"/>
              <a:sym typeface="Calibri"/>
            </a:endParaRPr>
          </a:p>
          <a:p>
            <a:pPr marL="457200" lvl="0" indent="-368300" algn="just" rtl="0">
              <a:lnSpc>
                <a:spcPct val="100000"/>
              </a:lnSpc>
              <a:spcBef>
                <a:spcPts val="1000"/>
              </a:spcBef>
              <a:spcAft>
                <a:spcPts val="1000"/>
              </a:spcAft>
              <a:buClr>
                <a:schemeClr val="dk1"/>
              </a:buClr>
              <a:buSzPts val="2200"/>
              <a:buFont typeface="Calibri"/>
              <a:buChar char="➢"/>
            </a:pPr>
            <a:r>
              <a:rPr lang="en-US" sz="2200">
                <a:solidFill>
                  <a:schemeClr val="dk1"/>
                </a:solidFill>
                <a:latin typeface="Calibri"/>
                <a:ea typeface="Calibri"/>
                <a:cs typeface="Calibri"/>
                <a:sym typeface="Calibri"/>
              </a:rPr>
              <a:t>In GB, d-structure is conceived as ‘pure’ representation of arguments, hence, </a:t>
            </a:r>
            <a:r>
              <a:rPr lang="en-US" sz="2100" b="1">
                <a:solidFill>
                  <a:schemeClr val="dk1"/>
                </a:solidFill>
                <a:latin typeface="Calibri"/>
                <a:ea typeface="Calibri"/>
                <a:cs typeface="Calibri"/>
                <a:sym typeface="Calibri"/>
              </a:rPr>
              <a:t>θ</a:t>
            </a:r>
            <a:r>
              <a:rPr lang="en-US" sz="2200">
                <a:solidFill>
                  <a:schemeClr val="dk1"/>
                </a:solidFill>
                <a:latin typeface="Calibri"/>
                <a:ea typeface="Calibri"/>
                <a:cs typeface="Calibri"/>
                <a:sym typeface="Calibri"/>
              </a:rPr>
              <a:t>-roles are assigned at d-level only, whereas theta-criterion is applied at all the three level as shown in the figure</a:t>
            </a:r>
            <a:endParaRPr sz="2200">
              <a:solidFill>
                <a:schemeClr val="dk1"/>
              </a:solidFill>
              <a:latin typeface="Calibri"/>
              <a:ea typeface="Calibri"/>
              <a:cs typeface="Calibri"/>
              <a:sym typeface="Calibri"/>
            </a:endParaRPr>
          </a:p>
        </p:txBody>
      </p:sp>
      <p:pic>
        <p:nvPicPr>
          <p:cNvPr id="681" name="Google Shape;681;p44"/>
          <p:cNvPicPr preferRelativeResize="0">
            <a:picLocks noGrp="1"/>
          </p:cNvPicPr>
          <p:nvPr>
            <p:ph type="body" idx="1"/>
          </p:nvPr>
        </p:nvPicPr>
        <p:blipFill rotWithShape="1">
          <a:blip r:embed="rId3">
            <a:alphaModFix/>
          </a:blip>
          <a:srcRect/>
          <a:stretch/>
        </p:blipFill>
        <p:spPr>
          <a:xfrm>
            <a:off x="3733675" y="3812900"/>
            <a:ext cx="6345900" cy="26976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gfb3c5a04c7_0_7"/>
          <p:cNvSpPr txBox="1">
            <a:spLocks noGrp="1"/>
          </p:cNvSpPr>
          <p:nvPr>
            <p:ph type="title"/>
          </p:nvPr>
        </p:nvSpPr>
        <p:spPr>
          <a:xfrm>
            <a:off x="1251675" y="382380"/>
            <a:ext cx="10178400" cy="814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262626"/>
              </a:buClr>
              <a:buSzPts val="5100"/>
              <a:buFont typeface="Impact"/>
              <a:buNone/>
            </a:pPr>
            <a:r>
              <a:rPr lang="en-US"/>
              <a:t>GB</a:t>
            </a:r>
            <a:endParaRPr/>
          </a:p>
        </p:txBody>
      </p:sp>
      <p:sp>
        <p:nvSpPr>
          <p:cNvPr id="687" name="Google Shape;687;gfb3c5a04c7_0_7"/>
          <p:cNvSpPr txBox="1">
            <a:spLocks noGrp="1"/>
          </p:cNvSpPr>
          <p:nvPr>
            <p:ph type="body" idx="1"/>
          </p:nvPr>
        </p:nvSpPr>
        <p:spPr>
          <a:xfrm>
            <a:off x="1251675" y="1096050"/>
            <a:ext cx="10178400" cy="57042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1700"/>
              </a:spcBef>
              <a:spcAft>
                <a:spcPts val="0"/>
              </a:spcAft>
              <a:buClr>
                <a:schemeClr val="dk1"/>
              </a:buClr>
              <a:buSzPts val="1800"/>
              <a:buFont typeface="Arial"/>
              <a:buNone/>
            </a:pPr>
            <a:r>
              <a:rPr lang="en-US" sz="1800" b="1">
                <a:solidFill>
                  <a:schemeClr val="dk1"/>
                </a:solidFill>
                <a:highlight>
                  <a:srgbClr val="00FF00"/>
                </a:highlight>
                <a:latin typeface="Calibri"/>
                <a:ea typeface="Calibri"/>
                <a:cs typeface="Calibri"/>
                <a:sym typeface="Calibri"/>
              </a:rPr>
              <a:t>C-command and government:</a:t>
            </a:r>
            <a:endParaRPr>
              <a:solidFill>
                <a:schemeClr val="dk1"/>
              </a:solidFill>
            </a:endParaRPr>
          </a:p>
          <a:p>
            <a:pPr marL="0" lvl="0" indent="0" algn="l" rtl="0">
              <a:lnSpc>
                <a:spcPct val="100000"/>
              </a:lnSpc>
              <a:spcBef>
                <a:spcPts val="700"/>
              </a:spcBef>
              <a:spcAft>
                <a:spcPts val="0"/>
              </a:spcAft>
              <a:buClr>
                <a:schemeClr val="dk1"/>
              </a:buClr>
              <a:buSzPts val="1800"/>
              <a:buFont typeface="Arial"/>
              <a:buNone/>
            </a:pPr>
            <a:r>
              <a:rPr lang="en-US" sz="1800" b="1">
                <a:solidFill>
                  <a:schemeClr val="dk1"/>
                </a:solidFill>
                <a:highlight>
                  <a:srgbClr val="00FF00"/>
                </a:highlight>
                <a:latin typeface="Calibri"/>
                <a:ea typeface="Calibri"/>
                <a:cs typeface="Calibri"/>
                <a:sym typeface="Calibri"/>
              </a:rPr>
              <a:t>C-Command:</a:t>
            </a:r>
            <a:endParaRPr>
              <a:solidFill>
                <a:schemeClr val="dk1"/>
              </a:solidFill>
            </a:endParaRPr>
          </a:p>
          <a:p>
            <a:pPr marL="228600" lvl="0" indent="-228600" algn="just" rtl="0">
              <a:lnSpc>
                <a:spcPct val="100000"/>
              </a:lnSpc>
              <a:spcBef>
                <a:spcPts val="100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C-command defines the scope of maximal projection. It is a basic mechanism through which many constraints are defined on move α.</a:t>
            </a:r>
            <a:endParaRPr sz="2500">
              <a:solidFill>
                <a:schemeClr val="dk1"/>
              </a:solidFill>
              <a:latin typeface="Times New Roman"/>
              <a:ea typeface="Times New Roman"/>
              <a:cs typeface="Times New Roman"/>
              <a:sym typeface="Times New Roman"/>
            </a:endParaRPr>
          </a:p>
          <a:p>
            <a:pPr marL="228600" lvl="0" indent="-228600" algn="just" rtl="0">
              <a:lnSpc>
                <a:spcPct val="100000"/>
              </a:lnSpc>
              <a:spcBef>
                <a:spcPts val="1000"/>
              </a:spcBef>
              <a:spcAft>
                <a:spcPts val="0"/>
              </a:spcAft>
              <a:buClr>
                <a:schemeClr val="dk1"/>
              </a:buClr>
              <a:buSzPts val="2500"/>
              <a:buFont typeface="Times New Roman"/>
              <a:buChar char="•"/>
            </a:pPr>
            <a:r>
              <a:rPr lang="en-US" sz="2500">
                <a:solidFill>
                  <a:schemeClr val="dk1"/>
                </a:solidFill>
                <a:highlight>
                  <a:srgbClr val="FFFF00"/>
                </a:highlight>
                <a:latin typeface="Times New Roman"/>
                <a:ea typeface="Times New Roman"/>
                <a:cs typeface="Times New Roman"/>
                <a:sym typeface="Times New Roman"/>
              </a:rPr>
              <a:t>If any word or phrase (say ∝ or β) falls within the scope of and is determined by a maximal projection, then it is dominated by maximal projection.</a:t>
            </a:r>
            <a:endParaRPr sz="2500">
              <a:solidFill>
                <a:schemeClr val="dk1"/>
              </a:solidFill>
              <a:highlight>
                <a:srgbClr val="FFFF00"/>
              </a:highlight>
              <a:latin typeface="Times New Roman"/>
              <a:ea typeface="Times New Roman"/>
              <a:cs typeface="Times New Roman"/>
              <a:sym typeface="Times New Roman"/>
            </a:endParaRPr>
          </a:p>
          <a:p>
            <a:pPr marL="228600" lvl="0" indent="-228600" algn="just" rtl="0">
              <a:lnSpc>
                <a:spcPct val="100000"/>
              </a:lnSpc>
              <a:spcBef>
                <a:spcPts val="1000"/>
              </a:spcBef>
              <a:spcAft>
                <a:spcPts val="0"/>
              </a:spcAft>
              <a:buClr>
                <a:schemeClr val="dk1"/>
              </a:buClr>
              <a:buSzPts val="2500"/>
              <a:buFont typeface="Times New Roman"/>
              <a:buChar char="•"/>
            </a:pPr>
            <a:r>
              <a:rPr lang="en-US" sz="2500" b="1">
                <a:solidFill>
                  <a:schemeClr val="dk1"/>
                </a:solidFill>
                <a:latin typeface="Times New Roman"/>
                <a:ea typeface="Times New Roman"/>
                <a:cs typeface="Times New Roman"/>
                <a:sym typeface="Times New Roman"/>
              </a:rPr>
              <a:t>Necessary and sufficient condition for C-command:</a:t>
            </a:r>
            <a:endParaRPr sz="2500" b="1">
              <a:solidFill>
                <a:schemeClr val="dk1"/>
              </a:solidFill>
              <a:latin typeface="Times New Roman"/>
              <a:ea typeface="Times New Roman"/>
              <a:cs typeface="Times New Roman"/>
              <a:sym typeface="Times New Roman"/>
            </a:endParaRPr>
          </a:p>
          <a:p>
            <a:pPr marL="685800" lvl="1" indent="-273050" algn="just" rtl="0">
              <a:lnSpc>
                <a:spcPct val="100000"/>
              </a:lnSpc>
              <a:spcBef>
                <a:spcPts val="1000"/>
              </a:spcBef>
              <a:spcAft>
                <a:spcPts val="0"/>
              </a:spcAft>
              <a:buClr>
                <a:schemeClr val="dk1"/>
              </a:buClr>
              <a:buSzPts val="2500"/>
              <a:buFont typeface="Calibri"/>
              <a:buChar char="–"/>
            </a:pPr>
            <a:r>
              <a:rPr lang="en-US" sz="2500">
                <a:solidFill>
                  <a:schemeClr val="dk1"/>
                </a:solidFill>
                <a:latin typeface="Times New Roman"/>
                <a:ea typeface="Times New Roman"/>
                <a:cs typeface="Times New Roman"/>
                <a:sym typeface="Times New Roman"/>
              </a:rPr>
              <a:t> If there are two structures α and β related in such a way that ‘</a:t>
            </a:r>
            <a:r>
              <a:rPr lang="en-US" sz="2500" b="1">
                <a:solidFill>
                  <a:schemeClr val="dk1"/>
                </a:solidFill>
                <a:highlight>
                  <a:srgbClr val="00FFFF"/>
                </a:highlight>
                <a:latin typeface="Times New Roman"/>
                <a:ea typeface="Times New Roman"/>
                <a:cs typeface="Times New Roman"/>
                <a:sym typeface="Times New Roman"/>
              </a:rPr>
              <a:t>every maximal projection dominating α dominates β’,</a:t>
            </a:r>
            <a:r>
              <a:rPr lang="en-US" sz="2500">
                <a:solidFill>
                  <a:schemeClr val="dk1"/>
                </a:solidFill>
                <a:latin typeface="Times New Roman"/>
                <a:ea typeface="Times New Roman"/>
                <a:cs typeface="Times New Roman"/>
                <a:sym typeface="Times New Roman"/>
              </a:rPr>
              <a:t> we say that </a:t>
            </a:r>
            <a:r>
              <a:rPr lang="en-US" sz="2500" b="1">
                <a:solidFill>
                  <a:schemeClr val="dk1"/>
                </a:solidFill>
                <a:highlight>
                  <a:srgbClr val="00FFFF"/>
                </a:highlight>
                <a:latin typeface="Times New Roman"/>
                <a:ea typeface="Times New Roman"/>
                <a:cs typeface="Times New Roman"/>
                <a:sym typeface="Times New Roman"/>
              </a:rPr>
              <a:t>α C-commands β</a:t>
            </a:r>
            <a:r>
              <a:rPr lang="en-US" sz="2500">
                <a:solidFill>
                  <a:schemeClr val="dk1"/>
                </a:solidFill>
                <a:latin typeface="Times New Roman"/>
                <a:ea typeface="Times New Roman"/>
                <a:cs typeface="Times New Roman"/>
                <a:sym typeface="Times New Roman"/>
              </a:rPr>
              <a:t>.  </a:t>
            </a:r>
            <a:endParaRPr sz="2500">
              <a:solidFill>
                <a:schemeClr val="dk1"/>
              </a:solidFill>
              <a:latin typeface="Times New Roman"/>
              <a:ea typeface="Times New Roman"/>
              <a:cs typeface="Times New Roman"/>
              <a:sym typeface="Times New Roman"/>
            </a:endParaRPr>
          </a:p>
          <a:p>
            <a:pPr marL="685800" lvl="1" indent="-273050" algn="just" rtl="0">
              <a:lnSpc>
                <a:spcPct val="100000"/>
              </a:lnSpc>
              <a:spcBef>
                <a:spcPts val="1000"/>
              </a:spcBef>
              <a:spcAft>
                <a:spcPts val="0"/>
              </a:spcAft>
              <a:buClr>
                <a:schemeClr val="dk1"/>
              </a:buClr>
              <a:buSzPts val="2500"/>
              <a:buFont typeface="Times New Roman"/>
              <a:buChar char="–"/>
            </a:pPr>
            <a:r>
              <a:rPr lang="en-US" sz="2500">
                <a:solidFill>
                  <a:schemeClr val="dk1"/>
                </a:solidFill>
                <a:latin typeface="Times New Roman"/>
                <a:ea typeface="Times New Roman"/>
                <a:cs typeface="Times New Roman"/>
                <a:sym typeface="Times New Roman"/>
              </a:rPr>
              <a:t>The definition of C-command does not include all maximal projections dominating β, but only those dominating α. </a:t>
            </a:r>
            <a:endParaRPr sz="2500">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g245998e394d_0_0"/>
          <p:cNvSpPr txBox="1">
            <a:spLocks noGrp="1"/>
          </p:cNvSpPr>
          <p:nvPr>
            <p:ph type="title"/>
          </p:nvPr>
        </p:nvSpPr>
        <p:spPr>
          <a:xfrm>
            <a:off x="1251675" y="382380"/>
            <a:ext cx="10178400" cy="8148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262626"/>
              </a:buClr>
              <a:buSzPts val="5100"/>
              <a:buFont typeface="Impact"/>
              <a:buNone/>
            </a:pPr>
            <a:r>
              <a:rPr lang="en-US"/>
              <a:t>GB</a:t>
            </a:r>
            <a:endParaRPr/>
          </a:p>
        </p:txBody>
      </p:sp>
      <p:sp>
        <p:nvSpPr>
          <p:cNvPr id="693" name="Google Shape;693;g245998e394d_0_0"/>
          <p:cNvSpPr txBox="1">
            <a:spLocks noGrp="1"/>
          </p:cNvSpPr>
          <p:nvPr>
            <p:ph type="body" idx="1"/>
          </p:nvPr>
        </p:nvSpPr>
        <p:spPr>
          <a:xfrm>
            <a:off x="1251675" y="1040075"/>
            <a:ext cx="10178400" cy="57042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1700"/>
              </a:spcBef>
              <a:spcAft>
                <a:spcPts val="0"/>
              </a:spcAft>
              <a:buClr>
                <a:schemeClr val="dk1"/>
              </a:buClr>
              <a:buSzPts val="1800"/>
              <a:buFont typeface="Arial"/>
              <a:buNone/>
            </a:pPr>
            <a:r>
              <a:rPr lang="en-US" sz="1800" b="1">
                <a:solidFill>
                  <a:schemeClr val="dk1"/>
                </a:solidFill>
                <a:highlight>
                  <a:srgbClr val="00FF00"/>
                </a:highlight>
                <a:latin typeface="Calibri"/>
                <a:ea typeface="Calibri"/>
                <a:cs typeface="Calibri"/>
                <a:sym typeface="Calibri"/>
              </a:rPr>
              <a:t>C-command and government:</a:t>
            </a:r>
            <a:endParaRPr sz="1800" b="1">
              <a:solidFill>
                <a:schemeClr val="dk1"/>
              </a:solidFill>
              <a:highlight>
                <a:srgbClr val="00FF00"/>
              </a:highlight>
              <a:latin typeface="Calibri"/>
              <a:ea typeface="Calibri"/>
              <a:cs typeface="Calibri"/>
              <a:sym typeface="Calibri"/>
            </a:endParaRPr>
          </a:p>
          <a:p>
            <a:pPr marL="0" lvl="0" indent="0" algn="l" rtl="0">
              <a:lnSpc>
                <a:spcPct val="100000"/>
              </a:lnSpc>
              <a:spcBef>
                <a:spcPts val="1700"/>
              </a:spcBef>
              <a:spcAft>
                <a:spcPts val="0"/>
              </a:spcAft>
              <a:buClr>
                <a:schemeClr val="dk1"/>
              </a:buClr>
              <a:buSzPts val="1800"/>
              <a:buFont typeface="Arial"/>
              <a:buNone/>
            </a:pPr>
            <a:endParaRPr sz="1800" b="1">
              <a:solidFill>
                <a:schemeClr val="dk1"/>
              </a:solidFill>
              <a:highlight>
                <a:srgbClr val="00FF00"/>
              </a:highlight>
              <a:latin typeface="Calibri"/>
              <a:ea typeface="Calibri"/>
              <a:cs typeface="Calibri"/>
              <a:sym typeface="Calibri"/>
            </a:endParaRPr>
          </a:p>
          <a:p>
            <a:pPr marL="0" lvl="0" indent="0" algn="l" rtl="0">
              <a:lnSpc>
                <a:spcPct val="100000"/>
              </a:lnSpc>
              <a:spcBef>
                <a:spcPts val="700"/>
              </a:spcBef>
              <a:spcAft>
                <a:spcPts val="0"/>
              </a:spcAft>
              <a:buClr>
                <a:schemeClr val="dk1"/>
              </a:buClr>
              <a:buSzPts val="1800"/>
              <a:buFont typeface="Arial"/>
              <a:buNone/>
            </a:pPr>
            <a:r>
              <a:rPr lang="en-US" sz="1800" b="1">
                <a:solidFill>
                  <a:schemeClr val="dk1"/>
                </a:solidFill>
                <a:highlight>
                  <a:srgbClr val="00FF00"/>
                </a:highlight>
                <a:latin typeface="Calibri"/>
                <a:ea typeface="Calibri"/>
                <a:cs typeface="Calibri"/>
                <a:sym typeface="Calibri"/>
              </a:rPr>
              <a:t>C-Command:</a:t>
            </a:r>
            <a:endParaRPr>
              <a:solidFill>
                <a:schemeClr val="dk1"/>
              </a:solidFill>
            </a:endParaRPr>
          </a:p>
          <a:p>
            <a:pPr marL="0" lvl="0" indent="0" algn="just" rtl="0">
              <a:lnSpc>
                <a:spcPct val="100000"/>
              </a:lnSpc>
              <a:spcBef>
                <a:spcPts val="0"/>
              </a:spcBef>
              <a:spcAft>
                <a:spcPts val="0"/>
              </a:spcAft>
              <a:buSzPts val="1800"/>
              <a:buNone/>
            </a:pPr>
            <a:endParaRPr/>
          </a:p>
        </p:txBody>
      </p:sp>
      <p:pic>
        <p:nvPicPr>
          <p:cNvPr id="694" name="Google Shape;694;g245998e394d_0_0"/>
          <p:cNvPicPr preferRelativeResize="0"/>
          <p:nvPr/>
        </p:nvPicPr>
        <p:blipFill rotWithShape="1">
          <a:blip r:embed="rId3">
            <a:alphaModFix/>
          </a:blip>
          <a:srcRect/>
          <a:stretch/>
        </p:blipFill>
        <p:spPr>
          <a:xfrm>
            <a:off x="7032247" y="2644400"/>
            <a:ext cx="4492550" cy="2752725"/>
          </a:xfrm>
          <a:prstGeom prst="rect">
            <a:avLst/>
          </a:prstGeom>
          <a:noFill/>
          <a:ln>
            <a:noFill/>
          </a:ln>
        </p:spPr>
      </p:pic>
      <p:pic>
        <p:nvPicPr>
          <p:cNvPr id="695" name="Google Shape;695;g245998e394d_0_0"/>
          <p:cNvPicPr preferRelativeResize="0"/>
          <p:nvPr/>
        </p:nvPicPr>
        <p:blipFill rotWithShape="1">
          <a:blip r:embed="rId4">
            <a:alphaModFix/>
          </a:blip>
          <a:srcRect/>
          <a:stretch/>
        </p:blipFill>
        <p:spPr>
          <a:xfrm>
            <a:off x="1486281" y="2644400"/>
            <a:ext cx="5227776" cy="249555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g1007a4dec7d_0_0"/>
          <p:cNvSpPr txBox="1">
            <a:spLocks noGrp="1"/>
          </p:cNvSpPr>
          <p:nvPr>
            <p:ph type="title"/>
          </p:nvPr>
        </p:nvSpPr>
        <p:spPr>
          <a:xfrm>
            <a:off x="1251675" y="382381"/>
            <a:ext cx="10178400" cy="560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39215"/>
              <a:buNone/>
            </a:pPr>
            <a:r>
              <a:rPr lang="en-US"/>
              <a:t>C-command Example</a:t>
            </a:r>
            <a:endParaRPr/>
          </a:p>
          <a:p>
            <a:pPr marL="0" lvl="0" indent="0" algn="l" rtl="0">
              <a:lnSpc>
                <a:spcPct val="90000"/>
              </a:lnSpc>
              <a:spcBef>
                <a:spcPts val="0"/>
              </a:spcBef>
              <a:spcAft>
                <a:spcPts val="0"/>
              </a:spcAft>
              <a:buSzPct val="39215"/>
              <a:buNone/>
            </a:pPr>
            <a:endParaRPr/>
          </a:p>
        </p:txBody>
      </p:sp>
      <p:sp>
        <p:nvSpPr>
          <p:cNvPr id="701" name="Google Shape;701;g1007a4dec7d_0_0"/>
          <p:cNvSpPr txBox="1">
            <a:spLocks noGrp="1"/>
          </p:cNvSpPr>
          <p:nvPr>
            <p:ph type="body" idx="1"/>
          </p:nvPr>
        </p:nvSpPr>
        <p:spPr>
          <a:xfrm>
            <a:off x="1251675" y="1072575"/>
            <a:ext cx="10178400" cy="57855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700"/>
              </a:spcBef>
              <a:spcAft>
                <a:spcPts val="0"/>
              </a:spcAft>
              <a:buSzPts val="1800"/>
              <a:buNone/>
            </a:pPr>
            <a:endParaRPr/>
          </a:p>
        </p:txBody>
      </p:sp>
      <p:pic>
        <p:nvPicPr>
          <p:cNvPr id="702" name="Google Shape;702;g1007a4dec7d_0_0"/>
          <p:cNvPicPr preferRelativeResize="0"/>
          <p:nvPr/>
        </p:nvPicPr>
        <p:blipFill rotWithShape="1">
          <a:blip r:embed="rId3">
            <a:alphaModFix/>
          </a:blip>
          <a:srcRect/>
          <a:stretch/>
        </p:blipFill>
        <p:spPr>
          <a:xfrm>
            <a:off x="1377136" y="1072575"/>
            <a:ext cx="9771188" cy="560665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45"/>
          <p:cNvSpPr txBox="1">
            <a:spLocks noGrp="1"/>
          </p:cNvSpPr>
          <p:nvPr>
            <p:ph type="title"/>
          </p:nvPr>
        </p:nvSpPr>
        <p:spPr>
          <a:xfrm>
            <a:off x="1251678" y="382385"/>
            <a:ext cx="10178322" cy="69827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rgbClr val="262626"/>
              </a:buClr>
              <a:buSzPct val="100000"/>
              <a:buFont typeface="Impact"/>
              <a:buNone/>
            </a:pPr>
            <a:r>
              <a:rPr lang="en-US"/>
              <a:t>GB</a:t>
            </a:r>
            <a:endParaRPr/>
          </a:p>
        </p:txBody>
      </p:sp>
      <p:sp>
        <p:nvSpPr>
          <p:cNvPr id="708" name="Google Shape;708;p45"/>
          <p:cNvSpPr txBox="1">
            <a:spLocks noGrp="1"/>
          </p:cNvSpPr>
          <p:nvPr>
            <p:ph type="body" idx="1"/>
          </p:nvPr>
        </p:nvSpPr>
        <p:spPr>
          <a:xfrm>
            <a:off x="1177787" y="1006764"/>
            <a:ext cx="10178322" cy="5754254"/>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000"/>
              <a:buNone/>
            </a:pPr>
            <a:r>
              <a:rPr lang="en-US">
                <a:solidFill>
                  <a:schemeClr val="dk1"/>
                </a:solidFill>
                <a:highlight>
                  <a:srgbClr val="00FF00"/>
                </a:highlight>
              </a:rPr>
              <a:t>Government:</a:t>
            </a:r>
            <a:endParaRPr>
              <a:solidFill>
                <a:schemeClr val="dk1"/>
              </a:solidFill>
              <a:highlight>
                <a:srgbClr val="00FF00"/>
              </a:highlight>
            </a:endParaRPr>
          </a:p>
          <a:p>
            <a:pPr marL="457200" lvl="0" indent="-374650" algn="l" rtl="0">
              <a:lnSpc>
                <a:spcPct val="110000"/>
              </a:lnSpc>
              <a:spcBef>
                <a:spcPts val="0"/>
              </a:spcBef>
              <a:spcAft>
                <a:spcPts val="0"/>
              </a:spcAft>
              <a:buClr>
                <a:schemeClr val="dk1"/>
              </a:buClr>
              <a:buSzPts val="2300"/>
              <a:buFont typeface="Times New Roman"/>
              <a:buChar char="•"/>
            </a:pPr>
            <a:r>
              <a:rPr lang="en-US" sz="2300">
                <a:solidFill>
                  <a:schemeClr val="dk1"/>
                </a:solidFill>
                <a:latin typeface="Times New Roman"/>
                <a:ea typeface="Times New Roman"/>
                <a:cs typeface="Times New Roman"/>
                <a:sym typeface="Times New Roman"/>
              </a:rPr>
              <a:t>Government is a special case of C-command.</a:t>
            </a:r>
            <a:endParaRPr sz="2300">
              <a:solidFill>
                <a:schemeClr val="dk1"/>
              </a:solidFill>
              <a:latin typeface="Times New Roman"/>
              <a:ea typeface="Times New Roman"/>
              <a:cs typeface="Times New Roman"/>
              <a:sym typeface="Times New Roman"/>
            </a:endParaRPr>
          </a:p>
          <a:p>
            <a:pPr marL="914400" lvl="1" indent="-374650" algn="l" rtl="0">
              <a:lnSpc>
                <a:spcPct val="100000"/>
              </a:lnSpc>
              <a:spcBef>
                <a:spcPts val="0"/>
              </a:spcBef>
              <a:spcAft>
                <a:spcPts val="0"/>
              </a:spcAft>
              <a:buClr>
                <a:schemeClr val="dk1"/>
              </a:buClr>
              <a:buSzPts val="2300"/>
              <a:buFont typeface="Times New Roman"/>
              <a:buChar char="–"/>
            </a:pPr>
            <a:r>
              <a:rPr lang="en-US" sz="2300" b="1">
                <a:solidFill>
                  <a:schemeClr val="dk1"/>
                </a:solidFill>
                <a:latin typeface="Times New Roman"/>
                <a:ea typeface="Times New Roman"/>
                <a:cs typeface="Times New Roman"/>
                <a:sym typeface="Times New Roman"/>
              </a:rPr>
              <a:t>α governs β iff:</a:t>
            </a:r>
            <a:endParaRPr sz="2300" b="1">
              <a:solidFill>
                <a:schemeClr val="dk1"/>
              </a:solidFill>
              <a:latin typeface="Times New Roman"/>
              <a:ea typeface="Times New Roman"/>
              <a:cs typeface="Times New Roman"/>
              <a:sym typeface="Times New Roman"/>
            </a:endParaRPr>
          </a:p>
          <a:p>
            <a:pPr marL="914400" lvl="1" indent="-374650" algn="l" rtl="0">
              <a:lnSpc>
                <a:spcPct val="100000"/>
              </a:lnSpc>
              <a:spcBef>
                <a:spcPts val="0"/>
              </a:spcBef>
              <a:spcAft>
                <a:spcPts val="0"/>
              </a:spcAft>
              <a:buClr>
                <a:schemeClr val="dk1"/>
              </a:buClr>
              <a:buSzPts val="2300"/>
              <a:buFont typeface="Times New Roman"/>
              <a:buChar char="–"/>
            </a:pPr>
            <a:r>
              <a:rPr lang="en-US" sz="2300" b="1">
                <a:solidFill>
                  <a:schemeClr val="dk1"/>
                </a:solidFill>
                <a:latin typeface="Times New Roman"/>
                <a:ea typeface="Times New Roman"/>
                <a:cs typeface="Times New Roman"/>
                <a:sym typeface="Times New Roman"/>
              </a:rPr>
              <a:t>α C-commands β</a:t>
            </a:r>
            <a:endParaRPr sz="2300" b="1">
              <a:solidFill>
                <a:schemeClr val="dk1"/>
              </a:solidFill>
              <a:latin typeface="Times New Roman"/>
              <a:ea typeface="Times New Roman"/>
              <a:cs typeface="Times New Roman"/>
              <a:sym typeface="Times New Roman"/>
            </a:endParaRPr>
          </a:p>
          <a:p>
            <a:pPr marL="457200" lvl="0" indent="-374650" algn="just" rtl="0">
              <a:lnSpc>
                <a:spcPct val="100000"/>
              </a:lnSpc>
              <a:spcBef>
                <a:spcPts val="0"/>
              </a:spcBef>
              <a:spcAft>
                <a:spcPts val="0"/>
              </a:spcAft>
              <a:buClr>
                <a:schemeClr val="dk1"/>
              </a:buClr>
              <a:buSzPts val="2300"/>
              <a:buFont typeface="Times New Roman"/>
              <a:buChar char="•"/>
            </a:pPr>
            <a:r>
              <a:rPr lang="en-US" sz="2300">
                <a:solidFill>
                  <a:schemeClr val="dk1"/>
                </a:solidFill>
                <a:latin typeface="Times New Roman"/>
                <a:ea typeface="Times New Roman"/>
                <a:cs typeface="Times New Roman"/>
                <a:sym typeface="Times New Roman"/>
              </a:rPr>
              <a:t>α is an X (head, eg: noun, verb, preposition, adjective and inflection), and every maximal projection dominating β dominates α. </a:t>
            </a:r>
            <a:endParaRPr sz="2300">
              <a:solidFill>
                <a:schemeClr val="dk1"/>
              </a:solidFill>
              <a:latin typeface="Times New Roman"/>
              <a:ea typeface="Times New Roman"/>
              <a:cs typeface="Times New Roman"/>
              <a:sym typeface="Times New Roman"/>
            </a:endParaRPr>
          </a:p>
          <a:p>
            <a:pPr marL="457200" lvl="0" indent="-374650" algn="just" rtl="0">
              <a:lnSpc>
                <a:spcPct val="100000"/>
              </a:lnSpc>
              <a:spcBef>
                <a:spcPts val="0"/>
              </a:spcBef>
              <a:spcAft>
                <a:spcPts val="0"/>
              </a:spcAft>
              <a:buClr>
                <a:schemeClr val="dk1"/>
              </a:buClr>
              <a:buSzPts val="2300"/>
              <a:buFont typeface="Times New Roman"/>
              <a:buChar char="•"/>
            </a:pPr>
            <a:r>
              <a:rPr lang="en-US" sz="2300">
                <a:solidFill>
                  <a:schemeClr val="dk1"/>
                </a:solidFill>
                <a:latin typeface="Times New Roman"/>
                <a:ea typeface="Times New Roman"/>
                <a:cs typeface="Times New Roman"/>
                <a:sym typeface="Times New Roman"/>
              </a:rPr>
              <a:t>No maximal projection can intervene between the governor and governee.</a:t>
            </a: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SzPts val="1800"/>
              <a:buNone/>
            </a:pPr>
            <a:endParaRPr sz="1800">
              <a:solidFill>
                <a:schemeClr val="dk1"/>
              </a:solidFill>
              <a:latin typeface="Calibri"/>
              <a:ea typeface="Calibri"/>
              <a:cs typeface="Calibri"/>
              <a:sym typeface="Calibri"/>
            </a:endParaRPr>
          </a:p>
          <a:p>
            <a:pPr marL="0" lvl="0" indent="0" algn="just" rtl="0">
              <a:lnSpc>
                <a:spcPct val="115000"/>
              </a:lnSpc>
              <a:spcBef>
                <a:spcPts val="700"/>
              </a:spcBef>
              <a:spcAft>
                <a:spcPts val="0"/>
              </a:spcAft>
              <a:buSzPts val="1800"/>
              <a:buNone/>
            </a:pPr>
            <a:endParaRPr>
              <a:highlight>
                <a:srgbClr val="00FF00"/>
              </a:highlight>
            </a:endParaRPr>
          </a:p>
        </p:txBody>
      </p:sp>
      <p:pic>
        <p:nvPicPr>
          <p:cNvPr id="709" name="Google Shape;709;p45"/>
          <p:cNvPicPr preferRelativeResize="0"/>
          <p:nvPr/>
        </p:nvPicPr>
        <p:blipFill rotWithShape="1">
          <a:blip r:embed="rId3">
            <a:alphaModFix/>
          </a:blip>
          <a:srcRect/>
          <a:stretch/>
        </p:blipFill>
        <p:spPr>
          <a:xfrm>
            <a:off x="5834150" y="3701250"/>
            <a:ext cx="5184149" cy="266145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1007a4dec7d_0_6"/>
          <p:cNvSpPr txBox="1">
            <a:spLocks noGrp="1"/>
          </p:cNvSpPr>
          <p:nvPr>
            <p:ph type="title"/>
          </p:nvPr>
        </p:nvSpPr>
        <p:spPr>
          <a:xfrm>
            <a:off x="1251675" y="382381"/>
            <a:ext cx="10178400" cy="592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US" sz="2890"/>
              <a:t>GB -   Movement, Empty Category and Co-indexing</a:t>
            </a:r>
            <a:endParaRPr sz="2890">
              <a:highlight>
                <a:schemeClr val="lt1"/>
              </a:highlight>
            </a:endParaRPr>
          </a:p>
        </p:txBody>
      </p:sp>
      <p:sp>
        <p:nvSpPr>
          <p:cNvPr id="715" name="Google Shape;715;g1007a4dec7d_0_6"/>
          <p:cNvSpPr txBox="1">
            <a:spLocks noGrp="1"/>
          </p:cNvSpPr>
          <p:nvPr>
            <p:ph type="body" idx="1"/>
          </p:nvPr>
        </p:nvSpPr>
        <p:spPr>
          <a:xfrm>
            <a:off x="1251675" y="975175"/>
            <a:ext cx="10178400" cy="5801700"/>
          </a:xfrm>
          <a:prstGeom prst="rect">
            <a:avLst/>
          </a:prstGeom>
          <a:noFill/>
          <a:ln>
            <a:noFill/>
          </a:ln>
        </p:spPr>
        <p:txBody>
          <a:bodyPr spcFirstLastPara="1" wrap="square" lIns="91425" tIns="45700" rIns="91425" bIns="45700" anchor="ctr" anchorCtr="0">
            <a:noAutofit/>
          </a:bodyPr>
          <a:lstStyle/>
          <a:p>
            <a:pPr marL="0" lvl="0" indent="0" algn="just" rtl="0">
              <a:lnSpc>
                <a:spcPct val="115000"/>
              </a:lnSpc>
              <a:spcBef>
                <a:spcPts val="700"/>
              </a:spcBef>
              <a:spcAft>
                <a:spcPts val="0"/>
              </a:spcAft>
              <a:buClr>
                <a:schemeClr val="dk1"/>
              </a:buClr>
              <a:buSzPts val="1800"/>
              <a:buFont typeface="Arial"/>
              <a:buNone/>
            </a:pPr>
            <a:r>
              <a:rPr lang="en-US" sz="2400" b="1">
                <a:solidFill>
                  <a:schemeClr val="dk1"/>
                </a:solidFill>
                <a:highlight>
                  <a:srgbClr val="00FF00"/>
                </a:highlight>
                <a:latin typeface="Times New Roman"/>
                <a:ea typeface="Times New Roman"/>
                <a:cs typeface="Times New Roman"/>
                <a:sym typeface="Times New Roman"/>
              </a:rPr>
              <a:t>Movement:</a:t>
            </a:r>
            <a:endParaRPr sz="2400" b="1">
              <a:solidFill>
                <a:schemeClr val="dk1"/>
              </a:solidFill>
              <a:highlight>
                <a:srgbClr val="00FF00"/>
              </a:highlight>
              <a:latin typeface="Times New Roman"/>
              <a:ea typeface="Times New Roman"/>
              <a:cs typeface="Times New Roman"/>
              <a:sym typeface="Times New Roman"/>
            </a:endParaRPr>
          </a:p>
          <a:p>
            <a:pPr marL="457200" lvl="0" indent="-381000" algn="just" rtl="0">
              <a:lnSpc>
                <a:spcPct val="150000"/>
              </a:lnSpc>
              <a:spcBef>
                <a:spcPts val="70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move α is described as </a:t>
            </a:r>
            <a:r>
              <a:rPr lang="en-US" sz="2400" b="1">
                <a:solidFill>
                  <a:schemeClr val="dk1"/>
                </a:solidFill>
                <a:latin typeface="Times New Roman"/>
                <a:ea typeface="Times New Roman"/>
                <a:cs typeface="Times New Roman"/>
                <a:sym typeface="Times New Roman"/>
              </a:rPr>
              <a:t>‘move anything anywhere’</a:t>
            </a:r>
            <a:r>
              <a:rPr lang="en-US" sz="2400">
                <a:solidFill>
                  <a:schemeClr val="dk1"/>
                </a:solidFill>
                <a:latin typeface="Times New Roman"/>
                <a:ea typeface="Times New Roman"/>
                <a:cs typeface="Times New Roman"/>
                <a:sym typeface="Times New Roman"/>
              </a:rPr>
              <a:t>, though it provides restrictions for valid movements.</a:t>
            </a:r>
            <a:endParaRPr sz="2400">
              <a:solidFill>
                <a:schemeClr val="dk1"/>
              </a:solidFill>
              <a:latin typeface="Times New Roman"/>
              <a:ea typeface="Times New Roman"/>
              <a:cs typeface="Times New Roman"/>
              <a:sym typeface="Times New Roman"/>
            </a:endParaRPr>
          </a:p>
          <a:p>
            <a:pPr marL="457200" lvl="0" indent="-381000" algn="just" rtl="0">
              <a:lnSpc>
                <a:spcPct val="200000"/>
              </a:lnSpc>
              <a:spcBef>
                <a:spcPts val="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The active to passive transformation is the result of </a:t>
            </a:r>
            <a:r>
              <a:rPr lang="en-US" sz="2400" b="1">
                <a:solidFill>
                  <a:schemeClr val="dk1"/>
                </a:solidFill>
                <a:latin typeface="Times New Roman"/>
                <a:ea typeface="Times New Roman"/>
                <a:cs typeface="Times New Roman"/>
                <a:sym typeface="Times New Roman"/>
              </a:rPr>
              <a:t>NP movement</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457200" lvl="0" indent="-381000" algn="just" rtl="0">
              <a:lnSpc>
                <a:spcPct val="200000"/>
              </a:lnSpc>
              <a:spcBef>
                <a:spcPts val="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Another well known movement is the </a:t>
            </a:r>
            <a:r>
              <a:rPr lang="en-US" sz="2400" b="1">
                <a:solidFill>
                  <a:schemeClr val="dk1"/>
                </a:solidFill>
                <a:latin typeface="Times New Roman"/>
                <a:ea typeface="Times New Roman"/>
                <a:cs typeface="Times New Roman"/>
                <a:sym typeface="Times New Roman"/>
              </a:rPr>
              <a:t>wh-movement</a:t>
            </a:r>
            <a:r>
              <a:rPr lang="en-US" sz="2400">
                <a:solidFill>
                  <a:schemeClr val="dk1"/>
                </a:solidFill>
                <a:latin typeface="Times New Roman"/>
                <a:ea typeface="Times New Roman"/>
                <a:cs typeface="Times New Roman"/>
                <a:sym typeface="Times New Roman"/>
              </a:rPr>
              <a:t>, where wh-phrase is moved as follows:</a:t>
            </a:r>
            <a:endParaRPr sz="2400">
              <a:solidFill>
                <a:schemeClr val="dk1"/>
              </a:solidFill>
              <a:latin typeface="Times New Roman"/>
              <a:ea typeface="Times New Roman"/>
              <a:cs typeface="Times New Roman"/>
              <a:sym typeface="Times New Roman"/>
            </a:endParaRPr>
          </a:p>
          <a:p>
            <a:pPr marL="0" lvl="0" indent="0" algn="ctr" rtl="0">
              <a:lnSpc>
                <a:spcPct val="200000"/>
              </a:lnSpc>
              <a:spcBef>
                <a:spcPts val="1000"/>
              </a:spcBef>
              <a:spcAft>
                <a:spcPts val="0"/>
              </a:spcAft>
              <a:buClr>
                <a:schemeClr val="dk1"/>
              </a:buClr>
              <a:buSzPts val="1800"/>
              <a:buFont typeface="Arial"/>
              <a:buNone/>
            </a:pPr>
            <a:r>
              <a:rPr lang="en-US" sz="2400">
                <a:solidFill>
                  <a:schemeClr val="dk1"/>
                </a:solidFill>
                <a:latin typeface="Times New Roman"/>
                <a:ea typeface="Times New Roman"/>
                <a:cs typeface="Times New Roman"/>
                <a:sym typeface="Times New Roman"/>
              </a:rPr>
              <a:t>Ex: what did mukesh eat?</a:t>
            </a:r>
            <a:endParaRPr sz="2400">
              <a:solidFill>
                <a:schemeClr val="dk1"/>
              </a:solidFill>
              <a:latin typeface="Times New Roman"/>
              <a:ea typeface="Times New Roman"/>
              <a:cs typeface="Times New Roman"/>
              <a:sym typeface="Times New Roman"/>
            </a:endParaRPr>
          </a:p>
          <a:p>
            <a:pPr marL="0" lvl="0" indent="0" algn="ctr" rtl="0">
              <a:lnSpc>
                <a:spcPct val="200000"/>
              </a:lnSpc>
              <a:spcBef>
                <a:spcPts val="0"/>
              </a:spcBef>
              <a:spcAft>
                <a:spcPts val="0"/>
              </a:spcAft>
              <a:buClr>
                <a:schemeClr val="dk1"/>
              </a:buClr>
              <a:buSzPts val="1800"/>
              <a:buFont typeface="Arial"/>
              <a:buNone/>
            </a:pPr>
            <a:r>
              <a:rPr lang="en-US" sz="2400">
                <a:solidFill>
                  <a:schemeClr val="dk1"/>
                </a:solidFill>
                <a:latin typeface="Times New Roman"/>
                <a:ea typeface="Times New Roman"/>
                <a:cs typeface="Times New Roman"/>
                <a:sym typeface="Times New Roman"/>
              </a:rPr>
              <a:t>[Mukesh INFL eat what]</a:t>
            </a:r>
            <a:endParaRPr sz="2400">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g245998e394d_0_7"/>
          <p:cNvSpPr txBox="1">
            <a:spLocks noGrp="1"/>
          </p:cNvSpPr>
          <p:nvPr>
            <p:ph type="title"/>
          </p:nvPr>
        </p:nvSpPr>
        <p:spPr>
          <a:xfrm>
            <a:off x="1251675" y="382381"/>
            <a:ext cx="10178400" cy="592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US" sz="2890"/>
              <a:t>GB -   Movement, Empty Category and Co-indexing</a:t>
            </a:r>
            <a:endParaRPr sz="2890">
              <a:highlight>
                <a:schemeClr val="lt1"/>
              </a:highlight>
            </a:endParaRPr>
          </a:p>
        </p:txBody>
      </p:sp>
      <p:sp>
        <p:nvSpPr>
          <p:cNvPr id="721" name="Google Shape;721;g245998e394d_0_7"/>
          <p:cNvSpPr txBox="1">
            <a:spLocks noGrp="1"/>
          </p:cNvSpPr>
          <p:nvPr>
            <p:ph type="body" idx="1"/>
          </p:nvPr>
        </p:nvSpPr>
        <p:spPr>
          <a:xfrm>
            <a:off x="1251675" y="975175"/>
            <a:ext cx="10178400" cy="58017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70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Empty Category:</a:t>
            </a:r>
            <a:endParaRPr sz="2300">
              <a:solidFill>
                <a:schemeClr val="dk1"/>
              </a:solidFill>
              <a:latin typeface="Times New Roman"/>
              <a:ea typeface="Times New Roman"/>
              <a:cs typeface="Times New Roman"/>
              <a:sym typeface="Times New Roman"/>
            </a:endParaRPr>
          </a:p>
          <a:p>
            <a:pPr marL="228600" lvl="0" indent="-228600" algn="just" rtl="0">
              <a:lnSpc>
                <a:spcPct val="115000"/>
              </a:lnSpc>
              <a:spcBef>
                <a:spcPts val="700"/>
              </a:spcBef>
              <a:spcAft>
                <a:spcPts val="0"/>
              </a:spcAft>
              <a:buClr>
                <a:schemeClr val="dk1"/>
              </a:buClr>
              <a:buSzPts val="2300"/>
              <a:buChar char="•"/>
            </a:pPr>
            <a:r>
              <a:rPr lang="en-US" sz="2300">
                <a:solidFill>
                  <a:schemeClr val="dk1"/>
                </a:solidFill>
                <a:latin typeface="Times New Roman"/>
                <a:ea typeface="Times New Roman"/>
                <a:cs typeface="Times New Roman"/>
                <a:sym typeface="Times New Roman"/>
              </a:rPr>
              <a:t>As per projection principal, lexical categories (noun, verb, preposition) must exist at all the three levels (d-level, s-level and LF level). This principle, when applied to some cases of movement leads to the existence of an </a:t>
            </a:r>
            <a:r>
              <a:rPr lang="en-US" sz="2300" b="1">
                <a:solidFill>
                  <a:schemeClr val="dk1"/>
                </a:solidFill>
                <a:latin typeface="Times New Roman"/>
                <a:ea typeface="Times New Roman"/>
                <a:cs typeface="Times New Roman"/>
                <a:sym typeface="Times New Roman"/>
              </a:rPr>
              <a:t>abstract entity</a:t>
            </a:r>
            <a:r>
              <a:rPr lang="en-US" sz="2300">
                <a:solidFill>
                  <a:schemeClr val="dk1"/>
                </a:solidFill>
                <a:latin typeface="Times New Roman"/>
                <a:ea typeface="Times New Roman"/>
                <a:cs typeface="Times New Roman"/>
                <a:sym typeface="Times New Roman"/>
              </a:rPr>
              <a:t> called </a:t>
            </a:r>
            <a:r>
              <a:rPr lang="en-US" sz="2300" b="1">
                <a:solidFill>
                  <a:schemeClr val="dk1"/>
                </a:solidFill>
                <a:highlight>
                  <a:srgbClr val="00FF00"/>
                </a:highlight>
                <a:latin typeface="Times New Roman"/>
                <a:ea typeface="Times New Roman"/>
                <a:cs typeface="Times New Roman"/>
                <a:sym typeface="Times New Roman"/>
              </a:rPr>
              <a:t>empty category.</a:t>
            </a:r>
            <a:r>
              <a:rPr lang="en-US" sz="2300">
                <a:solidFill>
                  <a:schemeClr val="dk1"/>
                </a:solidFill>
                <a:highlight>
                  <a:srgbClr val="00FF00"/>
                </a:highlight>
                <a:latin typeface="Times New Roman"/>
                <a:ea typeface="Times New Roman"/>
                <a:cs typeface="Times New Roman"/>
                <a:sym typeface="Times New Roman"/>
              </a:rPr>
              <a:t> </a:t>
            </a:r>
            <a:endParaRPr sz="2300">
              <a:solidFill>
                <a:schemeClr val="dk1"/>
              </a:solidFill>
              <a:highlight>
                <a:srgbClr val="00FF00"/>
              </a:highlight>
              <a:latin typeface="Times New Roman"/>
              <a:ea typeface="Times New Roman"/>
              <a:cs typeface="Times New Roman"/>
              <a:sym typeface="Times New Roman"/>
            </a:endParaRPr>
          </a:p>
          <a:p>
            <a:pPr marL="228600" lvl="0" indent="-228600" algn="just" rtl="0">
              <a:lnSpc>
                <a:spcPct val="115000"/>
              </a:lnSpc>
              <a:spcBef>
                <a:spcPts val="1000"/>
              </a:spcBef>
              <a:spcAft>
                <a:spcPts val="0"/>
              </a:spcAft>
              <a:buClr>
                <a:schemeClr val="dk1"/>
              </a:buClr>
              <a:buSzPts val="2300"/>
              <a:buChar char="•"/>
            </a:pPr>
            <a:r>
              <a:rPr lang="en-US" sz="2300">
                <a:solidFill>
                  <a:schemeClr val="dk1"/>
                </a:solidFill>
                <a:highlight>
                  <a:schemeClr val="lt1"/>
                </a:highlight>
                <a:latin typeface="Times New Roman"/>
                <a:ea typeface="Times New Roman"/>
                <a:cs typeface="Times New Roman"/>
                <a:sym typeface="Times New Roman"/>
              </a:rPr>
              <a:t>In </a:t>
            </a:r>
            <a:r>
              <a:rPr lang="en-US" sz="2300">
                <a:solidFill>
                  <a:schemeClr val="dk1"/>
                </a:solidFill>
                <a:latin typeface="Times New Roman"/>
                <a:ea typeface="Times New Roman"/>
                <a:cs typeface="Times New Roman"/>
                <a:sym typeface="Times New Roman"/>
              </a:rPr>
              <a:t>GB, there are </a:t>
            </a:r>
            <a:r>
              <a:rPr lang="en-US" sz="2300" b="1">
                <a:solidFill>
                  <a:schemeClr val="dk1"/>
                </a:solidFill>
                <a:latin typeface="Times New Roman"/>
                <a:ea typeface="Times New Roman"/>
                <a:cs typeface="Times New Roman"/>
                <a:sym typeface="Times New Roman"/>
              </a:rPr>
              <a:t>four types of empty categories</a:t>
            </a:r>
            <a:r>
              <a:rPr lang="en-US" sz="2300">
                <a:solidFill>
                  <a:schemeClr val="dk1"/>
                </a:solidFill>
                <a:latin typeface="Times New Roman"/>
                <a:ea typeface="Times New Roman"/>
                <a:cs typeface="Times New Roman"/>
                <a:sym typeface="Times New Roman"/>
              </a:rPr>
              <a:t>, two being empty NP positions, called </a:t>
            </a:r>
            <a:r>
              <a:rPr lang="en-US" sz="2300">
                <a:solidFill>
                  <a:schemeClr val="dk1"/>
                </a:solidFill>
                <a:highlight>
                  <a:srgbClr val="FFFF00"/>
                </a:highlight>
                <a:latin typeface="Times New Roman"/>
                <a:ea typeface="Times New Roman"/>
                <a:cs typeface="Times New Roman"/>
                <a:sym typeface="Times New Roman"/>
              </a:rPr>
              <a:t>wh-trace</a:t>
            </a:r>
            <a:r>
              <a:rPr lang="en-US" sz="2300">
                <a:solidFill>
                  <a:schemeClr val="dk1"/>
                </a:solidFill>
                <a:latin typeface="Times New Roman"/>
                <a:ea typeface="Times New Roman"/>
                <a:cs typeface="Times New Roman"/>
                <a:sym typeface="Times New Roman"/>
              </a:rPr>
              <a:t> and </a:t>
            </a:r>
            <a:r>
              <a:rPr lang="en-US" sz="2300">
                <a:solidFill>
                  <a:schemeClr val="dk1"/>
                </a:solidFill>
                <a:highlight>
                  <a:srgbClr val="FFFF00"/>
                </a:highlight>
                <a:latin typeface="Times New Roman"/>
                <a:ea typeface="Times New Roman"/>
                <a:cs typeface="Times New Roman"/>
                <a:sym typeface="Times New Roman"/>
              </a:rPr>
              <a:t>NP-trace</a:t>
            </a:r>
            <a:r>
              <a:rPr lang="en-US" sz="2300">
                <a:solidFill>
                  <a:schemeClr val="dk1"/>
                </a:solidFill>
                <a:latin typeface="Times New Roman"/>
                <a:ea typeface="Times New Roman"/>
                <a:cs typeface="Times New Roman"/>
                <a:sym typeface="Times New Roman"/>
              </a:rPr>
              <a:t> and the remaining two being pronouns called </a:t>
            </a:r>
            <a:r>
              <a:rPr lang="en-US" sz="2300">
                <a:solidFill>
                  <a:schemeClr val="dk1"/>
                </a:solidFill>
                <a:highlight>
                  <a:srgbClr val="FFFF00"/>
                </a:highlight>
                <a:latin typeface="Times New Roman"/>
                <a:ea typeface="Times New Roman"/>
                <a:cs typeface="Times New Roman"/>
                <a:sym typeface="Times New Roman"/>
              </a:rPr>
              <a:t>small ‘pro’ </a:t>
            </a:r>
            <a:r>
              <a:rPr lang="en-US" sz="2300">
                <a:solidFill>
                  <a:schemeClr val="dk1"/>
                </a:solidFill>
                <a:latin typeface="Times New Roman"/>
                <a:ea typeface="Times New Roman"/>
                <a:cs typeface="Times New Roman"/>
                <a:sym typeface="Times New Roman"/>
              </a:rPr>
              <a:t>and </a:t>
            </a:r>
            <a:r>
              <a:rPr lang="en-US" sz="2300">
                <a:solidFill>
                  <a:schemeClr val="dk1"/>
                </a:solidFill>
                <a:highlight>
                  <a:srgbClr val="FFFF00"/>
                </a:highlight>
                <a:latin typeface="Times New Roman"/>
                <a:ea typeface="Times New Roman"/>
                <a:cs typeface="Times New Roman"/>
                <a:sym typeface="Times New Roman"/>
              </a:rPr>
              <a:t>big ‘PRO’</a:t>
            </a:r>
            <a:r>
              <a:rPr lang="en-US" sz="2300">
                <a:solidFill>
                  <a:schemeClr val="dk1"/>
                </a:solidFill>
                <a:latin typeface="Times New Roman"/>
                <a:ea typeface="Times New Roman"/>
                <a:cs typeface="Times New Roman"/>
                <a:sym typeface="Times New Roman"/>
              </a:rPr>
              <a:t>. This division is based on two properties – Anaphoric (+a and –a) and Pronominal (functioning as a pronoun) (+p or -p)</a:t>
            </a:r>
            <a:endParaRPr sz="2300">
              <a:solidFill>
                <a:schemeClr val="dk1"/>
              </a:solidFill>
              <a:latin typeface="Times New Roman"/>
              <a:ea typeface="Times New Roman"/>
              <a:cs typeface="Times New Roman"/>
              <a:sym typeface="Times New Roman"/>
            </a:endParaRPr>
          </a:p>
          <a:p>
            <a:pPr marL="457200" lvl="0" indent="0" algn="just" rtl="0">
              <a:lnSpc>
                <a:spcPct val="120000"/>
              </a:lnSpc>
              <a:spcBef>
                <a:spcPts val="1000"/>
              </a:spcBef>
              <a:spcAft>
                <a:spcPts val="0"/>
              </a:spcAft>
              <a:buSzPts val="1800"/>
              <a:buNone/>
            </a:pPr>
            <a:r>
              <a:rPr lang="en-US" sz="2300">
                <a:solidFill>
                  <a:schemeClr val="dk1"/>
                </a:solidFill>
                <a:latin typeface="Times New Roman"/>
                <a:ea typeface="Times New Roman"/>
                <a:cs typeface="Times New Roman"/>
                <a:sym typeface="Times New Roman"/>
              </a:rPr>
              <a:t>	Wh trace	-a, -p</a:t>
            </a:r>
            <a:endParaRPr sz="2300">
              <a:solidFill>
                <a:schemeClr val="dk1"/>
              </a:solidFill>
              <a:latin typeface="Times New Roman"/>
              <a:ea typeface="Times New Roman"/>
              <a:cs typeface="Times New Roman"/>
              <a:sym typeface="Times New Roman"/>
            </a:endParaRPr>
          </a:p>
          <a:p>
            <a:pPr marL="457200" lvl="0" indent="0" algn="just" rtl="0">
              <a:lnSpc>
                <a:spcPct val="120000"/>
              </a:lnSpc>
              <a:spcBef>
                <a:spcPts val="0"/>
              </a:spcBef>
              <a:spcAft>
                <a:spcPts val="0"/>
              </a:spcAft>
              <a:buSzPts val="1800"/>
              <a:buNone/>
            </a:pPr>
            <a:r>
              <a:rPr lang="en-US" sz="2300">
                <a:solidFill>
                  <a:schemeClr val="dk1"/>
                </a:solidFill>
                <a:latin typeface="Times New Roman"/>
                <a:ea typeface="Times New Roman"/>
                <a:cs typeface="Times New Roman"/>
                <a:sym typeface="Times New Roman"/>
              </a:rPr>
              <a:t>	NP trace	+a, -p</a:t>
            </a:r>
            <a:endParaRPr sz="2300">
              <a:solidFill>
                <a:schemeClr val="dk1"/>
              </a:solidFill>
              <a:latin typeface="Times New Roman"/>
              <a:ea typeface="Times New Roman"/>
              <a:cs typeface="Times New Roman"/>
              <a:sym typeface="Times New Roman"/>
            </a:endParaRPr>
          </a:p>
          <a:p>
            <a:pPr marL="457200" lvl="0" indent="0" algn="just" rtl="0">
              <a:lnSpc>
                <a:spcPct val="120000"/>
              </a:lnSpc>
              <a:spcBef>
                <a:spcPts val="0"/>
              </a:spcBef>
              <a:spcAft>
                <a:spcPts val="0"/>
              </a:spcAft>
              <a:buSzPts val="1800"/>
              <a:buNone/>
            </a:pPr>
            <a:r>
              <a:rPr lang="en-US" sz="2300">
                <a:solidFill>
                  <a:schemeClr val="dk1"/>
                </a:solidFill>
                <a:latin typeface="Times New Roman"/>
                <a:ea typeface="Times New Roman"/>
                <a:cs typeface="Times New Roman"/>
                <a:sym typeface="Times New Roman"/>
              </a:rPr>
              <a:t>	Small pro	-a, +p</a:t>
            </a:r>
            <a:endParaRPr sz="2300">
              <a:solidFill>
                <a:schemeClr val="dk1"/>
              </a:solidFill>
              <a:latin typeface="Times New Roman"/>
              <a:ea typeface="Times New Roman"/>
              <a:cs typeface="Times New Roman"/>
              <a:sym typeface="Times New Roman"/>
            </a:endParaRPr>
          </a:p>
          <a:p>
            <a:pPr marL="457200" lvl="0" indent="0" algn="just" rtl="0">
              <a:lnSpc>
                <a:spcPct val="120000"/>
              </a:lnSpc>
              <a:spcBef>
                <a:spcPts val="0"/>
              </a:spcBef>
              <a:spcAft>
                <a:spcPts val="0"/>
              </a:spcAft>
              <a:buSzPts val="1800"/>
              <a:buNone/>
            </a:pPr>
            <a:r>
              <a:rPr lang="en-US" sz="2300">
                <a:solidFill>
                  <a:schemeClr val="dk1"/>
                </a:solidFill>
                <a:latin typeface="Times New Roman"/>
                <a:ea typeface="Times New Roman"/>
                <a:cs typeface="Times New Roman"/>
                <a:sym typeface="Times New Roman"/>
              </a:rPr>
              <a:t>	Big pro	+a, +p</a:t>
            </a:r>
            <a:endParaRPr sz="2300">
              <a:solidFill>
                <a:schemeClr val="dk1"/>
              </a:solidFill>
              <a:latin typeface="Times New Roman"/>
              <a:ea typeface="Times New Roman"/>
              <a:cs typeface="Times New Roman"/>
              <a:sym typeface="Times New Roman"/>
            </a:endParaRPr>
          </a:p>
          <a:p>
            <a:pPr marL="0" lvl="0" indent="0" algn="just" rtl="0">
              <a:lnSpc>
                <a:spcPct val="115000"/>
              </a:lnSpc>
              <a:spcBef>
                <a:spcPts val="700"/>
              </a:spcBef>
              <a:spcAft>
                <a:spcPts val="0"/>
              </a:spcAft>
              <a:buSzPts val="1800"/>
              <a:buNone/>
            </a:pPr>
            <a:endParaRPr sz="1800">
              <a:solidFill>
                <a:schemeClr val="dk1"/>
              </a:solidFill>
              <a:highlight>
                <a:schemeClr val="lt1"/>
              </a:highlight>
              <a:latin typeface="Calibri"/>
              <a:ea typeface="Calibri"/>
              <a:cs typeface="Calibri"/>
              <a:sym typeface="Calibri"/>
            </a:endParaRPr>
          </a:p>
          <a:p>
            <a:pPr marL="0" lvl="0" indent="0" algn="l" rtl="0">
              <a:lnSpc>
                <a:spcPct val="110000"/>
              </a:lnSpc>
              <a:spcBef>
                <a:spcPts val="700"/>
              </a:spcBef>
              <a:spcAft>
                <a:spcPts val="0"/>
              </a:spcAft>
              <a:buSzPts val="1800"/>
              <a:buNone/>
            </a:pP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45998e394d_0_13"/>
          <p:cNvSpPr txBox="1">
            <a:spLocks noGrp="1"/>
          </p:cNvSpPr>
          <p:nvPr>
            <p:ph type="title"/>
          </p:nvPr>
        </p:nvSpPr>
        <p:spPr>
          <a:xfrm>
            <a:off x="1251675" y="382381"/>
            <a:ext cx="10178400" cy="592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US" sz="2890"/>
              <a:t>GB -   Movement, Empty Category and Co-indexing</a:t>
            </a:r>
            <a:endParaRPr sz="2890">
              <a:highlight>
                <a:schemeClr val="lt1"/>
              </a:highlight>
            </a:endParaRPr>
          </a:p>
        </p:txBody>
      </p:sp>
      <p:sp>
        <p:nvSpPr>
          <p:cNvPr id="727" name="Google Shape;727;g245998e394d_0_13"/>
          <p:cNvSpPr txBox="1">
            <a:spLocks noGrp="1"/>
          </p:cNvSpPr>
          <p:nvPr>
            <p:ph type="body" idx="1"/>
          </p:nvPr>
        </p:nvSpPr>
        <p:spPr>
          <a:xfrm>
            <a:off x="1251675" y="975175"/>
            <a:ext cx="10178400" cy="58017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70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Empty Category:</a:t>
            </a:r>
            <a:endParaRPr sz="2300" b="1">
              <a:solidFill>
                <a:schemeClr val="dk1"/>
              </a:solidFill>
              <a:highlight>
                <a:srgbClr val="00FF00"/>
              </a:highlight>
              <a:latin typeface="Times New Roman"/>
              <a:ea typeface="Times New Roman"/>
              <a:cs typeface="Times New Roman"/>
              <a:sym typeface="Times New Roman"/>
            </a:endParaRPr>
          </a:p>
          <a:p>
            <a:pPr marL="0" lvl="0" indent="0" algn="just" rtl="0">
              <a:lnSpc>
                <a:spcPct val="115000"/>
              </a:lnSpc>
              <a:spcBef>
                <a:spcPts val="70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Anaphoric:</a:t>
            </a:r>
            <a:endParaRPr sz="2300" b="1">
              <a:solidFill>
                <a:schemeClr val="dk1"/>
              </a:solidFill>
              <a:highlight>
                <a:srgbClr val="00FF00"/>
              </a:highlight>
              <a:latin typeface="Times New Roman"/>
              <a:ea typeface="Times New Roman"/>
              <a:cs typeface="Times New Roman"/>
              <a:sym typeface="Times New Roman"/>
            </a:endParaRPr>
          </a:p>
          <a:p>
            <a:pPr marL="0" lvl="0" indent="0" algn="just" rtl="0">
              <a:lnSpc>
                <a:spcPct val="120000"/>
              </a:lnSpc>
              <a:spcBef>
                <a:spcPts val="0"/>
              </a:spcBef>
              <a:spcAft>
                <a:spcPts val="0"/>
              </a:spcAft>
              <a:buSzPts val="1800"/>
              <a:buNone/>
            </a:pPr>
            <a:r>
              <a:rPr lang="en-US" sz="2500" b="1">
                <a:solidFill>
                  <a:schemeClr val="dk1"/>
                </a:solidFill>
                <a:highlight>
                  <a:schemeClr val="lt2"/>
                </a:highlight>
                <a:latin typeface="Times New Roman"/>
                <a:ea typeface="Times New Roman"/>
                <a:cs typeface="Times New Roman"/>
                <a:sym typeface="Times New Roman"/>
              </a:rPr>
              <a:t>Anaphoric (+a):</a:t>
            </a:r>
            <a:r>
              <a:rPr lang="en-US" sz="2500">
                <a:solidFill>
                  <a:srgbClr val="374151"/>
                </a:solidFill>
                <a:highlight>
                  <a:schemeClr val="lt2"/>
                </a:highlight>
                <a:latin typeface="Times New Roman"/>
                <a:ea typeface="Times New Roman"/>
                <a:cs typeface="Times New Roman"/>
                <a:sym typeface="Times New Roman"/>
              </a:rPr>
              <a:t> An element that is labeled as "anaphoric" is one that refers back to or depends on a previous element in a sentence, often called the antecedent. </a:t>
            </a:r>
            <a:endParaRPr sz="2500">
              <a:solidFill>
                <a:srgbClr val="374151"/>
              </a:solidFill>
              <a:highlight>
                <a:schemeClr val="lt2"/>
              </a:highlight>
              <a:latin typeface="Times New Roman"/>
              <a:ea typeface="Times New Roman"/>
              <a:cs typeface="Times New Roman"/>
              <a:sym typeface="Times New Roman"/>
            </a:endParaRPr>
          </a:p>
          <a:p>
            <a:pPr marL="457200" lvl="0" indent="0" algn="just" rtl="0">
              <a:lnSpc>
                <a:spcPct val="120000"/>
              </a:lnSpc>
              <a:spcBef>
                <a:spcPts val="0"/>
              </a:spcBef>
              <a:spcAft>
                <a:spcPts val="0"/>
              </a:spcAft>
              <a:buSzPts val="1800"/>
              <a:buNone/>
            </a:pPr>
            <a:r>
              <a:rPr lang="en-US" sz="2500">
                <a:solidFill>
                  <a:srgbClr val="374151"/>
                </a:solidFill>
                <a:highlight>
                  <a:srgbClr val="FFFF00"/>
                </a:highlight>
                <a:latin typeface="Times New Roman"/>
                <a:ea typeface="Times New Roman"/>
                <a:cs typeface="Times New Roman"/>
                <a:sym typeface="Times New Roman"/>
              </a:rPr>
              <a:t>"John said he was tired."  -&gt; Here, "he" refers back to "John."</a:t>
            </a:r>
            <a:endParaRPr sz="2500">
              <a:solidFill>
                <a:srgbClr val="374151"/>
              </a:solidFill>
              <a:highlight>
                <a:srgbClr val="FFFF00"/>
              </a:highlight>
              <a:latin typeface="Times New Roman"/>
              <a:ea typeface="Times New Roman"/>
              <a:cs typeface="Times New Roman"/>
              <a:sym typeface="Times New Roman"/>
            </a:endParaRPr>
          </a:p>
          <a:p>
            <a:pPr marL="457200" lvl="0" indent="0" algn="just" rtl="0">
              <a:lnSpc>
                <a:spcPct val="120000"/>
              </a:lnSpc>
              <a:spcBef>
                <a:spcPts val="0"/>
              </a:spcBef>
              <a:spcAft>
                <a:spcPts val="0"/>
              </a:spcAft>
              <a:buSzPts val="1800"/>
              <a:buNone/>
            </a:pPr>
            <a:endParaRPr sz="2500">
              <a:solidFill>
                <a:srgbClr val="374151"/>
              </a:solidFill>
              <a:highlight>
                <a:schemeClr val="lt2"/>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100"/>
              <a:buNone/>
            </a:pPr>
            <a:r>
              <a:rPr lang="en-US" sz="2500" b="1">
                <a:solidFill>
                  <a:srgbClr val="374151"/>
                </a:solidFill>
                <a:highlight>
                  <a:schemeClr val="lt2"/>
                </a:highlight>
                <a:latin typeface="Times New Roman"/>
                <a:ea typeface="Times New Roman"/>
                <a:cs typeface="Times New Roman"/>
                <a:sym typeface="Times New Roman"/>
              </a:rPr>
              <a:t>Non-Anaphoric (-a):</a:t>
            </a:r>
            <a:r>
              <a:rPr lang="en-US" sz="2500">
                <a:solidFill>
                  <a:srgbClr val="374151"/>
                </a:solidFill>
                <a:highlight>
                  <a:schemeClr val="lt2"/>
                </a:highlight>
                <a:latin typeface="Times New Roman"/>
                <a:ea typeface="Times New Roman"/>
                <a:cs typeface="Times New Roman"/>
                <a:sym typeface="Times New Roman"/>
              </a:rPr>
              <a:t> An element labeled as "non-anaphoric" does not rely on a previous element in the sentence for its interpretation. It carries its meaning independently and does not require an antecedent to be understood. </a:t>
            </a:r>
            <a:endParaRPr sz="2500">
              <a:solidFill>
                <a:srgbClr val="374151"/>
              </a:solidFill>
              <a:highlight>
                <a:schemeClr val="lt2"/>
              </a:highlight>
              <a:latin typeface="Times New Roman"/>
              <a:ea typeface="Times New Roman"/>
              <a:cs typeface="Times New Roman"/>
              <a:sym typeface="Times New Roman"/>
            </a:endParaRPr>
          </a:p>
          <a:p>
            <a:pPr marL="0" lvl="0" indent="457200" algn="l" rtl="0">
              <a:lnSpc>
                <a:spcPct val="115000"/>
              </a:lnSpc>
              <a:spcBef>
                <a:spcPts val="0"/>
              </a:spcBef>
              <a:spcAft>
                <a:spcPts val="0"/>
              </a:spcAft>
              <a:buClr>
                <a:schemeClr val="dk1"/>
              </a:buClr>
              <a:buSzPts val="1100"/>
              <a:buFont typeface="Arial"/>
              <a:buNone/>
            </a:pPr>
            <a:r>
              <a:rPr lang="en-US" sz="2500">
                <a:solidFill>
                  <a:srgbClr val="374151"/>
                </a:solidFill>
                <a:highlight>
                  <a:srgbClr val="FFFF00"/>
                </a:highlight>
                <a:latin typeface="Times New Roman"/>
                <a:ea typeface="Times New Roman"/>
                <a:cs typeface="Times New Roman"/>
                <a:sym typeface="Times New Roman"/>
              </a:rPr>
              <a:t>"The sky is blue," Here, the word "sky" is a non-anaphoric noun because it doesn't depend on any previous element in the sentence.</a:t>
            </a:r>
            <a:endParaRPr sz="2500">
              <a:solidFill>
                <a:srgbClr val="374151"/>
              </a:solidFill>
              <a:highlight>
                <a:srgbClr val="FFFF00"/>
              </a:highlight>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1100">
              <a:solidFill>
                <a:schemeClr val="dk1"/>
              </a:solidFill>
              <a:highlight>
                <a:schemeClr val="lt2"/>
              </a:highlight>
              <a:latin typeface="Arial"/>
              <a:ea typeface="Arial"/>
              <a:cs typeface="Arial"/>
              <a:sym typeface="Arial"/>
            </a:endParaRPr>
          </a:p>
          <a:p>
            <a:pPr marL="0" lvl="0" indent="0" algn="l" rtl="0">
              <a:lnSpc>
                <a:spcPct val="115000"/>
              </a:lnSpc>
              <a:spcBef>
                <a:spcPts val="0"/>
              </a:spcBef>
              <a:spcAft>
                <a:spcPts val="0"/>
              </a:spcAft>
              <a:buSzPts val="1800"/>
              <a:buNone/>
            </a:pPr>
            <a:endParaRPr sz="1200">
              <a:solidFill>
                <a:srgbClr val="374151"/>
              </a:solidFill>
              <a:highlight>
                <a:schemeClr val="lt2"/>
              </a:highlight>
              <a:latin typeface="Roboto"/>
              <a:ea typeface="Roboto"/>
              <a:cs typeface="Roboto"/>
              <a:sym typeface="Roboto"/>
            </a:endParaRPr>
          </a:p>
          <a:p>
            <a:pPr marL="0" lvl="0" indent="0" algn="l" rtl="0">
              <a:lnSpc>
                <a:spcPct val="110000"/>
              </a:lnSpc>
              <a:spcBef>
                <a:spcPts val="700"/>
              </a:spcBef>
              <a:spcAft>
                <a:spcPts val="0"/>
              </a:spcAft>
              <a:buSzPts val="1800"/>
              <a:buNone/>
            </a:pPr>
            <a:endParaRPr>
              <a:highlight>
                <a:schemeClr val="lt2"/>
              </a:highlight>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45998e394d_0_23"/>
          <p:cNvSpPr txBox="1">
            <a:spLocks noGrp="1"/>
          </p:cNvSpPr>
          <p:nvPr>
            <p:ph type="title"/>
          </p:nvPr>
        </p:nvSpPr>
        <p:spPr>
          <a:xfrm>
            <a:off x="1251675" y="382381"/>
            <a:ext cx="10178400" cy="592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990"/>
              <a:buNone/>
            </a:pPr>
            <a:r>
              <a:rPr lang="en-US" sz="2890"/>
              <a:t>GB -   Movement, Empty Category and Co-indexing</a:t>
            </a:r>
            <a:endParaRPr sz="2890">
              <a:highlight>
                <a:schemeClr val="lt1"/>
              </a:highlight>
            </a:endParaRPr>
          </a:p>
        </p:txBody>
      </p:sp>
      <p:sp>
        <p:nvSpPr>
          <p:cNvPr id="733" name="Google Shape;733;g245998e394d_0_23"/>
          <p:cNvSpPr txBox="1">
            <a:spLocks noGrp="1"/>
          </p:cNvSpPr>
          <p:nvPr>
            <p:ph type="body" idx="1"/>
          </p:nvPr>
        </p:nvSpPr>
        <p:spPr>
          <a:xfrm>
            <a:off x="1251675" y="975175"/>
            <a:ext cx="10178400" cy="58017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70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Empty Category:</a:t>
            </a:r>
            <a:endParaRPr sz="2300" b="1">
              <a:solidFill>
                <a:schemeClr val="dk1"/>
              </a:solidFill>
              <a:highlight>
                <a:srgbClr val="00FF00"/>
              </a:highlight>
              <a:latin typeface="Times New Roman"/>
              <a:ea typeface="Times New Roman"/>
              <a:cs typeface="Times New Roman"/>
              <a:sym typeface="Times New Roman"/>
            </a:endParaRPr>
          </a:p>
          <a:p>
            <a:pPr marL="0" lvl="0" indent="0" algn="just" rtl="0">
              <a:lnSpc>
                <a:spcPct val="115000"/>
              </a:lnSpc>
              <a:spcBef>
                <a:spcPts val="70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Pronominal:</a:t>
            </a:r>
            <a:endParaRPr sz="2300" b="1">
              <a:solidFill>
                <a:schemeClr val="dk1"/>
              </a:solidFill>
              <a:highlight>
                <a:srgbClr val="00FF00"/>
              </a:highlight>
              <a:latin typeface="Times New Roman"/>
              <a:ea typeface="Times New Roman"/>
              <a:cs typeface="Times New Roman"/>
              <a:sym typeface="Times New Roman"/>
            </a:endParaRPr>
          </a:p>
          <a:p>
            <a:pPr marL="457200" lvl="0" indent="0" algn="just" rtl="0">
              <a:lnSpc>
                <a:spcPct val="120000"/>
              </a:lnSpc>
              <a:spcBef>
                <a:spcPts val="0"/>
              </a:spcBef>
              <a:spcAft>
                <a:spcPts val="0"/>
              </a:spcAft>
              <a:buSzPts val="1800"/>
              <a:buNone/>
            </a:pPr>
            <a:endParaRPr sz="1200">
              <a:solidFill>
                <a:srgbClr val="374151"/>
              </a:solidFill>
              <a:highlight>
                <a:srgbClr val="F7F7F8"/>
              </a:highlight>
              <a:latin typeface="Roboto"/>
              <a:ea typeface="Roboto"/>
              <a:cs typeface="Roboto"/>
              <a:sym typeface="Roboto"/>
            </a:endParaRPr>
          </a:p>
          <a:p>
            <a:pPr marL="0" lvl="0" indent="0" algn="l" rtl="0">
              <a:lnSpc>
                <a:spcPct val="115000"/>
              </a:lnSpc>
              <a:spcBef>
                <a:spcPts val="0"/>
              </a:spcBef>
              <a:spcAft>
                <a:spcPts val="0"/>
              </a:spcAft>
              <a:buSzPts val="1100"/>
              <a:buNone/>
            </a:pPr>
            <a:r>
              <a:rPr lang="en-US" sz="1800" b="1">
                <a:solidFill>
                  <a:srgbClr val="374151"/>
                </a:solidFill>
                <a:highlight>
                  <a:schemeClr val="lt2"/>
                </a:highlight>
                <a:latin typeface="Times New Roman"/>
                <a:ea typeface="Times New Roman"/>
                <a:cs typeface="Times New Roman"/>
                <a:sym typeface="Times New Roman"/>
              </a:rPr>
              <a:t>"-p" (Non-pronominal): </a:t>
            </a:r>
            <a:r>
              <a:rPr lang="en-US" sz="1800">
                <a:solidFill>
                  <a:srgbClr val="374151"/>
                </a:solidFill>
                <a:highlight>
                  <a:schemeClr val="lt2"/>
                </a:highlight>
                <a:latin typeface="Times New Roman"/>
                <a:ea typeface="Times New Roman"/>
                <a:cs typeface="Times New Roman"/>
                <a:sym typeface="Times New Roman"/>
              </a:rPr>
              <a:t>When an element is labeled as "-p," it means that the element is non-pronominal. In other words, it is not functioning as a pronoun or does not have the characteristics of a pronoun. Non-pronominal elements are typically full nouns that do not stand in for or replace other elements in the sentence. Examples of non-pronominal elements:</a:t>
            </a:r>
            <a:endParaRPr sz="1800">
              <a:solidFill>
                <a:srgbClr val="374151"/>
              </a:solidFill>
              <a:highlight>
                <a:schemeClr val="lt2"/>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374151"/>
              </a:buClr>
              <a:buSzPts val="1800"/>
              <a:buFont typeface="Times New Roman"/>
              <a:buChar char="●"/>
            </a:pPr>
            <a:r>
              <a:rPr lang="en-US" sz="1800">
                <a:solidFill>
                  <a:srgbClr val="374151"/>
                </a:solidFill>
                <a:highlight>
                  <a:schemeClr val="lt2"/>
                </a:highlight>
                <a:latin typeface="Times New Roman"/>
                <a:ea typeface="Times New Roman"/>
                <a:cs typeface="Times New Roman"/>
                <a:sym typeface="Times New Roman"/>
              </a:rPr>
              <a:t>"The cat" (a noun phrase)</a:t>
            </a:r>
            <a:endParaRPr sz="1800">
              <a:solidFill>
                <a:srgbClr val="374151"/>
              </a:solidFill>
              <a:highlight>
                <a:schemeClr val="lt2"/>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374151"/>
              </a:buClr>
              <a:buSzPts val="1800"/>
              <a:buFont typeface="Times New Roman"/>
              <a:buChar char="●"/>
            </a:pPr>
            <a:r>
              <a:rPr lang="en-US" sz="1800">
                <a:solidFill>
                  <a:srgbClr val="374151"/>
                </a:solidFill>
                <a:highlight>
                  <a:schemeClr val="lt2"/>
                </a:highlight>
                <a:latin typeface="Times New Roman"/>
                <a:ea typeface="Times New Roman"/>
                <a:cs typeface="Times New Roman"/>
                <a:sym typeface="Times New Roman"/>
              </a:rPr>
              <a:t>"John's book" (a possessive noun phrase)</a:t>
            </a:r>
            <a:endParaRPr sz="1800">
              <a:solidFill>
                <a:srgbClr val="374151"/>
              </a:solidFill>
              <a:highlight>
                <a:schemeClr val="lt2"/>
              </a:highlight>
              <a:latin typeface="Times New Roman"/>
              <a:ea typeface="Times New Roman"/>
              <a:cs typeface="Times New Roman"/>
              <a:sym typeface="Times New Roman"/>
            </a:endParaRPr>
          </a:p>
          <a:p>
            <a:pPr marL="457200" lvl="0" indent="0" algn="l" rtl="0">
              <a:lnSpc>
                <a:spcPct val="115000"/>
              </a:lnSpc>
              <a:spcBef>
                <a:spcPts val="0"/>
              </a:spcBef>
              <a:spcAft>
                <a:spcPts val="0"/>
              </a:spcAft>
              <a:buSzPts val="1800"/>
              <a:buNone/>
            </a:pPr>
            <a:endParaRPr sz="1800">
              <a:solidFill>
                <a:srgbClr val="374151"/>
              </a:solidFill>
              <a:highlight>
                <a:schemeClr val="lt2"/>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800"/>
              <a:buNone/>
            </a:pPr>
            <a:r>
              <a:rPr lang="en-US" sz="1800" b="1">
                <a:solidFill>
                  <a:srgbClr val="374151"/>
                </a:solidFill>
                <a:highlight>
                  <a:schemeClr val="lt2"/>
                </a:highlight>
                <a:latin typeface="Times New Roman"/>
                <a:ea typeface="Times New Roman"/>
                <a:cs typeface="Times New Roman"/>
                <a:sym typeface="Times New Roman"/>
              </a:rPr>
              <a:t>"+p" (Pronominal):</a:t>
            </a:r>
            <a:r>
              <a:rPr lang="en-US" sz="1800">
                <a:solidFill>
                  <a:srgbClr val="374151"/>
                </a:solidFill>
                <a:highlight>
                  <a:schemeClr val="lt2"/>
                </a:highlight>
                <a:latin typeface="Times New Roman"/>
                <a:ea typeface="Times New Roman"/>
                <a:cs typeface="Times New Roman"/>
                <a:sym typeface="Times New Roman"/>
              </a:rPr>
              <a:t> When an element is labeled as "+p," it means that the element is pronominal. Pronominal elements function as pronouns, which are words or phrases that can replace nouns or noun phrases. Examples of pronominal elements:</a:t>
            </a:r>
            <a:endParaRPr sz="1800">
              <a:solidFill>
                <a:srgbClr val="374151"/>
              </a:solidFill>
              <a:highlight>
                <a:schemeClr val="lt2"/>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374151"/>
              </a:buClr>
              <a:buSzPts val="1800"/>
              <a:buFont typeface="Times New Roman"/>
              <a:buChar char="●"/>
            </a:pPr>
            <a:r>
              <a:rPr lang="en-US" sz="1800">
                <a:solidFill>
                  <a:srgbClr val="374151"/>
                </a:solidFill>
                <a:highlight>
                  <a:schemeClr val="lt2"/>
                </a:highlight>
                <a:latin typeface="Times New Roman"/>
                <a:ea typeface="Times New Roman"/>
                <a:cs typeface="Times New Roman"/>
                <a:sym typeface="Times New Roman"/>
              </a:rPr>
              <a:t>"He" (replacing a specific person's name)</a:t>
            </a:r>
            <a:endParaRPr sz="1800">
              <a:solidFill>
                <a:srgbClr val="374151"/>
              </a:solidFill>
              <a:highlight>
                <a:schemeClr val="lt2"/>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374151"/>
              </a:buClr>
              <a:buSzPts val="1800"/>
              <a:buFont typeface="Times New Roman"/>
              <a:buChar char="●"/>
            </a:pPr>
            <a:r>
              <a:rPr lang="en-US" sz="1800">
                <a:solidFill>
                  <a:srgbClr val="374151"/>
                </a:solidFill>
                <a:highlight>
                  <a:schemeClr val="lt2"/>
                </a:highlight>
                <a:latin typeface="Times New Roman"/>
                <a:ea typeface="Times New Roman"/>
                <a:cs typeface="Times New Roman"/>
                <a:sym typeface="Times New Roman"/>
              </a:rPr>
              <a:t>"It" (referring to a non-specific object)</a:t>
            </a:r>
            <a:endParaRPr sz="1800">
              <a:solidFill>
                <a:srgbClr val="374151"/>
              </a:solidFill>
              <a:highlight>
                <a:schemeClr val="lt2"/>
              </a:highlight>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374151"/>
              </a:buClr>
              <a:buSzPts val="1800"/>
              <a:buFont typeface="Times New Roman"/>
              <a:buChar char="●"/>
            </a:pPr>
            <a:r>
              <a:rPr lang="en-US" sz="1800">
                <a:solidFill>
                  <a:srgbClr val="374151"/>
                </a:solidFill>
                <a:highlight>
                  <a:schemeClr val="lt2"/>
                </a:highlight>
                <a:latin typeface="Times New Roman"/>
                <a:ea typeface="Times New Roman"/>
                <a:cs typeface="Times New Roman"/>
                <a:sym typeface="Times New Roman"/>
              </a:rPr>
              <a:t>"They" (representing a group of people or things)</a:t>
            </a:r>
            <a:endParaRPr sz="1800">
              <a:highlight>
                <a:schemeClr val="lt2"/>
              </a:highlight>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46"/>
          <p:cNvSpPr txBox="1">
            <a:spLocks noGrp="1"/>
          </p:cNvSpPr>
          <p:nvPr>
            <p:ph type="title"/>
          </p:nvPr>
        </p:nvSpPr>
        <p:spPr>
          <a:xfrm>
            <a:off x="1251678" y="382385"/>
            <a:ext cx="10178322" cy="69827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ts val="14294"/>
              <a:buFont typeface="Impact"/>
              <a:buNone/>
            </a:pPr>
            <a:r>
              <a:rPr lang="en-US"/>
              <a:t>GB - </a:t>
            </a:r>
            <a:r>
              <a:rPr lang="en-US" sz="2890"/>
              <a:t>Movement, Empty Category and Co-indexing</a:t>
            </a:r>
            <a:endParaRPr sz="2890">
              <a:highlight>
                <a:schemeClr val="lt1"/>
              </a:highlight>
            </a:endParaRPr>
          </a:p>
          <a:p>
            <a:pPr marL="0" lvl="0" indent="0" algn="l" rtl="0">
              <a:lnSpc>
                <a:spcPct val="90000"/>
              </a:lnSpc>
              <a:spcBef>
                <a:spcPts val="0"/>
              </a:spcBef>
              <a:spcAft>
                <a:spcPts val="0"/>
              </a:spcAft>
              <a:buClr>
                <a:srgbClr val="262626"/>
              </a:buClr>
              <a:buSzPct val="100000"/>
              <a:buFont typeface="Impact"/>
              <a:buNone/>
            </a:pPr>
            <a:endParaRPr/>
          </a:p>
        </p:txBody>
      </p:sp>
      <p:sp>
        <p:nvSpPr>
          <p:cNvPr id="739" name="Google Shape;739;p46"/>
          <p:cNvSpPr txBox="1">
            <a:spLocks noGrp="1"/>
          </p:cNvSpPr>
          <p:nvPr>
            <p:ph type="body" idx="1"/>
          </p:nvPr>
        </p:nvSpPr>
        <p:spPr>
          <a:xfrm>
            <a:off x="1251678" y="1080655"/>
            <a:ext cx="10178322" cy="5477163"/>
          </a:xfrm>
          <a:prstGeom prst="rect">
            <a:avLst/>
          </a:prstGeom>
          <a:noFill/>
          <a:ln>
            <a:noFill/>
          </a:ln>
        </p:spPr>
        <p:txBody>
          <a:bodyPr spcFirstLastPara="1" wrap="square" lIns="91425" tIns="45700" rIns="91425" bIns="45700" anchor="ctr" anchorCtr="0">
            <a:normAutofit/>
          </a:bodyPr>
          <a:lstStyle/>
          <a:p>
            <a:pPr marL="0" lvl="0" indent="0" algn="just" rtl="0">
              <a:lnSpc>
                <a:spcPct val="100000"/>
              </a:lnSpc>
              <a:spcBef>
                <a:spcPts val="1000"/>
              </a:spcBef>
              <a:spcAft>
                <a:spcPts val="0"/>
              </a:spcAft>
              <a:buSzPts val="2000"/>
              <a:buNone/>
            </a:pPr>
            <a:r>
              <a:rPr lang="en-US" sz="2400" b="1">
                <a:solidFill>
                  <a:schemeClr val="dk1"/>
                </a:solidFill>
                <a:highlight>
                  <a:srgbClr val="00FF00"/>
                </a:highlight>
                <a:latin typeface="Times New Roman"/>
                <a:ea typeface="Times New Roman"/>
                <a:cs typeface="Times New Roman"/>
                <a:sym typeface="Times New Roman"/>
              </a:rPr>
              <a:t>Co-indexing</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marL="0" lvl="0" indent="0" algn="just" rtl="0">
              <a:lnSpc>
                <a:spcPct val="100000"/>
              </a:lnSpc>
              <a:spcBef>
                <a:spcPts val="1000"/>
              </a:spcBef>
              <a:spcAft>
                <a:spcPts val="0"/>
              </a:spcAft>
              <a:buSzPts val="2000"/>
              <a:buNone/>
            </a:pPr>
            <a:endParaRPr sz="2400">
              <a:solidFill>
                <a:schemeClr val="dk1"/>
              </a:solidFill>
              <a:latin typeface="Times New Roman"/>
              <a:ea typeface="Times New Roman"/>
              <a:cs typeface="Times New Roman"/>
              <a:sym typeface="Times New Roman"/>
            </a:endParaRPr>
          </a:p>
          <a:p>
            <a:pPr marL="457200" lvl="0" indent="-381000" algn="just"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Co-indexing is the indexing of the subject NP and AGR (agreement) at d-structure which are preserved by move α operation at s-structure.</a:t>
            </a:r>
            <a:endParaRPr sz="2400">
              <a:solidFill>
                <a:schemeClr val="dk1"/>
              </a:solidFill>
              <a:latin typeface="Times New Roman"/>
              <a:ea typeface="Times New Roman"/>
              <a:cs typeface="Times New Roman"/>
              <a:sym typeface="Times New Roman"/>
            </a:endParaRPr>
          </a:p>
          <a:p>
            <a:pPr marL="457200" lvl="0" indent="-381000" algn="just"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Example: </a:t>
            </a:r>
            <a:endParaRPr sz="2400">
              <a:solidFill>
                <a:schemeClr val="dk1"/>
              </a:solidFill>
              <a:latin typeface="Times New Roman"/>
              <a:ea typeface="Times New Roman"/>
              <a:cs typeface="Times New Roman"/>
              <a:sym typeface="Times New Roman"/>
            </a:endParaRPr>
          </a:p>
          <a:p>
            <a:pPr marL="914400" lvl="1" indent="-381000" algn="just" rtl="0">
              <a:lnSpc>
                <a:spcPct val="100000"/>
              </a:lnSpc>
              <a:spcBef>
                <a:spcPts val="1000"/>
              </a:spcBef>
              <a:spcAft>
                <a:spcPts val="0"/>
              </a:spcAft>
              <a:buClr>
                <a:schemeClr val="dk1"/>
              </a:buClr>
              <a:buSzPts val="2400"/>
              <a:buFont typeface="Times New Roman"/>
              <a:buChar char="–"/>
            </a:pPr>
            <a:r>
              <a:rPr lang="en-US" sz="2400">
                <a:solidFill>
                  <a:schemeClr val="dk1"/>
                </a:solidFill>
                <a:highlight>
                  <a:srgbClr val="FFFF00"/>
                </a:highlight>
                <a:latin typeface="Times New Roman"/>
                <a:ea typeface="Times New Roman"/>
                <a:cs typeface="Times New Roman"/>
                <a:sym typeface="Times New Roman"/>
              </a:rPr>
              <a:t>James hit himself - James and himself are co-indexed.</a:t>
            </a:r>
            <a:endParaRPr sz="2400">
              <a:solidFill>
                <a:schemeClr val="dk1"/>
              </a:solidFill>
              <a:highlight>
                <a:srgbClr val="FFFF00"/>
              </a:highlight>
              <a:latin typeface="Times New Roman"/>
              <a:ea typeface="Times New Roman"/>
              <a:cs typeface="Times New Roman"/>
              <a:sym typeface="Times New Roman"/>
            </a:endParaRPr>
          </a:p>
          <a:p>
            <a:pPr marL="914400" lvl="1" indent="-381000" algn="just" rtl="0">
              <a:lnSpc>
                <a:spcPct val="100000"/>
              </a:lnSpc>
              <a:spcBef>
                <a:spcPts val="1000"/>
              </a:spcBef>
              <a:spcAft>
                <a:spcPts val="0"/>
              </a:spcAft>
              <a:buClr>
                <a:schemeClr val="dk1"/>
              </a:buClr>
              <a:buSzPts val="2400"/>
              <a:buFont typeface="Times New Roman"/>
              <a:buChar char="–"/>
            </a:pPr>
            <a:r>
              <a:rPr lang="en-US" sz="2400">
                <a:solidFill>
                  <a:schemeClr val="dk1"/>
                </a:solidFill>
                <a:highlight>
                  <a:srgbClr val="FFFF00"/>
                </a:highlight>
                <a:latin typeface="Times New Roman"/>
                <a:ea typeface="Times New Roman"/>
                <a:cs typeface="Times New Roman"/>
                <a:sym typeface="Times New Roman"/>
              </a:rPr>
              <a:t>James hit himself for hurting her. - her is not co-indexed.</a:t>
            </a:r>
            <a:endParaRPr sz="2400">
              <a:solidFill>
                <a:schemeClr val="dk1"/>
              </a:solidFill>
              <a:highlight>
                <a:srgbClr val="FFFF00"/>
              </a:highlight>
              <a:latin typeface="Times New Roman"/>
              <a:ea typeface="Times New Roman"/>
              <a:cs typeface="Times New Roman"/>
              <a:sym typeface="Times New Roman"/>
            </a:endParaRPr>
          </a:p>
          <a:p>
            <a:pPr marL="457200" lvl="0" indent="-381000" algn="just" rtl="0">
              <a:lnSpc>
                <a:spcPct val="100000"/>
              </a:lnSpc>
              <a:spcBef>
                <a:spcPts val="100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When an NP-movement takes place, a trace of the movement is created by having an indexed empty category (e</a:t>
            </a:r>
            <a:r>
              <a:rPr lang="en-US" sz="2400" baseline="-25000">
                <a:solidFill>
                  <a:schemeClr val="dk1"/>
                </a:solidFill>
                <a:latin typeface="Times New Roman"/>
                <a:ea typeface="Times New Roman"/>
                <a:cs typeface="Times New Roman"/>
                <a:sym typeface="Times New Roman"/>
              </a:rPr>
              <a:t>i</a:t>
            </a:r>
            <a:r>
              <a:rPr lang="en-US" sz="2400">
                <a:solidFill>
                  <a:schemeClr val="dk1"/>
                </a:solidFill>
                <a:latin typeface="Times New Roman"/>
                <a:ea typeface="Times New Roman"/>
                <a:cs typeface="Times New Roman"/>
                <a:sym typeface="Times New Roman"/>
              </a:rPr>
              <a:t>) from the position at which the movement began to the corresponding indexed NP, i.e. NP</a:t>
            </a:r>
            <a:r>
              <a:rPr lang="en-US" sz="2400" baseline="-25000">
                <a:solidFill>
                  <a:schemeClr val="dk1"/>
                </a:solidFill>
                <a:latin typeface="Times New Roman"/>
                <a:ea typeface="Times New Roman"/>
                <a:cs typeface="Times New Roman"/>
                <a:sym typeface="Times New Roman"/>
              </a:rPr>
              <a:t>i</a:t>
            </a:r>
            <a:endParaRPr sz="2400" baseline="-25000">
              <a:solidFill>
                <a:schemeClr val="dk1"/>
              </a:solidFill>
              <a:latin typeface="Times New Roman"/>
              <a:ea typeface="Times New Roman"/>
              <a:cs typeface="Times New Roman"/>
              <a:sym typeface="Times New Roman"/>
            </a:endParaRPr>
          </a:p>
          <a:p>
            <a:pPr marL="0" lvl="0" indent="0" algn="just" rtl="0">
              <a:lnSpc>
                <a:spcPct val="120000"/>
              </a:lnSpc>
              <a:spcBef>
                <a:spcPts val="1000"/>
              </a:spcBef>
              <a:spcAft>
                <a:spcPts val="0"/>
              </a:spcAft>
              <a:buSzPts val="1800"/>
              <a:buNone/>
            </a:pPr>
            <a:endParaRPr sz="2600">
              <a:solidFill>
                <a:schemeClr val="dk1"/>
              </a:solidFill>
              <a:highlight>
                <a:srgbClr val="00FF00"/>
              </a:highlight>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g1007a4dec7d_0_13"/>
          <p:cNvSpPr txBox="1">
            <a:spLocks noGrp="1"/>
          </p:cNvSpPr>
          <p:nvPr>
            <p:ph type="title"/>
          </p:nvPr>
        </p:nvSpPr>
        <p:spPr>
          <a:xfrm>
            <a:off x="1251675" y="496130"/>
            <a:ext cx="10178400" cy="673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39215"/>
              <a:buNone/>
            </a:pPr>
            <a:r>
              <a:rPr lang="en-US"/>
              <a:t>GB </a:t>
            </a:r>
            <a:endParaRPr/>
          </a:p>
        </p:txBody>
      </p:sp>
      <p:sp>
        <p:nvSpPr>
          <p:cNvPr id="745" name="Google Shape;745;g1007a4dec7d_0_13"/>
          <p:cNvSpPr txBox="1">
            <a:spLocks noGrp="1"/>
          </p:cNvSpPr>
          <p:nvPr>
            <p:ph type="body" idx="1"/>
          </p:nvPr>
        </p:nvSpPr>
        <p:spPr>
          <a:xfrm>
            <a:off x="1251675" y="1056325"/>
            <a:ext cx="10178400" cy="565530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110000"/>
              </a:lnSpc>
              <a:spcBef>
                <a:spcPts val="1700"/>
              </a:spcBef>
              <a:spcAft>
                <a:spcPts val="0"/>
              </a:spcAft>
              <a:buClr>
                <a:schemeClr val="dk1"/>
              </a:buClr>
              <a:buSzPts val="1800"/>
              <a:buFont typeface="Arial"/>
              <a:buNone/>
            </a:pPr>
            <a:r>
              <a:rPr lang="en-US" sz="2100" b="1">
                <a:solidFill>
                  <a:schemeClr val="dk1"/>
                </a:solidFill>
                <a:highlight>
                  <a:srgbClr val="00FF00"/>
                </a:highlight>
                <a:latin typeface="Times New Roman"/>
                <a:ea typeface="Times New Roman"/>
                <a:cs typeface="Times New Roman"/>
                <a:sym typeface="Times New Roman"/>
              </a:rPr>
              <a:t>Binding theory:</a:t>
            </a:r>
            <a:endParaRPr sz="2100" b="1">
              <a:solidFill>
                <a:schemeClr val="dk1"/>
              </a:solidFill>
              <a:highlight>
                <a:srgbClr val="00FF00"/>
              </a:highlight>
              <a:latin typeface="Times New Roman"/>
              <a:ea typeface="Times New Roman"/>
              <a:cs typeface="Times New Roman"/>
              <a:sym typeface="Times New Roman"/>
            </a:endParaRPr>
          </a:p>
          <a:p>
            <a:pPr marL="0" lvl="0" indent="0" algn="l" rtl="0">
              <a:lnSpc>
                <a:spcPct val="110000"/>
              </a:lnSpc>
              <a:spcBef>
                <a:spcPts val="1700"/>
              </a:spcBef>
              <a:spcAft>
                <a:spcPts val="0"/>
              </a:spcAft>
              <a:buClr>
                <a:schemeClr val="dk1"/>
              </a:buClr>
              <a:buSzPts val="1800"/>
              <a:buFont typeface="Arial"/>
              <a:buNone/>
            </a:pPr>
            <a:endParaRPr sz="2100" b="1">
              <a:solidFill>
                <a:schemeClr val="dk1"/>
              </a:solidFill>
              <a:highlight>
                <a:srgbClr val="00FF00"/>
              </a:highlight>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latin typeface="Times New Roman"/>
                <a:ea typeface="Times New Roman"/>
                <a:cs typeface="Times New Roman"/>
                <a:sym typeface="Times New Roman"/>
              </a:rPr>
              <a:t>Binding is defined by Sells (1985) as follows</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latin typeface="Times New Roman"/>
                <a:ea typeface="Times New Roman"/>
                <a:cs typeface="Times New Roman"/>
                <a:sym typeface="Times New Roman"/>
              </a:rPr>
              <a:t>	</a:t>
            </a:r>
            <a:r>
              <a:rPr lang="en-US" sz="2100" b="1">
                <a:solidFill>
                  <a:schemeClr val="dk1"/>
                </a:solidFill>
                <a:highlight>
                  <a:srgbClr val="FFFF00"/>
                </a:highlight>
                <a:latin typeface="Times New Roman"/>
                <a:ea typeface="Times New Roman"/>
                <a:cs typeface="Times New Roman"/>
                <a:sym typeface="Times New Roman"/>
              </a:rPr>
              <a:t>α binds β iff</a:t>
            </a:r>
            <a:endParaRPr sz="2100" b="1">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b="1">
                <a:solidFill>
                  <a:schemeClr val="dk1"/>
                </a:solidFill>
                <a:highlight>
                  <a:srgbClr val="FFFF00"/>
                </a:highlight>
                <a:latin typeface="Times New Roman"/>
                <a:ea typeface="Times New Roman"/>
                <a:cs typeface="Times New Roman"/>
                <a:sym typeface="Times New Roman"/>
              </a:rPr>
              <a:t>	α C-commands β and </a:t>
            </a:r>
            <a:endParaRPr sz="2100" b="1">
              <a:solidFill>
                <a:schemeClr val="dk1"/>
              </a:solidFill>
              <a:highlight>
                <a:srgbClr val="FFFF00"/>
              </a:highlight>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b="1">
                <a:solidFill>
                  <a:schemeClr val="dk1"/>
                </a:solidFill>
                <a:highlight>
                  <a:srgbClr val="FFFF00"/>
                </a:highlight>
                <a:latin typeface="Times New Roman"/>
                <a:ea typeface="Times New Roman"/>
                <a:cs typeface="Times New Roman"/>
                <a:sym typeface="Times New Roman"/>
              </a:rPr>
              <a:t>	α and  β are co-indexed</a:t>
            </a:r>
            <a:endParaRPr sz="2100" b="1">
              <a:solidFill>
                <a:schemeClr val="dk1"/>
              </a:solidFill>
              <a:highlight>
                <a:srgbClr val="FFFF00"/>
              </a:highlight>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endParaRPr sz="2100" b="1">
              <a:solidFill>
                <a:schemeClr val="dk1"/>
              </a:solidFill>
              <a:highlight>
                <a:srgbClr val="FFFF00"/>
              </a:highlight>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b="1">
                <a:solidFill>
                  <a:schemeClr val="dk1"/>
                </a:solidFill>
                <a:latin typeface="Times New Roman"/>
                <a:ea typeface="Times New Roman"/>
                <a:cs typeface="Times New Roman"/>
                <a:sym typeface="Times New Roman"/>
              </a:rPr>
              <a:t>Example:</a:t>
            </a:r>
            <a:endParaRPr sz="2100" b="1">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latin typeface="Times New Roman"/>
                <a:ea typeface="Times New Roman"/>
                <a:cs typeface="Times New Roman"/>
                <a:sym typeface="Times New Roman"/>
              </a:rPr>
              <a:t>	[e</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 INFL kill Mukesh]</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latin typeface="Times New Roman"/>
                <a:ea typeface="Times New Roman"/>
                <a:cs typeface="Times New Roman"/>
                <a:sym typeface="Times New Roman"/>
              </a:rPr>
              <a:t>	[Mukesh</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 was killed (by e</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latin typeface="Times New Roman"/>
                <a:ea typeface="Times New Roman"/>
                <a:cs typeface="Times New Roman"/>
                <a:sym typeface="Times New Roman"/>
              </a:rPr>
              <a:t>	Mukesh was killed.</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highlight>
                  <a:srgbClr val="FFFF00"/>
                </a:highlight>
                <a:latin typeface="Times New Roman"/>
                <a:ea typeface="Times New Roman"/>
                <a:cs typeface="Times New Roman"/>
                <a:sym typeface="Times New Roman"/>
              </a:rPr>
              <a:t>Empty clause (e</a:t>
            </a:r>
            <a:r>
              <a:rPr lang="en-US" sz="2100" baseline="-25000">
                <a:solidFill>
                  <a:schemeClr val="dk1"/>
                </a:solidFill>
                <a:highlight>
                  <a:srgbClr val="FFFF00"/>
                </a:highlight>
                <a:latin typeface="Times New Roman"/>
                <a:ea typeface="Times New Roman"/>
                <a:cs typeface="Times New Roman"/>
                <a:sym typeface="Times New Roman"/>
              </a:rPr>
              <a:t>i</a:t>
            </a:r>
            <a:r>
              <a:rPr lang="en-US" sz="2100">
                <a:solidFill>
                  <a:schemeClr val="dk1"/>
                </a:solidFill>
                <a:highlight>
                  <a:srgbClr val="FFFF00"/>
                </a:highlight>
                <a:latin typeface="Times New Roman"/>
                <a:ea typeface="Times New Roman"/>
                <a:cs typeface="Times New Roman"/>
                <a:sym typeface="Times New Roman"/>
              </a:rPr>
              <a:t>) and Mukesh (NP</a:t>
            </a:r>
            <a:r>
              <a:rPr lang="en-US" sz="2100" baseline="-25000">
                <a:solidFill>
                  <a:schemeClr val="dk1"/>
                </a:solidFill>
                <a:highlight>
                  <a:srgbClr val="FFFF00"/>
                </a:highlight>
                <a:latin typeface="Times New Roman"/>
                <a:ea typeface="Times New Roman"/>
                <a:cs typeface="Times New Roman"/>
                <a:sym typeface="Times New Roman"/>
              </a:rPr>
              <a:t>i</a:t>
            </a:r>
            <a:r>
              <a:rPr lang="en-US" sz="2100">
                <a:solidFill>
                  <a:schemeClr val="dk1"/>
                </a:solidFill>
                <a:highlight>
                  <a:srgbClr val="FFFF00"/>
                </a:highlight>
                <a:latin typeface="Times New Roman"/>
                <a:ea typeface="Times New Roman"/>
                <a:cs typeface="Times New Roman"/>
                <a:sym typeface="Times New Roman"/>
              </a:rPr>
              <a:t>) are bound.</a:t>
            </a:r>
            <a:r>
              <a:rPr lang="en-US" sz="2100">
                <a:solidFill>
                  <a:schemeClr val="dk1"/>
                </a:solidFill>
                <a:latin typeface="Times New Roman"/>
                <a:ea typeface="Times New Roman"/>
                <a:cs typeface="Times New Roman"/>
                <a:sym typeface="Times New Roman"/>
              </a:rPr>
              <a:t> This theory gives relationship between NPs.</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r>
              <a:rPr lang="en-US" sz="2100">
                <a:solidFill>
                  <a:schemeClr val="dk1"/>
                </a:solidFill>
                <a:latin typeface="Times New Roman"/>
                <a:ea typeface="Times New Roman"/>
                <a:cs typeface="Times New Roman"/>
                <a:sym typeface="Times New Roman"/>
              </a:rPr>
              <a:t>Binding Theory: </a:t>
            </a:r>
            <a:r>
              <a:rPr lang="en-US" sz="2100" u="sng">
                <a:solidFill>
                  <a:schemeClr val="hlink"/>
                </a:solidFill>
                <a:latin typeface="Times New Roman"/>
                <a:ea typeface="Times New Roman"/>
                <a:cs typeface="Times New Roman"/>
                <a:sym typeface="Times New Roman"/>
                <a:hlinkClick r:id="rId3"/>
              </a:rPr>
              <a:t>https://www.youtube.com/watch?v=BiSX3Hi5zaM&amp;t=52s</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161111f0164_0_5"/>
          <p:cNvSpPr txBox="1">
            <a:spLocks noGrp="1"/>
          </p:cNvSpPr>
          <p:nvPr>
            <p:ph type="title"/>
          </p:nvPr>
        </p:nvSpPr>
        <p:spPr>
          <a:xfrm>
            <a:off x="1251675" y="496130"/>
            <a:ext cx="10178400" cy="673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39215"/>
              <a:buNone/>
            </a:pPr>
            <a:r>
              <a:rPr lang="en-US"/>
              <a:t>GB </a:t>
            </a:r>
            <a:endParaRPr/>
          </a:p>
        </p:txBody>
      </p:sp>
      <p:sp>
        <p:nvSpPr>
          <p:cNvPr id="751" name="Google Shape;751;g161111f0164_0_5"/>
          <p:cNvSpPr txBox="1">
            <a:spLocks noGrp="1"/>
          </p:cNvSpPr>
          <p:nvPr>
            <p:ph type="body" idx="1"/>
          </p:nvPr>
        </p:nvSpPr>
        <p:spPr>
          <a:xfrm>
            <a:off x="1251675" y="1169925"/>
            <a:ext cx="10178400" cy="5541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US" sz="2100" b="1">
                <a:solidFill>
                  <a:schemeClr val="dk1"/>
                </a:solidFill>
                <a:latin typeface="Times New Roman"/>
                <a:ea typeface="Times New Roman"/>
                <a:cs typeface="Times New Roman"/>
                <a:sym typeface="Times New Roman"/>
              </a:rPr>
              <a:t>Binding Theory Example</a:t>
            </a:r>
            <a:endParaRPr sz="2100" b="1">
              <a:solidFill>
                <a:schemeClr val="dk1"/>
              </a:solidFill>
              <a:latin typeface="Times New Roman"/>
              <a:ea typeface="Times New Roman"/>
              <a:cs typeface="Times New Roman"/>
              <a:sym typeface="Times New Roman"/>
            </a:endParaRPr>
          </a:p>
        </p:txBody>
      </p:sp>
      <p:pic>
        <p:nvPicPr>
          <p:cNvPr id="752" name="Google Shape;752;g161111f0164_0_5"/>
          <p:cNvPicPr preferRelativeResize="0"/>
          <p:nvPr/>
        </p:nvPicPr>
        <p:blipFill rotWithShape="1">
          <a:blip r:embed="rId3">
            <a:alphaModFix/>
          </a:blip>
          <a:srcRect/>
          <a:stretch/>
        </p:blipFill>
        <p:spPr>
          <a:xfrm>
            <a:off x="1251600" y="1591450"/>
            <a:ext cx="10178399" cy="5120176"/>
          </a:xfrm>
          <a:prstGeom prst="rect">
            <a:avLst/>
          </a:prstGeom>
          <a:noFill/>
          <a:ln>
            <a:noFill/>
          </a:ln>
        </p:spPr>
      </p:pic>
      <p:pic>
        <p:nvPicPr>
          <p:cNvPr id="753" name="Google Shape;753;g161111f0164_0_5"/>
          <p:cNvPicPr preferRelativeResize="0"/>
          <p:nvPr/>
        </p:nvPicPr>
        <p:blipFill rotWithShape="1">
          <a:blip r:embed="rId4">
            <a:alphaModFix/>
          </a:blip>
          <a:srcRect/>
          <a:stretch/>
        </p:blipFill>
        <p:spPr>
          <a:xfrm>
            <a:off x="7696525" y="5327088"/>
            <a:ext cx="2495550" cy="90487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g160cea89954_0_7"/>
          <p:cNvSpPr txBox="1">
            <a:spLocks noGrp="1"/>
          </p:cNvSpPr>
          <p:nvPr>
            <p:ph type="title"/>
          </p:nvPr>
        </p:nvSpPr>
        <p:spPr>
          <a:xfrm>
            <a:off x="1251675" y="496130"/>
            <a:ext cx="10178400" cy="673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39215"/>
              <a:buNone/>
            </a:pPr>
            <a:r>
              <a:rPr lang="en-US"/>
              <a:t>GB </a:t>
            </a:r>
            <a:endParaRPr/>
          </a:p>
        </p:txBody>
      </p:sp>
      <p:sp>
        <p:nvSpPr>
          <p:cNvPr id="759" name="Google Shape;759;g160cea89954_0_7"/>
          <p:cNvSpPr txBox="1">
            <a:spLocks noGrp="1"/>
          </p:cNvSpPr>
          <p:nvPr>
            <p:ph type="body" idx="1"/>
          </p:nvPr>
        </p:nvSpPr>
        <p:spPr>
          <a:xfrm>
            <a:off x="1251675" y="1056325"/>
            <a:ext cx="10178400" cy="5655300"/>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1700"/>
              </a:spcBef>
              <a:spcAft>
                <a:spcPts val="0"/>
              </a:spcAft>
              <a:buClr>
                <a:schemeClr val="dk1"/>
              </a:buClr>
              <a:buSzPts val="1800"/>
              <a:buFont typeface="Arial"/>
              <a:buNone/>
            </a:pPr>
            <a:r>
              <a:rPr lang="en-US" sz="2100" b="1">
                <a:solidFill>
                  <a:schemeClr val="dk1"/>
                </a:solidFill>
                <a:highlight>
                  <a:srgbClr val="00FF00"/>
                </a:highlight>
                <a:latin typeface="Times New Roman"/>
                <a:ea typeface="Times New Roman"/>
                <a:cs typeface="Times New Roman"/>
                <a:sym typeface="Times New Roman"/>
              </a:rPr>
              <a:t>Binding theory:</a:t>
            </a:r>
            <a:endParaRPr sz="2100" b="1">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b="1">
                <a:solidFill>
                  <a:schemeClr val="dk1"/>
                </a:solidFill>
                <a:latin typeface="Times New Roman"/>
                <a:ea typeface="Times New Roman"/>
                <a:cs typeface="Times New Roman"/>
                <a:sym typeface="Times New Roman"/>
              </a:rPr>
              <a:t>Binding theory is given as -</a:t>
            </a:r>
            <a:endParaRPr sz="2100" b="1">
              <a:solidFill>
                <a:schemeClr val="dk1"/>
              </a:solidFill>
              <a:latin typeface="Times New Roman"/>
              <a:ea typeface="Times New Roman"/>
              <a:cs typeface="Times New Roman"/>
              <a:sym typeface="Times New Roman"/>
            </a:endParaRPr>
          </a:p>
          <a:p>
            <a:pPr marL="457200" lvl="0" indent="-361950" algn="just" rtl="0">
              <a:lnSpc>
                <a:spcPct val="110000"/>
              </a:lnSpc>
              <a:spcBef>
                <a:spcPts val="0"/>
              </a:spcBef>
              <a:spcAft>
                <a:spcPts val="0"/>
              </a:spcAft>
              <a:buClr>
                <a:schemeClr val="dk1"/>
              </a:buClr>
              <a:buSzPts val="2100"/>
              <a:buFont typeface="Times New Roman"/>
              <a:buAutoNum type="alphaLcParenBoth"/>
            </a:pPr>
            <a:r>
              <a:rPr lang="en-US" sz="2100">
                <a:solidFill>
                  <a:schemeClr val="dk1"/>
                </a:solidFill>
                <a:latin typeface="Times New Roman"/>
                <a:ea typeface="Times New Roman"/>
                <a:cs typeface="Times New Roman"/>
                <a:sym typeface="Times New Roman"/>
              </a:rPr>
              <a:t>An anaphor (+a) is bound in its governing category.</a:t>
            </a:r>
            <a:endParaRPr sz="2100">
              <a:solidFill>
                <a:schemeClr val="dk1"/>
              </a:solidFill>
              <a:latin typeface="Times New Roman"/>
              <a:ea typeface="Times New Roman"/>
              <a:cs typeface="Times New Roman"/>
              <a:sym typeface="Times New Roman"/>
            </a:endParaRPr>
          </a:p>
          <a:p>
            <a:pPr marL="457200" lvl="0" indent="-361950" algn="just" rtl="0">
              <a:lnSpc>
                <a:spcPct val="110000"/>
              </a:lnSpc>
              <a:spcBef>
                <a:spcPts val="0"/>
              </a:spcBef>
              <a:spcAft>
                <a:spcPts val="0"/>
              </a:spcAft>
              <a:buClr>
                <a:schemeClr val="dk1"/>
              </a:buClr>
              <a:buSzPts val="2100"/>
              <a:buFont typeface="Times New Roman"/>
              <a:buAutoNum type="alphaLcParenBoth"/>
            </a:pPr>
            <a:r>
              <a:rPr lang="en-US" sz="2100">
                <a:solidFill>
                  <a:schemeClr val="dk1"/>
                </a:solidFill>
                <a:latin typeface="Times New Roman"/>
                <a:ea typeface="Times New Roman"/>
                <a:cs typeface="Times New Roman"/>
                <a:sym typeface="Times New Roman"/>
              </a:rPr>
              <a:t>A pronominal (+p) is free in its governing category.</a:t>
            </a:r>
            <a:endParaRPr sz="2100">
              <a:solidFill>
                <a:schemeClr val="dk1"/>
              </a:solidFill>
              <a:latin typeface="Times New Roman"/>
              <a:ea typeface="Times New Roman"/>
              <a:cs typeface="Times New Roman"/>
              <a:sym typeface="Times New Roman"/>
            </a:endParaRPr>
          </a:p>
          <a:p>
            <a:pPr marL="457200" lvl="0" indent="-361950" algn="just" rtl="0">
              <a:lnSpc>
                <a:spcPct val="110000"/>
              </a:lnSpc>
              <a:spcBef>
                <a:spcPts val="0"/>
              </a:spcBef>
              <a:spcAft>
                <a:spcPts val="0"/>
              </a:spcAft>
              <a:buClr>
                <a:schemeClr val="dk1"/>
              </a:buClr>
              <a:buSzPts val="2100"/>
              <a:buFont typeface="Times New Roman"/>
              <a:buAutoNum type="alphaLcParenBoth"/>
            </a:pPr>
            <a:r>
              <a:rPr lang="en-US" sz="2100">
                <a:solidFill>
                  <a:schemeClr val="dk1"/>
                </a:solidFill>
                <a:latin typeface="Times New Roman"/>
                <a:ea typeface="Times New Roman"/>
                <a:cs typeface="Times New Roman"/>
                <a:sym typeface="Times New Roman"/>
              </a:rPr>
              <a:t>An R-expression (-a, -p) is free.</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SzPts val="1800"/>
              <a:buNone/>
            </a:pPr>
            <a:r>
              <a:rPr lang="en-US" sz="2100" b="1">
                <a:solidFill>
                  <a:schemeClr val="dk1"/>
                </a:solidFill>
                <a:latin typeface="Times New Roman"/>
                <a:ea typeface="Times New Roman"/>
                <a:cs typeface="Times New Roman"/>
                <a:sym typeface="Times New Roman"/>
              </a:rPr>
              <a:t>Example:</a:t>
            </a:r>
            <a:endParaRPr sz="2100" b="1">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SzPts val="1800"/>
              <a:buNone/>
            </a:pPr>
            <a:r>
              <a:rPr lang="en-US" sz="2100">
                <a:solidFill>
                  <a:schemeClr val="dk1"/>
                </a:solidFill>
                <a:latin typeface="Times New Roman"/>
                <a:ea typeface="Times New Roman"/>
                <a:cs typeface="Times New Roman"/>
                <a:sym typeface="Times New Roman"/>
              </a:rPr>
              <a:t>A: Mukesh</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 knows himself</a:t>
            </a:r>
            <a:r>
              <a:rPr lang="en-US" sz="2100" baseline="-25000">
                <a:solidFill>
                  <a:schemeClr val="dk1"/>
                </a:solidFill>
                <a:latin typeface="Times New Roman"/>
                <a:ea typeface="Times New Roman"/>
                <a:cs typeface="Times New Roman"/>
                <a:sym typeface="Times New Roman"/>
              </a:rPr>
              <a:t>i</a:t>
            </a:r>
            <a:endParaRPr sz="2100" baseline="-250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SzPts val="1800"/>
              <a:buNone/>
            </a:pPr>
            <a:r>
              <a:rPr lang="en-US" sz="2100">
                <a:solidFill>
                  <a:schemeClr val="dk1"/>
                </a:solidFill>
                <a:latin typeface="Times New Roman"/>
                <a:ea typeface="Times New Roman"/>
                <a:cs typeface="Times New Roman"/>
                <a:sym typeface="Times New Roman"/>
              </a:rPr>
              <a:t>B: Mukesh</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 believes that Amrita knows him</a:t>
            </a:r>
            <a:r>
              <a:rPr lang="en-US" sz="2100" baseline="-25000">
                <a:solidFill>
                  <a:schemeClr val="dk1"/>
                </a:solidFill>
                <a:latin typeface="Times New Roman"/>
                <a:ea typeface="Times New Roman"/>
                <a:cs typeface="Times New Roman"/>
                <a:sym typeface="Times New Roman"/>
              </a:rPr>
              <a:t>i</a:t>
            </a:r>
            <a:endParaRPr sz="2100" baseline="-250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SzPts val="1800"/>
              <a:buNone/>
            </a:pPr>
            <a:r>
              <a:rPr lang="en-US" sz="2100">
                <a:solidFill>
                  <a:schemeClr val="dk1"/>
                </a:solidFill>
                <a:latin typeface="Times New Roman"/>
                <a:ea typeface="Times New Roman"/>
                <a:cs typeface="Times New Roman"/>
                <a:sym typeface="Times New Roman"/>
              </a:rPr>
              <a:t>C: Mukesh believes that Amrita</a:t>
            </a:r>
            <a:r>
              <a:rPr lang="en-US" sz="2100" baseline="-25000">
                <a:solidFill>
                  <a:schemeClr val="dk1"/>
                </a:solidFill>
                <a:latin typeface="Times New Roman"/>
                <a:ea typeface="Times New Roman"/>
                <a:cs typeface="Times New Roman"/>
                <a:sym typeface="Times New Roman"/>
              </a:rPr>
              <a:t>j</a:t>
            </a:r>
            <a:r>
              <a:rPr lang="en-US" sz="2100">
                <a:solidFill>
                  <a:schemeClr val="dk1"/>
                </a:solidFill>
                <a:latin typeface="Times New Roman"/>
                <a:ea typeface="Times New Roman"/>
                <a:cs typeface="Times New Roman"/>
                <a:sym typeface="Times New Roman"/>
              </a:rPr>
              <a:t> knows Nupur</a:t>
            </a:r>
            <a:r>
              <a:rPr lang="en-US" sz="2100" baseline="-25000">
                <a:solidFill>
                  <a:schemeClr val="dk1"/>
                </a:solidFill>
                <a:latin typeface="Times New Roman"/>
                <a:ea typeface="Times New Roman"/>
                <a:cs typeface="Times New Roman"/>
                <a:sym typeface="Times New Roman"/>
              </a:rPr>
              <a:t>k</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b="1">
                <a:solidFill>
                  <a:schemeClr val="dk1"/>
                </a:solidFill>
                <a:latin typeface="Times New Roman"/>
                <a:ea typeface="Times New Roman"/>
                <a:cs typeface="Times New Roman"/>
                <a:sym typeface="Times New Roman"/>
              </a:rPr>
              <a:t>Similar rules apply on empty categories also:</a:t>
            </a:r>
            <a:endParaRPr sz="2100" b="1">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latin typeface="Times New Roman"/>
                <a:ea typeface="Times New Roman"/>
                <a:cs typeface="Times New Roman"/>
                <a:sym typeface="Times New Roman"/>
              </a:rPr>
              <a:t>NP-trace: +a, -p: Mukesh</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 was killed e</a:t>
            </a:r>
            <a:r>
              <a:rPr lang="en-US" sz="2100" baseline="-25000">
                <a:solidFill>
                  <a:schemeClr val="dk1"/>
                </a:solidFill>
                <a:latin typeface="Times New Roman"/>
                <a:ea typeface="Times New Roman"/>
                <a:cs typeface="Times New Roman"/>
                <a:sym typeface="Times New Roman"/>
              </a:rPr>
              <a:t>i</a:t>
            </a:r>
            <a:endParaRPr sz="2100">
              <a:solidFill>
                <a:schemeClr val="dk1"/>
              </a:solidFill>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1800"/>
              <a:buFont typeface="Arial"/>
              <a:buNone/>
            </a:pPr>
            <a:r>
              <a:rPr lang="en-US" sz="2100">
                <a:solidFill>
                  <a:schemeClr val="dk1"/>
                </a:solidFill>
                <a:latin typeface="Times New Roman"/>
                <a:ea typeface="Times New Roman"/>
                <a:cs typeface="Times New Roman"/>
                <a:sym typeface="Times New Roman"/>
              </a:rPr>
              <a:t>wh-trace: -a, -p: Who</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 does he</a:t>
            </a:r>
            <a:r>
              <a:rPr lang="en-US" sz="2100" baseline="-25000">
                <a:solidFill>
                  <a:schemeClr val="dk1"/>
                </a:solidFill>
                <a:latin typeface="Times New Roman"/>
                <a:ea typeface="Times New Roman"/>
                <a:cs typeface="Times New Roman"/>
                <a:sym typeface="Times New Roman"/>
              </a:rPr>
              <a:t>i</a:t>
            </a:r>
            <a:r>
              <a:rPr lang="en-US" sz="2100">
                <a:solidFill>
                  <a:schemeClr val="dk1"/>
                </a:solidFill>
                <a:latin typeface="Times New Roman"/>
                <a:ea typeface="Times New Roman"/>
                <a:cs typeface="Times New Roman"/>
                <a:sym typeface="Times New Roman"/>
              </a:rPr>
              <a:t> like e</a:t>
            </a:r>
            <a:r>
              <a:rPr lang="en-US" sz="2100" baseline="-25000">
                <a:solidFill>
                  <a:schemeClr val="dk1"/>
                </a:solidFill>
                <a:latin typeface="Times New Roman"/>
                <a:ea typeface="Times New Roman"/>
                <a:cs typeface="Times New Roman"/>
                <a:sym typeface="Times New Roman"/>
              </a:rPr>
              <a:t>i</a:t>
            </a:r>
            <a:endParaRPr sz="2100" baseline="-250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r>
              <a:rPr lang="en-US" sz="2100">
                <a:solidFill>
                  <a:schemeClr val="dk1"/>
                </a:solidFill>
                <a:latin typeface="Times New Roman"/>
                <a:ea typeface="Times New Roman"/>
                <a:cs typeface="Times New Roman"/>
                <a:sym typeface="Times New Roman"/>
              </a:rPr>
              <a:t>Binding Principles A, B and C: </a:t>
            </a:r>
            <a:r>
              <a:rPr lang="en-US" sz="2100" u="sng">
                <a:solidFill>
                  <a:schemeClr val="hlink"/>
                </a:solidFill>
                <a:latin typeface="Times New Roman"/>
                <a:ea typeface="Times New Roman"/>
                <a:cs typeface="Times New Roman"/>
                <a:sym typeface="Times New Roman"/>
                <a:hlinkClick r:id="rId3"/>
              </a:rPr>
              <a:t>https://www.youtube.com/watch?v=U6McDsR9YeA&amp;t=50s</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g160cea89954_0_0"/>
          <p:cNvSpPr txBox="1">
            <a:spLocks noGrp="1"/>
          </p:cNvSpPr>
          <p:nvPr>
            <p:ph type="title"/>
          </p:nvPr>
        </p:nvSpPr>
        <p:spPr>
          <a:xfrm>
            <a:off x="1251675" y="496130"/>
            <a:ext cx="10178400" cy="673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SzPct val="39215"/>
              <a:buNone/>
            </a:pPr>
            <a:r>
              <a:rPr lang="en-US"/>
              <a:t>GB </a:t>
            </a:r>
            <a:endParaRPr/>
          </a:p>
        </p:txBody>
      </p:sp>
      <p:sp>
        <p:nvSpPr>
          <p:cNvPr id="765" name="Google Shape;765;g160cea89954_0_0"/>
          <p:cNvSpPr txBox="1">
            <a:spLocks noGrp="1"/>
          </p:cNvSpPr>
          <p:nvPr>
            <p:ph type="body" idx="1"/>
          </p:nvPr>
        </p:nvSpPr>
        <p:spPr>
          <a:xfrm>
            <a:off x="1251675" y="1056325"/>
            <a:ext cx="10178400" cy="5655300"/>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Clr>
                <a:schemeClr val="dk1"/>
              </a:buClr>
              <a:buSzPts val="1800"/>
              <a:buFont typeface="Arial"/>
              <a:buNone/>
            </a:pPr>
            <a:r>
              <a:rPr lang="en-US" sz="2100" b="1">
                <a:solidFill>
                  <a:schemeClr val="dk1"/>
                </a:solidFill>
                <a:highlight>
                  <a:srgbClr val="00FF00"/>
                </a:highlight>
                <a:latin typeface="Times New Roman"/>
                <a:ea typeface="Times New Roman"/>
                <a:cs typeface="Times New Roman"/>
                <a:sym typeface="Times New Roman"/>
              </a:rPr>
              <a:t>Empty category principle (ECP)</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2000"/>
              <a:buFont typeface="Arial"/>
              <a:buNone/>
            </a:pPr>
            <a:r>
              <a:rPr lang="en-US" sz="2100">
                <a:solidFill>
                  <a:schemeClr val="dk1"/>
                </a:solidFill>
                <a:latin typeface="Times New Roman"/>
                <a:ea typeface="Times New Roman"/>
                <a:cs typeface="Times New Roman"/>
                <a:sym typeface="Times New Roman"/>
              </a:rPr>
              <a:t>‘Proper government’</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2000"/>
              <a:buFont typeface="Arial"/>
              <a:buNone/>
            </a:pPr>
            <a:r>
              <a:rPr lang="en-US" sz="2100">
                <a:solidFill>
                  <a:schemeClr val="dk1"/>
                </a:solidFill>
                <a:latin typeface="Times New Roman"/>
                <a:ea typeface="Times New Roman"/>
                <a:cs typeface="Times New Roman"/>
                <a:sym typeface="Times New Roman"/>
              </a:rPr>
              <a:t>	α properly governs β iff</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2000"/>
              <a:buFont typeface="Arial"/>
              <a:buNone/>
            </a:pPr>
            <a:r>
              <a:rPr lang="en-US" sz="2100">
                <a:solidFill>
                  <a:schemeClr val="dk1"/>
                </a:solidFill>
                <a:latin typeface="Times New Roman"/>
                <a:ea typeface="Times New Roman"/>
                <a:cs typeface="Times New Roman"/>
                <a:sym typeface="Times New Roman"/>
              </a:rPr>
              <a:t>	α governs β and α is lexical (i.e, N, V, A or P) or</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2000"/>
              <a:buFont typeface="Arial"/>
              <a:buNone/>
            </a:pPr>
            <a:r>
              <a:rPr lang="en-US" sz="2100">
                <a:solidFill>
                  <a:schemeClr val="dk1"/>
                </a:solidFill>
                <a:latin typeface="Times New Roman"/>
                <a:ea typeface="Times New Roman"/>
                <a:cs typeface="Times New Roman"/>
                <a:sym typeface="Times New Roman"/>
              </a:rPr>
              <a:t>	α locally A binds β.</a:t>
            </a:r>
            <a:endParaRPr sz="21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800"/>
              <a:buFont typeface="Arial"/>
              <a:buNone/>
            </a:pPr>
            <a:r>
              <a:rPr lang="en-US" sz="2100" b="1">
                <a:solidFill>
                  <a:schemeClr val="dk1"/>
                </a:solidFill>
                <a:highlight>
                  <a:srgbClr val="00FF00"/>
                </a:highlight>
                <a:latin typeface="Times New Roman"/>
                <a:ea typeface="Times New Roman"/>
                <a:cs typeface="Times New Roman"/>
                <a:sym typeface="Times New Roman"/>
              </a:rPr>
              <a:t>Bounding and control theory:</a:t>
            </a:r>
            <a:endParaRPr sz="2100">
              <a:solidFill>
                <a:schemeClr val="dk1"/>
              </a:solidFill>
              <a:latin typeface="Times New Roman"/>
              <a:ea typeface="Times New Roman"/>
              <a:cs typeface="Times New Roman"/>
              <a:sym typeface="Times New Roman"/>
            </a:endParaRPr>
          </a:p>
          <a:p>
            <a:pPr marL="228600" lvl="0" indent="-228600" algn="l" rtl="0">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In English, the long distance movement for complement clause can be explained by bounding theory if NP and S are taken to be bounding nodes. </a:t>
            </a:r>
            <a:endParaRPr sz="2100">
              <a:solidFill>
                <a:schemeClr val="dk1"/>
              </a:solidFill>
              <a:latin typeface="Times New Roman"/>
              <a:ea typeface="Times New Roman"/>
              <a:cs typeface="Times New Roman"/>
              <a:sym typeface="Times New Roman"/>
            </a:endParaRPr>
          </a:p>
          <a:p>
            <a:pPr marL="228600" lvl="0" indent="-228600" algn="l" rtl="0">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The theory says that the application of move α may not cross more than one bounding node. </a:t>
            </a:r>
            <a:endParaRPr sz="2100">
              <a:solidFill>
                <a:schemeClr val="dk1"/>
              </a:solidFill>
              <a:latin typeface="Times New Roman"/>
              <a:ea typeface="Times New Roman"/>
              <a:cs typeface="Times New Roman"/>
              <a:sym typeface="Times New Roman"/>
            </a:endParaRPr>
          </a:p>
          <a:p>
            <a:pPr marL="228600" lvl="0" indent="-228600" algn="l" rtl="0">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The theory of control involves syntax, semantics and pragmatics.</a:t>
            </a:r>
            <a:endParaRPr sz="2100">
              <a:solidFill>
                <a:schemeClr val="dk1"/>
              </a:solidFill>
              <a:latin typeface="Times New Roman"/>
              <a:ea typeface="Times New Roman"/>
              <a:cs typeface="Times New Roman"/>
              <a:sym typeface="Times New Roman"/>
            </a:endParaRPr>
          </a:p>
        </p:txBody>
      </p:sp>
      <p:cxnSp>
        <p:nvCxnSpPr>
          <p:cNvPr id="766" name="Google Shape;766;g160cea89954_0_0"/>
          <p:cNvCxnSpPr/>
          <p:nvPr/>
        </p:nvCxnSpPr>
        <p:spPr>
          <a:xfrm>
            <a:off x="2789132" y="3464523"/>
            <a:ext cx="138600" cy="0"/>
          </a:xfrm>
          <a:prstGeom prst="straightConnector1">
            <a:avLst/>
          </a:prstGeom>
          <a:noFill/>
          <a:ln w="19050" cap="flat" cmpd="sng">
            <a:solidFill>
              <a:srgbClr val="1A1A1A"/>
            </a:solidFill>
            <a:prstDash val="solid"/>
            <a:round/>
            <a:headEnd type="none" w="sm" len="sm"/>
            <a:tailEnd type="none" w="sm" len="sm"/>
          </a:ln>
        </p:spPr>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47"/>
          <p:cNvSpPr txBox="1">
            <a:spLocks noGrp="1"/>
          </p:cNvSpPr>
          <p:nvPr>
            <p:ph type="title"/>
          </p:nvPr>
        </p:nvSpPr>
        <p:spPr>
          <a:xfrm>
            <a:off x="1251678" y="382385"/>
            <a:ext cx="10178322" cy="69827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GB</a:t>
            </a:r>
            <a:endParaRPr/>
          </a:p>
        </p:txBody>
      </p:sp>
      <p:sp>
        <p:nvSpPr>
          <p:cNvPr id="772" name="Google Shape;772;p47"/>
          <p:cNvSpPr txBox="1">
            <a:spLocks noGrp="1"/>
          </p:cNvSpPr>
          <p:nvPr>
            <p:ph type="body" idx="1"/>
          </p:nvPr>
        </p:nvSpPr>
        <p:spPr>
          <a:xfrm>
            <a:off x="1251678" y="1006765"/>
            <a:ext cx="10178322" cy="4872828"/>
          </a:xfrm>
          <a:prstGeom prst="rect">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rmAutofit lnSpcReduction="10000"/>
          </a:bodyPr>
          <a:lstStyle/>
          <a:p>
            <a:pPr marL="0" lvl="0" indent="0" algn="l" rtl="0">
              <a:lnSpc>
                <a:spcPct val="100000"/>
              </a:lnSpc>
              <a:spcBef>
                <a:spcPts val="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Case Theory and Case Filter</a:t>
            </a:r>
            <a:endParaRPr sz="2300" b="1">
              <a:solidFill>
                <a:schemeClr val="dk1"/>
              </a:solidFill>
              <a:highlight>
                <a:srgbClr val="00FF00"/>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endParaRPr sz="2300" b="1">
              <a:solidFill>
                <a:schemeClr val="dk1"/>
              </a:solidFill>
              <a:highlight>
                <a:srgbClr val="00FF00"/>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Case Theory:</a:t>
            </a:r>
            <a:endParaRPr sz="2300" b="1">
              <a:solidFill>
                <a:schemeClr val="dk1"/>
              </a:solidFill>
              <a:highlight>
                <a:srgbClr val="00FF00"/>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endParaRPr sz="2300" b="1">
              <a:solidFill>
                <a:schemeClr val="dk1"/>
              </a:solidFill>
              <a:highlight>
                <a:srgbClr val="00FF00"/>
              </a:highlight>
              <a:latin typeface="Times New Roman"/>
              <a:ea typeface="Times New Roman"/>
              <a:cs typeface="Times New Roman"/>
              <a:sym typeface="Times New Roman"/>
            </a:endParaRPr>
          </a:p>
          <a:p>
            <a:pPr marL="457200" lvl="0" indent="-374650" algn="l" rtl="0">
              <a:lnSpc>
                <a:spcPct val="100000"/>
              </a:lnSpc>
              <a:spcBef>
                <a:spcPts val="0"/>
              </a:spcBef>
              <a:spcAft>
                <a:spcPts val="0"/>
              </a:spcAft>
              <a:buClr>
                <a:schemeClr val="dk1"/>
              </a:buClr>
              <a:buSzPts val="2300"/>
              <a:buFont typeface="Times New Roman"/>
              <a:buChar char="•"/>
            </a:pPr>
            <a:r>
              <a:rPr lang="en-US" sz="2300">
                <a:solidFill>
                  <a:schemeClr val="dk1"/>
                </a:solidFill>
                <a:latin typeface="Times New Roman"/>
                <a:ea typeface="Times New Roman"/>
                <a:cs typeface="Times New Roman"/>
                <a:sym typeface="Times New Roman"/>
              </a:rPr>
              <a:t>In GB, case theory deals with the distribution of NPs and mentions that each NP must be assigned a case.</a:t>
            </a:r>
            <a:endParaRPr sz="2300">
              <a:solidFill>
                <a:schemeClr val="dk1"/>
              </a:solidFill>
              <a:latin typeface="Times New Roman"/>
              <a:ea typeface="Times New Roman"/>
              <a:cs typeface="Times New Roman"/>
              <a:sym typeface="Times New Roman"/>
            </a:endParaRPr>
          </a:p>
          <a:p>
            <a:pPr marL="457200" lvl="0" indent="-374650" algn="l" rtl="0">
              <a:lnSpc>
                <a:spcPct val="100000"/>
              </a:lnSpc>
              <a:spcBef>
                <a:spcPts val="0"/>
              </a:spcBef>
              <a:spcAft>
                <a:spcPts val="0"/>
              </a:spcAft>
              <a:buClr>
                <a:schemeClr val="dk1"/>
              </a:buClr>
              <a:buSzPts val="2300"/>
              <a:buFont typeface="Times New Roman"/>
              <a:buChar char="•"/>
            </a:pPr>
            <a:r>
              <a:rPr lang="en-US" sz="2300">
                <a:solidFill>
                  <a:schemeClr val="dk1"/>
                </a:solidFill>
                <a:latin typeface="Times New Roman"/>
                <a:ea typeface="Times New Roman"/>
                <a:cs typeface="Times New Roman"/>
                <a:sym typeface="Times New Roman"/>
              </a:rPr>
              <a:t>In English, we have</a:t>
            </a:r>
            <a:r>
              <a:rPr lang="en-US" sz="2300" b="1">
                <a:solidFill>
                  <a:schemeClr val="dk1"/>
                </a:solidFill>
                <a:latin typeface="Times New Roman"/>
                <a:ea typeface="Times New Roman"/>
                <a:cs typeface="Times New Roman"/>
                <a:sym typeface="Times New Roman"/>
              </a:rPr>
              <a:t> Nominative, Objective, Genitive, etc., </a:t>
            </a:r>
            <a:r>
              <a:rPr lang="en-US" sz="2300">
                <a:solidFill>
                  <a:schemeClr val="dk1"/>
                </a:solidFill>
                <a:latin typeface="Times New Roman"/>
                <a:ea typeface="Times New Roman"/>
                <a:cs typeface="Times New Roman"/>
                <a:sym typeface="Times New Roman"/>
              </a:rPr>
              <a:t>cases which are assigned to NPs at particular positions.</a:t>
            </a:r>
            <a:endParaRPr sz="2300">
              <a:solidFill>
                <a:schemeClr val="dk1"/>
              </a:solidFill>
              <a:latin typeface="Times New Roman"/>
              <a:ea typeface="Times New Roman"/>
              <a:cs typeface="Times New Roman"/>
              <a:sym typeface="Times New Roman"/>
            </a:endParaRPr>
          </a:p>
          <a:p>
            <a:pPr marL="457200" lvl="0" indent="0" algn="l" rtl="0">
              <a:lnSpc>
                <a:spcPct val="100000"/>
              </a:lnSpc>
              <a:spcBef>
                <a:spcPts val="0"/>
              </a:spcBef>
              <a:spcAft>
                <a:spcPts val="0"/>
              </a:spcAft>
              <a:buSzPts val="1800"/>
              <a:buNone/>
            </a:pPr>
            <a:endParaRPr sz="2300">
              <a:solidFill>
                <a:schemeClr val="dk1"/>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r>
              <a:rPr lang="en-US" sz="2300" b="1">
                <a:solidFill>
                  <a:schemeClr val="dk1"/>
                </a:solidFill>
                <a:highlight>
                  <a:srgbClr val="00FF00"/>
                </a:highlight>
                <a:latin typeface="Times New Roman"/>
                <a:ea typeface="Times New Roman"/>
                <a:cs typeface="Times New Roman"/>
                <a:sym typeface="Times New Roman"/>
              </a:rPr>
              <a:t>Case Filter:</a:t>
            </a:r>
            <a:endParaRPr sz="2300" b="1">
              <a:solidFill>
                <a:schemeClr val="dk1"/>
              </a:solidFill>
              <a:highlight>
                <a:srgbClr val="00FF00"/>
              </a:highlight>
              <a:latin typeface="Times New Roman"/>
              <a:ea typeface="Times New Roman"/>
              <a:cs typeface="Times New Roman"/>
              <a:sym typeface="Times New Roman"/>
            </a:endParaRPr>
          </a:p>
          <a:p>
            <a:pPr marL="0" lvl="0" indent="0" algn="l" rtl="0">
              <a:lnSpc>
                <a:spcPct val="100000"/>
              </a:lnSpc>
              <a:spcBef>
                <a:spcPts val="0"/>
              </a:spcBef>
              <a:spcAft>
                <a:spcPts val="0"/>
              </a:spcAft>
              <a:buSzPts val="1800"/>
              <a:buNone/>
            </a:pPr>
            <a:endParaRPr sz="2300" b="1">
              <a:solidFill>
                <a:schemeClr val="dk1"/>
              </a:solidFill>
              <a:highlight>
                <a:srgbClr val="00FF00"/>
              </a:highlight>
              <a:latin typeface="Times New Roman"/>
              <a:ea typeface="Times New Roman"/>
              <a:cs typeface="Times New Roman"/>
              <a:sym typeface="Times New Roman"/>
            </a:endParaRPr>
          </a:p>
          <a:p>
            <a:pPr marL="457200" lvl="0" indent="-374650" algn="l" rtl="0">
              <a:lnSpc>
                <a:spcPct val="100000"/>
              </a:lnSpc>
              <a:spcBef>
                <a:spcPts val="0"/>
              </a:spcBef>
              <a:spcAft>
                <a:spcPts val="0"/>
              </a:spcAft>
              <a:buClr>
                <a:schemeClr val="dk1"/>
              </a:buClr>
              <a:buSzPts val="2300"/>
              <a:buFont typeface="Times New Roman"/>
              <a:buChar char="•"/>
            </a:pPr>
            <a:r>
              <a:rPr lang="en-US" sz="2300">
                <a:solidFill>
                  <a:schemeClr val="dk1"/>
                </a:solidFill>
                <a:latin typeface="Times New Roman"/>
                <a:ea typeface="Times New Roman"/>
                <a:cs typeface="Times New Roman"/>
                <a:sym typeface="Times New Roman"/>
              </a:rPr>
              <a:t>An NP is ungrammatical if it has phonetic content or if it is an argument and is not case marked.</a:t>
            </a:r>
            <a:endParaRPr sz="2300">
              <a:solidFill>
                <a:schemeClr val="dk1"/>
              </a:solidFill>
              <a:latin typeface="Times New Roman"/>
              <a:ea typeface="Times New Roman"/>
              <a:cs typeface="Times New Roman"/>
              <a:sym typeface="Times New Roman"/>
            </a:endParaRPr>
          </a:p>
          <a:p>
            <a:pPr marL="457200" lvl="0" indent="-374650" algn="l" rtl="0">
              <a:lnSpc>
                <a:spcPct val="100000"/>
              </a:lnSpc>
              <a:spcBef>
                <a:spcPts val="0"/>
              </a:spcBef>
              <a:spcAft>
                <a:spcPts val="0"/>
              </a:spcAft>
              <a:buClr>
                <a:schemeClr val="dk1"/>
              </a:buClr>
              <a:buSzPts val="2300"/>
              <a:buFont typeface="Times New Roman"/>
              <a:buChar char="•"/>
            </a:pPr>
            <a:r>
              <a:rPr lang="en-US" sz="2300" b="1">
                <a:solidFill>
                  <a:schemeClr val="dk1"/>
                </a:solidFill>
                <a:latin typeface="Times New Roman"/>
                <a:ea typeface="Times New Roman"/>
                <a:cs typeface="Times New Roman"/>
                <a:sym typeface="Times New Roman"/>
              </a:rPr>
              <a:t>Case filters</a:t>
            </a:r>
            <a:r>
              <a:rPr lang="en-US" sz="2300">
                <a:solidFill>
                  <a:schemeClr val="dk1"/>
                </a:solidFill>
                <a:latin typeface="Times New Roman"/>
                <a:ea typeface="Times New Roman"/>
                <a:cs typeface="Times New Roman"/>
                <a:sym typeface="Times New Roman"/>
              </a:rPr>
              <a:t> restrict the movement of NP at a position which has no case assignment.</a:t>
            </a:r>
            <a:endParaRPr sz="2500">
              <a:solidFill>
                <a:schemeClr val="dk1"/>
              </a:solidFill>
              <a:highlight>
                <a:srgbClr val="00FF00"/>
              </a:highlight>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48"/>
          <p:cNvSpPr txBox="1">
            <a:spLocks noGrp="1"/>
          </p:cNvSpPr>
          <p:nvPr>
            <p:ph type="title"/>
          </p:nvPr>
        </p:nvSpPr>
        <p:spPr>
          <a:xfrm>
            <a:off x="1251678" y="382385"/>
            <a:ext cx="10178322" cy="59602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778" name="Google Shape;778;p48"/>
          <p:cNvSpPr txBox="1">
            <a:spLocks noGrp="1"/>
          </p:cNvSpPr>
          <p:nvPr>
            <p:ph type="body" idx="1"/>
          </p:nvPr>
        </p:nvSpPr>
        <p:spPr>
          <a:xfrm>
            <a:off x="1251678" y="1265383"/>
            <a:ext cx="10178322" cy="461421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SzPts val="1800"/>
              <a:buNone/>
            </a:pPr>
            <a:r>
              <a:rPr lang="en-US" sz="2450">
                <a:solidFill>
                  <a:schemeClr val="dk1"/>
                </a:solidFill>
                <a:highlight>
                  <a:schemeClr val="lt2"/>
                </a:highlight>
                <a:latin typeface="Times New Roman"/>
                <a:ea typeface="Times New Roman"/>
                <a:cs typeface="Times New Roman"/>
                <a:sym typeface="Times New Roman"/>
              </a:rPr>
              <a:t>Lexical functional grammar (LFG) is a constraint-based grammar framework in theoretical linguistics. </a:t>
            </a:r>
            <a:endParaRPr sz="2450">
              <a:solidFill>
                <a:schemeClr val="dk1"/>
              </a:solidFill>
              <a:highlight>
                <a:schemeClr val="lt2"/>
              </a:highlight>
              <a:latin typeface="Times New Roman"/>
              <a:ea typeface="Times New Roman"/>
              <a:cs typeface="Times New Roman"/>
              <a:sym typeface="Times New Roman"/>
            </a:endParaRPr>
          </a:p>
          <a:p>
            <a:pPr marL="0" lvl="0" indent="0" algn="just" rtl="0">
              <a:lnSpc>
                <a:spcPct val="115000"/>
              </a:lnSpc>
              <a:spcBef>
                <a:spcPts val="800"/>
              </a:spcBef>
              <a:spcAft>
                <a:spcPts val="0"/>
              </a:spcAft>
              <a:buSzPts val="1800"/>
              <a:buNone/>
            </a:pPr>
            <a:r>
              <a:rPr lang="en-US" sz="2450">
                <a:solidFill>
                  <a:schemeClr val="dk1"/>
                </a:solidFill>
                <a:highlight>
                  <a:schemeClr val="lt2"/>
                </a:highlight>
                <a:latin typeface="Times New Roman"/>
                <a:ea typeface="Times New Roman"/>
                <a:cs typeface="Times New Roman"/>
                <a:sym typeface="Times New Roman"/>
              </a:rPr>
              <a:t>It posts two separate levels of syntactic structure</a:t>
            </a:r>
            <a:endParaRPr sz="2450">
              <a:solidFill>
                <a:schemeClr val="dk1"/>
              </a:solidFill>
              <a:highlight>
                <a:schemeClr val="lt2"/>
              </a:highlight>
              <a:latin typeface="Times New Roman"/>
              <a:ea typeface="Times New Roman"/>
              <a:cs typeface="Times New Roman"/>
              <a:sym typeface="Times New Roman"/>
            </a:endParaRPr>
          </a:p>
          <a:p>
            <a:pPr marL="457200" lvl="0" indent="-384175" algn="just" rtl="0">
              <a:lnSpc>
                <a:spcPct val="115000"/>
              </a:lnSpc>
              <a:spcBef>
                <a:spcPts val="800"/>
              </a:spcBef>
              <a:spcAft>
                <a:spcPts val="0"/>
              </a:spcAft>
              <a:buClr>
                <a:schemeClr val="dk1"/>
              </a:buClr>
              <a:buSzPts val="2450"/>
              <a:buFont typeface="Times New Roman"/>
              <a:buAutoNum type="arabicPeriod"/>
            </a:pPr>
            <a:r>
              <a:rPr lang="en-US" sz="2450">
                <a:solidFill>
                  <a:schemeClr val="dk1"/>
                </a:solidFill>
                <a:highlight>
                  <a:schemeClr val="lt2"/>
                </a:highlight>
                <a:latin typeface="Times New Roman"/>
                <a:ea typeface="Times New Roman"/>
                <a:cs typeface="Times New Roman"/>
                <a:sym typeface="Times New Roman"/>
              </a:rPr>
              <a:t>A phrase structure grammar representation of word order and constituency,</a:t>
            </a:r>
            <a:endParaRPr sz="2450">
              <a:solidFill>
                <a:schemeClr val="dk1"/>
              </a:solidFill>
              <a:highlight>
                <a:schemeClr val="lt2"/>
              </a:highlight>
              <a:latin typeface="Times New Roman"/>
              <a:ea typeface="Times New Roman"/>
              <a:cs typeface="Times New Roman"/>
              <a:sym typeface="Times New Roman"/>
            </a:endParaRPr>
          </a:p>
          <a:p>
            <a:pPr marL="457200" lvl="0" indent="-384175" algn="just" rtl="0">
              <a:lnSpc>
                <a:spcPct val="115000"/>
              </a:lnSpc>
              <a:spcBef>
                <a:spcPts val="0"/>
              </a:spcBef>
              <a:spcAft>
                <a:spcPts val="0"/>
              </a:spcAft>
              <a:buClr>
                <a:schemeClr val="dk1"/>
              </a:buClr>
              <a:buSzPts val="2450"/>
              <a:buFont typeface="Times New Roman"/>
              <a:buAutoNum type="arabicPeriod"/>
            </a:pPr>
            <a:r>
              <a:rPr lang="en-US" sz="2450">
                <a:solidFill>
                  <a:schemeClr val="dk1"/>
                </a:solidFill>
                <a:highlight>
                  <a:schemeClr val="lt2"/>
                </a:highlight>
                <a:latin typeface="Times New Roman"/>
                <a:ea typeface="Times New Roman"/>
                <a:cs typeface="Times New Roman"/>
                <a:sym typeface="Times New Roman"/>
              </a:rPr>
              <a:t>A representation of grammatical functions such as subject and object, similar to dependency grammar. </a:t>
            </a:r>
            <a:endParaRPr sz="2450">
              <a:solidFill>
                <a:schemeClr val="dk1"/>
              </a:solidFill>
              <a:highlight>
                <a:schemeClr val="lt2"/>
              </a:highlight>
              <a:latin typeface="Times New Roman"/>
              <a:ea typeface="Times New Roman"/>
              <a:cs typeface="Times New Roman"/>
              <a:sym typeface="Times New Roman"/>
            </a:endParaRPr>
          </a:p>
          <a:p>
            <a:pPr marL="0" lvl="0" indent="0" algn="l" rtl="0">
              <a:lnSpc>
                <a:spcPct val="115000"/>
              </a:lnSpc>
              <a:spcBef>
                <a:spcPts val="800"/>
              </a:spcBef>
              <a:spcAft>
                <a:spcPts val="0"/>
              </a:spcAft>
              <a:buClr>
                <a:schemeClr val="dk1"/>
              </a:buClr>
              <a:buSzPts val="1100"/>
              <a:buFont typeface="Arial"/>
              <a:buNone/>
            </a:pPr>
            <a:endParaRPr sz="1100">
              <a:solidFill>
                <a:schemeClr val="dk1"/>
              </a:solidFill>
              <a:latin typeface="Arial"/>
              <a:ea typeface="Arial"/>
              <a:cs typeface="Arial"/>
              <a:sym typeface="Arial"/>
            </a:endParaRPr>
          </a:p>
          <a:p>
            <a:pPr marL="0" lvl="0" indent="0" algn="l" rtl="0">
              <a:lnSpc>
                <a:spcPct val="110000"/>
              </a:lnSpc>
              <a:spcBef>
                <a:spcPts val="1700"/>
              </a:spcBef>
              <a:spcAft>
                <a:spcPts val="0"/>
              </a:spcAft>
              <a:buSzPts val="1800"/>
              <a:buNone/>
            </a:pPr>
            <a:endParaRPr sz="1800">
              <a:solidFill>
                <a:schemeClr val="dk1"/>
              </a:solidFill>
              <a:latin typeface="Calibri"/>
              <a:ea typeface="Calibri"/>
              <a:cs typeface="Calibri"/>
              <a:sym typeface="Calibri"/>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81f7e1184c_0_0"/>
          <p:cNvSpPr txBox="1">
            <a:spLocks noGrp="1"/>
          </p:cNvSpPr>
          <p:nvPr>
            <p:ph type="title"/>
          </p:nvPr>
        </p:nvSpPr>
        <p:spPr>
          <a:xfrm>
            <a:off x="1251678" y="382385"/>
            <a:ext cx="10178400" cy="596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784" name="Google Shape;784;g281f7e1184c_0_0"/>
          <p:cNvSpPr txBox="1">
            <a:spLocks noGrp="1"/>
          </p:cNvSpPr>
          <p:nvPr>
            <p:ph type="body" idx="1"/>
          </p:nvPr>
        </p:nvSpPr>
        <p:spPr>
          <a:xfrm>
            <a:off x="1251678" y="1265383"/>
            <a:ext cx="10178400" cy="46143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SzPts val="1800"/>
              <a:buNone/>
            </a:pPr>
            <a:r>
              <a:rPr lang="en-US" sz="1800">
                <a:solidFill>
                  <a:schemeClr val="dk1"/>
                </a:solidFill>
                <a:latin typeface="Calibri"/>
                <a:ea typeface="Calibri"/>
                <a:cs typeface="Calibri"/>
                <a:sym typeface="Calibri"/>
              </a:rPr>
              <a:t>The term ‘lexical functional’ is composed of two parts:</a:t>
            </a:r>
            <a:endParaRPr sz="1800">
              <a:solidFill>
                <a:schemeClr val="dk1"/>
              </a:solidFill>
              <a:latin typeface="Calibri"/>
              <a:ea typeface="Calibri"/>
              <a:cs typeface="Calibri"/>
              <a:sym typeface="Calibri"/>
            </a:endParaRPr>
          </a:p>
          <a:p>
            <a:pPr marL="0" lvl="0" indent="0" algn="just" rtl="0">
              <a:lnSpc>
                <a:spcPct val="100000"/>
              </a:lnSpc>
              <a:spcBef>
                <a:spcPts val="0"/>
              </a:spcBef>
              <a:spcAft>
                <a:spcPts val="0"/>
              </a:spcAft>
              <a:buSzPts val="1800"/>
              <a:buNone/>
            </a:pPr>
            <a:endParaRPr sz="1800">
              <a:solidFill>
                <a:schemeClr val="dk1"/>
              </a:solidFill>
              <a:latin typeface="Calibri"/>
              <a:ea typeface="Calibri"/>
              <a:cs typeface="Calibri"/>
              <a:sym typeface="Calibri"/>
            </a:endParaRPr>
          </a:p>
          <a:p>
            <a:pPr marL="457200" lvl="0" indent="-342900" algn="just" rtl="0">
              <a:lnSpc>
                <a:spcPct val="100000"/>
              </a:lnSpc>
              <a:spcBef>
                <a:spcPts val="0"/>
              </a:spcBef>
              <a:spcAft>
                <a:spcPts val="0"/>
              </a:spcAft>
              <a:buClr>
                <a:schemeClr val="dk1"/>
              </a:buClr>
              <a:buSzPts val="1800"/>
              <a:buFont typeface="Calibri"/>
              <a:buAutoNum type="arabicPeriod"/>
            </a:pPr>
            <a:r>
              <a:rPr lang="en-US" sz="1800" b="1">
                <a:solidFill>
                  <a:schemeClr val="dk1"/>
                </a:solidFill>
                <a:latin typeface="Calibri"/>
                <a:ea typeface="Calibri"/>
                <a:cs typeface="Calibri"/>
                <a:sym typeface="Calibri"/>
              </a:rPr>
              <a:t>The </a:t>
            </a:r>
            <a:r>
              <a:rPr lang="en-US" sz="1800" b="1">
                <a:solidFill>
                  <a:schemeClr val="dk1"/>
                </a:solidFill>
                <a:highlight>
                  <a:srgbClr val="FFFF00"/>
                </a:highlight>
                <a:latin typeface="Calibri"/>
                <a:ea typeface="Calibri"/>
                <a:cs typeface="Calibri"/>
                <a:sym typeface="Calibri"/>
              </a:rPr>
              <a:t>lexical part</a:t>
            </a:r>
            <a:endParaRPr sz="1800">
              <a:solidFill>
                <a:schemeClr val="dk1"/>
              </a:solidFill>
              <a:highlight>
                <a:srgbClr val="FFFF00"/>
              </a:highlight>
              <a:latin typeface="Calibri"/>
              <a:ea typeface="Calibri"/>
              <a:cs typeface="Calibri"/>
              <a:sym typeface="Calibri"/>
            </a:endParaRPr>
          </a:p>
          <a:p>
            <a:pPr marL="0" lvl="0" indent="457200" algn="just" rtl="0">
              <a:lnSpc>
                <a:spcPct val="100000"/>
              </a:lnSpc>
              <a:spcBef>
                <a:spcPts val="0"/>
              </a:spcBef>
              <a:spcAft>
                <a:spcPts val="0"/>
              </a:spcAft>
              <a:buSzPts val="1800"/>
              <a:buNone/>
            </a:pPr>
            <a:r>
              <a:rPr lang="en-US" sz="1800">
                <a:solidFill>
                  <a:schemeClr val="dk1"/>
                </a:solidFill>
                <a:latin typeface="Calibri"/>
                <a:ea typeface="Calibri"/>
                <a:cs typeface="Calibri"/>
                <a:sym typeface="Calibri"/>
              </a:rPr>
              <a:t>-	is derived from the fact that the lexical rules can be formulated to help define the </a:t>
            </a:r>
            <a:r>
              <a:rPr lang="en-US" sz="1800" b="1">
                <a:solidFill>
                  <a:schemeClr val="dk1"/>
                </a:solidFill>
                <a:highlight>
                  <a:srgbClr val="EAD1DC"/>
                </a:highlight>
                <a:latin typeface="Calibri"/>
                <a:ea typeface="Calibri"/>
                <a:cs typeface="Calibri"/>
                <a:sym typeface="Calibri"/>
              </a:rPr>
              <a:t>structure of a sentence</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457200" lvl="0" indent="-342900" algn="just" rtl="0">
              <a:lnSpc>
                <a:spcPct val="100000"/>
              </a:lnSpc>
              <a:spcBef>
                <a:spcPts val="1700"/>
              </a:spcBef>
              <a:spcAft>
                <a:spcPts val="0"/>
              </a:spcAft>
              <a:buClr>
                <a:schemeClr val="dk1"/>
              </a:buClr>
              <a:buSzPts val="1800"/>
              <a:buFont typeface="Calibri"/>
              <a:buAutoNum type="arabicPeriod"/>
            </a:pPr>
            <a:r>
              <a:rPr lang="en-US" sz="1800" b="1">
                <a:solidFill>
                  <a:schemeClr val="dk1"/>
                </a:solidFill>
                <a:latin typeface="Calibri"/>
                <a:ea typeface="Calibri"/>
                <a:cs typeface="Calibri"/>
                <a:sym typeface="Calibri"/>
              </a:rPr>
              <a:t>The </a:t>
            </a:r>
            <a:r>
              <a:rPr lang="en-US" sz="1800" b="1">
                <a:solidFill>
                  <a:schemeClr val="dk1"/>
                </a:solidFill>
                <a:highlight>
                  <a:srgbClr val="FFFF00"/>
                </a:highlight>
                <a:latin typeface="Calibri"/>
                <a:ea typeface="Calibri"/>
                <a:cs typeface="Calibri"/>
                <a:sym typeface="Calibri"/>
              </a:rPr>
              <a:t>functional part</a:t>
            </a:r>
            <a:endParaRPr sz="1800">
              <a:solidFill>
                <a:schemeClr val="dk1"/>
              </a:solidFill>
              <a:highlight>
                <a:srgbClr val="FFFF00"/>
              </a:highlight>
              <a:latin typeface="Calibri"/>
              <a:ea typeface="Calibri"/>
              <a:cs typeface="Calibri"/>
              <a:sym typeface="Calibri"/>
            </a:endParaRPr>
          </a:p>
          <a:p>
            <a:pPr marL="914400" lvl="0" indent="-342900" algn="just" rtl="0">
              <a:lnSpc>
                <a:spcPct val="10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is derived from </a:t>
            </a:r>
            <a:r>
              <a:rPr lang="en-US" sz="1800" b="1">
                <a:solidFill>
                  <a:schemeClr val="dk1"/>
                </a:solidFill>
                <a:highlight>
                  <a:srgbClr val="EAD1DC"/>
                </a:highlight>
                <a:latin typeface="Calibri"/>
                <a:ea typeface="Calibri"/>
                <a:cs typeface="Calibri"/>
                <a:sym typeface="Calibri"/>
              </a:rPr>
              <a:t>grammatical functions such as subject and object or roles played by various arguments in a sentence.</a:t>
            </a:r>
            <a:endParaRPr sz="1800" b="1">
              <a:solidFill>
                <a:schemeClr val="dk1"/>
              </a:solidFill>
              <a:highlight>
                <a:srgbClr val="EAD1DC"/>
              </a:highlight>
              <a:latin typeface="Calibri"/>
              <a:ea typeface="Calibri"/>
              <a:cs typeface="Calibri"/>
              <a:sym typeface="Calibri"/>
            </a:endParaRPr>
          </a:p>
          <a:p>
            <a:pPr marL="0" lvl="0" indent="0" algn="just" rtl="0">
              <a:lnSpc>
                <a:spcPct val="100000"/>
              </a:lnSpc>
              <a:spcBef>
                <a:spcPts val="0"/>
              </a:spcBef>
              <a:spcAft>
                <a:spcPts val="0"/>
              </a:spcAft>
              <a:buSzPts val="1800"/>
              <a:buNone/>
            </a:pPr>
            <a:endParaRPr sz="1800">
              <a:solidFill>
                <a:schemeClr val="dk1"/>
              </a:solidFill>
              <a:latin typeface="Calibri"/>
              <a:ea typeface="Calibri"/>
              <a:cs typeface="Calibri"/>
              <a:sym typeface="Calibri"/>
            </a:endParaRPr>
          </a:p>
          <a:p>
            <a:pPr marL="0" lvl="0" indent="0" algn="just" rtl="0">
              <a:lnSpc>
                <a:spcPct val="115000"/>
              </a:lnSpc>
              <a:spcBef>
                <a:spcPts val="0"/>
              </a:spcBef>
              <a:spcAft>
                <a:spcPts val="0"/>
              </a:spcAft>
              <a:buSzPts val="1800"/>
              <a:buNone/>
            </a:pPr>
            <a:r>
              <a:rPr lang="en-US" sz="1800">
                <a:solidFill>
                  <a:schemeClr val="dk1"/>
                </a:solidFill>
                <a:latin typeface="Calibri"/>
                <a:ea typeface="Calibri"/>
                <a:cs typeface="Calibri"/>
                <a:sym typeface="Calibri"/>
              </a:rPr>
              <a:t>LFG represents sentences at two syntactic levels – </a:t>
            </a:r>
            <a:endParaRPr sz="1800">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1800">
              <a:solidFill>
                <a:schemeClr val="dk1"/>
              </a:solidFill>
              <a:latin typeface="Calibri"/>
              <a:ea typeface="Calibri"/>
              <a:cs typeface="Calibri"/>
              <a:sym typeface="Calibri"/>
            </a:endParaRPr>
          </a:p>
          <a:p>
            <a:pPr marL="1371600" lvl="0" indent="-342900" algn="just" rtl="0">
              <a:lnSpc>
                <a:spcPct val="115000"/>
              </a:lnSpc>
              <a:spcBef>
                <a:spcPts val="0"/>
              </a:spcBef>
              <a:spcAft>
                <a:spcPts val="0"/>
              </a:spcAft>
              <a:buClr>
                <a:schemeClr val="dk1"/>
              </a:buClr>
              <a:buSzPts val="1800"/>
              <a:buFont typeface="Calibri"/>
              <a:buAutoNum type="arabicPeriod"/>
            </a:pPr>
            <a:r>
              <a:rPr lang="en-US" sz="1800">
                <a:solidFill>
                  <a:schemeClr val="dk1"/>
                </a:solidFill>
                <a:highlight>
                  <a:srgbClr val="FFFF00"/>
                </a:highlight>
                <a:latin typeface="Calibri"/>
                <a:ea typeface="Calibri"/>
                <a:cs typeface="Calibri"/>
                <a:sym typeface="Calibri"/>
              </a:rPr>
              <a:t>Constituent structure (c-structure)</a:t>
            </a:r>
            <a:endParaRPr sz="1800">
              <a:solidFill>
                <a:schemeClr val="dk1"/>
              </a:solidFill>
              <a:highlight>
                <a:srgbClr val="FFFF00"/>
              </a:highlight>
              <a:latin typeface="Calibri"/>
              <a:ea typeface="Calibri"/>
              <a:cs typeface="Calibri"/>
              <a:sym typeface="Calibri"/>
            </a:endParaRPr>
          </a:p>
          <a:p>
            <a:pPr marL="1371600" lvl="0" indent="-342900" algn="just" rtl="0">
              <a:lnSpc>
                <a:spcPct val="115000"/>
              </a:lnSpc>
              <a:spcBef>
                <a:spcPts val="0"/>
              </a:spcBef>
              <a:spcAft>
                <a:spcPts val="0"/>
              </a:spcAft>
              <a:buClr>
                <a:schemeClr val="dk1"/>
              </a:buClr>
              <a:buSzPts val="1800"/>
              <a:buFont typeface="Calibri"/>
              <a:buAutoNum type="arabicPeriod"/>
            </a:pPr>
            <a:r>
              <a:rPr lang="en-US" sz="1800">
                <a:solidFill>
                  <a:schemeClr val="dk1"/>
                </a:solidFill>
                <a:highlight>
                  <a:srgbClr val="FFFF00"/>
                </a:highlight>
                <a:latin typeface="Calibri"/>
                <a:ea typeface="Calibri"/>
                <a:cs typeface="Calibri"/>
                <a:sym typeface="Calibri"/>
              </a:rPr>
              <a:t>Functional structure (f-structure). </a:t>
            </a:r>
            <a:endParaRPr sz="1800">
              <a:solidFill>
                <a:schemeClr val="dk1"/>
              </a:solidFill>
              <a:highlight>
                <a:srgbClr val="FFFF00"/>
              </a:highlight>
              <a:latin typeface="Calibri"/>
              <a:ea typeface="Calibri"/>
              <a:cs typeface="Calibri"/>
              <a:sym typeface="Calibri"/>
            </a:endParaRPr>
          </a:p>
          <a:p>
            <a:pPr marL="0" lvl="0" indent="0" algn="l" rtl="0">
              <a:lnSpc>
                <a:spcPct val="110000"/>
              </a:lnSpc>
              <a:spcBef>
                <a:spcPts val="1700"/>
              </a:spcBef>
              <a:spcAft>
                <a:spcPts val="0"/>
              </a:spcAft>
              <a:buSzPts val="1800"/>
              <a:buNone/>
            </a:pPr>
            <a:endParaRPr>
              <a:solidFill>
                <a:schemeClr val="dk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49"/>
          <p:cNvSpPr txBox="1">
            <a:spLocks noGrp="1"/>
          </p:cNvSpPr>
          <p:nvPr>
            <p:ph type="title"/>
          </p:nvPr>
        </p:nvSpPr>
        <p:spPr>
          <a:xfrm>
            <a:off x="1251678" y="382385"/>
            <a:ext cx="10178322" cy="80910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LEXICAL FUNCTIONAL GRAMMAR</a:t>
            </a:r>
            <a:endParaRPr/>
          </a:p>
        </p:txBody>
      </p:sp>
      <p:sp>
        <p:nvSpPr>
          <p:cNvPr id="790" name="Google Shape;790;p49"/>
          <p:cNvSpPr txBox="1">
            <a:spLocks noGrp="1"/>
          </p:cNvSpPr>
          <p:nvPr>
            <p:ph type="body" idx="1"/>
          </p:nvPr>
        </p:nvSpPr>
        <p:spPr>
          <a:xfrm>
            <a:off x="1251638" y="1077248"/>
            <a:ext cx="10178400" cy="5402700"/>
          </a:xfrm>
          <a:prstGeom prst="rect">
            <a:avLst/>
          </a:prstGeom>
          <a:noFill/>
          <a:ln>
            <a:noFill/>
          </a:ln>
        </p:spPr>
        <p:txBody>
          <a:bodyPr spcFirstLastPara="1" wrap="square" lIns="91425" tIns="45700" rIns="91425" bIns="45700" anchor="ctr" anchorCtr="0">
            <a:normAutofit lnSpcReduction="10000"/>
          </a:bodyPr>
          <a:lstStyle/>
          <a:p>
            <a:pPr marL="0" lvl="0" indent="0" algn="just" rtl="0">
              <a:lnSpc>
                <a:spcPct val="100000"/>
              </a:lnSpc>
              <a:spcBef>
                <a:spcPts val="0"/>
              </a:spcBef>
              <a:spcAft>
                <a:spcPts val="0"/>
              </a:spcAft>
              <a:buSzPts val="1800"/>
              <a:buNone/>
            </a:pPr>
            <a:endParaRPr sz="1800">
              <a:solidFill>
                <a:schemeClr val="dk1"/>
              </a:solidFill>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1800" b="1">
                <a:solidFill>
                  <a:schemeClr val="dk1"/>
                </a:solidFill>
                <a:highlight>
                  <a:srgbClr val="00FFFF"/>
                </a:highlight>
                <a:latin typeface="Calibri"/>
                <a:ea typeface="Calibri"/>
                <a:cs typeface="Calibri"/>
                <a:sym typeface="Calibri"/>
              </a:rPr>
              <a:t>C-Structure and F-structure in LFG</a:t>
            </a:r>
            <a:endParaRPr sz="1800" b="1">
              <a:solidFill>
                <a:schemeClr val="dk1"/>
              </a:solidFill>
              <a:highlight>
                <a:srgbClr val="00FFFF"/>
              </a:highlight>
              <a:latin typeface="Calibri"/>
              <a:ea typeface="Calibri"/>
              <a:cs typeface="Calibri"/>
              <a:sym typeface="Calibri"/>
            </a:endParaRPr>
          </a:p>
          <a:p>
            <a:pPr marL="0" lvl="0" indent="0" algn="just" rtl="0">
              <a:lnSpc>
                <a:spcPct val="100000"/>
              </a:lnSpc>
              <a:spcBef>
                <a:spcPts val="0"/>
              </a:spcBef>
              <a:spcAft>
                <a:spcPts val="0"/>
              </a:spcAft>
              <a:buSzPts val="1800"/>
              <a:buNone/>
            </a:pPr>
            <a:endParaRPr sz="1800" b="1">
              <a:solidFill>
                <a:schemeClr val="dk1"/>
              </a:solidFill>
              <a:highlight>
                <a:srgbClr val="00FFFF"/>
              </a:highlight>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1800" b="1">
                <a:solidFill>
                  <a:schemeClr val="dk1"/>
                </a:solidFill>
                <a:highlight>
                  <a:srgbClr val="00FFFF"/>
                </a:highlight>
                <a:latin typeface="Calibri"/>
                <a:ea typeface="Calibri"/>
                <a:cs typeface="Calibri"/>
                <a:sym typeface="Calibri"/>
              </a:rPr>
              <a:t>C-Structure</a:t>
            </a:r>
            <a:endParaRPr sz="1800" b="1">
              <a:solidFill>
                <a:schemeClr val="dk1"/>
              </a:solidFill>
              <a:highlight>
                <a:srgbClr val="00FFFF"/>
              </a:highlight>
              <a:latin typeface="Calibri"/>
              <a:ea typeface="Calibri"/>
              <a:cs typeface="Calibri"/>
              <a:sym typeface="Calibri"/>
            </a:endParaRPr>
          </a:p>
          <a:p>
            <a:pPr marL="228600" lvl="0" indent="-228600" algn="just" rtl="0">
              <a:lnSpc>
                <a:spcPct val="100000"/>
              </a:lnSpc>
              <a:spcBef>
                <a:spcPts val="1700"/>
              </a:spcBef>
              <a:spcAft>
                <a:spcPts val="0"/>
              </a:spcAft>
              <a:buClr>
                <a:schemeClr val="dk1"/>
              </a:buClr>
              <a:buSzPts val="1800"/>
              <a:buChar char="•"/>
            </a:pPr>
            <a:r>
              <a:rPr lang="en-US" sz="1800">
                <a:solidFill>
                  <a:schemeClr val="dk1"/>
                </a:solidFill>
                <a:latin typeface="Calibri"/>
                <a:ea typeface="Calibri"/>
                <a:cs typeface="Calibri"/>
                <a:sym typeface="Calibri"/>
              </a:rPr>
              <a:t>The c-structure is derived from the </a:t>
            </a:r>
            <a:r>
              <a:rPr lang="en-US" sz="1800">
                <a:solidFill>
                  <a:schemeClr val="dk1"/>
                </a:solidFill>
                <a:highlight>
                  <a:srgbClr val="FFFF00"/>
                </a:highlight>
                <a:latin typeface="Calibri"/>
                <a:ea typeface="Calibri"/>
                <a:cs typeface="Calibri"/>
                <a:sym typeface="Calibri"/>
              </a:rPr>
              <a:t>phrase and sentence structure syntax</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marL="228600" lvl="0" indent="-228600" algn="just" rtl="0">
              <a:lnSpc>
                <a:spcPct val="100000"/>
              </a:lnSpc>
              <a:spcBef>
                <a:spcPts val="17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C-Structure is used for encoding linear order constituency and hierarchical relations.</a:t>
            </a:r>
            <a:endParaRPr sz="1800">
              <a:solidFill>
                <a:schemeClr val="dk1"/>
              </a:solidFill>
              <a:latin typeface="Calibri"/>
              <a:ea typeface="Calibri"/>
              <a:cs typeface="Calibri"/>
              <a:sym typeface="Calibri"/>
            </a:endParaRPr>
          </a:p>
          <a:p>
            <a:pPr marL="0" lvl="0" indent="0" algn="just" rtl="0">
              <a:lnSpc>
                <a:spcPct val="100000"/>
              </a:lnSpc>
              <a:spcBef>
                <a:spcPts val="0"/>
              </a:spcBef>
              <a:spcAft>
                <a:spcPts val="0"/>
              </a:spcAft>
              <a:buSzPts val="1800"/>
              <a:buNone/>
            </a:pPr>
            <a:endParaRPr sz="1800" b="1">
              <a:solidFill>
                <a:schemeClr val="dk1"/>
              </a:solidFill>
              <a:highlight>
                <a:srgbClr val="00FFFF"/>
              </a:highlight>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1800" b="1">
                <a:solidFill>
                  <a:schemeClr val="dk1"/>
                </a:solidFill>
                <a:highlight>
                  <a:srgbClr val="00FFFF"/>
                </a:highlight>
                <a:latin typeface="Calibri"/>
                <a:ea typeface="Calibri"/>
                <a:cs typeface="Calibri"/>
                <a:sym typeface="Calibri"/>
              </a:rPr>
              <a:t>F-structure</a:t>
            </a:r>
            <a:endParaRPr sz="1800">
              <a:solidFill>
                <a:schemeClr val="dk1"/>
              </a:solidFill>
              <a:latin typeface="Calibri"/>
              <a:ea typeface="Calibri"/>
              <a:cs typeface="Calibri"/>
              <a:sym typeface="Calibri"/>
            </a:endParaRPr>
          </a:p>
          <a:p>
            <a:pPr marL="228600" lvl="0" indent="-228600" algn="just" rtl="0">
              <a:lnSpc>
                <a:spcPct val="100000"/>
              </a:lnSpc>
              <a:spcBef>
                <a:spcPts val="1700"/>
              </a:spcBef>
              <a:spcAft>
                <a:spcPts val="0"/>
              </a:spcAft>
              <a:buClr>
                <a:schemeClr val="dk1"/>
              </a:buClr>
              <a:buSzPts val="1800"/>
              <a:buChar char="•"/>
            </a:pPr>
            <a:r>
              <a:rPr lang="en-US" sz="1800">
                <a:solidFill>
                  <a:schemeClr val="dk1"/>
                </a:solidFill>
                <a:latin typeface="Calibri"/>
                <a:ea typeface="Calibri"/>
                <a:cs typeface="Calibri"/>
                <a:sym typeface="Calibri"/>
              </a:rPr>
              <a:t>f-structure is a set of attribute-value pairs.</a:t>
            </a:r>
            <a:endParaRPr sz="1800">
              <a:solidFill>
                <a:schemeClr val="dk1"/>
              </a:solidFill>
              <a:latin typeface="Calibri"/>
              <a:ea typeface="Calibri"/>
              <a:cs typeface="Calibri"/>
              <a:sym typeface="Calibri"/>
            </a:endParaRPr>
          </a:p>
          <a:p>
            <a:pPr marL="228600" lvl="0" indent="-228600" algn="just" rtl="0">
              <a:lnSpc>
                <a:spcPct val="100000"/>
              </a:lnSpc>
              <a:spcBef>
                <a:spcPts val="1700"/>
              </a:spcBef>
              <a:spcAft>
                <a:spcPts val="0"/>
              </a:spcAft>
              <a:buClr>
                <a:schemeClr val="dk1"/>
              </a:buClr>
              <a:buSzPts val="1800"/>
              <a:buChar char="•"/>
            </a:pPr>
            <a:r>
              <a:rPr lang="en-US" sz="1800">
                <a:solidFill>
                  <a:schemeClr val="dk1"/>
                </a:solidFill>
                <a:latin typeface="Calibri"/>
                <a:ea typeface="Calibri"/>
                <a:cs typeface="Calibri"/>
                <a:sym typeface="Calibri"/>
              </a:rPr>
              <a:t>f-structure encodes the information obtained from phrase and sentence structure rules and functional specifications.</a:t>
            </a:r>
            <a:endParaRPr sz="1800">
              <a:solidFill>
                <a:schemeClr val="dk1"/>
              </a:solidFill>
              <a:latin typeface="Calibri"/>
              <a:ea typeface="Calibri"/>
              <a:cs typeface="Calibri"/>
              <a:sym typeface="Calibri"/>
            </a:endParaRPr>
          </a:p>
          <a:p>
            <a:pPr marL="228600" lvl="0" indent="-228600" algn="just" rtl="0">
              <a:lnSpc>
                <a:spcPct val="100000"/>
              </a:lnSpc>
              <a:spcBef>
                <a:spcPts val="1700"/>
              </a:spcBef>
              <a:spcAft>
                <a:spcPts val="0"/>
              </a:spcAft>
              <a:buClr>
                <a:schemeClr val="dk1"/>
              </a:buClr>
              <a:buSzPts val="1800"/>
              <a:buChar char="•"/>
            </a:pPr>
            <a:r>
              <a:rPr lang="en-US" sz="1800">
                <a:solidFill>
                  <a:schemeClr val="dk1"/>
                </a:solidFill>
                <a:latin typeface="Calibri"/>
                <a:ea typeface="Calibri"/>
                <a:cs typeface="Calibri"/>
                <a:sym typeface="Calibri"/>
              </a:rPr>
              <a:t>As the grammatical functional role cannot be derived directly from phrase and sentence structure, </a:t>
            </a:r>
            <a:r>
              <a:rPr lang="en-US" sz="1800">
                <a:solidFill>
                  <a:schemeClr val="dk1"/>
                </a:solidFill>
                <a:highlight>
                  <a:srgbClr val="FFFF00"/>
                </a:highlight>
                <a:latin typeface="Calibri"/>
                <a:ea typeface="Calibri"/>
                <a:cs typeface="Calibri"/>
                <a:sym typeface="Calibri"/>
              </a:rPr>
              <a:t>functional specification are annotated</a:t>
            </a:r>
            <a:r>
              <a:rPr lang="en-US" sz="1800">
                <a:solidFill>
                  <a:schemeClr val="dk1"/>
                </a:solidFill>
                <a:latin typeface="Calibri"/>
                <a:ea typeface="Calibri"/>
                <a:cs typeface="Calibri"/>
                <a:sym typeface="Calibri"/>
              </a:rPr>
              <a:t> as the nodes of c-structure, which when applied on sentences, results </a:t>
            </a:r>
            <a:r>
              <a:rPr lang="en-US" sz="1800">
                <a:solidFill>
                  <a:schemeClr val="dk1"/>
                </a:solidFill>
                <a:highlight>
                  <a:srgbClr val="FFFF00"/>
                </a:highlight>
                <a:latin typeface="Calibri"/>
                <a:ea typeface="Calibri"/>
                <a:cs typeface="Calibri"/>
                <a:sym typeface="Calibri"/>
              </a:rPr>
              <a:t>in f-structure</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0" lvl="0" indent="0" algn="just" rtl="0">
              <a:lnSpc>
                <a:spcPct val="100000"/>
              </a:lnSpc>
              <a:spcBef>
                <a:spcPts val="1700"/>
              </a:spcBef>
              <a:spcAft>
                <a:spcPts val="0"/>
              </a:spcAft>
              <a:buSzPts val="1800"/>
              <a:buNone/>
            </a:pPr>
            <a:r>
              <a:rPr lang="en-US" sz="1800">
                <a:solidFill>
                  <a:schemeClr val="dk1"/>
                </a:solidFill>
                <a:latin typeface="Calibri"/>
                <a:ea typeface="Calibri"/>
                <a:cs typeface="Calibri"/>
                <a:sym typeface="Calibri"/>
              </a:rPr>
              <a:t>Ref: </a:t>
            </a:r>
            <a:r>
              <a:rPr lang="en-US" sz="1800" u="sng">
                <a:solidFill>
                  <a:schemeClr val="hlink"/>
                </a:solidFill>
                <a:latin typeface="Calibri"/>
                <a:ea typeface="Calibri"/>
                <a:cs typeface="Calibri"/>
                <a:sym typeface="Calibri"/>
                <a:hlinkClick r:id="rId3"/>
              </a:rPr>
              <a:t>https://www.youtube.com/watch?v=EoCLhS_0cmE</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50"/>
          <p:cNvSpPr txBox="1">
            <a:spLocks noGrp="1"/>
          </p:cNvSpPr>
          <p:nvPr>
            <p:ph type="title"/>
          </p:nvPr>
        </p:nvSpPr>
        <p:spPr>
          <a:xfrm>
            <a:off x="1251678" y="382385"/>
            <a:ext cx="10178322" cy="59602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796" name="Google Shape;796;p50"/>
          <p:cNvSpPr txBox="1">
            <a:spLocks noGrp="1"/>
          </p:cNvSpPr>
          <p:nvPr>
            <p:ph type="body" idx="1"/>
          </p:nvPr>
        </p:nvSpPr>
        <p:spPr>
          <a:xfrm>
            <a:off x="1251675" y="1209979"/>
            <a:ext cx="10178400" cy="5433600"/>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1800"/>
              <a:buNone/>
            </a:pPr>
            <a:r>
              <a:rPr lang="en-US" sz="2200">
                <a:highlight>
                  <a:srgbClr val="FFFF00"/>
                </a:highlight>
                <a:latin typeface="Calibri"/>
                <a:ea typeface="Calibri"/>
                <a:cs typeface="Calibri"/>
                <a:sym typeface="Calibri"/>
              </a:rPr>
              <a:t>Example:   She saw stars in the sky</a:t>
            </a:r>
            <a:endParaRPr sz="2400"/>
          </a:p>
          <a:p>
            <a:pPr marL="0" lvl="0" indent="0" algn="just" rtl="0">
              <a:lnSpc>
                <a:spcPct val="100000"/>
              </a:lnSpc>
              <a:spcBef>
                <a:spcPts val="0"/>
              </a:spcBef>
              <a:spcAft>
                <a:spcPts val="0"/>
              </a:spcAft>
              <a:buSzPts val="1800"/>
              <a:buNone/>
            </a:pPr>
            <a:r>
              <a:rPr lang="en-US" sz="2200">
                <a:latin typeface="Calibri"/>
                <a:ea typeface="Calibri"/>
                <a:cs typeface="Calibri"/>
                <a:sym typeface="Calibri"/>
              </a:rPr>
              <a:t>CFG rules to handle this sentence are:</a:t>
            </a:r>
            <a:endParaRPr sz="2200">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2200">
                <a:latin typeface="Calibri"/>
                <a:ea typeface="Calibri"/>
                <a:cs typeface="Calibri"/>
                <a:sym typeface="Calibri"/>
              </a:rPr>
              <a:t>	S    -&gt; NP VP</a:t>
            </a:r>
            <a:endParaRPr sz="2200">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2200">
                <a:latin typeface="Calibri"/>
                <a:ea typeface="Calibri"/>
                <a:cs typeface="Calibri"/>
                <a:sym typeface="Calibri"/>
              </a:rPr>
              <a:t>	VP -&gt; V {NP} {NP} PP*  {S’}</a:t>
            </a:r>
            <a:endParaRPr sz="2200">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2200">
                <a:latin typeface="Calibri"/>
                <a:ea typeface="Calibri"/>
                <a:cs typeface="Calibri"/>
                <a:sym typeface="Calibri"/>
              </a:rPr>
              <a:t>	PP -&gt; P NP</a:t>
            </a:r>
            <a:endParaRPr sz="2200">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2200">
                <a:latin typeface="Calibri"/>
                <a:ea typeface="Calibri"/>
                <a:cs typeface="Calibri"/>
                <a:sym typeface="Calibri"/>
              </a:rPr>
              <a:t>	NP -&gt; Det N {PP}</a:t>
            </a:r>
            <a:endParaRPr sz="2200">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2200">
                <a:latin typeface="Calibri"/>
                <a:ea typeface="Calibri"/>
                <a:cs typeface="Calibri"/>
                <a:sym typeface="Calibri"/>
              </a:rPr>
              <a:t>	S’   -&gt; Comp S</a:t>
            </a:r>
            <a:endParaRPr sz="2400"/>
          </a:p>
          <a:p>
            <a:pPr marL="0" lvl="0" indent="0" algn="just" rtl="0">
              <a:lnSpc>
                <a:spcPct val="100000"/>
              </a:lnSpc>
              <a:spcBef>
                <a:spcPts val="0"/>
              </a:spcBef>
              <a:spcAft>
                <a:spcPts val="0"/>
              </a:spcAft>
              <a:buSzPts val="1800"/>
              <a:buNone/>
            </a:pPr>
            <a:r>
              <a:rPr lang="en-US" sz="2200">
                <a:latin typeface="Calibri"/>
                <a:ea typeface="Calibri"/>
                <a:cs typeface="Calibri"/>
                <a:sym typeface="Calibri"/>
              </a:rPr>
              <a:t>where</a:t>
            </a:r>
            <a:endParaRPr sz="2200">
              <a:latin typeface="Calibri"/>
              <a:ea typeface="Calibri"/>
              <a:cs typeface="Calibri"/>
              <a:sym typeface="Calibri"/>
            </a:endParaRPr>
          </a:p>
          <a:p>
            <a:pPr marL="457200" lvl="0" indent="0" algn="just" rtl="0">
              <a:lnSpc>
                <a:spcPct val="115000"/>
              </a:lnSpc>
              <a:spcBef>
                <a:spcPts val="700"/>
              </a:spcBef>
              <a:spcAft>
                <a:spcPts val="0"/>
              </a:spcAft>
              <a:buSzPts val="1800"/>
              <a:buNone/>
            </a:pPr>
            <a:r>
              <a:rPr lang="en-US" sz="2200">
                <a:latin typeface="Calibri"/>
                <a:ea typeface="Calibri"/>
                <a:cs typeface="Calibri"/>
                <a:sym typeface="Calibri"/>
              </a:rPr>
              <a:t>S: sentence; V: verb; </a:t>
            </a:r>
            <a:endParaRPr sz="2200">
              <a:latin typeface="Calibri"/>
              <a:ea typeface="Calibri"/>
              <a:cs typeface="Calibri"/>
              <a:sym typeface="Calibri"/>
            </a:endParaRPr>
          </a:p>
          <a:p>
            <a:pPr marL="457200" lvl="0" indent="0" algn="just" rtl="0">
              <a:lnSpc>
                <a:spcPct val="115000"/>
              </a:lnSpc>
              <a:spcBef>
                <a:spcPts val="700"/>
              </a:spcBef>
              <a:spcAft>
                <a:spcPts val="0"/>
              </a:spcAft>
              <a:buSzPts val="1800"/>
              <a:buNone/>
            </a:pPr>
            <a:r>
              <a:rPr lang="en-US" sz="2200">
                <a:latin typeface="Calibri"/>
                <a:ea typeface="Calibri"/>
                <a:cs typeface="Calibri"/>
                <a:sym typeface="Calibri"/>
              </a:rPr>
              <a:t>P: preposition, N: noun; </a:t>
            </a:r>
            <a:endParaRPr sz="2200">
              <a:latin typeface="Calibri"/>
              <a:ea typeface="Calibri"/>
              <a:cs typeface="Calibri"/>
              <a:sym typeface="Calibri"/>
            </a:endParaRPr>
          </a:p>
          <a:p>
            <a:pPr marL="457200" lvl="0" indent="0" algn="just" rtl="0">
              <a:lnSpc>
                <a:spcPct val="115000"/>
              </a:lnSpc>
              <a:spcBef>
                <a:spcPts val="700"/>
              </a:spcBef>
              <a:spcAft>
                <a:spcPts val="0"/>
              </a:spcAft>
              <a:buSzPts val="1800"/>
              <a:buNone/>
            </a:pPr>
            <a:r>
              <a:rPr lang="en-US" sz="2200">
                <a:latin typeface="Calibri"/>
                <a:ea typeface="Calibri"/>
                <a:cs typeface="Calibri"/>
                <a:sym typeface="Calibri"/>
              </a:rPr>
              <a:t>S’: clause; Comp: complement </a:t>
            </a:r>
            <a:endParaRPr sz="2200">
              <a:latin typeface="Calibri"/>
              <a:ea typeface="Calibri"/>
              <a:cs typeface="Calibri"/>
              <a:sym typeface="Calibri"/>
            </a:endParaRPr>
          </a:p>
          <a:p>
            <a:pPr marL="457200" lvl="0" indent="0" algn="just" rtl="0">
              <a:lnSpc>
                <a:spcPct val="115000"/>
              </a:lnSpc>
              <a:spcBef>
                <a:spcPts val="700"/>
              </a:spcBef>
              <a:spcAft>
                <a:spcPts val="0"/>
              </a:spcAft>
              <a:buSzPts val="1800"/>
              <a:buNone/>
            </a:pPr>
            <a:r>
              <a:rPr lang="en-US" sz="2200">
                <a:latin typeface="Calibri"/>
                <a:ea typeface="Calibri"/>
                <a:cs typeface="Calibri"/>
                <a:sym typeface="Calibri"/>
              </a:rPr>
              <a:t>{} optional;</a:t>
            </a:r>
            <a:endParaRPr sz="2200">
              <a:latin typeface="Calibri"/>
              <a:ea typeface="Calibri"/>
              <a:cs typeface="Calibri"/>
              <a:sym typeface="Calibri"/>
            </a:endParaRPr>
          </a:p>
          <a:p>
            <a:pPr marL="457200" lvl="0" indent="0" algn="just" rtl="0">
              <a:lnSpc>
                <a:spcPct val="115000"/>
              </a:lnSpc>
              <a:spcBef>
                <a:spcPts val="700"/>
              </a:spcBef>
              <a:spcAft>
                <a:spcPts val="0"/>
              </a:spcAft>
              <a:buSzPts val="1800"/>
              <a:buNone/>
            </a:pPr>
            <a:r>
              <a:rPr lang="en-US" sz="2200">
                <a:latin typeface="Calibri"/>
                <a:ea typeface="Calibri"/>
                <a:cs typeface="Calibri"/>
                <a:sym typeface="Calibri"/>
              </a:rPr>
              <a:t>*: Phrase can appear any number of times including blank.</a:t>
            </a:r>
            <a:endParaRPr sz="2200">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51"/>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LEXICAL FUNCTIONAL GRAMMAR</a:t>
            </a:r>
            <a:endParaRPr/>
          </a:p>
        </p:txBody>
      </p:sp>
      <p:pic>
        <p:nvPicPr>
          <p:cNvPr id="802" name="Google Shape;802;p51"/>
          <p:cNvPicPr preferRelativeResize="0"/>
          <p:nvPr/>
        </p:nvPicPr>
        <p:blipFill rotWithShape="1">
          <a:blip r:embed="rId3">
            <a:alphaModFix/>
          </a:blip>
          <a:srcRect/>
          <a:stretch/>
        </p:blipFill>
        <p:spPr>
          <a:xfrm>
            <a:off x="1916925" y="1239400"/>
            <a:ext cx="8824524" cy="4101182"/>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52"/>
          <p:cNvSpPr txBox="1">
            <a:spLocks noGrp="1"/>
          </p:cNvSpPr>
          <p:nvPr>
            <p:ph type="title"/>
          </p:nvPr>
        </p:nvSpPr>
        <p:spPr>
          <a:xfrm>
            <a:off x="1251678" y="382385"/>
            <a:ext cx="10178322" cy="661324"/>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808" name="Google Shape;808;p52"/>
          <p:cNvSpPr txBox="1">
            <a:spLocks noGrp="1"/>
          </p:cNvSpPr>
          <p:nvPr>
            <p:ph type="body" idx="1"/>
          </p:nvPr>
        </p:nvSpPr>
        <p:spPr>
          <a:xfrm>
            <a:off x="1251675" y="1043701"/>
            <a:ext cx="10178400" cy="4836000"/>
          </a:xfrm>
          <a:prstGeom prst="rect">
            <a:avLst/>
          </a:prstGeom>
          <a:noFill/>
          <a:ln>
            <a:noFill/>
          </a:ln>
        </p:spPr>
        <p:txBody>
          <a:bodyPr spcFirstLastPara="1" wrap="square" lIns="91425" tIns="45700" rIns="91425" bIns="45700" anchor="t" anchorCtr="0">
            <a:normAutofit/>
          </a:bodyPr>
          <a:lstStyle/>
          <a:p>
            <a:pPr marL="457200" lvl="0" indent="-361950" algn="l" rtl="0">
              <a:lnSpc>
                <a:spcPct val="110000"/>
              </a:lnSpc>
              <a:spcBef>
                <a:spcPts val="0"/>
              </a:spcBef>
              <a:spcAft>
                <a:spcPts val="0"/>
              </a:spcAft>
              <a:buSzPts val="2100"/>
              <a:buFont typeface="Times New Roman"/>
              <a:buChar char="•"/>
            </a:pPr>
            <a:r>
              <a:rPr lang="en-US" sz="2100">
                <a:latin typeface="Times New Roman"/>
                <a:ea typeface="Times New Roman"/>
                <a:cs typeface="Times New Roman"/>
                <a:sym typeface="Times New Roman"/>
              </a:rPr>
              <a:t>The up arrow refers to the f-structure of the mother node that is on the left hand side of the rule.</a:t>
            </a:r>
            <a:endParaRPr sz="2100">
              <a:latin typeface="Times New Roman"/>
              <a:ea typeface="Times New Roman"/>
              <a:cs typeface="Times New Roman"/>
              <a:sym typeface="Times New Roman"/>
            </a:endParaRPr>
          </a:p>
          <a:p>
            <a:pPr marL="457200" lvl="0" indent="-361950" algn="l" rtl="0">
              <a:lnSpc>
                <a:spcPct val="110000"/>
              </a:lnSpc>
              <a:spcBef>
                <a:spcPts val="0"/>
              </a:spcBef>
              <a:spcAft>
                <a:spcPts val="0"/>
              </a:spcAft>
              <a:buSzPts val="2100"/>
              <a:buFont typeface="Times New Roman"/>
              <a:buChar char="•"/>
            </a:pPr>
            <a:r>
              <a:rPr lang="en-US" sz="2100">
                <a:latin typeface="Times New Roman"/>
                <a:ea typeface="Times New Roman"/>
                <a:cs typeface="Times New Roman"/>
                <a:sym typeface="Times New Roman"/>
              </a:rPr>
              <a:t>The down arrow refers to the f-structure of the node under which it is denoted. </a:t>
            </a:r>
            <a:endParaRPr sz="2100">
              <a:latin typeface="Times New Roman"/>
              <a:ea typeface="Times New Roman"/>
              <a:cs typeface="Times New Roman"/>
              <a:sym typeface="Times New Roman"/>
            </a:endParaRPr>
          </a:p>
          <a:p>
            <a:pPr marL="457200" lvl="0" indent="0" algn="l" rtl="0">
              <a:lnSpc>
                <a:spcPct val="110000"/>
              </a:lnSpc>
              <a:spcBef>
                <a:spcPts val="0"/>
              </a:spcBef>
              <a:spcAft>
                <a:spcPts val="0"/>
              </a:spcAft>
              <a:buSzPts val="1800"/>
              <a:buNone/>
            </a:pPr>
            <a:endParaRPr sz="2100">
              <a:latin typeface="Times New Roman"/>
              <a:ea typeface="Times New Roman"/>
              <a:cs typeface="Times New Roman"/>
              <a:sym typeface="Times New Roman"/>
            </a:endParaRPr>
          </a:p>
          <a:p>
            <a:pPr marL="0" lvl="0" indent="0" algn="l" rtl="0">
              <a:lnSpc>
                <a:spcPct val="110000"/>
              </a:lnSpc>
              <a:spcBef>
                <a:spcPts val="700"/>
              </a:spcBef>
              <a:spcAft>
                <a:spcPts val="0"/>
              </a:spcAft>
              <a:buSzPts val="1800"/>
              <a:buNone/>
            </a:pPr>
            <a:endParaRPr sz="1800">
              <a:latin typeface="Calibri"/>
              <a:ea typeface="Calibri"/>
              <a:cs typeface="Calibri"/>
              <a:sym typeface="Calibri"/>
            </a:endParaRPr>
          </a:p>
          <a:p>
            <a:pPr marL="228600" lvl="0" indent="-101600" algn="l" rtl="0">
              <a:lnSpc>
                <a:spcPct val="110000"/>
              </a:lnSpc>
              <a:spcBef>
                <a:spcPts val="700"/>
              </a:spcBef>
              <a:spcAft>
                <a:spcPts val="0"/>
              </a:spcAft>
              <a:buSzPts val="2000"/>
              <a:buNone/>
            </a:pPr>
            <a:endParaRPr/>
          </a:p>
        </p:txBody>
      </p:sp>
      <p:pic>
        <p:nvPicPr>
          <p:cNvPr id="809" name="Google Shape;809;p52"/>
          <p:cNvPicPr preferRelativeResize="0"/>
          <p:nvPr/>
        </p:nvPicPr>
        <p:blipFill rotWithShape="1">
          <a:blip r:embed="rId3">
            <a:alphaModFix/>
          </a:blip>
          <a:srcRect/>
          <a:stretch/>
        </p:blipFill>
        <p:spPr>
          <a:xfrm>
            <a:off x="1523998" y="2509951"/>
            <a:ext cx="9886650" cy="3369651"/>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53"/>
          <p:cNvSpPr txBox="1">
            <a:spLocks noGrp="1"/>
          </p:cNvSpPr>
          <p:nvPr>
            <p:ph type="title"/>
          </p:nvPr>
        </p:nvSpPr>
        <p:spPr>
          <a:xfrm>
            <a:off x="1251678" y="382385"/>
            <a:ext cx="10178322" cy="79987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LEXICAL FUNCTIONAL GRAMMAR</a:t>
            </a:r>
            <a:endParaRPr/>
          </a:p>
        </p:txBody>
      </p:sp>
      <p:sp>
        <p:nvSpPr>
          <p:cNvPr id="815" name="Google Shape;815;p53"/>
          <p:cNvSpPr txBox="1">
            <a:spLocks noGrp="1"/>
          </p:cNvSpPr>
          <p:nvPr>
            <p:ph type="body" idx="1"/>
          </p:nvPr>
        </p:nvSpPr>
        <p:spPr>
          <a:xfrm>
            <a:off x="1251678" y="1182255"/>
            <a:ext cx="10178322" cy="4697337"/>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000"/>
              <a:buNone/>
            </a:pPr>
            <a:r>
              <a:rPr lang="en-US">
                <a:highlight>
                  <a:srgbClr val="FFFF00"/>
                </a:highlight>
              </a:rPr>
              <a:t>Lexical entries of the words in the sentence - </a:t>
            </a:r>
            <a:r>
              <a:rPr lang="en-US" b="1">
                <a:highlight>
                  <a:srgbClr val="FFFF00"/>
                </a:highlight>
              </a:rPr>
              <a:t>She saw Stars</a:t>
            </a:r>
            <a:endParaRPr b="1"/>
          </a:p>
          <a:p>
            <a:pPr marL="0" lvl="0" indent="0" algn="l" rtl="0">
              <a:lnSpc>
                <a:spcPct val="110000"/>
              </a:lnSpc>
              <a:spcBef>
                <a:spcPts val="700"/>
              </a:spcBef>
              <a:spcAft>
                <a:spcPts val="0"/>
              </a:spcAft>
              <a:buSzPts val="2000"/>
              <a:buNone/>
            </a:pPr>
            <a:endParaRPr>
              <a:highlight>
                <a:srgbClr val="FFFF00"/>
              </a:highlight>
            </a:endParaRPr>
          </a:p>
        </p:txBody>
      </p:sp>
      <p:pic>
        <p:nvPicPr>
          <p:cNvPr id="816" name="Google Shape;816;p53"/>
          <p:cNvPicPr preferRelativeResize="0"/>
          <p:nvPr/>
        </p:nvPicPr>
        <p:blipFill rotWithShape="1">
          <a:blip r:embed="rId3">
            <a:alphaModFix/>
          </a:blip>
          <a:srcRect/>
          <a:stretch/>
        </p:blipFill>
        <p:spPr>
          <a:xfrm>
            <a:off x="2891925" y="1735150"/>
            <a:ext cx="6064800" cy="393302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54"/>
          <p:cNvSpPr txBox="1">
            <a:spLocks noGrp="1"/>
          </p:cNvSpPr>
          <p:nvPr>
            <p:ph type="title"/>
          </p:nvPr>
        </p:nvSpPr>
        <p:spPr>
          <a:xfrm>
            <a:off x="1251678" y="382385"/>
            <a:ext cx="10178322" cy="71674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822" name="Google Shape;822;p54"/>
          <p:cNvSpPr txBox="1"/>
          <p:nvPr/>
        </p:nvSpPr>
        <p:spPr>
          <a:xfrm>
            <a:off x="1374300" y="1299250"/>
            <a:ext cx="68232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rgbClr val="000000"/>
                </a:solidFill>
                <a:latin typeface="Gill Sans"/>
                <a:ea typeface="Gill Sans"/>
                <a:cs typeface="Gill Sans"/>
                <a:sym typeface="Gill Sans"/>
              </a:rPr>
              <a:t>C-Structure of sentence - She saw stars</a:t>
            </a:r>
            <a:endParaRPr sz="1700" b="1" i="0" u="none" strike="noStrike" cap="none">
              <a:solidFill>
                <a:srgbClr val="000000"/>
              </a:solidFill>
              <a:latin typeface="Gill Sans"/>
              <a:ea typeface="Gill Sans"/>
              <a:cs typeface="Gill Sans"/>
              <a:sym typeface="Gill Sans"/>
            </a:endParaRPr>
          </a:p>
        </p:txBody>
      </p:sp>
      <p:pic>
        <p:nvPicPr>
          <p:cNvPr id="823" name="Google Shape;823;p54"/>
          <p:cNvPicPr preferRelativeResize="0"/>
          <p:nvPr/>
        </p:nvPicPr>
        <p:blipFill rotWithShape="1">
          <a:blip r:embed="rId3">
            <a:alphaModFix/>
          </a:blip>
          <a:srcRect/>
          <a:stretch/>
        </p:blipFill>
        <p:spPr>
          <a:xfrm>
            <a:off x="2746875" y="1807575"/>
            <a:ext cx="6124323" cy="48075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55"/>
          <p:cNvSpPr txBox="1">
            <a:spLocks noGrp="1"/>
          </p:cNvSpPr>
          <p:nvPr>
            <p:ph type="title"/>
          </p:nvPr>
        </p:nvSpPr>
        <p:spPr>
          <a:xfrm>
            <a:off x="1251678" y="382385"/>
            <a:ext cx="10178322" cy="790633"/>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829" name="Google Shape;829;p55"/>
          <p:cNvSpPr/>
          <p:nvPr/>
        </p:nvSpPr>
        <p:spPr>
          <a:xfrm>
            <a:off x="1350861" y="1402447"/>
            <a:ext cx="10178322" cy="646331"/>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Clr>
                <a:schemeClr val="dk1"/>
              </a:buClr>
              <a:buSzPts val="2000"/>
              <a:buFont typeface="Calibri"/>
              <a:buNone/>
            </a:pPr>
            <a:r>
              <a:rPr lang="en-US" sz="2000" b="0" i="0" u="none" strike="noStrike" cap="none">
                <a:solidFill>
                  <a:schemeClr val="dk1"/>
                </a:solidFill>
                <a:latin typeface="Calibri"/>
                <a:ea typeface="Calibri"/>
                <a:cs typeface="Calibri"/>
                <a:sym typeface="Calibri"/>
              </a:rPr>
              <a:t>Finally, the f-structure is the set of attribute-value pairs, represented as</a:t>
            </a:r>
            <a:endParaRPr sz="2000" b="0" i="0"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Arial"/>
              <a:ea typeface="Arial"/>
              <a:cs typeface="Arial"/>
              <a:sym typeface="Arial"/>
            </a:endParaRPr>
          </a:p>
        </p:txBody>
      </p:sp>
      <p:sp>
        <p:nvSpPr>
          <p:cNvPr id="830" name="Google Shape;830;p55"/>
          <p:cNvSpPr txBox="1"/>
          <p:nvPr/>
        </p:nvSpPr>
        <p:spPr>
          <a:xfrm>
            <a:off x="3335250" y="6202650"/>
            <a:ext cx="5465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000000"/>
                </a:solidFill>
                <a:latin typeface="Gill Sans"/>
                <a:ea typeface="Gill Sans"/>
                <a:cs typeface="Gill Sans"/>
                <a:sym typeface="Gill Sans"/>
              </a:rPr>
              <a:t>F-Structure of sentence - She saw start</a:t>
            </a:r>
            <a:endParaRPr sz="1700" b="0" i="0" u="none" strike="noStrike" cap="none">
              <a:solidFill>
                <a:srgbClr val="000000"/>
              </a:solidFill>
              <a:latin typeface="Gill Sans"/>
              <a:ea typeface="Gill Sans"/>
              <a:cs typeface="Gill Sans"/>
              <a:sym typeface="Gill Sans"/>
            </a:endParaRPr>
          </a:p>
        </p:txBody>
      </p:sp>
      <p:pic>
        <p:nvPicPr>
          <p:cNvPr id="831" name="Google Shape;831;p55"/>
          <p:cNvPicPr preferRelativeResize="0"/>
          <p:nvPr/>
        </p:nvPicPr>
        <p:blipFill rotWithShape="1">
          <a:blip r:embed="rId3">
            <a:alphaModFix/>
          </a:blip>
          <a:srcRect/>
          <a:stretch/>
        </p:blipFill>
        <p:spPr>
          <a:xfrm>
            <a:off x="2330075" y="2029850"/>
            <a:ext cx="4924525" cy="393302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56"/>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LEXICAL FUNCTIONAL GRAMMAR</a:t>
            </a:r>
            <a:endParaRPr/>
          </a:p>
        </p:txBody>
      </p:sp>
      <p:sp>
        <p:nvSpPr>
          <p:cNvPr id="837" name="Google Shape;837;p56"/>
          <p:cNvSpPr txBox="1">
            <a:spLocks noGrp="1"/>
          </p:cNvSpPr>
          <p:nvPr>
            <p:ph type="body" idx="1"/>
          </p:nvPr>
        </p:nvSpPr>
        <p:spPr>
          <a:xfrm>
            <a:off x="1251678" y="1200727"/>
            <a:ext cx="10178322" cy="4678865"/>
          </a:xfrm>
          <a:prstGeom prst="rect">
            <a:avLst/>
          </a:prstGeom>
          <a:noFill/>
          <a:ln>
            <a:noFill/>
          </a:ln>
        </p:spPr>
        <p:txBody>
          <a:bodyPr spcFirstLastPara="1" wrap="square" lIns="91425" tIns="45700" rIns="91425" bIns="45700" anchor="t" anchorCtr="0">
            <a:normAutofit fontScale="92500"/>
          </a:bodyPr>
          <a:lstStyle/>
          <a:p>
            <a:pPr marL="228600" lvl="0" indent="-228600" algn="just" rtl="0">
              <a:lnSpc>
                <a:spcPct val="115000"/>
              </a:lnSpc>
              <a:spcBef>
                <a:spcPts val="0"/>
              </a:spcBef>
              <a:spcAft>
                <a:spcPts val="0"/>
              </a:spcAft>
              <a:buSzPts val="1800"/>
              <a:buChar char="•"/>
            </a:pPr>
            <a:r>
              <a:rPr lang="en-US" sz="1800">
                <a:latin typeface="Calibri"/>
                <a:ea typeface="Calibri"/>
                <a:cs typeface="Calibri"/>
                <a:sym typeface="Calibri"/>
              </a:rPr>
              <a:t>LFG imposes three conditions on f-structure:</a:t>
            </a:r>
            <a:endParaRPr sz="1800">
              <a:latin typeface="Calibri"/>
              <a:ea typeface="Calibri"/>
              <a:cs typeface="Calibri"/>
              <a:sym typeface="Calibri"/>
            </a:endParaRPr>
          </a:p>
          <a:p>
            <a:pPr marL="228600" lvl="0" indent="-228600" algn="just" rtl="0">
              <a:lnSpc>
                <a:spcPct val="115000"/>
              </a:lnSpc>
              <a:spcBef>
                <a:spcPts val="1700"/>
              </a:spcBef>
              <a:spcAft>
                <a:spcPts val="0"/>
              </a:spcAft>
              <a:buSzPts val="1800"/>
              <a:buChar char="•"/>
            </a:pPr>
            <a:r>
              <a:rPr lang="en-US" sz="1800" b="1">
                <a:highlight>
                  <a:srgbClr val="FFFF00"/>
                </a:highlight>
                <a:latin typeface="Calibri"/>
                <a:ea typeface="Calibri"/>
                <a:cs typeface="Calibri"/>
                <a:sym typeface="Calibri"/>
              </a:rPr>
              <a:t>Consistency</a:t>
            </a:r>
            <a:r>
              <a:rPr lang="en-US" sz="1800" b="1">
                <a:latin typeface="Calibri"/>
                <a:ea typeface="Calibri"/>
                <a:cs typeface="Calibri"/>
                <a:sym typeface="Calibri"/>
              </a:rPr>
              <a:t>: </a:t>
            </a:r>
            <a:r>
              <a:rPr lang="en-US" sz="1800">
                <a:latin typeface="Calibri"/>
                <a:ea typeface="Calibri"/>
                <a:cs typeface="Calibri"/>
                <a:sym typeface="Calibri"/>
              </a:rPr>
              <a:t>In a given f-structure, a particular attribute may have at most one value. Hence, while unifying two f-structures if the attribute num has value SG in one and PL in the other, it will be rejected.</a:t>
            </a:r>
            <a:endParaRPr sz="1800">
              <a:latin typeface="Calibri"/>
              <a:ea typeface="Calibri"/>
              <a:cs typeface="Calibri"/>
              <a:sym typeface="Calibri"/>
            </a:endParaRPr>
          </a:p>
          <a:p>
            <a:pPr marL="228600" lvl="0" indent="-228600" algn="just" rtl="0">
              <a:lnSpc>
                <a:spcPct val="115000"/>
              </a:lnSpc>
              <a:spcBef>
                <a:spcPts val="1700"/>
              </a:spcBef>
              <a:spcAft>
                <a:spcPts val="0"/>
              </a:spcAft>
              <a:buSzPts val="1800"/>
              <a:buChar char="•"/>
            </a:pPr>
            <a:r>
              <a:rPr lang="en-US" sz="1800" b="1">
                <a:highlight>
                  <a:srgbClr val="FFFF00"/>
                </a:highlight>
                <a:latin typeface="Calibri"/>
                <a:ea typeface="Calibri"/>
                <a:cs typeface="Calibri"/>
                <a:sym typeface="Calibri"/>
              </a:rPr>
              <a:t>Completeness</a:t>
            </a:r>
            <a:r>
              <a:rPr lang="en-US" sz="1800">
                <a:highlight>
                  <a:srgbClr val="FFFF00"/>
                </a:highlight>
                <a:latin typeface="Calibri"/>
                <a:ea typeface="Calibri"/>
                <a:cs typeface="Calibri"/>
                <a:sym typeface="Calibri"/>
              </a:rPr>
              <a:t>: </a:t>
            </a:r>
            <a:r>
              <a:rPr lang="en-US" sz="1800">
                <a:latin typeface="Calibri"/>
                <a:ea typeface="Calibri"/>
                <a:cs typeface="Calibri"/>
                <a:sym typeface="Calibri"/>
              </a:rPr>
              <a:t>A function is called governable if it appears within the pred value of some lexical form.</a:t>
            </a:r>
            <a:endParaRPr sz="1800">
              <a:latin typeface="Calibri"/>
              <a:ea typeface="Calibri"/>
              <a:cs typeface="Calibri"/>
              <a:sym typeface="Calibri"/>
            </a:endParaRPr>
          </a:p>
          <a:p>
            <a:pPr marL="457200" lvl="0" indent="0" algn="just" rtl="0">
              <a:lnSpc>
                <a:spcPct val="115000"/>
              </a:lnSpc>
              <a:spcBef>
                <a:spcPts val="1700"/>
              </a:spcBef>
              <a:spcAft>
                <a:spcPts val="0"/>
              </a:spcAft>
              <a:buSzPts val="1800"/>
              <a:buNone/>
            </a:pPr>
            <a:r>
              <a:rPr lang="en-US" sz="1800">
                <a:latin typeface="Calibri"/>
                <a:ea typeface="Calibri"/>
                <a:cs typeface="Calibri"/>
                <a:sym typeface="Calibri"/>
              </a:rPr>
              <a:t>ex: sub, obj and obj2. Adjunct is not a governable function.</a:t>
            </a:r>
            <a:endParaRPr sz="1800">
              <a:latin typeface="Calibri"/>
              <a:ea typeface="Calibri"/>
              <a:cs typeface="Calibri"/>
              <a:sym typeface="Calibri"/>
            </a:endParaRPr>
          </a:p>
          <a:p>
            <a:pPr marL="228600" lvl="0" indent="-228600" algn="l" rtl="0">
              <a:lnSpc>
                <a:spcPct val="110000"/>
              </a:lnSpc>
              <a:spcBef>
                <a:spcPts val="1700"/>
              </a:spcBef>
              <a:spcAft>
                <a:spcPts val="0"/>
              </a:spcAft>
              <a:buSzPts val="1800"/>
              <a:buChar char="•"/>
            </a:pPr>
            <a:r>
              <a:rPr lang="en-US" sz="1800" b="1">
                <a:highlight>
                  <a:srgbClr val="FFFF00"/>
                </a:highlight>
                <a:latin typeface="Calibri"/>
                <a:ea typeface="Calibri"/>
                <a:cs typeface="Calibri"/>
                <a:sym typeface="Calibri"/>
              </a:rPr>
              <a:t>Coherence: </a:t>
            </a:r>
            <a:r>
              <a:rPr lang="en-US" sz="1800" b="1">
                <a:latin typeface="Calibri"/>
                <a:ea typeface="Calibri"/>
                <a:cs typeface="Calibri"/>
                <a:sym typeface="Calibri"/>
              </a:rPr>
              <a:t>C</a:t>
            </a:r>
            <a:r>
              <a:rPr lang="en-US" sz="1800">
                <a:latin typeface="Calibri"/>
                <a:ea typeface="Calibri"/>
                <a:cs typeface="Calibri"/>
                <a:sym typeface="Calibri"/>
              </a:rPr>
              <a:t>oherence maps the completeness property in the reverse direction. It requires that all governable functions of an f-structure, and all its subsidiary f-structures must be governed by their respective predicates. </a:t>
            </a:r>
            <a:endParaRPr sz="1800">
              <a:latin typeface="Calibri"/>
              <a:ea typeface="Calibri"/>
              <a:cs typeface="Calibri"/>
              <a:sym typeface="Calibri"/>
            </a:endParaRPr>
          </a:p>
          <a:p>
            <a:pPr marL="0" lvl="0" indent="457200" algn="l" rtl="0">
              <a:lnSpc>
                <a:spcPct val="110000"/>
              </a:lnSpc>
              <a:spcBef>
                <a:spcPts val="1700"/>
              </a:spcBef>
              <a:spcAft>
                <a:spcPts val="0"/>
              </a:spcAft>
              <a:buSzPts val="1800"/>
              <a:buNone/>
            </a:pPr>
            <a:r>
              <a:rPr lang="en-US" sz="1800">
                <a:latin typeface="Calibri"/>
                <a:ea typeface="Calibri"/>
                <a:cs typeface="Calibri"/>
                <a:sym typeface="Calibri"/>
              </a:rPr>
              <a:t>Example: In the f-structure of a sentence, an object cannot be taken if its verb does not allow that object. Thus, it will reject the sentence,  </a:t>
            </a:r>
            <a:r>
              <a:rPr lang="en-US" sz="1800">
                <a:highlight>
                  <a:srgbClr val="FFFF00"/>
                </a:highlight>
                <a:latin typeface="Calibri"/>
                <a:ea typeface="Calibri"/>
                <a:cs typeface="Calibri"/>
                <a:sym typeface="Calibri"/>
              </a:rPr>
              <a:t>“I laughed a book”</a:t>
            </a:r>
            <a:endParaRPr sz="1800">
              <a:highlight>
                <a:srgbClr val="FFFF00"/>
              </a:highlight>
              <a:latin typeface="Calibri"/>
              <a:ea typeface="Calibri"/>
              <a:cs typeface="Calibri"/>
              <a:sym typeface="Calibri"/>
            </a:endParaRPr>
          </a:p>
          <a:p>
            <a:pPr marL="0" lvl="0" indent="457200" algn="l" rtl="0">
              <a:lnSpc>
                <a:spcPct val="110000"/>
              </a:lnSpc>
              <a:spcBef>
                <a:spcPts val="1700"/>
              </a:spcBef>
              <a:spcAft>
                <a:spcPts val="0"/>
              </a:spcAft>
              <a:buSzPts val="1800"/>
              <a:buNone/>
            </a:pPr>
            <a:r>
              <a:rPr lang="en-US" sz="1800">
                <a:highlight>
                  <a:srgbClr val="FFFF00"/>
                </a:highlight>
                <a:latin typeface="Calibri"/>
                <a:ea typeface="Calibri"/>
                <a:cs typeface="Calibri"/>
                <a:sym typeface="Calibri"/>
              </a:rPr>
              <a:t>Reference: </a:t>
            </a:r>
            <a:r>
              <a:rPr lang="en-US" sz="1800" u="sng">
                <a:solidFill>
                  <a:schemeClr val="hlink"/>
                </a:solidFill>
                <a:highlight>
                  <a:srgbClr val="FFFF00"/>
                </a:highlight>
                <a:latin typeface="Calibri"/>
                <a:ea typeface="Calibri"/>
                <a:cs typeface="Calibri"/>
                <a:sym typeface="Calibri"/>
                <a:hlinkClick r:id="rId3"/>
              </a:rPr>
              <a:t>https://www.youtube.com/watch?v=VMkCdkkyYsU&amp;list=PLLBpKrZiIqZ97ZhbbwSLV6nDZXVdsPbCy&amp;index=1&amp;t=1s</a:t>
            </a:r>
            <a:r>
              <a:rPr lang="en-US" sz="1800">
                <a:highlight>
                  <a:srgbClr val="FFFF00"/>
                </a:highlight>
                <a:latin typeface="Calibri"/>
                <a:ea typeface="Calibri"/>
                <a:cs typeface="Calibri"/>
                <a:sym typeface="Calibri"/>
              </a:rPr>
              <a:t> </a:t>
            </a:r>
            <a:endParaRPr sz="1800">
              <a:highlight>
                <a:srgbClr val="FFFF00"/>
              </a:highlight>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57"/>
          <p:cNvSpPr txBox="1">
            <a:spLocks noGrp="1"/>
          </p:cNvSpPr>
          <p:nvPr>
            <p:ph type="title"/>
          </p:nvPr>
        </p:nvSpPr>
        <p:spPr>
          <a:xfrm>
            <a:off x="1251678" y="382385"/>
            <a:ext cx="10178322" cy="716741"/>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843" name="Google Shape;843;p57"/>
          <p:cNvSpPr txBox="1">
            <a:spLocks noGrp="1"/>
          </p:cNvSpPr>
          <p:nvPr>
            <p:ph type="body" idx="1"/>
          </p:nvPr>
        </p:nvSpPr>
        <p:spPr>
          <a:xfrm>
            <a:off x="1251678" y="1099127"/>
            <a:ext cx="10178322" cy="537648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110000"/>
              </a:lnSpc>
              <a:spcBef>
                <a:spcPts val="0"/>
              </a:spcBef>
              <a:spcAft>
                <a:spcPts val="0"/>
              </a:spcAft>
              <a:buSzPct val="100000"/>
              <a:buChar char="•"/>
            </a:pPr>
            <a:r>
              <a:rPr lang="en-US"/>
              <a:t>In LFG, the verb is converted to the participle form, but the sub-categorization is changed directly ex:</a:t>
            </a:r>
            <a:endParaRPr/>
          </a:p>
          <a:p>
            <a:pPr marL="0" lvl="0" indent="0" algn="l" rtl="0">
              <a:lnSpc>
                <a:spcPct val="110000"/>
              </a:lnSpc>
              <a:spcBef>
                <a:spcPts val="700"/>
              </a:spcBef>
              <a:spcAft>
                <a:spcPts val="0"/>
              </a:spcAft>
              <a:buSzPct val="100000"/>
              <a:buNone/>
            </a:pPr>
            <a:r>
              <a:rPr lang="en-US"/>
              <a:t>	Action : Tara ate the food</a:t>
            </a:r>
            <a:endParaRPr/>
          </a:p>
          <a:p>
            <a:pPr marL="0" lvl="0" indent="0" algn="l" rtl="0">
              <a:lnSpc>
                <a:spcPct val="110000"/>
              </a:lnSpc>
              <a:spcBef>
                <a:spcPts val="700"/>
              </a:spcBef>
              <a:spcAft>
                <a:spcPts val="0"/>
              </a:spcAft>
              <a:buSzPct val="100000"/>
              <a:buNone/>
            </a:pPr>
            <a:r>
              <a:rPr lang="en-US"/>
              <a:t>	Passive: The food was eaten by Tara.</a:t>
            </a:r>
            <a:endParaRPr/>
          </a:p>
          <a:p>
            <a:pPr marL="0" lvl="0" indent="0" algn="l" rtl="0">
              <a:lnSpc>
                <a:spcPct val="110000"/>
              </a:lnSpc>
              <a:spcBef>
                <a:spcPts val="700"/>
              </a:spcBef>
              <a:spcAft>
                <a:spcPts val="0"/>
              </a:spcAft>
              <a:buSzPct val="100000"/>
              <a:buNone/>
            </a:pPr>
            <a:r>
              <a:rPr lang="en-US"/>
              <a:t>	Active: Pred=’eat&lt;( subj)( obj)&gt; </a:t>
            </a:r>
            <a:endParaRPr/>
          </a:p>
          <a:p>
            <a:pPr marL="0" lvl="0" indent="0" algn="l" rtl="0">
              <a:lnSpc>
                <a:spcPct val="110000"/>
              </a:lnSpc>
              <a:spcBef>
                <a:spcPts val="700"/>
              </a:spcBef>
              <a:spcAft>
                <a:spcPts val="0"/>
              </a:spcAft>
              <a:buSzPct val="100000"/>
              <a:buNone/>
            </a:pPr>
            <a:r>
              <a:rPr lang="en-US"/>
              <a:t>	Passive:   Pred=’eat&lt;( obl</a:t>
            </a:r>
            <a:r>
              <a:rPr lang="en-US" sz="1400"/>
              <a:t>ag</a:t>
            </a:r>
            <a:r>
              <a:rPr lang="en-US"/>
              <a:t>)( subj)&gt;</a:t>
            </a:r>
            <a:endParaRPr/>
          </a:p>
          <a:p>
            <a:pPr marL="0" lvl="0" indent="0" algn="l" rtl="0">
              <a:lnSpc>
                <a:spcPct val="110000"/>
              </a:lnSpc>
              <a:spcBef>
                <a:spcPts val="700"/>
              </a:spcBef>
              <a:spcAft>
                <a:spcPts val="0"/>
              </a:spcAft>
              <a:buSzPct val="100000"/>
              <a:buNone/>
            </a:pPr>
            <a:endParaRPr/>
          </a:p>
          <a:p>
            <a:pPr marL="0" lvl="0" indent="0" algn="l" rtl="0">
              <a:lnSpc>
                <a:spcPct val="110000"/>
              </a:lnSpc>
              <a:spcBef>
                <a:spcPts val="700"/>
              </a:spcBef>
              <a:spcAft>
                <a:spcPts val="0"/>
              </a:spcAft>
              <a:buSzPct val="100000"/>
              <a:buNone/>
            </a:pPr>
            <a:r>
              <a:rPr lang="en-US"/>
              <a:t>Similar rules are also applicable to the process of causativization. </a:t>
            </a:r>
            <a:endParaRPr/>
          </a:p>
          <a:p>
            <a:pPr marL="0" lvl="0" indent="0" algn="l" rtl="0">
              <a:lnSpc>
                <a:spcPct val="110000"/>
              </a:lnSpc>
              <a:spcBef>
                <a:spcPts val="700"/>
              </a:spcBef>
              <a:spcAft>
                <a:spcPts val="0"/>
              </a:spcAft>
              <a:buSzPct val="100000"/>
              <a:buNone/>
            </a:pPr>
            <a:r>
              <a:rPr lang="en-US"/>
              <a:t>                Causativization</a:t>
            </a:r>
            <a:endParaRPr/>
          </a:p>
          <a:p>
            <a:pPr marL="228600" lvl="0" indent="-228600" algn="l" rtl="0">
              <a:lnSpc>
                <a:spcPct val="110000"/>
              </a:lnSpc>
              <a:spcBef>
                <a:spcPts val="700"/>
              </a:spcBef>
              <a:spcAft>
                <a:spcPts val="0"/>
              </a:spcAft>
              <a:buSzPct val="100000"/>
              <a:buChar char="•"/>
            </a:pPr>
            <a:r>
              <a:rPr lang="en-US"/>
              <a:t>Laugh                               laughed( Laugh cause past made to laugh)</a:t>
            </a:r>
            <a:endParaRPr/>
          </a:p>
          <a:p>
            <a:pPr marL="0" lvl="0" indent="0" algn="l" rtl="0">
              <a:lnSpc>
                <a:spcPct val="110000"/>
              </a:lnSpc>
              <a:spcBef>
                <a:spcPts val="700"/>
              </a:spcBef>
              <a:spcAft>
                <a:spcPts val="0"/>
              </a:spcAft>
              <a:buSzPct val="100000"/>
              <a:buNone/>
            </a:pPr>
            <a:r>
              <a:rPr lang="en-US"/>
              <a:t>Ex: Active : Tarraa hansii</a:t>
            </a:r>
            <a:endParaRPr/>
          </a:p>
          <a:p>
            <a:pPr marL="0" lvl="0" indent="0" algn="l" rtl="0">
              <a:lnSpc>
                <a:spcPct val="110000"/>
              </a:lnSpc>
              <a:spcBef>
                <a:spcPts val="700"/>
              </a:spcBef>
              <a:spcAft>
                <a:spcPts val="0"/>
              </a:spcAft>
              <a:buSzPct val="100000"/>
              <a:buNone/>
            </a:pPr>
            <a:r>
              <a:rPr lang="en-US"/>
              <a:t>	Tara laughed</a:t>
            </a:r>
            <a:endParaRPr/>
          </a:p>
          <a:p>
            <a:pPr marL="0" lvl="0" indent="0" algn="l" rtl="0">
              <a:lnSpc>
                <a:spcPct val="110000"/>
              </a:lnSpc>
              <a:spcBef>
                <a:spcPts val="700"/>
              </a:spcBef>
              <a:spcAft>
                <a:spcPts val="0"/>
              </a:spcAft>
              <a:buSzPct val="100000"/>
              <a:buNone/>
            </a:pPr>
            <a:r>
              <a:rPr lang="en-US"/>
              <a:t>    Causative : Monika ne tara ko hansaaya.</a:t>
            </a:r>
            <a:endParaRPr/>
          </a:p>
          <a:p>
            <a:pPr marL="0" lvl="0" indent="0" algn="l" rtl="0">
              <a:lnSpc>
                <a:spcPct val="110000"/>
              </a:lnSpc>
              <a:spcBef>
                <a:spcPts val="700"/>
              </a:spcBef>
              <a:spcAft>
                <a:spcPts val="0"/>
              </a:spcAft>
              <a:buSzPct val="100000"/>
              <a:buNone/>
            </a:pPr>
            <a:r>
              <a:rPr lang="en-US"/>
              <a:t>	  Monika subj Tara obj laugh cause-past.</a:t>
            </a:r>
            <a:endParaRPr/>
          </a:p>
          <a:p>
            <a:pPr marL="0" lvl="0" indent="0" algn="l" rtl="0">
              <a:lnSpc>
                <a:spcPct val="110000"/>
              </a:lnSpc>
              <a:spcBef>
                <a:spcPts val="700"/>
              </a:spcBef>
              <a:spcAft>
                <a:spcPts val="0"/>
              </a:spcAft>
              <a:buSzPct val="100000"/>
              <a:buNone/>
            </a:pPr>
            <a:r>
              <a:rPr lang="en-US"/>
              <a:t>	 Monika made tara to laugh.</a:t>
            </a:r>
            <a:endParaRPr/>
          </a:p>
          <a:p>
            <a:pPr marL="0" lvl="0" indent="0" algn="l" rtl="0">
              <a:lnSpc>
                <a:spcPct val="110000"/>
              </a:lnSpc>
              <a:spcBef>
                <a:spcPts val="700"/>
              </a:spcBef>
              <a:spcAft>
                <a:spcPts val="0"/>
              </a:spcAft>
              <a:buSzPct val="100000"/>
              <a:buNone/>
            </a:pPr>
            <a:r>
              <a:rPr lang="en-US"/>
              <a:t>Active :    Pred =’Laugh &lt; subj &gt;’</a:t>
            </a:r>
            <a:endParaRPr/>
          </a:p>
          <a:p>
            <a:pPr marL="0" lvl="0" indent="0" algn="l" rtl="0">
              <a:lnSpc>
                <a:spcPct val="110000"/>
              </a:lnSpc>
              <a:spcBef>
                <a:spcPts val="700"/>
              </a:spcBef>
              <a:spcAft>
                <a:spcPts val="0"/>
              </a:spcAft>
              <a:buSzPct val="100000"/>
              <a:buNone/>
            </a:pPr>
            <a:r>
              <a:rPr lang="en-US"/>
              <a:t>Causative:   Pred = ‘Cause&lt;(    subj)(  obj)(comp)&gt;’</a:t>
            </a:r>
            <a:endParaRPr/>
          </a:p>
          <a:p>
            <a:pPr marL="0" lvl="0" indent="0" algn="l" rtl="0">
              <a:lnSpc>
                <a:spcPct val="110000"/>
              </a:lnSpc>
              <a:spcBef>
                <a:spcPts val="700"/>
              </a:spcBef>
              <a:spcAft>
                <a:spcPts val="0"/>
              </a:spcAft>
              <a:buSzPct val="100000"/>
              <a:buNone/>
            </a:pPr>
            <a:r>
              <a:rPr lang="en-US"/>
              <a:t>.</a:t>
            </a:r>
            <a:endParaRPr/>
          </a:p>
        </p:txBody>
      </p:sp>
      <p:cxnSp>
        <p:nvCxnSpPr>
          <p:cNvPr id="844" name="Google Shape;844;p57"/>
          <p:cNvCxnSpPr/>
          <p:nvPr/>
        </p:nvCxnSpPr>
        <p:spPr>
          <a:xfrm>
            <a:off x="2382982" y="3713018"/>
            <a:ext cx="1191491" cy="0"/>
          </a:xfrm>
          <a:prstGeom prst="straightConnector1">
            <a:avLst/>
          </a:prstGeom>
          <a:noFill/>
          <a:ln w="9525" cap="flat" cmpd="sng">
            <a:solidFill>
              <a:schemeClr val="accent1"/>
            </a:solidFill>
            <a:prstDash val="solid"/>
            <a:round/>
            <a:headEnd type="none" w="sm" len="sm"/>
            <a:tailEnd type="triangle" w="med" len="med"/>
          </a:ln>
        </p:spPr>
      </p:cxn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58"/>
          <p:cNvSpPr txBox="1">
            <a:spLocks noGrp="1"/>
          </p:cNvSpPr>
          <p:nvPr>
            <p:ph type="title"/>
          </p:nvPr>
        </p:nvSpPr>
        <p:spPr>
          <a:xfrm>
            <a:off x="1251678" y="382385"/>
            <a:ext cx="10178322" cy="762924"/>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LEXICAL FUNCTIONAL GRAMMAR</a:t>
            </a:r>
            <a:endParaRPr/>
          </a:p>
        </p:txBody>
      </p:sp>
      <p:sp>
        <p:nvSpPr>
          <p:cNvPr id="850" name="Google Shape;850;p58"/>
          <p:cNvSpPr txBox="1">
            <a:spLocks noGrp="1"/>
          </p:cNvSpPr>
          <p:nvPr>
            <p:ph type="body" idx="1"/>
          </p:nvPr>
        </p:nvSpPr>
        <p:spPr>
          <a:xfrm>
            <a:off x="1251678" y="1145309"/>
            <a:ext cx="10178322" cy="4734283"/>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1800"/>
              <a:buNone/>
            </a:pPr>
            <a:r>
              <a:rPr lang="en-US" sz="1800">
                <a:highlight>
                  <a:srgbClr val="00FFFF"/>
                </a:highlight>
                <a:latin typeface="Calibri"/>
                <a:ea typeface="Calibri"/>
                <a:cs typeface="Calibri"/>
                <a:sym typeface="Calibri"/>
              </a:rPr>
              <a:t>Long distance Dependencies and  co-ordination</a:t>
            </a:r>
            <a:endParaRPr/>
          </a:p>
          <a:p>
            <a:pPr marL="0" lvl="0" indent="0" algn="l" rtl="0">
              <a:lnSpc>
                <a:spcPct val="110000"/>
              </a:lnSpc>
              <a:spcBef>
                <a:spcPts val="700"/>
              </a:spcBef>
              <a:spcAft>
                <a:spcPts val="0"/>
              </a:spcAft>
              <a:buSzPts val="1800"/>
              <a:buNone/>
            </a:pPr>
            <a:r>
              <a:rPr lang="en-US" sz="1800">
                <a:latin typeface="Calibri"/>
                <a:ea typeface="Calibri"/>
                <a:cs typeface="Calibri"/>
                <a:sym typeface="Calibri"/>
              </a:rPr>
              <a:t>In GB, when a category is moved, it creates an empty category.</a:t>
            </a:r>
            <a:endParaRPr/>
          </a:p>
          <a:p>
            <a:pPr marL="0" lvl="0" indent="0" algn="l" rtl="0">
              <a:lnSpc>
                <a:spcPct val="110000"/>
              </a:lnSpc>
              <a:spcBef>
                <a:spcPts val="700"/>
              </a:spcBef>
              <a:spcAft>
                <a:spcPts val="0"/>
              </a:spcAft>
              <a:buSzPts val="1800"/>
              <a:buNone/>
            </a:pPr>
            <a:r>
              <a:rPr lang="en-US" sz="1800">
                <a:latin typeface="Calibri"/>
                <a:ea typeface="Calibri"/>
                <a:cs typeface="Calibri"/>
                <a:sym typeface="Calibri"/>
              </a:rPr>
              <a:t>In LFG, unbounded movement and co-ordination is handled by the functional identity and by correlation with the corresponding f-structure.</a:t>
            </a:r>
            <a:endParaRPr sz="1800">
              <a:latin typeface="Calibri"/>
              <a:ea typeface="Calibri"/>
              <a:cs typeface="Calibri"/>
              <a:sym typeface="Calibri"/>
            </a:endParaRPr>
          </a:p>
          <a:p>
            <a:pPr marL="228600" lvl="0" indent="-101600" algn="l" rtl="0">
              <a:lnSpc>
                <a:spcPct val="110000"/>
              </a:lnSpc>
              <a:spcBef>
                <a:spcPts val="700"/>
              </a:spcBef>
              <a:spcAft>
                <a:spcPts val="0"/>
              </a:spcAft>
              <a:buSzPts val="2000"/>
              <a:buNone/>
            </a:pPr>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59"/>
          <p:cNvSpPr txBox="1">
            <a:spLocks noGrp="1"/>
          </p:cNvSpPr>
          <p:nvPr>
            <p:ph type="title"/>
          </p:nvPr>
        </p:nvSpPr>
        <p:spPr>
          <a:xfrm>
            <a:off x="1251678" y="382385"/>
            <a:ext cx="10178322" cy="85528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PANINIAN FRAMEWORK</a:t>
            </a:r>
            <a:endParaRPr/>
          </a:p>
        </p:txBody>
      </p:sp>
      <p:sp>
        <p:nvSpPr>
          <p:cNvPr id="856" name="Google Shape;856;p59"/>
          <p:cNvSpPr txBox="1">
            <a:spLocks noGrp="1"/>
          </p:cNvSpPr>
          <p:nvPr>
            <p:ph type="body" idx="1"/>
          </p:nvPr>
        </p:nvSpPr>
        <p:spPr>
          <a:xfrm>
            <a:off x="1251675" y="1237675"/>
            <a:ext cx="10178400" cy="5322000"/>
          </a:xfrm>
          <a:prstGeom prst="rect">
            <a:avLst/>
          </a:prstGeom>
          <a:noFill/>
          <a:ln>
            <a:noFill/>
          </a:ln>
        </p:spPr>
        <p:txBody>
          <a:bodyPr spcFirstLastPara="1" wrap="square" lIns="91425" tIns="45700" rIns="91425" bIns="45700" anchor="t" anchorCtr="0">
            <a:normAutofit/>
          </a:bodyPr>
          <a:lstStyle/>
          <a:p>
            <a:pPr marL="228600" lvl="0" indent="-225425" algn="l" rtl="0">
              <a:lnSpc>
                <a:spcPct val="11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Paninian grammar (PG) was written by Panini in 500 BC in Sanskrit. The original text is titled </a:t>
            </a:r>
            <a:r>
              <a:rPr lang="en-US" sz="1800" b="1">
                <a:solidFill>
                  <a:schemeClr val="dk1"/>
                </a:solidFill>
                <a:highlight>
                  <a:srgbClr val="00FF00"/>
                </a:highlight>
                <a:latin typeface="Times New Roman"/>
                <a:ea typeface="Times New Roman"/>
                <a:cs typeface="Times New Roman"/>
                <a:sym typeface="Times New Roman"/>
              </a:rPr>
              <a:t>Asthadhyayi</a:t>
            </a: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marL="228600" lvl="0" indent="-225425" algn="l" rtl="0">
              <a:lnSpc>
                <a:spcPct val="110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PG framework can be used for other Indian languages and even for some Asian languages. </a:t>
            </a:r>
            <a:endParaRPr sz="1800">
              <a:solidFill>
                <a:schemeClr val="dk1"/>
              </a:solidFill>
              <a:latin typeface="Times New Roman"/>
              <a:ea typeface="Times New Roman"/>
              <a:cs typeface="Times New Roman"/>
              <a:sym typeface="Times New Roman"/>
            </a:endParaRPr>
          </a:p>
          <a:p>
            <a:pPr marL="228600" lvl="0" indent="-228600" algn="l" rtl="0">
              <a:lnSpc>
                <a:spcPct val="110000"/>
              </a:lnSpc>
              <a:spcBef>
                <a:spcPts val="7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Unlike English, Asian languages are SOV (Subject-Object-Verb) ordered and inflectionally rich. The inflections provide important syntactic and semantic for language analysis and understanding.</a:t>
            </a:r>
            <a:endParaRPr sz="1800">
              <a:solidFill>
                <a:schemeClr val="dk1"/>
              </a:solidFill>
              <a:latin typeface="Times New Roman"/>
              <a:ea typeface="Times New Roman"/>
              <a:cs typeface="Times New Roman"/>
              <a:sym typeface="Times New Roman"/>
            </a:endParaRPr>
          </a:p>
          <a:p>
            <a:pPr marL="228600" lvl="0" indent="-228600" algn="l" rtl="0">
              <a:lnSpc>
                <a:spcPct val="110000"/>
              </a:lnSpc>
              <a:spcBef>
                <a:spcPts val="7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classical Paninian Grammar facilitates the task of obtaining the semantics through syntactical framework.</a:t>
            </a:r>
            <a:endParaRPr sz="1800">
              <a:solidFill>
                <a:schemeClr val="dk1"/>
              </a:solidFill>
              <a:latin typeface="Times New Roman"/>
              <a:ea typeface="Times New Roman"/>
              <a:cs typeface="Times New Roman"/>
              <a:sym typeface="Times New Roman"/>
            </a:endParaRPr>
          </a:p>
          <a:p>
            <a:pPr marL="228600" lvl="0" indent="-228600" algn="l" rtl="0">
              <a:lnSpc>
                <a:spcPct val="110000"/>
              </a:lnSpc>
              <a:spcBef>
                <a:spcPts val="7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In PG, an extensive and perfect interpretation of Phonology, Morphology, Syntax and Semantics is available.</a:t>
            </a:r>
            <a:endParaRPr sz="18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SzPts val="1800"/>
              <a:buNone/>
            </a:pPr>
            <a:endParaRPr sz="1800" b="1">
              <a:solidFill>
                <a:schemeClr val="dk1"/>
              </a:solidFill>
              <a:latin typeface="Calibri"/>
              <a:ea typeface="Calibri"/>
              <a:cs typeface="Calibri"/>
              <a:sym typeface="Calibri"/>
            </a:endParaRPr>
          </a:p>
          <a:p>
            <a:pPr marL="0" lvl="0" indent="0" algn="just" rtl="0">
              <a:lnSpc>
                <a:spcPct val="100000"/>
              </a:lnSpc>
              <a:spcBef>
                <a:spcPts val="0"/>
              </a:spcBef>
              <a:spcAft>
                <a:spcPts val="0"/>
              </a:spcAft>
              <a:buSzPts val="1800"/>
              <a:buNone/>
            </a:pPr>
            <a:endParaRPr sz="1800" b="1">
              <a:solidFill>
                <a:schemeClr val="dk1"/>
              </a:solidFill>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1800" b="1">
                <a:solidFill>
                  <a:schemeClr val="dk1"/>
                </a:solidFill>
                <a:latin typeface="Calibri"/>
                <a:ea typeface="Calibri"/>
                <a:cs typeface="Calibri"/>
                <a:sym typeface="Calibri"/>
              </a:rPr>
              <a:t>For more information on PG</a:t>
            </a:r>
            <a:endParaRPr sz="1800" b="1">
              <a:solidFill>
                <a:schemeClr val="dk1"/>
              </a:solidFill>
              <a:latin typeface="Calibri"/>
              <a:ea typeface="Calibri"/>
              <a:cs typeface="Calibri"/>
              <a:sym typeface="Calibri"/>
            </a:endParaRPr>
          </a:p>
          <a:p>
            <a:pPr marL="0" lvl="0" indent="0" algn="just" rtl="0">
              <a:lnSpc>
                <a:spcPct val="100000"/>
              </a:lnSpc>
              <a:spcBef>
                <a:spcPts val="0"/>
              </a:spcBef>
              <a:spcAft>
                <a:spcPts val="0"/>
              </a:spcAft>
              <a:buSzPts val="1800"/>
              <a:buNone/>
            </a:pPr>
            <a:r>
              <a:rPr lang="en-US" sz="1800" b="1" u="sng">
                <a:solidFill>
                  <a:srgbClr val="0000FF"/>
                </a:solidFill>
                <a:latin typeface="Calibri"/>
                <a:ea typeface="Calibri"/>
                <a:cs typeface="Calibri"/>
                <a:sym typeface="Calib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https://www.studocu.com/in/document/mahatma-gandhi-university/english-i/karaka-theory-in-literature/23621721</a:t>
            </a:r>
            <a:r>
              <a:rPr lang="en-US" sz="1800" b="1">
                <a:solidFill>
                  <a:srgbClr val="0000FF"/>
                </a:solidFill>
                <a:latin typeface="Calibri"/>
                <a:ea typeface="Calibri"/>
                <a:cs typeface="Calibri"/>
                <a:sym typeface="Calibri"/>
              </a:rPr>
              <a:t> </a:t>
            </a:r>
            <a:endParaRPr sz="1800" b="1">
              <a:solidFill>
                <a:srgbClr val="0000FF"/>
              </a:solidFill>
              <a:latin typeface="Calibri"/>
              <a:ea typeface="Calibri"/>
              <a:cs typeface="Calibri"/>
              <a:sym typeface="Calibri"/>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2845e497139_0_0"/>
          <p:cNvSpPr txBox="1">
            <a:spLocks noGrp="1"/>
          </p:cNvSpPr>
          <p:nvPr>
            <p:ph type="title"/>
          </p:nvPr>
        </p:nvSpPr>
        <p:spPr>
          <a:xfrm>
            <a:off x="1251675" y="382378"/>
            <a:ext cx="10178400" cy="6168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862" name="Google Shape;862;g2845e497139_0_0"/>
          <p:cNvSpPr txBox="1">
            <a:spLocks noGrp="1"/>
          </p:cNvSpPr>
          <p:nvPr>
            <p:ph type="body" idx="1"/>
          </p:nvPr>
        </p:nvSpPr>
        <p:spPr>
          <a:xfrm>
            <a:off x="1251675" y="999175"/>
            <a:ext cx="10178400" cy="5560500"/>
          </a:xfrm>
          <a:prstGeom prst="rect">
            <a:avLst/>
          </a:prstGeom>
          <a:noFill/>
          <a:ln>
            <a:noFill/>
          </a:ln>
        </p:spPr>
        <p:txBody>
          <a:bodyPr spcFirstLastPara="1" wrap="square" lIns="91425" tIns="45700" rIns="91425" bIns="45700" anchor="ctr" anchorCtr="0">
            <a:noAutofit/>
          </a:bodyPr>
          <a:lstStyle/>
          <a:p>
            <a:pPr marL="0" lvl="0" indent="0" algn="just" rtl="0">
              <a:lnSpc>
                <a:spcPct val="100000"/>
              </a:lnSpc>
              <a:spcBef>
                <a:spcPts val="0"/>
              </a:spcBef>
              <a:spcAft>
                <a:spcPts val="0"/>
              </a:spcAft>
              <a:buSzPts val="1800"/>
              <a:buNone/>
            </a:pPr>
            <a:r>
              <a:rPr lang="en-US" b="1">
                <a:solidFill>
                  <a:schemeClr val="dk1"/>
                </a:solidFill>
                <a:highlight>
                  <a:srgbClr val="00FFFF"/>
                </a:highlight>
                <a:latin typeface="Times New Roman"/>
                <a:ea typeface="Times New Roman"/>
                <a:cs typeface="Times New Roman"/>
                <a:sym typeface="Times New Roman"/>
              </a:rPr>
              <a:t>Important features of Indian languages:</a:t>
            </a:r>
            <a:endParaRPr b="1">
              <a:solidFill>
                <a:schemeClr val="dk1"/>
              </a:solidFill>
              <a:highlight>
                <a:srgbClr val="00FFFF"/>
              </a:highlight>
              <a:latin typeface="Times New Roman"/>
              <a:ea typeface="Times New Roman"/>
              <a:cs typeface="Times New Roman"/>
              <a:sym typeface="Times New Roman"/>
            </a:endParaRPr>
          </a:p>
          <a:p>
            <a:pPr marL="0" lvl="0" indent="0" algn="just" rtl="0">
              <a:lnSpc>
                <a:spcPct val="100000"/>
              </a:lnSpc>
              <a:spcBef>
                <a:spcPts val="0"/>
              </a:spcBef>
              <a:spcAft>
                <a:spcPts val="0"/>
              </a:spcAft>
              <a:buSzPts val="1800"/>
              <a:buNone/>
            </a:pPr>
            <a:endParaRPr sz="1500">
              <a:solidFill>
                <a:schemeClr val="dk1"/>
              </a:solidFill>
              <a:latin typeface="Times New Roman"/>
              <a:ea typeface="Times New Roman"/>
              <a:cs typeface="Times New Roman"/>
              <a:sym typeface="Times New Roman"/>
            </a:endParaRPr>
          </a:p>
          <a:p>
            <a:pPr marL="457200" lvl="0" indent="-342900" algn="just" rtl="0">
              <a:lnSpc>
                <a:spcPct val="100000"/>
              </a:lnSpc>
              <a:spcBef>
                <a:spcPts val="0"/>
              </a:spcBef>
              <a:spcAft>
                <a:spcPts val="0"/>
              </a:spcAft>
              <a:buClr>
                <a:schemeClr val="dk1"/>
              </a:buClr>
              <a:buSzPts val="1800"/>
              <a:buFont typeface="Times New Roman"/>
              <a:buChar char="❏"/>
            </a:pPr>
            <a:r>
              <a:rPr lang="en-US" sz="1800">
                <a:solidFill>
                  <a:schemeClr val="dk1"/>
                </a:solidFill>
                <a:highlight>
                  <a:schemeClr val="lt2"/>
                </a:highlight>
                <a:latin typeface="Times New Roman"/>
                <a:ea typeface="Times New Roman"/>
                <a:cs typeface="Times New Roman"/>
                <a:sym typeface="Times New Roman"/>
              </a:rPr>
              <a:t>Indian languages have traditionally used oral communication for knowledge propagation there by making Indian languages morphologically rich language. </a:t>
            </a:r>
            <a:endParaRPr sz="1800">
              <a:solidFill>
                <a:schemeClr val="dk1"/>
              </a:solidFill>
              <a:highlight>
                <a:schemeClr val="lt2"/>
              </a:highlight>
              <a:latin typeface="Times New Roman"/>
              <a:ea typeface="Times New Roman"/>
              <a:cs typeface="Times New Roman"/>
              <a:sym typeface="Times New Roman"/>
            </a:endParaRPr>
          </a:p>
          <a:p>
            <a:pPr marL="457200" lvl="0" indent="-342900" algn="just" rtl="0">
              <a:lnSpc>
                <a:spcPct val="100000"/>
              </a:lnSpc>
              <a:spcBef>
                <a:spcPts val="1000"/>
              </a:spcBef>
              <a:spcAft>
                <a:spcPts val="0"/>
              </a:spcAft>
              <a:buClr>
                <a:schemeClr val="dk1"/>
              </a:buClr>
              <a:buSzPts val="1800"/>
              <a:buFont typeface="Times New Roman"/>
              <a:buChar char="❏"/>
            </a:pPr>
            <a:r>
              <a:rPr lang="en-US" sz="1800">
                <a:solidFill>
                  <a:schemeClr val="dk1"/>
                </a:solidFill>
                <a:highlight>
                  <a:schemeClr val="lt2"/>
                </a:highlight>
                <a:latin typeface="Times New Roman"/>
                <a:ea typeface="Times New Roman"/>
                <a:cs typeface="Times New Roman"/>
                <a:sym typeface="Times New Roman"/>
              </a:rPr>
              <a:t>Indian languages are word-order free languages. The have the flexibility to allow word groups representing subject, object, and verb to occur in any order.</a:t>
            </a:r>
            <a:endParaRPr sz="1800">
              <a:solidFill>
                <a:schemeClr val="dk1"/>
              </a:solidFill>
              <a:highlight>
                <a:schemeClr val="lt2"/>
              </a:highlight>
              <a:latin typeface="Times New Roman"/>
              <a:ea typeface="Times New Roman"/>
              <a:cs typeface="Times New Roman"/>
              <a:sym typeface="Times New Roman"/>
            </a:endParaRPr>
          </a:p>
          <a:p>
            <a:pPr marL="457200" lvl="0" indent="457200" algn="just" rtl="0">
              <a:lnSpc>
                <a:spcPct val="100000"/>
              </a:lnSpc>
              <a:spcBef>
                <a:spcPts val="0"/>
              </a:spcBef>
              <a:spcAft>
                <a:spcPts val="0"/>
              </a:spcAft>
              <a:buSzPts val="1800"/>
              <a:buNone/>
            </a:pPr>
            <a:r>
              <a:rPr lang="en-US" sz="1800">
                <a:solidFill>
                  <a:schemeClr val="dk1"/>
                </a:solidFill>
                <a:highlight>
                  <a:schemeClr val="lt2"/>
                </a:highlight>
                <a:latin typeface="Times New Roman"/>
                <a:ea typeface="Times New Roman"/>
                <a:cs typeface="Times New Roman"/>
                <a:sym typeface="Times New Roman"/>
              </a:rPr>
              <a:t>Eg: </a:t>
            </a:r>
            <a:r>
              <a:rPr lang="en-US" sz="1800">
                <a:solidFill>
                  <a:srgbClr val="202124"/>
                </a:solidFill>
                <a:highlight>
                  <a:schemeClr val="lt2"/>
                </a:highlight>
                <a:latin typeface="Times New Roman"/>
                <a:ea typeface="Times New Roman"/>
                <a:cs typeface="Times New Roman"/>
                <a:sym typeface="Times New Roman"/>
              </a:rPr>
              <a:t>माँ बच्चे को खाना देती है   - Mother gives food to the child.</a:t>
            </a:r>
            <a:endParaRPr sz="1800">
              <a:solidFill>
                <a:srgbClr val="202124"/>
              </a:solidFill>
              <a:highlight>
                <a:schemeClr val="lt2"/>
              </a:highlight>
              <a:latin typeface="Times New Roman"/>
              <a:ea typeface="Times New Roman"/>
              <a:cs typeface="Times New Roman"/>
              <a:sym typeface="Times New Roman"/>
            </a:endParaRPr>
          </a:p>
          <a:p>
            <a:pPr marL="457200" lvl="0" indent="0" algn="just" rtl="0">
              <a:lnSpc>
                <a:spcPct val="100000"/>
              </a:lnSpc>
              <a:spcBef>
                <a:spcPts val="0"/>
              </a:spcBef>
              <a:spcAft>
                <a:spcPts val="0"/>
              </a:spcAft>
              <a:buSzPts val="1800"/>
              <a:buNone/>
            </a:pPr>
            <a:r>
              <a:rPr lang="en-US" sz="1800">
                <a:solidFill>
                  <a:schemeClr val="dk1"/>
                </a:solidFill>
                <a:highlight>
                  <a:schemeClr val="lt2"/>
                </a:highlight>
                <a:latin typeface="Times New Roman"/>
                <a:ea typeface="Times New Roman"/>
                <a:cs typeface="Times New Roman"/>
                <a:sym typeface="Times New Roman"/>
              </a:rPr>
              <a:t>     	      </a:t>
            </a:r>
            <a:r>
              <a:rPr lang="en-US" sz="1800">
                <a:solidFill>
                  <a:srgbClr val="202124"/>
                </a:solidFill>
                <a:highlight>
                  <a:schemeClr val="lt2"/>
                </a:highlight>
                <a:latin typeface="Times New Roman"/>
                <a:ea typeface="Times New Roman"/>
                <a:cs typeface="Times New Roman"/>
                <a:sym typeface="Times New Roman"/>
              </a:rPr>
              <a:t>बच्चे को माँ खाना देती है   -  Mother gives food to the child.</a:t>
            </a:r>
            <a:endParaRPr sz="1800">
              <a:solidFill>
                <a:srgbClr val="202124"/>
              </a:solidFill>
              <a:highlight>
                <a:schemeClr val="lt2"/>
              </a:highlight>
              <a:latin typeface="Times New Roman"/>
              <a:ea typeface="Times New Roman"/>
              <a:cs typeface="Times New Roman"/>
              <a:sym typeface="Times New Roman"/>
            </a:endParaRPr>
          </a:p>
          <a:p>
            <a:pPr marL="457200" lvl="0" indent="-342900" algn="l" rtl="0">
              <a:lnSpc>
                <a:spcPct val="115000"/>
              </a:lnSpc>
              <a:spcBef>
                <a:spcPts val="1000"/>
              </a:spcBef>
              <a:spcAft>
                <a:spcPts val="0"/>
              </a:spcAft>
              <a:buClr>
                <a:schemeClr val="dk1"/>
              </a:buClr>
              <a:buSzPts val="1800"/>
              <a:buFont typeface="Times New Roman"/>
              <a:buChar char="❏"/>
            </a:pPr>
            <a:r>
              <a:rPr lang="en-US" sz="1800">
                <a:solidFill>
                  <a:schemeClr val="dk1"/>
                </a:solidFill>
                <a:highlight>
                  <a:schemeClr val="lt2"/>
                </a:highlight>
                <a:latin typeface="Times New Roman"/>
                <a:ea typeface="Times New Roman"/>
                <a:cs typeface="Times New Roman"/>
                <a:sym typeface="Times New Roman"/>
              </a:rPr>
              <a:t>The auxiliary verb follows the main verb. In Hindi, they remain as separate words, but in south Indian languages they combine with the main verb.</a:t>
            </a:r>
            <a:endParaRPr sz="1800">
              <a:solidFill>
                <a:schemeClr val="dk1"/>
              </a:solidFill>
              <a:highlight>
                <a:schemeClr val="lt2"/>
              </a:highlight>
              <a:latin typeface="Times New Roman"/>
              <a:ea typeface="Times New Roman"/>
              <a:cs typeface="Times New Roman"/>
              <a:sym typeface="Times New Roman"/>
            </a:endParaRPr>
          </a:p>
          <a:p>
            <a:pPr marL="914400" lvl="0" indent="0" algn="l" rtl="0">
              <a:lnSpc>
                <a:spcPct val="115000"/>
              </a:lnSpc>
              <a:spcBef>
                <a:spcPts val="0"/>
              </a:spcBef>
              <a:spcAft>
                <a:spcPts val="0"/>
              </a:spcAft>
              <a:buSzPts val="1800"/>
              <a:buNone/>
            </a:pPr>
            <a:r>
              <a:rPr lang="en-US" sz="1800">
                <a:solidFill>
                  <a:schemeClr val="dk1"/>
                </a:solidFill>
                <a:highlight>
                  <a:schemeClr val="lt2"/>
                </a:highlight>
                <a:latin typeface="Times New Roman"/>
                <a:ea typeface="Times New Roman"/>
                <a:cs typeface="Times New Roman"/>
                <a:sym typeface="Times New Roman"/>
              </a:rPr>
              <a:t>Eg: </a:t>
            </a:r>
            <a:r>
              <a:rPr lang="en-US" sz="1800">
                <a:solidFill>
                  <a:srgbClr val="202124"/>
                </a:solidFill>
                <a:highlight>
                  <a:schemeClr val="lt2"/>
                </a:highlight>
                <a:latin typeface="Times New Roman"/>
                <a:ea typeface="Times New Roman"/>
                <a:cs typeface="Times New Roman"/>
                <a:sym typeface="Times New Roman"/>
              </a:rPr>
              <a:t>खा रहा है   - eating</a:t>
            </a:r>
            <a:endParaRPr sz="1800">
              <a:solidFill>
                <a:srgbClr val="202124"/>
              </a:solidFill>
              <a:highlight>
                <a:schemeClr val="lt2"/>
              </a:highlight>
              <a:latin typeface="Times New Roman"/>
              <a:ea typeface="Times New Roman"/>
              <a:cs typeface="Times New Roman"/>
              <a:sym typeface="Times New Roman"/>
            </a:endParaRPr>
          </a:p>
          <a:p>
            <a:pPr marL="914400" lvl="0" indent="0" algn="l" rtl="0">
              <a:lnSpc>
                <a:spcPct val="115000"/>
              </a:lnSpc>
              <a:spcBef>
                <a:spcPts val="0"/>
              </a:spcBef>
              <a:spcAft>
                <a:spcPts val="0"/>
              </a:spcAft>
              <a:buSzPts val="1800"/>
              <a:buNone/>
            </a:pPr>
            <a:r>
              <a:rPr lang="en-US" sz="1800">
                <a:solidFill>
                  <a:schemeClr val="dk1"/>
                </a:solidFill>
                <a:highlight>
                  <a:schemeClr val="lt2"/>
                </a:highlight>
                <a:latin typeface="Times New Roman"/>
                <a:ea typeface="Times New Roman"/>
                <a:cs typeface="Times New Roman"/>
                <a:sym typeface="Times New Roman"/>
              </a:rPr>
              <a:t>       </a:t>
            </a:r>
            <a:r>
              <a:rPr lang="en-US" sz="1800">
                <a:solidFill>
                  <a:srgbClr val="202124"/>
                </a:solidFill>
                <a:highlight>
                  <a:schemeClr val="lt2"/>
                </a:highlight>
                <a:latin typeface="Times New Roman"/>
                <a:ea typeface="Times New Roman"/>
                <a:cs typeface="Times New Roman"/>
                <a:sym typeface="Times New Roman"/>
              </a:rPr>
              <a:t>करता रहा है - has been doing</a:t>
            </a:r>
            <a:endParaRPr sz="1800">
              <a:solidFill>
                <a:srgbClr val="202124"/>
              </a:solidFill>
              <a:highlight>
                <a:schemeClr val="lt2"/>
              </a:highlight>
              <a:latin typeface="Times New Roman"/>
              <a:ea typeface="Times New Roman"/>
              <a:cs typeface="Times New Roman"/>
              <a:sym typeface="Times New Roman"/>
            </a:endParaRPr>
          </a:p>
          <a:p>
            <a:pPr marL="457200" lvl="0" indent="-342900" algn="l" rtl="0">
              <a:lnSpc>
                <a:spcPct val="115000"/>
              </a:lnSpc>
              <a:spcBef>
                <a:spcPts val="1000"/>
              </a:spcBef>
              <a:spcAft>
                <a:spcPts val="0"/>
              </a:spcAft>
              <a:buClr>
                <a:schemeClr val="dk1"/>
              </a:buClr>
              <a:buSzPts val="1800"/>
              <a:buFont typeface="Times New Roman"/>
              <a:buChar char="❏"/>
            </a:pPr>
            <a:r>
              <a:rPr lang="en-US" sz="1800">
                <a:solidFill>
                  <a:schemeClr val="dk1"/>
                </a:solidFill>
                <a:highlight>
                  <a:schemeClr val="lt2"/>
                </a:highlight>
                <a:latin typeface="Times New Roman"/>
                <a:ea typeface="Times New Roman"/>
                <a:cs typeface="Times New Roman"/>
                <a:sym typeface="Times New Roman"/>
              </a:rPr>
              <a:t> Some verbs combine with other verbs to change the aspect and modality of the verbs</a:t>
            </a:r>
            <a:endParaRPr sz="1800">
              <a:solidFill>
                <a:schemeClr val="dk1"/>
              </a:solidFill>
              <a:highlight>
                <a:schemeClr val="lt2"/>
              </a:highlight>
              <a:latin typeface="Times New Roman"/>
              <a:ea typeface="Times New Roman"/>
              <a:cs typeface="Times New Roman"/>
              <a:sym typeface="Times New Roman"/>
            </a:endParaRPr>
          </a:p>
          <a:p>
            <a:pPr marL="914400" lvl="0" indent="0" algn="l" rtl="0">
              <a:lnSpc>
                <a:spcPct val="115000"/>
              </a:lnSpc>
              <a:spcBef>
                <a:spcPts val="0"/>
              </a:spcBef>
              <a:spcAft>
                <a:spcPts val="0"/>
              </a:spcAft>
              <a:buSzPts val="1800"/>
              <a:buNone/>
            </a:pPr>
            <a:r>
              <a:rPr lang="en-US" sz="1800">
                <a:solidFill>
                  <a:schemeClr val="dk1"/>
                </a:solidFill>
                <a:highlight>
                  <a:schemeClr val="lt2"/>
                </a:highlight>
                <a:latin typeface="Times New Roman"/>
                <a:ea typeface="Times New Roman"/>
                <a:cs typeface="Times New Roman"/>
                <a:sym typeface="Times New Roman"/>
              </a:rPr>
              <a:t>Eg: </a:t>
            </a:r>
            <a:r>
              <a:rPr lang="en-US" sz="1800">
                <a:solidFill>
                  <a:srgbClr val="202124"/>
                </a:solidFill>
                <a:highlight>
                  <a:schemeClr val="lt2"/>
                </a:highlight>
                <a:latin typeface="Times New Roman"/>
                <a:ea typeface="Times New Roman"/>
                <a:cs typeface="Times New Roman"/>
                <a:sym typeface="Times New Roman"/>
              </a:rPr>
              <a:t>उसने खाना खाया   - He ate food</a:t>
            </a:r>
            <a:endParaRPr sz="1800">
              <a:solidFill>
                <a:srgbClr val="202124"/>
              </a:solidFill>
              <a:highlight>
                <a:schemeClr val="lt2"/>
              </a:highlight>
              <a:latin typeface="Times New Roman"/>
              <a:ea typeface="Times New Roman"/>
              <a:cs typeface="Times New Roman"/>
              <a:sym typeface="Times New Roman"/>
            </a:endParaRPr>
          </a:p>
          <a:p>
            <a:pPr marL="914400" lvl="0" indent="0" algn="l" rtl="0">
              <a:lnSpc>
                <a:spcPct val="115000"/>
              </a:lnSpc>
              <a:spcBef>
                <a:spcPts val="0"/>
              </a:spcBef>
              <a:spcAft>
                <a:spcPts val="0"/>
              </a:spcAft>
              <a:buSzPts val="1800"/>
              <a:buNone/>
            </a:pPr>
            <a:r>
              <a:rPr lang="en-US" sz="1800">
                <a:solidFill>
                  <a:srgbClr val="202124"/>
                </a:solidFill>
                <a:highlight>
                  <a:schemeClr val="lt2"/>
                </a:highlight>
                <a:latin typeface="Times New Roman"/>
                <a:ea typeface="Times New Roman"/>
                <a:cs typeface="Times New Roman"/>
                <a:sym typeface="Times New Roman"/>
              </a:rPr>
              <a:t>     उसने खाना खा लिया   - He ate food (completed the action)</a:t>
            </a:r>
            <a:endParaRPr sz="1800">
              <a:solidFill>
                <a:srgbClr val="202124"/>
              </a:solidFill>
              <a:highlight>
                <a:schemeClr val="lt2"/>
              </a:highlight>
              <a:latin typeface="Times New Roman"/>
              <a:ea typeface="Times New Roman"/>
              <a:cs typeface="Times New Roman"/>
              <a:sym typeface="Times New Roman"/>
            </a:endParaRPr>
          </a:p>
          <a:p>
            <a:pPr marL="914400" marR="38100" lvl="0" indent="0" algn="l" rtl="0">
              <a:lnSpc>
                <a:spcPct val="114285"/>
              </a:lnSpc>
              <a:spcBef>
                <a:spcPts val="0"/>
              </a:spcBef>
              <a:spcAft>
                <a:spcPts val="0"/>
              </a:spcAft>
              <a:buSzPts val="1800"/>
              <a:buNone/>
            </a:pPr>
            <a:r>
              <a:rPr lang="en-US" sz="1800">
                <a:solidFill>
                  <a:srgbClr val="202124"/>
                </a:solidFill>
                <a:highlight>
                  <a:schemeClr val="lt2"/>
                </a:highlight>
                <a:latin typeface="Times New Roman"/>
                <a:ea typeface="Times New Roman"/>
                <a:cs typeface="Times New Roman"/>
                <a:sym typeface="Times New Roman"/>
              </a:rPr>
              <a:t>     वाह चला   - He moved</a:t>
            </a:r>
            <a:endParaRPr sz="1800">
              <a:solidFill>
                <a:srgbClr val="202124"/>
              </a:solidFill>
              <a:highlight>
                <a:schemeClr val="lt2"/>
              </a:highlight>
              <a:latin typeface="Times New Roman"/>
              <a:ea typeface="Times New Roman"/>
              <a:cs typeface="Times New Roman"/>
              <a:sym typeface="Times New Roman"/>
            </a:endParaRPr>
          </a:p>
          <a:p>
            <a:pPr marL="457200" marR="38100" lvl="0" indent="457200" algn="l" rtl="0">
              <a:lnSpc>
                <a:spcPct val="114285"/>
              </a:lnSpc>
              <a:spcBef>
                <a:spcPts val="0"/>
              </a:spcBef>
              <a:spcAft>
                <a:spcPts val="0"/>
              </a:spcAft>
              <a:buSzPts val="1800"/>
              <a:buNone/>
            </a:pPr>
            <a:r>
              <a:rPr lang="en-US" sz="1800">
                <a:solidFill>
                  <a:srgbClr val="202124"/>
                </a:solidFill>
                <a:highlight>
                  <a:schemeClr val="lt2"/>
                </a:highlight>
                <a:latin typeface="Times New Roman"/>
                <a:ea typeface="Times New Roman"/>
                <a:cs typeface="Times New Roman"/>
                <a:sym typeface="Times New Roman"/>
              </a:rPr>
              <a:t>     वाह चल दिया - He moved </a:t>
            </a:r>
            <a:endParaRPr sz="1800">
              <a:solidFill>
                <a:schemeClr val="dk1"/>
              </a:solidFill>
              <a:highlight>
                <a:schemeClr val="lt2"/>
              </a:highlight>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845e497139_0_13"/>
          <p:cNvSpPr txBox="1">
            <a:spLocks noGrp="1"/>
          </p:cNvSpPr>
          <p:nvPr>
            <p:ph type="title"/>
          </p:nvPr>
        </p:nvSpPr>
        <p:spPr>
          <a:xfrm>
            <a:off x="1251678" y="382385"/>
            <a:ext cx="10178400" cy="855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PANINIAN FRAMEWORK</a:t>
            </a:r>
            <a:endParaRPr/>
          </a:p>
        </p:txBody>
      </p:sp>
      <p:sp>
        <p:nvSpPr>
          <p:cNvPr id="868" name="Google Shape;868;g2845e497139_0_13"/>
          <p:cNvSpPr txBox="1">
            <a:spLocks noGrp="1"/>
          </p:cNvSpPr>
          <p:nvPr>
            <p:ph type="body" idx="1"/>
          </p:nvPr>
        </p:nvSpPr>
        <p:spPr>
          <a:xfrm>
            <a:off x="1251675" y="1237675"/>
            <a:ext cx="10178400" cy="53220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100000"/>
              </a:lnSpc>
              <a:spcBef>
                <a:spcPts val="0"/>
              </a:spcBef>
              <a:spcAft>
                <a:spcPts val="0"/>
              </a:spcAft>
              <a:buClr>
                <a:schemeClr val="dk1"/>
              </a:buClr>
              <a:buSzPct val="55000"/>
              <a:buFont typeface="Arial"/>
              <a:buNone/>
            </a:pPr>
            <a:r>
              <a:rPr lang="en-US" b="1">
                <a:solidFill>
                  <a:schemeClr val="dk1"/>
                </a:solidFill>
                <a:highlight>
                  <a:srgbClr val="00FFFF"/>
                </a:highlight>
                <a:latin typeface="Times New Roman"/>
                <a:ea typeface="Times New Roman"/>
                <a:cs typeface="Times New Roman"/>
                <a:sym typeface="Times New Roman"/>
              </a:rPr>
              <a:t>Important features of Indian languages:</a:t>
            </a:r>
            <a:endParaRPr b="1">
              <a:solidFill>
                <a:schemeClr val="dk1"/>
              </a:solidFill>
              <a:highlight>
                <a:srgbClr val="00FFFF"/>
              </a:highlight>
              <a:latin typeface="Times New Roman"/>
              <a:ea typeface="Times New Roman"/>
              <a:cs typeface="Times New Roman"/>
              <a:sym typeface="Times New Roman"/>
            </a:endParaRPr>
          </a:p>
          <a:p>
            <a:pPr marL="0" lvl="0" indent="0" algn="just" rtl="0">
              <a:lnSpc>
                <a:spcPct val="100000"/>
              </a:lnSpc>
              <a:spcBef>
                <a:spcPts val="0"/>
              </a:spcBef>
              <a:spcAft>
                <a:spcPts val="0"/>
              </a:spcAft>
              <a:buSzPct val="108107"/>
              <a:buNone/>
            </a:pPr>
            <a:endParaRPr sz="1800">
              <a:solidFill>
                <a:schemeClr val="dk1"/>
              </a:solidFill>
              <a:latin typeface="Times New Roman"/>
              <a:ea typeface="Times New Roman"/>
              <a:cs typeface="Times New Roman"/>
              <a:sym typeface="Times New Roman"/>
            </a:endParaRPr>
          </a:p>
          <a:p>
            <a:pPr marL="914400" lvl="0" indent="0" algn="l" rtl="0">
              <a:lnSpc>
                <a:spcPct val="115000"/>
              </a:lnSpc>
              <a:spcBef>
                <a:spcPts val="0"/>
              </a:spcBef>
              <a:spcAft>
                <a:spcPts val="0"/>
              </a:spcAft>
              <a:buSzPts val="1800"/>
              <a:buNone/>
            </a:pPr>
            <a:endParaRPr sz="100">
              <a:solidFill>
                <a:srgbClr val="202124"/>
              </a:solidFill>
              <a:highlight>
                <a:srgbClr val="F8F9FA"/>
              </a:highlight>
              <a:latin typeface="Arial"/>
              <a:ea typeface="Arial"/>
              <a:cs typeface="Arial"/>
              <a:sym typeface="Arial"/>
            </a:endParaRPr>
          </a:p>
          <a:p>
            <a:pPr marL="457200" lvl="0" indent="-369570" algn="l" rtl="0">
              <a:lnSpc>
                <a:spcPct val="115000"/>
              </a:lnSpc>
              <a:spcBef>
                <a:spcPts val="0"/>
              </a:spcBef>
              <a:spcAft>
                <a:spcPts val="0"/>
              </a:spcAft>
              <a:buClr>
                <a:srgbClr val="202124"/>
              </a:buClr>
              <a:buSzPct val="100000"/>
              <a:buFont typeface="Times New Roman"/>
              <a:buChar char="❏"/>
            </a:pPr>
            <a:r>
              <a:rPr lang="en-US" sz="2400">
                <a:solidFill>
                  <a:srgbClr val="202124"/>
                </a:solidFill>
                <a:highlight>
                  <a:schemeClr val="lt2"/>
                </a:highlight>
                <a:latin typeface="Times New Roman"/>
                <a:ea typeface="Times New Roman"/>
                <a:cs typeface="Times New Roman"/>
                <a:sym typeface="Times New Roman"/>
              </a:rPr>
              <a:t>The nouns are followed by post-positions instead of prepositions. </a:t>
            </a:r>
            <a:endParaRPr sz="2400">
              <a:solidFill>
                <a:srgbClr val="202124"/>
              </a:solidFill>
              <a:highlight>
                <a:schemeClr val="lt2"/>
              </a:highlight>
              <a:latin typeface="Times New Roman"/>
              <a:ea typeface="Times New Roman"/>
              <a:cs typeface="Times New Roman"/>
              <a:sym typeface="Times New Roman"/>
            </a:endParaRPr>
          </a:p>
          <a:p>
            <a:pPr marL="914400" marR="38100" lvl="0" indent="0" algn="l" rtl="0">
              <a:lnSpc>
                <a:spcPct val="114285"/>
              </a:lnSpc>
              <a:spcBef>
                <a:spcPts val="0"/>
              </a:spcBef>
              <a:spcAft>
                <a:spcPts val="0"/>
              </a:spcAft>
              <a:buSzPct val="81081"/>
              <a:buNone/>
            </a:pPr>
            <a:r>
              <a:rPr lang="en-US" sz="2400">
                <a:solidFill>
                  <a:srgbClr val="202124"/>
                </a:solidFill>
                <a:highlight>
                  <a:schemeClr val="lt2"/>
                </a:highlight>
                <a:latin typeface="Times New Roman"/>
                <a:ea typeface="Times New Roman"/>
                <a:cs typeface="Times New Roman"/>
                <a:sym typeface="Times New Roman"/>
              </a:rPr>
              <a:t>रेखा के पिता   Rekha’s father</a:t>
            </a:r>
            <a:endParaRPr sz="2400">
              <a:solidFill>
                <a:srgbClr val="202124"/>
              </a:solidFill>
              <a:highlight>
                <a:schemeClr val="lt2"/>
              </a:highlight>
              <a:latin typeface="Times New Roman"/>
              <a:ea typeface="Times New Roman"/>
              <a:cs typeface="Times New Roman"/>
              <a:sym typeface="Times New Roman"/>
            </a:endParaRPr>
          </a:p>
          <a:p>
            <a:pPr marL="914400" marR="38100" lvl="0" indent="0" algn="l" rtl="0">
              <a:lnSpc>
                <a:spcPct val="114285"/>
              </a:lnSpc>
              <a:spcBef>
                <a:spcPts val="0"/>
              </a:spcBef>
              <a:spcAft>
                <a:spcPts val="0"/>
              </a:spcAft>
              <a:buSzPct val="81081"/>
              <a:buNone/>
            </a:pPr>
            <a:r>
              <a:rPr lang="en-US" sz="2400">
                <a:solidFill>
                  <a:srgbClr val="202124"/>
                </a:solidFill>
                <a:highlight>
                  <a:schemeClr val="lt2"/>
                </a:highlight>
                <a:latin typeface="Times New Roman"/>
                <a:ea typeface="Times New Roman"/>
                <a:cs typeface="Times New Roman"/>
                <a:sym typeface="Times New Roman"/>
              </a:rPr>
              <a:t>उस के पिता   His/Her father</a:t>
            </a:r>
            <a:endParaRPr sz="2400">
              <a:solidFill>
                <a:srgbClr val="202124"/>
              </a:solidFill>
              <a:highlight>
                <a:schemeClr val="lt2"/>
              </a:highlight>
              <a:latin typeface="Times New Roman"/>
              <a:ea typeface="Times New Roman"/>
              <a:cs typeface="Times New Roman"/>
              <a:sym typeface="Times New Roman"/>
            </a:endParaRPr>
          </a:p>
          <a:p>
            <a:pPr marL="457200" lvl="0" indent="-369570" algn="l" rtl="0">
              <a:lnSpc>
                <a:spcPct val="115000"/>
              </a:lnSpc>
              <a:spcBef>
                <a:spcPts val="1000"/>
              </a:spcBef>
              <a:spcAft>
                <a:spcPts val="0"/>
              </a:spcAft>
              <a:buClr>
                <a:srgbClr val="202124"/>
              </a:buClr>
              <a:buSzPct val="100000"/>
              <a:buFont typeface="Times New Roman"/>
              <a:buChar char="❏"/>
            </a:pPr>
            <a:r>
              <a:rPr lang="en-US" sz="2400">
                <a:solidFill>
                  <a:srgbClr val="202124"/>
                </a:solidFill>
                <a:highlight>
                  <a:schemeClr val="lt2"/>
                </a:highlight>
                <a:latin typeface="Times New Roman"/>
                <a:ea typeface="Times New Roman"/>
                <a:cs typeface="Times New Roman"/>
                <a:sym typeface="Times New Roman"/>
              </a:rPr>
              <a:t>All features are not same among Indian languages. verb groups are differently in Indo-Aryan and Dravidian languages.</a:t>
            </a:r>
            <a:endParaRPr sz="2400">
              <a:solidFill>
                <a:srgbClr val="202124"/>
              </a:solidFill>
              <a:highlight>
                <a:schemeClr val="lt2"/>
              </a:highlight>
              <a:latin typeface="Times New Roman"/>
              <a:ea typeface="Times New Roman"/>
              <a:cs typeface="Times New Roman"/>
              <a:sym typeface="Times New Roman"/>
            </a:endParaRPr>
          </a:p>
          <a:p>
            <a:pPr marL="457200" lvl="0" indent="-369570" algn="l" rtl="0">
              <a:lnSpc>
                <a:spcPct val="115000"/>
              </a:lnSpc>
              <a:spcBef>
                <a:spcPts val="1000"/>
              </a:spcBef>
              <a:spcAft>
                <a:spcPts val="0"/>
              </a:spcAft>
              <a:buClr>
                <a:srgbClr val="202124"/>
              </a:buClr>
              <a:buSzPct val="100000"/>
              <a:buFont typeface="Times New Roman"/>
              <a:buChar char="❏"/>
            </a:pPr>
            <a:r>
              <a:rPr lang="en-US" sz="2400">
                <a:solidFill>
                  <a:srgbClr val="202124"/>
                </a:solidFill>
                <a:highlight>
                  <a:schemeClr val="lt2"/>
                </a:highlight>
                <a:latin typeface="Times New Roman"/>
                <a:ea typeface="Times New Roman"/>
                <a:cs typeface="Times New Roman"/>
                <a:sym typeface="Times New Roman"/>
              </a:rPr>
              <a:t>Sanskrit is very different from the other Indian languages. It has five tenses and three number and only one time aspect in each tense. He goes and he is going is same in sanskrit.</a:t>
            </a:r>
            <a:endParaRPr sz="2400">
              <a:solidFill>
                <a:srgbClr val="202124"/>
              </a:solidFill>
              <a:highlight>
                <a:schemeClr val="lt2"/>
              </a:highlight>
              <a:latin typeface="Times New Roman"/>
              <a:ea typeface="Times New Roman"/>
              <a:cs typeface="Times New Roman"/>
              <a:sym typeface="Times New Roman"/>
            </a:endParaRPr>
          </a:p>
          <a:p>
            <a:pPr marL="457200" lvl="0" indent="-369570" algn="l" rtl="0">
              <a:lnSpc>
                <a:spcPct val="115000"/>
              </a:lnSpc>
              <a:spcBef>
                <a:spcPts val="1000"/>
              </a:spcBef>
              <a:spcAft>
                <a:spcPts val="0"/>
              </a:spcAft>
              <a:buClr>
                <a:srgbClr val="202124"/>
              </a:buClr>
              <a:buSzPct val="100000"/>
              <a:buFont typeface="Times New Roman"/>
              <a:buChar char="❏"/>
            </a:pPr>
            <a:r>
              <a:rPr lang="en-US" sz="2400">
                <a:solidFill>
                  <a:srgbClr val="202124"/>
                </a:solidFill>
                <a:highlight>
                  <a:schemeClr val="lt2"/>
                </a:highlight>
                <a:latin typeface="Times New Roman"/>
                <a:ea typeface="Times New Roman"/>
                <a:cs typeface="Times New Roman"/>
                <a:sym typeface="Times New Roman"/>
              </a:rPr>
              <a:t>Hindi is unique. It has no neuter gender. All nouns are categorized as feminine or masculine and verb form must have a gender agreement with the subject</a:t>
            </a:r>
            <a:endParaRPr sz="2400">
              <a:solidFill>
                <a:srgbClr val="202124"/>
              </a:solidFill>
              <a:highlight>
                <a:schemeClr val="lt2"/>
              </a:highlight>
              <a:latin typeface="Times New Roman"/>
              <a:ea typeface="Times New Roman"/>
              <a:cs typeface="Times New Roman"/>
              <a:sym typeface="Times New Roman"/>
            </a:endParaRPr>
          </a:p>
          <a:p>
            <a:pPr marL="914400" marR="38100" lvl="0" indent="0" algn="l" rtl="0">
              <a:lnSpc>
                <a:spcPct val="114285"/>
              </a:lnSpc>
              <a:spcBef>
                <a:spcPts val="0"/>
              </a:spcBef>
              <a:spcAft>
                <a:spcPts val="0"/>
              </a:spcAft>
              <a:buSzPct val="81081"/>
              <a:buNone/>
            </a:pPr>
            <a:r>
              <a:rPr lang="en-US" sz="2400">
                <a:solidFill>
                  <a:srgbClr val="202124"/>
                </a:solidFill>
                <a:highlight>
                  <a:schemeClr val="lt2"/>
                </a:highlight>
                <a:latin typeface="Times New Roman"/>
                <a:ea typeface="Times New Roman"/>
                <a:cs typeface="Times New Roman"/>
                <a:sym typeface="Times New Roman"/>
              </a:rPr>
              <a:t>ताला खो गया   The lock was lost</a:t>
            </a:r>
            <a:endParaRPr sz="2400">
              <a:solidFill>
                <a:srgbClr val="202124"/>
              </a:solidFill>
              <a:highlight>
                <a:schemeClr val="lt2"/>
              </a:highlight>
              <a:latin typeface="Times New Roman"/>
              <a:ea typeface="Times New Roman"/>
              <a:cs typeface="Times New Roman"/>
              <a:sym typeface="Times New Roman"/>
            </a:endParaRPr>
          </a:p>
          <a:p>
            <a:pPr marL="914400" marR="38100" lvl="0" indent="0" algn="l" rtl="0">
              <a:lnSpc>
                <a:spcPct val="114285"/>
              </a:lnSpc>
              <a:spcBef>
                <a:spcPts val="0"/>
              </a:spcBef>
              <a:spcAft>
                <a:spcPts val="0"/>
              </a:spcAft>
              <a:buSzPct val="81081"/>
              <a:buNone/>
            </a:pPr>
            <a:r>
              <a:rPr lang="en-US" sz="2400">
                <a:solidFill>
                  <a:srgbClr val="202124"/>
                </a:solidFill>
                <a:highlight>
                  <a:schemeClr val="lt2"/>
                </a:highlight>
                <a:latin typeface="Times New Roman"/>
                <a:ea typeface="Times New Roman"/>
                <a:cs typeface="Times New Roman"/>
                <a:sym typeface="Times New Roman"/>
              </a:rPr>
              <a:t>चाभी खो गयी   The key was lost</a:t>
            </a:r>
            <a:endParaRPr sz="2400">
              <a:solidFill>
                <a:schemeClr val="dk1"/>
              </a:solidFill>
              <a:highlight>
                <a:schemeClr val="lt2"/>
              </a:highlight>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60"/>
          <p:cNvSpPr txBox="1">
            <a:spLocks noGrp="1"/>
          </p:cNvSpPr>
          <p:nvPr>
            <p:ph type="title"/>
          </p:nvPr>
        </p:nvSpPr>
        <p:spPr>
          <a:xfrm>
            <a:off x="1251678" y="382385"/>
            <a:ext cx="10178322" cy="84605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PANINIAN FRAMEWORK</a:t>
            </a:r>
            <a:endParaRPr/>
          </a:p>
        </p:txBody>
      </p:sp>
      <p:sp>
        <p:nvSpPr>
          <p:cNvPr id="874" name="Google Shape;874;p60"/>
          <p:cNvSpPr txBox="1">
            <a:spLocks noGrp="1"/>
          </p:cNvSpPr>
          <p:nvPr>
            <p:ph type="body" idx="1"/>
          </p:nvPr>
        </p:nvSpPr>
        <p:spPr>
          <a:xfrm>
            <a:off x="1251675" y="1099151"/>
            <a:ext cx="10178400" cy="47805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115000"/>
              </a:lnSpc>
              <a:spcBef>
                <a:spcPts val="1700"/>
              </a:spcBef>
              <a:spcAft>
                <a:spcPts val="0"/>
              </a:spcAft>
              <a:buClr>
                <a:schemeClr val="dk1"/>
              </a:buClr>
              <a:buSzPts val="1800"/>
              <a:buFont typeface="Arial"/>
              <a:buNone/>
            </a:pPr>
            <a:r>
              <a:rPr lang="en-US" sz="1800" b="1">
                <a:solidFill>
                  <a:schemeClr val="dk1"/>
                </a:solidFill>
                <a:latin typeface="Calibri"/>
                <a:ea typeface="Calibri"/>
                <a:cs typeface="Calibri"/>
                <a:sym typeface="Calibri"/>
              </a:rPr>
              <a:t>Layered representation in paninian grammar</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457200" lvl="0" indent="-342900" algn="just" rtl="0">
              <a:lnSpc>
                <a:spcPct val="100000"/>
              </a:lnSpc>
              <a:spcBef>
                <a:spcPts val="1000"/>
              </a:spcBef>
              <a:spcAft>
                <a:spcPts val="0"/>
              </a:spcAft>
              <a:buClr>
                <a:schemeClr val="dk1"/>
              </a:buClr>
              <a:buSzPts val="1800"/>
              <a:buFont typeface="Calibri"/>
              <a:buChar char="•"/>
            </a:pPr>
            <a:r>
              <a:rPr lang="en-US" sz="1800">
                <a:solidFill>
                  <a:schemeClr val="dk1"/>
                </a:solidFill>
                <a:latin typeface="Times New Roman"/>
                <a:ea typeface="Times New Roman"/>
                <a:cs typeface="Times New Roman"/>
                <a:sym typeface="Times New Roman"/>
              </a:rPr>
              <a:t>Paninian Grammar (PG) framework is said to be </a:t>
            </a:r>
            <a:r>
              <a:rPr lang="en-US" sz="1800" b="1">
                <a:solidFill>
                  <a:schemeClr val="dk1"/>
                </a:solidFill>
                <a:highlight>
                  <a:srgbClr val="FFFF00"/>
                </a:highlight>
                <a:latin typeface="Times New Roman"/>
                <a:ea typeface="Times New Roman"/>
                <a:cs typeface="Times New Roman"/>
                <a:sym typeface="Times New Roman"/>
              </a:rPr>
              <a:t>syntactico–semantic</a:t>
            </a:r>
            <a:r>
              <a:rPr lang="en-US" sz="1800" b="1">
                <a:solidFill>
                  <a:schemeClr val="dk1"/>
                </a:solidFill>
                <a:latin typeface="Times New Roman"/>
                <a:ea typeface="Times New Roman"/>
                <a:cs typeface="Times New Roman"/>
                <a:sym typeface="Times New Roman"/>
              </a:rPr>
              <a:t> that is one can go from surface layer to deep semantics by passing through immediate layers.</a:t>
            </a:r>
            <a:endParaRPr sz="1800" b="1">
              <a:solidFill>
                <a:schemeClr val="dk1"/>
              </a:solidFill>
              <a:latin typeface="Times New Roman"/>
              <a:ea typeface="Times New Roman"/>
              <a:cs typeface="Times New Roman"/>
              <a:sym typeface="Times New Roman"/>
            </a:endParaRPr>
          </a:p>
          <a:p>
            <a:pPr marL="457200" lvl="0" indent="-342900" algn="l" rtl="0">
              <a:lnSpc>
                <a:spcPct val="906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PG works on various levels of language analysis to achieve the meaning of the sentence from hearer’s perspective. To achieve the desired meaning, the grammar analysis is  divided itself internally into the various levels as shown in the figure below.</a:t>
            </a:r>
            <a:endParaRPr sz="1800">
              <a:solidFill>
                <a:schemeClr val="dk1"/>
              </a:solidFill>
              <a:latin typeface="Times New Roman"/>
              <a:ea typeface="Times New Roman"/>
              <a:cs typeface="Times New Roman"/>
              <a:sym typeface="Times New Roman"/>
            </a:endParaRPr>
          </a:p>
          <a:p>
            <a:pPr marL="0" lvl="0" indent="0" algn="l" rtl="0">
              <a:lnSpc>
                <a:spcPct val="110000"/>
              </a:lnSpc>
              <a:spcBef>
                <a:spcPts val="0"/>
              </a:spcBef>
              <a:spcAft>
                <a:spcPts val="0"/>
              </a:spcAft>
              <a:buSzPts val="2000"/>
              <a:buNone/>
            </a:pPr>
            <a:r>
              <a:rPr lang="en-US"/>
              <a:t>                                                                         </a:t>
            </a:r>
            <a:endParaRPr/>
          </a:p>
          <a:p>
            <a:pPr marL="0" lvl="0" indent="0" algn="l" rtl="0">
              <a:lnSpc>
                <a:spcPct val="100000"/>
              </a:lnSpc>
              <a:spcBef>
                <a:spcPts val="0"/>
              </a:spcBef>
              <a:spcAft>
                <a:spcPts val="0"/>
              </a:spcAft>
              <a:buSzPts val="2000"/>
              <a:buNone/>
            </a:pPr>
            <a:r>
              <a:rPr lang="en-US"/>
              <a:t>                                                                             </a:t>
            </a:r>
            <a:endParaRPr/>
          </a:p>
          <a:p>
            <a:pPr marL="0" lvl="0" indent="0" algn="l" rtl="0">
              <a:lnSpc>
                <a:spcPct val="100000"/>
              </a:lnSpc>
              <a:spcBef>
                <a:spcPts val="0"/>
              </a:spcBef>
              <a:spcAft>
                <a:spcPts val="0"/>
              </a:spcAft>
              <a:buSzPts val="2000"/>
              <a:buNone/>
            </a:pPr>
            <a:endParaRPr/>
          </a:p>
          <a:p>
            <a:pPr marL="0" lvl="0" indent="0" algn="l" rtl="0">
              <a:lnSpc>
                <a:spcPct val="100000"/>
              </a:lnSpc>
              <a:spcBef>
                <a:spcPts val="0"/>
              </a:spcBef>
              <a:spcAft>
                <a:spcPts val="0"/>
              </a:spcAft>
              <a:buSzPts val="2000"/>
              <a:buNone/>
            </a:pPr>
            <a:endParaRPr/>
          </a:p>
          <a:p>
            <a:pPr marL="0" lvl="0" indent="0" algn="l" rtl="0">
              <a:lnSpc>
                <a:spcPct val="100000"/>
              </a:lnSpc>
              <a:spcBef>
                <a:spcPts val="0"/>
              </a:spcBef>
              <a:spcAft>
                <a:spcPts val="0"/>
              </a:spcAft>
              <a:buSzPts val="2000"/>
              <a:buNone/>
            </a:pPr>
            <a:endParaRPr/>
          </a:p>
          <a:p>
            <a:pPr marL="0" lvl="0" indent="0" algn="l" rtl="0">
              <a:lnSpc>
                <a:spcPct val="100000"/>
              </a:lnSpc>
              <a:spcBef>
                <a:spcPts val="0"/>
              </a:spcBef>
              <a:spcAft>
                <a:spcPts val="0"/>
              </a:spcAft>
              <a:buSzPts val="2000"/>
              <a:buNone/>
            </a:pPr>
            <a:endParaRPr/>
          </a:p>
          <a:p>
            <a:pPr marL="0" lvl="0" indent="0" algn="l" rtl="0">
              <a:lnSpc>
                <a:spcPct val="100000"/>
              </a:lnSpc>
              <a:spcBef>
                <a:spcPts val="0"/>
              </a:spcBef>
              <a:spcAft>
                <a:spcPts val="0"/>
              </a:spcAft>
              <a:buSzPts val="2000"/>
              <a:buNone/>
            </a:pPr>
            <a:endParaRPr/>
          </a:p>
          <a:p>
            <a:pPr marL="0" lvl="0" indent="0" algn="l" rtl="0">
              <a:lnSpc>
                <a:spcPct val="100000"/>
              </a:lnSpc>
              <a:spcBef>
                <a:spcPts val="0"/>
              </a:spcBef>
              <a:spcAft>
                <a:spcPts val="0"/>
              </a:spcAft>
              <a:buSzPts val="2000"/>
              <a:buNone/>
            </a:pPr>
            <a:endParaRPr/>
          </a:p>
          <a:p>
            <a:pPr marL="457200" lvl="0" indent="457200" algn="l" rtl="0">
              <a:lnSpc>
                <a:spcPct val="100000"/>
              </a:lnSpc>
              <a:spcBef>
                <a:spcPts val="0"/>
              </a:spcBef>
              <a:spcAft>
                <a:spcPts val="0"/>
              </a:spcAft>
              <a:buSzPts val="2000"/>
              <a:buNone/>
            </a:pPr>
            <a:r>
              <a:rPr lang="en-US"/>
              <a:t>                                                           </a:t>
            </a:r>
            <a:endParaRPr/>
          </a:p>
          <a:p>
            <a:pPr marL="457200" lvl="0" indent="457200" algn="l" rtl="0">
              <a:lnSpc>
                <a:spcPct val="100000"/>
              </a:lnSpc>
              <a:spcBef>
                <a:spcPts val="0"/>
              </a:spcBef>
              <a:spcAft>
                <a:spcPts val="0"/>
              </a:spcAft>
              <a:buSzPts val="2000"/>
              <a:buNone/>
            </a:pPr>
            <a:r>
              <a:rPr lang="en-US"/>
              <a:t>                   </a:t>
            </a:r>
            <a:r>
              <a:rPr lang="en-US">
                <a:solidFill>
                  <a:schemeClr val="dk1"/>
                </a:solidFill>
              </a:rPr>
              <a:t>fig: Layered Representation in PG</a:t>
            </a:r>
            <a:endParaRPr>
              <a:solidFill>
                <a:schemeClr val="dk1"/>
              </a:solidFill>
            </a:endParaRPr>
          </a:p>
        </p:txBody>
      </p:sp>
      <p:pic>
        <p:nvPicPr>
          <p:cNvPr id="875" name="Google Shape;875;p60"/>
          <p:cNvPicPr preferRelativeResize="0"/>
          <p:nvPr/>
        </p:nvPicPr>
        <p:blipFill rotWithShape="1">
          <a:blip r:embed="rId3">
            <a:alphaModFix/>
          </a:blip>
          <a:srcRect/>
          <a:stretch/>
        </p:blipFill>
        <p:spPr>
          <a:xfrm>
            <a:off x="4071425" y="3049700"/>
            <a:ext cx="2555650" cy="24094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1700b00d60f_0_1"/>
          <p:cNvSpPr txBox="1">
            <a:spLocks noGrp="1"/>
          </p:cNvSpPr>
          <p:nvPr>
            <p:ph type="title"/>
          </p:nvPr>
        </p:nvSpPr>
        <p:spPr>
          <a:xfrm>
            <a:off x="1251675" y="382378"/>
            <a:ext cx="10178400" cy="6030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881" name="Google Shape;881;g1700b00d60f_0_1"/>
          <p:cNvSpPr txBox="1">
            <a:spLocks noGrp="1"/>
          </p:cNvSpPr>
          <p:nvPr>
            <p:ph type="body" idx="1"/>
          </p:nvPr>
        </p:nvSpPr>
        <p:spPr>
          <a:xfrm>
            <a:off x="1251675" y="985375"/>
            <a:ext cx="10178400" cy="5080500"/>
          </a:xfrm>
          <a:prstGeom prst="rect">
            <a:avLst/>
          </a:prstGeom>
          <a:noFill/>
          <a:ln>
            <a:noFill/>
          </a:ln>
        </p:spPr>
        <p:txBody>
          <a:bodyPr spcFirstLastPara="1" wrap="square" lIns="91425" tIns="45700" rIns="91425" bIns="45700" anchor="t" anchorCtr="0">
            <a:normAutofit fontScale="85000" lnSpcReduction="10000"/>
          </a:bodyPr>
          <a:lstStyle/>
          <a:p>
            <a:pPr marL="0" lvl="0" indent="0" algn="l" rtl="0">
              <a:lnSpc>
                <a:spcPct val="100000"/>
              </a:lnSpc>
              <a:spcBef>
                <a:spcPts val="0"/>
              </a:spcBef>
              <a:spcAft>
                <a:spcPts val="0"/>
              </a:spcAft>
              <a:buSzPct val="100000"/>
              <a:buNone/>
            </a:pPr>
            <a:r>
              <a:rPr lang="en-US" b="1">
                <a:solidFill>
                  <a:schemeClr val="dk1"/>
                </a:solidFill>
                <a:highlight>
                  <a:srgbClr val="FFFF00"/>
                </a:highlight>
              </a:rPr>
              <a:t>Semantic Level:</a:t>
            </a:r>
            <a:r>
              <a:rPr lang="en-US">
                <a:solidFill>
                  <a:schemeClr val="dk1"/>
                </a:solidFill>
              </a:rPr>
              <a:t> </a:t>
            </a:r>
            <a:endParaRPr>
              <a:solidFill>
                <a:schemeClr val="dk1"/>
              </a:solidFill>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Represents the speaker’s actual intention, that is, his real thought for the sentence.</a:t>
            </a:r>
            <a:endParaRPr>
              <a:solidFill>
                <a:schemeClr val="dk1"/>
              </a:solidFill>
            </a:endParaRPr>
          </a:p>
          <a:p>
            <a:pPr marL="0" lvl="0" indent="0" algn="l" rtl="0">
              <a:lnSpc>
                <a:spcPct val="100000"/>
              </a:lnSpc>
              <a:spcBef>
                <a:spcPts val="1000"/>
              </a:spcBef>
              <a:spcAft>
                <a:spcPts val="0"/>
              </a:spcAft>
              <a:buSzPct val="100000"/>
              <a:buNone/>
            </a:pPr>
            <a:r>
              <a:rPr lang="en-US" b="1">
                <a:solidFill>
                  <a:schemeClr val="dk1"/>
                </a:solidFill>
                <a:highlight>
                  <a:srgbClr val="FFFF00"/>
                </a:highlight>
              </a:rPr>
              <a:t>Surface Level:</a:t>
            </a:r>
            <a:r>
              <a:rPr lang="en-US">
                <a:solidFill>
                  <a:schemeClr val="dk1"/>
                </a:solidFill>
                <a:highlight>
                  <a:srgbClr val="FFFF00"/>
                </a:highlight>
              </a:rPr>
              <a:t>  </a:t>
            </a:r>
            <a:endParaRPr>
              <a:solidFill>
                <a:schemeClr val="dk1"/>
              </a:solidFill>
              <a:highlight>
                <a:srgbClr val="FFFF00"/>
              </a:highlight>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Surface level is the actual string or the sentence. It captures the written or the spoken sentences as it is. </a:t>
            </a:r>
            <a:endParaRPr>
              <a:solidFill>
                <a:schemeClr val="dk1"/>
              </a:solidFill>
            </a:endParaRPr>
          </a:p>
          <a:p>
            <a:pPr marL="0" lvl="0" indent="0" algn="l" rtl="0">
              <a:lnSpc>
                <a:spcPct val="100000"/>
              </a:lnSpc>
              <a:spcBef>
                <a:spcPts val="1000"/>
              </a:spcBef>
              <a:spcAft>
                <a:spcPts val="0"/>
              </a:spcAft>
              <a:buSzPct val="100000"/>
              <a:buNone/>
            </a:pPr>
            <a:r>
              <a:rPr lang="en-US" b="1">
                <a:solidFill>
                  <a:schemeClr val="dk1"/>
                </a:solidFill>
                <a:highlight>
                  <a:srgbClr val="FFFF00"/>
                </a:highlight>
              </a:rPr>
              <a:t>Vibhakti Level:</a:t>
            </a:r>
            <a:r>
              <a:rPr lang="en-US">
                <a:solidFill>
                  <a:schemeClr val="dk1"/>
                </a:solidFill>
                <a:highlight>
                  <a:srgbClr val="FFFF00"/>
                </a:highlight>
              </a:rPr>
              <a:t> </a:t>
            </a:r>
            <a:endParaRPr>
              <a:solidFill>
                <a:schemeClr val="dk1"/>
              </a:solidFill>
              <a:highlight>
                <a:srgbClr val="FFFF00"/>
              </a:highlight>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Vibhakti is the word suffix, which helps to find out the participants, gender as well as the form of the word. </a:t>
            </a:r>
            <a:endParaRPr>
              <a:solidFill>
                <a:schemeClr val="dk1"/>
              </a:solidFill>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Vibhakti level is purely syntactic. At this level, the case endings are used to form the local groups of the words. At Vibhakti level, a noun is formed containing a noun, which contains the instances of noun or pronoun etc. </a:t>
            </a:r>
            <a:endParaRPr>
              <a:solidFill>
                <a:schemeClr val="dk1"/>
              </a:solidFill>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Vibhakti for verbs includes the verb form and the auxiliary verbs.</a:t>
            </a:r>
            <a:endParaRPr>
              <a:solidFill>
                <a:schemeClr val="dk1"/>
              </a:solidFill>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Vibhakti gives Tense Aspect Modality details of the word which is popularly known as TAM. </a:t>
            </a:r>
            <a:endParaRPr>
              <a:solidFill>
                <a:schemeClr val="dk1"/>
              </a:solidFill>
            </a:endParaRPr>
          </a:p>
          <a:p>
            <a:pPr marL="0" lvl="0" indent="0" algn="l" rtl="0">
              <a:lnSpc>
                <a:spcPct val="100000"/>
              </a:lnSpc>
              <a:spcBef>
                <a:spcPts val="1000"/>
              </a:spcBef>
              <a:spcAft>
                <a:spcPts val="0"/>
              </a:spcAft>
              <a:buSzPct val="100000"/>
              <a:buNone/>
            </a:pPr>
            <a:r>
              <a:rPr lang="en-US" b="1">
                <a:solidFill>
                  <a:schemeClr val="dk1"/>
                </a:solidFill>
                <a:highlight>
                  <a:srgbClr val="FFFF00"/>
                </a:highlight>
              </a:rPr>
              <a:t>Karaka Level:</a:t>
            </a:r>
            <a:endParaRPr b="1">
              <a:solidFill>
                <a:schemeClr val="dk1"/>
              </a:solidFill>
              <a:highlight>
                <a:srgbClr val="FFFF00"/>
              </a:highlight>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At the Karaka level, the relation of the participant noun, in the action, to verb is determined. </a:t>
            </a:r>
            <a:endParaRPr>
              <a:solidFill>
                <a:schemeClr val="dk1"/>
              </a:solidFill>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Karaka relations are Syntactico-semantic. </a:t>
            </a:r>
            <a:endParaRPr>
              <a:solidFill>
                <a:schemeClr val="dk1"/>
              </a:solidFill>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These relations are established in between the verb and other constituent nouns that are present in the sentences. Through, these relations, the Karakas try to capture the information from the semantics of the texts. </a:t>
            </a:r>
            <a:endParaRPr>
              <a:solidFill>
                <a:schemeClr val="dk1"/>
              </a:solidFill>
            </a:endParaRPr>
          </a:p>
          <a:p>
            <a:pPr marL="457200" lvl="0" indent="-325755" algn="l" rtl="0">
              <a:lnSpc>
                <a:spcPct val="100000"/>
              </a:lnSpc>
              <a:spcBef>
                <a:spcPts val="0"/>
              </a:spcBef>
              <a:spcAft>
                <a:spcPts val="0"/>
              </a:spcAft>
              <a:buClr>
                <a:schemeClr val="dk1"/>
              </a:buClr>
              <a:buSzPct val="90000"/>
              <a:buChar char="•"/>
            </a:pPr>
            <a:r>
              <a:rPr lang="en-US">
                <a:solidFill>
                  <a:schemeClr val="dk1"/>
                </a:solidFill>
              </a:rPr>
              <a:t>Karaka level processes the semantics of the language but represents it at the syntactic level. Hence it acts as a bridge between semantic and syntactic analysis of a language. </a:t>
            </a:r>
            <a:endParaRPr>
              <a:solidFill>
                <a:schemeClr val="dk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61"/>
          <p:cNvSpPr txBox="1">
            <a:spLocks noGrp="1"/>
          </p:cNvSpPr>
          <p:nvPr>
            <p:ph type="title"/>
          </p:nvPr>
        </p:nvSpPr>
        <p:spPr>
          <a:xfrm>
            <a:off x="1251678" y="382385"/>
            <a:ext cx="10178322" cy="77216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887" name="Google Shape;887;p61"/>
          <p:cNvSpPr txBox="1">
            <a:spLocks noGrp="1"/>
          </p:cNvSpPr>
          <p:nvPr>
            <p:ph type="body" idx="1"/>
          </p:nvPr>
        </p:nvSpPr>
        <p:spPr>
          <a:xfrm>
            <a:off x="1251678" y="1154545"/>
            <a:ext cx="10178322" cy="5098771"/>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1800"/>
              <a:buNone/>
            </a:pPr>
            <a:r>
              <a:rPr lang="en-US" sz="3400" b="1">
                <a:highlight>
                  <a:srgbClr val="00FFFF"/>
                </a:highlight>
                <a:latin typeface="Times New Roman"/>
                <a:ea typeface="Times New Roman"/>
                <a:cs typeface="Times New Roman"/>
                <a:sym typeface="Times New Roman"/>
              </a:rPr>
              <a:t>Karaka Theory:</a:t>
            </a:r>
            <a:endParaRPr sz="3400" b="1">
              <a:highlight>
                <a:srgbClr val="00FFFF"/>
              </a:highlight>
              <a:latin typeface="Times New Roman"/>
              <a:ea typeface="Times New Roman"/>
              <a:cs typeface="Times New Roman"/>
              <a:sym typeface="Times New Roman"/>
            </a:endParaRPr>
          </a:p>
          <a:p>
            <a:pPr marL="457200" lvl="0" indent="-400050" algn="l" rtl="0">
              <a:lnSpc>
                <a:spcPct val="906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The etymological meaning of the word Karaka is ‘one who does something’, i.e. one who performs an action. </a:t>
            </a:r>
            <a:endParaRPr sz="2700">
              <a:solidFill>
                <a:schemeClr val="dk1"/>
              </a:solidFill>
              <a:latin typeface="Times New Roman"/>
              <a:ea typeface="Times New Roman"/>
              <a:cs typeface="Times New Roman"/>
              <a:sym typeface="Times New Roman"/>
            </a:endParaRPr>
          </a:p>
          <a:p>
            <a:pPr marL="457200" lvl="0" indent="-400050" algn="l" rtl="0">
              <a:lnSpc>
                <a:spcPct val="906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The Karaka and the Kriya, i.e. the cases and verb are bounded with the sense of mutual requirement.</a:t>
            </a:r>
            <a:endParaRPr sz="2700">
              <a:solidFill>
                <a:schemeClr val="dk1"/>
              </a:solidFill>
              <a:latin typeface="Times New Roman"/>
              <a:ea typeface="Times New Roman"/>
              <a:cs typeface="Times New Roman"/>
              <a:sym typeface="Times New Roman"/>
            </a:endParaRPr>
          </a:p>
          <a:p>
            <a:pPr marL="457200" lvl="0" indent="-400050" algn="l" rtl="0">
              <a:lnSpc>
                <a:spcPct val="90600"/>
              </a:lnSpc>
              <a:spcBef>
                <a:spcPts val="0"/>
              </a:spcBef>
              <a:spcAft>
                <a:spcPts val="0"/>
              </a:spcAft>
              <a:buClr>
                <a:schemeClr val="dk1"/>
              </a:buClr>
              <a:buSzPts val="2700"/>
              <a:buFont typeface="Times New Roman"/>
              <a:buChar char="•"/>
            </a:pPr>
            <a:r>
              <a:rPr lang="en-US" sz="2700">
                <a:solidFill>
                  <a:schemeClr val="dk1"/>
                </a:solidFill>
                <a:highlight>
                  <a:srgbClr val="FFFF00"/>
                </a:highlight>
                <a:latin typeface="Times New Roman"/>
                <a:ea typeface="Times New Roman"/>
                <a:cs typeface="Times New Roman"/>
                <a:sym typeface="Times New Roman"/>
              </a:rPr>
              <a:t>The one who performs an action, accepts an action, or otherwise helps to perform an action is known as a Karaka.</a:t>
            </a:r>
            <a:r>
              <a:rPr lang="en-US" sz="2700">
                <a:solidFill>
                  <a:schemeClr val="dk1"/>
                </a:solidFill>
                <a:latin typeface="Times New Roman"/>
                <a:ea typeface="Times New Roman"/>
                <a:cs typeface="Times New Roman"/>
                <a:sym typeface="Times New Roman"/>
              </a:rPr>
              <a:t> </a:t>
            </a:r>
            <a:endParaRPr sz="2700">
              <a:solidFill>
                <a:schemeClr val="dk1"/>
              </a:solidFill>
              <a:latin typeface="Times New Roman"/>
              <a:ea typeface="Times New Roman"/>
              <a:cs typeface="Times New Roman"/>
              <a:sym typeface="Times New Roman"/>
            </a:endParaRPr>
          </a:p>
          <a:p>
            <a:pPr marL="457200" lvl="0" indent="-400050" algn="l" rtl="0">
              <a:lnSpc>
                <a:spcPct val="906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There is a mutual expectancy in between the action i.e. Kriya and the adjuncts i.e. Karaka. </a:t>
            </a:r>
            <a:endParaRPr sz="2700">
              <a:solidFill>
                <a:schemeClr val="dk1"/>
              </a:solidFill>
              <a:latin typeface="Times New Roman"/>
              <a:ea typeface="Times New Roman"/>
              <a:cs typeface="Times New Roman"/>
              <a:sym typeface="Times New Roman"/>
            </a:endParaRPr>
          </a:p>
          <a:p>
            <a:pPr marL="457200" lvl="0" indent="-400050" algn="l" rtl="0">
              <a:lnSpc>
                <a:spcPct val="906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The presence of one calls for the existence of the other. In other words Kirya and Karaka are mutually exclusive. </a:t>
            </a:r>
            <a:endParaRPr sz="2700" b="1">
              <a:latin typeface="Times New Roman"/>
              <a:ea typeface="Times New Roman"/>
              <a:cs typeface="Times New Roman"/>
              <a:sym typeface="Times New Roman"/>
            </a:endParaRPr>
          </a:p>
          <a:p>
            <a:pPr marL="457200" lvl="0" indent="0" algn="just" rtl="0">
              <a:lnSpc>
                <a:spcPct val="100000"/>
              </a:lnSpc>
              <a:spcBef>
                <a:spcPts val="0"/>
              </a:spcBef>
              <a:spcAft>
                <a:spcPts val="0"/>
              </a:spcAft>
              <a:buSzPts val="1800"/>
              <a:buNone/>
            </a:pPr>
            <a:endParaRPr sz="1900">
              <a:latin typeface="Times New Roman"/>
              <a:ea typeface="Times New Roman"/>
              <a:cs typeface="Times New Roman"/>
              <a:sym typeface="Times New Roman"/>
            </a:endParaRPr>
          </a:p>
          <a:p>
            <a:pPr marL="107950" lvl="0" indent="0" algn="l" rtl="0">
              <a:lnSpc>
                <a:spcPct val="100000"/>
              </a:lnSpc>
              <a:spcBef>
                <a:spcPts val="0"/>
              </a:spcBef>
              <a:spcAft>
                <a:spcPts val="0"/>
              </a:spcAft>
              <a:buSzPts val="2000"/>
              <a:buNone/>
            </a:pPr>
            <a:endParaRPr sz="1900">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1700b00d60f_0_11"/>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893" name="Google Shape;893;g1700b00d60f_0_11"/>
          <p:cNvSpPr txBox="1">
            <a:spLocks noGrp="1"/>
          </p:cNvSpPr>
          <p:nvPr>
            <p:ph type="body" idx="1"/>
          </p:nvPr>
        </p:nvSpPr>
        <p:spPr>
          <a:xfrm>
            <a:off x="1251678" y="1154545"/>
            <a:ext cx="10178400" cy="50988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1800"/>
              <a:buNone/>
            </a:pPr>
            <a:r>
              <a:rPr lang="en-US" sz="2700" b="1">
                <a:highlight>
                  <a:srgbClr val="00FFFF"/>
                </a:highlight>
                <a:latin typeface="Times New Roman"/>
                <a:ea typeface="Times New Roman"/>
                <a:cs typeface="Times New Roman"/>
                <a:sym typeface="Times New Roman"/>
              </a:rPr>
              <a:t>Karaka Theory:</a:t>
            </a:r>
            <a:endParaRPr sz="2700" b="1">
              <a:highlight>
                <a:srgbClr val="00FFFF"/>
              </a:highlight>
              <a:latin typeface="Times New Roman"/>
              <a:ea typeface="Times New Roman"/>
              <a:cs typeface="Times New Roman"/>
              <a:sym typeface="Times New Roman"/>
            </a:endParaRPr>
          </a:p>
          <a:p>
            <a:pPr marL="0" lvl="0" indent="0" algn="l"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The Karakas are derived by analyzing the direct and continuous or mutual relation between the verb and the nominal.</a:t>
            </a:r>
            <a:endParaRPr sz="22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SzPts val="1100"/>
              <a:buNone/>
            </a:pPr>
            <a:r>
              <a:rPr lang="en-US" sz="2200" b="1">
                <a:solidFill>
                  <a:schemeClr val="dk1"/>
                </a:solidFill>
                <a:latin typeface="Times New Roman"/>
                <a:ea typeface="Times New Roman"/>
                <a:cs typeface="Times New Roman"/>
                <a:sym typeface="Times New Roman"/>
              </a:rPr>
              <a:t>Various Karakas are:</a:t>
            </a:r>
            <a:endParaRPr sz="2200" b="1">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Karta  - subject</a:t>
            </a:r>
            <a:endParaRPr sz="2200">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Karma - object</a:t>
            </a:r>
            <a:endParaRPr sz="2200">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Karana - instrument</a:t>
            </a:r>
            <a:endParaRPr sz="2200">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Sampradhana - beneficiary</a:t>
            </a:r>
            <a:endParaRPr sz="2200">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Apadana - separation</a:t>
            </a:r>
            <a:endParaRPr sz="2200">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Adhara or Adhikarana - locus</a:t>
            </a:r>
            <a:endParaRPr sz="2200">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Sambandh - relation</a:t>
            </a:r>
            <a:endParaRPr sz="2200">
              <a:solidFill>
                <a:schemeClr val="dk1"/>
              </a:solidFill>
              <a:latin typeface="Times New Roman"/>
              <a:ea typeface="Times New Roman"/>
              <a:cs typeface="Times New Roman"/>
              <a:sym typeface="Times New Roman"/>
            </a:endParaRPr>
          </a:p>
          <a:p>
            <a:pPr marL="457200" lvl="0" indent="-368300" algn="l" rtl="0">
              <a:lnSpc>
                <a:spcPct val="90600"/>
              </a:lnSpc>
              <a:spcBef>
                <a:spcPts val="0"/>
              </a:spcBef>
              <a:spcAft>
                <a:spcPts val="0"/>
              </a:spcAft>
              <a:buClr>
                <a:schemeClr val="dk1"/>
              </a:buClr>
              <a:buSzPts val="2200"/>
              <a:buFont typeface="Times New Roman"/>
              <a:buAutoNum type="arabicPeriod"/>
            </a:pPr>
            <a:r>
              <a:rPr lang="en-US" sz="2200">
                <a:solidFill>
                  <a:schemeClr val="dk1"/>
                </a:solidFill>
                <a:latin typeface="Times New Roman"/>
                <a:ea typeface="Times New Roman"/>
                <a:cs typeface="Times New Roman"/>
                <a:sym typeface="Times New Roman"/>
              </a:rPr>
              <a:t>Tadarthya - purpose</a:t>
            </a:r>
            <a:endParaRPr sz="22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SzPts val="1800"/>
              <a:buNone/>
            </a:pPr>
            <a:r>
              <a:rPr lang="en-US" sz="2200">
                <a:solidFill>
                  <a:schemeClr val="dk1"/>
                </a:solidFill>
                <a:latin typeface="Times New Roman"/>
                <a:ea typeface="Times New Roman"/>
                <a:cs typeface="Times New Roman"/>
                <a:sym typeface="Times New Roman"/>
              </a:rPr>
              <a:t>The Karta, Karma and Karana are considered as the foremost Karakas while</a:t>
            </a:r>
            <a:endParaRPr sz="2200">
              <a:solidFill>
                <a:schemeClr val="dk1"/>
              </a:solidFill>
              <a:latin typeface="Times New Roman"/>
              <a:ea typeface="Times New Roman"/>
              <a:cs typeface="Times New Roman"/>
              <a:sym typeface="Times New Roman"/>
            </a:endParaRPr>
          </a:p>
          <a:p>
            <a:pPr marL="0" lvl="0" indent="0" algn="l" rtl="0">
              <a:lnSpc>
                <a:spcPct val="88900"/>
              </a:lnSpc>
              <a:spcBef>
                <a:spcPts val="0"/>
              </a:spcBef>
              <a:spcAft>
                <a:spcPts val="0"/>
              </a:spcAft>
              <a:buSzPts val="1800"/>
              <a:buNone/>
            </a:pPr>
            <a:r>
              <a:rPr lang="en-US" sz="2200">
                <a:solidFill>
                  <a:schemeClr val="dk1"/>
                </a:solidFill>
                <a:latin typeface="Times New Roman"/>
                <a:ea typeface="Times New Roman"/>
                <a:cs typeface="Times New Roman"/>
                <a:sym typeface="Times New Roman"/>
              </a:rPr>
              <a:t>Sampradana, Apadana and Adhikarana Karakas are known as the influenced Karakas.</a:t>
            </a:r>
            <a:endParaRPr sz="2200">
              <a:solidFill>
                <a:schemeClr val="dk1"/>
              </a:solidFill>
              <a:latin typeface="Arial"/>
              <a:ea typeface="Arial"/>
              <a:cs typeface="Arial"/>
              <a:sym typeface="Arial"/>
            </a:endParaRPr>
          </a:p>
          <a:p>
            <a:pPr marL="0" lvl="0" indent="0" algn="l" rtl="0">
              <a:lnSpc>
                <a:spcPct val="90600"/>
              </a:lnSpc>
              <a:spcBef>
                <a:spcPts val="0"/>
              </a:spcBef>
              <a:spcAft>
                <a:spcPts val="0"/>
              </a:spcAft>
              <a:buSzPts val="1800"/>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16e7d34f1b0_0_2"/>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899" name="Google Shape;899;g16e7d34f1b0_0_2"/>
          <p:cNvSpPr txBox="1">
            <a:spLocks noGrp="1"/>
          </p:cNvSpPr>
          <p:nvPr>
            <p:ph type="body" idx="1"/>
          </p:nvPr>
        </p:nvSpPr>
        <p:spPr>
          <a:xfrm>
            <a:off x="1251675" y="1154550"/>
            <a:ext cx="10178400" cy="5457900"/>
          </a:xfrm>
          <a:prstGeom prst="rect">
            <a:avLst/>
          </a:prstGeom>
          <a:noFill/>
          <a:ln>
            <a:noFill/>
          </a:ln>
        </p:spPr>
        <p:txBody>
          <a:bodyPr spcFirstLastPara="1" wrap="square" lIns="91425" tIns="45700" rIns="91425" bIns="45700" anchor="ctr" anchorCtr="0">
            <a:noAutofit/>
          </a:bodyPr>
          <a:lstStyle/>
          <a:p>
            <a:pPr marL="0" lvl="0" indent="0" algn="just" rtl="0">
              <a:lnSpc>
                <a:spcPct val="100000"/>
              </a:lnSpc>
              <a:spcBef>
                <a:spcPts val="0"/>
              </a:spcBef>
              <a:spcAft>
                <a:spcPts val="0"/>
              </a:spcAft>
              <a:buSzPts val="1800"/>
              <a:buNone/>
            </a:pPr>
            <a:r>
              <a:rPr lang="en-US" sz="2300" b="1">
                <a:solidFill>
                  <a:schemeClr val="dk1"/>
                </a:solidFill>
                <a:highlight>
                  <a:srgbClr val="00FFFF"/>
                </a:highlight>
                <a:latin typeface="Times New Roman"/>
                <a:ea typeface="Times New Roman"/>
                <a:cs typeface="Times New Roman"/>
                <a:sym typeface="Times New Roman"/>
              </a:rPr>
              <a:t>Karta Karaka:</a:t>
            </a:r>
            <a:endParaRPr sz="2300" b="1">
              <a:solidFill>
                <a:schemeClr val="dk1"/>
              </a:solidFill>
              <a:highlight>
                <a:srgbClr val="00FFFF"/>
              </a:highlight>
              <a:latin typeface="Times New Roman"/>
              <a:ea typeface="Times New Roman"/>
              <a:cs typeface="Times New Roman"/>
              <a:sym typeface="Times New Roman"/>
            </a:endParaRPr>
          </a:p>
          <a:p>
            <a:pPr marL="0" lvl="0" indent="0" algn="just" rtl="0">
              <a:lnSpc>
                <a:spcPct val="100000"/>
              </a:lnSpc>
              <a:spcBef>
                <a:spcPts val="0"/>
              </a:spcBef>
              <a:spcAft>
                <a:spcPts val="0"/>
              </a:spcAft>
              <a:buSzPts val="1100"/>
              <a:buNone/>
            </a:pPr>
            <a:r>
              <a:rPr lang="en-US" sz="2300">
                <a:solidFill>
                  <a:schemeClr val="dk1"/>
                </a:solidFill>
                <a:latin typeface="Times New Roman"/>
                <a:ea typeface="Times New Roman"/>
                <a:cs typeface="Times New Roman"/>
                <a:sym typeface="Times New Roman"/>
              </a:rPr>
              <a:t>The Karta Karaka is the premier one according to action and it is used to perform an action independently of its own. An action indicated in a sentence is entirely dependent upon the Karta-Karaka. </a:t>
            </a:r>
            <a:r>
              <a:rPr lang="en-US" sz="2300">
                <a:solidFill>
                  <a:schemeClr val="dk1"/>
                </a:solidFill>
                <a:highlight>
                  <a:srgbClr val="FFFF00"/>
                </a:highlight>
                <a:latin typeface="Times New Roman"/>
                <a:ea typeface="Times New Roman"/>
                <a:cs typeface="Times New Roman"/>
                <a:sym typeface="Times New Roman"/>
              </a:rPr>
              <a:t>Activity either resides in or rises from the Karta only.</a:t>
            </a:r>
            <a:endParaRPr sz="2300">
              <a:solidFill>
                <a:schemeClr val="dk1"/>
              </a:solidFill>
              <a:highlight>
                <a:srgbClr val="FFFF00"/>
              </a:highlight>
              <a:latin typeface="Times New Roman"/>
              <a:ea typeface="Times New Roman"/>
              <a:cs typeface="Times New Roman"/>
              <a:sym typeface="Times New Roman"/>
            </a:endParaRPr>
          </a:p>
          <a:p>
            <a:pPr marL="0" lvl="0" indent="0" algn="just" rtl="0">
              <a:lnSpc>
                <a:spcPct val="100000"/>
              </a:lnSpc>
              <a:spcBef>
                <a:spcPts val="0"/>
              </a:spcBef>
              <a:spcAft>
                <a:spcPts val="0"/>
              </a:spcAft>
              <a:buSzPts val="1100"/>
              <a:buNone/>
            </a:pPr>
            <a:r>
              <a:rPr lang="en-US" sz="2300">
                <a:solidFill>
                  <a:schemeClr val="dk1"/>
                </a:solidFill>
                <a:latin typeface="Times New Roman"/>
                <a:ea typeface="Times New Roman"/>
                <a:cs typeface="Times New Roman"/>
                <a:sym typeface="Times New Roman"/>
              </a:rPr>
              <a:t>Eg. Tiger killed the goat</a:t>
            </a: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SzPts val="1100"/>
              <a:buNone/>
            </a:pPr>
            <a:r>
              <a:rPr lang="en-US" sz="2300">
                <a:solidFill>
                  <a:schemeClr val="dk1"/>
                </a:solidFill>
                <a:latin typeface="Times New Roman"/>
                <a:ea typeface="Times New Roman"/>
                <a:cs typeface="Times New Roman"/>
                <a:sym typeface="Times New Roman"/>
              </a:rPr>
              <a:t>Tiger - karta. </a:t>
            </a: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SzPts val="1100"/>
              <a:buNone/>
            </a:pP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SzPts val="1100"/>
              <a:buNone/>
            </a:pPr>
            <a:r>
              <a:rPr lang="en-US" sz="2300" b="1">
                <a:solidFill>
                  <a:schemeClr val="dk1"/>
                </a:solidFill>
                <a:highlight>
                  <a:srgbClr val="00FFFF"/>
                </a:highlight>
                <a:latin typeface="Times New Roman"/>
                <a:ea typeface="Times New Roman"/>
                <a:cs typeface="Times New Roman"/>
                <a:sym typeface="Times New Roman"/>
              </a:rPr>
              <a:t>Karma Karaka:  </a:t>
            </a:r>
            <a:endParaRPr sz="2300" b="1">
              <a:solidFill>
                <a:schemeClr val="dk1"/>
              </a:solidFill>
              <a:highlight>
                <a:srgbClr val="00FFFF"/>
              </a:highlight>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Karma is the Aashraya (locus) of the result. The most desirable nominative by the Karta Karaka is the Karma Karaka. </a:t>
            </a:r>
            <a:r>
              <a:rPr lang="en-US" sz="2300">
                <a:solidFill>
                  <a:schemeClr val="dk1"/>
                </a:solidFill>
                <a:highlight>
                  <a:srgbClr val="FFFF00"/>
                </a:highlight>
                <a:latin typeface="Times New Roman"/>
                <a:ea typeface="Times New Roman"/>
                <a:cs typeface="Times New Roman"/>
                <a:sym typeface="Times New Roman"/>
              </a:rPr>
              <a:t>When the Karta carries out any activity, the result of that activity rests in the Karma.</a:t>
            </a:r>
            <a:r>
              <a:rPr lang="en-US" sz="2300">
                <a:solidFill>
                  <a:schemeClr val="dk1"/>
                </a:solidFill>
                <a:latin typeface="Times New Roman"/>
                <a:ea typeface="Times New Roman"/>
                <a:cs typeface="Times New Roman"/>
                <a:sym typeface="Times New Roman"/>
              </a:rPr>
              <a:t> As the Karma (object) is the basis of outcome of the primary action, it is one of the important prominent Karaka. </a:t>
            </a: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Eg. Tiger killed the goat.</a:t>
            </a: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goat is karma.</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17124379822_0_32"/>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905" name="Google Shape;905;g17124379822_0_32"/>
          <p:cNvSpPr txBox="1">
            <a:spLocks noGrp="1"/>
          </p:cNvSpPr>
          <p:nvPr>
            <p:ph type="body" idx="1"/>
          </p:nvPr>
        </p:nvSpPr>
        <p:spPr>
          <a:xfrm>
            <a:off x="1251678" y="1154545"/>
            <a:ext cx="10178400" cy="5098800"/>
          </a:xfrm>
          <a:prstGeom prst="rect">
            <a:avLst/>
          </a:prstGeom>
          <a:noFill/>
          <a:ln>
            <a:noFill/>
          </a:ln>
        </p:spPr>
        <p:txBody>
          <a:bodyPr spcFirstLastPara="1" wrap="square" lIns="91425" tIns="45700" rIns="91425" bIns="45700" anchor="t" anchorCtr="0">
            <a:noAutofit/>
          </a:bodyPr>
          <a:lstStyle/>
          <a:p>
            <a:pPr marL="0" lvl="0" indent="0" algn="just" rtl="0">
              <a:lnSpc>
                <a:spcPct val="90600"/>
              </a:lnSpc>
              <a:spcBef>
                <a:spcPts val="0"/>
              </a:spcBef>
              <a:spcAft>
                <a:spcPts val="0"/>
              </a:spcAft>
              <a:buClr>
                <a:schemeClr val="dk1"/>
              </a:buClr>
              <a:buSzPts val="1100"/>
              <a:buFont typeface="Arial"/>
              <a:buNone/>
            </a:pPr>
            <a:r>
              <a:rPr lang="en-US" sz="2200" b="1">
                <a:solidFill>
                  <a:schemeClr val="dk1"/>
                </a:solidFill>
                <a:highlight>
                  <a:srgbClr val="00FFFF"/>
                </a:highlight>
                <a:latin typeface="Times New Roman"/>
                <a:ea typeface="Times New Roman"/>
                <a:cs typeface="Times New Roman"/>
                <a:sym typeface="Times New Roman"/>
              </a:rPr>
              <a:t>Karana Karaka:</a:t>
            </a:r>
            <a:endParaRPr sz="2200" b="1">
              <a:solidFill>
                <a:schemeClr val="dk1"/>
              </a:solidFill>
              <a:highlight>
                <a:srgbClr val="00FFFF"/>
              </a:highlight>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sz="2200">
                <a:solidFill>
                  <a:schemeClr val="dk1"/>
                </a:solidFill>
                <a:highlight>
                  <a:srgbClr val="FFFF00"/>
                </a:highlight>
                <a:latin typeface="Times New Roman"/>
                <a:ea typeface="Times New Roman"/>
                <a:cs typeface="Times New Roman"/>
                <a:sym typeface="Times New Roman"/>
              </a:rPr>
              <a:t>Karaka which helps in carrying out the Kriya is known as Karana Karaka</a:t>
            </a:r>
            <a:r>
              <a:rPr lang="en-US" sz="2200">
                <a:solidFill>
                  <a:schemeClr val="dk1"/>
                </a:solidFill>
                <a:latin typeface="Times New Roman"/>
                <a:ea typeface="Times New Roman"/>
                <a:cs typeface="Times New Roman"/>
                <a:sym typeface="Times New Roman"/>
              </a:rPr>
              <a:t>. Karana Karaka helps in attaining the desired result ascertained by the Kriya. </a:t>
            </a:r>
            <a:r>
              <a:rPr lang="en-US" sz="2200">
                <a:solidFill>
                  <a:schemeClr val="dk1"/>
                </a:solidFill>
                <a:highlight>
                  <a:srgbClr val="FFFF00"/>
                </a:highlight>
                <a:latin typeface="Times New Roman"/>
                <a:ea typeface="Times New Roman"/>
                <a:cs typeface="Times New Roman"/>
                <a:sym typeface="Times New Roman"/>
              </a:rPr>
              <a:t>Karana is the most important tool by means of which the action is achieved.</a:t>
            </a:r>
            <a:r>
              <a:rPr lang="en-US" sz="2200">
                <a:solidFill>
                  <a:schemeClr val="dk1"/>
                </a:solidFill>
                <a:latin typeface="Times New Roman"/>
                <a:ea typeface="Times New Roman"/>
                <a:cs typeface="Times New Roman"/>
                <a:sym typeface="Times New Roman"/>
              </a:rPr>
              <a:t> Karana is the only direct participant in the action. Karta and Karma also are directly dependent on the Karana for performing the action. When the Karana Karaka executes its auxiliary actions then only the main action is executed by the Karta Karaka. This is why the Karana is considered as the efficient mean in action accomplishment.</a:t>
            </a:r>
            <a:endParaRPr sz="22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22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r>
              <a:rPr lang="en-US" sz="2200" b="1">
                <a:solidFill>
                  <a:schemeClr val="dk1"/>
                </a:solidFill>
                <a:latin typeface="Times New Roman"/>
                <a:ea typeface="Times New Roman"/>
                <a:cs typeface="Times New Roman"/>
                <a:sym typeface="Times New Roman"/>
              </a:rPr>
              <a:t>Example:</a:t>
            </a:r>
            <a:endParaRPr sz="2200" b="1">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The man cut the wood </a:t>
            </a:r>
            <a:r>
              <a:rPr lang="en-US" sz="2200" b="1">
                <a:solidFill>
                  <a:schemeClr val="dk1"/>
                </a:solidFill>
                <a:latin typeface="Times New Roman"/>
                <a:ea typeface="Times New Roman"/>
                <a:cs typeface="Times New Roman"/>
                <a:sym typeface="Times New Roman"/>
              </a:rPr>
              <a:t>with </a:t>
            </a:r>
            <a:r>
              <a:rPr lang="en-US" sz="2200">
                <a:solidFill>
                  <a:schemeClr val="dk1"/>
                </a:solidFill>
                <a:latin typeface="Times New Roman"/>
                <a:ea typeface="Times New Roman"/>
                <a:cs typeface="Times New Roman"/>
                <a:sym typeface="Times New Roman"/>
              </a:rPr>
              <a:t>an </a:t>
            </a:r>
            <a:r>
              <a:rPr lang="en-US" sz="2200">
                <a:solidFill>
                  <a:schemeClr val="dk1"/>
                </a:solidFill>
                <a:highlight>
                  <a:srgbClr val="FFFF00"/>
                </a:highlight>
                <a:latin typeface="Times New Roman"/>
                <a:ea typeface="Times New Roman"/>
                <a:cs typeface="Times New Roman"/>
                <a:sym typeface="Times New Roman"/>
              </a:rPr>
              <a:t>axe</a:t>
            </a:r>
            <a:endParaRPr sz="2200">
              <a:solidFill>
                <a:schemeClr val="dk1"/>
              </a:solidFill>
              <a:highlight>
                <a:srgbClr val="FFFF00"/>
              </a:highlight>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Ram cuts the apple </a:t>
            </a:r>
            <a:r>
              <a:rPr lang="en-US" sz="2200" b="1">
                <a:solidFill>
                  <a:schemeClr val="dk1"/>
                </a:solidFill>
                <a:latin typeface="Times New Roman"/>
                <a:ea typeface="Times New Roman"/>
                <a:cs typeface="Times New Roman"/>
                <a:sym typeface="Times New Roman"/>
              </a:rPr>
              <a:t>with </a:t>
            </a:r>
            <a:r>
              <a:rPr lang="en-US" sz="2200">
                <a:solidFill>
                  <a:schemeClr val="dk1"/>
                </a:solidFill>
                <a:highlight>
                  <a:srgbClr val="FFFF00"/>
                </a:highlight>
                <a:latin typeface="Times New Roman"/>
                <a:ea typeface="Times New Roman"/>
                <a:cs typeface="Times New Roman"/>
                <a:sym typeface="Times New Roman"/>
              </a:rPr>
              <a:t>knife</a:t>
            </a:r>
            <a:r>
              <a:rPr lang="en-US" sz="2200">
                <a:solidFill>
                  <a:schemeClr val="dk1"/>
                </a:solidFill>
                <a:latin typeface="Times New Roman"/>
                <a:ea typeface="Times New Roman"/>
                <a:cs typeface="Times New Roman"/>
                <a:sym typeface="Times New Roman"/>
              </a:rPr>
              <a:t>.</a:t>
            </a:r>
            <a:endParaRPr sz="22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22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r>
              <a:rPr lang="en-US" sz="2200">
                <a:solidFill>
                  <a:schemeClr val="dk1"/>
                </a:solidFill>
                <a:latin typeface="Times New Roman"/>
                <a:ea typeface="Times New Roman"/>
                <a:cs typeface="Times New Roman"/>
                <a:sym typeface="Times New Roman"/>
              </a:rPr>
              <a:t>karana - axe and knife</a:t>
            </a:r>
            <a:endParaRPr sz="22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17124379822_0_0"/>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911" name="Google Shape;911;g17124379822_0_0"/>
          <p:cNvSpPr txBox="1">
            <a:spLocks noGrp="1"/>
          </p:cNvSpPr>
          <p:nvPr>
            <p:ph type="body" idx="1"/>
          </p:nvPr>
        </p:nvSpPr>
        <p:spPr>
          <a:xfrm>
            <a:off x="1251678" y="1154545"/>
            <a:ext cx="10178400" cy="5098800"/>
          </a:xfrm>
          <a:prstGeom prst="rect">
            <a:avLst/>
          </a:prstGeom>
          <a:noFill/>
          <a:ln>
            <a:noFill/>
          </a:ln>
        </p:spPr>
        <p:txBody>
          <a:bodyPr spcFirstLastPara="1" wrap="square" lIns="91425" tIns="45700" rIns="91425" bIns="45700" anchor="ctr" anchorCtr="0">
            <a:noAutofit/>
          </a:bodyPr>
          <a:lstStyle/>
          <a:p>
            <a:pPr marL="0" lvl="0" indent="0" algn="just" rtl="0">
              <a:lnSpc>
                <a:spcPct val="100000"/>
              </a:lnSpc>
              <a:spcBef>
                <a:spcPts val="0"/>
              </a:spcBef>
              <a:spcAft>
                <a:spcPts val="0"/>
              </a:spcAft>
              <a:buSzPts val="1800"/>
              <a:buNone/>
            </a:pPr>
            <a:r>
              <a:rPr lang="en-US" sz="2200" b="1">
                <a:solidFill>
                  <a:schemeClr val="dk1"/>
                </a:solidFill>
                <a:highlight>
                  <a:srgbClr val="00FFFF"/>
                </a:highlight>
                <a:latin typeface="Times New Roman"/>
                <a:ea typeface="Times New Roman"/>
                <a:cs typeface="Times New Roman"/>
                <a:sym typeface="Times New Roman"/>
              </a:rPr>
              <a:t>Sampradhana Karaka:</a:t>
            </a:r>
            <a:endParaRPr sz="2200" b="1">
              <a:solidFill>
                <a:schemeClr val="dk1"/>
              </a:solidFill>
              <a:highlight>
                <a:srgbClr val="00FFFF"/>
              </a:highlight>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The word Sampradana can be interpreted as </a:t>
            </a:r>
            <a:r>
              <a:rPr lang="en-US" sz="2200">
                <a:solidFill>
                  <a:schemeClr val="dk1"/>
                </a:solidFill>
                <a:highlight>
                  <a:srgbClr val="FFFF00"/>
                </a:highlight>
                <a:latin typeface="Times New Roman"/>
                <a:ea typeface="Times New Roman"/>
                <a:cs typeface="Times New Roman"/>
                <a:sym typeface="Times New Roman"/>
              </a:rPr>
              <a:t>‘He to whom something is given properly’</a:t>
            </a:r>
            <a:r>
              <a:rPr lang="en-US" sz="2200">
                <a:solidFill>
                  <a:schemeClr val="dk1"/>
                </a:solidFill>
                <a:latin typeface="Times New Roman"/>
                <a:ea typeface="Times New Roman"/>
                <a:cs typeface="Times New Roman"/>
                <a:sym typeface="Times New Roman"/>
              </a:rPr>
              <a:t>. Sampradana Karaka receives or gets benefited from the action. It can also be said that, the person/object for which the Karma is intentional, is known as Sampradana. In this regard, the </a:t>
            </a:r>
            <a:r>
              <a:rPr lang="en-US" sz="2200">
                <a:solidFill>
                  <a:schemeClr val="dk1"/>
                </a:solidFill>
                <a:highlight>
                  <a:srgbClr val="FFFF00"/>
                </a:highlight>
                <a:latin typeface="Times New Roman"/>
                <a:ea typeface="Times New Roman"/>
                <a:cs typeface="Times New Roman"/>
                <a:sym typeface="Times New Roman"/>
              </a:rPr>
              <a:t>Sampradana is the final destination of the action</a:t>
            </a:r>
            <a:r>
              <a:rPr lang="en-US" sz="2200">
                <a:solidFill>
                  <a:schemeClr val="dk1"/>
                </a:solidFill>
                <a:latin typeface="Times New Roman"/>
                <a:ea typeface="Times New Roman"/>
                <a:cs typeface="Times New Roman"/>
                <a:sym typeface="Times New Roman"/>
              </a:rPr>
              <a:t>.</a:t>
            </a: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b="1">
                <a:solidFill>
                  <a:schemeClr val="dk1"/>
                </a:solidFill>
                <a:latin typeface="Times New Roman"/>
                <a:ea typeface="Times New Roman"/>
                <a:cs typeface="Times New Roman"/>
                <a:sym typeface="Times New Roman"/>
              </a:rPr>
              <a:t>Example: </a:t>
            </a:r>
            <a:endParaRPr sz="2200" b="1">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Dipti gave chocolates to Shambhavi</a:t>
            </a: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Shambhavi is sampradhana. </a:t>
            </a: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Ram gave me a book.</a:t>
            </a: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me is sampradhana</a:t>
            </a: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He gave flowers for Shambhavi</a:t>
            </a:r>
            <a:endParaRPr sz="22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SzPts val="1100"/>
              <a:buNone/>
            </a:pPr>
            <a:r>
              <a:rPr lang="en-US" sz="2200">
                <a:solidFill>
                  <a:schemeClr val="dk1"/>
                </a:solidFill>
                <a:latin typeface="Times New Roman"/>
                <a:ea typeface="Times New Roman"/>
                <a:cs typeface="Times New Roman"/>
                <a:sym typeface="Times New Roman"/>
              </a:rPr>
              <a:t>Shambhavi is sampradhana</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17124379822_0_39"/>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917" name="Google Shape;917;g17124379822_0_39"/>
          <p:cNvSpPr txBox="1">
            <a:spLocks noGrp="1"/>
          </p:cNvSpPr>
          <p:nvPr>
            <p:ph type="body" idx="1"/>
          </p:nvPr>
        </p:nvSpPr>
        <p:spPr>
          <a:xfrm>
            <a:off x="1251675" y="1154550"/>
            <a:ext cx="10178400" cy="5475300"/>
          </a:xfrm>
          <a:prstGeom prst="rect">
            <a:avLst/>
          </a:prstGeom>
          <a:noFill/>
          <a:ln>
            <a:noFill/>
          </a:ln>
        </p:spPr>
        <p:txBody>
          <a:bodyPr spcFirstLastPara="1" wrap="square" lIns="91425" tIns="45700" rIns="91425" bIns="45700" anchor="ctr" anchorCtr="0">
            <a:noAutofit/>
          </a:bodyPr>
          <a:lstStyle/>
          <a:p>
            <a:pPr marL="0" lvl="0" indent="0" algn="just" rtl="0">
              <a:lnSpc>
                <a:spcPct val="90600"/>
              </a:lnSpc>
              <a:spcBef>
                <a:spcPts val="0"/>
              </a:spcBef>
              <a:spcAft>
                <a:spcPts val="0"/>
              </a:spcAft>
              <a:buSzPts val="1100"/>
              <a:buNone/>
            </a:pPr>
            <a:r>
              <a:rPr lang="en-US" sz="2900" b="1" dirty="0" err="1">
                <a:solidFill>
                  <a:schemeClr val="dk1"/>
                </a:solidFill>
                <a:highlight>
                  <a:srgbClr val="00FFFF"/>
                </a:highlight>
                <a:latin typeface="Times New Roman"/>
                <a:ea typeface="Times New Roman"/>
                <a:cs typeface="Times New Roman"/>
                <a:sym typeface="Times New Roman"/>
              </a:rPr>
              <a:t>Apadana</a:t>
            </a:r>
            <a:r>
              <a:rPr lang="en-US" sz="2900" b="1" dirty="0">
                <a:solidFill>
                  <a:schemeClr val="dk1"/>
                </a:solidFill>
                <a:highlight>
                  <a:srgbClr val="00FFFF"/>
                </a:highlight>
                <a:latin typeface="Times New Roman"/>
                <a:ea typeface="Times New Roman"/>
                <a:cs typeface="Times New Roman"/>
                <a:sym typeface="Times New Roman"/>
              </a:rPr>
              <a:t> Karaka:</a:t>
            </a:r>
            <a:endParaRPr sz="2900" b="1" dirty="0">
              <a:solidFill>
                <a:schemeClr val="dk1"/>
              </a:solidFill>
              <a:highlight>
                <a:srgbClr val="00FFFF"/>
              </a:highlight>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sz="2900" dirty="0">
                <a:solidFill>
                  <a:schemeClr val="dk1"/>
                </a:solidFill>
                <a:latin typeface="Times New Roman"/>
                <a:ea typeface="Times New Roman"/>
                <a:cs typeface="Times New Roman"/>
                <a:sym typeface="Times New Roman"/>
              </a:rPr>
              <a:t>About </a:t>
            </a:r>
            <a:r>
              <a:rPr lang="en-US" sz="2900" dirty="0" err="1">
                <a:solidFill>
                  <a:schemeClr val="dk1"/>
                </a:solidFill>
                <a:latin typeface="Times New Roman"/>
                <a:ea typeface="Times New Roman"/>
                <a:cs typeface="Times New Roman"/>
                <a:sym typeface="Times New Roman"/>
              </a:rPr>
              <a:t>Apadana</a:t>
            </a:r>
            <a:r>
              <a:rPr lang="en-US" sz="2900" dirty="0">
                <a:solidFill>
                  <a:schemeClr val="dk1"/>
                </a:solidFill>
                <a:latin typeface="Times New Roman"/>
                <a:ea typeface="Times New Roman"/>
                <a:cs typeface="Times New Roman"/>
                <a:sym typeface="Times New Roman"/>
              </a:rPr>
              <a:t> Karaka Panini stated that, </a:t>
            </a:r>
            <a:r>
              <a:rPr lang="en-US" sz="2900" dirty="0">
                <a:solidFill>
                  <a:schemeClr val="dk1"/>
                </a:solidFill>
                <a:highlight>
                  <a:srgbClr val="FFFF00"/>
                </a:highlight>
                <a:latin typeface="Times New Roman"/>
                <a:ea typeface="Times New Roman"/>
                <a:cs typeface="Times New Roman"/>
                <a:sym typeface="Times New Roman"/>
              </a:rPr>
              <a:t>as when separation is affected by a verbal action, the point of separation is called </a:t>
            </a:r>
            <a:r>
              <a:rPr lang="en-US" sz="2900" dirty="0" err="1">
                <a:solidFill>
                  <a:schemeClr val="dk1"/>
                </a:solidFill>
                <a:highlight>
                  <a:srgbClr val="FFFF00"/>
                </a:highlight>
                <a:latin typeface="Times New Roman"/>
                <a:ea typeface="Times New Roman"/>
                <a:cs typeface="Times New Roman"/>
                <a:sym typeface="Times New Roman"/>
              </a:rPr>
              <a:t>Apadana</a:t>
            </a:r>
            <a:r>
              <a:rPr lang="en-US" sz="2900" dirty="0">
                <a:solidFill>
                  <a:schemeClr val="dk1"/>
                </a:solidFill>
                <a:latin typeface="Times New Roman"/>
                <a:ea typeface="Times New Roman"/>
                <a:cs typeface="Times New Roman"/>
                <a:sym typeface="Times New Roman"/>
              </a:rPr>
              <a:t>. During the execution of the action whenever the task of separation from a certain entity is executed then </a:t>
            </a:r>
            <a:r>
              <a:rPr lang="en-US" sz="2900" b="1" dirty="0">
                <a:solidFill>
                  <a:schemeClr val="dk1"/>
                </a:solidFill>
                <a:latin typeface="Times New Roman"/>
                <a:ea typeface="Times New Roman"/>
                <a:cs typeface="Times New Roman"/>
                <a:sym typeface="Times New Roman"/>
              </a:rPr>
              <a:t>whatever remains unmoved or constant is known as </a:t>
            </a:r>
            <a:r>
              <a:rPr lang="en-US" sz="2900" b="1" dirty="0" err="1">
                <a:solidFill>
                  <a:schemeClr val="dk1"/>
                </a:solidFill>
                <a:latin typeface="Times New Roman"/>
                <a:ea typeface="Times New Roman"/>
                <a:cs typeface="Times New Roman"/>
                <a:sym typeface="Times New Roman"/>
              </a:rPr>
              <a:t>Apadana</a:t>
            </a:r>
            <a:r>
              <a:rPr lang="en-US" sz="2900" b="1" dirty="0">
                <a:solidFill>
                  <a:schemeClr val="dk1"/>
                </a:solidFill>
                <a:latin typeface="Times New Roman"/>
                <a:ea typeface="Times New Roman"/>
                <a:cs typeface="Times New Roman"/>
                <a:sym typeface="Times New Roman"/>
              </a:rPr>
              <a:t>.</a:t>
            </a:r>
            <a:r>
              <a:rPr lang="en-US" sz="2900" dirty="0">
                <a:solidFill>
                  <a:schemeClr val="dk1"/>
                </a:solidFill>
                <a:latin typeface="Times New Roman"/>
                <a:ea typeface="Times New Roman"/>
                <a:cs typeface="Times New Roman"/>
                <a:sym typeface="Times New Roman"/>
              </a:rPr>
              <a:t> Thus, an </a:t>
            </a:r>
            <a:r>
              <a:rPr lang="en-US" sz="2900" dirty="0" err="1">
                <a:solidFill>
                  <a:schemeClr val="dk1"/>
                </a:solidFill>
                <a:latin typeface="Times New Roman"/>
                <a:ea typeface="Times New Roman"/>
                <a:cs typeface="Times New Roman"/>
                <a:sym typeface="Times New Roman"/>
              </a:rPr>
              <a:t>Apadana</a:t>
            </a:r>
            <a:r>
              <a:rPr lang="en-US" sz="2900" dirty="0">
                <a:solidFill>
                  <a:schemeClr val="dk1"/>
                </a:solidFill>
                <a:latin typeface="Times New Roman"/>
                <a:ea typeface="Times New Roman"/>
                <a:cs typeface="Times New Roman"/>
                <a:sym typeface="Times New Roman"/>
              </a:rPr>
              <a:t> denotes the starting point of an action of separation. The entity from which something gets separated or is separated out is known as </a:t>
            </a:r>
            <a:r>
              <a:rPr lang="en-US" sz="2900" dirty="0" err="1">
                <a:solidFill>
                  <a:schemeClr val="dk1"/>
                </a:solidFill>
                <a:latin typeface="Times New Roman"/>
                <a:ea typeface="Times New Roman"/>
                <a:cs typeface="Times New Roman"/>
                <a:sym typeface="Times New Roman"/>
              </a:rPr>
              <a:t>Apadana</a:t>
            </a:r>
            <a:r>
              <a:rPr lang="en-US" sz="2900" dirty="0">
                <a:solidFill>
                  <a:schemeClr val="dk1"/>
                </a:solidFill>
                <a:latin typeface="Times New Roman"/>
                <a:ea typeface="Times New Roman"/>
                <a:cs typeface="Times New Roman"/>
                <a:sym typeface="Times New Roman"/>
              </a:rPr>
              <a:t>.</a:t>
            </a:r>
            <a:endParaRPr sz="2900" dirty="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sz="2900" dirty="0">
                <a:solidFill>
                  <a:schemeClr val="dk1"/>
                </a:solidFill>
                <a:latin typeface="Times New Roman"/>
                <a:ea typeface="Times New Roman"/>
                <a:cs typeface="Times New Roman"/>
                <a:sym typeface="Times New Roman"/>
              </a:rPr>
              <a:t>Example:</a:t>
            </a:r>
            <a:endParaRPr sz="2900" dirty="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sz="2900" dirty="0" err="1">
                <a:solidFill>
                  <a:schemeClr val="dk1"/>
                </a:solidFill>
                <a:latin typeface="Times New Roman"/>
                <a:ea typeface="Times New Roman"/>
                <a:cs typeface="Times New Roman"/>
                <a:sym typeface="Times New Roman"/>
              </a:rPr>
              <a:t>Shambhavi</a:t>
            </a:r>
            <a:r>
              <a:rPr lang="en-US" sz="2900" dirty="0">
                <a:solidFill>
                  <a:schemeClr val="dk1"/>
                </a:solidFill>
                <a:latin typeface="Times New Roman"/>
                <a:ea typeface="Times New Roman"/>
                <a:cs typeface="Times New Roman"/>
                <a:sym typeface="Times New Roman"/>
              </a:rPr>
              <a:t> tore the page from the book with a scissor.</a:t>
            </a:r>
            <a:endParaRPr sz="2900" dirty="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sz="2900" dirty="0">
                <a:solidFill>
                  <a:schemeClr val="dk1"/>
                </a:solidFill>
                <a:latin typeface="Times New Roman"/>
                <a:ea typeface="Times New Roman"/>
                <a:cs typeface="Times New Roman"/>
                <a:sym typeface="Times New Roman"/>
              </a:rPr>
              <a:t>From the book is </a:t>
            </a:r>
            <a:r>
              <a:rPr lang="en-US" sz="2900" dirty="0" err="1">
                <a:solidFill>
                  <a:schemeClr val="dk1"/>
                </a:solidFill>
                <a:latin typeface="Times New Roman"/>
                <a:ea typeface="Times New Roman"/>
                <a:cs typeface="Times New Roman"/>
                <a:sym typeface="Times New Roman"/>
              </a:rPr>
              <a:t>apadana</a:t>
            </a:r>
            <a:endParaRPr sz="29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17124379822_0_12"/>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923" name="Google Shape;923;g17124379822_0_12"/>
          <p:cNvSpPr txBox="1">
            <a:spLocks noGrp="1"/>
          </p:cNvSpPr>
          <p:nvPr>
            <p:ph type="body" idx="1"/>
          </p:nvPr>
        </p:nvSpPr>
        <p:spPr>
          <a:xfrm>
            <a:off x="1251678" y="1154545"/>
            <a:ext cx="10178400" cy="5098800"/>
          </a:xfrm>
          <a:prstGeom prst="rect">
            <a:avLst/>
          </a:prstGeom>
          <a:noFill/>
          <a:ln>
            <a:noFill/>
          </a:ln>
        </p:spPr>
        <p:txBody>
          <a:bodyPr spcFirstLastPara="1" wrap="square" lIns="91425" tIns="45700" rIns="91425" bIns="45700" anchor="ctr" anchorCtr="0">
            <a:noAutofit/>
          </a:bodyPr>
          <a:lstStyle/>
          <a:p>
            <a:pPr marL="0" lvl="0" indent="0" algn="just" rtl="0">
              <a:lnSpc>
                <a:spcPct val="90600"/>
              </a:lnSpc>
              <a:spcBef>
                <a:spcPts val="0"/>
              </a:spcBef>
              <a:spcAft>
                <a:spcPts val="0"/>
              </a:spcAft>
              <a:buClr>
                <a:schemeClr val="dk1"/>
              </a:buClr>
              <a:buSzPts val="1100"/>
              <a:buFont typeface="Arial"/>
              <a:buNone/>
            </a:pPr>
            <a:r>
              <a:rPr lang="en-US" b="1">
                <a:solidFill>
                  <a:schemeClr val="dk1"/>
                </a:solidFill>
                <a:highlight>
                  <a:srgbClr val="00FFFF"/>
                </a:highlight>
                <a:latin typeface="Times New Roman"/>
                <a:ea typeface="Times New Roman"/>
                <a:cs typeface="Times New Roman"/>
                <a:sym typeface="Times New Roman"/>
              </a:rPr>
              <a:t>Adhikarana Karaka:  </a:t>
            </a:r>
            <a:endParaRPr b="1">
              <a:solidFill>
                <a:schemeClr val="dk1"/>
              </a:solidFill>
              <a:highlight>
                <a:srgbClr val="00FFFF"/>
              </a:highlight>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‘Adhikarana’ is the place or thing, which is the location of the action existing in the agent or the object. Adhikarana is assigned to the locus of the action i.e. Kriya. Adhikarana may indicate the place at which the Kriya (the action) is taking place or the time at which the Kriya is carried out. Any action i.e. the Kriya is either bounded by space (place) or by time.</a:t>
            </a:r>
            <a:endParaRPr>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b="1">
                <a:solidFill>
                  <a:schemeClr val="dk1"/>
                </a:solidFill>
                <a:latin typeface="Times New Roman"/>
                <a:ea typeface="Times New Roman"/>
                <a:cs typeface="Times New Roman"/>
                <a:sym typeface="Times New Roman"/>
              </a:rPr>
              <a:t>Example1:</a:t>
            </a:r>
            <a:endParaRPr b="1">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r>
              <a:rPr lang="en-US" b="1">
                <a:solidFill>
                  <a:schemeClr val="dk1"/>
                </a:solidFill>
                <a:latin typeface="Times New Roman"/>
                <a:ea typeface="Times New Roman"/>
                <a:cs typeface="Times New Roman"/>
                <a:sym typeface="Times New Roman"/>
              </a:rPr>
              <a:t>‘Yesterday Shambhavi hit the dog with the stick in front of the shop.’</a:t>
            </a: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The Karaka annotation of the above sentence can be given as:</a:t>
            </a:r>
            <a:endParaRPr>
              <a:solidFill>
                <a:schemeClr val="dk1"/>
              </a:solidFill>
              <a:latin typeface="Times New Roman"/>
              <a:ea typeface="Times New Roman"/>
              <a:cs typeface="Times New Roman"/>
              <a:sym typeface="Times New Roman"/>
            </a:endParaRPr>
          </a:p>
          <a:p>
            <a:pPr marL="1371600" lvl="0" indent="0" algn="l"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hit                     : verb  (root)</a:t>
            </a:r>
            <a:endParaRPr>
              <a:solidFill>
                <a:schemeClr val="dk1"/>
              </a:solidFill>
              <a:latin typeface="Times New Roman"/>
              <a:ea typeface="Times New Roman"/>
              <a:cs typeface="Times New Roman"/>
              <a:sym typeface="Times New Roman"/>
            </a:endParaRPr>
          </a:p>
          <a:p>
            <a:pPr marL="1371600" lvl="0" indent="0" algn="l"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Yesterday         : Kala-Adhikarana (time)</a:t>
            </a:r>
            <a:endParaRPr>
              <a:solidFill>
                <a:schemeClr val="dk1"/>
              </a:solidFill>
              <a:latin typeface="Times New Roman"/>
              <a:ea typeface="Times New Roman"/>
              <a:cs typeface="Times New Roman"/>
              <a:sym typeface="Times New Roman"/>
            </a:endParaRPr>
          </a:p>
          <a:p>
            <a:pPr marL="1371600" lvl="0" indent="0" algn="l"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Shambhavi       : Agent i.e. Karta</a:t>
            </a:r>
            <a:endParaRPr>
              <a:solidFill>
                <a:schemeClr val="dk1"/>
              </a:solidFill>
              <a:latin typeface="Times New Roman"/>
              <a:ea typeface="Times New Roman"/>
              <a:cs typeface="Times New Roman"/>
              <a:sym typeface="Times New Roman"/>
            </a:endParaRPr>
          </a:p>
          <a:p>
            <a:pPr marL="1371600" lvl="0" indent="0" algn="l"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Dog                  : Karma</a:t>
            </a:r>
            <a:endParaRPr>
              <a:solidFill>
                <a:schemeClr val="dk1"/>
              </a:solidFill>
              <a:latin typeface="Times New Roman"/>
              <a:ea typeface="Times New Roman"/>
              <a:cs typeface="Times New Roman"/>
              <a:sym typeface="Times New Roman"/>
            </a:endParaRPr>
          </a:p>
          <a:p>
            <a:pPr marL="1371600" lvl="0" indent="0" algn="l"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Stick                 : Karana</a:t>
            </a:r>
            <a:endParaRPr>
              <a:solidFill>
                <a:schemeClr val="dk1"/>
              </a:solidFill>
              <a:latin typeface="Times New Roman"/>
              <a:ea typeface="Times New Roman"/>
              <a:cs typeface="Times New Roman"/>
              <a:sym typeface="Times New Roman"/>
            </a:endParaRPr>
          </a:p>
          <a:p>
            <a:pPr marL="1371600" lvl="0" indent="0" algn="l" rtl="0">
              <a:lnSpc>
                <a:spcPct val="906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Shop                 : Desh-Adhikarana (location i.e. Place)</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17124379822_0_18"/>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929" name="Google Shape;929;g17124379822_0_18"/>
          <p:cNvSpPr txBox="1">
            <a:spLocks noGrp="1"/>
          </p:cNvSpPr>
          <p:nvPr>
            <p:ph type="body" idx="1"/>
          </p:nvPr>
        </p:nvSpPr>
        <p:spPr>
          <a:xfrm>
            <a:off x="1251678" y="1154545"/>
            <a:ext cx="10178400" cy="5098800"/>
          </a:xfrm>
          <a:prstGeom prst="rect">
            <a:avLst/>
          </a:prstGeom>
          <a:noFill/>
          <a:ln>
            <a:noFill/>
          </a:ln>
        </p:spPr>
        <p:txBody>
          <a:bodyPr spcFirstLastPara="1" wrap="square" lIns="91425" tIns="45700" rIns="91425" bIns="45700" anchor="t" anchorCtr="0">
            <a:noAutofit/>
          </a:bodyPr>
          <a:lstStyle/>
          <a:p>
            <a:pPr marL="0" lvl="0" indent="0" algn="just" rtl="0">
              <a:lnSpc>
                <a:spcPct val="906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Example 2:</a:t>
            </a:r>
            <a:endParaRPr sz="1800">
              <a:solidFill>
                <a:schemeClr val="dk1"/>
              </a:solidFill>
              <a:latin typeface="Times New Roman"/>
              <a:ea typeface="Times New Roman"/>
              <a:cs typeface="Times New Roman"/>
              <a:sym typeface="Times New Roman"/>
            </a:endParaRPr>
          </a:p>
          <a:p>
            <a:pPr marL="0" lvl="0" indent="0" algn="just" rtl="0">
              <a:lnSpc>
                <a:spcPct val="90600"/>
              </a:lnSpc>
              <a:spcBef>
                <a:spcPts val="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‘The child eats the fruits with the hands’. </a:t>
            </a:r>
            <a:endParaRPr sz="18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7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p:txBody>
      </p:sp>
      <p:pic>
        <p:nvPicPr>
          <p:cNvPr id="930" name="Google Shape;930;g17124379822_0_18"/>
          <p:cNvPicPr preferRelativeResize="0"/>
          <p:nvPr/>
        </p:nvPicPr>
        <p:blipFill rotWithShape="1">
          <a:blip r:embed="rId3">
            <a:alphaModFix/>
          </a:blip>
          <a:srcRect/>
          <a:stretch/>
        </p:blipFill>
        <p:spPr>
          <a:xfrm>
            <a:off x="1391400" y="2031738"/>
            <a:ext cx="5715000" cy="225742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17124379822_0_26"/>
          <p:cNvSpPr txBox="1">
            <a:spLocks noGrp="1"/>
          </p:cNvSpPr>
          <p:nvPr>
            <p:ph type="title"/>
          </p:nvPr>
        </p:nvSpPr>
        <p:spPr>
          <a:xfrm>
            <a:off x="1251678" y="382385"/>
            <a:ext cx="10178400" cy="7722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936" name="Google Shape;936;g17124379822_0_26"/>
          <p:cNvSpPr txBox="1">
            <a:spLocks noGrp="1"/>
          </p:cNvSpPr>
          <p:nvPr>
            <p:ph type="body" idx="1"/>
          </p:nvPr>
        </p:nvSpPr>
        <p:spPr>
          <a:xfrm>
            <a:off x="1006803" y="1263895"/>
            <a:ext cx="10178400" cy="5098800"/>
          </a:xfrm>
          <a:prstGeom prst="rect">
            <a:avLst/>
          </a:prstGeom>
          <a:noFill/>
          <a:ln>
            <a:noFill/>
          </a:ln>
        </p:spPr>
        <p:txBody>
          <a:bodyPr spcFirstLastPara="1" wrap="square" lIns="91425" tIns="45700" rIns="91425" bIns="45700" anchor="t" anchorCtr="0">
            <a:noAutofit/>
          </a:bodyPr>
          <a:lstStyle/>
          <a:p>
            <a:pPr marL="0" lvl="0" indent="0" algn="just" rtl="0">
              <a:lnSpc>
                <a:spcPct val="90600"/>
              </a:lnSpc>
              <a:spcBef>
                <a:spcPts val="0"/>
              </a:spcBef>
              <a:spcAft>
                <a:spcPts val="0"/>
              </a:spcAft>
              <a:buClr>
                <a:schemeClr val="dk1"/>
              </a:buClr>
              <a:buSzPts val="1100"/>
              <a:buFont typeface="Arial"/>
              <a:buNone/>
            </a:pPr>
            <a:r>
              <a:rPr lang="en-US" sz="2300">
                <a:solidFill>
                  <a:schemeClr val="dk1"/>
                </a:solidFill>
                <a:latin typeface="Times New Roman"/>
                <a:ea typeface="Times New Roman"/>
                <a:cs typeface="Times New Roman"/>
                <a:sym typeface="Times New Roman"/>
              </a:rPr>
              <a:t>Example 3:</a:t>
            </a: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300" b="1">
                <a:solidFill>
                  <a:srgbClr val="FF0000"/>
                </a:solidFill>
                <a:latin typeface="Times New Roman"/>
                <a:ea typeface="Times New Roman"/>
                <a:cs typeface="Times New Roman"/>
                <a:sym typeface="Times New Roman"/>
              </a:rPr>
              <a:t>Identify different karaka’s in the following Hindi sentence - “Maan bachchi ko angan mein haath se roti khilaathi hei”</a:t>
            </a:r>
            <a:endParaRPr sz="2300" b="1">
              <a:solidFill>
                <a:srgbClr val="FF0000"/>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endParaRPr sz="23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300" b="1">
                <a:solidFill>
                  <a:schemeClr val="dk1"/>
                </a:solidFill>
                <a:latin typeface="Times New Roman"/>
                <a:ea typeface="Times New Roman"/>
                <a:cs typeface="Times New Roman"/>
                <a:sym typeface="Times New Roman"/>
              </a:rPr>
              <a:t>Karaka role:</a:t>
            </a:r>
            <a:endParaRPr sz="2300" b="1">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khilaathi hei  - Verb (root)</a:t>
            </a:r>
            <a:endParaRPr sz="24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Maan             - Karta </a:t>
            </a:r>
            <a:endParaRPr sz="24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roti                - Karma</a:t>
            </a:r>
            <a:endParaRPr sz="24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haath             - Karana</a:t>
            </a:r>
            <a:endParaRPr sz="24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bachchi         - Sampradhana </a:t>
            </a:r>
            <a:endParaRPr sz="2400">
              <a:solidFill>
                <a:schemeClr val="dk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400">
                <a:solidFill>
                  <a:schemeClr val="dk1"/>
                </a:solidFill>
                <a:latin typeface="Times New Roman"/>
                <a:ea typeface="Times New Roman"/>
                <a:cs typeface="Times New Roman"/>
                <a:sym typeface="Times New Roman"/>
              </a:rPr>
              <a:t>angan mein   - Adhikaran</a:t>
            </a:r>
            <a:endParaRPr sz="24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sz="2400">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lvl="0" indent="0" algn="l" rtl="0">
              <a:lnSpc>
                <a:spcPct val="906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62"/>
          <p:cNvSpPr txBox="1">
            <a:spLocks noGrp="1"/>
          </p:cNvSpPr>
          <p:nvPr>
            <p:ph type="title"/>
          </p:nvPr>
        </p:nvSpPr>
        <p:spPr>
          <a:xfrm>
            <a:off x="1251678" y="382385"/>
            <a:ext cx="10178322" cy="596023"/>
          </a:xfrm>
          <a:prstGeom prst="rect">
            <a:avLst/>
          </a:prstGeom>
          <a:noFill/>
          <a:ln>
            <a:noFill/>
          </a:ln>
        </p:spPr>
        <p:txBody>
          <a:bodyPr spcFirstLastPara="1" wrap="square" lIns="91425" tIns="45700" rIns="91425" bIns="45700" anchor="t" anchorCtr="0">
            <a:normAutofit fontScale="90000"/>
          </a:bodyPr>
          <a:lstStyle/>
          <a:p>
            <a:pPr marL="0" lvl="0" indent="0" algn="l" rtl="0">
              <a:lnSpc>
                <a:spcPct val="90000"/>
              </a:lnSpc>
              <a:spcBef>
                <a:spcPts val="0"/>
              </a:spcBef>
              <a:spcAft>
                <a:spcPts val="0"/>
              </a:spcAft>
              <a:buClr>
                <a:srgbClr val="262626"/>
              </a:buClr>
              <a:buSzPct val="100000"/>
              <a:buFont typeface="Impact"/>
              <a:buNone/>
            </a:pPr>
            <a:r>
              <a:rPr lang="en-US"/>
              <a:t>PANINIAN FRAMEWORK</a:t>
            </a:r>
            <a:endParaRPr/>
          </a:p>
        </p:txBody>
      </p:sp>
      <p:sp>
        <p:nvSpPr>
          <p:cNvPr id="942" name="Google Shape;942;p62"/>
          <p:cNvSpPr txBox="1"/>
          <p:nvPr/>
        </p:nvSpPr>
        <p:spPr>
          <a:xfrm>
            <a:off x="1122525" y="1140075"/>
            <a:ext cx="10050300" cy="5566200"/>
          </a:xfrm>
          <a:prstGeom prst="rect">
            <a:avLst/>
          </a:prstGeom>
          <a:noFill/>
          <a:ln>
            <a:noFill/>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Clr>
                <a:srgbClr val="000000"/>
              </a:buClr>
              <a:buSzPts val="1800"/>
              <a:buFont typeface="Arial"/>
              <a:buNone/>
            </a:pPr>
            <a:r>
              <a:rPr lang="en-US" sz="2300" b="1" i="0" u="none" strike="noStrike" cap="none">
                <a:solidFill>
                  <a:schemeClr val="dk1"/>
                </a:solidFill>
                <a:latin typeface="Times New Roman"/>
                <a:ea typeface="Times New Roman"/>
                <a:cs typeface="Times New Roman"/>
                <a:sym typeface="Times New Roman"/>
              </a:rPr>
              <a:t>Issues in Paninian grammar:</a:t>
            </a:r>
            <a:endParaRPr sz="2100" b="1" i="0" u="none" strike="noStrike" cap="none">
              <a:solidFill>
                <a:schemeClr val="dk1"/>
              </a:solidFill>
              <a:latin typeface="Times New Roman"/>
              <a:ea typeface="Times New Roman"/>
              <a:cs typeface="Times New Roman"/>
              <a:sym typeface="Times New Roman"/>
            </a:endParaRPr>
          </a:p>
          <a:p>
            <a:pPr marL="457200" marR="0" lvl="0" indent="-374650" algn="just" rtl="0">
              <a:lnSpc>
                <a:spcPct val="115000"/>
              </a:lnSpc>
              <a:spcBef>
                <a:spcPts val="1000"/>
              </a:spcBef>
              <a:spcAft>
                <a:spcPts val="0"/>
              </a:spcAft>
              <a:buClr>
                <a:schemeClr val="dk1"/>
              </a:buClr>
              <a:buSzPts val="2300"/>
              <a:buFont typeface="Times New Roman"/>
              <a:buAutoNum type="arabicPeriod"/>
            </a:pPr>
            <a:r>
              <a:rPr lang="en-US" sz="2300" b="1" i="0" u="none" strike="noStrike" cap="none">
                <a:solidFill>
                  <a:schemeClr val="dk1"/>
                </a:solidFill>
                <a:latin typeface="Times New Roman"/>
                <a:ea typeface="Times New Roman"/>
                <a:cs typeface="Times New Roman"/>
                <a:sym typeface="Times New Roman"/>
              </a:rPr>
              <a:t>Computational implementation of PG</a:t>
            </a:r>
            <a:endParaRPr sz="2300" b="1" i="0" u="none" strike="noStrike" cap="none">
              <a:solidFill>
                <a:schemeClr val="dk1"/>
              </a:solidFill>
              <a:latin typeface="Times New Roman"/>
              <a:ea typeface="Times New Roman"/>
              <a:cs typeface="Times New Roman"/>
              <a:sym typeface="Times New Roman"/>
            </a:endParaRPr>
          </a:p>
          <a:p>
            <a:pPr marL="457200" marR="0" lvl="0" indent="0" algn="just" rtl="0">
              <a:lnSpc>
                <a:spcPct val="115000"/>
              </a:lnSpc>
              <a:spcBef>
                <a:spcPts val="1000"/>
              </a:spcBef>
              <a:spcAft>
                <a:spcPts val="0"/>
              </a:spcAft>
              <a:buClr>
                <a:srgbClr val="000000"/>
              </a:buClr>
              <a:buSzPts val="2300"/>
              <a:buFont typeface="Arial"/>
              <a:buNone/>
            </a:pPr>
            <a:r>
              <a:rPr lang="en-US" sz="2300" b="0" i="0" u="none" strike="noStrike" cap="none">
                <a:solidFill>
                  <a:schemeClr val="dk1"/>
                </a:solidFill>
                <a:latin typeface="Times New Roman"/>
                <a:ea typeface="Times New Roman"/>
                <a:cs typeface="Times New Roman"/>
                <a:sym typeface="Times New Roman"/>
              </a:rPr>
              <a:t>Computation implementation of PG is a multilayered implementation. The rules are arranged in multiple layers such that each layer consists of rules which are in exception to rules in the higher layer. </a:t>
            </a:r>
            <a:endParaRPr sz="2300" b="0" i="0" u="none" strike="noStrike" cap="none">
              <a:solidFill>
                <a:schemeClr val="dk1"/>
              </a:solidFill>
              <a:latin typeface="Times New Roman"/>
              <a:ea typeface="Times New Roman"/>
              <a:cs typeface="Times New Roman"/>
              <a:sym typeface="Times New Roman"/>
            </a:endParaRPr>
          </a:p>
          <a:p>
            <a:pPr marL="457200" marR="0" lvl="0" indent="-374650" algn="just" rtl="0">
              <a:lnSpc>
                <a:spcPct val="115000"/>
              </a:lnSpc>
              <a:spcBef>
                <a:spcPts val="1000"/>
              </a:spcBef>
              <a:spcAft>
                <a:spcPts val="0"/>
              </a:spcAft>
              <a:buClr>
                <a:schemeClr val="dk1"/>
              </a:buClr>
              <a:buSzPts val="2300"/>
              <a:buFont typeface="Times New Roman"/>
              <a:buAutoNum type="arabicPeriod"/>
            </a:pPr>
            <a:r>
              <a:rPr lang="en-US" sz="2300" b="1" i="0" u="none" strike="noStrike" cap="none">
                <a:solidFill>
                  <a:schemeClr val="dk1"/>
                </a:solidFill>
                <a:latin typeface="Times New Roman"/>
                <a:ea typeface="Times New Roman"/>
                <a:cs typeface="Times New Roman"/>
                <a:sym typeface="Times New Roman"/>
              </a:rPr>
              <a:t>Adaptation of PG to Indian and other similar languages.</a:t>
            </a:r>
            <a:endParaRPr sz="2300" b="1" i="0" u="none" strike="noStrike" cap="none">
              <a:solidFill>
                <a:schemeClr val="dk1"/>
              </a:solidFill>
              <a:latin typeface="Times New Roman"/>
              <a:ea typeface="Times New Roman"/>
              <a:cs typeface="Times New Roman"/>
              <a:sym typeface="Times New Roman"/>
            </a:endParaRPr>
          </a:p>
          <a:p>
            <a:pPr marL="457200" marR="0" lvl="0" indent="0" algn="just" rtl="0">
              <a:lnSpc>
                <a:spcPct val="115000"/>
              </a:lnSpc>
              <a:spcBef>
                <a:spcPts val="1000"/>
              </a:spcBef>
              <a:spcAft>
                <a:spcPts val="0"/>
              </a:spcAft>
              <a:buClr>
                <a:srgbClr val="000000"/>
              </a:buClr>
              <a:buSzPts val="2300"/>
              <a:buFont typeface="Arial"/>
              <a:buNone/>
            </a:pPr>
            <a:r>
              <a:rPr lang="en-US" sz="2300" b="0" i="0" u="none" strike="noStrike" cap="none">
                <a:solidFill>
                  <a:schemeClr val="dk1"/>
                </a:solidFill>
                <a:latin typeface="Times New Roman"/>
                <a:ea typeface="Times New Roman"/>
                <a:cs typeface="Times New Roman"/>
                <a:sym typeface="Times New Roman"/>
              </a:rPr>
              <a:t>As the system of rules is different in different languages, the framework requires adaptations to tackle various applications in various languages.</a:t>
            </a:r>
            <a:endParaRPr sz="2300" b="0" i="0" u="none" strike="noStrike" cap="none">
              <a:solidFill>
                <a:schemeClr val="dk1"/>
              </a:solidFill>
              <a:latin typeface="Times New Roman"/>
              <a:ea typeface="Times New Roman"/>
              <a:cs typeface="Times New Roman"/>
              <a:sym typeface="Times New Roman"/>
            </a:endParaRPr>
          </a:p>
          <a:p>
            <a:pPr marL="457200" marR="0" lvl="0" indent="-374650" algn="just" rtl="0">
              <a:lnSpc>
                <a:spcPct val="115000"/>
              </a:lnSpc>
              <a:spcBef>
                <a:spcPts val="1000"/>
              </a:spcBef>
              <a:spcAft>
                <a:spcPts val="0"/>
              </a:spcAft>
              <a:buClr>
                <a:schemeClr val="dk1"/>
              </a:buClr>
              <a:buSzPts val="2300"/>
              <a:buFont typeface="Times New Roman"/>
              <a:buAutoNum type="arabicPeriod"/>
            </a:pPr>
            <a:r>
              <a:rPr lang="en-US" sz="2300" b="0" i="0" u="none" strike="noStrike" cap="none">
                <a:solidFill>
                  <a:schemeClr val="dk1"/>
                </a:solidFill>
                <a:latin typeface="Times New Roman"/>
                <a:ea typeface="Times New Roman"/>
                <a:cs typeface="Times New Roman"/>
                <a:sym typeface="Times New Roman"/>
              </a:rPr>
              <a:t>Difficulty arises when mapping between the vibhakti (case markers and post-positions) and the semantic relation (with respect to verb). Two different vibhakti can represent the same relation, or the same vibhakti can represent different relations in different contexts.</a:t>
            </a:r>
            <a:endParaRPr sz="23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63"/>
          <p:cNvSpPr txBox="1">
            <a:spLocks noGrp="1"/>
          </p:cNvSpPr>
          <p:nvPr>
            <p:ph type="title"/>
          </p:nvPr>
        </p:nvSpPr>
        <p:spPr>
          <a:xfrm>
            <a:off x="1251678" y="382385"/>
            <a:ext cx="10178322" cy="149213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a:t>Statistical Language Model</a:t>
            </a:r>
            <a:endParaRPr/>
          </a:p>
        </p:txBody>
      </p:sp>
      <p:sp>
        <p:nvSpPr>
          <p:cNvPr id="948" name="Google Shape;948;p63"/>
          <p:cNvSpPr txBox="1">
            <a:spLocks noGrp="1"/>
          </p:cNvSpPr>
          <p:nvPr>
            <p:ph type="body" idx="1"/>
          </p:nvPr>
        </p:nvSpPr>
        <p:spPr>
          <a:xfrm>
            <a:off x="1335650" y="1334275"/>
            <a:ext cx="10178400" cy="5028300"/>
          </a:xfrm>
          <a:prstGeom prst="rect">
            <a:avLst/>
          </a:prstGeom>
          <a:noFill/>
          <a:ln>
            <a:noFill/>
          </a:ln>
        </p:spPr>
        <p:txBody>
          <a:bodyPr spcFirstLastPara="1" wrap="square" lIns="91425" tIns="45700" rIns="91425" bIns="45700" anchor="t" anchorCtr="0">
            <a:normAutofit/>
          </a:bodyPr>
          <a:lstStyle/>
          <a:p>
            <a:pPr marL="457200" lvl="0" indent="-438150" algn="l" rtl="0">
              <a:lnSpc>
                <a:spcPct val="115000"/>
              </a:lnSpc>
              <a:spcBef>
                <a:spcPts val="0"/>
              </a:spcBef>
              <a:spcAft>
                <a:spcPts val="0"/>
              </a:spcAft>
              <a:buClr>
                <a:schemeClr val="dk1"/>
              </a:buClr>
              <a:buSzPts val="3300"/>
              <a:buFont typeface="Times New Roman"/>
              <a:buChar char="•"/>
            </a:pPr>
            <a:r>
              <a:rPr lang="en-US" sz="3300" dirty="0">
                <a:solidFill>
                  <a:schemeClr val="dk1"/>
                </a:solidFill>
                <a:latin typeface="Times New Roman"/>
                <a:ea typeface="Times New Roman"/>
                <a:cs typeface="Times New Roman"/>
                <a:sym typeface="Times New Roman"/>
              </a:rPr>
              <a:t>Statistical Language Modelling is the development of probabilistic models that can predict the next word in the sequence of words given the words that precedes it.</a:t>
            </a:r>
            <a:endParaRPr sz="33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SzPts val="1800"/>
              <a:buNone/>
            </a:pPr>
            <a:endParaRPr sz="3300" dirty="0">
              <a:solidFill>
                <a:schemeClr val="dk1"/>
              </a:solidFill>
              <a:latin typeface="Times New Roman"/>
              <a:ea typeface="Times New Roman"/>
              <a:cs typeface="Times New Roman"/>
              <a:sym typeface="Times New Roman"/>
            </a:endParaRPr>
          </a:p>
          <a:p>
            <a:pPr marL="457200" lvl="0" indent="-438150" algn="l" rtl="0">
              <a:lnSpc>
                <a:spcPct val="100000"/>
              </a:lnSpc>
              <a:spcBef>
                <a:spcPts val="360"/>
              </a:spcBef>
              <a:spcAft>
                <a:spcPts val="0"/>
              </a:spcAft>
              <a:buClr>
                <a:schemeClr val="dk1"/>
              </a:buClr>
              <a:buSzPts val="3300"/>
              <a:buFont typeface="Times New Roman"/>
              <a:buChar char="•"/>
            </a:pPr>
            <a:r>
              <a:rPr lang="en-US" sz="3300" dirty="0">
                <a:solidFill>
                  <a:schemeClr val="dk1"/>
                </a:solidFill>
                <a:latin typeface="Times New Roman"/>
                <a:ea typeface="Times New Roman"/>
                <a:cs typeface="Times New Roman"/>
                <a:sym typeface="Times New Roman"/>
              </a:rPr>
              <a:t>A number of statistical language models have been proposed in literature. The dominant approach in modelling is the</a:t>
            </a:r>
            <a:r>
              <a:rPr lang="en-US" sz="3300" dirty="0">
                <a:solidFill>
                  <a:schemeClr val="dk1"/>
                </a:solidFill>
                <a:highlight>
                  <a:srgbClr val="FFFF00"/>
                </a:highlight>
                <a:latin typeface="Times New Roman"/>
                <a:ea typeface="Times New Roman"/>
                <a:cs typeface="Times New Roman"/>
                <a:sym typeface="Times New Roman"/>
              </a:rPr>
              <a:t> n-gram model.</a:t>
            </a:r>
            <a:endParaRPr sz="3300" dirty="0">
              <a:solidFill>
                <a:schemeClr val="dk1"/>
              </a:solidFill>
              <a:highlight>
                <a:srgbClr val="FFFF00"/>
              </a:highlight>
              <a:latin typeface="Times New Roman"/>
              <a:ea typeface="Times New Roman"/>
              <a:cs typeface="Times New Roman"/>
              <a:sym typeface="Times New Roman"/>
            </a:endParaRPr>
          </a:p>
          <a:p>
            <a:pPr marL="0" lvl="0" indent="0" algn="l" rtl="0">
              <a:lnSpc>
                <a:spcPct val="110000"/>
              </a:lnSpc>
              <a:spcBef>
                <a:spcPts val="700"/>
              </a:spcBef>
              <a:spcAft>
                <a:spcPts val="0"/>
              </a:spcAft>
              <a:buSzPts val="2000"/>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33789ed7c53_0_18"/>
          <p:cNvSpPr txBox="1">
            <a:spLocks noGrp="1"/>
          </p:cNvSpPr>
          <p:nvPr>
            <p:ph type="body" idx="1"/>
          </p:nvPr>
        </p:nvSpPr>
        <p:spPr>
          <a:xfrm>
            <a:off x="874875" y="0"/>
            <a:ext cx="10855800" cy="6774900"/>
          </a:xfrm>
          <a:prstGeom prst="rect">
            <a:avLst/>
          </a:prstGeom>
        </p:spPr>
        <p:txBody>
          <a:bodyPr spcFirstLastPara="1" wrap="square" lIns="91425" tIns="45700" rIns="91425" bIns="45700" anchor="t" anchorCtr="0">
            <a:normAutofit/>
          </a:bodyPr>
          <a:lstStyle/>
          <a:p>
            <a:pPr marL="0" lvl="0" indent="0" algn="l" rtl="0">
              <a:lnSpc>
                <a:spcPct val="97826"/>
              </a:lnSpc>
              <a:spcBef>
                <a:spcPts val="4500"/>
              </a:spcBef>
              <a:spcAft>
                <a:spcPts val="0"/>
              </a:spcAft>
              <a:buClr>
                <a:schemeClr val="dk1"/>
              </a:buClr>
              <a:buSzPts val="1100"/>
              <a:buFont typeface="Arial"/>
              <a:buNone/>
            </a:pPr>
            <a:r>
              <a:rPr lang="en-US" b="1" dirty="0">
                <a:solidFill>
                  <a:srgbClr val="242424"/>
                </a:solidFill>
                <a:highlight>
                  <a:srgbClr val="FFFFFF"/>
                </a:highlight>
                <a:latin typeface="Arial"/>
                <a:ea typeface="Arial"/>
                <a:cs typeface="Arial"/>
                <a:sym typeface="Arial"/>
              </a:rPr>
              <a:t>Conditional Probability and Chain Rule</a:t>
            </a:r>
            <a:endParaRPr b="1" dirty="0">
              <a:solidFill>
                <a:srgbClr val="242424"/>
              </a:solidFill>
              <a:highlight>
                <a:srgbClr val="FFFFFF"/>
              </a:highlight>
              <a:latin typeface="Arial"/>
              <a:ea typeface="Arial"/>
              <a:cs typeface="Arial"/>
              <a:sym typeface="Arial"/>
            </a:endParaRPr>
          </a:p>
          <a:p>
            <a:pPr marL="0" lvl="0" indent="0" algn="l" rtl="0">
              <a:lnSpc>
                <a:spcPct val="218181"/>
              </a:lnSpc>
              <a:spcBef>
                <a:spcPts val="1400"/>
              </a:spcBef>
              <a:spcAft>
                <a:spcPts val="0"/>
              </a:spcAft>
              <a:buNone/>
            </a:pPr>
            <a:r>
              <a:rPr lang="en-US" sz="1700" dirty="0">
                <a:solidFill>
                  <a:srgbClr val="242424"/>
                </a:solidFill>
                <a:highlight>
                  <a:srgbClr val="FFFFFF"/>
                </a:highlight>
                <a:latin typeface="Georgia"/>
                <a:ea typeface="Georgia"/>
                <a:cs typeface="Georgia"/>
                <a:sym typeface="Georgia"/>
              </a:rPr>
              <a:t>Conditional probability refers to the probability of one event occurring given that another event has already occurred. It is expressed as follows for events A and B.</a:t>
            </a:r>
            <a:endParaRPr sz="1700" dirty="0">
              <a:solidFill>
                <a:srgbClr val="242424"/>
              </a:solidFill>
              <a:highlight>
                <a:srgbClr val="FFFFFF"/>
              </a:highlight>
              <a:latin typeface="Georgia"/>
              <a:ea typeface="Georgia"/>
              <a:cs typeface="Georgia"/>
              <a:sym typeface="Georgia"/>
            </a:endParaRPr>
          </a:p>
          <a:p>
            <a:pPr marL="0" lvl="0" indent="0" algn="l" rtl="0">
              <a:lnSpc>
                <a:spcPct val="218181"/>
              </a:lnSpc>
              <a:spcBef>
                <a:spcPts val="1400"/>
              </a:spcBef>
              <a:spcAft>
                <a:spcPts val="0"/>
              </a:spcAft>
              <a:buClr>
                <a:schemeClr val="dk1"/>
              </a:buClr>
              <a:buSzPts val="1100"/>
              <a:buFont typeface="Arial"/>
              <a:buNone/>
            </a:pPr>
            <a:endParaRPr sz="1500" dirty="0">
              <a:solidFill>
                <a:srgbClr val="242424"/>
              </a:solidFill>
              <a:highlight>
                <a:srgbClr val="FFFFFF"/>
              </a:highlight>
              <a:latin typeface="Georgia"/>
              <a:ea typeface="Georgia"/>
              <a:cs typeface="Georgia"/>
              <a:sym typeface="Georgia"/>
            </a:endParaRPr>
          </a:p>
          <a:p>
            <a:pPr marL="0" lvl="0" indent="0" algn="l" rtl="0">
              <a:lnSpc>
                <a:spcPct val="218181"/>
              </a:lnSpc>
              <a:spcBef>
                <a:spcPts val="3200"/>
              </a:spcBef>
              <a:spcAft>
                <a:spcPts val="0"/>
              </a:spcAft>
              <a:buClr>
                <a:schemeClr val="dk1"/>
              </a:buClr>
              <a:buSzPts val="1100"/>
              <a:buFont typeface="Arial"/>
              <a:buNone/>
            </a:pPr>
            <a:r>
              <a:rPr lang="en-US" sz="1800" dirty="0">
                <a:solidFill>
                  <a:srgbClr val="242424"/>
                </a:solidFill>
                <a:highlight>
                  <a:srgbClr val="FFFFFF"/>
                </a:highlight>
                <a:latin typeface="Georgia"/>
                <a:ea typeface="Georgia"/>
                <a:cs typeface="Georgia"/>
                <a:sym typeface="Georgia"/>
              </a:rPr>
              <a:t>From the above equation, the following equation can be derived.</a:t>
            </a:r>
            <a:endParaRPr sz="1800" dirty="0">
              <a:solidFill>
                <a:srgbClr val="242424"/>
              </a:solidFill>
              <a:highlight>
                <a:srgbClr val="FFFFFF"/>
              </a:highlight>
              <a:latin typeface="Georgia"/>
              <a:ea typeface="Georgia"/>
              <a:cs typeface="Georgia"/>
              <a:sym typeface="Georgia"/>
            </a:endParaRPr>
          </a:p>
          <a:p>
            <a:pPr marL="0" lvl="0" indent="0" algn="l" rtl="0">
              <a:lnSpc>
                <a:spcPct val="115000"/>
              </a:lnSpc>
              <a:spcBef>
                <a:spcPts val="0"/>
              </a:spcBef>
              <a:spcAft>
                <a:spcPts val="0"/>
              </a:spcAft>
              <a:buClr>
                <a:schemeClr val="dk1"/>
              </a:buClr>
              <a:buSzPts val="1100"/>
              <a:buFont typeface="Arial"/>
              <a:buNone/>
            </a:pPr>
            <a:endParaRPr sz="1400" dirty="0">
              <a:solidFill>
                <a:schemeClr val="dk1"/>
              </a:solidFill>
              <a:latin typeface="Arial"/>
              <a:ea typeface="Arial"/>
              <a:cs typeface="Arial"/>
              <a:sym typeface="Arial"/>
            </a:endParaRPr>
          </a:p>
          <a:p>
            <a:pPr marL="0" lvl="0" indent="0" algn="l" rtl="0">
              <a:spcBef>
                <a:spcPts val="700"/>
              </a:spcBef>
              <a:spcAft>
                <a:spcPts val="0"/>
              </a:spcAft>
              <a:buNone/>
            </a:pPr>
            <a:r>
              <a:rPr lang="en-US" sz="1800" dirty="0">
                <a:solidFill>
                  <a:srgbClr val="242424"/>
                </a:solidFill>
                <a:highlight>
                  <a:srgbClr val="FFFFFF"/>
                </a:highlight>
                <a:latin typeface="Georgia"/>
                <a:ea typeface="Georgia"/>
                <a:cs typeface="Georgia"/>
                <a:sym typeface="Georgia"/>
              </a:rPr>
              <a:t>Generalizing this for </a:t>
            </a:r>
            <a:r>
              <a:rPr lang="en-US" sz="1800" i="1" dirty="0">
                <a:solidFill>
                  <a:srgbClr val="242424"/>
                </a:solidFill>
                <a:highlight>
                  <a:srgbClr val="FFFFFF"/>
                </a:highlight>
                <a:latin typeface="Georgia"/>
                <a:ea typeface="Georgia"/>
                <a:cs typeface="Georgia"/>
                <a:sym typeface="Georgia"/>
              </a:rPr>
              <a:t>n</a:t>
            </a:r>
            <a:r>
              <a:rPr lang="en-US" sz="1800" dirty="0">
                <a:solidFill>
                  <a:srgbClr val="242424"/>
                </a:solidFill>
                <a:highlight>
                  <a:srgbClr val="FFFFFF"/>
                </a:highlight>
                <a:latin typeface="Georgia"/>
                <a:ea typeface="Georgia"/>
                <a:cs typeface="Georgia"/>
                <a:sym typeface="Georgia"/>
              </a:rPr>
              <a:t> events, we can easily infer the following holds for event </a:t>
            </a:r>
            <a:r>
              <a:rPr lang="en-US" sz="1800" i="1" dirty="0">
                <a:solidFill>
                  <a:srgbClr val="242424"/>
                </a:solidFill>
                <a:highlight>
                  <a:srgbClr val="FFFFFF"/>
                </a:highlight>
                <a:latin typeface="Georgia"/>
                <a:ea typeface="Georgia"/>
                <a:cs typeface="Georgia"/>
                <a:sym typeface="Georgia"/>
              </a:rPr>
              <a:t>A₁, A₂, … , Aₙ,</a:t>
            </a:r>
            <a:r>
              <a:rPr lang="en-US" sz="1800" dirty="0">
                <a:solidFill>
                  <a:srgbClr val="242424"/>
                </a:solidFill>
                <a:highlight>
                  <a:srgbClr val="FFFFFF"/>
                </a:highlight>
                <a:latin typeface="Georgia"/>
                <a:ea typeface="Georgia"/>
                <a:cs typeface="Georgia"/>
                <a:sym typeface="Georgia"/>
              </a:rPr>
              <a:t> Inductively.</a:t>
            </a: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5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5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5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5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500" dirty="0">
              <a:solidFill>
                <a:srgbClr val="242424"/>
              </a:solidFill>
              <a:highlight>
                <a:srgbClr val="FFFFFF"/>
              </a:highlight>
              <a:latin typeface="Georgia"/>
              <a:ea typeface="Georgia"/>
              <a:cs typeface="Georgia"/>
              <a:sym typeface="Georgia"/>
            </a:endParaRPr>
          </a:p>
        </p:txBody>
      </p:sp>
      <p:pic>
        <p:nvPicPr>
          <p:cNvPr id="954" name="Google Shape;954;g33789ed7c53_0_18"/>
          <p:cNvPicPr preferRelativeResize="0"/>
          <p:nvPr/>
        </p:nvPicPr>
        <p:blipFill>
          <a:blip r:embed="rId3">
            <a:alphaModFix/>
          </a:blip>
          <a:stretch>
            <a:fillRect/>
          </a:stretch>
        </p:blipFill>
        <p:spPr>
          <a:xfrm>
            <a:off x="1978767" y="2389971"/>
            <a:ext cx="2286000" cy="666750"/>
          </a:xfrm>
          <a:prstGeom prst="rect">
            <a:avLst/>
          </a:prstGeom>
          <a:noFill/>
          <a:ln>
            <a:noFill/>
          </a:ln>
        </p:spPr>
      </p:pic>
      <p:pic>
        <p:nvPicPr>
          <p:cNvPr id="955" name="Google Shape;955;g33789ed7c53_0_18"/>
          <p:cNvPicPr preferRelativeResize="0"/>
          <p:nvPr/>
        </p:nvPicPr>
        <p:blipFill>
          <a:blip r:embed="rId4">
            <a:alphaModFix/>
          </a:blip>
          <a:stretch>
            <a:fillRect/>
          </a:stretch>
        </p:blipFill>
        <p:spPr>
          <a:xfrm>
            <a:off x="1998375" y="3271825"/>
            <a:ext cx="2628900" cy="314325"/>
          </a:xfrm>
          <a:prstGeom prst="rect">
            <a:avLst/>
          </a:prstGeom>
          <a:noFill/>
          <a:ln>
            <a:noFill/>
          </a:ln>
        </p:spPr>
      </p:pic>
      <p:pic>
        <p:nvPicPr>
          <p:cNvPr id="956" name="Google Shape;956;g33789ed7c53_0_18"/>
          <p:cNvPicPr preferRelativeResize="0"/>
          <p:nvPr/>
        </p:nvPicPr>
        <p:blipFill>
          <a:blip r:embed="rId5">
            <a:alphaModFix/>
          </a:blip>
          <a:stretch>
            <a:fillRect/>
          </a:stretch>
        </p:blipFill>
        <p:spPr>
          <a:xfrm>
            <a:off x="1415480" y="5013176"/>
            <a:ext cx="5336425" cy="91440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33789ed7c53_0_30"/>
          <p:cNvSpPr txBox="1">
            <a:spLocks noGrp="1"/>
          </p:cNvSpPr>
          <p:nvPr>
            <p:ph type="title"/>
          </p:nvPr>
        </p:nvSpPr>
        <p:spPr>
          <a:xfrm>
            <a:off x="1251675" y="382382"/>
            <a:ext cx="10178400" cy="380400"/>
          </a:xfrm>
          <a:prstGeom prst="rect">
            <a:avLst/>
          </a:prstGeom>
        </p:spPr>
        <p:txBody>
          <a:bodyPr spcFirstLastPara="1" wrap="square" lIns="91425" tIns="45700" rIns="91425" bIns="45700" anchor="t" anchorCtr="0">
            <a:normAutofit fontScale="90000"/>
          </a:bodyPr>
          <a:lstStyle/>
          <a:p>
            <a:pPr marL="0" lvl="0" indent="0" algn="l" rtl="0">
              <a:lnSpc>
                <a:spcPct val="97826"/>
              </a:lnSpc>
              <a:spcBef>
                <a:spcPts val="4500"/>
              </a:spcBef>
              <a:spcAft>
                <a:spcPts val="0"/>
              </a:spcAft>
              <a:buClr>
                <a:schemeClr val="dk1"/>
              </a:buClr>
              <a:buSzPct val="61111"/>
              <a:buFont typeface="Arial"/>
              <a:buNone/>
            </a:pPr>
            <a:r>
              <a:rPr lang="en-US" sz="1800" b="1">
                <a:solidFill>
                  <a:srgbClr val="242424"/>
                </a:solidFill>
                <a:highlight>
                  <a:srgbClr val="FFFFFF"/>
                </a:highlight>
                <a:latin typeface="Arial"/>
                <a:ea typeface="Arial"/>
                <a:cs typeface="Arial"/>
                <a:sym typeface="Arial"/>
              </a:rPr>
              <a:t>Probability for Sentence</a:t>
            </a:r>
            <a:endParaRPr sz="1800" b="1">
              <a:solidFill>
                <a:srgbClr val="242424"/>
              </a:solidFill>
              <a:highlight>
                <a:srgbClr val="FFFFFF"/>
              </a:highlight>
              <a:latin typeface="Arial"/>
              <a:ea typeface="Arial"/>
              <a:cs typeface="Arial"/>
              <a:sym typeface="Arial"/>
            </a:endParaRPr>
          </a:p>
          <a:p>
            <a:pPr marL="0" lvl="0" indent="0" algn="l" rtl="0">
              <a:spcBef>
                <a:spcPts val="0"/>
              </a:spcBef>
              <a:spcAft>
                <a:spcPts val="0"/>
              </a:spcAft>
              <a:buNone/>
            </a:pPr>
            <a:endParaRPr/>
          </a:p>
        </p:txBody>
      </p:sp>
      <p:sp>
        <p:nvSpPr>
          <p:cNvPr id="962" name="Google Shape;962;g33789ed7c53_0_30"/>
          <p:cNvSpPr txBox="1">
            <a:spLocks noGrp="1"/>
          </p:cNvSpPr>
          <p:nvPr>
            <p:ph type="body" idx="1"/>
          </p:nvPr>
        </p:nvSpPr>
        <p:spPr>
          <a:xfrm>
            <a:off x="1251675" y="670425"/>
            <a:ext cx="10178400" cy="6142951"/>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lang="en-US" dirty="0" smtClean="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r>
              <a:rPr lang="en-US" dirty="0" smtClean="0">
                <a:solidFill>
                  <a:srgbClr val="242424"/>
                </a:solidFill>
                <a:highlight>
                  <a:srgbClr val="FFFFFF"/>
                </a:highlight>
                <a:latin typeface="Georgia"/>
                <a:ea typeface="Georgia"/>
                <a:cs typeface="Georgia"/>
                <a:sym typeface="Georgia"/>
              </a:rPr>
              <a:t>The </a:t>
            </a:r>
            <a:r>
              <a:rPr lang="en-US" dirty="0">
                <a:solidFill>
                  <a:srgbClr val="242424"/>
                </a:solidFill>
                <a:highlight>
                  <a:srgbClr val="FFFFFF"/>
                </a:highlight>
                <a:latin typeface="Georgia"/>
                <a:ea typeface="Georgia"/>
                <a:cs typeface="Georgia"/>
                <a:sym typeface="Georgia"/>
              </a:rPr>
              <a:t>probability of a sentence </a:t>
            </a:r>
            <a:r>
              <a:rPr lang="en-US" i="1" dirty="0">
                <a:solidFill>
                  <a:srgbClr val="242424"/>
                </a:solidFill>
                <a:highlight>
                  <a:srgbClr val="FFFFFF"/>
                </a:highlight>
                <a:latin typeface="Georgia"/>
                <a:ea typeface="Georgia"/>
                <a:cs typeface="Georgia"/>
                <a:sym typeface="Georgia"/>
              </a:rPr>
              <a:t>S</a:t>
            </a:r>
            <a:r>
              <a:rPr lang="en-US" dirty="0">
                <a:solidFill>
                  <a:srgbClr val="242424"/>
                </a:solidFill>
                <a:highlight>
                  <a:srgbClr val="FFFFFF"/>
                </a:highlight>
                <a:latin typeface="Georgia"/>
                <a:ea typeface="Georgia"/>
                <a:cs typeface="Georgia"/>
                <a:sym typeface="Georgia"/>
              </a:rPr>
              <a:t> composed of the word </a:t>
            </a:r>
            <a:r>
              <a:rPr lang="en-US" i="1" dirty="0">
                <a:solidFill>
                  <a:srgbClr val="242424"/>
                </a:solidFill>
                <a:highlight>
                  <a:srgbClr val="FFFFFF"/>
                </a:highlight>
                <a:latin typeface="Georgia"/>
                <a:ea typeface="Georgia"/>
                <a:cs typeface="Georgia"/>
                <a:sym typeface="Georgia"/>
              </a:rPr>
              <a:t>w₁, w₂, … ,wₙ</a:t>
            </a:r>
            <a:r>
              <a:rPr lang="en-US" dirty="0">
                <a:solidFill>
                  <a:srgbClr val="242424"/>
                </a:solidFill>
                <a:highlight>
                  <a:srgbClr val="FFFFFF"/>
                </a:highlight>
                <a:latin typeface="Georgia"/>
                <a:ea typeface="Georgia"/>
                <a:cs typeface="Georgia"/>
                <a:sym typeface="Georgia"/>
              </a:rPr>
              <a:t> can be expressed as follows:</a:t>
            </a:r>
            <a:endParaRPr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r>
              <a:rPr lang="en-US" sz="1800" i="1" dirty="0">
                <a:solidFill>
                  <a:srgbClr val="242424"/>
                </a:solidFill>
                <a:highlight>
                  <a:srgbClr val="FFFFFF"/>
                </a:highlight>
                <a:latin typeface="Georgia"/>
                <a:ea typeface="Georgia"/>
                <a:cs typeface="Georgia"/>
                <a:sym typeface="Georgia"/>
              </a:rPr>
              <a:t>P(A little boy smiles)=P(A)×P(little | A)×P(boy </a:t>
            </a:r>
            <a:r>
              <a:rPr lang="en-US" sz="1800" dirty="0">
                <a:solidFill>
                  <a:srgbClr val="242424"/>
                </a:solidFill>
                <a:highlight>
                  <a:srgbClr val="FFFFFF"/>
                </a:highlight>
                <a:latin typeface="Georgia"/>
                <a:ea typeface="Georgia"/>
                <a:cs typeface="Georgia"/>
                <a:sym typeface="Georgia"/>
              </a:rPr>
              <a:t>∣ </a:t>
            </a:r>
            <a:r>
              <a:rPr lang="en-US" sz="1800" i="1" dirty="0">
                <a:solidFill>
                  <a:srgbClr val="242424"/>
                </a:solidFill>
                <a:highlight>
                  <a:srgbClr val="FFFFFF"/>
                </a:highlight>
                <a:latin typeface="Georgia"/>
                <a:ea typeface="Georgia"/>
                <a:cs typeface="Georgia"/>
                <a:sym typeface="Georgia"/>
              </a:rPr>
              <a:t>A little)×P(smiles | A little boy)</a:t>
            </a:r>
            <a:endParaRPr sz="1800" i="1" dirty="0">
              <a:solidFill>
                <a:srgbClr val="242424"/>
              </a:solidFill>
              <a:highlight>
                <a:srgbClr val="FFFFFF"/>
              </a:highlight>
              <a:latin typeface="Georgia"/>
              <a:ea typeface="Georgia"/>
              <a:cs typeface="Georgia"/>
              <a:sym typeface="Georgia"/>
            </a:endParaRPr>
          </a:p>
          <a:p>
            <a:pPr marL="0" lvl="0" indent="0" algn="l" rtl="0">
              <a:lnSpc>
                <a:spcPct val="97826"/>
              </a:lnSpc>
              <a:spcBef>
                <a:spcPts val="4500"/>
              </a:spcBef>
              <a:spcAft>
                <a:spcPts val="0"/>
              </a:spcAft>
              <a:buClr>
                <a:schemeClr val="dk1"/>
              </a:buClr>
              <a:buSzPts val="1100"/>
              <a:buFont typeface="Arial"/>
              <a:buNone/>
            </a:pPr>
            <a:r>
              <a:rPr lang="en-US" sz="1800" b="1" dirty="0">
                <a:solidFill>
                  <a:srgbClr val="242424"/>
                </a:solidFill>
                <a:highlight>
                  <a:srgbClr val="FFFFFF"/>
                </a:highlight>
                <a:latin typeface="Arial"/>
                <a:ea typeface="Arial"/>
                <a:cs typeface="Arial"/>
                <a:sym typeface="Arial"/>
              </a:rPr>
              <a:t>Count-Based Approach</a:t>
            </a:r>
            <a:endParaRPr sz="1800" b="1" dirty="0">
              <a:solidFill>
                <a:srgbClr val="242424"/>
              </a:solidFill>
              <a:highlight>
                <a:srgbClr val="FFFFFF"/>
              </a:highlight>
              <a:latin typeface="Arial"/>
              <a:ea typeface="Arial"/>
              <a:cs typeface="Arial"/>
              <a:sym typeface="Arial"/>
            </a:endParaRPr>
          </a:p>
          <a:p>
            <a:pPr marL="0" lvl="0" indent="0" algn="l" rtl="0">
              <a:spcBef>
                <a:spcPts val="700"/>
              </a:spcBef>
              <a:spcAft>
                <a:spcPts val="0"/>
              </a:spcAft>
              <a:buNone/>
            </a:pPr>
            <a:r>
              <a:rPr lang="en-US" sz="1800" dirty="0">
                <a:solidFill>
                  <a:srgbClr val="242424"/>
                </a:solidFill>
                <a:highlight>
                  <a:srgbClr val="FFFFFF"/>
                </a:highlight>
                <a:latin typeface="Georgia"/>
                <a:ea typeface="Georgia"/>
                <a:cs typeface="Georgia"/>
                <a:sym typeface="Georgia"/>
              </a:rPr>
              <a:t>calculate the probability of the next word based on counts (the number of times the sequence appears in the corpus) when given the previous words.</a:t>
            </a: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8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r>
              <a:rPr lang="en-US" sz="1500" dirty="0">
                <a:solidFill>
                  <a:srgbClr val="242424"/>
                </a:solidFill>
                <a:highlight>
                  <a:srgbClr val="FFFFFF"/>
                </a:highlight>
                <a:latin typeface="Georgia"/>
                <a:ea typeface="Georgia"/>
                <a:cs typeface="Georgia"/>
                <a:sym typeface="Georgia"/>
              </a:rPr>
              <a:t>t</a:t>
            </a:r>
            <a:r>
              <a:rPr lang="en-US" sz="1900" dirty="0">
                <a:solidFill>
                  <a:srgbClr val="242424"/>
                </a:solidFill>
                <a:highlight>
                  <a:srgbClr val="FFFFFF"/>
                </a:highlight>
                <a:latin typeface="Georgia"/>
                <a:ea typeface="Georgia"/>
                <a:cs typeface="Georgia"/>
                <a:sym typeface="Georgia"/>
              </a:rPr>
              <a:t>he size of the corpus is finite in a count-based approach, it becomes infeasible to train the model for all situations in a language, making it impossible to accurately model the language.</a:t>
            </a:r>
            <a:endParaRPr sz="22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2200" dirty="0">
              <a:solidFill>
                <a:srgbClr val="242424"/>
              </a:solidFill>
              <a:highlight>
                <a:srgbClr val="FFFFFF"/>
              </a:highlight>
              <a:latin typeface="Georgia"/>
              <a:ea typeface="Georgia"/>
              <a:cs typeface="Georgia"/>
              <a:sym typeface="Georgia"/>
            </a:endParaRPr>
          </a:p>
        </p:txBody>
      </p:sp>
      <p:pic>
        <p:nvPicPr>
          <p:cNvPr id="963" name="Google Shape;963;g33789ed7c53_0_30"/>
          <p:cNvPicPr preferRelativeResize="0"/>
          <p:nvPr/>
        </p:nvPicPr>
        <p:blipFill>
          <a:blip r:embed="rId3">
            <a:alphaModFix/>
          </a:blip>
          <a:stretch>
            <a:fillRect/>
          </a:stretch>
        </p:blipFill>
        <p:spPr>
          <a:xfrm>
            <a:off x="2423592" y="1772816"/>
            <a:ext cx="3876675" cy="781050"/>
          </a:xfrm>
          <a:prstGeom prst="rect">
            <a:avLst/>
          </a:prstGeom>
          <a:noFill/>
          <a:ln>
            <a:noFill/>
          </a:ln>
        </p:spPr>
      </p:pic>
      <p:pic>
        <p:nvPicPr>
          <p:cNvPr id="964" name="Google Shape;964;g33789ed7c53_0_30"/>
          <p:cNvPicPr preferRelativeResize="0"/>
          <p:nvPr/>
        </p:nvPicPr>
        <p:blipFill>
          <a:blip r:embed="rId4">
            <a:alphaModFix/>
          </a:blip>
          <a:stretch>
            <a:fillRect/>
          </a:stretch>
        </p:blipFill>
        <p:spPr>
          <a:xfrm>
            <a:off x="1443088" y="4548350"/>
            <a:ext cx="4600575" cy="59055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g33789ed7c53_0_43"/>
          <p:cNvSpPr txBox="1">
            <a:spLocks noGrp="1"/>
          </p:cNvSpPr>
          <p:nvPr>
            <p:ph type="title"/>
          </p:nvPr>
        </p:nvSpPr>
        <p:spPr>
          <a:xfrm>
            <a:off x="1251675" y="382382"/>
            <a:ext cx="10178400" cy="426600"/>
          </a:xfrm>
          <a:prstGeom prst="rect">
            <a:avLst/>
          </a:prstGeom>
        </p:spPr>
        <p:txBody>
          <a:bodyPr spcFirstLastPara="1" wrap="square" lIns="91425" tIns="45700" rIns="91425" bIns="45700" anchor="t" anchorCtr="0">
            <a:normAutofit fontScale="90000"/>
          </a:bodyPr>
          <a:lstStyle/>
          <a:p>
            <a:pPr marL="0" lvl="0" indent="0" algn="l" rtl="0">
              <a:lnSpc>
                <a:spcPct val="97826"/>
              </a:lnSpc>
              <a:spcBef>
                <a:spcPts val="4500"/>
              </a:spcBef>
              <a:spcAft>
                <a:spcPts val="0"/>
              </a:spcAft>
              <a:buClr>
                <a:schemeClr val="dk1"/>
              </a:buClr>
              <a:buSzPct val="61111"/>
              <a:buFont typeface="Arial"/>
              <a:buNone/>
            </a:pPr>
            <a:r>
              <a:rPr lang="en-US" sz="1800" b="1">
                <a:solidFill>
                  <a:srgbClr val="242424"/>
                </a:solidFill>
                <a:highlight>
                  <a:srgbClr val="FFFFFF"/>
                </a:highlight>
                <a:latin typeface="Arial"/>
                <a:ea typeface="Arial"/>
                <a:cs typeface="Arial"/>
                <a:sym typeface="Arial"/>
              </a:rPr>
              <a:t>Sparsity Problem</a:t>
            </a:r>
            <a:endParaRPr sz="1800" b="1">
              <a:solidFill>
                <a:srgbClr val="242424"/>
              </a:solidFill>
              <a:highlight>
                <a:srgbClr val="FFFFFF"/>
              </a:highlight>
              <a:latin typeface="Arial"/>
              <a:ea typeface="Arial"/>
              <a:cs typeface="Arial"/>
              <a:sym typeface="Arial"/>
            </a:endParaRPr>
          </a:p>
          <a:p>
            <a:pPr marL="0" lvl="0" indent="0" algn="l" rtl="0">
              <a:lnSpc>
                <a:spcPct val="110000"/>
              </a:lnSpc>
              <a:spcBef>
                <a:spcPts val="700"/>
              </a:spcBef>
              <a:spcAft>
                <a:spcPts val="0"/>
              </a:spcAft>
              <a:buClr>
                <a:schemeClr val="dk1"/>
              </a:buClr>
              <a:buSzPct val="61111"/>
              <a:buFont typeface="Arial"/>
              <a:buNone/>
            </a:pPr>
            <a:endParaRPr sz="1800">
              <a:solidFill>
                <a:srgbClr val="242424"/>
              </a:solidFill>
              <a:highlight>
                <a:srgbClr val="FFFFFF"/>
              </a:highlight>
              <a:latin typeface="Georgia"/>
              <a:ea typeface="Georgia"/>
              <a:cs typeface="Georgia"/>
              <a:sym typeface="Georgia"/>
            </a:endParaRPr>
          </a:p>
          <a:p>
            <a:pPr marL="0" lvl="0" indent="0" algn="l" rtl="0">
              <a:spcBef>
                <a:spcPts val="0"/>
              </a:spcBef>
              <a:spcAft>
                <a:spcPts val="0"/>
              </a:spcAft>
              <a:buNone/>
            </a:pPr>
            <a:endParaRPr/>
          </a:p>
        </p:txBody>
      </p:sp>
      <p:sp>
        <p:nvSpPr>
          <p:cNvPr id="970" name="Google Shape;970;g33789ed7c53_0_43"/>
          <p:cNvSpPr txBox="1">
            <a:spLocks noGrp="1"/>
          </p:cNvSpPr>
          <p:nvPr>
            <p:ph type="body" idx="1"/>
          </p:nvPr>
        </p:nvSpPr>
        <p:spPr>
          <a:xfrm>
            <a:off x="1251675" y="931850"/>
            <a:ext cx="10178400" cy="49479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lang="en-US" sz="1800" dirty="0" smtClean="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r>
              <a:rPr lang="en-US" sz="1800" dirty="0" smtClean="0">
                <a:solidFill>
                  <a:srgbClr val="242424"/>
                </a:solidFill>
                <a:highlight>
                  <a:srgbClr val="FFFFFF"/>
                </a:highlight>
                <a:latin typeface="Georgia"/>
                <a:ea typeface="Georgia"/>
                <a:cs typeface="Georgia"/>
                <a:sym typeface="Georgia"/>
              </a:rPr>
              <a:t>To </a:t>
            </a:r>
            <a:r>
              <a:rPr lang="en-US" sz="1800" dirty="0">
                <a:solidFill>
                  <a:srgbClr val="242424"/>
                </a:solidFill>
                <a:highlight>
                  <a:srgbClr val="FFFFFF"/>
                </a:highlight>
                <a:latin typeface="Georgia"/>
                <a:ea typeface="Georgia"/>
                <a:cs typeface="Georgia"/>
                <a:sym typeface="Georgia"/>
              </a:rPr>
              <a:t>address this issue of not having enough observed data to accurately model language, the n-gram model was proposed. N-gram models tackle the sparsity problem by considering smaller contextual units (n-grams) instead of whole sequences, which allows for more manageable and efficient training on limited data.</a:t>
            </a:r>
            <a:endParaRPr sz="1800" dirty="0">
              <a:solidFill>
                <a:srgbClr val="242424"/>
              </a:solidFill>
              <a:highlight>
                <a:srgbClr val="FFFFFF"/>
              </a:highlight>
              <a:latin typeface="Georgia"/>
              <a:ea typeface="Georgia"/>
              <a:cs typeface="Georgia"/>
              <a:sym typeface="Georgia"/>
            </a:endParaRPr>
          </a:p>
          <a:p>
            <a:pPr marL="0" lvl="0" indent="0" algn="l" rtl="0">
              <a:lnSpc>
                <a:spcPct val="97826"/>
              </a:lnSpc>
              <a:spcBef>
                <a:spcPts val="4500"/>
              </a:spcBef>
              <a:spcAft>
                <a:spcPts val="0"/>
              </a:spcAft>
              <a:buClr>
                <a:schemeClr val="dk1"/>
              </a:buClr>
              <a:buSzPts val="1100"/>
              <a:buFont typeface="Arial"/>
              <a:buNone/>
            </a:pPr>
            <a:r>
              <a:rPr lang="en-US" sz="1800" b="1" dirty="0">
                <a:solidFill>
                  <a:srgbClr val="242424"/>
                </a:solidFill>
                <a:highlight>
                  <a:srgbClr val="FFFFFF"/>
                </a:highlight>
                <a:latin typeface="Arial"/>
                <a:ea typeface="Arial"/>
                <a:cs typeface="Arial"/>
                <a:sym typeface="Arial"/>
              </a:rPr>
              <a:t>Markov Chain</a:t>
            </a:r>
            <a:endParaRPr sz="1800" b="1" dirty="0">
              <a:solidFill>
                <a:srgbClr val="242424"/>
              </a:solidFill>
              <a:highlight>
                <a:srgbClr val="FFFFFF"/>
              </a:highlight>
              <a:latin typeface="Arial"/>
              <a:ea typeface="Arial"/>
              <a:cs typeface="Arial"/>
              <a:sym typeface="Arial"/>
            </a:endParaRPr>
          </a:p>
          <a:p>
            <a:pPr marL="0" lvl="0" indent="0" algn="l" rtl="0">
              <a:spcBef>
                <a:spcPts val="700"/>
              </a:spcBef>
              <a:spcAft>
                <a:spcPts val="0"/>
              </a:spcAft>
              <a:buNone/>
            </a:pPr>
            <a:r>
              <a:rPr lang="en-US" sz="1900" dirty="0">
                <a:solidFill>
                  <a:srgbClr val="242424"/>
                </a:solidFill>
                <a:highlight>
                  <a:srgbClr val="FFFFFF"/>
                </a:highlight>
                <a:latin typeface="Georgia"/>
                <a:ea typeface="Georgia"/>
                <a:cs typeface="Georgia"/>
                <a:sym typeface="Georgia"/>
              </a:rPr>
              <a:t>A Markov Chain or Markov Process is a discrete probability process that satisfies the Markov Property. The core of the Markov Property is that, given the current state and past states, the future state is determined solely by the current state and is independent of the past states.</a:t>
            </a:r>
            <a:endParaRPr sz="1900" dirty="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sz="1900" dirty="0">
              <a:solidFill>
                <a:srgbClr val="242424"/>
              </a:solidFill>
              <a:highlight>
                <a:srgbClr val="FFFFFF"/>
              </a:highlight>
              <a:latin typeface="Georgia"/>
              <a:ea typeface="Georgia"/>
              <a:cs typeface="Georgia"/>
              <a:sym typeface="Georgia"/>
            </a:endParaRPr>
          </a:p>
        </p:txBody>
      </p:sp>
      <p:pic>
        <p:nvPicPr>
          <p:cNvPr id="971" name="Google Shape;971;g33789ed7c53_0_43"/>
          <p:cNvPicPr preferRelativeResize="0"/>
          <p:nvPr/>
        </p:nvPicPr>
        <p:blipFill>
          <a:blip r:embed="rId3">
            <a:alphaModFix/>
          </a:blip>
          <a:stretch>
            <a:fillRect/>
          </a:stretch>
        </p:blipFill>
        <p:spPr>
          <a:xfrm>
            <a:off x="2135560" y="4725144"/>
            <a:ext cx="4920300" cy="1160775"/>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33789ed7c53_0_52"/>
          <p:cNvSpPr txBox="1">
            <a:spLocks noGrp="1"/>
          </p:cNvSpPr>
          <p:nvPr>
            <p:ph type="title"/>
          </p:nvPr>
        </p:nvSpPr>
        <p:spPr>
          <a:xfrm>
            <a:off x="1251675" y="382381"/>
            <a:ext cx="10178400" cy="564900"/>
          </a:xfrm>
          <a:prstGeom prst="rect">
            <a:avLst/>
          </a:prstGeom>
        </p:spPr>
        <p:txBody>
          <a:bodyPr spcFirstLastPara="1" wrap="square" lIns="91425" tIns="45700" rIns="91425" bIns="45700" anchor="t" anchorCtr="0">
            <a:normAutofit fontScale="90000"/>
          </a:bodyPr>
          <a:lstStyle/>
          <a:p>
            <a:pPr marL="0" lvl="0" indent="0" algn="l" rtl="0">
              <a:lnSpc>
                <a:spcPct val="97826"/>
              </a:lnSpc>
              <a:spcBef>
                <a:spcPts val="4500"/>
              </a:spcBef>
              <a:spcAft>
                <a:spcPts val="0"/>
              </a:spcAft>
              <a:buClr>
                <a:schemeClr val="dk1"/>
              </a:buClr>
              <a:buSzPct val="61111"/>
              <a:buFont typeface="Arial"/>
              <a:buNone/>
            </a:pPr>
            <a:r>
              <a:rPr lang="en-US" sz="1800" b="1">
                <a:solidFill>
                  <a:srgbClr val="242424"/>
                </a:solidFill>
                <a:highlight>
                  <a:srgbClr val="FFFFFF"/>
                </a:highlight>
                <a:latin typeface="Arial"/>
                <a:ea typeface="Arial"/>
                <a:cs typeface="Arial"/>
                <a:sym typeface="Arial"/>
              </a:rPr>
              <a:t>N-gram Language Model</a:t>
            </a:r>
            <a:endParaRPr sz="1800" b="1">
              <a:solidFill>
                <a:srgbClr val="242424"/>
              </a:solidFill>
              <a:highlight>
                <a:srgbClr val="FFFFFF"/>
              </a:highlight>
              <a:latin typeface="Arial"/>
              <a:ea typeface="Arial"/>
              <a:cs typeface="Arial"/>
              <a:sym typeface="Arial"/>
            </a:endParaRPr>
          </a:p>
          <a:p>
            <a:pPr marL="0" lvl="0" indent="0" algn="l" rtl="0">
              <a:spcBef>
                <a:spcPts val="0"/>
              </a:spcBef>
              <a:spcAft>
                <a:spcPts val="0"/>
              </a:spcAft>
              <a:buNone/>
            </a:pPr>
            <a:endParaRPr/>
          </a:p>
        </p:txBody>
      </p:sp>
      <p:sp>
        <p:nvSpPr>
          <p:cNvPr id="977" name="Google Shape;977;g33789ed7c53_0_52"/>
          <p:cNvSpPr txBox="1">
            <a:spLocks noGrp="1"/>
          </p:cNvSpPr>
          <p:nvPr>
            <p:ph type="body" idx="1"/>
          </p:nvPr>
        </p:nvSpPr>
        <p:spPr>
          <a:xfrm>
            <a:off x="1251675" y="762700"/>
            <a:ext cx="10178400" cy="51171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r>
              <a:rPr lang="en-US" sz="2500">
                <a:solidFill>
                  <a:srgbClr val="242424"/>
                </a:solidFill>
                <a:highlight>
                  <a:srgbClr val="FFFFFF"/>
                </a:highlight>
                <a:latin typeface="Georgia"/>
                <a:ea typeface="Georgia"/>
                <a:cs typeface="Georgia"/>
                <a:sym typeface="Georgia"/>
              </a:rPr>
              <a:t>An n-gram language model still uses a statistical count-based approach, but it assumes the Markov Property, considering only a subset of words instead of all previously occurred words. For example, given the sequence ‘</a:t>
            </a:r>
            <a:r>
              <a:rPr lang="en-US" sz="2500" i="1">
                <a:solidFill>
                  <a:srgbClr val="242424"/>
                </a:solidFill>
                <a:highlight>
                  <a:srgbClr val="FFFFFF"/>
                </a:highlight>
                <a:latin typeface="Georgia"/>
                <a:ea typeface="Georgia"/>
                <a:cs typeface="Georgia"/>
                <a:sym typeface="Georgia"/>
              </a:rPr>
              <a:t>A little boy</a:t>
            </a:r>
            <a:r>
              <a:rPr lang="en-US" sz="2500">
                <a:solidFill>
                  <a:srgbClr val="242424"/>
                </a:solidFill>
                <a:highlight>
                  <a:srgbClr val="FFFFFF"/>
                </a:highlight>
                <a:latin typeface="Georgia"/>
                <a:ea typeface="Georgia"/>
                <a:cs typeface="Georgia"/>
                <a:sym typeface="Georgia"/>
              </a:rPr>
              <a:t>’, it approximates </a:t>
            </a:r>
            <a:r>
              <a:rPr lang="en-US" sz="2500" i="1">
                <a:solidFill>
                  <a:srgbClr val="242424"/>
                </a:solidFill>
                <a:highlight>
                  <a:srgbClr val="FFFFFF"/>
                </a:highlight>
                <a:latin typeface="Georgia"/>
                <a:ea typeface="Georgia"/>
                <a:cs typeface="Georgia"/>
                <a:sym typeface="Georgia"/>
              </a:rPr>
              <a:t>P(smiles </a:t>
            </a:r>
            <a:r>
              <a:rPr lang="en-US" sz="2500">
                <a:solidFill>
                  <a:srgbClr val="242424"/>
                </a:solidFill>
                <a:highlight>
                  <a:srgbClr val="FFFFFF"/>
                </a:highlight>
                <a:latin typeface="Georgia"/>
                <a:ea typeface="Georgia"/>
                <a:cs typeface="Georgia"/>
                <a:sym typeface="Georgia"/>
              </a:rPr>
              <a:t>| </a:t>
            </a:r>
            <a:r>
              <a:rPr lang="en-US" sz="2500" i="1">
                <a:solidFill>
                  <a:srgbClr val="242424"/>
                </a:solidFill>
                <a:highlight>
                  <a:srgbClr val="FFFFFF"/>
                </a:highlight>
                <a:latin typeface="Georgia"/>
                <a:ea typeface="Georgia"/>
                <a:cs typeface="Georgia"/>
                <a:sym typeface="Georgia"/>
              </a:rPr>
              <a:t>A little boy) ≈</a:t>
            </a:r>
            <a:r>
              <a:rPr lang="en-US" sz="2500">
                <a:solidFill>
                  <a:srgbClr val="242424"/>
                </a:solidFill>
                <a:highlight>
                  <a:srgbClr val="FFFFFF"/>
                </a:highlight>
                <a:latin typeface="Georgia"/>
                <a:ea typeface="Georgia"/>
                <a:cs typeface="Georgia"/>
                <a:sym typeface="Georgia"/>
              </a:rPr>
              <a:t> </a:t>
            </a:r>
            <a:r>
              <a:rPr lang="en-US" sz="2500" i="1">
                <a:solidFill>
                  <a:srgbClr val="242424"/>
                </a:solidFill>
                <a:highlight>
                  <a:srgbClr val="FFFFFF"/>
                </a:highlight>
                <a:latin typeface="Georgia"/>
                <a:ea typeface="Georgia"/>
                <a:cs typeface="Georgia"/>
                <a:sym typeface="Georgia"/>
              </a:rPr>
              <a:t>P(smiles </a:t>
            </a:r>
            <a:r>
              <a:rPr lang="en-US" sz="2500">
                <a:solidFill>
                  <a:srgbClr val="242424"/>
                </a:solidFill>
                <a:highlight>
                  <a:srgbClr val="FFFFFF"/>
                </a:highlight>
                <a:latin typeface="Georgia"/>
                <a:ea typeface="Georgia"/>
                <a:cs typeface="Georgia"/>
                <a:sym typeface="Georgia"/>
              </a:rPr>
              <a:t>| </a:t>
            </a:r>
            <a:r>
              <a:rPr lang="en-US" sz="2500" i="1">
                <a:solidFill>
                  <a:srgbClr val="242424"/>
                </a:solidFill>
                <a:highlight>
                  <a:srgbClr val="FFFFFF"/>
                </a:highlight>
                <a:latin typeface="Georgia"/>
                <a:ea typeface="Georgia"/>
                <a:cs typeface="Georgia"/>
                <a:sym typeface="Georgia"/>
              </a:rPr>
              <a:t>boy)</a:t>
            </a:r>
            <a:r>
              <a:rPr lang="en-US" sz="2500">
                <a:solidFill>
                  <a:srgbClr val="242424"/>
                </a:solidFill>
                <a:highlight>
                  <a:srgbClr val="FFFFFF"/>
                </a:highlight>
                <a:latin typeface="Georgia"/>
                <a:ea typeface="Georgia"/>
                <a:cs typeface="Georgia"/>
                <a:sym typeface="Georgia"/>
              </a:rPr>
              <a:t>, increasing the likelihood of counting that word sequence in the corpus.</a:t>
            </a:r>
            <a:endParaRPr sz="2500">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r>
              <a:rPr lang="en-US" sz="2600">
                <a:solidFill>
                  <a:srgbClr val="242424"/>
                </a:solidFill>
                <a:highlight>
                  <a:srgbClr val="FFFFFF"/>
                </a:highlight>
                <a:latin typeface="Georgia"/>
                <a:ea typeface="Georgia"/>
                <a:cs typeface="Georgia"/>
                <a:sym typeface="Georgia"/>
              </a:rPr>
              <a:t>N-gram means a sequence of n consecutive words, and in the n-gram Language Model, a sequence of n words in a corpus is considered as one token. In this case, if </a:t>
            </a:r>
            <a:r>
              <a:rPr lang="en-US" sz="2600" i="1">
                <a:solidFill>
                  <a:srgbClr val="242424"/>
                </a:solidFill>
                <a:highlight>
                  <a:srgbClr val="FFFFFF"/>
                </a:highlight>
                <a:latin typeface="Georgia"/>
                <a:ea typeface="Georgia"/>
                <a:cs typeface="Georgia"/>
                <a:sym typeface="Georgia"/>
              </a:rPr>
              <a:t>n=1</a:t>
            </a:r>
            <a:r>
              <a:rPr lang="en-US" sz="2600">
                <a:solidFill>
                  <a:srgbClr val="242424"/>
                </a:solidFill>
                <a:highlight>
                  <a:srgbClr val="FFFFFF"/>
                </a:highlight>
                <a:latin typeface="Georgia"/>
                <a:ea typeface="Georgia"/>
                <a:cs typeface="Georgia"/>
                <a:sym typeface="Georgia"/>
              </a:rPr>
              <a:t>, it is called unigram, if </a:t>
            </a:r>
            <a:r>
              <a:rPr lang="en-US" sz="2600" i="1">
                <a:solidFill>
                  <a:srgbClr val="242424"/>
                </a:solidFill>
                <a:highlight>
                  <a:srgbClr val="FFFFFF"/>
                </a:highlight>
                <a:latin typeface="Georgia"/>
                <a:ea typeface="Georgia"/>
                <a:cs typeface="Georgia"/>
                <a:sym typeface="Georgia"/>
              </a:rPr>
              <a:t>n=2</a:t>
            </a:r>
            <a:r>
              <a:rPr lang="en-US" sz="2600">
                <a:solidFill>
                  <a:srgbClr val="242424"/>
                </a:solidFill>
                <a:highlight>
                  <a:srgbClr val="FFFFFF"/>
                </a:highlight>
                <a:latin typeface="Georgia"/>
                <a:ea typeface="Georgia"/>
                <a:cs typeface="Georgia"/>
                <a:sym typeface="Georgia"/>
              </a:rPr>
              <a:t>, it is called bigram, and if </a:t>
            </a:r>
            <a:r>
              <a:rPr lang="en-US" sz="2600" i="1">
                <a:solidFill>
                  <a:srgbClr val="242424"/>
                </a:solidFill>
                <a:highlight>
                  <a:srgbClr val="FFFFFF"/>
                </a:highlight>
                <a:latin typeface="Georgia"/>
                <a:ea typeface="Georgia"/>
                <a:cs typeface="Georgia"/>
                <a:sym typeface="Georgia"/>
              </a:rPr>
              <a:t>n=3</a:t>
            </a:r>
            <a:r>
              <a:rPr lang="en-US" sz="2600">
                <a:solidFill>
                  <a:srgbClr val="242424"/>
                </a:solidFill>
                <a:highlight>
                  <a:srgbClr val="FFFFFF"/>
                </a:highlight>
                <a:latin typeface="Georgia"/>
                <a:ea typeface="Georgia"/>
                <a:cs typeface="Georgia"/>
                <a:sym typeface="Georgia"/>
              </a:rPr>
              <a:t>, it is called trigram. If </a:t>
            </a:r>
            <a:r>
              <a:rPr lang="en-US" sz="2600" i="1">
                <a:solidFill>
                  <a:srgbClr val="242424"/>
                </a:solidFill>
                <a:highlight>
                  <a:srgbClr val="FFFFFF"/>
                </a:highlight>
                <a:latin typeface="Georgia"/>
                <a:ea typeface="Georgia"/>
                <a:cs typeface="Georgia"/>
                <a:sym typeface="Georgia"/>
              </a:rPr>
              <a:t>n≥4</a:t>
            </a:r>
            <a:r>
              <a:rPr lang="en-US" sz="2600">
                <a:solidFill>
                  <a:srgbClr val="242424"/>
                </a:solidFill>
                <a:highlight>
                  <a:srgbClr val="FFFFFF"/>
                </a:highlight>
                <a:latin typeface="Georgia"/>
                <a:ea typeface="Georgia"/>
                <a:cs typeface="Georgia"/>
                <a:sym typeface="Georgia"/>
              </a:rPr>
              <a:t>, the number is directly attached to the front of gram to name it.</a:t>
            </a:r>
            <a:endParaRPr sz="3000">
              <a:solidFill>
                <a:srgbClr val="242424"/>
              </a:solidFill>
              <a:highlight>
                <a:srgbClr val="FFFFFF"/>
              </a:highlight>
              <a:latin typeface="Georgia"/>
              <a:ea typeface="Georgia"/>
              <a:cs typeface="Georgia"/>
              <a:sym typeface="Georgia"/>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33789ed7c53_0_60"/>
          <p:cNvSpPr txBox="1">
            <a:spLocks noGrp="1"/>
          </p:cNvSpPr>
          <p:nvPr>
            <p:ph type="title"/>
          </p:nvPr>
        </p:nvSpPr>
        <p:spPr>
          <a:xfrm>
            <a:off x="1251675" y="382382"/>
            <a:ext cx="10178400" cy="488100"/>
          </a:xfrm>
          <a:prstGeom prst="rect">
            <a:avLst/>
          </a:prstGeom>
        </p:spPr>
        <p:txBody>
          <a:bodyPr spcFirstLastPara="1" wrap="square" lIns="91425" tIns="45700" rIns="91425" bIns="45700" anchor="t" anchorCtr="0">
            <a:normAutofit fontScale="90000"/>
          </a:bodyPr>
          <a:lstStyle/>
          <a:p>
            <a:pPr marL="0" lvl="0" indent="0" algn="l" rtl="0">
              <a:lnSpc>
                <a:spcPct val="97826"/>
              </a:lnSpc>
              <a:spcBef>
                <a:spcPts val="4500"/>
              </a:spcBef>
              <a:spcAft>
                <a:spcPts val="0"/>
              </a:spcAft>
              <a:buClr>
                <a:schemeClr val="dk1"/>
              </a:buClr>
              <a:buSzPct val="61111"/>
              <a:buFont typeface="Arial"/>
              <a:buNone/>
            </a:pPr>
            <a:r>
              <a:rPr lang="en-US" sz="1800" b="1">
                <a:solidFill>
                  <a:srgbClr val="242424"/>
                </a:solidFill>
                <a:highlight>
                  <a:srgbClr val="FFFFFF"/>
                </a:highlight>
                <a:latin typeface="Arial"/>
                <a:ea typeface="Arial"/>
                <a:cs typeface="Arial"/>
                <a:sym typeface="Arial"/>
              </a:rPr>
              <a:t>Implementation of N-gram Language Model</a:t>
            </a:r>
            <a:endParaRPr sz="1800" b="1">
              <a:solidFill>
                <a:srgbClr val="242424"/>
              </a:solidFill>
              <a:highlight>
                <a:srgbClr val="FFFFFF"/>
              </a:highlight>
              <a:latin typeface="Arial"/>
              <a:ea typeface="Arial"/>
              <a:cs typeface="Arial"/>
              <a:sym typeface="Arial"/>
            </a:endParaRPr>
          </a:p>
          <a:p>
            <a:pPr marL="0" lvl="0" indent="0" algn="l" rtl="0">
              <a:spcBef>
                <a:spcPts val="0"/>
              </a:spcBef>
              <a:spcAft>
                <a:spcPts val="0"/>
              </a:spcAft>
              <a:buNone/>
            </a:pPr>
            <a:endParaRPr/>
          </a:p>
        </p:txBody>
      </p:sp>
      <p:sp>
        <p:nvSpPr>
          <p:cNvPr id="983" name="Google Shape;983;g33789ed7c53_0_60"/>
          <p:cNvSpPr txBox="1">
            <a:spLocks noGrp="1"/>
          </p:cNvSpPr>
          <p:nvPr>
            <p:ph type="body" idx="1"/>
          </p:nvPr>
        </p:nvSpPr>
        <p:spPr>
          <a:xfrm>
            <a:off x="536575" y="947225"/>
            <a:ext cx="10893600" cy="6073800"/>
          </a:xfrm>
          <a:prstGeom prst="rect">
            <a:avLst/>
          </a:prstGeom>
        </p:spPr>
        <p:txBody>
          <a:bodyPr spcFirstLastPara="1" wrap="square" lIns="91425" tIns="45700" rIns="91425" bIns="45700" anchor="t" anchorCtr="0">
            <a:noAutofit/>
          </a:bodyPr>
          <a:lstStyle/>
          <a:p>
            <a:pPr marL="0" lvl="0" indent="0" algn="l" rtl="0">
              <a:spcBef>
                <a:spcPts val="700"/>
              </a:spcBef>
              <a:spcAft>
                <a:spcPts val="0"/>
              </a:spcAft>
              <a:buClr>
                <a:schemeClr val="dk1"/>
              </a:buClr>
              <a:buSzPts val="1100"/>
              <a:buFont typeface="Arial"/>
              <a:buNone/>
            </a:pPr>
            <a:r>
              <a:rPr lang="en-US" sz="1650" dirty="0">
                <a:solidFill>
                  <a:srgbClr val="AA0D91"/>
                </a:solidFill>
                <a:highlight>
                  <a:srgbClr val="F9F9F9"/>
                </a:highlight>
                <a:latin typeface="Courier New"/>
                <a:ea typeface="Courier New"/>
                <a:cs typeface="Courier New"/>
                <a:sym typeface="Courier New"/>
              </a:rPr>
              <a:t>import</a:t>
            </a:r>
            <a:r>
              <a:rPr lang="en-US" sz="1650" dirty="0">
                <a:solidFill>
                  <a:srgbClr val="242424"/>
                </a:solidFill>
                <a:highlight>
                  <a:srgbClr val="F9F9F9"/>
                </a:highlight>
                <a:latin typeface="Courier New"/>
                <a:ea typeface="Courier New"/>
                <a:cs typeface="Courier New"/>
                <a:sym typeface="Courier New"/>
              </a:rPr>
              <a:t> </a:t>
            </a:r>
            <a:r>
              <a:rPr lang="en-US" sz="1650" dirty="0" err="1">
                <a:solidFill>
                  <a:srgbClr val="242424"/>
                </a:solidFill>
                <a:highlight>
                  <a:srgbClr val="F9F9F9"/>
                </a:highlight>
                <a:latin typeface="Courier New"/>
                <a:ea typeface="Courier New"/>
                <a:cs typeface="Courier New"/>
                <a:sym typeface="Courier New"/>
              </a:rPr>
              <a:t>nltk</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a:solidFill>
                  <a:srgbClr val="AA0D91"/>
                </a:solidFill>
                <a:highlight>
                  <a:srgbClr val="F9F9F9"/>
                </a:highlight>
                <a:latin typeface="Courier New"/>
                <a:ea typeface="Courier New"/>
                <a:cs typeface="Courier New"/>
                <a:sym typeface="Courier New"/>
              </a:rPr>
              <a:t>from</a:t>
            </a:r>
            <a:r>
              <a:rPr lang="en-US" sz="1650" dirty="0">
                <a:solidFill>
                  <a:srgbClr val="242424"/>
                </a:solidFill>
                <a:highlight>
                  <a:srgbClr val="F9F9F9"/>
                </a:highlight>
                <a:latin typeface="Courier New"/>
                <a:ea typeface="Courier New"/>
                <a:cs typeface="Courier New"/>
                <a:sym typeface="Courier New"/>
              </a:rPr>
              <a:t> </a:t>
            </a:r>
            <a:r>
              <a:rPr lang="en-US" sz="1650" dirty="0" err="1">
                <a:solidFill>
                  <a:srgbClr val="242424"/>
                </a:solidFill>
                <a:highlight>
                  <a:srgbClr val="F9F9F9"/>
                </a:highlight>
                <a:latin typeface="Courier New"/>
                <a:ea typeface="Courier New"/>
                <a:cs typeface="Courier New"/>
                <a:sym typeface="Courier New"/>
              </a:rPr>
              <a:t>nltk.corpus</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AA0D91"/>
                </a:solidFill>
                <a:highlight>
                  <a:srgbClr val="F9F9F9"/>
                </a:highlight>
                <a:latin typeface="Courier New"/>
                <a:ea typeface="Courier New"/>
                <a:cs typeface="Courier New"/>
                <a:sym typeface="Courier New"/>
              </a:rPr>
              <a:t>import</a:t>
            </a:r>
            <a:r>
              <a:rPr lang="en-US" sz="1650" dirty="0">
                <a:solidFill>
                  <a:srgbClr val="242424"/>
                </a:solidFill>
                <a:highlight>
                  <a:srgbClr val="F9F9F9"/>
                </a:highlight>
                <a:latin typeface="Courier New"/>
                <a:ea typeface="Courier New"/>
                <a:cs typeface="Courier New"/>
                <a:sym typeface="Courier New"/>
              </a:rPr>
              <a:t> brown</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a:solidFill>
                  <a:srgbClr val="AA0D91"/>
                </a:solidFill>
                <a:highlight>
                  <a:srgbClr val="F9F9F9"/>
                </a:highlight>
                <a:latin typeface="Courier New"/>
                <a:ea typeface="Courier New"/>
                <a:cs typeface="Courier New"/>
                <a:sym typeface="Courier New"/>
              </a:rPr>
              <a:t>from</a:t>
            </a:r>
            <a:r>
              <a:rPr lang="en-US" sz="1650" dirty="0">
                <a:solidFill>
                  <a:srgbClr val="242424"/>
                </a:solidFill>
                <a:highlight>
                  <a:srgbClr val="F9F9F9"/>
                </a:highlight>
                <a:latin typeface="Courier New"/>
                <a:ea typeface="Courier New"/>
                <a:cs typeface="Courier New"/>
                <a:sym typeface="Courier New"/>
              </a:rPr>
              <a:t> collections </a:t>
            </a:r>
            <a:r>
              <a:rPr lang="en-US" sz="1650" dirty="0">
                <a:solidFill>
                  <a:srgbClr val="AA0D91"/>
                </a:solidFill>
                <a:highlight>
                  <a:srgbClr val="F9F9F9"/>
                </a:highlight>
                <a:latin typeface="Courier New"/>
                <a:ea typeface="Courier New"/>
                <a:cs typeface="Courier New"/>
                <a:sym typeface="Courier New"/>
              </a:rPr>
              <a:t>import</a:t>
            </a:r>
            <a:r>
              <a:rPr lang="en-US" sz="1650" dirty="0">
                <a:solidFill>
                  <a:srgbClr val="242424"/>
                </a:solidFill>
                <a:highlight>
                  <a:srgbClr val="F9F9F9"/>
                </a:highlight>
                <a:latin typeface="Courier New"/>
                <a:ea typeface="Courier New"/>
                <a:cs typeface="Courier New"/>
                <a:sym typeface="Courier New"/>
              </a:rPr>
              <a:t> Counter</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endParaRPr sz="1700" dirty="0">
              <a:solidFill>
                <a:schemeClr val="dk1"/>
              </a:solidFill>
              <a:latin typeface="Arial"/>
              <a:ea typeface="Arial"/>
              <a:cs typeface="Arial"/>
              <a:sym typeface="Arial"/>
            </a:endParaRPr>
          </a:p>
          <a:p>
            <a:pPr marL="0" lvl="0" indent="0" algn="l" rtl="0">
              <a:spcBef>
                <a:spcPts val="700"/>
              </a:spcBef>
              <a:spcAft>
                <a:spcPts val="0"/>
              </a:spcAft>
              <a:buClr>
                <a:schemeClr val="dk1"/>
              </a:buClr>
              <a:buSzPts val="1100"/>
              <a:buFont typeface="Arial"/>
              <a:buNone/>
            </a:pPr>
            <a:r>
              <a:rPr lang="en-US" sz="1650" dirty="0" err="1">
                <a:solidFill>
                  <a:srgbClr val="AA0D91"/>
                </a:solidFill>
                <a:highlight>
                  <a:srgbClr val="F9F9F9"/>
                </a:highlight>
                <a:latin typeface="Courier New"/>
                <a:ea typeface="Courier New"/>
                <a:cs typeface="Courier New"/>
                <a:sym typeface="Courier New"/>
              </a:rPr>
              <a:t>def</a:t>
            </a:r>
            <a:r>
              <a:rPr lang="en-US" sz="1650" dirty="0">
                <a:solidFill>
                  <a:srgbClr val="242424"/>
                </a:solidFill>
                <a:highlight>
                  <a:srgbClr val="F9F9F9"/>
                </a:highlight>
                <a:latin typeface="Courier New"/>
                <a:ea typeface="Courier New"/>
                <a:cs typeface="Courier New"/>
                <a:sym typeface="Courier New"/>
              </a:rPr>
              <a:t> </a:t>
            </a:r>
            <a:r>
              <a:rPr lang="en-US" sz="1650" dirty="0" err="1">
                <a:solidFill>
                  <a:srgbClr val="242424"/>
                </a:solidFill>
                <a:highlight>
                  <a:srgbClr val="F9F9F9"/>
                </a:highlight>
                <a:latin typeface="Courier New"/>
                <a:ea typeface="Courier New"/>
                <a:cs typeface="Courier New"/>
                <a:sym typeface="Courier New"/>
              </a:rPr>
              <a:t>ngram</a:t>
            </a:r>
            <a:r>
              <a:rPr lang="en-US" sz="1650" dirty="0">
                <a:solidFill>
                  <a:srgbClr val="242424"/>
                </a:solidFill>
                <a:highlight>
                  <a:srgbClr val="F9F9F9"/>
                </a:highlight>
                <a:latin typeface="Courier New"/>
                <a:ea typeface="Courier New"/>
                <a:cs typeface="Courier New"/>
                <a:sym typeface="Courier New"/>
              </a:rPr>
              <a:t>(</a:t>
            </a:r>
            <a:r>
              <a:rPr lang="en-US" sz="1650" dirty="0">
                <a:solidFill>
                  <a:srgbClr val="5C2699"/>
                </a:solidFill>
                <a:highlight>
                  <a:srgbClr val="F9F9F9"/>
                </a:highlight>
                <a:latin typeface="Courier New"/>
                <a:ea typeface="Courier New"/>
                <a:cs typeface="Courier New"/>
                <a:sym typeface="Courier New"/>
              </a:rPr>
              <a:t>tokens, n</a:t>
            </a:r>
            <a:r>
              <a:rPr lang="en-US" sz="1650" dirty="0">
                <a:solidFill>
                  <a:srgbClr val="242424"/>
                </a:solidFill>
                <a:highlight>
                  <a:srgbClr val="F9F9F9"/>
                </a:highlight>
                <a:latin typeface="Courier New"/>
                <a:ea typeface="Courier New"/>
                <a:cs typeface="Courier New"/>
                <a:sym typeface="Courier New"/>
              </a:rPr>
              <a:t>):</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AA0D91"/>
                </a:solidFill>
                <a:highlight>
                  <a:srgbClr val="F9F9F9"/>
                </a:highlight>
                <a:latin typeface="Courier New"/>
                <a:ea typeface="Courier New"/>
                <a:cs typeface="Courier New"/>
                <a:sym typeface="Courier New"/>
              </a:rPr>
              <a:t>return</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5C2699"/>
                </a:solidFill>
                <a:highlight>
                  <a:srgbClr val="F9F9F9"/>
                </a:highlight>
                <a:latin typeface="Courier New"/>
                <a:ea typeface="Courier New"/>
                <a:cs typeface="Courier New"/>
                <a:sym typeface="Courier New"/>
              </a:rPr>
              <a:t>list</a:t>
            </a:r>
            <a:r>
              <a:rPr lang="en-US" sz="1650" dirty="0">
                <a:solidFill>
                  <a:srgbClr val="242424"/>
                </a:solidFill>
                <a:highlight>
                  <a:srgbClr val="F9F9F9"/>
                </a:highlight>
                <a:latin typeface="Courier New"/>
                <a:ea typeface="Courier New"/>
                <a:cs typeface="Courier New"/>
                <a:sym typeface="Courier New"/>
              </a:rPr>
              <a:t>(</a:t>
            </a:r>
            <a:r>
              <a:rPr lang="en-US" sz="1650" dirty="0">
                <a:solidFill>
                  <a:srgbClr val="5C2699"/>
                </a:solidFill>
                <a:highlight>
                  <a:srgbClr val="F9F9F9"/>
                </a:highlight>
                <a:latin typeface="Courier New"/>
                <a:ea typeface="Courier New"/>
                <a:cs typeface="Courier New"/>
                <a:sym typeface="Courier New"/>
              </a:rPr>
              <a:t>zip</a:t>
            </a:r>
            <a:r>
              <a:rPr lang="en-US" sz="1650" dirty="0">
                <a:solidFill>
                  <a:srgbClr val="242424"/>
                </a:solidFill>
                <a:highlight>
                  <a:srgbClr val="F9F9F9"/>
                </a:highlight>
                <a:latin typeface="Courier New"/>
                <a:ea typeface="Courier New"/>
                <a:cs typeface="Courier New"/>
                <a:sym typeface="Courier New"/>
              </a:rPr>
              <a:t>(*[tokens[</a:t>
            </a:r>
            <a:r>
              <a:rPr lang="en-US" sz="1650" dirty="0" err="1">
                <a:solidFill>
                  <a:srgbClr val="242424"/>
                </a:solidFill>
                <a:highlight>
                  <a:srgbClr val="F9F9F9"/>
                </a:highlight>
                <a:latin typeface="Courier New"/>
                <a:ea typeface="Courier New"/>
                <a:cs typeface="Courier New"/>
                <a:sym typeface="Courier New"/>
              </a:rPr>
              <a:t>i</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AA0D91"/>
                </a:solidFill>
                <a:highlight>
                  <a:srgbClr val="F9F9F9"/>
                </a:highlight>
                <a:latin typeface="Courier New"/>
                <a:ea typeface="Courier New"/>
                <a:cs typeface="Courier New"/>
                <a:sym typeface="Courier New"/>
              </a:rPr>
              <a:t>for</a:t>
            </a:r>
            <a:r>
              <a:rPr lang="en-US" sz="1650" dirty="0">
                <a:solidFill>
                  <a:srgbClr val="242424"/>
                </a:solidFill>
                <a:highlight>
                  <a:srgbClr val="F9F9F9"/>
                </a:highlight>
                <a:latin typeface="Courier New"/>
                <a:ea typeface="Courier New"/>
                <a:cs typeface="Courier New"/>
                <a:sym typeface="Courier New"/>
              </a:rPr>
              <a:t> </a:t>
            </a:r>
            <a:r>
              <a:rPr lang="en-US" sz="1650" dirty="0" err="1">
                <a:solidFill>
                  <a:srgbClr val="242424"/>
                </a:solidFill>
                <a:highlight>
                  <a:srgbClr val="F9F9F9"/>
                </a:highlight>
                <a:latin typeface="Courier New"/>
                <a:ea typeface="Courier New"/>
                <a:cs typeface="Courier New"/>
                <a:sym typeface="Courier New"/>
              </a:rPr>
              <a:t>i</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AA0D91"/>
                </a:solidFill>
                <a:highlight>
                  <a:srgbClr val="F9F9F9"/>
                </a:highlight>
                <a:latin typeface="Courier New"/>
                <a:ea typeface="Courier New"/>
                <a:cs typeface="Courier New"/>
                <a:sym typeface="Courier New"/>
              </a:rPr>
              <a:t>in</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5C2699"/>
                </a:solidFill>
                <a:highlight>
                  <a:srgbClr val="F9F9F9"/>
                </a:highlight>
                <a:latin typeface="Courier New"/>
                <a:ea typeface="Courier New"/>
                <a:cs typeface="Courier New"/>
                <a:sym typeface="Courier New"/>
              </a:rPr>
              <a:t>range</a:t>
            </a:r>
            <a:r>
              <a:rPr lang="en-US" sz="1650" dirty="0">
                <a:solidFill>
                  <a:srgbClr val="242424"/>
                </a:solidFill>
                <a:highlight>
                  <a:srgbClr val="F9F9F9"/>
                </a:highlight>
                <a:latin typeface="Courier New"/>
                <a:ea typeface="Courier New"/>
                <a:cs typeface="Courier New"/>
                <a:sym typeface="Courier New"/>
              </a:rPr>
              <a:t>(n)]))</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endParaRPr sz="1700" dirty="0">
              <a:solidFill>
                <a:schemeClr val="dk1"/>
              </a:solidFill>
              <a:latin typeface="Arial"/>
              <a:ea typeface="Arial"/>
              <a:cs typeface="Arial"/>
              <a:sym typeface="Arial"/>
            </a:endParaRPr>
          </a:p>
          <a:p>
            <a:pPr marL="0" lvl="0" indent="0" algn="l" rtl="0">
              <a:spcBef>
                <a:spcPts val="700"/>
              </a:spcBef>
              <a:spcAft>
                <a:spcPts val="0"/>
              </a:spcAft>
              <a:buClr>
                <a:schemeClr val="dk1"/>
              </a:buClr>
              <a:buSzPts val="1100"/>
              <a:buFont typeface="Arial"/>
              <a:buNone/>
            </a:pPr>
            <a:r>
              <a:rPr lang="en-US" sz="1650" dirty="0">
                <a:solidFill>
                  <a:srgbClr val="242424"/>
                </a:solidFill>
                <a:highlight>
                  <a:srgbClr val="F9F9F9"/>
                </a:highlight>
                <a:latin typeface="Courier New"/>
                <a:ea typeface="Courier New"/>
                <a:cs typeface="Courier New"/>
                <a:sym typeface="Courier New"/>
              </a:rPr>
              <a:t>corpus = </a:t>
            </a:r>
            <a:r>
              <a:rPr lang="en-US" sz="1650" dirty="0" err="1">
                <a:solidFill>
                  <a:srgbClr val="242424"/>
                </a:solidFill>
                <a:highlight>
                  <a:srgbClr val="F9F9F9"/>
                </a:highlight>
                <a:latin typeface="Courier New"/>
                <a:ea typeface="Courier New"/>
                <a:cs typeface="Courier New"/>
                <a:sym typeface="Courier New"/>
              </a:rPr>
              <a:t>brown.sents</a:t>
            </a:r>
            <a:r>
              <a:rPr lang="en-US" sz="1650" dirty="0">
                <a:solidFill>
                  <a:srgbClr val="242424"/>
                </a:solidFill>
                <a:highlight>
                  <a:srgbClr val="F9F9F9"/>
                </a:highlight>
                <a:latin typeface="Courier New"/>
                <a:ea typeface="Courier New"/>
                <a:cs typeface="Courier New"/>
                <a:sym typeface="Courier New"/>
              </a:rPr>
              <a:t>()</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a:solidFill>
                  <a:srgbClr val="242424"/>
                </a:solidFill>
                <a:highlight>
                  <a:srgbClr val="F9F9F9"/>
                </a:highlight>
                <a:latin typeface="Courier New"/>
                <a:ea typeface="Courier New"/>
                <a:cs typeface="Courier New"/>
                <a:sym typeface="Courier New"/>
              </a:rPr>
              <a:t>tokens = [</a:t>
            </a:r>
            <a:r>
              <a:rPr lang="en-US" sz="1650" dirty="0" err="1">
                <a:solidFill>
                  <a:srgbClr val="242424"/>
                </a:solidFill>
                <a:highlight>
                  <a:srgbClr val="F9F9F9"/>
                </a:highlight>
                <a:latin typeface="Courier New"/>
                <a:ea typeface="Courier New"/>
                <a:cs typeface="Courier New"/>
                <a:sym typeface="Courier New"/>
              </a:rPr>
              <a:t>token.lower</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AA0D91"/>
                </a:solidFill>
                <a:highlight>
                  <a:srgbClr val="F9F9F9"/>
                </a:highlight>
                <a:latin typeface="Courier New"/>
                <a:ea typeface="Courier New"/>
                <a:cs typeface="Courier New"/>
                <a:sym typeface="Courier New"/>
              </a:rPr>
              <a:t>for</a:t>
            </a:r>
            <a:r>
              <a:rPr lang="en-US" sz="1650" dirty="0">
                <a:solidFill>
                  <a:srgbClr val="242424"/>
                </a:solidFill>
                <a:highlight>
                  <a:srgbClr val="F9F9F9"/>
                </a:highlight>
                <a:latin typeface="Courier New"/>
                <a:ea typeface="Courier New"/>
                <a:cs typeface="Courier New"/>
                <a:sym typeface="Courier New"/>
              </a:rPr>
              <a:t> sent </a:t>
            </a:r>
            <a:r>
              <a:rPr lang="en-US" sz="1650" dirty="0">
                <a:solidFill>
                  <a:srgbClr val="AA0D91"/>
                </a:solidFill>
                <a:highlight>
                  <a:srgbClr val="F9F9F9"/>
                </a:highlight>
                <a:latin typeface="Courier New"/>
                <a:ea typeface="Courier New"/>
                <a:cs typeface="Courier New"/>
                <a:sym typeface="Courier New"/>
              </a:rPr>
              <a:t>in</a:t>
            </a:r>
            <a:r>
              <a:rPr lang="en-US" sz="1650" dirty="0">
                <a:solidFill>
                  <a:srgbClr val="242424"/>
                </a:solidFill>
                <a:highlight>
                  <a:srgbClr val="F9F9F9"/>
                </a:highlight>
                <a:latin typeface="Courier New"/>
                <a:ea typeface="Courier New"/>
                <a:cs typeface="Courier New"/>
                <a:sym typeface="Courier New"/>
              </a:rPr>
              <a:t> corpus </a:t>
            </a:r>
            <a:r>
              <a:rPr lang="en-US" sz="1650" dirty="0">
                <a:solidFill>
                  <a:srgbClr val="AA0D91"/>
                </a:solidFill>
                <a:highlight>
                  <a:srgbClr val="F9F9F9"/>
                </a:highlight>
                <a:latin typeface="Courier New"/>
                <a:ea typeface="Courier New"/>
                <a:cs typeface="Courier New"/>
                <a:sym typeface="Courier New"/>
              </a:rPr>
              <a:t>for</a:t>
            </a:r>
            <a:r>
              <a:rPr lang="en-US" sz="1650" dirty="0">
                <a:solidFill>
                  <a:srgbClr val="242424"/>
                </a:solidFill>
                <a:highlight>
                  <a:srgbClr val="F9F9F9"/>
                </a:highlight>
                <a:latin typeface="Courier New"/>
                <a:ea typeface="Courier New"/>
                <a:cs typeface="Courier New"/>
                <a:sym typeface="Courier New"/>
              </a:rPr>
              <a:t> token </a:t>
            </a:r>
            <a:r>
              <a:rPr lang="en-US" sz="1650" dirty="0">
                <a:solidFill>
                  <a:srgbClr val="AA0D91"/>
                </a:solidFill>
                <a:highlight>
                  <a:srgbClr val="F9F9F9"/>
                </a:highlight>
                <a:latin typeface="Courier New"/>
                <a:ea typeface="Courier New"/>
                <a:cs typeface="Courier New"/>
                <a:sym typeface="Courier New"/>
              </a:rPr>
              <a:t>in</a:t>
            </a:r>
            <a:r>
              <a:rPr lang="en-US" sz="1650" dirty="0">
                <a:solidFill>
                  <a:srgbClr val="242424"/>
                </a:solidFill>
                <a:highlight>
                  <a:srgbClr val="F9F9F9"/>
                </a:highlight>
                <a:latin typeface="Courier New"/>
                <a:ea typeface="Courier New"/>
                <a:cs typeface="Courier New"/>
                <a:sym typeface="Courier New"/>
              </a:rPr>
              <a:t> sent]</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endParaRPr sz="1700" dirty="0">
              <a:solidFill>
                <a:schemeClr val="dk1"/>
              </a:solidFill>
              <a:latin typeface="Arial"/>
              <a:ea typeface="Arial"/>
              <a:cs typeface="Arial"/>
              <a:sym typeface="Arial"/>
            </a:endParaRPr>
          </a:p>
          <a:p>
            <a:pPr marL="0" lvl="0" indent="0" algn="l" rtl="0">
              <a:spcBef>
                <a:spcPts val="700"/>
              </a:spcBef>
              <a:spcAft>
                <a:spcPts val="0"/>
              </a:spcAft>
              <a:buClr>
                <a:schemeClr val="dk1"/>
              </a:buClr>
              <a:buSzPts val="1100"/>
              <a:buFont typeface="Arial"/>
              <a:buNone/>
            </a:pPr>
            <a:r>
              <a:rPr lang="en-US" sz="1650" dirty="0" err="1">
                <a:solidFill>
                  <a:srgbClr val="242424"/>
                </a:solidFill>
                <a:highlight>
                  <a:srgbClr val="F9F9F9"/>
                </a:highlight>
                <a:latin typeface="Courier New"/>
                <a:ea typeface="Courier New"/>
                <a:cs typeface="Courier New"/>
                <a:sym typeface="Courier New"/>
              </a:rPr>
              <a:t>unigram_counts</a:t>
            </a:r>
            <a:r>
              <a:rPr lang="en-US" sz="1650" dirty="0">
                <a:solidFill>
                  <a:srgbClr val="242424"/>
                </a:solidFill>
                <a:highlight>
                  <a:srgbClr val="F9F9F9"/>
                </a:highlight>
                <a:latin typeface="Courier New"/>
                <a:ea typeface="Courier New"/>
                <a:cs typeface="Courier New"/>
                <a:sym typeface="Courier New"/>
              </a:rPr>
              <a:t> = Counter(</a:t>
            </a:r>
            <a:r>
              <a:rPr lang="en-US" sz="1650" dirty="0" err="1">
                <a:solidFill>
                  <a:srgbClr val="242424"/>
                </a:solidFill>
                <a:highlight>
                  <a:srgbClr val="F9F9F9"/>
                </a:highlight>
                <a:latin typeface="Courier New"/>
                <a:ea typeface="Courier New"/>
                <a:cs typeface="Courier New"/>
                <a:sym typeface="Courier New"/>
              </a:rPr>
              <a:t>ngram</a:t>
            </a:r>
            <a:r>
              <a:rPr lang="en-US" sz="1650" dirty="0">
                <a:solidFill>
                  <a:srgbClr val="242424"/>
                </a:solidFill>
                <a:highlight>
                  <a:srgbClr val="F9F9F9"/>
                </a:highlight>
                <a:latin typeface="Courier New"/>
                <a:ea typeface="Courier New"/>
                <a:cs typeface="Courier New"/>
                <a:sym typeface="Courier New"/>
              </a:rPr>
              <a:t>(tokens, </a:t>
            </a:r>
            <a:r>
              <a:rPr lang="en-US" sz="1650" dirty="0">
                <a:solidFill>
                  <a:srgbClr val="1C00CF"/>
                </a:solidFill>
                <a:highlight>
                  <a:srgbClr val="F9F9F9"/>
                </a:highlight>
                <a:latin typeface="Courier New"/>
                <a:ea typeface="Courier New"/>
                <a:cs typeface="Courier New"/>
                <a:sym typeface="Courier New"/>
              </a:rPr>
              <a:t>1</a:t>
            </a:r>
            <a:r>
              <a:rPr lang="en-US" sz="1650" dirty="0">
                <a:solidFill>
                  <a:srgbClr val="242424"/>
                </a:solidFill>
                <a:highlight>
                  <a:srgbClr val="F9F9F9"/>
                </a:highlight>
                <a:latin typeface="Courier New"/>
                <a:ea typeface="Courier New"/>
                <a:cs typeface="Courier New"/>
                <a:sym typeface="Courier New"/>
              </a:rPr>
              <a:t>))</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err="1">
                <a:solidFill>
                  <a:srgbClr val="242424"/>
                </a:solidFill>
                <a:highlight>
                  <a:srgbClr val="F9F9F9"/>
                </a:highlight>
                <a:latin typeface="Courier New"/>
                <a:ea typeface="Courier New"/>
                <a:cs typeface="Courier New"/>
                <a:sym typeface="Courier New"/>
              </a:rPr>
              <a:t>bigram_counts</a:t>
            </a:r>
            <a:r>
              <a:rPr lang="en-US" sz="1650" dirty="0">
                <a:solidFill>
                  <a:srgbClr val="242424"/>
                </a:solidFill>
                <a:highlight>
                  <a:srgbClr val="F9F9F9"/>
                </a:highlight>
                <a:latin typeface="Courier New"/>
                <a:ea typeface="Courier New"/>
                <a:cs typeface="Courier New"/>
                <a:sym typeface="Courier New"/>
              </a:rPr>
              <a:t> = Counter(</a:t>
            </a:r>
            <a:r>
              <a:rPr lang="en-US" sz="1650" dirty="0" err="1">
                <a:solidFill>
                  <a:srgbClr val="242424"/>
                </a:solidFill>
                <a:highlight>
                  <a:srgbClr val="F9F9F9"/>
                </a:highlight>
                <a:latin typeface="Courier New"/>
                <a:ea typeface="Courier New"/>
                <a:cs typeface="Courier New"/>
                <a:sym typeface="Courier New"/>
              </a:rPr>
              <a:t>ngram</a:t>
            </a:r>
            <a:r>
              <a:rPr lang="en-US" sz="1650" dirty="0">
                <a:solidFill>
                  <a:srgbClr val="242424"/>
                </a:solidFill>
                <a:highlight>
                  <a:srgbClr val="F9F9F9"/>
                </a:highlight>
                <a:latin typeface="Courier New"/>
                <a:ea typeface="Courier New"/>
                <a:cs typeface="Courier New"/>
                <a:sym typeface="Courier New"/>
              </a:rPr>
              <a:t>(tokens, </a:t>
            </a:r>
            <a:r>
              <a:rPr lang="en-US" sz="1650" dirty="0">
                <a:solidFill>
                  <a:srgbClr val="1C00CF"/>
                </a:solidFill>
                <a:highlight>
                  <a:srgbClr val="F9F9F9"/>
                </a:highlight>
                <a:latin typeface="Courier New"/>
                <a:ea typeface="Courier New"/>
                <a:cs typeface="Courier New"/>
                <a:sym typeface="Courier New"/>
              </a:rPr>
              <a:t>2</a:t>
            </a:r>
            <a:r>
              <a:rPr lang="en-US" sz="1650" dirty="0">
                <a:solidFill>
                  <a:srgbClr val="242424"/>
                </a:solidFill>
                <a:highlight>
                  <a:srgbClr val="F9F9F9"/>
                </a:highlight>
                <a:latin typeface="Courier New"/>
                <a:ea typeface="Courier New"/>
                <a:cs typeface="Courier New"/>
                <a:sym typeface="Courier New"/>
              </a:rPr>
              <a:t>))</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err="1">
                <a:solidFill>
                  <a:srgbClr val="242424"/>
                </a:solidFill>
                <a:highlight>
                  <a:srgbClr val="F9F9F9"/>
                </a:highlight>
                <a:latin typeface="Courier New"/>
                <a:ea typeface="Courier New"/>
                <a:cs typeface="Courier New"/>
                <a:sym typeface="Courier New"/>
              </a:rPr>
              <a:t>total_count</a:t>
            </a:r>
            <a:r>
              <a:rPr lang="en-US" sz="1650" dirty="0">
                <a:solidFill>
                  <a:srgbClr val="242424"/>
                </a:solidFill>
                <a:highlight>
                  <a:srgbClr val="F9F9F9"/>
                </a:highlight>
                <a:latin typeface="Courier New"/>
                <a:ea typeface="Courier New"/>
                <a:cs typeface="Courier New"/>
                <a:sym typeface="Courier New"/>
              </a:rPr>
              <a:t> = </a:t>
            </a:r>
            <a:r>
              <a:rPr lang="en-US" sz="1650" dirty="0" err="1">
                <a:solidFill>
                  <a:srgbClr val="5C2699"/>
                </a:solidFill>
                <a:highlight>
                  <a:srgbClr val="F9F9F9"/>
                </a:highlight>
                <a:latin typeface="Courier New"/>
                <a:ea typeface="Courier New"/>
                <a:cs typeface="Courier New"/>
                <a:sym typeface="Courier New"/>
              </a:rPr>
              <a:t>len</a:t>
            </a:r>
            <a:r>
              <a:rPr lang="en-US" sz="1650" dirty="0">
                <a:solidFill>
                  <a:srgbClr val="242424"/>
                </a:solidFill>
                <a:highlight>
                  <a:srgbClr val="F9F9F9"/>
                </a:highlight>
                <a:latin typeface="Courier New"/>
                <a:ea typeface="Courier New"/>
                <a:cs typeface="Courier New"/>
                <a:sym typeface="Courier New"/>
              </a:rPr>
              <a:t>(tokens)</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err="1">
                <a:solidFill>
                  <a:srgbClr val="242424"/>
                </a:solidFill>
                <a:highlight>
                  <a:srgbClr val="F9F9F9"/>
                </a:highlight>
                <a:latin typeface="Courier New"/>
                <a:ea typeface="Courier New"/>
                <a:cs typeface="Courier New"/>
                <a:sym typeface="Courier New"/>
              </a:rPr>
              <a:t>unigram_probs</a:t>
            </a:r>
            <a:r>
              <a:rPr lang="en-US" sz="1650" dirty="0">
                <a:solidFill>
                  <a:srgbClr val="242424"/>
                </a:solidFill>
                <a:highlight>
                  <a:srgbClr val="F9F9F9"/>
                </a:highlight>
                <a:latin typeface="Courier New"/>
                <a:ea typeface="Courier New"/>
                <a:cs typeface="Courier New"/>
                <a:sym typeface="Courier New"/>
              </a:rPr>
              <a:t> = {unigram: count/</a:t>
            </a:r>
            <a:r>
              <a:rPr lang="en-US" sz="1650" dirty="0" err="1">
                <a:solidFill>
                  <a:srgbClr val="242424"/>
                </a:solidFill>
                <a:highlight>
                  <a:srgbClr val="F9F9F9"/>
                </a:highlight>
                <a:latin typeface="Courier New"/>
                <a:ea typeface="Courier New"/>
                <a:cs typeface="Courier New"/>
                <a:sym typeface="Courier New"/>
              </a:rPr>
              <a:t>total_count</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AA0D91"/>
                </a:solidFill>
                <a:highlight>
                  <a:srgbClr val="F9F9F9"/>
                </a:highlight>
                <a:latin typeface="Courier New"/>
                <a:ea typeface="Courier New"/>
                <a:cs typeface="Courier New"/>
                <a:sym typeface="Courier New"/>
              </a:rPr>
              <a:t>for</a:t>
            </a:r>
            <a:r>
              <a:rPr lang="en-US" sz="1650" dirty="0">
                <a:solidFill>
                  <a:srgbClr val="242424"/>
                </a:solidFill>
                <a:highlight>
                  <a:srgbClr val="F9F9F9"/>
                </a:highlight>
                <a:latin typeface="Courier New"/>
                <a:ea typeface="Courier New"/>
                <a:cs typeface="Courier New"/>
                <a:sym typeface="Courier New"/>
              </a:rPr>
              <a:t> unigram, count </a:t>
            </a:r>
            <a:r>
              <a:rPr lang="en-US" sz="1650" dirty="0">
                <a:solidFill>
                  <a:srgbClr val="AA0D91"/>
                </a:solidFill>
                <a:highlight>
                  <a:srgbClr val="F9F9F9"/>
                </a:highlight>
                <a:latin typeface="Courier New"/>
                <a:ea typeface="Courier New"/>
                <a:cs typeface="Courier New"/>
                <a:sym typeface="Courier New"/>
              </a:rPr>
              <a:t>in</a:t>
            </a:r>
            <a:r>
              <a:rPr lang="en-US" sz="1650" dirty="0">
                <a:solidFill>
                  <a:srgbClr val="242424"/>
                </a:solidFill>
                <a:highlight>
                  <a:srgbClr val="F9F9F9"/>
                </a:highlight>
                <a:latin typeface="Courier New"/>
                <a:ea typeface="Courier New"/>
                <a:cs typeface="Courier New"/>
                <a:sym typeface="Courier New"/>
              </a:rPr>
              <a:t> </a:t>
            </a:r>
            <a:r>
              <a:rPr lang="en-US" sz="1650" dirty="0" err="1">
                <a:solidFill>
                  <a:srgbClr val="242424"/>
                </a:solidFill>
                <a:highlight>
                  <a:srgbClr val="F9F9F9"/>
                </a:highlight>
                <a:latin typeface="Courier New"/>
                <a:ea typeface="Courier New"/>
                <a:cs typeface="Courier New"/>
                <a:sym typeface="Courier New"/>
              </a:rPr>
              <a:t>unigram_counts.items</a:t>
            </a:r>
            <a:r>
              <a:rPr lang="en-US" sz="1650" dirty="0">
                <a:solidFill>
                  <a:srgbClr val="242424"/>
                </a:solidFill>
                <a:highlight>
                  <a:srgbClr val="F9F9F9"/>
                </a:highlight>
                <a:latin typeface="Courier New"/>
                <a:ea typeface="Courier New"/>
                <a:cs typeface="Courier New"/>
                <a:sym typeface="Courier New"/>
              </a:rPr>
              <a:t>()}</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1650" dirty="0" err="1">
                <a:solidFill>
                  <a:srgbClr val="242424"/>
                </a:solidFill>
                <a:highlight>
                  <a:srgbClr val="F9F9F9"/>
                </a:highlight>
                <a:latin typeface="Courier New"/>
                <a:ea typeface="Courier New"/>
                <a:cs typeface="Courier New"/>
                <a:sym typeface="Courier New"/>
              </a:rPr>
              <a:t>bigram_probs</a:t>
            </a:r>
            <a:r>
              <a:rPr lang="en-US" sz="1650" dirty="0">
                <a:solidFill>
                  <a:srgbClr val="242424"/>
                </a:solidFill>
                <a:highlight>
                  <a:srgbClr val="F9F9F9"/>
                </a:highlight>
                <a:latin typeface="Courier New"/>
                <a:ea typeface="Courier New"/>
                <a:cs typeface="Courier New"/>
                <a:sym typeface="Courier New"/>
              </a:rPr>
              <a:t> = {bigram: count/</a:t>
            </a:r>
            <a:r>
              <a:rPr lang="en-US" sz="1650" dirty="0" err="1">
                <a:solidFill>
                  <a:srgbClr val="242424"/>
                </a:solidFill>
                <a:highlight>
                  <a:srgbClr val="F9F9F9"/>
                </a:highlight>
                <a:latin typeface="Courier New"/>
                <a:ea typeface="Courier New"/>
                <a:cs typeface="Courier New"/>
                <a:sym typeface="Courier New"/>
              </a:rPr>
              <a:t>unigram_counts</a:t>
            </a:r>
            <a:r>
              <a:rPr lang="en-US" sz="1650" dirty="0">
                <a:solidFill>
                  <a:srgbClr val="242424"/>
                </a:solidFill>
                <a:highlight>
                  <a:srgbClr val="F9F9F9"/>
                </a:highlight>
                <a:latin typeface="Courier New"/>
                <a:ea typeface="Courier New"/>
                <a:cs typeface="Courier New"/>
                <a:sym typeface="Courier New"/>
              </a:rPr>
              <a:t>[bigram[:</a:t>
            </a:r>
            <a:r>
              <a:rPr lang="en-US" sz="1650" dirty="0">
                <a:solidFill>
                  <a:srgbClr val="1C00CF"/>
                </a:solidFill>
                <a:highlight>
                  <a:srgbClr val="F9F9F9"/>
                </a:highlight>
                <a:latin typeface="Courier New"/>
                <a:ea typeface="Courier New"/>
                <a:cs typeface="Courier New"/>
                <a:sym typeface="Courier New"/>
              </a:rPr>
              <a:t>1</a:t>
            </a:r>
            <a:r>
              <a:rPr lang="en-US" sz="1650" dirty="0">
                <a:solidFill>
                  <a:srgbClr val="242424"/>
                </a:solidFill>
                <a:highlight>
                  <a:srgbClr val="F9F9F9"/>
                </a:highlight>
                <a:latin typeface="Courier New"/>
                <a:ea typeface="Courier New"/>
                <a:cs typeface="Courier New"/>
                <a:sym typeface="Courier New"/>
              </a:rPr>
              <a:t>]] </a:t>
            </a:r>
            <a:r>
              <a:rPr lang="en-US" sz="1650" dirty="0">
                <a:solidFill>
                  <a:srgbClr val="AA0D91"/>
                </a:solidFill>
                <a:highlight>
                  <a:srgbClr val="F9F9F9"/>
                </a:highlight>
                <a:latin typeface="Courier New"/>
                <a:ea typeface="Courier New"/>
                <a:cs typeface="Courier New"/>
                <a:sym typeface="Courier New"/>
              </a:rPr>
              <a:t>for</a:t>
            </a:r>
            <a:r>
              <a:rPr lang="en-US" sz="1650" dirty="0">
                <a:solidFill>
                  <a:srgbClr val="242424"/>
                </a:solidFill>
                <a:highlight>
                  <a:srgbClr val="F9F9F9"/>
                </a:highlight>
                <a:latin typeface="Courier New"/>
                <a:ea typeface="Courier New"/>
                <a:cs typeface="Courier New"/>
                <a:sym typeface="Courier New"/>
              </a:rPr>
              <a:t> bigram, count </a:t>
            </a:r>
            <a:r>
              <a:rPr lang="en-US" sz="1650" dirty="0">
                <a:solidFill>
                  <a:srgbClr val="AA0D91"/>
                </a:solidFill>
                <a:highlight>
                  <a:srgbClr val="F9F9F9"/>
                </a:highlight>
                <a:latin typeface="Courier New"/>
                <a:ea typeface="Courier New"/>
                <a:cs typeface="Courier New"/>
                <a:sym typeface="Courier New"/>
              </a:rPr>
              <a:t>in</a:t>
            </a:r>
            <a:r>
              <a:rPr lang="en-US" sz="1650" dirty="0">
                <a:solidFill>
                  <a:srgbClr val="242424"/>
                </a:solidFill>
                <a:highlight>
                  <a:srgbClr val="F9F9F9"/>
                </a:highlight>
                <a:latin typeface="Courier New"/>
                <a:ea typeface="Courier New"/>
                <a:cs typeface="Courier New"/>
                <a:sym typeface="Courier New"/>
              </a:rPr>
              <a:t> </a:t>
            </a:r>
            <a:r>
              <a:rPr lang="en-US" sz="1650" dirty="0" err="1">
                <a:solidFill>
                  <a:srgbClr val="242424"/>
                </a:solidFill>
                <a:highlight>
                  <a:srgbClr val="F9F9F9"/>
                </a:highlight>
                <a:latin typeface="Courier New"/>
                <a:ea typeface="Courier New"/>
                <a:cs typeface="Courier New"/>
                <a:sym typeface="Courier New"/>
              </a:rPr>
              <a:t>bigram_counts.items</a:t>
            </a:r>
            <a:r>
              <a:rPr lang="en-US" sz="1650" dirty="0">
                <a:solidFill>
                  <a:srgbClr val="242424"/>
                </a:solidFill>
                <a:highlight>
                  <a:srgbClr val="F9F9F9"/>
                </a:highlight>
                <a:latin typeface="Courier New"/>
                <a:ea typeface="Courier New"/>
                <a:cs typeface="Courier New"/>
                <a:sym typeface="Courier New"/>
              </a:rPr>
              <a:t>()}</a:t>
            </a:r>
            <a:endParaRPr sz="1650" dirty="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endParaRPr sz="1700" dirty="0">
              <a:solidFill>
                <a:schemeClr val="dk1"/>
              </a:solidFill>
              <a:latin typeface="Arial"/>
              <a:ea typeface="Arial"/>
              <a:cs typeface="Arial"/>
              <a:sym typeface="Arial"/>
            </a:endParaRPr>
          </a:p>
          <a:p>
            <a:pPr marL="0" lvl="0" indent="0" algn="l" rtl="0">
              <a:spcBef>
                <a:spcPts val="700"/>
              </a:spcBef>
              <a:spcAft>
                <a:spcPts val="0"/>
              </a:spcAft>
              <a:buNone/>
            </a:pPr>
            <a:endParaRPr sz="26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33789ed7c53_0_67"/>
          <p:cNvSpPr txBox="1">
            <a:spLocks noGrp="1"/>
          </p:cNvSpPr>
          <p:nvPr>
            <p:ph type="body" idx="1"/>
          </p:nvPr>
        </p:nvSpPr>
        <p:spPr>
          <a:xfrm>
            <a:off x="1251675" y="193750"/>
            <a:ext cx="10178400" cy="65043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Clr>
                <a:schemeClr val="dk1"/>
              </a:buClr>
              <a:buSzPts val="1100"/>
              <a:buFont typeface="Arial"/>
              <a:buNone/>
            </a:pPr>
            <a:r>
              <a:rPr lang="en-US" sz="2150">
                <a:solidFill>
                  <a:srgbClr val="AA0D91"/>
                </a:solidFill>
                <a:highlight>
                  <a:srgbClr val="F9F9F9"/>
                </a:highlight>
                <a:latin typeface="Courier New"/>
                <a:ea typeface="Courier New"/>
                <a:cs typeface="Courier New"/>
                <a:sym typeface="Courier New"/>
              </a:rPr>
              <a:t>def</a:t>
            </a:r>
            <a:r>
              <a:rPr lang="en-US" sz="2150">
                <a:solidFill>
                  <a:srgbClr val="242424"/>
                </a:solidFill>
                <a:highlight>
                  <a:srgbClr val="F9F9F9"/>
                </a:highlight>
                <a:latin typeface="Courier New"/>
                <a:ea typeface="Courier New"/>
                <a:cs typeface="Courier New"/>
                <a:sym typeface="Courier New"/>
              </a:rPr>
              <a:t> sentence_prob(</a:t>
            </a:r>
            <a:r>
              <a:rPr lang="en-US" sz="2150">
                <a:solidFill>
                  <a:srgbClr val="5C2699"/>
                </a:solidFill>
                <a:highlight>
                  <a:srgbClr val="F9F9F9"/>
                </a:highlight>
                <a:latin typeface="Courier New"/>
                <a:ea typeface="Courier New"/>
                <a:cs typeface="Courier New"/>
                <a:sym typeface="Courier New"/>
              </a:rPr>
              <a:t>sentence</a:t>
            </a:r>
            <a:r>
              <a:rPr lang="en-US" sz="2150">
                <a:solidFill>
                  <a:srgbClr val="242424"/>
                </a:solidFill>
                <a:highlight>
                  <a:srgbClr val="F9F9F9"/>
                </a:highlight>
                <a:latin typeface="Courier New"/>
                <a:ea typeface="Courier New"/>
                <a:cs typeface="Courier New"/>
                <a:sym typeface="Courier New"/>
              </a:rPr>
              <a:t>):</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tokens = nltk.word_tokenize(sentence.lower())</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bigrams = ngram(tokens, </a:t>
            </a:r>
            <a:r>
              <a:rPr lang="en-US" sz="2150">
                <a:solidFill>
                  <a:srgbClr val="1C00CF"/>
                </a:solidFill>
                <a:highlight>
                  <a:srgbClr val="F9F9F9"/>
                </a:highlight>
                <a:latin typeface="Courier New"/>
                <a:ea typeface="Courier New"/>
                <a:cs typeface="Courier New"/>
                <a:sym typeface="Courier New"/>
              </a:rPr>
              <a:t>2</a:t>
            </a:r>
            <a:r>
              <a:rPr lang="en-US" sz="2150">
                <a:solidFill>
                  <a:srgbClr val="242424"/>
                </a:solidFill>
                <a:highlight>
                  <a:srgbClr val="F9F9F9"/>
                </a:highlight>
                <a:latin typeface="Courier New"/>
                <a:ea typeface="Courier New"/>
                <a:cs typeface="Courier New"/>
                <a:sym typeface="Courier New"/>
              </a:rPr>
              <a:t>)</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prob = </a:t>
            </a:r>
            <a:r>
              <a:rPr lang="en-US" sz="2150">
                <a:solidFill>
                  <a:srgbClr val="1C00CF"/>
                </a:solidFill>
                <a:highlight>
                  <a:srgbClr val="F9F9F9"/>
                </a:highlight>
                <a:latin typeface="Courier New"/>
                <a:ea typeface="Courier New"/>
                <a:cs typeface="Courier New"/>
                <a:sym typeface="Courier New"/>
              </a:rPr>
              <a:t>1</a:t>
            </a:r>
            <a:endParaRPr sz="2150">
              <a:solidFill>
                <a:srgbClr val="1C00CF"/>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a:t>
            </a:r>
            <a:r>
              <a:rPr lang="en-US" sz="2150">
                <a:solidFill>
                  <a:srgbClr val="AA0D91"/>
                </a:solidFill>
                <a:highlight>
                  <a:srgbClr val="F9F9F9"/>
                </a:highlight>
                <a:latin typeface="Courier New"/>
                <a:ea typeface="Courier New"/>
                <a:cs typeface="Courier New"/>
                <a:sym typeface="Courier New"/>
              </a:rPr>
              <a:t>for</a:t>
            </a:r>
            <a:r>
              <a:rPr lang="en-US" sz="2150">
                <a:solidFill>
                  <a:srgbClr val="242424"/>
                </a:solidFill>
                <a:highlight>
                  <a:srgbClr val="F9F9F9"/>
                </a:highlight>
                <a:latin typeface="Courier New"/>
                <a:ea typeface="Courier New"/>
                <a:cs typeface="Courier New"/>
                <a:sym typeface="Courier New"/>
              </a:rPr>
              <a:t> bigram </a:t>
            </a:r>
            <a:r>
              <a:rPr lang="en-US" sz="2150">
                <a:solidFill>
                  <a:srgbClr val="AA0D91"/>
                </a:solidFill>
                <a:highlight>
                  <a:srgbClr val="F9F9F9"/>
                </a:highlight>
                <a:latin typeface="Courier New"/>
                <a:ea typeface="Courier New"/>
                <a:cs typeface="Courier New"/>
                <a:sym typeface="Courier New"/>
              </a:rPr>
              <a:t>in</a:t>
            </a:r>
            <a:r>
              <a:rPr lang="en-US" sz="2150">
                <a:solidFill>
                  <a:srgbClr val="242424"/>
                </a:solidFill>
                <a:highlight>
                  <a:srgbClr val="F9F9F9"/>
                </a:highlight>
                <a:latin typeface="Courier New"/>
                <a:ea typeface="Courier New"/>
                <a:cs typeface="Courier New"/>
                <a:sym typeface="Courier New"/>
              </a:rPr>
              <a:t> bigrams:</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a:t>
            </a:r>
            <a:r>
              <a:rPr lang="en-US" sz="2150">
                <a:solidFill>
                  <a:srgbClr val="AA0D91"/>
                </a:solidFill>
                <a:highlight>
                  <a:srgbClr val="F9F9F9"/>
                </a:highlight>
                <a:latin typeface="Courier New"/>
                <a:ea typeface="Courier New"/>
                <a:cs typeface="Courier New"/>
                <a:sym typeface="Courier New"/>
              </a:rPr>
              <a:t>if</a:t>
            </a:r>
            <a:r>
              <a:rPr lang="en-US" sz="2150">
                <a:solidFill>
                  <a:srgbClr val="242424"/>
                </a:solidFill>
                <a:highlight>
                  <a:srgbClr val="F9F9F9"/>
                </a:highlight>
                <a:latin typeface="Courier New"/>
                <a:ea typeface="Courier New"/>
                <a:cs typeface="Courier New"/>
                <a:sym typeface="Courier New"/>
              </a:rPr>
              <a:t> bigram </a:t>
            </a:r>
            <a:r>
              <a:rPr lang="en-US" sz="2150">
                <a:solidFill>
                  <a:srgbClr val="AA0D91"/>
                </a:solidFill>
                <a:highlight>
                  <a:srgbClr val="F9F9F9"/>
                </a:highlight>
                <a:latin typeface="Courier New"/>
                <a:ea typeface="Courier New"/>
                <a:cs typeface="Courier New"/>
                <a:sym typeface="Courier New"/>
              </a:rPr>
              <a:t>in</a:t>
            </a:r>
            <a:r>
              <a:rPr lang="en-US" sz="2150">
                <a:solidFill>
                  <a:srgbClr val="242424"/>
                </a:solidFill>
                <a:highlight>
                  <a:srgbClr val="F9F9F9"/>
                </a:highlight>
                <a:latin typeface="Courier New"/>
                <a:ea typeface="Courier New"/>
                <a:cs typeface="Courier New"/>
                <a:sym typeface="Courier New"/>
              </a:rPr>
              <a:t> bigram_probs:</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prob *= bigram_probs[bigram]</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a:t>
            </a:r>
            <a:r>
              <a:rPr lang="en-US" sz="2150">
                <a:solidFill>
                  <a:srgbClr val="AA0D91"/>
                </a:solidFill>
                <a:highlight>
                  <a:srgbClr val="F9F9F9"/>
                </a:highlight>
                <a:latin typeface="Courier New"/>
                <a:ea typeface="Courier New"/>
                <a:cs typeface="Courier New"/>
                <a:sym typeface="Courier New"/>
              </a:rPr>
              <a:t>else</a:t>
            </a:r>
            <a:r>
              <a:rPr lang="en-US" sz="2150">
                <a:solidFill>
                  <a:srgbClr val="242424"/>
                </a:solidFill>
                <a:highlight>
                  <a:srgbClr val="F9F9F9"/>
                </a:highlight>
                <a:latin typeface="Courier New"/>
                <a:ea typeface="Courier New"/>
                <a:cs typeface="Courier New"/>
                <a:sym typeface="Courier New"/>
              </a:rPr>
              <a:t>:</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prob *= unigram_probs[(bigram[</a:t>
            </a:r>
            <a:r>
              <a:rPr lang="en-US" sz="2150">
                <a:solidFill>
                  <a:srgbClr val="1C00CF"/>
                </a:solidFill>
                <a:highlight>
                  <a:srgbClr val="F9F9F9"/>
                </a:highlight>
                <a:latin typeface="Courier New"/>
                <a:ea typeface="Courier New"/>
                <a:cs typeface="Courier New"/>
                <a:sym typeface="Courier New"/>
              </a:rPr>
              <a:t>1</a:t>
            </a:r>
            <a:r>
              <a:rPr lang="en-US" sz="2150">
                <a:solidFill>
                  <a:srgbClr val="242424"/>
                </a:solidFill>
                <a:highlight>
                  <a:srgbClr val="F9F9F9"/>
                </a:highlight>
                <a:latin typeface="Courier New"/>
                <a:ea typeface="Courier New"/>
                <a:cs typeface="Courier New"/>
                <a:sym typeface="Courier New"/>
              </a:rPr>
              <a:t>],)]</a:t>
            </a:r>
            <a:endParaRPr sz="2150">
              <a:solidFill>
                <a:srgbClr val="242424"/>
              </a:solidFill>
              <a:highlight>
                <a:srgbClr val="F9F9F9"/>
              </a:highlight>
              <a:latin typeface="Courier New"/>
              <a:ea typeface="Courier New"/>
              <a:cs typeface="Courier New"/>
              <a:sym typeface="Courier New"/>
            </a:endParaRPr>
          </a:p>
          <a:p>
            <a:pPr marL="0" lvl="0" indent="0" algn="l" rtl="0">
              <a:spcBef>
                <a:spcPts val="700"/>
              </a:spcBef>
              <a:spcAft>
                <a:spcPts val="0"/>
              </a:spcAft>
              <a:buClr>
                <a:schemeClr val="dk1"/>
              </a:buClr>
              <a:buSzPts val="1100"/>
              <a:buFont typeface="Arial"/>
              <a:buNone/>
            </a:pPr>
            <a:r>
              <a:rPr lang="en-US" sz="2150">
                <a:solidFill>
                  <a:srgbClr val="242424"/>
                </a:solidFill>
                <a:highlight>
                  <a:srgbClr val="F9F9F9"/>
                </a:highlight>
                <a:latin typeface="Courier New"/>
                <a:ea typeface="Courier New"/>
                <a:cs typeface="Courier New"/>
                <a:sym typeface="Courier New"/>
              </a:rPr>
              <a:t> </a:t>
            </a:r>
            <a:r>
              <a:rPr lang="en-US" sz="2150">
                <a:solidFill>
                  <a:srgbClr val="AA0D91"/>
                </a:solidFill>
                <a:highlight>
                  <a:srgbClr val="F9F9F9"/>
                </a:highlight>
                <a:latin typeface="Courier New"/>
                <a:ea typeface="Courier New"/>
                <a:cs typeface="Courier New"/>
                <a:sym typeface="Courier New"/>
              </a:rPr>
              <a:t>return</a:t>
            </a:r>
            <a:r>
              <a:rPr lang="en-US" sz="2150">
                <a:solidFill>
                  <a:srgbClr val="242424"/>
                </a:solidFill>
                <a:highlight>
                  <a:srgbClr val="F9F9F9"/>
                </a:highlight>
                <a:latin typeface="Courier New"/>
                <a:ea typeface="Courier New"/>
                <a:cs typeface="Courier New"/>
                <a:sym typeface="Courier New"/>
              </a:rPr>
              <a:t> prob</a:t>
            </a:r>
            <a:endParaRPr sz="3100"/>
          </a:p>
          <a:p>
            <a:pPr marL="0" lvl="0" indent="0" algn="l" rtl="0">
              <a:spcBef>
                <a:spcPts val="700"/>
              </a:spcBef>
              <a:spcAft>
                <a:spcPts val="0"/>
              </a:spcAft>
              <a:buNone/>
            </a:pPr>
            <a:endParaRPr sz="310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33789ed7c53_0_72"/>
          <p:cNvSpPr txBox="1">
            <a:spLocks noGrp="1"/>
          </p:cNvSpPr>
          <p:nvPr>
            <p:ph type="body" idx="1"/>
          </p:nvPr>
        </p:nvSpPr>
        <p:spPr>
          <a:xfrm>
            <a:off x="1251675" y="-144525"/>
            <a:ext cx="10178400" cy="68580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r>
              <a:rPr lang="en-US">
                <a:solidFill>
                  <a:srgbClr val="242424"/>
                </a:solidFill>
                <a:highlight>
                  <a:srgbClr val="FFFFFF"/>
                </a:highlight>
                <a:latin typeface="Georgia"/>
                <a:ea typeface="Georgia"/>
                <a:cs typeface="Georgia"/>
                <a:sym typeface="Georgia"/>
              </a:rPr>
              <a:t>Think about the sentence ‘</a:t>
            </a:r>
            <a:r>
              <a:rPr lang="en-US" i="1">
                <a:solidFill>
                  <a:srgbClr val="242424"/>
                </a:solidFill>
                <a:highlight>
                  <a:srgbClr val="FFFFFF"/>
                </a:highlight>
                <a:latin typeface="Georgia"/>
                <a:ea typeface="Georgia"/>
                <a:cs typeface="Georgia"/>
                <a:sym typeface="Georgia"/>
              </a:rPr>
              <a:t>An adorable little boy is spreading smiles</a:t>
            </a:r>
            <a:r>
              <a:rPr lang="en-US">
                <a:solidFill>
                  <a:srgbClr val="242424"/>
                </a:solidFill>
                <a:highlight>
                  <a:srgbClr val="FFFFFF"/>
                </a:highlight>
                <a:latin typeface="Georgia"/>
                <a:ea typeface="Georgia"/>
                <a:cs typeface="Georgia"/>
                <a:sym typeface="Georgia"/>
              </a:rPr>
              <a:t>’. Given ‘</a:t>
            </a:r>
            <a:r>
              <a:rPr lang="en-US" i="1">
                <a:solidFill>
                  <a:srgbClr val="242424"/>
                </a:solidFill>
                <a:highlight>
                  <a:srgbClr val="FFFFFF"/>
                </a:highlight>
                <a:latin typeface="Georgia"/>
                <a:ea typeface="Georgia"/>
                <a:cs typeface="Georgia"/>
                <a:sym typeface="Georgia"/>
              </a:rPr>
              <a:t>An adorable little boy is spreading</a:t>
            </a:r>
            <a:r>
              <a:rPr lang="en-US">
                <a:solidFill>
                  <a:srgbClr val="242424"/>
                </a:solidFill>
                <a:highlight>
                  <a:srgbClr val="FFFFFF"/>
                </a:highlight>
                <a:latin typeface="Georgia"/>
                <a:ea typeface="Georgia"/>
                <a:cs typeface="Georgia"/>
                <a:sym typeface="Georgia"/>
              </a:rPr>
              <a:t>’, we want to predict the next word </a:t>
            </a:r>
            <a:r>
              <a:rPr lang="en-US" i="1">
                <a:solidFill>
                  <a:srgbClr val="242424"/>
                </a:solidFill>
                <a:highlight>
                  <a:srgbClr val="FFFFFF"/>
                </a:highlight>
                <a:latin typeface="Georgia"/>
                <a:ea typeface="Georgia"/>
                <a:cs typeface="Georgia"/>
                <a:sym typeface="Georgia"/>
              </a:rPr>
              <a:t>w</a:t>
            </a:r>
            <a:r>
              <a:rPr lang="en-US">
                <a:solidFill>
                  <a:srgbClr val="242424"/>
                </a:solidFill>
                <a:highlight>
                  <a:srgbClr val="FFFFFF"/>
                </a:highlight>
                <a:latin typeface="Georgia"/>
                <a:ea typeface="Georgia"/>
                <a:cs typeface="Georgia"/>
                <a:sym typeface="Georgia"/>
              </a:rPr>
              <a:t>. Using 4-gram, we can predict the word w using the following probability:</a:t>
            </a:r>
            <a:endParaRPr>
              <a:solidFill>
                <a:srgbClr val="242424"/>
              </a:solidFill>
              <a:highlight>
                <a:srgbClr val="FFFFFF"/>
              </a:highlight>
              <a:latin typeface="Georgia"/>
              <a:ea typeface="Georgia"/>
              <a:cs typeface="Georgia"/>
              <a:sym typeface="Georgia"/>
            </a:endParaRPr>
          </a:p>
          <a:p>
            <a:pPr marL="0" lvl="0" indent="0" algn="l" rtl="0">
              <a:spcBef>
                <a:spcPts val="700"/>
              </a:spcBef>
              <a:spcAft>
                <a:spcPts val="0"/>
              </a:spcAft>
              <a:buNone/>
            </a:pPr>
            <a:endParaRPr>
              <a:solidFill>
                <a:srgbClr val="242424"/>
              </a:solidFill>
              <a:highlight>
                <a:srgbClr val="FFFFFF"/>
              </a:highlight>
              <a:latin typeface="Georgia"/>
              <a:ea typeface="Georgia"/>
              <a:cs typeface="Georgia"/>
              <a:sym typeface="Georgia"/>
            </a:endParaRPr>
          </a:p>
        </p:txBody>
      </p:sp>
      <p:pic>
        <p:nvPicPr>
          <p:cNvPr id="994" name="Google Shape;994;g33789ed7c53_0_72"/>
          <p:cNvPicPr preferRelativeResize="0"/>
          <p:nvPr/>
        </p:nvPicPr>
        <p:blipFill>
          <a:blip r:embed="rId3">
            <a:alphaModFix/>
          </a:blip>
          <a:stretch>
            <a:fillRect/>
          </a:stretch>
        </p:blipFill>
        <p:spPr>
          <a:xfrm>
            <a:off x="1923025" y="1161850"/>
            <a:ext cx="4686300" cy="947325"/>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4adb8a8f5e_0_0"/>
          <p:cNvSpPr txBox="1">
            <a:spLocks noGrp="1"/>
          </p:cNvSpPr>
          <p:nvPr>
            <p:ph type="title"/>
          </p:nvPr>
        </p:nvSpPr>
        <p:spPr>
          <a:xfrm>
            <a:off x="1251675" y="382380"/>
            <a:ext cx="10178400" cy="81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sz="4500"/>
              <a:t>Statistical Language Model - n-gram Model</a:t>
            </a:r>
            <a:endParaRPr sz="4500"/>
          </a:p>
        </p:txBody>
      </p:sp>
      <p:sp>
        <p:nvSpPr>
          <p:cNvPr id="1000" name="Google Shape;1000;g24adb8a8f5e_0_0"/>
          <p:cNvSpPr txBox="1">
            <a:spLocks noGrp="1"/>
          </p:cNvSpPr>
          <p:nvPr>
            <p:ph type="body" idx="1"/>
          </p:nvPr>
        </p:nvSpPr>
        <p:spPr>
          <a:xfrm>
            <a:off x="1335650" y="1342750"/>
            <a:ext cx="10178400" cy="4488000"/>
          </a:xfrm>
          <a:prstGeom prst="rect">
            <a:avLst/>
          </a:prstGeom>
          <a:noFill/>
          <a:ln>
            <a:noFill/>
          </a:ln>
        </p:spPr>
        <p:txBody>
          <a:bodyPr spcFirstLastPara="1" wrap="square" lIns="91425" tIns="45700" rIns="91425" bIns="45700" anchor="t" anchorCtr="0">
            <a:normAutofit/>
          </a:bodyPr>
          <a:lstStyle/>
          <a:p>
            <a:pPr marL="457200" lvl="0" indent="-381000" algn="l" rtl="0">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goal of a statistical language model is to estimate the probability of a sentence.</a:t>
            </a:r>
            <a:endParaRPr sz="2400">
              <a:solidFill>
                <a:schemeClr val="dk1"/>
              </a:solidFill>
              <a:latin typeface="Times New Roman"/>
              <a:ea typeface="Times New Roman"/>
              <a:cs typeface="Times New Roman"/>
              <a:sym typeface="Times New Roman"/>
            </a:endParaRPr>
          </a:p>
          <a:p>
            <a:pPr marL="457200" lvl="0" indent="-381000" algn="l" rtl="0">
              <a:lnSpc>
                <a:spcPct val="100000"/>
              </a:lnSpc>
              <a:spcBef>
                <a:spcPts val="36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This is achieved by decomposing the sentence probability into a product of conditional probabilities using the chain rule as follows:</a:t>
            </a:r>
            <a:endParaRPr sz="2400">
              <a:solidFill>
                <a:schemeClr val="dk1"/>
              </a:solidFill>
              <a:latin typeface="Times New Roman"/>
              <a:ea typeface="Times New Roman"/>
              <a:cs typeface="Times New Roman"/>
              <a:sym typeface="Times New Roman"/>
            </a:endParaRPr>
          </a:p>
          <a:p>
            <a:pPr marL="0" lvl="0" indent="457200" algn="l" rtl="0">
              <a:lnSpc>
                <a:spcPct val="150000"/>
              </a:lnSpc>
              <a:spcBef>
                <a:spcPts val="0"/>
              </a:spcBef>
              <a:spcAft>
                <a:spcPts val="0"/>
              </a:spcAft>
              <a:buSzPts val="1800"/>
              <a:buNone/>
            </a:pPr>
            <a:r>
              <a:rPr lang="en-US" sz="2400">
                <a:solidFill>
                  <a:srgbClr val="1F2C8F"/>
                </a:solidFill>
                <a:latin typeface="EB Garamond"/>
                <a:ea typeface="EB Garamond"/>
                <a:cs typeface="EB Garamond"/>
                <a:sym typeface="EB Garamond"/>
              </a:rPr>
              <a:t>P(s) = P(w</a:t>
            </a:r>
            <a:r>
              <a:rPr lang="en-US" sz="2400" baseline="-25000">
                <a:solidFill>
                  <a:srgbClr val="1F2C8F"/>
                </a:solidFill>
                <a:latin typeface="EB Garamond"/>
                <a:ea typeface="EB Garamond"/>
                <a:cs typeface="EB Garamond"/>
                <a:sym typeface="EB Garamond"/>
              </a:rPr>
              <a:t>1</a:t>
            </a:r>
            <a:r>
              <a:rPr lang="en-US" sz="2400">
                <a:solidFill>
                  <a:srgbClr val="1F2C8F"/>
                </a:solidFill>
                <a:latin typeface="EB Garamond"/>
                <a:ea typeface="EB Garamond"/>
                <a:cs typeface="EB Garamond"/>
                <a:sym typeface="EB Garamond"/>
              </a:rPr>
              <a:t>, w</a:t>
            </a:r>
            <a:r>
              <a:rPr lang="en-US" sz="2400" baseline="-25000">
                <a:solidFill>
                  <a:srgbClr val="1F2C8F"/>
                </a:solidFill>
                <a:latin typeface="EB Garamond"/>
                <a:ea typeface="EB Garamond"/>
                <a:cs typeface="EB Garamond"/>
                <a:sym typeface="EB Garamond"/>
              </a:rPr>
              <a:t>2</a:t>
            </a:r>
            <a:r>
              <a:rPr lang="en-US" sz="2400">
                <a:solidFill>
                  <a:srgbClr val="1F2C8F"/>
                </a:solidFill>
                <a:latin typeface="EB Garamond"/>
                <a:ea typeface="EB Garamond"/>
                <a:cs typeface="EB Garamond"/>
                <a:sym typeface="EB Garamond"/>
              </a:rPr>
              <a:t>, w</a:t>
            </a:r>
            <a:r>
              <a:rPr lang="en-US" sz="2400" baseline="-25000">
                <a:solidFill>
                  <a:srgbClr val="1F2C8F"/>
                </a:solidFill>
                <a:latin typeface="EB Garamond"/>
                <a:ea typeface="EB Garamond"/>
                <a:cs typeface="EB Garamond"/>
                <a:sym typeface="EB Garamond"/>
              </a:rPr>
              <a:t>3</a:t>
            </a:r>
            <a:r>
              <a:rPr lang="en-US" sz="2400">
                <a:solidFill>
                  <a:srgbClr val="1F2C8F"/>
                </a:solidFill>
                <a:latin typeface="EB Garamond"/>
                <a:ea typeface="EB Garamond"/>
                <a:cs typeface="EB Garamond"/>
                <a:sym typeface="EB Garamond"/>
              </a:rPr>
              <a:t>,..., w</a:t>
            </a:r>
            <a:r>
              <a:rPr lang="en-US" sz="2400" baseline="-25000">
                <a:solidFill>
                  <a:srgbClr val="1F2C8F"/>
                </a:solidFill>
                <a:latin typeface="EB Garamond"/>
                <a:ea typeface="EB Garamond"/>
                <a:cs typeface="EB Garamond"/>
                <a:sym typeface="EB Garamond"/>
              </a:rPr>
              <a:t>n</a:t>
            </a:r>
            <a:r>
              <a:rPr lang="en-US" sz="2400">
                <a:solidFill>
                  <a:srgbClr val="1F2C8F"/>
                </a:solidFill>
                <a:latin typeface="EB Garamond"/>
                <a:ea typeface="EB Garamond"/>
                <a:cs typeface="EB Garamond"/>
                <a:sym typeface="EB Garamond"/>
              </a:rPr>
              <a:t>)</a:t>
            </a:r>
            <a:endParaRPr sz="2400">
              <a:solidFill>
                <a:srgbClr val="1F2C8F"/>
              </a:solidFill>
              <a:latin typeface="EB Garamond"/>
              <a:ea typeface="EB Garamond"/>
              <a:cs typeface="EB Garamond"/>
              <a:sym typeface="EB Garamond"/>
            </a:endParaRPr>
          </a:p>
          <a:p>
            <a:pPr marL="914400" lvl="0" indent="0" algn="l" rtl="0">
              <a:lnSpc>
                <a:spcPct val="150000"/>
              </a:lnSpc>
              <a:spcBef>
                <a:spcPts val="0"/>
              </a:spcBef>
              <a:spcAft>
                <a:spcPts val="0"/>
              </a:spcAft>
              <a:buSzPts val="1800"/>
              <a:buNone/>
            </a:pPr>
            <a:r>
              <a:rPr lang="en-US" sz="2400">
                <a:solidFill>
                  <a:srgbClr val="1F2C8F"/>
                </a:solidFill>
                <a:latin typeface="EB Garamond"/>
                <a:ea typeface="EB Garamond"/>
                <a:cs typeface="EB Garamond"/>
                <a:sym typeface="EB Garamond"/>
              </a:rPr>
              <a:t> = P(w1) P(w2/w1) P(w3/w1 w2) P(w4/w1 w2 w3) … P(wn/ w1 w2 … wn-1)</a:t>
            </a:r>
            <a:endParaRPr sz="2400">
              <a:solidFill>
                <a:srgbClr val="1F2C8F"/>
              </a:solidFill>
              <a:latin typeface="EB Garamond"/>
              <a:ea typeface="EB Garamond"/>
              <a:cs typeface="EB Garamond"/>
              <a:sym typeface="EB Garamond"/>
            </a:endParaRPr>
          </a:p>
          <a:p>
            <a:pPr marL="914400" lvl="0" indent="0" algn="l" rtl="0">
              <a:lnSpc>
                <a:spcPct val="150000"/>
              </a:lnSpc>
              <a:spcBef>
                <a:spcPts val="0"/>
              </a:spcBef>
              <a:spcAft>
                <a:spcPts val="0"/>
              </a:spcAft>
              <a:buSzPts val="1800"/>
              <a:buNone/>
            </a:pPr>
            <a:r>
              <a:rPr lang="en-US" sz="2400">
                <a:solidFill>
                  <a:srgbClr val="1F2C8F"/>
                </a:solidFill>
                <a:latin typeface="EB Garamond"/>
                <a:ea typeface="EB Garamond"/>
                <a:cs typeface="EB Garamond"/>
                <a:sym typeface="EB Garamond"/>
              </a:rPr>
              <a:t>      </a:t>
            </a:r>
            <a:r>
              <a:rPr lang="en-US" sz="2400" baseline="-25000">
                <a:solidFill>
                  <a:srgbClr val="1F2C8F"/>
                </a:solidFill>
                <a:latin typeface="EB Garamond"/>
                <a:ea typeface="EB Garamond"/>
                <a:cs typeface="EB Garamond"/>
                <a:sym typeface="EB Garamond"/>
              </a:rPr>
              <a:t>n</a:t>
            </a:r>
            <a:endParaRPr sz="2400" baseline="-25000">
              <a:solidFill>
                <a:srgbClr val="1F2C8F"/>
              </a:solidFill>
              <a:latin typeface="EB Garamond"/>
              <a:ea typeface="EB Garamond"/>
              <a:cs typeface="EB Garamond"/>
              <a:sym typeface="EB Garamond"/>
            </a:endParaRPr>
          </a:p>
          <a:p>
            <a:pPr marL="914400" lvl="0" indent="0" algn="l" rtl="0">
              <a:lnSpc>
                <a:spcPct val="150000"/>
              </a:lnSpc>
              <a:spcBef>
                <a:spcPts val="0"/>
              </a:spcBef>
              <a:spcAft>
                <a:spcPts val="0"/>
              </a:spcAft>
              <a:buSzPts val="1800"/>
              <a:buNone/>
            </a:pPr>
            <a:r>
              <a:rPr lang="en-US" sz="2400">
                <a:solidFill>
                  <a:srgbClr val="1F2C8F"/>
                </a:solidFill>
                <a:latin typeface="EB Garamond"/>
                <a:ea typeface="EB Garamond"/>
                <a:cs typeface="EB Garamond"/>
                <a:sym typeface="EB Garamond"/>
              </a:rPr>
              <a:t> = 𝚷 P(w</a:t>
            </a:r>
            <a:r>
              <a:rPr lang="en-US" sz="2400" baseline="-25000">
                <a:solidFill>
                  <a:srgbClr val="1F2C8F"/>
                </a:solidFill>
                <a:latin typeface="EB Garamond"/>
                <a:ea typeface="EB Garamond"/>
                <a:cs typeface="EB Garamond"/>
                <a:sym typeface="EB Garamond"/>
              </a:rPr>
              <a:t>i</a:t>
            </a:r>
            <a:r>
              <a:rPr lang="en-US" sz="2400">
                <a:solidFill>
                  <a:srgbClr val="1F2C8F"/>
                </a:solidFill>
                <a:latin typeface="EB Garamond"/>
                <a:ea typeface="EB Garamond"/>
                <a:cs typeface="EB Garamond"/>
                <a:sym typeface="EB Garamond"/>
              </a:rPr>
              <a:t>/h</a:t>
            </a:r>
            <a:r>
              <a:rPr lang="en-US" sz="2400" baseline="-25000">
                <a:solidFill>
                  <a:srgbClr val="1F2C8F"/>
                </a:solidFill>
                <a:latin typeface="EB Garamond"/>
                <a:ea typeface="EB Garamond"/>
                <a:cs typeface="EB Garamond"/>
                <a:sym typeface="EB Garamond"/>
              </a:rPr>
              <a:t>i</a:t>
            </a:r>
            <a:r>
              <a:rPr lang="en-US" sz="2400">
                <a:solidFill>
                  <a:srgbClr val="1F2C8F"/>
                </a:solidFill>
                <a:latin typeface="EB Garamond"/>
                <a:ea typeface="EB Garamond"/>
                <a:cs typeface="EB Garamond"/>
                <a:sym typeface="EB Garamond"/>
              </a:rPr>
              <a:t>)   where h</a:t>
            </a:r>
            <a:r>
              <a:rPr lang="en-US" sz="2400" baseline="-25000">
                <a:solidFill>
                  <a:srgbClr val="1F2C8F"/>
                </a:solidFill>
                <a:latin typeface="EB Garamond"/>
                <a:ea typeface="EB Garamond"/>
                <a:cs typeface="EB Garamond"/>
                <a:sym typeface="EB Garamond"/>
              </a:rPr>
              <a:t>i</a:t>
            </a:r>
            <a:r>
              <a:rPr lang="en-US" sz="2400">
                <a:solidFill>
                  <a:srgbClr val="1F2C8F"/>
                </a:solidFill>
                <a:latin typeface="EB Garamond"/>
                <a:ea typeface="EB Garamond"/>
                <a:cs typeface="EB Garamond"/>
                <a:sym typeface="EB Garamond"/>
              </a:rPr>
              <a:t> is history of word w</a:t>
            </a:r>
            <a:r>
              <a:rPr lang="en-US" sz="2400" baseline="-25000">
                <a:solidFill>
                  <a:srgbClr val="1F2C8F"/>
                </a:solidFill>
                <a:latin typeface="EB Garamond"/>
                <a:ea typeface="EB Garamond"/>
                <a:cs typeface="EB Garamond"/>
                <a:sym typeface="EB Garamond"/>
              </a:rPr>
              <a:t>i</a:t>
            </a:r>
            <a:r>
              <a:rPr lang="en-US" sz="2400">
                <a:solidFill>
                  <a:srgbClr val="1F2C8F"/>
                </a:solidFill>
                <a:latin typeface="EB Garamond"/>
                <a:ea typeface="EB Garamond"/>
                <a:cs typeface="EB Garamond"/>
                <a:sym typeface="EB Garamond"/>
              </a:rPr>
              <a:t> defined as w</a:t>
            </a:r>
            <a:r>
              <a:rPr lang="en-US" sz="2400" baseline="-25000">
                <a:solidFill>
                  <a:srgbClr val="1F2C8F"/>
                </a:solidFill>
                <a:latin typeface="EB Garamond"/>
                <a:ea typeface="EB Garamond"/>
                <a:cs typeface="EB Garamond"/>
                <a:sym typeface="EB Garamond"/>
              </a:rPr>
              <a:t>1</a:t>
            </a:r>
            <a:r>
              <a:rPr lang="en-US" sz="2400">
                <a:solidFill>
                  <a:srgbClr val="1F2C8F"/>
                </a:solidFill>
                <a:latin typeface="EB Garamond"/>
                <a:ea typeface="EB Garamond"/>
                <a:cs typeface="EB Garamond"/>
                <a:sym typeface="EB Garamond"/>
              </a:rPr>
              <a:t>, w</a:t>
            </a:r>
            <a:r>
              <a:rPr lang="en-US" sz="2400" baseline="-25000">
                <a:solidFill>
                  <a:srgbClr val="1F2C8F"/>
                </a:solidFill>
                <a:latin typeface="EB Garamond"/>
                <a:ea typeface="EB Garamond"/>
                <a:cs typeface="EB Garamond"/>
                <a:sym typeface="EB Garamond"/>
              </a:rPr>
              <a:t>2</a:t>
            </a:r>
            <a:r>
              <a:rPr lang="en-US" sz="2400">
                <a:solidFill>
                  <a:srgbClr val="1F2C8F"/>
                </a:solidFill>
                <a:latin typeface="EB Garamond"/>
                <a:ea typeface="EB Garamond"/>
                <a:cs typeface="EB Garamond"/>
                <a:sym typeface="EB Garamond"/>
              </a:rPr>
              <a:t>,...w</a:t>
            </a:r>
            <a:r>
              <a:rPr lang="en-US" sz="2400" baseline="-25000">
                <a:solidFill>
                  <a:srgbClr val="1F2C8F"/>
                </a:solidFill>
                <a:latin typeface="EB Garamond"/>
                <a:ea typeface="EB Garamond"/>
                <a:cs typeface="EB Garamond"/>
                <a:sym typeface="EB Garamond"/>
              </a:rPr>
              <a:t>i-1</a:t>
            </a:r>
            <a:endParaRPr sz="2400" baseline="-25000">
              <a:solidFill>
                <a:srgbClr val="1F2C8F"/>
              </a:solidFill>
              <a:latin typeface="EB Garamond"/>
              <a:ea typeface="EB Garamond"/>
              <a:cs typeface="EB Garamond"/>
              <a:sym typeface="EB Garamond"/>
            </a:endParaRPr>
          </a:p>
          <a:p>
            <a:pPr marL="457200" lvl="0" indent="0" algn="l" rtl="0">
              <a:lnSpc>
                <a:spcPct val="100000"/>
              </a:lnSpc>
              <a:spcBef>
                <a:spcPts val="360"/>
              </a:spcBef>
              <a:spcAft>
                <a:spcPts val="0"/>
              </a:spcAft>
              <a:buSzPts val="1800"/>
              <a:buNone/>
            </a:pPr>
            <a:r>
              <a:rPr lang="en-US" sz="2400">
                <a:solidFill>
                  <a:schemeClr val="dk1"/>
                </a:solidFill>
                <a:latin typeface="Times New Roman"/>
                <a:ea typeface="Times New Roman"/>
                <a:cs typeface="Times New Roman"/>
                <a:sym typeface="Times New Roman"/>
              </a:rPr>
              <a:t>          </a:t>
            </a:r>
            <a:r>
              <a:rPr lang="en-US" sz="2400" baseline="30000">
                <a:solidFill>
                  <a:schemeClr val="dk1"/>
                </a:solidFill>
                <a:latin typeface="Times New Roman"/>
                <a:ea typeface="Times New Roman"/>
                <a:cs typeface="Times New Roman"/>
                <a:sym typeface="Times New Roman"/>
              </a:rPr>
              <a:t>i=1</a:t>
            </a:r>
            <a:endParaRPr sz="2400" baseline="30000">
              <a:solidFill>
                <a:schemeClr val="dk1"/>
              </a:solidFill>
              <a:latin typeface="Times New Roman"/>
              <a:ea typeface="Times New Roman"/>
              <a:cs typeface="Times New Roman"/>
              <a:sym typeface="Times New Roman"/>
            </a:endParaRPr>
          </a:p>
          <a:p>
            <a:pPr marL="0" lvl="0" indent="0" algn="l" rtl="0">
              <a:lnSpc>
                <a:spcPct val="110000"/>
              </a:lnSpc>
              <a:spcBef>
                <a:spcPts val="700"/>
              </a:spcBef>
              <a:spcAft>
                <a:spcPts val="0"/>
              </a:spcAft>
              <a:buSzPts val="2000"/>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4adb8a8f5e_0_5"/>
          <p:cNvSpPr txBox="1">
            <a:spLocks noGrp="1"/>
          </p:cNvSpPr>
          <p:nvPr>
            <p:ph type="title"/>
          </p:nvPr>
        </p:nvSpPr>
        <p:spPr>
          <a:xfrm>
            <a:off x="1251675" y="382380"/>
            <a:ext cx="10178400" cy="81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sz="4500"/>
              <a:t>Statistical Language Model - n-gram Model</a:t>
            </a:r>
            <a:endParaRPr sz="4500"/>
          </a:p>
        </p:txBody>
      </p:sp>
      <p:sp>
        <p:nvSpPr>
          <p:cNvPr id="1006" name="Google Shape;1006;g24adb8a8f5e_0_5"/>
          <p:cNvSpPr txBox="1">
            <a:spLocks noGrp="1"/>
          </p:cNvSpPr>
          <p:nvPr>
            <p:ph type="body" idx="1"/>
          </p:nvPr>
        </p:nvSpPr>
        <p:spPr>
          <a:xfrm>
            <a:off x="1335650" y="1097275"/>
            <a:ext cx="10178400" cy="5265300"/>
          </a:xfrm>
          <a:prstGeom prst="rect">
            <a:avLst/>
          </a:prstGeom>
          <a:noFill/>
          <a:ln>
            <a:noFill/>
          </a:ln>
        </p:spPr>
        <p:txBody>
          <a:bodyPr spcFirstLastPara="1" wrap="square" lIns="91425" tIns="45700" rIns="91425" bIns="45700" anchor="t" anchorCtr="0">
            <a:normAutofit/>
          </a:bodyPr>
          <a:lstStyle/>
          <a:p>
            <a:pPr marL="457200" lvl="0" indent="-349250" algn="l" rtl="0">
              <a:lnSpc>
                <a:spcPct val="115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To calculate sentence probability, we need to calculate the probability of a word given the sequence of words preceding it.</a:t>
            </a:r>
            <a:endParaRPr sz="1900" dirty="0">
              <a:solidFill>
                <a:schemeClr val="dk1"/>
              </a:solidFill>
              <a:latin typeface="Times New Roman"/>
              <a:ea typeface="Times New Roman"/>
              <a:cs typeface="Times New Roman"/>
              <a:sym typeface="Times New Roman"/>
            </a:endParaRPr>
          </a:p>
          <a:p>
            <a:pPr marL="457200" lvl="0" indent="-349250" algn="l" rtl="0">
              <a:lnSpc>
                <a:spcPct val="100000"/>
              </a:lnSpc>
              <a:spcBef>
                <a:spcPts val="36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The n gram model simplifies the task by approximating the probability of a word given all the previous words by the </a:t>
            </a:r>
            <a:r>
              <a:rPr lang="en-US" sz="1900" dirty="0">
                <a:solidFill>
                  <a:schemeClr val="dk1"/>
                </a:solidFill>
                <a:highlight>
                  <a:srgbClr val="FFFF00"/>
                </a:highlight>
                <a:latin typeface="Times New Roman"/>
                <a:ea typeface="Times New Roman"/>
                <a:cs typeface="Times New Roman"/>
                <a:sym typeface="Times New Roman"/>
              </a:rPr>
              <a:t>conditional probability given previous n-1 words only.</a:t>
            </a:r>
            <a:endParaRPr sz="1900" dirty="0">
              <a:solidFill>
                <a:schemeClr val="dk1"/>
              </a:solidFill>
              <a:highlight>
                <a:srgbClr val="FFFF00"/>
              </a:highlight>
              <a:latin typeface="Times New Roman"/>
              <a:ea typeface="Times New Roman"/>
              <a:cs typeface="Times New Roman"/>
              <a:sym typeface="Times New Roman"/>
            </a:endParaRPr>
          </a:p>
          <a:p>
            <a:pPr marL="457200" lvl="0" indent="-349250" algn="l" rtl="0">
              <a:lnSpc>
                <a:spcPct val="100000"/>
              </a:lnSpc>
              <a:spcBef>
                <a:spcPts val="360"/>
              </a:spcBef>
              <a:spcAft>
                <a:spcPts val="0"/>
              </a:spcAft>
              <a:buClr>
                <a:schemeClr val="dk1"/>
              </a:buClr>
              <a:buSzPts val="1900"/>
              <a:buFont typeface="Times New Roman"/>
              <a:buChar char="•"/>
            </a:pPr>
            <a:r>
              <a:rPr lang="en-US" sz="1900" dirty="0">
                <a:solidFill>
                  <a:schemeClr val="dk1"/>
                </a:solidFill>
                <a:highlight>
                  <a:srgbClr val="00FFFF"/>
                </a:highlight>
                <a:latin typeface="Times New Roman"/>
                <a:ea typeface="Times New Roman"/>
                <a:cs typeface="Times New Roman"/>
                <a:sym typeface="Times New Roman"/>
              </a:rPr>
              <a:t>n-gram model calculates P(</a:t>
            </a:r>
            <a:r>
              <a:rPr lang="en-US" sz="1900" dirty="0" err="1">
                <a:solidFill>
                  <a:schemeClr val="dk1"/>
                </a:solidFill>
                <a:highlight>
                  <a:srgbClr val="00FFFF"/>
                </a:highlight>
                <a:latin typeface="Times New Roman"/>
                <a:ea typeface="Times New Roman"/>
                <a:cs typeface="Times New Roman"/>
                <a:sym typeface="Times New Roman"/>
              </a:rPr>
              <a:t>w</a:t>
            </a:r>
            <a:r>
              <a:rPr lang="en-US" sz="1900" baseline="-25000" dirty="0" err="1">
                <a:solidFill>
                  <a:schemeClr val="dk1"/>
                </a:solidFill>
                <a:highlight>
                  <a:srgbClr val="00FFFF"/>
                </a:highlight>
                <a:latin typeface="Times New Roman"/>
                <a:ea typeface="Times New Roman"/>
                <a:cs typeface="Times New Roman"/>
                <a:sym typeface="Times New Roman"/>
              </a:rPr>
              <a:t>i</a:t>
            </a:r>
            <a:r>
              <a:rPr lang="en-US" sz="1900" dirty="0">
                <a:solidFill>
                  <a:schemeClr val="dk1"/>
                </a:solidFill>
                <a:highlight>
                  <a:srgbClr val="00FFFF"/>
                </a:highlight>
                <a:latin typeface="Times New Roman"/>
                <a:ea typeface="Times New Roman"/>
                <a:cs typeface="Times New Roman"/>
                <a:sym typeface="Times New Roman"/>
              </a:rPr>
              <a:t>/h</a:t>
            </a:r>
            <a:r>
              <a:rPr lang="en-US" sz="1900" baseline="-25000" dirty="0">
                <a:solidFill>
                  <a:schemeClr val="dk1"/>
                </a:solidFill>
                <a:highlight>
                  <a:srgbClr val="00FFFF"/>
                </a:highlight>
                <a:latin typeface="Times New Roman"/>
                <a:ea typeface="Times New Roman"/>
                <a:cs typeface="Times New Roman"/>
                <a:sym typeface="Times New Roman"/>
              </a:rPr>
              <a:t>i</a:t>
            </a:r>
            <a:r>
              <a:rPr lang="en-US" sz="1900" dirty="0">
                <a:solidFill>
                  <a:schemeClr val="dk1"/>
                </a:solidFill>
                <a:highlight>
                  <a:srgbClr val="00FFFF"/>
                </a:highlight>
                <a:latin typeface="Times New Roman"/>
                <a:ea typeface="Times New Roman"/>
                <a:cs typeface="Times New Roman"/>
                <a:sym typeface="Times New Roman"/>
              </a:rPr>
              <a:t>) by modelling language as </a:t>
            </a:r>
            <a:r>
              <a:rPr lang="en-US" sz="1900" dirty="0" err="1">
                <a:solidFill>
                  <a:schemeClr val="dk1"/>
                </a:solidFill>
                <a:highlight>
                  <a:srgbClr val="00FFFF"/>
                </a:highlight>
                <a:latin typeface="Times New Roman"/>
                <a:ea typeface="Times New Roman"/>
                <a:cs typeface="Times New Roman"/>
                <a:sym typeface="Times New Roman"/>
              </a:rPr>
              <a:t>Morkov</a:t>
            </a:r>
            <a:r>
              <a:rPr lang="en-US" sz="1900" dirty="0">
                <a:solidFill>
                  <a:schemeClr val="dk1"/>
                </a:solidFill>
                <a:highlight>
                  <a:srgbClr val="00FFFF"/>
                </a:highlight>
                <a:latin typeface="Times New Roman"/>
                <a:ea typeface="Times New Roman"/>
                <a:cs typeface="Times New Roman"/>
                <a:sym typeface="Times New Roman"/>
              </a:rPr>
              <a:t> model of order n-1, that is, by looking at previous n-1 words only.</a:t>
            </a:r>
            <a:endParaRPr sz="1900" dirty="0">
              <a:solidFill>
                <a:schemeClr val="dk1"/>
              </a:solidFill>
              <a:highlight>
                <a:srgbClr val="00FFFF"/>
              </a:highlight>
              <a:latin typeface="Times New Roman"/>
              <a:ea typeface="Times New Roman"/>
              <a:cs typeface="Times New Roman"/>
              <a:sym typeface="Times New Roman"/>
            </a:endParaRPr>
          </a:p>
          <a:p>
            <a:pPr marL="457200" lvl="0" indent="-349250" algn="l" rtl="0">
              <a:lnSpc>
                <a:spcPct val="100000"/>
              </a:lnSpc>
              <a:spcBef>
                <a:spcPts val="36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A model that limits the history to the previous one word only is  termed as </a:t>
            </a:r>
            <a:r>
              <a:rPr lang="en-US" sz="1900" dirty="0">
                <a:solidFill>
                  <a:schemeClr val="dk1"/>
                </a:solidFill>
                <a:highlight>
                  <a:srgbClr val="FFFF00"/>
                </a:highlight>
                <a:latin typeface="Times New Roman"/>
                <a:ea typeface="Times New Roman"/>
                <a:cs typeface="Times New Roman"/>
                <a:sym typeface="Times New Roman"/>
              </a:rPr>
              <a:t>bi-gram (n=1) model.</a:t>
            </a:r>
            <a:endParaRPr sz="1900" dirty="0">
              <a:solidFill>
                <a:schemeClr val="dk1"/>
              </a:solidFill>
              <a:highlight>
                <a:srgbClr val="FFFF00"/>
              </a:highlight>
              <a:latin typeface="Times New Roman"/>
              <a:ea typeface="Times New Roman"/>
              <a:cs typeface="Times New Roman"/>
              <a:sym typeface="Times New Roman"/>
            </a:endParaRPr>
          </a:p>
          <a:p>
            <a:pPr marL="457200" lvl="0" indent="-349250" algn="l" rtl="0">
              <a:lnSpc>
                <a:spcPct val="100000"/>
              </a:lnSpc>
              <a:spcBef>
                <a:spcPts val="36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A model that conditions the probability of word to the previous two words is called </a:t>
            </a:r>
            <a:r>
              <a:rPr lang="en-US" sz="1900" dirty="0">
                <a:solidFill>
                  <a:schemeClr val="dk1"/>
                </a:solidFill>
                <a:highlight>
                  <a:srgbClr val="00FFFF"/>
                </a:highlight>
                <a:latin typeface="Times New Roman"/>
                <a:ea typeface="Times New Roman"/>
                <a:cs typeface="Times New Roman"/>
                <a:sym typeface="Times New Roman"/>
              </a:rPr>
              <a:t>tri-gram (n=3)</a:t>
            </a:r>
            <a:r>
              <a:rPr lang="en-US" sz="1900" dirty="0">
                <a:solidFill>
                  <a:schemeClr val="dk1"/>
                </a:solidFill>
                <a:latin typeface="Times New Roman"/>
                <a:ea typeface="Times New Roman"/>
                <a:cs typeface="Times New Roman"/>
                <a:sym typeface="Times New Roman"/>
              </a:rPr>
              <a:t> model.</a:t>
            </a:r>
            <a:endParaRPr sz="2400" dirty="0">
              <a:solidFill>
                <a:srgbClr val="1F2C8F"/>
              </a:solidFill>
              <a:latin typeface="EB Garamond"/>
              <a:ea typeface="EB Garamond"/>
              <a:cs typeface="EB Garamond"/>
              <a:sym typeface="EB Garamond"/>
            </a:endParaRPr>
          </a:p>
          <a:p>
            <a:pPr marL="914400" lvl="0" indent="0" algn="l" rtl="0">
              <a:lnSpc>
                <a:spcPct val="150000"/>
              </a:lnSpc>
              <a:spcBef>
                <a:spcPts val="0"/>
              </a:spcBef>
              <a:spcAft>
                <a:spcPts val="0"/>
              </a:spcAft>
              <a:buSzPts val="1800"/>
              <a:buNone/>
            </a:pPr>
            <a:r>
              <a:rPr lang="en-US" sz="2400" dirty="0">
                <a:solidFill>
                  <a:srgbClr val="1F2C8F"/>
                </a:solidFill>
                <a:latin typeface="EB Garamond"/>
                <a:ea typeface="EB Garamond"/>
                <a:cs typeface="EB Garamond"/>
                <a:sym typeface="EB Garamond"/>
              </a:rPr>
              <a:t>   </a:t>
            </a:r>
            <a:endParaRPr sz="2400" dirty="0">
              <a:solidFill>
                <a:schemeClr val="dk1"/>
              </a:solidFill>
              <a:latin typeface="Times New Roman"/>
              <a:ea typeface="Times New Roman"/>
              <a:cs typeface="Times New Roman"/>
              <a:sym typeface="Times New Roman"/>
            </a:endParaRPr>
          </a:p>
        </p:txBody>
      </p:sp>
      <p:pic>
        <p:nvPicPr>
          <p:cNvPr id="1007" name="Google Shape;1007;g24adb8a8f5e_0_5"/>
          <p:cNvPicPr preferRelativeResize="0"/>
          <p:nvPr/>
        </p:nvPicPr>
        <p:blipFill rotWithShape="1">
          <a:blip r:embed="rId3">
            <a:alphaModFix/>
          </a:blip>
          <a:srcRect/>
          <a:stretch/>
        </p:blipFill>
        <p:spPr>
          <a:xfrm>
            <a:off x="4075600" y="3859775"/>
            <a:ext cx="5185100" cy="2443975"/>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4adb8a8f5e_0_11"/>
          <p:cNvSpPr txBox="1">
            <a:spLocks noGrp="1"/>
          </p:cNvSpPr>
          <p:nvPr>
            <p:ph type="title"/>
          </p:nvPr>
        </p:nvSpPr>
        <p:spPr>
          <a:xfrm>
            <a:off x="1251675" y="382380"/>
            <a:ext cx="10178400" cy="81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sz="4500"/>
              <a:t>Statistical Language Model - n-gram Model</a:t>
            </a:r>
            <a:endParaRPr sz="4500"/>
          </a:p>
        </p:txBody>
      </p:sp>
      <p:sp>
        <p:nvSpPr>
          <p:cNvPr id="1013" name="Google Shape;1013;g24adb8a8f5e_0_11"/>
          <p:cNvSpPr txBox="1">
            <a:spLocks noGrp="1"/>
          </p:cNvSpPr>
          <p:nvPr>
            <p:ph type="body" idx="1"/>
          </p:nvPr>
        </p:nvSpPr>
        <p:spPr>
          <a:xfrm>
            <a:off x="1335650" y="1097275"/>
            <a:ext cx="10178400" cy="5265300"/>
          </a:xfrm>
          <a:prstGeom prst="rect">
            <a:avLst/>
          </a:prstGeom>
          <a:noFill/>
          <a:ln>
            <a:noFill/>
          </a:ln>
        </p:spPr>
        <p:txBody>
          <a:bodyPr spcFirstLastPara="1" wrap="square" lIns="91425" tIns="45700" rIns="91425" bIns="45700" anchor="t" anchorCtr="0">
            <a:normAutofit/>
          </a:bodyPr>
          <a:lstStyle/>
          <a:p>
            <a:pPr marL="457200" lvl="0" indent="-450850" algn="l" rtl="0">
              <a:lnSpc>
                <a:spcPct val="115000"/>
              </a:lnSpc>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A special word (pseudo word) &lt;s&gt; is introduced to mark the beginning of the sentence in bi-gram estimation. </a:t>
            </a:r>
            <a:endParaRPr sz="3500">
              <a:solidFill>
                <a:schemeClr val="dk1"/>
              </a:solidFill>
              <a:latin typeface="Times New Roman"/>
              <a:ea typeface="Times New Roman"/>
              <a:cs typeface="Times New Roman"/>
              <a:sym typeface="Times New Roman"/>
            </a:endParaRPr>
          </a:p>
          <a:p>
            <a:pPr marL="457200" lvl="0" indent="-450850" algn="l" rtl="0">
              <a:lnSpc>
                <a:spcPct val="115000"/>
              </a:lnSpc>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The probability of the first word in a sentence is conditioned on &lt;s&gt;.</a:t>
            </a:r>
            <a:endParaRPr sz="3500">
              <a:solidFill>
                <a:schemeClr val="dk1"/>
              </a:solidFill>
              <a:latin typeface="Times New Roman"/>
              <a:ea typeface="Times New Roman"/>
              <a:cs typeface="Times New Roman"/>
              <a:sym typeface="Times New Roman"/>
            </a:endParaRPr>
          </a:p>
          <a:p>
            <a:pPr marL="457200" lvl="0" indent="-450850" algn="l" rtl="0">
              <a:lnSpc>
                <a:spcPct val="115000"/>
              </a:lnSpc>
              <a:spcBef>
                <a:spcPts val="0"/>
              </a:spcBef>
              <a:spcAft>
                <a:spcPts val="0"/>
              </a:spcAft>
              <a:buClr>
                <a:schemeClr val="dk1"/>
              </a:buClr>
              <a:buSzPts val="3500"/>
              <a:buFont typeface="Times New Roman"/>
              <a:buChar char="•"/>
            </a:pPr>
            <a:r>
              <a:rPr lang="en-US" sz="3500">
                <a:solidFill>
                  <a:schemeClr val="dk1"/>
                </a:solidFill>
                <a:latin typeface="Times New Roman"/>
                <a:ea typeface="Times New Roman"/>
                <a:cs typeface="Times New Roman"/>
                <a:sym typeface="Times New Roman"/>
              </a:rPr>
              <a:t>Similarly, in tri-gram estimation, two pseudo-words &lt;s1&gt; and &lt;s2&gt; are introduced.</a:t>
            </a:r>
            <a:endParaRPr sz="3400">
              <a:solidFill>
                <a:schemeClr val="dk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4adb8a8f5e_0_17"/>
          <p:cNvSpPr txBox="1">
            <a:spLocks noGrp="1"/>
          </p:cNvSpPr>
          <p:nvPr>
            <p:ph type="title"/>
          </p:nvPr>
        </p:nvSpPr>
        <p:spPr>
          <a:xfrm>
            <a:off x="1251675" y="382380"/>
            <a:ext cx="10178400" cy="81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62626"/>
              </a:buClr>
              <a:buSzPts val="5100"/>
              <a:buFont typeface="Impact"/>
              <a:buNone/>
            </a:pPr>
            <a:r>
              <a:rPr lang="en-US" sz="4500"/>
              <a:t>Statistical Language Model - n-gram Model</a:t>
            </a:r>
            <a:endParaRPr sz="4500"/>
          </a:p>
        </p:txBody>
      </p:sp>
      <p:sp>
        <p:nvSpPr>
          <p:cNvPr id="1019" name="Google Shape;1019;g24adb8a8f5e_0_17"/>
          <p:cNvSpPr txBox="1">
            <a:spLocks noGrp="1"/>
          </p:cNvSpPr>
          <p:nvPr>
            <p:ph type="body" idx="1"/>
          </p:nvPr>
        </p:nvSpPr>
        <p:spPr>
          <a:xfrm>
            <a:off x="1335650" y="1097275"/>
            <a:ext cx="10178400" cy="5265300"/>
          </a:xfrm>
          <a:prstGeom prst="rect">
            <a:avLst/>
          </a:prstGeom>
          <a:noFill/>
          <a:ln>
            <a:noFill/>
          </a:ln>
        </p:spPr>
        <p:txBody>
          <a:bodyPr spcFirstLastPara="1" wrap="square" lIns="91425" tIns="45700" rIns="91425" bIns="45700" anchor="t" anchorCtr="0">
            <a:normAutofit/>
          </a:bodyPr>
          <a:lstStyle/>
          <a:p>
            <a:pPr marL="457200" lvl="0" indent="0" algn="l" rtl="0">
              <a:lnSpc>
                <a:spcPct val="115000"/>
              </a:lnSpc>
              <a:spcBef>
                <a:spcPts val="0"/>
              </a:spcBef>
              <a:spcAft>
                <a:spcPts val="0"/>
              </a:spcAft>
              <a:buSzPts val="1800"/>
              <a:buNone/>
            </a:pPr>
            <a:endParaRPr sz="3400">
              <a:solidFill>
                <a:schemeClr val="dk1"/>
              </a:solidFill>
              <a:latin typeface="Times New Roman"/>
              <a:ea typeface="Times New Roman"/>
              <a:cs typeface="Times New Roman"/>
              <a:sym typeface="Times New Roman"/>
            </a:endParaRPr>
          </a:p>
        </p:txBody>
      </p:sp>
      <p:pic>
        <p:nvPicPr>
          <p:cNvPr id="1020" name="Google Shape;1020;g24adb8a8f5e_0_17"/>
          <p:cNvPicPr preferRelativeResize="0"/>
          <p:nvPr/>
        </p:nvPicPr>
        <p:blipFill rotWithShape="1">
          <a:blip r:embed="rId3">
            <a:alphaModFix/>
          </a:blip>
          <a:srcRect/>
          <a:stretch/>
        </p:blipFill>
        <p:spPr>
          <a:xfrm>
            <a:off x="1335650" y="1097275"/>
            <a:ext cx="10178401" cy="5265299"/>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33789ed7c53_0_0"/>
          <p:cNvSpPr txBox="1">
            <a:spLocks noGrp="1"/>
          </p:cNvSpPr>
          <p:nvPr>
            <p:ph type="body" idx="1"/>
          </p:nvPr>
        </p:nvSpPr>
        <p:spPr>
          <a:xfrm>
            <a:off x="1251675" y="-1"/>
            <a:ext cx="10178400" cy="5879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r>
              <a:rPr lang="en-US" u="sng">
                <a:solidFill>
                  <a:schemeClr val="hlink"/>
                </a:solidFill>
                <a:hlinkClick r:id="rId3"/>
              </a:rPr>
              <a:t>https://medium.com/@abhishekjainindore24/n-grams-in-nlp-a7c05c1aff12</a:t>
            </a:r>
            <a:endParaRPr/>
          </a:p>
          <a:p>
            <a:pPr marL="0" lvl="0" indent="0" algn="l" rtl="0">
              <a:spcBef>
                <a:spcPts val="700"/>
              </a:spcBef>
              <a:spcAft>
                <a:spcPts val="0"/>
              </a:spcAft>
              <a:buNone/>
            </a:pPr>
            <a:endParaRPr/>
          </a:p>
          <a:p>
            <a:pPr marL="0" lvl="0" indent="0" algn="l" rtl="0">
              <a:spcBef>
                <a:spcPts val="700"/>
              </a:spcBef>
              <a:spcAft>
                <a:spcPts val="0"/>
              </a:spcAft>
              <a:buNone/>
            </a:pPr>
            <a:endParaRPr/>
          </a:p>
        </p:txBody>
      </p:sp>
      <p:pic>
        <p:nvPicPr>
          <p:cNvPr id="1026" name="Google Shape;1026;g33789ed7c53_0_0"/>
          <p:cNvPicPr preferRelativeResize="0"/>
          <p:nvPr/>
        </p:nvPicPr>
        <p:blipFill>
          <a:blip r:embed="rId4">
            <a:alphaModFix/>
          </a:blip>
          <a:stretch>
            <a:fillRect/>
          </a:stretch>
        </p:blipFill>
        <p:spPr>
          <a:xfrm>
            <a:off x="1635375" y="489300"/>
            <a:ext cx="9649499" cy="6191775"/>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337da8589d3_0_1"/>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1032" name="Google Shape;1032;g337da8589d3_0_1"/>
          <p:cNvPicPr preferRelativeResize="0"/>
          <p:nvPr/>
        </p:nvPicPr>
        <p:blipFill>
          <a:blip r:embed="rId3">
            <a:alphaModFix/>
          </a:blip>
          <a:stretch>
            <a:fillRect/>
          </a:stretch>
        </p:blipFill>
        <p:spPr>
          <a:xfrm>
            <a:off x="1136275" y="70750"/>
            <a:ext cx="10293725" cy="6642726"/>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337da8589d3_0_7"/>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38" name="Google Shape;1038;g337da8589d3_0_7"/>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1039" name="Google Shape;1039;g337da8589d3_0_7"/>
          <p:cNvPicPr preferRelativeResize="0"/>
          <p:nvPr/>
        </p:nvPicPr>
        <p:blipFill>
          <a:blip r:embed="rId3">
            <a:alphaModFix/>
          </a:blip>
          <a:stretch>
            <a:fillRect/>
          </a:stretch>
        </p:blipFill>
        <p:spPr>
          <a:xfrm>
            <a:off x="189603" y="193750"/>
            <a:ext cx="11479075" cy="666425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337da8589d3_0_13"/>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45" name="Google Shape;1045;g337da8589d3_0_13"/>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pic>
        <p:nvPicPr>
          <p:cNvPr id="1046" name="Google Shape;1046;g337da8589d3_0_13"/>
          <p:cNvPicPr preferRelativeResize="0"/>
          <p:nvPr/>
        </p:nvPicPr>
        <p:blipFill>
          <a:blip r:embed="rId3">
            <a:alphaModFix/>
          </a:blip>
          <a:stretch>
            <a:fillRect/>
          </a:stretch>
        </p:blipFill>
        <p:spPr>
          <a:xfrm>
            <a:off x="690350" y="0"/>
            <a:ext cx="11021774" cy="6452075"/>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337da8589d3_0_19"/>
          <p:cNvSpPr txBox="1">
            <a:spLocks noGrp="1"/>
          </p:cNvSpPr>
          <p:nvPr>
            <p:ph type="title"/>
          </p:nvPr>
        </p:nvSpPr>
        <p:spPr>
          <a:xfrm>
            <a:off x="1251678" y="382385"/>
            <a:ext cx="10178400" cy="1492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52" name="Google Shape;1052;g337da8589d3_0_19"/>
          <p:cNvSpPr txBox="1">
            <a:spLocks noGrp="1"/>
          </p:cNvSpPr>
          <p:nvPr>
            <p:ph type="body" idx="1"/>
          </p:nvPr>
        </p:nvSpPr>
        <p:spPr>
          <a:xfrm>
            <a:off x="1251678" y="2286001"/>
            <a:ext cx="10178400" cy="3593700"/>
          </a:xfrm>
          <a:prstGeom prst="rect">
            <a:avLst/>
          </a:prstGeom>
        </p:spPr>
        <p:txBody>
          <a:bodyPr spcFirstLastPara="1" wrap="square" lIns="91425" tIns="45700" rIns="91425" bIns="45700" anchor="t" anchorCtr="0">
            <a:normAutofit/>
          </a:bodyPr>
          <a:lstStyle/>
          <a:p>
            <a:pPr marL="0" lvl="0" indent="0" algn="l" rtl="0">
              <a:spcBef>
                <a:spcPts val="700"/>
              </a:spcBef>
              <a:spcAft>
                <a:spcPts val="0"/>
              </a:spcAft>
              <a:buNone/>
            </a:pPr>
            <a:endParaRPr/>
          </a:p>
        </p:txBody>
      </p:sp>
    </p:spTree>
  </p:cSld>
  <p:clrMapOvr>
    <a:masterClrMapping/>
  </p:clrMapOvr>
</p:sld>
</file>

<file path=ppt/theme/theme1.xml><?xml version="1.0" encoding="utf-8"?>
<a:theme xmlns:a="http://schemas.openxmlformats.org/drawingml/2006/main" name="Badge">
  <a:themeElements>
    <a:clrScheme name="Badge">
      <a:dk1>
        <a:srgbClr val="000000"/>
      </a:dk1>
      <a:lt1>
        <a:srgbClr val="FFFFFF"/>
      </a:lt1>
      <a:dk2>
        <a:srgbClr val="1B2F36"/>
      </a:dk2>
      <a:lt2>
        <a:srgbClr val="F3F3F2"/>
      </a:lt2>
      <a:accent1>
        <a:srgbClr val="A38D51"/>
      </a:accent1>
      <a:accent2>
        <a:srgbClr val="5A3D40"/>
      </a:accent2>
      <a:accent3>
        <a:srgbClr val="5D988C"/>
      </a:accent3>
      <a:accent4>
        <a:srgbClr val="A85752"/>
      </a:accent4>
      <a:accent5>
        <a:srgbClr val="809A67"/>
      </a:accent5>
      <a:accent6>
        <a:srgbClr val="67645A"/>
      </a:accent6>
      <a:hlink>
        <a:srgbClr val="5D988C"/>
      </a:hlink>
      <a:folHlink>
        <a:srgbClr val="8467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11905</Words>
  <Application>Microsoft Office PowerPoint</Application>
  <PresentationFormat>Custom</PresentationFormat>
  <Paragraphs>1301</Paragraphs>
  <Slides>148</Slides>
  <Notes>148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148</vt:i4>
      </vt:variant>
    </vt:vector>
  </HeadingPairs>
  <TitlesOfParts>
    <vt:vector size="159" baseType="lpstr">
      <vt:lpstr>Arial</vt:lpstr>
      <vt:lpstr>Gill Sans</vt:lpstr>
      <vt:lpstr>Noto Sans Symbols</vt:lpstr>
      <vt:lpstr>Times New Roman</vt:lpstr>
      <vt:lpstr>EB Garamond</vt:lpstr>
      <vt:lpstr>Georgia</vt:lpstr>
      <vt:lpstr>Calibri</vt:lpstr>
      <vt:lpstr>Impact</vt:lpstr>
      <vt:lpstr>Courier New</vt:lpstr>
      <vt:lpstr>Roboto</vt:lpstr>
      <vt:lpstr>Badge</vt:lpstr>
      <vt:lpstr>MODULE 1</vt:lpstr>
      <vt:lpstr>WHAT IS NLP</vt:lpstr>
      <vt:lpstr>WHAT IS NLP</vt:lpstr>
      <vt:lpstr>challenges </vt:lpstr>
      <vt:lpstr>APPROACHES</vt:lpstr>
      <vt:lpstr>ORIGINS OF NLP</vt:lpstr>
      <vt:lpstr>ORIGINS OF NLP</vt:lpstr>
      <vt:lpstr>ORIGINS OF NLP</vt:lpstr>
      <vt:lpstr>ORIGINS OF NLP</vt:lpstr>
      <vt:lpstr>LANGUAGE AND KNOWLEDGE </vt:lpstr>
      <vt:lpstr>LANGUAGE AND KNOWLEDGE </vt:lpstr>
      <vt:lpstr>LANGUAGE AND KNOWLEDGE</vt:lpstr>
      <vt:lpstr>LANGUAGE AND KNOWLEDGE</vt:lpstr>
      <vt:lpstr>LANGUAGE AND KNOWLEDGE</vt:lpstr>
      <vt:lpstr>LANGUAGE AND KNOWLEDGE</vt:lpstr>
      <vt:lpstr>LANGUAGE AND KNOWLEDGE</vt:lpstr>
      <vt:lpstr>LANGUAGE AND KNOWLEDGE</vt:lpstr>
      <vt:lpstr>LANGUAGE AND KNOWLEDGE</vt:lpstr>
      <vt:lpstr>LANGUAGE AND KNOWLEDGE</vt:lpstr>
      <vt:lpstr>CHALLENGES OF NLP</vt:lpstr>
      <vt:lpstr>CHALLENGES OF NLP</vt:lpstr>
      <vt:lpstr>CHALLENGES OF NLP</vt:lpstr>
      <vt:lpstr>CHALLENGES OF NLP</vt:lpstr>
      <vt:lpstr>CHALLENGES OF NLP</vt:lpstr>
      <vt:lpstr>PowerPoint Presentation</vt:lpstr>
      <vt:lpstr>PowerPoint Presentation</vt:lpstr>
      <vt:lpstr>PowerPoint Presentation</vt:lpstr>
      <vt:lpstr>PowerPoint Presentation</vt:lpstr>
      <vt:lpstr>PowerPoint Presentation</vt:lpstr>
      <vt:lpstr>LANGUAGE AND GRAMMAR</vt:lpstr>
      <vt:lpstr>LANGUAGE AND GRAMMAR</vt:lpstr>
      <vt:lpstr>LANGUAGE AND GRAMMAR</vt:lpstr>
      <vt:lpstr>TRANSFORMATIONAL GRAMMAR</vt:lpstr>
      <vt:lpstr>TRANSFORMATIONAL GRAMMAR</vt:lpstr>
      <vt:lpstr>TRANSFORMATIONAL GRAMMAR </vt:lpstr>
      <vt:lpstr>TRANSFORMATIONAL GRAMMAR</vt:lpstr>
      <vt:lpstr>PRACTICE</vt:lpstr>
      <vt:lpstr>PRACTICE</vt:lpstr>
      <vt:lpstr>PRACTICE</vt:lpstr>
      <vt:lpstr>PRACTICE</vt:lpstr>
      <vt:lpstr>TRANSFORMATIONAL GRAMMAR</vt:lpstr>
      <vt:lpstr>TRANSFORMATIONAL GRAMMAR </vt:lpstr>
      <vt:lpstr>TRANSFORMATIONAL GRAMMAR</vt:lpstr>
      <vt:lpstr>TRANSFORMATIONAL GRAMMAR</vt:lpstr>
      <vt:lpstr>TRANSFORMATIONAL GRAMMAR</vt:lpstr>
      <vt:lpstr>PROCESSING INDIAN LANGUAGE</vt:lpstr>
      <vt:lpstr>NLP APPLICATIONS</vt:lpstr>
      <vt:lpstr>NLP APPLICATIONS</vt:lpstr>
      <vt:lpstr>NLP APPLICATIONS</vt:lpstr>
      <vt:lpstr>Difference between IR and IE </vt:lpstr>
      <vt:lpstr>EARLY NLP SYSTEMS</vt:lpstr>
      <vt:lpstr>INFORMATION RETRIEVAL</vt:lpstr>
      <vt:lpstr>INFORMATION RETRIEVAL</vt:lpstr>
      <vt:lpstr>INFORMATION RETRIEVAL</vt:lpstr>
      <vt:lpstr>INFORMATION RETRIEVAL </vt:lpstr>
      <vt:lpstr>CHAPTER 2 LANGUAGE MODELLING</vt:lpstr>
      <vt:lpstr>LANGUAGE MODELLING</vt:lpstr>
      <vt:lpstr>Grammar based language model</vt:lpstr>
      <vt:lpstr>Statistical language modelling</vt:lpstr>
      <vt:lpstr>VARIOUS GRAMMAR BASED LANGUAGE MODELS</vt:lpstr>
      <vt:lpstr>Generative Grammar</vt:lpstr>
      <vt:lpstr>Hierarchical Grammar</vt:lpstr>
      <vt:lpstr>Government and Binding (GB)</vt:lpstr>
      <vt:lpstr>Government and Binding (GB)</vt:lpstr>
      <vt:lpstr>Government and Binding (GB) </vt:lpstr>
      <vt:lpstr>Government and Binding (GB) </vt:lpstr>
      <vt:lpstr>Government and Binding (GB) </vt:lpstr>
      <vt:lpstr>Government and Binding (GB) </vt:lpstr>
      <vt:lpstr>Components of GB</vt:lpstr>
      <vt:lpstr>Components of GB</vt:lpstr>
      <vt:lpstr>Government and Binding (GB)</vt:lpstr>
      <vt:lpstr>General characteristics of GB</vt:lpstr>
      <vt:lpstr>General characteristics of GB</vt:lpstr>
      <vt:lpstr>General characteristics of GB</vt:lpstr>
      <vt:lpstr>GB- X BAR THEORY </vt:lpstr>
      <vt:lpstr>GB- X BAR THEORY</vt:lpstr>
      <vt:lpstr>EXAMPLE</vt:lpstr>
      <vt:lpstr>EXAMPLE</vt:lpstr>
      <vt:lpstr>EXAMPLE</vt:lpstr>
      <vt:lpstr>EXAMPLE</vt:lpstr>
      <vt:lpstr>EXAMPLE</vt:lpstr>
      <vt:lpstr>EXAMPLE</vt:lpstr>
      <vt:lpstr>EXAMPLE</vt:lpstr>
      <vt:lpstr>EXAMPLE</vt:lpstr>
      <vt:lpstr>EXAMPLE</vt:lpstr>
      <vt:lpstr>GB</vt:lpstr>
      <vt:lpstr>GB</vt:lpstr>
      <vt:lpstr>GB</vt:lpstr>
      <vt:lpstr>Examples for Agent and Theme</vt:lpstr>
      <vt:lpstr>GB</vt:lpstr>
      <vt:lpstr>GB</vt:lpstr>
      <vt:lpstr>GB</vt:lpstr>
      <vt:lpstr>C-command Example </vt:lpstr>
      <vt:lpstr>GB</vt:lpstr>
      <vt:lpstr>GB -   Movement, Empty Category and Co-indexing</vt:lpstr>
      <vt:lpstr>GB -   Movement, Empty Category and Co-indexing</vt:lpstr>
      <vt:lpstr>GB -   Movement, Empty Category and Co-indexing</vt:lpstr>
      <vt:lpstr>GB -   Movement, Empty Category and Co-indexing</vt:lpstr>
      <vt:lpstr>GB - Movement, Empty Category and Co-indexing </vt:lpstr>
      <vt:lpstr>GB </vt:lpstr>
      <vt:lpstr>GB </vt:lpstr>
      <vt:lpstr>GB </vt:lpstr>
      <vt:lpstr>GB </vt:lpstr>
      <vt:lpstr>GB</vt:lpstr>
      <vt:lpstr>LEXICAL FUNCTIONAL GRAMMAR</vt:lpstr>
      <vt:lpstr>LEXICAL FUNCTIONAL GRAMMAR</vt:lpstr>
      <vt:lpstr>LEXICAL FUNCTIONAL GRAMMAR</vt:lpstr>
      <vt:lpstr>LEXICAL FUNCTIONAL GRAMMAR</vt:lpstr>
      <vt:lpstr>LEXICAL FUNCTIONAL GRAMMAR</vt:lpstr>
      <vt:lpstr>LEXICAL FUNCTIONAL GRAMMAR</vt:lpstr>
      <vt:lpstr>LEXICAL FUNCTIONAL GRAMMAR</vt:lpstr>
      <vt:lpstr>LEXICAL FUNCTIONAL GRAMMAR</vt:lpstr>
      <vt:lpstr>LEXICAL FUNCTIONAL GRAMMAR</vt:lpstr>
      <vt:lpstr>LEXICAL FUNCTIONAL GRAMMAR</vt:lpstr>
      <vt:lpstr>LEXICAL FUNCTIONAL GRAMMAR</vt:lpstr>
      <vt:lpstr>LEXICAL FUNCTIONAL GRAMMAR</vt:lpstr>
      <vt:lpstr>PANINIAN FRAMEWORK</vt:lpstr>
      <vt:lpstr>PANINIAN FRAMEWORK</vt:lpstr>
      <vt:lpstr>PANINIAN FRAMEWORK</vt:lpstr>
      <vt:lpstr>PANINIAN FRAMEWORK</vt:lpstr>
      <vt:lpstr>PANINIAN FRAMEWORK</vt:lpstr>
      <vt:lpstr>PANINIAN FRAMEWORK</vt:lpstr>
      <vt:lpstr>PANINIAN FRAMEWORK</vt:lpstr>
      <vt:lpstr>PANINIAN FRAMEWORK</vt:lpstr>
      <vt:lpstr>PANINIAN FRAMEWORK</vt:lpstr>
      <vt:lpstr>PANINIAN FRAMEWORK</vt:lpstr>
      <vt:lpstr>PANINIAN FRAMEWORK</vt:lpstr>
      <vt:lpstr>PANINIAN FRAMEWORK</vt:lpstr>
      <vt:lpstr>PANINIAN FRAMEWORK</vt:lpstr>
      <vt:lpstr>PANINIAN FRAMEWORK</vt:lpstr>
      <vt:lpstr>PANINIAN FRAMEWORK</vt:lpstr>
      <vt:lpstr>Statistical Language Model</vt:lpstr>
      <vt:lpstr>PowerPoint Presentation</vt:lpstr>
      <vt:lpstr>Probability for Sentence </vt:lpstr>
      <vt:lpstr>Sparsity Problem  </vt:lpstr>
      <vt:lpstr>N-gram Language Model </vt:lpstr>
      <vt:lpstr>Implementation of N-gram Language Model </vt:lpstr>
      <vt:lpstr>PowerPoint Presentation</vt:lpstr>
      <vt:lpstr>PowerPoint Presentation</vt:lpstr>
      <vt:lpstr>Statistical Language Model - n-gram Model</vt:lpstr>
      <vt:lpstr>Statistical Language Model - n-gram Model</vt:lpstr>
      <vt:lpstr>Statistical Language Model - n-gram Model</vt:lpstr>
      <vt:lpstr>Statistical Language Model - n-gram Model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Rubini P.E</dc:creator>
  <cp:lastModifiedBy>mareddy charan</cp:lastModifiedBy>
  <cp:revision>2</cp:revision>
  <dcterms:created xsi:type="dcterms:W3CDTF">2020-08-06T08:36:45Z</dcterms:created>
  <dcterms:modified xsi:type="dcterms:W3CDTF">2025-07-04T12:49:28Z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
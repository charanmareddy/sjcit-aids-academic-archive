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8" r:id="rId43"/>
    <p:sldId id="299" r:id="rId44"/>
    <p:sldId id="297"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 id="368" r:id="rId114"/>
    <p:sldId id="369" r:id="rId115"/>
  </p:sldIdLst>
  <p:sldSz cx="12192000" cy="6858000"/>
  <p:notesSz cx="12192000" cy="6858000"/>
  <p:embeddedFontLst>
    <p:embeddedFont>
      <p:font typeface="Calibri" panose="020F0502020204030204" pitchFamily="34" charset="0"/>
      <p:regular r:id="rId117"/>
      <p:bold r:id="rId118"/>
      <p:italic r:id="rId119"/>
      <p:boldItalic r:id="rId120"/>
    </p:embeddedFont>
    <p:embeddedFont>
      <p:font typeface="Lucida Sans" panose="020B0602030504020204" pitchFamily="34" charset="0"/>
      <p:regular r:id="rId121"/>
      <p:bold r:id="rId122"/>
      <p:italic r:id="rId123"/>
      <p:boldItalic r:id="rId124"/>
    </p:embeddedFont>
    <p:embeddedFont>
      <p:font typeface="Roboto" panose="020B0604020202020204" charset="0"/>
      <p:regular r:id="rId125"/>
      <p:bold r:id="rId126"/>
      <p:italic r:id="rId127"/>
      <p:boldItalic r:id="rId12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p15:guide id="1" orient="horz" pos="2880">
          <p15:clr>
            <a:srgbClr val="A4A3A4"/>
          </p15:clr>
        </p15:guide>
        <p15:guide id="2" pos="2160">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129" roundtripDataSignature="AMtx7miTLSu7gNE02PHrNKGwqyPngfAVl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A6B57B2F-7F9A-4B30-8869-152D4AE16119}">
  <a:tblStyle styleId="{A6B57B2F-7F9A-4B30-8869-152D4AE16119}" styleName="Table_0">
    <a:wholeTbl>
      <a:tcTxStyle b="off" i="off">
        <a:font>
          <a:latin typeface="Calibri"/>
          <a:ea typeface="Calibri"/>
          <a:cs typeface="Calibri"/>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89" d="100"/>
          <a:sy n="89" d="100"/>
        </p:scale>
        <p:origin x="-403" y="86"/>
      </p:cViewPr>
      <p:guideLst>
        <p:guide orient="horz" pos="2880"/>
        <p:guide pos="216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font" Target="fonts/font1.fntdata"/><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tableStyles" Target="tableStyles.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font" Target="fonts/font7.fntdata"/><Relationship Id="rId128" Type="http://schemas.openxmlformats.org/officeDocument/2006/relationships/font" Target="fonts/font12.fntdata"/><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13" Type="http://schemas.openxmlformats.org/officeDocument/2006/relationships/slide" Target="slides/slide112.xml"/><Relationship Id="rId118" Type="http://schemas.openxmlformats.org/officeDocument/2006/relationships/font" Target="fonts/font2.fntdata"/><Relationship Id="rId126" Type="http://schemas.openxmlformats.org/officeDocument/2006/relationships/font" Target="fonts/font10.fntdata"/><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font" Target="fonts/font5.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slide" Target="slides/slide102.xml"/><Relationship Id="rId108" Type="http://schemas.openxmlformats.org/officeDocument/2006/relationships/slide" Target="slides/slide107.xml"/><Relationship Id="rId116" Type="http://schemas.openxmlformats.org/officeDocument/2006/relationships/notesMaster" Target="notesMasters/notesMaster1.xml"/><Relationship Id="rId124" Type="http://schemas.openxmlformats.org/officeDocument/2006/relationships/font" Target="fonts/font8.fntdata"/><Relationship Id="rId129" Type="http://customschemas.google.com/relationships/presentationmetadata" Target="meta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11" Type="http://schemas.openxmlformats.org/officeDocument/2006/relationships/slide" Target="slides/slide110.xml"/><Relationship Id="rId132"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slide" Target="slides/slide113.xml"/><Relationship Id="rId119" Type="http://schemas.openxmlformats.org/officeDocument/2006/relationships/font" Target="fonts/font3.fntdata"/><Relationship Id="rId127" Type="http://schemas.openxmlformats.org/officeDocument/2006/relationships/font" Target="fonts/font11.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font" Target="fonts/font6.fntdata"/><Relationship Id="rId13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font" Target="fonts/font4.fntdata"/><Relationship Id="rId125" Type="http://schemas.openxmlformats.org/officeDocument/2006/relationships/font" Target="fonts/font9.fntdata"/><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viewProps" Target="viewProp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2032400" y="514350"/>
            <a:ext cx="8128400"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1640830563"/>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
        <p:cNvGrpSpPr/>
        <p:nvPr/>
      </p:nvGrpSpPr>
      <p:grpSpPr>
        <a:xfrm>
          <a:off x="0" y="0"/>
          <a:ext cx="0" cy="0"/>
          <a:chOff x="0" y="0"/>
          <a:chExt cx="0" cy="0"/>
        </a:xfrm>
      </p:grpSpPr>
      <p:sp>
        <p:nvSpPr>
          <p:cNvPr id="40" name="Google Shape;40;p1: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1" name="Google Shape;41;p1: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
        <p:cNvGrpSpPr/>
        <p:nvPr/>
      </p:nvGrpSpPr>
      <p:grpSpPr>
        <a:xfrm>
          <a:off x="0" y="0"/>
          <a:ext cx="0" cy="0"/>
          <a:chOff x="0" y="0"/>
          <a:chExt cx="0" cy="0"/>
        </a:xfrm>
      </p:grpSpPr>
      <p:sp>
        <p:nvSpPr>
          <p:cNvPr id="45" name="Google Shape;45;p2: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6" name="Google Shape;46;p2: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3: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2" name="Google Shape;52;p3: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p4: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9" name="Google Shape;59;p4: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p5: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6" name="Google Shape;66;p5: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
        <p:cNvGrpSpPr/>
        <p:nvPr/>
      </p:nvGrpSpPr>
      <p:grpSpPr>
        <a:xfrm>
          <a:off x="0" y="0"/>
          <a:ext cx="0" cy="0"/>
          <a:chOff x="0" y="0"/>
          <a:chExt cx="0" cy="0"/>
        </a:xfrm>
      </p:grpSpPr>
      <p:sp>
        <p:nvSpPr>
          <p:cNvPr id="71" name="Google Shape;71;p6: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2" name="Google Shape;72;p6: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
        <p:cNvGrpSpPr/>
        <p:nvPr/>
      </p:nvGrpSpPr>
      <p:grpSpPr>
        <a:xfrm>
          <a:off x="0" y="0"/>
          <a:ext cx="0" cy="0"/>
          <a:chOff x="0" y="0"/>
          <a:chExt cx="0" cy="0"/>
        </a:xfrm>
      </p:grpSpPr>
      <p:sp>
        <p:nvSpPr>
          <p:cNvPr id="77" name="Google Shape;77;p7: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8" name="Google Shape;78;p7: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p:cNvGrpSpPr/>
        <p:nvPr/>
      </p:nvGrpSpPr>
      <p:grpSpPr>
        <a:xfrm>
          <a:off x="0" y="0"/>
          <a:ext cx="0" cy="0"/>
          <a:chOff x="0" y="0"/>
          <a:chExt cx="0" cy="0"/>
        </a:xfrm>
      </p:grpSpPr>
      <p:sp>
        <p:nvSpPr>
          <p:cNvPr id="83" name="Google Shape;83;p8: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4" name="Google Shape;84;p8: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p9: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0" name="Google Shape;90;p9: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p10: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7" name="Google Shape;97;p10: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p11: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5" name="Google Shape;105;p11: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Google Shape;116;p12: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7" name="Google Shape;117;p12: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
        <p:cNvGrpSpPr/>
        <p:nvPr/>
      </p:nvGrpSpPr>
      <p:grpSpPr>
        <a:xfrm>
          <a:off x="0" y="0"/>
          <a:ext cx="0" cy="0"/>
          <a:chOff x="0" y="0"/>
          <a:chExt cx="0" cy="0"/>
        </a:xfrm>
      </p:grpSpPr>
      <p:sp>
        <p:nvSpPr>
          <p:cNvPr id="139" name="Google Shape;139;p13: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0" name="Google Shape;140;p13: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p14: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0" name="Google Shape;160;p14: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p15: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0" name="Google Shape;180;p15: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
        <p:cNvGrpSpPr/>
        <p:nvPr/>
      </p:nvGrpSpPr>
      <p:grpSpPr>
        <a:xfrm>
          <a:off x="0" y="0"/>
          <a:ext cx="0" cy="0"/>
          <a:chOff x="0" y="0"/>
          <a:chExt cx="0" cy="0"/>
        </a:xfrm>
      </p:grpSpPr>
      <p:sp>
        <p:nvSpPr>
          <p:cNvPr id="187" name="Google Shape;187;p16: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8" name="Google Shape;188;p16: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Google Shape;193;p17: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4" name="Google Shape;194;p17: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
        <p:cNvGrpSpPr/>
        <p:nvPr/>
      </p:nvGrpSpPr>
      <p:grpSpPr>
        <a:xfrm>
          <a:off x="0" y="0"/>
          <a:ext cx="0" cy="0"/>
          <a:chOff x="0" y="0"/>
          <a:chExt cx="0" cy="0"/>
        </a:xfrm>
      </p:grpSpPr>
      <p:sp>
        <p:nvSpPr>
          <p:cNvPr id="205" name="Google Shape;205;p18: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6" name="Google Shape;206;p18: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1"/>
        <p:cNvGrpSpPr/>
        <p:nvPr/>
      </p:nvGrpSpPr>
      <p:grpSpPr>
        <a:xfrm>
          <a:off x="0" y="0"/>
          <a:ext cx="0" cy="0"/>
          <a:chOff x="0" y="0"/>
          <a:chExt cx="0" cy="0"/>
        </a:xfrm>
      </p:grpSpPr>
      <p:sp>
        <p:nvSpPr>
          <p:cNvPr id="212" name="Google Shape;212;p19: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3" name="Google Shape;213;p19: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p:cNvGrpSpPr/>
        <p:nvPr/>
      </p:nvGrpSpPr>
      <p:grpSpPr>
        <a:xfrm>
          <a:off x="0" y="0"/>
          <a:ext cx="0" cy="0"/>
          <a:chOff x="0" y="0"/>
          <a:chExt cx="0" cy="0"/>
        </a:xfrm>
      </p:grpSpPr>
      <p:sp>
        <p:nvSpPr>
          <p:cNvPr id="219" name="Google Shape;219;p20: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0" name="Google Shape;220;p20: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5"/>
        <p:cNvGrpSpPr/>
        <p:nvPr/>
      </p:nvGrpSpPr>
      <p:grpSpPr>
        <a:xfrm>
          <a:off x="0" y="0"/>
          <a:ext cx="0" cy="0"/>
          <a:chOff x="0" y="0"/>
          <a:chExt cx="0" cy="0"/>
        </a:xfrm>
      </p:grpSpPr>
      <p:sp>
        <p:nvSpPr>
          <p:cNvPr id="236" name="Google Shape;236;p21: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7" name="Google Shape;237;p21: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5"/>
        <p:cNvGrpSpPr/>
        <p:nvPr/>
      </p:nvGrpSpPr>
      <p:grpSpPr>
        <a:xfrm>
          <a:off x="0" y="0"/>
          <a:ext cx="0" cy="0"/>
          <a:chOff x="0" y="0"/>
          <a:chExt cx="0" cy="0"/>
        </a:xfrm>
      </p:grpSpPr>
      <p:sp>
        <p:nvSpPr>
          <p:cNvPr id="246" name="Google Shape;246;p22: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7" name="Google Shape;247;p22: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1"/>
        <p:cNvGrpSpPr/>
        <p:nvPr/>
      </p:nvGrpSpPr>
      <p:grpSpPr>
        <a:xfrm>
          <a:off x="0" y="0"/>
          <a:ext cx="0" cy="0"/>
          <a:chOff x="0" y="0"/>
          <a:chExt cx="0" cy="0"/>
        </a:xfrm>
      </p:grpSpPr>
      <p:sp>
        <p:nvSpPr>
          <p:cNvPr id="252" name="Google Shape;252;p23: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53" name="Google Shape;253;p23: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1"/>
        <p:cNvGrpSpPr/>
        <p:nvPr/>
      </p:nvGrpSpPr>
      <p:grpSpPr>
        <a:xfrm>
          <a:off x="0" y="0"/>
          <a:ext cx="0" cy="0"/>
          <a:chOff x="0" y="0"/>
          <a:chExt cx="0" cy="0"/>
        </a:xfrm>
      </p:grpSpPr>
      <p:sp>
        <p:nvSpPr>
          <p:cNvPr id="262" name="Google Shape;262;p24: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63" name="Google Shape;263;p24: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7"/>
        <p:cNvGrpSpPr/>
        <p:nvPr/>
      </p:nvGrpSpPr>
      <p:grpSpPr>
        <a:xfrm>
          <a:off x="0" y="0"/>
          <a:ext cx="0" cy="0"/>
          <a:chOff x="0" y="0"/>
          <a:chExt cx="0" cy="0"/>
        </a:xfrm>
      </p:grpSpPr>
      <p:sp>
        <p:nvSpPr>
          <p:cNvPr id="268" name="Google Shape;268;p25: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69" name="Google Shape;269;p25: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p26: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5" name="Google Shape;275;p26: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9"/>
        <p:cNvGrpSpPr/>
        <p:nvPr/>
      </p:nvGrpSpPr>
      <p:grpSpPr>
        <a:xfrm>
          <a:off x="0" y="0"/>
          <a:ext cx="0" cy="0"/>
          <a:chOff x="0" y="0"/>
          <a:chExt cx="0" cy="0"/>
        </a:xfrm>
      </p:grpSpPr>
      <p:sp>
        <p:nvSpPr>
          <p:cNvPr id="280" name="Google Shape;280;p27: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81" name="Google Shape;281;p27: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5"/>
        <p:cNvGrpSpPr/>
        <p:nvPr/>
      </p:nvGrpSpPr>
      <p:grpSpPr>
        <a:xfrm>
          <a:off x="0" y="0"/>
          <a:ext cx="0" cy="0"/>
          <a:chOff x="0" y="0"/>
          <a:chExt cx="0" cy="0"/>
        </a:xfrm>
      </p:grpSpPr>
      <p:sp>
        <p:nvSpPr>
          <p:cNvPr id="286" name="Google Shape;286;p28: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87" name="Google Shape;287;p28: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1"/>
        <p:cNvGrpSpPr/>
        <p:nvPr/>
      </p:nvGrpSpPr>
      <p:grpSpPr>
        <a:xfrm>
          <a:off x="0" y="0"/>
          <a:ext cx="0" cy="0"/>
          <a:chOff x="0" y="0"/>
          <a:chExt cx="0" cy="0"/>
        </a:xfrm>
      </p:grpSpPr>
      <p:sp>
        <p:nvSpPr>
          <p:cNvPr id="292" name="Google Shape;292;p29: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93" name="Google Shape;293;p29: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p:cNvGrpSpPr/>
        <p:nvPr/>
      </p:nvGrpSpPr>
      <p:grpSpPr>
        <a:xfrm>
          <a:off x="0" y="0"/>
          <a:ext cx="0" cy="0"/>
          <a:chOff x="0" y="0"/>
          <a:chExt cx="0" cy="0"/>
        </a:xfrm>
      </p:grpSpPr>
      <p:sp>
        <p:nvSpPr>
          <p:cNvPr id="298" name="Google Shape;298;p30: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99" name="Google Shape;299;p30: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31: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31: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2"/>
        <p:cNvGrpSpPr/>
        <p:nvPr/>
      </p:nvGrpSpPr>
      <p:grpSpPr>
        <a:xfrm>
          <a:off x="0" y="0"/>
          <a:ext cx="0" cy="0"/>
          <a:chOff x="0" y="0"/>
          <a:chExt cx="0" cy="0"/>
        </a:xfrm>
      </p:grpSpPr>
      <p:sp>
        <p:nvSpPr>
          <p:cNvPr id="313" name="Google Shape;313;p32: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14" name="Google Shape;314;p32: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8"/>
        <p:cNvGrpSpPr/>
        <p:nvPr/>
      </p:nvGrpSpPr>
      <p:grpSpPr>
        <a:xfrm>
          <a:off x="0" y="0"/>
          <a:ext cx="0" cy="0"/>
          <a:chOff x="0" y="0"/>
          <a:chExt cx="0" cy="0"/>
        </a:xfrm>
      </p:grpSpPr>
      <p:sp>
        <p:nvSpPr>
          <p:cNvPr id="319" name="Google Shape;319;p33: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20" name="Google Shape;320;p33: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3"/>
        <p:cNvGrpSpPr/>
        <p:nvPr/>
      </p:nvGrpSpPr>
      <p:grpSpPr>
        <a:xfrm>
          <a:off x="0" y="0"/>
          <a:ext cx="0" cy="0"/>
          <a:chOff x="0" y="0"/>
          <a:chExt cx="0" cy="0"/>
        </a:xfrm>
      </p:grpSpPr>
      <p:sp>
        <p:nvSpPr>
          <p:cNvPr id="344" name="Google Shape;344;p34: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45" name="Google Shape;345;p34: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7"/>
        <p:cNvGrpSpPr/>
        <p:nvPr/>
      </p:nvGrpSpPr>
      <p:grpSpPr>
        <a:xfrm>
          <a:off x="0" y="0"/>
          <a:ext cx="0" cy="0"/>
          <a:chOff x="0" y="0"/>
          <a:chExt cx="0" cy="0"/>
        </a:xfrm>
      </p:grpSpPr>
      <p:sp>
        <p:nvSpPr>
          <p:cNvPr id="358" name="Google Shape;358;p35: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59" name="Google Shape;359;p35: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3"/>
        <p:cNvGrpSpPr/>
        <p:nvPr/>
      </p:nvGrpSpPr>
      <p:grpSpPr>
        <a:xfrm>
          <a:off x="0" y="0"/>
          <a:ext cx="0" cy="0"/>
          <a:chOff x="0" y="0"/>
          <a:chExt cx="0" cy="0"/>
        </a:xfrm>
      </p:grpSpPr>
      <p:sp>
        <p:nvSpPr>
          <p:cNvPr id="364" name="Google Shape;364;p36: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65" name="Google Shape;365;p36: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3"/>
        <p:cNvGrpSpPr/>
        <p:nvPr/>
      </p:nvGrpSpPr>
      <p:grpSpPr>
        <a:xfrm>
          <a:off x="0" y="0"/>
          <a:ext cx="0" cy="0"/>
          <a:chOff x="0" y="0"/>
          <a:chExt cx="0" cy="0"/>
        </a:xfrm>
      </p:grpSpPr>
      <p:sp>
        <p:nvSpPr>
          <p:cNvPr id="374" name="Google Shape;374;p37: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75" name="Google Shape;375;p37: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9"/>
        <p:cNvGrpSpPr/>
        <p:nvPr/>
      </p:nvGrpSpPr>
      <p:grpSpPr>
        <a:xfrm>
          <a:off x="0" y="0"/>
          <a:ext cx="0" cy="0"/>
          <a:chOff x="0" y="0"/>
          <a:chExt cx="0" cy="0"/>
        </a:xfrm>
      </p:grpSpPr>
      <p:sp>
        <p:nvSpPr>
          <p:cNvPr id="380" name="Google Shape;380;p38: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81" name="Google Shape;381;p38: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8"/>
        <p:cNvGrpSpPr/>
        <p:nvPr/>
      </p:nvGrpSpPr>
      <p:grpSpPr>
        <a:xfrm>
          <a:off x="0" y="0"/>
          <a:ext cx="0" cy="0"/>
          <a:chOff x="0" y="0"/>
          <a:chExt cx="0" cy="0"/>
        </a:xfrm>
      </p:grpSpPr>
      <p:sp>
        <p:nvSpPr>
          <p:cNvPr id="389" name="Google Shape;389;p39: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90" name="Google Shape;390;p39: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4"/>
        <p:cNvGrpSpPr/>
        <p:nvPr/>
      </p:nvGrpSpPr>
      <p:grpSpPr>
        <a:xfrm>
          <a:off x="0" y="0"/>
          <a:ext cx="0" cy="0"/>
          <a:chOff x="0" y="0"/>
          <a:chExt cx="0" cy="0"/>
        </a:xfrm>
      </p:grpSpPr>
      <p:sp>
        <p:nvSpPr>
          <p:cNvPr id="395" name="Google Shape;395;p40: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96" name="Google Shape;396;p40: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0"/>
        <p:cNvGrpSpPr/>
        <p:nvPr/>
      </p:nvGrpSpPr>
      <p:grpSpPr>
        <a:xfrm>
          <a:off x="0" y="0"/>
          <a:ext cx="0" cy="0"/>
          <a:chOff x="0" y="0"/>
          <a:chExt cx="0" cy="0"/>
        </a:xfrm>
      </p:grpSpPr>
      <p:sp>
        <p:nvSpPr>
          <p:cNvPr id="401" name="Google Shape;401;p41: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02" name="Google Shape;402;p41: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4"/>
        <p:cNvGrpSpPr/>
        <p:nvPr/>
      </p:nvGrpSpPr>
      <p:grpSpPr>
        <a:xfrm>
          <a:off x="0" y="0"/>
          <a:ext cx="0" cy="0"/>
          <a:chOff x="0" y="0"/>
          <a:chExt cx="0" cy="0"/>
        </a:xfrm>
      </p:grpSpPr>
      <p:sp>
        <p:nvSpPr>
          <p:cNvPr id="505" name="Google Shape;505;p43: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06" name="Google Shape;506;p43: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0"/>
        <p:cNvGrpSpPr/>
        <p:nvPr/>
      </p:nvGrpSpPr>
      <p:grpSpPr>
        <a:xfrm>
          <a:off x="0" y="0"/>
          <a:ext cx="0" cy="0"/>
          <a:chOff x="0" y="0"/>
          <a:chExt cx="0" cy="0"/>
        </a:xfrm>
      </p:grpSpPr>
      <p:sp>
        <p:nvSpPr>
          <p:cNvPr id="531" name="Google Shape;531;p44: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2" name="Google Shape;532;p44: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8"/>
        <p:cNvGrpSpPr/>
        <p:nvPr/>
      </p:nvGrpSpPr>
      <p:grpSpPr>
        <a:xfrm>
          <a:off x="0" y="0"/>
          <a:ext cx="0" cy="0"/>
          <a:chOff x="0" y="0"/>
          <a:chExt cx="0" cy="0"/>
        </a:xfrm>
      </p:grpSpPr>
      <p:sp>
        <p:nvSpPr>
          <p:cNvPr id="499" name="Google Shape;499;p42: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00" name="Google Shape;500;p42: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9"/>
        <p:cNvGrpSpPr/>
        <p:nvPr/>
      </p:nvGrpSpPr>
      <p:grpSpPr>
        <a:xfrm>
          <a:off x="0" y="0"/>
          <a:ext cx="0" cy="0"/>
          <a:chOff x="0" y="0"/>
          <a:chExt cx="0" cy="0"/>
        </a:xfrm>
      </p:grpSpPr>
      <p:sp>
        <p:nvSpPr>
          <p:cNvPr id="540" name="Google Shape;540;p45: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41" name="Google Shape;541;p45: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6"/>
        <p:cNvGrpSpPr/>
        <p:nvPr/>
      </p:nvGrpSpPr>
      <p:grpSpPr>
        <a:xfrm>
          <a:off x="0" y="0"/>
          <a:ext cx="0" cy="0"/>
          <a:chOff x="0" y="0"/>
          <a:chExt cx="0" cy="0"/>
        </a:xfrm>
      </p:grpSpPr>
      <p:sp>
        <p:nvSpPr>
          <p:cNvPr id="547" name="Google Shape;547;p46: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48" name="Google Shape;548;p46: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2"/>
        <p:cNvGrpSpPr/>
        <p:nvPr/>
      </p:nvGrpSpPr>
      <p:grpSpPr>
        <a:xfrm>
          <a:off x="0" y="0"/>
          <a:ext cx="0" cy="0"/>
          <a:chOff x="0" y="0"/>
          <a:chExt cx="0" cy="0"/>
        </a:xfrm>
      </p:grpSpPr>
      <p:sp>
        <p:nvSpPr>
          <p:cNvPr id="553" name="Google Shape;553;p47: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54" name="Google Shape;554;p47: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8"/>
        <p:cNvGrpSpPr/>
        <p:nvPr/>
      </p:nvGrpSpPr>
      <p:grpSpPr>
        <a:xfrm>
          <a:off x="0" y="0"/>
          <a:ext cx="0" cy="0"/>
          <a:chOff x="0" y="0"/>
          <a:chExt cx="0" cy="0"/>
        </a:xfrm>
      </p:grpSpPr>
      <p:sp>
        <p:nvSpPr>
          <p:cNvPr id="559" name="Google Shape;559;p48: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60" name="Google Shape;560;p48: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4"/>
        <p:cNvGrpSpPr/>
        <p:nvPr/>
      </p:nvGrpSpPr>
      <p:grpSpPr>
        <a:xfrm>
          <a:off x="0" y="0"/>
          <a:ext cx="0" cy="0"/>
          <a:chOff x="0" y="0"/>
          <a:chExt cx="0" cy="0"/>
        </a:xfrm>
      </p:grpSpPr>
      <p:sp>
        <p:nvSpPr>
          <p:cNvPr id="565" name="Google Shape;565;p49: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66" name="Google Shape;566;p49: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1"/>
        <p:cNvGrpSpPr/>
        <p:nvPr/>
      </p:nvGrpSpPr>
      <p:grpSpPr>
        <a:xfrm>
          <a:off x="0" y="0"/>
          <a:ext cx="0" cy="0"/>
          <a:chOff x="0" y="0"/>
          <a:chExt cx="0" cy="0"/>
        </a:xfrm>
      </p:grpSpPr>
      <p:sp>
        <p:nvSpPr>
          <p:cNvPr id="592" name="Google Shape;592;p50: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93" name="Google Shape;593;p50: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7"/>
        <p:cNvGrpSpPr/>
        <p:nvPr/>
      </p:nvGrpSpPr>
      <p:grpSpPr>
        <a:xfrm>
          <a:off x="0" y="0"/>
          <a:ext cx="0" cy="0"/>
          <a:chOff x="0" y="0"/>
          <a:chExt cx="0" cy="0"/>
        </a:xfrm>
      </p:grpSpPr>
      <p:sp>
        <p:nvSpPr>
          <p:cNvPr id="598" name="Google Shape;598;p51: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99" name="Google Shape;599;p51: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3"/>
        <p:cNvGrpSpPr/>
        <p:nvPr/>
      </p:nvGrpSpPr>
      <p:grpSpPr>
        <a:xfrm>
          <a:off x="0" y="0"/>
          <a:ext cx="0" cy="0"/>
          <a:chOff x="0" y="0"/>
          <a:chExt cx="0" cy="0"/>
        </a:xfrm>
      </p:grpSpPr>
      <p:sp>
        <p:nvSpPr>
          <p:cNvPr id="604" name="Google Shape;604;p52: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05" name="Google Shape;605;p52: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9"/>
        <p:cNvGrpSpPr/>
        <p:nvPr/>
      </p:nvGrpSpPr>
      <p:grpSpPr>
        <a:xfrm>
          <a:off x="0" y="0"/>
          <a:ext cx="0" cy="0"/>
          <a:chOff x="0" y="0"/>
          <a:chExt cx="0" cy="0"/>
        </a:xfrm>
      </p:grpSpPr>
      <p:sp>
        <p:nvSpPr>
          <p:cNvPr id="610" name="Google Shape;610;p53: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11" name="Google Shape;611;p53: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1"/>
        <p:cNvGrpSpPr/>
        <p:nvPr/>
      </p:nvGrpSpPr>
      <p:grpSpPr>
        <a:xfrm>
          <a:off x="0" y="0"/>
          <a:ext cx="0" cy="0"/>
          <a:chOff x="0" y="0"/>
          <a:chExt cx="0" cy="0"/>
        </a:xfrm>
      </p:grpSpPr>
      <p:sp>
        <p:nvSpPr>
          <p:cNvPr id="622" name="Google Shape;622;p54: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23" name="Google Shape;623;p54: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7"/>
        <p:cNvGrpSpPr/>
        <p:nvPr/>
      </p:nvGrpSpPr>
      <p:grpSpPr>
        <a:xfrm>
          <a:off x="0" y="0"/>
          <a:ext cx="0" cy="0"/>
          <a:chOff x="0" y="0"/>
          <a:chExt cx="0" cy="0"/>
        </a:xfrm>
      </p:grpSpPr>
      <p:sp>
        <p:nvSpPr>
          <p:cNvPr id="628" name="Google Shape;628;p55: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29" name="Google Shape;629;p55: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3"/>
        <p:cNvGrpSpPr/>
        <p:nvPr/>
      </p:nvGrpSpPr>
      <p:grpSpPr>
        <a:xfrm>
          <a:off x="0" y="0"/>
          <a:ext cx="0" cy="0"/>
          <a:chOff x="0" y="0"/>
          <a:chExt cx="0" cy="0"/>
        </a:xfrm>
      </p:grpSpPr>
      <p:sp>
        <p:nvSpPr>
          <p:cNvPr id="634" name="Google Shape;634;p56: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35" name="Google Shape;635;p56: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1"/>
        <p:cNvGrpSpPr/>
        <p:nvPr/>
      </p:nvGrpSpPr>
      <p:grpSpPr>
        <a:xfrm>
          <a:off x="0" y="0"/>
          <a:ext cx="0" cy="0"/>
          <a:chOff x="0" y="0"/>
          <a:chExt cx="0" cy="0"/>
        </a:xfrm>
      </p:grpSpPr>
      <p:sp>
        <p:nvSpPr>
          <p:cNvPr id="642" name="Google Shape;642;p57: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43" name="Google Shape;643;p57: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7"/>
        <p:cNvGrpSpPr/>
        <p:nvPr/>
      </p:nvGrpSpPr>
      <p:grpSpPr>
        <a:xfrm>
          <a:off x="0" y="0"/>
          <a:ext cx="0" cy="0"/>
          <a:chOff x="0" y="0"/>
          <a:chExt cx="0" cy="0"/>
        </a:xfrm>
      </p:grpSpPr>
      <p:sp>
        <p:nvSpPr>
          <p:cNvPr id="648" name="Google Shape;648;p58: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49" name="Google Shape;649;p58: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3"/>
        <p:cNvGrpSpPr/>
        <p:nvPr/>
      </p:nvGrpSpPr>
      <p:grpSpPr>
        <a:xfrm>
          <a:off x="0" y="0"/>
          <a:ext cx="0" cy="0"/>
          <a:chOff x="0" y="0"/>
          <a:chExt cx="0" cy="0"/>
        </a:xfrm>
      </p:grpSpPr>
      <p:sp>
        <p:nvSpPr>
          <p:cNvPr id="654" name="Google Shape;654;p59: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55" name="Google Shape;655;p59: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9"/>
        <p:cNvGrpSpPr/>
        <p:nvPr/>
      </p:nvGrpSpPr>
      <p:grpSpPr>
        <a:xfrm>
          <a:off x="0" y="0"/>
          <a:ext cx="0" cy="0"/>
          <a:chOff x="0" y="0"/>
          <a:chExt cx="0" cy="0"/>
        </a:xfrm>
      </p:grpSpPr>
      <p:sp>
        <p:nvSpPr>
          <p:cNvPr id="660" name="Google Shape;660;p60: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61" name="Google Shape;661;p60: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5"/>
        <p:cNvGrpSpPr/>
        <p:nvPr/>
      </p:nvGrpSpPr>
      <p:grpSpPr>
        <a:xfrm>
          <a:off x="0" y="0"/>
          <a:ext cx="0" cy="0"/>
          <a:chOff x="0" y="0"/>
          <a:chExt cx="0" cy="0"/>
        </a:xfrm>
      </p:grpSpPr>
      <p:sp>
        <p:nvSpPr>
          <p:cNvPr id="666" name="Google Shape;666;p61: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67" name="Google Shape;667;p61: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2"/>
        <p:cNvGrpSpPr/>
        <p:nvPr/>
      </p:nvGrpSpPr>
      <p:grpSpPr>
        <a:xfrm>
          <a:off x="0" y="0"/>
          <a:ext cx="0" cy="0"/>
          <a:chOff x="0" y="0"/>
          <a:chExt cx="0" cy="0"/>
        </a:xfrm>
      </p:grpSpPr>
      <p:sp>
        <p:nvSpPr>
          <p:cNvPr id="683" name="Google Shape;683;p62: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84" name="Google Shape;684;p62: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8"/>
        <p:cNvGrpSpPr/>
        <p:nvPr/>
      </p:nvGrpSpPr>
      <p:grpSpPr>
        <a:xfrm>
          <a:off x="0" y="0"/>
          <a:ext cx="0" cy="0"/>
          <a:chOff x="0" y="0"/>
          <a:chExt cx="0" cy="0"/>
        </a:xfrm>
      </p:grpSpPr>
      <p:sp>
        <p:nvSpPr>
          <p:cNvPr id="689" name="Google Shape;689;p63: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90" name="Google Shape;690;p63: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6"/>
        <p:cNvGrpSpPr/>
        <p:nvPr/>
      </p:nvGrpSpPr>
      <p:grpSpPr>
        <a:xfrm>
          <a:off x="0" y="0"/>
          <a:ext cx="0" cy="0"/>
          <a:chOff x="0" y="0"/>
          <a:chExt cx="0" cy="0"/>
        </a:xfrm>
      </p:grpSpPr>
      <p:sp>
        <p:nvSpPr>
          <p:cNvPr id="707" name="Google Shape;707;p64: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08" name="Google Shape;708;p64: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2"/>
        <p:cNvGrpSpPr/>
        <p:nvPr/>
      </p:nvGrpSpPr>
      <p:grpSpPr>
        <a:xfrm>
          <a:off x="0" y="0"/>
          <a:ext cx="0" cy="0"/>
          <a:chOff x="0" y="0"/>
          <a:chExt cx="0" cy="0"/>
        </a:xfrm>
      </p:grpSpPr>
      <p:sp>
        <p:nvSpPr>
          <p:cNvPr id="713" name="Google Shape;713;p65: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14" name="Google Shape;714;p65: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8"/>
        <p:cNvGrpSpPr/>
        <p:nvPr/>
      </p:nvGrpSpPr>
      <p:grpSpPr>
        <a:xfrm>
          <a:off x="0" y="0"/>
          <a:ext cx="0" cy="0"/>
          <a:chOff x="0" y="0"/>
          <a:chExt cx="0" cy="0"/>
        </a:xfrm>
      </p:grpSpPr>
      <p:sp>
        <p:nvSpPr>
          <p:cNvPr id="719" name="Google Shape;719;p66: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20" name="Google Shape;720;p66: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8"/>
        <p:cNvGrpSpPr/>
        <p:nvPr/>
      </p:nvGrpSpPr>
      <p:grpSpPr>
        <a:xfrm>
          <a:off x="0" y="0"/>
          <a:ext cx="0" cy="0"/>
          <a:chOff x="0" y="0"/>
          <a:chExt cx="0" cy="0"/>
        </a:xfrm>
      </p:grpSpPr>
      <p:sp>
        <p:nvSpPr>
          <p:cNvPr id="729" name="Google Shape;729;p67: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30" name="Google Shape;730;p67: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9"/>
        <p:cNvGrpSpPr/>
        <p:nvPr/>
      </p:nvGrpSpPr>
      <p:grpSpPr>
        <a:xfrm>
          <a:off x="0" y="0"/>
          <a:ext cx="0" cy="0"/>
          <a:chOff x="0" y="0"/>
          <a:chExt cx="0" cy="0"/>
        </a:xfrm>
      </p:grpSpPr>
      <p:sp>
        <p:nvSpPr>
          <p:cNvPr id="740" name="Google Shape;740;p68: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41" name="Google Shape;741;p68: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8"/>
        <p:cNvGrpSpPr/>
        <p:nvPr/>
      </p:nvGrpSpPr>
      <p:grpSpPr>
        <a:xfrm>
          <a:off x="0" y="0"/>
          <a:ext cx="0" cy="0"/>
          <a:chOff x="0" y="0"/>
          <a:chExt cx="0" cy="0"/>
        </a:xfrm>
      </p:grpSpPr>
      <p:sp>
        <p:nvSpPr>
          <p:cNvPr id="749" name="Google Shape;749;p69: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50" name="Google Shape;750;p69: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8"/>
        <p:cNvGrpSpPr/>
        <p:nvPr/>
      </p:nvGrpSpPr>
      <p:grpSpPr>
        <a:xfrm>
          <a:off x="0" y="0"/>
          <a:ext cx="0" cy="0"/>
          <a:chOff x="0" y="0"/>
          <a:chExt cx="0" cy="0"/>
        </a:xfrm>
      </p:grpSpPr>
      <p:sp>
        <p:nvSpPr>
          <p:cNvPr id="759" name="Google Shape;759;p70: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60" name="Google Shape;760;p70: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5"/>
        <p:cNvGrpSpPr/>
        <p:nvPr/>
      </p:nvGrpSpPr>
      <p:grpSpPr>
        <a:xfrm>
          <a:off x="0" y="0"/>
          <a:ext cx="0" cy="0"/>
          <a:chOff x="0" y="0"/>
          <a:chExt cx="0" cy="0"/>
        </a:xfrm>
      </p:grpSpPr>
      <p:sp>
        <p:nvSpPr>
          <p:cNvPr id="766" name="Google Shape;766;p71: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67" name="Google Shape;767;p71: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5"/>
        <p:cNvGrpSpPr/>
        <p:nvPr/>
      </p:nvGrpSpPr>
      <p:grpSpPr>
        <a:xfrm>
          <a:off x="0" y="0"/>
          <a:ext cx="0" cy="0"/>
          <a:chOff x="0" y="0"/>
          <a:chExt cx="0" cy="0"/>
        </a:xfrm>
      </p:grpSpPr>
      <p:sp>
        <p:nvSpPr>
          <p:cNvPr id="776" name="Google Shape;776;p72: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77" name="Google Shape;777;p72: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9"/>
        <p:cNvGrpSpPr/>
        <p:nvPr/>
      </p:nvGrpSpPr>
      <p:grpSpPr>
        <a:xfrm>
          <a:off x="0" y="0"/>
          <a:ext cx="0" cy="0"/>
          <a:chOff x="0" y="0"/>
          <a:chExt cx="0" cy="0"/>
        </a:xfrm>
      </p:grpSpPr>
      <p:sp>
        <p:nvSpPr>
          <p:cNvPr id="790" name="Google Shape;790;p73: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91" name="Google Shape;791;p73: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8"/>
        <p:cNvGrpSpPr/>
        <p:nvPr/>
      </p:nvGrpSpPr>
      <p:grpSpPr>
        <a:xfrm>
          <a:off x="0" y="0"/>
          <a:ext cx="0" cy="0"/>
          <a:chOff x="0" y="0"/>
          <a:chExt cx="0" cy="0"/>
        </a:xfrm>
      </p:grpSpPr>
      <p:sp>
        <p:nvSpPr>
          <p:cNvPr id="799" name="Google Shape;799;p74: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00" name="Google Shape;800;p74: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5"/>
        <p:cNvGrpSpPr/>
        <p:nvPr/>
      </p:nvGrpSpPr>
      <p:grpSpPr>
        <a:xfrm>
          <a:off x="0" y="0"/>
          <a:ext cx="0" cy="0"/>
          <a:chOff x="0" y="0"/>
          <a:chExt cx="0" cy="0"/>
        </a:xfrm>
      </p:grpSpPr>
      <p:sp>
        <p:nvSpPr>
          <p:cNvPr id="806" name="Google Shape;806;p75: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07" name="Google Shape;807;p75: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4"/>
        <p:cNvGrpSpPr/>
        <p:nvPr/>
      </p:nvGrpSpPr>
      <p:grpSpPr>
        <a:xfrm>
          <a:off x="0" y="0"/>
          <a:ext cx="0" cy="0"/>
          <a:chOff x="0" y="0"/>
          <a:chExt cx="0" cy="0"/>
        </a:xfrm>
      </p:grpSpPr>
      <p:sp>
        <p:nvSpPr>
          <p:cNvPr id="815" name="Google Shape;815;p76: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16" name="Google Shape;816;p76: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3"/>
        <p:cNvGrpSpPr/>
        <p:nvPr/>
      </p:nvGrpSpPr>
      <p:grpSpPr>
        <a:xfrm>
          <a:off x="0" y="0"/>
          <a:ext cx="0" cy="0"/>
          <a:chOff x="0" y="0"/>
          <a:chExt cx="0" cy="0"/>
        </a:xfrm>
      </p:grpSpPr>
      <p:sp>
        <p:nvSpPr>
          <p:cNvPr id="824" name="Google Shape;824;p77: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5" name="Google Shape;825;p77: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1"/>
        <p:cNvGrpSpPr/>
        <p:nvPr/>
      </p:nvGrpSpPr>
      <p:grpSpPr>
        <a:xfrm>
          <a:off x="0" y="0"/>
          <a:ext cx="0" cy="0"/>
          <a:chOff x="0" y="0"/>
          <a:chExt cx="0" cy="0"/>
        </a:xfrm>
      </p:grpSpPr>
      <p:sp>
        <p:nvSpPr>
          <p:cNvPr id="832" name="Google Shape;832;p78: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33" name="Google Shape;833;p78: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1"/>
        <p:cNvGrpSpPr/>
        <p:nvPr/>
      </p:nvGrpSpPr>
      <p:grpSpPr>
        <a:xfrm>
          <a:off x="0" y="0"/>
          <a:ext cx="0" cy="0"/>
          <a:chOff x="0" y="0"/>
          <a:chExt cx="0" cy="0"/>
        </a:xfrm>
      </p:grpSpPr>
      <p:sp>
        <p:nvSpPr>
          <p:cNvPr id="842" name="Google Shape;842;p79: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43" name="Google Shape;843;p79: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0"/>
        <p:cNvGrpSpPr/>
        <p:nvPr/>
      </p:nvGrpSpPr>
      <p:grpSpPr>
        <a:xfrm>
          <a:off x="0" y="0"/>
          <a:ext cx="0" cy="0"/>
          <a:chOff x="0" y="0"/>
          <a:chExt cx="0" cy="0"/>
        </a:xfrm>
      </p:grpSpPr>
      <p:sp>
        <p:nvSpPr>
          <p:cNvPr id="851" name="Google Shape;851;p80: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52" name="Google Shape;852;p80: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6"/>
        <p:cNvGrpSpPr/>
        <p:nvPr/>
      </p:nvGrpSpPr>
      <p:grpSpPr>
        <a:xfrm>
          <a:off x="0" y="0"/>
          <a:ext cx="0" cy="0"/>
          <a:chOff x="0" y="0"/>
          <a:chExt cx="0" cy="0"/>
        </a:xfrm>
      </p:grpSpPr>
      <p:sp>
        <p:nvSpPr>
          <p:cNvPr id="857" name="Google Shape;857;p81: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58" name="Google Shape;858;p81: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2"/>
        <p:cNvGrpSpPr/>
        <p:nvPr/>
      </p:nvGrpSpPr>
      <p:grpSpPr>
        <a:xfrm>
          <a:off x="0" y="0"/>
          <a:ext cx="0" cy="0"/>
          <a:chOff x="0" y="0"/>
          <a:chExt cx="0" cy="0"/>
        </a:xfrm>
      </p:grpSpPr>
      <p:sp>
        <p:nvSpPr>
          <p:cNvPr id="873" name="Google Shape;873;p82: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74" name="Google Shape;874;p82: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4"/>
        <p:cNvGrpSpPr/>
        <p:nvPr/>
      </p:nvGrpSpPr>
      <p:grpSpPr>
        <a:xfrm>
          <a:off x="0" y="0"/>
          <a:ext cx="0" cy="0"/>
          <a:chOff x="0" y="0"/>
          <a:chExt cx="0" cy="0"/>
        </a:xfrm>
      </p:grpSpPr>
      <p:sp>
        <p:nvSpPr>
          <p:cNvPr id="885" name="Google Shape;885;p83: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6" name="Google Shape;886;p83: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0"/>
        <p:cNvGrpSpPr/>
        <p:nvPr/>
      </p:nvGrpSpPr>
      <p:grpSpPr>
        <a:xfrm>
          <a:off x="0" y="0"/>
          <a:ext cx="0" cy="0"/>
          <a:chOff x="0" y="0"/>
          <a:chExt cx="0" cy="0"/>
        </a:xfrm>
      </p:grpSpPr>
      <p:sp>
        <p:nvSpPr>
          <p:cNvPr id="891" name="Google Shape;891;p84: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2" name="Google Shape;892;p84: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5"/>
        <p:cNvGrpSpPr/>
        <p:nvPr/>
      </p:nvGrpSpPr>
      <p:grpSpPr>
        <a:xfrm>
          <a:off x="0" y="0"/>
          <a:ext cx="0" cy="0"/>
          <a:chOff x="0" y="0"/>
          <a:chExt cx="0" cy="0"/>
        </a:xfrm>
      </p:grpSpPr>
      <p:sp>
        <p:nvSpPr>
          <p:cNvPr id="896" name="Google Shape;896;p85: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7" name="Google Shape;897;p85: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0"/>
        <p:cNvGrpSpPr/>
        <p:nvPr/>
      </p:nvGrpSpPr>
      <p:grpSpPr>
        <a:xfrm>
          <a:off x="0" y="0"/>
          <a:ext cx="0" cy="0"/>
          <a:chOff x="0" y="0"/>
          <a:chExt cx="0" cy="0"/>
        </a:xfrm>
      </p:grpSpPr>
      <p:sp>
        <p:nvSpPr>
          <p:cNvPr id="901" name="Google Shape;901;p86: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02" name="Google Shape;902;p86: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6"/>
        <p:cNvGrpSpPr/>
        <p:nvPr/>
      </p:nvGrpSpPr>
      <p:grpSpPr>
        <a:xfrm>
          <a:off x="0" y="0"/>
          <a:ext cx="0" cy="0"/>
          <a:chOff x="0" y="0"/>
          <a:chExt cx="0" cy="0"/>
        </a:xfrm>
      </p:grpSpPr>
      <p:sp>
        <p:nvSpPr>
          <p:cNvPr id="907" name="Google Shape;907;p87: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08" name="Google Shape;908;p87: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1"/>
        <p:cNvGrpSpPr/>
        <p:nvPr/>
      </p:nvGrpSpPr>
      <p:grpSpPr>
        <a:xfrm>
          <a:off x="0" y="0"/>
          <a:ext cx="0" cy="0"/>
          <a:chOff x="0" y="0"/>
          <a:chExt cx="0" cy="0"/>
        </a:xfrm>
      </p:grpSpPr>
      <p:sp>
        <p:nvSpPr>
          <p:cNvPr id="912" name="Google Shape;912;p88: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13" name="Google Shape;913;p88: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6"/>
        <p:cNvGrpSpPr/>
        <p:nvPr/>
      </p:nvGrpSpPr>
      <p:grpSpPr>
        <a:xfrm>
          <a:off x="0" y="0"/>
          <a:ext cx="0" cy="0"/>
          <a:chOff x="0" y="0"/>
          <a:chExt cx="0" cy="0"/>
        </a:xfrm>
      </p:grpSpPr>
      <p:sp>
        <p:nvSpPr>
          <p:cNvPr id="917" name="Google Shape;917;p89: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18" name="Google Shape;918;p89: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1"/>
        <p:cNvGrpSpPr/>
        <p:nvPr/>
      </p:nvGrpSpPr>
      <p:grpSpPr>
        <a:xfrm>
          <a:off x="0" y="0"/>
          <a:ext cx="0" cy="0"/>
          <a:chOff x="0" y="0"/>
          <a:chExt cx="0" cy="0"/>
        </a:xfrm>
      </p:grpSpPr>
      <p:sp>
        <p:nvSpPr>
          <p:cNvPr id="922" name="Google Shape;922;p90: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23" name="Google Shape;923;p90: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7"/>
        <p:cNvGrpSpPr/>
        <p:nvPr/>
      </p:nvGrpSpPr>
      <p:grpSpPr>
        <a:xfrm>
          <a:off x="0" y="0"/>
          <a:ext cx="0" cy="0"/>
          <a:chOff x="0" y="0"/>
          <a:chExt cx="0" cy="0"/>
        </a:xfrm>
      </p:grpSpPr>
      <p:sp>
        <p:nvSpPr>
          <p:cNvPr id="928" name="Google Shape;928;p91: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29" name="Google Shape;929;p91: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2"/>
        <p:cNvGrpSpPr/>
        <p:nvPr/>
      </p:nvGrpSpPr>
      <p:grpSpPr>
        <a:xfrm>
          <a:off x="0" y="0"/>
          <a:ext cx="0" cy="0"/>
          <a:chOff x="0" y="0"/>
          <a:chExt cx="0" cy="0"/>
        </a:xfrm>
      </p:grpSpPr>
      <p:sp>
        <p:nvSpPr>
          <p:cNvPr id="933" name="Google Shape;933;p92: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34" name="Google Shape;934;p92: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8"/>
        <p:cNvGrpSpPr/>
        <p:nvPr/>
      </p:nvGrpSpPr>
      <p:grpSpPr>
        <a:xfrm>
          <a:off x="0" y="0"/>
          <a:ext cx="0" cy="0"/>
          <a:chOff x="0" y="0"/>
          <a:chExt cx="0" cy="0"/>
        </a:xfrm>
      </p:grpSpPr>
      <p:sp>
        <p:nvSpPr>
          <p:cNvPr id="939" name="Google Shape;939;p93: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0" name="Google Shape;940;p93: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4"/>
        <p:cNvGrpSpPr/>
        <p:nvPr/>
      </p:nvGrpSpPr>
      <p:grpSpPr>
        <a:xfrm>
          <a:off x="0" y="0"/>
          <a:ext cx="0" cy="0"/>
          <a:chOff x="0" y="0"/>
          <a:chExt cx="0" cy="0"/>
        </a:xfrm>
      </p:grpSpPr>
      <p:sp>
        <p:nvSpPr>
          <p:cNvPr id="945" name="Google Shape;945;p94: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6" name="Google Shape;946;p94: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1"/>
        <p:cNvGrpSpPr/>
        <p:nvPr/>
      </p:nvGrpSpPr>
      <p:grpSpPr>
        <a:xfrm>
          <a:off x="0" y="0"/>
          <a:ext cx="0" cy="0"/>
          <a:chOff x="0" y="0"/>
          <a:chExt cx="0" cy="0"/>
        </a:xfrm>
      </p:grpSpPr>
      <p:sp>
        <p:nvSpPr>
          <p:cNvPr id="952" name="Google Shape;952;p95: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53" name="Google Shape;953;p95: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7"/>
        <p:cNvGrpSpPr/>
        <p:nvPr/>
      </p:nvGrpSpPr>
      <p:grpSpPr>
        <a:xfrm>
          <a:off x="0" y="0"/>
          <a:ext cx="0" cy="0"/>
          <a:chOff x="0" y="0"/>
          <a:chExt cx="0" cy="0"/>
        </a:xfrm>
      </p:grpSpPr>
      <p:sp>
        <p:nvSpPr>
          <p:cNvPr id="958" name="Google Shape;958;p96: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59" name="Google Shape;959;p96: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4"/>
        <p:cNvGrpSpPr/>
        <p:nvPr/>
      </p:nvGrpSpPr>
      <p:grpSpPr>
        <a:xfrm>
          <a:off x="0" y="0"/>
          <a:ext cx="0" cy="0"/>
          <a:chOff x="0" y="0"/>
          <a:chExt cx="0" cy="0"/>
        </a:xfrm>
      </p:grpSpPr>
      <p:sp>
        <p:nvSpPr>
          <p:cNvPr id="965" name="Google Shape;965;p97: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66" name="Google Shape;966;p97: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4"/>
        <p:cNvGrpSpPr/>
        <p:nvPr/>
      </p:nvGrpSpPr>
      <p:grpSpPr>
        <a:xfrm>
          <a:off x="0" y="0"/>
          <a:ext cx="0" cy="0"/>
          <a:chOff x="0" y="0"/>
          <a:chExt cx="0" cy="0"/>
        </a:xfrm>
      </p:grpSpPr>
      <p:sp>
        <p:nvSpPr>
          <p:cNvPr id="975" name="Google Shape;975;p98: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76" name="Google Shape;976;p98: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0"/>
        <p:cNvGrpSpPr/>
        <p:nvPr/>
      </p:nvGrpSpPr>
      <p:grpSpPr>
        <a:xfrm>
          <a:off x="0" y="0"/>
          <a:ext cx="0" cy="0"/>
          <a:chOff x="0" y="0"/>
          <a:chExt cx="0" cy="0"/>
        </a:xfrm>
      </p:grpSpPr>
      <p:sp>
        <p:nvSpPr>
          <p:cNvPr id="981" name="Google Shape;981;p99: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82" name="Google Shape;982;p99: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5"/>
        <p:cNvGrpSpPr/>
        <p:nvPr/>
      </p:nvGrpSpPr>
      <p:grpSpPr>
        <a:xfrm>
          <a:off x="0" y="0"/>
          <a:ext cx="0" cy="0"/>
          <a:chOff x="0" y="0"/>
          <a:chExt cx="0" cy="0"/>
        </a:xfrm>
      </p:grpSpPr>
      <p:sp>
        <p:nvSpPr>
          <p:cNvPr id="986" name="Google Shape;986;p100: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87" name="Google Shape;987;p100: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0"/>
        <p:cNvGrpSpPr/>
        <p:nvPr/>
      </p:nvGrpSpPr>
      <p:grpSpPr>
        <a:xfrm>
          <a:off x="0" y="0"/>
          <a:ext cx="0" cy="0"/>
          <a:chOff x="0" y="0"/>
          <a:chExt cx="0" cy="0"/>
        </a:xfrm>
      </p:grpSpPr>
      <p:sp>
        <p:nvSpPr>
          <p:cNvPr id="991" name="Google Shape;991;p101: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92" name="Google Shape;992;p101: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6"/>
        <p:cNvGrpSpPr/>
        <p:nvPr/>
      </p:nvGrpSpPr>
      <p:grpSpPr>
        <a:xfrm>
          <a:off x="0" y="0"/>
          <a:ext cx="0" cy="0"/>
          <a:chOff x="0" y="0"/>
          <a:chExt cx="0" cy="0"/>
        </a:xfrm>
      </p:grpSpPr>
      <p:sp>
        <p:nvSpPr>
          <p:cNvPr id="997" name="Google Shape;997;p102: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98" name="Google Shape;998;p102: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2"/>
        <p:cNvGrpSpPr/>
        <p:nvPr/>
      </p:nvGrpSpPr>
      <p:grpSpPr>
        <a:xfrm>
          <a:off x="0" y="0"/>
          <a:ext cx="0" cy="0"/>
          <a:chOff x="0" y="0"/>
          <a:chExt cx="0" cy="0"/>
        </a:xfrm>
      </p:grpSpPr>
      <p:sp>
        <p:nvSpPr>
          <p:cNvPr id="1003" name="Google Shape;1003;p103: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04" name="Google Shape;1004;p103: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8"/>
        <p:cNvGrpSpPr/>
        <p:nvPr/>
      </p:nvGrpSpPr>
      <p:grpSpPr>
        <a:xfrm>
          <a:off x="0" y="0"/>
          <a:ext cx="0" cy="0"/>
          <a:chOff x="0" y="0"/>
          <a:chExt cx="0" cy="0"/>
        </a:xfrm>
      </p:grpSpPr>
      <p:sp>
        <p:nvSpPr>
          <p:cNvPr id="1009" name="Google Shape;1009;p104: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10" name="Google Shape;1010;p104: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3"/>
        <p:cNvGrpSpPr/>
        <p:nvPr/>
      </p:nvGrpSpPr>
      <p:grpSpPr>
        <a:xfrm>
          <a:off x="0" y="0"/>
          <a:ext cx="0" cy="0"/>
          <a:chOff x="0" y="0"/>
          <a:chExt cx="0" cy="0"/>
        </a:xfrm>
      </p:grpSpPr>
      <p:sp>
        <p:nvSpPr>
          <p:cNvPr id="1014" name="Google Shape;1014;p105: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15" name="Google Shape;1015;p105: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6"/>
        <p:cNvGrpSpPr/>
        <p:nvPr/>
      </p:nvGrpSpPr>
      <p:grpSpPr>
        <a:xfrm>
          <a:off x="0" y="0"/>
          <a:ext cx="0" cy="0"/>
          <a:chOff x="0" y="0"/>
          <a:chExt cx="0" cy="0"/>
        </a:xfrm>
      </p:grpSpPr>
      <p:sp>
        <p:nvSpPr>
          <p:cNvPr id="1027" name="Google Shape;1027;p106: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8" name="Google Shape;1028;p106: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8"/>
        <p:cNvGrpSpPr/>
        <p:nvPr/>
      </p:nvGrpSpPr>
      <p:grpSpPr>
        <a:xfrm>
          <a:off x="0" y="0"/>
          <a:ext cx="0" cy="0"/>
          <a:chOff x="0" y="0"/>
          <a:chExt cx="0" cy="0"/>
        </a:xfrm>
      </p:grpSpPr>
      <p:sp>
        <p:nvSpPr>
          <p:cNvPr id="1039" name="Google Shape;1039;p107: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40" name="Google Shape;1040;p107: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5"/>
        <p:cNvGrpSpPr/>
        <p:nvPr/>
      </p:nvGrpSpPr>
      <p:grpSpPr>
        <a:xfrm>
          <a:off x="0" y="0"/>
          <a:ext cx="0" cy="0"/>
          <a:chOff x="0" y="0"/>
          <a:chExt cx="0" cy="0"/>
        </a:xfrm>
      </p:grpSpPr>
      <p:sp>
        <p:nvSpPr>
          <p:cNvPr id="1046" name="Google Shape;1046;p108: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47" name="Google Shape;1047;p108: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1"/>
        <p:cNvGrpSpPr/>
        <p:nvPr/>
      </p:nvGrpSpPr>
      <p:grpSpPr>
        <a:xfrm>
          <a:off x="0" y="0"/>
          <a:ext cx="0" cy="0"/>
          <a:chOff x="0" y="0"/>
          <a:chExt cx="0" cy="0"/>
        </a:xfrm>
      </p:grpSpPr>
      <p:sp>
        <p:nvSpPr>
          <p:cNvPr id="1052" name="Google Shape;1052;p109: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53" name="Google Shape;1053;p109: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6"/>
        <p:cNvGrpSpPr/>
        <p:nvPr/>
      </p:nvGrpSpPr>
      <p:grpSpPr>
        <a:xfrm>
          <a:off x="0" y="0"/>
          <a:ext cx="0" cy="0"/>
          <a:chOff x="0" y="0"/>
          <a:chExt cx="0" cy="0"/>
        </a:xfrm>
      </p:grpSpPr>
      <p:sp>
        <p:nvSpPr>
          <p:cNvPr id="1057" name="Google Shape;1057;p110: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58" name="Google Shape;1058;p110: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1"/>
        <p:cNvGrpSpPr/>
        <p:nvPr/>
      </p:nvGrpSpPr>
      <p:grpSpPr>
        <a:xfrm>
          <a:off x="0" y="0"/>
          <a:ext cx="0" cy="0"/>
          <a:chOff x="0" y="0"/>
          <a:chExt cx="0" cy="0"/>
        </a:xfrm>
      </p:grpSpPr>
      <p:sp>
        <p:nvSpPr>
          <p:cNvPr id="1062" name="Google Shape;1062;p111: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63" name="Google Shape;1063;p111: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6"/>
        <p:cNvGrpSpPr/>
        <p:nvPr/>
      </p:nvGrpSpPr>
      <p:grpSpPr>
        <a:xfrm>
          <a:off x="0" y="0"/>
          <a:ext cx="0" cy="0"/>
          <a:chOff x="0" y="0"/>
          <a:chExt cx="0" cy="0"/>
        </a:xfrm>
      </p:grpSpPr>
      <p:sp>
        <p:nvSpPr>
          <p:cNvPr id="1067" name="Google Shape;1067;p112: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68" name="Google Shape;1068;p112: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1"/>
        <p:cNvGrpSpPr/>
        <p:nvPr/>
      </p:nvGrpSpPr>
      <p:grpSpPr>
        <a:xfrm>
          <a:off x="0" y="0"/>
          <a:ext cx="0" cy="0"/>
          <a:chOff x="0" y="0"/>
          <a:chExt cx="0" cy="0"/>
        </a:xfrm>
      </p:grpSpPr>
      <p:sp>
        <p:nvSpPr>
          <p:cNvPr id="1072" name="Google Shape;1072;p113: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73" name="Google Shape;1073;p113: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6"/>
        <p:cNvGrpSpPr/>
        <p:nvPr/>
      </p:nvGrpSpPr>
      <p:grpSpPr>
        <a:xfrm>
          <a:off x="0" y="0"/>
          <a:ext cx="0" cy="0"/>
          <a:chOff x="0" y="0"/>
          <a:chExt cx="0" cy="0"/>
        </a:xfrm>
      </p:grpSpPr>
      <p:sp>
        <p:nvSpPr>
          <p:cNvPr id="1077" name="Google Shape;1077;p114: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78" name="Google Shape;1078;p114: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Only" type="obj">
  <p:cSld name="OBJECT">
    <p:spTree>
      <p:nvGrpSpPr>
        <p:cNvPr id="1" name="Shape 11"/>
        <p:cNvGrpSpPr/>
        <p:nvPr/>
      </p:nvGrpSpPr>
      <p:grpSpPr>
        <a:xfrm>
          <a:off x="0" y="0"/>
          <a:ext cx="0" cy="0"/>
          <a:chOff x="0" y="0"/>
          <a:chExt cx="0" cy="0"/>
        </a:xfrm>
      </p:grpSpPr>
      <p:sp>
        <p:nvSpPr>
          <p:cNvPr id="12" name="Google Shape;12;p116"/>
          <p:cNvSpPr txBox="1">
            <a:spLocks noGrp="1"/>
          </p:cNvSpPr>
          <p:nvPr>
            <p:ph type="title"/>
          </p:nvPr>
        </p:nvSpPr>
        <p:spPr>
          <a:xfrm>
            <a:off x="911225" y="351858"/>
            <a:ext cx="4867275" cy="629285"/>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3950" b="0" i="0">
                <a:solidFill>
                  <a:schemeClr val="dk1"/>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 name="Google Shape;13;p116"/>
          <p:cNvSpPr txBox="1">
            <a:spLocks noGrp="1"/>
          </p:cNvSpPr>
          <p:nvPr>
            <p:ph type="ftr" idx="11"/>
          </p:nvPr>
        </p:nvSpPr>
        <p:spPr>
          <a:xfrm>
            <a:off x="4145280" y="6377940"/>
            <a:ext cx="3901440" cy="342900"/>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116"/>
          <p:cNvSpPr txBox="1">
            <a:spLocks noGrp="1"/>
          </p:cNvSpPr>
          <p:nvPr>
            <p:ph type="dt" idx="10"/>
          </p:nvPr>
        </p:nvSpPr>
        <p:spPr>
          <a:xfrm>
            <a:off x="609600" y="6377940"/>
            <a:ext cx="2804160" cy="34290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 name="Google Shape;15;p116"/>
          <p:cNvSpPr txBox="1">
            <a:spLocks noGrp="1"/>
          </p:cNvSpPr>
          <p:nvPr>
            <p:ph type="sldNum" idx="12"/>
          </p:nvPr>
        </p:nvSpPr>
        <p:spPr>
          <a:xfrm>
            <a:off x="8778240" y="6377940"/>
            <a:ext cx="2804160" cy="342900"/>
          </a:xfrm>
          <a:prstGeom prst="rect">
            <a:avLst/>
          </a:prstGeom>
          <a:noFill/>
          <a:ln>
            <a:noFill/>
          </a:ln>
        </p:spPr>
        <p:txBody>
          <a:bodyPr spcFirstLastPara="1" wrap="square" lIns="0" tIns="0" rIns="0" bIns="0" anchor="t" anchorCtr="0">
            <a:spAutoFit/>
          </a:bodyPr>
          <a:lstStyle>
            <a:lvl1pPr marL="0" lvl="0" indent="0" algn="r">
              <a:spcBef>
                <a:spcPts val="0"/>
              </a:spcBef>
              <a:buNone/>
              <a:defRPr>
                <a:solidFill>
                  <a:srgbClr val="888888"/>
                </a:solidFill>
              </a:defRPr>
            </a:lvl1pPr>
            <a:lvl2pPr marL="0" lvl="1" indent="0" algn="r">
              <a:spcBef>
                <a:spcPts val="0"/>
              </a:spcBef>
              <a:buNone/>
              <a:defRPr>
                <a:solidFill>
                  <a:srgbClr val="888888"/>
                </a:solidFill>
              </a:defRPr>
            </a:lvl2pPr>
            <a:lvl3pPr marL="0" lvl="2" indent="0" algn="r">
              <a:spcBef>
                <a:spcPts val="0"/>
              </a:spcBef>
              <a:buNone/>
              <a:defRPr>
                <a:solidFill>
                  <a:srgbClr val="888888"/>
                </a:solidFill>
              </a:defRPr>
            </a:lvl3pPr>
            <a:lvl4pPr marL="0" lvl="3" indent="0" algn="r">
              <a:spcBef>
                <a:spcPts val="0"/>
              </a:spcBef>
              <a:buNone/>
              <a:defRPr>
                <a:solidFill>
                  <a:srgbClr val="888888"/>
                </a:solidFill>
              </a:defRPr>
            </a:lvl4pPr>
            <a:lvl5pPr marL="0" lvl="4" indent="0" algn="r">
              <a:spcBef>
                <a:spcPts val="0"/>
              </a:spcBef>
              <a:buNone/>
              <a:defRPr>
                <a:solidFill>
                  <a:srgbClr val="888888"/>
                </a:solidFill>
              </a:defRPr>
            </a:lvl5pPr>
            <a:lvl6pPr marL="0" lvl="5" indent="0" algn="r">
              <a:spcBef>
                <a:spcPts val="0"/>
              </a:spcBef>
              <a:buNone/>
              <a:defRPr>
                <a:solidFill>
                  <a:srgbClr val="888888"/>
                </a:solidFill>
              </a:defRPr>
            </a:lvl6pPr>
            <a:lvl7pPr marL="0" lvl="6" indent="0" algn="r">
              <a:spcBef>
                <a:spcPts val="0"/>
              </a:spcBef>
              <a:buNone/>
              <a:defRPr>
                <a:solidFill>
                  <a:srgbClr val="888888"/>
                </a:solidFill>
              </a:defRPr>
            </a:lvl7pPr>
            <a:lvl8pPr marL="0" lvl="7" indent="0" algn="r">
              <a:spcBef>
                <a:spcPts val="0"/>
              </a:spcBef>
              <a:buNone/>
              <a:defRPr>
                <a:solidFill>
                  <a:srgbClr val="888888"/>
                </a:solidFill>
              </a:defRPr>
            </a:lvl8pPr>
            <a:lvl9pPr marL="0"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US"/>
              <a:t>‹#›</a:t>
            </a:fld>
            <a:endParaRPr sz="1800" b="0" i="0" u="none" strike="noStrike" cap="none">
              <a:latin typeface="Calibri"/>
              <a:ea typeface="Calibri"/>
              <a:cs typeface="Calibri"/>
              <a:sym typeface="Calibri"/>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16"/>
        <p:cNvGrpSpPr/>
        <p:nvPr/>
      </p:nvGrpSpPr>
      <p:grpSpPr>
        <a:xfrm>
          <a:off x="0" y="0"/>
          <a:ext cx="0" cy="0"/>
          <a:chOff x="0" y="0"/>
          <a:chExt cx="0" cy="0"/>
        </a:xfrm>
      </p:grpSpPr>
      <p:sp>
        <p:nvSpPr>
          <p:cNvPr id="17" name="Google Shape;17;p117"/>
          <p:cNvSpPr txBox="1">
            <a:spLocks noGrp="1"/>
          </p:cNvSpPr>
          <p:nvPr>
            <p:ph type="title"/>
          </p:nvPr>
        </p:nvSpPr>
        <p:spPr>
          <a:xfrm>
            <a:off x="911225" y="351858"/>
            <a:ext cx="4867275" cy="629285"/>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3950" b="0" i="0">
                <a:solidFill>
                  <a:schemeClr val="dk1"/>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8" name="Google Shape;18;p117"/>
          <p:cNvSpPr txBox="1">
            <a:spLocks noGrp="1"/>
          </p:cNvSpPr>
          <p:nvPr>
            <p:ph type="body" idx="1"/>
          </p:nvPr>
        </p:nvSpPr>
        <p:spPr>
          <a:xfrm>
            <a:off x="869950" y="2385868"/>
            <a:ext cx="10459085" cy="3901440"/>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SzPts val="1400"/>
              <a:buNone/>
              <a:defRPr b="0" i="0">
                <a:solidFill>
                  <a:schemeClr val="dk1"/>
                </a:solidFill>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19" name="Google Shape;19;p117"/>
          <p:cNvSpPr txBox="1">
            <a:spLocks noGrp="1"/>
          </p:cNvSpPr>
          <p:nvPr>
            <p:ph type="ftr" idx="11"/>
          </p:nvPr>
        </p:nvSpPr>
        <p:spPr>
          <a:xfrm>
            <a:off x="4145280" y="6377940"/>
            <a:ext cx="3901440" cy="342900"/>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117"/>
          <p:cNvSpPr txBox="1">
            <a:spLocks noGrp="1"/>
          </p:cNvSpPr>
          <p:nvPr>
            <p:ph type="dt" idx="10"/>
          </p:nvPr>
        </p:nvSpPr>
        <p:spPr>
          <a:xfrm>
            <a:off x="609600" y="6377940"/>
            <a:ext cx="2804160" cy="34290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117"/>
          <p:cNvSpPr txBox="1">
            <a:spLocks noGrp="1"/>
          </p:cNvSpPr>
          <p:nvPr>
            <p:ph type="sldNum" idx="12"/>
          </p:nvPr>
        </p:nvSpPr>
        <p:spPr>
          <a:xfrm>
            <a:off x="8778240" y="6377940"/>
            <a:ext cx="2804160" cy="342900"/>
          </a:xfrm>
          <a:prstGeom prst="rect">
            <a:avLst/>
          </a:prstGeom>
          <a:noFill/>
          <a:ln>
            <a:noFill/>
          </a:ln>
        </p:spPr>
        <p:txBody>
          <a:bodyPr spcFirstLastPara="1" wrap="square" lIns="0" tIns="0" rIns="0" bIns="0" anchor="t" anchorCtr="0">
            <a:spAutoFit/>
          </a:bodyPr>
          <a:lstStyle>
            <a:lvl1pPr marL="0" lvl="0" indent="0" algn="r">
              <a:spcBef>
                <a:spcPts val="0"/>
              </a:spcBef>
              <a:buNone/>
              <a:defRPr>
                <a:solidFill>
                  <a:srgbClr val="888888"/>
                </a:solidFill>
              </a:defRPr>
            </a:lvl1pPr>
            <a:lvl2pPr marL="0" lvl="1" indent="0" algn="r">
              <a:spcBef>
                <a:spcPts val="0"/>
              </a:spcBef>
              <a:buNone/>
              <a:defRPr>
                <a:solidFill>
                  <a:srgbClr val="888888"/>
                </a:solidFill>
              </a:defRPr>
            </a:lvl2pPr>
            <a:lvl3pPr marL="0" lvl="2" indent="0" algn="r">
              <a:spcBef>
                <a:spcPts val="0"/>
              </a:spcBef>
              <a:buNone/>
              <a:defRPr>
                <a:solidFill>
                  <a:srgbClr val="888888"/>
                </a:solidFill>
              </a:defRPr>
            </a:lvl3pPr>
            <a:lvl4pPr marL="0" lvl="3" indent="0" algn="r">
              <a:spcBef>
                <a:spcPts val="0"/>
              </a:spcBef>
              <a:buNone/>
              <a:defRPr>
                <a:solidFill>
                  <a:srgbClr val="888888"/>
                </a:solidFill>
              </a:defRPr>
            </a:lvl4pPr>
            <a:lvl5pPr marL="0" lvl="4" indent="0" algn="r">
              <a:spcBef>
                <a:spcPts val="0"/>
              </a:spcBef>
              <a:buNone/>
              <a:defRPr>
                <a:solidFill>
                  <a:srgbClr val="888888"/>
                </a:solidFill>
              </a:defRPr>
            </a:lvl5pPr>
            <a:lvl6pPr marL="0" lvl="5" indent="0" algn="r">
              <a:spcBef>
                <a:spcPts val="0"/>
              </a:spcBef>
              <a:buNone/>
              <a:defRPr>
                <a:solidFill>
                  <a:srgbClr val="888888"/>
                </a:solidFill>
              </a:defRPr>
            </a:lvl6pPr>
            <a:lvl7pPr marL="0" lvl="6" indent="0" algn="r">
              <a:spcBef>
                <a:spcPts val="0"/>
              </a:spcBef>
              <a:buNone/>
              <a:defRPr>
                <a:solidFill>
                  <a:srgbClr val="888888"/>
                </a:solidFill>
              </a:defRPr>
            </a:lvl7pPr>
            <a:lvl8pPr marL="0" lvl="7" indent="0" algn="r">
              <a:spcBef>
                <a:spcPts val="0"/>
              </a:spcBef>
              <a:buNone/>
              <a:defRPr>
                <a:solidFill>
                  <a:srgbClr val="888888"/>
                </a:solidFill>
              </a:defRPr>
            </a:lvl8pPr>
            <a:lvl9pPr marL="0"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US"/>
              <a:t>‹#›</a:t>
            </a:fld>
            <a:endParaRPr sz="1800" b="0" i="0" u="none" strike="noStrike" cap="none">
              <a:latin typeface="Calibri"/>
              <a:ea typeface="Calibri"/>
              <a:cs typeface="Calibri"/>
              <a:sym typeface="Calibri"/>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Blank">
  <p:cSld name="Blank">
    <p:spTree>
      <p:nvGrpSpPr>
        <p:cNvPr id="1" name="Shape 22"/>
        <p:cNvGrpSpPr/>
        <p:nvPr/>
      </p:nvGrpSpPr>
      <p:grpSpPr>
        <a:xfrm>
          <a:off x="0" y="0"/>
          <a:ext cx="0" cy="0"/>
          <a:chOff x="0" y="0"/>
          <a:chExt cx="0" cy="0"/>
        </a:xfrm>
      </p:grpSpPr>
      <p:sp>
        <p:nvSpPr>
          <p:cNvPr id="23" name="Google Shape;23;p118"/>
          <p:cNvSpPr txBox="1">
            <a:spLocks noGrp="1"/>
          </p:cNvSpPr>
          <p:nvPr>
            <p:ph type="ftr" idx="11"/>
          </p:nvPr>
        </p:nvSpPr>
        <p:spPr>
          <a:xfrm>
            <a:off x="4145280" y="6377940"/>
            <a:ext cx="3901440" cy="342900"/>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 name="Google Shape;24;p118"/>
          <p:cNvSpPr txBox="1">
            <a:spLocks noGrp="1"/>
          </p:cNvSpPr>
          <p:nvPr>
            <p:ph type="dt" idx="10"/>
          </p:nvPr>
        </p:nvSpPr>
        <p:spPr>
          <a:xfrm>
            <a:off x="609600" y="6377940"/>
            <a:ext cx="2804160" cy="34290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118"/>
          <p:cNvSpPr txBox="1">
            <a:spLocks noGrp="1"/>
          </p:cNvSpPr>
          <p:nvPr>
            <p:ph type="sldNum" idx="12"/>
          </p:nvPr>
        </p:nvSpPr>
        <p:spPr>
          <a:xfrm>
            <a:off x="8778240" y="6377940"/>
            <a:ext cx="2804160" cy="342900"/>
          </a:xfrm>
          <a:prstGeom prst="rect">
            <a:avLst/>
          </a:prstGeom>
          <a:noFill/>
          <a:ln>
            <a:noFill/>
          </a:ln>
        </p:spPr>
        <p:txBody>
          <a:bodyPr spcFirstLastPara="1" wrap="square" lIns="0" tIns="0" rIns="0" bIns="0" anchor="t" anchorCtr="0">
            <a:spAutoFit/>
          </a:bodyPr>
          <a:lstStyle>
            <a:lvl1pPr marL="0" lvl="0" indent="0" algn="r">
              <a:spcBef>
                <a:spcPts val="0"/>
              </a:spcBef>
              <a:buNone/>
              <a:defRPr>
                <a:solidFill>
                  <a:srgbClr val="888888"/>
                </a:solidFill>
              </a:defRPr>
            </a:lvl1pPr>
            <a:lvl2pPr marL="0" lvl="1" indent="0" algn="r">
              <a:spcBef>
                <a:spcPts val="0"/>
              </a:spcBef>
              <a:buNone/>
              <a:defRPr>
                <a:solidFill>
                  <a:srgbClr val="888888"/>
                </a:solidFill>
              </a:defRPr>
            </a:lvl2pPr>
            <a:lvl3pPr marL="0" lvl="2" indent="0" algn="r">
              <a:spcBef>
                <a:spcPts val="0"/>
              </a:spcBef>
              <a:buNone/>
              <a:defRPr>
                <a:solidFill>
                  <a:srgbClr val="888888"/>
                </a:solidFill>
              </a:defRPr>
            </a:lvl3pPr>
            <a:lvl4pPr marL="0" lvl="3" indent="0" algn="r">
              <a:spcBef>
                <a:spcPts val="0"/>
              </a:spcBef>
              <a:buNone/>
              <a:defRPr>
                <a:solidFill>
                  <a:srgbClr val="888888"/>
                </a:solidFill>
              </a:defRPr>
            </a:lvl4pPr>
            <a:lvl5pPr marL="0" lvl="4" indent="0" algn="r">
              <a:spcBef>
                <a:spcPts val="0"/>
              </a:spcBef>
              <a:buNone/>
              <a:defRPr>
                <a:solidFill>
                  <a:srgbClr val="888888"/>
                </a:solidFill>
              </a:defRPr>
            </a:lvl5pPr>
            <a:lvl6pPr marL="0" lvl="5" indent="0" algn="r">
              <a:spcBef>
                <a:spcPts val="0"/>
              </a:spcBef>
              <a:buNone/>
              <a:defRPr>
                <a:solidFill>
                  <a:srgbClr val="888888"/>
                </a:solidFill>
              </a:defRPr>
            </a:lvl6pPr>
            <a:lvl7pPr marL="0" lvl="6" indent="0" algn="r">
              <a:spcBef>
                <a:spcPts val="0"/>
              </a:spcBef>
              <a:buNone/>
              <a:defRPr>
                <a:solidFill>
                  <a:srgbClr val="888888"/>
                </a:solidFill>
              </a:defRPr>
            </a:lvl7pPr>
            <a:lvl8pPr marL="0" lvl="7" indent="0" algn="r">
              <a:spcBef>
                <a:spcPts val="0"/>
              </a:spcBef>
              <a:buNone/>
              <a:defRPr>
                <a:solidFill>
                  <a:srgbClr val="888888"/>
                </a:solidFill>
              </a:defRPr>
            </a:lvl8pPr>
            <a:lvl9pPr marL="0"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US"/>
              <a:t>‹#›</a:t>
            </a:fld>
            <a:endParaRPr sz="1800">
              <a:latin typeface="Calibri"/>
              <a:ea typeface="Calibri"/>
              <a:cs typeface="Calibri"/>
              <a:sym typeface="Calibri"/>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26"/>
        <p:cNvGrpSpPr/>
        <p:nvPr/>
      </p:nvGrpSpPr>
      <p:grpSpPr>
        <a:xfrm>
          <a:off x="0" y="0"/>
          <a:ext cx="0" cy="0"/>
          <a:chOff x="0" y="0"/>
          <a:chExt cx="0" cy="0"/>
        </a:xfrm>
      </p:grpSpPr>
      <p:sp>
        <p:nvSpPr>
          <p:cNvPr id="27" name="Google Shape;27;p119"/>
          <p:cNvSpPr txBox="1">
            <a:spLocks noGrp="1"/>
          </p:cNvSpPr>
          <p:nvPr>
            <p:ph type="ctrTitle"/>
          </p:nvPr>
        </p:nvSpPr>
        <p:spPr>
          <a:xfrm>
            <a:off x="914400" y="2125980"/>
            <a:ext cx="10363200" cy="144018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8" name="Google Shape;28;p119"/>
          <p:cNvSpPr txBox="1">
            <a:spLocks noGrp="1"/>
          </p:cNvSpPr>
          <p:nvPr>
            <p:ph type="subTitle" idx="1"/>
          </p:nvPr>
        </p:nvSpPr>
        <p:spPr>
          <a:xfrm>
            <a:off x="1828800" y="3840480"/>
            <a:ext cx="8534400" cy="171450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 name="Google Shape;29;p119"/>
          <p:cNvSpPr txBox="1">
            <a:spLocks noGrp="1"/>
          </p:cNvSpPr>
          <p:nvPr>
            <p:ph type="ftr" idx="11"/>
          </p:nvPr>
        </p:nvSpPr>
        <p:spPr>
          <a:xfrm>
            <a:off x="4145280" y="6377940"/>
            <a:ext cx="3901440" cy="342900"/>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 name="Google Shape;30;p119"/>
          <p:cNvSpPr txBox="1">
            <a:spLocks noGrp="1"/>
          </p:cNvSpPr>
          <p:nvPr>
            <p:ph type="dt" idx="10"/>
          </p:nvPr>
        </p:nvSpPr>
        <p:spPr>
          <a:xfrm>
            <a:off x="609600" y="6377940"/>
            <a:ext cx="2804160" cy="34290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119"/>
          <p:cNvSpPr txBox="1">
            <a:spLocks noGrp="1"/>
          </p:cNvSpPr>
          <p:nvPr>
            <p:ph type="sldNum" idx="12"/>
          </p:nvPr>
        </p:nvSpPr>
        <p:spPr>
          <a:xfrm>
            <a:off x="8778240" y="6377940"/>
            <a:ext cx="2804160" cy="342900"/>
          </a:xfrm>
          <a:prstGeom prst="rect">
            <a:avLst/>
          </a:prstGeom>
          <a:noFill/>
          <a:ln>
            <a:noFill/>
          </a:ln>
        </p:spPr>
        <p:txBody>
          <a:bodyPr spcFirstLastPara="1" wrap="square" lIns="0" tIns="0" rIns="0" bIns="0" anchor="t" anchorCtr="0">
            <a:spAutoFit/>
          </a:bodyPr>
          <a:lstStyle>
            <a:lvl1pPr marL="0" lvl="0" indent="0" algn="r">
              <a:spcBef>
                <a:spcPts val="0"/>
              </a:spcBef>
              <a:buNone/>
              <a:defRPr>
                <a:solidFill>
                  <a:srgbClr val="888888"/>
                </a:solidFill>
              </a:defRPr>
            </a:lvl1pPr>
            <a:lvl2pPr marL="0" lvl="1" indent="0" algn="r">
              <a:spcBef>
                <a:spcPts val="0"/>
              </a:spcBef>
              <a:buNone/>
              <a:defRPr>
                <a:solidFill>
                  <a:srgbClr val="888888"/>
                </a:solidFill>
              </a:defRPr>
            </a:lvl2pPr>
            <a:lvl3pPr marL="0" lvl="2" indent="0" algn="r">
              <a:spcBef>
                <a:spcPts val="0"/>
              </a:spcBef>
              <a:buNone/>
              <a:defRPr>
                <a:solidFill>
                  <a:srgbClr val="888888"/>
                </a:solidFill>
              </a:defRPr>
            </a:lvl3pPr>
            <a:lvl4pPr marL="0" lvl="3" indent="0" algn="r">
              <a:spcBef>
                <a:spcPts val="0"/>
              </a:spcBef>
              <a:buNone/>
              <a:defRPr>
                <a:solidFill>
                  <a:srgbClr val="888888"/>
                </a:solidFill>
              </a:defRPr>
            </a:lvl4pPr>
            <a:lvl5pPr marL="0" lvl="4" indent="0" algn="r">
              <a:spcBef>
                <a:spcPts val="0"/>
              </a:spcBef>
              <a:buNone/>
              <a:defRPr>
                <a:solidFill>
                  <a:srgbClr val="888888"/>
                </a:solidFill>
              </a:defRPr>
            </a:lvl5pPr>
            <a:lvl6pPr marL="0" lvl="5" indent="0" algn="r">
              <a:spcBef>
                <a:spcPts val="0"/>
              </a:spcBef>
              <a:buNone/>
              <a:defRPr>
                <a:solidFill>
                  <a:srgbClr val="888888"/>
                </a:solidFill>
              </a:defRPr>
            </a:lvl6pPr>
            <a:lvl7pPr marL="0" lvl="6" indent="0" algn="r">
              <a:spcBef>
                <a:spcPts val="0"/>
              </a:spcBef>
              <a:buNone/>
              <a:defRPr>
                <a:solidFill>
                  <a:srgbClr val="888888"/>
                </a:solidFill>
              </a:defRPr>
            </a:lvl7pPr>
            <a:lvl8pPr marL="0" lvl="7" indent="0" algn="r">
              <a:spcBef>
                <a:spcPts val="0"/>
              </a:spcBef>
              <a:buNone/>
              <a:defRPr>
                <a:solidFill>
                  <a:srgbClr val="888888"/>
                </a:solidFill>
              </a:defRPr>
            </a:lvl8pPr>
            <a:lvl9pPr marL="0"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US"/>
              <a:t>‹#›</a:t>
            </a:fld>
            <a:endParaRPr sz="1800">
              <a:latin typeface="Calibri"/>
              <a:ea typeface="Calibri"/>
              <a:cs typeface="Calibri"/>
              <a:sym typeface="Calibri"/>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p:cSld name="Two Content">
    <p:spTree>
      <p:nvGrpSpPr>
        <p:cNvPr id="1" name="Shape 32"/>
        <p:cNvGrpSpPr/>
        <p:nvPr/>
      </p:nvGrpSpPr>
      <p:grpSpPr>
        <a:xfrm>
          <a:off x="0" y="0"/>
          <a:ext cx="0" cy="0"/>
          <a:chOff x="0" y="0"/>
          <a:chExt cx="0" cy="0"/>
        </a:xfrm>
      </p:grpSpPr>
      <p:sp>
        <p:nvSpPr>
          <p:cNvPr id="33" name="Google Shape;33;p120"/>
          <p:cNvSpPr txBox="1">
            <a:spLocks noGrp="1"/>
          </p:cNvSpPr>
          <p:nvPr>
            <p:ph type="title"/>
          </p:nvPr>
        </p:nvSpPr>
        <p:spPr>
          <a:xfrm>
            <a:off x="911225" y="351858"/>
            <a:ext cx="4867275" cy="629285"/>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3950" b="0" i="0">
                <a:solidFill>
                  <a:schemeClr val="dk1"/>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4" name="Google Shape;34;p120"/>
          <p:cNvSpPr txBox="1">
            <a:spLocks noGrp="1"/>
          </p:cNvSpPr>
          <p:nvPr>
            <p:ph type="body" idx="1"/>
          </p:nvPr>
        </p:nvSpPr>
        <p:spPr>
          <a:xfrm>
            <a:off x="609600" y="1577340"/>
            <a:ext cx="5303520" cy="4526280"/>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35" name="Google Shape;35;p120"/>
          <p:cNvSpPr txBox="1">
            <a:spLocks noGrp="1"/>
          </p:cNvSpPr>
          <p:nvPr>
            <p:ph type="body" idx="2"/>
          </p:nvPr>
        </p:nvSpPr>
        <p:spPr>
          <a:xfrm>
            <a:off x="6278880" y="1577340"/>
            <a:ext cx="5303520" cy="4526280"/>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36" name="Google Shape;36;p120"/>
          <p:cNvSpPr txBox="1">
            <a:spLocks noGrp="1"/>
          </p:cNvSpPr>
          <p:nvPr>
            <p:ph type="ftr" idx="11"/>
          </p:nvPr>
        </p:nvSpPr>
        <p:spPr>
          <a:xfrm>
            <a:off x="4145280" y="6377940"/>
            <a:ext cx="3901440" cy="342900"/>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7" name="Google Shape;37;p120"/>
          <p:cNvSpPr txBox="1">
            <a:spLocks noGrp="1"/>
          </p:cNvSpPr>
          <p:nvPr>
            <p:ph type="dt" idx="10"/>
          </p:nvPr>
        </p:nvSpPr>
        <p:spPr>
          <a:xfrm>
            <a:off x="609600" y="6377940"/>
            <a:ext cx="2804160" cy="34290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120"/>
          <p:cNvSpPr txBox="1">
            <a:spLocks noGrp="1"/>
          </p:cNvSpPr>
          <p:nvPr>
            <p:ph type="sldNum" idx="12"/>
          </p:nvPr>
        </p:nvSpPr>
        <p:spPr>
          <a:xfrm>
            <a:off x="8778240" y="6377940"/>
            <a:ext cx="2804160" cy="342900"/>
          </a:xfrm>
          <a:prstGeom prst="rect">
            <a:avLst/>
          </a:prstGeom>
          <a:noFill/>
          <a:ln>
            <a:noFill/>
          </a:ln>
        </p:spPr>
        <p:txBody>
          <a:bodyPr spcFirstLastPara="1" wrap="square" lIns="0" tIns="0" rIns="0" bIns="0" anchor="t" anchorCtr="0">
            <a:spAutoFit/>
          </a:bodyPr>
          <a:lstStyle>
            <a:lvl1pPr marL="0" lvl="0" indent="0" algn="r">
              <a:spcBef>
                <a:spcPts val="0"/>
              </a:spcBef>
              <a:buNone/>
              <a:defRPr>
                <a:solidFill>
                  <a:srgbClr val="888888"/>
                </a:solidFill>
              </a:defRPr>
            </a:lvl1pPr>
            <a:lvl2pPr marL="0" lvl="1" indent="0" algn="r">
              <a:spcBef>
                <a:spcPts val="0"/>
              </a:spcBef>
              <a:buNone/>
              <a:defRPr>
                <a:solidFill>
                  <a:srgbClr val="888888"/>
                </a:solidFill>
              </a:defRPr>
            </a:lvl2pPr>
            <a:lvl3pPr marL="0" lvl="2" indent="0" algn="r">
              <a:spcBef>
                <a:spcPts val="0"/>
              </a:spcBef>
              <a:buNone/>
              <a:defRPr>
                <a:solidFill>
                  <a:srgbClr val="888888"/>
                </a:solidFill>
              </a:defRPr>
            </a:lvl3pPr>
            <a:lvl4pPr marL="0" lvl="3" indent="0" algn="r">
              <a:spcBef>
                <a:spcPts val="0"/>
              </a:spcBef>
              <a:buNone/>
              <a:defRPr>
                <a:solidFill>
                  <a:srgbClr val="888888"/>
                </a:solidFill>
              </a:defRPr>
            </a:lvl4pPr>
            <a:lvl5pPr marL="0" lvl="4" indent="0" algn="r">
              <a:spcBef>
                <a:spcPts val="0"/>
              </a:spcBef>
              <a:buNone/>
              <a:defRPr>
                <a:solidFill>
                  <a:srgbClr val="888888"/>
                </a:solidFill>
              </a:defRPr>
            </a:lvl5pPr>
            <a:lvl6pPr marL="0" lvl="5" indent="0" algn="r">
              <a:spcBef>
                <a:spcPts val="0"/>
              </a:spcBef>
              <a:buNone/>
              <a:defRPr>
                <a:solidFill>
                  <a:srgbClr val="888888"/>
                </a:solidFill>
              </a:defRPr>
            </a:lvl6pPr>
            <a:lvl7pPr marL="0" lvl="6" indent="0" algn="r">
              <a:spcBef>
                <a:spcPts val="0"/>
              </a:spcBef>
              <a:buNone/>
              <a:defRPr>
                <a:solidFill>
                  <a:srgbClr val="888888"/>
                </a:solidFill>
              </a:defRPr>
            </a:lvl7pPr>
            <a:lvl8pPr marL="0" lvl="7" indent="0" algn="r">
              <a:spcBef>
                <a:spcPts val="0"/>
              </a:spcBef>
              <a:buNone/>
              <a:defRPr>
                <a:solidFill>
                  <a:srgbClr val="888888"/>
                </a:solidFill>
              </a:defRPr>
            </a:lvl8pPr>
            <a:lvl9pPr marL="0"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US"/>
              <a:t>‹#›</a:t>
            </a:fld>
            <a:endParaRPr sz="1800">
              <a:latin typeface="Calibri"/>
              <a:ea typeface="Calibri"/>
              <a:cs typeface="Calibri"/>
              <a:sym typeface="Calibri"/>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15"/>
          <p:cNvSpPr txBox="1">
            <a:spLocks noGrp="1"/>
          </p:cNvSpPr>
          <p:nvPr>
            <p:ph type="title"/>
          </p:nvPr>
        </p:nvSpPr>
        <p:spPr>
          <a:xfrm>
            <a:off x="911225" y="351858"/>
            <a:ext cx="4867275" cy="629285"/>
          </a:xfrm>
          <a:prstGeom prst="rect">
            <a:avLst/>
          </a:prstGeom>
          <a:noFill/>
          <a:ln>
            <a:noFill/>
          </a:ln>
        </p:spPr>
        <p:txBody>
          <a:bodyPr spcFirstLastPara="1" wrap="square" lIns="0" tIns="0" rIns="0" bIns="0" anchor="t" anchorCtr="0">
            <a:spAutoFit/>
          </a:bodyPr>
          <a:lstStyle>
            <a:lvl1pPr marR="0" lvl="0" algn="l" rtl="0">
              <a:spcBef>
                <a:spcPts val="0"/>
              </a:spcBef>
              <a:spcAft>
                <a:spcPts val="0"/>
              </a:spcAft>
              <a:buSzPts val="1400"/>
              <a:buNone/>
              <a:defRPr sz="395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15"/>
          <p:cNvSpPr txBox="1">
            <a:spLocks noGrp="1"/>
          </p:cNvSpPr>
          <p:nvPr>
            <p:ph type="body" idx="1"/>
          </p:nvPr>
        </p:nvSpPr>
        <p:spPr>
          <a:xfrm>
            <a:off x="869950" y="2385868"/>
            <a:ext cx="10459085" cy="3901440"/>
          </a:xfrm>
          <a:prstGeom prst="rect">
            <a:avLst/>
          </a:prstGeom>
          <a:noFill/>
          <a:ln>
            <a:noFill/>
          </a:ln>
        </p:spPr>
        <p:txBody>
          <a:bodyPr spcFirstLastPara="1" wrap="square" lIns="0" tIns="0" rIns="0" bIns="0" anchor="t" anchorCtr="0">
            <a:spAutoFit/>
          </a:bodyPr>
          <a:lstStyle>
            <a:lvl1pPr marL="457200" marR="0" lvl="0" indent="-22860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800" b="0" i="0" u="none" strike="noStrike" cap="none">
                <a:latin typeface="Calibri"/>
                <a:ea typeface="Calibri"/>
                <a:cs typeface="Calibri"/>
                <a:sym typeface="Calibri"/>
              </a:defRPr>
            </a:lvl2pPr>
            <a:lvl3pPr marL="1371600" marR="0" lvl="2" indent="-228600" algn="l" rtl="0">
              <a:spcBef>
                <a:spcPts val="0"/>
              </a:spcBef>
              <a:spcAft>
                <a:spcPts val="0"/>
              </a:spcAft>
              <a:buSzPts val="1400"/>
              <a:buNone/>
              <a:defRPr sz="1800" b="0" i="0" u="none" strike="noStrike" cap="none">
                <a:latin typeface="Calibri"/>
                <a:ea typeface="Calibri"/>
                <a:cs typeface="Calibri"/>
                <a:sym typeface="Calibri"/>
              </a:defRPr>
            </a:lvl3pPr>
            <a:lvl4pPr marL="1828800" marR="0" lvl="3" indent="-228600" algn="l" rtl="0">
              <a:spcBef>
                <a:spcPts val="0"/>
              </a:spcBef>
              <a:spcAft>
                <a:spcPts val="0"/>
              </a:spcAft>
              <a:buSzPts val="1400"/>
              <a:buNone/>
              <a:defRPr sz="1800" b="0" i="0" u="none" strike="noStrike" cap="none">
                <a:latin typeface="Calibri"/>
                <a:ea typeface="Calibri"/>
                <a:cs typeface="Calibri"/>
                <a:sym typeface="Calibri"/>
              </a:defRPr>
            </a:lvl4pPr>
            <a:lvl5pPr marL="2286000" marR="0" lvl="4" indent="-228600" algn="l" rtl="0">
              <a:spcBef>
                <a:spcPts val="0"/>
              </a:spcBef>
              <a:spcAft>
                <a:spcPts val="0"/>
              </a:spcAft>
              <a:buSzPts val="1400"/>
              <a:buNone/>
              <a:defRPr sz="1800" b="0" i="0" u="none" strike="noStrike" cap="none">
                <a:latin typeface="Calibri"/>
                <a:ea typeface="Calibri"/>
                <a:cs typeface="Calibri"/>
                <a:sym typeface="Calibri"/>
              </a:defRPr>
            </a:lvl5pPr>
            <a:lvl6pPr marL="2743200" marR="0" lvl="5" indent="-228600" algn="l" rtl="0">
              <a:spcBef>
                <a:spcPts val="0"/>
              </a:spcBef>
              <a:spcAft>
                <a:spcPts val="0"/>
              </a:spcAft>
              <a:buSzPts val="1400"/>
              <a:buNone/>
              <a:defRPr sz="1800" b="0" i="0" u="none" strike="noStrike" cap="none">
                <a:latin typeface="Calibri"/>
                <a:ea typeface="Calibri"/>
                <a:cs typeface="Calibri"/>
                <a:sym typeface="Calibri"/>
              </a:defRPr>
            </a:lvl6pPr>
            <a:lvl7pPr marL="3200400" marR="0" lvl="6" indent="-228600" algn="l" rtl="0">
              <a:spcBef>
                <a:spcPts val="0"/>
              </a:spcBef>
              <a:spcAft>
                <a:spcPts val="0"/>
              </a:spcAft>
              <a:buSzPts val="1400"/>
              <a:buNone/>
              <a:defRPr sz="1800" b="0" i="0" u="none" strike="noStrike" cap="none">
                <a:latin typeface="Calibri"/>
                <a:ea typeface="Calibri"/>
                <a:cs typeface="Calibri"/>
                <a:sym typeface="Calibri"/>
              </a:defRPr>
            </a:lvl7pPr>
            <a:lvl8pPr marL="3657600" marR="0" lvl="7" indent="-228600" algn="l" rtl="0">
              <a:spcBef>
                <a:spcPts val="0"/>
              </a:spcBef>
              <a:spcAft>
                <a:spcPts val="0"/>
              </a:spcAft>
              <a:buSzPts val="1400"/>
              <a:buNone/>
              <a:defRPr sz="1800" b="0" i="0" u="none" strike="noStrike" cap="none">
                <a:latin typeface="Calibri"/>
                <a:ea typeface="Calibri"/>
                <a:cs typeface="Calibri"/>
                <a:sym typeface="Calibri"/>
              </a:defRPr>
            </a:lvl8pPr>
            <a:lvl9pPr marL="4114800" marR="0" lvl="8" indent="-228600" algn="l" rtl="0">
              <a:spcBef>
                <a:spcPts val="0"/>
              </a:spcBef>
              <a:spcAft>
                <a:spcPts val="0"/>
              </a:spcAft>
              <a:buSzPts val="1400"/>
              <a:buNone/>
              <a:defRPr sz="1800" b="0" i="0" u="none" strike="noStrike" cap="none">
                <a:latin typeface="Calibri"/>
                <a:ea typeface="Calibri"/>
                <a:cs typeface="Calibri"/>
                <a:sym typeface="Calibri"/>
              </a:defRPr>
            </a:lvl9pPr>
          </a:lstStyle>
          <a:p>
            <a:endParaRPr/>
          </a:p>
        </p:txBody>
      </p:sp>
      <p:sp>
        <p:nvSpPr>
          <p:cNvPr id="8" name="Google Shape;8;p115"/>
          <p:cNvSpPr txBox="1">
            <a:spLocks noGrp="1"/>
          </p:cNvSpPr>
          <p:nvPr>
            <p:ph type="ftr" idx="11"/>
          </p:nvPr>
        </p:nvSpPr>
        <p:spPr>
          <a:xfrm>
            <a:off x="4145280" y="6377940"/>
            <a:ext cx="3901440" cy="342900"/>
          </a:xfrm>
          <a:prstGeom prst="rect">
            <a:avLst/>
          </a:prstGeom>
          <a:noFill/>
          <a:ln>
            <a:noFill/>
          </a:ln>
        </p:spPr>
        <p:txBody>
          <a:bodyPr spcFirstLastPara="1" wrap="square" lIns="0" tIns="0" rIns="0" bIns="0" anchor="t" anchorCtr="0">
            <a:spAutoFit/>
          </a:bodyPr>
          <a:lstStyle>
            <a:lvl1pPr marR="0" lvl="0" algn="ctr" rtl="0">
              <a:spcBef>
                <a:spcPts val="0"/>
              </a:spcBef>
              <a:spcAft>
                <a:spcPts val="0"/>
              </a:spcAft>
              <a:buSzPts val="1400"/>
              <a:buNone/>
              <a:defRPr sz="18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15"/>
          <p:cNvSpPr txBox="1">
            <a:spLocks noGrp="1"/>
          </p:cNvSpPr>
          <p:nvPr>
            <p:ph type="dt" idx="10"/>
          </p:nvPr>
        </p:nvSpPr>
        <p:spPr>
          <a:xfrm>
            <a:off x="609600" y="6377940"/>
            <a:ext cx="2804160" cy="342900"/>
          </a:xfrm>
          <a:prstGeom prst="rect">
            <a:avLst/>
          </a:prstGeom>
          <a:noFill/>
          <a:ln>
            <a:noFill/>
          </a:ln>
        </p:spPr>
        <p:txBody>
          <a:bodyPr spcFirstLastPara="1" wrap="square" lIns="0" tIns="0" rIns="0" bIns="0" anchor="t" anchorCtr="0">
            <a:spAutoFit/>
          </a:bodyPr>
          <a:lstStyle>
            <a:lvl1pPr marR="0" lvl="0" algn="l" rtl="0">
              <a:spcBef>
                <a:spcPts val="0"/>
              </a:spcBef>
              <a:spcAft>
                <a:spcPts val="0"/>
              </a:spcAft>
              <a:buSzPts val="1400"/>
              <a:buNone/>
              <a:defRPr sz="18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15"/>
          <p:cNvSpPr txBox="1">
            <a:spLocks noGrp="1"/>
          </p:cNvSpPr>
          <p:nvPr>
            <p:ph type="sldNum" idx="12"/>
          </p:nvPr>
        </p:nvSpPr>
        <p:spPr>
          <a:xfrm>
            <a:off x="8778240" y="6377940"/>
            <a:ext cx="2804160" cy="342900"/>
          </a:xfrm>
          <a:prstGeom prst="rect">
            <a:avLst/>
          </a:prstGeom>
          <a:noFill/>
          <a:ln>
            <a:noFill/>
          </a:ln>
        </p:spPr>
        <p:txBody>
          <a:bodyPr spcFirstLastPara="1" wrap="square" lIns="0" tIns="0" rIns="0" bIns="0" anchor="t" anchorCtr="0">
            <a:spAutoFit/>
          </a:bodyPr>
          <a:lstStyle>
            <a:lvl1pPr marL="0" marR="0" lvl="0" indent="0" algn="r" rtl="0">
              <a:spcBef>
                <a:spcPts val="0"/>
              </a:spcBef>
              <a:buNone/>
              <a:defRPr sz="1800" b="0" i="0" u="none" strike="noStrike" cap="none">
                <a:solidFill>
                  <a:srgbClr val="888888"/>
                </a:solidFill>
                <a:latin typeface="Calibri"/>
                <a:ea typeface="Calibri"/>
                <a:cs typeface="Calibri"/>
                <a:sym typeface="Calibri"/>
              </a:defRPr>
            </a:lvl1pPr>
            <a:lvl2pPr marL="0" marR="0" lvl="1" indent="0" algn="r" rtl="0">
              <a:spcBef>
                <a:spcPts val="0"/>
              </a:spcBef>
              <a:buNone/>
              <a:defRPr sz="1800" b="0" i="0" u="none" strike="noStrike" cap="none">
                <a:solidFill>
                  <a:srgbClr val="888888"/>
                </a:solidFill>
                <a:latin typeface="Calibri"/>
                <a:ea typeface="Calibri"/>
                <a:cs typeface="Calibri"/>
                <a:sym typeface="Calibri"/>
              </a:defRPr>
            </a:lvl2pPr>
            <a:lvl3pPr marL="0" marR="0" lvl="2" indent="0" algn="r" rtl="0">
              <a:spcBef>
                <a:spcPts val="0"/>
              </a:spcBef>
              <a:buNone/>
              <a:defRPr sz="1800" b="0" i="0" u="none" strike="noStrike" cap="none">
                <a:solidFill>
                  <a:srgbClr val="888888"/>
                </a:solidFill>
                <a:latin typeface="Calibri"/>
                <a:ea typeface="Calibri"/>
                <a:cs typeface="Calibri"/>
                <a:sym typeface="Calibri"/>
              </a:defRPr>
            </a:lvl3pPr>
            <a:lvl4pPr marL="0" marR="0" lvl="3" indent="0" algn="r" rtl="0">
              <a:spcBef>
                <a:spcPts val="0"/>
              </a:spcBef>
              <a:buNone/>
              <a:defRPr sz="1800" b="0" i="0" u="none" strike="noStrike" cap="none">
                <a:solidFill>
                  <a:srgbClr val="888888"/>
                </a:solidFill>
                <a:latin typeface="Calibri"/>
                <a:ea typeface="Calibri"/>
                <a:cs typeface="Calibri"/>
                <a:sym typeface="Calibri"/>
              </a:defRPr>
            </a:lvl4pPr>
            <a:lvl5pPr marL="0" marR="0" lvl="4" indent="0" algn="r" rtl="0">
              <a:spcBef>
                <a:spcPts val="0"/>
              </a:spcBef>
              <a:buNone/>
              <a:defRPr sz="1800" b="0" i="0" u="none" strike="noStrike" cap="none">
                <a:solidFill>
                  <a:srgbClr val="888888"/>
                </a:solidFill>
                <a:latin typeface="Calibri"/>
                <a:ea typeface="Calibri"/>
                <a:cs typeface="Calibri"/>
                <a:sym typeface="Calibri"/>
              </a:defRPr>
            </a:lvl5pPr>
            <a:lvl6pPr marL="0" marR="0" lvl="5" indent="0" algn="r" rtl="0">
              <a:spcBef>
                <a:spcPts val="0"/>
              </a:spcBef>
              <a:buNone/>
              <a:defRPr sz="1800" b="0" i="0" u="none" strike="noStrike" cap="none">
                <a:solidFill>
                  <a:srgbClr val="888888"/>
                </a:solidFill>
                <a:latin typeface="Calibri"/>
                <a:ea typeface="Calibri"/>
                <a:cs typeface="Calibri"/>
                <a:sym typeface="Calibri"/>
              </a:defRPr>
            </a:lvl6pPr>
            <a:lvl7pPr marL="0" marR="0" lvl="6" indent="0" algn="r" rtl="0">
              <a:spcBef>
                <a:spcPts val="0"/>
              </a:spcBef>
              <a:buNone/>
              <a:defRPr sz="1800" b="0" i="0" u="none" strike="noStrike" cap="none">
                <a:solidFill>
                  <a:srgbClr val="888888"/>
                </a:solidFill>
                <a:latin typeface="Calibri"/>
                <a:ea typeface="Calibri"/>
                <a:cs typeface="Calibri"/>
                <a:sym typeface="Calibri"/>
              </a:defRPr>
            </a:lvl7pPr>
            <a:lvl8pPr marL="0" marR="0" lvl="7" indent="0" algn="r" rtl="0">
              <a:spcBef>
                <a:spcPts val="0"/>
              </a:spcBef>
              <a:buNone/>
              <a:defRPr sz="1800" b="0" i="0" u="none" strike="noStrike" cap="none">
                <a:solidFill>
                  <a:srgbClr val="888888"/>
                </a:solidFill>
                <a:latin typeface="Calibri"/>
                <a:ea typeface="Calibri"/>
                <a:cs typeface="Calibri"/>
                <a:sym typeface="Calibri"/>
              </a:defRPr>
            </a:lvl8pPr>
            <a:lvl9pPr marL="0" marR="0" lvl="8" indent="0" algn="r" rtl="0">
              <a:spcBef>
                <a:spcPts val="0"/>
              </a:spcBef>
              <a:buNone/>
              <a:defRPr sz="18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60.xml"/><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3.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3.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3.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3.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3.xml"/></Relationships>
</file>

<file path=ppt/slides/_rels/slide89.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89.xml"/><Relationship Id="rId1" Type="http://schemas.openxmlformats.org/officeDocument/2006/relationships/slideLayout" Target="../slideLayouts/slideLayout3.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91.xml"/><Relationship Id="rId1" Type="http://schemas.openxmlformats.org/officeDocument/2006/relationships/slideLayout" Target="../slideLayouts/slideLayout3.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93.xml"/><Relationship Id="rId1" Type="http://schemas.openxmlformats.org/officeDocument/2006/relationships/slideLayout" Target="../slideLayouts/slideLayout1.xml"/></Relationships>
</file>

<file path=ppt/slides/_rels/slide94.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94.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97.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notesSlide" Target="../notesSlides/notesSlide98.xml"/><Relationship Id="rId1" Type="http://schemas.openxmlformats.org/officeDocument/2006/relationships/slideLayout" Target="../slideLayouts/slideLayout1.xml"/></Relationships>
</file>

<file path=ppt/slides/_rels/slide99.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notesSlide" Target="../notesSlides/notesSlide99.xml"/><Relationship Id="rId1" Type="http://schemas.openxmlformats.org/officeDocument/2006/relationships/slideLayout" Target="../slideLayouts/slideLayout3.xml"/></Relationships>
</file>

<file path=ppt/slides/_rels/slide100.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notesSlide" Target="../notesSlides/notesSlide100.xml"/><Relationship Id="rId1" Type="http://schemas.openxmlformats.org/officeDocument/2006/relationships/slideLayout" Target="../slideLayouts/slideLayout3.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101.xml"/><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notesSlide" Target="../notesSlides/notesSlide102.xml"/><Relationship Id="rId1" Type="http://schemas.openxmlformats.org/officeDocument/2006/relationships/slideLayout" Target="../slideLayouts/slideLayout1.xml"/></Relationships>
</file>

<file path=ppt/slides/_rels/slide103.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notesSlide" Target="../notesSlides/notesSlide103.xml"/><Relationship Id="rId1" Type="http://schemas.openxmlformats.org/officeDocument/2006/relationships/slideLayout" Target="../slideLayouts/slideLayout1.xml"/></Relationships>
</file>

<file path=ppt/slides/_rels/slide104.xml.rels><?xml version="1.0" encoding="UTF-8" standalone="yes"?>
<Relationships xmlns="http://schemas.openxmlformats.org/package/2006/relationships"><Relationship Id="rId3" Type="http://schemas.openxmlformats.org/officeDocument/2006/relationships/image" Target="../media/image24.jpg"/><Relationship Id="rId2" Type="http://schemas.openxmlformats.org/officeDocument/2006/relationships/notesSlide" Target="../notesSlides/notesSlide104.xml"/><Relationship Id="rId1" Type="http://schemas.openxmlformats.org/officeDocument/2006/relationships/slideLayout" Target="../slideLayouts/slideLayout3.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105.xml"/><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106.xml"/><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107.xml"/><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108.xml"/><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3" Type="http://schemas.openxmlformats.org/officeDocument/2006/relationships/image" Target="../media/image25.jpg"/><Relationship Id="rId2" Type="http://schemas.openxmlformats.org/officeDocument/2006/relationships/notesSlide" Target="../notesSlides/notesSlide109.xml"/><Relationship Id="rId1" Type="http://schemas.openxmlformats.org/officeDocument/2006/relationships/slideLayout" Target="../slideLayouts/slideLayout3.xml"/></Relationships>
</file>

<file path=ppt/slides/_rels/slide110.xml.rels><?xml version="1.0" encoding="UTF-8" standalone="yes"?>
<Relationships xmlns="http://schemas.openxmlformats.org/package/2006/relationships"><Relationship Id="rId3" Type="http://schemas.openxmlformats.org/officeDocument/2006/relationships/image" Target="../media/image26.jpg"/><Relationship Id="rId2" Type="http://schemas.openxmlformats.org/officeDocument/2006/relationships/notesSlide" Target="../notesSlides/notesSlide110.xml"/><Relationship Id="rId1" Type="http://schemas.openxmlformats.org/officeDocument/2006/relationships/slideLayout" Target="../slideLayouts/slideLayout3.xml"/></Relationships>
</file>

<file path=ppt/slides/_rels/slide111.xml.rels><?xml version="1.0" encoding="UTF-8" standalone="yes"?>
<Relationships xmlns="http://schemas.openxmlformats.org/package/2006/relationships"><Relationship Id="rId3" Type="http://schemas.openxmlformats.org/officeDocument/2006/relationships/image" Target="../media/image27.jpg"/><Relationship Id="rId2" Type="http://schemas.openxmlformats.org/officeDocument/2006/relationships/notesSlide" Target="../notesSlides/notesSlide111.xml"/><Relationship Id="rId1" Type="http://schemas.openxmlformats.org/officeDocument/2006/relationships/slideLayout" Target="../slideLayouts/slideLayout3.xml"/></Relationships>
</file>

<file path=ppt/slides/_rels/slide112.xml.rels><?xml version="1.0" encoding="UTF-8" standalone="yes"?>
<Relationships xmlns="http://schemas.openxmlformats.org/package/2006/relationships"><Relationship Id="rId3" Type="http://schemas.openxmlformats.org/officeDocument/2006/relationships/image" Target="../media/image28.jpg"/><Relationship Id="rId2" Type="http://schemas.openxmlformats.org/officeDocument/2006/relationships/notesSlide" Target="../notesSlides/notesSlide112.xml"/><Relationship Id="rId1" Type="http://schemas.openxmlformats.org/officeDocument/2006/relationships/slideLayout" Target="../slideLayouts/slideLayout3.xml"/></Relationships>
</file>

<file path=ppt/slides/_rels/slide113.xml.rels><?xml version="1.0" encoding="UTF-8" standalone="yes"?>
<Relationships xmlns="http://schemas.openxmlformats.org/package/2006/relationships"><Relationship Id="rId3" Type="http://schemas.openxmlformats.org/officeDocument/2006/relationships/image" Target="../media/image29.jpg"/><Relationship Id="rId2" Type="http://schemas.openxmlformats.org/officeDocument/2006/relationships/notesSlide" Target="../notesSlides/notesSlide113.xml"/><Relationship Id="rId1" Type="http://schemas.openxmlformats.org/officeDocument/2006/relationships/slideLayout" Target="../slideLayouts/slideLayout3.xml"/></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1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Shape 42"/>
        <p:cNvGrpSpPr/>
        <p:nvPr/>
      </p:nvGrpSpPr>
      <p:grpSpPr>
        <a:xfrm>
          <a:off x="0" y="0"/>
          <a:ext cx="0" cy="0"/>
          <a:chOff x="0" y="0"/>
          <a:chExt cx="0" cy="0"/>
        </a:xfrm>
      </p:grpSpPr>
      <p:sp>
        <p:nvSpPr>
          <p:cNvPr id="43" name="Google Shape;43;p1"/>
          <p:cNvSpPr txBox="1">
            <a:spLocks noGrp="1"/>
          </p:cNvSpPr>
          <p:nvPr>
            <p:ph type="title"/>
          </p:nvPr>
        </p:nvSpPr>
        <p:spPr>
          <a:xfrm>
            <a:off x="2491147" y="1717230"/>
            <a:ext cx="7198995" cy="3112129"/>
          </a:xfrm>
          <a:prstGeom prst="rect">
            <a:avLst/>
          </a:prstGeom>
          <a:noFill/>
          <a:ln>
            <a:noFill/>
          </a:ln>
        </p:spPr>
        <p:txBody>
          <a:bodyPr spcFirstLastPara="1" wrap="square" lIns="0" tIns="119375" rIns="0" bIns="0" anchor="t" anchorCtr="0">
            <a:spAutoFit/>
          </a:bodyPr>
          <a:lstStyle/>
          <a:p>
            <a:pPr marL="12700" marR="5080" lvl="0" indent="2108835" algn="ctr" rtl="0">
              <a:lnSpc>
                <a:spcPct val="107500"/>
              </a:lnSpc>
              <a:spcBef>
                <a:spcPts val="0"/>
              </a:spcBef>
              <a:spcAft>
                <a:spcPts val="0"/>
              </a:spcAft>
              <a:buNone/>
            </a:pPr>
            <a:r>
              <a:rPr lang="en-US" sz="6000" dirty="0"/>
              <a:t>Module 2  WORD LEVEL ANALYSIS</a:t>
            </a:r>
            <a:endParaRPr sz="6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Shape 47"/>
        <p:cNvGrpSpPr/>
        <p:nvPr/>
      </p:nvGrpSpPr>
      <p:grpSpPr>
        <a:xfrm>
          <a:off x="0" y="0"/>
          <a:ext cx="0" cy="0"/>
          <a:chOff x="0" y="0"/>
          <a:chExt cx="0" cy="0"/>
        </a:xfrm>
      </p:grpSpPr>
      <p:sp>
        <p:nvSpPr>
          <p:cNvPr id="48" name="Google Shape;48;p2"/>
          <p:cNvSpPr txBox="1">
            <a:spLocks noGrp="1"/>
          </p:cNvSpPr>
          <p:nvPr>
            <p:ph type="title"/>
          </p:nvPr>
        </p:nvSpPr>
        <p:spPr>
          <a:xfrm>
            <a:off x="911225" y="639172"/>
            <a:ext cx="3610610" cy="69596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4400"/>
              <a:t>INTRODUCTION</a:t>
            </a:r>
            <a:endParaRPr sz="4400"/>
          </a:p>
        </p:txBody>
      </p:sp>
      <p:sp>
        <p:nvSpPr>
          <p:cNvPr id="49" name="Google Shape;49;p2"/>
          <p:cNvSpPr txBox="1"/>
          <p:nvPr/>
        </p:nvSpPr>
        <p:spPr>
          <a:xfrm>
            <a:off x="945500" y="1819918"/>
            <a:ext cx="10287000" cy="4431600"/>
          </a:xfrm>
          <a:prstGeom prst="rect">
            <a:avLst/>
          </a:prstGeom>
          <a:noFill/>
          <a:ln>
            <a:noFill/>
          </a:ln>
        </p:spPr>
        <p:txBody>
          <a:bodyPr spcFirstLastPara="1" wrap="square" lIns="0" tIns="43175" rIns="0" bIns="0" anchor="t" anchorCtr="0">
            <a:spAutoFit/>
          </a:bodyPr>
          <a:lstStyle/>
          <a:p>
            <a:pPr marL="207009" marR="5080" lvl="0" indent="-233044" algn="just" rtl="0">
              <a:lnSpc>
                <a:spcPct val="108333"/>
              </a:lnSpc>
              <a:spcBef>
                <a:spcPts val="1000"/>
              </a:spcBef>
              <a:spcAft>
                <a:spcPts val="0"/>
              </a:spcAft>
              <a:buClr>
                <a:schemeClr val="dk1"/>
              </a:buClr>
              <a:buSzPts val="2400"/>
              <a:buFont typeface="Arial"/>
              <a:buChar char="•"/>
            </a:pPr>
            <a:r>
              <a:rPr lang="en-US" sz="2400">
                <a:solidFill>
                  <a:schemeClr val="dk1"/>
                </a:solidFill>
                <a:latin typeface="Times New Roman"/>
                <a:ea typeface="Times New Roman"/>
                <a:cs typeface="Times New Roman"/>
                <a:sym typeface="Times New Roman"/>
              </a:rPr>
              <a:t>NLP involves different levels of complexities of processing. One way to analyse natural language text is by </a:t>
            </a:r>
            <a:r>
              <a:rPr lang="en-US" sz="2400">
                <a:solidFill>
                  <a:schemeClr val="dk1"/>
                </a:solidFill>
                <a:highlight>
                  <a:srgbClr val="FFFF00"/>
                </a:highlight>
                <a:latin typeface="Times New Roman"/>
                <a:ea typeface="Times New Roman"/>
                <a:cs typeface="Times New Roman"/>
                <a:sym typeface="Times New Roman"/>
              </a:rPr>
              <a:t>breaking down into constituent units</a:t>
            </a:r>
            <a:r>
              <a:rPr lang="en-US" sz="2400">
                <a:solidFill>
                  <a:schemeClr val="dk1"/>
                </a:solidFill>
                <a:latin typeface="Times New Roman"/>
                <a:ea typeface="Times New Roman"/>
                <a:cs typeface="Times New Roman"/>
                <a:sym typeface="Times New Roman"/>
              </a:rPr>
              <a:t> (words, phrases, sentences and paragraph) and then analyse these units.</a:t>
            </a:r>
            <a:endParaRPr sz="2400">
              <a:solidFill>
                <a:schemeClr val="dk1"/>
              </a:solidFill>
              <a:latin typeface="Times New Roman"/>
              <a:ea typeface="Times New Roman"/>
              <a:cs typeface="Times New Roman"/>
              <a:sym typeface="Times New Roman"/>
            </a:endParaRPr>
          </a:p>
          <a:p>
            <a:pPr marL="207009" marR="5080" lvl="0" indent="-233044" algn="just" rtl="0">
              <a:lnSpc>
                <a:spcPct val="108333"/>
              </a:lnSpc>
              <a:spcBef>
                <a:spcPts val="1000"/>
              </a:spcBef>
              <a:spcAft>
                <a:spcPts val="0"/>
              </a:spcAft>
              <a:buClr>
                <a:schemeClr val="dk1"/>
              </a:buClr>
              <a:buSzPts val="2400"/>
              <a:buFont typeface="Arial"/>
              <a:buChar char="•"/>
            </a:pPr>
            <a:r>
              <a:rPr lang="en-US" sz="2400">
                <a:solidFill>
                  <a:schemeClr val="dk1"/>
                </a:solidFill>
                <a:highlight>
                  <a:srgbClr val="00FFFF"/>
                </a:highlight>
                <a:latin typeface="Times New Roman"/>
                <a:ea typeface="Times New Roman"/>
                <a:cs typeface="Times New Roman"/>
                <a:sym typeface="Times New Roman"/>
              </a:rPr>
              <a:t>Word level analysis f</a:t>
            </a:r>
            <a:r>
              <a:rPr lang="en-US" sz="2400" b="0" i="0" u="none" strike="noStrike" cap="none">
                <a:solidFill>
                  <a:schemeClr val="dk1"/>
                </a:solidFill>
                <a:highlight>
                  <a:srgbClr val="00FFFF"/>
                </a:highlight>
                <a:latin typeface="Times New Roman"/>
                <a:ea typeface="Times New Roman"/>
                <a:cs typeface="Times New Roman"/>
                <a:sym typeface="Times New Roman"/>
              </a:rPr>
              <a:t>ocuses on NLP wo</a:t>
            </a:r>
            <a:r>
              <a:rPr lang="en-US" sz="2400">
                <a:solidFill>
                  <a:schemeClr val="dk1"/>
                </a:solidFill>
                <a:highlight>
                  <a:srgbClr val="00FFFF"/>
                </a:highlight>
                <a:latin typeface="Times New Roman"/>
                <a:ea typeface="Times New Roman"/>
                <a:cs typeface="Times New Roman"/>
                <a:sym typeface="Times New Roman"/>
              </a:rPr>
              <a:t>rk carried out </a:t>
            </a:r>
            <a:r>
              <a:rPr lang="en-US" sz="2400" b="0" i="0" u="none" strike="noStrike" cap="none">
                <a:solidFill>
                  <a:schemeClr val="dk1"/>
                </a:solidFill>
                <a:highlight>
                  <a:srgbClr val="00FFFF"/>
                </a:highlight>
                <a:latin typeface="Times New Roman"/>
                <a:ea typeface="Times New Roman"/>
                <a:cs typeface="Times New Roman"/>
                <a:sym typeface="Times New Roman"/>
              </a:rPr>
              <a:t>at word level</a:t>
            </a:r>
            <a:r>
              <a:rPr lang="en-US" sz="2400">
                <a:solidFill>
                  <a:schemeClr val="dk1"/>
                </a:solidFill>
                <a:highlight>
                  <a:srgbClr val="00FFFF"/>
                </a:highlight>
                <a:latin typeface="Times New Roman"/>
                <a:ea typeface="Times New Roman"/>
                <a:cs typeface="Times New Roman"/>
                <a:sym typeface="Times New Roman"/>
              </a:rPr>
              <a:t>, </a:t>
            </a:r>
            <a:r>
              <a:rPr lang="en-US" sz="2400" b="0" i="0" u="none" strike="noStrike" cap="none">
                <a:solidFill>
                  <a:schemeClr val="dk1"/>
                </a:solidFill>
                <a:highlight>
                  <a:srgbClr val="00FFFF"/>
                </a:highlight>
                <a:latin typeface="Times New Roman"/>
                <a:ea typeface="Times New Roman"/>
                <a:cs typeface="Times New Roman"/>
                <a:sym typeface="Times New Roman"/>
              </a:rPr>
              <a:t>including characterizing word sequences,  identifying morphological variants, detecting and correcting misspelled words, and identifying correct parts of  speech of a word.</a:t>
            </a:r>
            <a:endParaRPr sz="2400" b="0" i="0" u="none" strike="noStrike" cap="none">
              <a:solidFill>
                <a:schemeClr val="dk1"/>
              </a:solidFill>
              <a:highlight>
                <a:srgbClr val="00FFFF"/>
              </a:highlight>
              <a:latin typeface="Times New Roman"/>
              <a:ea typeface="Times New Roman"/>
              <a:cs typeface="Times New Roman"/>
              <a:sym typeface="Times New Roman"/>
            </a:endParaRPr>
          </a:p>
          <a:p>
            <a:pPr marL="207009" marR="5080" lvl="0" indent="-233044" algn="just" rtl="0">
              <a:lnSpc>
                <a:spcPct val="108333"/>
              </a:lnSpc>
              <a:spcBef>
                <a:spcPts val="1000"/>
              </a:spcBef>
              <a:spcAft>
                <a:spcPts val="0"/>
              </a:spcAft>
              <a:buClr>
                <a:schemeClr val="dk1"/>
              </a:buClr>
              <a:buSzPts val="2400"/>
              <a:buFont typeface="Times New Roman"/>
              <a:buChar char="•"/>
            </a:pPr>
            <a:r>
              <a:rPr lang="en-US" sz="2400">
                <a:solidFill>
                  <a:schemeClr val="dk1"/>
                </a:solidFill>
                <a:highlight>
                  <a:srgbClr val="FFFF00"/>
                </a:highlight>
                <a:latin typeface="Times New Roman"/>
                <a:ea typeface="Times New Roman"/>
                <a:cs typeface="Times New Roman"/>
                <a:sym typeface="Times New Roman"/>
              </a:rPr>
              <a:t>Regular expressions</a:t>
            </a:r>
            <a:r>
              <a:rPr lang="en-US" sz="2400">
                <a:solidFill>
                  <a:schemeClr val="dk1"/>
                </a:solidFill>
                <a:latin typeface="Times New Roman"/>
                <a:ea typeface="Times New Roman"/>
                <a:cs typeface="Times New Roman"/>
                <a:sym typeface="Times New Roman"/>
              </a:rPr>
              <a:t> are used for describing words and their implementation is done using finite-state automaton (FSA).</a:t>
            </a:r>
            <a:endParaRPr sz="2400">
              <a:solidFill>
                <a:schemeClr val="dk1"/>
              </a:solidFill>
              <a:latin typeface="Times New Roman"/>
              <a:ea typeface="Times New Roman"/>
              <a:cs typeface="Times New Roman"/>
              <a:sym typeface="Times New Roman"/>
            </a:endParaRPr>
          </a:p>
          <a:p>
            <a:pPr marL="207009" marR="5080" lvl="0" indent="-239394" algn="just" rtl="0">
              <a:lnSpc>
                <a:spcPct val="108333"/>
              </a:lnSpc>
              <a:spcBef>
                <a:spcPts val="1000"/>
              </a:spcBef>
              <a:spcAft>
                <a:spcPts val="0"/>
              </a:spcAft>
              <a:buClr>
                <a:schemeClr val="dk1"/>
              </a:buClr>
              <a:buSzPts val="2500"/>
              <a:buFont typeface="Times New Roman"/>
              <a:buChar char="•"/>
            </a:pPr>
            <a:r>
              <a:rPr lang="en-US" sz="2400">
                <a:solidFill>
                  <a:schemeClr val="dk1"/>
                </a:solidFill>
                <a:latin typeface="Times New Roman"/>
                <a:ea typeface="Times New Roman"/>
                <a:cs typeface="Times New Roman"/>
                <a:sym typeface="Times New Roman"/>
              </a:rPr>
              <a:t>FSAs and their variants like </a:t>
            </a:r>
            <a:r>
              <a:rPr lang="en-US" sz="2400">
                <a:solidFill>
                  <a:schemeClr val="dk1"/>
                </a:solidFill>
                <a:highlight>
                  <a:srgbClr val="FFFF00"/>
                </a:highlight>
                <a:latin typeface="Times New Roman"/>
                <a:ea typeface="Times New Roman"/>
                <a:cs typeface="Times New Roman"/>
                <a:sym typeface="Times New Roman"/>
              </a:rPr>
              <a:t>finite state transducers</a:t>
            </a:r>
            <a:r>
              <a:rPr lang="en-US" sz="2400">
                <a:solidFill>
                  <a:schemeClr val="dk1"/>
                </a:solidFill>
                <a:latin typeface="Times New Roman"/>
                <a:ea typeface="Times New Roman"/>
                <a:cs typeface="Times New Roman"/>
                <a:sym typeface="Times New Roman"/>
              </a:rPr>
              <a:t> have found useful applications in speech recognition and synthesis, spell checking, and information extraction.</a:t>
            </a:r>
            <a:r>
              <a:rPr lang="en-US" sz="2500">
                <a:solidFill>
                  <a:schemeClr val="dk1"/>
                </a:solidFill>
                <a:latin typeface="Times New Roman"/>
                <a:ea typeface="Times New Roman"/>
                <a:cs typeface="Times New Roman"/>
                <a:sym typeface="Times New Roman"/>
              </a:rPr>
              <a:t> </a:t>
            </a:r>
            <a:endParaRPr sz="2800" b="0" i="0" u="none" strike="noStrike" cap="none">
              <a:solidFill>
                <a:schemeClr val="dk1"/>
              </a:solidFill>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Shape 53"/>
        <p:cNvGrpSpPr/>
        <p:nvPr/>
      </p:nvGrpSpPr>
      <p:grpSpPr>
        <a:xfrm>
          <a:off x="0" y="0"/>
          <a:ext cx="0" cy="0"/>
          <a:chOff x="0" y="0"/>
          <a:chExt cx="0" cy="0"/>
        </a:xfrm>
      </p:grpSpPr>
      <p:sp>
        <p:nvSpPr>
          <p:cNvPr id="54" name="Google Shape;54;p3"/>
          <p:cNvSpPr txBox="1">
            <a:spLocks noGrp="1"/>
          </p:cNvSpPr>
          <p:nvPr>
            <p:ph type="title"/>
          </p:nvPr>
        </p:nvSpPr>
        <p:spPr>
          <a:xfrm>
            <a:off x="911225" y="639175"/>
            <a:ext cx="10314300" cy="690000"/>
          </a:xfrm>
          <a:prstGeom prst="rect">
            <a:avLst/>
          </a:prstGeom>
          <a:noFill/>
          <a:ln>
            <a:noFill/>
          </a:ln>
        </p:spPr>
        <p:txBody>
          <a:bodyPr spcFirstLastPara="1" wrap="square" lIns="0" tIns="12700" rIns="0" bIns="0" anchor="t" anchorCtr="0">
            <a:spAutoFit/>
          </a:bodyPr>
          <a:lstStyle/>
          <a:p>
            <a:pPr marL="12700" lvl="0" indent="0" algn="ctr" rtl="0">
              <a:lnSpc>
                <a:spcPct val="100000"/>
              </a:lnSpc>
              <a:spcBef>
                <a:spcPts val="0"/>
              </a:spcBef>
              <a:spcAft>
                <a:spcPts val="0"/>
              </a:spcAft>
              <a:buNone/>
            </a:pPr>
            <a:r>
              <a:rPr lang="en-US" sz="4400"/>
              <a:t>Regular Expressions</a:t>
            </a:r>
            <a:endParaRPr sz="4400"/>
          </a:p>
        </p:txBody>
      </p:sp>
      <p:sp>
        <p:nvSpPr>
          <p:cNvPr id="55" name="Google Shape;55;p3"/>
          <p:cNvSpPr/>
          <p:nvPr/>
        </p:nvSpPr>
        <p:spPr>
          <a:xfrm>
            <a:off x="8162594" y="3730625"/>
            <a:ext cx="3105785" cy="274320"/>
          </a:xfrm>
          <a:custGeom>
            <a:avLst/>
            <a:gdLst/>
            <a:ahLst/>
            <a:cxnLst/>
            <a:rect l="l" t="t" r="r" b="b"/>
            <a:pathLst>
              <a:path w="3105784" h="274320" extrusionOk="0">
                <a:moveTo>
                  <a:pt x="3105480" y="274319"/>
                </a:moveTo>
                <a:lnTo>
                  <a:pt x="0" y="274319"/>
                </a:lnTo>
                <a:lnTo>
                  <a:pt x="0" y="0"/>
                </a:lnTo>
                <a:lnTo>
                  <a:pt x="3105480" y="0"/>
                </a:lnTo>
                <a:lnTo>
                  <a:pt x="3105480" y="274319"/>
                </a:lnTo>
                <a:close/>
              </a:path>
            </a:pathLst>
          </a:custGeom>
          <a:solidFill>
            <a:srgbClr val="FFFF00"/>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6" name="Google Shape;56;p3"/>
          <p:cNvSpPr txBox="1"/>
          <p:nvPr/>
        </p:nvSpPr>
        <p:spPr>
          <a:xfrm>
            <a:off x="945500" y="1438900"/>
            <a:ext cx="10314300" cy="4717800"/>
          </a:xfrm>
          <a:prstGeom prst="rect">
            <a:avLst/>
          </a:prstGeom>
          <a:noFill/>
          <a:ln>
            <a:noFill/>
          </a:ln>
        </p:spPr>
        <p:txBody>
          <a:bodyPr spcFirstLastPara="1" wrap="square" lIns="0" tIns="12700" rIns="0" bIns="0" anchor="t" anchorCtr="0">
            <a:spAutoFit/>
          </a:bodyPr>
          <a:lstStyle/>
          <a:p>
            <a:pPr marL="457200" marR="0" lvl="0" indent="-381000" algn="just" rtl="0">
              <a:lnSpc>
                <a:spcPct val="100000"/>
              </a:lnSpc>
              <a:spcBef>
                <a:spcPts val="1000"/>
              </a:spcBef>
              <a:spcAft>
                <a:spcPts val="0"/>
              </a:spcAft>
              <a:buClr>
                <a:schemeClr val="dk1"/>
              </a:buClr>
              <a:buSzPts val="2400"/>
              <a:buFont typeface="Times New Roman"/>
              <a:buChar char="➢"/>
            </a:pPr>
            <a:r>
              <a:rPr lang="en-US" sz="2400" dirty="0">
                <a:solidFill>
                  <a:schemeClr val="dk1"/>
                </a:solidFill>
                <a:latin typeface="Times New Roman"/>
                <a:ea typeface="Times New Roman"/>
                <a:cs typeface="Times New Roman"/>
                <a:sym typeface="Times New Roman"/>
              </a:rPr>
              <a:t>Regular Expression or regexes for short, are pattern matching standard for string parsing and replacement.</a:t>
            </a:r>
            <a:endParaRPr sz="2400" dirty="0">
              <a:solidFill>
                <a:schemeClr val="dk1"/>
              </a:solidFill>
              <a:latin typeface="Times New Roman"/>
              <a:ea typeface="Times New Roman"/>
              <a:cs typeface="Times New Roman"/>
              <a:sym typeface="Times New Roman"/>
            </a:endParaRPr>
          </a:p>
          <a:p>
            <a:pPr marL="457200" marR="0" lvl="0" indent="-381000" algn="just" rtl="0">
              <a:lnSpc>
                <a:spcPct val="100000"/>
              </a:lnSpc>
              <a:spcBef>
                <a:spcPts val="1000"/>
              </a:spcBef>
              <a:spcAft>
                <a:spcPts val="0"/>
              </a:spcAft>
              <a:buClr>
                <a:schemeClr val="dk1"/>
              </a:buClr>
              <a:buSzPts val="2400"/>
              <a:buFont typeface="Times New Roman"/>
              <a:buChar char="➢"/>
            </a:pPr>
            <a:r>
              <a:rPr lang="en-US" sz="2400" dirty="0">
                <a:solidFill>
                  <a:schemeClr val="dk1"/>
                </a:solidFill>
                <a:latin typeface="Times New Roman"/>
                <a:ea typeface="Times New Roman"/>
                <a:cs typeface="Times New Roman"/>
                <a:sym typeface="Times New Roman"/>
              </a:rPr>
              <a:t>They are powerful way to find and replace strings that take a defined format.</a:t>
            </a:r>
            <a:endParaRPr sz="2400" dirty="0">
              <a:solidFill>
                <a:schemeClr val="dk1"/>
              </a:solidFill>
              <a:latin typeface="Times New Roman"/>
              <a:ea typeface="Times New Roman"/>
              <a:cs typeface="Times New Roman"/>
              <a:sym typeface="Times New Roman"/>
            </a:endParaRPr>
          </a:p>
          <a:p>
            <a:pPr marL="457200" marR="7620" lvl="0" indent="-381000" algn="just" rtl="0">
              <a:lnSpc>
                <a:spcPct val="100000"/>
              </a:lnSpc>
              <a:spcBef>
                <a:spcPts val="1000"/>
              </a:spcBef>
              <a:spcAft>
                <a:spcPts val="0"/>
              </a:spcAft>
              <a:buClr>
                <a:schemeClr val="dk1"/>
              </a:buClr>
              <a:buSzPts val="2400"/>
              <a:buFont typeface="Times New Roman"/>
              <a:buChar char="➢"/>
            </a:pPr>
            <a:r>
              <a:rPr lang="en-US" sz="2400" dirty="0">
                <a:solidFill>
                  <a:schemeClr val="dk1"/>
                </a:solidFill>
                <a:latin typeface="Times New Roman"/>
                <a:ea typeface="Times New Roman"/>
                <a:cs typeface="Times New Roman"/>
                <a:sym typeface="Times New Roman"/>
              </a:rPr>
              <a:t>Example: RE can be used to parse dates, </a:t>
            </a:r>
            <a:r>
              <a:rPr lang="en-US" sz="2400" dirty="0" err="1">
                <a:solidFill>
                  <a:schemeClr val="dk1"/>
                </a:solidFill>
                <a:latin typeface="Times New Roman"/>
                <a:ea typeface="Times New Roman"/>
                <a:cs typeface="Times New Roman"/>
                <a:sym typeface="Times New Roman"/>
              </a:rPr>
              <a:t>urls</a:t>
            </a:r>
            <a:r>
              <a:rPr lang="en-US" sz="2400" dirty="0">
                <a:solidFill>
                  <a:schemeClr val="dk1"/>
                </a:solidFill>
                <a:latin typeface="Times New Roman"/>
                <a:ea typeface="Times New Roman"/>
                <a:cs typeface="Times New Roman"/>
                <a:sym typeface="Times New Roman"/>
              </a:rPr>
              <a:t> and email addresses, log files, configurations files, command line switches, or  programming scripts.</a:t>
            </a:r>
            <a:endParaRPr sz="2400" dirty="0">
              <a:solidFill>
                <a:schemeClr val="dk1"/>
              </a:solidFill>
              <a:latin typeface="Times New Roman"/>
              <a:ea typeface="Times New Roman"/>
              <a:cs typeface="Times New Roman"/>
              <a:sym typeface="Times New Roman"/>
            </a:endParaRPr>
          </a:p>
          <a:p>
            <a:pPr marL="457200" marR="0" lvl="0" indent="-381000" algn="just" rtl="0">
              <a:lnSpc>
                <a:spcPct val="100000"/>
              </a:lnSpc>
              <a:spcBef>
                <a:spcPts val="1000"/>
              </a:spcBef>
              <a:spcAft>
                <a:spcPts val="0"/>
              </a:spcAft>
              <a:buClr>
                <a:schemeClr val="dk1"/>
              </a:buClr>
              <a:buSzPts val="2400"/>
              <a:buFont typeface="Times New Roman"/>
              <a:buChar char="➢"/>
            </a:pPr>
            <a:r>
              <a:rPr lang="en-US" sz="2400" dirty="0">
                <a:solidFill>
                  <a:schemeClr val="dk1"/>
                </a:solidFill>
                <a:latin typeface="Times New Roman"/>
                <a:ea typeface="Times New Roman"/>
                <a:cs typeface="Times New Roman"/>
                <a:sym typeface="Times New Roman"/>
              </a:rPr>
              <a:t>They are tools for the design of language compil</a:t>
            </a:r>
            <a:r>
              <a:rPr lang="en-US" sz="2400" dirty="0">
                <a:solidFill>
                  <a:schemeClr val="dk1"/>
                </a:solidFill>
                <a:highlight>
                  <a:schemeClr val="lt1"/>
                </a:highlight>
                <a:latin typeface="Times New Roman"/>
                <a:ea typeface="Times New Roman"/>
                <a:cs typeface="Times New Roman"/>
                <a:sym typeface="Times New Roman"/>
              </a:rPr>
              <a:t>ers and have been used in NLP </a:t>
            </a:r>
            <a:r>
              <a:rPr lang="en-US" sz="2400" dirty="0">
                <a:solidFill>
                  <a:schemeClr val="dk1"/>
                </a:solidFill>
                <a:latin typeface="Times New Roman"/>
                <a:ea typeface="Times New Roman"/>
                <a:cs typeface="Times New Roman"/>
                <a:sym typeface="Times New Roman"/>
              </a:rPr>
              <a:t>for tokenization, describing lexicons,</a:t>
            </a:r>
            <a:endParaRPr sz="2400" dirty="0">
              <a:solidFill>
                <a:schemeClr val="dk1"/>
              </a:solidFill>
              <a:latin typeface="Times New Roman"/>
              <a:ea typeface="Times New Roman"/>
              <a:cs typeface="Times New Roman"/>
              <a:sym typeface="Times New Roman"/>
            </a:endParaRPr>
          </a:p>
          <a:p>
            <a:pPr marL="457200" marR="0" lvl="0" indent="-381000" algn="just" rtl="0">
              <a:lnSpc>
                <a:spcPct val="100000"/>
              </a:lnSpc>
              <a:spcBef>
                <a:spcPts val="1000"/>
              </a:spcBef>
              <a:spcAft>
                <a:spcPts val="0"/>
              </a:spcAft>
              <a:buClr>
                <a:schemeClr val="dk1"/>
              </a:buClr>
              <a:buSzPts val="2400"/>
              <a:buFont typeface="Times New Roman"/>
              <a:buChar char="➢"/>
            </a:pPr>
            <a:r>
              <a:rPr lang="en-US" sz="2400" dirty="0">
                <a:solidFill>
                  <a:schemeClr val="dk1"/>
                </a:solidFill>
                <a:latin typeface="Times New Roman"/>
                <a:ea typeface="Times New Roman"/>
                <a:cs typeface="Times New Roman"/>
                <a:sym typeface="Times New Roman"/>
              </a:rPr>
              <a:t>Regular expression were originally studied as a part of theory of computation .They were first introduced by  Kleene(1956).</a:t>
            </a:r>
            <a:endParaRPr sz="2400" dirty="0">
              <a:solidFill>
                <a:schemeClr val="dk1"/>
              </a:solidFill>
              <a:latin typeface="Times New Roman"/>
              <a:ea typeface="Times New Roman"/>
              <a:cs typeface="Times New Roman"/>
              <a:sym typeface="Times New Roman"/>
            </a:endParaRPr>
          </a:p>
          <a:p>
            <a:pPr marL="457200" marR="0" lvl="0" indent="-381000" algn="just" rtl="0">
              <a:lnSpc>
                <a:spcPct val="100000"/>
              </a:lnSpc>
              <a:spcBef>
                <a:spcPts val="1000"/>
              </a:spcBef>
              <a:spcAft>
                <a:spcPts val="1000"/>
              </a:spcAft>
              <a:buClr>
                <a:schemeClr val="dk1"/>
              </a:buClr>
              <a:buSzPts val="2400"/>
              <a:buFont typeface="Times New Roman"/>
              <a:buChar char="➢"/>
            </a:pPr>
            <a:r>
              <a:rPr lang="en-US" sz="2400" dirty="0">
                <a:solidFill>
                  <a:schemeClr val="dk1"/>
                </a:solidFill>
                <a:latin typeface="Times New Roman"/>
                <a:ea typeface="Times New Roman"/>
                <a:cs typeface="Times New Roman"/>
                <a:sym typeface="Times New Roman"/>
              </a:rPr>
              <a:t>A regular expression is an algebraic formula whose value is a pattern consisting of a set strings called the language of the  expression.</a:t>
            </a:r>
            <a:endParaRPr sz="2400" dirty="0">
              <a:solidFill>
                <a:schemeClr val="dk1"/>
              </a:solidFill>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Shape 60"/>
        <p:cNvGrpSpPr/>
        <p:nvPr/>
      </p:nvGrpSpPr>
      <p:grpSpPr>
        <a:xfrm>
          <a:off x="0" y="0"/>
          <a:ext cx="0" cy="0"/>
          <a:chOff x="0" y="0"/>
          <a:chExt cx="0" cy="0"/>
        </a:xfrm>
      </p:grpSpPr>
      <p:sp>
        <p:nvSpPr>
          <p:cNvPr id="61" name="Google Shape;61;p4"/>
          <p:cNvSpPr txBox="1">
            <a:spLocks noGrp="1"/>
          </p:cNvSpPr>
          <p:nvPr>
            <p:ph type="title"/>
          </p:nvPr>
        </p:nvSpPr>
        <p:spPr>
          <a:xfrm>
            <a:off x="911225" y="639172"/>
            <a:ext cx="4525010" cy="69596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4400"/>
              <a:t>Regular Expressions</a:t>
            </a:r>
            <a:endParaRPr sz="4400"/>
          </a:p>
        </p:txBody>
      </p:sp>
      <p:sp>
        <p:nvSpPr>
          <p:cNvPr id="62" name="Google Shape;62;p4"/>
          <p:cNvSpPr txBox="1"/>
          <p:nvPr/>
        </p:nvSpPr>
        <p:spPr>
          <a:xfrm>
            <a:off x="964550" y="1335125"/>
            <a:ext cx="10080900" cy="2249329"/>
          </a:xfrm>
          <a:prstGeom prst="rect">
            <a:avLst/>
          </a:prstGeom>
          <a:noFill/>
          <a:ln>
            <a:noFill/>
          </a:ln>
        </p:spPr>
        <p:txBody>
          <a:bodyPr spcFirstLastPara="1" wrap="square" lIns="0" tIns="93975" rIns="0" bIns="0" anchor="t" anchorCtr="0">
            <a:spAutoFit/>
          </a:bodyPr>
          <a:lstStyle/>
          <a:p>
            <a:pPr marL="457200" marR="0" lvl="0" indent="-406400" algn="l" rtl="0">
              <a:lnSpc>
                <a:spcPct val="100000"/>
              </a:lnSpc>
              <a:spcBef>
                <a:spcPts val="0"/>
              </a:spcBef>
              <a:spcAft>
                <a:spcPts val="0"/>
              </a:spcAft>
              <a:buClr>
                <a:schemeClr val="dk1"/>
              </a:buClr>
              <a:buSzPts val="2800"/>
              <a:buFont typeface="Calibri"/>
              <a:buChar char="●"/>
            </a:pPr>
            <a:endParaRPr lang="en-US" sz="2800" dirty="0" smtClean="0">
              <a:solidFill>
                <a:schemeClr val="dk1"/>
              </a:solidFill>
              <a:latin typeface="Calibri"/>
              <a:ea typeface="Calibri"/>
              <a:cs typeface="Calibri"/>
              <a:sym typeface="Calibri"/>
            </a:endParaRPr>
          </a:p>
          <a:p>
            <a:pPr marL="457200" marR="0" lvl="0" indent="-406400" algn="l" rtl="0">
              <a:lnSpc>
                <a:spcPct val="100000"/>
              </a:lnSpc>
              <a:spcBef>
                <a:spcPts val="0"/>
              </a:spcBef>
              <a:spcAft>
                <a:spcPts val="0"/>
              </a:spcAft>
              <a:buClr>
                <a:schemeClr val="dk1"/>
              </a:buClr>
              <a:buSzPts val="2800"/>
              <a:buFont typeface="Calibri"/>
              <a:buChar char="●"/>
            </a:pPr>
            <a:r>
              <a:rPr lang="en-US" sz="2800" dirty="0" smtClean="0">
                <a:solidFill>
                  <a:schemeClr val="dk1"/>
                </a:solidFill>
                <a:latin typeface="Calibri"/>
                <a:ea typeface="Calibri"/>
                <a:cs typeface="Calibri"/>
                <a:sym typeface="Calibri"/>
              </a:rPr>
              <a:t>The </a:t>
            </a:r>
            <a:r>
              <a:rPr lang="en-US" sz="2800" dirty="0">
                <a:solidFill>
                  <a:schemeClr val="dk1"/>
                </a:solidFill>
                <a:latin typeface="Calibri"/>
                <a:ea typeface="Calibri"/>
                <a:cs typeface="Calibri"/>
                <a:sym typeface="Calibri"/>
              </a:rPr>
              <a:t>simplest kind of RE contains a single symbol, </a:t>
            </a:r>
            <a:r>
              <a:rPr lang="en-US" sz="2800" dirty="0" err="1">
                <a:solidFill>
                  <a:schemeClr val="dk1"/>
                </a:solidFill>
                <a:latin typeface="Calibri"/>
                <a:ea typeface="Calibri"/>
                <a:cs typeface="Calibri"/>
                <a:sym typeface="Calibri"/>
              </a:rPr>
              <a:t>eg</a:t>
            </a:r>
            <a:r>
              <a:rPr lang="en-US" sz="2800" dirty="0">
                <a:solidFill>
                  <a:schemeClr val="dk1"/>
                </a:solidFill>
                <a:latin typeface="Calibri"/>
                <a:ea typeface="Calibri"/>
                <a:cs typeface="Calibri"/>
                <a:sym typeface="Calibri"/>
              </a:rPr>
              <a:t>.  /a/ denotes the set of strings containing the character ‘a’.</a:t>
            </a:r>
            <a:endParaRPr sz="2800" dirty="0">
              <a:solidFill>
                <a:schemeClr val="dk1"/>
              </a:solidFill>
              <a:latin typeface="Calibri"/>
              <a:ea typeface="Calibri"/>
              <a:cs typeface="Calibri"/>
              <a:sym typeface="Calibri"/>
            </a:endParaRPr>
          </a:p>
          <a:p>
            <a:pPr marL="457200" marR="0" lvl="0" indent="-406400" algn="l" rtl="0">
              <a:lnSpc>
                <a:spcPct val="100000"/>
              </a:lnSpc>
              <a:spcBef>
                <a:spcPts val="0"/>
              </a:spcBef>
              <a:spcAft>
                <a:spcPts val="0"/>
              </a:spcAft>
              <a:buClr>
                <a:schemeClr val="dk1"/>
              </a:buClr>
              <a:buSzPts val="2800"/>
              <a:buFont typeface="Calibri"/>
              <a:buChar char="●"/>
            </a:pPr>
            <a:r>
              <a:rPr lang="en-US" sz="2800" dirty="0">
                <a:solidFill>
                  <a:schemeClr val="dk1"/>
                </a:solidFill>
                <a:latin typeface="Calibri"/>
                <a:ea typeface="Calibri"/>
                <a:cs typeface="Calibri"/>
                <a:sym typeface="Calibri"/>
              </a:rPr>
              <a:t>RE may specify a sequence of characters, </a:t>
            </a:r>
            <a:r>
              <a:rPr lang="en-US" sz="2800" dirty="0" err="1">
                <a:solidFill>
                  <a:schemeClr val="dk1"/>
                </a:solidFill>
                <a:latin typeface="Calibri"/>
                <a:ea typeface="Calibri"/>
                <a:cs typeface="Calibri"/>
                <a:sym typeface="Calibri"/>
              </a:rPr>
              <a:t>eg</a:t>
            </a:r>
            <a:r>
              <a:rPr lang="en-US" sz="2800" dirty="0">
                <a:solidFill>
                  <a:schemeClr val="dk1"/>
                </a:solidFill>
                <a:latin typeface="Calibri"/>
                <a:ea typeface="Calibri"/>
                <a:cs typeface="Calibri"/>
                <a:sym typeface="Calibri"/>
              </a:rPr>
              <a:t>. /supernova/, denotes the set that contains the string ‘supernova’.</a:t>
            </a:r>
            <a:endParaRPr sz="2800" dirty="0">
              <a:solidFill>
                <a:schemeClr val="dk1"/>
              </a:solidFill>
              <a:latin typeface="Calibri"/>
              <a:ea typeface="Calibri"/>
              <a:cs typeface="Calibri"/>
              <a:sym typeface="Calibri"/>
            </a:endParaRPr>
          </a:p>
        </p:txBody>
      </p:sp>
      <p:pic>
        <p:nvPicPr>
          <p:cNvPr id="63" name="Google Shape;63;p4"/>
          <p:cNvPicPr preferRelativeResize="0"/>
          <p:nvPr/>
        </p:nvPicPr>
        <p:blipFill>
          <a:blip r:embed="rId3">
            <a:alphaModFix/>
          </a:blip>
          <a:stretch>
            <a:fillRect/>
          </a:stretch>
        </p:blipFill>
        <p:spPr>
          <a:xfrm>
            <a:off x="1104691" y="3584454"/>
            <a:ext cx="9783526" cy="3002958"/>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Shape 67"/>
        <p:cNvGrpSpPr/>
        <p:nvPr/>
      </p:nvGrpSpPr>
      <p:grpSpPr>
        <a:xfrm>
          <a:off x="0" y="0"/>
          <a:ext cx="0" cy="0"/>
          <a:chOff x="0" y="0"/>
          <a:chExt cx="0" cy="0"/>
        </a:xfrm>
      </p:grpSpPr>
      <p:sp>
        <p:nvSpPr>
          <p:cNvPr id="68" name="Google Shape;68;p5"/>
          <p:cNvSpPr txBox="1">
            <a:spLocks noGrp="1"/>
          </p:cNvSpPr>
          <p:nvPr>
            <p:ph type="title"/>
          </p:nvPr>
        </p:nvSpPr>
        <p:spPr>
          <a:xfrm>
            <a:off x="911225" y="639175"/>
            <a:ext cx="10244700" cy="690000"/>
          </a:xfrm>
          <a:prstGeom prst="rect">
            <a:avLst/>
          </a:prstGeom>
          <a:noFill/>
          <a:ln>
            <a:noFill/>
          </a:ln>
        </p:spPr>
        <p:txBody>
          <a:bodyPr spcFirstLastPara="1" wrap="square" lIns="0" tIns="12700" rIns="0" bIns="0" anchor="t" anchorCtr="0">
            <a:spAutoFit/>
          </a:bodyPr>
          <a:lstStyle/>
          <a:p>
            <a:pPr marL="12700" lvl="0" indent="0" algn="ctr" rtl="0">
              <a:lnSpc>
                <a:spcPct val="100000"/>
              </a:lnSpc>
              <a:spcBef>
                <a:spcPts val="0"/>
              </a:spcBef>
              <a:spcAft>
                <a:spcPts val="0"/>
              </a:spcAft>
              <a:buNone/>
            </a:pPr>
            <a:r>
              <a:rPr lang="en-US" sz="4400"/>
              <a:t>Character Classes</a:t>
            </a:r>
            <a:endParaRPr sz="4400"/>
          </a:p>
        </p:txBody>
      </p:sp>
      <p:sp>
        <p:nvSpPr>
          <p:cNvPr id="69" name="Google Shape;69;p5"/>
          <p:cNvSpPr txBox="1"/>
          <p:nvPr/>
        </p:nvSpPr>
        <p:spPr>
          <a:xfrm>
            <a:off x="945500" y="1329175"/>
            <a:ext cx="10144200" cy="5076900"/>
          </a:xfrm>
          <a:prstGeom prst="rect">
            <a:avLst/>
          </a:prstGeom>
          <a:noFill/>
          <a:ln>
            <a:noFill/>
          </a:ln>
        </p:spPr>
        <p:txBody>
          <a:bodyPr spcFirstLastPara="1" wrap="square" lIns="0" tIns="43175" rIns="0" bIns="0" anchor="t" anchorCtr="0">
            <a:spAutoFit/>
          </a:bodyPr>
          <a:lstStyle/>
          <a:p>
            <a:pPr marL="0" marR="247015" lvl="0" indent="0" algn="just" rtl="0">
              <a:lnSpc>
                <a:spcPct val="100000"/>
              </a:lnSpc>
              <a:spcBef>
                <a:spcPts val="1000"/>
              </a:spcBef>
              <a:spcAft>
                <a:spcPts val="0"/>
              </a:spcAft>
              <a:buNone/>
            </a:pPr>
            <a:r>
              <a:rPr lang="en-US" sz="2100" b="1" dirty="0">
                <a:solidFill>
                  <a:schemeClr val="dk1"/>
                </a:solidFill>
                <a:latin typeface="Times New Roman"/>
                <a:ea typeface="Times New Roman"/>
                <a:cs typeface="Times New Roman"/>
                <a:sym typeface="Times New Roman"/>
              </a:rPr>
              <a:t>Characters are grouped by putting them between square brackets </a:t>
            </a:r>
            <a:r>
              <a:rPr lang="en-US" sz="2100" dirty="0">
                <a:solidFill>
                  <a:schemeClr val="dk1"/>
                </a:solidFill>
                <a:latin typeface="Times New Roman"/>
                <a:ea typeface="Times New Roman"/>
                <a:cs typeface="Times New Roman"/>
                <a:sym typeface="Times New Roman"/>
              </a:rPr>
              <a:t>.</a:t>
            </a:r>
            <a:endParaRPr sz="2100" dirty="0">
              <a:solidFill>
                <a:schemeClr val="dk1"/>
              </a:solidFill>
              <a:latin typeface="Times New Roman"/>
              <a:ea typeface="Times New Roman"/>
              <a:cs typeface="Times New Roman"/>
              <a:sym typeface="Times New Roman"/>
            </a:endParaRPr>
          </a:p>
          <a:p>
            <a:pPr marL="457200" marR="247015" lvl="0" indent="-361950" algn="just" rtl="0">
              <a:lnSpc>
                <a:spcPct val="100000"/>
              </a:lnSpc>
              <a:spcBef>
                <a:spcPts val="1000"/>
              </a:spcBef>
              <a:spcAft>
                <a:spcPts val="0"/>
              </a:spcAft>
              <a:buClr>
                <a:schemeClr val="dk1"/>
              </a:buClr>
              <a:buSzPts val="2100"/>
              <a:buFont typeface="Times New Roman"/>
              <a:buChar char="•"/>
            </a:pPr>
            <a:r>
              <a:rPr lang="en-US" sz="2100" dirty="0">
                <a:solidFill>
                  <a:schemeClr val="dk1"/>
                </a:solidFill>
                <a:latin typeface="Times New Roman"/>
                <a:ea typeface="Times New Roman"/>
                <a:cs typeface="Times New Roman"/>
                <a:sym typeface="Times New Roman"/>
              </a:rPr>
              <a:t>Any character in the class will  match one character in the input. </a:t>
            </a:r>
            <a:endParaRPr sz="2100" dirty="0">
              <a:solidFill>
                <a:schemeClr val="dk1"/>
              </a:solidFill>
              <a:latin typeface="Times New Roman"/>
              <a:ea typeface="Times New Roman"/>
              <a:cs typeface="Times New Roman"/>
              <a:sym typeface="Times New Roman"/>
            </a:endParaRPr>
          </a:p>
          <a:p>
            <a:pPr marL="457200" marR="247015" lvl="0" indent="-361950" algn="just" rtl="0">
              <a:lnSpc>
                <a:spcPct val="100000"/>
              </a:lnSpc>
              <a:spcBef>
                <a:spcPts val="1000"/>
              </a:spcBef>
              <a:spcAft>
                <a:spcPts val="0"/>
              </a:spcAft>
              <a:buClr>
                <a:schemeClr val="dk1"/>
              </a:buClr>
              <a:buSzPts val="2100"/>
              <a:buFont typeface="Times New Roman"/>
              <a:buChar char="•"/>
            </a:pPr>
            <a:r>
              <a:rPr lang="en-US" sz="2100" dirty="0">
                <a:solidFill>
                  <a:schemeClr val="dk1"/>
                </a:solidFill>
                <a:latin typeface="Times New Roman"/>
                <a:ea typeface="Times New Roman"/>
                <a:cs typeface="Times New Roman"/>
                <a:sym typeface="Times New Roman"/>
              </a:rPr>
              <a:t>For example, the pattern /[</a:t>
            </a:r>
            <a:r>
              <a:rPr lang="en-US" sz="2100" dirty="0" err="1">
                <a:solidFill>
                  <a:schemeClr val="dk1"/>
                </a:solidFill>
                <a:latin typeface="Times New Roman"/>
                <a:ea typeface="Times New Roman"/>
                <a:cs typeface="Times New Roman"/>
                <a:sym typeface="Times New Roman"/>
              </a:rPr>
              <a:t>abcd</a:t>
            </a:r>
            <a:r>
              <a:rPr lang="en-US" sz="2100" dirty="0">
                <a:solidFill>
                  <a:schemeClr val="dk1"/>
                </a:solidFill>
                <a:latin typeface="Times New Roman"/>
                <a:ea typeface="Times New Roman"/>
                <a:cs typeface="Times New Roman"/>
                <a:sym typeface="Times New Roman"/>
              </a:rPr>
              <a:t>]/ will match (any of) </a:t>
            </a:r>
            <a:r>
              <a:rPr lang="en-US" sz="2100" dirty="0" err="1">
                <a:solidFill>
                  <a:schemeClr val="dk1"/>
                </a:solidFill>
                <a:latin typeface="Times New Roman"/>
                <a:ea typeface="Times New Roman"/>
                <a:cs typeface="Times New Roman"/>
                <a:sym typeface="Times New Roman"/>
              </a:rPr>
              <a:t>a,b,c</a:t>
            </a:r>
            <a:r>
              <a:rPr lang="en-US" sz="2100" dirty="0">
                <a:solidFill>
                  <a:schemeClr val="dk1"/>
                </a:solidFill>
                <a:latin typeface="Times New Roman"/>
                <a:ea typeface="Times New Roman"/>
                <a:cs typeface="Times New Roman"/>
                <a:sym typeface="Times New Roman"/>
              </a:rPr>
              <a:t>, and d. </a:t>
            </a:r>
            <a:endParaRPr sz="2100" dirty="0">
              <a:solidFill>
                <a:schemeClr val="dk1"/>
              </a:solidFill>
              <a:latin typeface="Times New Roman"/>
              <a:ea typeface="Times New Roman"/>
              <a:cs typeface="Times New Roman"/>
              <a:sym typeface="Times New Roman"/>
            </a:endParaRPr>
          </a:p>
          <a:p>
            <a:pPr marL="457200" marR="247015" lvl="0" indent="-361950" algn="just" rtl="0">
              <a:lnSpc>
                <a:spcPct val="100000"/>
              </a:lnSpc>
              <a:spcBef>
                <a:spcPts val="1000"/>
              </a:spcBef>
              <a:spcAft>
                <a:spcPts val="0"/>
              </a:spcAft>
              <a:buClr>
                <a:schemeClr val="dk1"/>
              </a:buClr>
              <a:buSzPts val="2100"/>
              <a:buFont typeface="Times New Roman"/>
              <a:buChar char="•"/>
            </a:pPr>
            <a:r>
              <a:rPr lang="en-US" sz="2100" dirty="0">
                <a:solidFill>
                  <a:schemeClr val="dk1"/>
                </a:solidFill>
                <a:latin typeface="Times New Roman"/>
                <a:ea typeface="Times New Roman"/>
                <a:cs typeface="Times New Roman"/>
                <a:sym typeface="Times New Roman"/>
              </a:rPr>
              <a:t>The regular expression /[0123456789]/ specifies any single digit.</a:t>
            </a:r>
            <a:endParaRPr sz="2100" dirty="0">
              <a:solidFill>
                <a:schemeClr val="dk1"/>
              </a:solidFill>
              <a:latin typeface="Times New Roman"/>
              <a:ea typeface="Times New Roman"/>
              <a:cs typeface="Times New Roman"/>
              <a:sym typeface="Times New Roman"/>
            </a:endParaRPr>
          </a:p>
          <a:p>
            <a:pPr marL="0" marR="247015" lvl="0" indent="0" algn="just" rtl="0">
              <a:lnSpc>
                <a:spcPct val="100000"/>
              </a:lnSpc>
              <a:spcBef>
                <a:spcPts val="1000"/>
              </a:spcBef>
              <a:spcAft>
                <a:spcPts val="0"/>
              </a:spcAft>
              <a:buNone/>
            </a:pPr>
            <a:r>
              <a:rPr lang="en-US" sz="2100" b="1" dirty="0">
                <a:solidFill>
                  <a:schemeClr val="dk1"/>
                </a:solidFill>
                <a:latin typeface="Times New Roman"/>
                <a:ea typeface="Times New Roman"/>
                <a:cs typeface="Times New Roman"/>
                <a:sym typeface="Times New Roman"/>
              </a:rPr>
              <a:t>A dash (-)  is used to specify a range </a:t>
            </a:r>
            <a:endParaRPr sz="2100" b="1" dirty="0">
              <a:solidFill>
                <a:schemeClr val="dk1"/>
              </a:solidFill>
              <a:latin typeface="Times New Roman"/>
              <a:ea typeface="Times New Roman"/>
              <a:cs typeface="Times New Roman"/>
              <a:sym typeface="Times New Roman"/>
            </a:endParaRPr>
          </a:p>
          <a:p>
            <a:pPr marL="457200" marR="247015" lvl="0" indent="-361950" algn="just" rtl="0">
              <a:lnSpc>
                <a:spcPct val="100000"/>
              </a:lnSpc>
              <a:spcBef>
                <a:spcPts val="1000"/>
              </a:spcBef>
              <a:spcAft>
                <a:spcPts val="0"/>
              </a:spcAft>
              <a:buClr>
                <a:schemeClr val="dk1"/>
              </a:buClr>
              <a:buSzPts val="2100"/>
              <a:buFont typeface="Times New Roman"/>
              <a:buChar char="•"/>
            </a:pPr>
            <a:r>
              <a:rPr lang="en-US" sz="2100" dirty="0">
                <a:solidFill>
                  <a:schemeClr val="dk1"/>
                </a:solidFill>
                <a:latin typeface="Times New Roman"/>
                <a:ea typeface="Times New Roman"/>
                <a:cs typeface="Times New Roman"/>
                <a:sym typeface="Times New Roman"/>
              </a:rPr>
              <a:t>/[</a:t>
            </a:r>
            <a:r>
              <a:rPr lang="en-US" sz="2100" dirty="0" err="1">
                <a:solidFill>
                  <a:schemeClr val="dk1"/>
                </a:solidFill>
                <a:latin typeface="Times New Roman"/>
                <a:ea typeface="Times New Roman"/>
                <a:cs typeface="Times New Roman"/>
                <a:sym typeface="Times New Roman"/>
              </a:rPr>
              <a:t>abcdefghijklmnopqrstuvwxyz</a:t>
            </a:r>
            <a:r>
              <a:rPr lang="en-US" sz="2100" dirty="0">
                <a:solidFill>
                  <a:schemeClr val="dk1"/>
                </a:solidFill>
                <a:latin typeface="Times New Roman"/>
                <a:ea typeface="Times New Roman"/>
                <a:cs typeface="Times New Roman"/>
                <a:sym typeface="Times New Roman"/>
              </a:rPr>
              <a:t>]/ can be written as /[a-z]/ to specify any lower case letter.</a:t>
            </a:r>
            <a:endParaRPr sz="2100" dirty="0">
              <a:solidFill>
                <a:schemeClr val="dk1"/>
              </a:solidFill>
              <a:latin typeface="Times New Roman"/>
              <a:ea typeface="Times New Roman"/>
              <a:cs typeface="Times New Roman"/>
              <a:sym typeface="Times New Roman"/>
            </a:endParaRPr>
          </a:p>
          <a:p>
            <a:pPr marL="457200" marR="0" lvl="0" indent="-361950" algn="just" rtl="0">
              <a:lnSpc>
                <a:spcPct val="100000"/>
              </a:lnSpc>
              <a:spcBef>
                <a:spcPts val="1000"/>
              </a:spcBef>
              <a:spcAft>
                <a:spcPts val="0"/>
              </a:spcAft>
              <a:buClr>
                <a:schemeClr val="dk1"/>
              </a:buClr>
              <a:buSzPts val="2100"/>
              <a:buFont typeface="Times New Roman"/>
              <a:buChar char="•"/>
            </a:pPr>
            <a:r>
              <a:rPr lang="en-US" sz="2100" dirty="0">
                <a:solidFill>
                  <a:schemeClr val="dk1"/>
                </a:solidFill>
                <a:latin typeface="Times New Roman"/>
                <a:ea typeface="Times New Roman"/>
                <a:cs typeface="Times New Roman"/>
                <a:sym typeface="Times New Roman"/>
              </a:rPr>
              <a:t>/[m-p]/ specifies any one of the characters from m to p (m, n, o, or p)</a:t>
            </a:r>
            <a:endParaRPr sz="2100" dirty="0">
              <a:solidFill>
                <a:schemeClr val="dk1"/>
              </a:solidFill>
              <a:latin typeface="Times New Roman"/>
              <a:ea typeface="Times New Roman"/>
              <a:cs typeface="Times New Roman"/>
              <a:sym typeface="Times New Roman"/>
            </a:endParaRPr>
          </a:p>
          <a:p>
            <a:pPr marL="457200" marR="0" lvl="0" indent="-361950" algn="just" rtl="0">
              <a:lnSpc>
                <a:spcPct val="100000"/>
              </a:lnSpc>
              <a:spcBef>
                <a:spcPts val="1000"/>
              </a:spcBef>
              <a:spcAft>
                <a:spcPts val="0"/>
              </a:spcAft>
              <a:buClr>
                <a:schemeClr val="dk1"/>
              </a:buClr>
              <a:buSzPts val="2100"/>
              <a:buFont typeface="Times New Roman"/>
              <a:buChar char="•"/>
            </a:pPr>
            <a:r>
              <a:rPr lang="en-US" sz="2100" dirty="0">
                <a:solidFill>
                  <a:schemeClr val="dk1"/>
                </a:solidFill>
                <a:latin typeface="Times New Roman"/>
                <a:ea typeface="Times New Roman"/>
                <a:cs typeface="Times New Roman"/>
                <a:sym typeface="Times New Roman"/>
              </a:rPr>
              <a:t>/[5-9]/ specifies any on of the characters 5, 6, 7, 8, or 9</a:t>
            </a:r>
            <a:endParaRPr sz="2100" dirty="0">
              <a:solidFill>
                <a:schemeClr val="dk1"/>
              </a:solidFill>
              <a:latin typeface="Times New Roman"/>
              <a:ea typeface="Times New Roman"/>
              <a:cs typeface="Times New Roman"/>
              <a:sym typeface="Times New Roman"/>
            </a:endParaRPr>
          </a:p>
          <a:p>
            <a:pPr marL="0" marR="0" lvl="0" indent="0" algn="just" rtl="0">
              <a:lnSpc>
                <a:spcPct val="100000"/>
              </a:lnSpc>
              <a:spcBef>
                <a:spcPts val="1000"/>
              </a:spcBef>
              <a:spcAft>
                <a:spcPts val="0"/>
              </a:spcAft>
              <a:buNone/>
            </a:pPr>
            <a:r>
              <a:rPr lang="en-US" sz="2100" b="1" dirty="0">
                <a:solidFill>
                  <a:schemeClr val="dk1"/>
                </a:solidFill>
                <a:latin typeface="Times New Roman"/>
                <a:ea typeface="Times New Roman"/>
                <a:cs typeface="Times New Roman"/>
                <a:sym typeface="Times New Roman"/>
              </a:rPr>
              <a:t>Regular Expression can also specify what a single character cannot be, by the use of a caret at the beginning.</a:t>
            </a:r>
            <a:endParaRPr sz="2100" b="1" dirty="0">
              <a:solidFill>
                <a:schemeClr val="dk1"/>
              </a:solidFill>
              <a:latin typeface="Times New Roman"/>
              <a:ea typeface="Times New Roman"/>
              <a:cs typeface="Times New Roman"/>
              <a:sym typeface="Times New Roman"/>
            </a:endParaRPr>
          </a:p>
          <a:p>
            <a:pPr marL="457200" marR="0" lvl="0" indent="-361950" algn="just" rtl="0">
              <a:lnSpc>
                <a:spcPct val="100000"/>
              </a:lnSpc>
              <a:spcBef>
                <a:spcPts val="1000"/>
              </a:spcBef>
              <a:spcAft>
                <a:spcPts val="0"/>
              </a:spcAft>
              <a:buClr>
                <a:schemeClr val="dk1"/>
              </a:buClr>
              <a:buSzPts val="2100"/>
              <a:buFont typeface="Times New Roman"/>
              <a:buChar char="•"/>
            </a:pPr>
            <a:r>
              <a:rPr lang="en-US" sz="2100" dirty="0">
                <a:solidFill>
                  <a:schemeClr val="dk1"/>
                </a:solidFill>
                <a:latin typeface="Times New Roman"/>
                <a:ea typeface="Times New Roman"/>
                <a:cs typeface="Times New Roman"/>
                <a:sym typeface="Times New Roman"/>
              </a:rPr>
              <a:t>/[^ x]/ matches any single character except x. </a:t>
            </a:r>
            <a:endParaRPr sz="2100" dirty="0">
              <a:solidFill>
                <a:schemeClr val="dk1"/>
              </a:solidFill>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Shape 73"/>
        <p:cNvGrpSpPr/>
        <p:nvPr/>
      </p:nvGrpSpPr>
      <p:grpSpPr>
        <a:xfrm>
          <a:off x="0" y="0"/>
          <a:ext cx="0" cy="0"/>
          <a:chOff x="0" y="0"/>
          <a:chExt cx="0" cy="0"/>
        </a:xfrm>
      </p:grpSpPr>
      <p:sp>
        <p:nvSpPr>
          <p:cNvPr id="74" name="Google Shape;74;p6"/>
          <p:cNvSpPr txBox="1">
            <a:spLocks noGrp="1"/>
          </p:cNvSpPr>
          <p:nvPr>
            <p:ph type="title"/>
          </p:nvPr>
        </p:nvSpPr>
        <p:spPr>
          <a:xfrm>
            <a:off x="911225" y="639172"/>
            <a:ext cx="4731300" cy="690000"/>
          </a:xfrm>
          <a:prstGeom prst="rect">
            <a:avLst/>
          </a:prstGeom>
          <a:noFill/>
          <a:ln>
            <a:noFill/>
          </a:ln>
        </p:spPr>
        <p:txBody>
          <a:bodyPr spcFirstLastPara="1" wrap="square" lIns="0" tIns="12700" rIns="0" bIns="0" anchor="t" anchorCtr="0">
            <a:spAutoFit/>
          </a:bodyPr>
          <a:lstStyle/>
          <a:p>
            <a:pPr marL="0" lvl="0" indent="0" algn="l" rtl="0">
              <a:lnSpc>
                <a:spcPct val="100000"/>
              </a:lnSpc>
              <a:spcBef>
                <a:spcPts val="0"/>
              </a:spcBef>
              <a:spcAft>
                <a:spcPts val="0"/>
              </a:spcAft>
              <a:buNone/>
            </a:pPr>
            <a:r>
              <a:rPr lang="en-US" sz="4400"/>
              <a:t>Character Classes</a:t>
            </a:r>
            <a:endParaRPr sz="4400"/>
          </a:p>
        </p:txBody>
      </p:sp>
      <p:pic>
        <p:nvPicPr>
          <p:cNvPr id="75" name="Google Shape;75;p6"/>
          <p:cNvPicPr preferRelativeResize="0"/>
          <p:nvPr/>
        </p:nvPicPr>
        <p:blipFill>
          <a:blip r:embed="rId3">
            <a:alphaModFix/>
          </a:blip>
          <a:stretch>
            <a:fillRect/>
          </a:stretch>
        </p:blipFill>
        <p:spPr>
          <a:xfrm>
            <a:off x="492050" y="1637375"/>
            <a:ext cx="11488400" cy="506822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Shape 79"/>
        <p:cNvGrpSpPr/>
        <p:nvPr/>
      </p:nvGrpSpPr>
      <p:grpSpPr>
        <a:xfrm>
          <a:off x="0" y="0"/>
          <a:ext cx="0" cy="0"/>
          <a:chOff x="0" y="0"/>
          <a:chExt cx="0" cy="0"/>
        </a:xfrm>
      </p:grpSpPr>
      <p:sp>
        <p:nvSpPr>
          <p:cNvPr id="80" name="Google Shape;80;p7"/>
          <p:cNvSpPr txBox="1">
            <a:spLocks noGrp="1"/>
          </p:cNvSpPr>
          <p:nvPr>
            <p:ph type="title"/>
          </p:nvPr>
        </p:nvSpPr>
        <p:spPr>
          <a:xfrm>
            <a:off x="939450" y="399800"/>
            <a:ext cx="10077300" cy="628500"/>
          </a:xfrm>
          <a:prstGeom prst="rect">
            <a:avLst/>
          </a:prstGeom>
          <a:noFill/>
          <a:ln>
            <a:noFill/>
          </a:ln>
        </p:spPr>
        <p:txBody>
          <a:bodyPr spcFirstLastPara="1" wrap="square" lIns="0" tIns="12700" rIns="0" bIns="0" anchor="t" anchorCtr="0">
            <a:spAutoFit/>
          </a:bodyPr>
          <a:lstStyle/>
          <a:p>
            <a:pPr marL="12700" lvl="0" indent="0" algn="ctr" rtl="0">
              <a:lnSpc>
                <a:spcPct val="100000"/>
              </a:lnSpc>
              <a:spcBef>
                <a:spcPts val="0"/>
              </a:spcBef>
              <a:spcAft>
                <a:spcPts val="0"/>
              </a:spcAft>
              <a:buNone/>
            </a:pPr>
            <a:r>
              <a:rPr lang="en-US" sz="4000"/>
              <a:t>Character Classes</a:t>
            </a:r>
            <a:endParaRPr sz="4000"/>
          </a:p>
        </p:txBody>
      </p:sp>
      <p:sp>
        <p:nvSpPr>
          <p:cNvPr id="81" name="Google Shape;81;p7"/>
          <p:cNvSpPr txBox="1"/>
          <p:nvPr/>
        </p:nvSpPr>
        <p:spPr>
          <a:xfrm>
            <a:off x="891575" y="1028301"/>
            <a:ext cx="9614400" cy="5766300"/>
          </a:xfrm>
          <a:prstGeom prst="rect">
            <a:avLst/>
          </a:prstGeom>
          <a:noFill/>
          <a:ln>
            <a:noFill/>
          </a:ln>
        </p:spPr>
        <p:txBody>
          <a:bodyPr spcFirstLastPara="1" wrap="square" lIns="0" tIns="87625" rIns="0" bIns="0" anchor="t" anchorCtr="0">
            <a:spAutoFit/>
          </a:bodyPr>
          <a:lstStyle/>
          <a:p>
            <a:pPr marL="0" marR="0" lvl="0" indent="0" algn="just" rtl="0">
              <a:lnSpc>
                <a:spcPct val="100000"/>
              </a:lnSpc>
              <a:spcBef>
                <a:spcPts val="0"/>
              </a:spcBef>
              <a:spcAft>
                <a:spcPts val="0"/>
              </a:spcAft>
              <a:buNone/>
            </a:pPr>
            <a:r>
              <a:rPr lang="en-US" sz="1850" b="1" dirty="0">
                <a:solidFill>
                  <a:schemeClr val="dk1"/>
                </a:solidFill>
                <a:latin typeface="Times New Roman"/>
                <a:ea typeface="Times New Roman"/>
                <a:cs typeface="Times New Roman"/>
                <a:sym typeface="Times New Roman"/>
              </a:rPr>
              <a:t>Regular expressions are case sensitive</a:t>
            </a:r>
            <a:endParaRPr sz="1850" b="1" dirty="0">
              <a:solidFill>
                <a:schemeClr val="dk1"/>
              </a:solidFill>
              <a:latin typeface="Times New Roman"/>
              <a:ea typeface="Times New Roman"/>
              <a:cs typeface="Times New Roman"/>
              <a:sym typeface="Times New Roman"/>
            </a:endParaRPr>
          </a:p>
          <a:p>
            <a:pPr marL="457200" marR="0" lvl="0" indent="-346075" algn="just" rtl="0">
              <a:lnSpc>
                <a:spcPct val="100000"/>
              </a:lnSpc>
              <a:spcBef>
                <a:spcPts val="0"/>
              </a:spcBef>
              <a:spcAft>
                <a:spcPts val="0"/>
              </a:spcAft>
              <a:buClr>
                <a:schemeClr val="dk1"/>
              </a:buClr>
              <a:buSzPts val="1850"/>
              <a:buFont typeface="Times New Roman"/>
              <a:buChar char="●"/>
            </a:pPr>
            <a:r>
              <a:rPr lang="en-US" sz="1850" dirty="0">
                <a:solidFill>
                  <a:schemeClr val="dk1"/>
                </a:solidFill>
                <a:latin typeface="Times New Roman"/>
                <a:ea typeface="Times New Roman"/>
                <a:cs typeface="Times New Roman"/>
                <a:sym typeface="Times New Roman"/>
              </a:rPr>
              <a:t>The pattern /s/ matches a lower case ‘s’ but not an uppercase ‘S’.</a:t>
            </a:r>
            <a:endParaRPr sz="1850" dirty="0">
              <a:solidFill>
                <a:schemeClr val="dk1"/>
              </a:solidFill>
              <a:latin typeface="Times New Roman"/>
              <a:ea typeface="Times New Roman"/>
              <a:cs typeface="Times New Roman"/>
              <a:sym typeface="Times New Roman"/>
            </a:endParaRPr>
          </a:p>
          <a:p>
            <a:pPr marL="457200" marR="0" lvl="0" indent="-346075" algn="just" rtl="0">
              <a:lnSpc>
                <a:spcPct val="100000"/>
              </a:lnSpc>
              <a:spcBef>
                <a:spcPts val="0"/>
              </a:spcBef>
              <a:spcAft>
                <a:spcPts val="0"/>
              </a:spcAft>
              <a:buClr>
                <a:schemeClr val="dk1"/>
              </a:buClr>
              <a:buSzPts val="1850"/>
              <a:buFont typeface="Times New Roman"/>
              <a:buChar char="●"/>
            </a:pPr>
            <a:r>
              <a:rPr lang="en-US" sz="1850" dirty="0">
                <a:solidFill>
                  <a:schemeClr val="dk1"/>
                </a:solidFill>
                <a:latin typeface="Times New Roman"/>
                <a:ea typeface="Times New Roman"/>
                <a:cs typeface="Times New Roman"/>
                <a:sym typeface="Times New Roman"/>
              </a:rPr>
              <a:t>The pattern /</a:t>
            </a:r>
            <a:r>
              <a:rPr lang="en-US" sz="1850" dirty="0" err="1">
                <a:solidFill>
                  <a:schemeClr val="dk1"/>
                </a:solidFill>
                <a:latin typeface="Times New Roman"/>
                <a:ea typeface="Times New Roman"/>
                <a:cs typeface="Times New Roman"/>
                <a:sym typeface="Times New Roman"/>
              </a:rPr>
              <a:t>sana</a:t>
            </a:r>
            <a:r>
              <a:rPr lang="en-US" sz="1850" dirty="0">
                <a:solidFill>
                  <a:schemeClr val="dk1"/>
                </a:solidFill>
                <a:latin typeface="Times New Roman"/>
                <a:ea typeface="Times New Roman"/>
                <a:cs typeface="Times New Roman"/>
                <a:sym typeface="Times New Roman"/>
              </a:rPr>
              <a:t>/  will not match the string /Sana/</a:t>
            </a:r>
            <a:endParaRPr sz="1850" dirty="0">
              <a:solidFill>
                <a:schemeClr val="dk1"/>
              </a:solidFill>
              <a:latin typeface="Times New Roman"/>
              <a:ea typeface="Times New Roman"/>
              <a:cs typeface="Times New Roman"/>
              <a:sym typeface="Times New Roman"/>
            </a:endParaRPr>
          </a:p>
          <a:p>
            <a:pPr marL="457200" marR="0" lvl="0" indent="-346075" algn="just" rtl="0">
              <a:lnSpc>
                <a:spcPct val="100000"/>
              </a:lnSpc>
              <a:spcBef>
                <a:spcPts val="0"/>
              </a:spcBef>
              <a:spcAft>
                <a:spcPts val="0"/>
              </a:spcAft>
              <a:buClr>
                <a:schemeClr val="dk1"/>
              </a:buClr>
              <a:buSzPts val="1850"/>
              <a:buFont typeface="Times New Roman"/>
              <a:buChar char="●"/>
            </a:pPr>
            <a:r>
              <a:rPr lang="en-US" sz="1850" dirty="0">
                <a:solidFill>
                  <a:schemeClr val="dk1"/>
                </a:solidFill>
                <a:latin typeface="Times New Roman"/>
                <a:ea typeface="Times New Roman"/>
                <a:cs typeface="Times New Roman"/>
                <a:sym typeface="Times New Roman"/>
              </a:rPr>
              <a:t>The problem is solved by using the disjunction of character s and S.</a:t>
            </a:r>
            <a:endParaRPr sz="1850" dirty="0">
              <a:solidFill>
                <a:schemeClr val="dk1"/>
              </a:solidFill>
              <a:latin typeface="Times New Roman"/>
              <a:ea typeface="Times New Roman"/>
              <a:cs typeface="Times New Roman"/>
              <a:sym typeface="Times New Roman"/>
            </a:endParaRPr>
          </a:p>
          <a:p>
            <a:pPr marL="457200" marR="0" lvl="0" indent="-346075" algn="just" rtl="0">
              <a:lnSpc>
                <a:spcPct val="100000"/>
              </a:lnSpc>
              <a:spcBef>
                <a:spcPts val="0"/>
              </a:spcBef>
              <a:spcAft>
                <a:spcPts val="0"/>
              </a:spcAft>
              <a:buClr>
                <a:schemeClr val="dk1"/>
              </a:buClr>
              <a:buSzPts val="1850"/>
              <a:buFont typeface="Times New Roman"/>
              <a:buChar char="●"/>
            </a:pPr>
            <a:r>
              <a:rPr lang="en-US" sz="1850" dirty="0">
                <a:solidFill>
                  <a:schemeClr val="dk1"/>
                </a:solidFill>
                <a:latin typeface="Times New Roman"/>
                <a:ea typeface="Times New Roman"/>
                <a:cs typeface="Times New Roman"/>
                <a:sym typeface="Times New Roman"/>
              </a:rPr>
              <a:t>The pattern /[</a:t>
            </a:r>
            <a:r>
              <a:rPr lang="en-US" sz="1850" dirty="0" err="1">
                <a:solidFill>
                  <a:schemeClr val="dk1"/>
                </a:solidFill>
                <a:latin typeface="Times New Roman"/>
                <a:ea typeface="Times New Roman"/>
                <a:cs typeface="Times New Roman"/>
                <a:sym typeface="Times New Roman"/>
              </a:rPr>
              <a:t>sS</a:t>
            </a:r>
            <a:r>
              <a:rPr lang="en-US" sz="1850" dirty="0">
                <a:solidFill>
                  <a:schemeClr val="dk1"/>
                </a:solidFill>
                <a:latin typeface="Times New Roman"/>
                <a:ea typeface="Times New Roman"/>
                <a:cs typeface="Times New Roman"/>
                <a:sym typeface="Times New Roman"/>
              </a:rPr>
              <a:t>]</a:t>
            </a:r>
            <a:r>
              <a:rPr lang="en-US" sz="1650" dirty="0" err="1">
                <a:solidFill>
                  <a:schemeClr val="dk1"/>
                </a:solidFill>
                <a:latin typeface="Times New Roman"/>
                <a:ea typeface="Times New Roman"/>
                <a:cs typeface="Times New Roman"/>
                <a:sym typeface="Times New Roman"/>
              </a:rPr>
              <a:t>ana</a:t>
            </a:r>
            <a:r>
              <a:rPr lang="en-US" sz="1650" dirty="0">
                <a:solidFill>
                  <a:schemeClr val="dk1"/>
                </a:solidFill>
                <a:latin typeface="Times New Roman"/>
                <a:ea typeface="Times New Roman"/>
                <a:cs typeface="Times New Roman"/>
                <a:sym typeface="Times New Roman"/>
              </a:rPr>
              <a:t>/  matches both the string  ‘</a:t>
            </a:r>
            <a:r>
              <a:rPr lang="en-US" sz="1650" dirty="0" err="1">
                <a:solidFill>
                  <a:schemeClr val="dk1"/>
                </a:solidFill>
                <a:latin typeface="Times New Roman"/>
                <a:ea typeface="Times New Roman"/>
                <a:cs typeface="Times New Roman"/>
                <a:sym typeface="Times New Roman"/>
              </a:rPr>
              <a:t>sana</a:t>
            </a:r>
            <a:r>
              <a:rPr lang="en-US" sz="1650" dirty="0">
                <a:solidFill>
                  <a:schemeClr val="dk1"/>
                </a:solidFill>
                <a:latin typeface="Times New Roman"/>
                <a:ea typeface="Times New Roman"/>
                <a:cs typeface="Times New Roman"/>
                <a:sym typeface="Times New Roman"/>
              </a:rPr>
              <a:t>’ or ‘Sana’.</a:t>
            </a:r>
            <a:endParaRPr sz="1650" dirty="0">
              <a:solidFill>
                <a:schemeClr val="dk1"/>
              </a:solidFill>
              <a:latin typeface="Times New Roman"/>
              <a:ea typeface="Times New Roman"/>
              <a:cs typeface="Times New Roman"/>
              <a:sym typeface="Times New Roman"/>
            </a:endParaRPr>
          </a:p>
          <a:p>
            <a:pPr marL="457200" marR="0" lvl="0" indent="-333375" algn="just" rtl="0">
              <a:lnSpc>
                <a:spcPct val="100000"/>
              </a:lnSpc>
              <a:spcBef>
                <a:spcPts val="0"/>
              </a:spcBef>
              <a:spcAft>
                <a:spcPts val="0"/>
              </a:spcAft>
              <a:buClr>
                <a:schemeClr val="dk1"/>
              </a:buClr>
              <a:buSzPts val="1650"/>
              <a:buFont typeface="Times New Roman"/>
              <a:buChar char="●"/>
            </a:pPr>
            <a:r>
              <a:rPr lang="en-US" sz="1650" dirty="0">
                <a:solidFill>
                  <a:schemeClr val="dk1"/>
                </a:solidFill>
                <a:latin typeface="Times New Roman"/>
                <a:ea typeface="Times New Roman"/>
                <a:cs typeface="Times New Roman"/>
                <a:sym typeface="Times New Roman"/>
              </a:rPr>
              <a:t>The pattern /[</a:t>
            </a:r>
            <a:r>
              <a:rPr lang="en-US" sz="1650" dirty="0" err="1">
                <a:solidFill>
                  <a:schemeClr val="dk1"/>
                </a:solidFill>
                <a:latin typeface="Times New Roman"/>
                <a:ea typeface="Times New Roman"/>
                <a:cs typeface="Times New Roman"/>
                <a:sym typeface="Times New Roman"/>
              </a:rPr>
              <a:t>sS</a:t>
            </a:r>
            <a:r>
              <a:rPr lang="en-US" sz="1650" dirty="0">
                <a:solidFill>
                  <a:schemeClr val="dk1"/>
                </a:solidFill>
                <a:latin typeface="Times New Roman"/>
                <a:ea typeface="Times New Roman"/>
                <a:cs typeface="Times New Roman"/>
                <a:sym typeface="Times New Roman"/>
              </a:rPr>
              <a:t>]</a:t>
            </a:r>
            <a:r>
              <a:rPr lang="en-US" sz="1650" dirty="0" err="1">
                <a:solidFill>
                  <a:schemeClr val="dk1"/>
                </a:solidFill>
                <a:latin typeface="Times New Roman"/>
                <a:ea typeface="Times New Roman"/>
                <a:cs typeface="Times New Roman"/>
                <a:sym typeface="Times New Roman"/>
              </a:rPr>
              <a:t>upernova</a:t>
            </a:r>
            <a:r>
              <a:rPr lang="en-US" sz="1650" dirty="0">
                <a:solidFill>
                  <a:schemeClr val="dk1"/>
                </a:solidFill>
                <a:latin typeface="Times New Roman"/>
                <a:ea typeface="Times New Roman"/>
                <a:cs typeface="Times New Roman"/>
                <a:sym typeface="Times New Roman"/>
              </a:rPr>
              <a:t>[</a:t>
            </a:r>
            <a:r>
              <a:rPr lang="en-US" sz="1650" dirty="0" err="1">
                <a:solidFill>
                  <a:schemeClr val="dk1"/>
                </a:solidFill>
                <a:latin typeface="Times New Roman"/>
                <a:ea typeface="Times New Roman"/>
                <a:cs typeface="Times New Roman"/>
                <a:sym typeface="Times New Roman"/>
              </a:rPr>
              <a:t>sS</a:t>
            </a:r>
            <a:r>
              <a:rPr lang="en-US" sz="1650" dirty="0">
                <a:solidFill>
                  <a:schemeClr val="dk1"/>
                </a:solidFill>
                <a:latin typeface="Times New Roman"/>
                <a:ea typeface="Times New Roman"/>
                <a:cs typeface="Times New Roman"/>
                <a:sym typeface="Times New Roman"/>
              </a:rPr>
              <a:t>]/ matches ‘supernovas’  ‘Supernovas’ ‘</a:t>
            </a:r>
            <a:r>
              <a:rPr lang="en-US" sz="1650" dirty="0" err="1">
                <a:solidFill>
                  <a:schemeClr val="dk1"/>
                </a:solidFill>
                <a:latin typeface="Times New Roman"/>
                <a:ea typeface="Times New Roman"/>
                <a:cs typeface="Times New Roman"/>
                <a:sym typeface="Times New Roman"/>
              </a:rPr>
              <a:t>supernovaS</a:t>
            </a:r>
            <a:r>
              <a:rPr lang="en-US" sz="1650" dirty="0">
                <a:solidFill>
                  <a:schemeClr val="dk1"/>
                </a:solidFill>
                <a:latin typeface="Times New Roman"/>
                <a:ea typeface="Times New Roman"/>
                <a:cs typeface="Times New Roman"/>
                <a:sym typeface="Times New Roman"/>
              </a:rPr>
              <a:t>’ ‘</a:t>
            </a:r>
            <a:r>
              <a:rPr lang="en-US" sz="1650" dirty="0" err="1">
                <a:solidFill>
                  <a:schemeClr val="dk1"/>
                </a:solidFill>
                <a:latin typeface="Times New Roman"/>
                <a:ea typeface="Times New Roman"/>
                <a:cs typeface="Times New Roman"/>
                <a:sym typeface="Times New Roman"/>
              </a:rPr>
              <a:t>SupernovaS</a:t>
            </a:r>
            <a:r>
              <a:rPr lang="en-US" sz="1650" dirty="0">
                <a:solidFill>
                  <a:schemeClr val="dk1"/>
                </a:solidFill>
                <a:latin typeface="Times New Roman"/>
                <a:ea typeface="Times New Roman"/>
                <a:cs typeface="Times New Roman"/>
                <a:sym typeface="Times New Roman"/>
              </a:rPr>
              <a:t>’ but not the string ‘supernova’. This is solved with the use of a question mark /?/.</a:t>
            </a:r>
            <a:endParaRPr sz="1650" dirty="0">
              <a:solidFill>
                <a:schemeClr val="dk1"/>
              </a:solidFill>
              <a:latin typeface="Times New Roman"/>
              <a:ea typeface="Times New Roman"/>
              <a:cs typeface="Times New Roman"/>
              <a:sym typeface="Times New Roman"/>
            </a:endParaRPr>
          </a:p>
          <a:p>
            <a:pPr marL="0" marR="0" lvl="0" indent="0" algn="just" rtl="0">
              <a:lnSpc>
                <a:spcPct val="100000"/>
              </a:lnSpc>
              <a:spcBef>
                <a:spcPts val="705"/>
              </a:spcBef>
              <a:spcAft>
                <a:spcPts val="0"/>
              </a:spcAft>
              <a:buNone/>
            </a:pPr>
            <a:r>
              <a:rPr lang="en-US" sz="1650" b="1" dirty="0">
                <a:solidFill>
                  <a:schemeClr val="dk1"/>
                </a:solidFill>
                <a:highlight>
                  <a:srgbClr val="00FFFF"/>
                </a:highlight>
                <a:latin typeface="Times New Roman"/>
                <a:ea typeface="Times New Roman"/>
                <a:cs typeface="Times New Roman"/>
                <a:sym typeface="Times New Roman"/>
              </a:rPr>
              <a:t>A Question mark (?) </a:t>
            </a:r>
            <a:r>
              <a:rPr lang="en-US" sz="1850" b="1" dirty="0">
                <a:solidFill>
                  <a:schemeClr val="dk1"/>
                </a:solidFill>
                <a:highlight>
                  <a:srgbClr val="00FFFF"/>
                </a:highlight>
                <a:latin typeface="Times New Roman"/>
                <a:ea typeface="Times New Roman"/>
                <a:cs typeface="Times New Roman"/>
                <a:sym typeface="Times New Roman"/>
              </a:rPr>
              <a:t>makes the preceding character optional, </a:t>
            </a:r>
            <a:r>
              <a:rPr lang="en-US" sz="1850" b="1" dirty="0" err="1">
                <a:solidFill>
                  <a:schemeClr val="dk1"/>
                </a:solidFill>
                <a:highlight>
                  <a:srgbClr val="00FFFF"/>
                </a:highlight>
                <a:latin typeface="Times New Roman"/>
                <a:ea typeface="Times New Roman"/>
                <a:cs typeface="Times New Roman"/>
                <a:sym typeface="Times New Roman"/>
              </a:rPr>
              <a:t>ie</a:t>
            </a:r>
            <a:r>
              <a:rPr lang="en-US" sz="1850" b="1" dirty="0">
                <a:solidFill>
                  <a:schemeClr val="dk1"/>
                </a:solidFill>
                <a:highlight>
                  <a:srgbClr val="00FFFF"/>
                </a:highlight>
                <a:latin typeface="Times New Roman"/>
                <a:ea typeface="Times New Roman"/>
                <a:cs typeface="Times New Roman"/>
                <a:sym typeface="Times New Roman"/>
              </a:rPr>
              <a:t>. zero or one occurrence of the previous character.</a:t>
            </a:r>
            <a:endParaRPr sz="1850" b="1" dirty="0">
              <a:solidFill>
                <a:schemeClr val="dk1"/>
              </a:solidFill>
              <a:highlight>
                <a:srgbClr val="00FFFF"/>
              </a:highlight>
              <a:latin typeface="Times New Roman"/>
              <a:ea typeface="Times New Roman"/>
              <a:cs typeface="Times New Roman"/>
              <a:sym typeface="Times New Roman"/>
            </a:endParaRPr>
          </a:p>
          <a:p>
            <a:pPr marL="457200" marR="0" lvl="0" indent="-346075" algn="just" rtl="0">
              <a:lnSpc>
                <a:spcPct val="100000"/>
              </a:lnSpc>
              <a:spcBef>
                <a:spcPts val="570"/>
              </a:spcBef>
              <a:spcAft>
                <a:spcPts val="0"/>
              </a:spcAft>
              <a:buClr>
                <a:schemeClr val="dk1"/>
              </a:buClr>
              <a:buSzPts val="1850"/>
              <a:buFont typeface="Times New Roman"/>
              <a:buChar char="•"/>
            </a:pPr>
            <a:r>
              <a:rPr lang="en-US" sz="1850" dirty="0">
                <a:solidFill>
                  <a:schemeClr val="dk1"/>
                </a:solidFill>
                <a:latin typeface="Times New Roman"/>
                <a:ea typeface="Times New Roman"/>
                <a:cs typeface="Times New Roman"/>
                <a:sym typeface="Times New Roman"/>
              </a:rPr>
              <a:t>The regular expression /supernovas?/ matches both supernova and supernovas</a:t>
            </a:r>
            <a:endParaRPr sz="1850" dirty="0">
              <a:solidFill>
                <a:schemeClr val="dk1"/>
              </a:solidFill>
              <a:latin typeface="Times New Roman"/>
              <a:ea typeface="Times New Roman"/>
              <a:cs typeface="Times New Roman"/>
              <a:sym typeface="Times New Roman"/>
            </a:endParaRPr>
          </a:p>
          <a:p>
            <a:pPr marL="0" marR="0" lvl="0" indent="0" algn="just" rtl="0">
              <a:lnSpc>
                <a:spcPct val="100000"/>
              </a:lnSpc>
              <a:spcBef>
                <a:spcPts val="645"/>
              </a:spcBef>
              <a:spcAft>
                <a:spcPts val="0"/>
              </a:spcAft>
              <a:buNone/>
            </a:pPr>
            <a:r>
              <a:rPr lang="en-US" sz="1850" b="1" dirty="0">
                <a:solidFill>
                  <a:schemeClr val="dk1"/>
                </a:solidFill>
                <a:highlight>
                  <a:schemeClr val="lt1"/>
                </a:highlight>
                <a:latin typeface="Times New Roman"/>
                <a:ea typeface="Times New Roman"/>
                <a:cs typeface="Times New Roman"/>
                <a:sym typeface="Times New Roman"/>
              </a:rPr>
              <a:t>To specify rep</a:t>
            </a:r>
            <a:r>
              <a:rPr lang="en-US" sz="1850" b="1" dirty="0">
                <a:solidFill>
                  <a:schemeClr val="dk1"/>
                </a:solidFill>
                <a:latin typeface="Times New Roman"/>
                <a:ea typeface="Times New Roman"/>
                <a:cs typeface="Times New Roman"/>
                <a:sym typeface="Times New Roman"/>
              </a:rPr>
              <a:t>eated occurrences of a character the * operator called the </a:t>
            </a:r>
            <a:r>
              <a:rPr lang="en-US" sz="1850" b="1" dirty="0">
                <a:solidFill>
                  <a:schemeClr val="dk1"/>
                </a:solidFill>
                <a:highlight>
                  <a:srgbClr val="FFFF00"/>
                </a:highlight>
                <a:latin typeface="Times New Roman"/>
                <a:ea typeface="Times New Roman"/>
                <a:cs typeface="Times New Roman"/>
                <a:sym typeface="Times New Roman"/>
              </a:rPr>
              <a:t>Kleene *</a:t>
            </a:r>
            <a:r>
              <a:rPr lang="en-US" sz="1850" b="1" dirty="0">
                <a:solidFill>
                  <a:schemeClr val="dk1"/>
                </a:solidFill>
                <a:latin typeface="Times New Roman"/>
                <a:ea typeface="Times New Roman"/>
                <a:cs typeface="Times New Roman"/>
                <a:sym typeface="Times New Roman"/>
              </a:rPr>
              <a:t> (pronounced as </a:t>
            </a:r>
            <a:r>
              <a:rPr lang="en-US" sz="1850" b="1" dirty="0" err="1">
                <a:solidFill>
                  <a:schemeClr val="dk1"/>
                </a:solidFill>
                <a:latin typeface="Times New Roman"/>
                <a:ea typeface="Times New Roman"/>
                <a:cs typeface="Times New Roman"/>
                <a:sym typeface="Times New Roman"/>
              </a:rPr>
              <a:t>cleany</a:t>
            </a:r>
            <a:r>
              <a:rPr lang="en-US" sz="1850" b="1" dirty="0">
                <a:solidFill>
                  <a:schemeClr val="dk1"/>
                </a:solidFill>
                <a:latin typeface="Times New Roman"/>
                <a:ea typeface="Times New Roman"/>
                <a:cs typeface="Times New Roman"/>
                <a:sym typeface="Times New Roman"/>
              </a:rPr>
              <a:t> star) is used</a:t>
            </a:r>
            <a:r>
              <a:rPr lang="en-US" sz="1850" dirty="0">
                <a:solidFill>
                  <a:schemeClr val="dk1"/>
                </a:solidFill>
                <a:latin typeface="Times New Roman"/>
                <a:ea typeface="Times New Roman"/>
                <a:cs typeface="Times New Roman"/>
                <a:sym typeface="Times New Roman"/>
              </a:rPr>
              <a:t>. </a:t>
            </a:r>
            <a:endParaRPr sz="1850" dirty="0">
              <a:solidFill>
                <a:schemeClr val="dk1"/>
              </a:solidFill>
              <a:latin typeface="Times New Roman"/>
              <a:ea typeface="Times New Roman"/>
              <a:cs typeface="Times New Roman"/>
              <a:sym typeface="Times New Roman"/>
            </a:endParaRPr>
          </a:p>
          <a:p>
            <a:pPr marL="457200" marR="0" lvl="0" indent="-346075" algn="just" rtl="0">
              <a:lnSpc>
                <a:spcPct val="100000"/>
              </a:lnSpc>
              <a:spcBef>
                <a:spcPts val="645"/>
              </a:spcBef>
              <a:spcAft>
                <a:spcPts val="0"/>
              </a:spcAft>
              <a:buClr>
                <a:schemeClr val="dk1"/>
              </a:buClr>
              <a:buSzPts val="1850"/>
              <a:buFont typeface="Times New Roman"/>
              <a:buChar char="•"/>
            </a:pPr>
            <a:r>
              <a:rPr lang="en-US" sz="1850" dirty="0">
                <a:solidFill>
                  <a:schemeClr val="dk1"/>
                </a:solidFill>
                <a:highlight>
                  <a:srgbClr val="00FFFF"/>
                </a:highlight>
                <a:latin typeface="Times New Roman"/>
                <a:ea typeface="Times New Roman"/>
                <a:cs typeface="Times New Roman"/>
                <a:sym typeface="Times New Roman"/>
              </a:rPr>
              <a:t>The * operator specifies zero or more occurrences of a preceding character or regular expression.</a:t>
            </a:r>
            <a:endParaRPr sz="1850" dirty="0">
              <a:solidFill>
                <a:schemeClr val="dk1"/>
              </a:solidFill>
              <a:highlight>
                <a:srgbClr val="00FFFF"/>
              </a:highlight>
              <a:latin typeface="Times New Roman"/>
              <a:ea typeface="Times New Roman"/>
              <a:cs typeface="Times New Roman"/>
              <a:sym typeface="Times New Roman"/>
            </a:endParaRPr>
          </a:p>
          <a:p>
            <a:pPr marL="457200" marR="0" lvl="0" indent="-346075" algn="just" rtl="0">
              <a:lnSpc>
                <a:spcPct val="100000"/>
              </a:lnSpc>
              <a:spcBef>
                <a:spcPts val="0"/>
              </a:spcBef>
              <a:spcAft>
                <a:spcPts val="0"/>
              </a:spcAft>
              <a:buClr>
                <a:schemeClr val="dk1"/>
              </a:buClr>
              <a:buSzPts val="1850"/>
              <a:buFont typeface="Times New Roman"/>
              <a:buChar char="•"/>
            </a:pPr>
            <a:r>
              <a:rPr lang="en-US" sz="1850" dirty="0">
                <a:solidFill>
                  <a:schemeClr val="dk1"/>
                </a:solidFill>
                <a:latin typeface="Times New Roman"/>
                <a:ea typeface="Times New Roman"/>
                <a:cs typeface="Times New Roman"/>
                <a:sym typeface="Times New Roman"/>
              </a:rPr>
              <a:t>The regular expression /b*/ will match any string containing zero or more occurrences of b. It will match ‘b’, ‘bb’ or ‘</a:t>
            </a:r>
            <a:r>
              <a:rPr lang="en-US" sz="1850" dirty="0" err="1">
                <a:solidFill>
                  <a:schemeClr val="dk1"/>
                </a:solidFill>
                <a:latin typeface="Times New Roman"/>
                <a:ea typeface="Times New Roman"/>
                <a:cs typeface="Times New Roman"/>
                <a:sym typeface="Times New Roman"/>
              </a:rPr>
              <a:t>bbbb</a:t>
            </a:r>
            <a:r>
              <a:rPr lang="en-US" sz="1850" dirty="0">
                <a:solidFill>
                  <a:schemeClr val="dk1"/>
                </a:solidFill>
                <a:latin typeface="Times New Roman"/>
                <a:ea typeface="Times New Roman"/>
                <a:cs typeface="Times New Roman"/>
                <a:sym typeface="Times New Roman"/>
              </a:rPr>
              <a:t>’. It will also match ‘</a:t>
            </a:r>
            <a:r>
              <a:rPr lang="en-US" sz="1850" dirty="0" err="1">
                <a:solidFill>
                  <a:schemeClr val="dk1"/>
                </a:solidFill>
                <a:latin typeface="Times New Roman"/>
                <a:ea typeface="Times New Roman"/>
                <a:cs typeface="Times New Roman"/>
                <a:sym typeface="Times New Roman"/>
              </a:rPr>
              <a:t>aaa</a:t>
            </a:r>
            <a:r>
              <a:rPr lang="en-US" sz="1850" dirty="0">
                <a:solidFill>
                  <a:schemeClr val="dk1"/>
                </a:solidFill>
                <a:latin typeface="Times New Roman"/>
                <a:ea typeface="Times New Roman"/>
                <a:cs typeface="Times New Roman"/>
                <a:sym typeface="Times New Roman"/>
              </a:rPr>
              <a:t>’ as it contains zero occurrence of ‘b’. </a:t>
            </a:r>
            <a:endParaRPr sz="1850" dirty="0">
              <a:solidFill>
                <a:schemeClr val="dk1"/>
              </a:solidFill>
              <a:latin typeface="Times New Roman"/>
              <a:ea typeface="Times New Roman"/>
              <a:cs typeface="Times New Roman"/>
              <a:sym typeface="Times New Roman"/>
            </a:endParaRPr>
          </a:p>
          <a:p>
            <a:pPr marL="457200" marR="0" lvl="0" indent="-346075" algn="just" rtl="0">
              <a:lnSpc>
                <a:spcPct val="100000"/>
              </a:lnSpc>
              <a:spcBef>
                <a:spcPts val="0"/>
              </a:spcBef>
              <a:spcAft>
                <a:spcPts val="0"/>
              </a:spcAft>
              <a:buClr>
                <a:schemeClr val="dk1"/>
              </a:buClr>
              <a:buSzPts val="1850"/>
              <a:buFont typeface="Times New Roman"/>
              <a:buChar char="•"/>
            </a:pPr>
            <a:r>
              <a:rPr lang="en-US" sz="1850" dirty="0">
                <a:solidFill>
                  <a:schemeClr val="dk1"/>
                </a:solidFill>
                <a:latin typeface="Times New Roman"/>
                <a:ea typeface="Times New Roman"/>
                <a:cs typeface="Times New Roman"/>
                <a:sym typeface="Times New Roman"/>
              </a:rPr>
              <a:t>To match a string containing one or more ‘b’s, the regular expression is /bb*/ (b followed by zero or more b’s). This will match the strings ‘b’, ‘bb’, ‘</a:t>
            </a:r>
            <a:r>
              <a:rPr lang="en-US" sz="1850" dirty="0" err="1">
                <a:solidFill>
                  <a:schemeClr val="dk1"/>
                </a:solidFill>
                <a:latin typeface="Times New Roman"/>
                <a:ea typeface="Times New Roman"/>
                <a:cs typeface="Times New Roman"/>
                <a:sym typeface="Times New Roman"/>
              </a:rPr>
              <a:t>bbb</a:t>
            </a:r>
            <a:r>
              <a:rPr lang="en-US" sz="1850" dirty="0">
                <a:solidFill>
                  <a:schemeClr val="dk1"/>
                </a:solidFill>
                <a:latin typeface="Times New Roman"/>
                <a:ea typeface="Times New Roman"/>
                <a:cs typeface="Times New Roman"/>
                <a:sym typeface="Times New Roman"/>
              </a:rPr>
              <a:t>’, ‘</a:t>
            </a:r>
            <a:r>
              <a:rPr lang="en-US" sz="1850" dirty="0" err="1">
                <a:solidFill>
                  <a:schemeClr val="dk1"/>
                </a:solidFill>
                <a:latin typeface="Times New Roman"/>
                <a:ea typeface="Times New Roman"/>
                <a:cs typeface="Times New Roman"/>
                <a:sym typeface="Times New Roman"/>
              </a:rPr>
              <a:t>bbbb</a:t>
            </a:r>
            <a:r>
              <a:rPr lang="en-US" sz="1850" dirty="0">
                <a:solidFill>
                  <a:schemeClr val="dk1"/>
                </a:solidFill>
                <a:latin typeface="Times New Roman"/>
                <a:ea typeface="Times New Roman"/>
                <a:cs typeface="Times New Roman"/>
                <a:sym typeface="Times New Roman"/>
              </a:rPr>
              <a:t>’.</a:t>
            </a:r>
            <a:endParaRPr sz="1850" dirty="0">
              <a:solidFill>
                <a:schemeClr val="dk1"/>
              </a:solidFill>
              <a:latin typeface="Times New Roman"/>
              <a:ea typeface="Times New Roman"/>
              <a:cs typeface="Times New Roman"/>
              <a:sym typeface="Times New Roman"/>
            </a:endParaRPr>
          </a:p>
          <a:p>
            <a:pPr marL="457200" marR="0" lvl="0" indent="-346075" algn="just" rtl="0">
              <a:lnSpc>
                <a:spcPct val="100000"/>
              </a:lnSpc>
              <a:spcBef>
                <a:spcPts val="0"/>
              </a:spcBef>
              <a:spcAft>
                <a:spcPts val="0"/>
              </a:spcAft>
              <a:buClr>
                <a:schemeClr val="dk1"/>
              </a:buClr>
              <a:buSzPts val="1850"/>
              <a:buFont typeface="Times New Roman"/>
              <a:buChar char="•"/>
            </a:pPr>
            <a:r>
              <a:rPr lang="en-US" sz="1850" dirty="0">
                <a:solidFill>
                  <a:schemeClr val="dk1"/>
                </a:solidFill>
                <a:latin typeface="Times New Roman"/>
                <a:ea typeface="Times New Roman"/>
                <a:cs typeface="Times New Roman"/>
                <a:sym typeface="Times New Roman"/>
              </a:rPr>
              <a:t>The regular expression /[ab]*/ specifies zero or more ‘a’s or ‘b’s. This will match the strings like ‘aa’, ‘bb’ or </a:t>
            </a:r>
            <a:r>
              <a:rPr lang="en-US" sz="1850" dirty="0" err="1">
                <a:solidFill>
                  <a:schemeClr val="dk1"/>
                </a:solidFill>
                <a:latin typeface="Times New Roman"/>
                <a:ea typeface="Times New Roman"/>
                <a:cs typeface="Times New Roman"/>
                <a:sym typeface="Times New Roman"/>
              </a:rPr>
              <a:t>abab</a:t>
            </a:r>
            <a:r>
              <a:rPr lang="en-US" sz="1850" dirty="0">
                <a:solidFill>
                  <a:schemeClr val="dk1"/>
                </a:solidFill>
                <a:latin typeface="Times New Roman"/>
                <a:ea typeface="Times New Roman"/>
                <a:cs typeface="Times New Roman"/>
                <a:sym typeface="Times New Roman"/>
              </a:rPr>
              <a:t>’.</a:t>
            </a:r>
            <a:endParaRPr sz="1850" dirty="0">
              <a:solidFill>
                <a:schemeClr val="dk1"/>
              </a:solidFill>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Shape 85"/>
        <p:cNvGrpSpPr/>
        <p:nvPr/>
      </p:nvGrpSpPr>
      <p:grpSpPr>
        <a:xfrm>
          <a:off x="0" y="0"/>
          <a:ext cx="0" cy="0"/>
          <a:chOff x="0" y="0"/>
          <a:chExt cx="0" cy="0"/>
        </a:xfrm>
      </p:grpSpPr>
      <p:sp>
        <p:nvSpPr>
          <p:cNvPr id="86" name="Google Shape;86;p8"/>
          <p:cNvSpPr txBox="1">
            <a:spLocks noGrp="1"/>
          </p:cNvSpPr>
          <p:nvPr>
            <p:ph type="title"/>
          </p:nvPr>
        </p:nvSpPr>
        <p:spPr>
          <a:xfrm>
            <a:off x="911225" y="639175"/>
            <a:ext cx="9431100" cy="690000"/>
          </a:xfrm>
          <a:prstGeom prst="rect">
            <a:avLst/>
          </a:prstGeom>
          <a:noFill/>
          <a:ln>
            <a:noFill/>
          </a:ln>
        </p:spPr>
        <p:txBody>
          <a:bodyPr spcFirstLastPara="1" wrap="square" lIns="0" tIns="12700" rIns="0" bIns="0" anchor="t" anchorCtr="0">
            <a:spAutoFit/>
          </a:bodyPr>
          <a:lstStyle/>
          <a:p>
            <a:pPr marL="12700" lvl="0" indent="0" algn="ctr" rtl="0">
              <a:lnSpc>
                <a:spcPct val="100000"/>
              </a:lnSpc>
              <a:spcBef>
                <a:spcPts val="0"/>
              </a:spcBef>
              <a:spcAft>
                <a:spcPts val="0"/>
              </a:spcAft>
              <a:buNone/>
            </a:pPr>
            <a:r>
              <a:rPr lang="en-US" sz="4400"/>
              <a:t>Character Classes</a:t>
            </a:r>
            <a:endParaRPr sz="4400"/>
          </a:p>
        </p:txBody>
      </p:sp>
      <p:sp>
        <p:nvSpPr>
          <p:cNvPr id="87" name="Google Shape;87;p8"/>
          <p:cNvSpPr txBox="1"/>
          <p:nvPr/>
        </p:nvSpPr>
        <p:spPr>
          <a:xfrm>
            <a:off x="964551" y="1721375"/>
            <a:ext cx="9940200" cy="1989600"/>
          </a:xfrm>
          <a:prstGeom prst="rect">
            <a:avLst/>
          </a:prstGeom>
          <a:noFill/>
          <a:ln>
            <a:noFill/>
          </a:ln>
        </p:spPr>
        <p:txBody>
          <a:bodyPr spcFirstLastPara="1" wrap="square" lIns="0" tIns="93975" rIns="0" bIns="0" anchor="t" anchorCtr="0">
            <a:spAutoFit/>
          </a:bodyPr>
          <a:lstStyle/>
          <a:p>
            <a:pPr marL="187960" marR="0" lvl="0" indent="-177800" algn="l" rtl="0">
              <a:lnSpc>
                <a:spcPct val="100000"/>
              </a:lnSpc>
              <a:spcBef>
                <a:spcPts val="0"/>
              </a:spcBef>
              <a:spcAft>
                <a:spcPts val="0"/>
              </a:spcAft>
              <a:buClr>
                <a:schemeClr val="dk1"/>
              </a:buClr>
              <a:buSzPts val="2800"/>
              <a:buFont typeface="Arial"/>
              <a:buChar char="•"/>
            </a:pPr>
            <a:r>
              <a:rPr lang="en-US" sz="2800">
                <a:solidFill>
                  <a:schemeClr val="dk1"/>
                </a:solidFill>
                <a:latin typeface="Calibri"/>
                <a:ea typeface="Calibri"/>
                <a:cs typeface="Calibri"/>
                <a:sym typeface="Calibri"/>
              </a:rPr>
              <a:t> </a:t>
            </a:r>
            <a:r>
              <a:rPr lang="en-US" sz="1850">
                <a:solidFill>
                  <a:schemeClr val="dk1"/>
                </a:solidFill>
                <a:latin typeface="Times New Roman"/>
                <a:ea typeface="Times New Roman"/>
                <a:cs typeface="Times New Roman"/>
                <a:sym typeface="Times New Roman"/>
              </a:rPr>
              <a:t>•  </a:t>
            </a:r>
            <a:r>
              <a:rPr lang="en-US" sz="1850">
                <a:solidFill>
                  <a:schemeClr val="dk1"/>
                </a:solidFill>
                <a:highlight>
                  <a:srgbClr val="FFFF00"/>
                </a:highlight>
                <a:latin typeface="Times New Roman"/>
                <a:ea typeface="Times New Roman"/>
                <a:cs typeface="Times New Roman"/>
                <a:sym typeface="Times New Roman"/>
              </a:rPr>
              <a:t>+</a:t>
            </a:r>
            <a:r>
              <a:rPr lang="en-US" sz="1850">
                <a:solidFill>
                  <a:schemeClr val="dk1"/>
                </a:solidFill>
                <a:latin typeface="Times New Roman"/>
                <a:ea typeface="Times New Roman"/>
                <a:cs typeface="Times New Roman"/>
                <a:sym typeface="Times New Roman"/>
              </a:rPr>
              <a:t> one or more occurrences of the previous character.</a:t>
            </a:r>
            <a:endParaRPr sz="2800">
              <a:solidFill>
                <a:schemeClr val="dk1"/>
              </a:solidFill>
              <a:latin typeface="Calibri"/>
              <a:ea typeface="Calibri"/>
              <a:cs typeface="Calibri"/>
              <a:sym typeface="Calibri"/>
            </a:endParaRPr>
          </a:p>
          <a:p>
            <a:pPr marL="187960" marR="0" lvl="0" indent="-177800" algn="l" rtl="0">
              <a:lnSpc>
                <a:spcPct val="100000"/>
              </a:lnSpc>
              <a:spcBef>
                <a:spcPts val="0"/>
              </a:spcBef>
              <a:spcAft>
                <a:spcPts val="0"/>
              </a:spcAft>
              <a:buClr>
                <a:schemeClr val="dk1"/>
              </a:buClr>
              <a:buSzPts val="2800"/>
              <a:buFont typeface="Arial"/>
              <a:buChar char="•"/>
            </a:pPr>
            <a:r>
              <a:rPr lang="en-US" sz="2800">
                <a:solidFill>
                  <a:schemeClr val="dk1"/>
                </a:solidFill>
                <a:latin typeface="Calibri"/>
                <a:ea typeface="Calibri"/>
                <a:cs typeface="Calibri"/>
                <a:sym typeface="Calibri"/>
              </a:rPr>
              <a:t>(^) anchor to specify a match at the beginning of a line</a:t>
            </a:r>
            <a:endParaRPr sz="2800">
              <a:solidFill>
                <a:schemeClr val="dk1"/>
              </a:solidFill>
              <a:latin typeface="Calibri"/>
              <a:ea typeface="Calibri"/>
              <a:cs typeface="Calibri"/>
              <a:sym typeface="Calibri"/>
            </a:endParaRPr>
          </a:p>
          <a:p>
            <a:pPr marL="187960" marR="0" lvl="0" indent="-177800" algn="l" rtl="0">
              <a:lnSpc>
                <a:spcPct val="100000"/>
              </a:lnSpc>
              <a:spcBef>
                <a:spcPts val="640"/>
              </a:spcBef>
              <a:spcAft>
                <a:spcPts val="0"/>
              </a:spcAft>
              <a:buClr>
                <a:schemeClr val="dk1"/>
              </a:buClr>
              <a:buSzPts val="2800"/>
              <a:buFont typeface="Arial"/>
              <a:buChar char="•"/>
            </a:pPr>
            <a:r>
              <a:rPr lang="en-US" sz="2800">
                <a:solidFill>
                  <a:schemeClr val="dk1"/>
                </a:solidFill>
                <a:latin typeface="Calibri"/>
                <a:ea typeface="Calibri"/>
                <a:cs typeface="Calibri"/>
                <a:sym typeface="Calibri"/>
              </a:rPr>
              <a:t>($) anchor to specify a match at the end of a line</a:t>
            </a:r>
            <a:endParaRPr sz="2800">
              <a:solidFill>
                <a:schemeClr val="dk1"/>
              </a:solidFill>
              <a:latin typeface="Calibri"/>
              <a:ea typeface="Calibri"/>
              <a:cs typeface="Calibri"/>
              <a:sym typeface="Calibri"/>
            </a:endParaRPr>
          </a:p>
          <a:p>
            <a:pPr marL="187960" marR="0" lvl="0" indent="-177800" algn="l" rtl="0">
              <a:lnSpc>
                <a:spcPct val="100000"/>
              </a:lnSpc>
              <a:spcBef>
                <a:spcPts val="690"/>
              </a:spcBef>
              <a:spcAft>
                <a:spcPts val="0"/>
              </a:spcAft>
              <a:buClr>
                <a:schemeClr val="dk1"/>
              </a:buClr>
              <a:buSzPts val="2800"/>
              <a:buFont typeface="Arial"/>
              <a:buChar char="•"/>
            </a:pPr>
            <a:r>
              <a:rPr lang="en-US" sz="2800">
                <a:solidFill>
                  <a:schemeClr val="dk1"/>
                </a:solidFill>
                <a:latin typeface="Calibri"/>
                <a:ea typeface="Calibri"/>
                <a:cs typeface="Calibri"/>
                <a:sym typeface="Calibri"/>
              </a:rPr>
              <a:t>(.)	wildcard character	/.at/ =&gt; cat, bat, rat….</a:t>
            </a:r>
            <a:endParaRPr sz="2800">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Shape 91"/>
        <p:cNvGrpSpPr/>
        <p:nvPr/>
      </p:nvGrpSpPr>
      <p:grpSpPr>
        <a:xfrm>
          <a:off x="0" y="0"/>
          <a:ext cx="0" cy="0"/>
          <a:chOff x="0" y="0"/>
          <a:chExt cx="0" cy="0"/>
        </a:xfrm>
      </p:grpSpPr>
      <p:sp>
        <p:nvSpPr>
          <p:cNvPr id="92" name="Google Shape;92;p9"/>
          <p:cNvSpPr txBox="1">
            <a:spLocks noGrp="1"/>
          </p:cNvSpPr>
          <p:nvPr>
            <p:ph type="title"/>
          </p:nvPr>
        </p:nvSpPr>
        <p:spPr>
          <a:xfrm>
            <a:off x="911225" y="639172"/>
            <a:ext cx="4731385" cy="69596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4400"/>
              <a:t>RE-Character Classes</a:t>
            </a:r>
            <a:endParaRPr sz="4400"/>
          </a:p>
        </p:txBody>
      </p:sp>
      <p:sp>
        <p:nvSpPr>
          <p:cNvPr id="93" name="Google Shape;93;p9"/>
          <p:cNvSpPr txBox="1"/>
          <p:nvPr/>
        </p:nvSpPr>
        <p:spPr>
          <a:xfrm>
            <a:off x="911225" y="1737487"/>
            <a:ext cx="374650" cy="3810000"/>
          </a:xfrm>
          <a:prstGeom prst="rect">
            <a:avLst/>
          </a:prstGeom>
          <a:noFill/>
          <a:ln>
            <a:noFill/>
          </a:ln>
        </p:spPr>
        <p:txBody>
          <a:bodyPr spcFirstLastPara="1" wrap="square" lIns="0" tIns="118100" rIns="0" bIns="0" anchor="t" anchorCtr="0">
            <a:spAutoFit/>
          </a:bodyPr>
          <a:lstStyle/>
          <a:p>
            <a:pPr marL="12700" marR="0" lvl="0" indent="0" algn="l" rtl="0">
              <a:lnSpc>
                <a:spcPct val="100000"/>
              </a:lnSpc>
              <a:spcBef>
                <a:spcPts val="0"/>
              </a:spcBef>
              <a:spcAft>
                <a:spcPts val="0"/>
              </a:spcAft>
              <a:buNone/>
            </a:pPr>
            <a:r>
              <a:rPr lang="en-US" sz="1600">
                <a:solidFill>
                  <a:schemeClr val="dk1"/>
                </a:solidFill>
                <a:latin typeface="Times New Roman"/>
                <a:ea typeface="Times New Roman"/>
                <a:cs typeface="Times New Roman"/>
                <a:sym typeface="Times New Roman"/>
              </a:rPr>
              <a:t>R.E</a:t>
            </a:r>
            <a:endParaRPr sz="1600">
              <a:solidFill>
                <a:schemeClr val="dk1"/>
              </a:solidFill>
              <a:latin typeface="Times New Roman"/>
              <a:ea typeface="Times New Roman"/>
              <a:cs typeface="Times New Roman"/>
              <a:sym typeface="Times New Roman"/>
            </a:endParaRPr>
          </a:p>
          <a:p>
            <a:pPr marL="114300" marR="0" lvl="0" indent="0" algn="l" rtl="0">
              <a:lnSpc>
                <a:spcPct val="100000"/>
              </a:lnSpc>
              <a:spcBef>
                <a:spcPts val="830"/>
              </a:spcBef>
              <a:spcAft>
                <a:spcPts val="0"/>
              </a:spcAft>
              <a:buNone/>
            </a:pPr>
            <a:r>
              <a:rPr lang="en-US" sz="1600">
                <a:solidFill>
                  <a:schemeClr val="dk1"/>
                </a:solidFill>
                <a:latin typeface="Times New Roman"/>
                <a:ea typeface="Times New Roman"/>
                <a:cs typeface="Times New Roman"/>
                <a:sym typeface="Times New Roman"/>
              </a:rPr>
              <a:t>.</a:t>
            </a:r>
            <a:endParaRPr sz="1600">
              <a:solidFill>
                <a:schemeClr val="dk1"/>
              </a:solidFill>
              <a:latin typeface="Times New Roman"/>
              <a:ea typeface="Times New Roman"/>
              <a:cs typeface="Times New Roman"/>
              <a:sym typeface="Times New Roman"/>
            </a:endParaRPr>
          </a:p>
          <a:p>
            <a:pPr marL="114300" marR="0" lvl="0" indent="0" algn="l" rtl="0">
              <a:lnSpc>
                <a:spcPct val="100000"/>
              </a:lnSpc>
              <a:spcBef>
                <a:spcPts val="780"/>
              </a:spcBef>
              <a:spcAft>
                <a:spcPts val="0"/>
              </a:spcAft>
              <a:buNone/>
            </a:pPr>
            <a:r>
              <a:rPr lang="en-US" sz="1600">
                <a:solidFill>
                  <a:schemeClr val="dk1"/>
                </a:solidFill>
                <a:latin typeface="Times New Roman"/>
                <a:ea typeface="Times New Roman"/>
                <a:cs typeface="Times New Roman"/>
                <a:sym typeface="Times New Roman"/>
              </a:rPr>
              <a:t>\n</a:t>
            </a:r>
            <a:endParaRPr sz="1600">
              <a:solidFill>
                <a:schemeClr val="dk1"/>
              </a:solidFill>
              <a:latin typeface="Times New Roman"/>
              <a:ea typeface="Times New Roman"/>
              <a:cs typeface="Times New Roman"/>
              <a:sym typeface="Times New Roman"/>
            </a:endParaRPr>
          </a:p>
          <a:p>
            <a:pPr marL="114300" marR="0" lvl="0" indent="0" algn="l" rtl="0">
              <a:lnSpc>
                <a:spcPct val="100000"/>
              </a:lnSpc>
              <a:spcBef>
                <a:spcPts val="780"/>
              </a:spcBef>
              <a:spcAft>
                <a:spcPts val="0"/>
              </a:spcAft>
              <a:buNone/>
            </a:pPr>
            <a:r>
              <a:rPr lang="en-US" sz="1600">
                <a:solidFill>
                  <a:schemeClr val="dk1"/>
                </a:solidFill>
                <a:latin typeface="Times New Roman"/>
                <a:ea typeface="Times New Roman"/>
                <a:cs typeface="Times New Roman"/>
                <a:sym typeface="Times New Roman"/>
              </a:rPr>
              <a:t>\t</a:t>
            </a:r>
            <a:endParaRPr sz="1600">
              <a:solidFill>
                <a:schemeClr val="dk1"/>
              </a:solidFill>
              <a:latin typeface="Times New Roman"/>
              <a:ea typeface="Times New Roman"/>
              <a:cs typeface="Times New Roman"/>
              <a:sym typeface="Times New Roman"/>
            </a:endParaRPr>
          </a:p>
          <a:p>
            <a:pPr marL="114300" marR="0" lvl="0" indent="0" algn="l" rtl="0">
              <a:lnSpc>
                <a:spcPct val="100000"/>
              </a:lnSpc>
              <a:spcBef>
                <a:spcPts val="780"/>
              </a:spcBef>
              <a:spcAft>
                <a:spcPts val="0"/>
              </a:spcAft>
              <a:buNone/>
            </a:pPr>
            <a:r>
              <a:rPr lang="en-US" sz="1600">
                <a:solidFill>
                  <a:schemeClr val="dk1"/>
                </a:solidFill>
                <a:latin typeface="Times New Roman"/>
                <a:ea typeface="Times New Roman"/>
                <a:cs typeface="Times New Roman"/>
                <a:sym typeface="Times New Roman"/>
              </a:rPr>
              <a:t>\d</a:t>
            </a:r>
            <a:endParaRPr sz="1600">
              <a:solidFill>
                <a:schemeClr val="dk1"/>
              </a:solidFill>
              <a:latin typeface="Times New Roman"/>
              <a:ea typeface="Times New Roman"/>
              <a:cs typeface="Times New Roman"/>
              <a:sym typeface="Times New Roman"/>
            </a:endParaRPr>
          </a:p>
          <a:p>
            <a:pPr marL="114300" marR="0" lvl="0" indent="0" algn="l" rtl="0">
              <a:lnSpc>
                <a:spcPct val="100000"/>
              </a:lnSpc>
              <a:spcBef>
                <a:spcPts val="780"/>
              </a:spcBef>
              <a:spcAft>
                <a:spcPts val="0"/>
              </a:spcAft>
              <a:buNone/>
            </a:pPr>
            <a:r>
              <a:rPr lang="en-US" sz="1600">
                <a:solidFill>
                  <a:schemeClr val="dk1"/>
                </a:solidFill>
                <a:latin typeface="Times New Roman"/>
                <a:ea typeface="Times New Roman"/>
                <a:cs typeface="Times New Roman"/>
                <a:sym typeface="Times New Roman"/>
              </a:rPr>
              <a:t>\D</a:t>
            </a:r>
            <a:endParaRPr sz="1600">
              <a:solidFill>
                <a:schemeClr val="dk1"/>
              </a:solidFill>
              <a:latin typeface="Times New Roman"/>
              <a:ea typeface="Times New Roman"/>
              <a:cs typeface="Times New Roman"/>
              <a:sym typeface="Times New Roman"/>
            </a:endParaRPr>
          </a:p>
          <a:p>
            <a:pPr marL="114300" marR="0" lvl="0" indent="0" algn="l" rtl="0">
              <a:lnSpc>
                <a:spcPct val="100000"/>
              </a:lnSpc>
              <a:spcBef>
                <a:spcPts val="780"/>
              </a:spcBef>
              <a:spcAft>
                <a:spcPts val="0"/>
              </a:spcAft>
              <a:buNone/>
            </a:pPr>
            <a:r>
              <a:rPr lang="en-US" sz="1600">
                <a:solidFill>
                  <a:schemeClr val="dk1"/>
                </a:solidFill>
                <a:latin typeface="Times New Roman"/>
                <a:ea typeface="Times New Roman"/>
                <a:cs typeface="Times New Roman"/>
                <a:sym typeface="Times New Roman"/>
              </a:rPr>
              <a:t>\w</a:t>
            </a:r>
            <a:endParaRPr sz="1600">
              <a:solidFill>
                <a:schemeClr val="dk1"/>
              </a:solidFill>
              <a:latin typeface="Times New Roman"/>
              <a:ea typeface="Times New Roman"/>
              <a:cs typeface="Times New Roman"/>
              <a:sym typeface="Times New Roman"/>
            </a:endParaRPr>
          </a:p>
          <a:p>
            <a:pPr marL="114300" marR="0" lvl="0" indent="0" algn="l" rtl="0">
              <a:lnSpc>
                <a:spcPct val="100000"/>
              </a:lnSpc>
              <a:spcBef>
                <a:spcPts val="780"/>
              </a:spcBef>
              <a:spcAft>
                <a:spcPts val="0"/>
              </a:spcAft>
              <a:buNone/>
            </a:pPr>
            <a:r>
              <a:rPr lang="en-US" sz="1600">
                <a:solidFill>
                  <a:schemeClr val="dk1"/>
                </a:solidFill>
                <a:latin typeface="Times New Roman"/>
                <a:ea typeface="Times New Roman"/>
                <a:cs typeface="Times New Roman"/>
                <a:sym typeface="Times New Roman"/>
              </a:rPr>
              <a:t>\W</a:t>
            </a:r>
            <a:endParaRPr sz="1600">
              <a:solidFill>
                <a:schemeClr val="dk1"/>
              </a:solidFill>
              <a:latin typeface="Times New Roman"/>
              <a:ea typeface="Times New Roman"/>
              <a:cs typeface="Times New Roman"/>
              <a:sym typeface="Times New Roman"/>
            </a:endParaRPr>
          </a:p>
          <a:p>
            <a:pPr marL="114300" marR="0" lvl="0" indent="0" algn="l" rtl="0">
              <a:lnSpc>
                <a:spcPct val="100000"/>
              </a:lnSpc>
              <a:spcBef>
                <a:spcPts val="780"/>
              </a:spcBef>
              <a:spcAft>
                <a:spcPts val="0"/>
              </a:spcAft>
              <a:buNone/>
            </a:pPr>
            <a:r>
              <a:rPr lang="en-US" sz="1600">
                <a:solidFill>
                  <a:schemeClr val="dk1"/>
                </a:solidFill>
                <a:latin typeface="Times New Roman"/>
                <a:ea typeface="Times New Roman"/>
                <a:cs typeface="Times New Roman"/>
                <a:sym typeface="Times New Roman"/>
              </a:rPr>
              <a:t>\s</a:t>
            </a:r>
            <a:endParaRPr sz="1600">
              <a:solidFill>
                <a:schemeClr val="dk1"/>
              </a:solidFill>
              <a:latin typeface="Times New Roman"/>
              <a:ea typeface="Times New Roman"/>
              <a:cs typeface="Times New Roman"/>
              <a:sym typeface="Times New Roman"/>
            </a:endParaRPr>
          </a:p>
          <a:p>
            <a:pPr marL="114300" marR="0" lvl="0" indent="0" algn="l" rtl="0">
              <a:lnSpc>
                <a:spcPct val="100000"/>
              </a:lnSpc>
              <a:spcBef>
                <a:spcPts val="780"/>
              </a:spcBef>
              <a:spcAft>
                <a:spcPts val="0"/>
              </a:spcAft>
              <a:buNone/>
            </a:pPr>
            <a:r>
              <a:rPr lang="en-US" sz="1600">
                <a:solidFill>
                  <a:schemeClr val="dk1"/>
                </a:solidFill>
                <a:latin typeface="Times New Roman"/>
                <a:ea typeface="Times New Roman"/>
                <a:cs typeface="Times New Roman"/>
                <a:sym typeface="Times New Roman"/>
              </a:rPr>
              <a:t>\S</a:t>
            </a:r>
            <a:endParaRPr sz="1600">
              <a:solidFill>
                <a:schemeClr val="dk1"/>
              </a:solidFill>
              <a:latin typeface="Times New Roman"/>
              <a:ea typeface="Times New Roman"/>
              <a:cs typeface="Times New Roman"/>
              <a:sym typeface="Times New Roman"/>
            </a:endParaRPr>
          </a:p>
          <a:p>
            <a:pPr marL="114300" marR="0" lvl="0" indent="0" algn="l" rtl="0">
              <a:lnSpc>
                <a:spcPct val="100000"/>
              </a:lnSpc>
              <a:spcBef>
                <a:spcPts val="780"/>
              </a:spcBef>
              <a:spcAft>
                <a:spcPts val="0"/>
              </a:spcAft>
              <a:buNone/>
            </a:pPr>
            <a:r>
              <a:rPr lang="en-US" sz="1600">
                <a:solidFill>
                  <a:schemeClr val="dk1"/>
                </a:solidFill>
                <a:latin typeface="Times New Roman"/>
                <a:ea typeface="Times New Roman"/>
                <a:cs typeface="Times New Roman"/>
                <a:sym typeface="Times New Roman"/>
              </a:rPr>
              <a:t>\</a:t>
            </a:r>
            <a:endParaRPr sz="1600">
              <a:solidFill>
                <a:schemeClr val="dk1"/>
              </a:solidFill>
              <a:latin typeface="Times New Roman"/>
              <a:ea typeface="Times New Roman"/>
              <a:cs typeface="Times New Roman"/>
              <a:sym typeface="Times New Roman"/>
            </a:endParaRPr>
          </a:p>
        </p:txBody>
      </p:sp>
      <p:sp>
        <p:nvSpPr>
          <p:cNvPr id="94" name="Google Shape;94;p9"/>
          <p:cNvSpPr txBox="1"/>
          <p:nvPr/>
        </p:nvSpPr>
        <p:spPr>
          <a:xfrm>
            <a:off x="1470025" y="1737487"/>
            <a:ext cx="3424554" cy="3810000"/>
          </a:xfrm>
          <a:prstGeom prst="rect">
            <a:avLst/>
          </a:prstGeom>
          <a:noFill/>
          <a:ln>
            <a:noFill/>
          </a:ln>
        </p:spPr>
        <p:txBody>
          <a:bodyPr spcFirstLastPara="1" wrap="square" lIns="0" tIns="118100" rIns="0" bIns="0" anchor="t" anchorCtr="0">
            <a:spAutoFit/>
          </a:bodyPr>
          <a:lstStyle/>
          <a:p>
            <a:pPr marL="1185545" marR="0" lvl="0" indent="0" algn="l" rtl="0">
              <a:lnSpc>
                <a:spcPct val="100000"/>
              </a:lnSpc>
              <a:spcBef>
                <a:spcPts val="0"/>
              </a:spcBef>
              <a:spcAft>
                <a:spcPts val="0"/>
              </a:spcAft>
              <a:buNone/>
            </a:pPr>
            <a:r>
              <a:rPr lang="en-US" sz="1600">
                <a:solidFill>
                  <a:schemeClr val="dk1"/>
                </a:solidFill>
                <a:latin typeface="Times New Roman"/>
                <a:ea typeface="Times New Roman"/>
                <a:cs typeface="Times New Roman"/>
                <a:sym typeface="Times New Roman"/>
              </a:rPr>
              <a:t>Description</a:t>
            </a:r>
            <a:endParaRPr sz="1600">
              <a:solidFill>
                <a:schemeClr val="dk1"/>
              </a:solidFill>
              <a:latin typeface="Times New Roman"/>
              <a:ea typeface="Times New Roman"/>
              <a:cs typeface="Times New Roman"/>
              <a:sym typeface="Times New Roman"/>
            </a:endParaRPr>
          </a:p>
          <a:p>
            <a:pPr marL="12700" marR="0" lvl="0" indent="0" algn="l" rtl="0">
              <a:lnSpc>
                <a:spcPct val="100000"/>
              </a:lnSpc>
              <a:spcBef>
                <a:spcPts val="830"/>
              </a:spcBef>
              <a:spcAft>
                <a:spcPts val="0"/>
              </a:spcAft>
              <a:buNone/>
            </a:pPr>
            <a:r>
              <a:rPr lang="en-US" sz="1600">
                <a:solidFill>
                  <a:schemeClr val="dk1"/>
                </a:solidFill>
                <a:latin typeface="Times New Roman"/>
                <a:ea typeface="Times New Roman"/>
                <a:cs typeface="Times New Roman"/>
                <a:sym typeface="Times New Roman"/>
              </a:rPr>
              <a:t>the dot matches any single character.</a:t>
            </a:r>
            <a:endParaRPr sz="1600">
              <a:solidFill>
                <a:schemeClr val="dk1"/>
              </a:solidFill>
              <a:latin typeface="Times New Roman"/>
              <a:ea typeface="Times New Roman"/>
              <a:cs typeface="Times New Roman"/>
              <a:sym typeface="Times New Roman"/>
            </a:endParaRPr>
          </a:p>
          <a:p>
            <a:pPr marL="175260" marR="882014" lvl="0" indent="-5714" algn="l" rtl="0">
              <a:lnSpc>
                <a:spcPct val="140600"/>
              </a:lnSpc>
              <a:spcBef>
                <a:spcPts val="0"/>
              </a:spcBef>
              <a:spcAft>
                <a:spcPts val="0"/>
              </a:spcAft>
              <a:buNone/>
            </a:pPr>
            <a:r>
              <a:rPr lang="en-US" sz="1600">
                <a:solidFill>
                  <a:schemeClr val="dk1"/>
                </a:solidFill>
                <a:latin typeface="Times New Roman"/>
                <a:ea typeface="Times New Roman"/>
                <a:cs typeface="Times New Roman"/>
                <a:sym typeface="Times New Roman"/>
              </a:rPr>
              <a:t>Matches a new line character  Matches a tab</a:t>
            </a:r>
            <a:endParaRPr sz="1600">
              <a:solidFill>
                <a:schemeClr val="dk1"/>
              </a:solidFill>
              <a:latin typeface="Times New Roman"/>
              <a:ea typeface="Times New Roman"/>
              <a:cs typeface="Times New Roman"/>
              <a:sym typeface="Times New Roman"/>
            </a:endParaRPr>
          </a:p>
          <a:p>
            <a:pPr marL="163830" marR="1627504" lvl="0" indent="-45719" algn="l" rtl="0">
              <a:lnSpc>
                <a:spcPct val="140600"/>
              </a:lnSpc>
              <a:spcBef>
                <a:spcPts val="0"/>
              </a:spcBef>
              <a:spcAft>
                <a:spcPts val="0"/>
              </a:spcAft>
              <a:buNone/>
            </a:pPr>
            <a:r>
              <a:rPr lang="en-US" sz="1600">
                <a:solidFill>
                  <a:schemeClr val="dk1"/>
                </a:solidFill>
                <a:latin typeface="Times New Roman"/>
                <a:ea typeface="Times New Roman"/>
                <a:cs typeface="Times New Roman"/>
                <a:sym typeface="Times New Roman"/>
              </a:rPr>
              <a:t>Matches a digit  Matches a non-digit</a:t>
            </a:r>
            <a:endParaRPr sz="1600">
              <a:solidFill>
                <a:schemeClr val="dk1"/>
              </a:solidFill>
              <a:latin typeface="Times New Roman"/>
              <a:ea typeface="Times New Roman"/>
              <a:cs typeface="Times New Roman"/>
              <a:sym typeface="Times New Roman"/>
            </a:endParaRPr>
          </a:p>
          <a:p>
            <a:pPr marL="259715" marR="5080" lvl="0" indent="-95885" algn="l" rtl="0">
              <a:lnSpc>
                <a:spcPct val="140600"/>
              </a:lnSpc>
              <a:spcBef>
                <a:spcPts val="0"/>
              </a:spcBef>
              <a:spcAft>
                <a:spcPts val="0"/>
              </a:spcAft>
              <a:buNone/>
            </a:pPr>
            <a:r>
              <a:rPr lang="en-US" sz="1600">
                <a:solidFill>
                  <a:schemeClr val="dk1"/>
                </a:solidFill>
                <a:latin typeface="Times New Roman"/>
                <a:ea typeface="Times New Roman"/>
                <a:cs typeface="Times New Roman"/>
                <a:sym typeface="Times New Roman"/>
              </a:rPr>
              <a:t>Matches an alphanumeric character  Matches a non-alphanumeric character</a:t>
            </a:r>
            <a:endParaRPr sz="1600">
              <a:solidFill>
                <a:schemeClr val="dk1"/>
              </a:solidFill>
              <a:latin typeface="Times New Roman"/>
              <a:ea typeface="Times New Roman"/>
              <a:cs typeface="Times New Roman"/>
              <a:sym typeface="Times New Roman"/>
            </a:endParaRPr>
          </a:p>
          <a:p>
            <a:pPr marL="68580" marR="337185" lvl="0" indent="27939" algn="l" rtl="0">
              <a:lnSpc>
                <a:spcPct val="140600"/>
              </a:lnSpc>
              <a:spcBef>
                <a:spcPts val="0"/>
              </a:spcBef>
              <a:spcAft>
                <a:spcPts val="0"/>
              </a:spcAft>
              <a:buNone/>
            </a:pPr>
            <a:r>
              <a:rPr lang="en-US" sz="1600">
                <a:solidFill>
                  <a:schemeClr val="dk1"/>
                </a:solidFill>
                <a:latin typeface="Times New Roman"/>
                <a:ea typeface="Times New Roman"/>
                <a:cs typeface="Times New Roman"/>
                <a:sym typeface="Times New Roman"/>
              </a:rPr>
              <a:t>Matches a whitespace character  Matches a non-whitespace character  Use \ to escape special character</a:t>
            </a:r>
            <a:endParaRPr sz="1600">
              <a:solidFill>
                <a:schemeClr val="dk1"/>
              </a:solidFill>
              <a:latin typeface="Times New Roman"/>
              <a:ea typeface="Times New Roman"/>
              <a:cs typeface="Times New Roman"/>
              <a:sym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Shape 98"/>
        <p:cNvGrpSpPr/>
        <p:nvPr/>
      </p:nvGrpSpPr>
      <p:grpSpPr>
        <a:xfrm>
          <a:off x="0" y="0"/>
          <a:ext cx="0" cy="0"/>
          <a:chOff x="0" y="0"/>
          <a:chExt cx="0" cy="0"/>
        </a:xfrm>
      </p:grpSpPr>
      <p:sp>
        <p:nvSpPr>
          <p:cNvPr id="99" name="Google Shape;99;p10"/>
          <p:cNvSpPr txBox="1">
            <a:spLocks noGrp="1"/>
          </p:cNvSpPr>
          <p:nvPr>
            <p:ph type="title"/>
          </p:nvPr>
        </p:nvSpPr>
        <p:spPr>
          <a:xfrm>
            <a:off x="911225" y="639172"/>
            <a:ext cx="4731385" cy="69596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4400"/>
              <a:t>RE-Character Classes</a:t>
            </a:r>
            <a:endParaRPr sz="4400"/>
          </a:p>
        </p:txBody>
      </p:sp>
      <p:sp>
        <p:nvSpPr>
          <p:cNvPr id="100" name="Google Shape;100;p10"/>
          <p:cNvSpPr txBox="1"/>
          <p:nvPr/>
        </p:nvSpPr>
        <p:spPr>
          <a:xfrm>
            <a:off x="964551" y="1721375"/>
            <a:ext cx="10361100" cy="1558500"/>
          </a:xfrm>
          <a:prstGeom prst="rect">
            <a:avLst/>
          </a:prstGeom>
          <a:noFill/>
          <a:ln>
            <a:noFill/>
          </a:ln>
        </p:spPr>
        <p:txBody>
          <a:bodyPr spcFirstLastPara="1" wrap="square" lIns="0" tIns="93975" rIns="0" bIns="0" anchor="t" anchorCtr="0">
            <a:spAutoFit/>
          </a:bodyPr>
          <a:lstStyle/>
          <a:p>
            <a:pPr marL="187960" marR="0" lvl="0" indent="-177800" algn="l" rtl="0">
              <a:lnSpc>
                <a:spcPct val="100000"/>
              </a:lnSpc>
              <a:spcBef>
                <a:spcPts val="0"/>
              </a:spcBef>
              <a:spcAft>
                <a:spcPts val="0"/>
              </a:spcAft>
              <a:buClr>
                <a:schemeClr val="dk1"/>
              </a:buClr>
              <a:buSzPts val="2800"/>
              <a:buFont typeface="Arial"/>
              <a:buChar char="•"/>
            </a:pPr>
            <a:r>
              <a:rPr lang="en-US" sz="2800">
                <a:solidFill>
                  <a:schemeClr val="dk1"/>
                </a:solidFill>
                <a:latin typeface="Calibri"/>
                <a:ea typeface="Calibri"/>
                <a:cs typeface="Calibri"/>
                <a:sym typeface="Calibri"/>
              </a:rPr>
              <a:t>/…..berry/ ten letter string that ends in berry Strawberry</a:t>
            </a:r>
            <a:endParaRPr sz="2800">
              <a:solidFill>
                <a:schemeClr val="dk1"/>
              </a:solidFill>
              <a:latin typeface="Calibri"/>
              <a:ea typeface="Calibri"/>
              <a:cs typeface="Calibri"/>
              <a:sym typeface="Calibri"/>
            </a:endParaRPr>
          </a:p>
          <a:p>
            <a:pPr marL="187960" marR="0" lvl="0" indent="-177800" algn="l" rtl="0">
              <a:lnSpc>
                <a:spcPct val="100000"/>
              </a:lnSpc>
              <a:spcBef>
                <a:spcPts val="640"/>
              </a:spcBef>
              <a:spcAft>
                <a:spcPts val="0"/>
              </a:spcAft>
              <a:buClr>
                <a:schemeClr val="dk1"/>
              </a:buClr>
              <a:buSzPts val="2800"/>
              <a:buFont typeface="Arial"/>
              <a:buChar char="•"/>
            </a:pPr>
            <a:r>
              <a:rPr lang="en-US" sz="2800">
                <a:solidFill>
                  <a:schemeClr val="dk1"/>
                </a:solidFill>
                <a:latin typeface="Calibri"/>
                <a:ea typeface="Calibri"/>
                <a:cs typeface="Calibri"/>
                <a:sym typeface="Calibri"/>
              </a:rPr>
              <a:t>Tanveer or Siddiqui =&gt; disjunction operator shown by pipe symbol (|)</a:t>
            </a:r>
            <a:endParaRPr sz="2800">
              <a:solidFill>
                <a:schemeClr val="dk1"/>
              </a:solidFill>
              <a:latin typeface="Calibri"/>
              <a:ea typeface="Calibri"/>
              <a:cs typeface="Calibri"/>
              <a:sym typeface="Calibri"/>
            </a:endParaRPr>
          </a:p>
          <a:p>
            <a:pPr marL="187960" marR="0" lvl="0" indent="-177800" algn="l" rtl="0">
              <a:lnSpc>
                <a:spcPct val="100000"/>
              </a:lnSpc>
              <a:spcBef>
                <a:spcPts val="690"/>
              </a:spcBef>
              <a:spcAft>
                <a:spcPts val="0"/>
              </a:spcAft>
              <a:buClr>
                <a:schemeClr val="dk1"/>
              </a:buClr>
              <a:buSzPts val="2800"/>
              <a:buFont typeface="Arial"/>
              <a:buChar char="•"/>
            </a:pPr>
            <a:r>
              <a:rPr lang="en-US" sz="2800">
                <a:solidFill>
                  <a:schemeClr val="dk1"/>
                </a:solidFill>
                <a:latin typeface="Calibri"/>
                <a:ea typeface="Calibri"/>
                <a:cs typeface="Calibri"/>
                <a:sym typeface="Calibri"/>
              </a:rPr>
              <a:t>Blackberry| blackberries</a:t>
            </a:r>
            <a:endParaRPr sz="2800">
              <a:solidFill>
                <a:schemeClr val="dk1"/>
              </a:solidFill>
              <a:latin typeface="Calibri"/>
              <a:ea typeface="Calibri"/>
              <a:cs typeface="Calibri"/>
              <a:sym typeface="Calibri"/>
            </a:endParaRPr>
          </a:p>
        </p:txBody>
      </p:sp>
      <p:sp>
        <p:nvSpPr>
          <p:cNvPr id="101" name="Google Shape;101;p10"/>
          <p:cNvSpPr txBox="1"/>
          <p:nvPr/>
        </p:nvSpPr>
        <p:spPr>
          <a:xfrm>
            <a:off x="923925" y="3400425"/>
            <a:ext cx="1176655" cy="384175"/>
          </a:xfrm>
          <a:prstGeom prst="rect">
            <a:avLst/>
          </a:prstGeom>
          <a:solidFill>
            <a:srgbClr val="FFFF00"/>
          </a:solidFill>
          <a:ln>
            <a:noFill/>
          </a:ln>
        </p:spPr>
        <p:txBody>
          <a:bodyPr spcFirstLastPara="1" wrap="square" lIns="0" tIns="0" rIns="0" bIns="0" anchor="t" anchorCtr="0">
            <a:spAutoFit/>
          </a:bodyPr>
          <a:lstStyle/>
          <a:p>
            <a:pPr marL="0" marR="0" lvl="0" indent="0" algn="l" rtl="0">
              <a:lnSpc>
                <a:spcPct val="106428"/>
              </a:lnSpc>
              <a:spcBef>
                <a:spcPts val="0"/>
              </a:spcBef>
              <a:spcAft>
                <a:spcPts val="0"/>
              </a:spcAft>
              <a:buNone/>
            </a:pPr>
            <a:r>
              <a:rPr lang="en-US" sz="2800">
                <a:solidFill>
                  <a:schemeClr val="dk1"/>
                </a:solidFill>
                <a:latin typeface="Calibri"/>
                <a:ea typeface="Calibri"/>
                <a:cs typeface="Calibri"/>
                <a:sym typeface="Calibri"/>
              </a:rPr>
              <a:t>Exercise</a:t>
            </a:r>
            <a:endParaRPr sz="2800">
              <a:solidFill>
                <a:schemeClr val="dk1"/>
              </a:solidFill>
              <a:latin typeface="Calibri"/>
              <a:ea typeface="Calibri"/>
              <a:cs typeface="Calibri"/>
              <a:sym typeface="Calibri"/>
            </a:endParaRPr>
          </a:p>
        </p:txBody>
      </p:sp>
      <p:sp>
        <p:nvSpPr>
          <p:cNvPr id="102" name="Google Shape;102;p10"/>
          <p:cNvSpPr txBox="1"/>
          <p:nvPr/>
        </p:nvSpPr>
        <p:spPr>
          <a:xfrm>
            <a:off x="911225" y="3870985"/>
            <a:ext cx="9885600" cy="1283700"/>
          </a:xfrm>
          <a:prstGeom prst="rect">
            <a:avLst/>
          </a:prstGeom>
          <a:noFill/>
          <a:ln>
            <a:noFill/>
          </a:ln>
        </p:spPr>
        <p:txBody>
          <a:bodyPr spcFirstLastPara="1" wrap="square" lIns="0" tIns="40625" rIns="0" bIns="0" anchor="t" anchorCtr="0">
            <a:spAutoFit/>
          </a:bodyPr>
          <a:lstStyle/>
          <a:p>
            <a:pPr marL="457200" marR="5080" lvl="0" indent="-342900" algn="l" rtl="0">
              <a:lnSpc>
                <a:spcPct val="89700"/>
              </a:lnSpc>
              <a:spcBef>
                <a:spcPts val="0"/>
              </a:spcBef>
              <a:spcAft>
                <a:spcPts val="0"/>
              </a:spcAft>
              <a:buClr>
                <a:schemeClr val="dk1"/>
              </a:buClr>
              <a:buSzPts val="1800"/>
              <a:buFont typeface="Times New Roman"/>
              <a:buAutoNum type="arabicPeriod"/>
            </a:pPr>
            <a:r>
              <a:rPr lang="en-US" sz="1800">
                <a:solidFill>
                  <a:schemeClr val="dk1"/>
                </a:solidFill>
                <a:latin typeface="Times New Roman"/>
                <a:ea typeface="Times New Roman"/>
                <a:cs typeface="Times New Roman"/>
                <a:sym typeface="Times New Roman"/>
              </a:rPr>
              <a:t>Suppose we need to check if a string is an email address or not .An email address consist of a non-empty  sequence followed by the 'at' symbol ,@, followed by another non-empty sequence of character ending with  pattern like .xx,.xxx,.xxxx etc . Write the regular expression for an email address???</a:t>
            </a:r>
            <a:endParaRPr sz="1800">
              <a:solidFill>
                <a:schemeClr val="dk1"/>
              </a:solidFill>
              <a:latin typeface="Times New Roman"/>
              <a:ea typeface="Times New Roman"/>
              <a:cs typeface="Times New Roman"/>
              <a:sym typeface="Times New Roman"/>
            </a:endParaRPr>
          </a:p>
          <a:p>
            <a:pPr marL="457200" marR="5080" lvl="0" indent="-342900" algn="l" rtl="0">
              <a:lnSpc>
                <a:spcPct val="89700"/>
              </a:lnSpc>
              <a:spcBef>
                <a:spcPts val="0"/>
              </a:spcBef>
              <a:spcAft>
                <a:spcPts val="0"/>
              </a:spcAft>
              <a:buClr>
                <a:schemeClr val="dk1"/>
              </a:buClr>
              <a:buSzPts val="1800"/>
              <a:buFont typeface="Times New Roman"/>
              <a:buAutoNum type="arabicPeriod"/>
            </a:pPr>
            <a:r>
              <a:rPr lang="en-US" sz="1800">
                <a:solidFill>
                  <a:schemeClr val="dk1"/>
                </a:solidFill>
                <a:latin typeface="Times New Roman"/>
                <a:ea typeface="Times New Roman"/>
                <a:cs typeface="Times New Roman"/>
                <a:sym typeface="Times New Roman"/>
              </a:rPr>
              <a:t>Write the regular expression for an URL.</a:t>
            </a:r>
            <a:endParaRPr sz="1800">
              <a:solidFill>
                <a:schemeClr val="dk1"/>
              </a:solidFill>
              <a:latin typeface="Times New Roman"/>
              <a:ea typeface="Times New Roman"/>
              <a:cs typeface="Times New Roman"/>
              <a:sym typeface="Times New Roman"/>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Shape 106"/>
        <p:cNvGrpSpPr/>
        <p:nvPr/>
      </p:nvGrpSpPr>
      <p:grpSpPr>
        <a:xfrm>
          <a:off x="0" y="0"/>
          <a:ext cx="0" cy="0"/>
          <a:chOff x="0" y="0"/>
          <a:chExt cx="0" cy="0"/>
        </a:xfrm>
      </p:grpSpPr>
      <p:sp>
        <p:nvSpPr>
          <p:cNvPr id="107" name="Google Shape;107;p11"/>
          <p:cNvSpPr txBox="1">
            <a:spLocks noGrp="1"/>
          </p:cNvSpPr>
          <p:nvPr>
            <p:ph type="title"/>
          </p:nvPr>
        </p:nvSpPr>
        <p:spPr>
          <a:xfrm>
            <a:off x="911225" y="639172"/>
            <a:ext cx="5085715" cy="69596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4400"/>
              <a:t>Morphological Parsing</a:t>
            </a:r>
            <a:endParaRPr sz="4400"/>
          </a:p>
        </p:txBody>
      </p:sp>
      <p:sp>
        <p:nvSpPr>
          <p:cNvPr id="108" name="Google Shape;108;p11"/>
          <p:cNvSpPr txBox="1"/>
          <p:nvPr/>
        </p:nvSpPr>
        <p:spPr>
          <a:xfrm>
            <a:off x="955554" y="1841875"/>
            <a:ext cx="5952600" cy="28980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800">
                <a:solidFill>
                  <a:schemeClr val="dk1"/>
                </a:solidFill>
                <a:latin typeface="Calibri"/>
                <a:ea typeface="Calibri"/>
                <a:cs typeface="Calibri"/>
                <a:sym typeface="Calibri"/>
              </a:rPr>
              <a:t>-	Morphology is a sub discipline of linguistics.</a:t>
            </a:r>
            <a:endParaRPr sz="1800">
              <a:solidFill>
                <a:schemeClr val="dk1"/>
              </a:solidFill>
              <a:latin typeface="Calibri"/>
              <a:ea typeface="Calibri"/>
              <a:cs typeface="Calibri"/>
              <a:sym typeface="Calibri"/>
            </a:endParaRPr>
          </a:p>
        </p:txBody>
      </p:sp>
      <p:sp>
        <p:nvSpPr>
          <p:cNvPr id="109" name="Google Shape;109;p11"/>
          <p:cNvSpPr txBox="1"/>
          <p:nvPr/>
        </p:nvSpPr>
        <p:spPr>
          <a:xfrm>
            <a:off x="1995933" y="2305050"/>
            <a:ext cx="1440180" cy="274320"/>
          </a:xfrm>
          <a:prstGeom prst="rect">
            <a:avLst/>
          </a:prstGeom>
          <a:solidFill>
            <a:srgbClr val="FFFF00"/>
          </a:solidFill>
          <a:ln>
            <a:noFill/>
          </a:ln>
        </p:spPr>
        <p:txBody>
          <a:bodyPr spcFirstLastPara="1" wrap="square" lIns="0" tIns="0" rIns="0" bIns="0" anchor="t" anchorCtr="0">
            <a:spAutoFit/>
          </a:bodyPr>
          <a:lstStyle/>
          <a:p>
            <a:pPr marL="0" marR="0" lvl="0" indent="0" algn="l" rtl="0">
              <a:lnSpc>
                <a:spcPct val="116111"/>
              </a:lnSpc>
              <a:spcBef>
                <a:spcPts val="0"/>
              </a:spcBef>
              <a:spcAft>
                <a:spcPts val="0"/>
              </a:spcAft>
              <a:buNone/>
            </a:pPr>
            <a:r>
              <a:rPr lang="en-US" sz="1800" dirty="0">
                <a:solidFill>
                  <a:schemeClr val="dk1"/>
                </a:solidFill>
                <a:latin typeface="Calibri"/>
                <a:ea typeface="Calibri"/>
                <a:cs typeface="Calibri"/>
                <a:sym typeface="Calibri"/>
              </a:rPr>
              <a:t>word structure</a:t>
            </a:r>
            <a:endParaRPr sz="1800" dirty="0">
              <a:solidFill>
                <a:schemeClr val="dk1"/>
              </a:solidFill>
              <a:latin typeface="Calibri"/>
              <a:ea typeface="Calibri"/>
              <a:cs typeface="Calibri"/>
              <a:sym typeface="Calibri"/>
            </a:endParaRPr>
          </a:p>
        </p:txBody>
      </p:sp>
      <p:sp>
        <p:nvSpPr>
          <p:cNvPr id="110" name="Google Shape;110;p11"/>
          <p:cNvSpPr txBox="1"/>
          <p:nvPr/>
        </p:nvSpPr>
        <p:spPr>
          <a:xfrm>
            <a:off x="2400321" y="2305050"/>
            <a:ext cx="3199800" cy="28980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800" dirty="0" smtClean="0">
                <a:solidFill>
                  <a:schemeClr val="dk1"/>
                </a:solidFill>
                <a:latin typeface="Calibri"/>
                <a:ea typeface="Calibri"/>
                <a:cs typeface="Calibri"/>
                <a:sym typeface="Calibri"/>
              </a:rPr>
              <a:t>-</a:t>
            </a:r>
            <a:r>
              <a:rPr lang="en-US" sz="1800" dirty="0">
                <a:solidFill>
                  <a:schemeClr val="dk1"/>
                </a:solidFill>
                <a:latin typeface="Calibri"/>
                <a:ea typeface="Calibri"/>
                <a:cs typeface="Calibri"/>
                <a:sym typeface="Calibri"/>
              </a:rPr>
              <a:t> </a:t>
            </a:r>
            <a:r>
              <a:rPr lang="en-US" sz="1800" dirty="0" smtClean="0">
                <a:solidFill>
                  <a:schemeClr val="dk1"/>
                </a:solidFill>
                <a:latin typeface="Calibri"/>
                <a:ea typeface="Calibri"/>
                <a:cs typeface="Calibri"/>
                <a:sym typeface="Calibri"/>
              </a:rPr>
              <a:t>                  </a:t>
            </a:r>
            <a:r>
              <a:rPr lang="en-US" sz="1800" dirty="0" smtClean="0">
                <a:solidFill>
                  <a:schemeClr val="dk1"/>
                </a:solidFill>
                <a:latin typeface="Calibri"/>
                <a:ea typeface="Calibri"/>
                <a:cs typeface="Calibri"/>
                <a:sym typeface="Calibri"/>
              </a:rPr>
              <a:t>Study</a:t>
            </a:r>
            <a:endParaRPr sz="1800" dirty="0">
              <a:solidFill>
                <a:schemeClr val="dk1"/>
              </a:solidFill>
              <a:latin typeface="Calibri"/>
              <a:ea typeface="Calibri"/>
              <a:cs typeface="Calibri"/>
              <a:sym typeface="Calibri"/>
            </a:endParaRPr>
          </a:p>
        </p:txBody>
      </p:sp>
      <p:sp>
        <p:nvSpPr>
          <p:cNvPr id="111" name="Google Shape;111;p11"/>
          <p:cNvSpPr txBox="1"/>
          <p:nvPr/>
        </p:nvSpPr>
        <p:spPr>
          <a:xfrm>
            <a:off x="4199111" y="2305050"/>
            <a:ext cx="1850389" cy="274320"/>
          </a:xfrm>
          <a:prstGeom prst="rect">
            <a:avLst/>
          </a:prstGeom>
          <a:solidFill>
            <a:srgbClr val="FFFF00"/>
          </a:solidFill>
          <a:ln>
            <a:noFill/>
          </a:ln>
        </p:spPr>
        <p:txBody>
          <a:bodyPr spcFirstLastPara="1" wrap="square" lIns="0" tIns="0" rIns="0" bIns="0" anchor="t" anchorCtr="0">
            <a:spAutoFit/>
          </a:bodyPr>
          <a:lstStyle/>
          <a:p>
            <a:pPr marL="0" marR="0" lvl="0" indent="0" algn="l" rtl="0">
              <a:lnSpc>
                <a:spcPct val="116111"/>
              </a:lnSpc>
              <a:spcBef>
                <a:spcPts val="0"/>
              </a:spcBef>
              <a:spcAft>
                <a:spcPts val="0"/>
              </a:spcAft>
              <a:buNone/>
            </a:pPr>
            <a:r>
              <a:rPr lang="en-US" sz="1800">
                <a:solidFill>
                  <a:schemeClr val="dk1"/>
                </a:solidFill>
                <a:latin typeface="Calibri"/>
                <a:ea typeface="Calibri"/>
                <a:cs typeface="Calibri"/>
                <a:sym typeface="Calibri"/>
              </a:rPr>
              <a:t>formation of words</a:t>
            </a:r>
            <a:endParaRPr sz="1800">
              <a:solidFill>
                <a:schemeClr val="dk1"/>
              </a:solidFill>
              <a:latin typeface="Calibri"/>
              <a:ea typeface="Calibri"/>
              <a:cs typeface="Calibri"/>
              <a:sym typeface="Calibri"/>
            </a:endParaRPr>
          </a:p>
        </p:txBody>
      </p:sp>
      <p:sp>
        <p:nvSpPr>
          <p:cNvPr id="112" name="Google Shape;112;p11"/>
          <p:cNvSpPr txBox="1"/>
          <p:nvPr/>
        </p:nvSpPr>
        <p:spPr>
          <a:xfrm>
            <a:off x="6028806" y="2283205"/>
            <a:ext cx="3037205" cy="2997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800">
                <a:solidFill>
                  <a:schemeClr val="dk1"/>
                </a:solidFill>
                <a:latin typeface="Calibri"/>
                <a:ea typeface="Calibri"/>
                <a:cs typeface="Calibri"/>
                <a:sym typeface="Calibri"/>
              </a:rPr>
              <a:t>from smaller units.(morphemes)</a:t>
            </a:r>
            <a:endParaRPr sz="1800">
              <a:solidFill>
                <a:schemeClr val="dk1"/>
              </a:solidFill>
              <a:latin typeface="Calibri"/>
              <a:ea typeface="Calibri"/>
              <a:cs typeface="Calibri"/>
              <a:sym typeface="Calibri"/>
            </a:endParaRPr>
          </a:p>
        </p:txBody>
      </p:sp>
      <p:sp>
        <p:nvSpPr>
          <p:cNvPr id="113" name="Google Shape;113;p11"/>
          <p:cNvSpPr txBox="1"/>
          <p:nvPr/>
        </p:nvSpPr>
        <p:spPr>
          <a:xfrm>
            <a:off x="945505" y="2721350"/>
            <a:ext cx="9484200" cy="1298100"/>
          </a:xfrm>
          <a:prstGeom prst="rect">
            <a:avLst/>
          </a:prstGeom>
          <a:noFill/>
          <a:ln>
            <a:noFill/>
          </a:ln>
        </p:spPr>
        <p:txBody>
          <a:bodyPr spcFirstLastPara="1" wrap="square" lIns="0" tIns="12700" rIns="0" bIns="0" anchor="t" anchorCtr="0">
            <a:spAutoFit/>
          </a:bodyPr>
          <a:lstStyle/>
          <a:p>
            <a:pPr marL="321310" marR="0" lvl="0" indent="-299719" algn="l" rtl="0">
              <a:lnSpc>
                <a:spcPct val="100000"/>
              </a:lnSpc>
              <a:spcBef>
                <a:spcPts val="0"/>
              </a:spcBef>
              <a:spcAft>
                <a:spcPts val="0"/>
              </a:spcAft>
              <a:buClr>
                <a:schemeClr val="dk1"/>
              </a:buClr>
              <a:buSzPts val="1800"/>
              <a:buFont typeface="Calibri"/>
              <a:buChar char="-"/>
            </a:pPr>
            <a:r>
              <a:rPr lang="en-US" sz="1800">
                <a:solidFill>
                  <a:schemeClr val="dk1"/>
                </a:solidFill>
                <a:latin typeface="Calibri"/>
                <a:ea typeface="Calibri"/>
                <a:cs typeface="Calibri"/>
                <a:sym typeface="Calibri"/>
              </a:rPr>
              <a:t>Goal to discover the morphemes that build a given word.</a:t>
            </a:r>
            <a:endParaRPr sz="1800">
              <a:solidFill>
                <a:schemeClr val="dk1"/>
              </a:solidFill>
              <a:latin typeface="Calibri"/>
              <a:ea typeface="Calibri"/>
              <a:cs typeface="Calibri"/>
              <a:sym typeface="Calibri"/>
            </a:endParaRPr>
          </a:p>
          <a:p>
            <a:pPr marL="321310" marR="0" lvl="0" indent="-299719" algn="l" rtl="0">
              <a:lnSpc>
                <a:spcPct val="100000"/>
              </a:lnSpc>
              <a:spcBef>
                <a:spcPts val="1290"/>
              </a:spcBef>
              <a:spcAft>
                <a:spcPts val="0"/>
              </a:spcAft>
              <a:buClr>
                <a:schemeClr val="dk1"/>
              </a:buClr>
              <a:buSzPts val="1800"/>
              <a:buFont typeface="Calibri"/>
              <a:buChar char="-"/>
            </a:pPr>
            <a:r>
              <a:rPr lang="en-US" sz="1800">
                <a:solidFill>
                  <a:schemeClr val="dk1"/>
                </a:solidFill>
                <a:latin typeface="Calibri"/>
                <a:ea typeface="Calibri"/>
                <a:cs typeface="Calibri"/>
                <a:sym typeface="Calibri"/>
              </a:rPr>
              <a:t>Morphemes </a:t>
            </a:r>
            <a:r>
              <a:rPr lang="en-US" sz="1800">
                <a:solidFill>
                  <a:schemeClr val="dk1"/>
                </a:solidFill>
                <a:latin typeface="Lucida Sans"/>
                <a:ea typeface="Lucida Sans"/>
                <a:cs typeface="Lucida Sans"/>
                <a:sym typeface="Lucida Sans"/>
              </a:rPr>
              <a:t>□ </a:t>
            </a:r>
            <a:r>
              <a:rPr lang="en-US" sz="1800">
                <a:solidFill>
                  <a:schemeClr val="dk1"/>
                </a:solidFill>
                <a:latin typeface="Calibri"/>
                <a:ea typeface="Calibri"/>
                <a:cs typeface="Calibri"/>
                <a:sym typeface="Calibri"/>
              </a:rPr>
              <a:t>smallest meaning-bearing units in a language.</a:t>
            </a:r>
            <a:endParaRPr sz="1800">
              <a:solidFill>
                <a:schemeClr val="dk1"/>
              </a:solidFill>
              <a:latin typeface="Calibri"/>
              <a:ea typeface="Calibri"/>
              <a:cs typeface="Calibri"/>
              <a:sym typeface="Calibri"/>
            </a:endParaRPr>
          </a:p>
          <a:p>
            <a:pPr marL="0" marR="0" lvl="0" indent="0" algn="l" rtl="0">
              <a:lnSpc>
                <a:spcPct val="100000"/>
              </a:lnSpc>
              <a:spcBef>
                <a:spcPts val="30"/>
              </a:spcBef>
              <a:spcAft>
                <a:spcPts val="0"/>
              </a:spcAft>
              <a:buNone/>
            </a:pPr>
            <a:endParaRPr sz="1850">
              <a:solidFill>
                <a:schemeClr val="dk1"/>
              </a:solidFill>
              <a:latin typeface="Calibri"/>
              <a:ea typeface="Calibri"/>
              <a:cs typeface="Calibri"/>
              <a:sym typeface="Calibri"/>
            </a:endParaRPr>
          </a:p>
          <a:p>
            <a:pPr marL="207009" marR="0" lvl="0" indent="-194945" algn="l" rtl="0">
              <a:lnSpc>
                <a:spcPct val="100000"/>
              </a:lnSpc>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Example: ‘bread’, ‘eggs’ 2 morpheme? egg+ S</a:t>
            </a:r>
            <a:endParaRPr sz="1800">
              <a:solidFill>
                <a:schemeClr val="dk1"/>
              </a:solidFill>
              <a:latin typeface="Calibri"/>
              <a:ea typeface="Calibri"/>
              <a:cs typeface="Calibri"/>
              <a:sym typeface="Calibri"/>
            </a:endParaRPr>
          </a:p>
        </p:txBody>
      </p:sp>
      <p:pic>
        <p:nvPicPr>
          <p:cNvPr id="114" name="Google Shape;114;p11"/>
          <p:cNvPicPr preferRelativeResize="0"/>
          <p:nvPr/>
        </p:nvPicPr>
        <p:blipFill rotWithShape="1">
          <a:blip r:embed="rId3">
            <a:alphaModFix/>
          </a:blip>
          <a:srcRect/>
          <a:stretch/>
        </p:blipFill>
        <p:spPr>
          <a:xfrm>
            <a:off x="1254298" y="4208225"/>
            <a:ext cx="8859519" cy="150329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Shape 118"/>
        <p:cNvGrpSpPr/>
        <p:nvPr/>
      </p:nvGrpSpPr>
      <p:grpSpPr>
        <a:xfrm>
          <a:off x="0" y="0"/>
          <a:ext cx="0" cy="0"/>
          <a:chOff x="0" y="0"/>
          <a:chExt cx="0" cy="0"/>
        </a:xfrm>
      </p:grpSpPr>
      <p:sp>
        <p:nvSpPr>
          <p:cNvPr id="119" name="Google Shape;119;p12"/>
          <p:cNvSpPr txBox="1">
            <a:spLocks noGrp="1"/>
          </p:cNvSpPr>
          <p:nvPr>
            <p:ph type="title"/>
          </p:nvPr>
        </p:nvSpPr>
        <p:spPr>
          <a:xfrm>
            <a:off x="911225" y="639172"/>
            <a:ext cx="5085715" cy="69596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4400"/>
              <a:t>Morphological Parsing</a:t>
            </a:r>
            <a:endParaRPr sz="4400"/>
          </a:p>
        </p:txBody>
      </p:sp>
      <p:sp>
        <p:nvSpPr>
          <p:cNvPr id="120" name="Google Shape;120;p12"/>
          <p:cNvSpPr txBox="1"/>
          <p:nvPr/>
        </p:nvSpPr>
        <p:spPr>
          <a:xfrm>
            <a:off x="911225" y="1841875"/>
            <a:ext cx="9000600" cy="56700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800">
                <a:solidFill>
                  <a:schemeClr val="dk1"/>
                </a:solidFill>
                <a:latin typeface="Calibri"/>
                <a:ea typeface="Calibri"/>
                <a:cs typeface="Calibri"/>
                <a:sym typeface="Calibri"/>
              </a:rPr>
              <a:t>Stem-	main morpheme i.e. the morpheme that contain the central meaning.</a:t>
            </a:r>
            <a:endParaRPr sz="1800">
              <a:solidFill>
                <a:schemeClr val="dk1"/>
              </a:solidFill>
              <a:latin typeface="Calibri"/>
              <a:ea typeface="Calibri"/>
              <a:cs typeface="Calibri"/>
              <a:sym typeface="Calibri"/>
            </a:endParaRPr>
          </a:p>
          <a:p>
            <a:pPr marL="12700" marR="0" lvl="0" indent="0" algn="l" rtl="0">
              <a:lnSpc>
                <a:spcPct val="100000"/>
              </a:lnSpc>
              <a:spcBef>
                <a:spcPts val="0"/>
              </a:spcBef>
              <a:spcAft>
                <a:spcPts val="0"/>
              </a:spcAft>
              <a:buNone/>
            </a:pPr>
            <a:r>
              <a:rPr lang="en-US" sz="1800">
                <a:solidFill>
                  <a:schemeClr val="dk1"/>
                </a:solidFill>
                <a:latin typeface="Calibri"/>
                <a:ea typeface="Calibri"/>
                <a:cs typeface="Calibri"/>
                <a:sym typeface="Calibri"/>
              </a:rPr>
              <a:t>Affixes- modify the meaning given by the stem</a:t>
            </a:r>
            <a:endParaRPr sz="1800">
              <a:solidFill>
                <a:schemeClr val="dk1"/>
              </a:solidFill>
              <a:latin typeface="Calibri"/>
              <a:ea typeface="Calibri"/>
              <a:cs typeface="Calibri"/>
              <a:sym typeface="Calibri"/>
            </a:endParaRPr>
          </a:p>
        </p:txBody>
      </p:sp>
      <p:sp>
        <p:nvSpPr>
          <p:cNvPr id="121" name="Google Shape;121;p12"/>
          <p:cNvSpPr txBox="1"/>
          <p:nvPr/>
        </p:nvSpPr>
        <p:spPr>
          <a:xfrm>
            <a:off x="1789506" y="2668930"/>
            <a:ext cx="899794" cy="1511300"/>
          </a:xfrm>
          <a:prstGeom prst="rect">
            <a:avLst/>
          </a:prstGeom>
          <a:noFill/>
          <a:ln>
            <a:noFill/>
          </a:ln>
        </p:spPr>
        <p:txBody>
          <a:bodyPr spcFirstLastPara="1" wrap="square" lIns="0" tIns="12700" rIns="0" bIns="0" anchor="t" anchorCtr="0">
            <a:spAutoFit/>
          </a:bodyPr>
          <a:lstStyle/>
          <a:p>
            <a:pPr marL="12700" marR="5080" lvl="0" indent="0" algn="l" rtl="0">
              <a:lnSpc>
                <a:spcPct val="135400"/>
              </a:lnSpc>
              <a:spcBef>
                <a:spcPts val="0"/>
              </a:spcBef>
              <a:spcAft>
                <a:spcPts val="0"/>
              </a:spcAft>
              <a:buNone/>
            </a:pPr>
            <a:r>
              <a:rPr lang="en-US" sz="1800">
                <a:solidFill>
                  <a:schemeClr val="dk1"/>
                </a:solidFill>
                <a:latin typeface="Calibri"/>
                <a:ea typeface="Calibri"/>
                <a:cs typeface="Calibri"/>
                <a:sym typeface="Calibri"/>
              </a:rPr>
              <a:t>Prefix  Suffix  Infix  Circumfix</a:t>
            </a:r>
            <a:endParaRPr sz="1800">
              <a:solidFill>
                <a:schemeClr val="dk1"/>
              </a:solidFill>
              <a:latin typeface="Calibri"/>
              <a:ea typeface="Calibri"/>
              <a:cs typeface="Calibri"/>
              <a:sym typeface="Calibri"/>
            </a:endParaRPr>
          </a:p>
        </p:txBody>
      </p:sp>
      <p:sp>
        <p:nvSpPr>
          <p:cNvPr id="122" name="Google Shape;122;p12"/>
          <p:cNvSpPr txBox="1"/>
          <p:nvPr/>
        </p:nvSpPr>
        <p:spPr>
          <a:xfrm>
            <a:off x="911225" y="4037394"/>
            <a:ext cx="3679825" cy="1050925"/>
          </a:xfrm>
          <a:prstGeom prst="rect">
            <a:avLst/>
          </a:prstGeom>
          <a:noFill/>
          <a:ln>
            <a:noFill/>
          </a:ln>
        </p:spPr>
        <p:txBody>
          <a:bodyPr spcFirstLastPara="1" wrap="square" lIns="0" tIns="209550" rIns="0" bIns="0" anchor="t" anchorCtr="0">
            <a:spAutoFit/>
          </a:bodyPr>
          <a:lstStyle/>
          <a:p>
            <a:pPr marL="12700" marR="0" lvl="0" indent="0" algn="l" rtl="0">
              <a:lnSpc>
                <a:spcPct val="100000"/>
              </a:lnSpc>
              <a:spcBef>
                <a:spcPts val="0"/>
              </a:spcBef>
              <a:spcAft>
                <a:spcPts val="0"/>
              </a:spcAft>
              <a:buNone/>
            </a:pPr>
            <a:r>
              <a:rPr lang="en-US" sz="2800">
                <a:solidFill>
                  <a:schemeClr val="dk1"/>
                </a:solidFill>
                <a:latin typeface="Calibri"/>
                <a:ea typeface="Calibri"/>
                <a:cs typeface="Calibri"/>
                <a:sym typeface="Calibri"/>
              </a:rPr>
              <a:t>Example:</a:t>
            </a:r>
            <a:endParaRPr sz="2800">
              <a:solidFill>
                <a:schemeClr val="dk1"/>
              </a:solidFill>
              <a:latin typeface="Calibri"/>
              <a:ea typeface="Calibri"/>
              <a:cs typeface="Calibri"/>
              <a:sym typeface="Calibri"/>
            </a:endParaRPr>
          </a:p>
          <a:p>
            <a:pPr marL="241300" marR="0" lvl="0" indent="-194945" algn="l" rtl="0">
              <a:lnSpc>
                <a:spcPct val="100000"/>
              </a:lnSpc>
              <a:spcBef>
                <a:spcPts val="100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Pilli – cat – pillulu where ulu is plural</a:t>
            </a:r>
            <a:endParaRPr sz="1800">
              <a:solidFill>
                <a:schemeClr val="dk1"/>
              </a:solidFill>
              <a:latin typeface="Calibri"/>
              <a:ea typeface="Calibri"/>
              <a:cs typeface="Calibri"/>
              <a:sym typeface="Calibri"/>
            </a:endParaRPr>
          </a:p>
        </p:txBody>
      </p:sp>
      <p:sp>
        <p:nvSpPr>
          <p:cNvPr id="123" name="Google Shape;123;p12"/>
          <p:cNvSpPr txBox="1"/>
          <p:nvPr/>
        </p:nvSpPr>
        <p:spPr>
          <a:xfrm>
            <a:off x="945492" y="5331485"/>
            <a:ext cx="2191385" cy="299720"/>
          </a:xfrm>
          <a:prstGeom prst="rect">
            <a:avLst/>
          </a:prstGeom>
          <a:noFill/>
          <a:ln>
            <a:noFill/>
          </a:ln>
        </p:spPr>
        <p:txBody>
          <a:bodyPr spcFirstLastPara="1" wrap="square" lIns="0" tIns="12700" rIns="0" bIns="0" anchor="t" anchorCtr="0">
            <a:spAutoFit/>
          </a:bodyPr>
          <a:lstStyle/>
          <a:p>
            <a:pPr marL="207009" marR="0" lvl="0" indent="-194945" algn="l" rtl="0">
              <a:lnSpc>
                <a:spcPct val="100000"/>
              </a:lnSpc>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Chevi – ear – chevulu</a:t>
            </a:r>
            <a:endParaRPr sz="1800">
              <a:solidFill>
                <a:schemeClr val="dk1"/>
              </a:solidFill>
              <a:latin typeface="Calibri"/>
              <a:ea typeface="Calibri"/>
              <a:cs typeface="Calibri"/>
              <a:sym typeface="Calibri"/>
            </a:endParaRPr>
          </a:p>
        </p:txBody>
      </p:sp>
      <p:grpSp>
        <p:nvGrpSpPr>
          <p:cNvPr id="124" name="Google Shape;124;p12"/>
          <p:cNvGrpSpPr/>
          <p:nvPr/>
        </p:nvGrpSpPr>
        <p:grpSpPr>
          <a:xfrm>
            <a:off x="1274618" y="2902958"/>
            <a:ext cx="448483" cy="1260186"/>
            <a:chOff x="1274618" y="2902958"/>
            <a:chExt cx="448483" cy="1260186"/>
          </a:xfrm>
        </p:grpSpPr>
        <p:sp>
          <p:nvSpPr>
            <p:cNvPr id="125" name="Google Shape;125;p12"/>
            <p:cNvSpPr/>
            <p:nvPr/>
          </p:nvSpPr>
          <p:spPr>
            <a:xfrm>
              <a:off x="1274618" y="2918691"/>
              <a:ext cx="0" cy="1228725"/>
            </a:xfrm>
            <a:custGeom>
              <a:avLst/>
              <a:gdLst/>
              <a:ahLst/>
              <a:cxnLst/>
              <a:rect l="l" t="t" r="r" b="b"/>
              <a:pathLst>
                <a:path w="120000" h="1228725" extrusionOk="0">
                  <a:moveTo>
                    <a:pt x="0" y="0"/>
                  </a:moveTo>
                  <a:lnTo>
                    <a:pt x="0" y="1228435"/>
                  </a:lnTo>
                </a:path>
              </a:pathLst>
            </a:custGeom>
            <a:noFill/>
            <a:ln w="1267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26" name="Google Shape;126;p12"/>
            <p:cNvSpPr/>
            <p:nvPr/>
          </p:nvSpPr>
          <p:spPr>
            <a:xfrm>
              <a:off x="1274618" y="2918691"/>
              <a:ext cx="405130" cy="0"/>
            </a:xfrm>
            <a:custGeom>
              <a:avLst/>
              <a:gdLst/>
              <a:ahLst/>
              <a:cxnLst/>
              <a:rect l="l" t="t" r="r" b="b"/>
              <a:pathLst>
                <a:path w="405130" h="120000" extrusionOk="0">
                  <a:moveTo>
                    <a:pt x="0" y="0"/>
                  </a:moveTo>
                  <a:lnTo>
                    <a:pt x="404667" y="0"/>
                  </a:lnTo>
                </a:path>
              </a:pathLst>
            </a:custGeom>
            <a:noFill/>
            <a:ln w="9525" cap="flat" cmpd="sng">
              <a:solidFill>
                <a:srgbClr val="4472C4"/>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27" name="Google Shape;127;p12"/>
            <p:cNvSpPr/>
            <p:nvPr/>
          </p:nvSpPr>
          <p:spPr>
            <a:xfrm>
              <a:off x="1679286" y="2902958"/>
              <a:ext cx="43815" cy="31750"/>
            </a:xfrm>
            <a:custGeom>
              <a:avLst/>
              <a:gdLst/>
              <a:ahLst/>
              <a:cxnLst/>
              <a:rect l="l" t="t" r="r" b="b"/>
              <a:pathLst>
                <a:path w="43814" h="31750" extrusionOk="0">
                  <a:moveTo>
                    <a:pt x="0" y="31465"/>
                  </a:moveTo>
                  <a:lnTo>
                    <a:pt x="0" y="0"/>
                  </a:lnTo>
                  <a:lnTo>
                    <a:pt x="43225" y="15732"/>
                  </a:lnTo>
                  <a:lnTo>
                    <a:pt x="0" y="31465"/>
                  </a:lnTo>
                  <a:close/>
                </a:path>
              </a:pathLst>
            </a:custGeom>
            <a:solidFill>
              <a:srgbClr val="4472C4"/>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28" name="Google Shape;128;p12"/>
            <p:cNvSpPr/>
            <p:nvPr/>
          </p:nvSpPr>
          <p:spPr>
            <a:xfrm>
              <a:off x="1679286" y="2902958"/>
              <a:ext cx="43815" cy="31750"/>
            </a:xfrm>
            <a:custGeom>
              <a:avLst/>
              <a:gdLst/>
              <a:ahLst/>
              <a:cxnLst/>
              <a:rect l="l" t="t" r="r" b="b"/>
              <a:pathLst>
                <a:path w="43814" h="31750" extrusionOk="0">
                  <a:moveTo>
                    <a:pt x="0" y="31465"/>
                  </a:moveTo>
                  <a:lnTo>
                    <a:pt x="43225" y="15732"/>
                  </a:lnTo>
                  <a:lnTo>
                    <a:pt x="0" y="0"/>
                  </a:lnTo>
                  <a:lnTo>
                    <a:pt x="0" y="31465"/>
                  </a:lnTo>
                  <a:close/>
                </a:path>
              </a:pathLst>
            </a:custGeom>
            <a:noFill/>
            <a:ln w="9525" cap="flat" cmpd="sng">
              <a:solidFill>
                <a:srgbClr val="4472C4"/>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29" name="Google Shape;129;p12"/>
            <p:cNvSpPr/>
            <p:nvPr/>
          </p:nvSpPr>
          <p:spPr>
            <a:xfrm>
              <a:off x="1274618" y="3283527"/>
              <a:ext cx="405130" cy="0"/>
            </a:xfrm>
            <a:custGeom>
              <a:avLst/>
              <a:gdLst/>
              <a:ahLst/>
              <a:cxnLst/>
              <a:rect l="l" t="t" r="r" b="b"/>
              <a:pathLst>
                <a:path w="405130" h="120000" extrusionOk="0">
                  <a:moveTo>
                    <a:pt x="0" y="0"/>
                  </a:moveTo>
                  <a:lnTo>
                    <a:pt x="404667" y="0"/>
                  </a:lnTo>
                </a:path>
              </a:pathLst>
            </a:custGeom>
            <a:noFill/>
            <a:ln w="9525" cap="flat" cmpd="sng">
              <a:solidFill>
                <a:srgbClr val="4472C4"/>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30" name="Google Shape;130;p12"/>
            <p:cNvSpPr/>
            <p:nvPr/>
          </p:nvSpPr>
          <p:spPr>
            <a:xfrm>
              <a:off x="1679286" y="3267794"/>
              <a:ext cx="43815" cy="31750"/>
            </a:xfrm>
            <a:custGeom>
              <a:avLst/>
              <a:gdLst/>
              <a:ahLst/>
              <a:cxnLst/>
              <a:rect l="l" t="t" r="r" b="b"/>
              <a:pathLst>
                <a:path w="43814" h="31750" extrusionOk="0">
                  <a:moveTo>
                    <a:pt x="0" y="31465"/>
                  </a:moveTo>
                  <a:lnTo>
                    <a:pt x="0" y="0"/>
                  </a:lnTo>
                  <a:lnTo>
                    <a:pt x="43225" y="15732"/>
                  </a:lnTo>
                  <a:lnTo>
                    <a:pt x="0" y="31465"/>
                  </a:lnTo>
                  <a:close/>
                </a:path>
              </a:pathLst>
            </a:custGeom>
            <a:solidFill>
              <a:srgbClr val="4472C4"/>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31" name="Google Shape;131;p12"/>
            <p:cNvSpPr/>
            <p:nvPr/>
          </p:nvSpPr>
          <p:spPr>
            <a:xfrm>
              <a:off x="1679286" y="3267794"/>
              <a:ext cx="43815" cy="31750"/>
            </a:xfrm>
            <a:custGeom>
              <a:avLst/>
              <a:gdLst/>
              <a:ahLst/>
              <a:cxnLst/>
              <a:rect l="l" t="t" r="r" b="b"/>
              <a:pathLst>
                <a:path w="43814" h="31750" extrusionOk="0">
                  <a:moveTo>
                    <a:pt x="0" y="31465"/>
                  </a:moveTo>
                  <a:lnTo>
                    <a:pt x="43225" y="15732"/>
                  </a:lnTo>
                  <a:lnTo>
                    <a:pt x="0" y="0"/>
                  </a:lnTo>
                  <a:lnTo>
                    <a:pt x="0" y="31465"/>
                  </a:lnTo>
                  <a:close/>
                </a:path>
              </a:pathLst>
            </a:custGeom>
            <a:noFill/>
            <a:ln w="9525" cap="flat" cmpd="sng">
              <a:solidFill>
                <a:srgbClr val="4472C4"/>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32" name="Google Shape;132;p12"/>
            <p:cNvSpPr/>
            <p:nvPr/>
          </p:nvSpPr>
          <p:spPr>
            <a:xfrm>
              <a:off x="1274618" y="3666836"/>
              <a:ext cx="405130" cy="0"/>
            </a:xfrm>
            <a:custGeom>
              <a:avLst/>
              <a:gdLst/>
              <a:ahLst/>
              <a:cxnLst/>
              <a:rect l="l" t="t" r="r" b="b"/>
              <a:pathLst>
                <a:path w="405130" h="120000" extrusionOk="0">
                  <a:moveTo>
                    <a:pt x="0" y="0"/>
                  </a:moveTo>
                  <a:lnTo>
                    <a:pt x="404667" y="0"/>
                  </a:lnTo>
                </a:path>
              </a:pathLst>
            </a:custGeom>
            <a:noFill/>
            <a:ln w="9525" cap="flat" cmpd="sng">
              <a:solidFill>
                <a:srgbClr val="4472C4"/>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33" name="Google Shape;133;p12"/>
            <p:cNvSpPr/>
            <p:nvPr/>
          </p:nvSpPr>
          <p:spPr>
            <a:xfrm>
              <a:off x="1679286" y="3651103"/>
              <a:ext cx="43815" cy="31750"/>
            </a:xfrm>
            <a:custGeom>
              <a:avLst/>
              <a:gdLst/>
              <a:ahLst/>
              <a:cxnLst/>
              <a:rect l="l" t="t" r="r" b="b"/>
              <a:pathLst>
                <a:path w="43814" h="31750" extrusionOk="0">
                  <a:moveTo>
                    <a:pt x="0" y="31465"/>
                  </a:moveTo>
                  <a:lnTo>
                    <a:pt x="0" y="0"/>
                  </a:lnTo>
                  <a:lnTo>
                    <a:pt x="43225" y="15732"/>
                  </a:lnTo>
                  <a:lnTo>
                    <a:pt x="0" y="31465"/>
                  </a:lnTo>
                  <a:close/>
                </a:path>
              </a:pathLst>
            </a:custGeom>
            <a:solidFill>
              <a:srgbClr val="4472C4"/>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34" name="Google Shape;134;p12"/>
            <p:cNvSpPr/>
            <p:nvPr/>
          </p:nvSpPr>
          <p:spPr>
            <a:xfrm>
              <a:off x="1679286" y="3651103"/>
              <a:ext cx="43815" cy="31750"/>
            </a:xfrm>
            <a:custGeom>
              <a:avLst/>
              <a:gdLst/>
              <a:ahLst/>
              <a:cxnLst/>
              <a:rect l="l" t="t" r="r" b="b"/>
              <a:pathLst>
                <a:path w="43814" h="31750" extrusionOk="0">
                  <a:moveTo>
                    <a:pt x="0" y="31465"/>
                  </a:moveTo>
                  <a:lnTo>
                    <a:pt x="43225" y="15732"/>
                  </a:lnTo>
                  <a:lnTo>
                    <a:pt x="0" y="0"/>
                  </a:lnTo>
                  <a:lnTo>
                    <a:pt x="0" y="31465"/>
                  </a:lnTo>
                  <a:close/>
                </a:path>
              </a:pathLst>
            </a:custGeom>
            <a:noFill/>
            <a:ln w="9525" cap="flat" cmpd="sng">
              <a:solidFill>
                <a:srgbClr val="4472C4"/>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35" name="Google Shape;135;p12"/>
            <p:cNvSpPr/>
            <p:nvPr/>
          </p:nvSpPr>
          <p:spPr>
            <a:xfrm>
              <a:off x="1274618" y="4147126"/>
              <a:ext cx="405130" cy="0"/>
            </a:xfrm>
            <a:custGeom>
              <a:avLst/>
              <a:gdLst/>
              <a:ahLst/>
              <a:cxnLst/>
              <a:rect l="l" t="t" r="r" b="b"/>
              <a:pathLst>
                <a:path w="405130" h="120000" extrusionOk="0">
                  <a:moveTo>
                    <a:pt x="0" y="0"/>
                  </a:moveTo>
                  <a:lnTo>
                    <a:pt x="404667" y="0"/>
                  </a:lnTo>
                </a:path>
              </a:pathLst>
            </a:custGeom>
            <a:noFill/>
            <a:ln w="9525" cap="flat" cmpd="sng">
              <a:solidFill>
                <a:srgbClr val="4472C4"/>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36" name="Google Shape;136;p12"/>
            <p:cNvSpPr/>
            <p:nvPr/>
          </p:nvSpPr>
          <p:spPr>
            <a:xfrm>
              <a:off x="1679286" y="4131394"/>
              <a:ext cx="43815" cy="31750"/>
            </a:xfrm>
            <a:custGeom>
              <a:avLst/>
              <a:gdLst/>
              <a:ahLst/>
              <a:cxnLst/>
              <a:rect l="l" t="t" r="r" b="b"/>
              <a:pathLst>
                <a:path w="43814" h="31750" extrusionOk="0">
                  <a:moveTo>
                    <a:pt x="0" y="31465"/>
                  </a:moveTo>
                  <a:lnTo>
                    <a:pt x="0" y="0"/>
                  </a:lnTo>
                  <a:lnTo>
                    <a:pt x="43225" y="15732"/>
                  </a:lnTo>
                  <a:lnTo>
                    <a:pt x="0" y="31465"/>
                  </a:lnTo>
                  <a:close/>
                </a:path>
              </a:pathLst>
            </a:custGeom>
            <a:solidFill>
              <a:srgbClr val="4472C4"/>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37" name="Google Shape;137;p12"/>
            <p:cNvSpPr/>
            <p:nvPr/>
          </p:nvSpPr>
          <p:spPr>
            <a:xfrm>
              <a:off x="1679286" y="4131394"/>
              <a:ext cx="43815" cy="31750"/>
            </a:xfrm>
            <a:custGeom>
              <a:avLst/>
              <a:gdLst/>
              <a:ahLst/>
              <a:cxnLst/>
              <a:rect l="l" t="t" r="r" b="b"/>
              <a:pathLst>
                <a:path w="43814" h="31750" extrusionOk="0">
                  <a:moveTo>
                    <a:pt x="0" y="31465"/>
                  </a:moveTo>
                  <a:lnTo>
                    <a:pt x="43225" y="15732"/>
                  </a:lnTo>
                  <a:lnTo>
                    <a:pt x="0" y="0"/>
                  </a:lnTo>
                  <a:lnTo>
                    <a:pt x="0" y="31465"/>
                  </a:lnTo>
                  <a:close/>
                </a:path>
              </a:pathLst>
            </a:custGeom>
            <a:noFill/>
            <a:ln w="9525" cap="flat" cmpd="sng">
              <a:solidFill>
                <a:srgbClr val="4472C4"/>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Shape 141"/>
        <p:cNvGrpSpPr/>
        <p:nvPr/>
      </p:nvGrpSpPr>
      <p:grpSpPr>
        <a:xfrm>
          <a:off x="0" y="0"/>
          <a:ext cx="0" cy="0"/>
          <a:chOff x="0" y="0"/>
          <a:chExt cx="0" cy="0"/>
        </a:xfrm>
      </p:grpSpPr>
      <p:sp>
        <p:nvSpPr>
          <p:cNvPr id="142" name="Google Shape;142;p13"/>
          <p:cNvSpPr txBox="1">
            <a:spLocks noGrp="1"/>
          </p:cNvSpPr>
          <p:nvPr>
            <p:ph type="title"/>
          </p:nvPr>
        </p:nvSpPr>
        <p:spPr>
          <a:xfrm>
            <a:off x="911225" y="403428"/>
            <a:ext cx="5085715" cy="69596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4400"/>
              <a:t>Morphological Parsing</a:t>
            </a:r>
            <a:endParaRPr sz="4400"/>
          </a:p>
        </p:txBody>
      </p:sp>
      <p:sp>
        <p:nvSpPr>
          <p:cNvPr id="143" name="Google Shape;143;p13"/>
          <p:cNvSpPr txBox="1"/>
          <p:nvPr/>
        </p:nvSpPr>
        <p:spPr>
          <a:xfrm>
            <a:off x="940383" y="1532391"/>
            <a:ext cx="3105150" cy="1500505"/>
          </a:xfrm>
          <a:prstGeom prst="rect">
            <a:avLst/>
          </a:prstGeom>
          <a:noFill/>
          <a:ln>
            <a:noFill/>
          </a:ln>
        </p:spPr>
        <p:txBody>
          <a:bodyPr spcFirstLastPara="1" wrap="square" lIns="0" tIns="16500" rIns="0" bIns="0" anchor="t" anchorCtr="0">
            <a:spAutoFit/>
          </a:bodyPr>
          <a:lstStyle/>
          <a:p>
            <a:pPr marL="212090" marR="0" lvl="0" indent="-200025" algn="l" rtl="0">
              <a:lnSpc>
                <a:spcPct val="100000"/>
              </a:lnSpc>
              <a:spcBef>
                <a:spcPts val="0"/>
              </a:spcBef>
              <a:spcAft>
                <a:spcPts val="0"/>
              </a:spcAft>
              <a:buClr>
                <a:schemeClr val="dk1"/>
              </a:buClr>
              <a:buSzPts val="1500"/>
              <a:buFont typeface="Arial"/>
              <a:buChar char="•"/>
            </a:pPr>
            <a:r>
              <a:rPr lang="en-US" sz="1500">
                <a:solidFill>
                  <a:schemeClr val="dk1"/>
                </a:solidFill>
                <a:latin typeface="Calibri"/>
                <a:ea typeface="Calibri"/>
                <a:cs typeface="Calibri"/>
                <a:sym typeface="Calibri"/>
              </a:rPr>
              <a:t>Three main ways of word formation:</a:t>
            </a:r>
            <a:endParaRPr sz="1500">
              <a:solidFill>
                <a:schemeClr val="dk1"/>
              </a:solidFill>
              <a:latin typeface="Calibri"/>
              <a:ea typeface="Calibri"/>
              <a:cs typeface="Calibri"/>
              <a:sym typeface="Calibri"/>
            </a:endParaRPr>
          </a:p>
          <a:p>
            <a:pPr marL="0" marR="0" lvl="0" indent="0" algn="l" rtl="0">
              <a:lnSpc>
                <a:spcPct val="100000"/>
              </a:lnSpc>
              <a:spcBef>
                <a:spcPts val="10"/>
              </a:spcBef>
              <a:spcAft>
                <a:spcPts val="0"/>
              </a:spcAft>
              <a:buNone/>
            </a:pPr>
            <a:endParaRPr sz="1750">
              <a:solidFill>
                <a:schemeClr val="dk1"/>
              </a:solidFill>
              <a:latin typeface="Calibri"/>
              <a:ea typeface="Calibri"/>
              <a:cs typeface="Calibri"/>
              <a:sym typeface="Calibri"/>
            </a:endParaRPr>
          </a:p>
          <a:p>
            <a:pPr marL="326390" marR="0" lvl="0" indent="-306070" algn="l" rtl="0">
              <a:lnSpc>
                <a:spcPct val="100000"/>
              </a:lnSpc>
              <a:spcBef>
                <a:spcPts val="0"/>
              </a:spcBef>
              <a:spcAft>
                <a:spcPts val="0"/>
              </a:spcAft>
              <a:buClr>
                <a:schemeClr val="dk1"/>
              </a:buClr>
              <a:buSzPts val="1500"/>
              <a:buFont typeface="Calibri"/>
              <a:buChar char="-"/>
            </a:pPr>
            <a:r>
              <a:rPr lang="en-US" sz="1500">
                <a:solidFill>
                  <a:schemeClr val="dk1"/>
                </a:solidFill>
                <a:latin typeface="Calibri"/>
                <a:ea typeface="Calibri"/>
                <a:cs typeface="Calibri"/>
                <a:sym typeface="Calibri"/>
              </a:rPr>
              <a:t>Inflection</a:t>
            </a:r>
            <a:endParaRPr sz="1500">
              <a:solidFill>
                <a:schemeClr val="dk1"/>
              </a:solidFill>
              <a:latin typeface="Calibri"/>
              <a:ea typeface="Calibri"/>
              <a:cs typeface="Calibri"/>
              <a:sym typeface="Calibri"/>
            </a:endParaRPr>
          </a:p>
          <a:p>
            <a:pPr marL="326390" marR="0" lvl="0" indent="-306070" algn="l" rtl="0">
              <a:lnSpc>
                <a:spcPct val="100000"/>
              </a:lnSpc>
              <a:spcBef>
                <a:spcPts val="1100"/>
              </a:spcBef>
              <a:spcAft>
                <a:spcPts val="0"/>
              </a:spcAft>
              <a:buClr>
                <a:schemeClr val="dk1"/>
              </a:buClr>
              <a:buSzPts val="1500"/>
              <a:buFont typeface="Calibri"/>
              <a:buChar char="-"/>
            </a:pPr>
            <a:r>
              <a:rPr lang="en-US" sz="1500">
                <a:solidFill>
                  <a:schemeClr val="dk1"/>
                </a:solidFill>
                <a:latin typeface="Calibri"/>
                <a:ea typeface="Calibri"/>
                <a:cs typeface="Calibri"/>
                <a:sym typeface="Calibri"/>
              </a:rPr>
              <a:t>Derivation</a:t>
            </a:r>
            <a:endParaRPr sz="1500">
              <a:solidFill>
                <a:schemeClr val="dk1"/>
              </a:solidFill>
              <a:latin typeface="Calibri"/>
              <a:ea typeface="Calibri"/>
              <a:cs typeface="Calibri"/>
              <a:sym typeface="Calibri"/>
            </a:endParaRPr>
          </a:p>
          <a:p>
            <a:pPr marL="326390" marR="0" lvl="0" indent="-306070" algn="l" rtl="0">
              <a:lnSpc>
                <a:spcPct val="100000"/>
              </a:lnSpc>
              <a:spcBef>
                <a:spcPts val="1125"/>
              </a:spcBef>
              <a:spcAft>
                <a:spcPts val="0"/>
              </a:spcAft>
              <a:buClr>
                <a:schemeClr val="dk1"/>
              </a:buClr>
              <a:buSzPts val="1500"/>
              <a:buFont typeface="Calibri"/>
              <a:buChar char="-"/>
            </a:pPr>
            <a:r>
              <a:rPr lang="en-US" sz="1500">
                <a:solidFill>
                  <a:schemeClr val="dk1"/>
                </a:solidFill>
                <a:latin typeface="Calibri"/>
                <a:ea typeface="Calibri"/>
                <a:cs typeface="Calibri"/>
                <a:sym typeface="Calibri"/>
              </a:rPr>
              <a:t>Compounding</a:t>
            </a:r>
            <a:endParaRPr sz="1500">
              <a:solidFill>
                <a:schemeClr val="dk1"/>
              </a:solidFill>
              <a:latin typeface="Calibri"/>
              <a:ea typeface="Calibri"/>
              <a:cs typeface="Calibri"/>
              <a:sym typeface="Calibri"/>
            </a:endParaRPr>
          </a:p>
        </p:txBody>
      </p:sp>
      <p:sp>
        <p:nvSpPr>
          <p:cNvPr id="144" name="Google Shape;144;p13"/>
          <p:cNvSpPr/>
          <p:nvPr/>
        </p:nvSpPr>
        <p:spPr>
          <a:xfrm>
            <a:off x="8297820" y="3292764"/>
            <a:ext cx="880744" cy="233679"/>
          </a:xfrm>
          <a:custGeom>
            <a:avLst/>
            <a:gdLst/>
            <a:ahLst/>
            <a:cxnLst/>
            <a:rect l="l" t="t" r="r" b="b"/>
            <a:pathLst>
              <a:path w="880745" h="233679" extrusionOk="0">
                <a:moveTo>
                  <a:pt x="880251" y="233172"/>
                </a:moveTo>
                <a:lnTo>
                  <a:pt x="0" y="233172"/>
                </a:lnTo>
                <a:lnTo>
                  <a:pt x="0" y="0"/>
                </a:lnTo>
                <a:lnTo>
                  <a:pt x="880251" y="0"/>
                </a:lnTo>
                <a:lnTo>
                  <a:pt x="880251" y="233172"/>
                </a:lnTo>
                <a:close/>
              </a:path>
            </a:pathLst>
          </a:custGeom>
          <a:solidFill>
            <a:srgbClr val="FFFF00"/>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45" name="Google Shape;145;p13"/>
          <p:cNvSpPr txBox="1"/>
          <p:nvPr/>
        </p:nvSpPr>
        <p:spPr>
          <a:xfrm>
            <a:off x="940383" y="3272291"/>
            <a:ext cx="1133475" cy="259079"/>
          </a:xfrm>
          <a:prstGeom prst="rect">
            <a:avLst/>
          </a:prstGeom>
          <a:noFill/>
          <a:ln>
            <a:noFill/>
          </a:ln>
        </p:spPr>
        <p:txBody>
          <a:bodyPr spcFirstLastPara="1" wrap="square" lIns="0" tIns="16500" rIns="0" bIns="0" anchor="t" anchorCtr="0">
            <a:spAutoFit/>
          </a:bodyPr>
          <a:lstStyle/>
          <a:p>
            <a:pPr marL="212090" marR="0" lvl="0" indent="-200025" algn="l" rtl="0">
              <a:lnSpc>
                <a:spcPct val="100000"/>
              </a:lnSpc>
              <a:spcBef>
                <a:spcPts val="0"/>
              </a:spcBef>
              <a:spcAft>
                <a:spcPts val="0"/>
              </a:spcAft>
              <a:buClr>
                <a:schemeClr val="dk1"/>
              </a:buClr>
              <a:buSzPts val="1500"/>
              <a:buFont typeface="Arial"/>
              <a:buChar char="•"/>
            </a:pPr>
            <a:r>
              <a:rPr lang="en-US" sz="1500">
                <a:solidFill>
                  <a:schemeClr val="dk1"/>
                </a:solidFill>
                <a:latin typeface="Calibri"/>
                <a:ea typeface="Calibri"/>
                <a:cs typeface="Calibri"/>
                <a:sym typeface="Calibri"/>
              </a:rPr>
              <a:t>Inflection </a:t>
            </a:r>
            <a:r>
              <a:rPr lang="en-US" sz="1500">
                <a:solidFill>
                  <a:schemeClr val="dk1"/>
                </a:solidFill>
                <a:latin typeface="Lucida Sans"/>
                <a:ea typeface="Lucida Sans"/>
                <a:cs typeface="Lucida Sans"/>
                <a:sym typeface="Lucida Sans"/>
              </a:rPr>
              <a:t>□</a:t>
            </a:r>
            <a:endParaRPr sz="1500">
              <a:solidFill>
                <a:schemeClr val="dk1"/>
              </a:solidFill>
              <a:latin typeface="Lucida Sans"/>
              <a:ea typeface="Lucida Sans"/>
              <a:cs typeface="Lucida Sans"/>
              <a:sym typeface="Lucida Sans"/>
            </a:endParaRPr>
          </a:p>
        </p:txBody>
      </p:sp>
      <p:sp>
        <p:nvSpPr>
          <p:cNvPr id="146" name="Google Shape;146;p13"/>
          <p:cNvSpPr txBox="1"/>
          <p:nvPr/>
        </p:nvSpPr>
        <p:spPr>
          <a:xfrm>
            <a:off x="2111110" y="3292764"/>
            <a:ext cx="4406900" cy="233679"/>
          </a:xfrm>
          <a:prstGeom prst="rect">
            <a:avLst/>
          </a:prstGeom>
          <a:solidFill>
            <a:srgbClr val="FFFF00"/>
          </a:solidFill>
          <a:ln>
            <a:noFill/>
          </a:ln>
        </p:spPr>
        <p:txBody>
          <a:bodyPr spcFirstLastPara="1" wrap="square" lIns="0" tIns="0" rIns="0" bIns="0" anchor="t" anchorCtr="0">
            <a:spAutoFit/>
          </a:bodyPr>
          <a:lstStyle/>
          <a:p>
            <a:pPr marL="0" marR="0" lvl="0" indent="0" algn="l" rtl="0">
              <a:lnSpc>
                <a:spcPct val="117999"/>
              </a:lnSpc>
              <a:spcBef>
                <a:spcPts val="0"/>
              </a:spcBef>
              <a:spcAft>
                <a:spcPts val="0"/>
              </a:spcAft>
              <a:buNone/>
            </a:pPr>
            <a:r>
              <a:rPr lang="en-US" sz="1500">
                <a:solidFill>
                  <a:schemeClr val="dk1"/>
                </a:solidFill>
                <a:latin typeface="Calibri"/>
                <a:ea typeface="Calibri"/>
                <a:cs typeface="Calibri"/>
                <a:sym typeface="Calibri"/>
              </a:rPr>
              <a:t>a root word is combined with a grammatical morpheme</a:t>
            </a:r>
            <a:endParaRPr sz="1500">
              <a:solidFill>
                <a:schemeClr val="dk1"/>
              </a:solidFill>
              <a:latin typeface="Calibri"/>
              <a:ea typeface="Calibri"/>
              <a:cs typeface="Calibri"/>
              <a:sym typeface="Calibri"/>
            </a:endParaRPr>
          </a:p>
        </p:txBody>
      </p:sp>
      <p:sp>
        <p:nvSpPr>
          <p:cNvPr id="147" name="Google Shape;147;p13"/>
          <p:cNvSpPr txBox="1"/>
          <p:nvPr/>
        </p:nvSpPr>
        <p:spPr>
          <a:xfrm>
            <a:off x="6538683" y="3272291"/>
            <a:ext cx="4231640" cy="259079"/>
          </a:xfrm>
          <a:prstGeom prst="rect">
            <a:avLst/>
          </a:prstGeom>
          <a:noFill/>
          <a:ln>
            <a:noFill/>
          </a:ln>
        </p:spPr>
        <p:txBody>
          <a:bodyPr spcFirstLastPara="1" wrap="square" lIns="0" tIns="16500" rIns="0" bIns="0" anchor="t" anchorCtr="0">
            <a:spAutoFit/>
          </a:bodyPr>
          <a:lstStyle/>
          <a:p>
            <a:pPr marL="12700" marR="0" lvl="0" indent="0" algn="l" rtl="0">
              <a:lnSpc>
                <a:spcPct val="100000"/>
              </a:lnSpc>
              <a:spcBef>
                <a:spcPts val="0"/>
              </a:spcBef>
              <a:spcAft>
                <a:spcPts val="0"/>
              </a:spcAft>
              <a:buNone/>
            </a:pPr>
            <a:r>
              <a:rPr lang="en-US" sz="1500">
                <a:solidFill>
                  <a:schemeClr val="dk1"/>
                </a:solidFill>
                <a:latin typeface="Calibri"/>
                <a:ea typeface="Calibri"/>
                <a:cs typeface="Calibri"/>
                <a:sym typeface="Calibri"/>
              </a:rPr>
              <a:t>to yield a word of the same class as the original stem.</a:t>
            </a:r>
            <a:endParaRPr sz="1500">
              <a:solidFill>
                <a:schemeClr val="dk1"/>
              </a:solidFill>
              <a:latin typeface="Calibri"/>
              <a:ea typeface="Calibri"/>
              <a:cs typeface="Calibri"/>
              <a:sym typeface="Calibri"/>
            </a:endParaRPr>
          </a:p>
        </p:txBody>
      </p:sp>
      <p:sp>
        <p:nvSpPr>
          <p:cNvPr id="148" name="Google Shape;148;p13"/>
          <p:cNvSpPr txBox="1"/>
          <p:nvPr/>
        </p:nvSpPr>
        <p:spPr>
          <a:xfrm>
            <a:off x="940383" y="3767591"/>
            <a:ext cx="1991360" cy="259079"/>
          </a:xfrm>
          <a:prstGeom prst="rect">
            <a:avLst/>
          </a:prstGeom>
          <a:noFill/>
          <a:ln>
            <a:noFill/>
          </a:ln>
        </p:spPr>
        <p:txBody>
          <a:bodyPr spcFirstLastPara="1" wrap="square" lIns="0" tIns="16500" rIns="0" bIns="0" anchor="t" anchorCtr="0">
            <a:spAutoFit/>
          </a:bodyPr>
          <a:lstStyle/>
          <a:p>
            <a:pPr marL="212090" marR="0" lvl="0" indent="-200025" algn="l" rtl="0">
              <a:lnSpc>
                <a:spcPct val="100000"/>
              </a:lnSpc>
              <a:spcBef>
                <a:spcPts val="0"/>
              </a:spcBef>
              <a:spcAft>
                <a:spcPts val="0"/>
              </a:spcAft>
              <a:buClr>
                <a:schemeClr val="dk1"/>
              </a:buClr>
              <a:buSzPts val="1500"/>
              <a:buFont typeface="Arial"/>
              <a:buChar char="•"/>
            </a:pPr>
            <a:r>
              <a:rPr lang="en-US" sz="1500">
                <a:solidFill>
                  <a:schemeClr val="dk1"/>
                </a:solidFill>
                <a:latin typeface="Calibri"/>
                <a:ea typeface="Calibri"/>
                <a:cs typeface="Calibri"/>
                <a:sym typeface="Calibri"/>
              </a:rPr>
              <a:t>Example: eggs==egg+s</a:t>
            </a:r>
            <a:endParaRPr sz="1500">
              <a:solidFill>
                <a:schemeClr val="dk1"/>
              </a:solidFill>
              <a:latin typeface="Calibri"/>
              <a:ea typeface="Calibri"/>
              <a:cs typeface="Calibri"/>
              <a:sym typeface="Calibri"/>
            </a:endParaRPr>
          </a:p>
        </p:txBody>
      </p:sp>
      <p:sp>
        <p:nvSpPr>
          <p:cNvPr id="149" name="Google Shape;149;p13"/>
          <p:cNvSpPr/>
          <p:nvPr/>
        </p:nvSpPr>
        <p:spPr>
          <a:xfrm>
            <a:off x="8757293" y="4283363"/>
            <a:ext cx="1245870" cy="233679"/>
          </a:xfrm>
          <a:custGeom>
            <a:avLst/>
            <a:gdLst/>
            <a:ahLst/>
            <a:cxnLst/>
            <a:rect l="l" t="t" r="r" b="b"/>
            <a:pathLst>
              <a:path w="1245870" h="233679" extrusionOk="0">
                <a:moveTo>
                  <a:pt x="1245744" y="233172"/>
                </a:moveTo>
                <a:lnTo>
                  <a:pt x="0" y="233172"/>
                </a:lnTo>
                <a:lnTo>
                  <a:pt x="0" y="0"/>
                </a:lnTo>
                <a:lnTo>
                  <a:pt x="1245744" y="0"/>
                </a:lnTo>
                <a:lnTo>
                  <a:pt x="1245744" y="233172"/>
                </a:lnTo>
                <a:close/>
              </a:path>
            </a:pathLst>
          </a:custGeom>
          <a:solidFill>
            <a:srgbClr val="FFFF00"/>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50" name="Google Shape;150;p13"/>
          <p:cNvSpPr txBox="1"/>
          <p:nvPr/>
        </p:nvSpPr>
        <p:spPr>
          <a:xfrm>
            <a:off x="940383" y="4262891"/>
            <a:ext cx="1209040" cy="259079"/>
          </a:xfrm>
          <a:prstGeom prst="rect">
            <a:avLst/>
          </a:prstGeom>
          <a:noFill/>
          <a:ln>
            <a:noFill/>
          </a:ln>
        </p:spPr>
        <p:txBody>
          <a:bodyPr spcFirstLastPara="1" wrap="square" lIns="0" tIns="16500" rIns="0" bIns="0" anchor="t" anchorCtr="0">
            <a:spAutoFit/>
          </a:bodyPr>
          <a:lstStyle/>
          <a:p>
            <a:pPr marL="212090" marR="0" lvl="0" indent="-200025" algn="l" rtl="0">
              <a:lnSpc>
                <a:spcPct val="100000"/>
              </a:lnSpc>
              <a:spcBef>
                <a:spcPts val="0"/>
              </a:spcBef>
              <a:spcAft>
                <a:spcPts val="0"/>
              </a:spcAft>
              <a:buClr>
                <a:schemeClr val="dk1"/>
              </a:buClr>
              <a:buSzPts val="1500"/>
              <a:buFont typeface="Arial"/>
              <a:buChar char="•"/>
            </a:pPr>
            <a:r>
              <a:rPr lang="en-US" sz="1500">
                <a:solidFill>
                  <a:schemeClr val="dk1"/>
                </a:solidFill>
                <a:latin typeface="Calibri"/>
                <a:ea typeface="Calibri"/>
                <a:cs typeface="Calibri"/>
                <a:sym typeface="Calibri"/>
              </a:rPr>
              <a:t>Derivation </a:t>
            </a:r>
            <a:r>
              <a:rPr lang="en-US" sz="1500">
                <a:solidFill>
                  <a:schemeClr val="dk1"/>
                </a:solidFill>
                <a:latin typeface="Lucida Sans"/>
                <a:ea typeface="Lucida Sans"/>
                <a:cs typeface="Lucida Sans"/>
                <a:sym typeface="Lucida Sans"/>
              </a:rPr>
              <a:t>□</a:t>
            </a:r>
            <a:endParaRPr sz="1500">
              <a:solidFill>
                <a:schemeClr val="dk1"/>
              </a:solidFill>
              <a:latin typeface="Lucida Sans"/>
              <a:ea typeface="Lucida Sans"/>
              <a:cs typeface="Lucida Sans"/>
              <a:sym typeface="Lucida Sans"/>
            </a:endParaRPr>
          </a:p>
        </p:txBody>
      </p:sp>
      <p:sp>
        <p:nvSpPr>
          <p:cNvPr id="151" name="Google Shape;151;p13"/>
          <p:cNvSpPr txBox="1"/>
          <p:nvPr/>
        </p:nvSpPr>
        <p:spPr>
          <a:xfrm>
            <a:off x="2186693" y="4283363"/>
            <a:ext cx="4315460" cy="233679"/>
          </a:xfrm>
          <a:prstGeom prst="rect">
            <a:avLst/>
          </a:prstGeom>
          <a:solidFill>
            <a:srgbClr val="FFFF00"/>
          </a:solidFill>
          <a:ln>
            <a:noFill/>
          </a:ln>
        </p:spPr>
        <p:txBody>
          <a:bodyPr spcFirstLastPara="1" wrap="square" lIns="0" tIns="0" rIns="0" bIns="0" anchor="t" anchorCtr="0">
            <a:spAutoFit/>
          </a:bodyPr>
          <a:lstStyle/>
          <a:p>
            <a:pPr marL="0" marR="0" lvl="0" indent="0" algn="l" rtl="0">
              <a:lnSpc>
                <a:spcPct val="117999"/>
              </a:lnSpc>
              <a:spcBef>
                <a:spcPts val="0"/>
              </a:spcBef>
              <a:spcAft>
                <a:spcPts val="0"/>
              </a:spcAft>
              <a:buNone/>
            </a:pPr>
            <a:r>
              <a:rPr lang="en-US" sz="1500">
                <a:solidFill>
                  <a:schemeClr val="dk1"/>
                </a:solidFill>
                <a:latin typeface="Calibri"/>
                <a:ea typeface="Calibri"/>
                <a:cs typeface="Calibri"/>
                <a:sym typeface="Calibri"/>
              </a:rPr>
              <a:t>combines a word stem with a grammatical morpheme</a:t>
            </a:r>
            <a:endParaRPr sz="1500">
              <a:solidFill>
                <a:schemeClr val="dk1"/>
              </a:solidFill>
              <a:latin typeface="Calibri"/>
              <a:ea typeface="Calibri"/>
              <a:cs typeface="Calibri"/>
              <a:sym typeface="Calibri"/>
            </a:endParaRPr>
          </a:p>
        </p:txBody>
      </p:sp>
      <p:sp>
        <p:nvSpPr>
          <p:cNvPr id="152" name="Google Shape;152;p13"/>
          <p:cNvSpPr txBox="1"/>
          <p:nvPr/>
        </p:nvSpPr>
        <p:spPr>
          <a:xfrm>
            <a:off x="6480079" y="4262891"/>
            <a:ext cx="4678680" cy="259079"/>
          </a:xfrm>
          <a:prstGeom prst="rect">
            <a:avLst/>
          </a:prstGeom>
          <a:noFill/>
          <a:ln>
            <a:noFill/>
          </a:ln>
        </p:spPr>
        <p:txBody>
          <a:bodyPr spcFirstLastPara="1" wrap="square" lIns="0" tIns="16500" rIns="0" bIns="0" anchor="t" anchorCtr="0">
            <a:spAutoFit/>
          </a:bodyPr>
          <a:lstStyle/>
          <a:p>
            <a:pPr marL="12700" marR="0" lvl="0" indent="0" algn="l" rtl="0">
              <a:lnSpc>
                <a:spcPct val="100000"/>
              </a:lnSpc>
              <a:spcBef>
                <a:spcPts val="0"/>
              </a:spcBef>
              <a:spcAft>
                <a:spcPts val="0"/>
              </a:spcAft>
              <a:buNone/>
            </a:pPr>
            <a:r>
              <a:rPr lang="en-US" sz="1500">
                <a:solidFill>
                  <a:schemeClr val="dk1"/>
                </a:solidFill>
                <a:latin typeface="Calibri"/>
                <a:ea typeface="Calibri"/>
                <a:cs typeface="Calibri"/>
                <a:sym typeface="Calibri"/>
              </a:rPr>
              <a:t>to yield a word belonging to a different class. Ex: formation</a:t>
            </a:r>
            <a:endParaRPr sz="1500">
              <a:solidFill>
                <a:schemeClr val="dk1"/>
              </a:solidFill>
              <a:latin typeface="Calibri"/>
              <a:ea typeface="Calibri"/>
              <a:cs typeface="Calibri"/>
              <a:sym typeface="Calibri"/>
            </a:endParaRPr>
          </a:p>
        </p:txBody>
      </p:sp>
      <p:sp>
        <p:nvSpPr>
          <p:cNvPr id="153" name="Google Shape;153;p13"/>
          <p:cNvSpPr txBox="1"/>
          <p:nvPr/>
        </p:nvSpPr>
        <p:spPr>
          <a:xfrm>
            <a:off x="1139825" y="4504191"/>
            <a:ext cx="7459345" cy="259079"/>
          </a:xfrm>
          <a:prstGeom prst="rect">
            <a:avLst/>
          </a:prstGeom>
          <a:noFill/>
          <a:ln>
            <a:noFill/>
          </a:ln>
        </p:spPr>
        <p:txBody>
          <a:bodyPr spcFirstLastPara="1" wrap="square" lIns="0" tIns="16500" rIns="0" bIns="0" anchor="t" anchorCtr="0">
            <a:spAutoFit/>
          </a:bodyPr>
          <a:lstStyle/>
          <a:p>
            <a:pPr marL="12700" marR="0" lvl="0" indent="0" algn="l" rtl="0">
              <a:lnSpc>
                <a:spcPct val="100000"/>
              </a:lnSpc>
              <a:spcBef>
                <a:spcPts val="0"/>
              </a:spcBef>
              <a:spcAft>
                <a:spcPts val="0"/>
              </a:spcAft>
              <a:buNone/>
            </a:pPr>
            <a:r>
              <a:rPr lang="en-US" sz="1500">
                <a:solidFill>
                  <a:schemeClr val="dk1"/>
                </a:solidFill>
                <a:latin typeface="Calibri"/>
                <a:ea typeface="Calibri"/>
                <a:cs typeface="Calibri"/>
                <a:sym typeface="Calibri"/>
              </a:rPr>
              <a:t>of the noun “ Computation” from the verb “ compute”	compute (V) +tion ? computation (N).</a:t>
            </a:r>
            <a:endParaRPr sz="1500">
              <a:solidFill>
                <a:schemeClr val="dk1"/>
              </a:solidFill>
              <a:latin typeface="Calibri"/>
              <a:ea typeface="Calibri"/>
              <a:cs typeface="Calibri"/>
              <a:sym typeface="Calibri"/>
            </a:endParaRPr>
          </a:p>
        </p:txBody>
      </p:sp>
      <p:sp>
        <p:nvSpPr>
          <p:cNvPr id="154" name="Google Shape;154;p13"/>
          <p:cNvSpPr/>
          <p:nvPr/>
        </p:nvSpPr>
        <p:spPr>
          <a:xfrm>
            <a:off x="1152525" y="5026313"/>
            <a:ext cx="4682490" cy="233679"/>
          </a:xfrm>
          <a:custGeom>
            <a:avLst/>
            <a:gdLst/>
            <a:ahLst/>
            <a:cxnLst/>
            <a:rect l="l" t="t" r="r" b="b"/>
            <a:pathLst>
              <a:path w="4682490" h="233679" extrusionOk="0">
                <a:moveTo>
                  <a:pt x="4681974" y="233172"/>
                </a:moveTo>
                <a:lnTo>
                  <a:pt x="0" y="233172"/>
                </a:lnTo>
                <a:lnTo>
                  <a:pt x="0" y="0"/>
                </a:lnTo>
                <a:lnTo>
                  <a:pt x="4681974" y="0"/>
                </a:lnTo>
                <a:lnTo>
                  <a:pt x="4681974" y="233172"/>
                </a:lnTo>
                <a:close/>
              </a:path>
            </a:pathLst>
          </a:custGeom>
          <a:solidFill>
            <a:srgbClr val="00FF00"/>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55" name="Google Shape;155;p13"/>
          <p:cNvSpPr txBox="1"/>
          <p:nvPr/>
        </p:nvSpPr>
        <p:spPr>
          <a:xfrm>
            <a:off x="940383" y="5005841"/>
            <a:ext cx="93980" cy="259079"/>
          </a:xfrm>
          <a:prstGeom prst="rect">
            <a:avLst/>
          </a:prstGeom>
          <a:noFill/>
          <a:ln>
            <a:noFill/>
          </a:ln>
        </p:spPr>
        <p:txBody>
          <a:bodyPr spcFirstLastPara="1" wrap="square" lIns="0" tIns="16500" rIns="0" bIns="0" anchor="t" anchorCtr="0">
            <a:spAutoFit/>
          </a:bodyPr>
          <a:lstStyle/>
          <a:p>
            <a:pPr marL="12700" marR="0" lvl="0" indent="0" algn="l" rtl="0">
              <a:lnSpc>
                <a:spcPct val="100000"/>
              </a:lnSpc>
              <a:spcBef>
                <a:spcPts val="0"/>
              </a:spcBef>
              <a:spcAft>
                <a:spcPts val="0"/>
              </a:spcAft>
              <a:buNone/>
            </a:pPr>
            <a:r>
              <a:rPr lang="en-US" sz="1500">
                <a:solidFill>
                  <a:schemeClr val="dk1"/>
                </a:solidFill>
                <a:latin typeface="Arial"/>
                <a:ea typeface="Arial"/>
                <a:cs typeface="Arial"/>
                <a:sym typeface="Arial"/>
              </a:rPr>
              <a:t>•</a:t>
            </a:r>
            <a:endParaRPr sz="1500">
              <a:solidFill>
                <a:schemeClr val="dk1"/>
              </a:solidFill>
              <a:latin typeface="Arial"/>
              <a:ea typeface="Arial"/>
              <a:cs typeface="Arial"/>
              <a:sym typeface="Arial"/>
            </a:endParaRPr>
          </a:p>
        </p:txBody>
      </p:sp>
      <p:sp>
        <p:nvSpPr>
          <p:cNvPr id="156" name="Google Shape;156;p13"/>
          <p:cNvSpPr txBox="1"/>
          <p:nvPr/>
        </p:nvSpPr>
        <p:spPr>
          <a:xfrm>
            <a:off x="1152525" y="5026313"/>
            <a:ext cx="4682490" cy="233679"/>
          </a:xfrm>
          <a:prstGeom prst="rect">
            <a:avLst/>
          </a:prstGeom>
          <a:noFill/>
          <a:ln>
            <a:noFill/>
          </a:ln>
        </p:spPr>
        <p:txBody>
          <a:bodyPr spcFirstLastPara="1" wrap="square" lIns="0" tIns="0" rIns="0" bIns="0" anchor="t" anchorCtr="0">
            <a:spAutoFit/>
          </a:bodyPr>
          <a:lstStyle/>
          <a:p>
            <a:pPr marL="0" marR="0" lvl="0" indent="0" algn="l" rtl="0">
              <a:lnSpc>
                <a:spcPct val="117999"/>
              </a:lnSpc>
              <a:spcBef>
                <a:spcPts val="0"/>
              </a:spcBef>
              <a:spcAft>
                <a:spcPts val="0"/>
              </a:spcAft>
              <a:buNone/>
            </a:pPr>
            <a:r>
              <a:rPr lang="en-US" sz="1500">
                <a:solidFill>
                  <a:schemeClr val="dk1"/>
                </a:solidFill>
                <a:latin typeface="Calibri"/>
                <a:ea typeface="Calibri"/>
                <a:cs typeface="Calibri"/>
                <a:sym typeface="Calibri"/>
              </a:rPr>
              <a:t>Noun	Verb or Adjective =&gt; Nominalization</a:t>
            </a:r>
            <a:endParaRPr sz="1500">
              <a:solidFill>
                <a:schemeClr val="dk1"/>
              </a:solidFill>
              <a:latin typeface="Calibri"/>
              <a:ea typeface="Calibri"/>
              <a:cs typeface="Calibri"/>
              <a:sym typeface="Calibri"/>
            </a:endParaRPr>
          </a:p>
        </p:txBody>
      </p:sp>
      <p:sp>
        <p:nvSpPr>
          <p:cNvPr id="157" name="Google Shape;157;p13"/>
          <p:cNvSpPr txBox="1"/>
          <p:nvPr/>
        </p:nvSpPr>
        <p:spPr>
          <a:xfrm>
            <a:off x="940383" y="5501141"/>
            <a:ext cx="6565265" cy="754380"/>
          </a:xfrm>
          <a:prstGeom prst="rect">
            <a:avLst/>
          </a:prstGeom>
          <a:noFill/>
          <a:ln>
            <a:noFill/>
          </a:ln>
        </p:spPr>
        <p:txBody>
          <a:bodyPr spcFirstLastPara="1" wrap="square" lIns="0" tIns="16500" rIns="0" bIns="0" anchor="t" anchorCtr="0">
            <a:spAutoFit/>
          </a:bodyPr>
          <a:lstStyle/>
          <a:p>
            <a:pPr marL="212090" marR="0" lvl="0" indent="-200025" algn="l" rtl="0">
              <a:lnSpc>
                <a:spcPct val="100000"/>
              </a:lnSpc>
              <a:spcBef>
                <a:spcPts val="0"/>
              </a:spcBef>
              <a:spcAft>
                <a:spcPts val="0"/>
              </a:spcAft>
              <a:buClr>
                <a:schemeClr val="dk1"/>
              </a:buClr>
              <a:buSzPts val="1500"/>
              <a:buFont typeface="Arial"/>
              <a:buChar char="•"/>
            </a:pPr>
            <a:r>
              <a:rPr lang="en-US" sz="1500">
                <a:solidFill>
                  <a:schemeClr val="dk1"/>
                </a:solidFill>
                <a:latin typeface="Calibri"/>
                <a:ea typeface="Calibri"/>
                <a:cs typeface="Calibri"/>
                <a:sym typeface="Calibri"/>
              </a:rPr>
              <a:t>Compounding is the process of merging two or more words to form a new word.</a:t>
            </a:r>
            <a:endParaRPr sz="1500">
              <a:solidFill>
                <a:schemeClr val="dk1"/>
              </a:solidFill>
              <a:latin typeface="Calibri"/>
              <a:ea typeface="Calibri"/>
              <a:cs typeface="Calibri"/>
              <a:sym typeface="Calibri"/>
            </a:endParaRPr>
          </a:p>
          <a:p>
            <a:pPr marL="0" marR="0" lvl="0" indent="0" algn="l" rtl="0">
              <a:lnSpc>
                <a:spcPct val="100000"/>
              </a:lnSpc>
              <a:spcBef>
                <a:spcPts val="20"/>
              </a:spcBef>
              <a:spcAft>
                <a:spcPts val="0"/>
              </a:spcAft>
              <a:buClr>
                <a:schemeClr val="dk1"/>
              </a:buClr>
              <a:buSzPts val="1700"/>
              <a:buFont typeface="Arial"/>
              <a:buNone/>
            </a:pPr>
            <a:endParaRPr sz="1700">
              <a:solidFill>
                <a:schemeClr val="dk1"/>
              </a:solidFill>
              <a:latin typeface="Calibri"/>
              <a:ea typeface="Calibri"/>
              <a:cs typeface="Calibri"/>
              <a:sym typeface="Calibri"/>
            </a:endParaRPr>
          </a:p>
          <a:p>
            <a:pPr marL="343535" marR="0" lvl="0" indent="-331469" algn="l" rtl="0">
              <a:lnSpc>
                <a:spcPct val="100000"/>
              </a:lnSpc>
              <a:spcBef>
                <a:spcPts val="5"/>
              </a:spcBef>
              <a:spcAft>
                <a:spcPts val="0"/>
              </a:spcAft>
              <a:buClr>
                <a:schemeClr val="dk1"/>
              </a:buClr>
              <a:buSzPts val="1500"/>
              <a:buFont typeface="Arial"/>
              <a:buChar char="•"/>
            </a:pPr>
            <a:r>
              <a:rPr lang="en-US" sz="1500">
                <a:solidFill>
                  <a:schemeClr val="dk1"/>
                </a:solidFill>
                <a:latin typeface="Calibri"/>
                <a:ea typeface="Calibri"/>
                <a:cs typeface="Calibri"/>
                <a:sym typeface="Calibri"/>
              </a:rPr>
              <a:t>Ex: personal computer, desktop, overlook.</a:t>
            </a:r>
            <a:endParaRPr sz="1500">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Shape 161"/>
        <p:cNvGrpSpPr/>
        <p:nvPr/>
      </p:nvGrpSpPr>
      <p:grpSpPr>
        <a:xfrm>
          <a:off x="0" y="0"/>
          <a:ext cx="0" cy="0"/>
          <a:chOff x="0" y="0"/>
          <a:chExt cx="0" cy="0"/>
        </a:xfrm>
      </p:grpSpPr>
      <p:sp>
        <p:nvSpPr>
          <p:cNvPr id="162" name="Google Shape;162;p14"/>
          <p:cNvSpPr txBox="1">
            <a:spLocks noGrp="1"/>
          </p:cNvSpPr>
          <p:nvPr>
            <p:ph type="title"/>
          </p:nvPr>
        </p:nvSpPr>
        <p:spPr>
          <a:xfrm>
            <a:off x="911225" y="348010"/>
            <a:ext cx="5085715" cy="69596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4400"/>
              <a:t>Morphological Parsing</a:t>
            </a:r>
            <a:endParaRPr sz="4400"/>
          </a:p>
        </p:txBody>
      </p:sp>
      <p:sp>
        <p:nvSpPr>
          <p:cNvPr id="163" name="Google Shape;163;p14"/>
          <p:cNvSpPr txBox="1"/>
          <p:nvPr/>
        </p:nvSpPr>
        <p:spPr>
          <a:xfrm>
            <a:off x="2425898" y="1146464"/>
            <a:ext cx="822325" cy="247015"/>
          </a:xfrm>
          <a:prstGeom prst="rect">
            <a:avLst/>
          </a:prstGeom>
          <a:solidFill>
            <a:srgbClr val="00FF00"/>
          </a:solidFill>
          <a:ln>
            <a:noFill/>
          </a:ln>
        </p:spPr>
        <p:txBody>
          <a:bodyPr spcFirstLastPara="1" wrap="square" lIns="0" tIns="0" rIns="0" bIns="0" anchor="t" anchorCtr="0">
            <a:spAutoFit/>
          </a:bodyPr>
          <a:lstStyle/>
          <a:p>
            <a:pPr marL="0" marR="0" lvl="0" indent="0" algn="l" rtl="0">
              <a:lnSpc>
                <a:spcPct val="106333"/>
              </a:lnSpc>
              <a:spcBef>
                <a:spcPts val="0"/>
              </a:spcBef>
              <a:spcAft>
                <a:spcPts val="0"/>
              </a:spcAft>
              <a:buNone/>
            </a:pPr>
            <a:r>
              <a:rPr lang="en-US" sz="1800">
                <a:solidFill>
                  <a:schemeClr val="dk1"/>
                </a:solidFill>
                <a:latin typeface="Calibri"/>
                <a:ea typeface="Calibri"/>
                <a:cs typeface="Calibri"/>
                <a:sym typeface="Calibri"/>
              </a:rPr>
              <a:t>an input</a:t>
            </a:r>
            <a:endParaRPr sz="1800">
              <a:solidFill>
                <a:schemeClr val="dk1"/>
              </a:solidFill>
              <a:latin typeface="Calibri"/>
              <a:ea typeface="Calibri"/>
              <a:cs typeface="Calibri"/>
              <a:sym typeface="Calibri"/>
            </a:endParaRPr>
          </a:p>
        </p:txBody>
      </p:sp>
      <p:sp>
        <p:nvSpPr>
          <p:cNvPr id="164" name="Google Shape;164;p14"/>
          <p:cNvSpPr txBox="1"/>
          <p:nvPr/>
        </p:nvSpPr>
        <p:spPr>
          <a:xfrm>
            <a:off x="945492" y="1102674"/>
            <a:ext cx="4864800" cy="299700"/>
          </a:xfrm>
          <a:prstGeom prst="rect">
            <a:avLst/>
          </a:prstGeom>
          <a:noFill/>
          <a:ln>
            <a:noFill/>
          </a:ln>
        </p:spPr>
        <p:txBody>
          <a:bodyPr spcFirstLastPara="1" wrap="square" lIns="0" tIns="12700" rIns="0" bIns="0" anchor="t" anchorCtr="0">
            <a:spAutoFit/>
          </a:bodyPr>
          <a:lstStyle/>
          <a:p>
            <a:pPr marL="207009" marR="0" lvl="0" indent="-194945" algn="l" rtl="0">
              <a:lnSpc>
                <a:spcPct val="100000"/>
              </a:lnSpc>
              <a:spcBef>
                <a:spcPts val="0"/>
              </a:spcBef>
              <a:spcAft>
                <a:spcPts val="0"/>
              </a:spcAft>
              <a:buClr>
                <a:schemeClr val="dk1"/>
              </a:buClr>
              <a:buSzPts val="1800"/>
              <a:buFont typeface="Arial"/>
              <a:buChar char="•"/>
            </a:pPr>
            <a:r>
              <a:rPr lang="en-US" sz="1800" dirty="0" smtClean="0">
                <a:solidFill>
                  <a:schemeClr val="dk1"/>
                </a:solidFill>
                <a:latin typeface="Calibri"/>
                <a:ea typeface="Calibri"/>
                <a:cs typeface="Calibri"/>
                <a:sym typeface="Calibri"/>
              </a:rPr>
              <a:t>Parsing </a:t>
            </a:r>
            <a:r>
              <a:rPr lang="en-US" sz="1800" dirty="0">
                <a:solidFill>
                  <a:schemeClr val="dk1"/>
                </a:solidFill>
                <a:latin typeface="Calibri"/>
                <a:ea typeface="Calibri"/>
                <a:cs typeface="Calibri"/>
                <a:sym typeface="Calibri"/>
              </a:rPr>
              <a:t>takes	and producing some sort of</a:t>
            </a:r>
            <a:endParaRPr sz="1800" dirty="0">
              <a:solidFill>
                <a:schemeClr val="dk1"/>
              </a:solidFill>
              <a:latin typeface="Calibri"/>
              <a:ea typeface="Calibri"/>
              <a:cs typeface="Calibri"/>
              <a:sym typeface="Calibri"/>
            </a:endParaRPr>
          </a:p>
        </p:txBody>
      </p:sp>
      <p:sp>
        <p:nvSpPr>
          <p:cNvPr id="165" name="Google Shape;165;p14"/>
          <p:cNvSpPr txBox="1"/>
          <p:nvPr/>
        </p:nvSpPr>
        <p:spPr>
          <a:xfrm>
            <a:off x="5804892" y="1146464"/>
            <a:ext cx="1045844" cy="247015"/>
          </a:xfrm>
          <a:prstGeom prst="rect">
            <a:avLst/>
          </a:prstGeom>
          <a:solidFill>
            <a:srgbClr val="00FF00"/>
          </a:solidFill>
          <a:ln>
            <a:noFill/>
          </a:ln>
        </p:spPr>
        <p:txBody>
          <a:bodyPr spcFirstLastPara="1" wrap="square" lIns="0" tIns="0" rIns="0" bIns="0" anchor="t" anchorCtr="0">
            <a:spAutoFit/>
          </a:bodyPr>
          <a:lstStyle/>
          <a:p>
            <a:pPr marL="43815" marR="0" lvl="0" indent="0" algn="l" rtl="0">
              <a:lnSpc>
                <a:spcPct val="106333"/>
              </a:lnSpc>
              <a:spcBef>
                <a:spcPts val="0"/>
              </a:spcBef>
              <a:spcAft>
                <a:spcPts val="0"/>
              </a:spcAft>
              <a:buNone/>
            </a:pPr>
            <a:r>
              <a:rPr lang="en-US" sz="1800">
                <a:solidFill>
                  <a:schemeClr val="dk1"/>
                </a:solidFill>
                <a:latin typeface="Calibri"/>
                <a:ea typeface="Calibri"/>
                <a:cs typeface="Calibri"/>
                <a:sym typeface="Calibri"/>
              </a:rPr>
              <a:t>structures</a:t>
            </a:r>
            <a:endParaRPr sz="1800">
              <a:solidFill>
                <a:schemeClr val="dk1"/>
              </a:solidFill>
              <a:latin typeface="Calibri"/>
              <a:ea typeface="Calibri"/>
              <a:cs typeface="Calibri"/>
              <a:sym typeface="Calibri"/>
            </a:endParaRPr>
          </a:p>
        </p:txBody>
      </p:sp>
      <p:sp>
        <p:nvSpPr>
          <p:cNvPr id="166" name="Google Shape;166;p14"/>
          <p:cNvSpPr txBox="1"/>
          <p:nvPr/>
        </p:nvSpPr>
        <p:spPr>
          <a:xfrm>
            <a:off x="6829244" y="1102674"/>
            <a:ext cx="533400" cy="2997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800">
                <a:solidFill>
                  <a:schemeClr val="dk1"/>
                </a:solidFill>
                <a:latin typeface="Calibri"/>
                <a:ea typeface="Calibri"/>
                <a:cs typeface="Calibri"/>
                <a:sym typeface="Calibri"/>
              </a:rPr>
              <a:t>for it.</a:t>
            </a:r>
            <a:endParaRPr sz="1800">
              <a:solidFill>
                <a:schemeClr val="dk1"/>
              </a:solidFill>
              <a:latin typeface="Calibri"/>
              <a:ea typeface="Calibri"/>
              <a:cs typeface="Calibri"/>
              <a:sym typeface="Calibri"/>
            </a:endParaRPr>
          </a:p>
        </p:txBody>
      </p:sp>
      <p:sp>
        <p:nvSpPr>
          <p:cNvPr id="167" name="Google Shape;167;p14"/>
          <p:cNvSpPr/>
          <p:nvPr/>
        </p:nvSpPr>
        <p:spPr>
          <a:xfrm>
            <a:off x="4078337" y="1521114"/>
            <a:ext cx="3005455" cy="247015"/>
          </a:xfrm>
          <a:custGeom>
            <a:avLst/>
            <a:gdLst/>
            <a:ahLst/>
            <a:cxnLst/>
            <a:rect l="l" t="t" r="r" b="b"/>
            <a:pathLst>
              <a:path w="3005454" h="247014" extrusionOk="0">
                <a:moveTo>
                  <a:pt x="3005286" y="246887"/>
                </a:moveTo>
                <a:lnTo>
                  <a:pt x="0" y="246887"/>
                </a:lnTo>
                <a:lnTo>
                  <a:pt x="0" y="0"/>
                </a:lnTo>
                <a:lnTo>
                  <a:pt x="3005286" y="0"/>
                </a:lnTo>
                <a:lnTo>
                  <a:pt x="3005286" y="246887"/>
                </a:lnTo>
                <a:close/>
              </a:path>
            </a:pathLst>
          </a:custGeom>
          <a:solidFill>
            <a:srgbClr val="00FF00"/>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68" name="Google Shape;168;p14"/>
          <p:cNvSpPr txBox="1"/>
          <p:nvPr/>
        </p:nvSpPr>
        <p:spPr>
          <a:xfrm>
            <a:off x="945492" y="1477324"/>
            <a:ext cx="10052685" cy="299720"/>
          </a:xfrm>
          <a:prstGeom prst="rect">
            <a:avLst/>
          </a:prstGeom>
          <a:noFill/>
          <a:ln>
            <a:noFill/>
          </a:ln>
        </p:spPr>
        <p:txBody>
          <a:bodyPr spcFirstLastPara="1" wrap="square" lIns="0" tIns="12700" rIns="0" bIns="0" anchor="t" anchorCtr="0">
            <a:spAutoFit/>
          </a:bodyPr>
          <a:lstStyle/>
          <a:p>
            <a:pPr marL="207009" marR="0" lvl="0" indent="-194945" algn="l" rtl="0">
              <a:lnSpc>
                <a:spcPct val="100000"/>
              </a:lnSpc>
              <a:spcBef>
                <a:spcPts val="0"/>
              </a:spcBef>
              <a:spcAft>
                <a:spcPts val="0"/>
              </a:spcAft>
              <a:buClr>
                <a:schemeClr val="dk1"/>
              </a:buClr>
              <a:buSzPts val="1800"/>
              <a:buFont typeface="Arial"/>
              <a:buChar char="•"/>
            </a:pPr>
            <a:r>
              <a:rPr lang="en-US" sz="1800" dirty="0">
                <a:solidFill>
                  <a:schemeClr val="dk1"/>
                </a:solidFill>
                <a:latin typeface="Calibri"/>
                <a:ea typeface="Calibri"/>
                <a:cs typeface="Calibri"/>
                <a:sym typeface="Calibri"/>
              </a:rPr>
              <a:t>Morphological parsing takes as input the inflected surface form of each word in a text. Output </a:t>
            </a:r>
            <a:r>
              <a:rPr lang="en-US" sz="1800" dirty="0">
                <a:solidFill>
                  <a:schemeClr val="dk1"/>
                </a:solidFill>
                <a:latin typeface="Lucida Sans"/>
                <a:ea typeface="Lucida Sans"/>
                <a:cs typeface="Lucida Sans"/>
                <a:sym typeface="Lucida Sans"/>
              </a:rPr>
              <a:t>□ </a:t>
            </a:r>
            <a:r>
              <a:rPr lang="en-US" sz="1800" dirty="0">
                <a:solidFill>
                  <a:schemeClr val="dk1"/>
                </a:solidFill>
                <a:latin typeface="Calibri"/>
                <a:ea typeface="Calibri"/>
                <a:cs typeface="Calibri"/>
                <a:sym typeface="Calibri"/>
              </a:rPr>
              <a:t>produces</a:t>
            </a:r>
            <a:endParaRPr sz="1800" dirty="0">
              <a:solidFill>
                <a:schemeClr val="dk1"/>
              </a:solidFill>
              <a:latin typeface="Calibri"/>
              <a:ea typeface="Calibri"/>
              <a:cs typeface="Calibri"/>
              <a:sym typeface="Calibri"/>
            </a:endParaRPr>
          </a:p>
        </p:txBody>
      </p:sp>
      <p:sp>
        <p:nvSpPr>
          <p:cNvPr id="169" name="Google Shape;169;p14"/>
          <p:cNvSpPr txBox="1"/>
          <p:nvPr/>
        </p:nvSpPr>
        <p:spPr>
          <a:xfrm>
            <a:off x="1514623" y="1765589"/>
            <a:ext cx="1188720" cy="247015"/>
          </a:xfrm>
          <a:prstGeom prst="rect">
            <a:avLst/>
          </a:prstGeom>
          <a:solidFill>
            <a:srgbClr val="00FF00"/>
          </a:solidFill>
          <a:ln>
            <a:noFill/>
          </a:ln>
        </p:spPr>
        <p:txBody>
          <a:bodyPr spcFirstLastPara="1" wrap="square" lIns="0" tIns="0" rIns="0" bIns="0" anchor="t" anchorCtr="0">
            <a:spAutoFit/>
          </a:bodyPr>
          <a:lstStyle/>
          <a:p>
            <a:pPr marL="0" marR="0" lvl="0" indent="0" algn="l" rtl="0">
              <a:lnSpc>
                <a:spcPct val="106333"/>
              </a:lnSpc>
              <a:spcBef>
                <a:spcPts val="0"/>
              </a:spcBef>
              <a:spcAft>
                <a:spcPts val="0"/>
              </a:spcAft>
              <a:buNone/>
            </a:pPr>
            <a:r>
              <a:rPr lang="en-US" sz="1800">
                <a:solidFill>
                  <a:schemeClr val="dk1"/>
                </a:solidFill>
                <a:latin typeface="Calibri"/>
                <a:ea typeface="Calibri"/>
                <a:cs typeface="Calibri"/>
                <a:sym typeface="Calibri"/>
              </a:rPr>
              <a:t>parsed form</a:t>
            </a:r>
            <a:endParaRPr sz="1800">
              <a:solidFill>
                <a:schemeClr val="dk1"/>
              </a:solidFill>
              <a:latin typeface="Calibri"/>
              <a:ea typeface="Calibri"/>
              <a:cs typeface="Calibri"/>
              <a:sym typeface="Calibri"/>
            </a:endParaRPr>
          </a:p>
        </p:txBody>
      </p:sp>
      <p:sp>
        <p:nvSpPr>
          <p:cNvPr id="170" name="Google Shape;170;p14"/>
          <p:cNvSpPr txBox="1"/>
          <p:nvPr/>
        </p:nvSpPr>
        <p:spPr>
          <a:xfrm>
            <a:off x="1139825" y="1721799"/>
            <a:ext cx="10017900" cy="28980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800">
                <a:solidFill>
                  <a:schemeClr val="dk1"/>
                </a:solidFill>
                <a:latin typeface="Calibri"/>
                <a:ea typeface="Calibri"/>
                <a:cs typeface="Calibri"/>
                <a:sym typeface="Calibri"/>
              </a:rPr>
              <a:t>the	of a canonical form of the word and a set of tags showing its syntactical category</a:t>
            </a:r>
            <a:endParaRPr sz="1800">
              <a:solidFill>
                <a:schemeClr val="dk1"/>
              </a:solidFill>
              <a:latin typeface="Calibri"/>
              <a:ea typeface="Calibri"/>
              <a:cs typeface="Calibri"/>
              <a:sym typeface="Calibri"/>
            </a:endParaRPr>
          </a:p>
        </p:txBody>
      </p:sp>
      <p:sp>
        <p:nvSpPr>
          <p:cNvPr id="171" name="Google Shape;171;p14"/>
          <p:cNvSpPr txBox="1"/>
          <p:nvPr/>
        </p:nvSpPr>
        <p:spPr>
          <a:xfrm>
            <a:off x="945492" y="1869119"/>
            <a:ext cx="6087110" cy="774700"/>
          </a:xfrm>
          <a:prstGeom prst="rect">
            <a:avLst/>
          </a:prstGeom>
          <a:noFill/>
          <a:ln>
            <a:noFill/>
          </a:ln>
        </p:spPr>
        <p:txBody>
          <a:bodyPr spcFirstLastPara="1" wrap="square" lIns="0" tIns="113025" rIns="0" bIns="0" anchor="t" anchorCtr="0">
            <a:spAutoFit/>
          </a:bodyPr>
          <a:lstStyle/>
          <a:p>
            <a:pPr marL="207009" marR="0" lvl="0" indent="0" algn="l" rtl="0">
              <a:lnSpc>
                <a:spcPct val="100000"/>
              </a:lnSpc>
              <a:spcBef>
                <a:spcPts val="0"/>
              </a:spcBef>
              <a:spcAft>
                <a:spcPts val="0"/>
              </a:spcAft>
              <a:buNone/>
            </a:pPr>
            <a:r>
              <a:rPr lang="en-US" sz="1800">
                <a:solidFill>
                  <a:schemeClr val="dk1"/>
                </a:solidFill>
                <a:latin typeface="Calibri"/>
                <a:ea typeface="Calibri"/>
                <a:cs typeface="Calibri"/>
                <a:sym typeface="Calibri"/>
              </a:rPr>
              <a:t>and morphological characteristic.</a:t>
            </a:r>
            <a:endParaRPr sz="1800">
              <a:solidFill>
                <a:schemeClr val="dk1"/>
              </a:solidFill>
              <a:latin typeface="Calibri"/>
              <a:ea typeface="Calibri"/>
              <a:cs typeface="Calibri"/>
              <a:sym typeface="Calibri"/>
            </a:endParaRPr>
          </a:p>
          <a:p>
            <a:pPr marL="207009" marR="0" lvl="0" indent="-194945" algn="l" rtl="0">
              <a:lnSpc>
                <a:spcPct val="100000"/>
              </a:lnSpc>
              <a:spcBef>
                <a:spcPts val="79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A morphological parser uses the following information sources:</a:t>
            </a:r>
            <a:endParaRPr sz="1800">
              <a:solidFill>
                <a:schemeClr val="dk1"/>
              </a:solidFill>
              <a:latin typeface="Calibri"/>
              <a:ea typeface="Calibri"/>
              <a:cs typeface="Calibri"/>
              <a:sym typeface="Calibri"/>
            </a:endParaRPr>
          </a:p>
        </p:txBody>
      </p:sp>
      <p:sp>
        <p:nvSpPr>
          <p:cNvPr id="172" name="Google Shape;172;p14"/>
          <p:cNvSpPr/>
          <p:nvPr/>
        </p:nvSpPr>
        <p:spPr>
          <a:xfrm>
            <a:off x="1152525" y="2759363"/>
            <a:ext cx="699135" cy="247015"/>
          </a:xfrm>
          <a:custGeom>
            <a:avLst/>
            <a:gdLst/>
            <a:ahLst/>
            <a:cxnLst/>
            <a:rect l="l" t="t" r="r" b="b"/>
            <a:pathLst>
              <a:path w="699135" h="247014" extrusionOk="0">
                <a:moveTo>
                  <a:pt x="698636" y="246887"/>
                </a:moveTo>
                <a:lnTo>
                  <a:pt x="0" y="246887"/>
                </a:lnTo>
                <a:lnTo>
                  <a:pt x="0" y="0"/>
                </a:lnTo>
                <a:lnTo>
                  <a:pt x="698636" y="0"/>
                </a:lnTo>
                <a:lnTo>
                  <a:pt x="698636" y="246887"/>
                </a:lnTo>
                <a:close/>
              </a:path>
            </a:pathLst>
          </a:custGeom>
          <a:solidFill>
            <a:srgbClr val="C0C0C0"/>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73" name="Google Shape;173;p14"/>
          <p:cNvSpPr txBox="1"/>
          <p:nvPr/>
        </p:nvSpPr>
        <p:spPr>
          <a:xfrm>
            <a:off x="945492" y="2715574"/>
            <a:ext cx="8041640" cy="299720"/>
          </a:xfrm>
          <a:prstGeom prst="rect">
            <a:avLst/>
          </a:prstGeom>
          <a:noFill/>
          <a:ln>
            <a:noFill/>
          </a:ln>
        </p:spPr>
        <p:txBody>
          <a:bodyPr spcFirstLastPara="1" wrap="square" lIns="0" tIns="12700" rIns="0" bIns="0" anchor="t" anchorCtr="0">
            <a:spAutoFit/>
          </a:bodyPr>
          <a:lstStyle/>
          <a:p>
            <a:pPr marL="207009" marR="0" lvl="0" indent="-194945" algn="l" rtl="0">
              <a:lnSpc>
                <a:spcPct val="100000"/>
              </a:lnSpc>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Lexicon: Lexicon lists stems and affixes together with basic information about them.</a:t>
            </a:r>
            <a:endParaRPr sz="1800">
              <a:solidFill>
                <a:schemeClr val="dk1"/>
              </a:solidFill>
              <a:latin typeface="Calibri"/>
              <a:ea typeface="Calibri"/>
              <a:cs typeface="Calibri"/>
              <a:sym typeface="Calibri"/>
            </a:endParaRPr>
          </a:p>
        </p:txBody>
      </p:sp>
      <p:sp>
        <p:nvSpPr>
          <p:cNvPr id="174" name="Google Shape;174;p14"/>
          <p:cNvSpPr txBox="1"/>
          <p:nvPr/>
        </p:nvSpPr>
        <p:spPr>
          <a:xfrm>
            <a:off x="1152525" y="3130838"/>
            <a:ext cx="1354455" cy="247015"/>
          </a:xfrm>
          <a:prstGeom prst="rect">
            <a:avLst/>
          </a:prstGeom>
          <a:solidFill>
            <a:srgbClr val="C0C0C0"/>
          </a:solidFill>
          <a:ln>
            <a:noFill/>
          </a:ln>
        </p:spPr>
        <p:txBody>
          <a:bodyPr spcFirstLastPara="1" wrap="square" lIns="0" tIns="0" rIns="0" bIns="0" anchor="t" anchorCtr="0">
            <a:spAutoFit/>
          </a:bodyPr>
          <a:lstStyle/>
          <a:p>
            <a:pPr marL="0" marR="0" lvl="0" indent="0" algn="l" rtl="0">
              <a:lnSpc>
                <a:spcPct val="106333"/>
              </a:lnSpc>
              <a:spcBef>
                <a:spcPts val="0"/>
              </a:spcBef>
              <a:spcAft>
                <a:spcPts val="0"/>
              </a:spcAft>
              <a:buNone/>
            </a:pPr>
            <a:r>
              <a:rPr lang="en-US" sz="1800">
                <a:solidFill>
                  <a:schemeClr val="dk1"/>
                </a:solidFill>
                <a:latin typeface="Calibri"/>
                <a:ea typeface="Calibri"/>
                <a:cs typeface="Calibri"/>
                <a:sym typeface="Calibri"/>
              </a:rPr>
              <a:t>Morphotactics</a:t>
            </a:r>
            <a:endParaRPr sz="1800">
              <a:solidFill>
                <a:schemeClr val="dk1"/>
              </a:solidFill>
              <a:latin typeface="Calibri"/>
              <a:ea typeface="Calibri"/>
              <a:cs typeface="Calibri"/>
              <a:sym typeface="Calibri"/>
            </a:endParaRPr>
          </a:p>
        </p:txBody>
      </p:sp>
      <p:sp>
        <p:nvSpPr>
          <p:cNvPr id="175" name="Google Shape;175;p14"/>
          <p:cNvSpPr txBox="1"/>
          <p:nvPr/>
        </p:nvSpPr>
        <p:spPr>
          <a:xfrm>
            <a:off x="945492" y="3087049"/>
            <a:ext cx="9279255" cy="299720"/>
          </a:xfrm>
          <a:prstGeom prst="rect">
            <a:avLst/>
          </a:prstGeom>
          <a:noFill/>
          <a:ln>
            <a:noFill/>
          </a:ln>
        </p:spPr>
        <p:txBody>
          <a:bodyPr spcFirstLastPara="1" wrap="square" lIns="0" tIns="12700" rIns="0" bIns="0" anchor="t" anchorCtr="0">
            <a:spAutoFit/>
          </a:bodyPr>
          <a:lstStyle/>
          <a:p>
            <a:pPr marL="1606550" marR="0" lvl="0" indent="-1594485" algn="l" rtl="0">
              <a:lnSpc>
                <a:spcPct val="100000"/>
              </a:lnSpc>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 ordering among the morphemes that form a word. Can’t be arranged arbitrarily.</a:t>
            </a:r>
            <a:endParaRPr sz="1800">
              <a:solidFill>
                <a:schemeClr val="dk1"/>
              </a:solidFill>
              <a:latin typeface="Calibri"/>
              <a:ea typeface="Calibri"/>
              <a:cs typeface="Calibri"/>
              <a:sym typeface="Calibri"/>
            </a:endParaRPr>
          </a:p>
        </p:txBody>
      </p:sp>
      <p:sp>
        <p:nvSpPr>
          <p:cNvPr id="176" name="Google Shape;176;p14"/>
          <p:cNvSpPr/>
          <p:nvPr/>
        </p:nvSpPr>
        <p:spPr>
          <a:xfrm>
            <a:off x="1152525" y="4638963"/>
            <a:ext cx="1234440" cy="274320"/>
          </a:xfrm>
          <a:custGeom>
            <a:avLst/>
            <a:gdLst/>
            <a:ahLst/>
            <a:cxnLst/>
            <a:rect l="l" t="t" r="r" b="b"/>
            <a:pathLst>
              <a:path w="1234439" h="274320" extrusionOk="0">
                <a:moveTo>
                  <a:pt x="1234417" y="274320"/>
                </a:moveTo>
                <a:lnTo>
                  <a:pt x="0" y="274320"/>
                </a:lnTo>
                <a:lnTo>
                  <a:pt x="0" y="0"/>
                </a:lnTo>
                <a:lnTo>
                  <a:pt x="1234417" y="0"/>
                </a:lnTo>
                <a:lnTo>
                  <a:pt x="1234417" y="274320"/>
                </a:lnTo>
                <a:close/>
              </a:path>
            </a:pathLst>
          </a:custGeom>
          <a:solidFill>
            <a:srgbClr val="C0C0C0"/>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77" name="Google Shape;177;p14"/>
          <p:cNvSpPr txBox="1"/>
          <p:nvPr/>
        </p:nvSpPr>
        <p:spPr>
          <a:xfrm>
            <a:off x="945492" y="3480469"/>
            <a:ext cx="9698355" cy="2319020"/>
          </a:xfrm>
          <a:prstGeom prst="rect">
            <a:avLst/>
          </a:prstGeom>
          <a:noFill/>
          <a:ln>
            <a:noFill/>
          </a:ln>
        </p:spPr>
        <p:txBody>
          <a:bodyPr spcFirstLastPara="1" wrap="square" lIns="0" tIns="12700" rIns="0" bIns="0" anchor="t" anchorCtr="0">
            <a:spAutoFit/>
          </a:bodyPr>
          <a:lstStyle/>
          <a:p>
            <a:pPr marL="435609" marR="0" lvl="0" indent="0" algn="l" rtl="0">
              <a:lnSpc>
                <a:spcPct val="100000"/>
              </a:lnSpc>
              <a:spcBef>
                <a:spcPts val="0"/>
              </a:spcBef>
              <a:spcAft>
                <a:spcPts val="0"/>
              </a:spcAft>
              <a:buNone/>
            </a:pPr>
            <a:r>
              <a:rPr lang="en-US" sz="1800">
                <a:solidFill>
                  <a:schemeClr val="dk1"/>
                </a:solidFill>
                <a:latin typeface="Calibri"/>
                <a:ea typeface="Calibri"/>
                <a:cs typeface="Calibri"/>
                <a:sym typeface="Calibri"/>
              </a:rPr>
              <a:t>Example : restlessness ? Rest-ness-less</a:t>
            </a:r>
            <a:endParaRPr sz="1800">
              <a:solidFill>
                <a:schemeClr val="dk1"/>
              </a:solidFill>
              <a:latin typeface="Calibri"/>
              <a:ea typeface="Calibri"/>
              <a:cs typeface="Calibri"/>
              <a:sym typeface="Calibri"/>
            </a:endParaRPr>
          </a:p>
          <a:p>
            <a:pPr marL="0" marR="0" lvl="0" indent="0" algn="l" rtl="0">
              <a:lnSpc>
                <a:spcPct val="100000"/>
              </a:lnSpc>
              <a:spcBef>
                <a:spcPts val="30"/>
              </a:spcBef>
              <a:spcAft>
                <a:spcPts val="0"/>
              </a:spcAft>
              <a:buNone/>
            </a:pPr>
            <a:endParaRPr sz="1850">
              <a:solidFill>
                <a:schemeClr val="dk1"/>
              </a:solidFill>
              <a:latin typeface="Calibri"/>
              <a:ea typeface="Calibri"/>
              <a:cs typeface="Calibri"/>
              <a:sym typeface="Calibri"/>
            </a:endParaRPr>
          </a:p>
          <a:p>
            <a:pPr marL="435609" marR="0" lvl="0" indent="0" algn="l" rtl="0">
              <a:lnSpc>
                <a:spcPct val="100000"/>
              </a:lnSpc>
              <a:spcBef>
                <a:spcPts val="0"/>
              </a:spcBef>
              <a:spcAft>
                <a:spcPts val="0"/>
              </a:spcAft>
              <a:buNone/>
            </a:pPr>
            <a:r>
              <a:rPr lang="en-US" sz="1800">
                <a:solidFill>
                  <a:schemeClr val="dk1"/>
                </a:solidFill>
                <a:latin typeface="Calibri"/>
                <a:ea typeface="Calibri"/>
                <a:cs typeface="Calibri"/>
                <a:sym typeface="Calibri"/>
              </a:rPr>
              <a:t>describes the way morphemes are arranged or touch each other.</a:t>
            </a:r>
            <a:endParaRPr sz="1800">
              <a:solidFill>
                <a:schemeClr val="dk1"/>
              </a:solidFill>
              <a:latin typeface="Calibri"/>
              <a:ea typeface="Calibri"/>
              <a:cs typeface="Calibri"/>
              <a:sym typeface="Calibri"/>
            </a:endParaRPr>
          </a:p>
          <a:p>
            <a:pPr marL="0" marR="0" lvl="0" indent="0" algn="l" rtl="0">
              <a:lnSpc>
                <a:spcPct val="100000"/>
              </a:lnSpc>
              <a:spcBef>
                <a:spcPts val="20"/>
              </a:spcBef>
              <a:spcAft>
                <a:spcPts val="0"/>
              </a:spcAft>
              <a:buNone/>
            </a:pPr>
            <a:endParaRPr sz="1900">
              <a:solidFill>
                <a:schemeClr val="dk1"/>
              </a:solidFill>
              <a:latin typeface="Calibri"/>
              <a:ea typeface="Calibri"/>
              <a:cs typeface="Calibri"/>
              <a:sym typeface="Calibri"/>
            </a:endParaRPr>
          </a:p>
          <a:p>
            <a:pPr marL="207009" marR="0" lvl="0" indent="-194945" algn="l" rtl="0">
              <a:lnSpc>
                <a:spcPct val="100000"/>
              </a:lnSpc>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Orthographic: Spelling rules that specify the changes that occur when two given morphemes combine.</a:t>
            </a:r>
            <a:endParaRPr sz="1800">
              <a:solidFill>
                <a:schemeClr val="dk1"/>
              </a:solidFill>
              <a:latin typeface="Calibri"/>
              <a:ea typeface="Calibri"/>
              <a:cs typeface="Calibri"/>
              <a:sym typeface="Calibri"/>
            </a:endParaRPr>
          </a:p>
          <a:p>
            <a:pPr marL="664210" marR="0" lvl="1" indent="-194944" algn="l" rtl="0">
              <a:lnSpc>
                <a:spcPct val="100000"/>
              </a:lnSpc>
              <a:spcBef>
                <a:spcPts val="1340"/>
              </a:spcBef>
              <a:spcAft>
                <a:spcPts val="0"/>
              </a:spcAft>
              <a:buClr>
                <a:schemeClr val="dk1"/>
              </a:buClr>
              <a:buSzPts val="1800"/>
              <a:buFont typeface="Arial"/>
              <a:buChar char="•"/>
            </a:pPr>
            <a:r>
              <a:rPr lang="en-US" sz="1800" b="0" i="0" u="none" strike="noStrike" cap="none">
                <a:solidFill>
                  <a:schemeClr val="dk1"/>
                </a:solidFill>
                <a:latin typeface="Calibri"/>
                <a:ea typeface="Calibri"/>
                <a:cs typeface="Calibri"/>
                <a:sym typeface="Calibri"/>
              </a:rPr>
              <a:t>Example : y </a:t>
            </a:r>
            <a:r>
              <a:rPr lang="en-US" sz="1800" b="0" i="0" u="none" strike="noStrike" cap="none">
                <a:solidFill>
                  <a:schemeClr val="dk1"/>
                </a:solidFill>
                <a:latin typeface="Lucida Sans"/>
                <a:ea typeface="Lucida Sans"/>
                <a:cs typeface="Lucida Sans"/>
                <a:sym typeface="Lucida Sans"/>
              </a:rPr>
              <a:t>□</a:t>
            </a:r>
            <a:r>
              <a:rPr lang="en-US" sz="1800" b="0" i="0" u="none" strike="noStrike" cap="none">
                <a:solidFill>
                  <a:schemeClr val="dk1"/>
                </a:solidFill>
                <a:latin typeface="Calibri"/>
                <a:ea typeface="Calibri"/>
                <a:cs typeface="Calibri"/>
                <a:sym typeface="Calibri"/>
              </a:rPr>
              <a:t>ier spelling rule changes</a:t>
            </a:r>
            <a:endParaRPr sz="1800" b="0" i="0" u="none" strike="noStrike" cap="none">
              <a:solidFill>
                <a:schemeClr val="dk1"/>
              </a:solidFill>
              <a:latin typeface="Calibri"/>
              <a:ea typeface="Calibri"/>
              <a:cs typeface="Calibri"/>
              <a:sym typeface="Calibri"/>
            </a:endParaRPr>
          </a:p>
          <a:p>
            <a:pPr marL="1025525" marR="0" lvl="1" indent="-556260" algn="l" rtl="0">
              <a:lnSpc>
                <a:spcPct val="100000"/>
              </a:lnSpc>
              <a:spcBef>
                <a:spcPts val="1290"/>
              </a:spcBef>
              <a:spcAft>
                <a:spcPts val="0"/>
              </a:spcAft>
              <a:buClr>
                <a:schemeClr val="dk1"/>
              </a:buClr>
              <a:buSzPts val="1800"/>
              <a:buFont typeface="Arial"/>
              <a:buChar char="•"/>
            </a:pPr>
            <a:r>
              <a:rPr lang="en-US" sz="1800" b="0" i="0" u="none" strike="noStrike" cap="none">
                <a:solidFill>
                  <a:schemeClr val="dk1"/>
                </a:solidFill>
                <a:latin typeface="Calibri"/>
                <a:ea typeface="Calibri"/>
                <a:cs typeface="Calibri"/>
                <a:sym typeface="Calibri"/>
              </a:rPr>
              <a:t>Easy </a:t>
            </a:r>
            <a:r>
              <a:rPr lang="en-US" sz="1800" b="0" i="0" u="none" strike="noStrike" cap="none">
                <a:solidFill>
                  <a:schemeClr val="dk1"/>
                </a:solidFill>
                <a:latin typeface="Lucida Sans"/>
                <a:ea typeface="Lucida Sans"/>
                <a:cs typeface="Lucida Sans"/>
                <a:sym typeface="Lucida Sans"/>
              </a:rPr>
              <a:t>□</a:t>
            </a:r>
            <a:r>
              <a:rPr lang="en-US" sz="1800" b="0" i="0" u="none" strike="noStrike" cap="none">
                <a:solidFill>
                  <a:schemeClr val="dk1"/>
                </a:solidFill>
                <a:latin typeface="Calibri"/>
                <a:ea typeface="Calibri"/>
                <a:cs typeface="Calibri"/>
                <a:sym typeface="Calibri"/>
              </a:rPr>
              <a:t>easier not to easyer	EASY +ier====EASIER==EASYIER    </a:t>
            </a:r>
            <a:r>
              <a:rPr lang="en-US" sz="1800">
                <a:solidFill>
                  <a:schemeClr val="dk1"/>
                </a:solidFill>
                <a:latin typeface="Calibri"/>
                <a:ea typeface="Calibri"/>
                <a:cs typeface="Calibri"/>
                <a:sym typeface="Calibri"/>
              </a:rPr>
              <a:t>consisting </a:t>
            </a: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Shape 181"/>
        <p:cNvGrpSpPr/>
        <p:nvPr/>
      </p:nvGrpSpPr>
      <p:grpSpPr>
        <a:xfrm>
          <a:off x="0" y="0"/>
          <a:ext cx="0" cy="0"/>
          <a:chOff x="0" y="0"/>
          <a:chExt cx="0" cy="0"/>
        </a:xfrm>
      </p:grpSpPr>
      <p:sp>
        <p:nvSpPr>
          <p:cNvPr id="182" name="Google Shape;182;p15"/>
          <p:cNvSpPr txBox="1">
            <a:spLocks noGrp="1"/>
          </p:cNvSpPr>
          <p:nvPr>
            <p:ph type="title"/>
          </p:nvPr>
        </p:nvSpPr>
        <p:spPr>
          <a:xfrm>
            <a:off x="911225" y="495792"/>
            <a:ext cx="5085715" cy="69596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4400"/>
              <a:t>Morphological Parsing</a:t>
            </a:r>
            <a:endParaRPr sz="4400"/>
          </a:p>
        </p:txBody>
      </p:sp>
      <p:sp>
        <p:nvSpPr>
          <p:cNvPr id="183" name="Google Shape;183;p15"/>
          <p:cNvSpPr txBox="1"/>
          <p:nvPr/>
        </p:nvSpPr>
        <p:spPr>
          <a:xfrm>
            <a:off x="940383" y="1365594"/>
            <a:ext cx="9965690" cy="739551"/>
          </a:xfrm>
          <a:prstGeom prst="rect">
            <a:avLst/>
          </a:prstGeom>
          <a:noFill/>
          <a:ln>
            <a:noFill/>
          </a:ln>
        </p:spPr>
        <p:txBody>
          <a:bodyPr spcFirstLastPara="1" wrap="square" lIns="0" tIns="83175" rIns="0" bIns="0" anchor="t" anchorCtr="0">
            <a:spAutoFit/>
          </a:bodyPr>
          <a:lstStyle/>
          <a:p>
            <a:pPr marL="212090" marR="5080" lvl="0" indent="-200025" algn="l" rtl="0">
              <a:lnSpc>
                <a:spcPct val="70800"/>
              </a:lnSpc>
              <a:spcBef>
                <a:spcPts val="0"/>
              </a:spcBef>
              <a:spcAft>
                <a:spcPts val="0"/>
              </a:spcAft>
              <a:buClr>
                <a:schemeClr val="dk1"/>
              </a:buClr>
              <a:buSzPts val="1500"/>
              <a:buFont typeface="Arial"/>
              <a:buChar char="•"/>
            </a:pPr>
            <a:endParaRPr lang="en-US" sz="1500" dirty="0" smtClean="0">
              <a:solidFill>
                <a:schemeClr val="dk1"/>
              </a:solidFill>
              <a:latin typeface="Calibri"/>
              <a:ea typeface="Calibri"/>
              <a:cs typeface="Calibri"/>
              <a:sym typeface="Calibri"/>
            </a:endParaRPr>
          </a:p>
          <a:p>
            <a:pPr marL="212090" marR="5080" lvl="0" indent="-200025" algn="l" rtl="0">
              <a:lnSpc>
                <a:spcPct val="70800"/>
              </a:lnSpc>
              <a:spcBef>
                <a:spcPts val="0"/>
              </a:spcBef>
              <a:spcAft>
                <a:spcPts val="0"/>
              </a:spcAft>
              <a:buClr>
                <a:schemeClr val="dk1"/>
              </a:buClr>
              <a:buSzPts val="1500"/>
              <a:buFont typeface="Arial"/>
              <a:buChar char="•"/>
            </a:pPr>
            <a:endParaRPr lang="en-US" sz="1500" dirty="0">
              <a:solidFill>
                <a:schemeClr val="dk1"/>
              </a:solidFill>
              <a:latin typeface="Calibri"/>
              <a:ea typeface="Calibri"/>
              <a:cs typeface="Calibri"/>
              <a:sym typeface="Calibri"/>
            </a:endParaRPr>
          </a:p>
          <a:p>
            <a:pPr marL="212090" marR="5080" lvl="0" indent="-200025" algn="l" rtl="0">
              <a:lnSpc>
                <a:spcPct val="70800"/>
              </a:lnSpc>
              <a:spcBef>
                <a:spcPts val="0"/>
              </a:spcBef>
              <a:spcAft>
                <a:spcPts val="0"/>
              </a:spcAft>
              <a:buClr>
                <a:schemeClr val="dk1"/>
              </a:buClr>
              <a:buSzPts val="1500"/>
              <a:buFont typeface="Arial"/>
              <a:buChar char="•"/>
            </a:pPr>
            <a:r>
              <a:rPr lang="en-US" sz="1500" dirty="0" smtClean="0">
                <a:solidFill>
                  <a:schemeClr val="dk1"/>
                </a:solidFill>
                <a:latin typeface="Calibri"/>
                <a:ea typeface="Calibri"/>
                <a:cs typeface="Calibri"/>
                <a:sym typeface="Calibri"/>
              </a:rPr>
              <a:t>Morphological </a:t>
            </a:r>
            <a:r>
              <a:rPr lang="en-US" sz="1500" dirty="0">
                <a:solidFill>
                  <a:schemeClr val="dk1"/>
                </a:solidFill>
                <a:latin typeface="Calibri"/>
                <a:ea typeface="Calibri"/>
                <a:cs typeface="Calibri"/>
                <a:sym typeface="Calibri"/>
              </a:rPr>
              <a:t>analysis can be avoided if an exhaustive lexicon is available that lists features for all the word forms of all the  roots.</a:t>
            </a:r>
            <a:endParaRPr sz="1500" dirty="0">
              <a:solidFill>
                <a:schemeClr val="dk1"/>
              </a:solidFill>
              <a:latin typeface="Calibri"/>
              <a:ea typeface="Calibri"/>
              <a:cs typeface="Calibri"/>
              <a:sym typeface="Calibri"/>
            </a:endParaRPr>
          </a:p>
        </p:txBody>
      </p:sp>
      <p:sp>
        <p:nvSpPr>
          <p:cNvPr id="184" name="Google Shape;184;p15"/>
          <p:cNvSpPr txBox="1"/>
          <p:nvPr/>
        </p:nvSpPr>
        <p:spPr>
          <a:xfrm>
            <a:off x="911225" y="3291828"/>
            <a:ext cx="10219055" cy="3175475"/>
          </a:xfrm>
          <a:prstGeom prst="rect">
            <a:avLst/>
          </a:prstGeom>
          <a:noFill/>
          <a:ln>
            <a:noFill/>
          </a:ln>
        </p:spPr>
        <p:txBody>
          <a:bodyPr spcFirstLastPara="1" wrap="square" lIns="0" tIns="16500" rIns="0" bIns="0" anchor="t" anchorCtr="0">
            <a:spAutoFit/>
          </a:bodyPr>
          <a:lstStyle/>
          <a:p>
            <a:pPr marL="241300" marR="0" lvl="0" indent="-200025" algn="l" rtl="0">
              <a:lnSpc>
                <a:spcPct val="100000"/>
              </a:lnSpc>
              <a:spcBef>
                <a:spcPts val="0"/>
              </a:spcBef>
              <a:spcAft>
                <a:spcPts val="0"/>
              </a:spcAft>
              <a:buClr>
                <a:schemeClr val="dk1"/>
              </a:buClr>
              <a:buSzPts val="1500"/>
              <a:buFont typeface="Arial"/>
              <a:buChar char="•"/>
            </a:pPr>
            <a:endParaRPr lang="en-US" sz="1500" dirty="0" smtClean="0">
              <a:solidFill>
                <a:schemeClr val="dk1"/>
              </a:solidFill>
              <a:latin typeface="Calibri"/>
              <a:ea typeface="Calibri"/>
              <a:cs typeface="Calibri"/>
              <a:sym typeface="Calibri"/>
            </a:endParaRPr>
          </a:p>
          <a:p>
            <a:pPr marL="241300" marR="0" lvl="0" indent="-200025" algn="l" rtl="0">
              <a:lnSpc>
                <a:spcPct val="100000"/>
              </a:lnSpc>
              <a:spcBef>
                <a:spcPts val="0"/>
              </a:spcBef>
              <a:spcAft>
                <a:spcPts val="0"/>
              </a:spcAft>
              <a:buClr>
                <a:schemeClr val="dk1"/>
              </a:buClr>
              <a:buSzPts val="1500"/>
              <a:buFont typeface="Arial"/>
              <a:buChar char="•"/>
            </a:pPr>
            <a:r>
              <a:rPr lang="en-US" sz="1500" dirty="0" smtClean="0">
                <a:solidFill>
                  <a:schemeClr val="dk1"/>
                </a:solidFill>
                <a:latin typeface="Calibri"/>
                <a:ea typeface="Calibri"/>
                <a:cs typeface="Calibri"/>
                <a:sym typeface="Calibri"/>
              </a:rPr>
              <a:t>But </a:t>
            </a:r>
            <a:r>
              <a:rPr lang="en-US" sz="1500" dirty="0">
                <a:solidFill>
                  <a:schemeClr val="dk1"/>
                </a:solidFill>
                <a:latin typeface="Calibri"/>
                <a:ea typeface="Calibri"/>
                <a:cs typeface="Calibri"/>
                <a:sym typeface="Calibri"/>
              </a:rPr>
              <a:t>this approach has several limitation:</a:t>
            </a:r>
            <a:endParaRPr sz="1500" dirty="0">
              <a:solidFill>
                <a:schemeClr val="dk1"/>
              </a:solidFill>
              <a:latin typeface="Calibri"/>
              <a:ea typeface="Calibri"/>
              <a:cs typeface="Calibri"/>
              <a:sym typeface="Calibri"/>
            </a:endParaRPr>
          </a:p>
          <a:p>
            <a:pPr marL="0" marR="0" lvl="0" indent="0" algn="l" rtl="0">
              <a:lnSpc>
                <a:spcPct val="100000"/>
              </a:lnSpc>
              <a:spcBef>
                <a:spcPts val="20"/>
              </a:spcBef>
              <a:spcAft>
                <a:spcPts val="0"/>
              </a:spcAft>
              <a:buNone/>
            </a:pPr>
            <a:endParaRPr sz="1600" dirty="0">
              <a:solidFill>
                <a:schemeClr val="dk1"/>
              </a:solidFill>
              <a:latin typeface="Calibri"/>
              <a:ea typeface="Calibri"/>
              <a:cs typeface="Calibri"/>
              <a:sym typeface="Calibri"/>
            </a:endParaRPr>
          </a:p>
          <a:p>
            <a:pPr marL="213359" marR="0" lvl="0" indent="-201295" algn="l" rtl="0">
              <a:lnSpc>
                <a:spcPct val="100000"/>
              </a:lnSpc>
              <a:spcBef>
                <a:spcPts val="0"/>
              </a:spcBef>
              <a:spcAft>
                <a:spcPts val="0"/>
              </a:spcAft>
              <a:buClr>
                <a:schemeClr val="dk1"/>
              </a:buClr>
              <a:buSzPts val="1500"/>
              <a:buFont typeface="Calibri"/>
              <a:buAutoNum type="arabicParenR"/>
            </a:pPr>
            <a:r>
              <a:rPr lang="en-US" sz="1500" dirty="0">
                <a:solidFill>
                  <a:schemeClr val="dk1"/>
                </a:solidFill>
                <a:latin typeface="Calibri"/>
                <a:ea typeface="Calibri"/>
                <a:cs typeface="Calibri"/>
                <a:sym typeface="Calibri"/>
              </a:rPr>
              <a:t>it puts a heavy demand on memory.</a:t>
            </a:r>
            <a:endParaRPr sz="1500" dirty="0">
              <a:solidFill>
                <a:schemeClr val="dk1"/>
              </a:solidFill>
              <a:latin typeface="Calibri"/>
              <a:ea typeface="Calibri"/>
              <a:cs typeface="Calibri"/>
              <a:sym typeface="Calibri"/>
            </a:endParaRPr>
          </a:p>
          <a:p>
            <a:pPr marL="0" marR="0" lvl="0" indent="0" algn="l" rtl="0">
              <a:lnSpc>
                <a:spcPct val="100000"/>
              </a:lnSpc>
              <a:spcBef>
                <a:spcPts val="55"/>
              </a:spcBef>
              <a:spcAft>
                <a:spcPts val="0"/>
              </a:spcAft>
              <a:buClr>
                <a:schemeClr val="dk1"/>
              </a:buClr>
              <a:buSzPts val="1550"/>
              <a:buFont typeface="Calibri"/>
              <a:buNone/>
            </a:pPr>
            <a:endParaRPr sz="1550" dirty="0">
              <a:solidFill>
                <a:schemeClr val="dk1"/>
              </a:solidFill>
              <a:latin typeface="Calibri"/>
              <a:ea typeface="Calibri"/>
              <a:cs typeface="Calibri"/>
              <a:sym typeface="Calibri"/>
            </a:endParaRPr>
          </a:p>
          <a:p>
            <a:pPr marL="231775" marR="0" lvl="0" indent="0" algn="l" rtl="0">
              <a:lnSpc>
                <a:spcPct val="100000"/>
              </a:lnSpc>
              <a:spcBef>
                <a:spcPts val="5"/>
              </a:spcBef>
              <a:spcAft>
                <a:spcPts val="0"/>
              </a:spcAft>
              <a:buNone/>
            </a:pPr>
            <a:r>
              <a:rPr lang="en-US" sz="1500" dirty="0">
                <a:solidFill>
                  <a:schemeClr val="dk1"/>
                </a:solidFill>
                <a:latin typeface="Calibri"/>
                <a:ea typeface="Calibri"/>
                <a:cs typeface="Calibri"/>
                <a:sym typeface="Calibri"/>
              </a:rPr>
              <a:t>- have to list every form of the word which results in a large number of, often redundant, entries is the lexicon.</a:t>
            </a:r>
            <a:endParaRPr sz="1500" dirty="0">
              <a:solidFill>
                <a:schemeClr val="dk1"/>
              </a:solidFill>
              <a:latin typeface="Calibri"/>
              <a:ea typeface="Calibri"/>
              <a:cs typeface="Calibri"/>
              <a:sym typeface="Calibri"/>
            </a:endParaRPr>
          </a:p>
          <a:p>
            <a:pPr marL="0" marR="0" lvl="0" indent="0" algn="l" rtl="0">
              <a:lnSpc>
                <a:spcPct val="100000"/>
              </a:lnSpc>
              <a:spcBef>
                <a:spcPts val="55"/>
              </a:spcBef>
              <a:spcAft>
                <a:spcPts val="0"/>
              </a:spcAft>
              <a:buNone/>
            </a:pPr>
            <a:endParaRPr sz="1550" dirty="0">
              <a:solidFill>
                <a:schemeClr val="dk1"/>
              </a:solidFill>
              <a:latin typeface="Calibri"/>
              <a:ea typeface="Calibri"/>
              <a:cs typeface="Calibri"/>
              <a:sym typeface="Calibri"/>
            </a:endParaRPr>
          </a:p>
          <a:p>
            <a:pPr marL="213359" marR="0" lvl="0" indent="-201295" algn="l" rtl="0">
              <a:lnSpc>
                <a:spcPct val="100000"/>
              </a:lnSpc>
              <a:spcBef>
                <a:spcPts val="0"/>
              </a:spcBef>
              <a:spcAft>
                <a:spcPts val="0"/>
              </a:spcAft>
              <a:buClr>
                <a:schemeClr val="dk1"/>
              </a:buClr>
              <a:buSzPts val="1500"/>
              <a:buFont typeface="Calibri"/>
              <a:buAutoNum type="arabicParenR" startAt="2"/>
            </a:pPr>
            <a:r>
              <a:rPr lang="en-US" sz="1500" dirty="0">
                <a:solidFill>
                  <a:schemeClr val="dk1"/>
                </a:solidFill>
                <a:latin typeface="Calibri"/>
                <a:ea typeface="Calibri"/>
                <a:cs typeface="Calibri"/>
                <a:sym typeface="Calibri"/>
              </a:rPr>
              <a:t>Exhaustive lexicon fails to show the relationship between different roots having similar word forms.</a:t>
            </a:r>
            <a:endParaRPr sz="1500" dirty="0">
              <a:solidFill>
                <a:schemeClr val="dk1"/>
              </a:solidFill>
              <a:latin typeface="Calibri"/>
              <a:ea typeface="Calibri"/>
              <a:cs typeface="Calibri"/>
              <a:sym typeface="Calibri"/>
            </a:endParaRPr>
          </a:p>
          <a:p>
            <a:pPr marL="0" marR="0" lvl="0" indent="0" algn="l" rtl="0">
              <a:lnSpc>
                <a:spcPct val="100000"/>
              </a:lnSpc>
              <a:spcBef>
                <a:spcPts val="35"/>
              </a:spcBef>
              <a:spcAft>
                <a:spcPts val="0"/>
              </a:spcAft>
              <a:buClr>
                <a:schemeClr val="dk1"/>
              </a:buClr>
              <a:buSzPts val="1650"/>
              <a:buFont typeface="Calibri"/>
              <a:buNone/>
            </a:pPr>
            <a:endParaRPr sz="1650" dirty="0">
              <a:solidFill>
                <a:schemeClr val="dk1"/>
              </a:solidFill>
              <a:latin typeface="Calibri"/>
              <a:ea typeface="Calibri"/>
              <a:cs typeface="Calibri"/>
              <a:sym typeface="Calibri"/>
            </a:endParaRPr>
          </a:p>
          <a:p>
            <a:pPr marL="12700" marR="5080" lvl="0" indent="307340" algn="l" rtl="0">
              <a:lnSpc>
                <a:spcPct val="116666"/>
              </a:lnSpc>
              <a:spcBef>
                <a:spcPts val="0"/>
              </a:spcBef>
              <a:spcAft>
                <a:spcPts val="0"/>
              </a:spcAft>
              <a:buNone/>
            </a:pPr>
            <a:r>
              <a:rPr lang="en-US" sz="1500" dirty="0">
                <a:solidFill>
                  <a:schemeClr val="dk1"/>
                </a:solidFill>
                <a:latin typeface="Calibri"/>
                <a:ea typeface="Calibri"/>
                <a:cs typeface="Calibri"/>
                <a:sym typeface="Calibri"/>
              </a:rPr>
              <a:t>-approach fails to capture linguistic generalization , which is essential to develop a system capable of understanding unknown  words.</a:t>
            </a:r>
            <a:endParaRPr sz="1500" dirty="0">
              <a:solidFill>
                <a:schemeClr val="dk1"/>
              </a:solidFill>
              <a:latin typeface="Calibri"/>
              <a:ea typeface="Calibri"/>
              <a:cs typeface="Calibri"/>
              <a:sym typeface="Calibri"/>
            </a:endParaRPr>
          </a:p>
          <a:p>
            <a:pPr marL="0" marR="0" lvl="0" indent="0" algn="l" rtl="0">
              <a:lnSpc>
                <a:spcPct val="100000"/>
              </a:lnSpc>
              <a:spcBef>
                <a:spcPts val="45"/>
              </a:spcBef>
              <a:spcAft>
                <a:spcPts val="0"/>
              </a:spcAft>
              <a:buNone/>
            </a:pPr>
            <a:endParaRPr sz="1500" dirty="0">
              <a:solidFill>
                <a:schemeClr val="dk1"/>
              </a:solidFill>
              <a:latin typeface="Calibri"/>
              <a:ea typeface="Calibri"/>
              <a:cs typeface="Calibri"/>
              <a:sym typeface="Calibri"/>
            </a:endParaRPr>
          </a:p>
          <a:p>
            <a:pPr marL="170180" marR="0" lvl="0" indent="-158115" algn="l" rtl="0">
              <a:lnSpc>
                <a:spcPct val="100000"/>
              </a:lnSpc>
              <a:spcBef>
                <a:spcPts val="0"/>
              </a:spcBef>
              <a:spcAft>
                <a:spcPts val="0"/>
              </a:spcAft>
              <a:buClr>
                <a:schemeClr val="dk1"/>
              </a:buClr>
              <a:buSzPts val="1500"/>
              <a:buFont typeface="Calibri"/>
              <a:buAutoNum type="arabicParenR" startAt="3"/>
            </a:pPr>
            <a:r>
              <a:rPr lang="en-US" sz="1500" dirty="0">
                <a:solidFill>
                  <a:schemeClr val="dk1"/>
                </a:solidFill>
                <a:latin typeface="Calibri"/>
                <a:ea typeface="Calibri"/>
                <a:cs typeface="Calibri"/>
                <a:sym typeface="Calibri"/>
              </a:rPr>
              <a:t>Morphologically complex languages like Turkish, the no of possible word forms may be theoretically infinite.</a:t>
            </a:r>
            <a:endParaRPr sz="1500" dirty="0">
              <a:solidFill>
                <a:schemeClr val="dk1"/>
              </a:solidFill>
              <a:latin typeface="Calibri"/>
              <a:ea typeface="Calibri"/>
              <a:cs typeface="Calibri"/>
              <a:sym typeface="Calibri"/>
            </a:endParaRPr>
          </a:p>
        </p:txBody>
      </p:sp>
      <p:pic>
        <p:nvPicPr>
          <p:cNvPr id="185" name="Google Shape;185;p15"/>
          <p:cNvPicPr preferRelativeResize="0"/>
          <p:nvPr/>
        </p:nvPicPr>
        <p:blipFill rotWithShape="1">
          <a:blip r:embed="rId3">
            <a:alphaModFix/>
          </a:blip>
          <a:srcRect/>
          <a:stretch/>
        </p:blipFill>
        <p:spPr>
          <a:xfrm>
            <a:off x="3340722" y="2105145"/>
            <a:ext cx="6978280" cy="143163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Shape 189"/>
        <p:cNvGrpSpPr/>
        <p:nvPr/>
      </p:nvGrpSpPr>
      <p:grpSpPr>
        <a:xfrm>
          <a:off x="0" y="0"/>
          <a:ext cx="0" cy="0"/>
          <a:chOff x="0" y="0"/>
          <a:chExt cx="0" cy="0"/>
        </a:xfrm>
      </p:grpSpPr>
      <p:sp>
        <p:nvSpPr>
          <p:cNvPr id="190" name="Google Shape;190;p16"/>
          <p:cNvSpPr txBox="1">
            <a:spLocks noGrp="1"/>
          </p:cNvSpPr>
          <p:nvPr>
            <p:ph type="title"/>
          </p:nvPr>
        </p:nvSpPr>
        <p:spPr>
          <a:xfrm>
            <a:off x="911225" y="338774"/>
            <a:ext cx="5085715" cy="69596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4400"/>
              <a:t>Morphological Parsing</a:t>
            </a:r>
            <a:endParaRPr sz="4400"/>
          </a:p>
        </p:txBody>
      </p:sp>
      <p:sp>
        <p:nvSpPr>
          <p:cNvPr id="191" name="Google Shape;191;p16"/>
          <p:cNvSpPr txBox="1"/>
          <p:nvPr/>
        </p:nvSpPr>
        <p:spPr>
          <a:xfrm>
            <a:off x="556780" y="997898"/>
            <a:ext cx="10365105" cy="5262245"/>
          </a:xfrm>
          <a:prstGeom prst="rect">
            <a:avLst/>
          </a:prstGeom>
          <a:noFill/>
          <a:ln>
            <a:noFill/>
          </a:ln>
        </p:spPr>
        <p:txBody>
          <a:bodyPr spcFirstLastPara="1" wrap="square" lIns="0" tIns="43175" rIns="0" bIns="0" anchor="t" anchorCtr="0">
            <a:spAutoFit/>
          </a:bodyPr>
          <a:lstStyle/>
          <a:p>
            <a:pPr marL="355600" marR="5080" lvl="0" indent="-194945" algn="l" rtl="0">
              <a:lnSpc>
                <a:spcPct val="108333"/>
              </a:lnSpc>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The simplest morphological systems are stemmers that collapse morphological variations of a given word to  one lemma or stem. They do not require a lexicon.</a:t>
            </a:r>
            <a:endParaRPr sz="1800">
              <a:solidFill>
                <a:schemeClr val="dk1"/>
              </a:solidFill>
              <a:latin typeface="Calibri"/>
              <a:ea typeface="Calibri"/>
              <a:cs typeface="Calibri"/>
              <a:sym typeface="Calibri"/>
            </a:endParaRPr>
          </a:p>
          <a:p>
            <a:pPr marL="355600" marR="0" lvl="0" indent="-194945" algn="l" rtl="0">
              <a:lnSpc>
                <a:spcPct val="100000"/>
              </a:lnSpc>
              <a:spcBef>
                <a:spcPts val="76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Stemmers have been used in information retrieval.</a:t>
            </a:r>
            <a:endParaRPr sz="1800">
              <a:solidFill>
                <a:schemeClr val="dk1"/>
              </a:solidFill>
              <a:latin typeface="Calibri"/>
              <a:ea typeface="Calibri"/>
              <a:cs typeface="Calibri"/>
              <a:sym typeface="Calibri"/>
            </a:endParaRPr>
          </a:p>
          <a:p>
            <a:pPr marL="355600" marR="0" lvl="0" indent="-194945" algn="l" rtl="0">
              <a:lnSpc>
                <a:spcPct val="100000"/>
              </a:lnSpc>
              <a:spcBef>
                <a:spcPts val="765"/>
              </a:spcBef>
              <a:spcAft>
                <a:spcPts val="0"/>
              </a:spcAft>
              <a:buClr>
                <a:schemeClr val="dk1"/>
              </a:buClr>
              <a:buSzPts val="1800"/>
              <a:buFont typeface="Arial"/>
              <a:buChar char="•"/>
            </a:pPr>
            <a:r>
              <a:rPr lang="en-US" sz="1800">
                <a:solidFill>
                  <a:schemeClr val="dk1"/>
                </a:solidFill>
                <a:latin typeface="Times New Roman"/>
                <a:ea typeface="Times New Roman"/>
                <a:cs typeface="Times New Roman"/>
                <a:sym typeface="Times New Roman"/>
              </a:rPr>
              <a:t>lovins(1968) and porter(1980)</a:t>
            </a:r>
            <a:endParaRPr sz="1800">
              <a:solidFill>
                <a:schemeClr val="dk1"/>
              </a:solidFill>
              <a:latin typeface="Times New Roman"/>
              <a:ea typeface="Times New Roman"/>
              <a:cs typeface="Times New Roman"/>
              <a:sym typeface="Times New Roman"/>
            </a:endParaRPr>
          </a:p>
          <a:p>
            <a:pPr marL="355600" marR="2521585" lvl="0" indent="-355600" algn="l" rtl="0">
              <a:lnSpc>
                <a:spcPct val="135400"/>
              </a:lnSpc>
              <a:spcBef>
                <a:spcPts val="0"/>
              </a:spcBef>
              <a:spcAft>
                <a:spcPts val="0"/>
              </a:spcAft>
              <a:buClr>
                <a:schemeClr val="dk1"/>
              </a:buClr>
              <a:buSzPts val="1800"/>
              <a:buFont typeface="Arial"/>
              <a:buChar char="•"/>
            </a:pPr>
            <a:r>
              <a:rPr lang="en-US" sz="1800">
                <a:solidFill>
                  <a:schemeClr val="dk1"/>
                </a:solidFill>
                <a:latin typeface="Times New Roman"/>
                <a:ea typeface="Times New Roman"/>
                <a:cs typeface="Times New Roman"/>
                <a:sym typeface="Times New Roman"/>
              </a:rPr>
              <a:t>stemmers do not use a lexicon, instead they make use of rewrite rules of the form:  ier -&gt; y (eg: earlier-&gt;early)</a:t>
            </a:r>
            <a:endParaRPr sz="1800">
              <a:solidFill>
                <a:schemeClr val="dk1"/>
              </a:solidFill>
              <a:latin typeface="Times New Roman"/>
              <a:ea typeface="Times New Roman"/>
              <a:cs typeface="Times New Roman"/>
              <a:sym typeface="Times New Roman"/>
            </a:endParaRPr>
          </a:p>
          <a:p>
            <a:pPr marL="1041400" marR="0" lvl="0" indent="0" algn="l" rtl="0">
              <a:lnSpc>
                <a:spcPct val="100000"/>
              </a:lnSpc>
              <a:spcBef>
                <a:spcPts val="765"/>
              </a:spcBef>
              <a:spcAft>
                <a:spcPts val="0"/>
              </a:spcAft>
              <a:buNone/>
            </a:pPr>
            <a:r>
              <a:rPr lang="en-US" sz="1800">
                <a:solidFill>
                  <a:schemeClr val="dk1"/>
                </a:solidFill>
                <a:latin typeface="Times New Roman"/>
                <a:ea typeface="Times New Roman"/>
                <a:cs typeface="Times New Roman"/>
                <a:sym typeface="Times New Roman"/>
              </a:rPr>
              <a:t>ing -&gt;e (eg: playing-&gt;play)</a:t>
            </a:r>
            <a:endParaRPr sz="1800">
              <a:solidFill>
                <a:schemeClr val="dk1"/>
              </a:solidFill>
              <a:latin typeface="Times New Roman"/>
              <a:ea typeface="Times New Roman"/>
              <a:cs typeface="Times New Roman"/>
              <a:sym typeface="Times New Roman"/>
            </a:endParaRPr>
          </a:p>
          <a:p>
            <a:pPr marL="127000" marR="0" lvl="0" indent="0" algn="l" rtl="0">
              <a:lnSpc>
                <a:spcPct val="100000"/>
              </a:lnSpc>
              <a:spcBef>
                <a:spcPts val="765"/>
              </a:spcBef>
              <a:spcAft>
                <a:spcPts val="0"/>
              </a:spcAft>
              <a:buNone/>
            </a:pPr>
            <a:r>
              <a:rPr lang="en-US" sz="1800">
                <a:solidFill>
                  <a:schemeClr val="dk1"/>
                </a:solidFill>
                <a:latin typeface="Calibri"/>
                <a:ea typeface="Calibri"/>
                <a:cs typeface="Calibri"/>
                <a:sym typeface="Calibri"/>
              </a:rPr>
              <a:t>Stemming algorithms work in two steps:</a:t>
            </a:r>
            <a:endParaRPr sz="1800">
              <a:solidFill>
                <a:schemeClr val="dk1"/>
              </a:solidFill>
              <a:latin typeface="Calibri"/>
              <a:ea typeface="Calibri"/>
              <a:cs typeface="Calibri"/>
              <a:sym typeface="Calibri"/>
            </a:endParaRPr>
          </a:p>
          <a:p>
            <a:pPr marL="127000" marR="3881754" lvl="0" indent="0" algn="l" rtl="0">
              <a:lnSpc>
                <a:spcPct val="135400"/>
              </a:lnSpc>
              <a:spcBef>
                <a:spcPts val="0"/>
              </a:spcBef>
              <a:spcAft>
                <a:spcPts val="0"/>
              </a:spcAft>
              <a:buNone/>
            </a:pPr>
            <a:r>
              <a:rPr lang="en-US" sz="1800">
                <a:solidFill>
                  <a:schemeClr val="dk1"/>
                </a:solidFill>
                <a:latin typeface="Calibri"/>
                <a:ea typeface="Calibri"/>
                <a:cs typeface="Calibri"/>
                <a:sym typeface="Calibri"/>
              </a:rPr>
              <a:t>1)Suffix removal: removes predefined endings from words.  2)Recoding: adds predefined endings to the outputs of the first step.</a:t>
            </a:r>
            <a:endParaRPr sz="1800">
              <a:solidFill>
                <a:schemeClr val="dk1"/>
              </a:solidFill>
              <a:latin typeface="Calibri"/>
              <a:ea typeface="Calibri"/>
              <a:cs typeface="Calibri"/>
              <a:sym typeface="Calibri"/>
            </a:endParaRPr>
          </a:p>
          <a:p>
            <a:pPr marL="1498600" marR="2546350" lvl="0" indent="-1371600" algn="l" rtl="0">
              <a:lnSpc>
                <a:spcPct val="135400"/>
              </a:lnSpc>
              <a:spcBef>
                <a:spcPts val="0"/>
              </a:spcBef>
              <a:spcAft>
                <a:spcPts val="0"/>
              </a:spcAft>
              <a:buNone/>
            </a:pPr>
            <a:r>
              <a:rPr lang="en-US" sz="1800">
                <a:solidFill>
                  <a:schemeClr val="dk1"/>
                </a:solidFill>
                <a:latin typeface="Calibri"/>
                <a:ea typeface="Calibri"/>
                <a:cs typeface="Calibri"/>
                <a:sym typeface="Calibri"/>
              </a:rPr>
              <a:t>- performed sequentially in lovin’s stemmer – simultaneously in porter’s stemmer.  ational -&gt;ate</a:t>
            </a:r>
            <a:endParaRPr sz="1800">
              <a:solidFill>
                <a:schemeClr val="dk1"/>
              </a:solidFill>
              <a:latin typeface="Calibri"/>
              <a:ea typeface="Calibri"/>
              <a:cs typeface="Calibri"/>
              <a:sym typeface="Calibri"/>
            </a:endParaRPr>
          </a:p>
          <a:p>
            <a:pPr marL="591820" marR="0" lvl="0" indent="0" algn="l" rtl="0">
              <a:lnSpc>
                <a:spcPct val="100000"/>
              </a:lnSpc>
              <a:spcBef>
                <a:spcPts val="765"/>
              </a:spcBef>
              <a:spcAft>
                <a:spcPts val="0"/>
              </a:spcAft>
              <a:buNone/>
            </a:pPr>
            <a:r>
              <a:rPr lang="en-US" sz="1800">
                <a:solidFill>
                  <a:schemeClr val="dk1"/>
                </a:solidFill>
                <a:latin typeface="Calibri"/>
                <a:ea typeface="Calibri"/>
                <a:cs typeface="Calibri"/>
                <a:sym typeface="Calibri"/>
              </a:rPr>
              <a:t>to transform word such as 'rotational' into 'rotate’</a:t>
            </a:r>
            <a:endParaRPr sz="1800">
              <a:solidFill>
                <a:schemeClr val="dk1"/>
              </a:solidFill>
              <a:latin typeface="Calibri"/>
              <a:ea typeface="Calibri"/>
              <a:cs typeface="Calibri"/>
              <a:sym typeface="Calibri"/>
            </a:endParaRPr>
          </a:p>
          <a:p>
            <a:pPr marL="12700" marR="0" lvl="0" indent="0" algn="l" rtl="0">
              <a:lnSpc>
                <a:spcPct val="100000"/>
              </a:lnSpc>
              <a:spcBef>
                <a:spcPts val="765"/>
              </a:spcBef>
              <a:spcAft>
                <a:spcPts val="0"/>
              </a:spcAft>
              <a:buNone/>
            </a:pPr>
            <a:r>
              <a:rPr lang="en-US" sz="1800">
                <a:solidFill>
                  <a:schemeClr val="dk1"/>
                </a:solidFill>
                <a:latin typeface="Lucida Sans"/>
                <a:ea typeface="Lucida Sans"/>
                <a:cs typeface="Lucida Sans"/>
                <a:sym typeface="Lucida Sans"/>
              </a:rPr>
              <a:t>⇒ </a:t>
            </a:r>
            <a:r>
              <a:rPr lang="en-US" sz="1800">
                <a:solidFill>
                  <a:schemeClr val="dk1"/>
                </a:solidFill>
                <a:latin typeface="Calibri"/>
                <a:ea typeface="Calibri"/>
                <a:cs typeface="Calibri"/>
                <a:sym typeface="Calibri"/>
              </a:rPr>
              <a:t>organization into organ, noise into noisy.</a:t>
            </a:r>
            <a:endParaRPr sz="1800">
              <a:solidFill>
                <a:schemeClr val="dk1"/>
              </a:solidFill>
              <a:latin typeface="Calibri"/>
              <a:ea typeface="Calibri"/>
              <a:cs typeface="Calibri"/>
              <a:sym typeface="Calibri"/>
            </a:endParaRPr>
          </a:p>
          <a:p>
            <a:pPr marL="495300" marR="0" lvl="0" indent="0" algn="l" rtl="0">
              <a:lnSpc>
                <a:spcPct val="100000"/>
              </a:lnSpc>
              <a:spcBef>
                <a:spcPts val="320"/>
              </a:spcBef>
              <a:spcAft>
                <a:spcPts val="0"/>
              </a:spcAft>
              <a:buNone/>
            </a:pPr>
            <a:r>
              <a:rPr lang="en-US" sz="1400">
                <a:solidFill>
                  <a:schemeClr val="dk1"/>
                </a:solidFill>
                <a:latin typeface="Lucida Sans"/>
                <a:ea typeface="Lucida Sans"/>
                <a:cs typeface="Lucida Sans"/>
                <a:sym typeface="Lucida Sans"/>
              </a:rPr>
              <a:t>⇒	</a:t>
            </a:r>
            <a:r>
              <a:rPr lang="en-US" sz="1400">
                <a:solidFill>
                  <a:schemeClr val="dk1"/>
                </a:solidFill>
                <a:latin typeface="Calibri"/>
                <a:ea typeface="Calibri"/>
                <a:cs typeface="Calibri"/>
                <a:sym typeface="Calibri"/>
              </a:rPr>
              <a:t>Reduces only suffixes; Prefixes and compounds are not reduced.</a:t>
            </a:r>
            <a:endParaRPr sz="1400">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Shape 195"/>
        <p:cNvGrpSpPr/>
        <p:nvPr/>
      </p:nvGrpSpPr>
      <p:grpSpPr>
        <a:xfrm>
          <a:off x="0" y="0"/>
          <a:ext cx="0" cy="0"/>
          <a:chOff x="0" y="0"/>
          <a:chExt cx="0" cy="0"/>
        </a:xfrm>
      </p:grpSpPr>
      <p:sp>
        <p:nvSpPr>
          <p:cNvPr id="196" name="Google Shape;196;p17"/>
          <p:cNvSpPr txBox="1">
            <a:spLocks noGrp="1"/>
          </p:cNvSpPr>
          <p:nvPr>
            <p:ph type="title"/>
          </p:nvPr>
        </p:nvSpPr>
        <p:spPr>
          <a:xfrm>
            <a:off x="911225" y="366483"/>
            <a:ext cx="5085715" cy="69596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4400"/>
              <a:t>Morphological Parsing</a:t>
            </a:r>
            <a:endParaRPr sz="4400"/>
          </a:p>
        </p:txBody>
      </p:sp>
      <p:sp>
        <p:nvSpPr>
          <p:cNvPr id="197" name="Google Shape;197;p17"/>
          <p:cNvSpPr txBox="1"/>
          <p:nvPr/>
        </p:nvSpPr>
        <p:spPr>
          <a:xfrm>
            <a:off x="911225" y="1250960"/>
            <a:ext cx="9638665" cy="1473200"/>
          </a:xfrm>
          <a:prstGeom prst="rect">
            <a:avLst/>
          </a:prstGeom>
          <a:noFill/>
          <a:ln>
            <a:noFill/>
          </a:ln>
        </p:spPr>
        <p:txBody>
          <a:bodyPr spcFirstLastPara="1" wrap="square" lIns="0" tIns="66025" rIns="0" bIns="0" anchor="t" anchorCtr="0">
            <a:spAutoFit/>
          </a:bodyPr>
          <a:lstStyle/>
          <a:p>
            <a:pPr marL="12700" marR="5080" lvl="0" indent="0" algn="l" rtl="0">
              <a:lnSpc>
                <a:spcPct val="79500"/>
              </a:lnSpc>
              <a:spcBef>
                <a:spcPts val="0"/>
              </a:spcBef>
              <a:spcAft>
                <a:spcPts val="0"/>
              </a:spcAft>
              <a:buNone/>
            </a:pPr>
            <a:r>
              <a:rPr lang="en-US" sz="1650">
                <a:solidFill>
                  <a:schemeClr val="dk1"/>
                </a:solidFill>
                <a:latin typeface="Times New Roman"/>
                <a:ea typeface="Times New Roman"/>
                <a:cs typeface="Times New Roman"/>
                <a:sym typeface="Times New Roman"/>
              </a:rPr>
              <a:t>A more efficient two-level morphological model proposed by koskenniemi(1983),can be used for highly inflected  languages.</a:t>
            </a:r>
            <a:endParaRPr sz="1650">
              <a:solidFill>
                <a:schemeClr val="dk1"/>
              </a:solidFill>
              <a:latin typeface="Times New Roman"/>
              <a:ea typeface="Times New Roman"/>
              <a:cs typeface="Times New Roman"/>
              <a:sym typeface="Times New Roman"/>
            </a:endParaRPr>
          </a:p>
          <a:p>
            <a:pPr marL="12700" marR="0" lvl="0" indent="0" algn="l" rtl="0">
              <a:lnSpc>
                <a:spcPct val="100000"/>
              </a:lnSpc>
              <a:spcBef>
                <a:spcPts val="595"/>
              </a:spcBef>
              <a:spcAft>
                <a:spcPts val="0"/>
              </a:spcAft>
              <a:buNone/>
            </a:pPr>
            <a:r>
              <a:rPr lang="en-US" sz="1650">
                <a:solidFill>
                  <a:schemeClr val="dk1"/>
                </a:solidFill>
                <a:latin typeface="Times New Roman"/>
                <a:ea typeface="Times New Roman"/>
                <a:cs typeface="Times New Roman"/>
                <a:sym typeface="Times New Roman"/>
              </a:rPr>
              <a:t>-a word is represented as</a:t>
            </a:r>
            <a:endParaRPr sz="1650">
              <a:solidFill>
                <a:schemeClr val="dk1"/>
              </a:solidFill>
              <a:latin typeface="Times New Roman"/>
              <a:ea typeface="Times New Roman"/>
              <a:cs typeface="Times New Roman"/>
              <a:sym typeface="Times New Roman"/>
            </a:endParaRPr>
          </a:p>
          <a:p>
            <a:pPr marL="1193165" marR="0" lvl="0" indent="-229869" algn="l" rtl="0">
              <a:lnSpc>
                <a:spcPct val="100000"/>
              </a:lnSpc>
              <a:spcBef>
                <a:spcPts val="645"/>
              </a:spcBef>
              <a:spcAft>
                <a:spcPts val="0"/>
              </a:spcAft>
              <a:buClr>
                <a:schemeClr val="dk1"/>
              </a:buClr>
              <a:buSzPts val="1650"/>
              <a:buFont typeface="Times New Roman"/>
              <a:buAutoNum type="arabicParenR"/>
            </a:pPr>
            <a:r>
              <a:rPr lang="en-US" sz="1650">
                <a:solidFill>
                  <a:schemeClr val="dk1"/>
                </a:solidFill>
                <a:latin typeface="Times New Roman"/>
                <a:ea typeface="Times New Roman"/>
                <a:cs typeface="Times New Roman"/>
                <a:sym typeface="Times New Roman"/>
              </a:rPr>
              <a:t>surface level form-&gt; the actual spelling of the word</a:t>
            </a:r>
            <a:endParaRPr sz="1650">
              <a:solidFill>
                <a:schemeClr val="dk1"/>
              </a:solidFill>
              <a:latin typeface="Times New Roman"/>
              <a:ea typeface="Times New Roman"/>
              <a:cs typeface="Times New Roman"/>
              <a:sym typeface="Times New Roman"/>
            </a:endParaRPr>
          </a:p>
          <a:p>
            <a:pPr marL="1140460" marR="0" lvl="0" indent="-177165" algn="l" rtl="0">
              <a:lnSpc>
                <a:spcPct val="100000"/>
              </a:lnSpc>
              <a:spcBef>
                <a:spcPts val="645"/>
              </a:spcBef>
              <a:spcAft>
                <a:spcPts val="0"/>
              </a:spcAft>
              <a:buClr>
                <a:schemeClr val="dk1"/>
              </a:buClr>
              <a:buSzPts val="1650"/>
              <a:buFont typeface="Times New Roman"/>
              <a:buAutoNum type="arabicParenR"/>
            </a:pPr>
            <a:r>
              <a:rPr lang="en-US" sz="1650">
                <a:solidFill>
                  <a:schemeClr val="dk1"/>
                </a:solidFill>
                <a:latin typeface="Times New Roman"/>
                <a:ea typeface="Times New Roman"/>
                <a:cs typeface="Times New Roman"/>
                <a:sym typeface="Times New Roman"/>
              </a:rPr>
              <a:t>lexical level form-&gt; the concatenation of its constituent morphemes</a:t>
            </a:r>
            <a:endParaRPr sz="1650">
              <a:solidFill>
                <a:schemeClr val="dk1"/>
              </a:solidFill>
              <a:latin typeface="Times New Roman"/>
              <a:ea typeface="Times New Roman"/>
              <a:cs typeface="Times New Roman"/>
              <a:sym typeface="Times New Roman"/>
            </a:endParaRPr>
          </a:p>
        </p:txBody>
      </p:sp>
      <p:sp>
        <p:nvSpPr>
          <p:cNvPr id="198" name="Google Shape;198;p17"/>
          <p:cNvSpPr txBox="1"/>
          <p:nvPr/>
        </p:nvSpPr>
        <p:spPr>
          <a:xfrm>
            <a:off x="923925" y="2839892"/>
            <a:ext cx="9865360" cy="203200"/>
          </a:xfrm>
          <a:prstGeom prst="rect">
            <a:avLst/>
          </a:prstGeom>
          <a:solidFill>
            <a:srgbClr val="00FFFF"/>
          </a:solidFill>
          <a:ln>
            <a:noFill/>
          </a:ln>
        </p:spPr>
        <p:txBody>
          <a:bodyPr spcFirstLastPara="1" wrap="square" lIns="0" tIns="0" rIns="0" bIns="0" anchor="t" anchorCtr="0">
            <a:spAutoFit/>
          </a:bodyPr>
          <a:lstStyle/>
          <a:p>
            <a:pPr marL="0" marR="0" lvl="0" indent="0" algn="l" rtl="0">
              <a:lnSpc>
                <a:spcPct val="96969"/>
              </a:lnSpc>
              <a:spcBef>
                <a:spcPts val="0"/>
              </a:spcBef>
              <a:spcAft>
                <a:spcPts val="0"/>
              </a:spcAft>
              <a:buNone/>
            </a:pPr>
            <a:r>
              <a:rPr lang="en-US" sz="1650">
                <a:solidFill>
                  <a:schemeClr val="dk1"/>
                </a:solidFill>
                <a:latin typeface="Times New Roman"/>
                <a:ea typeface="Times New Roman"/>
                <a:cs typeface="Times New Roman"/>
                <a:sym typeface="Times New Roman"/>
              </a:rPr>
              <a:t>Morphological parsing is a mapping from the surface level into morpheme and feature sequences on the lexical level</a:t>
            </a:r>
            <a:endParaRPr sz="1650">
              <a:solidFill>
                <a:schemeClr val="dk1"/>
              </a:solidFill>
              <a:latin typeface="Times New Roman"/>
              <a:ea typeface="Times New Roman"/>
              <a:cs typeface="Times New Roman"/>
              <a:sym typeface="Times New Roman"/>
            </a:endParaRPr>
          </a:p>
        </p:txBody>
      </p:sp>
      <p:sp>
        <p:nvSpPr>
          <p:cNvPr id="199" name="Google Shape;199;p17"/>
          <p:cNvSpPr txBox="1"/>
          <p:nvPr/>
        </p:nvSpPr>
        <p:spPr>
          <a:xfrm>
            <a:off x="911225" y="3111510"/>
            <a:ext cx="1170305" cy="279400"/>
          </a:xfrm>
          <a:prstGeom prst="rect">
            <a:avLst/>
          </a:prstGeom>
          <a:noFill/>
          <a:ln>
            <a:noFill/>
          </a:ln>
        </p:spPr>
        <p:txBody>
          <a:bodyPr spcFirstLastPara="1" wrap="square" lIns="0" tIns="14600" rIns="0" bIns="0" anchor="t" anchorCtr="0">
            <a:spAutoFit/>
          </a:bodyPr>
          <a:lstStyle/>
          <a:p>
            <a:pPr marL="12700" marR="0" lvl="0" indent="0" algn="l" rtl="0">
              <a:lnSpc>
                <a:spcPct val="100000"/>
              </a:lnSpc>
              <a:spcBef>
                <a:spcPts val="0"/>
              </a:spcBef>
              <a:spcAft>
                <a:spcPts val="0"/>
              </a:spcAft>
              <a:buNone/>
            </a:pPr>
            <a:r>
              <a:rPr lang="en-US" sz="1650">
                <a:solidFill>
                  <a:schemeClr val="dk1"/>
                </a:solidFill>
                <a:latin typeface="Times New Roman"/>
                <a:ea typeface="Times New Roman"/>
                <a:cs typeface="Times New Roman"/>
                <a:sym typeface="Times New Roman"/>
              </a:rPr>
              <a:t>-surface form</a:t>
            </a:r>
            <a:endParaRPr sz="1650">
              <a:solidFill>
                <a:schemeClr val="dk1"/>
              </a:solidFill>
              <a:latin typeface="Times New Roman"/>
              <a:ea typeface="Times New Roman"/>
              <a:cs typeface="Times New Roman"/>
              <a:sym typeface="Times New Roman"/>
            </a:endParaRPr>
          </a:p>
        </p:txBody>
      </p:sp>
      <p:sp>
        <p:nvSpPr>
          <p:cNvPr id="200" name="Google Shape;200;p17"/>
          <p:cNvSpPr txBox="1"/>
          <p:nvPr/>
        </p:nvSpPr>
        <p:spPr>
          <a:xfrm>
            <a:off x="1381125" y="3506642"/>
            <a:ext cx="755650" cy="203200"/>
          </a:xfrm>
          <a:prstGeom prst="rect">
            <a:avLst/>
          </a:prstGeom>
          <a:solidFill>
            <a:srgbClr val="FFFF00"/>
          </a:solidFill>
          <a:ln>
            <a:noFill/>
          </a:ln>
        </p:spPr>
        <p:txBody>
          <a:bodyPr spcFirstLastPara="1" wrap="square" lIns="0" tIns="0" rIns="0" bIns="0" anchor="t" anchorCtr="0">
            <a:spAutoFit/>
          </a:bodyPr>
          <a:lstStyle/>
          <a:p>
            <a:pPr marL="0" marR="0" lvl="0" indent="0" algn="l" rtl="0">
              <a:lnSpc>
                <a:spcPct val="96969"/>
              </a:lnSpc>
              <a:spcBef>
                <a:spcPts val="0"/>
              </a:spcBef>
              <a:spcAft>
                <a:spcPts val="0"/>
              </a:spcAft>
              <a:buNone/>
            </a:pPr>
            <a:r>
              <a:rPr lang="en-US" sz="1650">
                <a:solidFill>
                  <a:schemeClr val="dk1"/>
                </a:solidFill>
                <a:latin typeface="Times New Roman"/>
                <a:ea typeface="Times New Roman"/>
                <a:cs typeface="Times New Roman"/>
                <a:sym typeface="Times New Roman"/>
              </a:rPr>
              <a:t>'playing’</a:t>
            </a:r>
            <a:endParaRPr sz="1650">
              <a:solidFill>
                <a:schemeClr val="dk1"/>
              </a:solidFill>
              <a:latin typeface="Times New Roman"/>
              <a:ea typeface="Times New Roman"/>
              <a:cs typeface="Times New Roman"/>
              <a:sym typeface="Times New Roman"/>
            </a:endParaRPr>
          </a:p>
        </p:txBody>
      </p:sp>
      <p:sp>
        <p:nvSpPr>
          <p:cNvPr id="201" name="Google Shape;201;p17"/>
          <p:cNvSpPr txBox="1"/>
          <p:nvPr/>
        </p:nvSpPr>
        <p:spPr>
          <a:xfrm>
            <a:off x="911225" y="3778260"/>
            <a:ext cx="1123315" cy="279400"/>
          </a:xfrm>
          <a:prstGeom prst="rect">
            <a:avLst/>
          </a:prstGeom>
          <a:noFill/>
          <a:ln>
            <a:noFill/>
          </a:ln>
        </p:spPr>
        <p:txBody>
          <a:bodyPr spcFirstLastPara="1" wrap="square" lIns="0" tIns="14600" rIns="0" bIns="0" anchor="t" anchorCtr="0">
            <a:spAutoFit/>
          </a:bodyPr>
          <a:lstStyle/>
          <a:p>
            <a:pPr marL="12700" marR="0" lvl="0" indent="0" algn="l" rtl="0">
              <a:lnSpc>
                <a:spcPct val="100000"/>
              </a:lnSpc>
              <a:spcBef>
                <a:spcPts val="0"/>
              </a:spcBef>
              <a:spcAft>
                <a:spcPts val="0"/>
              </a:spcAft>
              <a:buNone/>
            </a:pPr>
            <a:r>
              <a:rPr lang="en-US" sz="1650">
                <a:solidFill>
                  <a:schemeClr val="dk1"/>
                </a:solidFill>
                <a:latin typeface="Times New Roman"/>
                <a:ea typeface="Times New Roman"/>
                <a:cs typeface="Times New Roman"/>
                <a:sym typeface="Times New Roman"/>
              </a:rPr>
              <a:t>-lexical form</a:t>
            </a:r>
            <a:endParaRPr sz="1650">
              <a:solidFill>
                <a:schemeClr val="dk1"/>
              </a:solidFill>
              <a:latin typeface="Times New Roman"/>
              <a:ea typeface="Times New Roman"/>
              <a:cs typeface="Times New Roman"/>
              <a:sym typeface="Times New Roman"/>
            </a:endParaRPr>
          </a:p>
        </p:txBody>
      </p:sp>
      <p:sp>
        <p:nvSpPr>
          <p:cNvPr id="202" name="Google Shape;202;p17"/>
          <p:cNvSpPr txBox="1"/>
          <p:nvPr/>
        </p:nvSpPr>
        <p:spPr>
          <a:xfrm>
            <a:off x="2285328" y="3840017"/>
            <a:ext cx="866140" cy="203200"/>
          </a:xfrm>
          <a:prstGeom prst="rect">
            <a:avLst/>
          </a:prstGeom>
          <a:solidFill>
            <a:srgbClr val="FFFF00"/>
          </a:solidFill>
          <a:ln>
            <a:noFill/>
          </a:ln>
        </p:spPr>
        <p:txBody>
          <a:bodyPr spcFirstLastPara="1" wrap="square" lIns="0" tIns="0" rIns="0" bIns="0" anchor="t" anchorCtr="0">
            <a:spAutoFit/>
          </a:bodyPr>
          <a:lstStyle/>
          <a:p>
            <a:pPr marL="635" marR="0" lvl="0" indent="0" algn="l" rtl="0">
              <a:lnSpc>
                <a:spcPct val="96969"/>
              </a:lnSpc>
              <a:spcBef>
                <a:spcPts val="0"/>
              </a:spcBef>
              <a:spcAft>
                <a:spcPts val="0"/>
              </a:spcAft>
              <a:buNone/>
            </a:pPr>
            <a:r>
              <a:rPr lang="en-US" sz="1650">
                <a:solidFill>
                  <a:schemeClr val="dk1"/>
                </a:solidFill>
                <a:latin typeface="Times New Roman"/>
                <a:ea typeface="Times New Roman"/>
                <a:cs typeface="Times New Roman"/>
                <a:sym typeface="Times New Roman"/>
              </a:rPr>
              <a:t>play+v pp</a:t>
            </a:r>
            <a:endParaRPr sz="1650">
              <a:solidFill>
                <a:schemeClr val="dk1"/>
              </a:solidFill>
              <a:latin typeface="Times New Roman"/>
              <a:ea typeface="Times New Roman"/>
              <a:cs typeface="Times New Roman"/>
              <a:sym typeface="Times New Roman"/>
            </a:endParaRPr>
          </a:p>
        </p:txBody>
      </p:sp>
      <p:sp>
        <p:nvSpPr>
          <p:cNvPr id="203" name="Google Shape;203;p17"/>
          <p:cNvSpPr txBox="1"/>
          <p:nvPr/>
        </p:nvSpPr>
        <p:spPr>
          <a:xfrm>
            <a:off x="911225" y="4032005"/>
            <a:ext cx="8616315" cy="2025650"/>
          </a:xfrm>
          <a:prstGeom prst="rect">
            <a:avLst/>
          </a:prstGeom>
          <a:noFill/>
          <a:ln>
            <a:noFill/>
          </a:ln>
        </p:spPr>
        <p:txBody>
          <a:bodyPr spcFirstLastPara="1" wrap="square" lIns="0" tIns="12050" rIns="0" bIns="0" anchor="t" anchorCtr="0">
            <a:spAutoFit/>
          </a:bodyPr>
          <a:lstStyle/>
          <a:p>
            <a:pPr marL="927100" marR="2589530" lvl="0" indent="-457200" algn="l" rtl="0">
              <a:lnSpc>
                <a:spcPct val="132600"/>
              </a:lnSpc>
              <a:spcBef>
                <a:spcPts val="0"/>
              </a:spcBef>
              <a:spcAft>
                <a:spcPts val="0"/>
              </a:spcAft>
              <a:buNone/>
            </a:pPr>
            <a:r>
              <a:rPr lang="en-US" sz="1650">
                <a:solidFill>
                  <a:schemeClr val="dk1"/>
                </a:solidFill>
                <a:latin typeface="Times New Roman"/>
                <a:ea typeface="Times New Roman"/>
                <a:cs typeface="Times New Roman"/>
                <a:sym typeface="Times New Roman"/>
              </a:rPr>
              <a:t>=&gt;stem 'play' followed by the morphological information +v, +pp  surface level: playing</a:t>
            </a:r>
            <a:endParaRPr sz="1650">
              <a:solidFill>
                <a:schemeClr val="dk1"/>
              </a:solidFill>
              <a:latin typeface="Times New Roman"/>
              <a:ea typeface="Times New Roman"/>
              <a:cs typeface="Times New Roman"/>
              <a:sym typeface="Times New Roman"/>
            </a:endParaRPr>
          </a:p>
          <a:p>
            <a:pPr marL="927100" marR="0" lvl="0" indent="0" algn="l" rtl="0">
              <a:lnSpc>
                <a:spcPct val="100000"/>
              </a:lnSpc>
              <a:spcBef>
                <a:spcPts val="645"/>
              </a:spcBef>
              <a:spcAft>
                <a:spcPts val="0"/>
              </a:spcAft>
              <a:buNone/>
            </a:pPr>
            <a:r>
              <a:rPr lang="en-US" sz="1650">
                <a:solidFill>
                  <a:schemeClr val="dk1"/>
                </a:solidFill>
                <a:latin typeface="Times New Roman"/>
                <a:ea typeface="Times New Roman"/>
                <a:cs typeface="Times New Roman"/>
                <a:sym typeface="Times New Roman"/>
              </a:rPr>
              <a:t>lexical: play+v pp</a:t>
            </a:r>
            <a:endParaRPr sz="1650">
              <a:solidFill>
                <a:schemeClr val="dk1"/>
              </a:solidFill>
              <a:latin typeface="Times New Roman"/>
              <a:ea typeface="Times New Roman"/>
              <a:cs typeface="Times New Roman"/>
              <a:sym typeface="Times New Roman"/>
            </a:endParaRPr>
          </a:p>
          <a:p>
            <a:pPr marL="135890" marR="0" lvl="0" indent="-123825" algn="l" rtl="0">
              <a:lnSpc>
                <a:spcPct val="100000"/>
              </a:lnSpc>
              <a:spcBef>
                <a:spcPts val="645"/>
              </a:spcBef>
              <a:spcAft>
                <a:spcPts val="0"/>
              </a:spcAft>
              <a:buClr>
                <a:schemeClr val="dk1"/>
              </a:buClr>
              <a:buSzPts val="1650"/>
              <a:buFont typeface="Times New Roman"/>
              <a:buChar char="-"/>
            </a:pPr>
            <a:r>
              <a:rPr lang="en-US" sz="1650">
                <a:solidFill>
                  <a:schemeClr val="dk1"/>
                </a:solidFill>
                <a:latin typeface="Times New Roman"/>
                <a:ea typeface="Times New Roman"/>
                <a:cs typeface="Times New Roman"/>
                <a:sym typeface="Times New Roman"/>
              </a:rPr>
              <a:t>surface form "books"</a:t>
            </a:r>
            <a:endParaRPr sz="1650">
              <a:solidFill>
                <a:schemeClr val="dk1"/>
              </a:solidFill>
              <a:latin typeface="Times New Roman"/>
              <a:ea typeface="Times New Roman"/>
              <a:cs typeface="Times New Roman"/>
              <a:sym typeface="Times New Roman"/>
            </a:endParaRPr>
          </a:p>
          <a:p>
            <a:pPr marL="135890" marR="0" lvl="0" indent="-123825" algn="l" rtl="0">
              <a:lnSpc>
                <a:spcPct val="100000"/>
              </a:lnSpc>
              <a:spcBef>
                <a:spcPts val="645"/>
              </a:spcBef>
              <a:spcAft>
                <a:spcPts val="0"/>
              </a:spcAft>
              <a:buClr>
                <a:schemeClr val="dk1"/>
              </a:buClr>
              <a:buSzPts val="1650"/>
              <a:buFont typeface="Times New Roman"/>
              <a:buChar char="-"/>
            </a:pPr>
            <a:r>
              <a:rPr lang="en-US" sz="1650">
                <a:solidFill>
                  <a:schemeClr val="dk1"/>
                </a:solidFill>
                <a:latin typeface="Times New Roman"/>
                <a:ea typeface="Times New Roman"/>
                <a:cs typeface="Times New Roman"/>
                <a:sym typeface="Times New Roman"/>
              </a:rPr>
              <a:t>lexical form book +N +PL -&gt;morphological information-&gt;surface level form is a plural noun</a:t>
            </a:r>
            <a:endParaRPr sz="1650">
              <a:solidFill>
                <a:schemeClr val="dk1"/>
              </a:solidFill>
              <a:latin typeface="Times New Roman"/>
              <a:ea typeface="Times New Roman"/>
              <a:cs typeface="Times New Roman"/>
              <a:sym typeface="Times New Roman"/>
            </a:endParaRPr>
          </a:p>
          <a:p>
            <a:pPr marL="12700" marR="0" lvl="0" indent="0" algn="l" rtl="0">
              <a:lnSpc>
                <a:spcPct val="100000"/>
              </a:lnSpc>
              <a:spcBef>
                <a:spcPts val="645"/>
              </a:spcBef>
              <a:spcAft>
                <a:spcPts val="0"/>
              </a:spcAft>
              <a:buNone/>
            </a:pPr>
            <a:r>
              <a:rPr lang="en-US" sz="1650">
                <a:solidFill>
                  <a:schemeClr val="dk1"/>
                </a:solidFill>
                <a:latin typeface="Times New Roman"/>
                <a:ea typeface="Times New Roman"/>
                <a:cs typeface="Times New Roman"/>
                <a:sym typeface="Times New Roman"/>
              </a:rPr>
              <a:t>-This model is usually implemented with a kind of finite state automata=&gt;finite state transducer(FST)</a:t>
            </a:r>
            <a:endParaRPr sz="1650">
              <a:solidFill>
                <a:schemeClr val="dk1"/>
              </a:solidFill>
              <a:latin typeface="Times New Roman"/>
              <a:ea typeface="Times New Roman"/>
              <a:cs typeface="Times New Roman"/>
              <a:sym typeface="Times New Roman"/>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Shape 207"/>
        <p:cNvGrpSpPr/>
        <p:nvPr/>
      </p:nvGrpSpPr>
      <p:grpSpPr>
        <a:xfrm>
          <a:off x="0" y="0"/>
          <a:ext cx="0" cy="0"/>
          <a:chOff x="0" y="0"/>
          <a:chExt cx="0" cy="0"/>
        </a:xfrm>
      </p:grpSpPr>
      <p:sp>
        <p:nvSpPr>
          <p:cNvPr id="208" name="Google Shape;208;p18"/>
          <p:cNvSpPr txBox="1">
            <a:spLocks noGrp="1"/>
          </p:cNvSpPr>
          <p:nvPr>
            <p:ph type="title"/>
          </p:nvPr>
        </p:nvSpPr>
        <p:spPr>
          <a:xfrm>
            <a:off x="911225" y="639172"/>
            <a:ext cx="5085715" cy="69596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4400"/>
              <a:t>Morphological Parsing</a:t>
            </a:r>
            <a:endParaRPr sz="4400"/>
          </a:p>
        </p:txBody>
      </p:sp>
      <p:sp>
        <p:nvSpPr>
          <p:cNvPr id="209" name="Google Shape;209;p18"/>
          <p:cNvSpPr txBox="1"/>
          <p:nvPr/>
        </p:nvSpPr>
        <p:spPr>
          <a:xfrm>
            <a:off x="911225" y="1719605"/>
            <a:ext cx="10090150" cy="2165350"/>
          </a:xfrm>
          <a:prstGeom prst="rect">
            <a:avLst/>
          </a:prstGeom>
          <a:noFill/>
          <a:ln>
            <a:noFill/>
          </a:ln>
        </p:spPr>
        <p:txBody>
          <a:bodyPr spcFirstLastPara="1" wrap="square" lIns="0" tIns="113025" rIns="0" bIns="0" anchor="t" anchorCtr="0">
            <a:spAutoFit/>
          </a:bodyPr>
          <a:lstStyle/>
          <a:p>
            <a:pPr marL="241300" marR="0" lvl="0" indent="-194945" algn="l" rtl="0">
              <a:lnSpc>
                <a:spcPct val="100000"/>
              </a:lnSpc>
              <a:spcBef>
                <a:spcPts val="0"/>
              </a:spcBef>
              <a:spcAft>
                <a:spcPts val="0"/>
              </a:spcAft>
              <a:buClr>
                <a:schemeClr val="dk1"/>
              </a:buClr>
              <a:buSzPts val="1800"/>
              <a:buFont typeface="Arial"/>
              <a:buChar char="•"/>
            </a:pPr>
            <a:r>
              <a:rPr lang="en-US" sz="1800">
                <a:solidFill>
                  <a:schemeClr val="dk1"/>
                </a:solidFill>
                <a:latin typeface="Times New Roman"/>
                <a:ea typeface="Times New Roman"/>
                <a:cs typeface="Times New Roman"/>
                <a:sym typeface="Times New Roman"/>
              </a:rPr>
              <a:t>FST -2 state automaton</a:t>
            </a:r>
            <a:endParaRPr sz="1800">
              <a:solidFill>
                <a:schemeClr val="dk1"/>
              </a:solidFill>
              <a:latin typeface="Times New Roman"/>
              <a:ea typeface="Times New Roman"/>
              <a:cs typeface="Times New Roman"/>
              <a:sym typeface="Times New Roman"/>
            </a:endParaRPr>
          </a:p>
          <a:p>
            <a:pPr marL="469900" marR="0" lvl="0" indent="0" algn="l" rtl="0">
              <a:lnSpc>
                <a:spcPct val="100000"/>
              </a:lnSpc>
              <a:spcBef>
                <a:spcPts val="790"/>
              </a:spcBef>
              <a:spcAft>
                <a:spcPts val="0"/>
              </a:spcAft>
              <a:buNone/>
            </a:pPr>
            <a:r>
              <a:rPr lang="en-US" sz="1800">
                <a:solidFill>
                  <a:schemeClr val="dk1"/>
                </a:solidFill>
                <a:latin typeface="Times New Roman"/>
                <a:ea typeface="Times New Roman"/>
                <a:cs typeface="Times New Roman"/>
                <a:sym typeface="Times New Roman"/>
              </a:rPr>
              <a:t>-recognizes or generates a pair of strings.</a:t>
            </a:r>
            <a:endParaRPr sz="1800">
              <a:solidFill>
                <a:schemeClr val="dk1"/>
              </a:solidFill>
              <a:latin typeface="Times New Roman"/>
              <a:ea typeface="Times New Roman"/>
              <a:cs typeface="Times New Roman"/>
              <a:sym typeface="Times New Roman"/>
            </a:endParaRPr>
          </a:p>
          <a:p>
            <a:pPr marL="12700" marR="5080" lvl="0" indent="457200" algn="l" rtl="0">
              <a:lnSpc>
                <a:spcPct val="107222"/>
              </a:lnSpc>
              <a:spcBef>
                <a:spcPts val="1019"/>
              </a:spcBef>
              <a:spcAft>
                <a:spcPts val="0"/>
              </a:spcAft>
              <a:buNone/>
            </a:pPr>
            <a:r>
              <a:rPr lang="en-US" sz="1800">
                <a:solidFill>
                  <a:schemeClr val="dk1"/>
                </a:solidFill>
                <a:latin typeface="Times New Roman"/>
                <a:ea typeface="Times New Roman"/>
                <a:cs typeface="Times New Roman"/>
                <a:sym typeface="Times New Roman"/>
              </a:rPr>
              <a:t>-passes over the input string by consuming the input symbols on the tape it traverses and consists it to the  output string in the form of symbols</a:t>
            </a:r>
            <a:endParaRPr sz="1800">
              <a:solidFill>
                <a:schemeClr val="dk1"/>
              </a:solidFill>
              <a:latin typeface="Times New Roman"/>
              <a:ea typeface="Times New Roman"/>
              <a:cs typeface="Times New Roman"/>
              <a:sym typeface="Times New Roman"/>
            </a:endParaRPr>
          </a:p>
          <a:p>
            <a:pPr marL="241300" marR="0" lvl="0" indent="-194945" algn="l" rtl="0">
              <a:lnSpc>
                <a:spcPct val="100000"/>
              </a:lnSpc>
              <a:spcBef>
                <a:spcPts val="730"/>
              </a:spcBef>
              <a:spcAft>
                <a:spcPts val="0"/>
              </a:spcAft>
              <a:buClr>
                <a:schemeClr val="dk1"/>
              </a:buClr>
              <a:buSzPts val="1800"/>
              <a:buFont typeface="Arial"/>
              <a:buChar char="•"/>
            </a:pPr>
            <a:r>
              <a:rPr lang="en-US" sz="1800">
                <a:solidFill>
                  <a:schemeClr val="dk1"/>
                </a:solidFill>
                <a:latin typeface="Times New Roman"/>
                <a:ea typeface="Times New Roman"/>
                <a:cs typeface="Times New Roman"/>
                <a:sym typeface="Times New Roman"/>
              </a:rPr>
              <a:t>Finite state transducer is a 6 tuple </a:t>
            </a:r>
            <a:r>
              <a:rPr lang="en-US" sz="1800">
                <a:solidFill>
                  <a:schemeClr val="dk1"/>
                </a:solidFill>
                <a:latin typeface="Calibri"/>
                <a:ea typeface="Calibri"/>
                <a:cs typeface="Calibri"/>
                <a:sym typeface="Calibri"/>
              </a:rPr>
              <a:t>(∑</a:t>
            </a:r>
            <a:r>
              <a:rPr lang="en-US" sz="1200">
                <a:solidFill>
                  <a:schemeClr val="dk1"/>
                </a:solidFill>
                <a:latin typeface="Calibri"/>
                <a:ea typeface="Calibri"/>
                <a:cs typeface="Calibri"/>
                <a:sym typeface="Calibri"/>
              </a:rPr>
              <a:t>1</a:t>
            </a:r>
            <a:r>
              <a:rPr lang="en-US" sz="1800">
                <a:solidFill>
                  <a:schemeClr val="dk1"/>
                </a:solidFill>
                <a:latin typeface="Calibri"/>
                <a:ea typeface="Calibri"/>
                <a:cs typeface="Calibri"/>
                <a:sym typeface="Calibri"/>
              </a:rPr>
              <a:t>, ∑</a:t>
            </a:r>
            <a:r>
              <a:rPr lang="en-US" sz="1200">
                <a:solidFill>
                  <a:schemeClr val="dk1"/>
                </a:solidFill>
                <a:latin typeface="Calibri"/>
                <a:ea typeface="Calibri"/>
                <a:cs typeface="Calibri"/>
                <a:sym typeface="Calibri"/>
              </a:rPr>
              <a:t>2</a:t>
            </a:r>
            <a:r>
              <a:rPr lang="en-US" sz="1800">
                <a:solidFill>
                  <a:schemeClr val="dk1"/>
                </a:solidFill>
                <a:latin typeface="Calibri"/>
                <a:ea typeface="Calibri"/>
                <a:cs typeface="Calibri"/>
                <a:sym typeface="Calibri"/>
              </a:rPr>
              <a:t>,Q,</a:t>
            </a:r>
            <a:r>
              <a:rPr lang="en-US" sz="2000">
                <a:solidFill>
                  <a:schemeClr val="dk1"/>
                </a:solidFill>
                <a:latin typeface="Calibri"/>
                <a:ea typeface="Calibri"/>
                <a:cs typeface="Calibri"/>
                <a:sym typeface="Calibri"/>
              </a:rPr>
              <a:t>ᵟ</a:t>
            </a:r>
            <a:r>
              <a:rPr lang="en-US" sz="1800">
                <a:solidFill>
                  <a:schemeClr val="dk1"/>
                </a:solidFill>
                <a:latin typeface="Calibri"/>
                <a:ea typeface="Calibri"/>
                <a:cs typeface="Calibri"/>
                <a:sym typeface="Calibri"/>
              </a:rPr>
              <a:t>,S,F)</a:t>
            </a:r>
            <a:endParaRPr sz="1800">
              <a:solidFill>
                <a:schemeClr val="dk1"/>
              </a:solidFill>
              <a:latin typeface="Calibri"/>
              <a:ea typeface="Calibri"/>
              <a:cs typeface="Calibri"/>
              <a:sym typeface="Calibri"/>
            </a:endParaRPr>
          </a:p>
          <a:p>
            <a:pPr marL="241300" marR="0" lvl="0" indent="-194945" algn="l" rtl="0">
              <a:lnSpc>
                <a:spcPct val="100000"/>
              </a:lnSpc>
              <a:spcBef>
                <a:spcPts val="780"/>
              </a:spcBef>
              <a:spcAft>
                <a:spcPts val="0"/>
              </a:spcAft>
              <a:buClr>
                <a:schemeClr val="dk1"/>
              </a:buClr>
              <a:buSzPts val="1800"/>
              <a:buFont typeface="Arial"/>
              <a:buChar char="•"/>
            </a:pPr>
            <a:r>
              <a:rPr lang="en-US" sz="1800">
                <a:solidFill>
                  <a:schemeClr val="dk1"/>
                </a:solidFill>
                <a:latin typeface="Times New Roman"/>
                <a:ea typeface="Times New Roman"/>
                <a:cs typeface="Times New Roman"/>
                <a:sym typeface="Times New Roman"/>
              </a:rPr>
              <a:t>A simple transducer that accepts two strings, hot and cat maps them into cot and bat.</a:t>
            </a:r>
            <a:endParaRPr sz="1800">
              <a:solidFill>
                <a:schemeClr val="dk1"/>
              </a:solidFill>
              <a:latin typeface="Times New Roman"/>
              <a:ea typeface="Times New Roman"/>
              <a:cs typeface="Times New Roman"/>
              <a:sym typeface="Times New Roman"/>
            </a:endParaRPr>
          </a:p>
        </p:txBody>
      </p:sp>
      <p:pic>
        <p:nvPicPr>
          <p:cNvPr id="210" name="Google Shape;210;p18"/>
          <p:cNvPicPr preferRelativeResize="0"/>
          <p:nvPr/>
        </p:nvPicPr>
        <p:blipFill rotWithShape="1">
          <a:blip r:embed="rId3">
            <a:alphaModFix/>
          </a:blip>
          <a:srcRect/>
          <a:stretch/>
        </p:blipFill>
        <p:spPr>
          <a:xfrm>
            <a:off x="3331297" y="4147126"/>
            <a:ext cx="3387724" cy="2253672"/>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Shape 214"/>
        <p:cNvGrpSpPr/>
        <p:nvPr/>
      </p:nvGrpSpPr>
      <p:grpSpPr>
        <a:xfrm>
          <a:off x="0" y="0"/>
          <a:ext cx="0" cy="0"/>
          <a:chOff x="0" y="0"/>
          <a:chExt cx="0" cy="0"/>
        </a:xfrm>
      </p:grpSpPr>
      <p:sp>
        <p:nvSpPr>
          <p:cNvPr id="215" name="Google Shape;215;p19"/>
          <p:cNvSpPr txBox="1">
            <a:spLocks noGrp="1"/>
          </p:cNvSpPr>
          <p:nvPr>
            <p:ph type="title"/>
          </p:nvPr>
        </p:nvSpPr>
        <p:spPr>
          <a:xfrm>
            <a:off x="911225" y="639172"/>
            <a:ext cx="5085715" cy="69596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4400"/>
              <a:t>Morphological Parsing</a:t>
            </a:r>
            <a:endParaRPr sz="4400"/>
          </a:p>
        </p:txBody>
      </p:sp>
      <p:sp>
        <p:nvSpPr>
          <p:cNvPr id="216" name="Google Shape;216;p19"/>
          <p:cNvSpPr txBox="1"/>
          <p:nvPr/>
        </p:nvSpPr>
        <p:spPr>
          <a:xfrm>
            <a:off x="964547" y="1721383"/>
            <a:ext cx="9295130" cy="1428750"/>
          </a:xfrm>
          <a:prstGeom prst="rect">
            <a:avLst/>
          </a:prstGeom>
          <a:noFill/>
          <a:ln>
            <a:noFill/>
          </a:ln>
        </p:spPr>
        <p:txBody>
          <a:bodyPr spcFirstLastPara="1" wrap="square" lIns="0" tIns="93975" rIns="0" bIns="0" anchor="t" anchorCtr="0">
            <a:spAutoFit/>
          </a:bodyPr>
          <a:lstStyle/>
          <a:p>
            <a:pPr marL="187960" marR="0" lvl="0" indent="-177800" algn="l" rtl="0">
              <a:lnSpc>
                <a:spcPct val="100000"/>
              </a:lnSpc>
              <a:spcBef>
                <a:spcPts val="0"/>
              </a:spcBef>
              <a:spcAft>
                <a:spcPts val="0"/>
              </a:spcAft>
              <a:buClr>
                <a:schemeClr val="dk1"/>
              </a:buClr>
              <a:buSzPts val="2800"/>
              <a:buFont typeface="Arial"/>
              <a:buChar char="•"/>
            </a:pPr>
            <a:r>
              <a:rPr lang="en-US" sz="2800">
                <a:solidFill>
                  <a:schemeClr val="dk1"/>
                </a:solidFill>
                <a:latin typeface="Calibri"/>
                <a:ea typeface="Calibri"/>
                <a:cs typeface="Calibri"/>
                <a:sym typeface="Calibri"/>
              </a:rPr>
              <a:t>Two level Morphology using FST</a:t>
            </a:r>
            <a:endParaRPr sz="2800">
              <a:solidFill>
                <a:schemeClr val="dk1"/>
              </a:solidFill>
              <a:latin typeface="Calibri"/>
              <a:ea typeface="Calibri"/>
              <a:cs typeface="Calibri"/>
              <a:sym typeface="Calibri"/>
            </a:endParaRPr>
          </a:p>
          <a:p>
            <a:pPr marL="187960" marR="5080" lvl="0" indent="-177800" algn="l" rtl="0">
              <a:lnSpc>
                <a:spcPct val="108928"/>
              </a:lnSpc>
              <a:spcBef>
                <a:spcPts val="1000"/>
              </a:spcBef>
              <a:spcAft>
                <a:spcPts val="0"/>
              </a:spcAft>
              <a:buClr>
                <a:schemeClr val="dk1"/>
              </a:buClr>
              <a:buSzPts val="2800"/>
              <a:buFont typeface="Arial"/>
              <a:buChar char="•"/>
            </a:pPr>
            <a:r>
              <a:rPr lang="en-US" sz="2800">
                <a:solidFill>
                  <a:schemeClr val="dk1"/>
                </a:solidFill>
                <a:latin typeface="Calibri"/>
                <a:ea typeface="Calibri"/>
                <a:cs typeface="Calibri"/>
                <a:sym typeface="Calibri"/>
              </a:rPr>
              <a:t>To get the surface form of a word to its morphological analysis,  2steps:</a:t>
            </a:r>
            <a:endParaRPr sz="2800">
              <a:solidFill>
                <a:schemeClr val="dk1"/>
              </a:solidFill>
              <a:latin typeface="Calibri"/>
              <a:ea typeface="Calibri"/>
              <a:cs typeface="Calibri"/>
              <a:sym typeface="Calibri"/>
            </a:endParaRPr>
          </a:p>
        </p:txBody>
      </p:sp>
      <p:pic>
        <p:nvPicPr>
          <p:cNvPr id="217" name="Google Shape;217;p19"/>
          <p:cNvPicPr preferRelativeResize="0"/>
          <p:nvPr/>
        </p:nvPicPr>
        <p:blipFill rotWithShape="1">
          <a:blip r:embed="rId3">
            <a:alphaModFix/>
          </a:blip>
          <a:srcRect/>
          <a:stretch/>
        </p:blipFill>
        <p:spPr>
          <a:xfrm>
            <a:off x="1394691" y="3486727"/>
            <a:ext cx="8722501" cy="3006147"/>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Shape 221"/>
        <p:cNvGrpSpPr/>
        <p:nvPr/>
      </p:nvGrpSpPr>
      <p:grpSpPr>
        <a:xfrm>
          <a:off x="0" y="0"/>
          <a:ext cx="0" cy="0"/>
          <a:chOff x="0" y="0"/>
          <a:chExt cx="0" cy="0"/>
        </a:xfrm>
      </p:grpSpPr>
      <p:sp>
        <p:nvSpPr>
          <p:cNvPr id="222" name="Google Shape;222;p20"/>
          <p:cNvSpPr txBox="1">
            <a:spLocks noGrp="1"/>
          </p:cNvSpPr>
          <p:nvPr>
            <p:ph type="title"/>
          </p:nvPr>
        </p:nvSpPr>
        <p:spPr>
          <a:xfrm>
            <a:off x="911225" y="639172"/>
            <a:ext cx="5085715" cy="69596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4400"/>
              <a:t>Morphological Parsing</a:t>
            </a:r>
            <a:endParaRPr sz="4400"/>
          </a:p>
        </p:txBody>
      </p:sp>
      <p:sp>
        <p:nvSpPr>
          <p:cNvPr id="223" name="Google Shape;223;p20"/>
          <p:cNvSpPr txBox="1"/>
          <p:nvPr/>
        </p:nvSpPr>
        <p:spPr>
          <a:xfrm>
            <a:off x="960539" y="1774713"/>
            <a:ext cx="140970" cy="420370"/>
          </a:xfrm>
          <a:prstGeom prst="rect">
            <a:avLst/>
          </a:prstGeom>
          <a:noFill/>
          <a:ln>
            <a:noFill/>
          </a:ln>
        </p:spPr>
        <p:txBody>
          <a:bodyPr spcFirstLastPara="1" wrap="square" lIns="0" tIns="11425" rIns="0" bIns="0" anchor="t" anchorCtr="0">
            <a:spAutoFit/>
          </a:bodyPr>
          <a:lstStyle/>
          <a:p>
            <a:pPr marL="12700" marR="0" lvl="0" indent="0" algn="l" rtl="0">
              <a:lnSpc>
                <a:spcPct val="100000"/>
              </a:lnSpc>
              <a:spcBef>
                <a:spcPts val="0"/>
              </a:spcBef>
              <a:spcAft>
                <a:spcPts val="0"/>
              </a:spcAft>
              <a:buNone/>
            </a:pPr>
            <a:r>
              <a:rPr lang="en-US" sz="2600">
                <a:solidFill>
                  <a:schemeClr val="dk1"/>
                </a:solidFill>
                <a:latin typeface="Arial"/>
                <a:ea typeface="Arial"/>
                <a:cs typeface="Arial"/>
                <a:sym typeface="Arial"/>
              </a:rPr>
              <a:t>•</a:t>
            </a:r>
            <a:endParaRPr sz="2600">
              <a:solidFill>
                <a:schemeClr val="dk1"/>
              </a:solidFill>
              <a:latin typeface="Arial"/>
              <a:ea typeface="Arial"/>
              <a:cs typeface="Arial"/>
              <a:sym typeface="Arial"/>
            </a:endParaRPr>
          </a:p>
        </p:txBody>
      </p:sp>
      <p:sp>
        <p:nvSpPr>
          <p:cNvPr id="224" name="Google Shape;224;p20"/>
          <p:cNvSpPr txBox="1"/>
          <p:nvPr/>
        </p:nvSpPr>
        <p:spPr>
          <a:xfrm>
            <a:off x="1152525" y="1863725"/>
            <a:ext cx="1340485" cy="316230"/>
          </a:xfrm>
          <a:prstGeom prst="rect">
            <a:avLst/>
          </a:prstGeom>
          <a:solidFill>
            <a:srgbClr val="00FFFF"/>
          </a:solidFill>
          <a:ln>
            <a:noFill/>
          </a:ln>
        </p:spPr>
        <p:txBody>
          <a:bodyPr spcFirstLastPara="1" wrap="square" lIns="0" tIns="0" rIns="0" bIns="0" anchor="t" anchorCtr="0">
            <a:spAutoFit/>
          </a:bodyPr>
          <a:lstStyle/>
          <a:p>
            <a:pPr marL="0" marR="0" lvl="0" indent="0" algn="l" rtl="0">
              <a:lnSpc>
                <a:spcPct val="95576"/>
              </a:lnSpc>
              <a:spcBef>
                <a:spcPts val="0"/>
              </a:spcBef>
              <a:spcAft>
                <a:spcPts val="0"/>
              </a:spcAft>
              <a:buNone/>
            </a:pPr>
            <a:r>
              <a:rPr lang="en-US" sz="2600">
                <a:solidFill>
                  <a:schemeClr val="dk1"/>
                </a:solidFill>
                <a:latin typeface="Calibri"/>
                <a:ea typeface="Calibri"/>
                <a:cs typeface="Calibri"/>
                <a:sym typeface="Calibri"/>
              </a:rPr>
              <a:t>First Step:</a:t>
            </a:r>
            <a:endParaRPr sz="2600">
              <a:solidFill>
                <a:schemeClr val="dk1"/>
              </a:solidFill>
              <a:latin typeface="Calibri"/>
              <a:ea typeface="Calibri"/>
              <a:cs typeface="Calibri"/>
              <a:sym typeface="Calibri"/>
            </a:endParaRPr>
          </a:p>
        </p:txBody>
      </p:sp>
      <p:sp>
        <p:nvSpPr>
          <p:cNvPr id="225" name="Google Shape;225;p20"/>
          <p:cNvSpPr txBox="1"/>
          <p:nvPr/>
        </p:nvSpPr>
        <p:spPr>
          <a:xfrm>
            <a:off x="911225" y="2216038"/>
            <a:ext cx="4428490" cy="420370"/>
          </a:xfrm>
          <a:prstGeom prst="rect">
            <a:avLst/>
          </a:prstGeom>
          <a:noFill/>
          <a:ln>
            <a:noFill/>
          </a:ln>
        </p:spPr>
        <p:txBody>
          <a:bodyPr spcFirstLastPara="1" wrap="square" lIns="0" tIns="11425" rIns="0" bIns="0" anchor="t" anchorCtr="0">
            <a:spAutoFit/>
          </a:bodyPr>
          <a:lstStyle/>
          <a:p>
            <a:pPr marL="12700" marR="0" lvl="0" indent="0" algn="l" rtl="0">
              <a:lnSpc>
                <a:spcPct val="100000"/>
              </a:lnSpc>
              <a:spcBef>
                <a:spcPts val="0"/>
              </a:spcBef>
              <a:spcAft>
                <a:spcPts val="0"/>
              </a:spcAft>
              <a:buNone/>
            </a:pPr>
            <a:r>
              <a:rPr lang="en-US" sz="2600">
                <a:solidFill>
                  <a:schemeClr val="dk1"/>
                </a:solidFill>
                <a:latin typeface="Calibri"/>
                <a:ea typeface="Calibri"/>
                <a:cs typeface="Calibri"/>
                <a:sym typeface="Calibri"/>
              </a:rPr>
              <a:t>Words into possible combination</a:t>
            </a:r>
            <a:endParaRPr sz="2600">
              <a:solidFill>
                <a:schemeClr val="dk1"/>
              </a:solidFill>
              <a:latin typeface="Calibri"/>
              <a:ea typeface="Calibri"/>
              <a:cs typeface="Calibri"/>
              <a:sym typeface="Calibri"/>
            </a:endParaRPr>
          </a:p>
        </p:txBody>
      </p:sp>
      <p:sp>
        <p:nvSpPr>
          <p:cNvPr id="226" name="Google Shape;226;p20"/>
          <p:cNvSpPr txBox="1"/>
          <p:nvPr/>
        </p:nvSpPr>
        <p:spPr>
          <a:xfrm>
            <a:off x="911225" y="2654188"/>
            <a:ext cx="415925" cy="420370"/>
          </a:xfrm>
          <a:prstGeom prst="rect">
            <a:avLst/>
          </a:prstGeom>
          <a:noFill/>
          <a:ln>
            <a:noFill/>
          </a:ln>
        </p:spPr>
        <p:txBody>
          <a:bodyPr spcFirstLastPara="1" wrap="square" lIns="0" tIns="11425" rIns="0" bIns="0" anchor="t" anchorCtr="0">
            <a:spAutoFit/>
          </a:bodyPr>
          <a:lstStyle/>
          <a:p>
            <a:pPr marL="12700" marR="0" lvl="0" indent="0" algn="l" rtl="0">
              <a:lnSpc>
                <a:spcPct val="100000"/>
              </a:lnSpc>
              <a:spcBef>
                <a:spcPts val="0"/>
              </a:spcBef>
              <a:spcAft>
                <a:spcPts val="0"/>
              </a:spcAft>
              <a:buNone/>
            </a:pPr>
            <a:r>
              <a:rPr lang="en-US" sz="2600">
                <a:solidFill>
                  <a:schemeClr val="dk1"/>
                </a:solidFill>
                <a:latin typeface="Calibri"/>
                <a:ea typeface="Calibri"/>
                <a:cs typeface="Calibri"/>
                <a:sym typeface="Calibri"/>
              </a:rPr>
              <a:t>Ex:</a:t>
            </a:r>
            <a:endParaRPr sz="2600">
              <a:solidFill>
                <a:schemeClr val="dk1"/>
              </a:solidFill>
              <a:latin typeface="Calibri"/>
              <a:ea typeface="Calibri"/>
              <a:cs typeface="Calibri"/>
              <a:sym typeface="Calibri"/>
            </a:endParaRPr>
          </a:p>
        </p:txBody>
      </p:sp>
      <p:sp>
        <p:nvSpPr>
          <p:cNvPr id="227" name="Google Shape;227;p20"/>
          <p:cNvSpPr txBox="1"/>
          <p:nvPr/>
        </p:nvSpPr>
        <p:spPr>
          <a:xfrm>
            <a:off x="1389345" y="2743200"/>
            <a:ext cx="5640705" cy="316230"/>
          </a:xfrm>
          <a:prstGeom prst="rect">
            <a:avLst/>
          </a:prstGeom>
          <a:solidFill>
            <a:srgbClr val="FFFF00"/>
          </a:solidFill>
          <a:ln>
            <a:noFill/>
          </a:ln>
        </p:spPr>
        <p:txBody>
          <a:bodyPr spcFirstLastPara="1" wrap="square" lIns="0" tIns="0" rIns="0" bIns="0" anchor="t" anchorCtr="0">
            <a:spAutoFit/>
          </a:bodyPr>
          <a:lstStyle/>
          <a:p>
            <a:pPr marL="0" marR="0" lvl="0" indent="0" algn="l" rtl="0">
              <a:lnSpc>
                <a:spcPct val="95576"/>
              </a:lnSpc>
              <a:spcBef>
                <a:spcPts val="0"/>
              </a:spcBef>
              <a:spcAft>
                <a:spcPts val="0"/>
              </a:spcAft>
              <a:buNone/>
            </a:pPr>
            <a:r>
              <a:rPr lang="en-US" sz="2600">
                <a:solidFill>
                  <a:schemeClr val="dk1"/>
                </a:solidFill>
                <a:latin typeface="Calibri"/>
                <a:ea typeface="Calibri"/>
                <a:cs typeface="Calibri"/>
                <a:sym typeface="Calibri"/>
              </a:rPr>
              <a:t>birds= bird + s, boxes=box + s (or) boxe + s</a:t>
            </a:r>
            <a:endParaRPr sz="2600">
              <a:solidFill>
                <a:schemeClr val="dk1"/>
              </a:solidFill>
              <a:latin typeface="Calibri"/>
              <a:ea typeface="Calibri"/>
              <a:cs typeface="Calibri"/>
              <a:sym typeface="Calibri"/>
            </a:endParaRPr>
          </a:p>
        </p:txBody>
      </p:sp>
      <p:sp>
        <p:nvSpPr>
          <p:cNvPr id="228" name="Google Shape;228;p20"/>
          <p:cNvSpPr txBox="1"/>
          <p:nvPr/>
        </p:nvSpPr>
        <p:spPr>
          <a:xfrm>
            <a:off x="960539" y="3092338"/>
            <a:ext cx="140970" cy="420370"/>
          </a:xfrm>
          <a:prstGeom prst="rect">
            <a:avLst/>
          </a:prstGeom>
          <a:noFill/>
          <a:ln>
            <a:noFill/>
          </a:ln>
        </p:spPr>
        <p:txBody>
          <a:bodyPr spcFirstLastPara="1" wrap="square" lIns="0" tIns="11425" rIns="0" bIns="0" anchor="t" anchorCtr="0">
            <a:spAutoFit/>
          </a:bodyPr>
          <a:lstStyle/>
          <a:p>
            <a:pPr marL="12700" marR="0" lvl="0" indent="0" algn="l" rtl="0">
              <a:lnSpc>
                <a:spcPct val="100000"/>
              </a:lnSpc>
              <a:spcBef>
                <a:spcPts val="0"/>
              </a:spcBef>
              <a:spcAft>
                <a:spcPts val="0"/>
              </a:spcAft>
              <a:buNone/>
            </a:pPr>
            <a:r>
              <a:rPr lang="en-US" sz="2600">
                <a:solidFill>
                  <a:schemeClr val="dk1"/>
                </a:solidFill>
                <a:latin typeface="Arial"/>
                <a:ea typeface="Arial"/>
                <a:cs typeface="Arial"/>
                <a:sym typeface="Arial"/>
              </a:rPr>
              <a:t>•</a:t>
            </a:r>
            <a:endParaRPr sz="2600">
              <a:solidFill>
                <a:schemeClr val="dk1"/>
              </a:solidFill>
              <a:latin typeface="Arial"/>
              <a:ea typeface="Arial"/>
              <a:cs typeface="Arial"/>
              <a:sym typeface="Arial"/>
            </a:endParaRPr>
          </a:p>
        </p:txBody>
      </p:sp>
      <p:sp>
        <p:nvSpPr>
          <p:cNvPr id="229" name="Google Shape;229;p20"/>
          <p:cNvSpPr txBox="1"/>
          <p:nvPr/>
        </p:nvSpPr>
        <p:spPr>
          <a:xfrm>
            <a:off x="1152525" y="3181349"/>
            <a:ext cx="1733550" cy="316230"/>
          </a:xfrm>
          <a:prstGeom prst="rect">
            <a:avLst/>
          </a:prstGeom>
          <a:solidFill>
            <a:srgbClr val="00FFFF"/>
          </a:solidFill>
          <a:ln>
            <a:noFill/>
          </a:ln>
        </p:spPr>
        <p:txBody>
          <a:bodyPr spcFirstLastPara="1" wrap="square" lIns="0" tIns="0" rIns="0" bIns="0" anchor="t" anchorCtr="0">
            <a:spAutoFit/>
          </a:bodyPr>
          <a:lstStyle/>
          <a:p>
            <a:pPr marL="0" marR="0" lvl="0" indent="0" algn="l" rtl="0">
              <a:lnSpc>
                <a:spcPct val="95576"/>
              </a:lnSpc>
              <a:spcBef>
                <a:spcPts val="0"/>
              </a:spcBef>
              <a:spcAft>
                <a:spcPts val="0"/>
              </a:spcAft>
              <a:buNone/>
            </a:pPr>
            <a:r>
              <a:rPr lang="en-US" sz="2600">
                <a:solidFill>
                  <a:schemeClr val="dk1"/>
                </a:solidFill>
                <a:latin typeface="Calibri"/>
                <a:ea typeface="Calibri"/>
                <a:cs typeface="Calibri"/>
                <a:sym typeface="Calibri"/>
              </a:rPr>
              <a:t>Second Step:</a:t>
            </a:r>
            <a:endParaRPr sz="2600">
              <a:solidFill>
                <a:schemeClr val="dk1"/>
              </a:solidFill>
              <a:latin typeface="Calibri"/>
              <a:ea typeface="Calibri"/>
              <a:cs typeface="Calibri"/>
              <a:sym typeface="Calibri"/>
            </a:endParaRPr>
          </a:p>
        </p:txBody>
      </p:sp>
      <p:sp>
        <p:nvSpPr>
          <p:cNvPr id="230" name="Google Shape;230;p20"/>
          <p:cNvSpPr txBox="1"/>
          <p:nvPr/>
        </p:nvSpPr>
        <p:spPr>
          <a:xfrm>
            <a:off x="911225" y="3530488"/>
            <a:ext cx="9342120" cy="731520"/>
          </a:xfrm>
          <a:prstGeom prst="rect">
            <a:avLst/>
          </a:prstGeom>
          <a:noFill/>
          <a:ln>
            <a:noFill/>
          </a:ln>
        </p:spPr>
        <p:txBody>
          <a:bodyPr spcFirstLastPara="1" wrap="square" lIns="0" tIns="96500" rIns="0" bIns="0" anchor="t" anchorCtr="0">
            <a:spAutoFit/>
          </a:bodyPr>
          <a:lstStyle/>
          <a:p>
            <a:pPr marL="12700" marR="5080" lvl="0" indent="0" algn="l" rtl="0">
              <a:lnSpc>
                <a:spcPct val="78500"/>
              </a:lnSpc>
              <a:spcBef>
                <a:spcPts val="0"/>
              </a:spcBef>
              <a:spcAft>
                <a:spcPts val="0"/>
              </a:spcAft>
              <a:buNone/>
            </a:pPr>
            <a:r>
              <a:rPr lang="en-US" sz="2600">
                <a:solidFill>
                  <a:schemeClr val="dk1"/>
                </a:solidFill>
                <a:latin typeface="Calibri"/>
                <a:ea typeface="Calibri"/>
                <a:cs typeface="Calibri"/>
                <a:sym typeface="Calibri"/>
              </a:rPr>
              <a:t>Use lexicon to look up the categories of the stems and meaning of the  affixes.</a:t>
            </a:r>
            <a:endParaRPr sz="2600">
              <a:solidFill>
                <a:schemeClr val="dk1"/>
              </a:solidFill>
              <a:latin typeface="Calibri"/>
              <a:ea typeface="Calibri"/>
              <a:cs typeface="Calibri"/>
              <a:sym typeface="Calibri"/>
            </a:endParaRPr>
          </a:p>
        </p:txBody>
      </p:sp>
      <p:sp>
        <p:nvSpPr>
          <p:cNvPr id="231" name="Google Shape;231;p20"/>
          <p:cNvSpPr txBox="1"/>
          <p:nvPr/>
        </p:nvSpPr>
        <p:spPr>
          <a:xfrm>
            <a:off x="911225" y="4282963"/>
            <a:ext cx="415925" cy="420370"/>
          </a:xfrm>
          <a:prstGeom prst="rect">
            <a:avLst/>
          </a:prstGeom>
          <a:noFill/>
          <a:ln>
            <a:noFill/>
          </a:ln>
        </p:spPr>
        <p:txBody>
          <a:bodyPr spcFirstLastPara="1" wrap="square" lIns="0" tIns="11425" rIns="0" bIns="0" anchor="t" anchorCtr="0">
            <a:spAutoFit/>
          </a:bodyPr>
          <a:lstStyle/>
          <a:p>
            <a:pPr marL="12700" marR="0" lvl="0" indent="0" algn="l" rtl="0">
              <a:lnSpc>
                <a:spcPct val="100000"/>
              </a:lnSpc>
              <a:spcBef>
                <a:spcPts val="0"/>
              </a:spcBef>
              <a:spcAft>
                <a:spcPts val="0"/>
              </a:spcAft>
              <a:buNone/>
            </a:pPr>
            <a:r>
              <a:rPr lang="en-US" sz="2600">
                <a:solidFill>
                  <a:schemeClr val="dk1"/>
                </a:solidFill>
                <a:latin typeface="Calibri"/>
                <a:ea typeface="Calibri"/>
                <a:cs typeface="Calibri"/>
                <a:sym typeface="Calibri"/>
              </a:rPr>
              <a:t>Ex:</a:t>
            </a:r>
            <a:endParaRPr sz="2600">
              <a:solidFill>
                <a:schemeClr val="dk1"/>
              </a:solidFill>
              <a:latin typeface="Calibri"/>
              <a:ea typeface="Calibri"/>
              <a:cs typeface="Calibri"/>
              <a:sym typeface="Calibri"/>
            </a:endParaRPr>
          </a:p>
        </p:txBody>
      </p:sp>
      <p:sp>
        <p:nvSpPr>
          <p:cNvPr id="232" name="Google Shape;232;p20"/>
          <p:cNvSpPr txBox="1"/>
          <p:nvPr/>
        </p:nvSpPr>
        <p:spPr>
          <a:xfrm>
            <a:off x="1389345" y="4371974"/>
            <a:ext cx="8249284" cy="316230"/>
          </a:xfrm>
          <a:prstGeom prst="rect">
            <a:avLst/>
          </a:prstGeom>
          <a:solidFill>
            <a:srgbClr val="FFFF00"/>
          </a:solidFill>
          <a:ln>
            <a:noFill/>
          </a:ln>
        </p:spPr>
        <p:txBody>
          <a:bodyPr spcFirstLastPara="1" wrap="square" lIns="0" tIns="0" rIns="0" bIns="0" anchor="t" anchorCtr="0">
            <a:spAutoFit/>
          </a:bodyPr>
          <a:lstStyle/>
          <a:p>
            <a:pPr marL="0" marR="0" lvl="0" indent="0" algn="l" rtl="0">
              <a:lnSpc>
                <a:spcPct val="95576"/>
              </a:lnSpc>
              <a:spcBef>
                <a:spcPts val="0"/>
              </a:spcBef>
              <a:spcAft>
                <a:spcPts val="0"/>
              </a:spcAft>
              <a:buNone/>
            </a:pPr>
            <a:r>
              <a:rPr lang="en-US" sz="2600">
                <a:solidFill>
                  <a:schemeClr val="dk1"/>
                </a:solidFill>
                <a:latin typeface="Calibri"/>
                <a:ea typeface="Calibri"/>
                <a:cs typeface="Calibri"/>
                <a:sym typeface="Calibri"/>
              </a:rPr>
              <a:t>bird + s = bird + N + PL, box+ s = box + N + PL, boxe is not legal</a:t>
            </a:r>
            <a:endParaRPr sz="2600">
              <a:solidFill>
                <a:schemeClr val="dk1"/>
              </a:solidFill>
              <a:latin typeface="Calibri"/>
              <a:ea typeface="Calibri"/>
              <a:cs typeface="Calibri"/>
              <a:sym typeface="Calibri"/>
            </a:endParaRPr>
          </a:p>
        </p:txBody>
      </p:sp>
      <p:sp>
        <p:nvSpPr>
          <p:cNvPr id="233" name="Google Shape;233;p20"/>
          <p:cNvSpPr txBox="1"/>
          <p:nvPr/>
        </p:nvSpPr>
        <p:spPr>
          <a:xfrm>
            <a:off x="911225" y="4677679"/>
            <a:ext cx="6982459" cy="901700"/>
          </a:xfrm>
          <a:prstGeom prst="rect">
            <a:avLst/>
          </a:prstGeom>
          <a:noFill/>
          <a:ln>
            <a:noFill/>
          </a:ln>
        </p:spPr>
        <p:txBody>
          <a:bodyPr spcFirstLastPara="1" wrap="square" lIns="0" tIns="12700" rIns="0" bIns="0" anchor="t" anchorCtr="0">
            <a:spAutoFit/>
          </a:bodyPr>
          <a:lstStyle/>
          <a:p>
            <a:pPr marL="12700" marR="5080" lvl="0" indent="0" algn="l" rtl="0">
              <a:lnSpc>
                <a:spcPct val="110600"/>
              </a:lnSpc>
              <a:spcBef>
                <a:spcPts val="0"/>
              </a:spcBef>
              <a:spcAft>
                <a:spcPts val="0"/>
              </a:spcAft>
              <a:buNone/>
            </a:pPr>
            <a:r>
              <a:rPr lang="en-US" sz="2600">
                <a:solidFill>
                  <a:schemeClr val="dk1"/>
                </a:solidFill>
                <a:latin typeface="Calibri"/>
                <a:ea typeface="Calibri"/>
                <a:cs typeface="Calibri"/>
                <a:sym typeface="Calibri"/>
              </a:rPr>
              <a:t>Spouses, parses	=&gt; spouse + s ,Parse + s	=&gt; correct.  Orthographic rule = handles the spelling variations</a:t>
            </a:r>
            <a:endParaRPr sz="2600">
              <a:solidFill>
                <a:schemeClr val="dk1"/>
              </a:solidFill>
              <a:latin typeface="Calibri"/>
              <a:ea typeface="Calibri"/>
              <a:cs typeface="Calibri"/>
              <a:sym typeface="Calibri"/>
            </a:endParaRPr>
          </a:p>
        </p:txBody>
      </p:sp>
      <p:sp>
        <p:nvSpPr>
          <p:cNvPr id="234" name="Google Shape;234;p20"/>
          <p:cNvSpPr txBox="1"/>
          <p:nvPr/>
        </p:nvSpPr>
        <p:spPr>
          <a:xfrm>
            <a:off x="923925" y="5686425"/>
            <a:ext cx="9044940" cy="316230"/>
          </a:xfrm>
          <a:prstGeom prst="rect">
            <a:avLst/>
          </a:prstGeom>
          <a:solidFill>
            <a:srgbClr val="FF0000"/>
          </a:solidFill>
          <a:ln>
            <a:noFill/>
          </a:ln>
        </p:spPr>
        <p:txBody>
          <a:bodyPr spcFirstLastPara="1" wrap="square" lIns="0" tIns="0" rIns="0" bIns="0" anchor="t" anchorCtr="0">
            <a:spAutoFit/>
          </a:bodyPr>
          <a:lstStyle/>
          <a:p>
            <a:pPr marL="0" marR="0" lvl="0" indent="0" algn="l" rtl="0">
              <a:lnSpc>
                <a:spcPct val="95576"/>
              </a:lnSpc>
              <a:spcBef>
                <a:spcPts val="0"/>
              </a:spcBef>
              <a:spcAft>
                <a:spcPts val="0"/>
              </a:spcAft>
              <a:buNone/>
            </a:pPr>
            <a:r>
              <a:rPr lang="en-US" sz="2600">
                <a:solidFill>
                  <a:schemeClr val="dk1"/>
                </a:solidFill>
                <a:latin typeface="Calibri"/>
                <a:ea typeface="Calibri"/>
                <a:cs typeface="Calibri"/>
                <a:sym typeface="Calibri"/>
              </a:rPr>
              <a:t>Spelling rule says add ‘e’ after -s,-z,-x,-ch,-sh before the s	Ex: dishes</a:t>
            </a:r>
            <a:endParaRPr sz="2600">
              <a:solidFill>
                <a:schemeClr val="dk1"/>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Shape 238"/>
        <p:cNvGrpSpPr/>
        <p:nvPr/>
      </p:nvGrpSpPr>
      <p:grpSpPr>
        <a:xfrm>
          <a:off x="0" y="0"/>
          <a:ext cx="0" cy="0"/>
          <a:chOff x="0" y="0"/>
          <a:chExt cx="0" cy="0"/>
        </a:xfrm>
      </p:grpSpPr>
      <p:sp>
        <p:nvSpPr>
          <p:cNvPr id="239" name="Google Shape;239;p21"/>
          <p:cNvSpPr txBox="1">
            <a:spLocks noGrp="1"/>
          </p:cNvSpPr>
          <p:nvPr>
            <p:ph type="title"/>
          </p:nvPr>
        </p:nvSpPr>
        <p:spPr>
          <a:xfrm>
            <a:off x="911225" y="639172"/>
            <a:ext cx="5085715" cy="69596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4400"/>
              <a:t>Morphological Parsing</a:t>
            </a:r>
            <a:endParaRPr sz="4400"/>
          </a:p>
        </p:txBody>
      </p:sp>
      <p:sp>
        <p:nvSpPr>
          <p:cNvPr id="240" name="Google Shape;240;p21"/>
          <p:cNvSpPr txBox="1"/>
          <p:nvPr/>
        </p:nvSpPr>
        <p:spPr>
          <a:xfrm>
            <a:off x="911225" y="1725345"/>
            <a:ext cx="9361805" cy="3175000"/>
          </a:xfrm>
          <a:prstGeom prst="rect">
            <a:avLst/>
          </a:prstGeom>
          <a:noFill/>
          <a:ln>
            <a:noFill/>
          </a:ln>
        </p:spPr>
        <p:txBody>
          <a:bodyPr spcFirstLastPara="1" wrap="square" lIns="0" tIns="55875" rIns="0" bIns="0" anchor="t" anchorCtr="0">
            <a:spAutoFit/>
          </a:bodyPr>
          <a:lstStyle/>
          <a:p>
            <a:pPr marL="241300" marR="0" lvl="0" indent="-177800" algn="l" rtl="0">
              <a:lnSpc>
                <a:spcPct val="100000"/>
              </a:lnSpc>
              <a:spcBef>
                <a:spcPts val="0"/>
              </a:spcBef>
              <a:spcAft>
                <a:spcPts val="0"/>
              </a:spcAft>
              <a:buClr>
                <a:schemeClr val="dk1"/>
              </a:buClr>
              <a:buSzPts val="2800"/>
              <a:buFont typeface="Arial"/>
              <a:buChar char="•"/>
            </a:pPr>
            <a:r>
              <a:rPr lang="en-US" sz="2800">
                <a:solidFill>
                  <a:schemeClr val="dk1"/>
                </a:solidFill>
                <a:latin typeface="Calibri"/>
                <a:ea typeface="Calibri"/>
                <a:cs typeface="Calibri"/>
                <a:sym typeface="Calibri"/>
              </a:rPr>
              <a:t>Steps – implemented – transducer</a:t>
            </a:r>
            <a:endParaRPr sz="2800">
              <a:solidFill>
                <a:schemeClr val="dk1"/>
              </a:solidFill>
              <a:latin typeface="Calibri"/>
              <a:ea typeface="Calibri"/>
              <a:cs typeface="Calibri"/>
              <a:sym typeface="Calibri"/>
            </a:endParaRPr>
          </a:p>
          <a:p>
            <a:pPr marL="241300" marR="0" lvl="0" indent="-177800" algn="l" rtl="0">
              <a:lnSpc>
                <a:spcPct val="100000"/>
              </a:lnSpc>
              <a:spcBef>
                <a:spcPts val="340"/>
              </a:spcBef>
              <a:spcAft>
                <a:spcPts val="0"/>
              </a:spcAft>
              <a:buClr>
                <a:schemeClr val="dk1"/>
              </a:buClr>
              <a:buSzPts val="2800"/>
              <a:buFont typeface="Arial"/>
              <a:buChar char="•"/>
            </a:pPr>
            <a:r>
              <a:rPr lang="en-US" sz="2800">
                <a:solidFill>
                  <a:schemeClr val="dk1"/>
                </a:solidFill>
                <a:latin typeface="Calibri"/>
                <a:ea typeface="Calibri"/>
                <a:cs typeface="Calibri"/>
                <a:sym typeface="Calibri"/>
              </a:rPr>
              <a:t>Build two transducers:</a:t>
            </a:r>
            <a:endParaRPr sz="2800">
              <a:solidFill>
                <a:schemeClr val="dk1"/>
              </a:solidFill>
              <a:latin typeface="Calibri"/>
              <a:ea typeface="Calibri"/>
              <a:cs typeface="Calibri"/>
              <a:sym typeface="Calibri"/>
            </a:endParaRPr>
          </a:p>
          <a:p>
            <a:pPr marL="12700" marR="2223135" lvl="0" indent="0" algn="l" rtl="0">
              <a:lnSpc>
                <a:spcPct val="109400"/>
              </a:lnSpc>
              <a:spcBef>
                <a:spcPts val="0"/>
              </a:spcBef>
              <a:spcAft>
                <a:spcPts val="0"/>
              </a:spcAft>
              <a:buNone/>
            </a:pPr>
            <a:r>
              <a:rPr lang="en-US" sz="2800">
                <a:solidFill>
                  <a:schemeClr val="dk1"/>
                </a:solidFill>
                <a:latin typeface="Calibri"/>
                <a:ea typeface="Calibri"/>
                <a:cs typeface="Calibri"/>
                <a:sym typeface="Calibri"/>
              </a:rPr>
              <a:t>One : maps the surface form ? intermediate form  Two: maps the intermediate form? lexical form</a:t>
            </a:r>
            <a:endParaRPr sz="2800">
              <a:solidFill>
                <a:schemeClr val="dk1"/>
              </a:solidFill>
              <a:latin typeface="Calibri"/>
              <a:ea typeface="Calibri"/>
              <a:cs typeface="Calibri"/>
              <a:sym typeface="Calibri"/>
            </a:endParaRPr>
          </a:p>
          <a:p>
            <a:pPr marL="241300" marR="5080" lvl="0" indent="-177800" algn="l" rtl="0">
              <a:lnSpc>
                <a:spcPct val="79600"/>
              </a:lnSpc>
              <a:spcBef>
                <a:spcPts val="1000"/>
              </a:spcBef>
              <a:spcAft>
                <a:spcPts val="0"/>
              </a:spcAft>
              <a:buClr>
                <a:schemeClr val="dk1"/>
              </a:buClr>
              <a:buSzPts val="2800"/>
              <a:buFont typeface="Arial"/>
              <a:buChar char="•"/>
            </a:pPr>
            <a:r>
              <a:rPr lang="en-US" sz="2800">
                <a:solidFill>
                  <a:schemeClr val="dk1"/>
                </a:solidFill>
                <a:latin typeface="Calibri"/>
                <a:ea typeface="Calibri"/>
                <a:cs typeface="Calibri"/>
                <a:sym typeface="Calibri"/>
              </a:rPr>
              <a:t>Develop FST based morphological parser for singular and plural  nouns.</a:t>
            </a:r>
            <a:endParaRPr sz="2800">
              <a:solidFill>
                <a:schemeClr val="dk1"/>
              </a:solidFill>
              <a:latin typeface="Calibri"/>
              <a:ea typeface="Calibri"/>
              <a:cs typeface="Calibri"/>
              <a:sym typeface="Calibri"/>
            </a:endParaRPr>
          </a:p>
          <a:p>
            <a:pPr marL="241300" marR="0" lvl="0" indent="-177800" algn="l" rtl="0">
              <a:lnSpc>
                <a:spcPct val="100000"/>
              </a:lnSpc>
              <a:spcBef>
                <a:spcPts val="340"/>
              </a:spcBef>
              <a:spcAft>
                <a:spcPts val="0"/>
              </a:spcAft>
              <a:buClr>
                <a:schemeClr val="dk1"/>
              </a:buClr>
              <a:buSzPts val="2800"/>
              <a:buFont typeface="Arial"/>
              <a:buChar char="•"/>
            </a:pPr>
            <a:r>
              <a:rPr lang="en-US" sz="2800">
                <a:solidFill>
                  <a:schemeClr val="dk1"/>
                </a:solidFill>
                <a:latin typeface="Calibri"/>
                <a:ea typeface="Calibri"/>
                <a:cs typeface="Calibri"/>
                <a:sym typeface="Calibri"/>
              </a:rPr>
              <a:t>The plural form—s or –es =&gt; miss or ass</a:t>
            </a:r>
            <a:endParaRPr sz="2800">
              <a:solidFill>
                <a:schemeClr val="dk1"/>
              </a:solidFill>
              <a:latin typeface="Calibri"/>
              <a:ea typeface="Calibri"/>
              <a:cs typeface="Calibri"/>
              <a:sym typeface="Calibri"/>
            </a:endParaRPr>
          </a:p>
        </p:txBody>
      </p:sp>
      <p:sp>
        <p:nvSpPr>
          <p:cNvPr id="241" name="Google Shape;241;p21"/>
          <p:cNvSpPr txBox="1"/>
          <p:nvPr/>
        </p:nvSpPr>
        <p:spPr>
          <a:xfrm>
            <a:off x="964547" y="4914951"/>
            <a:ext cx="150495" cy="4521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2800">
                <a:solidFill>
                  <a:schemeClr val="dk1"/>
                </a:solidFill>
                <a:latin typeface="Arial"/>
                <a:ea typeface="Arial"/>
                <a:cs typeface="Arial"/>
                <a:sym typeface="Arial"/>
              </a:rPr>
              <a:t>•</a:t>
            </a:r>
            <a:endParaRPr sz="2800">
              <a:solidFill>
                <a:schemeClr val="dk1"/>
              </a:solidFill>
              <a:latin typeface="Arial"/>
              <a:ea typeface="Arial"/>
              <a:cs typeface="Arial"/>
              <a:sym typeface="Arial"/>
            </a:endParaRPr>
          </a:p>
        </p:txBody>
      </p:sp>
      <p:sp>
        <p:nvSpPr>
          <p:cNvPr id="242" name="Google Shape;242;p21"/>
          <p:cNvSpPr txBox="1"/>
          <p:nvPr/>
        </p:nvSpPr>
        <p:spPr>
          <a:xfrm>
            <a:off x="1152525" y="5010150"/>
            <a:ext cx="9331325" cy="341630"/>
          </a:xfrm>
          <a:prstGeom prst="rect">
            <a:avLst/>
          </a:prstGeom>
          <a:solidFill>
            <a:srgbClr val="FF0000"/>
          </a:solidFill>
          <a:ln>
            <a:noFill/>
          </a:ln>
        </p:spPr>
        <p:txBody>
          <a:bodyPr spcFirstLastPara="1" wrap="square" lIns="0" tIns="0" rIns="0" bIns="0" anchor="t" anchorCtr="0">
            <a:spAutoFit/>
          </a:bodyPr>
          <a:lstStyle/>
          <a:p>
            <a:pPr marL="0" marR="0" lvl="0" indent="0" algn="l" rtl="0">
              <a:lnSpc>
                <a:spcPct val="96071"/>
              </a:lnSpc>
              <a:spcBef>
                <a:spcPts val="0"/>
              </a:spcBef>
              <a:spcAft>
                <a:spcPts val="0"/>
              </a:spcAft>
              <a:buNone/>
            </a:pPr>
            <a:r>
              <a:rPr lang="en-US" sz="2800">
                <a:solidFill>
                  <a:schemeClr val="dk1"/>
                </a:solidFill>
                <a:latin typeface="Calibri"/>
                <a:ea typeface="Calibri"/>
                <a:cs typeface="Calibri"/>
                <a:sym typeface="Calibri"/>
              </a:rPr>
              <a:t>Required translation is the deletion of e in morpheme boundary.</a:t>
            </a:r>
            <a:endParaRPr sz="2800">
              <a:solidFill>
                <a:schemeClr val="dk1"/>
              </a:solidFill>
              <a:latin typeface="Calibri"/>
              <a:ea typeface="Calibri"/>
              <a:cs typeface="Calibri"/>
              <a:sym typeface="Calibri"/>
            </a:endParaRPr>
          </a:p>
        </p:txBody>
      </p:sp>
      <p:sp>
        <p:nvSpPr>
          <p:cNvPr id="243" name="Google Shape;243;p21"/>
          <p:cNvSpPr txBox="1"/>
          <p:nvPr/>
        </p:nvSpPr>
        <p:spPr>
          <a:xfrm>
            <a:off x="964547" y="5381676"/>
            <a:ext cx="4364355" cy="452120"/>
          </a:xfrm>
          <a:prstGeom prst="rect">
            <a:avLst/>
          </a:prstGeom>
          <a:noFill/>
          <a:ln>
            <a:noFill/>
          </a:ln>
        </p:spPr>
        <p:txBody>
          <a:bodyPr spcFirstLastPara="1" wrap="square" lIns="0" tIns="12700" rIns="0" bIns="0" anchor="t" anchorCtr="0">
            <a:spAutoFit/>
          </a:bodyPr>
          <a:lstStyle/>
          <a:p>
            <a:pPr marL="187960" marR="0" lvl="0" indent="-177800" algn="l" rtl="0">
              <a:lnSpc>
                <a:spcPct val="100000"/>
              </a:lnSpc>
              <a:spcBef>
                <a:spcPts val="0"/>
              </a:spcBef>
              <a:spcAft>
                <a:spcPts val="0"/>
              </a:spcAft>
              <a:buClr>
                <a:schemeClr val="dk1"/>
              </a:buClr>
              <a:buSzPts val="2800"/>
              <a:buFont typeface="Arial"/>
              <a:buChar char="•"/>
            </a:pPr>
            <a:r>
              <a:rPr lang="en-US" sz="2800">
                <a:solidFill>
                  <a:schemeClr val="dk1"/>
                </a:solidFill>
                <a:latin typeface="Calibri"/>
                <a:ea typeface="Calibri"/>
                <a:cs typeface="Calibri"/>
                <a:sym typeface="Calibri"/>
              </a:rPr>
              <a:t>Words ending in xes, ses, zes</a:t>
            </a:r>
            <a:endParaRPr sz="2800">
              <a:solidFill>
                <a:schemeClr val="dk1"/>
              </a:solidFill>
              <a:latin typeface="Calibri"/>
              <a:ea typeface="Calibri"/>
              <a:cs typeface="Calibri"/>
              <a:sym typeface="Calibri"/>
            </a:endParaRPr>
          </a:p>
        </p:txBody>
      </p:sp>
      <p:sp>
        <p:nvSpPr>
          <p:cNvPr id="244" name="Google Shape;244;p21"/>
          <p:cNvSpPr txBox="1"/>
          <p:nvPr/>
        </p:nvSpPr>
        <p:spPr>
          <a:xfrm>
            <a:off x="5401944" y="5476875"/>
            <a:ext cx="2611120" cy="341630"/>
          </a:xfrm>
          <a:prstGeom prst="rect">
            <a:avLst/>
          </a:prstGeom>
          <a:solidFill>
            <a:srgbClr val="00FF00"/>
          </a:solidFill>
          <a:ln>
            <a:noFill/>
          </a:ln>
        </p:spPr>
        <p:txBody>
          <a:bodyPr spcFirstLastPara="1" wrap="square" lIns="0" tIns="0" rIns="0" bIns="0" anchor="t" anchorCtr="0">
            <a:spAutoFit/>
          </a:bodyPr>
          <a:lstStyle/>
          <a:p>
            <a:pPr marL="0" marR="0" lvl="0" indent="0" algn="l" rtl="0">
              <a:lnSpc>
                <a:spcPct val="96071"/>
              </a:lnSpc>
              <a:spcBef>
                <a:spcPts val="0"/>
              </a:spcBef>
              <a:spcAft>
                <a:spcPts val="0"/>
              </a:spcAft>
              <a:buNone/>
            </a:pPr>
            <a:r>
              <a:rPr lang="en-US" sz="2800">
                <a:solidFill>
                  <a:schemeClr val="dk1"/>
                </a:solidFill>
                <a:latin typeface="Calibri"/>
                <a:ea typeface="Calibri"/>
                <a:cs typeface="Calibri"/>
                <a:sym typeface="Calibri"/>
              </a:rPr>
              <a:t>Ex: suffixes, boxes</a:t>
            </a:r>
            <a:endParaRPr sz="2800">
              <a:solidFill>
                <a:schemeClr val="dk1"/>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Shape 248"/>
        <p:cNvGrpSpPr/>
        <p:nvPr/>
      </p:nvGrpSpPr>
      <p:grpSpPr>
        <a:xfrm>
          <a:off x="0" y="0"/>
          <a:ext cx="0" cy="0"/>
          <a:chOff x="0" y="0"/>
          <a:chExt cx="0" cy="0"/>
        </a:xfrm>
      </p:grpSpPr>
      <p:sp>
        <p:nvSpPr>
          <p:cNvPr id="249" name="Google Shape;249;p22"/>
          <p:cNvSpPr txBox="1">
            <a:spLocks noGrp="1"/>
          </p:cNvSpPr>
          <p:nvPr>
            <p:ph type="title"/>
          </p:nvPr>
        </p:nvSpPr>
        <p:spPr>
          <a:xfrm>
            <a:off x="911225" y="639172"/>
            <a:ext cx="5085715" cy="69596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4400"/>
              <a:t>Morphological Parsing</a:t>
            </a:r>
            <a:endParaRPr sz="4400"/>
          </a:p>
        </p:txBody>
      </p:sp>
      <p:pic>
        <p:nvPicPr>
          <p:cNvPr id="250" name="Google Shape;250;p22"/>
          <p:cNvPicPr preferRelativeResize="0"/>
          <p:nvPr/>
        </p:nvPicPr>
        <p:blipFill rotWithShape="1">
          <a:blip r:embed="rId3">
            <a:alphaModFix/>
          </a:blip>
          <a:srcRect/>
          <a:stretch/>
        </p:blipFill>
        <p:spPr>
          <a:xfrm>
            <a:off x="838200" y="1898174"/>
            <a:ext cx="10515599" cy="4206239"/>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Shape 254"/>
        <p:cNvGrpSpPr/>
        <p:nvPr/>
      </p:nvGrpSpPr>
      <p:grpSpPr>
        <a:xfrm>
          <a:off x="0" y="0"/>
          <a:ext cx="0" cy="0"/>
          <a:chOff x="0" y="0"/>
          <a:chExt cx="0" cy="0"/>
        </a:xfrm>
      </p:grpSpPr>
      <p:sp>
        <p:nvSpPr>
          <p:cNvPr id="255" name="Google Shape;255;p23"/>
          <p:cNvSpPr txBox="1">
            <a:spLocks noGrp="1"/>
          </p:cNvSpPr>
          <p:nvPr>
            <p:ph type="title"/>
          </p:nvPr>
        </p:nvSpPr>
        <p:spPr>
          <a:xfrm>
            <a:off x="911225" y="639172"/>
            <a:ext cx="5085715" cy="69596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4400"/>
              <a:t>Morphological Parsing</a:t>
            </a:r>
            <a:endParaRPr sz="4400"/>
          </a:p>
        </p:txBody>
      </p:sp>
      <p:sp>
        <p:nvSpPr>
          <p:cNvPr id="256" name="Google Shape;256;p23"/>
          <p:cNvSpPr txBox="1"/>
          <p:nvPr/>
        </p:nvSpPr>
        <p:spPr>
          <a:xfrm>
            <a:off x="964547" y="1802663"/>
            <a:ext cx="10240010" cy="1341120"/>
          </a:xfrm>
          <a:prstGeom prst="rect">
            <a:avLst/>
          </a:prstGeom>
          <a:noFill/>
          <a:ln>
            <a:noFill/>
          </a:ln>
        </p:spPr>
        <p:txBody>
          <a:bodyPr spcFirstLastPara="1" wrap="square" lIns="0" tIns="63500" rIns="0" bIns="0" anchor="t" anchorCtr="0">
            <a:spAutoFit/>
          </a:bodyPr>
          <a:lstStyle/>
          <a:p>
            <a:pPr marL="187960" marR="5080" lvl="0" indent="-177800" algn="l" rtl="0">
              <a:lnSpc>
                <a:spcPct val="107142"/>
              </a:lnSpc>
              <a:spcBef>
                <a:spcPts val="0"/>
              </a:spcBef>
              <a:spcAft>
                <a:spcPts val="0"/>
              </a:spcAft>
              <a:buClr>
                <a:schemeClr val="dk1"/>
              </a:buClr>
              <a:buSzPts val="2800"/>
              <a:buFont typeface="Arial"/>
              <a:buChar char="•"/>
            </a:pPr>
            <a:r>
              <a:rPr lang="en-US" sz="2800">
                <a:solidFill>
                  <a:schemeClr val="dk1"/>
                </a:solidFill>
                <a:latin typeface="Calibri"/>
                <a:ea typeface="Calibri"/>
                <a:cs typeface="Calibri"/>
                <a:sym typeface="Calibri"/>
              </a:rPr>
              <a:t>Next step : develop transducer does mapping from intermediate level  to lexical level</a:t>
            </a:r>
            <a:endParaRPr sz="2800">
              <a:solidFill>
                <a:schemeClr val="dk1"/>
              </a:solidFill>
              <a:latin typeface="Calibri"/>
              <a:ea typeface="Calibri"/>
              <a:cs typeface="Calibri"/>
              <a:sym typeface="Calibri"/>
            </a:endParaRPr>
          </a:p>
          <a:p>
            <a:pPr marL="187960" marR="0" lvl="0" indent="-177800" algn="l" rtl="0">
              <a:lnSpc>
                <a:spcPct val="100000"/>
              </a:lnSpc>
              <a:spcBef>
                <a:spcPts val="600"/>
              </a:spcBef>
              <a:spcAft>
                <a:spcPts val="0"/>
              </a:spcAft>
              <a:buClr>
                <a:schemeClr val="dk1"/>
              </a:buClr>
              <a:buSzPts val="2800"/>
              <a:buFont typeface="Arial"/>
              <a:buChar char="•"/>
            </a:pPr>
            <a:r>
              <a:rPr lang="en-US" sz="2800">
                <a:solidFill>
                  <a:schemeClr val="dk1"/>
                </a:solidFill>
                <a:latin typeface="Calibri"/>
                <a:ea typeface="Calibri"/>
                <a:cs typeface="Calibri"/>
                <a:sym typeface="Calibri"/>
              </a:rPr>
              <a:t>The input to the transducer:</a:t>
            </a:r>
            <a:endParaRPr sz="2800">
              <a:solidFill>
                <a:schemeClr val="dk1"/>
              </a:solidFill>
              <a:latin typeface="Calibri"/>
              <a:ea typeface="Calibri"/>
              <a:cs typeface="Calibri"/>
              <a:sym typeface="Calibri"/>
            </a:endParaRPr>
          </a:p>
        </p:txBody>
      </p:sp>
      <p:sp>
        <p:nvSpPr>
          <p:cNvPr id="257" name="Google Shape;257;p23"/>
          <p:cNvSpPr txBox="1"/>
          <p:nvPr/>
        </p:nvSpPr>
        <p:spPr>
          <a:xfrm>
            <a:off x="923925" y="3267075"/>
            <a:ext cx="4516120" cy="384175"/>
          </a:xfrm>
          <a:prstGeom prst="rect">
            <a:avLst/>
          </a:prstGeom>
          <a:solidFill>
            <a:srgbClr val="00FF00"/>
          </a:solidFill>
          <a:ln>
            <a:noFill/>
          </a:ln>
        </p:spPr>
        <p:txBody>
          <a:bodyPr spcFirstLastPara="1" wrap="square" lIns="0" tIns="0" rIns="0" bIns="0" anchor="t" anchorCtr="0">
            <a:spAutoFit/>
          </a:bodyPr>
          <a:lstStyle/>
          <a:p>
            <a:pPr marL="0" marR="0" lvl="0" indent="0" algn="l" rtl="0">
              <a:lnSpc>
                <a:spcPct val="106428"/>
              </a:lnSpc>
              <a:spcBef>
                <a:spcPts val="0"/>
              </a:spcBef>
              <a:spcAft>
                <a:spcPts val="0"/>
              </a:spcAft>
              <a:buNone/>
            </a:pPr>
            <a:r>
              <a:rPr lang="en-US" sz="2800">
                <a:solidFill>
                  <a:schemeClr val="dk1"/>
                </a:solidFill>
                <a:latin typeface="Calibri"/>
                <a:ea typeface="Calibri"/>
                <a:cs typeface="Calibri"/>
                <a:sym typeface="Calibri"/>
              </a:rPr>
              <a:t>Regular noun stem, Eg. bird,cat</a:t>
            </a:r>
            <a:endParaRPr sz="2800">
              <a:solidFill>
                <a:schemeClr val="dk1"/>
              </a:solidFill>
              <a:latin typeface="Calibri"/>
              <a:ea typeface="Calibri"/>
              <a:cs typeface="Calibri"/>
              <a:sym typeface="Calibri"/>
            </a:endParaRPr>
          </a:p>
        </p:txBody>
      </p:sp>
      <p:sp>
        <p:nvSpPr>
          <p:cNvPr id="258" name="Google Shape;258;p23"/>
          <p:cNvSpPr txBox="1"/>
          <p:nvPr/>
        </p:nvSpPr>
        <p:spPr>
          <a:xfrm>
            <a:off x="923925" y="3781425"/>
            <a:ext cx="4870450" cy="384175"/>
          </a:xfrm>
          <a:prstGeom prst="rect">
            <a:avLst/>
          </a:prstGeom>
          <a:solidFill>
            <a:srgbClr val="00FF00"/>
          </a:solidFill>
          <a:ln>
            <a:noFill/>
          </a:ln>
        </p:spPr>
        <p:txBody>
          <a:bodyPr spcFirstLastPara="1" wrap="square" lIns="0" tIns="0" rIns="0" bIns="0" anchor="t" anchorCtr="0">
            <a:spAutoFit/>
          </a:bodyPr>
          <a:lstStyle/>
          <a:p>
            <a:pPr marL="0" marR="0" lvl="0" indent="0" algn="l" rtl="0">
              <a:lnSpc>
                <a:spcPct val="106428"/>
              </a:lnSpc>
              <a:spcBef>
                <a:spcPts val="0"/>
              </a:spcBef>
              <a:spcAft>
                <a:spcPts val="0"/>
              </a:spcAft>
              <a:buNone/>
            </a:pPr>
            <a:r>
              <a:rPr lang="en-US" sz="2800">
                <a:solidFill>
                  <a:schemeClr val="dk1"/>
                </a:solidFill>
                <a:latin typeface="Calibri"/>
                <a:ea typeface="Calibri"/>
                <a:cs typeface="Calibri"/>
                <a:sym typeface="Calibri"/>
              </a:rPr>
              <a:t>Regular noun stem + s, eg. Bird+ s</a:t>
            </a:r>
            <a:endParaRPr sz="2800">
              <a:solidFill>
                <a:schemeClr val="dk1"/>
              </a:solidFill>
              <a:latin typeface="Calibri"/>
              <a:ea typeface="Calibri"/>
              <a:cs typeface="Calibri"/>
              <a:sym typeface="Calibri"/>
            </a:endParaRPr>
          </a:p>
        </p:txBody>
      </p:sp>
      <p:sp>
        <p:nvSpPr>
          <p:cNvPr id="259" name="Google Shape;259;p23"/>
          <p:cNvSpPr txBox="1"/>
          <p:nvPr/>
        </p:nvSpPr>
        <p:spPr>
          <a:xfrm>
            <a:off x="923925" y="4295775"/>
            <a:ext cx="5705475" cy="384175"/>
          </a:xfrm>
          <a:prstGeom prst="rect">
            <a:avLst/>
          </a:prstGeom>
          <a:solidFill>
            <a:srgbClr val="00FF00"/>
          </a:solidFill>
          <a:ln>
            <a:noFill/>
          </a:ln>
        </p:spPr>
        <p:txBody>
          <a:bodyPr spcFirstLastPara="1" wrap="square" lIns="0" tIns="0" rIns="0" bIns="0" anchor="t" anchorCtr="0">
            <a:spAutoFit/>
          </a:bodyPr>
          <a:lstStyle/>
          <a:p>
            <a:pPr marL="0" marR="0" lvl="0" indent="0" algn="l" rtl="0">
              <a:lnSpc>
                <a:spcPct val="106428"/>
              </a:lnSpc>
              <a:spcBef>
                <a:spcPts val="0"/>
              </a:spcBef>
              <a:spcAft>
                <a:spcPts val="0"/>
              </a:spcAft>
              <a:buNone/>
            </a:pPr>
            <a:r>
              <a:rPr lang="en-US" sz="2800">
                <a:solidFill>
                  <a:schemeClr val="dk1"/>
                </a:solidFill>
                <a:latin typeface="Calibri"/>
                <a:ea typeface="Calibri"/>
                <a:cs typeface="Calibri"/>
                <a:sym typeface="Calibri"/>
              </a:rPr>
              <a:t>Singular irregular noun stem, eg. Goose</a:t>
            </a:r>
            <a:endParaRPr sz="2800">
              <a:solidFill>
                <a:schemeClr val="dk1"/>
              </a:solidFill>
              <a:latin typeface="Calibri"/>
              <a:ea typeface="Calibri"/>
              <a:cs typeface="Calibri"/>
              <a:sym typeface="Calibri"/>
            </a:endParaRPr>
          </a:p>
        </p:txBody>
      </p:sp>
      <p:sp>
        <p:nvSpPr>
          <p:cNvPr id="260" name="Google Shape;260;p23"/>
          <p:cNvSpPr txBox="1"/>
          <p:nvPr/>
        </p:nvSpPr>
        <p:spPr>
          <a:xfrm>
            <a:off x="923925" y="4810125"/>
            <a:ext cx="5350510" cy="384175"/>
          </a:xfrm>
          <a:prstGeom prst="rect">
            <a:avLst/>
          </a:prstGeom>
          <a:solidFill>
            <a:srgbClr val="00FF00"/>
          </a:solidFill>
          <a:ln>
            <a:noFill/>
          </a:ln>
        </p:spPr>
        <p:txBody>
          <a:bodyPr spcFirstLastPara="1" wrap="square" lIns="0" tIns="0" rIns="0" bIns="0" anchor="t" anchorCtr="0">
            <a:spAutoFit/>
          </a:bodyPr>
          <a:lstStyle/>
          <a:p>
            <a:pPr marL="0" marR="0" lvl="0" indent="0" algn="l" rtl="0">
              <a:lnSpc>
                <a:spcPct val="106428"/>
              </a:lnSpc>
              <a:spcBef>
                <a:spcPts val="0"/>
              </a:spcBef>
              <a:spcAft>
                <a:spcPts val="0"/>
              </a:spcAft>
              <a:buNone/>
            </a:pPr>
            <a:r>
              <a:rPr lang="en-US" sz="2800">
                <a:solidFill>
                  <a:schemeClr val="dk1"/>
                </a:solidFill>
                <a:latin typeface="Calibri"/>
                <a:ea typeface="Calibri"/>
                <a:cs typeface="Calibri"/>
                <a:sym typeface="Calibri"/>
              </a:rPr>
              <a:t>Plural irregular noun stem, eg. Geese</a:t>
            </a:r>
            <a:endParaRPr sz="2800">
              <a:solidFill>
                <a:schemeClr val="dk1"/>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Shape 264"/>
        <p:cNvGrpSpPr/>
        <p:nvPr/>
      </p:nvGrpSpPr>
      <p:grpSpPr>
        <a:xfrm>
          <a:off x="0" y="0"/>
          <a:ext cx="0" cy="0"/>
          <a:chOff x="0" y="0"/>
          <a:chExt cx="0" cy="0"/>
        </a:xfrm>
      </p:grpSpPr>
      <p:sp>
        <p:nvSpPr>
          <p:cNvPr id="265" name="Google Shape;265;p24"/>
          <p:cNvSpPr txBox="1">
            <a:spLocks noGrp="1"/>
          </p:cNvSpPr>
          <p:nvPr>
            <p:ph type="title"/>
          </p:nvPr>
        </p:nvSpPr>
        <p:spPr>
          <a:xfrm>
            <a:off x="911225" y="639172"/>
            <a:ext cx="5085715" cy="69596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4400"/>
              <a:t>Morphological Parsing</a:t>
            </a:r>
            <a:endParaRPr sz="4400"/>
          </a:p>
        </p:txBody>
      </p:sp>
      <p:sp>
        <p:nvSpPr>
          <p:cNvPr id="266" name="Google Shape;266;p24"/>
          <p:cNvSpPr txBox="1"/>
          <p:nvPr/>
        </p:nvSpPr>
        <p:spPr>
          <a:xfrm>
            <a:off x="964547" y="1802663"/>
            <a:ext cx="10291445" cy="3138170"/>
          </a:xfrm>
          <a:prstGeom prst="rect">
            <a:avLst/>
          </a:prstGeom>
          <a:noFill/>
          <a:ln>
            <a:noFill/>
          </a:ln>
        </p:spPr>
        <p:txBody>
          <a:bodyPr spcFirstLastPara="1" wrap="square" lIns="0" tIns="63500" rIns="0" bIns="0" anchor="t" anchorCtr="0">
            <a:spAutoFit/>
          </a:bodyPr>
          <a:lstStyle/>
          <a:p>
            <a:pPr marL="187960" marR="5080" lvl="0" indent="-177800" algn="l" rtl="0">
              <a:lnSpc>
                <a:spcPct val="107142"/>
              </a:lnSpc>
              <a:spcBef>
                <a:spcPts val="0"/>
              </a:spcBef>
              <a:spcAft>
                <a:spcPts val="0"/>
              </a:spcAft>
              <a:buClr>
                <a:schemeClr val="dk1"/>
              </a:buClr>
              <a:buSzPts val="2800"/>
              <a:buFont typeface="Arial"/>
              <a:buChar char="•"/>
            </a:pPr>
            <a:r>
              <a:rPr lang="en-US" sz="2800">
                <a:solidFill>
                  <a:schemeClr val="dk1"/>
                </a:solidFill>
                <a:latin typeface="Calibri"/>
                <a:ea typeface="Calibri"/>
                <a:cs typeface="Calibri"/>
                <a:sym typeface="Calibri"/>
              </a:rPr>
              <a:t>(1): map all symbols of the stem to themselves and then output N and  Sg.</a:t>
            </a:r>
            <a:endParaRPr sz="2800">
              <a:solidFill>
                <a:schemeClr val="dk1"/>
              </a:solidFill>
              <a:latin typeface="Calibri"/>
              <a:ea typeface="Calibri"/>
              <a:cs typeface="Calibri"/>
              <a:sym typeface="Calibri"/>
            </a:endParaRPr>
          </a:p>
          <a:p>
            <a:pPr marL="187960" marR="67310" lvl="0" indent="-177800" algn="l" rtl="0">
              <a:lnSpc>
                <a:spcPct val="108928"/>
              </a:lnSpc>
              <a:spcBef>
                <a:spcPts val="960"/>
              </a:spcBef>
              <a:spcAft>
                <a:spcPts val="0"/>
              </a:spcAft>
              <a:buClr>
                <a:schemeClr val="dk1"/>
              </a:buClr>
              <a:buSzPts val="2800"/>
              <a:buFont typeface="Arial"/>
              <a:buChar char="•"/>
            </a:pPr>
            <a:r>
              <a:rPr lang="en-US" sz="2800">
                <a:solidFill>
                  <a:schemeClr val="dk1"/>
                </a:solidFill>
                <a:latin typeface="Calibri"/>
                <a:ea typeface="Calibri"/>
                <a:cs typeface="Calibri"/>
                <a:sym typeface="Calibri"/>
              </a:rPr>
              <a:t>(2): map all the symbols of the stem to themselves and then output N  and replaces PL with Sg.</a:t>
            </a:r>
            <a:endParaRPr sz="2800">
              <a:solidFill>
                <a:schemeClr val="dk1"/>
              </a:solidFill>
              <a:latin typeface="Calibri"/>
              <a:ea typeface="Calibri"/>
              <a:cs typeface="Calibri"/>
              <a:sym typeface="Calibri"/>
            </a:endParaRPr>
          </a:p>
          <a:p>
            <a:pPr marL="187960" marR="0" lvl="0" indent="-177800" algn="l" rtl="0">
              <a:lnSpc>
                <a:spcPct val="100000"/>
              </a:lnSpc>
              <a:spcBef>
                <a:spcPts val="590"/>
              </a:spcBef>
              <a:spcAft>
                <a:spcPts val="0"/>
              </a:spcAft>
              <a:buClr>
                <a:schemeClr val="dk1"/>
              </a:buClr>
              <a:buSzPts val="2800"/>
              <a:buFont typeface="Arial"/>
              <a:buChar char="•"/>
            </a:pPr>
            <a:r>
              <a:rPr lang="en-US" sz="2800">
                <a:solidFill>
                  <a:schemeClr val="dk1"/>
                </a:solidFill>
                <a:latin typeface="Calibri"/>
                <a:ea typeface="Calibri"/>
                <a:cs typeface="Calibri"/>
                <a:sym typeface="Calibri"/>
              </a:rPr>
              <a:t>(3): same as first case.</a:t>
            </a:r>
            <a:endParaRPr sz="2800">
              <a:solidFill>
                <a:schemeClr val="dk1"/>
              </a:solidFill>
              <a:latin typeface="Calibri"/>
              <a:ea typeface="Calibri"/>
              <a:cs typeface="Calibri"/>
              <a:sym typeface="Calibri"/>
            </a:endParaRPr>
          </a:p>
          <a:p>
            <a:pPr marL="187960" marR="230504" lvl="0" indent="-177800" algn="l" rtl="0">
              <a:lnSpc>
                <a:spcPct val="108928"/>
              </a:lnSpc>
              <a:spcBef>
                <a:spcPts val="1050"/>
              </a:spcBef>
              <a:spcAft>
                <a:spcPts val="0"/>
              </a:spcAft>
              <a:buClr>
                <a:schemeClr val="dk1"/>
              </a:buClr>
              <a:buSzPts val="2800"/>
              <a:buFont typeface="Arial"/>
              <a:buChar char="•"/>
            </a:pPr>
            <a:r>
              <a:rPr lang="en-US" sz="2800">
                <a:solidFill>
                  <a:schemeClr val="dk1"/>
                </a:solidFill>
                <a:latin typeface="Calibri"/>
                <a:ea typeface="Calibri"/>
                <a:cs typeface="Calibri"/>
                <a:sym typeface="Calibri"/>
              </a:rPr>
              <a:t>(4):map the irregular plural noun stem to the corresponding singular  stem(eg : geese- goose) and then add N and PL.</a:t>
            </a:r>
            <a:endParaRPr sz="2800">
              <a:solidFill>
                <a:schemeClr val="dk1"/>
              </a:solidFill>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Shape 270"/>
        <p:cNvGrpSpPr/>
        <p:nvPr/>
      </p:nvGrpSpPr>
      <p:grpSpPr>
        <a:xfrm>
          <a:off x="0" y="0"/>
          <a:ext cx="0" cy="0"/>
          <a:chOff x="0" y="0"/>
          <a:chExt cx="0" cy="0"/>
        </a:xfrm>
      </p:grpSpPr>
      <p:sp>
        <p:nvSpPr>
          <p:cNvPr id="271" name="Google Shape;271;p25"/>
          <p:cNvSpPr txBox="1">
            <a:spLocks noGrp="1"/>
          </p:cNvSpPr>
          <p:nvPr>
            <p:ph type="title"/>
          </p:nvPr>
        </p:nvSpPr>
        <p:spPr>
          <a:xfrm>
            <a:off x="911225" y="639172"/>
            <a:ext cx="5085715" cy="69596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4400"/>
              <a:t>Morphological Parsing</a:t>
            </a:r>
            <a:endParaRPr sz="4400"/>
          </a:p>
        </p:txBody>
      </p:sp>
      <p:pic>
        <p:nvPicPr>
          <p:cNvPr id="272" name="Google Shape;272;p25"/>
          <p:cNvPicPr preferRelativeResize="0"/>
          <p:nvPr/>
        </p:nvPicPr>
        <p:blipFill rotWithShape="1">
          <a:blip r:embed="rId3">
            <a:alphaModFix/>
          </a:blip>
          <a:srcRect/>
          <a:stretch/>
        </p:blipFill>
        <p:spPr>
          <a:xfrm>
            <a:off x="1634161" y="1465407"/>
            <a:ext cx="8802928" cy="5027467"/>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Shape 276"/>
        <p:cNvGrpSpPr/>
        <p:nvPr/>
      </p:nvGrpSpPr>
      <p:grpSpPr>
        <a:xfrm>
          <a:off x="0" y="0"/>
          <a:ext cx="0" cy="0"/>
          <a:chOff x="0" y="0"/>
          <a:chExt cx="0" cy="0"/>
        </a:xfrm>
      </p:grpSpPr>
      <p:sp>
        <p:nvSpPr>
          <p:cNvPr id="277" name="Google Shape;277;p26"/>
          <p:cNvSpPr txBox="1">
            <a:spLocks noGrp="1"/>
          </p:cNvSpPr>
          <p:nvPr>
            <p:ph type="title"/>
          </p:nvPr>
        </p:nvSpPr>
        <p:spPr>
          <a:xfrm>
            <a:off x="911225" y="639172"/>
            <a:ext cx="5085715" cy="69596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4400"/>
              <a:t>Morphological Parsing</a:t>
            </a:r>
            <a:endParaRPr sz="4400"/>
          </a:p>
        </p:txBody>
      </p:sp>
      <p:pic>
        <p:nvPicPr>
          <p:cNvPr id="278" name="Google Shape;278;p26"/>
          <p:cNvPicPr preferRelativeResize="0"/>
          <p:nvPr/>
        </p:nvPicPr>
        <p:blipFill rotWithShape="1">
          <a:blip r:embed="rId3">
            <a:alphaModFix/>
          </a:blip>
          <a:srcRect/>
          <a:stretch/>
        </p:blipFill>
        <p:spPr>
          <a:xfrm>
            <a:off x="838200" y="1889959"/>
            <a:ext cx="10515599" cy="4222669"/>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Shape 282"/>
        <p:cNvGrpSpPr/>
        <p:nvPr/>
      </p:nvGrpSpPr>
      <p:grpSpPr>
        <a:xfrm>
          <a:off x="0" y="0"/>
          <a:ext cx="0" cy="0"/>
          <a:chOff x="0" y="0"/>
          <a:chExt cx="0" cy="0"/>
        </a:xfrm>
      </p:grpSpPr>
      <p:sp>
        <p:nvSpPr>
          <p:cNvPr id="283" name="Google Shape;283;p27"/>
          <p:cNvSpPr txBox="1">
            <a:spLocks noGrp="1"/>
          </p:cNvSpPr>
          <p:nvPr>
            <p:ph type="title"/>
          </p:nvPr>
        </p:nvSpPr>
        <p:spPr>
          <a:xfrm>
            <a:off x="911225" y="639172"/>
            <a:ext cx="5085715" cy="69596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4400"/>
              <a:t>Morphological Parsing</a:t>
            </a:r>
            <a:endParaRPr sz="4400"/>
          </a:p>
        </p:txBody>
      </p:sp>
      <p:pic>
        <p:nvPicPr>
          <p:cNvPr id="284" name="Google Shape;284;p27"/>
          <p:cNvPicPr preferRelativeResize="0"/>
          <p:nvPr/>
        </p:nvPicPr>
        <p:blipFill rotWithShape="1">
          <a:blip r:embed="rId3">
            <a:alphaModFix/>
          </a:blip>
          <a:srcRect/>
          <a:stretch/>
        </p:blipFill>
        <p:spPr>
          <a:xfrm>
            <a:off x="838200" y="1459345"/>
            <a:ext cx="10515599" cy="4378036"/>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Shape 288"/>
        <p:cNvGrpSpPr/>
        <p:nvPr/>
      </p:nvGrpSpPr>
      <p:grpSpPr>
        <a:xfrm>
          <a:off x="0" y="0"/>
          <a:ext cx="0" cy="0"/>
          <a:chOff x="0" y="0"/>
          <a:chExt cx="0" cy="0"/>
        </a:xfrm>
      </p:grpSpPr>
      <p:sp>
        <p:nvSpPr>
          <p:cNvPr id="289" name="Google Shape;289;p28"/>
          <p:cNvSpPr txBox="1">
            <a:spLocks noGrp="1"/>
          </p:cNvSpPr>
          <p:nvPr>
            <p:ph type="title"/>
          </p:nvPr>
        </p:nvSpPr>
        <p:spPr>
          <a:xfrm>
            <a:off x="911225" y="639172"/>
            <a:ext cx="8925560" cy="69596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4400"/>
              <a:t>Spelling Error Detection and Correction</a:t>
            </a:r>
            <a:endParaRPr sz="4400"/>
          </a:p>
        </p:txBody>
      </p:sp>
      <p:sp>
        <p:nvSpPr>
          <p:cNvPr id="290" name="Google Shape;290;p28"/>
          <p:cNvSpPr txBox="1"/>
          <p:nvPr/>
        </p:nvSpPr>
        <p:spPr>
          <a:xfrm>
            <a:off x="945492" y="1719605"/>
            <a:ext cx="8518525" cy="3746500"/>
          </a:xfrm>
          <a:prstGeom prst="rect">
            <a:avLst/>
          </a:prstGeom>
          <a:noFill/>
          <a:ln>
            <a:noFill/>
          </a:ln>
        </p:spPr>
        <p:txBody>
          <a:bodyPr spcFirstLastPara="1" wrap="square" lIns="0" tIns="113025" rIns="0" bIns="0" anchor="t" anchorCtr="0">
            <a:spAutoFit/>
          </a:bodyPr>
          <a:lstStyle/>
          <a:p>
            <a:pPr marL="207009" marR="0" lvl="0" indent="-194945" algn="l" rtl="0">
              <a:lnSpc>
                <a:spcPct val="100000"/>
              </a:lnSpc>
              <a:spcBef>
                <a:spcPts val="0"/>
              </a:spcBef>
              <a:spcAft>
                <a:spcPts val="0"/>
              </a:spcAft>
              <a:buClr>
                <a:schemeClr val="dk1"/>
              </a:buClr>
              <a:buSzPts val="1800"/>
              <a:buFont typeface="Arial"/>
              <a:buChar char="•"/>
            </a:pPr>
            <a:r>
              <a:rPr lang="en-US" sz="1800">
                <a:solidFill>
                  <a:schemeClr val="dk1"/>
                </a:solidFill>
                <a:latin typeface="Times New Roman"/>
                <a:ea typeface="Times New Roman"/>
                <a:cs typeface="Times New Roman"/>
                <a:sym typeface="Times New Roman"/>
              </a:rPr>
              <a:t>Errors of typing and spelling causes variation between strings</a:t>
            </a:r>
            <a:endParaRPr sz="1800">
              <a:solidFill>
                <a:schemeClr val="dk1"/>
              </a:solidFill>
              <a:latin typeface="Times New Roman"/>
              <a:ea typeface="Times New Roman"/>
              <a:cs typeface="Times New Roman"/>
              <a:sym typeface="Times New Roman"/>
            </a:endParaRPr>
          </a:p>
          <a:p>
            <a:pPr marL="207009" marR="0" lvl="0" indent="0" algn="l" rtl="0">
              <a:lnSpc>
                <a:spcPct val="100000"/>
              </a:lnSpc>
              <a:spcBef>
                <a:spcPts val="790"/>
              </a:spcBef>
              <a:spcAft>
                <a:spcPts val="0"/>
              </a:spcAft>
              <a:buNone/>
            </a:pPr>
            <a:r>
              <a:rPr lang="en-US" sz="1800">
                <a:solidFill>
                  <a:schemeClr val="dk1"/>
                </a:solidFill>
                <a:latin typeface="Times New Roman"/>
                <a:ea typeface="Times New Roman"/>
                <a:cs typeface="Times New Roman"/>
                <a:sym typeface="Times New Roman"/>
              </a:rPr>
              <a:t>*Single character omission</a:t>
            </a:r>
            <a:endParaRPr sz="1800">
              <a:solidFill>
                <a:schemeClr val="dk1"/>
              </a:solidFill>
              <a:latin typeface="Times New Roman"/>
              <a:ea typeface="Times New Roman"/>
              <a:cs typeface="Times New Roman"/>
              <a:sym typeface="Times New Roman"/>
            </a:endParaRPr>
          </a:p>
          <a:p>
            <a:pPr marL="207009" marR="0" lvl="0" indent="0" algn="l" rtl="0">
              <a:lnSpc>
                <a:spcPct val="100000"/>
              </a:lnSpc>
              <a:spcBef>
                <a:spcPts val="765"/>
              </a:spcBef>
              <a:spcAft>
                <a:spcPts val="0"/>
              </a:spcAft>
              <a:buNone/>
            </a:pPr>
            <a:r>
              <a:rPr lang="en-US" sz="1800">
                <a:solidFill>
                  <a:schemeClr val="dk1"/>
                </a:solidFill>
                <a:latin typeface="Times New Roman"/>
                <a:ea typeface="Times New Roman"/>
                <a:cs typeface="Times New Roman"/>
                <a:sym typeface="Times New Roman"/>
              </a:rPr>
              <a:t>*Insertion</a:t>
            </a:r>
            <a:endParaRPr sz="1800">
              <a:solidFill>
                <a:schemeClr val="dk1"/>
              </a:solidFill>
              <a:latin typeface="Times New Roman"/>
              <a:ea typeface="Times New Roman"/>
              <a:cs typeface="Times New Roman"/>
              <a:sym typeface="Times New Roman"/>
            </a:endParaRPr>
          </a:p>
          <a:p>
            <a:pPr marL="207009" marR="0" lvl="0" indent="0" algn="l" rtl="0">
              <a:lnSpc>
                <a:spcPct val="100000"/>
              </a:lnSpc>
              <a:spcBef>
                <a:spcPts val="765"/>
              </a:spcBef>
              <a:spcAft>
                <a:spcPts val="0"/>
              </a:spcAft>
              <a:buNone/>
            </a:pPr>
            <a:r>
              <a:rPr lang="en-US" sz="1800">
                <a:solidFill>
                  <a:schemeClr val="dk1"/>
                </a:solidFill>
                <a:latin typeface="Times New Roman"/>
                <a:ea typeface="Times New Roman"/>
                <a:cs typeface="Times New Roman"/>
                <a:sym typeface="Times New Roman"/>
              </a:rPr>
              <a:t>*Substitute</a:t>
            </a:r>
            <a:endParaRPr sz="1800">
              <a:solidFill>
                <a:schemeClr val="dk1"/>
              </a:solidFill>
              <a:latin typeface="Times New Roman"/>
              <a:ea typeface="Times New Roman"/>
              <a:cs typeface="Times New Roman"/>
              <a:sym typeface="Times New Roman"/>
            </a:endParaRPr>
          </a:p>
          <a:p>
            <a:pPr marL="207009" marR="0" lvl="0" indent="0" algn="l" rtl="0">
              <a:lnSpc>
                <a:spcPct val="100000"/>
              </a:lnSpc>
              <a:spcBef>
                <a:spcPts val="765"/>
              </a:spcBef>
              <a:spcAft>
                <a:spcPts val="0"/>
              </a:spcAft>
              <a:buNone/>
            </a:pPr>
            <a:r>
              <a:rPr lang="en-US" sz="1800">
                <a:solidFill>
                  <a:schemeClr val="dk1"/>
                </a:solidFill>
                <a:latin typeface="Times New Roman"/>
                <a:ea typeface="Times New Roman"/>
                <a:cs typeface="Times New Roman"/>
                <a:sym typeface="Times New Roman"/>
              </a:rPr>
              <a:t>*Reversal</a:t>
            </a:r>
            <a:endParaRPr sz="1800">
              <a:solidFill>
                <a:schemeClr val="dk1"/>
              </a:solidFill>
              <a:latin typeface="Times New Roman"/>
              <a:ea typeface="Times New Roman"/>
              <a:cs typeface="Times New Roman"/>
              <a:sym typeface="Times New Roman"/>
            </a:endParaRPr>
          </a:p>
          <a:p>
            <a:pPr marL="149860" marR="5080" lvl="0" indent="-137795" algn="l" rtl="0">
              <a:lnSpc>
                <a:spcPct val="135400"/>
              </a:lnSpc>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	</a:t>
            </a:r>
            <a:r>
              <a:rPr lang="en-US" sz="1800">
                <a:solidFill>
                  <a:schemeClr val="dk1"/>
                </a:solidFill>
                <a:latin typeface="Times New Roman"/>
                <a:ea typeface="Times New Roman"/>
                <a:cs typeface="Times New Roman"/>
                <a:sym typeface="Times New Roman"/>
              </a:rPr>
              <a:t>Damearu (1964) reported that over 80% of the typing errors were single_error misspelling  1)Substitution of a single letter</a:t>
            </a:r>
            <a:endParaRPr sz="1800">
              <a:solidFill>
                <a:schemeClr val="dk1"/>
              </a:solidFill>
              <a:latin typeface="Times New Roman"/>
              <a:ea typeface="Times New Roman"/>
              <a:cs typeface="Times New Roman"/>
              <a:sym typeface="Times New Roman"/>
            </a:endParaRPr>
          </a:p>
          <a:p>
            <a:pPr marL="149860" marR="4836160" lvl="0" indent="0" algn="l" rtl="0">
              <a:lnSpc>
                <a:spcPct val="135400"/>
              </a:lnSpc>
              <a:spcBef>
                <a:spcPts val="0"/>
              </a:spcBef>
              <a:spcAft>
                <a:spcPts val="0"/>
              </a:spcAft>
              <a:buNone/>
            </a:pPr>
            <a:r>
              <a:rPr lang="en-US" sz="1800">
                <a:solidFill>
                  <a:schemeClr val="dk1"/>
                </a:solidFill>
                <a:latin typeface="Times New Roman"/>
                <a:ea typeface="Times New Roman"/>
                <a:cs typeface="Times New Roman"/>
                <a:sym typeface="Times New Roman"/>
              </a:rPr>
              <a:t>2)omission of a single letter  3)Insertion of a single letter  4)Transposition of two adjacent letters</a:t>
            </a:r>
            <a:endParaRPr sz="1800">
              <a:solidFill>
                <a:schemeClr val="dk1"/>
              </a:solidFill>
              <a:latin typeface="Times New Roman"/>
              <a:ea typeface="Times New Roman"/>
              <a:cs typeface="Times New Roman"/>
              <a:sym typeface="Times New Roman"/>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Shape 294"/>
        <p:cNvGrpSpPr/>
        <p:nvPr/>
      </p:nvGrpSpPr>
      <p:grpSpPr>
        <a:xfrm>
          <a:off x="0" y="0"/>
          <a:ext cx="0" cy="0"/>
          <a:chOff x="0" y="0"/>
          <a:chExt cx="0" cy="0"/>
        </a:xfrm>
      </p:grpSpPr>
      <p:sp>
        <p:nvSpPr>
          <p:cNvPr id="295" name="Google Shape;295;p29"/>
          <p:cNvSpPr txBox="1">
            <a:spLocks noGrp="1"/>
          </p:cNvSpPr>
          <p:nvPr>
            <p:ph type="title"/>
          </p:nvPr>
        </p:nvSpPr>
        <p:spPr>
          <a:xfrm>
            <a:off x="911225" y="639172"/>
            <a:ext cx="8925560" cy="69596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4400"/>
              <a:t>Spelling Error Detection and Correction</a:t>
            </a:r>
            <a:endParaRPr sz="4400"/>
          </a:p>
        </p:txBody>
      </p:sp>
      <p:sp>
        <p:nvSpPr>
          <p:cNvPr id="296" name="Google Shape;296;p29"/>
          <p:cNvSpPr txBox="1"/>
          <p:nvPr/>
        </p:nvSpPr>
        <p:spPr>
          <a:xfrm>
            <a:off x="945492" y="1801876"/>
            <a:ext cx="10276840" cy="3883025"/>
          </a:xfrm>
          <a:prstGeom prst="rect">
            <a:avLst/>
          </a:prstGeom>
          <a:noFill/>
          <a:ln>
            <a:noFill/>
          </a:ln>
        </p:spPr>
        <p:txBody>
          <a:bodyPr spcFirstLastPara="1" wrap="square" lIns="0" tIns="12700" rIns="0" bIns="0" anchor="t" anchorCtr="0">
            <a:spAutoFit/>
          </a:bodyPr>
          <a:lstStyle/>
          <a:p>
            <a:pPr marL="207009" marR="974089" lvl="0" indent="-194945" algn="l" rtl="0">
              <a:lnSpc>
                <a:spcPct val="114599"/>
              </a:lnSpc>
              <a:spcBef>
                <a:spcPts val="0"/>
              </a:spcBef>
              <a:spcAft>
                <a:spcPts val="0"/>
              </a:spcAft>
              <a:buClr>
                <a:schemeClr val="dk1"/>
              </a:buClr>
              <a:buSzPts val="1800"/>
              <a:buFont typeface="Arial"/>
              <a:buChar char="•"/>
            </a:pPr>
            <a:r>
              <a:rPr lang="en-US" sz="1800">
                <a:solidFill>
                  <a:schemeClr val="dk1"/>
                </a:solidFill>
                <a:latin typeface="Times New Roman"/>
                <a:ea typeface="Times New Roman"/>
                <a:cs typeface="Times New Roman"/>
                <a:sym typeface="Times New Roman"/>
              </a:rPr>
              <a:t>Single character omission occurs when a single character is missed(deleted). E.g. when a concept is  accidentally typed as 'concpt'.</a:t>
            </a:r>
            <a:endParaRPr sz="1800">
              <a:solidFill>
                <a:schemeClr val="dk1"/>
              </a:solidFill>
              <a:latin typeface="Times New Roman"/>
              <a:ea typeface="Times New Roman"/>
              <a:cs typeface="Times New Roman"/>
              <a:sym typeface="Times New Roman"/>
            </a:endParaRPr>
          </a:p>
          <a:p>
            <a:pPr marL="0" marR="0" lvl="0" indent="0" algn="l" rtl="0">
              <a:lnSpc>
                <a:spcPct val="100000"/>
              </a:lnSpc>
              <a:spcBef>
                <a:spcPts val="10"/>
              </a:spcBef>
              <a:spcAft>
                <a:spcPts val="0"/>
              </a:spcAft>
              <a:buClr>
                <a:schemeClr val="dk1"/>
              </a:buClr>
              <a:buSzPts val="2000"/>
              <a:buFont typeface="Arial"/>
              <a:buNone/>
            </a:pPr>
            <a:endParaRPr sz="2000">
              <a:solidFill>
                <a:schemeClr val="dk1"/>
              </a:solidFill>
              <a:latin typeface="Times New Roman"/>
              <a:ea typeface="Times New Roman"/>
              <a:cs typeface="Times New Roman"/>
              <a:sym typeface="Times New Roman"/>
            </a:endParaRPr>
          </a:p>
          <a:p>
            <a:pPr marL="207009" marR="0" lvl="0" indent="-194945" algn="l" rtl="0">
              <a:lnSpc>
                <a:spcPct val="100000"/>
              </a:lnSpc>
              <a:spcBef>
                <a:spcPts val="5"/>
              </a:spcBef>
              <a:spcAft>
                <a:spcPts val="0"/>
              </a:spcAft>
              <a:buClr>
                <a:schemeClr val="dk1"/>
              </a:buClr>
              <a:buSzPts val="1800"/>
              <a:buFont typeface="Arial"/>
              <a:buChar char="•"/>
            </a:pPr>
            <a:r>
              <a:rPr lang="en-US" sz="1800">
                <a:solidFill>
                  <a:schemeClr val="dk1"/>
                </a:solidFill>
                <a:latin typeface="Times New Roman"/>
                <a:ea typeface="Times New Roman"/>
                <a:cs typeface="Times New Roman"/>
                <a:sym typeface="Times New Roman"/>
              </a:rPr>
              <a:t>Insertion error refers to the presence of an extra character is a word. E.g. when 'error' is misspell as 'errorn'.</a:t>
            </a:r>
            <a:endParaRPr sz="1800">
              <a:solidFill>
                <a:schemeClr val="dk1"/>
              </a:solidFill>
              <a:latin typeface="Times New Roman"/>
              <a:ea typeface="Times New Roman"/>
              <a:cs typeface="Times New Roman"/>
              <a:sym typeface="Times New Roman"/>
            </a:endParaRPr>
          </a:p>
          <a:p>
            <a:pPr marL="0" marR="0" lvl="0" indent="0" algn="l" rtl="0">
              <a:lnSpc>
                <a:spcPct val="100000"/>
              </a:lnSpc>
              <a:spcBef>
                <a:spcPts val="45"/>
              </a:spcBef>
              <a:spcAft>
                <a:spcPts val="0"/>
              </a:spcAft>
              <a:buClr>
                <a:schemeClr val="dk1"/>
              </a:buClr>
              <a:buSzPts val="1700"/>
              <a:buFont typeface="Arial"/>
              <a:buNone/>
            </a:pPr>
            <a:endParaRPr sz="1700">
              <a:solidFill>
                <a:schemeClr val="dk1"/>
              </a:solidFill>
              <a:latin typeface="Times New Roman"/>
              <a:ea typeface="Times New Roman"/>
              <a:cs typeface="Times New Roman"/>
              <a:sym typeface="Times New Roman"/>
            </a:endParaRPr>
          </a:p>
          <a:p>
            <a:pPr marL="207009" marR="5080" lvl="0" indent="-194945" algn="l" rtl="0">
              <a:lnSpc>
                <a:spcPct val="115700"/>
              </a:lnSpc>
              <a:spcBef>
                <a:spcPts val="0"/>
              </a:spcBef>
              <a:spcAft>
                <a:spcPts val="0"/>
              </a:spcAft>
              <a:buClr>
                <a:schemeClr val="dk1"/>
              </a:buClr>
              <a:buSzPts val="1800"/>
              <a:buFont typeface="Arial"/>
              <a:buChar char="•"/>
            </a:pPr>
            <a:r>
              <a:rPr lang="en-US" sz="1800">
                <a:solidFill>
                  <a:schemeClr val="dk1"/>
                </a:solidFill>
                <a:latin typeface="Times New Roman"/>
                <a:ea typeface="Times New Roman"/>
                <a:cs typeface="Times New Roman"/>
                <a:sym typeface="Times New Roman"/>
              </a:rPr>
              <a:t>Substitution error occurs when a wrong letter is typed in place of the right one. E.g. 'errpr' where 'p' appears in  place of 'o'.</a:t>
            </a:r>
            <a:endParaRPr sz="1800">
              <a:solidFill>
                <a:schemeClr val="dk1"/>
              </a:solidFill>
              <a:latin typeface="Times New Roman"/>
              <a:ea typeface="Times New Roman"/>
              <a:cs typeface="Times New Roman"/>
              <a:sym typeface="Times New Roman"/>
            </a:endParaRPr>
          </a:p>
          <a:p>
            <a:pPr marL="0" marR="0" lvl="0" indent="0" algn="l" rtl="0">
              <a:lnSpc>
                <a:spcPct val="100000"/>
              </a:lnSpc>
              <a:spcBef>
                <a:spcPts val="20"/>
              </a:spcBef>
              <a:spcAft>
                <a:spcPts val="0"/>
              </a:spcAft>
              <a:buClr>
                <a:schemeClr val="dk1"/>
              </a:buClr>
              <a:buSzPts val="1700"/>
              <a:buFont typeface="Arial"/>
              <a:buNone/>
            </a:pPr>
            <a:endParaRPr sz="1700">
              <a:solidFill>
                <a:schemeClr val="dk1"/>
              </a:solidFill>
              <a:latin typeface="Times New Roman"/>
              <a:ea typeface="Times New Roman"/>
              <a:cs typeface="Times New Roman"/>
              <a:sym typeface="Times New Roman"/>
            </a:endParaRPr>
          </a:p>
          <a:p>
            <a:pPr marL="207009" marR="414655" lvl="0" indent="-194945" algn="l" rtl="0">
              <a:lnSpc>
                <a:spcPct val="115700"/>
              </a:lnSpc>
              <a:spcBef>
                <a:spcPts val="0"/>
              </a:spcBef>
              <a:spcAft>
                <a:spcPts val="0"/>
              </a:spcAft>
              <a:buClr>
                <a:schemeClr val="dk1"/>
              </a:buClr>
              <a:buSzPts val="1800"/>
              <a:buFont typeface="Arial"/>
              <a:buChar char="•"/>
            </a:pPr>
            <a:r>
              <a:rPr lang="en-US" sz="1800">
                <a:solidFill>
                  <a:schemeClr val="dk1"/>
                </a:solidFill>
                <a:latin typeface="Times New Roman"/>
                <a:ea typeface="Times New Roman"/>
                <a:cs typeface="Times New Roman"/>
                <a:sym typeface="Times New Roman"/>
              </a:rPr>
              <a:t>Reversal refers to a situation in which the sequence of characters is reversed. E.g. 'aer' instead of 'are' also  called as transposition.</a:t>
            </a:r>
            <a:endParaRPr sz="1800">
              <a:solidFill>
                <a:schemeClr val="dk1"/>
              </a:solidFill>
              <a:latin typeface="Times New Roman"/>
              <a:ea typeface="Times New Roman"/>
              <a:cs typeface="Times New Roman"/>
              <a:sym typeface="Times New Roman"/>
            </a:endParaRPr>
          </a:p>
          <a:p>
            <a:pPr marL="0" marR="0" lvl="0" indent="0" algn="l" rtl="0">
              <a:lnSpc>
                <a:spcPct val="100000"/>
              </a:lnSpc>
              <a:spcBef>
                <a:spcPts val="20"/>
              </a:spcBef>
              <a:spcAft>
                <a:spcPts val="0"/>
              </a:spcAft>
              <a:buClr>
                <a:schemeClr val="dk1"/>
              </a:buClr>
              <a:buSzPts val="1700"/>
              <a:buFont typeface="Arial"/>
              <a:buNone/>
            </a:pPr>
            <a:endParaRPr sz="1700">
              <a:solidFill>
                <a:schemeClr val="dk1"/>
              </a:solidFill>
              <a:latin typeface="Times New Roman"/>
              <a:ea typeface="Times New Roman"/>
              <a:cs typeface="Times New Roman"/>
              <a:sym typeface="Times New Roman"/>
            </a:endParaRPr>
          </a:p>
          <a:p>
            <a:pPr marL="207009" marR="313055" lvl="0" indent="-194945" algn="l" rtl="0">
              <a:lnSpc>
                <a:spcPct val="115700"/>
              </a:lnSpc>
              <a:spcBef>
                <a:spcPts val="0"/>
              </a:spcBef>
              <a:spcAft>
                <a:spcPts val="0"/>
              </a:spcAft>
              <a:buClr>
                <a:schemeClr val="dk1"/>
              </a:buClr>
              <a:buSzPts val="1800"/>
              <a:buFont typeface="Arial"/>
              <a:buChar char="•"/>
            </a:pPr>
            <a:r>
              <a:rPr lang="en-US" sz="1800">
                <a:solidFill>
                  <a:schemeClr val="dk1"/>
                </a:solidFill>
                <a:latin typeface="Times New Roman"/>
                <a:ea typeface="Times New Roman"/>
                <a:cs typeface="Times New Roman"/>
                <a:sym typeface="Times New Roman"/>
              </a:rPr>
              <a:t>Optical Character Recognition (OCR) and other automatic reading devices introduce errors of substitution,  deletion and insertion but not of reversal. OCR errors are usually grouped into five classes:</a:t>
            </a:r>
            <a:endParaRPr sz="1800">
              <a:solidFill>
                <a:schemeClr val="dk1"/>
              </a:solidFill>
              <a:latin typeface="Times New Roman"/>
              <a:ea typeface="Times New Roman"/>
              <a:cs typeface="Times New Roman"/>
              <a:sym typeface="Times New Roman"/>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Shape 300"/>
        <p:cNvGrpSpPr/>
        <p:nvPr/>
      </p:nvGrpSpPr>
      <p:grpSpPr>
        <a:xfrm>
          <a:off x="0" y="0"/>
          <a:ext cx="0" cy="0"/>
          <a:chOff x="0" y="0"/>
          <a:chExt cx="0" cy="0"/>
        </a:xfrm>
      </p:grpSpPr>
      <p:sp>
        <p:nvSpPr>
          <p:cNvPr id="301" name="Google Shape;301;p30"/>
          <p:cNvSpPr txBox="1">
            <a:spLocks noGrp="1"/>
          </p:cNvSpPr>
          <p:nvPr>
            <p:ph type="title"/>
          </p:nvPr>
        </p:nvSpPr>
        <p:spPr>
          <a:xfrm>
            <a:off x="911225" y="639172"/>
            <a:ext cx="8925560" cy="69596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4400"/>
              <a:t>Spelling Error Detection and Correction</a:t>
            </a:r>
            <a:endParaRPr sz="4400"/>
          </a:p>
        </p:txBody>
      </p:sp>
      <p:sp>
        <p:nvSpPr>
          <p:cNvPr id="302" name="Google Shape;302;p30"/>
          <p:cNvSpPr txBox="1"/>
          <p:nvPr/>
        </p:nvSpPr>
        <p:spPr>
          <a:xfrm>
            <a:off x="911225" y="1841880"/>
            <a:ext cx="4519930" cy="3154045"/>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800">
                <a:solidFill>
                  <a:schemeClr val="dk1"/>
                </a:solidFill>
                <a:latin typeface="Times New Roman"/>
                <a:ea typeface="Times New Roman"/>
                <a:cs typeface="Times New Roman"/>
                <a:sym typeface="Times New Roman"/>
              </a:rPr>
              <a:t>OCR errors are usually grouped into five classes:</a:t>
            </a:r>
            <a:endParaRPr sz="1800">
              <a:solidFill>
                <a:schemeClr val="dk1"/>
              </a:solidFill>
              <a:latin typeface="Times New Roman"/>
              <a:ea typeface="Times New Roman"/>
              <a:cs typeface="Times New Roman"/>
              <a:sym typeface="Times New Roman"/>
            </a:endParaRPr>
          </a:p>
          <a:p>
            <a:pPr marL="0" marR="0" lvl="0" indent="0" algn="l" rtl="0">
              <a:lnSpc>
                <a:spcPct val="100000"/>
              </a:lnSpc>
              <a:spcBef>
                <a:spcPts val="15"/>
              </a:spcBef>
              <a:spcAft>
                <a:spcPts val="0"/>
              </a:spcAft>
              <a:buNone/>
            </a:pPr>
            <a:endParaRPr sz="2000">
              <a:solidFill>
                <a:schemeClr val="dk1"/>
              </a:solidFill>
              <a:latin typeface="Times New Roman"/>
              <a:ea typeface="Times New Roman"/>
              <a:cs typeface="Times New Roman"/>
              <a:sym typeface="Times New Roman"/>
            </a:endParaRPr>
          </a:p>
          <a:p>
            <a:pPr marL="855344" marR="0" lvl="0" indent="-638175" algn="l" rtl="0">
              <a:lnSpc>
                <a:spcPct val="100000"/>
              </a:lnSpc>
              <a:spcBef>
                <a:spcPts val="0"/>
              </a:spcBef>
              <a:spcAft>
                <a:spcPts val="0"/>
              </a:spcAft>
              <a:buClr>
                <a:schemeClr val="dk1"/>
              </a:buClr>
              <a:buSzPts val="1800"/>
              <a:buFont typeface="Courier New"/>
              <a:buChar char="o"/>
            </a:pPr>
            <a:r>
              <a:rPr lang="en-US" sz="1800">
                <a:solidFill>
                  <a:schemeClr val="dk1"/>
                </a:solidFill>
                <a:latin typeface="Times New Roman"/>
                <a:ea typeface="Times New Roman"/>
                <a:cs typeface="Times New Roman"/>
                <a:sym typeface="Times New Roman"/>
              </a:rPr>
              <a:t>Substitution</a:t>
            </a:r>
            <a:endParaRPr sz="1800">
              <a:solidFill>
                <a:schemeClr val="dk1"/>
              </a:solidFill>
              <a:latin typeface="Times New Roman"/>
              <a:ea typeface="Times New Roman"/>
              <a:cs typeface="Times New Roman"/>
              <a:sym typeface="Times New Roman"/>
            </a:endParaRPr>
          </a:p>
          <a:p>
            <a:pPr marL="0" marR="0" lvl="0" indent="0" algn="l" rtl="0">
              <a:lnSpc>
                <a:spcPct val="100000"/>
              </a:lnSpc>
              <a:spcBef>
                <a:spcPts val="40"/>
              </a:spcBef>
              <a:spcAft>
                <a:spcPts val="0"/>
              </a:spcAft>
              <a:buClr>
                <a:schemeClr val="dk1"/>
              </a:buClr>
              <a:buSzPts val="2000"/>
              <a:buFont typeface="Courier New"/>
              <a:buNone/>
            </a:pPr>
            <a:endParaRPr sz="2000">
              <a:solidFill>
                <a:schemeClr val="dk1"/>
              </a:solidFill>
              <a:latin typeface="Times New Roman"/>
              <a:ea typeface="Times New Roman"/>
              <a:cs typeface="Times New Roman"/>
              <a:sym typeface="Times New Roman"/>
            </a:endParaRPr>
          </a:p>
          <a:p>
            <a:pPr marL="812800" marR="0" lvl="0" indent="-594995" algn="l" rtl="0">
              <a:lnSpc>
                <a:spcPct val="100000"/>
              </a:lnSpc>
              <a:spcBef>
                <a:spcPts val="0"/>
              </a:spcBef>
              <a:spcAft>
                <a:spcPts val="0"/>
              </a:spcAft>
              <a:buClr>
                <a:schemeClr val="dk1"/>
              </a:buClr>
              <a:buSzPts val="1800"/>
              <a:buFont typeface="Courier New"/>
              <a:buChar char="o"/>
            </a:pPr>
            <a:r>
              <a:rPr lang="en-US" sz="1800">
                <a:solidFill>
                  <a:schemeClr val="dk1"/>
                </a:solidFill>
                <a:latin typeface="Times New Roman"/>
                <a:ea typeface="Times New Roman"/>
                <a:cs typeface="Times New Roman"/>
                <a:sym typeface="Times New Roman"/>
              </a:rPr>
              <a:t>Multi-substitution(or ) framing.</a:t>
            </a:r>
            <a:endParaRPr sz="1800">
              <a:solidFill>
                <a:schemeClr val="dk1"/>
              </a:solidFill>
              <a:latin typeface="Times New Roman"/>
              <a:ea typeface="Times New Roman"/>
              <a:cs typeface="Times New Roman"/>
              <a:sym typeface="Times New Roman"/>
            </a:endParaRPr>
          </a:p>
          <a:p>
            <a:pPr marL="0" marR="0" lvl="0" indent="0" algn="l" rtl="0">
              <a:lnSpc>
                <a:spcPct val="100000"/>
              </a:lnSpc>
              <a:spcBef>
                <a:spcPts val="40"/>
              </a:spcBef>
              <a:spcAft>
                <a:spcPts val="0"/>
              </a:spcAft>
              <a:buClr>
                <a:schemeClr val="dk1"/>
              </a:buClr>
              <a:buSzPts val="2000"/>
              <a:buFont typeface="Courier New"/>
              <a:buNone/>
            </a:pPr>
            <a:endParaRPr sz="2000">
              <a:solidFill>
                <a:schemeClr val="dk1"/>
              </a:solidFill>
              <a:latin typeface="Times New Roman"/>
              <a:ea typeface="Times New Roman"/>
              <a:cs typeface="Times New Roman"/>
              <a:sym typeface="Times New Roman"/>
            </a:endParaRPr>
          </a:p>
          <a:p>
            <a:pPr marL="833119" marR="0" lvl="0" indent="-615950" algn="l" rtl="0">
              <a:lnSpc>
                <a:spcPct val="100000"/>
              </a:lnSpc>
              <a:spcBef>
                <a:spcPts val="0"/>
              </a:spcBef>
              <a:spcAft>
                <a:spcPts val="0"/>
              </a:spcAft>
              <a:buClr>
                <a:schemeClr val="dk1"/>
              </a:buClr>
              <a:buSzPts val="1800"/>
              <a:buFont typeface="Courier New"/>
              <a:buChar char="o"/>
            </a:pPr>
            <a:r>
              <a:rPr lang="en-US" sz="1800">
                <a:solidFill>
                  <a:schemeClr val="dk1"/>
                </a:solidFill>
                <a:latin typeface="Times New Roman"/>
                <a:ea typeface="Times New Roman"/>
                <a:cs typeface="Times New Roman"/>
                <a:sym typeface="Times New Roman"/>
              </a:rPr>
              <a:t>Space deletion (or)</a:t>
            </a:r>
            <a:endParaRPr sz="1800">
              <a:solidFill>
                <a:schemeClr val="dk1"/>
              </a:solidFill>
              <a:latin typeface="Times New Roman"/>
              <a:ea typeface="Times New Roman"/>
              <a:cs typeface="Times New Roman"/>
              <a:sym typeface="Times New Roman"/>
            </a:endParaRPr>
          </a:p>
          <a:p>
            <a:pPr marL="0" marR="0" lvl="0" indent="0" algn="l" rtl="0">
              <a:lnSpc>
                <a:spcPct val="100000"/>
              </a:lnSpc>
              <a:spcBef>
                <a:spcPts val="40"/>
              </a:spcBef>
              <a:spcAft>
                <a:spcPts val="0"/>
              </a:spcAft>
              <a:buClr>
                <a:schemeClr val="dk1"/>
              </a:buClr>
              <a:buSzPts val="2000"/>
              <a:buFont typeface="Courier New"/>
              <a:buNone/>
            </a:pPr>
            <a:endParaRPr sz="2000">
              <a:solidFill>
                <a:schemeClr val="dk1"/>
              </a:solidFill>
              <a:latin typeface="Times New Roman"/>
              <a:ea typeface="Times New Roman"/>
              <a:cs typeface="Times New Roman"/>
              <a:sym typeface="Times New Roman"/>
            </a:endParaRPr>
          </a:p>
          <a:p>
            <a:pPr marL="833119" marR="0" lvl="0" indent="-615950" algn="l" rtl="0">
              <a:lnSpc>
                <a:spcPct val="100000"/>
              </a:lnSpc>
              <a:spcBef>
                <a:spcPts val="0"/>
              </a:spcBef>
              <a:spcAft>
                <a:spcPts val="0"/>
              </a:spcAft>
              <a:buClr>
                <a:schemeClr val="dk1"/>
              </a:buClr>
              <a:buSzPts val="1800"/>
              <a:buFont typeface="Courier New"/>
              <a:buChar char="o"/>
            </a:pPr>
            <a:r>
              <a:rPr lang="en-US" sz="1800">
                <a:solidFill>
                  <a:schemeClr val="dk1"/>
                </a:solidFill>
                <a:latin typeface="Times New Roman"/>
                <a:ea typeface="Times New Roman"/>
                <a:cs typeface="Times New Roman"/>
                <a:sym typeface="Times New Roman"/>
              </a:rPr>
              <a:t>insertion.</a:t>
            </a:r>
            <a:endParaRPr sz="1800">
              <a:solidFill>
                <a:schemeClr val="dk1"/>
              </a:solidFill>
              <a:latin typeface="Times New Roman"/>
              <a:ea typeface="Times New Roman"/>
              <a:cs typeface="Times New Roman"/>
              <a:sym typeface="Times New Roman"/>
            </a:endParaRPr>
          </a:p>
          <a:p>
            <a:pPr marL="0" marR="0" lvl="0" indent="0" algn="l" rtl="0">
              <a:lnSpc>
                <a:spcPct val="100000"/>
              </a:lnSpc>
              <a:spcBef>
                <a:spcPts val="40"/>
              </a:spcBef>
              <a:spcAft>
                <a:spcPts val="0"/>
              </a:spcAft>
              <a:buClr>
                <a:schemeClr val="dk1"/>
              </a:buClr>
              <a:buSzPts val="2000"/>
              <a:buFont typeface="Courier New"/>
              <a:buNone/>
            </a:pPr>
            <a:endParaRPr sz="2000">
              <a:solidFill>
                <a:schemeClr val="dk1"/>
              </a:solidFill>
              <a:latin typeface="Times New Roman"/>
              <a:ea typeface="Times New Roman"/>
              <a:cs typeface="Times New Roman"/>
              <a:sym typeface="Times New Roman"/>
            </a:endParaRPr>
          </a:p>
          <a:p>
            <a:pPr marL="815975" marR="0" lvl="0" indent="-598170" algn="l" rtl="0">
              <a:lnSpc>
                <a:spcPct val="100000"/>
              </a:lnSpc>
              <a:spcBef>
                <a:spcPts val="0"/>
              </a:spcBef>
              <a:spcAft>
                <a:spcPts val="0"/>
              </a:spcAft>
              <a:buClr>
                <a:schemeClr val="dk1"/>
              </a:buClr>
              <a:buSzPts val="1800"/>
              <a:buFont typeface="Courier New"/>
              <a:buChar char="o"/>
            </a:pPr>
            <a:r>
              <a:rPr lang="en-US" sz="1800">
                <a:solidFill>
                  <a:schemeClr val="dk1"/>
                </a:solidFill>
                <a:latin typeface="Times New Roman"/>
                <a:ea typeface="Times New Roman"/>
                <a:cs typeface="Times New Roman"/>
                <a:sym typeface="Times New Roman"/>
              </a:rPr>
              <a:t>Failures.</a:t>
            </a:r>
            <a:endParaRPr sz="1800">
              <a:solidFill>
                <a:schemeClr val="dk1"/>
              </a:solidFill>
              <a:latin typeface="Times New Roman"/>
              <a:ea typeface="Times New Roman"/>
              <a:cs typeface="Times New Roman"/>
              <a:sym typeface="Times New Roman"/>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Shape 306"/>
        <p:cNvGrpSpPr/>
        <p:nvPr/>
      </p:nvGrpSpPr>
      <p:grpSpPr>
        <a:xfrm>
          <a:off x="0" y="0"/>
          <a:ext cx="0" cy="0"/>
          <a:chOff x="0" y="0"/>
          <a:chExt cx="0" cy="0"/>
        </a:xfrm>
      </p:grpSpPr>
      <p:sp>
        <p:nvSpPr>
          <p:cNvPr id="307" name="Google Shape;307;p31"/>
          <p:cNvSpPr txBox="1">
            <a:spLocks noGrp="1"/>
          </p:cNvSpPr>
          <p:nvPr>
            <p:ph type="title"/>
          </p:nvPr>
        </p:nvSpPr>
        <p:spPr>
          <a:xfrm>
            <a:off x="911225" y="639172"/>
            <a:ext cx="8925560" cy="69596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4400"/>
              <a:t>Spelling Error Detection and Correction</a:t>
            </a:r>
            <a:endParaRPr sz="4400"/>
          </a:p>
        </p:txBody>
      </p:sp>
      <p:sp>
        <p:nvSpPr>
          <p:cNvPr id="308" name="Google Shape;308;p31"/>
          <p:cNvSpPr/>
          <p:nvPr/>
        </p:nvSpPr>
        <p:spPr>
          <a:xfrm>
            <a:off x="10267280" y="1863725"/>
            <a:ext cx="630555" cy="247015"/>
          </a:xfrm>
          <a:custGeom>
            <a:avLst/>
            <a:gdLst/>
            <a:ahLst/>
            <a:cxnLst/>
            <a:rect l="l" t="t" r="r" b="b"/>
            <a:pathLst>
              <a:path w="630554" h="247014" extrusionOk="0">
                <a:moveTo>
                  <a:pt x="630435" y="246887"/>
                </a:moveTo>
                <a:lnTo>
                  <a:pt x="0" y="246887"/>
                </a:lnTo>
                <a:lnTo>
                  <a:pt x="0" y="0"/>
                </a:lnTo>
                <a:lnTo>
                  <a:pt x="630435" y="0"/>
                </a:lnTo>
                <a:lnTo>
                  <a:pt x="630435" y="246887"/>
                </a:lnTo>
                <a:close/>
              </a:path>
            </a:pathLst>
          </a:custGeom>
          <a:solidFill>
            <a:srgbClr val="FFFF00"/>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09" name="Google Shape;309;p31"/>
          <p:cNvSpPr/>
          <p:nvPr/>
        </p:nvSpPr>
        <p:spPr>
          <a:xfrm>
            <a:off x="6669174" y="3105150"/>
            <a:ext cx="2615565" cy="274320"/>
          </a:xfrm>
          <a:custGeom>
            <a:avLst/>
            <a:gdLst/>
            <a:ahLst/>
            <a:cxnLst/>
            <a:rect l="l" t="t" r="r" b="b"/>
            <a:pathLst>
              <a:path w="2615565" h="274320" extrusionOk="0">
                <a:moveTo>
                  <a:pt x="2615282" y="274319"/>
                </a:moveTo>
                <a:lnTo>
                  <a:pt x="0" y="274319"/>
                </a:lnTo>
                <a:lnTo>
                  <a:pt x="0" y="0"/>
                </a:lnTo>
                <a:lnTo>
                  <a:pt x="2615282" y="0"/>
                </a:lnTo>
                <a:lnTo>
                  <a:pt x="2615282" y="274319"/>
                </a:lnTo>
                <a:close/>
              </a:path>
            </a:pathLst>
          </a:custGeom>
          <a:solidFill>
            <a:srgbClr val="FFFF00"/>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10" name="Google Shape;310;p31"/>
          <p:cNvSpPr/>
          <p:nvPr/>
        </p:nvSpPr>
        <p:spPr>
          <a:xfrm>
            <a:off x="7875128" y="3984625"/>
            <a:ext cx="2793365" cy="274320"/>
          </a:xfrm>
          <a:custGeom>
            <a:avLst/>
            <a:gdLst/>
            <a:ahLst/>
            <a:cxnLst/>
            <a:rect l="l" t="t" r="r" b="b"/>
            <a:pathLst>
              <a:path w="2793365" h="274320" extrusionOk="0">
                <a:moveTo>
                  <a:pt x="2793318" y="274319"/>
                </a:moveTo>
                <a:lnTo>
                  <a:pt x="0" y="274319"/>
                </a:lnTo>
                <a:lnTo>
                  <a:pt x="0" y="0"/>
                </a:lnTo>
                <a:lnTo>
                  <a:pt x="2793318" y="0"/>
                </a:lnTo>
                <a:lnTo>
                  <a:pt x="2793318" y="274319"/>
                </a:lnTo>
                <a:close/>
              </a:path>
            </a:pathLst>
          </a:custGeom>
          <a:solidFill>
            <a:srgbClr val="FFFF00"/>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11" name="Google Shape;311;p31"/>
          <p:cNvSpPr txBox="1"/>
          <p:nvPr/>
        </p:nvSpPr>
        <p:spPr>
          <a:xfrm>
            <a:off x="911225" y="1819935"/>
            <a:ext cx="10300970" cy="3328670"/>
          </a:xfrm>
          <a:prstGeom prst="rect">
            <a:avLst/>
          </a:prstGeom>
          <a:noFill/>
          <a:ln>
            <a:noFill/>
          </a:ln>
        </p:spPr>
        <p:txBody>
          <a:bodyPr spcFirstLastPara="1" wrap="square" lIns="0" tIns="43175" rIns="0" bIns="0" anchor="t" anchorCtr="0">
            <a:spAutoFit/>
          </a:bodyPr>
          <a:lstStyle/>
          <a:p>
            <a:pPr marL="241300" marR="13334" lvl="0" indent="-194945" algn="l" rtl="0">
              <a:lnSpc>
                <a:spcPct val="108333"/>
              </a:lnSpc>
              <a:spcBef>
                <a:spcPts val="0"/>
              </a:spcBef>
              <a:spcAft>
                <a:spcPts val="0"/>
              </a:spcAft>
              <a:buClr>
                <a:schemeClr val="dk1"/>
              </a:buClr>
              <a:buSzPts val="1800"/>
              <a:buFont typeface="Arial"/>
              <a:buChar char="•"/>
            </a:pPr>
            <a:r>
              <a:rPr lang="en-US" sz="1800">
                <a:solidFill>
                  <a:schemeClr val="dk1"/>
                </a:solidFill>
                <a:latin typeface="Times New Roman"/>
                <a:ea typeface="Times New Roman"/>
                <a:cs typeface="Times New Roman"/>
                <a:sym typeface="Times New Roman"/>
              </a:rPr>
              <a:t>OCR substitution errors are caused due to visual similarity such as, c-&gt;e , r-&gt;n. Multi-substitution :m-&gt;rn.  Failures occur when OCR algorithm fails to select a letter with sufficient accuracy. The frequency and type of  errors can be corrected using 'context' or by using linguistic structures.</a:t>
            </a:r>
            <a:endParaRPr sz="1800">
              <a:solidFill>
                <a:schemeClr val="dk1"/>
              </a:solidFill>
              <a:latin typeface="Times New Roman"/>
              <a:ea typeface="Times New Roman"/>
              <a:cs typeface="Times New Roman"/>
              <a:sym typeface="Times New Roman"/>
            </a:endParaRPr>
          </a:p>
          <a:p>
            <a:pPr marL="241300" marR="0" lvl="0" indent="-194945" algn="l" rtl="0">
              <a:lnSpc>
                <a:spcPct val="100000"/>
              </a:lnSpc>
              <a:spcBef>
                <a:spcPts val="760"/>
              </a:spcBef>
              <a:spcAft>
                <a:spcPts val="0"/>
              </a:spcAft>
              <a:buClr>
                <a:schemeClr val="dk1"/>
              </a:buClr>
              <a:buSzPts val="1800"/>
              <a:buFont typeface="Arial"/>
              <a:buChar char="•"/>
            </a:pPr>
            <a:r>
              <a:rPr lang="en-US" sz="1800">
                <a:solidFill>
                  <a:schemeClr val="dk1"/>
                </a:solidFill>
                <a:latin typeface="Times New Roman"/>
                <a:ea typeface="Times New Roman"/>
                <a:cs typeface="Times New Roman"/>
                <a:sym typeface="Times New Roman"/>
              </a:rPr>
              <a:t>Spelling errors are mainly due to phonetic and it belong one of two distinct categories:</a:t>
            </a:r>
            <a:endParaRPr sz="1800">
              <a:solidFill>
                <a:schemeClr val="dk1"/>
              </a:solidFill>
              <a:latin typeface="Times New Roman"/>
              <a:ea typeface="Times New Roman"/>
              <a:cs typeface="Times New Roman"/>
              <a:sym typeface="Times New Roman"/>
            </a:endParaRPr>
          </a:p>
          <a:p>
            <a:pPr marL="641350" marR="5080" lvl="1" indent="-628650" algn="l" rtl="0">
              <a:lnSpc>
                <a:spcPct val="113399"/>
              </a:lnSpc>
              <a:spcBef>
                <a:spcPts val="645"/>
              </a:spcBef>
              <a:spcAft>
                <a:spcPts val="0"/>
              </a:spcAft>
              <a:buClr>
                <a:schemeClr val="dk1"/>
              </a:buClr>
              <a:buSzPts val="1700"/>
              <a:buFont typeface="Times New Roman"/>
              <a:buAutoNum type="arabicPeriod"/>
            </a:pPr>
            <a:r>
              <a:rPr lang="en-US" sz="1800" b="0" i="0" u="none" strike="noStrike" cap="none">
                <a:solidFill>
                  <a:schemeClr val="dk1"/>
                </a:solidFill>
                <a:latin typeface="Times New Roman"/>
                <a:ea typeface="Times New Roman"/>
                <a:cs typeface="Times New Roman"/>
                <a:sym typeface="Times New Roman"/>
              </a:rPr>
              <a:t>Non word errors- when an error results in a word that does not appear in a lexicon or valid orthographic  word form, it's termed </a:t>
            </a:r>
            <a:r>
              <a:rPr lang="en-US" sz="1800" b="0" i="0" u="sng" strike="noStrike" cap="none">
                <a:solidFill>
                  <a:schemeClr val="dk1"/>
                </a:solidFill>
                <a:latin typeface="Times New Roman"/>
                <a:ea typeface="Times New Roman"/>
                <a:cs typeface="Times New Roman"/>
                <a:sym typeface="Times New Roman"/>
              </a:rPr>
              <a:t>as non -word error. Ex: Mouse: rnouse</a:t>
            </a:r>
            <a:endParaRPr sz="1800" b="0" i="0" u="none" strike="noStrike" cap="none">
              <a:solidFill>
                <a:schemeClr val="dk1"/>
              </a:solidFill>
              <a:latin typeface="Times New Roman"/>
              <a:ea typeface="Times New Roman"/>
              <a:cs typeface="Times New Roman"/>
              <a:sym typeface="Times New Roman"/>
            </a:endParaRPr>
          </a:p>
          <a:p>
            <a:pPr marL="457200" marR="0" lvl="1" indent="0" algn="l" rtl="0">
              <a:lnSpc>
                <a:spcPct val="100000"/>
              </a:lnSpc>
              <a:spcBef>
                <a:spcPts val="20"/>
              </a:spcBef>
              <a:spcAft>
                <a:spcPts val="0"/>
              </a:spcAft>
              <a:buClr>
                <a:schemeClr val="dk1"/>
              </a:buClr>
              <a:buSzPts val="1700"/>
              <a:buFont typeface="Times New Roman"/>
              <a:buNone/>
            </a:pPr>
            <a:endParaRPr sz="1700" b="0" i="0" u="none" strike="noStrike" cap="none">
              <a:solidFill>
                <a:schemeClr val="dk1"/>
              </a:solidFill>
              <a:latin typeface="Times New Roman"/>
              <a:ea typeface="Times New Roman"/>
              <a:cs typeface="Times New Roman"/>
              <a:sym typeface="Times New Roman"/>
            </a:endParaRPr>
          </a:p>
          <a:p>
            <a:pPr marL="641350" marR="365125" lvl="1" indent="-628650" algn="l" rtl="0">
              <a:lnSpc>
                <a:spcPct val="115700"/>
              </a:lnSpc>
              <a:spcBef>
                <a:spcPts val="5"/>
              </a:spcBef>
              <a:spcAft>
                <a:spcPts val="0"/>
              </a:spcAft>
              <a:buClr>
                <a:schemeClr val="dk1"/>
              </a:buClr>
              <a:buSzPts val="1700"/>
              <a:buFont typeface="Times New Roman"/>
              <a:buAutoNum type="arabicPeriod"/>
            </a:pPr>
            <a:r>
              <a:rPr lang="en-US" sz="1800" b="0" i="0" u="none" strike="noStrike" cap="none">
                <a:solidFill>
                  <a:schemeClr val="dk1"/>
                </a:solidFill>
                <a:latin typeface="Times New Roman"/>
                <a:ea typeface="Times New Roman"/>
                <a:cs typeface="Times New Roman"/>
                <a:sym typeface="Times New Roman"/>
              </a:rPr>
              <a:t>Real word errors- results in actual words of the language. It occurs due to typographical mistakes or  spelling errors. Meet meat</a:t>
            </a:r>
            <a:endParaRPr sz="1800" b="0" i="0" u="none" strike="noStrike" cap="none">
              <a:solidFill>
                <a:schemeClr val="dk1"/>
              </a:solidFill>
              <a:latin typeface="Times New Roman"/>
              <a:ea typeface="Times New Roman"/>
              <a:cs typeface="Times New Roman"/>
              <a:sym typeface="Times New Roman"/>
            </a:endParaRPr>
          </a:p>
          <a:p>
            <a:pPr marL="457200" marR="0" lvl="1" indent="0" algn="l" rtl="0">
              <a:lnSpc>
                <a:spcPct val="100000"/>
              </a:lnSpc>
              <a:spcBef>
                <a:spcPts val="10"/>
              </a:spcBef>
              <a:spcAft>
                <a:spcPts val="0"/>
              </a:spcAft>
              <a:buClr>
                <a:schemeClr val="dk1"/>
              </a:buClr>
              <a:buSzPts val="2000"/>
              <a:buFont typeface="Times New Roman"/>
              <a:buNone/>
            </a:pPr>
            <a:endParaRPr sz="2000" b="0" i="0" u="none" strike="noStrike" cap="none">
              <a:solidFill>
                <a:schemeClr val="dk1"/>
              </a:solidFill>
              <a:latin typeface="Times New Roman"/>
              <a:ea typeface="Times New Roman"/>
              <a:cs typeface="Times New Roman"/>
              <a:sym typeface="Times New Roman"/>
            </a:endParaRPr>
          </a:p>
          <a:p>
            <a:pPr marL="241300" marR="0" lvl="0" indent="-194945" algn="l" rtl="0">
              <a:lnSpc>
                <a:spcPct val="100000"/>
              </a:lnSpc>
              <a:spcBef>
                <a:spcPts val="5"/>
              </a:spcBef>
              <a:spcAft>
                <a:spcPts val="0"/>
              </a:spcAft>
              <a:buClr>
                <a:schemeClr val="dk1"/>
              </a:buClr>
              <a:buSzPts val="1800"/>
              <a:buFont typeface="Arial"/>
              <a:buChar char="•"/>
            </a:pPr>
            <a:r>
              <a:rPr lang="en-US" sz="1800">
                <a:solidFill>
                  <a:schemeClr val="dk1"/>
                </a:solidFill>
                <a:latin typeface="Times New Roman"/>
                <a:ea typeface="Times New Roman"/>
                <a:cs typeface="Times New Roman"/>
                <a:sym typeface="Times New Roman"/>
              </a:rPr>
              <a:t>E.g. Substituting the spelling of a homophone or near homophone such as Peace for piece (or) Meat for meet.</a:t>
            </a:r>
            <a:endParaRPr sz="1800">
              <a:solidFill>
                <a:schemeClr val="dk1"/>
              </a:solidFill>
              <a:latin typeface="Times New Roman"/>
              <a:ea typeface="Times New Roman"/>
              <a:cs typeface="Times New Roman"/>
              <a:sym typeface="Times New Roman"/>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Shape 315"/>
        <p:cNvGrpSpPr/>
        <p:nvPr/>
      </p:nvGrpSpPr>
      <p:grpSpPr>
        <a:xfrm>
          <a:off x="0" y="0"/>
          <a:ext cx="0" cy="0"/>
          <a:chOff x="0" y="0"/>
          <a:chExt cx="0" cy="0"/>
        </a:xfrm>
      </p:grpSpPr>
      <p:sp>
        <p:nvSpPr>
          <p:cNvPr id="316" name="Google Shape;316;p32"/>
          <p:cNvSpPr txBox="1">
            <a:spLocks noGrp="1"/>
          </p:cNvSpPr>
          <p:nvPr>
            <p:ph type="title"/>
          </p:nvPr>
        </p:nvSpPr>
        <p:spPr>
          <a:xfrm>
            <a:off x="911225" y="639172"/>
            <a:ext cx="8925560" cy="69596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4400"/>
              <a:t>Spelling Error Detection and Correction</a:t>
            </a:r>
            <a:endParaRPr sz="4400"/>
          </a:p>
        </p:txBody>
      </p:sp>
      <p:sp>
        <p:nvSpPr>
          <p:cNvPr id="317" name="Google Shape;317;p32"/>
          <p:cNvSpPr txBox="1"/>
          <p:nvPr/>
        </p:nvSpPr>
        <p:spPr>
          <a:xfrm>
            <a:off x="911225" y="1841880"/>
            <a:ext cx="5850890" cy="3154045"/>
          </a:xfrm>
          <a:prstGeom prst="rect">
            <a:avLst/>
          </a:prstGeom>
          <a:noFill/>
          <a:ln>
            <a:noFill/>
          </a:ln>
        </p:spPr>
        <p:txBody>
          <a:bodyPr spcFirstLastPara="1" wrap="square" lIns="0" tIns="12700" rIns="0" bIns="0" anchor="t" anchorCtr="0">
            <a:spAutoFit/>
          </a:bodyPr>
          <a:lstStyle/>
          <a:p>
            <a:pPr marL="241300" marR="0" lvl="0" indent="-194945" algn="l" rtl="0">
              <a:lnSpc>
                <a:spcPct val="100000"/>
              </a:lnSpc>
              <a:spcBef>
                <a:spcPts val="0"/>
              </a:spcBef>
              <a:spcAft>
                <a:spcPts val="0"/>
              </a:spcAft>
              <a:buClr>
                <a:schemeClr val="dk1"/>
              </a:buClr>
              <a:buSzPts val="1800"/>
              <a:buFont typeface="Arial"/>
              <a:buChar char="•"/>
            </a:pPr>
            <a:r>
              <a:rPr lang="en-US" sz="1800">
                <a:solidFill>
                  <a:schemeClr val="dk1"/>
                </a:solidFill>
                <a:latin typeface="Times New Roman"/>
                <a:ea typeface="Times New Roman"/>
                <a:cs typeface="Times New Roman"/>
                <a:sym typeface="Times New Roman"/>
              </a:rPr>
              <a:t>Real word error cause:-</a:t>
            </a:r>
            <a:endParaRPr sz="1800">
              <a:solidFill>
                <a:schemeClr val="dk1"/>
              </a:solidFill>
              <a:latin typeface="Times New Roman"/>
              <a:ea typeface="Times New Roman"/>
              <a:cs typeface="Times New Roman"/>
              <a:sym typeface="Times New Roman"/>
            </a:endParaRPr>
          </a:p>
          <a:p>
            <a:pPr marL="12700" marR="3492500" lvl="0" indent="0" algn="l" rtl="0">
              <a:lnSpc>
                <a:spcPct val="250000"/>
              </a:lnSpc>
              <a:spcBef>
                <a:spcPts val="515"/>
              </a:spcBef>
              <a:spcAft>
                <a:spcPts val="0"/>
              </a:spcAft>
              <a:buNone/>
            </a:pPr>
            <a:r>
              <a:rPr lang="en-US" sz="1800">
                <a:solidFill>
                  <a:schemeClr val="dk1"/>
                </a:solidFill>
                <a:latin typeface="Times New Roman"/>
                <a:ea typeface="Times New Roman"/>
                <a:cs typeface="Times New Roman"/>
                <a:sym typeface="Times New Roman"/>
              </a:rPr>
              <a:t>i)Local syntactic errors.  ii)Global syntactic errors.  iii)Semantic errors.</a:t>
            </a:r>
            <a:endParaRPr sz="1800">
              <a:solidFill>
                <a:schemeClr val="dk1"/>
              </a:solidFill>
              <a:latin typeface="Times New Roman"/>
              <a:ea typeface="Times New Roman"/>
              <a:cs typeface="Times New Roman"/>
              <a:sym typeface="Times New Roman"/>
            </a:endParaRPr>
          </a:p>
          <a:p>
            <a:pPr marL="0" marR="0" lvl="0" indent="0" algn="l" rtl="0">
              <a:lnSpc>
                <a:spcPct val="100000"/>
              </a:lnSpc>
              <a:spcBef>
                <a:spcPts val="15"/>
              </a:spcBef>
              <a:spcAft>
                <a:spcPts val="0"/>
              </a:spcAft>
              <a:buNone/>
            </a:pPr>
            <a:endParaRPr sz="1550">
              <a:solidFill>
                <a:schemeClr val="dk1"/>
              </a:solidFill>
              <a:latin typeface="Times New Roman"/>
              <a:ea typeface="Times New Roman"/>
              <a:cs typeface="Times New Roman"/>
              <a:sym typeface="Times New Roman"/>
            </a:endParaRPr>
          </a:p>
          <a:p>
            <a:pPr marL="12700" marR="0" lvl="0" indent="0" algn="l" rtl="0">
              <a:lnSpc>
                <a:spcPct val="100000"/>
              </a:lnSpc>
              <a:spcBef>
                <a:spcPts val="0"/>
              </a:spcBef>
              <a:spcAft>
                <a:spcPts val="0"/>
              </a:spcAft>
              <a:buNone/>
            </a:pPr>
            <a:r>
              <a:rPr lang="en-US" sz="1800">
                <a:solidFill>
                  <a:schemeClr val="dk1"/>
                </a:solidFill>
                <a:latin typeface="Times New Roman"/>
                <a:ea typeface="Times New Roman"/>
                <a:cs typeface="Times New Roman"/>
                <a:sym typeface="Times New Roman"/>
              </a:rPr>
              <a:t>iv)Discourse errors or pragmatic levels.</a:t>
            </a:r>
            <a:endParaRPr sz="1800">
              <a:solidFill>
                <a:schemeClr val="dk1"/>
              </a:solidFill>
              <a:latin typeface="Times New Roman"/>
              <a:ea typeface="Times New Roman"/>
              <a:cs typeface="Times New Roman"/>
              <a:sym typeface="Times New Roman"/>
            </a:endParaRPr>
          </a:p>
          <a:p>
            <a:pPr marL="0" marR="0" lvl="0" indent="0" algn="l" rtl="0">
              <a:lnSpc>
                <a:spcPct val="100000"/>
              </a:lnSpc>
              <a:spcBef>
                <a:spcPts val="40"/>
              </a:spcBef>
              <a:spcAft>
                <a:spcPts val="0"/>
              </a:spcAft>
              <a:buNone/>
            </a:pPr>
            <a:endParaRPr sz="2000">
              <a:solidFill>
                <a:schemeClr val="dk1"/>
              </a:solidFill>
              <a:latin typeface="Times New Roman"/>
              <a:ea typeface="Times New Roman"/>
              <a:cs typeface="Times New Roman"/>
              <a:sym typeface="Times New Roman"/>
            </a:endParaRPr>
          </a:p>
          <a:p>
            <a:pPr marL="241300" marR="0" lvl="0" indent="-194945" algn="l" rtl="0">
              <a:lnSpc>
                <a:spcPct val="100000"/>
              </a:lnSpc>
              <a:spcBef>
                <a:spcPts val="0"/>
              </a:spcBef>
              <a:spcAft>
                <a:spcPts val="0"/>
              </a:spcAft>
              <a:buClr>
                <a:schemeClr val="dk1"/>
              </a:buClr>
              <a:buSzPts val="1800"/>
              <a:buFont typeface="Arial"/>
              <a:buChar char="•"/>
            </a:pPr>
            <a:r>
              <a:rPr lang="en-US" sz="1800">
                <a:solidFill>
                  <a:schemeClr val="dk1"/>
                </a:solidFill>
                <a:latin typeface="Times New Roman"/>
                <a:ea typeface="Times New Roman"/>
                <a:cs typeface="Times New Roman"/>
                <a:sym typeface="Times New Roman"/>
              </a:rPr>
              <a:t>To decide a word is wrong is only by </a:t>
            </a:r>
            <a:r>
              <a:rPr lang="en-US" sz="1800" u="sng">
                <a:solidFill>
                  <a:schemeClr val="dk1"/>
                </a:solidFill>
                <a:latin typeface="Times New Roman"/>
                <a:ea typeface="Times New Roman"/>
                <a:cs typeface="Times New Roman"/>
                <a:sym typeface="Times New Roman"/>
              </a:rPr>
              <a:t>contextual information.</a:t>
            </a:r>
            <a:endParaRPr sz="1800">
              <a:solidFill>
                <a:schemeClr val="dk1"/>
              </a:solidFill>
              <a:latin typeface="Times New Roman"/>
              <a:ea typeface="Times New Roman"/>
              <a:cs typeface="Times New Roman"/>
              <a:sym typeface="Times New Roman"/>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Shape 321"/>
        <p:cNvGrpSpPr/>
        <p:nvPr/>
      </p:nvGrpSpPr>
      <p:grpSpPr>
        <a:xfrm>
          <a:off x="0" y="0"/>
          <a:ext cx="0" cy="0"/>
          <a:chOff x="0" y="0"/>
          <a:chExt cx="0" cy="0"/>
        </a:xfrm>
      </p:grpSpPr>
      <p:sp>
        <p:nvSpPr>
          <p:cNvPr id="322" name="Google Shape;322;p33"/>
          <p:cNvSpPr txBox="1">
            <a:spLocks noGrp="1"/>
          </p:cNvSpPr>
          <p:nvPr>
            <p:ph type="title"/>
          </p:nvPr>
        </p:nvSpPr>
        <p:spPr>
          <a:xfrm>
            <a:off x="911225" y="472147"/>
            <a:ext cx="2813050" cy="29972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800" b="1" u="sng">
                <a:latin typeface="Times New Roman"/>
                <a:ea typeface="Times New Roman"/>
                <a:cs typeface="Times New Roman"/>
                <a:sym typeface="Times New Roman"/>
              </a:rPr>
              <a:t>SPELLING CORRECTION</a:t>
            </a:r>
            <a:endParaRPr sz="1800">
              <a:latin typeface="Times New Roman"/>
              <a:ea typeface="Times New Roman"/>
              <a:cs typeface="Times New Roman"/>
              <a:sym typeface="Times New Roman"/>
            </a:endParaRPr>
          </a:p>
        </p:txBody>
      </p:sp>
      <p:sp>
        <p:nvSpPr>
          <p:cNvPr id="323" name="Google Shape;323;p33"/>
          <p:cNvSpPr/>
          <p:nvPr/>
        </p:nvSpPr>
        <p:spPr>
          <a:xfrm>
            <a:off x="3898963" y="1195821"/>
            <a:ext cx="2190115" cy="177800"/>
          </a:xfrm>
          <a:custGeom>
            <a:avLst/>
            <a:gdLst/>
            <a:ahLst/>
            <a:cxnLst/>
            <a:rect l="l" t="t" r="r" b="b"/>
            <a:pathLst>
              <a:path w="2190115" h="177800" extrusionOk="0">
                <a:moveTo>
                  <a:pt x="2189514" y="177622"/>
                </a:moveTo>
                <a:lnTo>
                  <a:pt x="0" y="177622"/>
                </a:lnTo>
                <a:lnTo>
                  <a:pt x="0" y="0"/>
                </a:lnTo>
                <a:lnTo>
                  <a:pt x="2189514" y="0"/>
                </a:lnTo>
                <a:lnTo>
                  <a:pt x="2189514" y="177622"/>
                </a:lnTo>
                <a:close/>
              </a:path>
            </a:pathLst>
          </a:custGeom>
          <a:solidFill>
            <a:srgbClr val="FFFF00"/>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24" name="Google Shape;324;p33"/>
          <p:cNvSpPr/>
          <p:nvPr/>
        </p:nvSpPr>
        <p:spPr>
          <a:xfrm>
            <a:off x="3981000" y="1500621"/>
            <a:ext cx="2165985" cy="177800"/>
          </a:xfrm>
          <a:custGeom>
            <a:avLst/>
            <a:gdLst/>
            <a:ahLst/>
            <a:cxnLst/>
            <a:rect l="l" t="t" r="r" b="b"/>
            <a:pathLst>
              <a:path w="2165985" h="177800" extrusionOk="0">
                <a:moveTo>
                  <a:pt x="2165677" y="177622"/>
                </a:moveTo>
                <a:lnTo>
                  <a:pt x="0" y="177622"/>
                </a:lnTo>
                <a:lnTo>
                  <a:pt x="0" y="0"/>
                </a:lnTo>
                <a:lnTo>
                  <a:pt x="2165677" y="0"/>
                </a:lnTo>
                <a:lnTo>
                  <a:pt x="2165677" y="177622"/>
                </a:lnTo>
                <a:close/>
              </a:path>
            </a:pathLst>
          </a:custGeom>
          <a:solidFill>
            <a:srgbClr val="FFFF00"/>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25" name="Google Shape;325;p33"/>
          <p:cNvSpPr txBox="1"/>
          <p:nvPr/>
        </p:nvSpPr>
        <p:spPr>
          <a:xfrm>
            <a:off x="911225" y="751559"/>
            <a:ext cx="7127240" cy="2105025"/>
          </a:xfrm>
          <a:prstGeom prst="rect">
            <a:avLst/>
          </a:prstGeom>
          <a:noFill/>
          <a:ln>
            <a:noFill/>
          </a:ln>
        </p:spPr>
        <p:txBody>
          <a:bodyPr spcFirstLastPara="1" wrap="square" lIns="0" tIns="68575" rIns="0" bIns="0" anchor="t" anchorCtr="0">
            <a:spAutoFit/>
          </a:bodyPr>
          <a:lstStyle/>
          <a:p>
            <a:pPr marL="241300" marR="0" lvl="0" indent="-197485" algn="l" rtl="0">
              <a:lnSpc>
                <a:spcPct val="100000"/>
              </a:lnSpc>
              <a:spcBef>
                <a:spcPts val="0"/>
              </a:spcBef>
              <a:spcAft>
                <a:spcPts val="0"/>
              </a:spcAft>
              <a:buClr>
                <a:schemeClr val="dk1"/>
              </a:buClr>
              <a:buSzPts val="1650"/>
              <a:buFont typeface="Arial"/>
              <a:buChar char="•"/>
            </a:pPr>
            <a:r>
              <a:rPr lang="en-US" sz="1650">
                <a:solidFill>
                  <a:schemeClr val="dk1"/>
                </a:solidFill>
                <a:latin typeface="Times New Roman"/>
                <a:ea typeface="Times New Roman"/>
                <a:cs typeface="Times New Roman"/>
                <a:sym typeface="Times New Roman"/>
              </a:rPr>
              <a:t>It consists of detecting and correcting errors.</a:t>
            </a:r>
            <a:endParaRPr sz="1650">
              <a:solidFill>
                <a:schemeClr val="dk1"/>
              </a:solidFill>
              <a:latin typeface="Times New Roman"/>
              <a:ea typeface="Times New Roman"/>
              <a:cs typeface="Times New Roman"/>
              <a:sym typeface="Times New Roman"/>
            </a:endParaRPr>
          </a:p>
          <a:p>
            <a:pPr marL="241300" marR="0" lvl="0" indent="-197485" algn="l" rtl="0">
              <a:lnSpc>
                <a:spcPct val="100000"/>
              </a:lnSpc>
              <a:spcBef>
                <a:spcPts val="445"/>
              </a:spcBef>
              <a:spcAft>
                <a:spcPts val="0"/>
              </a:spcAft>
              <a:buClr>
                <a:schemeClr val="dk1"/>
              </a:buClr>
              <a:buSzPts val="1650"/>
              <a:buFont typeface="Arial"/>
              <a:buChar char="•"/>
            </a:pPr>
            <a:r>
              <a:rPr lang="en-US" sz="1650" u="sng">
                <a:solidFill>
                  <a:schemeClr val="dk1"/>
                </a:solidFill>
                <a:latin typeface="Times New Roman"/>
                <a:ea typeface="Times New Roman"/>
                <a:cs typeface="Times New Roman"/>
                <a:sym typeface="Times New Roman"/>
              </a:rPr>
              <a:t>Error detection</a:t>
            </a:r>
            <a:r>
              <a:rPr lang="en-US" sz="1650">
                <a:solidFill>
                  <a:schemeClr val="dk1"/>
                </a:solidFill>
                <a:latin typeface="Times New Roman"/>
                <a:ea typeface="Times New Roman"/>
                <a:cs typeface="Times New Roman"/>
                <a:sym typeface="Times New Roman"/>
              </a:rPr>
              <a:t> is the process of finding misspelled words and</a:t>
            </a:r>
            <a:endParaRPr sz="1650">
              <a:solidFill>
                <a:schemeClr val="dk1"/>
              </a:solidFill>
              <a:latin typeface="Times New Roman"/>
              <a:ea typeface="Times New Roman"/>
              <a:cs typeface="Times New Roman"/>
              <a:sym typeface="Times New Roman"/>
            </a:endParaRPr>
          </a:p>
          <a:p>
            <a:pPr marL="241300" marR="0" lvl="0" indent="-197485" algn="l" rtl="0">
              <a:lnSpc>
                <a:spcPct val="100000"/>
              </a:lnSpc>
              <a:spcBef>
                <a:spcPts val="420"/>
              </a:spcBef>
              <a:spcAft>
                <a:spcPts val="0"/>
              </a:spcAft>
              <a:buClr>
                <a:schemeClr val="dk1"/>
              </a:buClr>
              <a:buSzPts val="1650"/>
              <a:buFont typeface="Arial"/>
              <a:buChar char="•"/>
            </a:pPr>
            <a:r>
              <a:rPr lang="en-US" sz="1650" u="sng">
                <a:solidFill>
                  <a:schemeClr val="dk1"/>
                </a:solidFill>
                <a:latin typeface="Times New Roman"/>
                <a:ea typeface="Times New Roman"/>
                <a:cs typeface="Times New Roman"/>
                <a:sym typeface="Times New Roman"/>
              </a:rPr>
              <a:t>Error correction</a:t>
            </a:r>
            <a:r>
              <a:rPr lang="en-US" sz="1650">
                <a:solidFill>
                  <a:schemeClr val="dk1"/>
                </a:solidFill>
                <a:latin typeface="Times New Roman"/>
                <a:ea typeface="Times New Roman"/>
                <a:cs typeface="Times New Roman"/>
                <a:sym typeface="Times New Roman"/>
              </a:rPr>
              <a:t> is the process of suggesting correct words to a misspelled words.</a:t>
            </a:r>
            <a:endParaRPr sz="1650">
              <a:solidFill>
                <a:schemeClr val="dk1"/>
              </a:solidFill>
              <a:latin typeface="Times New Roman"/>
              <a:ea typeface="Times New Roman"/>
              <a:cs typeface="Times New Roman"/>
              <a:sym typeface="Times New Roman"/>
            </a:endParaRPr>
          </a:p>
          <a:p>
            <a:pPr marL="241300" marR="0" lvl="0" indent="-197485" algn="l" rtl="0">
              <a:lnSpc>
                <a:spcPct val="100000"/>
              </a:lnSpc>
              <a:spcBef>
                <a:spcPts val="420"/>
              </a:spcBef>
              <a:spcAft>
                <a:spcPts val="0"/>
              </a:spcAft>
              <a:buClr>
                <a:schemeClr val="dk1"/>
              </a:buClr>
              <a:buSzPts val="1650"/>
              <a:buFont typeface="Arial"/>
              <a:buChar char="•"/>
            </a:pPr>
            <a:r>
              <a:rPr lang="en-US" sz="1650">
                <a:solidFill>
                  <a:schemeClr val="dk1"/>
                </a:solidFill>
                <a:latin typeface="Times New Roman"/>
                <a:ea typeface="Times New Roman"/>
                <a:cs typeface="Times New Roman"/>
                <a:sym typeface="Times New Roman"/>
              </a:rPr>
              <a:t>These sub-problems are solved in 2 ways:</a:t>
            </a:r>
            <a:endParaRPr sz="1650">
              <a:solidFill>
                <a:schemeClr val="dk1"/>
              </a:solidFill>
              <a:latin typeface="Times New Roman"/>
              <a:ea typeface="Times New Roman"/>
              <a:cs typeface="Times New Roman"/>
              <a:sym typeface="Times New Roman"/>
            </a:endParaRPr>
          </a:p>
          <a:p>
            <a:pPr marL="194945" marR="0" lvl="0" indent="-130175" algn="l" rtl="0">
              <a:lnSpc>
                <a:spcPct val="100000"/>
              </a:lnSpc>
              <a:spcBef>
                <a:spcPts val="819"/>
              </a:spcBef>
              <a:spcAft>
                <a:spcPts val="0"/>
              </a:spcAft>
              <a:buClr>
                <a:schemeClr val="dk1"/>
              </a:buClr>
              <a:buSzPts val="1550"/>
              <a:buFont typeface="Times New Roman"/>
              <a:buAutoNum type="romanLcParenR"/>
            </a:pPr>
            <a:r>
              <a:rPr lang="en-US" sz="1650">
                <a:solidFill>
                  <a:schemeClr val="dk1"/>
                </a:solidFill>
                <a:latin typeface="Times New Roman"/>
                <a:ea typeface="Times New Roman"/>
                <a:cs typeface="Times New Roman"/>
                <a:sym typeface="Times New Roman"/>
              </a:rPr>
              <a:t>Isolated-error detection and correction.</a:t>
            </a:r>
            <a:endParaRPr sz="1650">
              <a:solidFill>
                <a:schemeClr val="dk1"/>
              </a:solidFill>
              <a:latin typeface="Times New Roman"/>
              <a:ea typeface="Times New Roman"/>
              <a:cs typeface="Times New Roman"/>
              <a:sym typeface="Times New Roman"/>
            </a:endParaRPr>
          </a:p>
          <a:p>
            <a:pPr marL="0" marR="0" lvl="0" indent="0" algn="l" rtl="0">
              <a:lnSpc>
                <a:spcPct val="100000"/>
              </a:lnSpc>
              <a:spcBef>
                <a:spcPts val="45"/>
              </a:spcBef>
              <a:spcAft>
                <a:spcPts val="0"/>
              </a:spcAft>
              <a:buClr>
                <a:schemeClr val="dk1"/>
              </a:buClr>
              <a:buSzPts val="1650"/>
              <a:buFont typeface="Times New Roman"/>
              <a:buNone/>
            </a:pPr>
            <a:endParaRPr sz="1650">
              <a:solidFill>
                <a:schemeClr val="dk1"/>
              </a:solidFill>
              <a:latin typeface="Times New Roman"/>
              <a:ea typeface="Times New Roman"/>
              <a:cs typeface="Times New Roman"/>
              <a:sym typeface="Times New Roman"/>
            </a:endParaRPr>
          </a:p>
          <a:p>
            <a:pPr marL="200025" marR="0" lvl="0" indent="-187960" algn="l" rtl="0">
              <a:lnSpc>
                <a:spcPct val="100000"/>
              </a:lnSpc>
              <a:spcBef>
                <a:spcPts val="5"/>
              </a:spcBef>
              <a:spcAft>
                <a:spcPts val="0"/>
              </a:spcAft>
              <a:buClr>
                <a:schemeClr val="dk1"/>
              </a:buClr>
              <a:buSzPts val="1550"/>
              <a:buFont typeface="Times New Roman"/>
              <a:buAutoNum type="romanLcParenR"/>
            </a:pPr>
            <a:r>
              <a:rPr lang="en-US" sz="1650">
                <a:solidFill>
                  <a:schemeClr val="dk1"/>
                </a:solidFill>
                <a:latin typeface="Times New Roman"/>
                <a:ea typeface="Times New Roman"/>
                <a:cs typeface="Times New Roman"/>
                <a:sym typeface="Times New Roman"/>
              </a:rPr>
              <a:t>Context-dependent error detection and correction.</a:t>
            </a:r>
            <a:endParaRPr sz="1650">
              <a:solidFill>
                <a:schemeClr val="dk1"/>
              </a:solidFill>
              <a:latin typeface="Times New Roman"/>
              <a:ea typeface="Times New Roman"/>
              <a:cs typeface="Times New Roman"/>
              <a:sym typeface="Times New Roman"/>
            </a:endParaRPr>
          </a:p>
        </p:txBody>
      </p:sp>
      <p:sp>
        <p:nvSpPr>
          <p:cNvPr id="326" name="Google Shape;326;p33"/>
          <p:cNvSpPr txBox="1"/>
          <p:nvPr/>
        </p:nvSpPr>
        <p:spPr>
          <a:xfrm>
            <a:off x="2308681" y="3103996"/>
            <a:ext cx="1654810" cy="241300"/>
          </a:xfrm>
          <a:prstGeom prst="rect">
            <a:avLst/>
          </a:prstGeom>
          <a:solidFill>
            <a:srgbClr val="FFFF00"/>
          </a:solidFill>
          <a:ln>
            <a:noFill/>
          </a:ln>
        </p:spPr>
        <p:txBody>
          <a:bodyPr spcFirstLastPara="1" wrap="square" lIns="0" tIns="0" rIns="0" bIns="0" anchor="t" anchorCtr="0">
            <a:spAutoFit/>
          </a:bodyPr>
          <a:lstStyle/>
          <a:p>
            <a:pPr marL="0" marR="0" lvl="0" indent="0" algn="l" rtl="0">
              <a:lnSpc>
                <a:spcPct val="112121"/>
              </a:lnSpc>
              <a:spcBef>
                <a:spcPts val="0"/>
              </a:spcBef>
              <a:spcAft>
                <a:spcPts val="0"/>
              </a:spcAft>
              <a:buNone/>
            </a:pPr>
            <a:r>
              <a:rPr lang="en-US" sz="1650">
                <a:solidFill>
                  <a:schemeClr val="dk1"/>
                </a:solidFill>
                <a:latin typeface="Times New Roman"/>
                <a:ea typeface="Times New Roman"/>
                <a:cs typeface="Times New Roman"/>
                <a:sym typeface="Times New Roman"/>
              </a:rPr>
              <a:t>checked separately</a:t>
            </a:r>
            <a:endParaRPr sz="1650">
              <a:solidFill>
                <a:schemeClr val="dk1"/>
              </a:solidFill>
              <a:latin typeface="Times New Roman"/>
              <a:ea typeface="Times New Roman"/>
              <a:cs typeface="Times New Roman"/>
              <a:sym typeface="Times New Roman"/>
            </a:endParaRPr>
          </a:p>
        </p:txBody>
      </p:sp>
      <p:sp>
        <p:nvSpPr>
          <p:cNvPr id="327" name="Google Shape;327;p33"/>
          <p:cNvSpPr txBox="1"/>
          <p:nvPr/>
        </p:nvSpPr>
        <p:spPr>
          <a:xfrm>
            <a:off x="942964" y="3072688"/>
            <a:ext cx="8114665" cy="279400"/>
          </a:xfrm>
          <a:prstGeom prst="rect">
            <a:avLst/>
          </a:prstGeom>
          <a:noFill/>
          <a:ln>
            <a:noFill/>
          </a:ln>
        </p:spPr>
        <p:txBody>
          <a:bodyPr spcFirstLastPara="1" wrap="square" lIns="0" tIns="14600" rIns="0" bIns="0" anchor="t" anchorCtr="0">
            <a:spAutoFit/>
          </a:bodyPr>
          <a:lstStyle/>
          <a:p>
            <a:pPr marL="209550" marR="0" lvl="0" indent="-197485" algn="l" rtl="0">
              <a:lnSpc>
                <a:spcPct val="100000"/>
              </a:lnSpc>
              <a:spcBef>
                <a:spcPts val="0"/>
              </a:spcBef>
              <a:spcAft>
                <a:spcPts val="0"/>
              </a:spcAft>
              <a:buClr>
                <a:schemeClr val="dk1"/>
              </a:buClr>
              <a:buSzPts val="1650"/>
              <a:buFont typeface="Arial"/>
              <a:buChar char="•"/>
            </a:pPr>
            <a:r>
              <a:rPr lang="en-US" sz="1650">
                <a:solidFill>
                  <a:schemeClr val="dk1"/>
                </a:solidFill>
                <a:latin typeface="Times New Roman"/>
                <a:ea typeface="Times New Roman"/>
                <a:cs typeface="Times New Roman"/>
                <a:sym typeface="Times New Roman"/>
              </a:rPr>
              <a:t>Each word is	,independent of its context. Detecting whether or not a word</a:t>
            </a:r>
            <a:endParaRPr sz="1650">
              <a:solidFill>
                <a:schemeClr val="dk1"/>
              </a:solidFill>
              <a:latin typeface="Times New Roman"/>
              <a:ea typeface="Times New Roman"/>
              <a:cs typeface="Times New Roman"/>
              <a:sym typeface="Times New Roman"/>
            </a:endParaRPr>
          </a:p>
        </p:txBody>
      </p:sp>
      <p:sp>
        <p:nvSpPr>
          <p:cNvPr id="328" name="Google Shape;328;p33"/>
          <p:cNvSpPr txBox="1"/>
          <p:nvPr/>
        </p:nvSpPr>
        <p:spPr>
          <a:xfrm>
            <a:off x="9104145" y="3103996"/>
            <a:ext cx="833755" cy="241300"/>
          </a:xfrm>
          <a:prstGeom prst="rect">
            <a:avLst/>
          </a:prstGeom>
          <a:solidFill>
            <a:srgbClr val="FFFF00"/>
          </a:solidFill>
          <a:ln>
            <a:noFill/>
          </a:ln>
        </p:spPr>
        <p:txBody>
          <a:bodyPr spcFirstLastPara="1" wrap="square" lIns="0" tIns="0" rIns="0" bIns="0" anchor="t" anchorCtr="0">
            <a:spAutoFit/>
          </a:bodyPr>
          <a:lstStyle/>
          <a:p>
            <a:pPr marL="0" marR="0" lvl="0" indent="0" algn="l" rtl="0">
              <a:lnSpc>
                <a:spcPct val="112121"/>
              </a:lnSpc>
              <a:spcBef>
                <a:spcPts val="0"/>
              </a:spcBef>
              <a:spcAft>
                <a:spcPts val="0"/>
              </a:spcAft>
              <a:buNone/>
            </a:pPr>
            <a:r>
              <a:rPr lang="en-US" sz="1650">
                <a:solidFill>
                  <a:schemeClr val="dk1"/>
                </a:solidFill>
                <a:latin typeface="Times New Roman"/>
                <a:ea typeface="Times New Roman"/>
                <a:cs typeface="Times New Roman"/>
                <a:sym typeface="Times New Roman"/>
              </a:rPr>
              <a:t>is correct</a:t>
            </a:r>
            <a:endParaRPr sz="1650">
              <a:solidFill>
                <a:schemeClr val="dk1"/>
              </a:solidFill>
              <a:latin typeface="Times New Roman"/>
              <a:ea typeface="Times New Roman"/>
              <a:cs typeface="Times New Roman"/>
              <a:sym typeface="Times New Roman"/>
            </a:endParaRPr>
          </a:p>
        </p:txBody>
      </p:sp>
      <p:sp>
        <p:nvSpPr>
          <p:cNvPr id="329" name="Google Shape;329;p33"/>
          <p:cNvSpPr txBox="1"/>
          <p:nvPr/>
        </p:nvSpPr>
        <p:spPr>
          <a:xfrm>
            <a:off x="9915048" y="3072688"/>
            <a:ext cx="1158240" cy="279400"/>
          </a:xfrm>
          <a:prstGeom prst="rect">
            <a:avLst/>
          </a:prstGeom>
          <a:noFill/>
          <a:ln>
            <a:noFill/>
          </a:ln>
        </p:spPr>
        <p:txBody>
          <a:bodyPr spcFirstLastPara="1" wrap="square" lIns="0" tIns="14600" rIns="0" bIns="0" anchor="t" anchorCtr="0">
            <a:spAutoFit/>
          </a:bodyPr>
          <a:lstStyle/>
          <a:p>
            <a:pPr marL="12700" marR="0" lvl="0" indent="0" algn="l" rtl="0">
              <a:lnSpc>
                <a:spcPct val="100000"/>
              </a:lnSpc>
              <a:spcBef>
                <a:spcPts val="0"/>
              </a:spcBef>
              <a:spcAft>
                <a:spcPts val="0"/>
              </a:spcAft>
              <a:buNone/>
            </a:pPr>
            <a:r>
              <a:rPr lang="en-US" sz="1650">
                <a:solidFill>
                  <a:schemeClr val="dk1"/>
                </a:solidFill>
                <a:latin typeface="Times New Roman"/>
                <a:ea typeface="Times New Roman"/>
                <a:cs typeface="Times New Roman"/>
                <a:sym typeface="Times New Roman"/>
              </a:rPr>
              <a:t>seems simple</a:t>
            </a:r>
            <a:endParaRPr sz="1650">
              <a:solidFill>
                <a:schemeClr val="dk1"/>
              </a:solidFill>
              <a:latin typeface="Times New Roman"/>
              <a:ea typeface="Times New Roman"/>
              <a:cs typeface="Times New Roman"/>
              <a:sym typeface="Times New Roman"/>
            </a:endParaRPr>
          </a:p>
        </p:txBody>
      </p:sp>
      <p:sp>
        <p:nvSpPr>
          <p:cNvPr id="330" name="Google Shape;330;p33"/>
          <p:cNvSpPr txBox="1"/>
          <p:nvPr/>
        </p:nvSpPr>
        <p:spPr>
          <a:xfrm>
            <a:off x="1139825" y="3313988"/>
            <a:ext cx="8317865" cy="279400"/>
          </a:xfrm>
          <a:prstGeom prst="rect">
            <a:avLst/>
          </a:prstGeom>
          <a:noFill/>
          <a:ln>
            <a:noFill/>
          </a:ln>
        </p:spPr>
        <p:txBody>
          <a:bodyPr spcFirstLastPara="1" wrap="square" lIns="0" tIns="14600" rIns="0" bIns="0" anchor="t" anchorCtr="0">
            <a:spAutoFit/>
          </a:bodyPr>
          <a:lstStyle/>
          <a:p>
            <a:pPr marL="12700" marR="0" lvl="0" indent="0" algn="l" rtl="0">
              <a:lnSpc>
                <a:spcPct val="100000"/>
              </a:lnSpc>
              <a:spcBef>
                <a:spcPts val="0"/>
              </a:spcBef>
              <a:spcAft>
                <a:spcPts val="0"/>
              </a:spcAft>
              <a:buNone/>
            </a:pPr>
            <a:r>
              <a:rPr lang="en-US" sz="1650">
                <a:solidFill>
                  <a:schemeClr val="dk1"/>
                </a:solidFill>
                <a:latin typeface="Times New Roman"/>
                <a:ea typeface="Times New Roman"/>
                <a:cs typeface="Times New Roman"/>
                <a:sym typeface="Times New Roman"/>
              </a:rPr>
              <a:t>-why not to look up the word in a lexicon? There are many problems associated with this strategy:</a:t>
            </a:r>
            <a:endParaRPr sz="1650">
              <a:solidFill>
                <a:schemeClr val="dk1"/>
              </a:solidFill>
              <a:latin typeface="Times New Roman"/>
              <a:ea typeface="Times New Roman"/>
              <a:cs typeface="Times New Roman"/>
              <a:sym typeface="Times New Roman"/>
            </a:endParaRPr>
          </a:p>
        </p:txBody>
      </p:sp>
      <p:sp>
        <p:nvSpPr>
          <p:cNvPr id="331" name="Google Shape;331;p33"/>
          <p:cNvSpPr txBox="1"/>
          <p:nvPr/>
        </p:nvSpPr>
        <p:spPr>
          <a:xfrm>
            <a:off x="2954143" y="3837421"/>
            <a:ext cx="1837055" cy="241300"/>
          </a:xfrm>
          <a:prstGeom prst="rect">
            <a:avLst/>
          </a:prstGeom>
          <a:solidFill>
            <a:srgbClr val="FFFF00"/>
          </a:solidFill>
          <a:ln>
            <a:noFill/>
          </a:ln>
        </p:spPr>
        <p:txBody>
          <a:bodyPr spcFirstLastPara="1" wrap="square" lIns="0" tIns="0" rIns="0" bIns="0" anchor="t" anchorCtr="0">
            <a:spAutoFit/>
          </a:bodyPr>
          <a:lstStyle/>
          <a:p>
            <a:pPr marL="0" marR="0" lvl="0" indent="0" algn="l" rtl="0">
              <a:lnSpc>
                <a:spcPct val="112121"/>
              </a:lnSpc>
              <a:spcBef>
                <a:spcPts val="0"/>
              </a:spcBef>
              <a:spcAft>
                <a:spcPts val="0"/>
              </a:spcAft>
              <a:buNone/>
            </a:pPr>
            <a:r>
              <a:rPr lang="en-US" sz="1650">
                <a:solidFill>
                  <a:schemeClr val="dk1"/>
                </a:solidFill>
                <a:latin typeface="Times New Roman"/>
                <a:ea typeface="Times New Roman"/>
                <a:cs typeface="Times New Roman"/>
                <a:sym typeface="Times New Roman"/>
              </a:rPr>
              <a:t>existence of a lexicon</a:t>
            </a:r>
            <a:endParaRPr sz="1650">
              <a:solidFill>
                <a:schemeClr val="dk1"/>
              </a:solidFill>
              <a:latin typeface="Times New Roman"/>
              <a:ea typeface="Times New Roman"/>
              <a:cs typeface="Times New Roman"/>
              <a:sym typeface="Times New Roman"/>
            </a:endParaRPr>
          </a:p>
        </p:txBody>
      </p:sp>
      <p:sp>
        <p:nvSpPr>
          <p:cNvPr id="332" name="Google Shape;332;p33"/>
          <p:cNvSpPr txBox="1"/>
          <p:nvPr/>
        </p:nvSpPr>
        <p:spPr>
          <a:xfrm>
            <a:off x="942964" y="3806113"/>
            <a:ext cx="9688195" cy="279400"/>
          </a:xfrm>
          <a:prstGeom prst="rect">
            <a:avLst/>
          </a:prstGeom>
          <a:noFill/>
          <a:ln>
            <a:noFill/>
          </a:ln>
        </p:spPr>
        <p:txBody>
          <a:bodyPr spcFirstLastPara="1" wrap="square" lIns="0" tIns="14600" rIns="0" bIns="0" anchor="t" anchorCtr="0">
            <a:spAutoFit/>
          </a:bodyPr>
          <a:lstStyle/>
          <a:p>
            <a:pPr marL="209550" marR="0" lvl="0" indent="-197485" algn="l" rtl="0">
              <a:lnSpc>
                <a:spcPct val="100000"/>
              </a:lnSpc>
              <a:spcBef>
                <a:spcPts val="0"/>
              </a:spcBef>
              <a:spcAft>
                <a:spcPts val="0"/>
              </a:spcAft>
              <a:buClr>
                <a:schemeClr val="dk1"/>
              </a:buClr>
              <a:buSzPts val="1650"/>
              <a:buFont typeface="Arial"/>
              <a:buChar char="•"/>
            </a:pPr>
            <a:r>
              <a:rPr lang="en-US" sz="1650">
                <a:solidFill>
                  <a:schemeClr val="dk1"/>
                </a:solidFill>
                <a:latin typeface="Times New Roman"/>
                <a:ea typeface="Times New Roman"/>
                <a:cs typeface="Times New Roman"/>
                <a:sym typeface="Times New Roman"/>
              </a:rPr>
              <a:t>Strategy requires the	containing all correct words , such lexicon would take a long time to</a:t>
            </a:r>
            <a:endParaRPr sz="1650">
              <a:solidFill>
                <a:schemeClr val="dk1"/>
              </a:solidFill>
              <a:latin typeface="Times New Roman"/>
              <a:ea typeface="Times New Roman"/>
              <a:cs typeface="Times New Roman"/>
              <a:sym typeface="Times New Roman"/>
            </a:endParaRPr>
          </a:p>
        </p:txBody>
      </p:sp>
      <p:sp>
        <p:nvSpPr>
          <p:cNvPr id="333" name="Google Shape;333;p33"/>
          <p:cNvSpPr txBox="1"/>
          <p:nvPr/>
        </p:nvSpPr>
        <p:spPr>
          <a:xfrm>
            <a:off x="1139825" y="4047413"/>
            <a:ext cx="2950210" cy="279400"/>
          </a:xfrm>
          <a:prstGeom prst="rect">
            <a:avLst/>
          </a:prstGeom>
          <a:noFill/>
          <a:ln>
            <a:noFill/>
          </a:ln>
        </p:spPr>
        <p:txBody>
          <a:bodyPr spcFirstLastPara="1" wrap="square" lIns="0" tIns="14600" rIns="0" bIns="0" anchor="t" anchorCtr="0">
            <a:spAutoFit/>
          </a:bodyPr>
          <a:lstStyle/>
          <a:p>
            <a:pPr marL="12700" marR="0" lvl="0" indent="0" algn="l" rtl="0">
              <a:lnSpc>
                <a:spcPct val="100000"/>
              </a:lnSpc>
              <a:spcBef>
                <a:spcPts val="0"/>
              </a:spcBef>
              <a:spcAft>
                <a:spcPts val="0"/>
              </a:spcAft>
              <a:buNone/>
            </a:pPr>
            <a:r>
              <a:rPr lang="en-US" sz="1650">
                <a:solidFill>
                  <a:schemeClr val="dk1"/>
                </a:solidFill>
                <a:latin typeface="Times New Roman"/>
                <a:ea typeface="Times New Roman"/>
                <a:cs typeface="Times New Roman"/>
                <a:sym typeface="Times New Roman"/>
              </a:rPr>
              <a:t>compile and occupy a lot of space.</a:t>
            </a:r>
            <a:endParaRPr sz="1650">
              <a:solidFill>
                <a:schemeClr val="dk1"/>
              </a:solidFill>
              <a:latin typeface="Times New Roman"/>
              <a:ea typeface="Times New Roman"/>
              <a:cs typeface="Times New Roman"/>
              <a:sym typeface="Times New Roman"/>
            </a:endParaRPr>
          </a:p>
        </p:txBody>
      </p:sp>
      <p:sp>
        <p:nvSpPr>
          <p:cNvPr id="334" name="Google Shape;334;p33"/>
          <p:cNvSpPr txBox="1"/>
          <p:nvPr/>
        </p:nvSpPr>
        <p:spPr>
          <a:xfrm>
            <a:off x="942964" y="4539538"/>
            <a:ext cx="3776345" cy="279400"/>
          </a:xfrm>
          <a:prstGeom prst="rect">
            <a:avLst/>
          </a:prstGeom>
          <a:noFill/>
          <a:ln>
            <a:noFill/>
          </a:ln>
        </p:spPr>
        <p:txBody>
          <a:bodyPr spcFirstLastPara="1" wrap="square" lIns="0" tIns="14600" rIns="0" bIns="0" anchor="t" anchorCtr="0">
            <a:spAutoFit/>
          </a:bodyPr>
          <a:lstStyle/>
          <a:p>
            <a:pPr marL="209550" marR="0" lvl="0" indent="-197485" algn="l" rtl="0">
              <a:lnSpc>
                <a:spcPct val="100000"/>
              </a:lnSpc>
              <a:spcBef>
                <a:spcPts val="0"/>
              </a:spcBef>
              <a:spcAft>
                <a:spcPts val="0"/>
              </a:spcAft>
              <a:buClr>
                <a:schemeClr val="dk1"/>
              </a:buClr>
              <a:buSzPts val="1650"/>
              <a:buFont typeface="Arial"/>
              <a:buChar char="•"/>
            </a:pPr>
            <a:r>
              <a:rPr lang="en-US" sz="1650">
                <a:solidFill>
                  <a:schemeClr val="dk1"/>
                </a:solidFill>
                <a:latin typeface="Times New Roman"/>
                <a:ea typeface="Times New Roman"/>
                <a:cs typeface="Times New Roman"/>
                <a:sym typeface="Times New Roman"/>
              </a:rPr>
              <a:t>Some languages are highly productive. Its</a:t>
            </a:r>
            <a:endParaRPr sz="1650">
              <a:solidFill>
                <a:schemeClr val="dk1"/>
              </a:solidFill>
              <a:latin typeface="Times New Roman"/>
              <a:ea typeface="Times New Roman"/>
              <a:cs typeface="Times New Roman"/>
              <a:sym typeface="Times New Roman"/>
            </a:endParaRPr>
          </a:p>
        </p:txBody>
      </p:sp>
      <p:sp>
        <p:nvSpPr>
          <p:cNvPr id="335" name="Google Shape;335;p33"/>
          <p:cNvSpPr txBox="1"/>
          <p:nvPr/>
        </p:nvSpPr>
        <p:spPr>
          <a:xfrm>
            <a:off x="4761953" y="4570846"/>
            <a:ext cx="1497330" cy="241300"/>
          </a:xfrm>
          <a:prstGeom prst="rect">
            <a:avLst/>
          </a:prstGeom>
          <a:solidFill>
            <a:srgbClr val="FFFF00"/>
          </a:solidFill>
          <a:ln>
            <a:noFill/>
          </a:ln>
        </p:spPr>
        <p:txBody>
          <a:bodyPr spcFirstLastPara="1" wrap="square" lIns="0" tIns="0" rIns="0" bIns="0" anchor="t" anchorCtr="0">
            <a:spAutoFit/>
          </a:bodyPr>
          <a:lstStyle/>
          <a:p>
            <a:pPr marL="0" marR="0" lvl="0" indent="0" algn="l" rtl="0">
              <a:lnSpc>
                <a:spcPct val="112121"/>
              </a:lnSpc>
              <a:spcBef>
                <a:spcPts val="0"/>
              </a:spcBef>
              <a:spcAft>
                <a:spcPts val="0"/>
              </a:spcAft>
              <a:buNone/>
            </a:pPr>
            <a:r>
              <a:rPr lang="en-US" sz="1650">
                <a:solidFill>
                  <a:schemeClr val="dk1"/>
                </a:solidFill>
                <a:latin typeface="Times New Roman"/>
                <a:ea typeface="Times New Roman"/>
                <a:cs typeface="Times New Roman"/>
                <a:sym typeface="Times New Roman"/>
              </a:rPr>
              <a:t>impossible to list</a:t>
            </a:r>
            <a:endParaRPr sz="1650">
              <a:solidFill>
                <a:schemeClr val="dk1"/>
              </a:solidFill>
              <a:latin typeface="Times New Roman"/>
              <a:ea typeface="Times New Roman"/>
              <a:cs typeface="Times New Roman"/>
              <a:sym typeface="Times New Roman"/>
            </a:endParaRPr>
          </a:p>
        </p:txBody>
      </p:sp>
      <p:sp>
        <p:nvSpPr>
          <p:cNvPr id="336" name="Google Shape;336;p33"/>
          <p:cNvSpPr txBox="1"/>
          <p:nvPr/>
        </p:nvSpPr>
        <p:spPr>
          <a:xfrm>
            <a:off x="6239090" y="4539538"/>
            <a:ext cx="3371215" cy="279400"/>
          </a:xfrm>
          <a:prstGeom prst="rect">
            <a:avLst/>
          </a:prstGeom>
          <a:noFill/>
          <a:ln>
            <a:noFill/>
          </a:ln>
        </p:spPr>
        <p:txBody>
          <a:bodyPr spcFirstLastPara="1" wrap="square" lIns="0" tIns="14600" rIns="0" bIns="0" anchor="t" anchorCtr="0">
            <a:spAutoFit/>
          </a:bodyPr>
          <a:lstStyle/>
          <a:p>
            <a:pPr marL="12700" marR="0" lvl="0" indent="0" algn="l" rtl="0">
              <a:lnSpc>
                <a:spcPct val="100000"/>
              </a:lnSpc>
              <a:spcBef>
                <a:spcPts val="0"/>
              </a:spcBef>
              <a:spcAft>
                <a:spcPts val="0"/>
              </a:spcAft>
              <a:buNone/>
            </a:pPr>
            <a:r>
              <a:rPr lang="en-US" sz="1650">
                <a:solidFill>
                  <a:schemeClr val="dk1"/>
                </a:solidFill>
                <a:latin typeface="Times New Roman"/>
                <a:ea typeface="Times New Roman"/>
                <a:cs typeface="Times New Roman"/>
                <a:sym typeface="Times New Roman"/>
              </a:rPr>
              <a:t>all the correct words of such languages.</a:t>
            </a:r>
            <a:endParaRPr sz="1650">
              <a:solidFill>
                <a:schemeClr val="dk1"/>
              </a:solidFill>
              <a:latin typeface="Times New Roman"/>
              <a:ea typeface="Times New Roman"/>
              <a:cs typeface="Times New Roman"/>
              <a:sym typeface="Times New Roman"/>
            </a:endParaRPr>
          </a:p>
        </p:txBody>
      </p:sp>
      <p:sp>
        <p:nvSpPr>
          <p:cNvPr id="337" name="Google Shape;337;p33"/>
          <p:cNvSpPr txBox="1"/>
          <p:nvPr/>
        </p:nvSpPr>
        <p:spPr>
          <a:xfrm>
            <a:off x="942964" y="5034838"/>
            <a:ext cx="2352040" cy="279400"/>
          </a:xfrm>
          <a:prstGeom prst="rect">
            <a:avLst/>
          </a:prstGeom>
          <a:noFill/>
          <a:ln>
            <a:noFill/>
          </a:ln>
        </p:spPr>
        <p:txBody>
          <a:bodyPr spcFirstLastPara="1" wrap="square" lIns="0" tIns="14600" rIns="0" bIns="0" anchor="t" anchorCtr="0">
            <a:spAutoFit/>
          </a:bodyPr>
          <a:lstStyle/>
          <a:p>
            <a:pPr marL="209550" marR="0" lvl="0" indent="-197485" algn="l" rtl="0">
              <a:lnSpc>
                <a:spcPct val="100000"/>
              </a:lnSpc>
              <a:spcBef>
                <a:spcPts val="0"/>
              </a:spcBef>
              <a:spcAft>
                <a:spcPts val="0"/>
              </a:spcAft>
              <a:buClr>
                <a:schemeClr val="dk1"/>
              </a:buClr>
              <a:buSzPts val="1650"/>
              <a:buFont typeface="Arial"/>
              <a:buChar char="•"/>
            </a:pPr>
            <a:r>
              <a:rPr lang="en-US" sz="1650">
                <a:solidFill>
                  <a:schemeClr val="dk1"/>
                </a:solidFill>
                <a:latin typeface="Times New Roman"/>
                <a:ea typeface="Times New Roman"/>
                <a:cs typeface="Times New Roman"/>
                <a:sym typeface="Times New Roman"/>
              </a:rPr>
              <a:t>This strategy fails , when</a:t>
            </a:r>
            <a:endParaRPr sz="1650">
              <a:solidFill>
                <a:schemeClr val="dk1"/>
              </a:solidFill>
              <a:latin typeface="Times New Roman"/>
              <a:ea typeface="Times New Roman"/>
              <a:cs typeface="Times New Roman"/>
              <a:sym typeface="Times New Roman"/>
            </a:endParaRPr>
          </a:p>
        </p:txBody>
      </p:sp>
      <p:sp>
        <p:nvSpPr>
          <p:cNvPr id="338" name="Google Shape;338;p33"/>
          <p:cNvSpPr txBox="1"/>
          <p:nvPr/>
        </p:nvSpPr>
        <p:spPr>
          <a:xfrm>
            <a:off x="3335848" y="5066146"/>
            <a:ext cx="2635250" cy="241300"/>
          </a:xfrm>
          <a:prstGeom prst="rect">
            <a:avLst/>
          </a:prstGeom>
          <a:solidFill>
            <a:srgbClr val="FFFF00"/>
          </a:solidFill>
          <a:ln>
            <a:noFill/>
          </a:ln>
        </p:spPr>
        <p:txBody>
          <a:bodyPr spcFirstLastPara="1" wrap="square" lIns="0" tIns="0" rIns="0" bIns="0" anchor="t" anchorCtr="0">
            <a:spAutoFit/>
          </a:bodyPr>
          <a:lstStyle/>
          <a:p>
            <a:pPr marL="0" marR="0" lvl="0" indent="0" algn="l" rtl="0">
              <a:lnSpc>
                <a:spcPct val="112121"/>
              </a:lnSpc>
              <a:spcBef>
                <a:spcPts val="0"/>
              </a:spcBef>
              <a:spcAft>
                <a:spcPts val="0"/>
              </a:spcAft>
              <a:buNone/>
            </a:pPr>
            <a:r>
              <a:rPr lang="en-US" sz="1650">
                <a:solidFill>
                  <a:schemeClr val="dk1"/>
                </a:solidFill>
                <a:latin typeface="Times New Roman"/>
                <a:ea typeface="Times New Roman"/>
                <a:cs typeface="Times New Roman"/>
                <a:sym typeface="Times New Roman"/>
              </a:rPr>
              <a:t>spelling error produces a word</a:t>
            </a:r>
            <a:endParaRPr sz="1650">
              <a:solidFill>
                <a:schemeClr val="dk1"/>
              </a:solidFill>
              <a:latin typeface="Times New Roman"/>
              <a:ea typeface="Times New Roman"/>
              <a:cs typeface="Times New Roman"/>
              <a:sym typeface="Times New Roman"/>
            </a:endParaRPr>
          </a:p>
        </p:txBody>
      </p:sp>
      <p:sp>
        <p:nvSpPr>
          <p:cNvPr id="339" name="Google Shape;339;p33"/>
          <p:cNvSpPr txBox="1"/>
          <p:nvPr/>
        </p:nvSpPr>
        <p:spPr>
          <a:xfrm>
            <a:off x="5955614" y="5034838"/>
            <a:ext cx="4936490" cy="279400"/>
          </a:xfrm>
          <a:prstGeom prst="rect">
            <a:avLst/>
          </a:prstGeom>
          <a:noFill/>
          <a:ln>
            <a:noFill/>
          </a:ln>
        </p:spPr>
        <p:txBody>
          <a:bodyPr spcFirstLastPara="1" wrap="square" lIns="0" tIns="14600" rIns="0" bIns="0" anchor="t" anchorCtr="0">
            <a:spAutoFit/>
          </a:bodyPr>
          <a:lstStyle/>
          <a:p>
            <a:pPr marL="12700" marR="0" lvl="0" indent="0" algn="l" rtl="0">
              <a:lnSpc>
                <a:spcPct val="100000"/>
              </a:lnSpc>
              <a:spcBef>
                <a:spcPts val="0"/>
              </a:spcBef>
              <a:spcAft>
                <a:spcPts val="0"/>
              </a:spcAft>
              <a:buNone/>
            </a:pPr>
            <a:r>
              <a:rPr lang="en-US" sz="1650">
                <a:solidFill>
                  <a:schemeClr val="dk1"/>
                </a:solidFill>
                <a:latin typeface="Times New Roman"/>
                <a:ea typeface="Times New Roman"/>
                <a:cs typeface="Times New Roman"/>
                <a:sym typeface="Times New Roman"/>
              </a:rPr>
              <a:t>that belongs to the lexicon. E.g. when 'theses' in written in</a:t>
            </a:r>
            <a:endParaRPr sz="1650">
              <a:solidFill>
                <a:schemeClr val="dk1"/>
              </a:solidFill>
              <a:latin typeface="Times New Roman"/>
              <a:ea typeface="Times New Roman"/>
              <a:cs typeface="Times New Roman"/>
              <a:sym typeface="Times New Roman"/>
            </a:endParaRPr>
          </a:p>
        </p:txBody>
      </p:sp>
      <p:sp>
        <p:nvSpPr>
          <p:cNvPr id="340" name="Google Shape;340;p33"/>
          <p:cNvSpPr/>
          <p:nvPr/>
        </p:nvSpPr>
        <p:spPr>
          <a:xfrm>
            <a:off x="8009285" y="5799571"/>
            <a:ext cx="2711450" cy="241300"/>
          </a:xfrm>
          <a:custGeom>
            <a:avLst/>
            <a:gdLst/>
            <a:ahLst/>
            <a:cxnLst/>
            <a:rect l="l" t="t" r="r" b="b"/>
            <a:pathLst>
              <a:path w="2711450" h="241300" extrusionOk="0">
                <a:moveTo>
                  <a:pt x="2711250" y="241058"/>
                </a:moveTo>
                <a:lnTo>
                  <a:pt x="0" y="241058"/>
                </a:lnTo>
                <a:lnTo>
                  <a:pt x="0" y="0"/>
                </a:lnTo>
                <a:lnTo>
                  <a:pt x="2711250" y="0"/>
                </a:lnTo>
                <a:lnTo>
                  <a:pt x="2711250" y="241058"/>
                </a:lnTo>
                <a:close/>
              </a:path>
            </a:pathLst>
          </a:custGeom>
          <a:solidFill>
            <a:srgbClr val="FFFF00"/>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41" name="Google Shape;341;p33"/>
          <p:cNvSpPr txBox="1"/>
          <p:nvPr/>
        </p:nvSpPr>
        <p:spPr>
          <a:xfrm>
            <a:off x="942964" y="5276138"/>
            <a:ext cx="9775825" cy="771525"/>
          </a:xfrm>
          <a:prstGeom prst="rect">
            <a:avLst/>
          </a:prstGeom>
          <a:noFill/>
          <a:ln>
            <a:noFill/>
          </a:ln>
        </p:spPr>
        <p:txBody>
          <a:bodyPr spcFirstLastPara="1" wrap="square" lIns="0" tIns="14600" rIns="0" bIns="0" anchor="t" anchorCtr="0">
            <a:spAutoFit/>
          </a:bodyPr>
          <a:lstStyle/>
          <a:p>
            <a:pPr marL="209550" marR="0" lvl="0" indent="0" algn="l" rtl="0">
              <a:lnSpc>
                <a:spcPct val="100000"/>
              </a:lnSpc>
              <a:spcBef>
                <a:spcPts val="0"/>
              </a:spcBef>
              <a:spcAft>
                <a:spcPts val="0"/>
              </a:spcAft>
              <a:buNone/>
            </a:pPr>
            <a:r>
              <a:rPr lang="en-US" sz="1650">
                <a:solidFill>
                  <a:schemeClr val="dk1"/>
                </a:solidFill>
                <a:latin typeface="Times New Roman"/>
                <a:ea typeface="Times New Roman"/>
                <a:cs typeface="Times New Roman"/>
                <a:sym typeface="Times New Roman"/>
              </a:rPr>
              <a:t>place of 'these’. Such error is called real-word error.	Teh the</a:t>
            </a:r>
            <a:endParaRPr sz="1650">
              <a:solidFill>
                <a:schemeClr val="dk1"/>
              </a:solidFill>
              <a:latin typeface="Times New Roman"/>
              <a:ea typeface="Times New Roman"/>
              <a:cs typeface="Times New Roman"/>
              <a:sym typeface="Times New Roman"/>
            </a:endParaRPr>
          </a:p>
          <a:p>
            <a:pPr marL="0" marR="0" lvl="0" indent="0" algn="l" rtl="0">
              <a:lnSpc>
                <a:spcPct val="100000"/>
              </a:lnSpc>
              <a:spcBef>
                <a:spcPts val="55"/>
              </a:spcBef>
              <a:spcAft>
                <a:spcPts val="0"/>
              </a:spcAft>
              <a:buNone/>
            </a:pPr>
            <a:endParaRPr sz="1600">
              <a:solidFill>
                <a:schemeClr val="dk1"/>
              </a:solidFill>
              <a:latin typeface="Times New Roman"/>
              <a:ea typeface="Times New Roman"/>
              <a:cs typeface="Times New Roman"/>
              <a:sym typeface="Times New Roman"/>
            </a:endParaRPr>
          </a:p>
          <a:p>
            <a:pPr marL="209550" marR="0" lvl="0" indent="-197485" algn="l" rtl="0">
              <a:lnSpc>
                <a:spcPct val="100000"/>
              </a:lnSpc>
              <a:spcBef>
                <a:spcPts val="0"/>
              </a:spcBef>
              <a:spcAft>
                <a:spcPts val="0"/>
              </a:spcAft>
              <a:buClr>
                <a:schemeClr val="dk1"/>
              </a:buClr>
              <a:buSzPts val="1650"/>
              <a:buFont typeface="Arial"/>
              <a:buChar char="•"/>
            </a:pPr>
            <a:r>
              <a:rPr lang="en-US" sz="1650">
                <a:solidFill>
                  <a:schemeClr val="dk1"/>
                </a:solidFill>
                <a:latin typeface="Times New Roman"/>
                <a:ea typeface="Times New Roman"/>
                <a:cs typeface="Times New Roman"/>
                <a:sym typeface="Times New Roman"/>
              </a:rPr>
              <a:t>Larger the lexicon, the more likely it's that an error goes undetected, because the chance of a word being found is</a:t>
            </a:r>
            <a:endParaRPr sz="1650">
              <a:solidFill>
                <a:schemeClr val="dk1"/>
              </a:solidFill>
              <a:latin typeface="Times New Roman"/>
              <a:ea typeface="Times New Roman"/>
              <a:cs typeface="Times New Roman"/>
              <a:sym typeface="Times New Roman"/>
            </a:endParaRPr>
          </a:p>
        </p:txBody>
      </p:sp>
      <p:sp>
        <p:nvSpPr>
          <p:cNvPr id="342" name="Google Shape;342;p33"/>
          <p:cNvSpPr txBox="1"/>
          <p:nvPr/>
        </p:nvSpPr>
        <p:spPr>
          <a:xfrm>
            <a:off x="1152525" y="6040871"/>
            <a:ext cx="2153920" cy="241300"/>
          </a:xfrm>
          <a:prstGeom prst="rect">
            <a:avLst/>
          </a:prstGeom>
          <a:solidFill>
            <a:srgbClr val="FFFF00"/>
          </a:solidFill>
          <a:ln>
            <a:noFill/>
          </a:ln>
        </p:spPr>
        <p:txBody>
          <a:bodyPr spcFirstLastPara="1" wrap="square" lIns="0" tIns="0" rIns="0" bIns="0" anchor="t" anchorCtr="0">
            <a:spAutoFit/>
          </a:bodyPr>
          <a:lstStyle/>
          <a:p>
            <a:pPr marL="0" marR="0" lvl="0" indent="0" algn="l" rtl="0">
              <a:lnSpc>
                <a:spcPct val="112121"/>
              </a:lnSpc>
              <a:spcBef>
                <a:spcPts val="0"/>
              </a:spcBef>
              <a:spcAft>
                <a:spcPts val="0"/>
              </a:spcAft>
              <a:buNone/>
            </a:pPr>
            <a:r>
              <a:rPr lang="en-US" sz="1650">
                <a:solidFill>
                  <a:schemeClr val="dk1"/>
                </a:solidFill>
                <a:latin typeface="Times New Roman"/>
                <a:ea typeface="Times New Roman"/>
                <a:cs typeface="Times New Roman"/>
                <a:sym typeface="Times New Roman"/>
              </a:rPr>
              <a:t>greater in a large lexicon.</a:t>
            </a:r>
            <a:endParaRPr sz="1650">
              <a:solidFill>
                <a:schemeClr val="dk1"/>
              </a:solidFill>
              <a:latin typeface="Times New Roman"/>
              <a:ea typeface="Times New Roman"/>
              <a:cs typeface="Times New Roman"/>
              <a:sym typeface="Times New Roman"/>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Shape 346"/>
        <p:cNvGrpSpPr/>
        <p:nvPr/>
      </p:nvGrpSpPr>
      <p:grpSpPr>
        <a:xfrm>
          <a:off x="0" y="0"/>
          <a:ext cx="0" cy="0"/>
          <a:chOff x="0" y="0"/>
          <a:chExt cx="0" cy="0"/>
        </a:xfrm>
      </p:grpSpPr>
      <p:sp>
        <p:nvSpPr>
          <p:cNvPr id="347" name="Google Shape;347;p34"/>
          <p:cNvSpPr txBox="1">
            <a:spLocks noGrp="1"/>
          </p:cNvSpPr>
          <p:nvPr>
            <p:ph type="title"/>
          </p:nvPr>
        </p:nvSpPr>
        <p:spPr>
          <a:xfrm>
            <a:off x="911225" y="514781"/>
            <a:ext cx="8976995" cy="49784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3100" b="1" u="sng">
                <a:latin typeface="Times New Roman"/>
                <a:ea typeface="Times New Roman"/>
                <a:cs typeface="Times New Roman"/>
                <a:sym typeface="Times New Roman"/>
              </a:rPr>
              <a:t>SPELLING ERROR CORRECTION ALGORITHM</a:t>
            </a:r>
            <a:endParaRPr sz="3100">
              <a:latin typeface="Times New Roman"/>
              <a:ea typeface="Times New Roman"/>
              <a:cs typeface="Times New Roman"/>
              <a:sym typeface="Times New Roman"/>
            </a:endParaRPr>
          </a:p>
        </p:txBody>
      </p:sp>
      <p:sp>
        <p:nvSpPr>
          <p:cNvPr id="348" name="Google Shape;348;p34"/>
          <p:cNvSpPr txBox="1"/>
          <p:nvPr/>
        </p:nvSpPr>
        <p:spPr>
          <a:xfrm>
            <a:off x="945492" y="1472128"/>
            <a:ext cx="5165725" cy="299720"/>
          </a:xfrm>
          <a:prstGeom prst="rect">
            <a:avLst/>
          </a:prstGeom>
          <a:noFill/>
          <a:ln>
            <a:noFill/>
          </a:ln>
        </p:spPr>
        <p:txBody>
          <a:bodyPr spcFirstLastPara="1" wrap="square" lIns="0" tIns="12700" rIns="0" bIns="0" anchor="t" anchorCtr="0">
            <a:spAutoFit/>
          </a:bodyPr>
          <a:lstStyle/>
          <a:p>
            <a:pPr marL="207009" marR="0" lvl="0" indent="-194945" algn="l" rtl="0">
              <a:lnSpc>
                <a:spcPct val="100000"/>
              </a:lnSpc>
              <a:spcBef>
                <a:spcPts val="0"/>
              </a:spcBef>
              <a:spcAft>
                <a:spcPts val="0"/>
              </a:spcAft>
              <a:buClr>
                <a:schemeClr val="dk1"/>
              </a:buClr>
              <a:buSzPts val="1800"/>
              <a:buFont typeface="Arial"/>
              <a:buChar char="•"/>
            </a:pPr>
            <a:r>
              <a:rPr lang="en-US" sz="1800" b="1" u="sng">
                <a:solidFill>
                  <a:schemeClr val="dk1"/>
                </a:solidFill>
                <a:latin typeface="Times New Roman"/>
                <a:ea typeface="Times New Roman"/>
                <a:cs typeface="Times New Roman"/>
                <a:sym typeface="Times New Roman"/>
              </a:rPr>
              <a:t>Context-dependent error detection and correction:</a:t>
            </a:r>
            <a:endParaRPr sz="1800">
              <a:solidFill>
                <a:schemeClr val="dk1"/>
              </a:solidFill>
              <a:latin typeface="Times New Roman"/>
              <a:ea typeface="Times New Roman"/>
              <a:cs typeface="Times New Roman"/>
              <a:sym typeface="Times New Roman"/>
            </a:endParaRPr>
          </a:p>
        </p:txBody>
      </p:sp>
      <p:sp>
        <p:nvSpPr>
          <p:cNvPr id="349" name="Google Shape;349;p34"/>
          <p:cNvSpPr/>
          <p:nvPr/>
        </p:nvSpPr>
        <p:spPr>
          <a:xfrm>
            <a:off x="7283983" y="1890567"/>
            <a:ext cx="1993264" cy="247015"/>
          </a:xfrm>
          <a:custGeom>
            <a:avLst/>
            <a:gdLst/>
            <a:ahLst/>
            <a:cxnLst/>
            <a:rect l="l" t="t" r="r" b="b"/>
            <a:pathLst>
              <a:path w="1993265" h="247014" extrusionOk="0">
                <a:moveTo>
                  <a:pt x="1993218" y="246887"/>
                </a:moveTo>
                <a:lnTo>
                  <a:pt x="0" y="246887"/>
                </a:lnTo>
                <a:lnTo>
                  <a:pt x="0" y="0"/>
                </a:lnTo>
                <a:lnTo>
                  <a:pt x="1993218" y="0"/>
                </a:lnTo>
                <a:lnTo>
                  <a:pt x="1993218" y="246887"/>
                </a:lnTo>
                <a:close/>
              </a:path>
            </a:pathLst>
          </a:custGeom>
          <a:solidFill>
            <a:srgbClr val="FFFF00"/>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50" name="Google Shape;350;p34"/>
          <p:cNvSpPr txBox="1"/>
          <p:nvPr/>
        </p:nvSpPr>
        <p:spPr>
          <a:xfrm>
            <a:off x="1552351" y="1890567"/>
            <a:ext cx="1999614" cy="247015"/>
          </a:xfrm>
          <a:prstGeom prst="rect">
            <a:avLst/>
          </a:prstGeom>
          <a:solidFill>
            <a:srgbClr val="FFFF00"/>
          </a:solidFill>
          <a:ln>
            <a:noFill/>
          </a:ln>
        </p:spPr>
        <p:txBody>
          <a:bodyPr spcFirstLastPara="1" wrap="square" lIns="0" tIns="0" rIns="0" bIns="0" anchor="t" anchorCtr="0">
            <a:spAutoFit/>
          </a:bodyPr>
          <a:lstStyle/>
          <a:p>
            <a:pPr marL="0" marR="0" lvl="0" indent="0" algn="l" rtl="0">
              <a:lnSpc>
                <a:spcPct val="106333"/>
              </a:lnSpc>
              <a:spcBef>
                <a:spcPts val="0"/>
              </a:spcBef>
              <a:spcAft>
                <a:spcPts val="0"/>
              </a:spcAft>
              <a:buNone/>
            </a:pPr>
            <a:r>
              <a:rPr lang="en-US" sz="1800">
                <a:solidFill>
                  <a:schemeClr val="dk1"/>
                </a:solidFill>
                <a:latin typeface="Times New Roman"/>
                <a:ea typeface="Times New Roman"/>
                <a:cs typeface="Times New Roman"/>
                <a:sym typeface="Times New Roman"/>
              </a:rPr>
              <a:t>the context of a word</a:t>
            </a:r>
            <a:endParaRPr sz="1800">
              <a:solidFill>
                <a:schemeClr val="dk1"/>
              </a:solidFill>
              <a:latin typeface="Times New Roman"/>
              <a:ea typeface="Times New Roman"/>
              <a:cs typeface="Times New Roman"/>
              <a:sym typeface="Times New Roman"/>
            </a:endParaRPr>
          </a:p>
        </p:txBody>
      </p:sp>
      <p:sp>
        <p:nvSpPr>
          <p:cNvPr id="351" name="Google Shape;351;p34"/>
          <p:cNvSpPr txBox="1"/>
          <p:nvPr/>
        </p:nvSpPr>
        <p:spPr>
          <a:xfrm>
            <a:off x="911224" y="1869162"/>
            <a:ext cx="10164125" cy="289823"/>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800" dirty="0">
                <a:solidFill>
                  <a:schemeClr val="dk1"/>
                </a:solidFill>
                <a:latin typeface="Times New Roman"/>
                <a:ea typeface="Times New Roman"/>
                <a:cs typeface="Times New Roman"/>
                <a:sym typeface="Times New Roman"/>
              </a:rPr>
              <a:t>utilize	</a:t>
            </a:r>
            <a:r>
              <a:rPr lang="en-US" sz="1800" dirty="0" smtClean="0">
                <a:solidFill>
                  <a:schemeClr val="dk1"/>
                </a:solidFill>
                <a:latin typeface="Times New Roman"/>
                <a:ea typeface="Times New Roman"/>
                <a:cs typeface="Times New Roman"/>
                <a:sym typeface="Times New Roman"/>
              </a:rPr>
              <a:t>                               to </a:t>
            </a:r>
            <a:r>
              <a:rPr lang="en-US" sz="1800" dirty="0">
                <a:solidFill>
                  <a:schemeClr val="dk1"/>
                </a:solidFill>
                <a:latin typeface="Times New Roman"/>
                <a:ea typeface="Times New Roman"/>
                <a:cs typeface="Times New Roman"/>
                <a:sym typeface="Times New Roman"/>
              </a:rPr>
              <a:t>detect and correct error. This requires grammatical analysis and is thus more</a:t>
            </a:r>
            <a:endParaRPr sz="1800" dirty="0">
              <a:solidFill>
                <a:schemeClr val="dk1"/>
              </a:solidFill>
              <a:latin typeface="Times New Roman"/>
              <a:ea typeface="Times New Roman"/>
              <a:cs typeface="Times New Roman"/>
              <a:sym typeface="Times New Roman"/>
            </a:endParaRPr>
          </a:p>
        </p:txBody>
      </p:sp>
      <p:sp>
        <p:nvSpPr>
          <p:cNvPr id="352" name="Google Shape;352;p34"/>
          <p:cNvSpPr txBox="1"/>
          <p:nvPr/>
        </p:nvSpPr>
        <p:spPr>
          <a:xfrm>
            <a:off x="911225" y="2091253"/>
            <a:ext cx="3129280" cy="2997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800" dirty="0">
                <a:solidFill>
                  <a:schemeClr val="dk1"/>
                </a:solidFill>
                <a:latin typeface="Times New Roman"/>
                <a:ea typeface="Times New Roman"/>
                <a:cs typeface="Times New Roman"/>
                <a:sym typeface="Times New Roman"/>
              </a:rPr>
              <a:t>complex and language dependent.</a:t>
            </a:r>
            <a:endParaRPr sz="1800" dirty="0">
              <a:solidFill>
                <a:schemeClr val="dk1"/>
              </a:solidFill>
              <a:latin typeface="Times New Roman"/>
              <a:ea typeface="Times New Roman"/>
              <a:cs typeface="Times New Roman"/>
              <a:sym typeface="Times New Roman"/>
            </a:endParaRPr>
          </a:p>
        </p:txBody>
      </p:sp>
      <p:sp>
        <p:nvSpPr>
          <p:cNvPr id="353" name="Google Shape;353;p34"/>
          <p:cNvSpPr txBox="1"/>
          <p:nvPr/>
        </p:nvSpPr>
        <p:spPr>
          <a:xfrm>
            <a:off x="911225" y="3089752"/>
            <a:ext cx="9467700" cy="1084500"/>
          </a:xfrm>
          <a:prstGeom prst="rect">
            <a:avLst/>
          </a:prstGeom>
          <a:noFill/>
          <a:ln>
            <a:noFill/>
          </a:ln>
        </p:spPr>
        <p:txBody>
          <a:bodyPr spcFirstLastPara="1" wrap="square" lIns="0" tIns="131425" rIns="0" bIns="0" anchor="t" anchorCtr="0">
            <a:spAutoFit/>
          </a:bodyPr>
          <a:lstStyle/>
          <a:p>
            <a:pPr marL="12700" marR="0" lvl="0" indent="0" algn="l" rtl="0">
              <a:lnSpc>
                <a:spcPct val="100000"/>
              </a:lnSpc>
              <a:spcBef>
                <a:spcPts val="0"/>
              </a:spcBef>
              <a:spcAft>
                <a:spcPts val="0"/>
              </a:spcAft>
              <a:buNone/>
            </a:pPr>
            <a:r>
              <a:rPr lang="en-US" sz="1800" b="1" u="sng" dirty="0">
                <a:solidFill>
                  <a:schemeClr val="dk1"/>
                </a:solidFill>
                <a:latin typeface="Times New Roman"/>
                <a:ea typeface="Times New Roman"/>
                <a:cs typeface="Times New Roman"/>
                <a:sym typeface="Times New Roman"/>
              </a:rPr>
              <a:t>SPELLING ERROR CORRECTION ALGORITHM</a:t>
            </a:r>
            <a:endParaRPr sz="1800" dirty="0">
              <a:solidFill>
                <a:schemeClr val="dk1"/>
              </a:solidFill>
              <a:latin typeface="Times New Roman"/>
              <a:ea typeface="Times New Roman"/>
              <a:cs typeface="Times New Roman"/>
              <a:sym typeface="Times New Roman"/>
            </a:endParaRPr>
          </a:p>
          <a:p>
            <a:pPr marL="457200" marR="5080" lvl="0" indent="-342900" algn="l" rtl="0">
              <a:lnSpc>
                <a:spcPct val="113399"/>
              </a:lnSpc>
              <a:spcBef>
                <a:spcPts val="650"/>
              </a:spcBef>
              <a:spcAft>
                <a:spcPts val="0"/>
              </a:spcAft>
              <a:buClr>
                <a:schemeClr val="dk1"/>
              </a:buClr>
              <a:buSzPts val="1800"/>
              <a:buFont typeface="Times New Roman"/>
              <a:buAutoNum type="arabicPeriod"/>
            </a:pPr>
            <a:r>
              <a:rPr lang="en-US" sz="1800" b="1" dirty="0">
                <a:solidFill>
                  <a:schemeClr val="dk1"/>
                </a:solidFill>
                <a:latin typeface="Times New Roman"/>
                <a:ea typeface="Times New Roman"/>
                <a:cs typeface="Times New Roman"/>
                <a:sym typeface="Times New Roman"/>
              </a:rPr>
              <a:t>Minimum edit distance: </a:t>
            </a:r>
            <a:r>
              <a:rPr lang="en-US" sz="1800" dirty="0">
                <a:solidFill>
                  <a:schemeClr val="dk1"/>
                </a:solidFill>
                <a:latin typeface="Times New Roman"/>
                <a:ea typeface="Times New Roman"/>
                <a:cs typeface="Times New Roman"/>
                <a:sym typeface="Times New Roman"/>
              </a:rPr>
              <a:t>The minimum edit distance between two strings is the minimum number of  operations required to transform one string into another. Cat-□ bat</a:t>
            </a:r>
            <a:endParaRPr sz="1800" dirty="0">
              <a:solidFill>
                <a:schemeClr val="dk1"/>
              </a:solidFill>
              <a:latin typeface="Times New Roman"/>
              <a:ea typeface="Times New Roman"/>
              <a:cs typeface="Times New Roman"/>
              <a:sym typeface="Times New Roman"/>
            </a:endParaRPr>
          </a:p>
        </p:txBody>
      </p:sp>
      <p:sp>
        <p:nvSpPr>
          <p:cNvPr id="354" name="Google Shape;354;p34"/>
          <p:cNvSpPr txBox="1"/>
          <p:nvPr/>
        </p:nvSpPr>
        <p:spPr>
          <a:xfrm>
            <a:off x="6326720" y="4503592"/>
            <a:ext cx="1536700" cy="274320"/>
          </a:xfrm>
          <a:prstGeom prst="rect">
            <a:avLst/>
          </a:prstGeom>
          <a:solidFill>
            <a:srgbClr val="FFFF00"/>
          </a:solidFill>
          <a:ln>
            <a:noFill/>
          </a:ln>
        </p:spPr>
        <p:txBody>
          <a:bodyPr spcFirstLastPara="1" wrap="square" lIns="0" tIns="0" rIns="0" bIns="0" anchor="t" anchorCtr="0">
            <a:spAutoFit/>
          </a:bodyPr>
          <a:lstStyle/>
          <a:p>
            <a:pPr marL="0" marR="0" lvl="0" indent="0" algn="l" rtl="0">
              <a:lnSpc>
                <a:spcPct val="116111"/>
              </a:lnSpc>
              <a:spcBef>
                <a:spcPts val="0"/>
              </a:spcBef>
              <a:spcAft>
                <a:spcPts val="0"/>
              </a:spcAft>
              <a:buNone/>
            </a:pPr>
            <a:r>
              <a:rPr lang="en-US" sz="1800">
                <a:solidFill>
                  <a:schemeClr val="dk1"/>
                </a:solidFill>
                <a:latin typeface="Times New Roman"/>
                <a:ea typeface="Times New Roman"/>
                <a:cs typeface="Times New Roman"/>
                <a:sym typeface="Times New Roman"/>
              </a:rPr>
              <a:t>string into a key</a:t>
            </a:r>
            <a:endParaRPr sz="1800">
              <a:solidFill>
                <a:schemeClr val="dk1"/>
              </a:solidFill>
              <a:latin typeface="Times New Roman"/>
              <a:ea typeface="Times New Roman"/>
              <a:cs typeface="Times New Roman"/>
              <a:sym typeface="Times New Roman"/>
            </a:endParaRPr>
          </a:p>
        </p:txBody>
      </p:sp>
      <p:sp>
        <p:nvSpPr>
          <p:cNvPr id="355" name="Google Shape;355;p34"/>
          <p:cNvSpPr txBox="1"/>
          <p:nvPr/>
        </p:nvSpPr>
        <p:spPr>
          <a:xfrm>
            <a:off x="911225" y="4481748"/>
            <a:ext cx="10245000" cy="28980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800" b="1">
                <a:solidFill>
                  <a:schemeClr val="dk1"/>
                </a:solidFill>
                <a:latin typeface="Times New Roman"/>
                <a:ea typeface="Times New Roman"/>
                <a:cs typeface="Times New Roman"/>
                <a:sym typeface="Times New Roman"/>
              </a:rPr>
              <a:t>2. Similarity key technique</a:t>
            </a:r>
            <a:r>
              <a:rPr lang="en-US" sz="1800">
                <a:solidFill>
                  <a:schemeClr val="dk1"/>
                </a:solidFill>
                <a:latin typeface="Times New Roman"/>
                <a:ea typeface="Times New Roman"/>
                <a:cs typeface="Times New Roman"/>
                <a:sym typeface="Times New Roman"/>
              </a:rPr>
              <a:t>: The idea is to change a given	such that similar strings will change</a:t>
            </a:r>
            <a:endParaRPr sz="1800">
              <a:solidFill>
                <a:schemeClr val="dk1"/>
              </a:solidFill>
              <a:latin typeface="Times New Roman"/>
              <a:ea typeface="Times New Roman"/>
              <a:cs typeface="Times New Roman"/>
              <a:sym typeface="Times New Roman"/>
            </a:endParaRPr>
          </a:p>
        </p:txBody>
      </p:sp>
      <p:sp>
        <p:nvSpPr>
          <p:cNvPr id="356" name="Google Shape;356;p34"/>
          <p:cNvSpPr txBox="1"/>
          <p:nvPr/>
        </p:nvSpPr>
        <p:spPr>
          <a:xfrm>
            <a:off x="911225" y="4759243"/>
            <a:ext cx="9578975" cy="654050"/>
          </a:xfrm>
          <a:prstGeom prst="rect">
            <a:avLst/>
          </a:prstGeom>
          <a:noFill/>
          <a:ln>
            <a:noFill/>
          </a:ln>
        </p:spPr>
        <p:txBody>
          <a:bodyPr spcFirstLastPara="1" wrap="square" lIns="0" tIns="12700" rIns="0" bIns="0" anchor="t" anchorCtr="0">
            <a:spAutoFit/>
          </a:bodyPr>
          <a:lstStyle/>
          <a:p>
            <a:pPr marL="12700" marR="5080" lvl="0" indent="0" algn="l" rtl="0">
              <a:lnSpc>
                <a:spcPct val="114599"/>
              </a:lnSpc>
              <a:spcBef>
                <a:spcPts val="0"/>
              </a:spcBef>
              <a:spcAft>
                <a:spcPts val="0"/>
              </a:spcAft>
              <a:buNone/>
            </a:pPr>
            <a:r>
              <a:rPr lang="en-US" sz="1800">
                <a:solidFill>
                  <a:schemeClr val="dk1"/>
                </a:solidFill>
                <a:latin typeface="Times New Roman"/>
                <a:ea typeface="Times New Roman"/>
                <a:cs typeface="Times New Roman"/>
                <a:sym typeface="Times New Roman"/>
              </a:rPr>
              <a:t>into same key. The SOUNDEX system(Odell and Russell 1918) is an example which is used in phonetic  spelling correction application.</a:t>
            </a:r>
            <a:endParaRPr sz="1800">
              <a:solidFill>
                <a:schemeClr val="dk1"/>
              </a:solidFill>
              <a:latin typeface="Times New Roman"/>
              <a:ea typeface="Times New Roman"/>
              <a:cs typeface="Times New Roman"/>
              <a:sym typeface="Times New Roman"/>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Shape 360"/>
        <p:cNvGrpSpPr/>
        <p:nvPr/>
      </p:nvGrpSpPr>
      <p:grpSpPr>
        <a:xfrm>
          <a:off x="0" y="0"/>
          <a:ext cx="0" cy="0"/>
          <a:chOff x="0" y="0"/>
          <a:chExt cx="0" cy="0"/>
        </a:xfrm>
      </p:grpSpPr>
      <p:sp>
        <p:nvSpPr>
          <p:cNvPr id="361" name="Google Shape;361;p35"/>
          <p:cNvSpPr txBox="1">
            <a:spLocks noGrp="1"/>
          </p:cNvSpPr>
          <p:nvPr>
            <p:ph type="title"/>
          </p:nvPr>
        </p:nvSpPr>
        <p:spPr>
          <a:xfrm>
            <a:off x="800389" y="550861"/>
            <a:ext cx="8976995" cy="49784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3100" b="1" u="sng">
                <a:latin typeface="Times New Roman"/>
                <a:ea typeface="Times New Roman"/>
                <a:cs typeface="Times New Roman"/>
                <a:sym typeface="Times New Roman"/>
              </a:rPr>
              <a:t>SPELLING ERROR CORRECTION ALGORITHM</a:t>
            </a:r>
            <a:endParaRPr sz="3100">
              <a:latin typeface="Times New Roman"/>
              <a:ea typeface="Times New Roman"/>
              <a:cs typeface="Times New Roman"/>
              <a:sym typeface="Times New Roman"/>
            </a:endParaRPr>
          </a:p>
        </p:txBody>
      </p:sp>
      <p:sp>
        <p:nvSpPr>
          <p:cNvPr id="362" name="Google Shape;362;p35"/>
          <p:cNvSpPr txBox="1"/>
          <p:nvPr/>
        </p:nvSpPr>
        <p:spPr>
          <a:xfrm>
            <a:off x="456125" y="1829125"/>
            <a:ext cx="10774500" cy="3664800"/>
          </a:xfrm>
          <a:prstGeom prst="rect">
            <a:avLst/>
          </a:prstGeom>
          <a:noFill/>
          <a:ln>
            <a:noFill/>
          </a:ln>
        </p:spPr>
        <p:txBody>
          <a:bodyPr spcFirstLastPara="1" wrap="square" lIns="0" tIns="33000" rIns="0" bIns="0" anchor="t" anchorCtr="0">
            <a:spAutoFit/>
          </a:bodyPr>
          <a:lstStyle/>
          <a:p>
            <a:pPr marL="0" marR="89535" lvl="0" indent="457200" algn="l" rtl="0">
              <a:lnSpc>
                <a:spcPct val="115384"/>
              </a:lnSpc>
              <a:spcBef>
                <a:spcPts val="0"/>
              </a:spcBef>
              <a:spcAft>
                <a:spcPts val="0"/>
              </a:spcAft>
              <a:buNone/>
            </a:pPr>
            <a:r>
              <a:rPr lang="en-US" sz="1950" b="1">
                <a:solidFill>
                  <a:schemeClr val="dk1"/>
                </a:solidFill>
                <a:latin typeface="Times New Roman"/>
                <a:ea typeface="Times New Roman"/>
                <a:cs typeface="Times New Roman"/>
                <a:sym typeface="Times New Roman"/>
              </a:rPr>
              <a:t>n-gram based techniques</a:t>
            </a:r>
            <a:r>
              <a:rPr lang="en-US" sz="1950">
                <a:solidFill>
                  <a:schemeClr val="dk1"/>
                </a:solidFill>
                <a:latin typeface="Times New Roman"/>
                <a:ea typeface="Times New Roman"/>
                <a:cs typeface="Times New Roman"/>
                <a:sym typeface="Times New Roman"/>
              </a:rPr>
              <a:t>: used for both non-word and real-word error detection because in English  alphabet, certain ,bi-grams and tri-grams of letters never occur. E.g. tri-gram qst and the bi-gram qd.</a:t>
            </a:r>
            <a:endParaRPr sz="1950">
              <a:solidFill>
                <a:schemeClr val="dk1"/>
              </a:solidFill>
              <a:latin typeface="Times New Roman"/>
              <a:ea typeface="Times New Roman"/>
              <a:cs typeface="Times New Roman"/>
              <a:sym typeface="Times New Roman"/>
            </a:endParaRPr>
          </a:p>
          <a:p>
            <a:pPr marL="12700" marR="328930" lvl="0" indent="0" algn="l" rtl="0">
              <a:lnSpc>
                <a:spcPct val="115384"/>
              </a:lnSpc>
              <a:spcBef>
                <a:spcPts val="0"/>
              </a:spcBef>
              <a:spcAft>
                <a:spcPts val="0"/>
              </a:spcAft>
              <a:buNone/>
            </a:pPr>
            <a:r>
              <a:rPr lang="en-US" sz="1950">
                <a:solidFill>
                  <a:schemeClr val="dk1"/>
                </a:solidFill>
                <a:latin typeface="Times New Roman"/>
                <a:ea typeface="Times New Roman"/>
                <a:cs typeface="Times New Roman"/>
                <a:sym typeface="Times New Roman"/>
              </a:rPr>
              <a:t>This information can be used to handle non-word error. n-gram techniques requires large corpus or  dictionary as training data. So that n-gram table of possible combinations of letters can be complied.</a:t>
            </a:r>
            <a:endParaRPr sz="1950">
              <a:solidFill>
                <a:schemeClr val="dk1"/>
              </a:solidFill>
              <a:latin typeface="Times New Roman"/>
              <a:ea typeface="Times New Roman"/>
              <a:cs typeface="Times New Roman"/>
              <a:sym typeface="Times New Roman"/>
            </a:endParaRPr>
          </a:p>
          <a:p>
            <a:pPr marL="0" marR="0" lvl="0" indent="0" algn="l" rtl="0">
              <a:lnSpc>
                <a:spcPct val="100000"/>
              </a:lnSpc>
              <a:spcBef>
                <a:spcPts val="5"/>
              </a:spcBef>
              <a:spcAft>
                <a:spcPts val="0"/>
              </a:spcAft>
              <a:buNone/>
            </a:pPr>
            <a:endParaRPr sz="1700">
              <a:solidFill>
                <a:schemeClr val="dk1"/>
              </a:solidFill>
              <a:latin typeface="Times New Roman"/>
              <a:ea typeface="Times New Roman"/>
              <a:cs typeface="Times New Roman"/>
              <a:sym typeface="Times New Roman"/>
            </a:endParaRPr>
          </a:p>
          <a:p>
            <a:pPr marL="457200" marR="5080" lvl="0" indent="0" algn="l" rtl="0">
              <a:lnSpc>
                <a:spcPct val="95100"/>
              </a:lnSpc>
              <a:spcBef>
                <a:spcPts val="5"/>
              </a:spcBef>
              <a:spcAft>
                <a:spcPts val="0"/>
              </a:spcAft>
              <a:buNone/>
            </a:pPr>
            <a:r>
              <a:rPr lang="en-US" sz="1950" b="1">
                <a:solidFill>
                  <a:schemeClr val="dk1"/>
                </a:solidFill>
                <a:latin typeface="Times New Roman"/>
                <a:ea typeface="Times New Roman"/>
                <a:cs typeface="Times New Roman"/>
                <a:sym typeface="Times New Roman"/>
              </a:rPr>
              <a:t>Neural nets</a:t>
            </a:r>
            <a:r>
              <a:rPr lang="en-US" sz="1950">
                <a:solidFill>
                  <a:schemeClr val="dk1"/>
                </a:solidFill>
                <a:latin typeface="Times New Roman"/>
                <a:ea typeface="Times New Roman"/>
                <a:cs typeface="Times New Roman"/>
                <a:sym typeface="Times New Roman"/>
              </a:rPr>
              <a:t>: These have the ability to do associative recall based on incomplete and noisy data. They  can be trained to adapt to specific error patterns. The drawback is that they are computationally  expensive.</a:t>
            </a:r>
            <a:endParaRPr sz="1950">
              <a:solidFill>
                <a:schemeClr val="dk1"/>
              </a:solidFill>
              <a:latin typeface="Times New Roman"/>
              <a:ea typeface="Times New Roman"/>
              <a:cs typeface="Times New Roman"/>
              <a:sym typeface="Times New Roman"/>
            </a:endParaRPr>
          </a:p>
          <a:p>
            <a:pPr marL="0" marR="0" lvl="0" indent="0" algn="l" rtl="0">
              <a:lnSpc>
                <a:spcPct val="100000"/>
              </a:lnSpc>
              <a:spcBef>
                <a:spcPts val="10"/>
              </a:spcBef>
              <a:spcAft>
                <a:spcPts val="0"/>
              </a:spcAft>
              <a:buClr>
                <a:schemeClr val="dk1"/>
              </a:buClr>
              <a:buSzPts val="1750"/>
              <a:buFont typeface="Times New Roman"/>
              <a:buNone/>
            </a:pPr>
            <a:endParaRPr sz="1750">
              <a:solidFill>
                <a:schemeClr val="dk1"/>
              </a:solidFill>
              <a:latin typeface="Times New Roman"/>
              <a:ea typeface="Times New Roman"/>
              <a:cs typeface="Times New Roman"/>
              <a:sym typeface="Times New Roman"/>
            </a:endParaRPr>
          </a:p>
          <a:p>
            <a:pPr marL="457200" marR="232409" lvl="0" indent="0" algn="l" rtl="0">
              <a:lnSpc>
                <a:spcPct val="95100"/>
              </a:lnSpc>
              <a:spcBef>
                <a:spcPts val="0"/>
              </a:spcBef>
              <a:spcAft>
                <a:spcPts val="0"/>
              </a:spcAft>
              <a:buNone/>
            </a:pPr>
            <a:r>
              <a:rPr lang="en-US" sz="1950" b="1">
                <a:solidFill>
                  <a:schemeClr val="dk1"/>
                </a:solidFill>
                <a:latin typeface="Times New Roman"/>
                <a:ea typeface="Times New Roman"/>
                <a:cs typeface="Times New Roman"/>
                <a:sym typeface="Times New Roman"/>
              </a:rPr>
              <a:t>Rule-based techniques</a:t>
            </a:r>
            <a:r>
              <a:rPr lang="en-US" sz="1950">
                <a:solidFill>
                  <a:schemeClr val="dk1"/>
                </a:solidFill>
                <a:latin typeface="Times New Roman"/>
                <a:ea typeface="Times New Roman"/>
                <a:cs typeface="Times New Roman"/>
                <a:sym typeface="Times New Roman"/>
              </a:rPr>
              <a:t>: A set of rules (heuristics) derived from knowledge of a common spelling  error pattern is used to transform misspelled words into valid words. E.g. Many errors occur from the  letters 'ue' being typed as ‘ eu ‘, then we may write a rule that represents this. The</a:t>
            </a:r>
            <a:endParaRPr sz="1950">
              <a:solidFill>
                <a:schemeClr val="dk1"/>
              </a:solidFill>
              <a:latin typeface="Times New Roman"/>
              <a:ea typeface="Times New Roman"/>
              <a:cs typeface="Times New Roman"/>
              <a:sym typeface="Times New Roman"/>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Shape 366"/>
        <p:cNvGrpSpPr/>
        <p:nvPr/>
      </p:nvGrpSpPr>
      <p:grpSpPr>
        <a:xfrm>
          <a:off x="0" y="0"/>
          <a:ext cx="0" cy="0"/>
          <a:chOff x="0" y="0"/>
          <a:chExt cx="0" cy="0"/>
        </a:xfrm>
      </p:grpSpPr>
      <p:sp>
        <p:nvSpPr>
          <p:cNvPr id="367" name="Google Shape;367;p36"/>
          <p:cNvSpPr txBox="1">
            <a:spLocks noGrp="1"/>
          </p:cNvSpPr>
          <p:nvPr>
            <p:ph type="title"/>
          </p:nvPr>
        </p:nvSpPr>
        <p:spPr>
          <a:xfrm>
            <a:off x="911225" y="639175"/>
            <a:ext cx="10029300" cy="690000"/>
          </a:xfrm>
          <a:prstGeom prst="rect">
            <a:avLst/>
          </a:prstGeom>
          <a:noFill/>
          <a:ln>
            <a:noFill/>
          </a:ln>
        </p:spPr>
        <p:txBody>
          <a:bodyPr spcFirstLastPara="1" wrap="square" lIns="0" tIns="12700" rIns="0" bIns="0" anchor="t" anchorCtr="0">
            <a:spAutoFit/>
          </a:bodyPr>
          <a:lstStyle/>
          <a:p>
            <a:pPr marL="12700" lvl="0" indent="0" algn="ctr" rtl="0">
              <a:lnSpc>
                <a:spcPct val="100000"/>
              </a:lnSpc>
              <a:spcBef>
                <a:spcPts val="0"/>
              </a:spcBef>
              <a:spcAft>
                <a:spcPts val="0"/>
              </a:spcAft>
              <a:buNone/>
            </a:pPr>
            <a:r>
              <a:rPr lang="en-US" sz="4400"/>
              <a:t>Minimum Edit Distance</a:t>
            </a:r>
            <a:endParaRPr sz="4400"/>
          </a:p>
        </p:txBody>
      </p:sp>
      <p:grpSp>
        <p:nvGrpSpPr>
          <p:cNvPr id="368" name="Google Shape;368;p36"/>
          <p:cNvGrpSpPr/>
          <p:nvPr/>
        </p:nvGrpSpPr>
        <p:grpSpPr>
          <a:xfrm>
            <a:off x="4548931" y="2156691"/>
            <a:ext cx="488950" cy="247015"/>
            <a:chOff x="4548931" y="2156691"/>
            <a:chExt cx="488950" cy="247015"/>
          </a:xfrm>
        </p:grpSpPr>
        <p:sp>
          <p:nvSpPr>
            <p:cNvPr id="369" name="Google Shape;369;p36"/>
            <p:cNvSpPr/>
            <p:nvPr/>
          </p:nvSpPr>
          <p:spPr>
            <a:xfrm>
              <a:off x="4726744" y="2156691"/>
              <a:ext cx="64135" cy="247015"/>
            </a:xfrm>
            <a:custGeom>
              <a:avLst/>
              <a:gdLst/>
              <a:ahLst/>
              <a:cxnLst/>
              <a:rect l="l" t="t" r="r" b="b"/>
              <a:pathLst>
                <a:path w="64135" h="247014" extrusionOk="0">
                  <a:moveTo>
                    <a:pt x="63512" y="246887"/>
                  </a:moveTo>
                  <a:lnTo>
                    <a:pt x="0" y="246887"/>
                  </a:lnTo>
                  <a:lnTo>
                    <a:pt x="0" y="0"/>
                  </a:lnTo>
                  <a:lnTo>
                    <a:pt x="63512" y="0"/>
                  </a:lnTo>
                  <a:lnTo>
                    <a:pt x="63512" y="246887"/>
                  </a:lnTo>
                  <a:close/>
                </a:path>
              </a:pathLst>
            </a:custGeom>
            <a:solidFill>
              <a:srgbClr val="00FF00"/>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70" name="Google Shape;370;p36"/>
            <p:cNvSpPr/>
            <p:nvPr/>
          </p:nvSpPr>
          <p:spPr>
            <a:xfrm>
              <a:off x="4548931" y="2369060"/>
              <a:ext cx="488950" cy="20955"/>
            </a:xfrm>
            <a:custGeom>
              <a:avLst/>
              <a:gdLst/>
              <a:ahLst/>
              <a:cxnLst/>
              <a:rect l="l" t="t" r="r" b="b"/>
              <a:pathLst>
                <a:path w="488950" h="20955" extrusionOk="0">
                  <a:moveTo>
                    <a:pt x="488900" y="20574"/>
                  </a:moveTo>
                  <a:lnTo>
                    <a:pt x="0" y="20574"/>
                  </a:lnTo>
                  <a:lnTo>
                    <a:pt x="0" y="0"/>
                  </a:lnTo>
                  <a:lnTo>
                    <a:pt x="488900" y="0"/>
                  </a:lnTo>
                  <a:lnTo>
                    <a:pt x="488900" y="20574"/>
                  </a:lnTo>
                  <a:close/>
                </a:path>
              </a:pathLst>
            </a:custGeom>
            <a:solidFill>
              <a:srgbClr val="000000"/>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sp>
        <p:nvSpPr>
          <p:cNvPr id="371" name="Google Shape;371;p36"/>
          <p:cNvSpPr/>
          <p:nvPr/>
        </p:nvSpPr>
        <p:spPr>
          <a:xfrm>
            <a:off x="5894970" y="2156691"/>
            <a:ext cx="114300" cy="247015"/>
          </a:xfrm>
          <a:custGeom>
            <a:avLst/>
            <a:gdLst/>
            <a:ahLst/>
            <a:cxnLst/>
            <a:rect l="l" t="t" r="r" b="b"/>
            <a:pathLst>
              <a:path w="114300" h="247014" extrusionOk="0">
                <a:moveTo>
                  <a:pt x="114300" y="246887"/>
                </a:moveTo>
                <a:lnTo>
                  <a:pt x="0" y="246887"/>
                </a:lnTo>
                <a:lnTo>
                  <a:pt x="0" y="0"/>
                </a:lnTo>
                <a:lnTo>
                  <a:pt x="114300" y="0"/>
                </a:lnTo>
                <a:lnTo>
                  <a:pt x="114300" y="246887"/>
                </a:lnTo>
                <a:close/>
              </a:path>
            </a:pathLst>
          </a:custGeom>
          <a:solidFill>
            <a:srgbClr val="00FF00"/>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72" name="Google Shape;372;p36"/>
          <p:cNvSpPr txBox="1"/>
          <p:nvPr/>
        </p:nvSpPr>
        <p:spPr>
          <a:xfrm>
            <a:off x="945492" y="1490601"/>
            <a:ext cx="10224900" cy="5002500"/>
          </a:xfrm>
          <a:prstGeom prst="rect">
            <a:avLst/>
          </a:prstGeom>
          <a:noFill/>
          <a:ln>
            <a:noFill/>
          </a:ln>
        </p:spPr>
        <p:txBody>
          <a:bodyPr spcFirstLastPara="1" wrap="square" lIns="0" tIns="43175" rIns="0" bIns="0" anchor="t" anchorCtr="0">
            <a:spAutoFit/>
          </a:bodyPr>
          <a:lstStyle/>
          <a:p>
            <a:pPr marL="457200" marR="503555" lvl="0" indent="-342900" algn="just" rtl="0">
              <a:lnSpc>
                <a:spcPct val="100000"/>
              </a:lnSpc>
              <a:spcBef>
                <a:spcPts val="1000"/>
              </a:spcBef>
              <a:spcAft>
                <a:spcPts val="0"/>
              </a:spcAft>
              <a:buClr>
                <a:schemeClr val="dk1"/>
              </a:buClr>
              <a:buSzPts val="1800"/>
              <a:buFont typeface="Times New Roman"/>
              <a:buChar char="•"/>
            </a:pPr>
            <a:r>
              <a:rPr lang="en-US" sz="1800">
                <a:solidFill>
                  <a:schemeClr val="dk1"/>
                </a:solidFill>
                <a:latin typeface="Times New Roman"/>
                <a:ea typeface="Times New Roman"/>
                <a:cs typeface="Times New Roman"/>
                <a:sym typeface="Times New Roman"/>
              </a:rPr>
              <a:t>The minimum edit distance between two strings is the minimum number of operations (insertions, deletions or substitutions) required to transform one string into another.</a:t>
            </a:r>
            <a:endParaRPr sz="1800">
              <a:solidFill>
                <a:schemeClr val="dk1"/>
              </a:solidFill>
              <a:latin typeface="Times New Roman"/>
              <a:ea typeface="Times New Roman"/>
              <a:cs typeface="Times New Roman"/>
              <a:sym typeface="Times New Roman"/>
            </a:endParaRPr>
          </a:p>
          <a:p>
            <a:pPr marL="457200" marR="503555" lvl="0" indent="-342900" algn="just" rtl="0">
              <a:lnSpc>
                <a:spcPct val="100000"/>
              </a:lnSpc>
              <a:spcBef>
                <a:spcPts val="1000"/>
              </a:spcBef>
              <a:spcAft>
                <a:spcPts val="0"/>
              </a:spcAft>
              <a:buClr>
                <a:schemeClr val="dk1"/>
              </a:buClr>
              <a:buSzPts val="1800"/>
              <a:buFont typeface="Times New Roman"/>
              <a:buChar char="•"/>
            </a:pPr>
            <a:r>
              <a:rPr lang="en-US" sz="1800">
                <a:solidFill>
                  <a:schemeClr val="dk1"/>
                </a:solidFill>
                <a:highlight>
                  <a:schemeClr val="lt1"/>
                </a:highlight>
                <a:latin typeface="Times New Roman"/>
                <a:ea typeface="Times New Roman"/>
                <a:cs typeface="Times New Roman"/>
                <a:sym typeface="Times New Roman"/>
              </a:rPr>
              <a:t>For example, the minimum edit distance between tutor and tumour is 2. We su</a:t>
            </a:r>
            <a:r>
              <a:rPr lang="en-US" sz="1800">
                <a:solidFill>
                  <a:schemeClr val="dk1"/>
                </a:solidFill>
                <a:latin typeface="Times New Roman"/>
                <a:ea typeface="Times New Roman"/>
                <a:cs typeface="Times New Roman"/>
                <a:sym typeface="Times New Roman"/>
              </a:rPr>
              <a:t>bstitute 'm' for 't' and insert 'u' before 'r'. No smaller edit sequence can be found for this conversion. </a:t>
            </a:r>
            <a:endParaRPr sz="1800">
              <a:solidFill>
                <a:schemeClr val="dk1"/>
              </a:solidFill>
              <a:latin typeface="Times New Roman"/>
              <a:ea typeface="Times New Roman"/>
              <a:cs typeface="Times New Roman"/>
              <a:sym typeface="Times New Roman"/>
            </a:endParaRPr>
          </a:p>
          <a:p>
            <a:pPr marL="457200" marR="0" lvl="0" indent="-342900" algn="just" rtl="0">
              <a:lnSpc>
                <a:spcPct val="100000"/>
              </a:lnSpc>
              <a:spcBef>
                <a:spcPts val="1000"/>
              </a:spcBef>
              <a:spcAft>
                <a:spcPts val="0"/>
              </a:spcAft>
              <a:buClr>
                <a:schemeClr val="dk1"/>
              </a:buClr>
              <a:buSzPts val="1800"/>
              <a:buFont typeface="Times New Roman"/>
              <a:buChar char="•"/>
            </a:pPr>
            <a:r>
              <a:rPr lang="en-US" sz="1800">
                <a:solidFill>
                  <a:schemeClr val="dk1"/>
                </a:solidFill>
                <a:latin typeface="Times New Roman"/>
                <a:ea typeface="Times New Roman"/>
                <a:cs typeface="Times New Roman"/>
                <a:sym typeface="Times New Roman"/>
              </a:rPr>
              <a:t>Edit distance between two strings can be represented as a binary function, </a:t>
            </a:r>
            <a:r>
              <a:rPr lang="en-US" sz="1800" b="1">
                <a:solidFill>
                  <a:schemeClr val="dk1"/>
                </a:solidFill>
                <a:highlight>
                  <a:srgbClr val="FFFF00"/>
                </a:highlight>
                <a:latin typeface="Times New Roman"/>
                <a:ea typeface="Times New Roman"/>
                <a:cs typeface="Times New Roman"/>
                <a:sym typeface="Times New Roman"/>
              </a:rPr>
              <a:t>ed</a:t>
            </a:r>
            <a:r>
              <a:rPr lang="en-US" sz="1800">
                <a:solidFill>
                  <a:schemeClr val="dk1"/>
                </a:solidFill>
                <a:latin typeface="Times New Roman"/>
                <a:ea typeface="Times New Roman"/>
                <a:cs typeface="Times New Roman"/>
                <a:sym typeface="Times New Roman"/>
              </a:rPr>
              <a:t>, which maps two strings to their edit distance. </a:t>
            </a:r>
            <a:endParaRPr sz="1800">
              <a:solidFill>
                <a:schemeClr val="dk1"/>
              </a:solidFill>
              <a:latin typeface="Times New Roman"/>
              <a:ea typeface="Times New Roman"/>
              <a:cs typeface="Times New Roman"/>
              <a:sym typeface="Times New Roman"/>
            </a:endParaRPr>
          </a:p>
          <a:p>
            <a:pPr marL="457200" marR="0" lvl="0" indent="-342900" algn="just" rtl="0">
              <a:lnSpc>
                <a:spcPct val="100000"/>
              </a:lnSpc>
              <a:spcBef>
                <a:spcPts val="1000"/>
              </a:spcBef>
              <a:spcAft>
                <a:spcPts val="0"/>
              </a:spcAft>
              <a:buClr>
                <a:schemeClr val="dk1"/>
              </a:buClr>
              <a:buSzPts val="1800"/>
              <a:buFont typeface="Times New Roman"/>
              <a:buChar char="•"/>
            </a:pPr>
            <a:r>
              <a:rPr lang="en-US" sz="1800">
                <a:solidFill>
                  <a:schemeClr val="dk1"/>
                </a:solidFill>
                <a:latin typeface="Times New Roman"/>
                <a:ea typeface="Times New Roman"/>
                <a:cs typeface="Times New Roman"/>
                <a:sym typeface="Times New Roman"/>
              </a:rPr>
              <a:t>ed is symmetric. For any two strings, s and t, ed(s,t) is always equal to ed(t,s).</a:t>
            </a:r>
            <a:endParaRPr sz="1800">
              <a:solidFill>
                <a:schemeClr val="dk1"/>
              </a:solidFill>
              <a:latin typeface="Times New Roman"/>
              <a:ea typeface="Times New Roman"/>
              <a:cs typeface="Times New Roman"/>
              <a:sym typeface="Times New Roman"/>
            </a:endParaRPr>
          </a:p>
          <a:p>
            <a:pPr marL="457200" marR="0" lvl="0" indent="-342900" algn="just" rtl="0">
              <a:lnSpc>
                <a:spcPct val="100000"/>
              </a:lnSpc>
              <a:spcBef>
                <a:spcPts val="1000"/>
              </a:spcBef>
              <a:spcAft>
                <a:spcPts val="0"/>
              </a:spcAft>
              <a:buClr>
                <a:schemeClr val="dk1"/>
              </a:buClr>
              <a:buSzPts val="1800"/>
              <a:buFont typeface="Times New Roman"/>
              <a:buChar char="•"/>
            </a:pPr>
            <a:r>
              <a:rPr lang="en-US" sz="1800">
                <a:solidFill>
                  <a:schemeClr val="dk1"/>
                </a:solidFill>
                <a:latin typeface="Times New Roman"/>
                <a:ea typeface="Times New Roman"/>
                <a:cs typeface="Times New Roman"/>
                <a:sym typeface="Times New Roman"/>
              </a:rPr>
              <a:t>Edit distance can be viewed as string alignment problem, by aligning two strings we can measure the degree to which they match.</a:t>
            </a:r>
            <a:endParaRPr sz="1800">
              <a:solidFill>
                <a:schemeClr val="dk1"/>
              </a:solidFill>
              <a:latin typeface="Times New Roman"/>
              <a:ea typeface="Times New Roman"/>
              <a:cs typeface="Times New Roman"/>
              <a:sym typeface="Times New Roman"/>
            </a:endParaRPr>
          </a:p>
          <a:p>
            <a:pPr marL="457200" marR="5080" lvl="0" indent="-342900" algn="just" rtl="0">
              <a:lnSpc>
                <a:spcPct val="100000"/>
              </a:lnSpc>
              <a:spcBef>
                <a:spcPts val="1000"/>
              </a:spcBef>
              <a:spcAft>
                <a:spcPts val="0"/>
              </a:spcAft>
              <a:buClr>
                <a:schemeClr val="dk1"/>
              </a:buClr>
              <a:buSzPts val="1800"/>
              <a:buFont typeface="Times New Roman"/>
              <a:buChar char="•"/>
            </a:pPr>
            <a:r>
              <a:rPr lang="en-US" sz="1800">
                <a:solidFill>
                  <a:schemeClr val="dk1"/>
                </a:solidFill>
                <a:latin typeface="Times New Roman"/>
                <a:ea typeface="Times New Roman"/>
                <a:cs typeface="Times New Roman"/>
                <a:sym typeface="Times New Roman"/>
              </a:rPr>
              <a:t>There can be more than one possible alignment between two strings. The best possible alignment corresponds  to minimum edit distance between the strings.</a:t>
            </a:r>
            <a:endParaRPr sz="1800">
              <a:solidFill>
                <a:schemeClr val="dk1"/>
              </a:solidFill>
              <a:latin typeface="Times New Roman"/>
              <a:ea typeface="Times New Roman"/>
              <a:cs typeface="Times New Roman"/>
              <a:sym typeface="Times New Roman"/>
            </a:endParaRPr>
          </a:p>
          <a:p>
            <a:pPr marL="457200" lvl="0" indent="-342900" algn="just" rtl="0">
              <a:lnSpc>
                <a:spcPct val="100000"/>
              </a:lnSpc>
              <a:spcBef>
                <a:spcPts val="1000"/>
              </a:spcBef>
              <a:spcAft>
                <a:spcPts val="0"/>
              </a:spcAft>
              <a:buClr>
                <a:schemeClr val="dk1"/>
              </a:buClr>
              <a:buSzPts val="1800"/>
              <a:buFont typeface="Times New Roman"/>
              <a:buChar char="•"/>
            </a:pPr>
            <a:r>
              <a:rPr lang="en-US" sz="1800">
                <a:solidFill>
                  <a:schemeClr val="dk1"/>
                </a:solidFill>
                <a:latin typeface="Times New Roman"/>
                <a:ea typeface="Times New Roman"/>
                <a:cs typeface="Times New Roman"/>
                <a:sym typeface="Times New Roman"/>
              </a:rPr>
              <a:t>The alignment shown below between tutor and tumour has a distance of 2.</a:t>
            </a:r>
            <a:endParaRPr sz="1800">
              <a:solidFill>
                <a:schemeClr val="dk1"/>
              </a:solidFill>
              <a:latin typeface="Times New Roman"/>
              <a:ea typeface="Times New Roman"/>
              <a:cs typeface="Times New Roman"/>
              <a:sym typeface="Times New Roman"/>
            </a:endParaRPr>
          </a:p>
          <a:p>
            <a:pPr marL="457200" lvl="0" indent="-352425" algn="just" rtl="0">
              <a:lnSpc>
                <a:spcPct val="100000"/>
              </a:lnSpc>
              <a:spcBef>
                <a:spcPts val="1000"/>
              </a:spcBef>
              <a:spcAft>
                <a:spcPts val="0"/>
              </a:spcAft>
              <a:buClr>
                <a:schemeClr val="dk1"/>
              </a:buClr>
              <a:buSzPts val="1950"/>
              <a:buFont typeface="Times New Roman"/>
              <a:buChar char="•"/>
            </a:pPr>
            <a:r>
              <a:rPr lang="en-US" sz="1800">
                <a:solidFill>
                  <a:schemeClr val="dk1"/>
                </a:solidFill>
                <a:latin typeface="Times New Roman"/>
                <a:ea typeface="Times New Roman"/>
                <a:cs typeface="Times New Roman"/>
                <a:sym typeface="Times New Roman"/>
              </a:rPr>
              <a:t>T U </a:t>
            </a:r>
            <a:r>
              <a:rPr lang="en-US" sz="1800" b="1">
                <a:solidFill>
                  <a:schemeClr val="dk1"/>
                </a:solidFill>
                <a:latin typeface="Times New Roman"/>
                <a:ea typeface="Times New Roman"/>
                <a:cs typeface="Times New Roman"/>
                <a:sym typeface="Times New Roman"/>
              </a:rPr>
              <a:t>T</a:t>
            </a:r>
            <a:r>
              <a:rPr lang="en-US" sz="1800">
                <a:solidFill>
                  <a:schemeClr val="dk1"/>
                </a:solidFill>
                <a:latin typeface="Times New Roman"/>
                <a:ea typeface="Times New Roman"/>
                <a:cs typeface="Times New Roman"/>
                <a:sym typeface="Times New Roman"/>
              </a:rPr>
              <a:t> O - R  (A dash (-) indicates insertion)</a:t>
            </a:r>
            <a:endParaRPr sz="1800">
              <a:solidFill>
                <a:schemeClr val="dk1"/>
              </a:solidFill>
              <a:latin typeface="Times New Roman"/>
              <a:ea typeface="Times New Roman"/>
              <a:cs typeface="Times New Roman"/>
              <a:sym typeface="Times New Roman"/>
            </a:endParaRPr>
          </a:p>
          <a:p>
            <a:pPr marL="457200" lvl="0" indent="-355600" algn="just" rtl="0">
              <a:lnSpc>
                <a:spcPct val="100000"/>
              </a:lnSpc>
              <a:spcBef>
                <a:spcPts val="1000"/>
              </a:spcBef>
              <a:spcAft>
                <a:spcPts val="0"/>
              </a:spcAft>
              <a:buClr>
                <a:schemeClr val="dk1"/>
              </a:buClr>
              <a:buSzPts val="2000"/>
              <a:buFont typeface="Times New Roman"/>
              <a:buChar char="•"/>
            </a:pPr>
            <a:r>
              <a:rPr lang="en-US" sz="1800">
                <a:solidFill>
                  <a:schemeClr val="dk1"/>
                </a:solidFill>
                <a:latin typeface="Times New Roman"/>
                <a:ea typeface="Times New Roman"/>
                <a:cs typeface="Times New Roman"/>
                <a:sym typeface="Times New Roman"/>
              </a:rPr>
              <a:t>T U </a:t>
            </a:r>
            <a:r>
              <a:rPr lang="en-US" sz="1800" b="1">
                <a:solidFill>
                  <a:schemeClr val="dk1"/>
                </a:solidFill>
                <a:latin typeface="Times New Roman"/>
                <a:ea typeface="Times New Roman"/>
                <a:cs typeface="Times New Roman"/>
                <a:sym typeface="Times New Roman"/>
              </a:rPr>
              <a:t>M </a:t>
            </a:r>
            <a:r>
              <a:rPr lang="en-US" sz="1800">
                <a:solidFill>
                  <a:schemeClr val="dk1"/>
                </a:solidFill>
                <a:latin typeface="Times New Roman"/>
                <a:ea typeface="Times New Roman"/>
                <a:cs typeface="Times New Roman"/>
                <a:sym typeface="Times New Roman"/>
              </a:rPr>
              <a:t>O U R (substitution occurs when two alignment symbols do not match (shown in bold).</a:t>
            </a:r>
            <a:endParaRPr sz="1800">
              <a:solidFill>
                <a:schemeClr val="dk1"/>
              </a:solidFill>
              <a:latin typeface="Times New Roman"/>
              <a:ea typeface="Times New Roman"/>
              <a:cs typeface="Times New Roman"/>
              <a:sym typeface="Times New Roman"/>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Shape 376"/>
        <p:cNvGrpSpPr/>
        <p:nvPr/>
      </p:nvGrpSpPr>
      <p:grpSpPr>
        <a:xfrm>
          <a:off x="0" y="0"/>
          <a:ext cx="0" cy="0"/>
          <a:chOff x="0" y="0"/>
          <a:chExt cx="0" cy="0"/>
        </a:xfrm>
      </p:grpSpPr>
      <p:sp>
        <p:nvSpPr>
          <p:cNvPr id="377" name="Google Shape;377;p37"/>
          <p:cNvSpPr txBox="1">
            <a:spLocks noGrp="1"/>
          </p:cNvSpPr>
          <p:nvPr>
            <p:ph type="title"/>
          </p:nvPr>
        </p:nvSpPr>
        <p:spPr>
          <a:xfrm>
            <a:off x="911225" y="639175"/>
            <a:ext cx="9694200" cy="690000"/>
          </a:xfrm>
          <a:prstGeom prst="rect">
            <a:avLst/>
          </a:prstGeom>
          <a:noFill/>
          <a:ln>
            <a:noFill/>
          </a:ln>
        </p:spPr>
        <p:txBody>
          <a:bodyPr spcFirstLastPara="1" wrap="square" lIns="0" tIns="12700" rIns="0" bIns="0" anchor="t" anchorCtr="0">
            <a:spAutoFit/>
          </a:bodyPr>
          <a:lstStyle/>
          <a:p>
            <a:pPr marL="12700" lvl="0" indent="0" algn="ctr" rtl="0">
              <a:lnSpc>
                <a:spcPct val="100000"/>
              </a:lnSpc>
              <a:spcBef>
                <a:spcPts val="0"/>
              </a:spcBef>
              <a:spcAft>
                <a:spcPts val="0"/>
              </a:spcAft>
              <a:buNone/>
            </a:pPr>
            <a:r>
              <a:rPr lang="en-US" sz="4400"/>
              <a:t>Minimum Edit Distance</a:t>
            </a:r>
            <a:endParaRPr sz="4400"/>
          </a:p>
        </p:txBody>
      </p:sp>
      <p:sp>
        <p:nvSpPr>
          <p:cNvPr id="378" name="Google Shape;378;p37"/>
          <p:cNvSpPr txBox="1"/>
          <p:nvPr/>
        </p:nvSpPr>
        <p:spPr>
          <a:xfrm>
            <a:off x="911225" y="1819935"/>
            <a:ext cx="9608100" cy="3337500"/>
          </a:xfrm>
          <a:prstGeom prst="rect">
            <a:avLst/>
          </a:prstGeom>
          <a:noFill/>
          <a:ln>
            <a:noFill/>
          </a:ln>
        </p:spPr>
        <p:txBody>
          <a:bodyPr spcFirstLastPara="1" wrap="square" lIns="0" tIns="12700" rIns="0" bIns="0" anchor="t" anchorCtr="0">
            <a:spAutoFit/>
          </a:bodyPr>
          <a:lstStyle/>
          <a:p>
            <a:pPr marL="457200" marR="123874" lvl="0" indent="-381000" algn="just" rtl="0">
              <a:lnSpc>
                <a:spcPct val="100000"/>
              </a:lnSpc>
              <a:spcBef>
                <a:spcPts val="1000"/>
              </a:spcBef>
              <a:spcAft>
                <a:spcPts val="0"/>
              </a:spcAft>
              <a:buClr>
                <a:schemeClr val="dk1"/>
              </a:buClr>
              <a:buSzPts val="2400"/>
              <a:buFont typeface="Times New Roman"/>
              <a:buChar char="●"/>
            </a:pPr>
            <a:r>
              <a:rPr lang="en-US" sz="2400">
                <a:solidFill>
                  <a:schemeClr val="dk1"/>
                </a:solidFill>
                <a:latin typeface="Times New Roman"/>
                <a:ea typeface="Times New Roman"/>
                <a:cs typeface="Times New Roman"/>
                <a:sym typeface="Times New Roman"/>
              </a:rPr>
              <a:t>A weight or cost is associated with each operation. The </a:t>
            </a:r>
            <a:r>
              <a:rPr lang="en-US" sz="2400" b="1">
                <a:solidFill>
                  <a:schemeClr val="dk1"/>
                </a:solidFill>
                <a:highlight>
                  <a:srgbClr val="FFFF00"/>
                </a:highlight>
                <a:latin typeface="Times New Roman"/>
                <a:ea typeface="Times New Roman"/>
                <a:cs typeface="Times New Roman"/>
                <a:sym typeface="Times New Roman"/>
              </a:rPr>
              <a:t>Levenshtein distance</a:t>
            </a:r>
            <a:r>
              <a:rPr lang="en-US" sz="2400">
                <a:solidFill>
                  <a:schemeClr val="dk1"/>
                </a:solidFill>
                <a:latin typeface="Times New Roman"/>
                <a:ea typeface="Times New Roman"/>
                <a:cs typeface="Times New Roman"/>
                <a:sym typeface="Times New Roman"/>
              </a:rPr>
              <a:t> between two sequences is obtained by assigning a unit cost to each operation.</a:t>
            </a:r>
            <a:endParaRPr sz="2400">
              <a:solidFill>
                <a:schemeClr val="dk1"/>
              </a:solidFill>
              <a:latin typeface="Times New Roman"/>
              <a:ea typeface="Times New Roman"/>
              <a:cs typeface="Times New Roman"/>
              <a:sym typeface="Times New Roman"/>
            </a:endParaRPr>
          </a:p>
          <a:p>
            <a:pPr marL="457200" marR="123874" lvl="0" indent="-381000" algn="just" rtl="0">
              <a:lnSpc>
                <a:spcPct val="100000"/>
              </a:lnSpc>
              <a:spcBef>
                <a:spcPts val="0"/>
              </a:spcBef>
              <a:spcAft>
                <a:spcPts val="0"/>
              </a:spcAft>
              <a:buClr>
                <a:schemeClr val="dk1"/>
              </a:buClr>
              <a:buSzPts val="2400"/>
              <a:buFont typeface="Times New Roman"/>
              <a:buChar char="●"/>
            </a:pPr>
            <a:r>
              <a:rPr lang="en-US" sz="2400">
                <a:solidFill>
                  <a:schemeClr val="dk1"/>
                </a:solidFill>
                <a:latin typeface="Times New Roman"/>
                <a:ea typeface="Times New Roman"/>
                <a:cs typeface="Times New Roman"/>
                <a:sym typeface="Times New Roman"/>
              </a:rPr>
              <a:t>Dynamic programming algorithms are used to find minimum edit distances between two sequences.</a:t>
            </a:r>
            <a:endParaRPr sz="2400">
              <a:solidFill>
                <a:schemeClr val="dk1"/>
              </a:solidFill>
              <a:latin typeface="Times New Roman"/>
              <a:ea typeface="Times New Roman"/>
              <a:cs typeface="Times New Roman"/>
              <a:sym typeface="Times New Roman"/>
            </a:endParaRPr>
          </a:p>
          <a:p>
            <a:pPr marL="457200" marR="123874" lvl="0" indent="-381000" algn="just" rtl="0">
              <a:lnSpc>
                <a:spcPct val="100000"/>
              </a:lnSpc>
              <a:spcBef>
                <a:spcPts val="0"/>
              </a:spcBef>
              <a:spcAft>
                <a:spcPts val="0"/>
              </a:spcAft>
              <a:buClr>
                <a:schemeClr val="dk1"/>
              </a:buClr>
              <a:buSzPts val="2400"/>
              <a:buFont typeface="Times New Roman"/>
              <a:buChar char="●"/>
            </a:pPr>
            <a:r>
              <a:rPr lang="en-US" sz="2400">
                <a:solidFill>
                  <a:schemeClr val="dk1"/>
                </a:solidFill>
                <a:latin typeface="Times New Roman"/>
                <a:ea typeface="Times New Roman"/>
                <a:cs typeface="Times New Roman"/>
                <a:sym typeface="Times New Roman"/>
              </a:rPr>
              <a:t>The dynamic programming algorithm for minimum edit distance is implemented by creating an edit distance matrix.</a:t>
            </a:r>
            <a:endParaRPr sz="2400">
              <a:solidFill>
                <a:schemeClr val="dk1"/>
              </a:solidFill>
              <a:latin typeface="Times New Roman"/>
              <a:ea typeface="Times New Roman"/>
              <a:cs typeface="Times New Roman"/>
              <a:sym typeface="Times New Roman"/>
            </a:endParaRPr>
          </a:p>
          <a:p>
            <a:pPr marL="457200" marR="123874" lvl="0" indent="-381000" algn="just" rtl="0">
              <a:lnSpc>
                <a:spcPct val="100000"/>
              </a:lnSpc>
              <a:spcBef>
                <a:spcPts val="0"/>
              </a:spcBef>
              <a:spcAft>
                <a:spcPts val="0"/>
              </a:spcAft>
              <a:buClr>
                <a:schemeClr val="dk1"/>
              </a:buClr>
              <a:buSzPts val="2400"/>
              <a:buFont typeface="Times New Roman"/>
              <a:buChar char="●"/>
            </a:pPr>
            <a:r>
              <a:rPr lang="en-US" sz="2400">
                <a:solidFill>
                  <a:schemeClr val="dk1"/>
                </a:solidFill>
                <a:latin typeface="Times New Roman"/>
                <a:ea typeface="Times New Roman"/>
                <a:cs typeface="Times New Roman"/>
                <a:sym typeface="Times New Roman"/>
              </a:rPr>
              <a:t>The matrix has  one row for each symbol in source string and one column for each matrix in the target string.</a:t>
            </a:r>
            <a:endParaRPr sz="2400">
              <a:solidFill>
                <a:schemeClr val="dk1"/>
              </a:solidFill>
              <a:latin typeface="Times New Roman"/>
              <a:ea typeface="Times New Roman"/>
              <a:cs typeface="Times New Roman"/>
              <a:sym typeface="Times New Roman"/>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Shape 382"/>
        <p:cNvGrpSpPr/>
        <p:nvPr/>
      </p:nvGrpSpPr>
      <p:grpSpPr>
        <a:xfrm>
          <a:off x="0" y="0"/>
          <a:ext cx="0" cy="0"/>
          <a:chOff x="0" y="0"/>
          <a:chExt cx="0" cy="0"/>
        </a:xfrm>
      </p:grpSpPr>
      <p:sp>
        <p:nvSpPr>
          <p:cNvPr id="383" name="Google Shape;383;p38"/>
          <p:cNvSpPr txBox="1">
            <a:spLocks noGrp="1"/>
          </p:cNvSpPr>
          <p:nvPr>
            <p:ph type="title"/>
          </p:nvPr>
        </p:nvSpPr>
        <p:spPr>
          <a:xfrm>
            <a:off x="911225" y="639175"/>
            <a:ext cx="10324500" cy="690000"/>
          </a:xfrm>
          <a:prstGeom prst="rect">
            <a:avLst/>
          </a:prstGeom>
          <a:noFill/>
          <a:ln>
            <a:noFill/>
          </a:ln>
        </p:spPr>
        <p:txBody>
          <a:bodyPr spcFirstLastPara="1" wrap="square" lIns="0" tIns="12700" rIns="0" bIns="0" anchor="t" anchorCtr="0">
            <a:spAutoFit/>
          </a:bodyPr>
          <a:lstStyle/>
          <a:p>
            <a:pPr marL="12700" lvl="0" indent="0" algn="ctr" rtl="0">
              <a:lnSpc>
                <a:spcPct val="100000"/>
              </a:lnSpc>
              <a:spcBef>
                <a:spcPts val="0"/>
              </a:spcBef>
              <a:spcAft>
                <a:spcPts val="0"/>
              </a:spcAft>
              <a:buNone/>
            </a:pPr>
            <a:r>
              <a:rPr lang="en-US" sz="4400"/>
              <a:t>Minimum Edit Distance</a:t>
            </a:r>
            <a:endParaRPr sz="4400"/>
          </a:p>
        </p:txBody>
      </p:sp>
      <p:sp>
        <p:nvSpPr>
          <p:cNvPr id="384" name="Google Shape;384;p38"/>
          <p:cNvSpPr/>
          <p:nvPr/>
        </p:nvSpPr>
        <p:spPr>
          <a:xfrm>
            <a:off x="5222320" y="1872961"/>
            <a:ext cx="5975985" cy="247015"/>
          </a:xfrm>
          <a:custGeom>
            <a:avLst/>
            <a:gdLst/>
            <a:ahLst/>
            <a:cxnLst/>
            <a:rect l="l" t="t" r="r" b="b"/>
            <a:pathLst>
              <a:path w="5975984" h="247014" extrusionOk="0">
                <a:moveTo>
                  <a:pt x="5975746" y="246887"/>
                </a:moveTo>
                <a:lnTo>
                  <a:pt x="0" y="246887"/>
                </a:lnTo>
                <a:lnTo>
                  <a:pt x="0" y="0"/>
                </a:lnTo>
                <a:lnTo>
                  <a:pt x="5975746" y="0"/>
                </a:lnTo>
                <a:lnTo>
                  <a:pt x="5975746" y="246887"/>
                </a:lnTo>
                <a:close/>
              </a:path>
            </a:pathLst>
          </a:custGeom>
          <a:solidFill>
            <a:srgbClr val="FFFF00"/>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85" name="Google Shape;385;p38"/>
          <p:cNvSpPr/>
          <p:nvPr/>
        </p:nvSpPr>
        <p:spPr>
          <a:xfrm>
            <a:off x="1152525" y="2120611"/>
            <a:ext cx="1998980" cy="247015"/>
          </a:xfrm>
          <a:custGeom>
            <a:avLst/>
            <a:gdLst/>
            <a:ahLst/>
            <a:cxnLst/>
            <a:rect l="l" t="t" r="r" b="b"/>
            <a:pathLst>
              <a:path w="1998980" h="247014" extrusionOk="0">
                <a:moveTo>
                  <a:pt x="1998910" y="246887"/>
                </a:moveTo>
                <a:lnTo>
                  <a:pt x="0" y="246887"/>
                </a:lnTo>
                <a:lnTo>
                  <a:pt x="0" y="0"/>
                </a:lnTo>
                <a:lnTo>
                  <a:pt x="1998910" y="0"/>
                </a:lnTo>
                <a:lnTo>
                  <a:pt x="1998910" y="246887"/>
                </a:lnTo>
                <a:close/>
              </a:path>
            </a:pathLst>
          </a:custGeom>
          <a:solidFill>
            <a:srgbClr val="FFFF00"/>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86" name="Google Shape;386;p38"/>
          <p:cNvSpPr txBox="1"/>
          <p:nvPr/>
        </p:nvSpPr>
        <p:spPr>
          <a:xfrm>
            <a:off x="945500" y="1829180"/>
            <a:ext cx="10290300" cy="4041900"/>
          </a:xfrm>
          <a:prstGeom prst="rect">
            <a:avLst/>
          </a:prstGeom>
          <a:noFill/>
          <a:ln>
            <a:noFill/>
          </a:ln>
        </p:spPr>
        <p:txBody>
          <a:bodyPr spcFirstLastPara="1" wrap="square" lIns="0" tIns="43175" rIns="0" bIns="0" anchor="t" anchorCtr="0">
            <a:spAutoFit/>
          </a:bodyPr>
          <a:lstStyle/>
          <a:p>
            <a:pPr marL="207009" marR="5080" lvl="0" indent="-194945" algn="l" rtl="0">
              <a:lnSpc>
                <a:spcPct val="108333"/>
              </a:lnSpc>
              <a:spcBef>
                <a:spcPts val="0"/>
              </a:spcBef>
              <a:spcAft>
                <a:spcPts val="0"/>
              </a:spcAft>
              <a:buClr>
                <a:schemeClr val="dk1"/>
              </a:buClr>
              <a:buSzPts val="1800"/>
              <a:buFont typeface="Arial"/>
              <a:buChar char="•"/>
            </a:pPr>
            <a:r>
              <a:rPr lang="en-US" sz="1800">
                <a:solidFill>
                  <a:schemeClr val="dk1"/>
                </a:solidFill>
                <a:highlight>
                  <a:schemeClr val="lt1"/>
                </a:highlight>
                <a:latin typeface="Times New Roman"/>
                <a:ea typeface="Times New Roman"/>
                <a:cs typeface="Times New Roman"/>
                <a:sym typeface="Times New Roman"/>
              </a:rPr>
              <a:t>The (i , j)</a:t>
            </a:r>
            <a:r>
              <a:rPr lang="en-US" sz="1800" baseline="30000">
                <a:solidFill>
                  <a:schemeClr val="dk1"/>
                </a:solidFill>
                <a:highlight>
                  <a:schemeClr val="lt1"/>
                </a:highlight>
                <a:latin typeface="Times New Roman"/>
                <a:ea typeface="Times New Roman"/>
                <a:cs typeface="Times New Roman"/>
                <a:sym typeface="Times New Roman"/>
              </a:rPr>
              <a:t>th</a:t>
            </a:r>
            <a:r>
              <a:rPr lang="en-US" sz="1100">
                <a:solidFill>
                  <a:schemeClr val="dk1"/>
                </a:solidFill>
                <a:highlight>
                  <a:schemeClr val="lt1"/>
                </a:highlight>
                <a:latin typeface="Times New Roman"/>
                <a:ea typeface="Times New Roman"/>
                <a:cs typeface="Times New Roman"/>
                <a:sym typeface="Times New Roman"/>
              </a:rPr>
              <a:t> </a:t>
            </a:r>
            <a:r>
              <a:rPr lang="en-US" sz="1800">
                <a:solidFill>
                  <a:schemeClr val="dk1"/>
                </a:solidFill>
                <a:highlight>
                  <a:schemeClr val="lt1"/>
                </a:highlight>
                <a:latin typeface="Times New Roman"/>
                <a:ea typeface="Times New Roman"/>
                <a:cs typeface="Times New Roman"/>
                <a:sym typeface="Times New Roman"/>
              </a:rPr>
              <a:t>cell in this matrix represents the distance between the first 'i' character of the source and the first 'j'  character of the target. </a:t>
            </a:r>
            <a:endParaRPr sz="1800">
              <a:solidFill>
                <a:schemeClr val="dk1"/>
              </a:solidFill>
              <a:highlight>
                <a:schemeClr val="lt1"/>
              </a:highlight>
              <a:latin typeface="Times New Roman"/>
              <a:ea typeface="Times New Roman"/>
              <a:cs typeface="Times New Roman"/>
              <a:sym typeface="Times New Roman"/>
            </a:endParaRPr>
          </a:p>
          <a:p>
            <a:pPr marL="207009" marR="5080" lvl="0" indent="-194945" algn="l" rtl="0">
              <a:lnSpc>
                <a:spcPct val="108333"/>
              </a:lnSpc>
              <a:spcBef>
                <a:spcPts val="0"/>
              </a:spcBef>
              <a:spcAft>
                <a:spcPts val="0"/>
              </a:spcAft>
              <a:buClr>
                <a:schemeClr val="dk1"/>
              </a:buClr>
              <a:buSzPts val="1800"/>
              <a:buFont typeface="Times New Roman"/>
              <a:buChar char="•"/>
            </a:pPr>
            <a:r>
              <a:rPr lang="en-US" sz="1800">
                <a:solidFill>
                  <a:schemeClr val="dk1"/>
                </a:solidFill>
                <a:highlight>
                  <a:schemeClr val="lt1"/>
                </a:highlight>
                <a:latin typeface="Times New Roman"/>
                <a:ea typeface="Times New Roman"/>
                <a:cs typeface="Times New Roman"/>
                <a:sym typeface="Times New Roman"/>
              </a:rPr>
              <a:t>Each cell can be computed as a simple function of its surrounding cells.</a:t>
            </a:r>
            <a:endParaRPr sz="1800">
              <a:solidFill>
                <a:schemeClr val="dk1"/>
              </a:solidFill>
              <a:highlight>
                <a:schemeClr val="lt1"/>
              </a:highlight>
              <a:latin typeface="Times New Roman"/>
              <a:ea typeface="Times New Roman"/>
              <a:cs typeface="Times New Roman"/>
              <a:sym typeface="Times New Roman"/>
            </a:endParaRPr>
          </a:p>
          <a:p>
            <a:pPr marL="207009" marR="5080" lvl="0" indent="-194945" algn="l" rtl="0">
              <a:lnSpc>
                <a:spcPct val="108333"/>
              </a:lnSpc>
              <a:spcBef>
                <a:spcPts val="0"/>
              </a:spcBef>
              <a:spcAft>
                <a:spcPts val="0"/>
              </a:spcAft>
              <a:buClr>
                <a:schemeClr val="dk1"/>
              </a:buClr>
              <a:buSzPts val="1800"/>
              <a:buFont typeface="Arial"/>
              <a:buChar char="•"/>
            </a:pPr>
            <a:r>
              <a:rPr lang="en-US" sz="1800">
                <a:solidFill>
                  <a:schemeClr val="dk1"/>
                </a:solidFill>
                <a:highlight>
                  <a:schemeClr val="lt1"/>
                </a:highlight>
                <a:latin typeface="Times New Roman"/>
                <a:ea typeface="Times New Roman"/>
                <a:cs typeface="Times New Roman"/>
                <a:sym typeface="Times New Roman"/>
              </a:rPr>
              <a:t>The value in each cell is computed in terms of three possible paths.</a:t>
            </a:r>
            <a:endParaRPr sz="1800">
              <a:solidFill>
                <a:schemeClr val="dk1"/>
              </a:solidFill>
              <a:highlight>
                <a:schemeClr val="lt1"/>
              </a:highlight>
              <a:latin typeface="Times New Roman"/>
              <a:ea typeface="Times New Roman"/>
              <a:cs typeface="Times New Roman"/>
              <a:sym typeface="Times New Roman"/>
            </a:endParaRPr>
          </a:p>
          <a:p>
            <a:pPr marL="0" marR="5080" lvl="0" indent="0" algn="l" rtl="0">
              <a:lnSpc>
                <a:spcPct val="108333"/>
              </a:lnSpc>
              <a:spcBef>
                <a:spcPts val="0"/>
              </a:spcBef>
              <a:spcAft>
                <a:spcPts val="0"/>
              </a:spcAft>
              <a:buNone/>
            </a:pPr>
            <a:endParaRPr sz="1800">
              <a:solidFill>
                <a:schemeClr val="dk1"/>
              </a:solidFill>
              <a:highlight>
                <a:schemeClr val="lt1"/>
              </a:highlight>
              <a:latin typeface="Times New Roman"/>
              <a:ea typeface="Times New Roman"/>
              <a:cs typeface="Times New Roman"/>
              <a:sym typeface="Times New Roman"/>
            </a:endParaRPr>
          </a:p>
          <a:p>
            <a:pPr marL="0" marR="5080" lvl="0" indent="0" algn="l" rtl="0">
              <a:lnSpc>
                <a:spcPct val="108333"/>
              </a:lnSpc>
              <a:spcBef>
                <a:spcPts val="0"/>
              </a:spcBef>
              <a:spcAft>
                <a:spcPts val="0"/>
              </a:spcAft>
              <a:buNone/>
            </a:pPr>
            <a:endParaRPr sz="1800">
              <a:solidFill>
                <a:schemeClr val="dk1"/>
              </a:solidFill>
              <a:highlight>
                <a:schemeClr val="lt1"/>
              </a:highlight>
              <a:latin typeface="Times New Roman"/>
              <a:ea typeface="Times New Roman"/>
              <a:cs typeface="Times New Roman"/>
              <a:sym typeface="Times New Roman"/>
            </a:endParaRPr>
          </a:p>
          <a:p>
            <a:pPr marL="0" marR="5080" lvl="0" indent="0" algn="l" rtl="0">
              <a:lnSpc>
                <a:spcPct val="108333"/>
              </a:lnSpc>
              <a:spcBef>
                <a:spcPts val="0"/>
              </a:spcBef>
              <a:spcAft>
                <a:spcPts val="0"/>
              </a:spcAft>
              <a:buNone/>
            </a:pPr>
            <a:endParaRPr sz="1800">
              <a:solidFill>
                <a:schemeClr val="dk1"/>
              </a:solidFill>
              <a:highlight>
                <a:schemeClr val="lt1"/>
              </a:highlight>
              <a:latin typeface="Times New Roman"/>
              <a:ea typeface="Times New Roman"/>
              <a:cs typeface="Times New Roman"/>
              <a:sym typeface="Times New Roman"/>
            </a:endParaRPr>
          </a:p>
          <a:p>
            <a:pPr marL="0" marR="5080" lvl="0" indent="0" algn="l" rtl="0">
              <a:lnSpc>
                <a:spcPct val="108333"/>
              </a:lnSpc>
              <a:spcBef>
                <a:spcPts val="0"/>
              </a:spcBef>
              <a:spcAft>
                <a:spcPts val="0"/>
              </a:spcAft>
              <a:buNone/>
            </a:pPr>
            <a:endParaRPr sz="1800">
              <a:solidFill>
                <a:schemeClr val="dk1"/>
              </a:solidFill>
              <a:highlight>
                <a:schemeClr val="lt1"/>
              </a:highlight>
              <a:latin typeface="Times New Roman"/>
              <a:ea typeface="Times New Roman"/>
              <a:cs typeface="Times New Roman"/>
              <a:sym typeface="Times New Roman"/>
            </a:endParaRPr>
          </a:p>
          <a:p>
            <a:pPr marL="0" marR="5080" lvl="0" indent="0" algn="l" rtl="0">
              <a:lnSpc>
                <a:spcPct val="108333"/>
              </a:lnSpc>
              <a:spcBef>
                <a:spcPts val="0"/>
              </a:spcBef>
              <a:spcAft>
                <a:spcPts val="0"/>
              </a:spcAft>
              <a:buNone/>
            </a:pPr>
            <a:endParaRPr sz="1800">
              <a:solidFill>
                <a:schemeClr val="dk1"/>
              </a:solidFill>
              <a:highlight>
                <a:schemeClr val="lt1"/>
              </a:highlight>
              <a:latin typeface="Times New Roman"/>
              <a:ea typeface="Times New Roman"/>
              <a:cs typeface="Times New Roman"/>
              <a:sym typeface="Times New Roman"/>
            </a:endParaRPr>
          </a:p>
          <a:p>
            <a:pPr marL="0" marR="5080" lvl="0" indent="0" algn="l" rtl="0">
              <a:lnSpc>
                <a:spcPct val="108333"/>
              </a:lnSpc>
              <a:spcBef>
                <a:spcPts val="0"/>
              </a:spcBef>
              <a:spcAft>
                <a:spcPts val="0"/>
              </a:spcAft>
              <a:buNone/>
            </a:pPr>
            <a:endParaRPr sz="1800">
              <a:solidFill>
                <a:schemeClr val="dk1"/>
              </a:solidFill>
              <a:highlight>
                <a:schemeClr val="lt1"/>
              </a:highlight>
              <a:latin typeface="Times New Roman"/>
              <a:ea typeface="Times New Roman"/>
              <a:cs typeface="Times New Roman"/>
              <a:sym typeface="Times New Roman"/>
            </a:endParaRPr>
          </a:p>
          <a:p>
            <a:pPr marL="0" marR="5080" lvl="0" indent="0" algn="l" rtl="0">
              <a:lnSpc>
                <a:spcPct val="108333"/>
              </a:lnSpc>
              <a:spcBef>
                <a:spcPts val="0"/>
              </a:spcBef>
              <a:spcAft>
                <a:spcPts val="0"/>
              </a:spcAft>
              <a:buNone/>
            </a:pPr>
            <a:endParaRPr sz="1800">
              <a:solidFill>
                <a:schemeClr val="dk1"/>
              </a:solidFill>
              <a:highlight>
                <a:schemeClr val="lt1"/>
              </a:highlight>
              <a:latin typeface="Times New Roman"/>
              <a:ea typeface="Times New Roman"/>
              <a:cs typeface="Times New Roman"/>
              <a:sym typeface="Times New Roman"/>
            </a:endParaRPr>
          </a:p>
          <a:p>
            <a:pPr marL="457200" marR="5080" lvl="0" indent="0" algn="l" rtl="0">
              <a:lnSpc>
                <a:spcPct val="108333"/>
              </a:lnSpc>
              <a:spcBef>
                <a:spcPts val="0"/>
              </a:spcBef>
              <a:spcAft>
                <a:spcPts val="0"/>
              </a:spcAft>
              <a:buNone/>
            </a:pPr>
            <a:endParaRPr sz="1800">
              <a:solidFill>
                <a:schemeClr val="dk1"/>
              </a:solidFill>
              <a:highlight>
                <a:schemeClr val="lt1"/>
              </a:highlight>
              <a:latin typeface="Times New Roman"/>
              <a:ea typeface="Times New Roman"/>
              <a:cs typeface="Times New Roman"/>
              <a:sym typeface="Times New Roman"/>
            </a:endParaRPr>
          </a:p>
          <a:p>
            <a:pPr marL="2664460" marR="0" lvl="0" indent="0" algn="l" rtl="0">
              <a:lnSpc>
                <a:spcPct val="100000"/>
              </a:lnSpc>
              <a:spcBef>
                <a:spcPts val="930"/>
              </a:spcBef>
              <a:spcAft>
                <a:spcPts val="0"/>
              </a:spcAft>
              <a:buNone/>
            </a:pPr>
            <a:endParaRPr sz="1800">
              <a:solidFill>
                <a:schemeClr val="dk1"/>
              </a:solidFill>
              <a:highlight>
                <a:schemeClr val="lt1"/>
              </a:highlight>
              <a:latin typeface="Times New Roman"/>
              <a:ea typeface="Times New Roman"/>
              <a:cs typeface="Times New Roman"/>
              <a:sym typeface="Times New Roman"/>
            </a:endParaRPr>
          </a:p>
        </p:txBody>
      </p:sp>
      <p:pic>
        <p:nvPicPr>
          <p:cNvPr id="387" name="Google Shape;387;p38"/>
          <p:cNvPicPr preferRelativeResize="0"/>
          <p:nvPr/>
        </p:nvPicPr>
        <p:blipFill>
          <a:blip r:embed="rId3">
            <a:alphaModFix/>
          </a:blip>
          <a:stretch>
            <a:fillRect/>
          </a:stretch>
        </p:blipFill>
        <p:spPr>
          <a:xfrm>
            <a:off x="1598300" y="3159050"/>
            <a:ext cx="8950374" cy="1573325"/>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Shape 391"/>
        <p:cNvGrpSpPr/>
        <p:nvPr/>
      </p:nvGrpSpPr>
      <p:grpSpPr>
        <a:xfrm>
          <a:off x="0" y="0"/>
          <a:ext cx="0" cy="0"/>
          <a:chOff x="0" y="0"/>
          <a:chExt cx="0" cy="0"/>
        </a:xfrm>
      </p:grpSpPr>
      <p:sp>
        <p:nvSpPr>
          <p:cNvPr id="392" name="Google Shape;392;p39"/>
          <p:cNvSpPr txBox="1">
            <a:spLocks noGrp="1"/>
          </p:cNvSpPr>
          <p:nvPr>
            <p:ph type="title"/>
          </p:nvPr>
        </p:nvSpPr>
        <p:spPr>
          <a:xfrm>
            <a:off x="911225" y="639172"/>
            <a:ext cx="7699375" cy="69596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4400"/>
              <a:t>Minimum Edit Distance Algorithm</a:t>
            </a:r>
            <a:endParaRPr sz="4400"/>
          </a:p>
        </p:txBody>
      </p:sp>
      <p:pic>
        <p:nvPicPr>
          <p:cNvPr id="393" name="Google Shape;393;p39"/>
          <p:cNvPicPr preferRelativeResize="0"/>
          <p:nvPr/>
        </p:nvPicPr>
        <p:blipFill rotWithShape="1">
          <a:blip r:embed="rId3">
            <a:alphaModFix/>
          </a:blip>
          <a:srcRect/>
          <a:stretch/>
        </p:blipFill>
        <p:spPr>
          <a:xfrm>
            <a:off x="1588655" y="1690688"/>
            <a:ext cx="7088617" cy="4486274"/>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MasterSp="0">
  <p:cSld>
    <p:spTree>
      <p:nvGrpSpPr>
        <p:cNvPr id="1" name="Shape 397"/>
        <p:cNvGrpSpPr/>
        <p:nvPr/>
      </p:nvGrpSpPr>
      <p:grpSpPr>
        <a:xfrm>
          <a:off x="0" y="0"/>
          <a:ext cx="0" cy="0"/>
          <a:chOff x="0" y="0"/>
          <a:chExt cx="0" cy="0"/>
        </a:xfrm>
      </p:grpSpPr>
      <p:sp>
        <p:nvSpPr>
          <p:cNvPr id="398" name="Google Shape;398;p40"/>
          <p:cNvSpPr txBox="1">
            <a:spLocks noGrp="1"/>
          </p:cNvSpPr>
          <p:nvPr>
            <p:ph type="title"/>
          </p:nvPr>
        </p:nvSpPr>
        <p:spPr>
          <a:xfrm>
            <a:off x="911225" y="639172"/>
            <a:ext cx="3009265" cy="69596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4400"/>
              <a:t>Computation</a:t>
            </a:r>
            <a:endParaRPr sz="4400"/>
          </a:p>
        </p:txBody>
      </p:sp>
      <p:pic>
        <p:nvPicPr>
          <p:cNvPr id="399" name="Google Shape;399;p40"/>
          <p:cNvPicPr preferRelativeResize="0"/>
          <p:nvPr/>
        </p:nvPicPr>
        <p:blipFill rotWithShape="1">
          <a:blip r:embed="rId3">
            <a:alphaModFix/>
          </a:blip>
          <a:srcRect/>
          <a:stretch/>
        </p:blipFill>
        <p:spPr>
          <a:xfrm>
            <a:off x="3010166" y="1825625"/>
            <a:ext cx="6171668" cy="4351337"/>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MasterSp="0">
  <p:cSld>
    <p:spTree>
      <p:nvGrpSpPr>
        <p:cNvPr id="1" name="Shape 403"/>
        <p:cNvGrpSpPr/>
        <p:nvPr/>
      </p:nvGrpSpPr>
      <p:grpSpPr>
        <a:xfrm>
          <a:off x="0" y="0"/>
          <a:ext cx="0" cy="0"/>
          <a:chOff x="0" y="0"/>
          <a:chExt cx="0" cy="0"/>
        </a:xfrm>
      </p:grpSpPr>
      <p:grpSp>
        <p:nvGrpSpPr>
          <p:cNvPr id="404" name="Google Shape;404;p41"/>
          <p:cNvGrpSpPr/>
          <p:nvPr/>
        </p:nvGrpSpPr>
        <p:grpSpPr>
          <a:xfrm>
            <a:off x="2396703" y="1820874"/>
            <a:ext cx="7463790" cy="4455795"/>
            <a:chOff x="2396703" y="1820874"/>
            <a:chExt cx="7463790" cy="4455795"/>
          </a:xfrm>
        </p:grpSpPr>
        <p:sp>
          <p:nvSpPr>
            <p:cNvPr id="405" name="Google Shape;405;p41"/>
            <p:cNvSpPr/>
            <p:nvPr/>
          </p:nvSpPr>
          <p:spPr>
            <a:xfrm>
              <a:off x="2401453" y="1825624"/>
              <a:ext cx="7454265" cy="4446270"/>
            </a:xfrm>
            <a:custGeom>
              <a:avLst/>
              <a:gdLst/>
              <a:ahLst/>
              <a:cxnLst/>
              <a:rect l="l" t="t" r="r" b="b"/>
              <a:pathLst>
                <a:path w="7454265" h="4446270" extrusionOk="0">
                  <a:moveTo>
                    <a:pt x="7453799" y="4445874"/>
                  </a:moveTo>
                  <a:lnTo>
                    <a:pt x="0" y="4445874"/>
                  </a:lnTo>
                  <a:lnTo>
                    <a:pt x="0" y="0"/>
                  </a:lnTo>
                  <a:lnTo>
                    <a:pt x="7453799" y="0"/>
                  </a:lnTo>
                  <a:lnTo>
                    <a:pt x="7453799" y="4445874"/>
                  </a:lnTo>
                  <a:close/>
                </a:path>
              </a:pathLst>
            </a:custGeom>
            <a:solidFill>
              <a:srgbClr val="E7EBF4"/>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06" name="Google Shape;406;p41"/>
            <p:cNvSpPr/>
            <p:nvPr/>
          </p:nvSpPr>
          <p:spPr>
            <a:xfrm>
              <a:off x="2401443" y="1825637"/>
              <a:ext cx="7454265" cy="635635"/>
            </a:xfrm>
            <a:custGeom>
              <a:avLst/>
              <a:gdLst/>
              <a:ahLst/>
              <a:cxnLst/>
              <a:rect l="l" t="t" r="r" b="b"/>
              <a:pathLst>
                <a:path w="7454265" h="635635" extrusionOk="0">
                  <a:moveTo>
                    <a:pt x="7453808" y="0"/>
                  </a:moveTo>
                  <a:lnTo>
                    <a:pt x="7453808" y="0"/>
                  </a:lnTo>
                  <a:lnTo>
                    <a:pt x="0" y="0"/>
                  </a:lnTo>
                  <a:lnTo>
                    <a:pt x="0" y="635114"/>
                  </a:lnTo>
                  <a:lnTo>
                    <a:pt x="7453808" y="635114"/>
                  </a:lnTo>
                  <a:lnTo>
                    <a:pt x="7453808" y="0"/>
                  </a:lnTo>
                  <a:close/>
                </a:path>
              </a:pathLst>
            </a:custGeom>
            <a:solidFill>
              <a:srgbClr val="4472C4"/>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07" name="Google Shape;407;p41"/>
            <p:cNvSpPr/>
            <p:nvPr/>
          </p:nvSpPr>
          <p:spPr>
            <a:xfrm>
              <a:off x="2401443" y="2460751"/>
              <a:ext cx="7454265" cy="3175635"/>
            </a:xfrm>
            <a:custGeom>
              <a:avLst/>
              <a:gdLst/>
              <a:ahLst/>
              <a:cxnLst/>
              <a:rect l="l" t="t" r="r" b="b"/>
              <a:pathLst>
                <a:path w="7454265" h="3175635" extrusionOk="0">
                  <a:moveTo>
                    <a:pt x="7453808" y="2540508"/>
                  </a:moveTo>
                  <a:lnTo>
                    <a:pt x="7453808" y="2540508"/>
                  </a:lnTo>
                  <a:lnTo>
                    <a:pt x="0" y="2540508"/>
                  </a:lnTo>
                  <a:lnTo>
                    <a:pt x="0" y="3175635"/>
                  </a:lnTo>
                  <a:lnTo>
                    <a:pt x="7453808" y="3175635"/>
                  </a:lnTo>
                  <a:lnTo>
                    <a:pt x="7453808" y="2540508"/>
                  </a:lnTo>
                  <a:close/>
                </a:path>
                <a:path w="7454265" h="3175635" extrusionOk="0">
                  <a:moveTo>
                    <a:pt x="7453808" y="1270254"/>
                  </a:moveTo>
                  <a:lnTo>
                    <a:pt x="7453808" y="1270254"/>
                  </a:lnTo>
                  <a:lnTo>
                    <a:pt x="0" y="1270254"/>
                  </a:lnTo>
                  <a:lnTo>
                    <a:pt x="0" y="1905381"/>
                  </a:lnTo>
                  <a:lnTo>
                    <a:pt x="7453808" y="1905381"/>
                  </a:lnTo>
                  <a:lnTo>
                    <a:pt x="7453808" y="1270254"/>
                  </a:lnTo>
                  <a:close/>
                </a:path>
                <a:path w="7454265" h="3175635" extrusionOk="0">
                  <a:moveTo>
                    <a:pt x="7453808" y="0"/>
                  </a:moveTo>
                  <a:lnTo>
                    <a:pt x="7453808" y="0"/>
                  </a:lnTo>
                  <a:lnTo>
                    <a:pt x="0" y="0"/>
                  </a:lnTo>
                  <a:lnTo>
                    <a:pt x="0" y="635127"/>
                  </a:lnTo>
                  <a:lnTo>
                    <a:pt x="7453808" y="635127"/>
                  </a:lnTo>
                  <a:lnTo>
                    <a:pt x="7453808" y="0"/>
                  </a:lnTo>
                  <a:close/>
                </a:path>
              </a:pathLst>
            </a:custGeom>
            <a:solidFill>
              <a:srgbClr val="CDD4EA"/>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08" name="Google Shape;408;p41"/>
            <p:cNvSpPr/>
            <p:nvPr/>
          </p:nvSpPr>
          <p:spPr>
            <a:xfrm>
              <a:off x="2396703" y="1820874"/>
              <a:ext cx="7463790" cy="4455795"/>
            </a:xfrm>
            <a:custGeom>
              <a:avLst/>
              <a:gdLst/>
              <a:ahLst/>
              <a:cxnLst/>
              <a:rect l="l" t="t" r="r" b="b"/>
              <a:pathLst>
                <a:path w="7463790" h="4455795" extrusionOk="0">
                  <a:moveTo>
                    <a:pt x="4749" y="0"/>
                  </a:moveTo>
                  <a:lnTo>
                    <a:pt x="4749" y="4455374"/>
                  </a:lnTo>
                </a:path>
                <a:path w="7463790" h="4455795" extrusionOk="0">
                  <a:moveTo>
                    <a:pt x="936474" y="0"/>
                  </a:moveTo>
                  <a:lnTo>
                    <a:pt x="936474" y="4455374"/>
                  </a:lnTo>
                </a:path>
                <a:path w="7463790" h="4455795" extrusionOk="0">
                  <a:moveTo>
                    <a:pt x="1868199" y="0"/>
                  </a:moveTo>
                  <a:lnTo>
                    <a:pt x="1868199" y="4455374"/>
                  </a:lnTo>
                </a:path>
                <a:path w="7463790" h="4455795" extrusionOk="0">
                  <a:moveTo>
                    <a:pt x="2799924" y="0"/>
                  </a:moveTo>
                  <a:lnTo>
                    <a:pt x="2799924" y="4455374"/>
                  </a:lnTo>
                </a:path>
                <a:path w="7463790" h="4455795" extrusionOk="0">
                  <a:moveTo>
                    <a:pt x="3731649" y="0"/>
                  </a:moveTo>
                  <a:lnTo>
                    <a:pt x="3731649" y="4455374"/>
                  </a:lnTo>
                </a:path>
                <a:path w="7463790" h="4455795" extrusionOk="0">
                  <a:moveTo>
                    <a:pt x="4663374" y="0"/>
                  </a:moveTo>
                  <a:lnTo>
                    <a:pt x="4663374" y="4455374"/>
                  </a:lnTo>
                </a:path>
                <a:path w="7463790" h="4455795" extrusionOk="0">
                  <a:moveTo>
                    <a:pt x="5595099" y="0"/>
                  </a:moveTo>
                  <a:lnTo>
                    <a:pt x="5595099" y="4455374"/>
                  </a:lnTo>
                </a:path>
                <a:path w="7463790" h="4455795" extrusionOk="0">
                  <a:moveTo>
                    <a:pt x="6526824" y="0"/>
                  </a:moveTo>
                  <a:lnTo>
                    <a:pt x="6526824" y="4455374"/>
                  </a:lnTo>
                </a:path>
                <a:path w="7463790" h="4455795" extrusionOk="0">
                  <a:moveTo>
                    <a:pt x="7458549" y="0"/>
                  </a:moveTo>
                  <a:lnTo>
                    <a:pt x="7458549" y="4455374"/>
                  </a:lnTo>
                </a:path>
                <a:path w="7463790" h="4455795" extrusionOk="0">
                  <a:moveTo>
                    <a:pt x="0" y="4749"/>
                  </a:moveTo>
                  <a:lnTo>
                    <a:pt x="7463299" y="4749"/>
                  </a:lnTo>
                </a:path>
              </a:pathLst>
            </a:custGeom>
            <a:noFill/>
            <a:ln w="12675" cap="flat" cmpd="sng">
              <a:solidFill>
                <a:srgbClr val="FFFFFF"/>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09" name="Google Shape;409;p41"/>
            <p:cNvSpPr/>
            <p:nvPr/>
          </p:nvSpPr>
          <p:spPr>
            <a:xfrm>
              <a:off x="2396703" y="2460749"/>
              <a:ext cx="7463790" cy="0"/>
            </a:xfrm>
            <a:custGeom>
              <a:avLst/>
              <a:gdLst/>
              <a:ahLst/>
              <a:cxnLst/>
              <a:rect l="l" t="t" r="r" b="b"/>
              <a:pathLst>
                <a:path w="7463790" h="120000" extrusionOk="0">
                  <a:moveTo>
                    <a:pt x="0" y="0"/>
                  </a:moveTo>
                  <a:lnTo>
                    <a:pt x="7463299" y="0"/>
                  </a:lnTo>
                </a:path>
              </a:pathLst>
            </a:custGeom>
            <a:noFill/>
            <a:ln w="38075" cap="flat" cmpd="sng">
              <a:solidFill>
                <a:srgbClr val="FFFFFF"/>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10" name="Google Shape;410;p41"/>
            <p:cNvSpPr/>
            <p:nvPr/>
          </p:nvSpPr>
          <p:spPr>
            <a:xfrm>
              <a:off x="2396703" y="3095874"/>
              <a:ext cx="7463790" cy="3175635"/>
            </a:xfrm>
            <a:custGeom>
              <a:avLst/>
              <a:gdLst/>
              <a:ahLst/>
              <a:cxnLst/>
              <a:rect l="l" t="t" r="r" b="b"/>
              <a:pathLst>
                <a:path w="7463790" h="3175635" extrusionOk="0">
                  <a:moveTo>
                    <a:pt x="0" y="0"/>
                  </a:moveTo>
                  <a:lnTo>
                    <a:pt x="7463299" y="0"/>
                  </a:lnTo>
                </a:path>
                <a:path w="7463790" h="3175635" extrusionOk="0">
                  <a:moveTo>
                    <a:pt x="0" y="635124"/>
                  </a:moveTo>
                  <a:lnTo>
                    <a:pt x="7463299" y="635124"/>
                  </a:lnTo>
                </a:path>
                <a:path w="7463790" h="3175635" extrusionOk="0">
                  <a:moveTo>
                    <a:pt x="0" y="1270249"/>
                  </a:moveTo>
                  <a:lnTo>
                    <a:pt x="7463299" y="1270249"/>
                  </a:lnTo>
                </a:path>
                <a:path w="7463790" h="3175635" extrusionOk="0">
                  <a:moveTo>
                    <a:pt x="0" y="1905374"/>
                  </a:moveTo>
                  <a:lnTo>
                    <a:pt x="7463299" y="1905374"/>
                  </a:lnTo>
                </a:path>
                <a:path w="7463790" h="3175635" extrusionOk="0">
                  <a:moveTo>
                    <a:pt x="0" y="2540499"/>
                  </a:moveTo>
                  <a:lnTo>
                    <a:pt x="7463299" y="2540499"/>
                  </a:lnTo>
                </a:path>
                <a:path w="7463790" h="3175635" extrusionOk="0">
                  <a:moveTo>
                    <a:pt x="0" y="3175624"/>
                  </a:moveTo>
                  <a:lnTo>
                    <a:pt x="7463299" y="3175624"/>
                  </a:lnTo>
                </a:path>
              </a:pathLst>
            </a:custGeom>
            <a:noFill/>
            <a:ln w="12675" cap="flat" cmpd="sng">
              <a:solidFill>
                <a:srgbClr val="FFFFFF"/>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sp>
        <p:nvSpPr>
          <p:cNvPr id="411" name="Google Shape;411;p41"/>
          <p:cNvSpPr txBox="1"/>
          <p:nvPr/>
        </p:nvSpPr>
        <p:spPr>
          <a:xfrm>
            <a:off x="3406204" y="1841880"/>
            <a:ext cx="139700" cy="2997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800" b="1">
                <a:solidFill>
                  <a:srgbClr val="FFFFFF"/>
                </a:solidFill>
                <a:latin typeface="Calibri"/>
                <a:ea typeface="Calibri"/>
                <a:cs typeface="Calibri"/>
                <a:sym typeface="Calibri"/>
              </a:rPr>
              <a:t>#</a:t>
            </a:r>
            <a:endParaRPr sz="1800">
              <a:solidFill>
                <a:schemeClr val="dk1"/>
              </a:solidFill>
              <a:latin typeface="Calibri"/>
              <a:ea typeface="Calibri"/>
              <a:cs typeface="Calibri"/>
              <a:sym typeface="Calibri"/>
            </a:endParaRPr>
          </a:p>
        </p:txBody>
      </p:sp>
      <p:sp>
        <p:nvSpPr>
          <p:cNvPr id="412" name="Google Shape;412;p41"/>
          <p:cNvSpPr txBox="1"/>
          <p:nvPr/>
        </p:nvSpPr>
        <p:spPr>
          <a:xfrm>
            <a:off x="4337929" y="1841880"/>
            <a:ext cx="104775" cy="2997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800" b="1">
                <a:solidFill>
                  <a:srgbClr val="FFFFFF"/>
                </a:solidFill>
                <a:latin typeface="Calibri"/>
                <a:ea typeface="Calibri"/>
                <a:cs typeface="Calibri"/>
                <a:sym typeface="Calibri"/>
              </a:rPr>
              <a:t>t</a:t>
            </a:r>
            <a:endParaRPr sz="1800">
              <a:solidFill>
                <a:schemeClr val="dk1"/>
              </a:solidFill>
              <a:latin typeface="Calibri"/>
              <a:ea typeface="Calibri"/>
              <a:cs typeface="Calibri"/>
              <a:sym typeface="Calibri"/>
            </a:endParaRPr>
          </a:p>
        </p:txBody>
      </p:sp>
      <p:sp>
        <p:nvSpPr>
          <p:cNvPr id="413" name="Google Shape;413;p41"/>
          <p:cNvSpPr txBox="1"/>
          <p:nvPr/>
        </p:nvSpPr>
        <p:spPr>
          <a:xfrm>
            <a:off x="5269653" y="1841880"/>
            <a:ext cx="148590" cy="2997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800" b="1">
                <a:solidFill>
                  <a:srgbClr val="FFFFFF"/>
                </a:solidFill>
                <a:latin typeface="Calibri"/>
                <a:ea typeface="Calibri"/>
                <a:cs typeface="Calibri"/>
                <a:sym typeface="Calibri"/>
              </a:rPr>
              <a:t>u</a:t>
            </a:r>
            <a:endParaRPr sz="1800">
              <a:solidFill>
                <a:schemeClr val="dk1"/>
              </a:solidFill>
              <a:latin typeface="Calibri"/>
              <a:ea typeface="Calibri"/>
              <a:cs typeface="Calibri"/>
              <a:sym typeface="Calibri"/>
            </a:endParaRPr>
          </a:p>
        </p:txBody>
      </p:sp>
      <p:sp>
        <p:nvSpPr>
          <p:cNvPr id="414" name="Google Shape;414;p41"/>
          <p:cNvSpPr txBox="1"/>
          <p:nvPr/>
        </p:nvSpPr>
        <p:spPr>
          <a:xfrm>
            <a:off x="6201378" y="1841880"/>
            <a:ext cx="211454" cy="2997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800" b="1">
                <a:solidFill>
                  <a:srgbClr val="FFFFFF"/>
                </a:solidFill>
                <a:latin typeface="Calibri"/>
                <a:ea typeface="Calibri"/>
                <a:cs typeface="Calibri"/>
                <a:sym typeface="Calibri"/>
              </a:rPr>
              <a:t>m</a:t>
            </a:r>
            <a:endParaRPr sz="1800">
              <a:solidFill>
                <a:schemeClr val="dk1"/>
              </a:solidFill>
              <a:latin typeface="Calibri"/>
              <a:ea typeface="Calibri"/>
              <a:cs typeface="Calibri"/>
              <a:sym typeface="Calibri"/>
            </a:endParaRPr>
          </a:p>
        </p:txBody>
      </p:sp>
      <p:sp>
        <p:nvSpPr>
          <p:cNvPr id="415" name="Google Shape;415;p41"/>
          <p:cNvSpPr txBox="1"/>
          <p:nvPr/>
        </p:nvSpPr>
        <p:spPr>
          <a:xfrm>
            <a:off x="7133104" y="1841880"/>
            <a:ext cx="148590" cy="2997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800" b="1">
                <a:solidFill>
                  <a:srgbClr val="FFFFFF"/>
                </a:solidFill>
                <a:latin typeface="Calibri"/>
                <a:ea typeface="Calibri"/>
                <a:cs typeface="Calibri"/>
                <a:sym typeface="Calibri"/>
              </a:rPr>
              <a:t>o</a:t>
            </a:r>
            <a:endParaRPr sz="1800">
              <a:solidFill>
                <a:schemeClr val="dk1"/>
              </a:solidFill>
              <a:latin typeface="Calibri"/>
              <a:ea typeface="Calibri"/>
              <a:cs typeface="Calibri"/>
              <a:sym typeface="Calibri"/>
            </a:endParaRPr>
          </a:p>
        </p:txBody>
      </p:sp>
      <p:sp>
        <p:nvSpPr>
          <p:cNvPr id="416" name="Google Shape;416;p41"/>
          <p:cNvSpPr txBox="1"/>
          <p:nvPr/>
        </p:nvSpPr>
        <p:spPr>
          <a:xfrm>
            <a:off x="8064829" y="1841880"/>
            <a:ext cx="148590" cy="2997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800" b="1">
                <a:solidFill>
                  <a:srgbClr val="FFFFFF"/>
                </a:solidFill>
                <a:latin typeface="Calibri"/>
                <a:ea typeface="Calibri"/>
                <a:cs typeface="Calibri"/>
                <a:sym typeface="Calibri"/>
              </a:rPr>
              <a:t>u</a:t>
            </a:r>
            <a:endParaRPr sz="1800">
              <a:solidFill>
                <a:schemeClr val="dk1"/>
              </a:solidFill>
              <a:latin typeface="Calibri"/>
              <a:ea typeface="Calibri"/>
              <a:cs typeface="Calibri"/>
              <a:sym typeface="Calibri"/>
            </a:endParaRPr>
          </a:p>
        </p:txBody>
      </p:sp>
      <p:sp>
        <p:nvSpPr>
          <p:cNvPr id="417" name="Google Shape;417;p41"/>
          <p:cNvSpPr txBox="1"/>
          <p:nvPr/>
        </p:nvSpPr>
        <p:spPr>
          <a:xfrm>
            <a:off x="8996554" y="1841880"/>
            <a:ext cx="106680" cy="2997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800" b="1">
                <a:solidFill>
                  <a:srgbClr val="FFFFFF"/>
                </a:solidFill>
                <a:latin typeface="Calibri"/>
                <a:ea typeface="Calibri"/>
                <a:cs typeface="Calibri"/>
                <a:sym typeface="Calibri"/>
              </a:rPr>
              <a:t>r</a:t>
            </a:r>
            <a:endParaRPr sz="1800">
              <a:solidFill>
                <a:schemeClr val="dk1"/>
              </a:solidFill>
              <a:latin typeface="Calibri"/>
              <a:ea typeface="Calibri"/>
              <a:cs typeface="Calibri"/>
              <a:sym typeface="Calibri"/>
            </a:endParaRPr>
          </a:p>
        </p:txBody>
      </p:sp>
      <p:sp>
        <p:nvSpPr>
          <p:cNvPr id="418" name="Google Shape;418;p41"/>
          <p:cNvSpPr txBox="1"/>
          <p:nvPr/>
        </p:nvSpPr>
        <p:spPr>
          <a:xfrm>
            <a:off x="2474478" y="2477006"/>
            <a:ext cx="139700" cy="2997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800">
                <a:solidFill>
                  <a:schemeClr val="dk1"/>
                </a:solidFill>
                <a:latin typeface="Calibri"/>
                <a:ea typeface="Calibri"/>
                <a:cs typeface="Calibri"/>
                <a:sym typeface="Calibri"/>
              </a:rPr>
              <a:t>#</a:t>
            </a:r>
            <a:endParaRPr sz="1800">
              <a:solidFill>
                <a:schemeClr val="dk1"/>
              </a:solidFill>
              <a:latin typeface="Calibri"/>
              <a:ea typeface="Calibri"/>
              <a:cs typeface="Calibri"/>
              <a:sym typeface="Calibri"/>
            </a:endParaRPr>
          </a:p>
        </p:txBody>
      </p:sp>
      <p:sp>
        <p:nvSpPr>
          <p:cNvPr id="419" name="Google Shape;419;p41"/>
          <p:cNvSpPr txBox="1"/>
          <p:nvPr/>
        </p:nvSpPr>
        <p:spPr>
          <a:xfrm>
            <a:off x="3406204" y="2477006"/>
            <a:ext cx="141605" cy="2997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800">
                <a:solidFill>
                  <a:srgbClr val="FF0000"/>
                </a:solidFill>
                <a:latin typeface="Calibri"/>
                <a:ea typeface="Calibri"/>
                <a:cs typeface="Calibri"/>
                <a:sym typeface="Calibri"/>
              </a:rPr>
              <a:t>0</a:t>
            </a:r>
            <a:endParaRPr sz="1800">
              <a:solidFill>
                <a:schemeClr val="dk1"/>
              </a:solidFill>
              <a:latin typeface="Calibri"/>
              <a:ea typeface="Calibri"/>
              <a:cs typeface="Calibri"/>
              <a:sym typeface="Calibri"/>
            </a:endParaRPr>
          </a:p>
        </p:txBody>
      </p:sp>
      <p:sp>
        <p:nvSpPr>
          <p:cNvPr id="420" name="Google Shape;420;p41"/>
          <p:cNvSpPr txBox="1"/>
          <p:nvPr/>
        </p:nvSpPr>
        <p:spPr>
          <a:xfrm>
            <a:off x="4337929" y="2477006"/>
            <a:ext cx="141605" cy="2997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800">
                <a:solidFill>
                  <a:srgbClr val="FF0000"/>
                </a:solidFill>
                <a:latin typeface="Calibri"/>
                <a:ea typeface="Calibri"/>
                <a:cs typeface="Calibri"/>
                <a:sym typeface="Calibri"/>
              </a:rPr>
              <a:t>1</a:t>
            </a:r>
            <a:endParaRPr sz="1800">
              <a:solidFill>
                <a:schemeClr val="dk1"/>
              </a:solidFill>
              <a:latin typeface="Calibri"/>
              <a:ea typeface="Calibri"/>
              <a:cs typeface="Calibri"/>
              <a:sym typeface="Calibri"/>
            </a:endParaRPr>
          </a:p>
        </p:txBody>
      </p:sp>
      <p:sp>
        <p:nvSpPr>
          <p:cNvPr id="421" name="Google Shape;421;p41"/>
          <p:cNvSpPr txBox="1"/>
          <p:nvPr/>
        </p:nvSpPr>
        <p:spPr>
          <a:xfrm>
            <a:off x="5269653" y="2477006"/>
            <a:ext cx="141605" cy="2997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800">
                <a:solidFill>
                  <a:srgbClr val="FF0000"/>
                </a:solidFill>
                <a:latin typeface="Calibri"/>
                <a:ea typeface="Calibri"/>
                <a:cs typeface="Calibri"/>
                <a:sym typeface="Calibri"/>
              </a:rPr>
              <a:t>2</a:t>
            </a:r>
            <a:endParaRPr sz="1800">
              <a:solidFill>
                <a:schemeClr val="dk1"/>
              </a:solidFill>
              <a:latin typeface="Calibri"/>
              <a:ea typeface="Calibri"/>
              <a:cs typeface="Calibri"/>
              <a:sym typeface="Calibri"/>
            </a:endParaRPr>
          </a:p>
        </p:txBody>
      </p:sp>
      <p:sp>
        <p:nvSpPr>
          <p:cNvPr id="422" name="Google Shape;422;p41"/>
          <p:cNvSpPr txBox="1"/>
          <p:nvPr/>
        </p:nvSpPr>
        <p:spPr>
          <a:xfrm>
            <a:off x="6201378" y="2477006"/>
            <a:ext cx="141605" cy="2997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800">
                <a:solidFill>
                  <a:srgbClr val="FF0000"/>
                </a:solidFill>
                <a:latin typeface="Calibri"/>
                <a:ea typeface="Calibri"/>
                <a:cs typeface="Calibri"/>
                <a:sym typeface="Calibri"/>
              </a:rPr>
              <a:t>3</a:t>
            </a:r>
            <a:endParaRPr sz="1800">
              <a:solidFill>
                <a:schemeClr val="dk1"/>
              </a:solidFill>
              <a:latin typeface="Calibri"/>
              <a:ea typeface="Calibri"/>
              <a:cs typeface="Calibri"/>
              <a:sym typeface="Calibri"/>
            </a:endParaRPr>
          </a:p>
        </p:txBody>
      </p:sp>
      <p:sp>
        <p:nvSpPr>
          <p:cNvPr id="423" name="Google Shape;423;p41"/>
          <p:cNvSpPr txBox="1"/>
          <p:nvPr/>
        </p:nvSpPr>
        <p:spPr>
          <a:xfrm>
            <a:off x="7133104" y="2477006"/>
            <a:ext cx="141605" cy="2997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800">
                <a:solidFill>
                  <a:srgbClr val="FF0000"/>
                </a:solidFill>
                <a:latin typeface="Calibri"/>
                <a:ea typeface="Calibri"/>
                <a:cs typeface="Calibri"/>
                <a:sym typeface="Calibri"/>
              </a:rPr>
              <a:t>4</a:t>
            </a:r>
            <a:endParaRPr sz="1800">
              <a:solidFill>
                <a:schemeClr val="dk1"/>
              </a:solidFill>
              <a:latin typeface="Calibri"/>
              <a:ea typeface="Calibri"/>
              <a:cs typeface="Calibri"/>
              <a:sym typeface="Calibri"/>
            </a:endParaRPr>
          </a:p>
        </p:txBody>
      </p:sp>
      <p:sp>
        <p:nvSpPr>
          <p:cNvPr id="424" name="Google Shape;424;p41"/>
          <p:cNvSpPr txBox="1"/>
          <p:nvPr/>
        </p:nvSpPr>
        <p:spPr>
          <a:xfrm>
            <a:off x="8064829" y="2477006"/>
            <a:ext cx="141605" cy="2997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800">
                <a:solidFill>
                  <a:srgbClr val="FF0000"/>
                </a:solidFill>
                <a:latin typeface="Calibri"/>
                <a:ea typeface="Calibri"/>
                <a:cs typeface="Calibri"/>
                <a:sym typeface="Calibri"/>
              </a:rPr>
              <a:t>5</a:t>
            </a:r>
            <a:endParaRPr sz="1800">
              <a:solidFill>
                <a:schemeClr val="dk1"/>
              </a:solidFill>
              <a:latin typeface="Calibri"/>
              <a:ea typeface="Calibri"/>
              <a:cs typeface="Calibri"/>
              <a:sym typeface="Calibri"/>
            </a:endParaRPr>
          </a:p>
        </p:txBody>
      </p:sp>
      <p:sp>
        <p:nvSpPr>
          <p:cNvPr id="425" name="Google Shape;425;p41"/>
          <p:cNvSpPr txBox="1"/>
          <p:nvPr/>
        </p:nvSpPr>
        <p:spPr>
          <a:xfrm>
            <a:off x="8996554" y="2477006"/>
            <a:ext cx="141605" cy="2997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800">
                <a:solidFill>
                  <a:srgbClr val="FF0000"/>
                </a:solidFill>
                <a:latin typeface="Calibri"/>
                <a:ea typeface="Calibri"/>
                <a:cs typeface="Calibri"/>
                <a:sym typeface="Calibri"/>
              </a:rPr>
              <a:t>6</a:t>
            </a:r>
            <a:endParaRPr sz="1800">
              <a:solidFill>
                <a:schemeClr val="dk1"/>
              </a:solidFill>
              <a:latin typeface="Calibri"/>
              <a:ea typeface="Calibri"/>
              <a:cs typeface="Calibri"/>
              <a:sym typeface="Calibri"/>
            </a:endParaRPr>
          </a:p>
        </p:txBody>
      </p:sp>
      <p:sp>
        <p:nvSpPr>
          <p:cNvPr id="426" name="Google Shape;426;p41"/>
          <p:cNvSpPr txBox="1"/>
          <p:nvPr/>
        </p:nvSpPr>
        <p:spPr>
          <a:xfrm>
            <a:off x="2474478" y="3112130"/>
            <a:ext cx="102235" cy="2997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800">
                <a:solidFill>
                  <a:schemeClr val="dk1"/>
                </a:solidFill>
                <a:latin typeface="Calibri"/>
                <a:ea typeface="Calibri"/>
                <a:cs typeface="Calibri"/>
                <a:sym typeface="Calibri"/>
              </a:rPr>
              <a:t>t</a:t>
            </a:r>
            <a:endParaRPr sz="1800">
              <a:solidFill>
                <a:schemeClr val="dk1"/>
              </a:solidFill>
              <a:latin typeface="Calibri"/>
              <a:ea typeface="Calibri"/>
              <a:cs typeface="Calibri"/>
              <a:sym typeface="Calibri"/>
            </a:endParaRPr>
          </a:p>
        </p:txBody>
      </p:sp>
      <p:sp>
        <p:nvSpPr>
          <p:cNvPr id="427" name="Google Shape;427;p41"/>
          <p:cNvSpPr txBox="1"/>
          <p:nvPr/>
        </p:nvSpPr>
        <p:spPr>
          <a:xfrm>
            <a:off x="3406204" y="3112130"/>
            <a:ext cx="141605" cy="2997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800">
                <a:solidFill>
                  <a:srgbClr val="FF0000"/>
                </a:solidFill>
                <a:latin typeface="Calibri"/>
                <a:ea typeface="Calibri"/>
                <a:cs typeface="Calibri"/>
                <a:sym typeface="Calibri"/>
              </a:rPr>
              <a:t>1</a:t>
            </a:r>
            <a:endParaRPr sz="1800">
              <a:solidFill>
                <a:schemeClr val="dk1"/>
              </a:solidFill>
              <a:latin typeface="Calibri"/>
              <a:ea typeface="Calibri"/>
              <a:cs typeface="Calibri"/>
              <a:sym typeface="Calibri"/>
            </a:endParaRPr>
          </a:p>
        </p:txBody>
      </p:sp>
      <p:sp>
        <p:nvSpPr>
          <p:cNvPr id="428" name="Google Shape;428;p41"/>
          <p:cNvSpPr txBox="1"/>
          <p:nvPr/>
        </p:nvSpPr>
        <p:spPr>
          <a:xfrm>
            <a:off x="4337929" y="3112130"/>
            <a:ext cx="141605" cy="2997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800">
                <a:solidFill>
                  <a:schemeClr val="dk1"/>
                </a:solidFill>
                <a:latin typeface="Calibri"/>
                <a:ea typeface="Calibri"/>
                <a:cs typeface="Calibri"/>
                <a:sym typeface="Calibri"/>
              </a:rPr>
              <a:t>0</a:t>
            </a:r>
            <a:endParaRPr sz="1800">
              <a:solidFill>
                <a:schemeClr val="dk1"/>
              </a:solidFill>
              <a:latin typeface="Calibri"/>
              <a:ea typeface="Calibri"/>
              <a:cs typeface="Calibri"/>
              <a:sym typeface="Calibri"/>
            </a:endParaRPr>
          </a:p>
        </p:txBody>
      </p:sp>
      <p:sp>
        <p:nvSpPr>
          <p:cNvPr id="429" name="Google Shape;429;p41"/>
          <p:cNvSpPr txBox="1"/>
          <p:nvPr/>
        </p:nvSpPr>
        <p:spPr>
          <a:xfrm>
            <a:off x="5269653" y="3112130"/>
            <a:ext cx="141605" cy="2997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800">
                <a:solidFill>
                  <a:schemeClr val="dk1"/>
                </a:solidFill>
                <a:latin typeface="Calibri"/>
                <a:ea typeface="Calibri"/>
                <a:cs typeface="Calibri"/>
                <a:sym typeface="Calibri"/>
              </a:rPr>
              <a:t>1</a:t>
            </a:r>
            <a:endParaRPr sz="1800">
              <a:solidFill>
                <a:schemeClr val="dk1"/>
              </a:solidFill>
              <a:latin typeface="Calibri"/>
              <a:ea typeface="Calibri"/>
              <a:cs typeface="Calibri"/>
              <a:sym typeface="Calibri"/>
            </a:endParaRPr>
          </a:p>
        </p:txBody>
      </p:sp>
      <p:sp>
        <p:nvSpPr>
          <p:cNvPr id="430" name="Google Shape;430;p41"/>
          <p:cNvSpPr txBox="1"/>
          <p:nvPr/>
        </p:nvSpPr>
        <p:spPr>
          <a:xfrm>
            <a:off x="6201378" y="3112130"/>
            <a:ext cx="141605" cy="2997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800">
                <a:solidFill>
                  <a:schemeClr val="dk1"/>
                </a:solidFill>
                <a:latin typeface="Calibri"/>
                <a:ea typeface="Calibri"/>
                <a:cs typeface="Calibri"/>
                <a:sym typeface="Calibri"/>
              </a:rPr>
              <a:t>2</a:t>
            </a:r>
            <a:endParaRPr sz="1800">
              <a:solidFill>
                <a:schemeClr val="dk1"/>
              </a:solidFill>
              <a:latin typeface="Calibri"/>
              <a:ea typeface="Calibri"/>
              <a:cs typeface="Calibri"/>
              <a:sym typeface="Calibri"/>
            </a:endParaRPr>
          </a:p>
        </p:txBody>
      </p:sp>
      <p:sp>
        <p:nvSpPr>
          <p:cNvPr id="431" name="Google Shape;431;p41"/>
          <p:cNvSpPr txBox="1"/>
          <p:nvPr/>
        </p:nvSpPr>
        <p:spPr>
          <a:xfrm>
            <a:off x="7133104" y="3112130"/>
            <a:ext cx="141605" cy="2997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800">
                <a:solidFill>
                  <a:schemeClr val="dk1"/>
                </a:solidFill>
                <a:latin typeface="Calibri"/>
                <a:ea typeface="Calibri"/>
                <a:cs typeface="Calibri"/>
                <a:sym typeface="Calibri"/>
              </a:rPr>
              <a:t>3</a:t>
            </a:r>
            <a:endParaRPr sz="1800">
              <a:solidFill>
                <a:schemeClr val="dk1"/>
              </a:solidFill>
              <a:latin typeface="Calibri"/>
              <a:ea typeface="Calibri"/>
              <a:cs typeface="Calibri"/>
              <a:sym typeface="Calibri"/>
            </a:endParaRPr>
          </a:p>
        </p:txBody>
      </p:sp>
      <p:sp>
        <p:nvSpPr>
          <p:cNvPr id="432" name="Google Shape;432;p41"/>
          <p:cNvSpPr txBox="1"/>
          <p:nvPr/>
        </p:nvSpPr>
        <p:spPr>
          <a:xfrm>
            <a:off x="8064829" y="3112130"/>
            <a:ext cx="141605" cy="2997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800">
                <a:solidFill>
                  <a:schemeClr val="dk1"/>
                </a:solidFill>
                <a:latin typeface="Calibri"/>
                <a:ea typeface="Calibri"/>
                <a:cs typeface="Calibri"/>
                <a:sym typeface="Calibri"/>
              </a:rPr>
              <a:t>4</a:t>
            </a:r>
            <a:endParaRPr sz="1800">
              <a:solidFill>
                <a:schemeClr val="dk1"/>
              </a:solidFill>
              <a:latin typeface="Calibri"/>
              <a:ea typeface="Calibri"/>
              <a:cs typeface="Calibri"/>
              <a:sym typeface="Calibri"/>
            </a:endParaRPr>
          </a:p>
        </p:txBody>
      </p:sp>
      <p:sp>
        <p:nvSpPr>
          <p:cNvPr id="433" name="Google Shape;433;p41"/>
          <p:cNvSpPr txBox="1"/>
          <p:nvPr/>
        </p:nvSpPr>
        <p:spPr>
          <a:xfrm>
            <a:off x="8996554" y="3112130"/>
            <a:ext cx="141605" cy="2997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800">
                <a:solidFill>
                  <a:schemeClr val="dk1"/>
                </a:solidFill>
                <a:latin typeface="Calibri"/>
                <a:ea typeface="Calibri"/>
                <a:cs typeface="Calibri"/>
                <a:sym typeface="Calibri"/>
              </a:rPr>
              <a:t>5</a:t>
            </a:r>
            <a:endParaRPr sz="1800">
              <a:solidFill>
                <a:schemeClr val="dk1"/>
              </a:solidFill>
              <a:latin typeface="Calibri"/>
              <a:ea typeface="Calibri"/>
              <a:cs typeface="Calibri"/>
              <a:sym typeface="Calibri"/>
            </a:endParaRPr>
          </a:p>
        </p:txBody>
      </p:sp>
      <p:sp>
        <p:nvSpPr>
          <p:cNvPr id="434" name="Google Shape;434;p41"/>
          <p:cNvSpPr txBox="1"/>
          <p:nvPr/>
        </p:nvSpPr>
        <p:spPr>
          <a:xfrm>
            <a:off x="2474478" y="3747255"/>
            <a:ext cx="146050" cy="2997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800">
                <a:solidFill>
                  <a:schemeClr val="dk1"/>
                </a:solidFill>
                <a:latin typeface="Calibri"/>
                <a:ea typeface="Calibri"/>
                <a:cs typeface="Calibri"/>
                <a:sym typeface="Calibri"/>
              </a:rPr>
              <a:t>u</a:t>
            </a:r>
            <a:endParaRPr sz="1800">
              <a:solidFill>
                <a:schemeClr val="dk1"/>
              </a:solidFill>
              <a:latin typeface="Calibri"/>
              <a:ea typeface="Calibri"/>
              <a:cs typeface="Calibri"/>
              <a:sym typeface="Calibri"/>
            </a:endParaRPr>
          </a:p>
        </p:txBody>
      </p:sp>
      <p:sp>
        <p:nvSpPr>
          <p:cNvPr id="435" name="Google Shape;435;p41"/>
          <p:cNvSpPr txBox="1"/>
          <p:nvPr/>
        </p:nvSpPr>
        <p:spPr>
          <a:xfrm>
            <a:off x="3406204" y="3747255"/>
            <a:ext cx="141605" cy="2997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800">
                <a:solidFill>
                  <a:srgbClr val="FF0000"/>
                </a:solidFill>
                <a:latin typeface="Calibri"/>
                <a:ea typeface="Calibri"/>
                <a:cs typeface="Calibri"/>
                <a:sym typeface="Calibri"/>
              </a:rPr>
              <a:t>2</a:t>
            </a:r>
            <a:endParaRPr sz="1800">
              <a:solidFill>
                <a:schemeClr val="dk1"/>
              </a:solidFill>
              <a:latin typeface="Calibri"/>
              <a:ea typeface="Calibri"/>
              <a:cs typeface="Calibri"/>
              <a:sym typeface="Calibri"/>
            </a:endParaRPr>
          </a:p>
        </p:txBody>
      </p:sp>
      <p:sp>
        <p:nvSpPr>
          <p:cNvPr id="436" name="Google Shape;436;p41"/>
          <p:cNvSpPr txBox="1"/>
          <p:nvPr/>
        </p:nvSpPr>
        <p:spPr>
          <a:xfrm>
            <a:off x="4337929" y="3747255"/>
            <a:ext cx="141605" cy="2997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800">
                <a:solidFill>
                  <a:srgbClr val="FF0000"/>
                </a:solidFill>
                <a:latin typeface="Calibri"/>
                <a:ea typeface="Calibri"/>
                <a:cs typeface="Calibri"/>
                <a:sym typeface="Calibri"/>
              </a:rPr>
              <a:t>1</a:t>
            </a:r>
            <a:endParaRPr sz="1800">
              <a:solidFill>
                <a:schemeClr val="dk1"/>
              </a:solidFill>
              <a:latin typeface="Calibri"/>
              <a:ea typeface="Calibri"/>
              <a:cs typeface="Calibri"/>
              <a:sym typeface="Calibri"/>
            </a:endParaRPr>
          </a:p>
        </p:txBody>
      </p:sp>
      <p:sp>
        <p:nvSpPr>
          <p:cNvPr id="437" name="Google Shape;437;p41"/>
          <p:cNvSpPr/>
          <p:nvPr/>
        </p:nvSpPr>
        <p:spPr>
          <a:xfrm>
            <a:off x="5282353" y="3769099"/>
            <a:ext cx="116205" cy="274320"/>
          </a:xfrm>
          <a:custGeom>
            <a:avLst/>
            <a:gdLst/>
            <a:ahLst/>
            <a:cxnLst/>
            <a:rect l="l" t="t" r="r" b="b"/>
            <a:pathLst>
              <a:path w="116204" h="274320" extrusionOk="0">
                <a:moveTo>
                  <a:pt x="115862" y="274320"/>
                </a:moveTo>
                <a:lnTo>
                  <a:pt x="0" y="274320"/>
                </a:lnTo>
                <a:lnTo>
                  <a:pt x="0" y="0"/>
                </a:lnTo>
                <a:lnTo>
                  <a:pt x="115862" y="0"/>
                </a:lnTo>
                <a:lnTo>
                  <a:pt x="115862" y="274320"/>
                </a:lnTo>
                <a:close/>
              </a:path>
            </a:pathLst>
          </a:custGeom>
          <a:solidFill>
            <a:srgbClr val="00FF00"/>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38" name="Google Shape;438;p41"/>
          <p:cNvSpPr txBox="1"/>
          <p:nvPr/>
        </p:nvSpPr>
        <p:spPr>
          <a:xfrm>
            <a:off x="5282353" y="3769099"/>
            <a:ext cx="128905" cy="274320"/>
          </a:xfrm>
          <a:prstGeom prst="rect">
            <a:avLst/>
          </a:prstGeom>
          <a:noFill/>
          <a:ln>
            <a:noFill/>
          </a:ln>
        </p:spPr>
        <p:txBody>
          <a:bodyPr spcFirstLastPara="1" wrap="square" lIns="0" tIns="0" rIns="0" bIns="0" anchor="t" anchorCtr="0">
            <a:spAutoFit/>
          </a:bodyPr>
          <a:lstStyle/>
          <a:p>
            <a:pPr marL="0" marR="0" lvl="0" indent="0" algn="l" rtl="0">
              <a:lnSpc>
                <a:spcPct val="116111"/>
              </a:lnSpc>
              <a:spcBef>
                <a:spcPts val="0"/>
              </a:spcBef>
              <a:spcAft>
                <a:spcPts val="0"/>
              </a:spcAft>
              <a:buNone/>
            </a:pPr>
            <a:r>
              <a:rPr lang="en-US" sz="1800">
                <a:solidFill>
                  <a:schemeClr val="dk1"/>
                </a:solidFill>
                <a:latin typeface="Calibri"/>
                <a:ea typeface="Calibri"/>
                <a:cs typeface="Calibri"/>
                <a:sym typeface="Calibri"/>
              </a:rPr>
              <a:t>0</a:t>
            </a:r>
            <a:endParaRPr sz="1800">
              <a:solidFill>
                <a:schemeClr val="dk1"/>
              </a:solidFill>
              <a:latin typeface="Calibri"/>
              <a:ea typeface="Calibri"/>
              <a:cs typeface="Calibri"/>
              <a:sym typeface="Calibri"/>
            </a:endParaRPr>
          </a:p>
        </p:txBody>
      </p:sp>
      <p:sp>
        <p:nvSpPr>
          <p:cNvPr id="439" name="Google Shape;439;p41"/>
          <p:cNvSpPr txBox="1"/>
          <p:nvPr/>
        </p:nvSpPr>
        <p:spPr>
          <a:xfrm>
            <a:off x="6201378" y="3747255"/>
            <a:ext cx="141605" cy="2997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800">
                <a:solidFill>
                  <a:schemeClr val="dk1"/>
                </a:solidFill>
                <a:latin typeface="Calibri"/>
                <a:ea typeface="Calibri"/>
                <a:cs typeface="Calibri"/>
                <a:sym typeface="Calibri"/>
              </a:rPr>
              <a:t>1</a:t>
            </a:r>
            <a:endParaRPr sz="1800">
              <a:solidFill>
                <a:schemeClr val="dk1"/>
              </a:solidFill>
              <a:latin typeface="Calibri"/>
              <a:ea typeface="Calibri"/>
              <a:cs typeface="Calibri"/>
              <a:sym typeface="Calibri"/>
            </a:endParaRPr>
          </a:p>
        </p:txBody>
      </p:sp>
      <p:sp>
        <p:nvSpPr>
          <p:cNvPr id="440" name="Google Shape;440;p41"/>
          <p:cNvSpPr txBox="1"/>
          <p:nvPr/>
        </p:nvSpPr>
        <p:spPr>
          <a:xfrm>
            <a:off x="7133104" y="3747255"/>
            <a:ext cx="141605" cy="2997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800">
                <a:solidFill>
                  <a:schemeClr val="dk1"/>
                </a:solidFill>
                <a:latin typeface="Calibri"/>
                <a:ea typeface="Calibri"/>
                <a:cs typeface="Calibri"/>
                <a:sym typeface="Calibri"/>
              </a:rPr>
              <a:t>2</a:t>
            </a:r>
            <a:endParaRPr sz="1800">
              <a:solidFill>
                <a:schemeClr val="dk1"/>
              </a:solidFill>
              <a:latin typeface="Calibri"/>
              <a:ea typeface="Calibri"/>
              <a:cs typeface="Calibri"/>
              <a:sym typeface="Calibri"/>
            </a:endParaRPr>
          </a:p>
        </p:txBody>
      </p:sp>
      <p:sp>
        <p:nvSpPr>
          <p:cNvPr id="441" name="Google Shape;441;p41"/>
          <p:cNvSpPr txBox="1"/>
          <p:nvPr/>
        </p:nvSpPr>
        <p:spPr>
          <a:xfrm>
            <a:off x="8064829" y="3747255"/>
            <a:ext cx="141605" cy="2997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800">
                <a:solidFill>
                  <a:schemeClr val="dk1"/>
                </a:solidFill>
                <a:latin typeface="Calibri"/>
                <a:ea typeface="Calibri"/>
                <a:cs typeface="Calibri"/>
                <a:sym typeface="Calibri"/>
              </a:rPr>
              <a:t>3</a:t>
            </a:r>
            <a:endParaRPr sz="1800">
              <a:solidFill>
                <a:schemeClr val="dk1"/>
              </a:solidFill>
              <a:latin typeface="Calibri"/>
              <a:ea typeface="Calibri"/>
              <a:cs typeface="Calibri"/>
              <a:sym typeface="Calibri"/>
            </a:endParaRPr>
          </a:p>
        </p:txBody>
      </p:sp>
      <p:sp>
        <p:nvSpPr>
          <p:cNvPr id="442" name="Google Shape;442;p41"/>
          <p:cNvSpPr txBox="1"/>
          <p:nvPr/>
        </p:nvSpPr>
        <p:spPr>
          <a:xfrm>
            <a:off x="8996554" y="3747255"/>
            <a:ext cx="141605" cy="2997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800">
                <a:solidFill>
                  <a:schemeClr val="dk1"/>
                </a:solidFill>
                <a:latin typeface="Calibri"/>
                <a:ea typeface="Calibri"/>
                <a:cs typeface="Calibri"/>
                <a:sym typeface="Calibri"/>
              </a:rPr>
              <a:t>4</a:t>
            </a:r>
            <a:endParaRPr sz="1800">
              <a:solidFill>
                <a:schemeClr val="dk1"/>
              </a:solidFill>
              <a:latin typeface="Calibri"/>
              <a:ea typeface="Calibri"/>
              <a:cs typeface="Calibri"/>
              <a:sym typeface="Calibri"/>
            </a:endParaRPr>
          </a:p>
        </p:txBody>
      </p:sp>
      <p:sp>
        <p:nvSpPr>
          <p:cNvPr id="443" name="Google Shape;443;p41"/>
          <p:cNvSpPr txBox="1"/>
          <p:nvPr/>
        </p:nvSpPr>
        <p:spPr>
          <a:xfrm>
            <a:off x="2474478" y="4382380"/>
            <a:ext cx="102235" cy="2997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800">
                <a:solidFill>
                  <a:schemeClr val="dk1"/>
                </a:solidFill>
                <a:latin typeface="Calibri"/>
                <a:ea typeface="Calibri"/>
                <a:cs typeface="Calibri"/>
                <a:sym typeface="Calibri"/>
              </a:rPr>
              <a:t>t</a:t>
            </a:r>
            <a:endParaRPr sz="1800">
              <a:solidFill>
                <a:schemeClr val="dk1"/>
              </a:solidFill>
              <a:latin typeface="Calibri"/>
              <a:ea typeface="Calibri"/>
              <a:cs typeface="Calibri"/>
              <a:sym typeface="Calibri"/>
            </a:endParaRPr>
          </a:p>
        </p:txBody>
      </p:sp>
      <p:sp>
        <p:nvSpPr>
          <p:cNvPr id="444" name="Google Shape;444;p41"/>
          <p:cNvSpPr txBox="1"/>
          <p:nvPr/>
        </p:nvSpPr>
        <p:spPr>
          <a:xfrm>
            <a:off x="3406204" y="4382380"/>
            <a:ext cx="141605" cy="2997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800">
                <a:solidFill>
                  <a:srgbClr val="FF0000"/>
                </a:solidFill>
                <a:latin typeface="Calibri"/>
                <a:ea typeface="Calibri"/>
                <a:cs typeface="Calibri"/>
                <a:sym typeface="Calibri"/>
              </a:rPr>
              <a:t>3</a:t>
            </a:r>
            <a:endParaRPr sz="1800">
              <a:solidFill>
                <a:schemeClr val="dk1"/>
              </a:solidFill>
              <a:latin typeface="Calibri"/>
              <a:ea typeface="Calibri"/>
              <a:cs typeface="Calibri"/>
              <a:sym typeface="Calibri"/>
            </a:endParaRPr>
          </a:p>
        </p:txBody>
      </p:sp>
      <p:sp>
        <p:nvSpPr>
          <p:cNvPr id="445" name="Google Shape;445;p41"/>
          <p:cNvSpPr txBox="1"/>
          <p:nvPr/>
        </p:nvSpPr>
        <p:spPr>
          <a:xfrm>
            <a:off x="4337929" y="4382380"/>
            <a:ext cx="141605" cy="2997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800">
                <a:solidFill>
                  <a:schemeClr val="dk1"/>
                </a:solidFill>
                <a:latin typeface="Calibri"/>
                <a:ea typeface="Calibri"/>
                <a:cs typeface="Calibri"/>
                <a:sym typeface="Calibri"/>
              </a:rPr>
              <a:t>2</a:t>
            </a:r>
            <a:endParaRPr sz="1800">
              <a:solidFill>
                <a:schemeClr val="dk1"/>
              </a:solidFill>
              <a:latin typeface="Calibri"/>
              <a:ea typeface="Calibri"/>
              <a:cs typeface="Calibri"/>
              <a:sym typeface="Calibri"/>
            </a:endParaRPr>
          </a:p>
        </p:txBody>
      </p:sp>
      <p:sp>
        <p:nvSpPr>
          <p:cNvPr id="446" name="Google Shape;446;p41"/>
          <p:cNvSpPr txBox="1"/>
          <p:nvPr/>
        </p:nvSpPr>
        <p:spPr>
          <a:xfrm>
            <a:off x="5269653" y="4382380"/>
            <a:ext cx="141605" cy="2997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800">
                <a:solidFill>
                  <a:schemeClr val="dk1"/>
                </a:solidFill>
                <a:latin typeface="Calibri"/>
                <a:ea typeface="Calibri"/>
                <a:cs typeface="Calibri"/>
                <a:sym typeface="Calibri"/>
              </a:rPr>
              <a:t>1</a:t>
            </a:r>
            <a:endParaRPr sz="1800">
              <a:solidFill>
                <a:schemeClr val="dk1"/>
              </a:solidFill>
              <a:latin typeface="Calibri"/>
              <a:ea typeface="Calibri"/>
              <a:cs typeface="Calibri"/>
              <a:sym typeface="Calibri"/>
            </a:endParaRPr>
          </a:p>
        </p:txBody>
      </p:sp>
      <p:sp>
        <p:nvSpPr>
          <p:cNvPr id="447" name="Google Shape;447;p41"/>
          <p:cNvSpPr txBox="1"/>
          <p:nvPr/>
        </p:nvSpPr>
        <p:spPr>
          <a:xfrm>
            <a:off x="6201378" y="4382380"/>
            <a:ext cx="141605" cy="2997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800">
                <a:solidFill>
                  <a:schemeClr val="dk1"/>
                </a:solidFill>
                <a:latin typeface="Calibri"/>
                <a:ea typeface="Calibri"/>
                <a:cs typeface="Calibri"/>
                <a:sym typeface="Calibri"/>
              </a:rPr>
              <a:t>1</a:t>
            </a:r>
            <a:endParaRPr sz="1800">
              <a:solidFill>
                <a:schemeClr val="dk1"/>
              </a:solidFill>
              <a:latin typeface="Calibri"/>
              <a:ea typeface="Calibri"/>
              <a:cs typeface="Calibri"/>
              <a:sym typeface="Calibri"/>
            </a:endParaRPr>
          </a:p>
        </p:txBody>
      </p:sp>
      <p:sp>
        <p:nvSpPr>
          <p:cNvPr id="448" name="Google Shape;448;p41"/>
          <p:cNvSpPr txBox="1"/>
          <p:nvPr/>
        </p:nvSpPr>
        <p:spPr>
          <a:xfrm>
            <a:off x="7133104" y="4382380"/>
            <a:ext cx="141605" cy="2997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800">
                <a:solidFill>
                  <a:schemeClr val="dk1"/>
                </a:solidFill>
                <a:latin typeface="Calibri"/>
                <a:ea typeface="Calibri"/>
                <a:cs typeface="Calibri"/>
                <a:sym typeface="Calibri"/>
              </a:rPr>
              <a:t>2</a:t>
            </a:r>
            <a:endParaRPr sz="1800">
              <a:solidFill>
                <a:schemeClr val="dk1"/>
              </a:solidFill>
              <a:latin typeface="Calibri"/>
              <a:ea typeface="Calibri"/>
              <a:cs typeface="Calibri"/>
              <a:sym typeface="Calibri"/>
            </a:endParaRPr>
          </a:p>
        </p:txBody>
      </p:sp>
      <p:sp>
        <p:nvSpPr>
          <p:cNvPr id="449" name="Google Shape;449;p41"/>
          <p:cNvSpPr txBox="1"/>
          <p:nvPr/>
        </p:nvSpPr>
        <p:spPr>
          <a:xfrm>
            <a:off x="8064829" y="4382380"/>
            <a:ext cx="141605" cy="2997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800">
                <a:solidFill>
                  <a:schemeClr val="dk1"/>
                </a:solidFill>
                <a:latin typeface="Calibri"/>
                <a:ea typeface="Calibri"/>
                <a:cs typeface="Calibri"/>
                <a:sym typeface="Calibri"/>
              </a:rPr>
              <a:t>3</a:t>
            </a:r>
            <a:endParaRPr sz="1800">
              <a:solidFill>
                <a:schemeClr val="dk1"/>
              </a:solidFill>
              <a:latin typeface="Calibri"/>
              <a:ea typeface="Calibri"/>
              <a:cs typeface="Calibri"/>
              <a:sym typeface="Calibri"/>
            </a:endParaRPr>
          </a:p>
        </p:txBody>
      </p:sp>
      <p:sp>
        <p:nvSpPr>
          <p:cNvPr id="450" name="Google Shape;450;p41"/>
          <p:cNvSpPr txBox="1"/>
          <p:nvPr/>
        </p:nvSpPr>
        <p:spPr>
          <a:xfrm>
            <a:off x="8996554" y="4382380"/>
            <a:ext cx="141605" cy="2997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800">
                <a:solidFill>
                  <a:schemeClr val="dk1"/>
                </a:solidFill>
                <a:latin typeface="Calibri"/>
                <a:ea typeface="Calibri"/>
                <a:cs typeface="Calibri"/>
                <a:sym typeface="Calibri"/>
              </a:rPr>
              <a:t>4</a:t>
            </a:r>
            <a:endParaRPr sz="1800">
              <a:solidFill>
                <a:schemeClr val="dk1"/>
              </a:solidFill>
              <a:latin typeface="Calibri"/>
              <a:ea typeface="Calibri"/>
              <a:cs typeface="Calibri"/>
              <a:sym typeface="Calibri"/>
            </a:endParaRPr>
          </a:p>
        </p:txBody>
      </p:sp>
      <p:sp>
        <p:nvSpPr>
          <p:cNvPr id="451" name="Google Shape;451;p41"/>
          <p:cNvSpPr txBox="1"/>
          <p:nvPr/>
        </p:nvSpPr>
        <p:spPr>
          <a:xfrm>
            <a:off x="2474478" y="5017506"/>
            <a:ext cx="146050" cy="2997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800">
                <a:solidFill>
                  <a:schemeClr val="dk1"/>
                </a:solidFill>
                <a:latin typeface="Calibri"/>
                <a:ea typeface="Calibri"/>
                <a:cs typeface="Calibri"/>
                <a:sym typeface="Calibri"/>
              </a:rPr>
              <a:t>o</a:t>
            </a:r>
            <a:endParaRPr sz="1800">
              <a:solidFill>
                <a:schemeClr val="dk1"/>
              </a:solidFill>
              <a:latin typeface="Calibri"/>
              <a:ea typeface="Calibri"/>
              <a:cs typeface="Calibri"/>
              <a:sym typeface="Calibri"/>
            </a:endParaRPr>
          </a:p>
        </p:txBody>
      </p:sp>
      <p:sp>
        <p:nvSpPr>
          <p:cNvPr id="452" name="Google Shape;452;p41"/>
          <p:cNvSpPr txBox="1"/>
          <p:nvPr/>
        </p:nvSpPr>
        <p:spPr>
          <a:xfrm>
            <a:off x="3406204" y="5017506"/>
            <a:ext cx="141605" cy="2997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800">
                <a:solidFill>
                  <a:srgbClr val="FF0000"/>
                </a:solidFill>
                <a:latin typeface="Calibri"/>
                <a:ea typeface="Calibri"/>
                <a:cs typeface="Calibri"/>
                <a:sym typeface="Calibri"/>
              </a:rPr>
              <a:t>4</a:t>
            </a:r>
            <a:endParaRPr sz="1800">
              <a:solidFill>
                <a:schemeClr val="dk1"/>
              </a:solidFill>
              <a:latin typeface="Calibri"/>
              <a:ea typeface="Calibri"/>
              <a:cs typeface="Calibri"/>
              <a:sym typeface="Calibri"/>
            </a:endParaRPr>
          </a:p>
        </p:txBody>
      </p:sp>
      <p:sp>
        <p:nvSpPr>
          <p:cNvPr id="453" name="Google Shape;453;p41"/>
          <p:cNvSpPr txBox="1"/>
          <p:nvPr/>
        </p:nvSpPr>
        <p:spPr>
          <a:xfrm>
            <a:off x="4337929" y="5017506"/>
            <a:ext cx="141605" cy="2997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800">
                <a:solidFill>
                  <a:schemeClr val="dk1"/>
                </a:solidFill>
                <a:latin typeface="Calibri"/>
                <a:ea typeface="Calibri"/>
                <a:cs typeface="Calibri"/>
                <a:sym typeface="Calibri"/>
              </a:rPr>
              <a:t>3</a:t>
            </a:r>
            <a:endParaRPr sz="1800">
              <a:solidFill>
                <a:schemeClr val="dk1"/>
              </a:solidFill>
              <a:latin typeface="Calibri"/>
              <a:ea typeface="Calibri"/>
              <a:cs typeface="Calibri"/>
              <a:sym typeface="Calibri"/>
            </a:endParaRPr>
          </a:p>
        </p:txBody>
      </p:sp>
      <p:sp>
        <p:nvSpPr>
          <p:cNvPr id="454" name="Google Shape;454;p41"/>
          <p:cNvSpPr txBox="1"/>
          <p:nvPr/>
        </p:nvSpPr>
        <p:spPr>
          <a:xfrm>
            <a:off x="5269653" y="5017506"/>
            <a:ext cx="141605" cy="2997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800">
                <a:solidFill>
                  <a:schemeClr val="dk1"/>
                </a:solidFill>
                <a:latin typeface="Calibri"/>
                <a:ea typeface="Calibri"/>
                <a:cs typeface="Calibri"/>
                <a:sym typeface="Calibri"/>
              </a:rPr>
              <a:t>2</a:t>
            </a:r>
            <a:endParaRPr sz="1800">
              <a:solidFill>
                <a:schemeClr val="dk1"/>
              </a:solidFill>
              <a:latin typeface="Calibri"/>
              <a:ea typeface="Calibri"/>
              <a:cs typeface="Calibri"/>
              <a:sym typeface="Calibri"/>
            </a:endParaRPr>
          </a:p>
        </p:txBody>
      </p:sp>
      <p:sp>
        <p:nvSpPr>
          <p:cNvPr id="455" name="Google Shape;455;p41"/>
          <p:cNvSpPr txBox="1"/>
          <p:nvPr/>
        </p:nvSpPr>
        <p:spPr>
          <a:xfrm>
            <a:off x="6201378" y="5017506"/>
            <a:ext cx="141605" cy="2997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800">
                <a:solidFill>
                  <a:schemeClr val="dk1"/>
                </a:solidFill>
                <a:latin typeface="Calibri"/>
                <a:ea typeface="Calibri"/>
                <a:cs typeface="Calibri"/>
                <a:sym typeface="Calibri"/>
              </a:rPr>
              <a:t>2</a:t>
            </a:r>
            <a:endParaRPr sz="1800">
              <a:solidFill>
                <a:schemeClr val="dk1"/>
              </a:solidFill>
              <a:latin typeface="Calibri"/>
              <a:ea typeface="Calibri"/>
              <a:cs typeface="Calibri"/>
              <a:sym typeface="Calibri"/>
            </a:endParaRPr>
          </a:p>
        </p:txBody>
      </p:sp>
      <p:sp>
        <p:nvSpPr>
          <p:cNvPr id="456" name="Google Shape;456;p41"/>
          <p:cNvSpPr txBox="1"/>
          <p:nvPr/>
        </p:nvSpPr>
        <p:spPr>
          <a:xfrm>
            <a:off x="7133104" y="5017506"/>
            <a:ext cx="141605" cy="2997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800">
                <a:solidFill>
                  <a:schemeClr val="dk1"/>
                </a:solidFill>
                <a:latin typeface="Calibri"/>
                <a:ea typeface="Calibri"/>
                <a:cs typeface="Calibri"/>
                <a:sym typeface="Calibri"/>
              </a:rPr>
              <a:t>1</a:t>
            </a:r>
            <a:endParaRPr sz="1800">
              <a:solidFill>
                <a:schemeClr val="dk1"/>
              </a:solidFill>
              <a:latin typeface="Calibri"/>
              <a:ea typeface="Calibri"/>
              <a:cs typeface="Calibri"/>
              <a:sym typeface="Calibri"/>
            </a:endParaRPr>
          </a:p>
        </p:txBody>
      </p:sp>
      <p:sp>
        <p:nvSpPr>
          <p:cNvPr id="457" name="Google Shape;457;p41"/>
          <p:cNvSpPr txBox="1"/>
          <p:nvPr/>
        </p:nvSpPr>
        <p:spPr>
          <a:xfrm>
            <a:off x="8064829" y="5017506"/>
            <a:ext cx="141605" cy="2997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800">
                <a:solidFill>
                  <a:schemeClr val="dk1"/>
                </a:solidFill>
                <a:latin typeface="Calibri"/>
                <a:ea typeface="Calibri"/>
                <a:cs typeface="Calibri"/>
                <a:sym typeface="Calibri"/>
              </a:rPr>
              <a:t>2</a:t>
            </a:r>
            <a:endParaRPr sz="1800">
              <a:solidFill>
                <a:schemeClr val="dk1"/>
              </a:solidFill>
              <a:latin typeface="Calibri"/>
              <a:ea typeface="Calibri"/>
              <a:cs typeface="Calibri"/>
              <a:sym typeface="Calibri"/>
            </a:endParaRPr>
          </a:p>
        </p:txBody>
      </p:sp>
      <p:sp>
        <p:nvSpPr>
          <p:cNvPr id="458" name="Google Shape;458;p41"/>
          <p:cNvSpPr txBox="1"/>
          <p:nvPr/>
        </p:nvSpPr>
        <p:spPr>
          <a:xfrm>
            <a:off x="8996554" y="5017506"/>
            <a:ext cx="141605" cy="2997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800">
                <a:solidFill>
                  <a:schemeClr val="dk1"/>
                </a:solidFill>
                <a:latin typeface="Calibri"/>
                <a:ea typeface="Calibri"/>
                <a:cs typeface="Calibri"/>
                <a:sym typeface="Calibri"/>
              </a:rPr>
              <a:t>3</a:t>
            </a:r>
            <a:endParaRPr sz="1800">
              <a:solidFill>
                <a:schemeClr val="dk1"/>
              </a:solidFill>
              <a:latin typeface="Calibri"/>
              <a:ea typeface="Calibri"/>
              <a:cs typeface="Calibri"/>
              <a:sym typeface="Calibri"/>
            </a:endParaRPr>
          </a:p>
        </p:txBody>
      </p:sp>
      <p:sp>
        <p:nvSpPr>
          <p:cNvPr id="459" name="Google Shape;459;p41"/>
          <p:cNvSpPr txBox="1"/>
          <p:nvPr/>
        </p:nvSpPr>
        <p:spPr>
          <a:xfrm>
            <a:off x="2474478" y="5652630"/>
            <a:ext cx="105410" cy="2997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800">
                <a:solidFill>
                  <a:schemeClr val="dk1"/>
                </a:solidFill>
                <a:latin typeface="Calibri"/>
                <a:ea typeface="Calibri"/>
                <a:cs typeface="Calibri"/>
                <a:sym typeface="Calibri"/>
              </a:rPr>
              <a:t>r</a:t>
            </a:r>
            <a:endParaRPr sz="1800">
              <a:solidFill>
                <a:schemeClr val="dk1"/>
              </a:solidFill>
              <a:latin typeface="Calibri"/>
              <a:ea typeface="Calibri"/>
              <a:cs typeface="Calibri"/>
              <a:sym typeface="Calibri"/>
            </a:endParaRPr>
          </a:p>
        </p:txBody>
      </p:sp>
      <p:sp>
        <p:nvSpPr>
          <p:cNvPr id="460" name="Google Shape;460;p41"/>
          <p:cNvSpPr txBox="1"/>
          <p:nvPr/>
        </p:nvSpPr>
        <p:spPr>
          <a:xfrm>
            <a:off x="3406204" y="5652630"/>
            <a:ext cx="141605" cy="2997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800">
                <a:solidFill>
                  <a:srgbClr val="FF0000"/>
                </a:solidFill>
                <a:latin typeface="Calibri"/>
                <a:ea typeface="Calibri"/>
                <a:cs typeface="Calibri"/>
                <a:sym typeface="Calibri"/>
              </a:rPr>
              <a:t>5</a:t>
            </a:r>
            <a:endParaRPr sz="1800">
              <a:solidFill>
                <a:schemeClr val="dk1"/>
              </a:solidFill>
              <a:latin typeface="Calibri"/>
              <a:ea typeface="Calibri"/>
              <a:cs typeface="Calibri"/>
              <a:sym typeface="Calibri"/>
            </a:endParaRPr>
          </a:p>
        </p:txBody>
      </p:sp>
      <p:sp>
        <p:nvSpPr>
          <p:cNvPr id="461" name="Google Shape;461;p41"/>
          <p:cNvSpPr txBox="1"/>
          <p:nvPr/>
        </p:nvSpPr>
        <p:spPr>
          <a:xfrm>
            <a:off x="4337929" y="5652630"/>
            <a:ext cx="141605" cy="2997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800">
                <a:solidFill>
                  <a:schemeClr val="dk1"/>
                </a:solidFill>
                <a:latin typeface="Calibri"/>
                <a:ea typeface="Calibri"/>
                <a:cs typeface="Calibri"/>
                <a:sym typeface="Calibri"/>
              </a:rPr>
              <a:t>4</a:t>
            </a:r>
            <a:endParaRPr sz="1800">
              <a:solidFill>
                <a:schemeClr val="dk1"/>
              </a:solidFill>
              <a:latin typeface="Calibri"/>
              <a:ea typeface="Calibri"/>
              <a:cs typeface="Calibri"/>
              <a:sym typeface="Calibri"/>
            </a:endParaRPr>
          </a:p>
        </p:txBody>
      </p:sp>
      <p:sp>
        <p:nvSpPr>
          <p:cNvPr id="462" name="Google Shape;462;p41"/>
          <p:cNvSpPr txBox="1"/>
          <p:nvPr/>
        </p:nvSpPr>
        <p:spPr>
          <a:xfrm>
            <a:off x="5269653" y="5652630"/>
            <a:ext cx="141605" cy="2997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800">
                <a:solidFill>
                  <a:schemeClr val="dk1"/>
                </a:solidFill>
                <a:latin typeface="Calibri"/>
                <a:ea typeface="Calibri"/>
                <a:cs typeface="Calibri"/>
                <a:sym typeface="Calibri"/>
              </a:rPr>
              <a:t>3</a:t>
            </a:r>
            <a:endParaRPr sz="1800">
              <a:solidFill>
                <a:schemeClr val="dk1"/>
              </a:solidFill>
              <a:latin typeface="Calibri"/>
              <a:ea typeface="Calibri"/>
              <a:cs typeface="Calibri"/>
              <a:sym typeface="Calibri"/>
            </a:endParaRPr>
          </a:p>
        </p:txBody>
      </p:sp>
      <p:sp>
        <p:nvSpPr>
          <p:cNvPr id="463" name="Google Shape;463;p41"/>
          <p:cNvSpPr txBox="1"/>
          <p:nvPr/>
        </p:nvSpPr>
        <p:spPr>
          <a:xfrm>
            <a:off x="6201378" y="5652630"/>
            <a:ext cx="141605" cy="2997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800">
                <a:solidFill>
                  <a:schemeClr val="dk1"/>
                </a:solidFill>
                <a:latin typeface="Calibri"/>
                <a:ea typeface="Calibri"/>
                <a:cs typeface="Calibri"/>
                <a:sym typeface="Calibri"/>
              </a:rPr>
              <a:t>3</a:t>
            </a:r>
            <a:endParaRPr sz="1800">
              <a:solidFill>
                <a:schemeClr val="dk1"/>
              </a:solidFill>
              <a:latin typeface="Calibri"/>
              <a:ea typeface="Calibri"/>
              <a:cs typeface="Calibri"/>
              <a:sym typeface="Calibri"/>
            </a:endParaRPr>
          </a:p>
        </p:txBody>
      </p:sp>
      <p:sp>
        <p:nvSpPr>
          <p:cNvPr id="464" name="Google Shape;464;p41"/>
          <p:cNvSpPr txBox="1"/>
          <p:nvPr/>
        </p:nvSpPr>
        <p:spPr>
          <a:xfrm>
            <a:off x="7133104" y="5652630"/>
            <a:ext cx="141605" cy="2997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800">
                <a:solidFill>
                  <a:schemeClr val="dk1"/>
                </a:solidFill>
                <a:latin typeface="Calibri"/>
                <a:ea typeface="Calibri"/>
                <a:cs typeface="Calibri"/>
                <a:sym typeface="Calibri"/>
              </a:rPr>
              <a:t>2</a:t>
            </a:r>
            <a:endParaRPr sz="1800">
              <a:solidFill>
                <a:schemeClr val="dk1"/>
              </a:solidFill>
              <a:latin typeface="Calibri"/>
              <a:ea typeface="Calibri"/>
              <a:cs typeface="Calibri"/>
              <a:sym typeface="Calibri"/>
            </a:endParaRPr>
          </a:p>
        </p:txBody>
      </p:sp>
      <p:sp>
        <p:nvSpPr>
          <p:cNvPr id="465" name="Google Shape;465;p41"/>
          <p:cNvSpPr txBox="1"/>
          <p:nvPr/>
        </p:nvSpPr>
        <p:spPr>
          <a:xfrm>
            <a:off x="8064829" y="5652630"/>
            <a:ext cx="141605" cy="2997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800">
                <a:solidFill>
                  <a:schemeClr val="dk1"/>
                </a:solidFill>
                <a:latin typeface="Calibri"/>
                <a:ea typeface="Calibri"/>
                <a:cs typeface="Calibri"/>
                <a:sym typeface="Calibri"/>
              </a:rPr>
              <a:t>2</a:t>
            </a:r>
            <a:endParaRPr sz="1800">
              <a:solidFill>
                <a:schemeClr val="dk1"/>
              </a:solidFill>
              <a:latin typeface="Calibri"/>
              <a:ea typeface="Calibri"/>
              <a:cs typeface="Calibri"/>
              <a:sym typeface="Calibri"/>
            </a:endParaRPr>
          </a:p>
        </p:txBody>
      </p:sp>
      <p:sp>
        <p:nvSpPr>
          <p:cNvPr id="466" name="Google Shape;466;p41"/>
          <p:cNvSpPr txBox="1"/>
          <p:nvPr/>
        </p:nvSpPr>
        <p:spPr>
          <a:xfrm>
            <a:off x="8996554" y="5652630"/>
            <a:ext cx="141605" cy="2997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800">
                <a:solidFill>
                  <a:srgbClr val="FF0000"/>
                </a:solidFill>
                <a:latin typeface="Calibri"/>
                <a:ea typeface="Calibri"/>
                <a:cs typeface="Calibri"/>
                <a:sym typeface="Calibri"/>
              </a:rPr>
              <a:t>2</a:t>
            </a:r>
            <a:endParaRPr sz="1800">
              <a:solidFill>
                <a:schemeClr val="dk1"/>
              </a:solidFill>
              <a:latin typeface="Calibri"/>
              <a:ea typeface="Calibri"/>
              <a:cs typeface="Calibri"/>
              <a:sym typeface="Calibri"/>
            </a:endParaRPr>
          </a:p>
        </p:txBody>
      </p:sp>
      <p:grpSp>
        <p:nvGrpSpPr>
          <p:cNvPr id="467" name="Google Shape;467;p41"/>
          <p:cNvGrpSpPr/>
          <p:nvPr/>
        </p:nvGrpSpPr>
        <p:grpSpPr>
          <a:xfrm>
            <a:off x="4694811" y="3263174"/>
            <a:ext cx="4214181" cy="764110"/>
            <a:chOff x="4694811" y="3263174"/>
            <a:chExt cx="4214181" cy="764110"/>
          </a:xfrm>
        </p:grpSpPr>
        <p:sp>
          <p:nvSpPr>
            <p:cNvPr id="468" name="Google Shape;468;p41"/>
            <p:cNvSpPr/>
            <p:nvPr/>
          </p:nvSpPr>
          <p:spPr>
            <a:xfrm>
              <a:off x="4710544" y="3373004"/>
              <a:ext cx="0" cy="515620"/>
            </a:xfrm>
            <a:custGeom>
              <a:avLst/>
              <a:gdLst/>
              <a:ahLst/>
              <a:cxnLst/>
              <a:rect l="l" t="t" r="r" b="b"/>
              <a:pathLst>
                <a:path w="120000" h="515620" extrusionOk="0">
                  <a:moveTo>
                    <a:pt x="0" y="515503"/>
                  </a:moveTo>
                  <a:lnTo>
                    <a:pt x="0" y="0"/>
                  </a:lnTo>
                </a:path>
              </a:pathLst>
            </a:custGeom>
            <a:noFill/>
            <a:ln w="9525" cap="flat" cmpd="sng">
              <a:solidFill>
                <a:srgbClr val="4472C4"/>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69" name="Google Shape;469;p41"/>
            <p:cNvSpPr/>
            <p:nvPr/>
          </p:nvSpPr>
          <p:spPr>
            <a:xfrm>
              <a:off x="4694811" y="3329779"/>
              <a:ext cx="31750" cy="43815"/>
            </a:xfrm>
            <a:custGeom>
              <a:avLst/>
              <a:gdLst/>
              <a:ahLst/>
              <a:cxnLst/>
              <a:rect l="l" t="t" r="r" b="b"/>
              <a:pathLst>
                <a:path w="31750" h="43814" extrusionOk="0">
                  <a:moveTo>
                    <a:pt x="31465" y="43225"/>
                  </a:moveTo>
                  <a:lnTo>
                    <a:pt x="0" y="43225"/>
                  </a:lnTo>
                  <a:lnTo>
                    <a:pt x="15732" y="0"/>
                  </a:lnTo>
                  <a:lnTo>
                    <a:pt x="31465" y="43225"/>
                  </a:lnTo>
                  <a:close/>
                </a:path>
              </a:pathLst>
            </a:custGeom>
            <a:solidFill>
              <a:srgbClr val="4472C4"/>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70" name="Google Shape;470;p41"/>
            <p:cNvSpPr/>
            <p:nvPr/>
          </p:nvSpPr>
          <p:spPr>
            <a:xfrm>
              <a:off x="4694811" y="3329779"/>
              <a:ext cx="31750" cy="43815"/>
            </a:xfrm>
            <a:custGeom>
              <a:avLst/>
              <a:gdLst/>
              <a:ahLst/>
              <a:cxnLst/>
              <a:rect l="l" t="t" r="r" b="b"/>
              <a:pathLst>
                <a:path w="31750" h="43814" extrusionOk="0">
                  <a:moveTo>
                    <a:pt x="31465" y="43225"/>
                  </a:moveTo>
                  <a:lnTo>
                    <a:pt x="15732" y="0"/>
                  </a:lnTo>
                  <a:lnTo>
                    <a:pt x="0" y="43225"/>
                  </a:lnTo>
                  <a:lnTo>
                    <a:pt x="31465" y="43225"/>
                  </a:lnTo>
                  <a:close/>
                </a:path>
              </a:pathLst>
            </a:custGeom>
            <a:noFill/>
            <a:ln w="9525" cap="flat" cmpd="sng">
              <a:solidFill>
                <a:srgbClr val="4472C4"/>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71" name="Google Shape;471;p41"/>
            <p:cNvSpPr/>
            <p:nvPr/>
          </p:nvSpPr>
          <p:spPr>
            <a:xfrm>
              <a:off x="4701308" y="3288144"/>
              <a:ext cx="589915" cy="0"/>
            </a:xfrm>
            <a:custGeom>
              <a:avLst/>
              <a:gdLst/>
              <a:ahLst/>
              <a:cxnLst/>
              <a:rect l="l" t="t" r="r" b="b"/>
              <a:pathLst>
                <a:path w="589914" h="120000" extrusionOk="0">
                  <a:moveTo>
                    <a:pt x="0" y="0"/>
                  </a:moveTo>
                  <a:lnTo>
                    <a:pt x="589395" y="0"/>
                  </a:lnTo>
                </a:path>
              </a:pathLst>
            </a:custGeom>
            <a:noFill/>
            <a:ln w="9525" cap="flat" cmpd="sng">
              <a:solidFill>
                <a:srgbClr val="4472C4"/>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72" name="Google Shape;472;p41"/>
            <p:cNvSpPr/>
            <p:nvPr/>
          </p:nvSpPr>
          <p:spPr>
            <a:xfrm>
              <a:off x="5290704" y="3272411"/>
              <a:ext cx="43815" cy="31750"/>
            </a:xfrm>
            <a:custGeom>
              <a:avLst/>
              <a:gdLst/>
              <a:ahLst/>
              <a:cxnLst/>
              <a:rect l="l" t="t" r="r" b="b"/>
              <a:pathLst>
                <a:path w="43814" h="31750" extrusionOk="0">
                  <a:moveTo>
                    <a:pt x="0" y="31465"/>
                  </a:moveTo>
                  <a:lnTo>
                    <a:pt x="0" y="0"/>
                  </a:lnTo>
                  <a:lnTo>
                    <a:pt x="43225" y="15732"/>
                  </a:lnTo>
                  <a:lnTo>
                    <a:pt x="0" y="31465"/>
                  </a:lnTo>
                  <a:close/>
                </a:path>
              </a:pathLst>
            </a:custGeom>
            <a:solidFill>
              <a:srgbClr val="4472C4"/>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73" name="Google Shape;473;p41"/>
            <p:cNvSpPr/>
            <p:nvPr/>
          </p:nvSpPr>
          <p:spPr>
            <a:xfrm>
              <a:off x="5290704" y="3272411"/>
              <a:ext cx="43815" cy="31750"/>
            </a:xfrm>
            <a:custGeom>
              <a:avLst/>
              <a:gdLst/>
              <a:ahLst/>
              <a:cxnLst/>
              <a:rect l="l" t="t" r="r" b="b"/>
              <a:pathLst>
                <a:path w="43814" h="31750" extrusionOk="0">
                  <a:moveTo>
                    <a:pt x="0" y="31465"/>
                  </a:moveTo>
                  <a:lnTo>
                    <a:pt x="43225" y="15732"/>
                  </a:lnTo>
                  <a:lnTo>
                    <a:pt x="0" y="0"/>
                  </a:lnTo>
                  <a:lnTo>
                    <a:pt x="0" y="31465"/>
                  </a:lnTo>
                  <a:close/>
                </a:path>
              </a:pathLst>
            </a:custGeom>
            <a:noFill/>
            <a:ln w="9525" cap="flat" cmpd="sng">
              <a:solidFill>
                <a:srgbClr val="4472C4"/>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74" name="Google Shape;474;p41"/>
            <p:cNvSpPr/>
            <p:nvPr/>
          </p:nvSpPr>
          <p:spPr>
            <a:xfrm>
              <a:off x="4793672" y="3428999"/>
              <a:ext cx="510540" cy="423545"/>
            </a:xfrm>
            <a:custGeom>
              <a:avLst/>
              <a:gdLst/>
              <a:ahLst/>
              <a:cxnLst/>
              <a:rect l="l" t="t" r="r" b="b"/>
              <a:pathLst>
                <a:path w="510539" h="423545" extrusionOk="0">
                  <a:moveTo>
                    <a:pt x="0" y="0"/>
                  </a:moveTo>
                  <a:lnTo>
                    <a:pt x="510188" y="423030"/>
                  </a:lnTo>
                </a:path>
              </a:pathLst>
            </a:custGeom>
            <a:noFill/>
            <a:ln w="9525" cap="flat" cmpd="sng">
              <a:solidFill>
                <a:srgbClr val="4472C4"/>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75" name="Google Shape;475;p41"/>
            <p:cNvSpPr/>
            <p:nvPr/>
          </p:nvSpPr>
          <p:spPr>
            <a:xfrm>
              <a:off x="5293819" y="3839919"/>
              <a:ext cx="43815" cy="40005"/>
            </a:xfrm>
            <a:custGeom>
              <a:avLst/>
              <a:gdLst/>
              <a:ahLst/>
              <a:cxnLst/>
              <a:rect l="l" t="t" r="r" b="b"/>
              <a:pathLst>
                <a:path w="43814" h="40004" extrusionOk="0">
                  <a:moveTo>
                    <a:pt x="43316" y="39700"/>
                  </a:moveTo>
                  <a:lnTo>
                    <a:pt x="0" y="24221"/>
                  </a:lnTo>
                  <a:lnTo>
                    <a:pt x="20083" y="0"/>
                  </a:lnTo>
                  <a:lnTo>
                    <a:pt x="43316" y="39700"/>
                  </a:lnTo>
                  <a:close/>
                </a:path>
              </a:pathLst>
            </a:custGeom>
            <a:solidFill>
              <a:srgbClr val="4472C4"/>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76" name="Google Shape;476;p41"/>
            <p:cNvSpPr/>
            <p:nvPr/>
          </p:nvSpPr>
          <p:spPr>
            <a:xfrm>
              <a:off x="5293819" y="3839919"/>
              <a:ext cx="43815" cy="40005"/>
            </a:xfrm>
            <a:custGeom>
              <a:avLst/>
              <a:gdLst/>
              <a:ahLst/>
              <a:cxnLst/>
              <a:rect l="l" t="t" r="r" b="b"/>
              <a:pathLst>
                <a:path w="43814" h="40004" extrusionOk="0">
                  <a:moveTo>
                    <a:pt x="0" y="24221"/>
                  </a:moveTo>
                  <a:lnTo>
                    <a:pt x="43316" y="39700"/>
                  </a:lnTo>
                  <a:lnTo>
                    <a:pt x="20083" y="0"/>
                  </a:lnTo>
                  <a:lnTo>
                    <a:pt x="0" y="24221"/>
                  </a:lnTo>
                  <a:close/>
                </a:path>
              </a:pathLst>
            </a:custGeom>
            <a:noFill/>
            <a:ln w="9525" cap="flat" cmpd="sng">
              <a:solidFill>
                <a:srgbClr val="4472C4"/>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77" name="Google Shape;477;p41"/>
            <p:cNvSpPr/>
            <p:nvPr/>
          </p:nvSpPr>
          <p:spPr>
            <a:xfrm>
              <a:off x="5564907" y="3359149"/>
              <a:ext cx="0" cy="594360"/>
            </a:xfrm>
            <a:custGeom>
              <a:avLst/>
              <a:gdLst/>
              <a:ahLst/>
              <a:cxnLst/>
              <a:rect l="l" t="t" r="r" b="b"/>
              <a:pathLst>
                <a:path w="120000" h="594360" extrusionOk="0">
                  <a:moveTo>
                    <a:pt x="0" y="594013"/>
                  </a:moveTo>
                  <a:lnTo>
                    <a:pt x="0" y="0"/>
                  </a:lnTo>
                </a:path>
              </a:pathLst>
            </a:custGeom>
            <a:noFill/>
            <a:ln w="9525" cap="flat" cmpd="sng">
              <a:solidFill>
                <a:srgbClr val="4472C4"/>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78" name="Google Shape;478;p41"/>
            <p:cNvSpPr/>
            <p:nvPr/>
          </p:nvSpPr>
          <p:spPr>
            <a:xfrm>
              <a:off x="5549174" y="3315924"/>
              <a:ext cx="31750" cy="43815"/>
            </a:xfrm>
            <a:custGeom>
              <a:avLst/>
              <a:gdLst/>
              <a:ahLst/>
              <a:cxnLst/>
              <a:rect l="l" t="t" r="r" b="b"/>
              <a:pathLst>
                <a:path w="31750" h="43814" extrusionOk="0">
                  <a:moveTo>
                    <a:pt x="31465" y="43225"/>
                  </a:moveTo>
                  <a:lnTo>
                    <a:pt x="0" y="43225"/>
                  </a:lnTo>
                  <a:lnTo>
                    <a:pt x="15732" y="0"/>
                  </a:lnTo>
                  <a:lnTo>
                    <a:pt x="31465" y="43225"/>
                  </a:lnTo>
                  <a:close/>
                </a:path>
              </a:pathLst>
            </a:custGeom>
            <a:solidFill>
              <a:srgbClr val="4472C4"/>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79" name="Google Shape;479;p41"/>
            <p:cNvSpPr/>
            <p:nvPr/>
          </p:nvSpPr>
          <p:spPr>
            <a:xfrm>
              <a:off x="5549174" y="3315924"/>
              <a:ext cx="31750" cy="43815"/>
            </a:xfrm>
            <a:custGeom>
              <a:avLst/>
              <a:gdLst/>
              <a:ahLst/>
              <a:cxnLst/>
              <a:rect l="l" t="t" r="r" b="b"/>
              <a:pathLst>
                <a:path w="31750" h="43814" extrusionOk="0">
                  <a:moveTo>
                    <a:pt x="31465" y="43225"/>
                  </a:moveTo>
                  <a:lnTo>
                    <a:pt x="15732" y="0"/>
                  </a:lnTo>
                  <a:lnTo>
                    <a:pt x="0" y="43225"/>
                  </a:lnTo>
                  <a:lnTo>
                    <a:pt x="31465" y="43225"/>
                  </a:lnTo>
                  <a:close/>
                </a:path>
              </a:pathLst>
            </a:custGeom>
            <a:noFill/>
            <a:ln w="9525" cap="flat" cmpd="sng">
              <a:solidFill>
                <a:srgbClr val="4472C4"/>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80" name="Google Shape;480;p41"/>
            <p:cNvSpPr/>
            <p:nvPr/>
          </p:nvSpPr>
          <p:spPr>
            <a:xfrm>
              <a:off x="5615707" y="3288144"/>
              <a:ext cx="488315" cy="0"/>
            </a:xfrm>
            <a:custGeom>
              <a:avLst/>
              <a:gdLst/>
              <a:ahLst/>
              <a:cxnLst/>
              <a:rect l="l" t="t" r="r" b="b"/>
              <a:pathLst>
                <a:path w="488314" h="120000" extrusionOk="0">
                  <a:moveTo>
                    <a:pt x="0" y="0"/>
                  </a:moveTo>
                  <a:lnTo>
                    <a:pt x="487797" y="0"/>
                  </a:lnTo>
                </a:path>
              </a:pathLst>
            </a:custGeom>
            <a:noFill/>
            <a:ln w="9525" cap="flat" cmpd="sng">
              <a:solidFill>
                <a:srgbClr val="4472C4"/>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81" name="Google Shape;481;p41"/>
            <p:cNvSpPr/>
            <p:nvPr/>
          </p:nvSpPr>
          <p:spPr>
            <a:xfrm>
              <a:off x="6103504" y="3272411"/>
              <a:ext cx="43815" cy="31750"/>
            </a:xfrm>
            <a:custGeom>
              <a:avLst/>
              <a:gdLst/>
              <a:ahLst/>
              <a:cxnLst/>
              <a:rect l="l" t="t" r="r" b="b"/>
              <a:pathLst>
                <a:path w="43814" h="31750" extrusionOk="0">
                  <a:moveTo>
                    <a:pt x="0" y="31465"/>
                  </a:moveTo>
                  <a:lnTo>
                    <a:pt x="0" y="0"/>
                  </a:lnTo>
                  <a:lnTo>
                    <a:pt x="43225" y="15732"/>
                  </a:lnTo>
                  <a:lnTo>
                    <a:pt x="0" y="31465"/>
                  </a:lnTo>
                  <a:close/>
                </a:path>
              </a:pathLst>
            </a:custGeom>
            <a:solidFill>
              <a:srgbClr val="4472C4"/>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82" name="Google Shape;482;p41"/>
            <p:cNvSpPr/>
            <p:nvPr/>
          </p:nvSpPr>
          <p:spPr>
            <a:xfrm>
              <a:off x="6103504" y="3272411"/>
              <a:ext cx="43815" cy="31750"/>
            </a:xfrm>
            <a:custGeom>
              <a:avLst/>
              <a:gdLst/>
              <a:ahLst/>
              <a:cxnLst/>
              <a:rect l="l" t="t" r="r" b="b"/>
              <a:pathLst>
                <a:path w="43814" h="31750" extrusionOk="0">
                  <a:moveTo>
                    <a:pt x="0" y="31465"/>
                  </a:moveTo>
                  <a:lnTo>
                    <a:pt x="43225" y="15732"/>
                  </a:lnTo>
                  <a:lnTo>
                    <a:pt x="0" y="0"/>
                  </a:lnTo>
                  <a:lnTo>
                    <a:pt x="0" y="31465"/>
                  </a:lnTo>
                  <a:close/>
                </a:path>
              </a:pathLst>
            </a:custGeom>
            <a:noFill/>
            <a:ln w="9525" cap="flat" cmpd="sng">
              <a:solidFill>
                <a:srgbClr val="4472C4"/>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83" name="Google Shape;483;p41"/>
            <p:cNvSpPr/>
            <p:nvPr/>
          </p:nvSpPr>
          <p:spPr>
            <a:xfrm>
              <a:off x="6576290" y="3345294"/>
              <a:ext cx="0" cy="681990"/>
            </a:xfrm>
            <a:custGeom>
              <a:avLst/>
              <a:gdLst/>
              <a:ahLst/>
              <a:cxnLst/>
              <a:rect l="l" t="t" r="r" b="b"/>
              <a:pathLst>
                <a:path w="120000" h="681989" extrusionOk="0">
                  <a:moveTo>
                    <a:pt x="0" y="681759"/>
                  </a:moveTo>
                  <a:lnTo>
                    <a:pt x="0" y="0"/>
                  </a:lnTo>
                </a:path>
              </a:pathLst>
            </a:custGeom>
            <a:noFill/>
            <a:ln w="9525" cap="flat" cmpd="sng">
              <a:solidFill>
                <a:srgbClr val="4472C4"/>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84" name="Google Shape;484;p41"/>
            <p:cNvSpPr/>
            <p:nvPr/>
          </p:nvSpPr>
          <p:spPr>
            <a:xfrm>
              <a:off x="6560557" y="3302069"/>
              <a:ext cx="31750" cy="43815"/>
            </a:xfrm>
            <a:custGeom>
              <a:avLst/>
              <a:gdLst/>
              <a:ahLst/>
              <a:cxnLst/>
              <a:rect l="l" t="t" r="r" b="b"/>
              <a:pathLst>
                <a:path w="31750" h="43814" extrusionOk="0">
                  <a:moveTo>
                    <a:pt x="31465" y="43225"/>
                  </a:moveTo>
                  <a:lnTo>
                    <a:pt x="0" y="43225"/>
                  </a:lnTo>
                  <a:lnTo>
                    <a:pt x="15732" y="0"/>
                  </a:lnTo>
                  <a:lnTo>
                    <a:pt x="31465" y="43225"/>
                  </a:lnTo>
                  <a:close/>
                </a:path>
              </a:pathLst>
            </a:custGeom>
            <a:solidFill>
              <a:srgbClr val="4472C4"/>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85" name="Google Shape;485;p41"/>
            <p:cNvSpPr/>
            <p:nvPr/>
          </p:nvSpPr>
          <p:spPr>
            <a:xfrm>
              <a:off x="6560557" y="3302069"/>
              <a:ext cx="31750" cy="43815"/>
            </a:xfrm>
            <a:custGeom>
              <a:avLst/>
              <a:gdLst/>
              <a:ahLst/>
              <a:cxnLst/>
              <a:rect l="l" t="t" r="r" b="b"/>
              <a:pathLst>
                <a:path w="31750" h="43814" extrusionOk="0">
                  <a:moveTo>
                    <a:pt x="31465" y="43225"/>
                  </a:moveTo>
                  <a:lnTo>
                    <a:pt x="15732" y="0"/>
                  </a:lnTo>
                  <a:lnTo>
                    <a:pt x="0" y="43225"/>
                  </a:lnTo>
                  <a:lnTo>
                    <a:pt x="31465" y="43225"/>
                  </a:lnTo>
                  <a:close/>
                </a:path>
              </a:pathLst>
            </a:custGeom>
            <a:noFill/>
            <a:ln w="9525" cap="flat" cmpd="sng">
              <a:solidFill>
                <a:srgbClr val="4472C4"/>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86" name="Google Shape;486;p41"/>
            <p:cNvSpPr/>
            <p:nvPr/>
          </p:nvSpPr>
          <p:spPr>
            <a:xfrm>
              <a:off x="6677890" y="3301999"/>
              <a:ext cx="451484" cy="12700"/>
            </a:xfrm>
            <a:custGeom>
              <a:avLst/>
              <a:gdLst/>
              <a:ahLst/>
              <a:cxnLst/>
              <a:rect l="l" t="t" r="r" b="b"/>
              <a:pathLst>
                <a:path w="451484" h="12700" extrusionOk="0">
                  <a:moveTo>
                    <a:pt x="0" y="0"/>
                  </a:moveTo>
                  <a:lnTo>
                    <a:pt x="450871" y="12296"/>
                  </a:lnTo>
                </a:path>
              </a:pathLst>
            </a:custGeom>
            <a:noFill/>
            <a:ln w="9525" cap="flat" cmpd="sng">
              <a:solidFill>
                <a:srgbClr val="4472C4"/>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87" name="Google Shape;487;p41"/>
            <p:cNvSpPr/>
            <p:nvPr/>
          </p:nvSpPr>
          <p:spPr>
            <a:xfrm>
              <a:off x="7128332" y="3298569"/>
              <a:ext cx="43815" cy="31750"/>
            </a:xfrm>
            <a:custGeom>
              <a:avLst/>
              <a:gdLst/>
              <a:ahLst/>
              <a:cxnLst/>
              <a:rect l="l" t="t" r="r" b="b"/>
              <a:pathLst>
                <a:path w="43815" h="31750" extrusionOk="0">
                  <a:moveTo>
                    <a:pt x="0" y="31453"/>
                  </a:moveTo>
                  <a:lnTo>
                    <a:pt x="857" y="0"/>
                  </a:lnTo>
                  <a:lnTo>
                    <a:pt x="43638" y="16905"/>
                  </a:lnTo>
                  <a:lnTo>
                    <a:pt x="0" y="31453"/>
                  </a:lnTo>
                  <a:close/>
                </a:path>
              </a:pathLst>
            </a:custGeom>
            <a:solidFill>
              <a:srgbClr val="4472C4"/>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88" name="Google Shape;488;p41"/>
            <p:cNvSpPr/>
            <p:nvPr/>
          </p:nvSpPr>
          <p:spPr>
            <a:xfrm>
              <a:off x="7128332" y="3298569"/>
              <a:ext cx="43815" cy="31750"/>
            </a:xfrm>
            <a:custGeom>
              <a:avLst/>
              <a:gdLst/>
              <a:ahLst/>
              <a:cxnLst/>
              <a:rect l="l" t="t" r="r" b="b"/>
              <a:pathLst>
                <a:path w="43815" h="31750" extrusionOk="0">
                  <a:moveTo>
                    <a:pt x="0" y="31453"/>
                  </a:moveTo>
                  <a:lnTo>
                    <a:pt x="43638" y="16905"/>
                  </a:lnTo>
                  <a:lnTo>
                    <a:pt x="857" y="0"/>
                  </a:lnTo>
                  <a:lnTo>
                    <a:pt x="0" y="31453"/>
                  </a:lnTo>
                  <a:close/>
                </a:path>
              </a:pathLst>
            </a:custGeom>
            <a:noFill/>
            <a:ln w="9525" cap="flat" cmpd="sng">
              <a:solidFill>
                <a:srgbClr val="4472C4"/>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89" name="Google Shape;489;p41"/>
            <p:cNvSpPr/>
            <p:nvPr/>
          </p:nvSpPr>
          <p:spPr>
            <a:xfrm>
              <a:off x="8211127" y="3373004"/>
              <a:ext cx="0" cy="608330"/>
            </a:xfrm>
            <a:custGeom>
              <a:avLst/>
              <a:gdLst/>
              <a:ahLst/>
              <a:cxnLst/>
              <a:rect l="l" t="t" r="r" b="b"/>
              <a:pathLst>
                <a:path w="120000" h="608329" extrusionOk="0">
                  <a:moveTo>
                    <a:pt x="0" y="607868"/>
                  </a:moveTo>
                  <a:lnTo>
                    <a:pt x="0" y="0"/>
                  </a:lnTo>
                </a:path>
              </a:pathLst>
            </a:custGeom>
            <a:noFill/>
            <a:ln w="9525" cap="flat" cmpd="sng">
              <a:solidFill>
                <a:srgbClr val="4472C4"/>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90" name="Google Shape;490;p41"/>
            <p:cNvSpPr/>
            <p:nvPr/>
          </p:nvSpPr>
          <p:spPr>
            <a:xfrm>
              <a:off x="8195394" y="3329779"/>
              <a:ext cx="31750" cy="43815"/>
            </a:xfrm>
            <a:custGeom>
              <a:avLst/>
              <a:gdLst/>
              <a:ahLst/>
              <a:cxnLst/>
              <a:rect l="l" t="t" r="r" b="b"/>
              <a:pathLst>
                <a:path w="31750" h="43814" extrusionOk="0">
                  <a:moveTo>
                    <a:pt x="31465" y="43225"/>
                  </a:moveTo>
                  <a:lnTo>
                    <a:pt x="0" y="43225"/>
                  </a:lnTo>
                  <a:lnTo>
                    <a:pt x="15732" y="0"/>
                  </a:lnTo>
                  <a:lnTo>
                    <a:pt x="31465" y="43225"/>
                  </a:lnTo>
                  <a:close/>
                </a:path>
              </a:pathLst>
            </a:custGeom>
            <a:solidFill>
              <a:srgbClr val="4472C4"/>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91" name="Google Shape;491;p41"/>
            <p:cNvSpPr/>
            <p:nvPr/>
          </p:nvSpPr>
          <p:spPr>
            <a:xfrm>
              <a:off x="8195394" y="3329779"/>
              <a:ext cx="31750" cy="43815"/>
            </a:xfrm>
            <a:custGeom>
              <a:avLst/>
              <a:gdLst/>
              <a:ahLst/>
              <a:cxnLst/>
              <a:rect l="l" t="t" r="r" b="b"/>
              <a:pathLst>
                <a:path w="31750" h="43814" extrusionOk="0">
                  <a:moveTo>
                    <a:pt x="31465" y="43225"/>
                  </a:moveTo>
                  <a:lnTo>
                    <a:pt x="15732" y="0"/>
                  </a:lnTo>
                  <a:lnTo>
                    <a:pt x="0" y="43225"/>
                  </a:lnTo>
                  <a:lnTo>
                    <a:pt x="31465" y="43225"/>
                  </a:lnTo>
                  <a:close/>
                </a:path>
              </a:pathLst>
            </a:custGeom>
            <a:noFill/>
            <a:ln w="9525" cap="flat" cmpd="sng">
              <a:solidFill>
                <a:srgbClr val="4472C4"/>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92" name="Google Shape;492;p41"/>
            <p:cNvSpPr/>
            <p:nvPr/>
          </p:nvSpPr>
          <p:spPr>
            <a:xfrm>
              <a:off x="8331200" y="3278907"/>
              <a:ext cx="534035" cy="0"/>
            </a:xfrm>
            <a:custGeom>
              <a:avLst/>
              <a:gdLst/>
              <a:ahLst/>
              <a:cxnLst/>
              <a:rect l="l" t="t" r="r" b="b"/>
              <a:pathLst>
                <a:path w="534034" h="120000" extrusionOk="0">
                  <a:moveTo>
                    <a:pt x="0" y="0"/>
                  </a:moveTo>
                  <a:lnTo>
                    <a:pt x="533977" y="0"/>
                  </a:lnTo>
                </a:path>
              </a:pathLst>
            </a:custGeom>
            <a:noFill/>
            <a:ln w="9525" cap="flat" cmpd="sng">
              <a:solidFill>
                <a:srgbClr val="4472C4"/>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93" name="Google Shape;493;p41"/>
            <p:cNvSpPr/>
            <p:nvPr/>
          </p:nvSpPr>
          <p:spPr>
            <a:xfrm>
              <a:off x="8865177" y="3263174"/>
              <a:ext cx="43815" cy="31750"/>
            </a:xfrm>
            <a:custGeom>
              <a:avLst/>
              <a:gdLst/>
              <a:ahLst/>
              <a:cxnLst/>
              <a:rect l="l" t="t" r="r" b="b"/>
              <a:pathLst>
                <a:path w="43815" h="31750" extrusionOk="0">
                  <a:moveTo>
                    <a:pt x="0" y="31465"/>
                  </a:moveTo>
                  <a:lnTo>
                    <a:pt x="0" y="0"/>
                  </a:lnTo>
                  <a:lnTo>
                    <a:pt x="43224" y="15732"/>
                  </a:lnTo>
                  <a:lnTo>
                    <a:pt x="0" y="31465"/>
                  </a:lnTo>
                  <a:close/>
                </a:path>
              </a:pathLst>
            </a:custGeom>
            <a:solidFill>
              <a:srgbClr val="4472C4"/>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94" name="Google Shape;494;p41"/>
            <p:cNvSpPr/>
            <p:nvPr/>
          </p:nvSpPr>
          <p:spPr>
            <a:xfrm>
              <a:off x="8865177" y="3263174"/>
              <a:ext cx="43815" cy="31750"/>
            </a:xfrm>
            <a:custGeom>
              <a:avLst/>
              <a:gdLst/>
              <a:ahLst/>
              <a:cxnLst/>
              <a:rect l="l" t="t" r="r" b="b"/>
              <a:pathLst>
                <a:path w="43815" h="31750" extrusionOk="0">
                  <a:moveTo>
                    <a:pt x="0" y="31465"/>
                  </a:moveTo>
                  <a:lnTo>
                    <a:pt x="43224" y="15732"/>
                  </a:lnTo>
                  <a:lnTo>
                    <a:pt x="0" y="0"/>
                  </a:lnTo>
                  <a:lnTo>
                    <a:pt x="0" y="31465"/>
                  </a:lnTo>
                  <a:close/>
                </a:path>
              </a:pathLst>
            </a:custGeom>
            <a:noFill/>
            <a:ln w="9525" cap="flat" cmpd="sng">
              <a:solidFill>
                <a:srgbClr val="4472C4"/>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95" name="Google Shape;495;p41"/>
            <p:cNvSpPr/>
            <p:nvPr/>
          </p:nvSpPr>
          <p:spPr>
            <a:xfrm>
              <a:off x="7407563" y="3428999"/>
              <a:ext cx="537210" cy="424180"/>
            </a:xfrm>
            <a:custGeom>
              <a:avLst/>
              <a:gdLst/>
              <a:ahLst/>
              <a:cxnLst/>
              <a:rect l="l" t="t" r="r" b="b"/>
              <a:pathLst>
                <a:path w="537209" h="424179" extrusionOk="0">
                  <a:moveTo>
                    <a:pt x="0" y="0"/>
                  </a:moveTo>
                  <a:lnTo>
                    <a:pt x="537038" y="424090"/>
                  </a:lnTo>
                </a:path>
              </a:pathLst>
            </a:custGeom>
            <a:noFill/>
            <a:ln w="9525" cap="flat" cmpd="sng">
              <a:solidFill>
                <a:srgbClr val="4472C4"/>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96" name="Google Shape;496;p41"/>
            <p:cNvSpPr/>
            <p:nvPr/>
          </p:nvSpPr>
          <p:spPr>
            <a:xfrm>
              <a:off x="7934852" y="3840743"/>
              <a:ext cx="43815" cy="39370"/>
            </a:xfrm>
            <a:custGeom>
              <a:avLst/>
              <a:gdLst/>
              <a:ahLst/>
              <a:cxnLst/>
              <a:rect l="l" t="t" r="r" b="b"/>
              <a:pathLst>
                <a:path w="43815" h="39370" extrusionOk="0">
                  <a:moveTo>
                    <a:pt x="43673" y="39135"/>
                  </a:moveTo>
                  <a:lnTo>
                    <a:pt x="0" y="24694"/>
                  </a:lnTo>
                  <a:lnTo>
                    <a:pt x="19499" y="0"/>
                  </a:lnTo>
                  <a:lnTo>
                    <a:pt x="43673" y="39135"/>
                  </a:lnTo>
                  <a:close/>
                </a:path>
              </a:pathLst>
            </a:custGeom>
            <a:solidFill>
              <a:srgbClr val="4472C4"/>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97" name="Google Shape;497;p41"/>
            <p:cNvSpPr/>
            <p:nvPr/>
          </p:nvSpPr>
          <p:spPr>
            <a:xfrm>
              <a:off x="7934852" y="3840743"/>
              <a:ext cx="43815" cy="39370"/>
            </a:xfrm>
            <a:custGeom>
              <a:avLst/>
              <a:gdLst/>
              <a:ahLst/>
              <a:cxnLst/>
              <a:rect l="l" t="t" r="r" b="b"/>
              <a:pathLst>
                <a:path w="43815" h="39370" extrusionOk="0">
                  <a:moveTo>
                    <a:pt x="0" y="24694"/>
                  </a:moveTo>
                  <a:lnTo>
                    <a:pt x="43673" y="39135"/>
                  </a:lnTo>
                  <a:lnTo>
                    <a:pt x="19499" y="0"/>
                  </a:lnTo>
                  <a:lnTo>
                    <a:pt x="0" y="24694"/>
                  </a:lnTo>
                  <a:close/>
                </a:path>
              </a:pathLst>
            </a:custGeom>
            <a:noFill/>
            <a:ln w="9525" cap="flat" cmpd="sng">
              <a:solidFill>
                <a:srgbClr val="4472C4"/>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MasterSp="0">
  <p:cSld>
    <p:spTree>
      <p:nvGrpSpPr>
        <p:cNvPr id="1" name="Shape 507"/>
        <p:cNvGrpSpPr/>
        <p:nvPr/>
      </p:nvGrpSpPr>
      <p:grpSpPr>
        <a:xfrm>
          <a:off x="0" y="0"/>
          <a:ext cx="0" cy="0"/>
          <a:chOff x="0" y="0"/>
          <a:chExt cx="0" cy="0"/>
        </a:xfrm>
      </p:grpSpPr>
      <p:sp>
        <p:nvSpPr>
          <p:cNvPr id="508" name="Google Shape;508;p43"/>
          <p:cNvSpPr txBox="1">
            <a:spLocks noGrp="1"/>
          </p:cNvSpPr>
          <p:nvPr>
            <p:ph type="title"/>
          </p:nvPr>
        </p:nvSpPr>
        <p:spPr>
          <a:xfrm>
            <a:off x="911225" y="639172"/>
            <a:ext cx="2535555" cy="69596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4400"/>
              <a:t>Homework</a:t>
            </a:r>
            <a:endParaRPr sz="4400"/>
          </a:p>
        </p:txBody>
      </p:sp>
      <p:sp>
        <p:nvSpPr>
          <p:cNvPr id="509" name="Google Shape;509;p43"/>
          <p:cNvSpPr txBox="1"/>
          <p:nvPr/>
        </p:nvSpPr>
        <p:spPr>
          <a:xfrm>
            <a:off x="911225" y="1721383"/>
            <a:ext cx="9842500" cy="1555750"/>
          </a:xfrm>
          <a:prstGeom prst="rect">
            <a:avLst/>
          </a:prstGeom>
          <a:noFill/>
          <a:ln>
            <a:noFill/>
          </a:ln>
        </p:spPr>
        <p:txBody>
          <a:bodyPr spcFirstLastPara="1" wrap="square" lIns="0" tIns="12700" rIns="0" bIns="0" anchor="t" anchorCtr="0">
            <a:spAutoFit/>
          </a:bodyPr>
          <a:lstStyle/>
          <a:p>
            <a:pPr marL="12700" marR="5080" lvl="0" indent="0" algn="l" rtl="0">
              <a:lnSpc>
                <a:spcPct val="119000"/>
              </a:lnSpc>
              <a:spcBef>
                <a:spcPts val="0"/>
              </a:spcBef>
              <a:spcAft>
                <a:spcPts val="0"/>
              </a:spcAft>
              <a:buNone/>
            </a:pPr>
            <a:r>
              <a:rPr lang="en-US" sz="2800">
                <a:solidFill>
                  <a:schemeClr val="dk1"/>
                </a:solidFill>
                <a:latin typeface="Calibri"/>
                <a:ea typeface="Calibri"/>
                <a:cs typeface="Calibri"/>
                <a:sym typeface="Calibri"/>
              </a:rPr>
              <a:t>Compute the minimum edit distance between paecflu and peaceful.  P a e c _ f l u</a:t>
            </a:r>
            <a:endParaRPr sz="2800">
              <a:solidFill>
                <a:schemeClr val="dk1"/>
              </a:solidFill>
              <a:latin typeface="Calibri"/>
              <a:ea typeface="Calibri"/>
              <a:cs typeface="Calibri"/>
              <a:sym typeface="Calibri"/>
            </a:endParaRPr>
          </a:p>
          <a:p>
            <a:pPr marL="12700" marR="0" lvl="0" indent="0" algn="l" rtl="0">
              <a:lnSpc>
                <a:spcPct val="100000"/>
              </a:lnSpc>
              <a:spcBef>
                <a:spcPts val="690"/>
              </a:spcBef>
              <a:spcAft>
                <a:spcPts val="0"/>
              </a:spcAft>
              <a:buNone/>
            </a:pPr>
            <a:r>
              <a:rPr lang="en-US" sz="2800">
                <a:solidFill>
                  <a:schemeClr val="dk1"/>
                </a:solidFill>
                <a:latin typeface="Calibri"/>
                <a:ea typeface="Calibri"/>
                <a:cs typeface="Calibri"/>
                <a:sym typeface="Calibri"/>
              </a:rPr>
              <a:t>P e a c e f u l</a:t>
            </a:r>
            <a:endParaRPr sz="2800">
              <a:solidFill>
                <a:schemeClr val="dk1"/>
              </a:solidFill>
              <a:latin typeface="Calibri"/>
              <a:ea typeface="Calibri"/>
              <a:cs typeface="Calibri"/>
              <a:sym typeface="Calibri"/>
            </a:endParaRPr>
          </a:p>
        </p:txBody>
      </p:sp>
      <p:grpSp>
        <p:nvGrpSpPr>
          <p:cNvPr id="510" name="Google Shape;510;p43"/>
          <p:cNvGrpSpPr/>
          <p:nvPr/>
        </p:nvGrpSpPr>
        <p:grpSpPr>
          <a:xfrm>
            <a:off x="1268122" y="2724726"/>
            <a:ext cx="31750" cy="199102"/>
            <a:chOff x="1268122" y="2724726"/>
            <a:chExt cx="31750" cy="199102"/>
          </a:xfrm>
        </p:grpSpPr>
        <p:sp>
          <p:nvSpPr>
            <p:cNvPr id="511" name="Google Shape;511;p43"/>
            <p:cNvSpPr/>
            <p:nvPr/>
          </p:nvSpPr>
          <p:spPr>
            <a:xfrm>
              <a:off x="1283854" y="2724726"/>
              <a:ext cx="0" cy="155575"/>
            </a:xfrm>
            <a:custGeom>
              <a:avLst/>
              <a:gdLst/>
              <a:ahLst/>
              <a:cxnLst/>
              <a:rect l="l" t="t" r="r" b="b"/>
              <a:pathLst>
                <a:path w="120000" h="155575" extrusionOk="0">
                  <a:moveTo>
                    <a:pt x="0" y="0"/>
                  </a:moveTo>
                  <a:lnTo>
                    <a:pt x="0" y="155286"/>
                  </a:lnTo>
                </a:path>
              </a:pathLst>
            </a:custGeom>
            <a:noFill/>
            <a:ln w="9525" cap="flat" cmpd="sng">
              <a:solidFill>
                <a:srgbClr val="4472C4"/>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12" name="Google Shape;512;p43"/>
            <p:cNvSpPr/>
            <p:nvPr/>
          </p:nvSpPr>
          <p:spPr>
            <a:xfrm>
              <a:off x="1268122" y="2880013"/>
              <a:ext cx="31750" cy="43815"/>
            </a:xfrm>
            <a:custGeom>
              <a:avLst/>
              <a:gdLst/>
              <a:ahLst/>
              <a:cxnLst/>
              <a:rect l="l" t="t" r="r" b="b"/>
              <a:pathLst>
                <a:path w="31750" h="43814" extrusionOk="0">
                  <a:moveTo>
                    <a:pt x="15732" y="43225"/>
                  </a:moveTo>
                  <a:lnTo>
                    <a:pt x="0" y="0"/>
                  </a:lnTo>
                  <a:lnTo>
                    <a:pt x="31465" y="0"/>
                  </a:lnTo>
                  <a:lnTo>
                    <a:pt x="15732" y="43225"/>
                  </a:lnTo>
                  <a:close/>
                </a:path>
              </a:pathLst>
            </a:custGeom>
            <a:solidFill>
              <a:srgbClr val="4472C4"/>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13" name="Google Shape;513;p43"/>
            <p:cNvSpPr/>
            <p:nvPr/>
          </p:nvSpPr>
          <p:spPr>
            <a:xfrm>
              <a:off x="1268122" y="2880013"/>
              <a:ext cx="31750" cy="43815"/>
            </a:xfrm>
            <a:custGeom>
              <a:avLst/>
              <a:gdLst/>
              <a:ahLst/>
              <a:cxnLst/>
              <a:rect l="l" t="t" r="r" b="b"/>
              <a:pathLst>
                <a:path w="31750" h="43814" extrusionOk="0">
                  <a:moveTo>
                    <a:pt x="0" y="0"/>
                  </a:moveTo>
                  <a:lnTo>
                    <a:pt x="15732" y="43225"/>
                  </a:lnTo>
                  <a:lnTo>
                    <a:pt x="31465" y="0"/>
                  </a:lnTo>
                  <a:lnTo>
                    <a:pt x="0" y="0"/>
                  </a:lnTo>
                  <a:close/>
                </a:path>
              </a:pathLst>
            </a:custGeom>
            <a:noFill/>
            <a:ln w="9525" cap="flat" cmpd="sng">
              <a:solidFill>
                <a:srgbClr val="4472C4"/>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grpSp>
        <p:nvGrpSpPr>
          <p:cNvPr id="514" name="Google Shape;514;p43"/>
          <p:cNvGrpSpPr/>
          <p:nvPr/>
        </p:nvGrpSpPr>
        <p:grpSpPr>
          <a:xfrm>
            <a:off x="1508267" y="2697017"/>
            <a:ext cx="31750" cy="236047"/>
            <a:chOff x="1508267" y="2697017"/>
            <a:chExt cx="31750" cy="236047"/>
          </a:xfrm>
        </p:grpSpPr>
        <p:sp>
          <p:nvSpPr>
            <p:cNvPr id="515" name="Google Shape;515;p43"/>
            <p:cNvSpPr/>
            <p:nvPr/>
          </p:nvSpPr>
          <p:spPr>
            <a:xfrm>
              <a:off x="1523999" y="2697017"/>
              <a:ext cx="0" cy="192405"/>
            </a:xfrm>
            <a:custGeom>
              <a:avLst/>
              <a:gdLst/>
              <a:ahLst/>
              <a:cxnLst/>
              <a:rect l="l" t="t" r="r" b="b"/>
              <a:pathLst>
                <a:path w="120000" h="192405" extrusionOk="0">
                  <a:moveTo>
                    <a:pt x="0" y="0"/>
                  </a:moveTo>
                  <a:lnTo>
                    <a:pt x="0" y="192231"/>
                  </a:lnTo>
                </a:path>
              </a:pathLst>
            </a:custGeom>
            <a:noFill/>
            <a:ln w="9525" cap="flat" cmpd="sng">
              <a:solidFill>
                <a:srgbClr val="4472C4"/>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16" name="Google Shape;516;p43"/>
            <p:cNvSpPr/>
            <p:nvPr/>
          </p:nvSpPr>
          <p:spPr>
            <a:xfrm>
              <a:off x="1508267" y="2889249"/>
              <a:ext cx="31750" cy="43815"/>
            </a:xfrm>
            <a:custGeom>
              <a:avLst/>
              <a:gdLst/>
              <a:ahLst/>
              <a:cxnLst/>
              <a:rect l="l" t="t" r="r" b="b"/>
              <a:pathLst>
                <a:path w="31750" h="43814" extrusionOk="0">
                  <a:moveTo>
                    <a:pt x="15732" y="43225"/>
                  </a:moveTo>
                  <a:lnTo>
                    <a:pt x="0" y="0"/>
                  </a:lnTo>
                  <a:lnTo>
                    <a:pt x="31465" y="0"/>
                  </a:lnTo>
                  <a:lnTo>
                    <a:pt x="15732" y="43225"/>
                  </a:lnTo>
                  <a:close/>
                </a:path>
              </a:pathLst>
            </a:custGeom>
            <a:solidFill>
              <a:srgbClr val="4472C4"/>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17" name="Google Shape;517;p43"/>
            <p:cNvSpPr/>
            <p:nvPr/>
          </p:nvSpPr>
          <p:spPr>
            <a:xfrm>
              <a:off x="1508267" y="2889249"/>
              <a:ext cx="31750" cy="43815"/>
            </a:xfrm>
            <a:custGeom>
              <a:avLst/>
              <a:gdLst/>
              <a:ahLst/>
              <a:cxnLst/>
              <a:rect l="l" t="t" r="r" b="b"/>
              <a:pathLst>
                <a:path w="31750" h="43814" extrusionOk="0">
                  <a:moveTo>
                    <a:pt x="0" y="0"/>
                  </a:moveTo>
                  <a:lnTo>
                    <a:pt x="15732" y="43225"/>
                  </a:lnTo>
                  <a:lnTo>
                    <a:pt x="31465" y="0"/>
                  </a:lnTo>
                  <a:lnTo>
                    <a:pt x="0" y="0"/>
                  </a:lnTo>
                  <a:close/>
                </a:path>
              </a:pathLst>
            </a:custGeom>
            <a:noFill/>
            <a:ln w="9525" cap="flat" cmpd="sng">
              <a:solidFill>
                <a:srgbClr val="4472C4"/>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grpSp>
        <p:nvGrpSpPr>
          <p:cNvPr id="518" name="Google Shape;518;p43"/>
          <p:cNvGrpSpPr/>
          <p:nvPr/>
        </p:nvGrpSpPr>
        <p:grpSpPr>
          <a:xfrm>
            <a:off x="1951612" y="2798617"/>
            <a:ext cx="31750" cy="125211"/>
            <a:chOff x="1951612" y="2798617"/>
            <a:chExt cx="31750" cy="125211"/>
          </a:xfrm>
        </p:grpSpPr>
        <p:sp>
          <p:nvSpPr>
            <p:cNvPr id="519" name="Google Shape;519;p43"/>
            <p:cNvSpPr/>
            <p:nvPr/>
          </p:nvSpPr>
          <p:spPr>
            <a:xfrm>
              <a:off x="1967344" y="2798617"/>
              <a:ext cx="0" cy="81915"/>
            </a:xfrm>
            <a:custGeom>
              <a:avLst/>
              <a:gdLst/>
              <a:ahLst/>
              <a:cxnLst/>
              <a:rect l="l" t="t" r="r" b="b"/>
              <a:pathLst>
                <a:path w="120000" h="81914" extrusionOk="0">
                  <a:moveTo>
                    <a:pt x="0" y="0"/>
                  </a:moveTo>
                  <a:lnTo>
                    <a:pt x="0" y="81395"/>
                  </a:lnTo>
                </a:path>
              </a:pathLst>
            </a:custGeom>
            <a:noFill/>
            <a:ln w="9525" cap="flat" cmpd="sng">
              <a:solidFill>
                <a:srgbClr val="4472C4"/>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20" name="Google Shape;520;p43"/>
            <p:cNvSpPr/>
            <p:nvPr/>
          </p:nvSpPr>
          <p:spPr>
            <a:xfrm>
              <a:off x="1951612" y="2880013"/>
              <a:ext cx="31750" cy="43815"/>
            </a:xfrm>
            <a:custGeom>
              <a:avLst/>
              <a:gdLst/>
              <a:ahLst/>
              <a:cxnLst/>
              <a:rect l="l" t="t" r="r" b="b"/>
              <a:pathLst>
                <a:path w="31750" h="43814" extrusionOk="0">
                  <a:moveTo>
                    <a:pt x="15732" y="43225"/>
                  </a:moveTo>
                  <a:lnTo>
                    <a:pt x="0" y="0"/>
                  </a:lnTo>
                  <a:lnTo>
                    <a:pt x="31465" y="0"/>
                  </a:lnTo>
                  <a:lnTo>
                    <a:pt x="15732" y="43225"/>
                  </a:lnTo>
                  <a:close/>
                </a:path>
              </a:pathLst>
            </a:custGeom>
            <a:solidFill>
              <a:srgbClr val="4472C4"/>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21" name="Google Shape;521;p43"/>
            <p:cNvSpPr/>
            <p:nvPr/>
          </p:nvSpPr>
          <p:spPr>
            <a:xfrm>
              <a:off x="1951612" y="2880013"/>
              <a:ext cx="31750" cy="43815"/>
            </a:xfrm>
            <a:custGeom>
              <a:avLst/>
              <a:gdLst/>
              <a:ahLst/>
              <a:cxnLst/>
              <a:rect l="l" t="t" r="r" b="b"/>
              <a:pathLst>
                <a:path w="31750" h="43814" extrusionOk="0">
                  <a:moveTo>
                    <a:pt x="0" y="0"/>
                  </a:moveTo>
                  <a:lnTo>
                    <a:pt x="15732" y="43225"/>
                  </a:lnTo>
                  <a:lnTo>
                    <a:pt x="31465" y="0"/>
                  </a:lnTo>
                  <a:lnTo>
                    <a:pt x="0" y="0"/>
                  </a:lnTo>
                  <a:close/>
                </a:path>
              </a:pathLst>
            </a:custGeom>
            <a:noFill/>
            <a:ln w="9525" cap="flat" cmpd="sng">
              <a:solidFill>
                <a:srgbClr val="4472C4"/>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grpSp>
        <p:nvGrpSpPr>
          <p:cNvPr id="522" name="Google Shape;522;p43"/>
          <p:cNvGrpSpPr/>
          <p:nvPr/>
        </p:nvGrpSpPr>
        <p:grpSpPr>
          <a:xfrm>
            <a:off x="2422667" y="2697017"/>
            <a:ext cx="31750" cy="236047"/>
            <a:chOff x="2422667" y="2697017"/>
            <a:chExt cx="31750" cy="236047"/>
          </a:xfrm>
        </p:grpSpPr>
        <p:sp>
          <p:nvSpPr>
            <p:cNvPr id="523" name="Google Shape;523;p43"/>
            <p:cNvSpPr/>
            <p:nvPr/>
          </p:nvSpPr>
          <p:spPr>
            <a:xfrm>
              <a:off x="2438399" y="2697017"/>
              <a:ext cx="0" cy="192405"/>
            </a:xfrm>
            <a:custGeom>
              <a:avLst/>
              <a:gdLst/>
              <a:ahLst/>
              <a:cxnLst/>
              <a:rect l="l" t="t" r="r" b="b"/>
              <a:pathLst>
                <a:path w="120000" h="192405" extrusionOk="0">
                  <a:moveTo>
                    <a:pt x="0" y="0"/>
                  </a:moveTo>
                  <a:lnTo>
                    <a:pt x="0" y="192231"/>
                  </a:lnTo>
                </a:path>
              </a:pathLst>
            </a:custGeom>
            <a:noFill/>
            <a:ln w="9525" cap="flat" cmpd="sng">
              <a:solidFill>
                <a:srgbClr val="4472C4"/>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24" name="Google Shape;524;p43"/>
            <p:cNvSpPr/>
            <p:nvPr/>
          </p:nvSpPr>
          <p:spPr>
            <a:xfrm>
              <a:off x="2422667" y="2889249"/>
              <a:ext cx="31750" cy="43815"/>
            </a:xfrm>
            <a:custGeom>
              <a:avLst/>
              <a:gdLst/>
              <a:ahLst/>
              <a:cxnLst/>
              <a:rect l="l" t="t" r="r" b="b"/>
              <a:pathLst>
                <a:path w="31750" h="43814" extrusionOk="0">
                  <a:moveTo>
                    <a:pt x="15732" y="43225"/>
                  </a:moveTo>
                  <a:lnTo>
                    <a:pt x="0" y="0"/>
                  </a:lnTo>
                  <a:lnTo>
                    <a:pt x="31465" y="0"/>
                  </a:lnTo>
                  <a:lnTo>
                    <a:pt x="15732" y="43225"/>
                  </a:lnTo>
                  <a:close/>
                </a:path>
              </a:pathLst>
            </a:custGeom>
            <a:solidFill>
              <a:srgbClr val="4472C4"/>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25" name="Google Shape;525;p43"/>
            <p:cNvSpPr/>
            <p:nvPr/>
          </p:nvSpPr>
          <p:spPr>
            <a:xfrm>
              <a:off x="2422667" y="2889249"/>
              <a:ext cx="31750" cy="43815"/>
            </a:xfrm>
            <a:custGeom>
              <a:avLst/>
              <a:gdLst/>
              <a:ahLst/>
              <a:cxnLst/>
              <a:rect l="l" t="t" r="r" b="b"/>
              <a:pathLst>
                <a:path w="31750" h="43814" extrusionOk="0">
                  <a:moveTo>
                    <a:pt x="0" y="0"/>
                  </a:moveTo>
                  <a:lnTo>
                    <a:pt x="15732" y="43225"/>
                  </a:lnTo>
                  <a:lnTo>
                    <a:pt x="31465" y="0"/>
                  </a:lnTo>
                  <a:lnTo>
                    <a:pt x="0" y="0"/>
                  </a:lnTo>
                  <a:close/>
                </a:path>
              </a:pathLst>
            </a:custGeom>
            <a:noFill/>
            <a:ln w="9525" cap="flat" cmpd="sng">
              <a:solidFill>
                <a:srgbClr val="4472C4"/>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grpSp>
        <p:nvGrpSpPr>
          <p:cNvPr id="526" name="Google Shape;526;p43"/>
          <p:cNvGrpSpPr/>
          <p:nvPr/>
        </p:nvGrpSpPr>
        <p:grpSpPr>
          <a:xfrm>
            <a:off x="2699758" y="2697017"/>
            <a:ext cx="31750" cy="226811"/>
            <a:chOff x="2699758" y="2697017"/>
            <a:chExt cx="31750" cy="226811"/>
          </a:xfrm>
        </p:grpSpPr>
        <p:sp>
          <p:nvSpPr>
            <p:cNvPr id="527" name="Google Shape;527;p43"/>
            <p:cNvSpPr/>
            <p:nvPr/>
          </p:nvSpPr>
          <p:spPr>
            <a:xfrm>
              <a:off x="2715491" y="2697017"/>
              <a:ext cx="0" cy="183515"/>
            </a:xfrm>
            <a:custGeom>
              <a:avLst/>
              <a:gdLst/>
              <a:ahLst/>
              <a:cxnLst/>
              <a:rect l="l" t="t" r="r" b="b"/>
              <a:pathLst>
                <a:path w="120000" h="183514" extrusionOk="0">
                  <a:moveTo>
                    <a:pt x="0" y="0"/>
                  </a:moveTo>
                  <a:lnTo>
                    <a:pt x="0" y="182995"/>
                  </a:lnTo>
                </a:path>
              </a:pathLst>
            </a:custGeom>
            <a:noFill/>
            <a:ln w="9525" cap="flat" cmpd="sng">
              <a:solidFill>
                <a:srgbClr val="4472C4"/>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28" name="Google Shape;528;p43"/>
            <p:cNvSpPr/>
            <p:nvPr/>
          </p:nvSpPr>
          <p:spPr>
            <a:xfrm>
              <a:off x="2699758" y="2880013"/>
              <a:ext cx="31750" cy="43815"/>
            </a:xfrm>
            <a:custGeom>
              <a:avLst/>
              <a:gdLst/>
              <a:ahLst/>
              <a:cxnLst/>
              <a:rect l="l" t="t" r="r" b="b"/>
              <a:pathLst>
                <a:path w="31750" h="43814" extrusionOk="0">
                  <a:moveTo>
                    <a:pt x="15732" y="43225"/>
                  </a:moveTo>
                  <a:lnTo>
                    <a:pt x="0" y="0"/>
                  </a:lnTo>
                  <a:lnTo>
                    <a:pt x="31465" y="0"/>
                  </a:lnTo>
                  <a:lnTo>
                    <a:pt x="15732" y="43225"/>
                  </a:lnTo>
                  <a:close/>
                </a:path>
              </a:pathLst>
            </a:custGeom>
            <a:solidFill>
              <a:srgbClr val="4472C4"/>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29" name="Google Shape;529;p43"/>
            <p:cNvSpPr/>
            <p:nvPr/>
          </p:nvSpPr>
          <p:spPr>
            <a:xfrm>
              <a:off x="2699758" y="2880013"/>
              <a:ext cx="31750" cy="43815"/>
            </a:xfrm>
            <a:custGeom>
              <a:avLst/>
              <a:gdLst/>
              <a:ahLst/>
              <a:cxnLst/>
              <a:rect l="l" t="t" r="r" b="b"/>
              <a:pathLst>
                <a:path w="31750" h="43814" extrusionOk="0">
                  <a:moveTo>
                    <a:pt x="0" y="0"/>
                  </a:moveTo>
                  <a:lnTo>
                    <a:pt x="15732" y="43225"/>
                  </a:lnTo>
                  <a:lnTo>
                    <a:pt x="31465" y="0"/>
                  </a:lnTo>
                  <a:lnTo>
                    <a:pt x="0" y="0"/>
                  </a:lnTo>
                  <a:close/>
                </a:path>
              </a:pathLst>
            </a:custGeom>
            <a:noFill/>
            <a:ln w="9525" cap="flat" cmpd="sng">
              <a:solidFill>
                <a:srgbClr val="4472C4"/>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MasterSp="0">
  <p:cSld>
    <p:spTree>
      <p:nvGrpSpPr>
        <p:cNvPr id="1" name="Shape 533"/>
        <p:cNvGrpSpPr/>
        <p:nvPr/>
      </p:nvGrpSpPr>
      <p:grpSpPr>
        <a:xfrm>
          <a:off x="0" y="0"/>
          <a:ext cx="0" cy="0"/>
          <a:chOff x="0" y="0"/>
          <a:chExt cx="0" cy="0"/>
        </a:xfrm>
      </p:grpSpPr>
      <p:sp>
        <p:nvSpPr>
          <p:cNvPr id="534" name="Google Shape;534;p44"/>
          <p:cNvSpPr txBox="1">
            <a:spLocks noGrp="1"/>
          </p:cNvSpPr>
          <p:nvPr>
            <p:ph type="title"/>
          </p:nvPr>
        </p:nvSpPr>
        <p:spPr>
          <a:xfrm>
            <a:off x="673389" y="403428"/>
            <a:ext cx="5405120" cy="69596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4400"/>
              <a:t>Parts of Speech Tagging</a:t>
            </a:r>
            <a:endParaRPr sz="4400"/>
          </a:p>
        </p:txBody>
      </p:sp>
      <p:sp>
        <p:nvSpPr>
          <p:cNvPr id="535" name="Google Shape;535;p44"/>
          <p:cNvSpPr txBox="1"/>
          <p:nvPr/>
        </p:nvSpPr>
        <p:spPr>
          <a:xfrm>
            <a:off x="3634978" y="1460500"/>
            <a:ext cx="2830830" cy="274320"/>
          </a:xfrm>
          <a:prstGeom prst="rect">
            <a:avLst/>
          </a:prstGeom>
          <a:solidFill>
            <a:srgbClr val="FFFF00"/>
          </a:solidFill>
          <a:ln>
            <a:noFill/>
          </a:ln>
        </p:spPr>
        <p:txBody>
          <a:bodyPr spcFirstLastPara="1" wrap="square" lIns="0" tIns="0" rIns="0" bIns="0" anchor="t" anchorCtr="0">
            <a:spAutoFit/>
          </a:bodyPr>
          <a:lstStyle/>
          <a:p>
            <a:pPr marL="0" marR="0" lvl="0" indent="0" algn="l" rtl="0">
              <a:lnSpc>
                <a:spcPct val="116111"/>
              </a:lnSpc>
              <a:spcBef>
                <a:spcPts val="0"/>
              </a:spcBef>
              <a:spcAft>
                <a:spcPts val="0"/>
              </a:spcAft>
              <a:buNone/>
            </a:pPr>
            <a:r>
              <a:rPr lang="en-US" sz="1800">
                <a:solidFill>
                  <a:schemeClr val="dk1"/>
                </a:solidFill>
                <a:latin typeface="Times New Roman"/>
                <a:ea typeface="Times New Roman"/>
                <a:cs typeface="Times New Roman"/>
                <a:sym typeface="Times New Roman"/>
              </a:rPr>
              <a:t>a part-of -speech to each word</a:t>
            </a:r>
            <a:endParaRPr sz="1800">
              <a:solidFill>
                <a:schemeClr val="dk1"/>
              </a:solidFill>
              <a:latin typeface="Times New Roman"/>
              <a:ea typeface="Times New Roman"/>
              <a:cs typeface="Times New Roman"/>
              <a:sym typeface="Times New Roman"/>
            </a:endParaRPr>
          </a:p>
        </p:txBody>
      </p:sp>
      <p:sp>
        <p:nvSpPr>
          <p:cNvPr id="536" name="Google Shape;536;p44"/>
          <p:cNvSpPr txBox="1"/>
          <p:nvPr/>
        </p:nvSpPr>
        <p:spPr>
          <a:xfrm>
            <a:off x="968375" y="1438655"/>
            <a:ext cx="6737984" cy="2997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800">
                <a:solidFill>
                  <a:schemeClr val="dk1"/>
                </a:solidFill>
                <a:latin typeface="Times New Roman"/>
                <a:ea typeface="Times New Roman"/>
                <a:cs typeface="Times New Roman"/>
                <a:sym typeface="Times New Roman"/>
              </a:rPr>
              <a:t>It is the process of assigning	in a sentence.</a:t>
            </a:r>
            <a:endParaRPr sz="1800">
              <a:solidFill>
                <a:schemeClr val="dk1"/>
              </a:solidFill>
              <a:latin typeface="Times New Roman"/>
              <a:ea typeface="Times New Roman"/>
              <a:cs typeface="Times New Roman"/>
              <a:sym typeface="Times New Roman"/>
            </a:endParaRPr>
          </a:p>
        </p:txBody>
      </p:sp>
      <p:sp>
        <p:nvSpPr>
          <p:cNvPr id="537" name="Google Shape;537;p44"/>
          <p:cNvSpPr/>
          <p:nvPr/>
        </p:nvSpPr>
        <p:spPr>
          <a:xfrm>
            <a:off x="3742580" y="4114800"/>
            <a:ext cx="4354830" cy="274320"/>
          </a:xfrm>
          <a:custGeom>
            <a:avLst/>
            <a:gdLst/>
            <a:ahLst/>
            <a:cxnLst/>
            <a:rect l="l" t="t" r="r" b="b"/>
            <a:pathLst>
              <a:path w="4354830" h="274320" extrusionOk="0">
                <a:moveTo>
                  <a:pt x="4354338" y="274320"/>
                </a:moveTo>
                <a:lnTo>
                  <a:pt x="0" y="274320"/>
                </a:lnTo>
                <a:lnTo>
                  <a:pt x="0" y="0"/>
                </a:lnTo>
                <a:lnTo>
                  <a:pt x="4354338" y="0"/>
                </a:lnTo>
                <a:lnTo>
                  <a:pt x="4354338" y="274320"/>
                </a:lnTo>
                <a:close/>
              </a:path>
            </a:pathLst>
          </a:custGeom>
          <a:solidFill>
            <a:srgbClr val="FFFF00"/>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38" name="Google Shape;538;p44"/>
          <p:cNvSpPr txBox="1"/>
          <p:nvPr/>
        </p:nvSpPr>
        <p:spPr>
          <a:xfrm>
            <a:off x="945492" y="1963801"/>
            <a:ext cx="10196830" cy="3629025"/>
          </a:xfrm>
          <a:prstGeom prst="rect">
            <a:avLst/>
          </a:prstGeom>
          <a:noFill/>
          <a:ln>
            <a:noFill/>
          </a:ln>
        </p:spPr>
        <p:txBody>
          <a:bodyPr spcFirstLastPara="1" wrap="square" lIns="0" tIns="13950" rIns="0" bIns="0" anchor="t" anchorCtr="0">
            <a:spAutoFit/>
          </a:bodyPr>
          <a:lstStyle/>
          <a:p>
            <a:pPr marL="207009" marR="218440" lvl="0" indent="-194945" algn="l" rtl="0">
              <a:lnSpc>
                <a:spcPct val="115199"/>
              </a:lnSpc>
              <a:spcBef>
                <a:spcPts val="0"/>
              </a:spcBef>
              <a:spcAft>
                <a:spcPts val="0"/>
              </a:spcAft>
              <a:buClr>
                <a:schemeClr val="dk1"/>
              </a:buClr>
              <a:buSzPts val="1800"/>
              <a:buFont typeface="Arial"/>
              <a:buChar char="•"/>
            </a:pPr>
            <a:r>
              <a:rPr lang="en-US" sz="1800">
                <a:solidFill>
                  <a:schemeClr val="dk1"/>
                </a:solidFill>
                <a:latin typeface="Times New Roman"/>
                <a:ea typeface="Times New Roman"/>
                <a:cs typeface="Times New Roman"/>
                <a:sym typeface="Times New Roman"/>
              </a:rPr>
              <a:t>The input to a tagging algorithm is sequence of words of natural language sentence and specified tag sets(a  finite list of part of speech tags).The output is a single best part of speech tag for each word. Many words  belong to more than one lexical category.</a:t>
            </a:r>
            <a:endParaRPr sz="1800">
              <a:solidFill>
                <a:schemeClr val="dk1"/>
              </a:solidFill>
              <a:latin typeface="Times New Roman"/>
              <a:ea typeface="Times New Roman"/>
              <a:cs typeface="Times New Roman"/>
              <a:sym typeface="Times New Roman"/>
            </a:endParaRPr>
          </a:p>
          <a:p>
            <a:pPr marL="0" marR="0" lvl="0" indent="0" algn="l" rtl="0">
              <a:lnSpc>
                <a:spcPct val="100000"/>
              </a:lnSpc>
              <a:spcBef>
                <a:spcPts val="20"/>
              </a:spcBef>
              <a:spcAft>
                <a:spcPts val="0"/>
              </a:spcAft>
              <a:buClr>
                <a:schemeClr val="dk1"/>
              </a:buClr>
              <a:buSzPts val="1700"/>
              <a:buFont typeface="Arial"/>
              <a:buNone/>
            </a:pPr>
            <a:endParaRPr sz="1700">
              <a:solidFill>
                <a:schemeClr val="dk1"/>
              </a:solidFill>
              <a:latin typeface="Times New Roman"/>
              <a:ea typeface="Times New Roman"/>
              <a:cs typeface="Times New Roman"/>
              <a:sym typeface="Times New Roman"/>
            </a:endParaRPr>
          </a:p>
          <a:p>
            <a:pPr marL="207009" marR="486409" lvl="0" indent="-194945" algn="l" rtl="0">
              <a:lnSpc>
                <a:spcPct val="115700"/>
              </a:lnSpc>
              <a:spcBef>
                <a:spcPts val="0"/>
              </a:spcBef>
              <a:spcAft>
                <a:spcPts val="0"/>
              </a:spcAft>
              <a:buClr>
                <a:schemeClr val="dk1"/>
              </a:buClr>
              <a:buSzPts val="1800"/>
              <a:buFont typeface="Arial"/>
              <a:buChar char="•"/>
            </a:pPr>
            <a:r>
              <a:rPr lang="en-US" sz="1800">
                <a:solidFill>
                  <a:schemeClr val="dk1"/>
                </a:solidFill>
                <a:latin typeface="Times New Roman"/>
                <a:ea typeface="Times New Roman"/>
                <a:cs typeface="Times New Roman"/>
                <a:sym typeface="Times New Roman"/>
              </a:rPr>
              <a:t>For example, the english word 'book' can be a noun as in 'I am reading a good book’ or a verb as in 'The  police booked the snatcher’. For example, the hindi word 'sona' may mean 'gold'(noun)or 'sleep'(verb).</a:t>
            </a:r>
            <a:endParaRPr sz="1800">
              <a:solidFill>
                <a:schemeClr val="dk1"/>
              </a:solidFill>
              <a:latin typeface="Times New Roman"/>
              <a:ea typeface="Times New Roman"/>
              <a:cs typeface="Times New Roman"/>
              <a:sym typeface="Times New Roman"/>
            </a:endParaRPr>
          </a:p>
          <a:p>
            <a:pPr marL="0" marR="0" lvl="0" indent="0" algn="l" rtl="0">
              <a:lnSpc>
                <a:spcPct val="100000"/>
              </a:lnSpc>
              <a:spcBef>
                <a:spcPts val="30"/>
              </a:spcBef>
              <a:spcAft>
                <a:spcPts val="0"/>
              </a:spcAft>
              <a:buClr>
                <a:schemeClr val="dk1"/>
              </a:buClr>
              <a:buSzPts val="1700"/>
              <a:buFont typeface="Arial"/>
              <a:buNone/>
            </a:pPr>
            <a:endParaRPr sz="1700">
              <a:solidFill>
                <a:schemeClr val="dk1"/>
              </a:solidFill>
              <a:latin typeface="Times New Roman"/>
              <a:ea typeface="Times New Roman"/>
              <a:cs typeface="Times New Roman"/>
              <a:sym typeface="Times New Roman"/>
            </a:endParaRPr>
          </a:p>
          <a:p>
            <a:pPr marL="207009" marR="5080" lvl="0" indent="-194945" algn="l" rtl="0">
              <a:lnSpc>
                <a:spcPct val="115199"/>
              </a:lnSpc>
              <a:spcBef>
                <a:spcPts val="5"/>
              </a:spcBef>
              <a:spcAft>
                <a:spcPts val="0"/>
              </a:spcAft>
              <a:buClr>
                <a:schemeClr val="dk1"/>
              </a:buClr>
              <a:buSzPts val="1800"/>
              <a:buFont typeface="Arial"/>
              <a:buChar char="•"/>
            </a:pPr>
            <a:r>
              <a:rPr lang="en-US" sz="1800">
                <a:solidFill>
                  <a:schemeClr val="dk1"/>
                </a:solidFill>
                <a:latin typeface="Times New Roman"/>
                <a:ea typeface="Times New Roman"/>
                <a:cs typeface="Times New Roman"/>
                <a:sym typeface="Times New Roman"/>
              </a:rPr>
              <a:t>In tagging, to determine the correct lexical category depends on its context. The collection of tags used by a  particular tagger is called a tag set. Most parts of speech tag sets make use of some basic categories ,i.e noun,  verb, adjective, preposition.</a:t>
            </a:r>
            <a:endParaRPr sz="1800">
              <a:solidFill>
                <a:schemeClr val="dk1"/>
              </a:solidFill>
              <a:latin typeface="Times New Roman"/>
              <a:ea typeface="Times New Roman"/>
              <a:cs typeface="Times New Roman"/>
              <a:sym typeface="Times New Roman"/>
            </a:endParaRPr>
          </a:p>
          <a:p>
            <a:pPr marL="0" marR="0" lvl="0" indent="0" algn="l" rtl="0">
              <a:lnSpc>
                <a:spcPct val="100000"/>
              </a:lnSpc>
              <a:spcBef>
                <a:spcPts val="10"/>
              </a:spcBef>
              <a:spcAft>
                <a:spcPts val="0"/>
              </a:spcAft>
              <a:buClr>
                <a:schemeClr val="dk1"/>
              </a:buClr>
              <a:buSzPts val="2000"/>
              <a:buFont typeface="Arial"/>
              <a:buNone/>
            </a:pPr>
            <a:endParaRPr sz="2000">
              <a:solidFill>
                <a:schemeClr val="dk1"/>
              </a:solidFill>
              <a:latin typeface="Times New Roman"/>
              <a:ea typeface="Times New Roman"/>
              <a:cs typeface="Times New Roman"/>
              <a:sym typeface="Times New Roman"/>
            </a:endParaRPr>
          </a:p>
          <a:p>
            <a:pPr marL="207009" marR="0" lvl="0" indent="-194945" algn="l" rtl="0">
              <a:lnSpc>
                <a:spcPct val="100000"/>
              </a:lnSpc>
              <a:spcBef>
                <a:spcPts val="5"/>
              </a:spcBef>
              <a:spcAft>
                <a:spcPts val="0"/>
              </a:spcAft>
              <a:buClr>
                <a:schemeClr val="dk1"/>
              </a:buClr>
              <a:buSzPts val="1800"/>
              <a:buFont typeface="Arial"/>
              <a:buChar char="•"/>
            </a:pPr>
            <a:r>
              <a:rPr lang="en-US" sz="1800">
                <a:solidFill>
                  <a:schemeClr val="dk1"/>
                </a:solidFill>
                <a:latin typeface="Times New Roman"/>
                <a:ea typeface="Times New Roman"/>
                <a:cs typeface="Times New Roman"/>
                <a:sym typeface="Times New Roman"/>
              </a:rPr>
              <a:t>Tag sets differ in how they define categories and how finely they divide words into categories.</a:t>
            </a:r>
            <a:endParaRPr sz="1800">
              <a:solidFill>
                <a:schemeClr val="dk1"/>
              </a:solidFill>
              <a:latin typeface="Times New Roman"/>
              <a:ea typeface="Times New Roman"/>
              <a:cs typeface="Times New Roman"/>
              <a:sym typeface="Times New Roman"/>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MasterSp="0">
  <p:cSld>
    <p:spTree>
      <p:nvGrpSpPr>
        <p:cNvPr id="1" name="Shape 501"/>
        <p:cNvGrpSpPr/>
        <p:nvPr/>
      </p:nvGrpSpPr>
      <p:grpSpPr>
        <a:xfrm>
          <a:off x="0" y="0"/>
          <a:ext cx="0" cy="0"/>
          <a:chOff x="0" y="0"/>
          <a:chExt cx="0" cy="0"/>
        </a:xfrm>
      </p:grpSpPr>
      <p:sp>
        <p:nvSpPr>
          <p:cNvPr id="502" name="Google Shape;502;p42"/>
          <p:cNvSpPr txBox="1">
            <a:spLocks noGrp="1"/>
          </p:cNvSpPr>
          <p:nvPr>
            <p:ph type="title"/>
          </p:nvPr>
        </p:nvSpPr>
        <p:spPr>
          <a:xfrm>
            <a:off x="911225" y="397581"/>
            <a:ext cx="4935220" cy="45212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2800" b="1" u="sng">
                <a:latin typeface="Times New Roman"/>
                <a:ea typeface="Times New Roman"/>
                <a:cs typeface="Times New Roman"/>
                <a:sym typeface="Times New Roman"/>
              </a:rPr>
              <a:t>WORD AND WORD CLASSES</a:t>
            </a:r>
            <a:endParaRPr sz="2800">
              <a:latin typeface="Times New Roman"/>
              <a:ea typeface="Times New Roman"/>
              <a:cs typeface="Times New Roman"/>
              <a:sym typeface="Times New Roman"/>
            </a:endParaRPr>
          </a:p>
        </p:txBody>
      </p:sp>
      <p:sp>
        <p:nvSpPr>
          <p:cNvPr id="503" name="Google Shape;503;p42"/>
          <p:cNvSpPr txBox="1"/>
          <p:nvPr/>
        </p:nvSpPr>
        <p:spPr>
          <a:xfrm>
            <a:off x="911225" y="1172870"/>
            <a:ext cx="10326370" cy="4481195"/>
          </a:xfrm>
          <a:prstGeom prst="rect">
            <a:avLst/>
          </a:prstGeom>
          <a:noFill/>
          <a:ln>
            <a:noFill/>
          </a:ln>
        </p:spPr>
        <p:txBody>
          <a:bodyPr spcFirstLastPara="1" wrap="square" lIns="0" tIns="43175" rIns="0" bIns="0" anchor="t" anchorCtr="0">
            <a:spAutoFit/>
          </a:bodyPr>
          <a:lstStyle/>
          <a:p>
            <a:pPr marL="241300" marR="234315" lvl="0" indent="-194945" algn="l" rtl="0">
              <a:lnSpc>
                <a:spcPct val="108333"/>
              </a:lnSpc>
              <a:spcBef>
                <a:spcPts val="0"/>
              </a:spcBef>
              <a:spcAft>
                <a:spcPts val="0"/>
              </a:spcAft>
              <a:buClr>
                <a:schemeClr val="dk1"/>
              </a:buClr>
              <a:buSzPts val="1800"/>
              <a:buFont typeface="Arial"/>
              <a:buChar char="•"/>
            </a:pPr>
            <a:r>
              <a:rPr lang="en-US" sz="1800">
                <a:solidFill>
                  <a:schemeClr val="dk1"/>
                </a:solidFill>
                <a:latin typeface="Times New Roman"/>
                <a:ea typeface="Times New Roman"/>
                <a:cs typeface="Times New Roman"/>
                <a:sym typeface="Times New Roman"/>
              </a:rPr>
              <a:t>Minimum edit distance algorithms are useful for determining in speech recognition systems. Kemal Oflazer  (1996)proposed an efficient algorithm based on spelling correction with finite state automata.</a:t>
            </a:r>
            <a:endParaRPr sz="1800">
              <a:solidFill>
                <a:schemeClr val="dk1"/>
              </a:solidFill>
              <a:latin typeface="Times New Roman"/>
              <a:ea typeface="Times New Roman"/>
              <a:cs typeface="Times New Roman"/>
              <a:sym typeface="Times New Roman"/>
            </a:endParaRPr>
          </a:p>
          <a:p>
            <a:pPr marL="12700" marR="0" lvl="0" indent="0" algn="l" rtl="0">
              <a:lnSpc>
                <a:spcPct val="100000"/>
              </a:lnSpc>
              <a:spcBef>
                <a:spcPts val="930"/>
              </a:spcBef>
              <a:spcAft>
                <a:spcPts val="0"/>
              </a:spcAft>
              <a:buNone/>
            </a:pPr>
            <a:r>
              <a:rPr lang="en-US" sz="1800" b="1" u="sng">
                <a:solidFill>
                  <a:schemeClr val="dk1"/>
                </a:solidFill>
                <a:latin typeface="Times New Roman"/>
                <a:ea typeface="Times New Roman"/>
                <a:cs typeface="Times New Roman"/>
                <a:sym typeface="Times New Roman"/>
              </a:rPr>
              <a:t>WORD AND WORD CLASSES:</a:t>
            </a:r>
            <a:endParaRPr sz="1800">
              <a:solidFill>
                <a:schemeClr val="dk1"/>
              </a:solidFill>
              <a:latin typeface="Times New Roman"/>
              <a:ea typeface="Times New Roman"/>
              <a:cs typeface="Times New Roman"/>
              <a:sym typeface="Times New Roman"/>
            </a:endParaRPr>
          </a:p>
          <a:p>
            <a:pPr marL="0" marR="0" lvl="0" indent="0" algn="l" rtl="0">
              <a:lnSpc>
                <a:spcPct val="100000"/>
              </a:lnSpc>
              <a:spcBef>
                <a:spcPts val="10"/>
              </a:spcBef>
              <a:spcAft>
                <a:spcPts val="0"/>
              </a:spcAft>
              <a:buNone/>
            </a:pPr>
            <a:endParaRPr sz="1700">
              <a:solidFill>
                <a:schemeClr val="dk1"/>
              </a:solidFill>
              <a:latin typeface="Times New Roman"/>
              <a:ea typeface="Times New Roman"/>
              <a:cs typeface="Times New Roman"/>
              <a:sym typeface="Times New Roman"/>
            </a:endParaRPr>
          </a:p>
          <a:p>
            <a:pPr marL="241300" marR="5080" lvl="0" indent="-194945" algn="l" rtl="0">
              <a:lnSpc>
                <a:spcPct val="114999"/>
              </a:lnSpc>
              <a:spcBef>
                <a:spcPts val="0"/>
              </a:spcBef>
              <a:spcAft>
                <a:spcPts val="0"/>
              </a:spcAft>
              <a:buClr>
                <a:schemeClr val="dk1"/>
              </a:buClr>
              <a:buSzPts val="1800"/>
              <a:buFont typeface="Arial"/>
              <a:buChar char="•"/>
            </a:pPr>
            <a:r>
              <a:rPr lang="en-US" sz="1800">
                <a:solidFill>
                  <a:schemeClr val="dk1"/>
                </a:solidFill>
                <a:latin typeface="Times New Roman"/>
                <a:ea typeface="Times New Roman"/>
                <a:cs typeface="Times New Roman"/>
                <a:sym typeface="Times New Roman"/>
              </a:rPr>
              <a:t>Words are classified into categories called parts of speech. These are also called as word classes or lexical  categories. These lexical categories are defined by their syntactic and morphological behaviour. Most  common lexical categories are nouns, verbs. Other lexical categories include adjectives, adverbs, prepositions,  conjunctions.</a:t>
            </a:r>
            <a:endParaRPr sz="1800">
              <a:solidFill>
                <a:schemeClr val="dk1"/>
              </a:solidFill>
              <a:latin typeface="Times New Roman"/>
              <a:ea typeface="Times New Roman"/>
              <a:cs typeface="Times New Roman"/>
              <a:sym typeface="Times New Roman"/>
            </a:endParaRPr>
          </a:p>
          <a:p>
            <a:pPr marL="0" marR="0" lvl="0" indent="0" algn="l" rtl="0">
              <a:lnSpc>
                <a:spcPct val="100000"/>
              </a:lnSpc>
              <a:spcBef>
                <a:spcPts val="25"/>
              </a:spcBef>
              <a:spcAft>
                <a:spcPts val="0"/>
              </a:spcAft>
              <a:buClr>
                <a:schemeClr val="dk1"/>
              </a:buClr>
              <a:buSzPts val="1700"/>
              <a:buFont typeface="Arial"/>
              <a:buNone/>
            </a:pPr>
            <a:endParaRPr sz="1700">
              <a:solidFill>
                <a:schemeClr val="dk1"/>
              </a:solidFill>
              <a:latin typeface="Times New Roman"/>
              <a:ea typeface="Times New Roman"/>
              <a:cs typeface="Times New Roman"/>
              <a:sym typeface="Times New Roman"/>
            </a:endParaRPr>
          </a:p>
          <a:p>
            <a:pPr marL="241300" marR="455930" lvl="0" indent="-194945" algn="l" rtl="0">
              <a:lnSpc>
                <a:spcPct val="115700"/>
              </a:lnSpc>
              <a:spcBef>
                <a:spcPts val="0"/>
              </a:spcBef>
              <a:spcAft>
                <a:spcPts val="0"/>
              </a:spcAft>
              <a:buClr>
                <a:schemeClr val="dk1"/>
              </a:buClr>
              <a:buSzPts val="1800"/>
              <a:buFont typeface="Arial"/>
              <a:buChar char="•"/>
            </a:pPr>
            <a:r>
              <a:rPr lang="en-US" sz="1800">
                <a:solidFill>
                  <a:schemeClr val="dk1"/>
                </a:solidFill>
                <a:latin typeface="Times New Roman"/>
                <a:ea typeface="Times New Roman"/>
                <a:cs typeface="Times New Roman"/>
                <a:sym typeface="Times New Roman"/>
              </a:rPr>
              <a:t>Word classes are categorized as open and closed word classes. Open word classes constantly acquire new  members while closed word classes do not.</a:t>
            </a:r>
            <a:endParaRPr sz="1800">
              <a:solidFill>
                <a:schemeClr val="dk1"/>
              </a:solidFill>
              <a:latin typeface="Times New Roman"/>
              <a:ea typeface="Times New Roman"/>
              <a:cs typeface="Times New Roman"/>
              <a:sym typeface="Times New Roman"/>
            </a:endParaRPr>
          </a:p>
          <a:p>
            <a:pPr marL="0" marR="0" lvl="0" indent="0" algn="l" rtl="0">
              <a:lnSpc>
                <a:spcPct val="100000"/>
              </a:lnSpc>
              <a:spcBef>
                <a:spcPts val="15"/>
              </a:spcBef>
              <a:spcAft>
                <a:spcPts val="0"/>
              </a:spcAft>
              <a:buClr>
                <a:schemeClr val="dk1"/>
              </a:buClr>
              <a:buSzPts val="2000"/>
              <a:buFont typeface="Arial"/>
              <a:buNone/>
            </a:pPr>
            <a:endParaRPr sz="2000">
              <a:solidFill>
                <a:schemeClr val="dk1"/>
              </a:solidFill>
              <a:latin typeface="Times New Roman"/>
              <a:ea typeface="Times New Roman"/>
              <a:cs typeface="Times New Roman"/>
              <a:sym typeface="Times New Roman"/>
            </a:endParaRPr>
          </a:p>
          <a:p>
            <a:pPr marL="241300" marR="0" lvl="0" indent="-194945" algn="l" rtl="0">
              <a:lnSpc>
                <a:spcPct val="100000"/>
              </a:lnSpc>
              <a:spcBef>
                <a:spcPts val="0"/>
              </a:spcBef>
              <a:spcAft>
                <a:spcPts val="0"/>
              </a:spcAft>
              <a:buClr>
                <a:schemeClr val="dk1"/>
              </a:buClr>
              <a:buSzPts val="1800"/>
              <a:buFont typeface="Arial"/>
              <a:buChar char="•"/>
            </a:pPr>
            <a:r>
              <a:rPr lang="en-US" sz="1800">
                <a:solidFill>
                  <a:schemeClr val="dk1"/>
                </a:solidFill>
                <a:latin typeface="Times New Roman"/>
                <a:ea typeface="Times New Roman"/>
                <a:cs typeface="Times New Roman"/>
                <a:sym typeface="Times New Roman"/>
              </a:rPr>
              <a:t>Open word classes are nouns, verbs (except auxiliary verbs), adjectives, adverbs and interjections.</a:t>
            </a:r>
            <a:endParaRPr sz="1800">
              <a:solidFill>
                <a:schemeClr val="dk1"/>
              </a:solidFill>
              <a:latin typeface="Times New Roman"/>
              <a:ea typeface="Times New Roman"/>
              <a:cs typeface="Times New Roman"/>
              <a:sym typeface="Times New Roman"/>
            </a:endParaRPr>
          </a:p>
          <a:p>
            <a:pPr marL="0" marR="0" lvl="0" indent="0" algn="l" rtl="0">
              <a:lnSpc>
                <a:spcPct val="100000"/>
              </a:lnSpc>
              <a:spcBef>
                <a:spcPts val="40"/>
              </a:spcBef>
              <a:spcAft>
                <a:spcPts val="0"/>
              </a:spcAft>
              <a:buClr>
                <a:schemeClr val="dk1"/>
              </a:buClr>
              <a:buSzPts val="2000"/>
              <a:buFont typeface="Arial"/>
              <a:buNone/>
            </a:pPr>
            <a:endParaRPr sz="2000">
              <a:solidFill>
                <a:schemeClr val="dk1"/>
              </a:solidFill>
              <a:latin typeface="Times New Roman"/>
              <a:ea typeface="Times New Roman"/>
              <a:cs typeface="Times New Roman"/>
              <a:sym typeface="Times New Roman"/>
            </a:endParaRPr>
          </a:p>
          <a:p>
            <a:pPr marL="241300" marR="0" lvl="0" indent="-194945" algn="l" rtl="0">
              <a:lnSpc>
                <a:spcPct val="100000"/>
              </a:lnSpc>
              <a:spcBef>
                <a:spcPts val="0"/>
              </a:spcBef>
              <a:spcAft>
                <a:spcPts val="0"/>
              </a:spcAft>
              <a:buClr>
                <a:schemeClr val="dk1"/>
              </a:buClr>
              <a:buSzPts val="1800"/>
              <a:buFont typeface="Arial"/>
              <a:buChar char="•"/>
            </a:pPr>
            <a:r>
              <a:rPr lang="en-US" sz="1800">
                <a:solidFill>
                  <a:schemeClr val="dk1"/>
                </a:solidFill>
                <a:latin typeface="Times New Roman"/>
                <a:ea typeface="Times New Roman"/>
                <a:cs typeface="Times New Roman"/>
                <a:sym typeface="Times New Roman"/>
              </a:rPr>
              <a:t>Closed word classes are Prepositions , auxiliary verbs, delimiters, conjunction and particles.</a:t>
            </a:r>
            <a:endParaRPr sz="1800">
              <a:solidFill>
                <a:schemeClr val="dk1"/>
              </a:solidFill>
              <a:latin typeface="Times New Roman"/>
              <a:ea typeface="Times New Roman"/>
              <a:cs typeface="Times New Roman"/>
              <a:sym typeface="Times New Roman"/>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MasterSp="0">
  <p:cSld>
    <p:spTree>
      <p:nvGrpSpPr>
        <p:cNvPr id="1" name="Shape 542"/>
        <p:cNvGrpSpPr/>
        <p:nvPr/>
      </p:nvGrpSpPr>
      <p:grpSpPr>
        <a:xfrm>
          <a:off x="0" y="0"/>
          <a:ext cx="0" cy="0"/>
          <a:chOff x="0" y="0"/>
          <a:chExt cx="0" cy="0"/>
        </a:xfrm>
      </p:grpSpPr>
      <p:sp>
        <p:nvSpPr>
          <p:cNvPr id="543" name="Google Shape;543;p45"/>
          <p:cNvSpPr txBox="1">
            <a:spLocks noGrp="1"/>
          </p:cNvSpPr>
          <p:nvPr>
            <p:ph type="title"/>
          </p:nvPr>
        </p:nvSpPr>
        <p:spPr>
          <a:xfrm>
            <a:off x="911225" y="351858"/>
            <a:ext cx="4867275" cy="629285"/>
          </a:xfrm>
          <a:prstGeom prst="rect">
            <a:avLst/>
          </a:prstGeom>
          <a:noFill/>
          <a:ln>
            <a:noFill/>
          </a:ln>
        </p:spPr>
        <p:txBody>
          <a:bodyPr spcFirstLastPara="1" wrap="square" lIns="0" tIns="13950" rIns="0" bIns="0" anchor="t" anchorCtr="0">
            <a:spAutoFit/>
          </a:bodyPr>
          <a:lstStyle/>
          <a:p>
            <a:pPr marL="12700" lvl="0" indent="0" algn="l" rtl="0">
              <a:lnSpc>
                <a:spcPct val="100000"/>
              </a:lnSpc>
              <a:spcBef>
                <a:spcPts val="0"/>
              </a:spcBef>
              <a:spcAft>
                <a:spcPts val="0"/>
              </a:spcAft>
              <a:buNone/>
            </a:pPr>
            <a:r>
              <a:rPr lang="en-US"/>
              <a:t>Parts of Speech Tagging</a:t>
            </a:r>
            <a:endParaRPr/>
          </a:p>
        </p:txBody>
      </p:sp>
      <p:sp>
        <p:nvSpPr>
          <p:cNvPr id="544" name="Google Shape;544;p45"/>
          <p:cNvSpPr/>
          <p:nvPr/>
        </p:nvSpPr>
        <p:spPr>
          <a:xfrm>
            <a:off x="6278933" y="1192646"/>
            <a:ext cx="3662045" cy="241300"/>
          </a:xfrm>
          <a:custGeom>
            <a:avLst/>
            <a:gdLst/>
            <a:ahLst/>
            <a:cxnLst/>
            <a:rect l="l" t="t" r="r" b="b"/>
            <a:pathLst>
              <a:path w="3662045" h="241300" extrusionOk="0">
                <a:moveTo>
                  <a:pt x="3661955" y="241058"/>
                </a:moveTo>
                <a:lnTo>
                  <a:pt x="0" y="241058"/>
                </a:lnTo>
                <a:lnTo>
                  <a:pt x="0" y="0"/>
                </a:lnTo>
                <a:lnTo>
                  <a:pt x="3661955" y="0"/>
                </a:lnTo>
                <a:lnTo>
                  <a:pt x="3661955" y="241058"/>
                </a:lnTo>
                <a:close/>
              </a:path>
            </a:pathLst>
          </a:custGeom>
          <a:solidFill>
            <a:srgbClr val="FFFF00"/>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45" name="Google Shape;545;p45"/>
          <p:cNvSpPr txBox="1"/>
          <p:nvPr/>
        </p:nvSpPr>
        <p:spPr>
          <a:xfrm>
            <a:off x="911225" y="1049958"/>
            <a:ext cx="9030335" cy="4721225"/>
          </a:xfrm>
          <a:prstGeom prst="rect">
            <a:avLst/>
          </a:prstGeom>
          <a:noFill/>
          <a:ln>
            <a:noFill/>
          </a:ln>
        </p:spPr>
        <p:txBody>
          <a:bodyPr spcFirstLastPara="1" wrap="square" lIns="0" tIns="125725" rIns="0" bIns="0" anchor="t" anchorCtr="0">
            <a:spAutoFit/>
          </a:bodyPr>
          <a:lstStyle/>
          <a:p>
            <a:pPr marL="355600" marR="0" lvl="0" indent="-292100" algn="l" rtl="0">
              <a:lnSpc>
                <a:spcPct val="100000"/>
              </a:lnSpc>
              <a:spcBef>
                <a:spcPts val="0"/>
              </a:spcBef>
              <a:spcAft>
                <a:spcPts val="0"/>
              </a:spcAft>
              <a:buClr>
                <a:schemeClr val="dk1"/>
              </a:buClr>
              <a:buSzPts val="1650"/>
              <a:buFont typeface="Lucida Sans"/>
              <a:buChar char="∙"/>
            </a:pPr>
            <a:r>
              <a:rPr lang="en-US" sz="1650">
                <a:solidFill>
                  <a:schemeClr val="dk1"/>
                </a:solidFill>
                <a:latin typeface="Times New Roman"/>
                <a:ea typeface="Times New Roman"/>
                <a:cs typeface="Times New Roman"/>
                <a:sym typeface="Times New Roman"/>
              </a:rPr>
              <a:t>Most tag set capture morpho-syntactic information such as singular/plural, number, gender, tense ,etc.</a:t>
            </a:r>
            <a:endParaRPr sz="1650">
              <a:solidFill>
                <a:schemeClr val="dk1"/>
              </a:solidFill>
              <a:latin typeface="Times New Roman"/>
              <a:ea typeface="Times New Roman"/>
              <a:cs typeface="Times New Roman"/>
              <a:sym typeface="Times New Roman"/>
            </a:endParaRPr>
          </a:p>
          <a:p>
            <a:pPr marL="355600" marR="0" lvl="0" indent="-292100" algn="l" rtl="0">
              <a:lnSpc>
                <a:spcPct val="100000"/>
              </a:lnSpc>
              <a:spcBef>
                <a:spcPts val="894"/>
              </a:spcBef>
              <a:spcAft>
                <a:spcPts val="0"/>
              </a:spcAft>
              <a:buClr>
                <a:schemeClr val="dk1"/>
              </a:buClr>
              <a:buSzPts val="1650"/>
              <a:buFont typeface="Lucida Sans"/>
              <a:buChar char="∙"/>
            </a:pPr>
            <a:r>
              <a:rPr lang="en-US" sz="1650">
                <a:solidFill>
                  <a:schemeClr val="dk1"/>
                </a:solidFill>
                <a:latin typeface="Times New Roman"/>
                <a:ea typeface="Times New Roman"/>
                <a:cs typeface="Times New Roman"/>
                <a:sym typeface="Times New Roman"/>
              </a:rPr>
              <a:t>Consider the following sentence:</a:t>
            </a:r>
            <a:endParaRPr sz="1650">
              <a:solidFill>
                <a:schemeClr val="dk1"/>
              </a:solidFill>
              <a:latin typeface="Times New Roman"/>
              <a:ea typeface="Times New Roman"/>
              <a:cs typeface="Times New Roman"/>
              <a:sym typeface="Times New Roman"/>
            </a:endParaRPr>
          </a:p>
          <a:p>
            <a:pPr marL="1384300" marR="0" lvl="1" indent="-197485" algn="l" rtl="0">
              <a:lnSpc>
                <a:spcPct val="100000"/>
              </a:lnSpc>
              <a:spcBef>
                <a:spcPts val="944"/>
              </a:spcBef>
              <a:spcAft>
                <a:spcPts val="0"/>
              </a:spcAft>
              <a:buClr>
                <a:schemeClr val="dk1"/>
              </a:buClr>
              <a:buSzPts val="1650"/>
              <a:buFont typeface="Arial"/>
              <a:buChar char="•"/>
            </a:pPr>
            <a:r>
              <a:rPr lang="en-US" sz="1650" b="0" i="0" u="none" strike="noStrike" cap="none">
                <a:solidFill>
                  <a:schemeClr val="dk1"/>
                </a:solidFill>
                <a:latin typeface="Times New Roman"/>
                <a:ea typeface="Times New Roman"/>
                <a:cs typeface="Times New Roman"/>
                <a:sym typeface="Times New Roman"/>
              </a:rPr>
              <a:t>Zuhu eats an apple daily</a:t>
            </a:r>
            <a:endParaRPr sz="1650" b="0" i="0" u="none" strike="noStrike" cap="none">
              <a:solidFill>
                <a:schemeClr val="dk1"/>
              </a:solidFill>
              <a:latin typeface="Times New Roman"/>
              <a:ea typeface="Times New Roman"/>
              <a:cs typeface="Times New Roman"/>
              <a:sym typeface="Times New Roman"/>
            </a:endParaRPr>
          </a:p>
          <a:p>
            <a:pPr marL="1384300" marR="0" lvl="1" indent="-197485" algn="l" rtl="0">
              <a:lnSpc>
                <a:spcPct val="100000"/>
              </a:lnSpc>
              <a:spcBef>
                <a:spcPts val="944"/>
              </a:spcBef>
              <a:spcAft>
                <a:spcPts val="0"/>
              </a:spcAft>
              <a:buClr>
                <a:schemeClr val="dk1"/>
              </a:buClr>
              <a:buSzPts val="1650"/>
              <a:buFont typeface="Arial"/>
              <a:buChar char="•"/>
            </a:pPr>
            <a:r>
              <a:rPr lang="en-US" sz="1650" b="0" i="0" u="none" strike="noStrike" cap="none">
                <a:solidFill>
                  <a:schemeClr val="dk1"/>
                </a:solidFill>
                <a:latin typeface="Times New Roman"/>
                <a:ea typeface="Times New Roman"/>
                <a:cs typeface="Times New Roman"/>
                <a:sym typeface="Times New Roman"/>
              </a:rPr>
              <a:t>Aman ate an apple yesterday</a:t>
            </a:r>
            <a:endParaRPr sz="1650" b="0" i="0" u="none" strike="noStrike" cap="none">
              <a:solidFill>
                <a:schemeClr val="dk1"/>
              </a:solidFill>
              <a:latin typeface="Times New Roman"/>
              <a:ea typeface="Times New Roman"/>
              <a:cs typeface="Times New Roman"/>
              <a:sym typeface="Times New Roman"/>
            </a:endParaRPr>
          </a:p>
          <a:p>
            <a:pPr marL="1384300" marR="0" lvl="1" indent="-197485" algn="l" rtl="0">
              <a:lnSpc>
                <a:spcPct val="100000"/>
              </a:lnSpc>
              <a:spcBef>
                <a:spcPts val="944"/>
              </a:spcBef>
              <a:spcAft>
                <a:spcPts val="0"/>
              </a:spcAft>
              <a:buClr>
                <a:schemeClr val="dk1"/>
              </a:buClr>
              <a:buSzPts val="1650"/>
              <a:buFont typeface="Arial"/>
              <a:buChar char="•"/>
            </a:pPr>
            <a:r>
              <a:rPr lang="en-US" sz="1650" b="0" i="0" u="none" strike="noStrike" cap="none">
                <a:solidFill>
                  <a:schemeClr val="dk1"/>
                </a:solidFill>
                <a:latin typeface="Times New Roman"/>
                <a:ea typeface="Times New Roman"/>
                <a:cs typeface="Times New Roman"/>
                <a:sym typeface="Times New Roman"/>
              </a:rPr>
              <a:t>They have eaten all the apples in the basket</a:t>
            </a:r>
            <a:endParaRPr sz="1650" b="0" i="0" u="none" strike="noStrike" cap="none">
              <a:solidFill>
                <a:schemeClr val="dk1"/>
              </a:solidFill>
              <a:latin typeface="Times New Roman"/>
              <a:ea typeface="Times New Roman"/>
              <a:cs typeface="Times New Roman"/>
              <a:sym typeface="Times New Roman"/>
            </a:endParaRPr>
          </a:p>
          <a:p>
            <a:pPr marL="1384300" marR="0" lvl="1" indent="-197485" algn="l" rtl="0">
              <a:lnSpc>
                <a:spcPct val="100000"/>
              </a:lnSpc>
              <a:spcBef>
                <a:spcPts val="944"/>
              </a:spcBef>
              <a:spcAft>
                <a:spcPts val="0"/>
              </a:spcAft>
              <a:buClr>
                <a:schemeClr val="dk1"/>
              </a:buClr>
              <a:buSzPts val="1650"/>
              <a:buFont typeface="Arial"/>
              <a:buChar char="•"/>
            </a:pPr>
            <a:r>
              <a:rPr lang="en-US" sz="1650" b="0" i="0" u="none" strike="noStrike" cap="none">
                <a:solidFill>
                  <a:schemeClr val="dk1"/>
                </a:solidFill>
                <a:latin typeface="Times New Roman"/>
                <a:ea typeface="Times New Roman"/>
                <a:cs typeface="Times New Roman"/>
                <a:sym typeface="Times New Roman"/>
              </a:rPr>
              <a:t>I like to eat guavas.</a:t>
            </a:r>
            <a:endParaRPr sz="1650" b="0" i="0" u="none" strike="noStrike" cap="none">
              <a:solidFill>
                <a:schemeClr val="dk1"/>
              </a:solidFill>
              <a:latin typeface="Times New Roman"/>
              <a:ea typeface="Times New Roman"/>
              <a:cs typeface="Times New Roman"/>
              <a:sym typeface="Times New Roman"/>
            </a:endParaRPr>
          </a:p>
          <a:p>
            <a:pPr marL="0" marR="0" lvl="0" indent="0" algn="l" rtl="0">
              <a:lnSpc>
                <a:spcPct val="100000"/>
              </a:lnSpc>
              <a:spcBef>
                <a:spcPts val="45"/>
              </a:spcBef>
              <a:spcAft>
                <a:spcPts val="0"/>
              </a:spcAft>
              <a:buNone/>
            </a:pPr>
            <a:endParaRPr sz="1650">
              <a:solidFill>
                <a:schemeClr val="dk1"/>
              </a:solidFill>
              <a:latin typeface="Times New Roman"/>
              <a:ea typeface="Times New Roman"/>
              <a:cs typeface="Times New Roman"/>
              <a:sym typeface="Times New Roman"/>
            </a:endParaRPr>
          </a:p>
          <a:p>
            <a:pPr marL="12700" marR="0" lvl="0" indent="0" algn="l" rtl="0">
              <a:lnSpc>
                <a:spcPct val="100000"/>
              </a:lnSpc>
              <a:spcBef>
                <a:spcPts val="5"/>
              </a:spcBef>
              <a:spcAft>
                <a:spcPts val="0"/>
              </a:spcAft>
              <a:buNone/>
            </a:pPr>
            <a:r>
              <a:rPr lang="en-US" sz="1650">
                <a:solidFill>
                  <a:schemeClr val="dk1"/>
                </a:solidFill>
                <a:latin typeface="Times New Roman"/>
                <a:ea typeface="Times New Roman"/>
                <a:cs typeface="Times New Roman"/>
                <a:sym typeface="Times New Roman"/>
              </a:rPr>
              <a:t>The word eat has many forms.</a:t>
            </a:r>
            <a:endParaRPr sz="1650">
              <a:solidFill>
                <a:schemeClr val="dk1"/>
              </a:solidFill>
              <a:latin typeface="Times New Roman"/>
              <a:ea typeface="Times New Roman"/>
              <a:cs typeface="Times New Roman"/>
              <a:sym typeface="Times New Roman"/>
            </a:endParaRPr>
          </a:p>
          <a:p>
            <a:pPr marL="1384300" marR="6341110" lvl="0" indent="0" algn="l" rtl="0">
              <a:lnSpc>
                <a:spcPct val="197000"/>
              </a:lnSpc>
              <a:spcBef>
                <a:spcPts val="0"/>
              </a:spcBef>
              <a:spcAft>
                <a:spcPts val="0"/>
              </a:spcAft>
              <a:buNone/>
            </a:pPr>
            <a:r>
              <a:rPr lang="en-US" sz="1650">
                <a:solidFill>
                  <a:schemeClr val="dk1"/>
                </a:solidFill>
                <a:latin typeface="Times New Roman"/>
                <a:ea typeface="Times New Roman"/>
                <a:cs typeface="Times New Roman"/>
                <a:sym typeface="Times New Roman"/>
              </a:rPr>
              <a:t>eat – base form  ate – past tense</a:t>
            </a:r>
            <a:endParaRPr sz="1650">
              <a:solidFill>
                <a:schemeClr val="dk1"/>
              </a:solidFill>
              <a:latin typeface="Times New Roman"/>
              <a:ea typeface="Times New Roman"/>
              <a:cs typeface="Times New Roman"/>
              <a:sym typeface="Times New Roman"/>
            </a:endParaRPr>
          </a:p>
          <a:p>
            <a:pPr marL="1384300" marR="4699635" lvl="0" indent="0" algn="l" rtl="0">
              <a:lnSpc>
                <a:spcPct val="197000"/>
              </a:lnSpc>
              <a:spcBef>
                <a:spcPts val="0"/>
              </a:spcBef>
              <a:spcAft>
                <a:spcPts val="0"/>
              </a:spcAft>
              <a:buNone/>
            </a:pPr>
            <a:r>
              <a:rPr lang="en-US" sz="1650">
                <a:solidFill>
                  <a:schemeClr val="dk1"/>
                </a:solidFill>
                <a:latin typeface="Times New Roman"/>
                <a:ea typeface="Times New Roman"/>
                <a:cs typeface="Times New Roman"/>
                <a:sym typeface="Times New Roman"/>
              </a:rPr>
              <a:t>eats – third person singular subject  eaten – past participle form</a:t>
            </a:r>
            <a:endParaRPr sz="1650">
              <a:solidFill>
                <a:schemeClr val="dk1"/>
              </a:solidFill>
              <a:latin typeface="Times New Roman"/>
              <a:ea typeface="Times New Roman"/>
              <a:cs typeface="Times New Roman"/>
              <a:sym typeface="Times New Roman"/>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MasterSp="0">
  <p:cSld>
    <p:spTree>
      <p:nvGrpSpPr>
        <p:cNvPr id="1" name="Shape 549"/>
        <p:cNvGrpSpPr/>
        <p:nvPr/>
      </p:nvGrpSpPr>
      <p:grpSpPr>
        <a:xfrm>
          <a:off x="0" y="0"/>
          <a:ext cx="0" cy="0"/>
          <a:chOff x="0" y="0"/>
          <a:chExt cx="0" cy="0"/>
        </a:xfrm>
      </p:grpSpPr>
      <p:sp>
        <p:nvSpPr>
          <p:cNvPr id="550" name="Google Shape;550;p46"/>
          <p:cNvSpPr txBox="1">
            <a:spLocks noGrp="1"/>
          </p:cNvSpPr>
          <p:nvPr>
            <p:ph type="title"/>
          </p:nvPr>
        </p:nvSpPr>
        <p:spPr>
          <a:xfrm>
            <a:off x="911225" y="421901"/>
            <a:ext cx="5405120" cy="69596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4400"/>
              <a:t>Parts of Speech Tagging</a:t>
            </a:r>
            <a:endParaRPr sz="4400"/>
          </a:p>
        </p:txBody>
      </p:sp>
      <p:sp>
        <p:nvSpPr>
          <p:cNvPr id="551" name="Google Shape;551;p46"/>
          <p:cNvSpPr txBox="1"/>
          <p:nvPr/>
        </p:nvSpPr>
        <p:spPr>
          <a:xfrm>
            <a:off x="890130" y="1273087"/>
            <a:ext cx="9640570" cy="4540885"/>
          </a:xfrm>
          <a:prstGeom prst="rect">
            <a:avLst/>
          </a:prstGeom>
          <a:noFill/>
          <a:ln>
            <a:noFill/>
          </a:ln>
        </p:spPr>
        <p:txBody>
          <a:bodyPr spcFirstLastPara="1" wrap="square" lIns="0" tIns="14600" rIns="0" bIns="0" anchor="t" anchorCtr="0">
            <a:spAutoFit/>
          </a:bodyPr>
          <a:lstStyle/>
          <a:p>
            <a:pPr marL="33655" marR="0" lvl="0" indent="0" algn="l" rtl="0">
              <a:lnSpc>
                <a:spcPct val="100000"/>
              </a:lnSpc>
              <a:spcBef>
                <a:spcPts val="0"/>
              </a:spcBef>
              <a:spcAft>
                <a:spcPts val="0"/>
              </a:spcAft>
              <a:buNone/>
            </a:pPr>
            <a:r>
              <a:rPr lang="en-US" sz="1650">
                <a:solidFill>
                  <a:schemeClr val="dk1"/>
                </a:solidFill>
                <a:latin typeface="Times New Roman"/>
                <a:ea typeface="Times New Roman"/>
                <a:cs typeface="Times New Roman"/>
                <a:sym typeface="Times New Roman"/>
              </a:rPr>
              <a:t>The number of tags used by different taggers varies subsequently, some use 20 while others use 400.</a:t>
            </a:r>
            <a:endParaRPr sz="1650">
              <a:solidFill>
                <a:schemeClr val="dk1"/>
              </a:solidFill>
              <a:latin typeface="Times New Roman"/>
              <a:ea typeface="Times New Roman"/>
              <a:cs typeface="Times New Roman"/>
              <a:sym typeface="Times New Roman"/>
            </a:endParaRPr>
          </a:p>
          <a:p>
            <a:pPr marL="0" marR="0" lvl="0" indent="0" algn="l" rtl="0">
              <a:lnSpc>
                <a:spcPct val="100000"/>
              </a:lnSpc>
              <a:spcBef>
                <a:spcPts val="50"/>
              </a:spcBef>
              <a:spcAft>
                <a:spcPts val="0"/>
              </a:spcAft>
              <a:buNone/>
            </a:pPr>
            <a:endParaRPr sz="1800">
              <a:solidFill>
                <a:schemeClr val="dk1"/>
              </a:solidFill>
              <a:latin typeface="Times New Roman"/>
              <a:ea typeface="Times New Roman"/>
              <a:cs typeface="Times New Roman"/>
              <a:sym typeface="Times New Roman"/>
            </a:endParaRPr>
          </a:p>
          <a:p>
            <a:pPr marL="376555" marR="0" lvl="0" indent="-292735" algn="l" rtl="0">
              <a:lnSpc>
                <a:spcPct val="100000"/>
              </a:lnSpc>
              <a:spcBef>
                <a:spcPts val="0"/>
              </a:spcBef>
              <a:spcAft>
                <a:spcPts val="0"/>
              </a:spcAft>
              <a:buClr>
                <a:schemeClr val="dk1"/>
              </a:buClr>
              <a:buSzPts val="1650"/>
              <a:buFont typeface="Lucida Sans"/>
              <a:buChar char="∙"/>
            </a:pPr>
            <a:r>
              <a:rPr lang="en-US" sz="1650">
                <a:solidFill>
                  <a:schemeClr val="dk1"/>
                </a:solidFill>
                <a:latin typeface="Times New Roman"/>
                <a:ea typeface="Times New Roman"/>
                <a:cs typeface="Times New Roman"/>
                <a:sym typeface="Times New Roman"/>
              </a:rPr>
              <a:t>Penn Treebank tag set – 47 tags</a:t>
            </a:r>
            <a:endParaRPr sz="1650">
              <a:solidFill>
                <a:schemeClr val="dk1"/>
              </a:solidFill>
              <a:latin typeface="Times New Roman"/>
              <a:ea typeface="Times New Roman"/>
              <a:cs typeface="Times New Roman"/>
              <a:sym typeface="Times New Roman"/>
            </a:endParaRPr>
          </a:p>
          <a:p>
            <a:pPr marL="376555" marR="0" lvl="0" indent="-292735" algn="l" rtl="0">
              <a:lnSpc>
                <a:spcPct val="100000"/>
              </a:lnSpc>
              <a:spcBef>
                <a:spcPts val="1145"/>
              </a:spcBef>
              <a:spcAft>
                <a:spcPts val="0"/>
              </a:spcAft>
              <a:buClr>
                <a:schemeClr val="dk1"/>
              </a:buClr>
              <a:buSzPts val="1650"/>
              <a:buFont typeface="Lucida Sans"/>
              <a:buChar char="∙"/>
            </a:pPr>
            <a:r>
              <a:rPr lang="en-US" sz="1650">
                <a:solidFill>
                  <a:schemeClr val="dk1"/>
                </a:solidFill>
                <a:latin typeface="Times New Roman"/>
                <a:ea typeface="Times New Roman"/>
                <a:cs typeface="Times New Roman"/>
                <a:sym typeface="Times New Roman"/>
              </a:rPr>
              <a:t>C7 – 164</a:t>
            </a:r>
            <a:endParaRPr sz="1650">
              <a:solidFill>
                <a:schemeClr val="dk1"/>
              </a:solidFill>
              <a:latin typeface="Times New Roman"/>
              <a:ea typeface="Times New Roman"/>
              <a:cs typeface="Times New Roman"/>
              <a:sym typeface="Times New Roman"/>
            </a:endParaRPr>
          </a:p>
          <a:p>
            <a:pPr marL="376555" marR="0" lvl="0" indent="-292735" algn="l" rtl="0">
              <a:lnSpc>
                <a:spcPct val="100000"/>
              </a:lnSpc>
              <a:spcBef>
                <a:spcPts val="1095"/>
              </a:spcBef>
              <a:spcAft>
                <a:spcPts val="0"/>
              </a:spcAft>
              <a:buClr>
                <a:schemeClr val="dk1"/>
              </a:buClr>
              <a:buSzPts val="1650"/>
              <a:buFont typeface="Lucida Sans"/>
              <a:buChar char="∙"/>
            </a:pPr>
            <a:r>
              <a:rPr lang="en-US" sz="1650">
                <a:solidFill>
                  <a:schemeClr val="dk1"/>
                </a:solidFill>
                <a:latin typeface="Times New Roman"/>
                <a:ea typeface="Times New Roman"/>
                <a:cs typeface="Times New Roman"/>
                <a:sym typeface="Times New Roman"/>
              </a:rPr>
              <a:t>TOSCA ICE – 270 tags</a:t>
            </a:r>
            <a:endParaRPr sz="1650">
              <a:solidFill>
                <a:schemeClr val="dk1"/>
              </a:solidFill>
              <a:latin typeface="Times New Roman"/>
              <a:ea typeface="Times New Roman"/>
              <a:cs typeface="Times New Roman"/>
              <a:sym typeface="Times New Roman"/>
            </a:endParaRPr>
          </a:p>
          <a:p>
            <a:pPr marL="376555" marR="0" lvl="0" indent="-292735" algn="l" rtl="0">
              <a:lnSpc>
                <a:spcPct val="100000"/>
              </a:lnSpc>
              <a:spcBef>
                <a:spcPts val="1095"/>
              </a:spcBef>
              <a:spcAft>
                <a:spcPts val="0"/>
              </a:spcAft>
              <a:buClr>
                <a:schemeClr val="dk1"/>
              </a:buClr>
              <a:buSzPts val="1650"/>
              <a:buFont typeface="Lucida Sans"/>
              <a:buChar char="∙"/>
            </a:pPr>
            <a:r>
              <a:rPr lang="en-US" sz="1650">
                <a:solidFill>
                  <a:schemeClr val="dk1"/>
                </a:solidFill>
                <a:latin typeface="Times New Roman"/>
                <a:ea typeface="Times New Roman"/>
                <a:cs typeface="Times New Roman"/>
                <a:sym typeface="Times New Roman"/>
              </a:rPr>
              <a:t>TESS – 200 tags</a:t>
            </a:r>
            <a:endParaRPr sz="1650">
              <a:solidFill>
                <a:schemeClr val="dk1"/>
              </a:solidFill>
              <a:latin typeface="Times New Roman"/>
              <a:ea typeface="Times New Roman"/>
              <a:cs typeface="Times New Roman"/>
              <a:sym typeface="Times New Roman"/>
            </a:endParaRPr>
          </a:p>
          <a:p>
            <a:pPr marL="0" marR="0" lvl="0" indent="0" algn="l" rtl="0">
              <a:lnSpc>
                <a:spcPct val="100000"/>
              </a:lnSpc>
              <a:spcBef>
                <a:spcPts val="25"/>
              </a:spcBef>
              <a:spcAft>
                <a:spcPts val="0"/>
              </a:spcAft>
              <a:buNone/>
            </a:pPr>
            <a:endParaRPr sz="1800">
              <a:solidFill>
                <a:schemeClr val="dk1"/>
              </a:solidFill>
              <a:latin typeface="Times New Roman"/>
              <a:ea typeface="Times New Roman"/>
              <a:cs typeface="Times New Roman"/>
              <a:sym typeface="Times New Roman"/>
            </a:endParaRPr>
          </a:p>
          <a:p>
            <a:pPr marL="376555" marR="0" lvl="0" indent="-364490" algn="l" rtl="0">
              <a:lnSpc>
                <a:spcPct val="100000"/>
              </a:lnSpc>
              <a:spcBef>
                <a:spcPts val="0"/>
              </a:spcBef>
              <a:spcAft>
                <a:spcPts val="0"/>
              </a:spcAft>
              <a:buClr>
                <a:schemeClr val="dk1"/>
              </a:buClr>
              <a:buSzPts val="1650"/>
              <a:buFont typeface="Lucida Sans"/>
              <a:buChar char="□"/>
            </a:pPr>
            <a:r>
              <a:rPr lang="en-US" sz="1650">
                <a:solidFill>
                  <a:schemeClr val="dk1"/>
                </a:solidFill>
                <a:latin typeface="Times New Roman"/>
                <a:ea typeface="Times New Roman"/>
                <a:cs typeface="Times New Roman"/>
                <a:sym typeface="Times New Roman"/>
              </a:rPr>
              <a:t>Larger tag set□greater the information captured about linguistic context.</a:t>
            </a:r>
            <a:endParaRPr sz="1650">
              <a:solidFill>
                <a:schemeClr val="dk1"/>
              </a:solidFill>
              <a:latin typeface="Times New Roman"/>
              <a:ea typeface="Times New Roman"/>
              <a:cs typeface="Times New Roman"/>
              <a:sym typeface="Times New Roman"/>
            </a:endParaRPr>
          </a:p>
          <a:p>
            <a:pPr marL="376555" marR="0" lvl="0" indent="-364490" algn="l" rtl="0">
              <a:lnSpc>
                <a:spcPct val="100000"/>
              </a:lnSpc>
              <a:spcBef>
                <a:spcPts val="1145"/>
              </a:spcBef>
              <a:spcAft>
                <a:spcPts val="0"/>
              </a:spcAft>
              <a:buClr>
                <a:schemeClr val="dk1"/>
              </a:buClr>
              <a:buSzPts val="1650"/>
              <a:buFont typeface="Lucida Sans"/>
              <a:buChar char="□"/>
            </a:pPr>
            <a:r>
              <a:rPr lang="en-US" sz="1650">
                <a:solidFill>
                  <a:schemeClr val="dk1"/>
                </a:solidFill>
                <a:latin typeface="Times New Roman"/>
                <a:ea typeface="Times New Roman"/>
                <a:cs typeface="Times New Roman"/>
                <a:sym typeface="Times New Roman"/>
              </a:rPr>
              <a:t>Task of tagging become more complicated and requires manual correction.</a:t>
            </a:r>
            <a:endParaRPr sz="1650">
              <a:solidFill>
                <a:schemeClr val="dk1"/>
              </a:solidFill>
              <a:latin typeface="Times New Roman"/>
              <a:ea typeface="Times New Roman"/>
              <a:cs typeface="Times New Roman"/>
              <a:sym typeface="Times New Roman"/>
            </a:endParaRPr>
          </a:p>
          <a:p>
            <a:pPr marL="376555" marR="0" lvl="0" indent="-364490" algn="l" rtl="0">
              <a:lnSpc>
                <a:spcPct val="100000"/>
              </a:lnSpc>
              <a:spcBef>
                <a:spcPts val="1095"/>
              </a:spcBef>
              <a:spcAft>
                <a:spcPts val="0"/>
              </a:spcAft>
              <a:buClr>
                <a:schemeClr val="dk1"/>
              </a:buClr>
              <a:buSzPts val="1650"/>
              <a:buFont typeface="Lucida Sans"/>
              <a:buChar char="□"/>
            </a:pPr>
            <a:r>
              <a:rPr lang="en-US" sz="1650">
                <a:solidFill>
                  <a:schemeClr val="dk1"/>
                </a:solidFill>
                <a:latin typeface="Times New Roman"/>
                <a:ea typeface="Times New Roman"/>
                <a:cs typeface="Times New Roman"/>
                <a:sym typeface="Times New Roman"/>
              </a:rPr>
              <a:t>A bigger tag set can be used for morphologically rich languages without introducing too many tagging errors.</a:t>
            </a:r>
            <a:endParaRPr sz="1650">
              <a:solidFill>
                <a:schemeClr val="dk1"/>
              </a:solidFill>
              <a:latin typeface="Times New Roman"/>
              <a:ea typeface="Times New Roman"/>
              <a:cs typeface="Times New Roman"/>
              <a:sym typeface="Times New Roman"/>
            </a:endParaRPr>
          </a:p>
          <a:p>
            <a:pPr marL="376555" marR="0" lvl="0" indent="-364490" algn="l" rtl="0">
              <a:lnSpc>
                <a:spcPct val="100000"/>
              </a:lnSpc>
              <a:spcBef>
                <a:spcPts val="1095"/>
              </a:spcBef>
              <a:spcAft>
                <a:spcPts val="0"/>
              </a:spcAft>
              <a:buClr>
                <a:schemeClr val="dk1"/>
              </a:buClr>
              <a:buSzPts val="1650"/>
              <a:buFont typeface="Lucida Sans"/>
              <a:buChar char="□"/>
            </a:pPr>
            <a:r>
              <a:rPr lang="en-US" sz="1650">
                <a:solidFill>
                  <a:schemeClr val="dk1"/>
                </a:solidFill>
                <a:latin typeface="Times New Roman"/>
                <a:ea typeface="Times New Roman"/>
                <a:cs typeface="Times New Roman"/>
                <a:sym typeface="Times New Roman"/>
              </a:rPr>
              <a:t>A tag set that uses just one tag to denote all the verbs will assign identical tags to all the forms of a verb.</a:t>
            </a:r>
            <a:endParaRPr sz="1650">
              <a:solidFill>
                <a:schemeClr val="dk1"/>
              </a:solidFill>
              <a:latin typeface="Times New Roman"/>
              <a:ea typeface="Times New Roman"/>
              <a:cs typeface="Times New Roman"/>
              <a:sym typeface="Times New Roman"/>
            </a:endParaRPr>
          </a:p>
          <a:p>
            <a:pPr marL="376555" marR="0" lvl="0" indent="-364490" algn="l" rtl="0">
              <a:lnSpc>
                <a:spcPct val="100000"/>
              </a:lnSpc>
              <a:spcBef>
                <a:spcPts val="1095"/>
              </a:spcBef>
              <a:spcAft>
                <a:spcPts val="0"/>
              </a:spcAft>
              <a:buClr>
                <a:schemeClr val="dk1"/>
              </a:buClr>
              <a:buSzPts val="1650"/>
              <a:buFont typeface="Lucida Sans"/>
              <a:buChar char="□"/>
            </a:pPr>
            <a:r>
              <a:rPr lang="en-US" sz="1650">
                <a:solidFill>
                  <a:schemeClr val="dk1"/>
                </a:solidFill>
                <a:latin typeface="Times New Roman"/>
                <a:ea typeface="Times New Roman"/>
                <a:cs typeface="Times New Roman"/>
                <a:sym typeface="Times New Roman"/>
              </a:rPr>
              <a:t>Coarse grained distinction:- appropriate for some tasks.</a:t>
            </a:r>
            <a:endParaRPr sz="1650">
              <a:solidFill>
                <a:schemeClr val="dk1"/>
              </a:solidFill>
              <a:latin typeface="Times New Roman"/>
              <a:ea typeface="Times New Roman"/>
              <a:cs typeface="Times New Roman"/>
              <a:sym typeface="Times New Roman"/>
            </a:endParaRPr>
          </a:p>
          <a:p>
            <a:pPr marL="262255" marR="0" lvl="1" indent="-197484" algn="l" rtl="0">
              <a:lnSpc>
                <a:spcPct val="100000"/>
              </a:lnSpc>
              <a:spcBef>
                <a:spcPts val="1775"/>
              </a:spcBef>
              <a:spcAft>
                <a:spcPts val="0"/>
              </a:spcAft>
              <a:buClr>
                <a:schemeClr val="dk1"/>
              </a:buClr>
              <a:buSzPts val="1650"/>
              <a:buFont typeface="Arial"/>
              <a:buChar char="•"/>
            </a:pPr>
            <a:r>
              <a:rPr lang="en-US" sz="1650" b="0" i="0" u="none" strike="noStrike" cap="none">
                <a:solidFill>
                  <a:schemeClr val="dk1"/>
                </a:solidFill>
                <a:latin typeface="Times New Roman"/>
                <a:ea typeface="Times New Roman"/>
                <a:cs typeface="Times New Roman"/>
                <a:sym typeface="Times New Roman"/>
              </a:rPr>
              <a:t>Fine grained tag set:-captures more information</a:t>
            </a:r>
            <a:endParaRPr sz="1650" b="0" i="0" u="none" strike="noStrike" cap="none">
              <a:solidFill>
                <a:schemeClr val="dk1"/>
              </a:solidFill>
              <a:latin typeface="Times New Roman"/>
              <a:ea typeface="Times New Roman"/>
              <a:cs typeface="Times New Roman"/>
              <a:sym typeface="Times New Roman"/>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MasterSp="0">
  <p:cSld>
    <p:spTree>
      <p:nvGrpSpPr>
        <p:cNvPr id="1" name="Shape 555"/>
        <p:cNvGrpSpPr/>
        <p:nvPr/>
      </p:nvGrpSpPr>
      <p:grpSpPr>
        <a:xfrm>
          <a:off x="0" y="0"/>
          <a:ext cx="0" cy="0"/>
          <a:chOff x="0" y="0"/>
          <a:chExt cx="0" cy="0"/>
        </a:xfrm>
      </p:grpSpPr>
      <p:sp>
        <p:nvSpPr>
          <p:cNvPr id="556" name="Google Shape;556;p47"/>
          <p:cNvSpPr txBox="1">
            <a:spLocks noGrp="1"/>
          </p:cNvSpPr>
          <p:nvPr>
            <p:ph type="title"/>
          </p:nvPr>
        </p:nvSpPr>
        <p:spPr>
          <a:xfrm>
            <a:off x="911225" y="384956"/>
            <a:ext cx="5405120" cy="69596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4400"/>
              <a:t>Parts of Speech Tagging</a:t>
            </a:r>
            <a:endParaRPr sz="4400"/>
          </a:p>
        </p:txBody>
      </p:sp>
      <p:sp>
        <p:nvSpPr>
          <p:cNvPr id="557" name="Google Shape;557;p47"/>
          <p:cNvSpPr txBox="1"/>
          <p:nvPr/>
        </p:nvSpPr>
        <p:spPr>
          <a:xfrm>
            <a:off x="890130" y="1189047"/>
            <a:ext cx="4292600" cy="5054600"/>
          </a:xfrm>
          <a:prstGeom prst="rect">
            <a:avLst/>
          </a:prstGeom>
          <a:noFill/>
          <a:ln>
            <a:noFill/>
          </a:ln>
        </p:spPr>
        <p:txBody>
          <a:bodyPr spcFirstLastPara="1" wrap="square" lIns="0" tIns="14600" rIns="0" bIns="0" anchor="t" anchorCtr="0">
            <a:spAutoFit/>
          </a:bodyPr>
          <a:lstStyle/>
          <a:p>
            <a:pPr marL="948055" marR="0" lvl="0" indent="0" algn="l" rtl="0">
              <a:lnSpc>
                <a:spcPct val="100000"/>
              </a:lnSpc>
              <a:spcBef>
                <a:spcPts val="0"/>
              </a:spcBef>
              <a:spcAft>
                <a:spcPts val="0"/>
              </a:spcAft>
              <a:buNone/>
            </a:pPr>
            <a:r>
              <a:rPr lang="en-US" sz="1650" b="1">
                <a:solidFill>
                  <a:schemeClr val="dk1"/>
                </a:solidFill>
                <a:latin typeface="Times New Roman"/>
                <a:ea typeface="Times New Roman"/>
                <a:cs typeface="Times New Roman"/>
                <a:sym typeface="Times New Roman"/>
              </a:rPr>
              <a:t>Tags From Penn Treebank Tag Set</a:t>
            </a:r>
            <a:endParaRPr sz="1650">
              <a:solidFill>
                <a:schemeClr val="dk1"/>
              </a:solidFill>
              <a:latin typeface="Times New Roman"/>
              <a:ea typeface="Times New Roman"/>
              <a:cs typeface="Times New Roman"/>
              <a:sym typeface="Times New Roman"/>
            </a:endParaRPr>
          </a:p>
          <a:p>
            <a:pPr marL="0" marR="0" lvl="0" indent="0" algn="l" rtl="0">
              <a:lnSpc>
                <a:spcPct val="100000"/>
              </a:lnSpc>
              <a:spcBef>
                <a:spcPts val="55"/>
              </a:spcBef>
              <a:spcAft>
                <a:spcPts val="0"/>
              </a:spcAft>
              <a:buNone/>
            </a:pPr>
            <a:endParaRPr sz="1600">
              <a:solidFill>
                <a:schemeClr val="dk1"/>
              </a:solidFill>
              <a:latin typeface="Times New Roman"/>
              <a:ea typeface="Times New Roman"/>
              <a:cs typeface="Times New Roman"/>
              <a:sym typeface="Times New Roman"/>
            </a:endParaRPr>
          </a:p>
          <a:p>
            <a:pPr marL="376555" marR="0" lvl="0" indent="-364490" algn="l" rtl="0">
              <a:lnSpc>
                <a:spcPct val="100000"/>
              </a:lnSpc>
              <a:spcBef>
                <a:spcPts val="0"/>
              </a:spcBef>
              <a:spcAft>
                <a:spcPts val="0"/>
              </a:spcAft>
              <a:buClr>
                <a:schemeClr val="dk1"/>
              </a:buClr>
              <a:buSzPts val="1650"/>
              <a:buFont typeface="Lucida Sans"/>
              <a:buChar char="□"/>
            </a:pPr>
            <a:r>
              <a:rPr lang="en-US" sz="1650">
                <a:solidFill>
                  <a:schemeClr val="dk1"/>
                </a:solidFill>
                <a:latin typeface="Times New Roman"/>
                <a:ea typeface="Times New Roman"/>
                <a:cs typeface="Times New Roman"/>
                <a:sym typeface="Times New Roman"/>
              </a:rPr>
              <a:t>VB – verb, base form</a:t>
            </a:r>
            <a:endParaRPr sz="1650">
              <a:solidFill>
                <a:schemeClr val="dk1"/>
              </a:solidFill>
              <a:latin typeface="Times New Roman"/>
              <a:ea typeface="Times New Roman"/>
              <a:cs typeface="Times New Roman"/>
              <a:sym typeface="Times New Roman"/>
            </a:endParaRPr>
          </a:p>
          <a:p>
            <a:pPr marL="376555" marR="0" lvl="0" indent="-364490" algn="l" rtl="0">
              <a:lnSpc>
                <a:spcPct val="100000"/>
              </a:lnSpc>
              <a:spcBef>
                <a:spcPts val="919"/>
              </a:spcBef>
              <a:spcAft>
                <a:spcPts val="0"/>
              </a:spcAft>
              <a:buClr>
                <a:schemeClr val="dk1"/>
              </a:buClr>
              <a:buSzPts val="1650"/>
              <a:buFont typeface="Lucida Sans"/>
              <a:buChar char="□"/>
            </a:pPr>
            <a:r>
              <a:rPr lang="en-US" sz="1650">
                <a:solidFill>
                  <a:schemeClr val="dk1"/>
                </a:solidFill>
                <a:latin typeface="Times New Roman"/>
                <a:ea typeface="Times New Roman"/>
                <a:cs typeface="Times New Roman"/>
                <a:sym typeface="Times New Roman"/>
              </a:rPr>
              <a:t>VBD – verb, past tense</a:t>
            </a:r>
            <a:endParaRPr sz="1650">
              <a:solidFill>
                <a:schemeClr val="dk1"/>
              </a:solidFill>
              <a:latin typeface="Times New Roman"/>
              <a:ea typeface="Times New Roman"/>
              <a:cs typeface="Times New Roman"/>
              <a:sym typeface="Times New Roman"/>
            </a:endParaRPr>
          </a:p>
          <a:p>
            <a:pPr marL="376555" marR="0" lvl="0" indent="-364490" algn="l" rtl="0">
              <a:lnSpc>
                <a:spcPct val="100000"/>
              </a:lnSpc>
              <a:spcBef>
                <a:spcPts val="944"/>
              </a:spcBef>
              <a:spcAft>
                <a:spcPts val="0"/>
              </a:spcAft>
              <a:buClr>
                <a:schemeClr val="dk1"/>
              </a:buClr>
              <a:buSzPts val="1650"/>
              <a:buFont typeface="Lucida Sans"/>
              <a:buChar char="□"/>
            </a:pPr>
            <a:r>
              <a:rPr lang="en-US" sz="1650">
                <a:solidFill>
                  <a:schemeClr val="dk1"/>
                </a:solidFill>
                <a:latin typeface="Times New Roman"/>
                <a:ea typeface="Times New Roman"/>
                <a:cs typeface="Times New Roman"/>
                <a:sym typeface="Times New Roman"/>
              </a:rPr>
              <a:t>VBG – verb, gerund or present participle</a:t>
            </a:r>
            <a:endParaRPr sz="1650">
              <a:solidFill>
                <a:schemeClr val="dk1"/>
              </a:solidFill>
              <a:latin typeface="Times New Roman"/>
              <a:ea typeface="Times New Roman"/>
              <a:cs typeface="Times New Roman"/>
              <a:sym typeface="Times New Roman"/>
            </a:endParaRPr>
          </a:p>
          <a:p>
            <a:pPr marL="376555" marR="0" lvl="0" indent="-364490" algn="l" rtl="0">
              <a:lnSpc>
                <a:spcPct val="100000"/>
              </a:lnSpc>
              <a:spcBef>
                <a:spcPts val="944"/>
              </a:spcBef>
              <a:spcAft>
                <a:spcPts val="0"/>
              </a:spcAft>
              <a:buClr>
                <a:schemeClr val="dk1"/>
              </a:buClr>
              <a:buSzPts val="1650"/>
              <a:buFont typeface="Lucida Sans"/>
              <a:buChar char="□"/>
            </a:pPr>
            <a:r>
              <a:rPr lang="en-US" sz="1650">
                <a:solidFill>
                  <a:schemeClr val="dk1"/>
                </a:solidFill>
                <a:latin typeface="Times New Roman"/>
                <a:ea typeface="Times New Roman"/>
                <a:cs typeface="Times New Roman"/>
                <a:sym typeface="Times New Roman"/>
              </a:rPr>
              <a:t>VBN - verb, past participle.</a:t>
            </a:r>
            <a:endParaRPr sz="1650">
              <a:solidFill>
                <a:schemeClr val="dk1"/>
              </a:solidFill>
              <a:latin typeface="Times New Roman"/>
              <a:ea typeface="Times New Roman"/>
              <a:cs typeface="Times New Roman"/>
              <a:sym typeface="Times New Roman"/>
            </a:endParaRPr>
          </a:p>
          <a:p>
            <a:pPr marL="376555" marR="0" lvl="0" indent="-364490" algn="l" rtl="0">
              <a:lnSpc>
                <a:spcPct val="100000"/>
              </a:lnSpc>
              <a:spcBef>
                <a:spcPts val="944"/>
              </a:spcBef>
              <a:spcAft>
                <a:spcPts val="0"/>
              </a:spcAft>
              <a:buClr>
                <a:schemeClr val="dk1"/>
              </a:buClr>
              <a:buSzPts val="1650"/>
              <a:buFont typeface="Lucida Sans"/>
              <a:buChar char="□"/>
            </a:pPr>
            <a:r>
              <a:rPr lang="en-US" sz="1650">
                <a:solidFill>
                  <a:schemeClr val="dk1"/>
                </a:solidFill>
                <a:latin typeface="Times New Roman"/>
                <a:ea typeface="Times New Roman"/>
                <a:cs typeface="Times New Roman"/>
                <a:sym typeface="Times New Roman"/>
              </a:rPr>
              <a:t>VBP - verb, non third person singular present</a:t>
            </a:r>
            <a:endParaRPr sz="1650">
              <a:solidFill>
                <a:schemeClr val="dk1"/>
              </a:solidFill>
              <a:latin typeface="Times New Roman"/>
              <a:ea typeface="Times New Roman"/>
              <a:cs typeface="Times New Roman"/>
              <a:sym typeface="Times New Roman"/>
            </a:endParaRPr>
          </a:p>
          <a:p>
            <a:pPr marL="376555" marR="0" lvl="0" indent="-364490" algn="l" rtl="0">
              <a:lnSpc>
                <a:spcPct val="100000"/>
              </a:lnSpc>
              <a:spcBef>
                <a:spcPts val="944"/>
              </a:spcBef>
              <a:spcAft>
                <a:spcPts val="0"/>
              </a:spcAft>
              <a:buClr>
                <a:schemeClr val="dk1"/>
              </a:buClr>
              <a:buSzPts val="1650"/>
              <a:buFont typeface="Lucida Sans"/>
              <a:buChar char="□"/>
            </a:pPr>
            <a:r>
              <a:rPr lang="en-US" sz="1650">
                <a:solidFill>
                  <a:schemeClr val="dk1"/>
                </a:solidFill>
                <a:latin typeface="Times New Roman"/>
                <a:ea typeface="Times New Roman"/>
                <a:cs typeface="Times New Roman"/>
                <a:sym typeface="Times New Roman"/>
              </a:rPr>
              <a:t>VBZ – verb, third person singular present</a:t>
            </a:r>
            <a:endParaRPr sz="1650">
              <a:solidFill>
                <a:schemeClr val="dk1"/>
              </a:solidFill>
              <a:latin typeface="Times New Roman"/>
              <a:ea typeface="Times New Roman"/>
              <a:cs typeface="Times New Roman"/>
              <a:sym typeface="Times New Roman"/>
            </a:endParaRPr>
          </a:p>
          <a:p>
            <a:pPr marL="445134" marR="0" lvl="0" indent="0" algn="ctr" rtl="0">
              <a:lnSpc>
                <a:spcPct val="100000"/>
              </a:lnSpc>
              <a:spcBef>
                <a:spcPts val="1945"/>
              </a:spcBef>
              <a:spcAft>
                <a:spcPts val="0"/>
              </a:spcAft>
              <a:buNone/>
            </a:pPr>
            <a:r>
              <a:rPr lang="en-US" sz="1650" b="1">
                <a:solidFill>
                  <a:schemeClr val="dk1"/>
                </a:solidFill>
                <a:latin typeface="Times New Roman"/>
                <a:ea typeface="Times New Roman"/>
                <a:cs typeface="Times New Roman"/>
                <a:sym typeface="Times New Roman"/>
              </a:rPr>
              <a:t>Possible Tags For The Word To Eat</a:t>
            </a:r>
            <a:endParaRPr sz="1650">
              <a:solidFill>
                <a:schemeClr val="dk1"/>
              </a:solidFill>
              <a:latin typeface="Times New Roman"/>
              <a:ea typeface="Times New Roman"/>
              <a:cs typeface="Times New Roman"/>
              <a:sym typeface="Times New Roman"/>
            </a:endParaRPr>
          </a:p>
          <a:p>
            <a:pPr marL="0" marR="0" lvl="0" indent="0" algn="l" rtl="0">
              <a:lnSpc>
                <a:spcPct val="100000"/>
              </a:lnSpc>
              <a:spcBef>
                <a:spcPts val="20"/>
              </a:spcBef>
              <a:spcAft>
                <a:spcPts val="0"/>
              </a:spcAft>
              <a:buNone/>
            </a:pPr>
            <a:endParaRPr sz="1650">
              <a:solidFill>
                <a:schemeClr val="dk1"/>
              </a:solidFill>
              <a:latin typeface="Times New Roman"/>
              <a:ea typeface="Times New Roman"/>
              <a:cs typeface="Times New Roman"/>
              <a:sym typeface="Times New Roman"/>
            </a:endParaRPr>
          </a:p>
          <a:p>
            <a:pPr marL="490855" marR="0" lvl="1" indent="-426084" algn="l" rtl="0">
              <a:lnSpc>
                <a:spcPct val="100000"/>
              </a:lnSpc>
              <a:spcBef>
                <a:spcPts val="0"/>
              </a:spcBef>
              <a:spcAft>
                <a:spcPts val="0"/>
              </a:spcAft>
              <a:buClr>
                <a:schemeClr val="dk1"/>
              </a:buClr>
              <a:buSzPts val="1650"/>
              <a:buFont typeface="Arial"/>
              <a:buChar char="•"/>
            </a:pPr>
            <a:r>
              <a:rPr lang="en-US" sz="1650" b="0" i="0" u="none" strike="noStrike" cap="none">
                <a:solidFill>
                  <a:schemeClr val="dk1"/>
                </a:solidFill>
                <a:latin typeface="Times New Roman"/>
                <a:ea typeface="Times New Roman"/>
                <a:cs typeface="Times New Roman"/>
                <a:sym typeface="Times New Roman"/>
              </a:rPr>
              <a:t>Eat – VB</a:t>
            </a:r>
            <a:endParaRPr sz="1650" b="0" i="0" u="none" strike="noStrike" cap="none">
              <a:solidFill>
                <a:schemeClr val="dk1"/>
              </a:solidFill>
              <a:latin typeface="Times New Roman"/>
              <a:ea typeface="Times New Roman"/>
              <a:cs typeface="Times New Roman"/>
              <a:sym typeface="Times New Roman"/>
            </a:endParaRPr>
          </a:p>
          <a:p>
            <a:pPr marL="0" marR="0" lvl="0" indent="0" algn="l" rtl="0">
              <a:lnSpc>
                <a:spcPct val="100000"/>
              </a:lnSpc>
              <a:spcBef>
                <a:spcPts val="25"/>
              </a:spcBef>
              <a:spcAft>
                <a:spcPts val="0"/>
              </a:spcAft>
              <a:buNone/>
            </a:pPr>
            <a:endParaRPr sz="1650">
              <a:solidFill>
                <a:schemeClr val="dk1"/>
              </a:solidFill>
              <a:latin typeface="Times New Roman"/>
              <a:ea typeface="Times New Roman"/>
              <a:cs typeface="Times New Roman"/>
              <a:sym typeface="Times New Roman"/>
            </a:endParaRPr>
          </a:p>
          <a:p>
            <a:pPr marL="490855" marR="0" lvl="0" indent="-426084" algn="l" rtl="0">
              <a:lnSpc>
                <a:spcPct val="100000"/>
              </a:lnSpc>
              <a:spcBef>
                <a:spcPts val="0"/>
              </a:spcBef>
              <a:spcAft>
                <a:spcPts val="0"/>
              </a:spcAft>
              <a:buClr>
                <a:schemeClr val="dk1"/>
              </a:buClr>
              <a:buSzPts val="1650"/>
              <a:buFont typeface="Arial"/>
              <a:buChar char="•"/>
            </a:pPr>
            <a:r>
              <a:rPr lang="en-US" sz="1650">
                <a:solidFill>
                  <a:schemeClr val="dk1"/>
                </a:solidFill>
                <a:latin typeface="Times New Roman"/>
                <a:ea typeface="Times New Roman"/>
                <a:cs typeface="Times New Roman"/>
                <a:sym typeface="Times New Roman"/>
              </a:rPr>
              <a:t>Ate - VBD</a:t>
            </a:r>
            <a:endParaRPr sz="1650">
              <a:solidFill>
                <a:schemeClr val="dk1"/>
              </a:solidFill>
              <a:latin typeface="Times New Roman"/>
              <a:ea typeface="Times New Roman"/>
              <a:cs typeface="Times New Roman"/>
              <a:sym typeface="Times New Roman"/>
            </a:endParaRPr>
          </a:p>
          <a:p>
            <a:pPr marL="0" marR="0" lvl="0" indent="0" algn="l" rtl="0">
              <a:lnSpc>
                <a:spcPct val="100000"/>
              </a:lnSpc>
              <a:spcBef>
                <a:spcPts val="20"/>
              </a:spcBef>
              <a:spcAft>
                <a:spcPts val="0"/>
              </a:spcAft>
              <a:buClr>
                <a:schemeClr val="dk1"/>
              </a:buClr>
              <a:buSzPts val="1650"/>
              <a:buFont typeface="Arial"/>
              <a:buNone/>
            </a:pPr>
            <a:endParaRPr sz="1650">
              <a:solidFill>
                <a:schemeClr val="dk1"/>
              </a:solidFill>
              <a:latin typeface="Times New Roman"/>
              <a:ea typeface="Times New Roman"/>
              <a:cs typeface="Times New Roman"/>
              <a:sym typeface="Times New Roman"/>
            </a:endParaRPr>
          </a:p>
          <a:p>
            <a:pPr marL="490855" marR="0" lvl="0" indent="-426084" algn="l" rtl="0">
              <a:lnSpc>
                <a:spcPct val="100000"/>
              </a:lnSpc>
              <a:spcBef>
                <a:spcPts val="0"/>
              </a:spcBef>
              <a:spcAft>
                <a:spcPts val="0"/>
              </a:spcAft>
              <a:buClr>
                <a:schemeClr val="dk1"/>
              </a:buClr>
              <a:buSzPts val="1650"/>
              <a:buFont typeface="Arial"/>
              <a:buChar char="•"/>
            </a:pPr>
            <a:r>
              <a:rPr lang="en-US" sz="1650">
                <a:solidFill>
                  <a:schemeClr val="dk1"/>
                </a:solidFill>
                <a:latin typeface="Times New Roman"/>
                <a:ea typeface="Times New Roman"/>
                <a:cs typeface="Times New Roman"/>
                <a:sym typeface="Times New Roman"/>
              </a:rPr>
              <a:t>Eaten – VBN</a:t>
            </a:r>
            <a:endParaRPr sz="1650">
              <a:solidFill>
                <a:schemeClr val="dk1"/>
              </a:solidFill>
              <a:latin typeface="Times New Roman"/>
              <a:ea typeface="Times New Roman"/>
              <a:cs typeface="Times New Roman"/>
              <a:sym typeface="Times New Roman"/>
            </a:endParaRPr>
          </a:p>
          <a:p>
            <a:pPr marL="490855" marR="0" lvl="0" indent="-426084" algn="l" rtl="0">
              <a:lnSpc>
                <a:spcPct val="100000"/>
              </a:lnSpc>
              <a:spcBef>
                <a:spcPts val="1520"/>
              </a:spcBef>
              <a:spcAft>
                <a:spcPts val="0"/>
              </a:spcAft>
              <a:buClr>
                <a:schemeClr val="dk1"/>
              </a:buClr>
              <a:buSzPts val="1650"/>
              <a:buFont typeface="Arial"/>
              <a:buChar char="•"/>
            </a:pPr>
            <a:r>
              <a:rPr lang="en-US" sz="1650">
                <a:solidFill>
                  <a:schemeClr val="dk1"/>
                </a:solidFill>
                <a:latin typeface="Times New Roman"/>
                <a:ea typeface="Times New Roman"/>
                <a:cs typeface="Times New Roman"/>
                <a:sym typeface="Times New Roman"/>
              </a:rPr>
              <a:t>Eats – VBP</a:t>
            </a:r>
            <a:endParaRPr sz="1650">
              <a:solidFill>
                <a:schemeClr val="dk1"/>
              </a:solidFill>
              <a:latin typeface="Times New Roman"/>
              <a:ea typeface="Times New Roman"/>
              <a:cs typeface="Times New Roman"/>
              <a:sym typeface="Times New Roman"/>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MasterSp="0">
  <p:cSld>
    <p:spTree>
      <p:nvGrpSpPr>
        <p:cNvPr id="1" name="Shape 561"/>
        <p:cNvGrpSpPr/>
        <p:nvPr/>
      </p:nvGrpSpPr>
      <p:grpSpPr>
        <a:xfrm>
          <a:off x="0" y="0"/>
          <a:ext cx="0" cy="0"/>
          <a:chOff x="0" y="0"/>
          <a:chExt cx="0" cy="0"/>
        </a:xfrm>
      </p:grpSpPr>
      <p:sp>
        <p:nvSpPr>
          <p:cNvPr id="562" name="Google Shape;562;p48"/>
          <p:cNvSpPr txBox="1">
            <a:spLocks noGrp="1"/>
          </p:cNvSpPr>
          <p:nvPr>
            <p:ph type="title"/>
          </p:nvPr>
        </p:nvSpPr>
        <p:spPr>
          <a:xfrm>
            <a:off x="911225" y="324919"/>
            <a:ext cx="5405120" cy="69596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4400"/>
              <a:t>Parts of Speech Tagging</a:t>
            </a:r>
            <a:endParaRPr sz="4400"/>
          </a:p>
        </p:txBody>
      </p:sp>
      <p:sp>
        <p:nvSpPr>
          <p:cNvPr id="563" name="Google Shape;563;p48"/>
          <p:cNvSpPr txBox="1"/>
          <p:nvPr/>
        </p:nvSpPr>
        <p:spPr>
          <a:xfrm>
            <a:off x="851954" y="1189273"/>
            <a:ext cx="8569325" cy="4208145"/>
          </a:xfrm>
          <a:prstGeom prst="rect">
            <a:avLst/>
          </a:prstGeom>
          <a:noFill/>
          <a:ln>
            <a:noFill/>
          </a:ln>
        </p:spPr>
        <p:txBody>
          <a:bodyPr spcFirstLastPara="1" wrap="square" lIns="0" tIns="12700" rIns="0" bIns="0" anchor="t" anchorCtr="0">
            <a:spAutoFit/>
          </a:bodyPr>
          <a:lstStyle/>
          <a:p>
            <a:pPr marL="48895" marR="0" lvl="0" indent="0" algn="l" rtl="0">
              <a:lnSpc>
                <a:spcPct val="100000"/>
              </a:lnSpc>
              <a:spcBef>
                <a:spcPts val="0"/>
              </a:spcBef>
              <a:spcAft>
                <a:spcPts val="0"/>
              </a:spcAft>
              <a:buNone/>
            </a:pPr>
            <a:r>
              <a:rPr lang="en-US" sz="1800">
                <a:solidFill>
                  <a:schemeClr val="dk1"/>
                </a:solidFill>
                <a:latin typeface="Lucida Sans"/>
                <a:ea typeface="Lucida Sans"/>
                <a:cs typeface="Lucida Sans"/>
                <a:sym typeface="Lucida Sans"/>
              </a:rPr>
              <a:t>□	</a:t>
            </a:r>
            <a:r>
              <a:rPr lang="en-US" sz="1800">
                <a:solidFill>
                  <a:schemeClr val="dk1"/>
                </a:solidFill>
                <a:latin typeface="Times New Roman"/>
                <a:ea typeface="Times New Roman"/>
                <a:cs typeface="Times New Roman"/>
                <a:sym typeface="Times New Roman"/>
              </a:rPr>
              <a:t>Parts of speech tagging is an early stage of text processing in many NLP application like:</a:t>
            </a:r>
            <a:endParaRPr sz="1800">
              <a:solidFill>
                <a:schemeClr val="dk1"/>
              </a:solidFill>
              <a:latin typeface="Times New Roman"/>
              <a:ea typeface="Times New Roman"/>
              <a:cs typeface="Times New Roman"/>
              <a:sym typeface="Times New Roman"/>
            </a:endParaRPr>
          </a:p>
          <a:p>
            <a:pPr marL="414655" marR="0" lvl="0" indent="-288290" algn="l" rtl="0">
              <a:lnSpc>
                <a:spcPct val="100000"/>
              </a:lnSpc>
              <a:spcBef>
                <a:spcPts val="1315"/>
              </a:spcBef>
              <a:spcAft>
                <a:spcPts val="0"/>
              </a:spcAft>
              <a:buClr>
                <a:schemeClr val="dk1"/>
              </a:buClr>
              <a:buSzPts val="1800"/>
              <a:buFont typeface="Lucida Sans"/>
              <a:buChar char="∙"/>
            </a:pPr>
            <a:r>
              <a:rPr lang="en-US" sz="1800">
                <a:solidFill>
                  <a:schemeClr val="dk1"/>
                </a:solidFill>
                <a:latin typeface="Times New Roman"/>
                <a:ea typeface="Times New Roman"/>
                <a:cs typeface="Times New Roman"/>
                <a:sym typeface="Times New Roman"/>
              </a:rPr>
              <a:t>Speech synthesis</a:t>
            </a:r>
            <a:endParaRPr sz="1800">
              <a:solidFill>
                <a:schemeClr val="dk1"/>
              </a:solidFill>
              <a:latin typeface="Times New Roman"/>
              <a:ea typeface="Times New Roman"/>
              <a:cs typeface="Times New Roman"/>
              <a:sym typeface="Times New Roman"/>
            </a:endParaRPr>
          </a:p>
          <a:p>
            <a:pPr marL="414655" marR="0" lvl="0" indent="-288290" algn="l" rtl="0">
              <a:lnSpc>
                <a:spcPct val="100000"/>
              </a:lnSpc>
              <a:spcBef>
                <a:spcPts val="1290"/>
              </a:spcBef>
              <a:spcAft>
                <a:spcPts val="0"/>
              </a:spcAft>
              <a:buClr>
                <a:schemeClr val="dk1"/>
              </a:buClr>
              <a:buSzPts val="1800"/>
              <a:buFont typeface="Lucida Sans"/>
              <a:buChar char="∙"/>
            </a:pPr>
            <a:r>
              <a:rPr lang="en-US" sz="1800">
                <a:solidFill>
                  <a:schemeClr val="dk1"/>
                </a:solidFill>
                <a:latin typeface="Times New Roman"/>
                <a:ea typeface="Times New Roman"/>
                <a:cs typeface="Times New Roman"/>
                <a:sym typeface="Times New Roman"/>
              </a:rPr>
              <a:t>Machine translation</a:t>
            </a:r>
            <a:endParaRPr sz="1800">
              <a:solidFill>
                <a:schemeClr val="dk1"/>
              </a:solidFill>
              <a:latin typeface="Times New Roman"/>
              <a:ea typeface="Times New Roman"/>
              <a:cs typeface="Times New Roman"/>
              <a:sym typeface="Times New Roman"/>
            </a:endParaRPr>
          </a:p>
          <a:p>
            <a:pPr marL="414655" marR="0" lvl="0" indent="-288290" algn="l" rtl="0">
              <a:lnSpc>
                <a:spcPct val="100000"/>
              </a:lnSpc>
              <a:spcBef>
                <a:spcPts val="1290"/>
              </a:spcBef>
              <a:spcAft>
                <a:spcPts val="0"/>
              </a:spcAft>
              <a:buClr>
                <a:schemeClr val="dk1"/>
              </a:buClr>
              <a:buSzPts val="1800"/>
              <a:buFont typeface="Lucida Sans"/>
              <a:buChar char="∙"/>
            </a:pPr>
            <a:r>
              <a:rPr lang="en-US" sz="1800">
                <a:solidFill>
                  <a:schemeClr val="dk1"/>
                </a:solidFill>
                <a:latin typeface="Times New Roman"/>
                <a:ea typeface="Times New Roman"/>
                <a:cs typeface="Times New Roman"/>
                <a:sym typeface="Times New Roman"/>
              </a:rPr>
              <a:t>Information retrieval</a:t>
            </a:r>
            <a:endParaRPr sz="1800">
              <a:solidFill>
                <a:schemeClr val="dk1"/>
              </a:solidFill>
              <a:latin typeface="Times New Roman"/>
              <a:ea typeface="Times New Roman"/>
              <a:cs typeface="Times New Roman"/>
              <a:sym typeface="Times New Roman"/>
            </a:endParaRPr>
          </a:p>
          <a:p>
            <a:pPr marL="0" marR="0" lvl="0" indent="0" algn="l" rtl="0">
              <a:lnSpc>
                <a:spcPct val="100000"/>
              </a:lnSpc>
              <a:spcBef>
                <a:spcPts val="45"/>
              </a:spcBef>
              <a:spcAft>
                <a:spcPts val="0"/>
              </a:spcAft>
              <a:buClr>
                <a:schemeClr val="dk1"/>
              </a:buClr>
              <a:buSzPts val="1950"/>
              <a:buFont typeface="Lucida Sans"/>
              <a:buNone/>
            </a:pPr>
            <a:endParaRPr sz="1950">
              <a:solidFill>
                <a:schemeClr val="dk1"/>
              </a:solidFill>
              <a:latin typeface="Times New Roman"/>
              <a:ea typeface="Times New Roman"/>
              <a:cs typeface="Times New Roman"/>
              <a:sym typeface="Times New Roman"/>
            </a:endParaRPr>
          </a:p>
          <a:p>
            <a:pPr marL="414655" marR="0" lvl="0" indent="-288290" algn="l" rtl="0">
              <a:lnSpc>
                <a:spcPct val="100000"/>
              </a:lnSpc>
              <a:spcBef>
                <a:spcPts val="0"/>
              </a:spcBef>
              <a:spcAft>
                <a:spcPts val="0"/>
              </a:spcAft>
              <a:buClr>
                <a:schemeClr val="dk1"/>
              </a:buClr>
              <a:buSzPts val="1800"/>
              <a:buFont typeface="Lucida Sans"/>
              <a:buChar char="∙"/>
            </a:pPr>
            <a:r>
              <a:rPr lang="en-US" sz="1800">
                <a:solidFill>
                  <a:schemeClr val="dk1"/>
                </a:solidFill>
                <a:latin typeface="Times New Roman"/>
                <a:ea typeface="Times New Roman"/>
                <a:cs typeface="Times New Roman"/>
                <a:sym typeface="Times New Roman"/>
              </a:rPr>
              <a:t>Information extraction.</a:t>
            </a:r>
            <a:endParaRPr sz="1800">
              <a:solidFill>
                <a:schemeClr val="dk1"/>
              </a:solidFill>
              <a:latin typeface="Times New Roman"/>
              <a:ea typeface="Times New Roman"/>
              <a:cs typeface="Times New Roman"/>
              <a:sym typeface="Times New Roman"/>
            </a:endParaRPr>
          </a:p>
          <a:p>
            <a:pPr marL="0" marR="0" lvl="0" indent="0" algn="l" rtl="0">
              <a:lnSpc>
                <a:spcPct val="100000"/>
              </a:lnSpc>
              <a:spcBef>
                <a:spcPts val="40"/>
              </a:spcBef>
              <a:spcAft>
                <a:spcPts val="0"/>
              </a:spcAft>
              <a:buNone/>
            </a:pPr>
            <a:endParaRPr sz="2000">
              <a:solidFill>
                <a:schemeClr val="dk1"/>
              </a:solidFill>
              <a:latin typeface="Times New Roman"/>
              <a:ea typeface="Times New Roman"/>
              <a:cs typeface="Times New Roman"/>
              <a:sym typeface="Times New Roman"/>
            </a:endParaRPr>
          </a:p>
          <a:p>
            <a:pPr marL="71755" marR="0" lvl="0" indent="0" algn="l" rtl="0">
              <a:lnSpc>
                <a:spcPct val="100000"/>
              </a:lnSpc>
              <a:spcBef>
                <a:spcPts val="0"/>
              </a:spcBef>
              <a:spcAft>
                <a:spcPts val="0"/>
              </a:spcAft>
              <a:buNone/>
            </a:pPr>
            <a:r>
              <a:rPr lang="en-US" sz="1800">
                <a:solidFill>
                  <a:schemeClr val="dk1"/>
                </a:solidFill>
                <a:latin typeface="Times New Roman"/>
                <a:ea typeface="Times New Roman"/>
                <a:cs typeface="Times New Roman"/>
                <a:sym typeface="Times New Roman"/>
              </a:rPr>
              <a:t>Parts of speech tagging methods has 3 categories.</a:t>
            </a:r>
            <a:endParaRPr sz="1800">
              <a:solidFill>
                <a:schemeClr val="dk1"/>
              </a:solidFill>
              <a:latin typeface="Times New Roman"/>
              <a:ea typeface="Times New Roman"/>
              <a:cs typeface="Times New Roman"/>
              <a:sym typeface="Times New Roman"/>
            </a:endParaRPr>
          </a:p>
          <a:p>
            <a:pPr marL="0" marR="0" lvl="0" indent="0" algn="l" rtl="0">
              <a:lnSpc>
                <a:spcPct val="100000"/>
              </a:lnSpc>
              <a:spcBef>
                <a:spcPts val="40"/>
              </a:spcBef>
              <a:spcAft>
                <a:spcPts val="0"/>
              </a:spcAft>
              <a:buNone/>
            </a:pPr>
            <a:endParaRPr sz="2000">
              <a:solidFill>
                <a:schemeClr val="dk1"/>
              </a:solidFill>
              <a:latin typeface="Times New Roman"/>
              <a:ea typeface="Times New Roman"/>
              <a:cs typeface="Times New Roman"/>
              <a:sym typeface="Times New Roman"/>
            </a:endParaRPr>
          </a:p>
          <a:p>
            <a:pPr marL="414655" marR="0" lvl="0" indent="-402590" algn="l" rtl="0">
              <a:lnSpc>
                <a:spcPct val="100000"/>
              </a:lnSpc>
              <a:spcBef>
                <a:spcPts val="0"/>
              </a:spcBef>
              <a:spcAft>
                <a:spcPts val="0"/>
              </a:spcAft>
              <a:buClr>
                <a:schemeClr val="dk1"/>
              </a:buClr>
              <a:buSzPts val="1800"/>
              <a:buFont typeface="Calibri"/>
              <a:buAutoNum type="arabicPeriod"/>
            </a:pPr>
            <a:r>
              <a:rPr lang="en-US" sz="1800">
                <a:solidFill>
                  <a:schemeClr val="dk1"/>
                </a:solidFill>
                <a:latin typeface="Times New Roman"/>
                <a:ea typeface="Times New Roman"/>
                <a:cs typeface="Times New Roman"/>
                <a:sym typeface="Times New Roman"/>
              </a:rPr>
              <a:t>Rule based(linguistic)</a:t>
            </a:r>
            <a:endParaRPr sz="1800">
              <a:solidFill>
                <a:schemeClr val="dk1"/>
              </a:solidFill>
              <a:latin typeface="Times New Roman"/>
              <a:ea typeface="Times New Roman"/>
              <a:cs typeface="Times New Roman"/>
              <a:sym typeface="Times New Roman"/>
            </a:endParaRPr>
          </a:p>
          <a:p>
            <a:pPr marL="414655" marR="0" lvl="0" indent="-402590" algn="l" rtl="0">
              <a:lnSpc>
                <a:spcPct val="100000"/>
              </a:lnSpc>
              <a:spcBef>
                <a:spcPts val="1340"/>
              </a:spcBef>
              <a:spcAft>
                <a:spcPts val="0"/>
              </a:spcAft>
              <a:buClr>
                <a:schemeClr val="dk1"/>
              </a:buClr>
              <a:buSzPts val="1800"/>
              <a:buFont typeface="Calibri"/>
              <a:buAutoNum type="arabicPeriod"/>
            </a:pPr>
            <a:r>
              <a:rPr lang="en-US" sz="1800">
                <a:solidFill>
                  <a:schemeClr val="dk1"/>
                </a:solidFill>
                <a:latin typeface="Times New Roman"/>
                <a:ea typeface="Times New Roman"/>
                <a:cs typeface="Times New Roman"/>
                <a:sym typeface="Times New Roman"/>
              </a:rPr>
              <a:t>Stochastic (data driven)</a:t>
            </a:r>
            <a:endParaRPr sz="1800">
              <a:solidFill>
                <a:schemeClr val="dk1"/>
              </a:solidFill>
              <a:latin typeface="Times New Roman"/>
              <a:ea typeface="Times New Roman"/>
              <a:cs typeface="Times New Roman"/>
              <a:sym typeface="Times New Roman"/>
            </a:endParaRPr>
          </a:p>
          <a:p>
            <a:pPr marL="414655" marR="0" lvl="0" indent="-402590" algn="l" rtl="0">
              <a:lnSpc>
                <a:spcPct val="100000"/>
              </a:lnSpc>
              <a:spcBef>
                <a:spcPts val="1290"/>
              </a:spcBef>
              <a:spcAft>
                <a:spcPts val="0"/>
              </a:spcAft>
              <a:buClr>
                <a:schemeClr val="dk1"/>
              </a:buClr>
              <a:buSzPts val="1800"/>
              <a:buFont typeface="Calibri"/>
              <a:buAutoNum type="arabicPeriod"/>
            </a:pPr>
            <a:r>
              <a:rPr lang="en-US" sz="1800">
                <a:solidFill>
                  <a:schemeClr val="dk1"/>
                </a:solidFill>
                <a:latin typeface="Times New Roman"/>
                <a:ea typeface="Times New Roman"/>
                <a:cs typeface="Times New Roman"/>
                <a:sym typeface="Times New Roman"/>
              </a:rPr>
              <a:t>Hybrid.</a:t>
            </a:r>
            <a:endParaRPr sz="1800">
              <a:solidFill>
                <a:schemeClr val="dk1"/>
              </a:solidFill>
              <a:latin typeface="Times New Roman"/>
              <a:ea typeface="Times New Roman"/>
              <a:cs typeface="Times New Roman"/>
              <a:sym typeface="Times New Roman"/>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MasterSp="0">
  <p:cSld>
    <p:spTree>
      <p:nvGrpSpPr>
        <p:cNvPr id="1" name="Shape 567"/>
        <p:cNvGrpSpPr/>
        <p:nvPr/>
      </p:nvGrpSpPr>
      <p:grpSpPr>
        <a:xfrm>
          <a:off x="0" y="0"/>
          <a:ext cx="0" cy="0"/>
          <a:chOff x="0" y="0"/>
          <a:chExt cx="0" cy="0"/>
        </a:xfrm>
      </p:grpSpPr>
      <p:sp>
        <p:nvSpPr>
          <p:cNvPr id="568" name="Google Shape;568;p49"/>
          <p:cNvSpPr txBox="1">
            <a:spLocks noGrp="1"/>
          </p:cNvSpPr>
          <p:nvPr>
            <p:ph type="title"/>
          </p:nvPr>
        </p:nvSpPr>
        <p:spPr>
          <a:xfrm>
            <a:off x="911225" y="329537"/>
            <a:ext cx="5405120" cy="69596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4400"/>
              <a:t>Parts of Speech Tagging</a:t>
            </a:r>
            <a:endParaRPr sz="4400"/>
          </a:p>
        </p:txBody>
      </p:sp>
      <p:sp>
        <p:nvSpPr>
          <p:cNvPr id="569" name="Google Shape;569;p49"/>
          <p:cNvSpPr txBox="1"/>
          <p:nvPr/>
        </p:nvSpPr>
        <p:spPr>
          <a:xfrm>
            <a:off x="940383" y="1089045"/>
            <a:ext cx="1873250" cy="259079"/>
          </a:xfrm>
          <a:prstGeom prst="rect">
            <a:avLst/>
          </a:prstGeom>
          <a:noFill/>
          <a:ln>
            <a:noFill/>
          </a:ln>
        </p:spPr>
        <p:txBody>
          <a:bodyPr spcFirstLastPara="1" wrap="square" lIns="0" tIns="16500" rIns="0" bIns="0" anchor="t" anchorCtr="0">
            <a:spAutoFit/>
          </a:bodyPr>
          <a:lstStyle/>
          <a:p>
            <a:pPr marL="212090" marR="0" lvl="0" indent="-200025" algn="l" rtl="0">
              <a:lnSpc>
                <a:spcPct val="100000"/>
              </a:lnSpc>
              <a:spcBef>
                <a:spcPts val="0"/>
              </a:spcBef>
              <a:spcAft>
                <a:spcPts val="0"/>
              </a:spcAft>
              <a:buClr>
                <a:schemeClr val="dk1"/>
              </a:buClr>
              <a:buSzPts val="1500"/>
              <a:buFont typeface="Arial"/>
              <a:buChar char="•"/>
            </a:pPr>
            <a:r>
              <a:rPr lang="en-US" sz="1500" b="1">
                <a:solidFill>
                  <a:schemeClr val="dk1"/>
                </a:solidFill>
                <a:latin typeface="Times New Roman"/>
                <a:ea typeface="Times New Roman"/>
                <a:cs typeface="Times New Roman"/>
                <a:sym typeface="Times New Roman"/>
              </a:rPr>
              <a:t>Rule Based Taggers</a:t>
            </a:r>
            <a:endParaRPr sz="1500">
              <a:solidFill>
                <a:schemeClr val="dk1"/>
              </a:solidFill>
              <a:latin typeface="Times New Roman"/>
              <a:ea typeface="Times New Roman"/>
              <a:cs typeface="Times New Roman"/>
              <a:sym typeface="Times New Roman"/>
            </a:endParaRPr>
          </a:p>
        </p:txBody>
      </p:sp>
      <p:sp>
        <p:nvSpPr>
          <p:cNvPr id="570" name="Google Shape;570;p49"/>
          <p:cNvSpPr txBox="1"/>
          <p:nvPr/>
        </p:nvSpPr>
        <p:spPr>
          <a:xfrm>
            <a:off x="891828" y="1590695"/>
            <a:ext cx="690245" cy="259079"/>
          </a:xfrm>
          <a:prstGeom prst="rect">
            <a:avLst/>
          </a:prstGeom>
          <a:noFill/>
          <a:ln>
            <a:noFill/>
          </a:ln>
        </p:spPr>
        <p:txBody>
          <a:bodyPr spcFirstLastPara="1" wrap="square" lIns="0" tIns="16500" rIns="0" bIns="0" anchor="t" anchorCtr="0">
            <a:spAutoFit/>
          </a:bodyPr>
          <a:lstStyle/>
          <a:p>
            <a:pPr marL="12700" marR="0" lvl="0" indent="0" algn="l" rtl="0">
              <a:lnSpc>
                <a:spcPct val="100000"/>
              </a:lnSpc>
              <a:spcBef>
                <a:spcPts val="0"/>
              </a:spcBef>
              <a:spcAft>
                <a:spcPts val="0"/>
              </a:spcAft>
              <a:buNone/>
            </a:pPr>
            <a:r>
              <a:rPr lang="en-US" sz="1500">
                <a:solidFill>
                  <a:schemeClr val="dk1"/>
                </a:solidFill>
                <a:latin typeface="Lucida Sans"/>
                <a:ea typeface="Lucida Sans"/>
                <a:cs typeface="Lucida Sans"/>
                <a:sym typeface="Lucida Sans"/>
              </a:rPr>
              <a:t>□	</a:t>
            </a:r>
            <a:r>
              <a:rPr lang="en-US" sz="1500">
                <a:solidFill>
                  <a:schemeClr val="dk1"/>
                </a:solidFill>
                <a:latin typeface="Times New Roman"/>
                <a:ea typeface="Times New Roman"/>
                <a:cs typeface="Times New Roman"/>
                <a:sym typeface="Times New Roman"/>
              </a:rPr>
              <a:t>Use</a:t>
            </a:r>
            <a:endParaRPr sz="1500">
              <a:solidFill>
                <a:schemeClr val="dk1"/>
              </a:solidFill>
              <a:latin typeface="Times New Roman"/>
              <a:ea typeface="Times New Roman"/>
              <a:cs typeface="Times New Roman"/>
              <a:sym typeface="Times New Roman"/>
            </a:endParaRPr>
          </a:p>
        </p:txBody>
      </p:sp>
      <p:sp>
        <p:nvSpPr>
          <p:cNvPr id="571" name="Google Shape;571;p49"/>
          <p:cNvSpPr txBox="1"/>
          <p:nvPr/>
        </p:nvSpPr>
        <p:spPr>
          <a:xfrm>
            <a:off x="1617427" y="1611168"/>
            <a:ext cx="1364615" cy="233679"/>
          </a:xfrm>
          <a:prstGeom prst="rect">
            <a:avLst/>
          </a:prstGeom>
          <a:solidFill>
            <a:srgbClr val="FFFF00"/>
          </a:solidFill>
          <a:ln>
            <a:noFill/>
          </a:ln>
        </p:spPr>
        <p:txBody>
          <a:bodyPr spcFirstLastPara="1" wrap="square" lIns="0" tIns="0" rIns="0" bIns="0" anchor="t" anchorCtr="0">
            <a:spAutoFit/>
          </a:bodyPr>
          <a:lstStyle/>
          <a:p>
            <a:pPr marL="0" marR="0" lvl="0" indent="0" algn="l" rtl="0">
              <a:lnSpc>
                <a:spcPct val="117999"/>
              </a:lnSpc>
              <a:spcBef>
                <a:spcPts val="0"/>
              </a:spcBef>
              <a:spcAft>
                <a:spcPts val="0"/>
              </a:spcAft>
              <a:buNone/>
            </a:pPr>
            <a:r>
              <a:rPr lang="en-US" sz="1500">
                <a:solidFill>
                  <a:schemeClr val="dk1"/>
                </a:solidFill>
                <a:latin typeface="Times New Roman"/>
                <a:ea typeface="Times New Roman"/>
                <a:cs typeface="Times New Roman"/>
                <a:sym typeface="Times New Roman"/>
              </a:rPr>
              <a:t>hand coded rules</a:t>
            </a:r>
            <a:endParaRPr sz="1500">
              <a:solidFill>
                <a:schemeClr val="dk1"/>
              </a:solidFill>
              <a:latin typeface="Times New Roman"/>
              <a:ea typeface="Times New Roman"/>
              <a:cs typeface="Times New Roman"/>
              <a:sym typeface="Times New Roman"/>
            </a:endParaRPr>
          </a:p>
        </p:txBody>
      </p:sp>
      <p:sp>
        <p:nvSpPr>
          <p:cNvPr id="572" name="Google Shape;572;p49"/>
          <p:cNvSpPr txBox="1"/>
          <p:nvPr/>
        </p:nvSpPr>
        <p:spPr>
          <a:xfrm>
            <a:off x="2968134" y="1590695"/>
            <a:ext cx="7993380" cy="259079"/>
          </a:xfrm>
          <a:prstGeom prst="rect">
            <a:avLst/>
          </a:prstGeom>
          <a:noFill/>
          <a:ln>
            <a:noFill/>
          </a:ln>
        </p:spPr>
        <p:txBody>
          <a:bodyPr spcFirstLastPara="1" wrap="square" lIns="0" tIns="16500" rIns="0" bIns="0" anchor="t" anchorCtr="0">
            <a:spAutoFit/>
          </a:bodyPr>
          <a:lstStyle/>
          <a:p>
            <a:pPr marL="12700" marR="0" lvl="0" indent="0" algn="l" rtl="0">
              <a:lnSpc>
                <a:spcPct val="100000"/>
              </a:lnSpc>
              <a:spcBef>
                <a:spcPts val="0"/>
              </a:spcBef>
              <a:spcAft>
                <a:spcPts val="0"/>
              </a:spcAft>
              <a:buNone/>
            </a:pPr>
            <a:r>
              <a:rPr lang="en-US" sz="1500">
                <a:solidFill>
                  <a:schemeClr val="dk1"/>
                </a:solidFill>
                <a:latin typeface="Times New Roman"/>
                <a:ea typeface="Times New Roman"/>
                <a:cs typeface="Times New Roman"/>
                <a:sym typeface="Times New Roman"/>
              </a:rPr>
              <a:t>to assign tags to words. These rules use a lexicon to obtain a list of candidate tags and then use rules to</a:t>
            </a:r>
            <a:endParaRPr sz="1500">
              <a:solidFill>
                <a:schemeClr val="dk1"/>
              </a:solidFill>
              <a:latin typeface="Times New Roman"/>
              <a:ea typeface="Times New Roman"/>
              <a:cs typeface="Times New Roman"/>
              <a:sym typeface="Times New Roman"/>
            </a:endParaRPr>
          </a:p>
        </p:txBody>
      </p:sp>
      <p:sp>
        <p:nvSpPr>
          <p:cNvPr id="573" name="Google Shape;573;p49"/>
          <p:cNvSpPr txBox="1"/>
          <p:nvPr/>
        </p:nvSpPr>
        <p:spPr>
          <a:xfrm>
            <a:off x="3009407" y="2598593"/>
            <a:ext cx="1473200" cy="233679"/>
          </a:xfrm>
          <a:prstGeom prst="rect">
            <a:avLst/>
          </a:prstGeom>
          <a:solidFill>
            <a:srgbClr val="FFFF00"/>
          </a:solidFill>
          <a:ln>
            <a:noFill/>
          </a:ln>
        </p:spPr>
        <p:txBody>
          <a:bodyPr spcFirstLastPara="1" wrap="square" lIns="0" tIns="0" rIns="0" bIns="0" anchor="t" anchorCtr="0">
            <a:spAutoFit/>
          </a:bodyPr>
          <a:lstStyle/>
          <a:p>
            <a:pPr marL="0" marR="0" lvl="0" indent="0" algn="l" rtl="0">
              <a:lnSpc>
                <a:spcPct val="117999"/>
              </a:lnSpc>
              <a:spcBef>
                <a:spcPts val="0"/>
              </a:spcBef>
              <a:spcAft>
                <a:spcPts val="0"/>
              </a:spcAft>
              <a:buNone/>
            </a:pPr>
            <a:r>
              <a:rPr lang="en-US" sz="1500">
                <a:solidFill>
                  <a:schemeClr val="dk1"/>
                </a:solidFill>
                <a:latin typeface="Times New Roman"/>
                <a:ea typeface="Times New Roman"/>
                <a:cs typeface="Times New Roman"/>
                <a:sym typeface="Times New Roman"/>
              </a:rPr>
              <a:t>dictionary look up</a:t>
            </a:r>
            <a:endParaRPr sz="1500">
              <a:solidFill>
                <a:schemeClr val="dk1"/>
              </a:solidFill>
              <a:latin typeface="Times New Roman"/>
              <a:ea typeface="Times New Roman"/>
              <a:cs typeface="Times New Roman"/>
              <a:sym typeface="Times New Roman"/>
            </a:endParaRPr>
          </a:p>
        </p:txBody>
      </p:sp>
      <p:sp>
        <p:nvSpPr>
          <p:cNvPr id="574" name="Google Shape;574;p49"/>
          <p:cNvSpPr txBox="1"/>
          <p:nvPr/>
        </p:nvSpPr>
        <p:spPr>
          <a:xfrm>
            <a:off x="4467521" y="2578120"/>
            <a:ext cx="6595109" cy="259079"/>
          </a:xfrm>
          <a:prstGeom prst="rect">
            <a:avLst/>
          </a:prstGeom>
          <a:noFill/>
          <a:ln>
            <a:noFill/>
          </a:ln>
        </p:spPr>
        <p:txBody>
          <a:bodyPr spcFirstLastPara="1" wrap="square" lIns="0" tIns="16500" rIns="0" bIns="0" anchor="t" anchorCtr="0">
            <a:spAutoFit/>
          </a:bodyPr>
          <a:lstStyle/>
          <a:p>
            <a:pPr marL="12700" marR="0" lvl="0" indent="0" algn="l" rtl="0">
              <a:lnSpc>
                <a:spcPct val="100000"/>
              </a:lnSpc>
              <a:spcBef>
                <a:spcPts val="0"/>
              </a:spcBef>
              <a:spcAft>
                <a:spcPts val="0"/>
              </a:spcAft>
              <a:buNone/>
            </a:pPr>
            <a:r>
              <a:rPr lang="en-US" sz="1500">
                <a:solidFill>
                  <a:schemeClr val="dk1"/>
                </a:solidFill>
                <a:latin typeface="Times New Roman"/>
                <a:ea typeface="Times New Roman"/>
                <a:cs typeface="Times New Roman"/>
                <a:sym typeface="Times New Roman"/>
              </a:rPr>
              <a:t>procedure, which returns a set of potential tags and appropriate syntactic features for</a:t>
            </a:r>
            <a:endParaRPr sz="1500">
              <a:solidFill>
                <a:schemeClr val="dk1"/>
              </a:solidFill>
              <a:latin typeface="Times New Roman"/>
              <a:ea typeface="Times New Roman"/>
              <a:cs typeface="Times New Roman"/>
              <a:sym typeface="Times New Roman"/>
            </a:endParaRPr>
          </a:p>
        </p:txBody>
      </p:sp>
      <p:sp>
        <p:nvSpPr>
          <p:cNvPr id="575" name="Google Shape;575;p49"/>
          <p:cNvSpPr txBox="1"/>
          <p:nvPr/>
        </p:nvSpPr>
        <p:spPr>
          <a:xfrm>
            <a:off x="891828" y="1831995"/>
            <a:ext cx="2542540" cy="1249680"/>
          </a:xfrm>
          <a:prstGeom prst="rect">
            <a:avLst/>
          </a:prstGeom>
          <a:noFill/>
          <a:ln>
            <a:noFill/>
          </a:ln>
        </p:spPr>
        <p:txBody>
          <a:bodyPr spcFirstLastPara="1" wrap="square" lIns="0" tIns="16500" rIns="0" bIns="0" anchor="t" anchorCtr="0">
            <a:spAutoFit/>
          </a:bodyPr>
          <a:lstStyle/>
          <a:p>
            <a:pPr marL="374650" marR="0" lvl="0" indent="0" algn="l" rtl="0">
              <a:lnSpc>
                <a:spcPct val="100000"/>
              </a:lnSpc>
              <a:spcBef>
                <a:spcPts val="0"/>
              </a:spcBef>
              <a:spcAft>
                <a:spcPts val="0"/>
              </a:spcAft>
              <a:buNone/>
            </a:pPr>
            <a:r>
              <a:rPr lang="en-US" sz="1500">
                <a:solidFill>
                  <a:schemeClr val="dk1"/>
                </a:solidFill>
                <a:latin typeface="Times New Roman"/>
                <a:ea typeface="Times New Roman"/>
                <a:cs typeface="Times New Roman"/>
                <a:sym typeface="Times New Roman"/>
              </a:rPr>
              <a:t>discard incorrect tags.</a:t>
            </a:r>
            <a:endParaRPr sz="1500">
              <a:solidFill>
                <a:schemeClr val="dk1"/>
              </a:solidFill>
              <a:latin typeface="Times New Roman"/>
              <a:ea typeface="Times New Roman"/>
              <a:cs typeface="Times New Roman"/>
              <a:sym typeface="Times New Roman"/>
            </a:endParaRPr>
          </a:p>
          <a:p>
            <a:pPr marL="374650" marR="0" lvl="0" indent="-362585" algn="l" rtl="0">
              <a:lnSpc>
                <a:spcPct val="100000"/>
              </a:lnSpc>
              <a:spcBef>
                <a:spcPts val="1150"/>
              </a:spcBef>
              <a:spcAft>
                <a:spcPts val="0"/>
              </a:spcAft>
              <a:buClr>
                <a:schemeClr val="dk1"/>
              </a:buClr>
              <a:buSzPts val="1500"/>
              <a:buFont typeface="Lucida Sans"/>
              <a:buChar char="□"/>
            </a:pPr>
            <a:r>
              <a:rPr lang="en-US" sz="1500">
                <a:solidFill>
                  <a:schemeClr val="dk1"/>
                </a:solidFill>
                <a:latin typeface="Times New Roman"/>
                <a:ea typeface="Times New Roman"/>
                <a:cs typeface="Times New Roman"/>
                <a:sym typeface="Times New Roman"/>
              </a:rPr>
              <a:t>Have a 2 stage architecture:</a:t>
            </a:r>
            <a:endParaRPr sz="1500">
              <a:solidFill>
                <a:schemeClr val="dk1"/>
              </a:solidFill>
              <a:latin typeface="Times New Roman"/>
              <a:ea typeface="Times New Roman"/>
              <a:cs typeface="Times New Roman"/>
              <a:sym typeface="Times New Roman"/>
            </a:endParaRPr>
          </a:p>
          <a:p>
            <a:pPr marL="374650" marR="466090" lvl="0" indent="-362585" algn="l" rtl="0">
              <a:lnSpc>
                <a:spcPct val="106900"/>
              </a:lnSpc>
              <a:spcBef>
                <a:spcPts val="1000"/>
              </a:spcBef>
              <a:spcAft>
                <a:spcPts val="0"/>
              </a:spcAft>
              <a:buClr>
                <a:schemeClr val="dk1"/>
              </a:buClr>
              <a:buSzPts val="1500"/>
              <a:buFont typeface="Lucida Sans"/>
              <a:buChar char="□"/>
            </a:pPr>
            <a:r>
              <a:rPr lang="en-US" sz="1500">
                <a:solidFill>
                  <a:schemeClr val="dk1"/>
                </a:solidFill>
                <a:latin typeface="Times New Roman"/>
                <a:ea typeface="Times New Roman"/>
                <a:cs typeface="Times New Roman"/>
                <a:sym typeface="Times New Roman"/>
              </a:rPr>
              <a:t>First stage is simply a  each word.</a:t>
            </a:r>
            <a:endParaRPr sz="1500">
              <a:solidFill>
                <a:schemeClr val="dk1"/>
              </a:solidFill>
              <a:latin typeface="Times New Roman"/>
              <a:ea typeface="Times New Roman"/>
              <a:cs typeface="Times New Roman"/>
              <a:sym typeface="Times New Roman"/>
            </a:endParaRPr>
          </a:p>
        </p:txBody>
      </p:sp>
      <p:sp>
        <p:nvSpPr>
          <p:cNvPr id="576" name="Google Shape;576;p49"/>
          <p:cNvSpPr txBox="1"/>
          <p:nvPr/>
        </p:nvSpPr>
        <p:spPr>
          <a:xfrm>
            <a:off x="891828" y="3197245"/>
            <a:ext cx="1790700" cy="259079"/>
          </a:xfrm>
          <a:prstGeom prst="rect">
            <a:avLst/>
          </a:prstGeom>
          <a:noFill/>
          <a:ln>
            <a:noFill/>
          </a:ln>
        </p:spPr>
        <p:txBody>
          <a:bodyPr spcFirstLastPara="1" wrap="square" lIns="0" tIns="16500" rIns="0" bIns="0" anchor="t" anchorCtr="0">
            <a:spAutoFit/>
          </a:bodyPr>
          <a:lstStyle/>
          <a:p>
            <a:pPr marL="12700" marR="0" lvl="0" indent="0" algn="l" rtl="0">
              <a:lnSpc>
                <a:spcPct val="100000"/>
              </a:lnSpc>
              <a:spcBef>
                <a:spcPts val="0"/>
              </a:spcBef>
              <a:spcAft>
                <a:spcPts val="0"/>
              </a:spcAft>
              <a:buNone/>
            </a:pPr>
            <a:r>
              <a:rPr lang="en-US" sz="1500">
                <a:solidFill>
                  <a:schemeClr val="dk1"/>
                </a:solidFill>
                <a:latin typeface="Lucida Sans"/>
                <a:ea typeface="Lucida Sans"/>
                <a:cs typeface="Lucida Sans"/>
                <a:sym typeface="Lucida Sans"/>
              </a:rPr>
              <a:t>□	</a:t>
            </a:r>
            <a:r>
              <a:rPr lang="en-US" sz="1500">
                <a:solidFill>
                  <a:schemeClr val="dk1"/>
                </a:solidFill>
                <a:latin typeface="Times New Roman"/>
                <a:ea typeface="Times New Roman"/>
                <a:cs typeface="Times New Roman"/>
                <a:sym typeface="Times New Roman"/>
              </a:rPr>
              <a:t>Second stage uses</a:t>
            </a:r>
            <a:endParaRPr sz="1500">
              <a:solidFill>
                <a:schemeClr val="dk1"/>
              </a:solidFill>
              <a:latin typeface="Times New Roman"/>
              <a:ea typeface="Times New Roman"/>
              <a:cs typeface="Times New Roman"/>
              <a:sym typeface="Times New Roman"/>
            </a:endParaRPr>
          </a:p>
        </p:txBody>
      </p:sp>
      <p:sp>
        <p:nvSpPr>
          <p:cNvPr id="577" name="Google Shape;577;p49"/>
          <p:cNvSpPr txBox="1"/>
          <p:nvPr/>
        </p:nvSpPr>
        <p:spPr>
          <a:xfrm>
            <a:off x="2717790" y="3217718"/>
            <a:ext cx="1699260" cy="233679"/>
          </a:xfrm>
          <a:prstGeom prst="rect">
            <a:avLst/>
          </a:prstGeom>
          <a:solidFill>
            <a:srgbClr val="FFFF00"/>
          </a:solidFill>
          <a:ln>
            <a:noFill/>
          </a:ln>
        </p:spPr>
        <p:txBody>
          <a:bodyPr spcFirstLastPara="1" wrap="square" lIns="0" tIns="0" rIns="0" bIns="0" anchor="t" anchorCtr="0">
            <a:spAutoFit/>
          </a:bodyPr>
          <a:lstStyle/>
          <a:p>
            <a:pPr marL="0" marR="0" lvl="0" indent="0" algn="l" rtl="0">
              <a:lnSpc>
                <a:spcPct val="117999"/>
              </a:lnSpc>
              <a:spcBef>
                <a:spcPts val="0"/>
              </a:spcBef>
              <a:spcAft>
                <a:spcPts val="0"/>
              </a:spcAft>
              <a:buNone/>
            </a:pPr>
            <a:r>
              <a:rPr lang="en-US" sz="1500">
                <a:solidFill>
                  <a:schemeClr val="dk1"/>
                </a:solidFill>
                <a:latin typeface="Times New Roman"/>
                <a:ea typeface="Times New Roman"/>
                <a:cs typeface="Times New Roman"/>
                <a:sym typeface="Times New Roman"/>
              </a:rPr>
              <a:t>a hand coded rules to</a:t>
            </a:r>
            <a:endParaRPr sz="1500">
              <a:solidFill>
                <a:schemeClr val="dk1"/>
              </a:solidFill>
              <a:latin typeface="Times New Roman"/>
              <a:ea typeface="Times New Roman"/>
              <a:cs typeface="Times New Roman"/>
              <a:sym typeface="Times New Roman"/>
            </a:endParaRPr>
          </a:p>
        </p:txBody>
      </p:sp>
      <p:sp>
        <p:nvSpPr>
          <p:cNvPr id="578" name="Google Shape;578;p49"/>
          <p:cNvSpPr txBox="1"/>
          <p:nvPr/>
        </p:nvSpPr>
        <p:spPr>
          <a:xfrm>
            <a:off x="4402096" y="3197245"/>
            <a:ext cx="6595745" cy="259079"/>
          </a:xfrm>
          <a:prstGeom prst="rect">
            <a:avLst/>
          </a:prstGeom>
          <a:noFill/>
          <a:ln>
            <a:noFill/>
          </a:ln>
        </p:spPr>
        <p:txBody>
          <a:bodyPr spcFirstLastPara="1" wrap="square" lIns="0" tIns="16500" rIns="0" bIns="0" anchor="t" anchorCtr="0">
            <a:spAutoFit/>
          </a:bodyPr>
          <a:lstStyle/>
          <a:p>
            <a:pPr marL="12700" marR="0" lvl="0" indent="0" algn="l" rtl="0">
              <a:lnSpc>
                <a:spcPct val="100000"/>
              </a:lnSpc>
              <a:spcBef>
                <a:spcPts val="0"/>
              </a:spcBef>
              <a:spcAft>
                <a:spcPts val="0"/>
              </a:spcAft>
              <a:buNone/>
            </a:pPr>
            <a:r>
              <a:rPr lang="en-US" sz="1500">
                <a:solidFill>
                  <a:schemeClr val="dk1"/>
                </a:solidFill>
                <a:latin typeface="Times New Roman"/>
                <a:ea typeface="Times New Roman"/>
                <a:cs typeface="Times New Roman"/>
                <a:sym typeface="Times New Roman"/>
              </a:rPr>
              <a:t>discard contextually illegitimate tags to get a single part of speech for each word.Eg:</a:t>
            </a:r>
            <a:endParaRPr sz="1500">
              <a:solidFill>
                <a:schemeClr val="dk1"/>
              </a:solidFill>
              <a:latin typeface="Times New Roman"/>
              <a:ea typeface="Times New Roman"/>
              <a:cs typeface="Times New Roman"/>
              <a:sym typeface="Times New Roman"/>
            </a:endParaRPr>
          </a:p>
        </p:txBody>
      </p:sp>
      <p:sp>
        <p:nvSpPr>
          <p:cNvPr id="579" name="Google Shape;579;p49"/>
          <p:cNvSpPr txBox="1"/>
          <p:nvPr/>
        </p:nvSpPr>
        <p:spPr>
          <a:xfrm>
            <a:off x="1254125" y="3441720"/>
            <a:ext cx="2057400" cy="259079"/>
          </a:xfrm>
          <a:prstGeom prst="rect">
            <a:avLst/>
          </a:prstGeom>
          <a:noFill/>
          <a:ln>
            <a:noFill/>
          </a:ln>
        </p:spPr>
        <p:txBody>
          <a:bodyPr spcFirstLastPara="1" wrap="square" lIns="0" tIns="16500" rIns="0" bIns="0" anchor="t" anchorCtr="0">
            <a:spAutoFit/>
          </a:bodyPr>
          <a:lstStyle/>
          <a:p>
            <a:pPr marL="12700" marR="0" lvl="0" indent="0" algn="l" rtl="0">
              <a:lnSpc>
                <a:spcPct val="100000"/>
              </a:lnSpc>
              <a:spcBef>
                <a:spcPts val="0"/>
              </a:spcBef>
              <a:spcAft>
                <a:spcPts val="0"/>
              </a:spcAft>
              <a:buNone/>
            </a:pPr>
            <a:r>
              <a:rPr lang="en-US" sz="1500">
                <a:solidFill>
                  <a:schemeClr val="dk1"/>
                </a:solidFill>
                <a:latin typeface="Times New Roman"/>
                <a:ea typeface="Times New Roman"/>
                <a:cs typeface="Times New Roman"/>
                <a:sym typeface="Times New Roman"/>
              </a:rPr>
              <a:t>The noun-verb ambiguity.</a:t>
            </a:r>
            <a:endParaRPr sz="1500">
              <a:solidFill>
                <a:schemeClr val="dk1"/>
              </a:solidFill>
              <a:latin typeface="Times New Roman"/>
              <a:ea typeface="Times New Roman"/>
              <a:cs typeface="Times New Roman"/>
              <a:sym typeface="Times New Roman"/>
            </a:endParaRPr>
          </a:p>
        </p:txBody>
      </p:sp>
      <p:sp>
        <p:nvSpPr>
          <p:cNvPr id="580" name="Google Shape;580;p49"/>
          <p:cNvSpPr txBox="1"/>
          <p:nvPr/>
        </p:nvSpPr>
        <p:spPr>
          <a:xfrm>
            <a:off x="5578420" y="3836842"/>
            <a:ext cx="1721485" cy="233679"/>
          </a:xfrm>
          <a:prstGeom prst="rect">
            <a:avLst/>
          </a:prstGeom>
          <a:solidFill>
            <a:srgbClr val="00FFFF"/>
          </a:solidFill>
          <a:ln>
            <a:noFill/>
          </a:ln>
        </p:spPr>
        <p:txBody>
          <a:bodyPr spcFirstLastPara="1" wrap="square" lIns="0" tIns="0" rIns="0" bIns="0" anchor="t" anchorCtr="0">
            <a:spAutoFit/>
          </a:bodyPr>
          <a:lstStyle/>
          <a:p>
            <a:pPr marL="0" marR="0" lvl="0" indent="0" algn="l" rtl="0">
              <a:lnSpc>
                <a:spcPct val="117999"/>
              </a:lnSpc>
              <a:spcBef>
                <a:spcPts val="0"/>
              </a:spcBef>
              <a:spcAft>
                <a:spcPts val="0"/>
              </a:spcAft>
              <a:buNone/>
            </a:pPr>
            <a:r>
              <a:rPr lang="en-US" sz="1500">
                <a:solidFill>
                  <a:schemeClr val="dk1"/>
                </a:solidFill>
                <a:latin typeface="Times New Roman"/>
                <a:ea typeface="Times New Roman"/>
                <a:cs typeface="Times New Roman"/>
                <a:sym typeface="Times New Roman"/>
              </a:rPr>
              <a:t>The show must go on.</a:t>
            </a:r>
            <a:endParaRPr sz="1500">
              <a:solidFill>
                <a:schemeClr val="dk1"/>
              </a:solidFill>
              <a:latin typeface="Times New Roman"/>
              <a:ea typeface="Times New Roman"/>
              <a:cs typeface="Times New Roman"/>
              <a:sym typeface="Times New Roman"/>
            </a:endParaRPr>
          </a:p>
        </p:txBody>
      </p:sp>
      <p:sp>
        <p:nvSpPr>
          <p:cNvPr id="581" name="Google Shape;581;p49"/>
          <p:cNvSpPr/>
          <p:nvPr/>
        </p:nvSpPr>
        <p:spPr>
          <a:xfrm>
            <a:off x="8280820" y="4335318"/>
            <a:ext cx="599440" cy="233679"/>
          </a:xfrm>
          <a:custGeom>
            <a:avLst/>
            <a:gdLst/>
            <a:ahLst/>
            <a:cxnLst/>
            <a:rect l="l" t="t" r="r" b="b"/>
            <a:pathLst>
              <a:path w="599440" h="233679" extrusionOk="0">
                <a:moveTo>
                  <a:pt x="598879" y="233172"/>
                </a:moveTo>
                <a:lnTo>
                  <a:pt x="0" y="233172"/>
                </a:lnTo>
                <a:lnTo>
                  <a:pt x="0" y="0"/>
                </a:lnTo>
                <a:lnTo>
                  <a:pt x="598879" y="0"/>
                </a:lnTo>
                <a:lnTo>
                  <a:pt x="598879" y="233172"/>
                </a:lnTo>
                <a:close/>
              </a:path>
            </a:pathLst>
          </a:custGeom>
          <a:solidFill>
            <a:srgbClr val="00FFFF"/>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82" name="Google Shape;582;p49"/>
          <p:cNvSpPr txBox="1"/>
          <p:nvPr/>
        </p:nvSpPr>
        <p:spPr>
          <a:xfrm>
            <a:off x="3843622" y="4314846"/>
            <a:ext cx="2423160" cy="259079"/>
          </a:xfrm>
          <a:prstGeom prst="rect">
            <a:avLst/>
          </a:prstGeom>
          <a:noFill/>
          <a:ln>
            <a:noFill/>
          </a:ln>
        </p:spPr>
        <p:txBody>
          <a:bodyPr spcFirstLastPara="1" wrap="square" lIns="0" tIns="16500" rIns="0" bIns="0" anchor="t" anchorCtr="0">
            <a:spAutoFit/>
          </a:bodyPr>
          <a:lstStyle/>
          <a:p>
            <a:pPr marL="12700" marR="0" lvl="0" indent="0" algn="l" rtl="0">
              <a:lnSpc>
                <a:spcPct val="100000"/>
              </a:lnSpc>
              <a:spcBef>
                <a:spcPts val="0"/>
              </a:spcBef>
              <a:spcAft>
                <a:spcPts val="0"/>
              </a:spcAft>
              <a:buNone/>
            </a:pPr>
            <a:r>
              <a:rPr lang="en-US" sz="1500">
                <a:solidFill>
                  <a:schemeClr val="dk1"/>
                </a:solidFill>
                <a:latin typeface="Times New Roman"/>
                <a:ea typeface="Times New Roman"/>
                <a:cs typeface="Times New Roman"/>
                <a:sym typeface="Times New Roman"/>
              </a:rPr>
              <a:t>The potential tags for the word</a:t>
            </a:r>
            <a:endParaRPr sz="1500">
              <a:solidFill>
                <a:schemeClr val="dk1"/>
              </a:solidFill>
              <a:latin typeface="Times New Roman"/>
              <a:ea typeface="Times New Roman"/>
              <a:cs typeface="Times New Roman"/>
              <a:sym typeface="Times New Roman"/>
            </a:endParaRPr>
          </a:p>
        </p:txBody>
      </p:sp>
      <p:sp>
        <p:nvSpPr>
          <p:cNvPr id="583" name="Google Shape;583;p49"/>
          <p:cNvSpPr txBox="1"/>
          <p:nvPr/>
        </p:nvSpPr>
        <p:spPr>
          <a:xfrm>
            <a:off x="6304946" y="4335318"/>
            <a:ext cx="459105" cy="233679"/>
          </a:xfrm>
          <a:prstGeom prst="rect">
            <a:avLst/>
          </a:prstGeom>
          <a:solidFill>
            <a:srgbClr val="00FFFF"/>
          </a:solidFill>
          <a:ln>
            <a:noFill/>
          </a:ln>
        </p:spPr>
        <p:txBody>
          <a:bodyPr spcFirstLastPara="1" wrap="square" lIns="0" tIns="0" rIns="0" bIns="0" anchor="t" anchorCtr="0">
            <a:spAutoFit/>
          </a:bodyPr>
          <a:lstStyle/>
          <a:p>
            <a:pPr marL="0" marR="0" lvl="0" indent="0" algn="l" rtl="0">
              <a:lnSpc>
                <a:spcPct val="117999"/>
              </a:lnSpc>
              <a:spcBef>
                <a:spcPts val="0"/>
              </a:spcBef>
              <a:spcAft>
                <a:spcPts val="0"/>
              </a:spcAft>
              <a:buNone/>
            </a:pPr>
            <a:r>
              <a:rPr lang="en-US" sz="1500">
                <a:solidFill>
                  <a:schemeClr val="dk1"/>
                </a:solidFill>
                <a:latin typeface="Times New Roman"/>
                <a:ea typeface="Times New Roman"/>
                <a:cs typeface="Times New Roman"/>
                <a:sym typeface="Times New Roman"/>
              </a:rPr>
              <a:t>show</a:t>
            </a:r>
            <a:endParaRPr sz="1500">
              <a:solidFill>
                <a:schemeClr val="dk1"/>
              </a:solidFill>
              <a:latin typeface="Times New Roman"/>
              <a:ea typeface="Times New Roman"/>
              <a:cs typeface="Times New Roman"/>
              <a:sym typeface="Times New Roman"/>
            </a:endParaRPr>
          </a:p>
        </p:txBody>
      </p:sp>
      <p:sp>
        <p:nvSpPr>
          <p:cNvPr id="584" name="Google Shape;584;p49"/>
          <p:cNvSpPr txBox="1"/>
          <p:nvPr/>
        </p:nvSpPr>
        <p:spPr>
          <a:xfrm>
            <a:off x="6748439" y="4314846"/>
            <a:ext cx="2280285" cy="259079"/>
          </a:xfrm>
          <a:prstGeom prst="rect">
            <a:avLst/>
          </a:prstGeom>
          <a:noFill/>
          <a:ln>
            <a:noFill/>
          </a:ln>
        </p:spPr>
        <p:txBody>
          <a:bodyPr spcFirstLastPara="1" wrap="square" lIns="0" tIns="16500" rIns="0" bIns="0" anchor="t" anchorCtr="0">
            <a:spAutoFit/>
          </a:bodyPr>
          <a:lstStyle/>
          <a:p>
            <a:pPr marL="12700" marR="0" lvl="0" indent="0" algn="l" rtl="0">
              <a:lnSpc>
                <a:spcPct val="100000"/>
              </a:lnSpc>
              <a:spcBef>
                <a:spcPts val="0"/>
              </a:spcBef>
              <a:spcAft>
                <a:spcPts val="0"/>
              </a:spcAft>
              <a:buNone/>
            </a:pPr>
            <a:r>
              <a:rPr lang="en-US" sz="1500">
                <a:solidFill>
                  <a:schemeClr val="dk1"/>
                </a:solidFill>
                <a:latin typeface="Times New Roman"/>
                <a:ea typeface="Times New Roman"/>
                <a:cs typeface="Times New Roman"/>
                <a:sym typeface="Times New Roman"/>
              </a:rPr>
              <a:t>in this sentence is {VB,NN}.</a:t>
            </a:r>
            <a:endParaRPr sz="1500">
              <a:solidFill>
                <a:schemeClr val="dk1"/>
              </a:solidFill>
              <a:latin typeface="Times New Roman"/>
              <a:ea typeface="Times New Roman"/>
              <a:cs typeface="Times New Roman"/>
              <a:sym typeface="Times New Roman"/>
            </a:endParaRPr>
          </a:p>
        </p:txBody>
      </p:sp>
      <p:sp>
        <p:nvSpPr>
          <p:cNvPr id="585" name="Google Shape;585;p49"/>
          <p:cNvSpPr/>
          <p:nvPr/>
        </p:nvSpPr>
        <p:spPr>
          <a:xfrm>
            <a:off x="1266825" y="4830618"/>
            <a:ext cx="4476750" cy="233679"/>
          </a:xfrm>
          <a:custGeom>
            <a:avLst/>
            <a:gdLst/>
            <a:ahLst/>
            <a:cxnLst/>
            <a:rect l="l" t="t" r="r" b="b"/>
            <a:pathLst>
              <a:path w="4476750" h="233679" extrusionOk="0">
                <a:moveTo>
                  <a:pt x="4476467" y="233172"/>
                </a:moveTo>
                <a:lnTo>
                  <a:pt x="0" y="233172"/>
                </a:lnTo>
                <a:lnTo>
                  <a:pt x="0" y="0"/>
                </a:lnTo>
                <a:lnTo>
                  <a:pt x="4476467" y="0"/>
                </a:lnTo>
                <a:lnTo>
                  <a:pt x="4476467" y="233172"/>
                </a:lnTo>
                <a:close/>
              </a:path>
            </a:pathLst>
          </a:custGeom>
          <a:solidFill>
            <a:srgbClr val="FF0000"/>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86" name="Google Shape;586;p49"/>
          <p:cNvSpPr txBox="1"/>
          <p:nvPr/>
        </p:nvSpPr>
        <p:spPr>
          <a:xfrm>
            <a:off x="891828" y="4810146"/>
            <a:ext cx="10201275" cy="875030"/>
          </a:xfrm>
          <a:prstGeom prst="rect">
            <a:avLst/>
          </a:prstGeom>
          <a:noFill/>
          <a:ln>
            <a:noFill/>
          </a:ln>
        </p:spPr>
        <p:txBody>
          <a:bodyPr spcFirstLastPara="1" wrap="square" lIns="0" tIns="3800" rIns="0" bIns="0" anchor="t" anchorCtr="0">
            <a:spAutoFit/>
          </a:bodyPr>
          <a:lstStyle/>
          <a:p>
            <a:pPr marL="374650" marR="5080" lvl="0" indent="-362585" algn="l" rtl="0">
              <a:lnSpc>
                <a:spcPct val="105600"/>
              </a:lnSpc>
              <a:spcBef>
                <a:spcPts val="0"/>
              </a:spcBef>
              <a:spcAft>
                <a:spcPts val="0"/>
              </a:spcAft>
              <a:buClr>
                <a:schemeClr val="dk1"/>
              </a:buClr>
              <a:buSzPts val="1500"/>
              <a:buFont typeface="Lucida Sans"/>
              <a:buChar char="□"/>
            </a:pPr>
            <a:r>
              <a:rPr lang="en-US" sz="1500">
                <a:solidFill>
                  <a:schemeClr val="dk1"/>
                </a:solidFill>
                <a:latin typeface="Times New Roman"/>
                <a:ea typeface="Times New Roman"/>
                <a:cs typeface="Times New Roman"/>
                <a:sym typeface="Times New Roman"/>
              </a:rPr>
              <a:t>If preceding word is determiner THEN eliminate VB tags. This rule simply disallows verb after a determine using this rule the  word show is noun only.</a:t>
            </a:r>
            <a:endParaRPr sz="1500">
              <a:solidFill>
                <a:schemeClr val="dk1"/>
              </a:solidFill>
              <a:latin typeface="Times New Roman"/>
              <a:ea typeface="Times New Roman"/>
              <a:cs typeface="Times New Roman"/>
              <a:sym typeface="Times New Roman"/>
            </a:endParaRPr>
          </a:p>
          <a:p>
            <a:pPr marL="488950" marR="0" lvl="1" indent="-200025" algn="l" rtl="0">
              <a:lnSpc>
                <a:spcPct val="100000"/>
              </a:lnSpc>
              <a:spcBef>
                <a:spcPts val="1150"/>
              </a:spcBef>
              <a:spcAft>
                <a:spcPts val="0"/>
              </a:spcAft>
              <a:buClr>
                <a:schemeClr val="dk1"/>
              </a:buClr>
              <a:buSzPts val="1500"/>
              <a:buFont typeface="Arial"/>
              <a:buChar char="•"/>
            </a:pPr>
            <a:r>
              <a:rPr lang="en-US" sz="1500" b="0" i="0" u="none" strike="noStrike" cap="none">
                <a:solidFill>
                  <a:schemeClr val="dk1"/>
                </a:solidFill>
                <a:latin typeface="Times New Roman"/>
                <a:ea typeface="Times New Roman"/>
                <a:cs typeface="Times New Roman"/>
                <a:sym typeface="Times New Roman"/>
              </a:rPr>
              <a:t>In addition to contextual information, many taggers use morphological information to help in the disambiguation process.</a:t>
            </a:r>
            <a:endParaRPr sz="1500" b="0" i="0" u="none" strike="noStrike" cap="none">
              <a:solidFill>
                <a:schemeClr val="dk1"/>
              </a:solidFill>
              <a:latin typeface="Times New Roman"/>
              <a:ea typeface="Times New Roman"/>
              <a:cs typeface="Times New Roman"/>
              <a:sym typeface="Times New Roman"/>
            </a:endParaRPr>
          </a:p>
        </p:txBody>
      </p:sp>
      <p:sp>
        <p:nvSpPr>
          <p:cNvPr id="587" name="Google Shape;587;p49"/>
          <p:cNvSpPr txBox="1"/>
          <p:nvPr/>
        </p:nvSpPr>
        <p:spPr>
          <a:xfrm>
            <a:off x="891828" y="5797571"/>
            <a:ext cx="142240" cy="259079"/>
          </a:xfrm>
          <a:prstGeom prst="rect">
            <a:avLst/>
          </a:prstGeom>
          <a:noFill/>
          <a:ln>
            <a:noFill/>
          </a:ln>
        </p:spPr>
        <p:txBody>
          <a:bodyPr spcFirstLastPara="1" wrap="square" lIns="0" tIns="16500" rIns="0" bIns="0" anchor="t" anchorCtr="0">
            <a:spAutoFit/>
          </a:bodyPr>
          <a:lstStyle/>
          <a:p>
            <a:pPr marL="12700" marR="0" lvl="0" indent="0" algn="l" rtl="0">
              <a:lnSpc>
                <a:spcPct val="100000"/>
              </a:lnSpc>
              <a:spcBef>
                <a:spcPts val="0"/>
              </a:spcBef>
              <a:spcAft>
                <a:spcPts val="0"/>
              </a:spcAft>
              <a:buNone/>
            </a:pPr>
            <a:r>
              <a:rPr lang="en-US" sz="1500">
                <a:solidFill>
                  <a:schemeClr val="dk1"/>
                </a:solidFill>
                <a:latin typeface="Lucida Sans"/>
                <a:ea typeface="Lucida Sans"/>
                <a:cs typeface="Lucida Sans"/>
                <a:sym typeface="Lucida Sans"/>
              </a:rPr>
              <a:t>□</a:t>
            </a:r>
            <a:endParaRPr sz="1500">
              <a:solidFill>
                <a:schemeClr val="dk1"/>
              </a:solidFill>
              <a:latin typeface="Lucida Sans"/>
              <a:ea typeface="Lucida Sans"/>
              <a:cs typeface="Lucida Sans"/>
              <a:sym typeface="Lucida Sans"/>
            </a:endParaRPr>
          </a:p>
        </p:txBody>
      </p:sp>
      <p:sp>
        <p:nvSpPr>
          <p:cNvPr id="588" name="Google Shape;588;p49"/>
          <p:cNvSpPr txBox="1"/>
          <p:nvPr/>
        </p:nvSpPr>
        <p:spPr>
          <a:xfrm>
            <a:off x="1266825" y="5818043"/>
            <a:ext cx="5997575" cy="233679"/>
          </a:xfrm>
          <a:prstGeom prst="rect">
            <a:avLst/>
          </a:prstGeom>
          <a:solidFill>
            <a:srgbClr val="FF0000"/>
          </a:solidFill>
          <a:ln>
            <a:noFill/>
          </a:ln>
        </p:spPr>
        <p:txBody>
          <a:bodyPr spcFirstLastPara="1" wrap="square" lIns="0" tIns="0" rIns="0" bIns="0" anchor="t" anchorCtr="0">
            <a:spAutoFit/>
          </a:bodyPr>
          <a:lstStyle/>
          <a:p>
            <a:pPr marL="0" marR="0" lvl="0" indent="0" algn="l" rtl="0">
              <a:lnSpc>
                <a:spcPct val="117999"/>
              </a:lnSpc>
              <a:spcBef>
                <a:spcPts val="0"/>
              </a:spcBef>
              <a:spcAft>
                <a:spcPts val="0"/>
              </a:spcAft>
              <a:buNone/>
            </a:pPr>
            <a:r>
              <a:rPr lang="en-US" sz="1500">
                <a:solidFill>
                  <a:schemeClr val="dk1"/>
                </a:solidFill>
                <a:latin typeface="Times New Roman"/>
                <a:ea typeface="Times New Roman"/>
                <a:cs typeface="Times New Roman"/>
                <a:sym typeface="Times New Roman"/>
              </a:rPr>
              <a:t>If word ends in _ing and preceding word is a verb THEN label it a verb(VB).</a:t>
            </a:r>
            <a:endParaRPr sz="1500">
              <a:solidFill>
                <a:schemeClr val="dk1"/>
              </a:solidFill>
              <a:latin typeface="Times New Roman"/>
              <a:ea typeface="Times New Roman"/>
              <a:cs typeface="Times New Roman"/>
              <a:sym typeface="Times New Roman"/>
            </a:endParaRPr>
          </a:p>
        </p:txBody>
      </p:sp>
      <p:sp>
        <p:nvSpPr>
          <p:cNvPr id="589" name="Google Shape;589;p49"/>
          <p:cNvSpPr txBox="1"/>
          <p:nvPr/>
        </p:nvSpPr>
        <p:spPr>
          <a:xfrm>
            <a:off x="891828" y="6296046"/>
            <a:ext cx="142240" cy="259079"/>
          </a:xfrm>
          <a:prstGeom prst="rect">
            <a:avLst/>
          </a:prstGeom>
          <a:noFill/>
          <a:ln>
            <a:noFill/>
          </a:ln>
        </p:spPr>
        <p:txBody>
          <a:bodyPr spcFirstLastPara="1" wrap="square" lIns="0" tIns="16500" rIns="0" bIns="0" anchor="t" anchorCtr="0">
            <a:spAutoFit/>
          </a:bodyPr>
          <a:lstStyle/>
          <a:p>
            <a:pPr marL="12700" marR="0" lvl="0" indent="0" algn="l" rtl="0">
              <a:lnSpc>
                <a:spcPct val="100000"/>
              </a:lnSpc>
              <a:spcBef>
                <a:spcPts val="0"/>
              </a:spcBef>
              <a:spcAft>
                <a:spcPts val="0"/>
              </a:spcAft>
              <a:buNone/>
            </a:pPr>
            <a:r>
              <a:rPr lang="en-US" sz="1500">
                <a:solidFill>
                  <a:schemeClr val="dk1"/>
                </a:solidFill>
                <a:latin typeface="Lucida Sans"/>
                <a:ea typeface="Lucida Sans"/>
                <a:cs typeface="Lucida Sans"/>
                <a:sym typeface="Lucida Sans"/>
              </a:rPr>
              <a:t>□</a:t>
            </a:r>
            <a:endParaRPr sz="1500">
              <a:solidFill>
                <a:schemeClr val="dk1"/>
              </a:solidFill>
              <a:latin typeface="Lucida Sans"/>
              <a:ea typeface="Lucida Sans"/>
              <a:cs typeface="Lucida Sans"/>
              <a:sym typeface="Lucida Sans"/>
            </a:endParaRPr>
          </a:p>
        </p:txBody>
      </p:sp>
      <p:sp>
        <p:nvSpPr>
          <p:cNvPr id="590" name="Google Shape;590;p49"/>
          <p:cNvSpPr txBox="1"/>
          <p:nvPr/>
        </p:nvSpPr>
        <p:spPr>
          <a:xfrm>
            <a:off x="1266825" y="6316518"/>
            <a:ext cx="2152650" cy="233679"/>
          </a:xfrm>
          <a:prstGeom prst="rect">
            <a:avLst/>
          </a:prstGeom>
          <a:solidFill>
            <a:srgbClr val="FF0000"/>
          </a:solidFill>
          <a:ln>
            <a:noFill/>
          </a:ln>
        </p:spPr>
        <p:txBody>
          <a:bodyPr spcFirstLastPara="1" wrap="square" lIns="0" tIns="0" rIns="0" bIns="0" anchor="t" anchorCtr="0">
            <a:spAutoFit/>
          </a:bodyPr>
          <a:lstStyle/>
          <a:p>
            <a:pPr marL="0" marR="0" lvl="0" indent="0" algn="l" rtl="0">
              <a:lnSpc>
                <a:spcPct val="117999"/>
              </a:lnSpc>
              <a:spcBef>
                <a:spcPts val="0"/>
              </a:spcBef>
              <a:spcAft>
                <a:spcPts val="0"/>
              </a:spcAft>
              <a:buNone/>
            </a:pPr>
            <a:r>
              <a:rPr lang="en-US" sz="1500">
                <a:solidFill>
                  <a:schemeClr val="dk1"/>
                </a:solidFill>
                <a:latin typeface="Times New Roman"/>
                <a:ea typeface="Times New Roman"/>
                <a:cs typeface="Times New Roman"/>
                <a:sym typeface="Times New Roman"/>
              </a:rPr>
              <a:t>The dog is running in the…</a:t>
            </a:r>
            <a:endParaRPr sz="1500">
              <a:solidFill>
                <a:schemeClr val="dk1"/>
              </a:solidFill>
              <a:latin typeface="Times New Roman"/>
              <a:ea typeface="Times New Roman"/>
              <a:cs typeface="Times New Roman"/>
              <a:sym typeface="Times New Roman"/>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MasterSp="0">
  <p:cSld>
    <p:spTree>
      <p:nvGrpSpPr>
        <p:cNvPr id="1" name="Shape 594"/>
        <p:cNvGrpSpPr/>
        <p:nvPr/>
      </p:nvGrpSpPr>
      <p:grpSpPr>
        <a:xfrm>
          <a:off x="0" y="0"/>
          <a:ext cx="0" cy="0"/>
          <a:chOff x="0" y="0"/>
          <a:chExt cx="0" cy="0"/>
        </a:xfrm>
      </p:grpSpPr>
      <p:sp>
        <p:nvSpPr>
          <p:cNvPr id="595" name="Google Shape;595;p50"/>
          <p:cNvSpPr txBox="1">
            <a:spLocks noGrp="1"/>
          </p:cNvSpPr>
          <p:nvPr>
            <p:ph type="title"/>
          </p:nvPr>
        </p:nvSpPr>
        <p:spPr>
          <a:xfrm>
            <a:off x="911225" y="639172"/>
            <a:ext cx="5405120" cy="69596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4400"/>
              <a:t>Parts of Speech Tagging</a:t>
            </a:r>
            <a:endParaRPr sz="4400"/>
          </a:p>
        </p:txBody>
      </p:sp>
      <p:sp>
        <p:nvSpPr>
          <p:cNvPr id="596" name="Google Shape;596;p50"/>
          <p:cNvSpPr txBox="1"/>
          <p:nvPr/>
        </p:nvSpPr>
        <p:spPr>
          <a:xfrm>
            <a:off x="888342" y="1841880"/>
            <a:ext cx="10085070" cy="4008120"/>
          </a:xfrm>
          <a:prstGeom prst="rect">
            <a:avLst/>
          </a:prstGeom>
          <a:noFill/>
          <a:ln>
            <a:noFill/>
          </a:ln>
        </p:spPr>
        <p:txBody>
          <a:bodyPr spcFirstLastPara="1" wrap="square" lIns="0" tIns="12700" rIns="0" bIns="0" anchor="t" anchorCtr="0">
            <a:spAutoFit/>
          </a:bodyPr>
          <a:lstStyle/>
          <a:p>
            <a:pPr marL="378460" marR="0" lvl="0" indent="-366394" algn="l" rtl="0">
              <a:lnSpc>
                <a:spcPct val="100000"/>
              </a:lnSpc>
              <a:spcBef>
                <a:spcPts val="0"/>
              </a:spcBef>
              <a:spcAft>
                <a:spcPts val="0"/>
              </a:spcAft>
              <a:buClr>
                <a:schemeClr val="dk1"/>
              </a:buClr>
              <a:buSzPts val="1800"/>
              <a:buFont typeface="Lucida Sans"/>
              <a:buChar char="□"/>
            </a:pPr>
            <a:r>
              <a:rPr lang="en-US" sz="1800">
                <a:solidFill>
                  <a:schemeClr val="dk1"/>
                </a:solidFill>
                <a:latin typeface="Times New Roman"/>
                <a:ea typeface="Times New Roman"/>
                <a:cs typeface="Times New Roman"/>
                <a:sym typeface="Times New Roman"/>
              </a:rPr>
              <a:t>Rule based tagger require supervised training</a:t>
            </a:r>
            <a:endParaRPr sz="1800">
              <a:solidFill>
                <a:schemeClr val="dk1"/>
              </a:solidFill>
              <a:latin typeface="Times New Roman"/>
              <a:ea typeface="Times New Roman"/>
              <a:cs typeface="Times New Roman"/>
              <a:sym typeface="Times New Roman"/>
            </a:endParaRPr>
          </a:p>
          <a:p>
            <a:pPr marL="378460" marR="0" lvl="0" indent="-366394" algn="l" rtl="0">
              <a:lnSpc>
                <a:spcPct val="100000"/>
              </a:lnSpc>
              <a:spcBef>
                <a:spcPts val="1315"/>
              </a:spcBef>
              <a:spcAft>
                <a:spcPts val="0"/>
              </a:spcAft>
              <a:buClr>
                <a:schemeClr val="dk1"/>
              </a:buClr>
              <a:buSzPts val="1800"/>
              <a:buFont typeface="Lucida Sans"/>
              <a:buChar char="□"/>
            </a:pPr>
            <a:r>
              <a:rPr lang="en-US" sz="1800">
                <a:solidFill>
                  <a:schemeClr val="dk1"/>
                </a:solidFill>
                <a:latin typeface="Times New Roman"/>
                <a:ea typeface="Times New Roman"/>
                <a:cs typeface="Times New Roman"/>
                <a:sym typeface="Times New Roman"/>
              </a:rPr>
              <a:t>Instead rules can be induced automatically</a:t>
            </a:r>
            <a:endParaRPr sz="1800">
              <a:solidFill>
                <a:schemeClr val="dk1"/>
              </a:solidFill>
              <a:latin typeface="Times New Roman"/>
              <a:ea typeface="Times New Roman"/>
              <a:cs typeface="Times New Roman"/>
              <a:sym typeface="Times New Roman"/>
            </a:endParaRPr>
          </a:p>
          <a:p>
            <a:pPr marL="378460" marR="0" lvl="0" indent="-366394" algn="l" rtl="0">
              <a:lnSpc>
                <a:spcPct val="100000"/>
              </a:lnSpc>
              <a:spcBef>
                <a:spcPts val="1290"/>
              </a:spcBef>
              <a:spcAft>
                <a:spcPts val="0"/>
              </a:spcAft>
              <a:buClr>
                <a:schemeClr val="dk1"/>
              </a:buClr>
              <a:buSzPts val="1800"/>
              <a:buFont typeface="Lucida Sans"/>
              <a:buChar char="□"/>
            </a:pPr>
            <a:r>
              <a:rPr lang="en-US" sz="1800">
                <a:solidFill>
                  <a:schemeClr val="dk1"/>
                </a:solidFill>
                <a:latin typeface="Times New Roman"/>
                <a:ea typeface="Times New Roman"/>
                <a:cs typeface="Times New Roman"/>
                <a:sym typeface="Times New Roman"/>
              </a:rPr>
              <a:t>To induce rules, untagged text is run through a tagger</a:t>
            </a:r>
            <a:endParaRPr sz="1800">
              <a:solidFill>
                <a:schemeClr val="dk1"/>
              </a:solidFill>
              <a:latin typeface="Times New Roman"/>
              <a:ea typeface="Times New Roman"/>
              <a:cs typeface="Times New Roman"/>
              <a:sym typeface="Times New Roman"/>
            </a:endParaRPr>
          </a:p>
          <a:p>
            <a:pPr marL="378460" marR="0" lvl="0" indent="-366394" algn="l" rtl="0">
              <a:lnSpc>
                <a:spcPct val="100000"/>
              </a:lnSpc>
              <a:spcBef>
                <a:spcPts val="1290"/>
              </a:spcBef>
              <a:spcAft>
                <a:spcPts val="0"/>
              </a:spcAft>
              <a:buClr>
                <a:schemeClr val="dk1"/>
              </a:buClr>
              <a:buSzPts val="1800"/>
              <a:buFont typeface="Lucida Sans"/>
              <a:buChar char="□"/>
            </a:pPr>
            <a:r>
              <a:rPr lang="en-US" sz="1800">
                <a:solidFill>
                  <a:schemeClr val="dk1"/>
                </a:solidFill>
                <a:latin typeface="Times New Roman"/>
                <a:ea typeface="Times New Roman"/>
                <a:cs typeface="Times New Roman"/>
                <a:sym typeface="Times New Roman"/>
              </a:rPr>
              <a:t>The output is then manually corrected</a:t>
            </a:r>
            <a:endParaRPr sz="1800">
              <a:solidFill>
                <a:schemeClr val="dk1"/>
              </a:solidFill>
              <a:latin typeface="Times New Roman"/>
              <a:ea typeface="Times New Roman"/>
              <a:cs typeface="Times New Roman"/>
              <a:sym typeface="Times New Roman"/>
            </a:endParaRPr>
          </a:p>
          <a:p>
            <a:pPr marL="378460" marR="5080" lvl="0" indent="-366394" algn="l" rtl="0">
              <a:lnSpc>
                <a:spcPct val="113399"/>
              </a:lnSpc>
              <a:spcBef>
                <a:spcPts val="1000"/>
              </a:spcBef>
              <a:spcAft>
                <a:spcPts val="0"/>
              </a:spcAft>
              <a:buClr>
                <a:schemeClr val="dk1"/>
              </a:buClr>
              <a:buSzPts val="1800"/>
              <a:buFont typeface="Lucida Sans"/>
              <a:buChar char="□"/>
            </a:pPr>
            <a:r>
              <a:rPr lang="en-US" sz="1800">
                <a:solidFill>
                  <a:schemeClr val="dk1"/>
                </a:solidFill>
                <a:latin typeface="Times New Roman"/>
                <a:ea typeface="Times New Roman"/>
                <a:cs typeface="Times New Roman"/>
                <a:sym typeface="Times New Roman"/>
              </a:rPr>
              <a:t>The corrected text is then submitted to the tagger, which learns correction rules by comparing the 2 sets of  data. This process may be repeated several times.</a:t>
            </a:r>
            <a:endParaRPr sz="1800">
              <a:solidFill>
                <a:schemeClr val="dk1"/>
              </a:solidFill>
              <a:latin typeface="Times New Roman"/>
              <a:ea typeface="Times New Roman"/>
              <a:cs typeface="Times New Roman"/>
              <a:sym typeface="Times New Roman"/>
            </a:endParaRPr>
          </a:p>
          <a:p>
            <a:pPr marL="0" marR="0" lvl="0" indent="0" algn="l" rtl="0">
              <a:lnSpc>
                <a:spcPct val="100000"/>
              </a:lnSpc>
              <a:spcBef>
                <a:spcPts val="30"/>
              </a:spcBef>
              <a:spcAft>
                <a:spcPts val="0"/>
              </a:spcAft>
              <a:buClr>
                <a:schemeClr val="dk1"/>
              </a:buClr>
              <a:buSzPts val="1700"/>
              <a:buFont typeface="Lucida Sans"/>
              <a:buNone/>
            </a:pPr>
            <a:endParaRPr sz="1700">
              <a:solidFill>
                <a:schemeClr val="dk1"/>
              </a:solidFill>
              <a:latin typeface="Times New Roman"/>
              <a:ea typeface="Times New Roman"/>
              <a:cs typeface="Times New Roman"/>
              <a:sym typeface="Times New Roman"/>
            </a:endParaRPr>
          </a:p>
          <a:p>
            <a:pPr marL="378460" marR="68580" lvl="0" indent="-366394" algn="l" rtl="0">
              <a:lnSpc>
                <a:spcPct val="115199"/>
              </a:lnSpc>
              <a:spcBef>
                <a:spcPts val="0"/>
              </a:spcBef>
              <a:spcAft>
                <a:spcPts val="0"/>
              </a:spcAft>
              <a:buClr>
                <a:schemeClr val="dk1"/>
              </a:buClr>
              <a:buSzPts val="1800"/>
              <a:buFont typeface="Lucida Sans"/>
              <a:buChar char="□"/>
            </a:pPr>
            <a:r>
              <a:rPr lang="en-US" sz="1800">
                <a:solidFill>
                  <a:schemeClr val="dk1"/>
                </a:solidFill>
                <a:latin typeface="Times New Roman"/>
                <a:ea typeface="Times New Roman"/>
                <a:cs typeface="Times New Roman"/>
                <a:sym typeface="Times New Roman"/>
              </a:rPr>
              <a:t>TAGGIT (Greene and Rubin 1971) :- Initial tagging of Brown Corpus(Francis and Kucera 1982). Rule  based s/m, it uses 3,300 disambiguation rules and able to tag 77% of the words in the Brown Corpus with  their correct part of speech.</a:t>
            </a:r>
            <a:endParaRPr sz="1800">
              <a:solidFill>
                <a:schemeClr val="dk1"/>
              </a:solidFill>
              <a:latin typeface="Times New Roman"/>
              <a:ea typeface="Times New Roman"/>
              <a:cs typeface="Times New Roman"/>
              <a:sym typeface="Times New Roman"/>
            </a:endParaRPr>
          </a:p>
          <a:p>
            <a:pPr marL="378460" marR="0" lvl="0" indent="-366394" algn="l" rtl="0">
              <a:lnSpc>
                <a:spcPct val="100000"/>
              </a:lnSpc>
              <a:spcBef>
                <a:spcPts val="1315"/>
              </a:spcBef>
              <a:spcAft>
                <a:spcPts val="0"/>
              </a:spcAft>
              <a:buClr>
                <a:schemeClr val="dk1"/>
              </a:buClr>
              <a:buSzPts val="1800"/>
              <a:buFont typeface="Lucida Sans"/>
              <a:buChar char="□"/>
            </a:pPr>
            <a:r>
              <a:rPr lang="en-US" sz="1800">
                <a:solidFill>
                  <a:schemeClr val="dk1"/>
                </a:solidFill>
                <a:latin typeface="Times New Roman"/>
                <a:ea typeface="Times New Roman"/>
                <a:cs typeface="Times New Roman"/>
                <a:sym typeface="Times New Roman"/>
              </a:rPr>
              <a:t>Another rule based tagger is ENGTWOL (voutilainen 1995)</a:t>
            </a:r>
            <a:endParaRPr sz="1800">
              <a:solidFill>
                <a:schemeClr val="dk1"/>
              </a:solidFill>
              <a:latin typeface="Times New Roman"/>
              <a:ea typeface="Times New Roman"/>
              <a:cs typeface="Times New Roman"/>
              <a:sym typeface="Times New Roman"/>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MasterSp="0">
  <p:cSld>
    <p:spTree>
      <p:nvGrpSpPr>
        <p:cNvPr id="1" name="Shape 600"/>
        <p:cNvGrpSpPr/>
        <p:nvPr/>
      </p:nvGrpSpPr>
      <p:grpSpPr>
        <a:xfrm>
          <a:off x="0" y="0"/>
          <a:ext cx="0" cy="0"/>
          <a:chOff x="0" y="0"/>
          <a:chExt cx="0" cy="0"/>
        </a:xfrm>
      </p:grpSpPr>
      <p:sp>
        <p:nvSpPr>
          <p:cNvPr id="601" name="Google Shape;601;p51"/>
          <p:cNvSpPr txBox="1">
            <a:spLocks noGrp="1"/>
          </p:cNvSpPr>
          <p:nvPr>
            <p:ph type="title"/>
          </p:nvPr>
        </p:nvSpPr>
        <p:spPr>
          <a:xfrm>
            <a:off x="911225" y="639172"/>
            <a:ext cx="5405120" cy="69596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4400"/>
              <a:t>Parts of Speech Tagging</a:t>
            </a:r>
            <a:endParaRPr sz="4400"/>
          </a:p>
        </p:txBody>
      </p:sp>
      <p:sp>
        <p:nvSpPr>
          <p:cNvPr id="602" name="Google Shape;602;p51"/>
          <p:cNvSpPr txBox="1"/>
          <p:nvPr/>
        </p:nvSpPr>
        <p:spPr>
          <a:xfrm>
            <a:off x="911225" y="1841880"/>
            <a:ext cx="10153015" cy="3763645"/>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800" b="1">
                <a:solidFill>
                  <a:schemeClr val="dk1"/>
                </a:solidFill>
                <a:latin typeface="Times New Roman"/>
                <a:ea typeface="Times New Roman"/>
                <a:cs typeface="Times New Roman"/>
                <a:sym typeface="Times New Roman"/>
              </a:rPr>
              <a:t>Advantages:</a:t>
            </a:r>
            <a:endParaRPr sz="1800">
              <a:solidFill>
                <a:schemeClr val="dk1"/>
              </a:solidFill>
              <a:latin typeface="Times New Roman"/>
              <a:ea typeface="Times New Roman"/>
              <a:cs typeface="Times New Roman"/>
              <a:sym typeface="Times New Roman"/>
            </a:endParaRPr>
          </a:p>
          <a:p>
            <a:pPr marL="0" marR="0" lvl="0" indent="0" algn="l" rtl="0">
              <a:lnSpc>
                <a:spcPct val="100000"/>
              </a:lnSpc>
              <a:spcBef>
                <a:spcPts val="15"/>
              </a:spcBef>
              <a:spcAft>
                <a:spcPts val="0"/>
              </a:spcAft>
              <a:buNone/>
            </a:pPr>
            <a:endParaRPr sz="2000">
              <a:solidFill>
                <a:schemeClr val="dk1"/>
              </a:solidFill>
              <a:latin typeface="Times New Roman"/>
              <a:ea typeface="Times New Roman"/>
              <a:cs typeface="Times New Roman"/>
              <a:sym typeface="Times New Roman"/>
            </a:endParaRPr>
          </a:p>
          <a:p>
            <a:pPr marL="355600" marR="0" lvl="0" indent="-287655" algn="l" rtl="0">
              <a:lnSpc>
                <a:spcPct val="100000"/>
              </a:lnSpc>
              <a:spcBef>
                <a:spcPts val="0"/>
              </a:spcBef>
              <a:spcAft>
                <a:spcPts val="0"/>
              </a:spcAft>
              <a:buClr>
                <a:schemeClr val="dk1"/>
              </a:buClr>
              <a:buSzPts val="1800"/>
              <a:buFont typeface="Lucida Sans"/>
              <a:buChar char="∙"/>
            </a:pPr>
            <a:r>
              <a:rPr lang="en-US" sz="1800">
                <a:solidFill>
                  <a:schemeClr val="dk1"/>
                </a:solidFill>
                <a:latin typeface="Times New Roman"/>
                <a:ea typeface="Times New Roman"/>
                <a:cs typeface="Times New Roman"/>
                <a:sym typeface="Times New Roman"/>
              </a:rPr>
              <a:t>Speed, deterministic than stochastic</a:t>
            </a:r>
            <a:endParaRPr sz="1800">
              <a:solidFill>
                <a:schemeClr val="dk1"/>
              </a:solidFill>
              <a:latin typeface="Times New Roman"/>
              <a:ea typeface="Times New Roman"/>
              <a:cs typeface="Times New Roman"/>
              <a:sym typeface="Times New Roman"/>
            </a:endParaRPr>
          </a:p>
          <a:p>
            <a:pPr marL="355600" marR="0" lvl="0" indent="-287655" algn="l" rtl="0">
              <a:lnSpc>
                <a:spcPct val="100000"/>
              </a:lnSpc>
              <a:spcBef>
                <a:spcPts val="1340"/>
              </a:spcBef>
              <a:spcAft>
                <a:spcPts val="0"/>
              </a:spcAft>
              <a:buClr>
                <a:schemeClr val="dk1"/>
              </a:buClr>
              <a:buSzPts val="1800"/>
              <a:buFont typeface="Lucida Sans"/>
              <a:buChar char="∙"/>
            </a:pPr>
            <a:r>
              <a:rPr lang="en-US" sz="1800">
                <a:solidFill>
                  <a:schemeClr val="dk1"/>
                </a:solidFill>
                <a:latin typeface="Times New Roman"/>
                <a:ea typeface="Times New Roman"/>
                <a:cs typeface="Times New Roman"/>
                <a:sym typeface="Times New Roman"/>
              </a:rPr>
              <a:t>Arguments against them is the skill and effort required in writing disambiguation rules</a:t>
            </a:r>
            <a:endParaRPr sz="1800">
              <a:solidFill>
                <a:schemeClr val="dk1"/>
              </a:solidFill>
              <a:latin typeface="Times New Roman"/>
              <a:ea typeface="Times New Roman"/>
              <a:cs typeface="Times New Roman"/>
              <a:sym typeface="Times New Roman"/>
            </a:endParaRPr>
          </a:p>
          <a:p>
            <a:pPr marL="355600" marR="0" lvl="0" indent="-287655" algn="l" rtl="0">
              <a:lnSpc>
                <a:spcPct val="100000"/>
              </a:lnSpc>
              <a:spcBef>
                <a:spcPts val="1290"/>
              </a:spcBef>
              <a:spcAft>
                <a:spcPts val="0"/>
              </a:spcAft>
              <a:buClr>
                <a:schemeClr val="dk1"/>
              </a:buClr>
              <a:buSzPts val="1800"/>
              <a:buFont typeface="Lucida Sans"/>
              <a:buChar char="∙"/>
            </a:pPr>
            <a:r>
              <a:rPr lang="en-US" sz="1800">
                <a:solidFill>
                  <a:schemeClr val="dk1"/>
                </a:solidFill>
                <a:latin typeface="Times New Roman"/>
                <a:ea typeface="Times New Roman"/>
                <a:cs typeface="Times New Roman"/>
                <a:sym typeface="Times New Roman"/>
              </a:rPr>
              <a:t>Stochastic taggers require manual work if good performance is to be achieved</a:t>
            </a:r>
            <a:endParaRPr sz="1800">
              <a:solidFill>
                <a:schemeClr val="dk1"/>
              </a:solidFill>
              <a:latin typeface="Times New Roman"/>
              <a:ea typeface="Times New Roman"/>
              <a:cs typeface="Times New Roman"/>
              <a:sym typeface="Times New Roman"/>
            </a:endParaRPr>
          </a:p>
          <a:p>
            <a:pPr marL="355600" marR="0" lvl="0" indent="-287655" algn="l" rtl="0">
              <a:lnSpc>
                <a:spcPct val="100000"/>
              </a:lnSpc>
              <a:spcBef>
                <a:spcPts val="1290"/>
              </a:spcBef>
              <a:spcAft>
                <a:spcPts val="0"/>
              </a:spcAft>
              <a:buClr>
                <a:schemeClr val="dk1"/>
              </a:buClr>
              <a:buSzPts val="1800"/>
              <a:buFont typeface="Lucida Sans"/>
              <a:buChar char="∙"/>
            </a:pPr>
            <a:r>
              <a:rPr lang="en-US" sz="1800">
                <a:solidFill>
                  <a:schemeClr val="dk1"/>
                </a:solidFill>
                <a:latin typeface="Times New Roman"/>
                <a:ea typeface="Times New Roman"/>
                <a:cs typeface="Times New Roman"/>
                <a:sym typeface="Times New Roman"/>
              </a:rPr>
              <a:t>Rule based, time is spent in writing a rule set</a:t>
            </a:r>
            <a:endParaRPr sz="1800">
              <a:solidFill>
                <a:schemeClr val="dk1"/>
              </a:solidFill>
              <a:latin typeface="Times New Roman"/>
              <a:ea typeface="Times New Roman"/>
              <a:cs typeface="Times New Roman"/>
              <a:sym typeface="Times New Roman"/>
            </a:endParaRPr>
          </a:p>
          <a:p>
            <a:pPr marL="355600" marR="0" lvl="0" indent="-287655" algn="l" rtl="0">
              <a:lnSpc>
                <a:spcPct val="100000"/>
              </a:lnSpc>
              <a:spcBef>
                <a:spcPts val="1290"/>
              </a:spcBef>
              <a:spcAft>
                <a:spcPts val="0"/>
              </a:spcAft>
              <a:buClr>
                <a:schemeClr val="dk1"/>
              </a:buClr>
              <a:buSzPts val="1800"/>
              <a:buFont typeface="Lucida Sans"/>
              <a:buChar char="∙"/>
            </a:pPr>
            <a:r>
              <a:rPr lang="en-US" sz="1800">
                <a:solidFill>
                  <a:schemeClr val="dk1"/>
                </a:solidFill>
                <a:latin typeface="Times New Roman"/>
                <a:ea typeface="Times New Roman"/>
                <a:cs typeface="Times New Roman"/>
                <a:sym typeface="Times New Roman"/>
              </a:rPr>
              <a:t>Stochastic, time is spent developing restriction on transitions and emissions to improve tagger performance</a:t>
            </a:r>
            <a:endParaRPr sz="1800">
              <a:solidFill>
                <a:schemeClr val="dk1"/>
              </a:solidFill>
              <a:latin typeface="Times New Roman"/>
              <a:ea typeface="Times New Roman"/>
              <a:cs typeface="Times New Roman"/>
              <a:sym typeface="Times New Roman"/>
            </a:endParaRPr>
          </a:p>
          <a:p>
            <a:pPr marL="0" marR="0" lvl="0" indent="0" algn="l" rtl="0">
              <a:lnSpc>
                <a:spcPct val="100000"/>
              </a:lnSpc>
              <a:spcBef>
                <a:spcPts val="45"/>
              </a:spcBef>
              <a:spcAft>
                <a:spcPts val="0"/>
              </a:spcAft>
              <a:buClr>
                <a:schemeClr val="dk1"/>
              </a:buClr>
              <a:buSzPts val="1950"/>
              <a:buFont typeface="Lucida Sans"/>
              <a:buNone/>
            </a:pPr>
            <a:endParaRPr sz="1950">
              <a:solidFill>
                <a:schemeClr val="dk1"/>
              </a:solidFill>
              <a:latin typeface="Times New Roman"/>
              <a:ea typeface="Times New Roman"/>
              <a:cs typeface="Times New Roman"/>
              <a:sym typeface="Times New Roman"/>
            </a:endParaRPr>
          </a:p>
          <a:p>
            <a:pPr marL="12700" marR="0" lvl="0" indent="0" algn="l" rtl="0">
              <a:lnSpc>
                <a:spcPct val="100000"/>
              </a:lnSpc>
              <a:spcBef>
                <a:spcPts val="0"/>
              </a:spcBef>
              <a:spcAft>
                <a:spcPts val="0"/>
              </a:spcAft>
              <a:buNone/>
            </a:pPr>
            <a:r>
              <a:rPr lang="en-US" sz="1800" b="1">
                <a:solidFill>
                  <a:schemeClr val="dk1"/>
                </a:solidFill>
                <a:latin typeface="Times New Roman"/>
                <a:ea typeface="Times New Roman"/>
                <a:cs typeface="Times New Roman"/>
                <a:sym typeface="Times New Roman"/>
              </a:rPr>
              <a:t>Disadvantages:</a:t>
            </a:r>
            <a:endParaRPr sz="1800">
              <a:solidFill>
                <a:schemeClr val="dk1"/>
              </a:solidFill>
              <a:latin typeface="Times New Roman"/>
              <a:ea typeface="Times New Roman"/>
              <a:cs typeface="Times New Roman"/>
              <a:sym typeface="Times New Roman"/>
            </a:endParaRPr>
          </a:p>
          <a:p>
            <a:pPr marL="0" marR="0" lvl="0" indent="0" algn="l" rtl="0">
              <a:lnSpc>
                <a:spcPct val="100000"/>
              </a:lnSpc>
              <a:spcBef>
                <a:spcPts val="40"/>
              </a:spcBef>
              <a:spcAft>
                <a:spcPts val="0"/>
              </a:spcAft>
              <a:buNone/>
            </a:pPr>
            <a:endParaRPr sz="2000">
              <a:solidFill>
                <a:schemeClr val="dk1"/>
              </a:solidFill>
              <a:latin typeface="Times New Roman"/>
              <a:ea typeface="Times New Roman"/>
              <a:cs typeface="Times New Roman"/>
              <a:sym typeface="Times New Roman"/>
            </a:endParaRPr>
          </a:p>
          <a:p>
            <a:pPr marL="355600" marR="0" lvl="0" indent="-287655" algn="l" rtl="0">
              <a:lnSpc>
                <a:spcPct val="100000"/>
              </a:lnSpc>
              <a:spcBef>
                <a:spcPts val="0"/>
              </a:spcBef>
              <a:spcAft>
                <a:spcPts val="0"/>
              </a:spcAft>
              <a:buClr>
                <a:schemeClr val="dk1"/>
              </a:buClr>
              <a:buSzPts val="1800"/>
              <a:buFont typeface="Lucida Sans"/>
              <a:buChar char="∙"/>
            </a:pPr>
            <a:r>
              <a:rPr lang="en-US" sz="1800">
                <a:solidFill>
                  <a:schemeClr val="dk1"/>
                </a:solidFill>
                <a:latin typeface="Times New Roman"/>
                <a:ea typeface="Times New Roman"/>
                <a:cs typeface="Times New Roman"/>
                <a:sym typeface="Times New Roman"/>
              </a:rPr>
              <a:t>It’s usable for only one language. Using it for another one requires a rewrite of most of the programs.</a:t>
            </a:r>
            <a:endParaRPr sz="1800">
              <a:solidFill>
                <a:schemeClr val="dk1"/>
              </a:solidFill>
              <a:latin typeface="Times New Roman"/>
              <a:ea typeface="Times New Roman"/>
              <a:cs typeface="Times New Roman"/>
              <a:sym typeface="Times New Roman"/>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showMasterSp="0">
  <p:cSld>
    <p:spTree>
      <p:nvGrpSpPr>
        <p:cNvPr id="1" name="Shape 606"/>
        <p:cNvGrpSpPr/>
        <p:nvPr/>
      </p:nvGrpSpPr>
      <p:grpSpPr>
        <a:xfrm>
          <a:off x="0" y="0"/>
          <a:ext cx="0" cy="0"/>
          <a:chOff x="0" y="0"/>
          <a:chExt cx="0" cy="0"/>
        </a:xfrm>
      </p:grpSpPr>
      <p:sp>
        <p:nvSpPr>
          <p:cNvPr id="607" name="Google Shape;607;p52"/>
          <p:cNvSpPr txBox="1">
            <a:spLocks noGrp="1"/>
          </p:cNvSpPr>
          <p:nvPr>
            <p:ph type="title"/>
          </p:nvPr>
        </p:nvSpPr>
        <p:spPr>
          <a:xfrm>
            <a:off x="911225" y="324149"/>
            <a:ext cx="4867275" cy="629285"/>
          </a:xfrm>
          <a:prstGeom prst="rect">
            <a:avLst/>
          </a:prstGeom>
          <a:noFill/>
          <a:ln>
            <a:noFill/>
          </a:ln>
        </p:spPr>
        <p:txBody>
          <a:bodyPr spcFirstLastPara="1" wrap="square" lIns="0" tIns="13950" rIns="0" bIns="0" anchor="t" anchorCtr="0">
            <a:spAutoFit/>
          </a:bodyPr>
          <a:lstStyle/>
          <a:p>
            <a:pPr marL="12700" lvl="0" indent="0" algn="l" rtl="0">
              <a:lnSpc>
                <a:spcPct val="100000"/>
              </a:lnSpc>
              <a:spcBef>
                <a:spcPts val="0"/>
              </a:spcBef>
              <a:spcAft>
                <a:spcPts val="0"/>
              </a:spcAft>
              <a:buNone/>
            </a:pPr>
            <a:r>
              <a:rPr lang="en-US"/>
              <a:t>Parts of Speech Tagging</a:t>
            </a:r>
            <a:endParaRPr/>
          </a:p>
        </p:txBody>
      </p:sp>
      <p:sp>
        <p:nvSpPr>
          <p:cNvPr id="608" name="Google Shape;608;p52"/>
          <p:cNvSpPr txBox="1"/>
          <p:nvPr/>
        </p:nvSpPr>
        <p:spPr>
          <a:xfrm>
            <a:off x="888342" y="1004547"/>
            <a:ext cx="10031095" cy="5008245"/>
          </a:xfrm>
          <a:prstGeom prst="rect">
            <a:avLst/>
          </a:prstGeom>
          <a:noFill/>
          <a:ln>
            <a:noFill/>
          </a:ln>
        </p:spPr>
        <p:txBody>
          <a:bodyPr spcFirstLastPara="1" wrap="square" lIns="0" tIns="12700" rIns="0" bIns="0" anchor="t" anchorCtr="0">
            <a:spAutoFit/>
          </a:bodyPr>
          <a:lstStyle/>
          <a:p>
            <a:pPr marL="378460" marR="0" lvl="0" indent="-366394" algn="l" rtl="0">
              <a:lnSpc>
                <a:spcPct val="100000"/>
              </a:lnSpc>
              <a:spcBef>
                <a:spcPts val="0"/>
              </a:spcBef>
              <a:spcAft>
                <a:spcPts val="0"/>
              </a:spcAft>
              <a:buClr>
                <a:schemeClr val="dk1"/>
              </a:buClr>
              <a:buSzPts val="1800"/>
              <a:buFont typeface="Lucida Sans"/>
              <a:buChar char="□"/>
            </a:pPr>
            <a:r>
              <a:rPr lang="en-US" sz="1800">
                <a:solidFill>
                  <a:schemeClr val="dk1"/>
                </a:solidFill>
                <a:latin typeface="Times New Roman"/>
                <a:ea typeface="Times New Roman"/>
                <a:cs typeface="Times New Roman"/>
                <a:sym typeface="Times New Roman"/>
              </a:rPr>
              <a:t>Standard stochastic tagger is HMM tagger algorithm</a:t>
            </a:r>
            <a:endParaRPr sz="1800">
              <a:solidFill>
                <a:schemeClr val="dk1"/>
              </a:solidFill>
              <a:latin typeface="Times New Roman"/>
              <a:ea typeface="Times New Roman"/>
              <a:cs typeface="Times New Roman"/>
              <a:sym typeface="Times New Roman"/>
            </a:endParaRPr>
          </a:p>
          <a:p>
            <a:pPr marL="378460" marR="589280" lvl="0" indent="-366394" algn="l" rtl="0">
              <a:lnSpc>
                <a:spcPct val="113399"/>
              </a:lnSpc>
              <a:spcBef>
                <a:spcPts val="1025"/>
              </a:spcBef>
              <a:spcAft>
                <a:spcPts val="0"/>
              </a:spcAft>
              <a:buClr>
                <a:schemeClr val="dk1"/>
              </a:buClr>
              <a:buSzPts val="1800"/>
              <a:buFont typeface="Lucida Sans"/>
              <a:buChar char="□"/>
            </a:pPr>
            <a:r>
              <a:rPr lang="en-US" sz="1800">
                <a:solidFill>
                  <a:schemeClr val="dk1"/>
                </a:solidFill>
                <a:latin typeface="Times New Roman"/>
                <a:ea typeface="Times New Roman"/>
                <a:cs typeface="Times New Roman"/>
                <a:sym typeface="Times New Roman"/>
              </a:rPr>
              <a:t>Markov model applies the simplifying assumption that the probability of a chain of symbols can be  approximated in terms of its parts of n-grams</a:t>
            </a:r>
            <a:endParaRPr sz="1800">
              <a:solidFill>
                <a:schemeClr val="dk1"/>
              </a:solidFill>
              <a:latin typeface="Times New Roman"/>
              <a:ea typeface="Times New Roman"/>
              <a:cs typeface="Times New Roman"/>
              <a:sym typeface="Times New Roman"/>
            </a:endParaRPr>
          </a:p>
          <a:p>
            <a:pPr marL="378460" marR="0" lvl="0" indent="-366394" algn="l" rtl="0">
              <a:lnSpc>
                <a:spcPct val="100000"/>
              </a:lnSpc>
              <a:spcBef>
                <a:spcPts val="1315"/>
              </a:spcBef>
              <a:spcAft>
                <a:spcPts val="0"/>
              </a:spcAft>
              <a:buClr>
                <a:schemeClr val="dk1"/>
              </a:buClr>
              <a:buSzPts val="1800"/>
              <a:buFont typeface="Lucida Sans"/>
              <a:buChar char="□"/>
            </a:pPr>
            <a:r>
              <a:rPr lang="en-US" sz="1800">
                <a:solidFill>
                  <a:schemeClr val="dk1"/>
                </a:solidFill>
                <a:latin typeface="Times New Roman"/>
                <a:ea typeface="Times New Roman"/>
                <a:cs typeface="Times New Roman"/>
                <a:sym typeface="Times New Roman"/>
              </a:rPr>
              <a:t>Simplest n-gram model is unigram model, which assigns the most likely tag to each token</a:t>
            </a:r>
            <a:endParaRPr sz="1800">
              <a:solidFill>
                <a:schemeClr val="dk1"/>
              </a:solidFill>
              <a:latin typeface="Times New Roman"/>
              <a:ea typeface="Times New Roman"/>
              <a:cs typeface="Times New Roman"/>
              <a:sym typeface="Times New Roman"/>
            </a:endParaRPr>
          </a:p>
          <a:p>
            <a:pPr marL="378460" marR="0" lvl="0" indent="-366394" algn="l" rtl="0">
              <a:lnSpc>
                <a:spcPct val="100000"/>
              </a:lnSpc>
              <a:spcBef>
                <a:spcPts val="1290"/>
              </a:spcBef>
              <a:spcAft>
                <a:spcPts val="0"/>
              </a:spcAft>
              <a:buClr>
                <a:schemeClr val="dk1"/>
              </a:buClr>
              <a:buSzPts val="1800"/>
              <a:buFont typeface="Lucida Sans"/>
              <a:buChar char="□"/>
            </a:pPr>
            <a:r>
              <a:rPr lang="en-US" sz="1800">
                <a:solidFill>
                  <a:schemeClr val="dk1"/>
                </a:solidFill>
                <a:latin typeface="Times New Roman"/>
                <a:ea typeface="Times New Roman"/>
                <a:cs typeface="Times New Roman"/>
                <a:sym typeface="Times New Roman"/>
              </a:rPr>
              <a:t>Unigram model needs to be trained using a tagged training corpus before it can be used to tag data</a:t>
            </a:r>
            <a:endParaRPr sz="1800">
              <a:solidFill>
                <a:schemeClr val="dk1"/>
              </a:solidFill>
              <a:latin typeface="Times New Roman"/>
              <a:ea typeface="Times New Roman"/>
              <a:cs typeface="Times New Roman"/>
              <a:sym typeface="Times New Roman"/>
            </a:endParaRPr>
          </a:p>
          <a:p>
            <a:pPr marL="378460" marR="0" lvl="0" indent="-366394" algn="l" rtl="0">
              <a:lnSpc>
                <a:spcPct val="100000"/>
              </a:lnSpc>
              <a:spcBef>
                <a:spcPts val="1290"/>
              </a:spcBef>
              <a:spcAft>
                <a:spcPts val="0"/>
              </a:spcAft>
              <a:buClr>
                <a:schemeClr val="dk1"/>
              </a:buClr>
              <a:buSzPts val="1800"/>
              <a:buFont typeface="Lucida Sans"/>
              <a:buChar char="□"/>
            </a:pPr>
            <a:r>
              <a:rPr lang="en-US" sz="1800">
                <a:solidFill>
                  <a:schemeClr val="dk1"/>
                </a:solidFill>
                <a:latin typeface="Times New Roman"/>
                <a:ea typeface="Times New Roman"/>
                <a:cs typeface="Times New Roman"/>
                <a:sym typeface="Times New Roman"/>
              </a:rPr>
              <a:t>The most likely statistics are gathered over the corpus and used for tagging</a:t>
            </a:r>
            <a:endParaRPr sz="1800">
              <a:solidFill>
                <a:schemeClr val="dk1"/>
              </a:solidFill>
              <a:latin typeface="Times New Roman"/>
              <a:ea typeface="Times New Roman"/>
              <a:cs typeface="Times New Roman"/>
              <a:sym typeface="Times New Roman"/>
            </a:endParaRPr>
          </a:p>
          <a:p>
            <a:pPr marL="378460" marR="0" lvl="0" indent="-366394" algn="l" rtl="0">
              <a:lnSpc>
                <a:spcPct val="100000"/>
              </a:lnSpc>
              <a:spcBef>
                <a:spcPts val="1290"/>
              </a:spcBef>
              <a:spcAft>
                <a:spcPts val="0"/>
              </a:spcAft>
              <a:buClr>
                <a:schemeClr val="dk1"/>
              </a:buClr>
              <a:buSzPts val="1800"/>
              <a:buFont typeface="Lucida Sans"/>
              <a:buChar char="□"/>
            </a:pPr>
            <a:r>
              <a:rPr lang="en-US" sz="1800">
                <a:solidFill>
                  <a:schemeClr val="dk1"/>
                </a:solidFill>
                <a:latin typeface="Times New Roman"/>
                <a:ea typeface="Times New Roman"/>
                <a:cs typeface="Times New Roman"/>
                <a:sym typeface="Times New Roman"/>
              </a:rPr>
              <a:t>The context used by the unigram tagger is the text of the word itself</a:t>
            </a:r>
            <a:endParaRPr sz="1800">
              <a:solidFill>
                <a:schemeClr val="dk1"/>
              </a:solidFill>
              <a:latin typeface="Times New Roman"/>
              <a:ea typeface="Times New Roman"/>
              <a:cs typeface="Times New Roman"/>
              <a:sym typeface="Times New Roman"/>
            </a:endParaRPr>
          </a:p>
          <a:p>
            <a:pPr marL="492759" marR="5080" lvl="1" indent="-194945" algn="l" rtl="0">
              <a:lnSpc>
                <a:spcPct val="113399"/>
              </a:lnSpc>
              <a:spcBef>
                <a:spcPts val="1000"/>
              </a:spcBef>
              <a:spcAft>
                <a:spcPts val="0"/>
              </a:spcAft>
              <a:buClr>
                <a:schemeClr val="dk1"/>
              </a:buClr>
              <a:buSzPts val="1800"/>
              <a:buFont typeface="Arial"/>
              <a:buChar char="•"/>
            </a:pPr>
            <a:r>
              <a:rPr lang="en-US" sz="1800" b="0" i="0" u="none" strike="noStrike" cap="none">
                <a:solidFill>
                  <a:schemeClr val="dk1"/>
                </a:solidFill>
                <a:latin typeface="Times New Roman"/>
                <a:ea typeface="Times New Roman"/>
                <a:cs typeface="Times New Roman"/>
                <a:sym typeface="Times New Roman"/>
              </a:rPr>
              <a:t>Ex: It will assign the tag JJ for each occurrence of fast, since fast is used as an adjective more frequently  than used as noun, verb or adverb.</a:t>
            </a:r>
            <a:endParaRPr sz="1800" b="0" i="0" u="none" strike="noStrike" cap="none">
              <a:solidFill>
                <a:schemeClr val="dk1"/>
              </a:solidFill>
              <a:latin typeface="Times New Roman"/>
              <a:ea typeface="Times New Roman"/>
              <a:cs typeface="Times New Roman"/>
              <a:sym typeface="Times New Roman"/>
            </a:endParaRPr>
          </a:p>
          <a:p>
            <a:pPr marL="264160" marR="6440170" lvl="0" indent="0" algn="l" rtl="0">
              <a:lnSpc>
                <a:spcPct val="162000"/>
              </a:lnSpc>
              <a:spcBef>
                <a:spcPts val="975"/>
              </a:spcBef>
              <a:spcAft>
                <a:spcPts val="0"/>
              </a:spcAft>
              <a:buNone/>
            </a:pPr>
            <a:r>
              <a:rPr lang="en-US" sz="1800">
                <a:solidFill>
                  <a:schemeClr val="dk1"/>
                </a:solidFill>
                <a:latin typeface="Times New Roman"/>
                <a:ea typeface="Times New Roman"/>
                <a:cs typeface="Times New Roman"/>
                <a:sym typeface="Times New Roman"/>
              </a:rPr>
              <a:t>She had a fast	[noun]  Muslims fast[verb] during Ramadan</a:t>
            </a:r>
            <a:endParaRPr sz="1800">
              <a:solidFill>
                <a:schemeClr val="dk1"/>
              </a:solidFill>
              <a:latin typeface="Times New Roman"/>
              <a:ea typeface="Times New Roman"/>
              <a:cs typeface="Times New Roman"/>
              <a:sym typeface="Times New Roman"/>
            </a:endParaRPr>
          </a:p>
          <a:p>
            <a:pPr marL="264160" marR="0" lvl="0" indent="0" algn="l" rtl="0">
              <a:lnSpc>
                <a:spcPct val="100000"/>
              </a:lnSpc>
              <a:spcBef>
                <a:spcPts val="1290"/>
              </a:spcBef>
              <a:spcAft>
                <a:spcPts val="0"/>
              </a:spcAft>
              <a:buNone/>
            </a:pPr>
            <a:r>
              <a:rPr lang="en-US" sz="1800">
                <a:solidFill>
                  <a:schemeClr val="dk1"/>
                </a:solidFill>
                <a:latin typeface="Times New Roman"/>
                <a:ea typeface="Times New Roman"/>
                <a:cs typeface="Times New Roman"/>
                <a:sym typeface="Times New Roman"/>
              </a:rPr>
              <a:t>Those who were injured in the accident need to be helped fast[adverb]</a:t>
            </a:r>
            <a:endParaRPr sz="1800">
              <a:solidFill>
                <a:schemeClr val="dk1"/>
              </a:solidFill>
              <a:latin typeface="Times New Roman"/>
              <a:ea typeface="Times New Roman"/>
              <a:cs typeface="Times New Roman"/>
              <a:sym typeface="Times New Roman"/>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showMasterSp="0">
  <p:cSld>
    <p:spTree>
      <p:nvGrpSpPr>
        <p:cNvPr id="1" name="Shape 612"/>
        <p:cNvGrpSpPr/>
        <p:nvPr/>
      </p:nvGrpSpPr>
      <p:grpSpPr>
        <a:xfrm>
          <a:off x="0" y="0"/>
          <a:ext cx="0" cy="0"/>
          <a:chOff x="0" y="0"/>
          <a:chExt cx="0" cy="0"/>
        </a:xfrm>
      </p:grpSpPr>
      <p:sp>
        <p:nvSpPr>
          <p:cNvPr id="613" name="Google Shape;613;p53"/>
          <p:cNvSpPr txBox="1">
            <a:spLocks noGrp="1"/>
          </p:cNvSpPr>
          <p:nvPr>
            <p:ph type="title"/>
          </p:nvPr>
        </p:nvSpPr>
        <p:spPr>
          <a:xfrm>
            <a:off x="911225" y="639172"/>
            <a:ext cx="5405120" cy="69596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4400"/>
              <a:t>Parts of Speech Tagging</a:t>
            </a:r>
            <a:endParaRPr sz="4400"/>
          </a:p>
        </p:txBody>
      </p:sp>
      <p:sp>
        <p:nvSpPr>
          <p:cNvPr id="614" name="Google Shape;614;p53"/>
          <p:cNvSpPr txBox="1"/>
          <p:nvPr/>
        </p:nvSpPr>
        <p:spPr>
          <a:xfrm>
            <a:off x="890130" y="1702612"/>
            <a:ext cx="9900920" cy="1857375"/>
          </a:xfrm>
          <a:prstGeom prst="rect">
            <a:avLst/>
          </a:prstGeom>
          <a:noFill/>
          <a:ln>
            <a:noFill/>
          </a:ln>
        </p:spPr>
        <p:txBody>
          <a:bodyPr spcFirstLastPara="1" wrap="square" lIns="0" tIns="154300" rIns="0" bIns="0" anchor="t" anchorCtr="0">
            <a:spAutoFit/>
          </a:bodyPr>
          <a:lstStyle/>
          <a:p>
            <a:pPr marL="376555" marR="0" lvl="0" indent="-364490" algn="l" rtl="0">
              <a:lnSpc>
                <a:spcPct val="100000"/>
              </a:lnSpc>
              <a:spcBef>
                <a:spcPts val="0"/>
              </a:spcBef>
              <a:spcAft>
                <a:spcPts val="0"/>
              </a:spcAft>
              <a:buClr>
                <a:schemeClr val="dk1"/>
              </a:buClr>
              <a:buSzPts val="1650"/>
              <a:buFont typeface="Lucida Sans"/>
              <a:buChar char="□"/>
            </a:pPr>
            <a:r>
              <a:rPr lang="en-US" sz="1650">
                <a:solidFill>
                  <a:schemeClr val="dk1"/>
                </a:solidFill>
                <a:latin typeface="Times New Roman"/>
                <a:ea typeface="Times New Roman"/>
                <a:cs typeface="Times New Roman"/>
                <a:sym typeface="Times New Roman"/>
              </a:rPr>
              <a:t>Bigram tagger uses the current word and the tag of previous word in tagging process</a:t>
            </a:r>
            <a:endParaRPr sz="1650">
              <a:solidFill>
                <a:schemeClr val="dk1"/>
              </a:solidFill>
              <a:latin typeface="Times New Roman"/>
              <a:ea typeface="Times New Roman"/>
              <a:cs typeface="Times New Roman"/>
              <a:sym typeface="Times New Roman"/>
            </a:endParaRPr>
          </a:p>
          <a:p>
            <a:pPr marL="376555" marR="0" lvl="0" indent="-364490" algn="l" rtl="0">
              <a:lnSpc>
                <a:spcPct val="100000"/>
              </a:lnSpc>
              <a:spcBef>
                <a:spcPts val="1120"/>
              </a:spcBef>
              <a:spcAft>
                <a:spcPts val="0"/>
              </a:spcAft>
              <a:buClr>
                <a:schemeClr val="dk1"/>
              </a:buClr>
              <a:buSzPts val="1650"/>
              <a:buFont typeface="Lucida Sans"/>
              <a:buChar char="□"/>
            </a:pPr>
            <a:r>
              <a:rPr lang="en-US" sz="1650">
                <a:solidFill>
                  <a:schemeClr val="dk1"/>
                </a:solidFill>
                <a:latin typeface="Calibri"/>
                <a:ea typeface="Calibri"/>
                <a:cs typeface="Calibri"/>
                <a:sym typeface="Calibri"/>
              </a:rPr>
              <a:t>She had a fast  DT JJ (or) DT NN</a:t>
            </a:r>
            <a:endParaRPr sz="1650">
              <a:solidFill>
                <a:schemeClr val="dk1"/>
              </a:solidFill>
              <a:latin typeface="Calibri"/>
              <a:ea typeface="Calibri"/>
              <a:cs typeface="Calibri"/>
              <a:sym typeface="Calibri"/>
            </a:endParaRPr>
          </a:p>
          <a:p>
            <a:pPr marL="376555" marR="0" lvl="0" indent="-364490" algn="l" rtl="0">
              <a:lnSpc>
                <a:spcPct val="100000"/>
              </a:lnSpc>
              <a:spcBef>
                <a:spcPts val="1095"/>
              </a:spcBef>
              <a:spcAft>
                <a:spcPts val="0"/>
              </a:spcAft>
              <a:buClr>
                <a:schemeClr val="dk1"/>
              </a:buClr>
              <a:buSzPts val="1650"/>
              <a:buFont typeface="Lucida Sans"/>
              <a:buChar char="□"/>
            </a:pPr>
            <a:r>
              <a:rPr lang="en-US" sz="1650">
                <a:solidFill>
                  <a:schemeClr val="dk1"/>
                </a:solidFill>
                <a:latin typeface="Times New Roman"/>
                <a:ea typeface="Times New Roman"/>
                <a:cs typeface="Times New Roman"/>
                <a:sym typeface="Times New Roman"/>
              </a:rPr>
              <a:t>As the tag sequence “DT NN” is more likely than the tag sequence “DD JJ”</a:t>
            </a:r>
            <a:endParaRPr sz="1650">
              <a:solidFill>
                <a:schemeClr val="dk1"/>
              </a:solidFill>
              <a:latin typeface="Times New Roman"/>
              <a:ea typeface="Times New Roman"/>
              <a:cs typeface="Times New Roman"/>
              <a:sym typeface="Times New Roman"/>
            </a:endParaRPr>
          </a:p>
          <a:p>
            <a:pPr marL="376555" marR="5080" lvl="0" indent="-364490" algn="l" rtl="0">
              <a:lnSpc>
                <a:spcPct val="104800"/>
              </a:lnSpc>
              <a:spcBef>
                <a:spcPts val="1000"/>
              </a:spcBef>
              <a:spcAft>
                <a:spcPts val="0"/>
              </a:spcAft>
              <a:buClr>
                <a:schemeClr val="dk1"/>
              </a:buClr>
              <a:buSzPts val="1650"/>
              <a:buFont typeface="Lucida Sans"/>
              <a:buChar char="□"/>
            </a:pPr>
            <a:r>
              <a:rPr lang="en-US" sz="1650">
                <a:solidFill>
                  <a:schemeClr val="dk1"/>
                </a:solidFill>
                <a:latin typeface="Times New Roman"/>
                <a:ea typeface="Times New Roman"/>
                <a:cs typeface="Times New Roman"/>
                <a:sym typeface="Times New Roman"/>
              </a:rPr>
              <a:t>In general, n gram model considers the current word and the tag of the previous n-1 words in assigning a tag to a  word</a:t>
            </a:r>
            <a:endParaRPr sz="1650">
              <a:solidFill>
                <a:schemeClr val="dk1"/>
              </a:solidFill>
              <a:latin typeface="Times New Roman"/>
              <a:ea typeface="Times New Roman"/>
              <a:cs typeface="Times New Roman"/>
              <a:sym typeface="Times New Roman"/>
            </a:endParaRPr>
          </a:p>
        </p:txBody>
      </p:sp>
      <p:sp>
        <p:nvSpPr>
          <p:cNvPr id="615" name="Google Shape;615;p53"/>
          <p:cNvSpPr txBox="1"/>
          <p:nvPr/>
        </p:nvSpPr>
        <p:spPr>
          <a:xfrm>
            <a:off x="1628764" y="3658412"/>
            <a:ext cx="878205" cy="819150"/>
          </a:xfrm>
          <a:prstGeom prst="rect">
            <a:avLst/>
          </a:prstGeom>
          <a:noFill/>
          <a:ln>
            <a:noFill/>
          </a:ln>
        </p:spPr>
        <p:txBody>
          <a:bodyPr spcFirstLastPara="1" wrap="square" lIns="0" tIns="157475" rIns="0" bIns="0" anchor="t" anchorCtr="0">
            <a:spAutoFit/>
          </a:bodyPr>
          <a:lstStyle/>
          <a:p>
            <a:pPr marL="209550" marR="0" lvl="0" indent="-197485" algn="l" rtl="0">
              <a:lnSpc>
                <a:spcPct val="100000"/>
              </a:lnSpc>
              <a:spcBef>
                <a:spcPts val="0"/>
              </a:spcBef>
              <a:spcAft>
                <a:spcPts val="0"/>
              </a:spcAft>
              <a:buClr>
                <a:schemeClr val="dk1"/>
              </a:buClr>
              <a:buSzPts val="1650"/>
              <a:buFont typeface="Arial"/>
              <a:buChar char="•"/>
            </a:pPr>
            <a:r>
              <a:rPr lang="en-US" sz="1650" b="1">
                <a:solidFill>
                  <a:schemeClr val="dk1"/>
                </a:solidFill>
                <a:latin typeface="Times New Roman"/>
                <a:ea typeface="Times New Roman"/>
                <a:cs typeface="Times New Roman"/>
                <a:sym typeface="Times New Roman"/>
              </a:rPr>
              <a:t>Tokens</a:t>
            </a:r>
            <a:endParaRPr sz="1650">
              <a:solidFill>
                <a:schemeClr val="dk1"/>
              </a:solidFill>
              <a:latin typeface="Times New Roman"/>
              <a:ea typeface="Times New Roman"/>
              <a:cs typeface="Times New Roman"/>
              <a:sym typeface="Times New Roman"/>
            </a:endParaRPr>
          </a:p>
          <a:p>
            <a:pPr marL="209550" marR="0" lvl="0" indent="-197485" algn="l" rtl="0">
              <a:lnSpc>
                <a:spcPct val="100000"/>
              </a:lnSpc>
              <a:spcBef>
                <a:spcPts val="1145"/>
              </a:spcBef>
              <a:spcAft>
                <a:spcPts val="0"/>
              </a:spcAft>
              <a:buClr>
                <a:schemeClr val="dk1"/>
              </a:buClr>
              <a:buSzPts val="1650"/>
              <a:buFont typeface="Arial"/>
              <a:buChar char="•"/>
            </a:pPr>
            <a:r>
              <a:rPr lang="en-US" sz="1650" b="1">
                <a:solidFill>
                  <a:schemeClr val="dk1"/>
                </a:solidFill>
                <a:latin typeface="Times New Roman"/>
                <a:ea typeface="Times New Roman"/>
                <a:cs typeface="Times New Roman"/>
                <a:sym typeface="Times New Roman"/>
              </a:rPr>
              <a:t>Tags</a:t>
            </a:r>
            <a:endParaRPr sz="1650">
              <a:solidFill>
                <a:schemeClr val="dk1"/>
              </a:solidFill>
              <a:latin typeface="Times New Roman"/>
              <a:ea typeface="Times New Roman"/>
              <a:cs typeface="Times New Roman"/>
              <a:sym typeface="Times New Roman"/>
            </a:endParaRPr>
          </a:p>
        </p:txBody>
      </p:sp>
      <p:sp>
        <p:nvSpPr>
          <p:cNvPr id="616" name="Google Shape;616;p53"/>
          <p:cNvSpPr txBox="1"/>
          <p:nvPr/>
        </p:nvSpPr>
        <p:spPr>
          <a:xfrm>
            <a:off x="2574607" y="3737708"/>
            <a:ext cx="525780" cy="819150"/>
          </a:xfrm>
          <a:prstGeom prst="rect">
            <a:avLst/>
          </a:prstGeom>
          <a:noFill/>
          <a:ln>
            <a:noFill/>
          </a:ln>
        </p:spPr>
        <p:txBody>
          <a:bodyPr spcFirstLastPara="1" wrap="square" lIns="0" tIns="157475" rIns="0" bIns="0" anchor="t" anchorCtr="0">
            <a:spAutoFit/>
          </a:bodyPr>
          <a:lstStyle/>
          <a:p>
            <a:pPr marL="77470" marR="0" lvl="0" indent="0" algn="l" rtl="0">
              <a:lnSpc>
                <a:spcPct val="100000"/>
              </a:lnSpc>
              <a:spcBef>
                <a:spcPts val="0"/>
              </a:spcBef>
              <a:spcAft>
                <a:spcPts val="0"/>
              </a:spcAft>
              <a:buNone/>
            </a:pPr>
            <a:r>
              <a:rPr lang="en-US" sz="2475" b="1" baseline="30000">
                <a:solidFill>
                  <a:schemeClr val="dk1"/>
                </a:solidFill>
                <a:latin typeface="Times New Roman"/>
                <a:ea typeface="Times New Roman"/>
                <a:cs typeface="Times New Roman"/>
                <a:sym typeface="Times New Roman"/>
              </a:rPr>
              <a:t>W</a:t>
            </a:r>
            <a:r>
              <a:rPr lang="en-US" sz="1100" b="1">
                <a:solidFill>
                  <a:schemeClr val="dk1"/>
                </a:solidFill>
                <a:latin typeface="Times New Roman"/>
                <a:ea typeface="Times New Roman"/>
                <a:cs typeface="Times New Roman"/>
                <a:sym typeface="Times New Roman"/>
              </a:rPr>
              <a:t>n-2</a:t>
            </a:r>
            <a:endParaRPr sz="1100">
              <a:solidFill>
                <a:schemeClr val="dk1"/>
              </a:solidFill>
              <a:latin typeface="Times New Roman"/>
              <a:ea typeface="Times New Roman"/>
              <a:cs typeface="Times New Roman"/>
              <a:sym typeface="Times New Roman"/>
            </a:endParaRPr>
          </a:p>
          <a:p>
            <a:pPr marL="38100" marR="0" lvl="0" indent="0" algn="l" rtl="0">
              <a:lnSpc>
                <a:spcPct val="100000"/>
              </a:lnSpc>
              <a:spcBef>
                <a:spcPts val="1145"/>
              </a:spcBef>
              <a:spcAft>
                <a:spcPts val="0"/>
              </a:spcAft>
              <a:buNone/>
            </a:pPr>
            <a:r>
              <a:rPr lang="en-US" sz="2475" b="1" baseline="30000">
                <a:solidFill>
                  <a:schemeClr val="dk1"/>
                </a:solidFill>
                <a:latin typeface="Times New Roman"/>
                <a:ea typeface="Times New Roman"/>
                <a:cs typeface="Times New Roman"/>
                <a:sym typeface="Times New Roman"/>
              </a:rPr>
              <a:t>t</a:t>
            </a:r>
            <a:r>
              <a:rPr lang="en-US" sz="1100" b="1">
                <a:solidFill>
                  <a:schemeClr val="dk1"/>
                </a:solidFill>
                <a:latin typeface="Times New Roman"/>
                <a:ea typeface="Times New Roman"/>
                <a:cs typeface="Times New Roman"/>
                <a:sym typeface="Times New Roman"/>
              </a:rPr>
              <a:t>n-2</a:t>
            </a:r>
            <a:endParaRPr sz="1100">
              <a:solidFill>
                <a:schemeClr val="dk1"/>
              </a:solidFill>
              <a:latin typeface="Times New Roman"/>
              <a:ea typeface="Times New Roman"/>
              <a:cs typeface="Times New Roman"/>
              <a:sym typeface="Times New Roman"/>
            </a:endParaRPr>
          </a:p>
        </p:txBody>
      </p:sp>
      <p:sp>
        <p:nvSpPr>
          <p:cNvPr id="617" name="Google Shape;617;p53"/>
          <p:cNvSpPr txBox="1"/>
          <p:nvPr/>
        </p:nvSpPr>
        <p:spPr>
          <a:xfrm>
            <a:off x="3210640" y="3737708"/>
            <a:ext cx="508000" cy="819150"/>
          </a:xfrm>
          <a:prstGeom prst="rect">
            <a:avLst/>
          </a:prstGeom>
          <a:noFill/>
          <a:ln>
            <a:noFill/>
          </a:ln>
        </p:spPr>
        <p:txBody>
          <a:bodyPr spcFirstLastPara="1" wrap="square" lIns="0" tIns="157475" rIns="0" bIns="0" anchor="t" anchorCtr="0">
            <a:spAutoFit/>
          </a:bodyPr>
          <a:lstStyle/>
          <a:p>
            <a:pPr marL="62230" marR="0" lvl="0" indent="0" algn="l" rtl="0">
              <a:lnSpc>
                <a:spcPct val="100000"/>
              </a:lnSpc>
              <a:spcBef>
                <a:spcPts val="0"/>
              </a:spcBef>
              <a:spcAft>
                <a:spcPts val="0"/>
              </a:spcAft>
              <a:buNone/>
            </a:pPr>
            <a:r>
              <a:rPr lang="en-US" sz="2475" b="1" baseline="30000">
                <a:solidFill>
                  <a:schemeClr val="dk1"/>
                </a:solidFill>
                <a:latin typeface="Times New Roman"/>
                <a:ea typeface="Times New Roman"/>
                <a:cs typeface="Times New Roman"/>
                <a:sym typeface="Times New Roman"/>
              </a:rPr>
              <a:t>W</a:t>
            </a:r>
            <a:r>
              <a:rPr lang="en-US" sz="1100" b="1">
                <a:solidFill>
                  <a:schemeClr val="dk1"/>
                </a:solidFill>
                <a:latin typeface="Times New Roman"/>
                <a:ea typeface="Times New Roman"/>
                <a:cs typeface="Times New Roman"/>
                <a:sym typeface="Times New Roman"/>
              </a:rPr>
              <a:t>n-1</a:t>
            </a:r>
            <a:endParaRPr sz="1100">
              <a:solidFill>
                <a:schemeClr val="dk1"/>
              </a:solidFill>
              <a:latin typeface="Times New Roman"/>
              <a:ea typeface="Times New Roman"/>
              <a:cs typeface="Times New Roman"/>
              <a:sym typeface="Times New Roman"/>
            </a:endParaRPr>
          </a:p>
          <a:p>
            <a:pPr marL="38100" marR="0" lvl="0" indent="0" algn="l" rtl="0">
              <a:lnSpc>
                <a:spcPct val="100000"/>
              </a:lnSpc>
              <a:spcBef>
                <a:spcPts val="1145"/>
              </a:spcBef>
              <a:spcAft>
                <a:spcPts val="0"/>
              </a:spcAft>
              <a:buNone/>
            </a:pPr>
            <a:r>
              <a:rPr lang="en-US" sz="2475" b="1" baseline="30000">
                <a:solidFill>
                  <a:schemeClr val="dk1"/>
                </a:solidFill>
                <a:latin typeface="Times New Roman"/>
                <a:ea typeface="Times New Roman"/>
                <a:cs typeface="Times New Roman"/>
                <a:sym typeface="Times New Roman"/>
              </a:rPr>
              <a:t>t</a:t>
            </a:r>
            <a:r>
              <a:rPr lang="en-US" sz="1100" b="1">
                <a:solidFill>
                  <a:schemeClr val="dk1"/>
                </a:solidFill>
                <a:latin typeface="Times New Roman"/>
                <a:ea typeface="Times New Roman"/>
                <a:cs typeface="Times New Roman"/>
                <a:sym typeface="Times New Roman"/>
              </a:rPr>
              <a:t>n-1</a:t>
            </a:r>
            <a:endParaRPr sz="1100">
              <a:solidFill>
                <a:schemeClr val="dk1"/>
              </a:solidFill>
              <a:latin typeface="Times New Roman"/>
              <a:ea typeface="Times New Roman"/>
              <a:cs typeface="Times New Roman"/>
              <a:sym typeface="Times New Roman"/>
            </a:endParaRPr>
          </a:p>
        </p:txBody>
      </p:sp>
      <p:sp>
        <p:nvSpPr>
          <p:cNvPr id="618" name="Google Shape;618;p53"/>
          <p:cNvSpPr txBox="1"/>
          <p:nvPr/>
        </p:nvSpPr>
        <p:spPr>
          <a:xfrm>
            <a:off x="3800645" y="3658412"/>
            <a:ext cx="366395" cy="819150"/>
          </a:xfrm>
          <a:prstGeom prst="rect">
            <a:avLst/>
          </a:prstGeom>
          <a:noFill/>
          <a:ln>
            <a:noFill/>
          </a:ln>
        </p:spPr>
        <p:txBody>
          <a:bodyPr spcFirstLastPara="1" wrap="square" lIns="0" tIns="12050" rIns="0" bIns="0" anchor="t" anchorCtr="0">
            <a:spAutoFit/>
          </a:bodyPr>
          <a:lstStyle/>
          <a:p>
            <a:pPr marL="83820" marR="30480" lvl="0" indent="-46355" algn="l" rtl="0">
              <a:lnSpc>
                <a:spcPct val="157800"/>
              </a:lnSpc>
              <a:spcBef>
                <a:spcPts val="0"/>
              </a:spcBef>
              <a:spcAft>
                <a:spcPts val="0"/>
              </a:spcAft>
              <a:buNone/>
            </a:pPr>
            <a:r>
              <a:rPr lang="en-US" sz="1650" b="1">
                <a:solidFill>
                  <a:schemeClr val="dk1"/>
                </a:solidFill>
                <a:latin typeface="Times New Roman"/>
                <a:ea typeface="Times New Roman"/>
                <a:cs typeface="Times New Roman"/>
                <a:sym typeface="Times New Roman"/>
              </a:rPr>
              <a:t>W</a:t>
            </a:r>
            <a:r>
              <a:rPr lang="en-US" sz="1650" b="1" baseline="-25000">
                <a:solidFill>
                  <a:schemeClr val="dk1"/>
                </a:solidFill>
                <a:latin typeface="Times New Roman"/>
                <a:ea typeface="Times New Roman"/>
                <a:cs typeface="Times New Roman"/>
                <a:sym typeface="Times New Roman"/>
              </a:rPr>
              <a:t>n  </a:t>
            </a:r>
            <a:r>
              <a:rPr lang="en-US" sz="1650" b="1">
                <a:solidFill>
                  <a:schemeClr val="dk1"/>
                </a:solidFill>
                <a:latin typeface="Times New Roman"/>
                <a:ea typeface="Times New Roman"/>
                <a:cs typeface="Times New Roman"/>
                <a:sym typeface="Times New Roman"/>
              </a:rPr>
              <a:t>t</a:t>
            </a:r>
            <a:r>
              <a:rPr lang="en-US" sz="1650" b="1" baseline="-25000">
                <a:solidFill>
                  <a:schemeClr val="dk1"/>
                </a:solidFill>
                <a:latin typeface="Times New Roman"/>
                <a:ea typeface="Times New Roman"/>
                <a:cs typeface="Times New Roman"/>
                <a:sym typeface="Times New Roman"/>
              </a:rPr>
              <a:t>n</a:t>
            </a:r>
            <a:endParaRPr sz="1650" baseline="-25000">
              <a:solidFill>
                <a:schemeClr val="dk1"/>
              </a:solidFill>
              <a:latin typeface="Times New Roman"/>
              <a:ea typeface="Times New Roman"/>
              <a:cs typeface="Times New Roman"/>
              <a:sym typeface="Times New Roman"/>
            </a:endParaRPr>
          </a:p>
        </p:txBody>
      </p:sp>
      <p:sp>
        <p:nvSpPr>
          <p:cNvPr id="619" name="Google Shape;619;p53"/>
          <p:cNvSpPr txBox="1"/>
          <p:nvPr/>
        </p:nvSpPr>
        <p:spPr>
          <a:xfrm>
            <a:off x="4248867" y="3737708"/>
            <a:ext cx="516890" cy="819150"/>
          </a:xfrm>
          <a:prstGeom prst="rect">
            <a:avLst/>
          </a:prstGeom>
          <a:noFill/>
          <a:ln>
            <a:noFill/>
          </a:ln>
        </p:spPr>
        <p:txBody>
          <a:bodyPr spcFirstLastPara="1" wrap="square" lIns="0" tIns="157475" rIns="0" bIns="0" anchor="t" anchorCtr="0">
            <a:spAutoFit/>
          </a:bodyPr>
          <a:lstStyle/>
          <a:p>
            <a:pPr marL="38100" marR="0" lvl="0" indent="0" algn="l" rtl="0">
              <a:lnSpc>
                <a:spcPct val="100000"/>
              </a:lnSpc>
              <a:spcBef>
                <a:spcPts val="0"/>
              </a:spcBef>
              <a:spcAft>
                <a:spcPts val="0"/>
              </a:spcAft>
              <a:buNone/>
            </a:pPr>
            <a:r>
              <a:rPr lang="en-US" sz="2475" b="1" baseline="30000">
                <a:solidFill>
                  <a:schemeClr val="dk1"/>
                </a:solidFill>
                <a:latin typeface="Times New Roman"/>
                <a:ea typeface="Times New Roman"/>
                <a:cs typeface="Times New Roman"/>
                <a:sym typeface="Times New Roman"/>
              </a:rPr>
              <a:t>W</a:t>
            </a:r>
            <a:r>
              <a:rPr lang="en-US" sz="1100" b="1">
                <a:solidFill>
                  <a:schemeClr val="dk1"/>
                </a:solidFill>
                <a:latin typeface="Times New Roman"/>
                <a:ea typeface="Times New Roman"/>
                <a:cs typeface="Times New Roman"/>
                <a:sym typeface="Times New Roman"/>
              </a:rPr>
              <a:t>n+1</a:t>
            </a:r>
            <a:endParaRPr sz="1100">
              <a:solidFill>
                <a:schemeClr val="dk1"/>
              </a:solidFill>
              <a:latin typeface="Times New Roman"/>
              <a:ea typeface="Times New Roman"/>
              <a:cs typeface="Times New Roman"/>
              <a:sym typeface="Times New Roman"/>
            </a:endParaRPr>
          </a:p>
          <a:p>
            <a:pPr marL="101600" marR="0" lvl="0" indent="0" algn="l" rtl="0">
              <a:lnSpc>
                <a:spcPct val="100000"/>
              </a:lnSpc>
              <a:spcBef>
                <a:spcPts val="1145"/>
              </a:spcBef>
              <a:spcAft>
                <a:spcPts val="0"/>
              </a:spcAft>
              <a:buNone/>
            </a:pPr>
            <a:r>
              <a:rPr lang="en-US" sz="2475" b="1" baseline="30000">
                <a:solidFill>
                  <a:schemeClr val="dk1"/>
                </a:solidFill>
                <a:latin typeface="Times New Roman"/>
                <a:ea typeface="Times New Roman"/>
                <a:cs typeface="Times New Roman"/>
                <a:sym typeface="Times New Roman"/>
              </a:rPr>
              <a:t>t</a:t>
            </a:r>
            <a:r>
              <a:rPr lang="en-US" sz="1100" b="1">
                <a:solidFill>
                  <a:schemeClr val="dk1"/>
                </a:solidFill>
                <a:latin typeface="Times New Roman"/>
                <a:ea typeface="Times New Roman"/>
                <a:cs typeface="Times New Roman"/>
                <a:sym typeface="Times New Roman"/>
              </a:rPr>
              <a:t>n+1</a:t>
            </a:r>
            <a:endParaRPr sz="1100">
              <a:solidFill>
                <a:schemeClr val="dk1"/>
              </a:solidFill>
              <a:latin typeface="Times New Roman"/>
              <a:ea typeface="Times New Roman"/>
              <a:cs typeface="Times New Roman"/>
              <a:sym typeface="Times New Roman"/>
            </a:endParaRPr>
          </a:p>
        </p:txBody>
      </p:sp>
      <p:sp>
        <p:nvSpPr>
          <p:cNvPr id="620" name="Google Shape;620;p53"/>
          <p:cNvSpPr txBox="1"/>
          <p:nvPr/>
        </p:nvSpPr>
        <p:spPr>
          <a:xfrm>
            <a:off x="845758" y="4572813"/>
            <a:ext cx="5172075" cy="1209675"/>
          </a:xfrm>
          <a:prstGeom prst="rect">
            <a:avLst/>
          </a:prstGeom>
          <a:noFill/>
          <a:ln>
            <a:noFill/>
          </a:ln>
        </p:spPr>
        <p:txBody>
          <a:bodyPr spcFirstLastPara="1" wrap="square" lIns="0" tIns="157475" rIns="0" bIns="0" anchor="t" anchorCtr="0">
            <a:spAutoFit/>
          </a:bodyPr>
          <a:lstStyle/>
          <a:p>
            <a:pPr marL="992505" marR="0" lvl="0" indent="-197485" algn="l" rtl="0">
              <a:lnSpc>
                <a:spcPct val="100000"/>
              </a:lnSpc>
              <a:spcBef>
                <a:spcPts val="0"/>
              </a:spcBef>
              <a:spcAft>
                <a:spcPts val="0"/>
              </a:spcAft>
              <a:buClr>
                <a:schemeClr val="dk1"/>
              </a:buClr>
              <a:buSzPts val="1650"/>
              <a:buFont typeface="Arial"/>
              <a:buChar char="•"/>
            </a:pPr>
            <a:r>
              <a:rPr lang="en-US" sz="1650">
                <a:solidFill>
                  <a:schemeClr val="dk1"/>
                </a:solidFill>
                <a:latin typeface="Times New Roman"/>
                <a:ea typeface="Times New Roman"/>
                <a:cs typeface="Times New Roman"/>
                <a:sym typeface="Times New Roman"/>
              </a:rPr>
              <a:t>HMM uses 2 layers of states:</a:t>
            </a:r>
            <a:endParaRPr sz="1650">
              <a:solidFill>
                <a:schemeClr val="dk1"/>
              </a:solidFill>
              <a:latin typeface="Times New Roman"/>
              <a:ea typeface="Times New Roman"/>
              <a:cs typeface="Times New Roman"/>
              <a:sym typeface="Times New Roman"/>
            </a:endParaRPr>
          </a:p>
          <a:p>
            <a:pPr marL="421005" marR="0" lvl="0" indent="-408940" algn="l" rtl="0">
              <a:lnSpc>
                <a:spcPct val="100000"/>
              </a:lnSpc>
              <a:spcBef>
                <a:spcPts val="1145"/>
              </a:spcBef>
              <a:spcAft>
                <a:spcPts val="0"/>
              </a:spcAft>
              <a:buClr>
                <a:schemeClr val="dk1"/>
              </a:buClr>
              <a:buSzPts val="1650"/>
              <a:buFont typeface="Calibri"/>
              <a:buAutoNum type="arabicParenR"/>
            </a:pPr>
            <a:r>
              <a:rPr lang="en-US" sz="1650">
                <a:solidFill>
                  <a:schemeClr val="dk1"/>
                </a:solidFill>
                <a:latin typeface="Times New Roman"/>
                <a:ea typeface="Times New Roman"/>
                <a:cs typeface="Times New Roman"/>
                <a:sym typeface="Times New Roman"/>
              </a:rPr>
              <a:t>Visual layer corresponds to the input words</a:t>
            </a:r>
            <a:endParaRPr sz="1650">
              <a:solidFill>
                <a:schemeClr val="dk1"/>
              </a:solidFill>
              <a:latin typeface="Times New Roman"/>
              <a:ea typeface="Times New Roman"/>
              <a:cs typeface="Times New Roman"/>
              <a:sym typeface="Times New Roman"/>
            </a:endParaRPr>
          </a:p>
          <a:p>
            <a:pPr marL="421005" marR="0" lvl="0" indent="-408940" algn="l" rtl="0">
              <a:lnSpc>
                <a:spcPct val="100000"/>
              </a:lnSpc>
              <a:spcBef>
                <a:spcPts val="1095"/>
              </a:spcBef>
              <a:spcAft>
                <a:spcPts val="0"/>
              </a:spcAft>
              <a:buClr>
                <a:schemeClr val="dk1"/>
              </a:buClr>
              <a:buSzPts val="1650"/>
              <a:buFont typeface="Calibri"/>
              <a:buAutoNum type="arabicParenR"/>
            </a:pPr>
            <a:r>
              <a:rPr lang="en-US" sz="1650">
                <a:solidFill>
                  <a:schemeClr val="dk1"/>
                </a:solidFill>
                <a:latin typeface="Times New Roman"/>
                <a:ea typeface="Times New Roman"/>
                <a:cs typeface="Times New Roman"/>
                <a:sym typeface="Times New Roman"/>
              </a:rPr>
              <a:t>Hidden layer learnt by the s/m corresponding to the tags</a:t>
            </a:r>
            <a:endParaRPr sz="1650">
              <a:solidFill>
                <a:schemeClr val="dk1"/>
              </a:solidFill>
              <a:latin typeface="Times New Roman"/>
              <a:ea typeface="Times New Roman"/>
              <a:cs typeface="Times New Roman"/>
              <a:sym typeface="Times New Roman"/>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showMasterSp="0">
  <p:cSld>
    <p:spTree>
      <p:nvGrpSpPr>
        <p:cNvPr id="1" name="Shape 624"/>
        <p:cNvGrpSpPr/>
        <p:nvPr/>
      </p:nvGrpSpPr>
      <p:grpSpPr>
        <a:xfrm>
          <a:off x="0" y="0"/>
          <a:ext cx="0" cy="0"/>
          <a:chOff x="0" y="0"/>
          <a:chExt cx="0" cy="0"/>
        </a:xfrm>
      </p:grpSpPr>
      <p:sp>
        <p:nvSpPr>
          <p:cNvPr id="625" name="Google Shape;625;p54"/>
          <p:cNvSpPr txBox="1">
            <a:spLocks noGrp="1"/>
          </p:cNvSpPr>
          <p:nvPr>
            <p:ph type="title"/>
          </p:nvPr>
        </p:nvSpPr>
        <p:spPr>
          <a:xfrm>
            <a:off x="911225" y="351858"/>
            <a:ext cx="4867275" cy="629285"/>
          </a:xfrm>
          <a:prstGeom prst="rect">
            <a:avLst/>
          </a:prstGeom>
          <a:noFill/>
          <a:ln>
            <a:noFill/>
          </a:ln>
        </p:spPr>
        <p:txBody>
          <a:bodyPr spcFirstLastPara="1" wrap="square" lIns="0" tIns="13950" rIns="0" bIns="0" anchor="t" anchorCtr="0">
            <a:spAutoFit/>
          </a:bodyPr>
          <a:lstStyle/>
          <a:p>
            <a:pPr marL="12700" lvl="0" indent="0" algn="l" rtl="0">
              <a:lnSpc>
                <a:spcPct val="100000"/>
              </a:lnSpc>
              <a:spcBef>
                <a:spcPts val="0"/>
              </a:spcBef>
              <a:spcAft>
                <a:spcPts val="0"/>
              </a:spcAft>
              <a:buNone/>
            </a:pPr>
            <a:r>
              <a:rPr lang="en-US"/>
              <a:t>Parts of Speech Tagging</a:t>
            </a:r>
            <a:endParaRPr/>
          </a:p>
        </p:txBody>
      </p:sp>
      <p:sp>
        <p:nvSpPr>
          <p:cNvPr id="626" name="Google Shape;626;p54"/>
          <p:cNvSpPr txBox="1"/>
          <p:nvPr/>
        </p:nvSpPr>
        <p:spPr>
          <a:xfrm>
            <a:off x="822325" y="830119"/>
            <a:ext cx="10348595" cy="4946650"/>
          </a:xfrm>
          <a:prstGeom prst="rect">
            <a:avLst/>
          </a:prstGeom>
          <a:noFill/>
          <a:ln>
            <a:noFill/>
          </a:ln>
        </p:spPr>
        <p:txBody>
          <a:bodyPr spcFirstLastPara="1" wrap="square" lIns="0" tIns="12050" rIns="0" bIns="0" anchor="t" anchorCtr="0">
            <a:spAutoFit/>
          </a:bodyPr>
          <a:lstStyle/>
          <a:p>
            <a:pPr marL="101600" marR="1863725" lvl="0" indent="0" algn="l" rtl="0">
              <a:lnSpc>
                <a:spcPct val="142700"/>
              </a:lnSpc>
              <a:spcBef>
                <a:spcPts val="0"/>
              </a:spcBef>
              <a:spcAft>
                <a:spcPts val="0"/>
              </a:spcAft>
              <a:buNone/>
            </a:pPr>
            <a:r>
              <a:rPr lang="en-US" sz="1650">
                <a:solidFill>
                  <a:schemeClr val="dk1"/>
                </a:solidFill>
                <a:latin typeface="Times New Roman"/>
                <a:ea typeface="Times New Roman"/>
                <a:cs typeface="Times New Roman"/>
                <a:sym typeface="Times New Roman"/>
              </a:rPr>
              <a:t>Given a sequence of words, the objective is to find the most probable tag sequence for the sentence  Let w be the sequence of words.</a:t>
            </a:r>
            <a:endParaRPr sz="1650">
              <a:solidFill>
                <a:schemeClr val="dk1"/>
              </a:solidFill>
              <a:latin typeface="Times New Roman"/>
              <a:ea typeface="Times New Roman"/>
              <a:cs typeface="Times New Roman"/>
              <a:sym typeface="Times New Roman"/>
            </a:endParaRPr>
          </a:p>
          <a:p>
            <a:pPr marL="0" marR="0" lvl="0" indent="0" algn="l" rtl="0">
              <a:lnSpc>
                <a:spcPct val="100000"/>
              </a:lnSpc>
              <a:spcBef>
                <a:spcPts val="45"/>
              </a:spcBef>
              <a:spcAft>
                <a:spcPts val="0"/>
              </a:spcAft>
              <a:buNone/>
            </a:pPr>
            <a:endParaRPr sz="1650">
              <a:solidFill>
                <a:schemeClr val="dk1"/>
              </a:solidFill>
              <a:latin typeface="Times New Roman"/>
              <a:ea typeface="Times New Roman"/>
              <a:cs typeface="Times New Roman"/>
              <a:sym typeface="Times New Roman"/>
            </a:endParaRPr>
          </a:p>
          <a:p>
            <a:pPr marL="558800" marR="0" lvl="0" indent="0" algn="l" rtl="0">
              <a:lnSpc>
                <a:spcPct val="100000"/>
              </a:lnSpc>
              <a:spcBef>
                <a:spcPts val="0"/>
              </a:spcBef>
              <a:spcAft>
                <a:spcPts val="0"/>
              </a:spcAft>
              <a:buNone/>
            </a:pPr>
            <a:r>
              <a:rPr lang="en-US" sz="1650">
                <a:solidFill>
                  <a:schemeClr val="dk1"/>
                </a:solidFill>
                <a:latin typeface="Times New Roman"/>
                <a:ea typeface="Times New Roman"/>
                <a:cs typeface="Times New Roman"/>
                <a:sym typeface="Times New Roman"/>
              </a:rPr>
              <a:t>W=w</a:t>
            </a:r>
            <a:r>
              <a:rPr lang="en-US" sz="1650" baseline="-25000">
                <a:solidFill>
                  <a:schemeClr val="dk1"/>
                </a:solidFill>
                <a:latin typeface="Times New Roman"/>
                <a:ea typeface="Times New Roman"/>
                <a:cs typeface="Times New Roman"/>
                <a:sym typeface="Times New Roman"/>
              </a:rPr>
              <a:t>1,</a:t>
            </a:r>
            <a:r>
              <a:rPr lang="en-US" sz="1650">
                <a:solidFill>
                  <a:schemeClr val="dk1"/>
                </a:solidFill>
                <a:latin typeface="Times New Roman"/>
                <a:ea typeface="Times New Roman"/>
                <a:cs typeface="Times New Roman"/>
                <a:sym typeface="Times New Roman"/>
              </a:rPr>
              <a:t>w</a:t>
            </a:r>
            <a:r>
              <a:rPr lang="en-US" sz="1650" baseline="-25000">
                <a:solidFill>
                  <a:schemeClr val="dk1"/>
                </a:solidFill>
                <a:latin typeface="Times New Roman"/>
                <a:ea typeface="Times New Roman"/>
                <a:cs typeface="Times New Roman"/>
                <a:sym typeface="Times New Roman"/>
              </a:rPr>
              <a:t>2,</a:t>
            </a:r>
            <a:r>
              <a:rPr lang="en-US" sz="1650">
                <a:solidFill>
                  <a:schemeClr val="dk1"/>
                </a:solidFill>
                <a:latin typeface="Times New Roman"/>
                <a:ea typeface="Times New Roman"/>
                <a:cs typeface="Times New Roman"/>
                <a:sym typeface="Times New Roman"/>
              </a:rPr>
              <a:t>w</a:t>
            </a:r>
            <a:r>
              <a:rPr lang="en-US" sz="1650" baseline="-25000">
                <a:solidFill>
                  <a:schemeClr val="dk1"/>
                </a:solidFill>
                <a:latin typeface="Times New Roman"/>
                <a:ea typeface="Times New Roman"/>
                <a:cs typeface="Times New Roman"/>
                <a:sym typeface="Times New Roman"/>
              </a:rPr>
              <a:t>3,</a:t>
            </a:r>
            <a:r>
              <a:rPr lang="en-US" sz="1650">
                <a:solidFill>
                  <a:schemeClr val="dk1"/>
                </a:solidFill>
                <a:latin typeface="Times New Roman"/>
                <a:ea typeface="Times New Roman"/>
                <a:cs typeface="Times New Roman"/>
                <a:sym typeface="Times New Roman"/>
              </a:rPr>
              <a:t>,,,,,w</a:t>
            </a:r>
            <a:r>
              <a:rPr lang="en-US" sz="1650" baseline="-25000">
                <a:solidFill>
                  <a:schemeClr val="dk1"/>
                </a:solidFill>
                <a:latin typeface="Times New Roman"/>
                <a:ea typeface="Times New Roman"/>
                <a:cs typeface="Times New Roman"/>
                <a:sym typeface="Times New Roman"/>
              </a:rPr>
              <a:t>n</a:t>
            </a:r>
            <a:endParaRPr sz="1650" baseline="-25000">
              <a:solidFill>
                <a:schemeClr val="dk1"/>
              </a:solidFill>
              <a:latin typeface="Times New Roman"/>
              <a:ea typeface="Times New Roman"/>
              <a:cs typeface="Times New Roman"/>
              <a:sym typeface="Times New Roman"/>
            </a:endParaRPr>
          </a:p>
          <a:p>
            <a:pPr marL="558800" marR="0" lvl="0" indent="0" algn="l" rtl="0">
              <a:lnSpc>
                <a:spcPct val="100000"/>
              </a:lnSpc>
              <a:spcBef>
                <a:spcPts val="1920"/>
              </a:spcBef>
              <a:spcAft>
                <a:spcPts val="0"/>
              </a:spcAft>
              <a:buNone/>
            </a:pPr>
            <a:r>
              <a:rPr lang="en-US" sz="1650">
                <a:solidFill>
                  <a:schemeClr val="dk1"/>
                </a:solidFill>
                <a:latin typeface="Times New Roman"/>
                <a:ea typeface="Times New Roman"/>
                <a:cs typeface="Times New Roman"/>
                <a:sym typeface="Times New Roman"/>
              </a:rPr>
              <a:t>The task is to find the tag sequence</a:t>
            </a:r>
            <a:endParaRPr sz="1650">
              <a:solidFill>
                <a:schemeClr val="dk1"/>
              </a:solidFill>
              <a:latin typeface="Times New Roman"/>
              <a:ea typeface="Times New Roman"/>
              <a:cs typeface="Times New Roman"/>
              <a:sym typeface="Times New Roman"/>
            </a:endParaRPr>
          </a:p>
          <a:p>
            <a:pPr marL="0" marR="0" lvl="0" indent="0" algn="l" rtl="0">
              <a:lnSpc>
                <a:spcPct val="100000"/>
              </a:lnSpc>
              <a:spcBef>
                <a:spcPts val="15"/>
              </a:spcBef>
              <a:spcAft>
                <a:spcPts val="0"/>
              </a:spcAft>
              <a:buNone/>
            </a:pPr>
            <a:endParaRPr sz="2200">
              <a:solidFill>
                <a:schemeClr val="dk1"/>
              </a:solidFill>
              <a:latin typeface="Times New Roman"/>
              <a:ea typeface="Times New Roman"/>
              <a:cs typeface="Times New Roman"/>
              <a:sym typeface="Times New Roman"/>
            </a:endParaRPr>
          </a:p>
          <a:p>
            <a:pPr marL="558800" marR="0" lvl="0" indent="0" algn="l" rtl="0">
              <a:lnSpc>
                <a:spcPct val="100000"/>
              </a:lnSpc>
              <a:spcBef>
                <a:spcPts val="0"/>
              </a:spcBef>
              <a:spcAft>
                <a:spcPts val="0"/>
              </a:spcAft>
              <a:buNone/>
            </a:pPr>
            <a:r>
              <a:rPr lang="en-US" sz="2475" baseline="30000">
                <a:solidFill>
                  <a:schemeClr val="dk1"/>
                </a:solidFill>
                <a:latin typeface="Times New Roman"/>
                <a:ea typeface="Times New Roman"/>
                <a:cs typeface="Times New Roman"/>
                <a:sym typeface="Times New Roman"/>
              </a:rPr>
              <a:t>T=t</a:t>
            </a:r>
            <a:r>
              <a:rPr lang="en-US" sz="1100">
                <a:solidFill>
                  <a:schemeClr val="dk1"/>
                </a:solidFill>
                <a:latin typeface="Times New Roman"/>
                <a:ea typeface="Times New Roman"/>
                <a:cs typeface="Times New Roman"/>
                <a:sym typeface="Times New Roman"/>
              </a:rPr>
              <a:t>1,</a:t>
            </a:r>
            <a:r>
              <a:rPr lang="en-US" sz="2475" baseline="30000">
                <a:solidFill>
                  <a:schemeClr val="dk1"/>
                </a:solidFill>
                <a:latin typeface="Times New Roman"/>
                <a:ea typeface="Times New Roman"/>
                <a:cs typeface="Times New Roman"/>
                <a:sym typeface="Times New Roman"/>
              </a:rPr>
              <a:t>t</a:t>
            </a:r>
            <a:r>
              <a:rPr lang="en-US" sz="1100">
                <a:solidFill>
                  <a:schemeClr val="dk1"/>
                </a:solidFill>
                <a:latin typeface="Times New Roman"/>
                <a:ea typeface="Times New Roman"/>
                <a:cs typeface="Times New Roman"/>
                <a:sym typeface="Times New Roman"/>
              </a:rPr>
              <a:t>2,</a:t>
            </a:r>
            <a:r>
              <a:rPr lang="en-US" sz="2475" baseline="30000">
                <a:solidFill>
                  <a:schemeClr val="dk1"/>
                </a:solidFill>
                <a:latin typeface="Times New Roman"/>
                <a:ea typeface="Times New Roman"/>
                <a:cs typeface="Times New Roman"/>
                <a:sym typeface="Times New Roman"/>
              </a:rPr>
              <a:t>t</a:t>
            </a:r>
            <a:r>
              <a:rPr lang="en-US" sz="1100">
                <a:solidFill>
                  <a:schemeClr val="dk1"/>
                </a:solidFill>
                <a:latin typeface="Times New Roman"/>
                <a:ea typeface="Times New Roman"/>
                <a:cs typeface="Times New Roman"/>
                <a:sym typeface="Times New Roman"/>
              </a:rPr>
              <a:t>3,,,,,,</a:t>
            </a:r>
            <a:r>
              <a:rPr lang="en-US" sz="2475" baseline="30000">
                <a:solidFill>
                  <a:schemeClr val="dk1"/>
                </a:solidFill>
                <a:latin typeface="Times New Roman"/>
                <a:ea typeface="Times New Roman"/>
                <a:cs typeface="Times New Roman"/>
                <a:sym typeface="Times New Roman"/>
              </a:rPr>
              <a:t>t</a:t>
            </a:r>
            <a:r>
              <a:rPr lang="en-US" sz="1100">
                <a:solidFill>
                  <a:schemeClr val="dk1"/>
                </a:solidFill>
                <a:latin typeface="Times New Roman"/>
                <a:ea typeface="Times New Roman"/>
                <a:cs typeface="Times New Roman"/>
                <a:sym typeface="Times New Roman"/>
              </a:rPr>
              <a:t>n</a:t>
            </a:r>
            <a:endParaRPr sz="1100">
              <a:solidFill>
                <a:schemeClr val="dk1"/>
              </a:solidFill>
              <a:latin typeface="Times New Roman"/>
              <a:ea typeface="Times New Roman"/>
              <a:cs typeface="Times New Roman"/>
              <a:sym typeface="Times New Roman"/>
            </a:endParaRPr>
          </a:p>
          <a:p>
            <a:pPr marL="101600" marR="0" lvl="0" indent="0" algn="l" rtl="0">
              <a:lnSpc>
                <a:spcPct val="100000"/>
              </a:lnSpc>
              <a:spcBef>
                <a:spcPts val="1300"/>
              </a:spcBef>
              <a:spcAft>
                <a:spcPts val="0"/>
              </a:spcAft>
              <a:buNone/>
            </a:pPr>
            <a:r>
              <a:rPr lang="en-US" sz="1650">
                <a:solidFill>
                  <a:schemeClr val="dk1"/>
                </a:solidFill>
                <a:latin typeface="Times New Roman"/>
                <a:ea typeface="Times New Roman"/>
                <a:cs typeface="Times New Roman"/>
                <a:sym typeface="Times New Roman"/>
              </a:rPr>
              <a:t>Which maximizes P(T/W) i.e,,</a:t>
            </a:r>
            <a:endParaRPr sz="1650">
              <a:solidFill>
                <a:schemeClr val="dk1"/>
              </a:solidFill>
              <a:latin typeface="Times New Roman"/>
              <a:ea typeface="Times New Roman"/>
              <a:cs typeface="Times New Roman"/>
              <a:sym typeface="Times New Roman"/>
            </a:endParaRPr>
          </a:p>
          <a:p>
            <a:pPr marL="0" marR="0" lvl="0" indent="0" algn="l" rtl="0">
              <a:lnSpc>
                <a:spcPct val="100000"/>
              </a:lnSpc>
              <a:spcBef>
                <a:spcPts val="20"/>
              </a:spcBef>
              <a:spcAft>
                <a:spcPts val="0"/>
              </a:spcAft>
              <a:buNone/>
            </a:pPr>
            <a:endParaRPr sz="1650">
              <a:solidFill>
                <a:schemeClr val="dk1"/>
              </a:solidFill>
              <a:latin typeface="Times New Roman"/>
              <a:ea typeface="Times New Roman"/>
              <a:cs typeface="Times New Roman"/>
              <a:sym typeface="Times New Roman"/>
            </a:endParaRPr>
          </a:p>
          <a:p>
            <a:pPr marL="558800" marR="0" lvl="0" indent="0" algn="l" rtl="0">
              <a:lnSpc>
                <a:spcPct val="100000"/>
              </a:lnSpc>
              <a:spcBef>
                <a:spcPts val="0"/>
              </a:spcBef>
              <a:spcAft>
                <a:spcPts val="0"/>
              </a:spcAft>
              <a:buNone/>
            </a:pPr>
            <a:r>
              <a:rPr lang="en-US" sz="1650">
                <a:solidFill>
                  <a:schemeClr val="dk1"/>
                </a:solidFill>
                <a:latin typeface="Times New Roman"/>
                <a:ea typeface="Times New Roman"/>
                <a:cs typeface="Times New Roman"/>
                <a:sym typeface="Times New Roman"/>
              </a:rPr>
              <a:t>Applying Bayes Rule, P(T/W) can be the estimated using the expression:</a:t>
            </a:r>
            <a:endParaRPr sz="1650">
              <a:solidFill>
                <a:schemeClr val="dk1"/>
              </a:solidFill>
              <a:latin typeface="Times New Roman"/>
              <a:ea typeface="Times New Roman"/>
              <a:cs typeface="Times New Roman"/>
              <a:sym typeface="Times New Roman"/>
            </a:endParaRPr>
          </a:p>
          <a:p>
            <a:pPr marL="0" marR="0" lvl="0" indent="0" algn="l" rtl="0">
              <a:lnSpc>
                <a:spcPct val="100000"/>
              </a:lnSpc>
              <a:spcBef>
                <a:spcPts val="20"/>
              </a:spcBef>
              <a:spcAft>
                <a:spcPts val="0"/>
              </a:spcAft>
              <a:buNone/>
            </a:pPr>
            <a:endParaRPr sz="1650">
              <a:solidFill>
                <a:schemeClr val="dk1"/>
              </a:solidFill>
              <a:latin typeface="Times New Roman"/>
              <a:ea typeface="Times New Roman"/>
              <a:cs typeface="Times New Roman"/>
              <a:sym typeface="Times New Roman"/>
            </a:endParaRPr>
          </a:p>
          <a:p>
            <a:pPr marL="558800" marR="0" lvl="0" indent="0" algn="l" rtl="0">
              <a:lnSpc>
                <a:spcPct val="100000"/>
              </a:lnSpc>
              <a:spcBef>
                <a:spcPts val="5"/>
              </a:spcBef>
              <a:spcAft>
                <a:spcPts val="0"/>
              </a:spcAft>
              <a:buNone/>
            </a:pPr>
            <a:r>
              <a:rPr lang="en-US" sz="1650">
                <a:solidFill>
                  <a:schemeClr val="dk1"/>
                </a:solidFill>
                <a:latin typeface="Times New Roman"/>
                <a:ea typeface="Times New Roman"/>
                <a:cs typeface="Times New Roman"/>
                <a:sym typeface="Times New Roman"/>
              </a:rPr>
              <a:t>P(T/W)= P(W/T) *P(T)/P(W)</a:t>
            </a:r>
            <a:endParaRPr sz="1650">
              <a:solidFill>
                <a:schemeClr val="dk1"/>
              </a:solidFill>
              <a:latin typeface="Times New Roman"/>
              <a:ea typeface="Times New Roman"/>
              <a:cs typeface="Times New Roman"/>
              <a:sym typeface="Times New Roman"/>
            </a:endParaRPr>
          </a:p>
          <a:p>
            <a:pPr marL="0" marR="0" lvl="0" indent="0" algn="l" rtl="0">
              <a:lnSpc>
                <a:spcPct val="100000"/>
              </a:lnSpc>
              <a:spcBef>
                <a:spcPts val="35"/>
              </a:spcBef>
              <a:spcAft>
                <a:spcPts val="0"/>
              </a:spcAft>
              <a:buNone/>
            </a:pPr>
            <a:endParaRPr sz="1750">
              <a:solidFill>
                <a:schemeClr val="dk1"/>
              </a:solidFill>
              <a:latin typeface="Times New Roman"/>
              <a:ea typeface="Times New Roman"/>
              <a:cs typeface="Times New Roman"/>
              <a:sym typeface="Times New Roman"/>
            </a:endParaRPr>
          </a:p>
          <a:p>
            <a:pPr marL="101600" marR="30480" lvl="0" indent="0" algn="l" rtl="0">
              <a:lnSpc>
                <a:spcPct val="115151"/>
              </a:lnSpc>
              <a:spcBef>
                <a:spcPts val="0"/>
              </a:spcBef>
              <a:spcAft>
                <a:spcPts val="0"/>
              </a:spcAft>
              <a:buNone/>
            </a:pPr>
            <a:r>
              <a:rPr lang="en-US" sz="1650">
                <a:solidFill>
                  <a:schemeClr val="dk1"/>
                </a:solidFill>
                <a:latin typeface="Times New Roman"/>
                <a:ea typeface="Times New Roman"/>
                <a:cs typeface="Times New Roman"/>
                <a:sym typeface="Times New Roman"/>
              </a:rPr>
              <a:t>The probability of applying for the word sequence, P(W) remains the same for each tag sequence, we can drop it. So, the  expression:</a:t>
            </a:r>
            <a:endParaRPr sz="1650">
              <a:solidFill>
                <a:schemeClr val="dk1"/>
              </a:solidFill>
              <a:latin typeface="Times New Roman"/>
              <a:ea typeface="Times New Roman"/>
              <a:cs typeface="Times New Roman"/>
              <a:sym typeface="Times New Roman"/>
            </a:endParaRPr>
          </a:p>
          <a:p>
            <a:pPr marL="0" marR="0" lvl="0" indent="0" algn="l" rtl="0">
              <a:lnSpc>
                <a:spcPct val="100000"/>
              </a:lnSpc>
              <a:spcBef>
                <a:spcPts val="5"/>
              </a:spcBef>
              <a:spcAft>
                <a:spcPts val="0"/>
              </a:spcAft>
              <a:buNone/>
            </a:pPr>
            <a:endParaRPr sz="1600">
              <a:solidFill>
                <a:schemeClr val="dk1"/>
              </a:solidFill>
              <a:latin typeface="Times New Roman"/>
              <a:ea typeface="Times New Roman"/>
              <a:cs typeface="Times New Roman"/>
              <a:sym typeface="Times New Roman"/>
            </a:endParaRPr>
          </a:p>
          <a:p>
            <a:pPr marL="787400" marR="0" lvl="0" indent="0" algn="l" rtl="0">
              <a:lnSpc>
                <a:spcPct val="100000"/>
              </a:lnSpc>
              <a:spcBef>
                <a:spcPts val="0"/>
              </a:spcBef>
              <a:spcAft>
                <a:spcPts val="0"/>
              </a:spcAft>
              <a:buNone/>
            </a:pPr>
            <a:r>
              <a:rPr lang="en-US" sz="1650">
                <a:solidFill>
                  <a:schemeClr val="dk1"/>
                </a:solidFill>
                <a:latin typeface="Times New Roman"/>
                <a:ea typeface="Times New Roman"/>
                <a:cs typeface="Times New Roman"/>
                <a:sym typeface="Times New Roman"/>
              </a:rPr>
              <a:t>T’= argmax</a:t>
            </a:r>
            <a:r>
              <a:rPr lang="en-US" sz="1650" baseline="-25000">
                <a:solidFill>
                  <a:schemeClr val="dk1"/>
                </a:solidFill>
                <a:latin typeface="Times New Roman"/>
                <a:ea typeface="Times New Roman"/>
                <a:cs typeface="Times New Roman"/>
                <a:sym typeface="Times New Roman"/>
              </a:rPr>
              <a:t>T </a:t>
            </a:r>
            <a:r>
              <a:rPr lang="en-US" sz="1650">
                <a:solidFill>
                  <a:schemeClr val="dk1"/>
                </a:solidFill>
                <a:latin typeface="Times New Roman"/>
                <a:ea typeface="Times New Roman"/>
                <a:cs typeface="Times New Roman"/>
                <a:sym typeface="Times New Roman"/>
              </a:rPr>
              <a:t>P(W/T) * P(T)</a:t>
            </a:r>
            <a:endParaRPr sz="1650">
              <a:solidFill>
                <a:schemeClr val="dk1"/>
              </a:solidFill>
              <a:latin typeface="Times New Roman"/>
              <a:ea typeface="Times New Roman"/>
              <a:cs typeface="Times New Roman"/>
              <a:sym typeface="Times New Roman"/>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showMasterSp="0">
  <p:cSld>
    <p:spTree>
      <p:nvGrpSpPr>
        <p:cNvPr id="1" name="Shape 630"/>
        <p:cNvGrpSpPr/>
        <p:nvPr/>
      </p:nvGrpSpPr>
      <p:grpSpPr>
        <a:xfrm>
          <a:off x="0" y="0"/>
          <a:ext cx="0" cy="0"/>
          <a:chOff x="0" y="0"/>
          <a:chExt cx="0" cy="0"/>
        </a:xfrm>
      </p:grpSpPr>
      <p:sp>
        <p:nvSpPr>
          <p:cNvPr id="631" name="Google Shape;631;p55"/>
          <p:cNvSpPr txBox="1">
            <a:spLocks noGrp="1"/>
          </p:cNvSpPr>
          <p:nvPr>
            <p:ph type="title"/>
          </p:nvPr>
        </p:nvSpPr>
        <p:spPr>
          <a:xfrm>
            <a:off x="911225" y="324919"/>
            <a:ext cx="5405120" cy="69596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4400"/>
              <a:t>Parts of Speech Tagging</a:t>
            </a:r>
            <a:endParaRPr sz="4400"/>
          </a:p>
        </p:txBody>
      </p:sp>
      <p:sp>
        <p:nvSpPr>
          <p:cNvPr id="632" name="Google Shape;632;p55"/>
          <p:cNvSpPr txBox="1"/>
          <p:nvPr/>
        </p:nvSpPr>
        <p:spPr>
          <a:xfrm>
            <a:off x="847725" y="1070482"/>
            <a:ext cx="10407650" cy="4573270"/>
          </a:xfrm>
          <a:prstGeom prst="rect">
            <a:avLst/>
          </a:prstGeom>
          <a:noFill/>
          <a:ln>
            <a:noFill/>
          </a:ln>
        </p:spPr>
        <p:txBody>
          <a:bodyPr spcFirstLastPara="1" wrap="square" lIns="0" tIns="31100" rIns="0" bIns="0" anchor="t" anchorCtr="0">
            <a:spAutoFit/>
          </a:bodyPr>
          <a:lstStyle/>
          <a:p>
            <a:pPr marL="76200" marR="68580" lvl="0" indent="0" algn="l" rtl="0">
              <a:lnSpc>
                <a:spcPct val="115333"/>
              </a:lnSpc>
              <a:spcBef>
                <a:spcPts val="0"/>
              </a:spcBef>
              <a:spcAft>
                <a:spcPts val="0"/>
              </a:spcAft>
              <a:buNone/>
            </a:pPr>
            <a:r>
              <a:rPr lang="en-US" sz="1500">
                <a:solidFill>
                  <a:schemeClr val="dk1"/>
                </a:solidFill>
                <a:latin typeface="Times New Roman"/>
                <a:ea typeface="Times New Roman"/>
                <a:cs typeface="Times New Roman"/>
                <a:sym typeface="Times New Roman"/>
              </a:rPr>
              <a:t>Using the Markov assumptions, the probability of a tag sequence can be estimated as the product of the probability of its constituent  n-grams, i.e,,</a:t>
            </a:r>
            <a:endParaRPr sz="1500">
              <a:solidFill>
                <a:schemeClr val="dk1"/>
              </a:solidFill>
              <a:latin typeface="Times New Roman"/>
              <a:ea typeface="Times New Roman"/>
              <a:cs typeface="Times New Roman"/>
              <a:sym typeface="Times New Roman"/>
            </a:endParaRPr>
          </a:p>
          <a:p>
            <a:pPr marL="1219200" marR="0" lvl="0" indent="0" algn="l" rtl="0">
              <a:lnSpc>
                <a:spcPct val="100000"/>
              </a:lnSpc>
              <a:spcBef>
                <a:spcPts val="875"/>
              </a:spcBef>
              <a:spcAft>
                <a:spcPts val="0"/>
              </a:spcAft>
              <a:buNone/>
            </a:pPr>
            <a:r>
              <a:rPr lang="en-US" sz="1500">
                <a:solidFill>
                  <a:schemeClr val="dk1"/>
                </a:solidFill>
                <a:latin typeface="Times New Roman"/>
                <a:ea typeface="Times New Roman"/>
                <a:cs typeface="Times New Roman"/>
                <a:sym typeface="Times New Roman"/>
              </a:rPr>
              <a:t>P(T)=P(t</a:t>
            </a:r>
            <a:r>
              <a:rPr lang="en-US" sz="1500" baseline="-25000">
                <a:solidFill>
                  <a:schemeClr val="dk1"/>
                </a:solidFill>
                <a:latin typeface="Times New Roman"/>
                <a:ea typeface="Times New Roman"/>
                <a:cs typeface="Times New Roman"/>
                <a:sym typeface="Times New Roman"/>
              </a:rPr>
              <a:t>1</a:t>
            </a:r>
            <a:r>
              <a:rPr lang="en-US" sz="1500">
                <a:solidFill>
                  <a:schemeClr val="dk1"/>
                </a:solidFill>
                <a:latin typeface="Times New Roman"/>
                <a:ea typeface="Times New Roman"/>
                <a:cs typeface="Times New Roman"/>
                <a:sym typeface="Times New Roman"/>
              </a:rPr>
              <a:t>)*P(t</a:t>
            </a:r>
            <a:r>
              <a:rPr lang="en-US" sz="1500" baseline="-25000">
                <a:solidFill>
                  <a:schemeClr val="dk1"/>
                </a:solidFill>
                <a:latin typeface="Times New Roman"/>
                <a:ea typeface="Times New Roman"/>
                <a:cs typeface="Times New Roman"/>
                <a:sym typeface="Times New Roman"/>
              </a:rPr>
              <a:t>2</a:t>
            </a:r>
            <a:r>
              <a:rPr lang="en-US" sz="1500">
                <a:solidFill>
                  <a:schemeClr val="dk1"/>
                </a:solidFill>
                <a:latin typeface="Times New Roman"/>
                <a:ea typeface="Times New Roman"/>
                <a:cs typeface="Times New Roman"/>
                <a:sym typeface="Times New Roman"/>
              </a:rPr>
              <a:t>/t</a:t>
            </a:r>
            <a:r>
              <a:rPr lang="en-US" sz="1500" baseline="-25000">
                <a:solidFill>
                  <a:schemeClr val="dk1"/>
                </a:solidFill>
                <a:latin typeface="Times New Roman"/>
                <a:ea typeface="Times New Roman"/>
                <a:cs typeface="Times New Roman"/>
                <a:sym typeface="Times New Roman"/>
              </a:rPr>
              <a:t>1</a:t>
            </a:r>
            <a:r>
              <a:rPr lang="en-US" sz="1500">
                <a:solidFill>
                  <a:schemeClr val="dk1"/>
                </a:solidFill>
                <a:latin typeface="Times New Roman"/>
                <a:ea typeface="Times New Roman"/>
                <a:cs typeface="Times New Roman"/>
                <a:sym typeface="Times New Roman"/>
              </a:rPr>
              <a:t>)*P(t</a:t>
            </a:r>
            <a:r>
              <a:rPr lang="en-US" sz="1500" baseline="-25000">
                <a:solidFill>
                  <a:schemeClr val="dk1"/>
                </a:solidFill>
                <a:latin typeface="Times New Roman"/>
                <a:ea typeface="Times New Roman"/>
                <a:cs typeface="Times New Roman"/>
                <a:sym typeface="Times New Roman"/>
              </a:rPr>
              <a:t>3</a:t>
            </a:r>
            <a:r>
              <a:rPr lang="en-US" sz="1500">
                <a:solidFill>
                  <a:schemeClr val="dk1"/>
                </a:solidFill>
                <a:latin typeface="Times New Roman"/>
                <a:ea typeface="Times New Roman"/>
                <a:cs typeface="Times New Roman"/>
                <a:sym typeface="Times New Roman"/>
              </a:rPr>
              <a:t>/t</a:t>
            </a:r>
            <a:r>
              <a:rPr lang="en-US" sz="1500" baseline="-25000">
                <a:solidFill>
                  <a:schemeClr val="dk1"/>
                </a:solidFill>
                <a:latin typeface="Times New Roman"/>
                <a:ea typeface="Times New Roman"/>
                <a:cs typeface="Times New Roman"/>
                <a:sym typeface="Times New Roman"/>
              </a:rPr>
              <a:t>2</a:t>
            </a:r>
            <a:r>
              <a:rPr lang="en-US" sz="1500">
                <a:solidFill>
                  <a:schemeClr val="dk1"/>
                </a:solidFill>
                <a:latin typeface="Times New Roman"/>
                <a:ea typeface="Times New Roman"/>
                <a:cs typeface="Times New Roman"/>
                <a:sym typeface="Times New Roman"/>
              </a:rPr>
              <a:t>t</a:t>
            </a:r>
            <a:r>
              <a:rPr lang="en-US" sz="1500" baseline="-25000">
                <a:solidFill>
                  <a:schemeClr val="dk1"/>
                </a:solidFill>
                <a:latin typeface="Times New Roman"/>
                <a:ea typeface="Times New Roman"/>
                <a:cs typeface="Times New Roman"/>
                <a:sym typeface="Times New Roman"/>
              </a:rPr>
              <a:t>1</a:t>
            </a:r>
            <a:r>
              <a:rPr lang="en-US" sz="1500">
                <a:solidFill>
                  <a:schemeClr val="dk1"/>
                </a:solidFill>
                <a:latin typeface="Times New Roman"/>
                <a:ea typeface="Times New Roman"/>
                <a:cs typeface="Times New Roman"/>
                <a:sym typeface="Times New Roman"/>
              </a:rPr>
              <a:t>)…..*P(t </a:t>
            </a:r>
            <a:r>
              <a:rPr lang="en-US" sz="1500" baseline="-25000">
                <a:solidFill>
                  <a:schemeClr val="dk1"/>
                </a:solidFill>
                <a:latin typeface="Times New Roman"/>
                <a:ea typeface="Times New Roman"/>
                <a:cs typeface="Times New Roman"/>
                <a:sym typeface="Times New Roman"/>
              </a:rPr>
              <a:t>n</a:t>
            </a:r>
            <a:r>
              <a:rPr lang="en-US" sz="1500">
                <a:solidFill>
                  <a:schemeClr val="dk1"/>
                </a:solidFill>
                <a:latin typeface="Times New Roman"/>
                <a:ea typeface="Times New Roman"/>
                <a:cs typeface="Times New Roman"/>
                <a:sym typeface="Times New Roman"/>
              </a:rPr>
              <a:t>/t</a:t>
            </a:r>
            <a:r>
              <a:rPr lang="en-US" sz="1500" baseline="-25000">
                <a:solidFill>
                  <a:schemeClr val="dk1"/>
                </a:solidFill>
                <a:latin typeface="Times New Roman"/>
                <a:ea typeface="Times New Roman"/>
                <a:cs typeface="Times New Roman"/>
                <a:sym typeface="Times New Roman"/>
              </a:rPr>
              <a:t>1</a:t>
            </a:r>
            <a:r>
              <a:rPr lang="en-US" sz="1500">
                <a:solidFill>
                  <a:schemeClr val="dk1"/>
                </a:solidFill>
                <a:latin typeface="Times New Roman"/>
                <a:ea typeface="Times New Roman"/>
                <a:cs typeface="Times New Roman"/>
                <a:sym typeface="Times New Roman"/>
              </a:rPr>
              <a:t>,,,,,t</a:t>
            </a:r>
            <a:r>
              <a:rPr lang="en-US" sz="1500" baseline="-25000">
                <a:solidFill>
                  <a:schemeClr val="dk1"/>
                </a:solidFill>
                <a:latin typeface="Times New Roman"/>
                <a:ea typeface="Times New Roman"/>
                <a:cs typeface="Times New Roman"/>
                <a:sym typeface="Times New Roman"/>
              </a:rPr>
              <a:t>n-1</a:t>
            </a:r>
            <a:r>
              <a:rPr lang="en-US" sz="1500">
                <a:solidFill>
                  <a:schemeClr val="dk1"/>
                </a:solidFill>
                <a:latin typeface="Times New Roman"/>
                <a:ea typeface="Times New Roman"/>
                <a:cs typeface="Times New Roman"/>
                <a:sym typeface="Times New Roman"/>
              </a:rPr>
              <a:t>)</a:t>
            </a:r>
            <a:endParaRPr sz="1500">
              <a:solidFill>
                <a:schemeClr val="dk1"/>
              </a:solidFill>
              <a:latin typeface="Times New Roman"/>
              <a:ea typeface="Times New Roman"/>
              <a:cs typeface="Times New Roman"/>
              <a:sym typeface="Times New Roman"/>
            </a:endParaRPr>
          </a:p>
          <a:p>
            <a:pPr marL="0" marR="0" lvl="0" indent="0" algn="l" rtl="0">
              <a:lnSpc>
                <a:spcPct val="100000"/>
              </a:lnSpc>
              <a:spcBef>
                <a:spcPts val="20"/>
              </a:spcBef>
              <a:spcAft>
                <a:spcPts val="0"/>
              </a:spcAft>
              <a:buNone/>
            </a:pPr>
            <a:endParaRPr sz="1700">
              <a:solidFill>
                <a:schemeClr val="dk1"/>
              </a:solidFill>
              <a:latin typeface="Times New Roman"/>
              <a:ea typeface="Times New Roman"/>
              <a:cs typeface="Times New Roman"/>
              <a:sym typeface="Times New Roman"/>
            </a:endParaRPr>
          </a:p>
          <a:p>
            <a:pPr marL="533400" marR="0" lvl="0" indent="0" algn="l" rtl="0">
              <a:lnSpc>
                <a:spcPct val="100000"/>
              </a:lnSpc>
              <a:spcBef>
                <a:spcPts val="0"/>
              </a:spcBef>
              <a:spcAft>
                <a:spcPts val="0"/>
              </a:spcAft>
              <a:buNone/>
            </a:pPr>
            <a:r>
              <a:rPr lang="en-US" sz="1500">
                <a:solidFill>
                  <a:schemeClr val="dk1"/>
                </a:solidFill>
                <a:latin typeface="Times New Roman"/>
                <a:ea typeface="Times New Roman"/>
                <a:cs typeface="Times New Roman"/>
                <a:sym typeface="Times New Roman"/>
              </a:rPr>
              <a:t>P(W/T) is the probability of seeing a word sequence, given a tag sequence.</a:t>
            </a:r>
            <a:endParaRPr sz="1500">
              <a:solidFill>
                <a:schemeClr val="dk1"/>
              </a:solidFill>
              <a:latin typeface="Times New Roman"/>
              <a:ea typeface="Times New Roman"/>
              <a:cs typeface="Times New Roman"/>
              <a:sym typeface="Times New Roman"/>
            </a:endParaRPr>
          </a:p>
          <a:p>
            <a:pPr marL="76200" marR="111125" lvl="0" indent="457200" algn="l" rtl="0">
              <a:lnSpc>
                <a:spcPct val="208300"/>
              </a:lnSpc>
              <a:spcBef>
                <a:spcPts val="0"/>
              </a:spcBef>
              <a:spcAft>
                <a:spcPts val="0"/>
              </a:spcAft>
              <a:buNone/>
            </a:pPr>
            <a:r>
              <a:rPr lang="en-US" sz="1500">
                <a:solidFill>
                  <a:schemeClr val="dk1"/>
                </a:solidFill>
                <a:latin typeface="Times New Roman"/>
                <a:ea typeface="Times New Roman"/>
                <a:cs typeface="Times New Roman"/>
                <a:sym typeface="Times New Roman"/>
              </a:rPr>
              <a:t>Ex: It’s asking the probability of seeing “ The egg is rotten” given ‘DT NNP VB JJ’ we make the following two assumptions:  The words are independent of each other</a:t>
            </a:r>
            <a:endParaRPr sz="1500">
              <a:solidFill>
                <a:schemeClr val="dk1"/>
              </a:solidFill>
              <a:latin typeface="Times New Roman"/>
              <a:ea typeface="Times New Roman"/>
              <a:cs typeface="Times New Roman"/>
              <a:sym typeface="Times New Roman"/>
            </a:endParaRPr>
          </a:p>
          <a:p>
            <a:pPr marL="76200" marR="0" lvl="0" indent="0" algn="l" rtl="0">
              <a:lnSpc>
                <a:spcPct val="100000"/>
              </a:lnSpc>
              <a:spcBef>
                <a:spcPts val="950"/>
              </a:spcBef>
              <a:spcAft>
                <a:spcPts val="0"/>
              </a:spcAft>
              <a:buNone/>
            </a:pPr>
            <a:r>
              <a:rPr lang="en-US" sz="1500">
                <a:solidFill>
                  <a:schemeClr val="dk1"/>
                </a:solidFill>
                <a:latin typeface="Times New Roman"/>
                <a:ea typeface="Times New Roman"/>
                <a:cs typeface="Times New Roman"/>
                <a:sym typeface="Times New Roman"/>
              </a:rPr>
              <a:t>The probability of a word is dependent only on it’s tag.</a:t>
            </a:r>
            <a:endParaRPr sz="1500">
              <a:solidFill>
                <a:schemeClr val="dk1"/>
              </a:solidFill>
              <a:latin typeface="Times New Roman"/>
              <a:ea typeface="Times New Roman"/>
              <a:cs typeface="Times New Roman"/>
              <a:sym typeface="Times New Roman"/>
            </a:endParaRPr>
          </a:p>
          <a:p>
            <a:pPr marL="76200" marR="6052185" lvl="0" indent="0" algn="l" rtl="0">
              <a:lnSpc>
                <a:spcPct val="208300"/>
              </a:lnSpc>
              <a:spcBef>
                <a:spcPts val="25"/>
              </a:spcBef>
              <a:spcAft>
                <a:spcPts val="0"/>
              </a:spcAft>
              <a:buNone/>
            </a:pPr>
            <a:r>
              <a:rPr lang="en-US" sz="1500">
                <a:solidFill>
                  <a:schemeClr val="dk1"/>
                </a:solidFill>
                <a:latin typeface="Times New Roman"/>
                <a:ea typeface="Times New Roman"/>
                <a:cs typeface="Times New Roman"/>
                <a:sym typeface="Times New Roman"/>
              </a:rPr>
              <a:t>Using the assumptions, we obtain  P(W/T)=P(w</a:t>
            </a:r>
            <a:r>
              <a:rPr lang="en-US" sz="1500" baseline="-25000">
                <a:solidFill>
                  <a:schemeClr val="dk1"/>
                </a:solidFill>
                <a:latin typeface="Times New Roman"/>
                <a:ea typeface="Times New Roman"/>
                <a:cs typeface="Times New Roman"/>
                <a:sym typeface="Times New Roman"/>
              </a:rPr>
              <a:t>1</a:t>
            </a:r>
            <a:r>
              <a:rPr lang="en-US" sz="1500">
                <a:solidFill>
                  <a:schemeClr val="dk1"/>
                </a:solidFill>
                <a:latin typeface="Times New Roman"/>
                <a:ea typeface="Times New Roman"/>
                <a:cs typeface="Times New Roman"/>
                <a:sym typeface="Times New Roman"/>
              </a:rPr>
              <a:t>/t</a:t>
            </a:r>
            <a:r>
              <a:rPr lang="en-US" sz="1500" baseline="-25000">
                <a:solidFill>
                  <a:schemeClr val="dk1"/>
                </a:solidFill>
                <a:latin typeface="Times New Roman"/>
                <a:ea typeface="Times New Roman"/>
                <a:cs typeface="Times New Roman"/>
                <a:sym typeface="Times New Roman"/>
              </a:rPr>
              <a:t>1</a:t>
            </a:r>
            <a:r>
              <a:rPr lang="en-US" sz="1500">
                <a:solidFill>
                  <a:schemeClr val="dk1"/>
                </a:solidFill>
                <a:latin typeface="Times New Roman"/>
                <a:ea typeface="Times New Roman"/>
                <a:cs typeface="Times New Roman"/>
                <a:sym typeface="Times New Roman"/>
              </a:rPr>
              <a:t>)*P(w</a:t>
            </a:r>
            <a:r>
              <a:rPr lang="en-US" sz="1500" baseline="-25000">
                <a:solidFill>
                  <a:schemeClr val="dk1"/>
                </a:solidFill>
                <a:latin typeface="Times New Roman"/>
                <a:ea typeface="Times New Roman"/>
                <a:cs typeface="Times New Roman"/>
                <a:sym typeface="Times New Roman"/>
              </a:rPr>
              <a:t>2</a:t>
            </a:r>
            <a:r>
              <a:rPr lang="en-US" sz="1500">
                <a:solidFill>
                  <a:schemeClr val="dk1"/>
                </a:solidFill>
                <a:latin typeface="Times New Roman"/>
                <a:ea typeface="Times New Roman"/>
                <a:cs typeface="Times New Roman"/>
                <a:sym typeface="Times New Roman"/>
              </a:rPr>
              <a:t>/t</a:t>
            </a:r>
            <a:r>
              <a:rPr lang="en-US" sz="1500" baseline="-25000">
                <a:solidFill>
                  <a:schemeClr val="dk1"/>
                </a:solidFill>
                <a:latin typeface="Times New Roman"/>
                <a:ea typeface="Times New Roman"/>
                <a:cs typeface="Times New Roman"/>
                <a:sym typeface="Times New Roman"/>
              </a:rPr>
              <a:t>2</a:t>
            </a:r>
            <a:r>
              <a:rPr lang="en-US" sz="1500">
                <a:solidFill>
                  <a:schemeClr val="dk1"/>
                </a:solidFill>
                <a:latin typeface="Times New Roman"/>
                <a:ea typeface="Times New Roman"/>
                <a:cs typeface="Times New Roman"/>
                <a:sym typeface="Times New Roman"/>
              </a:rPr>
              <a:t>)…….P(w</a:t>
            </a:r>
            <a:r>
              <a:rPr lang="en-US" sz="1500" baseline="-25000">
                <a:solidFill>
                  <a:schemeClr val="dk1"/>
                </a:solidFill>
                <a:latin typeface="Times New Roman"/>
                <a:ea typeface="Times New Roman"/>
                <a:cs typeface="Times New Roman"/>
                <a:sym typeface="Times New Roman"/>
              </a:rPr>
              <a:t>i</a:t>
            </a:r>
            <a:r>
              <a:rPr lang="en-US" sz="1500">
                <a:solidFill>
                  <a:schemeClr val="dk1"/>
                </a:solidFill>
                <a:latin typeface="Times New Roman"/>
                <a:ea typeface="Times New Roman"/>
                <a:cs typeface="Times New Roman"/>
                <a:sym typeface="Times New Roman"/>
              </a:rPr>
              <a:t>/t</a:t>
            </a:r>
            <a:r>
              <a:rPr lang="en-US" sz="1500" baseline="-25000">
                <a:solidFill>
                  <a:schemeClr val="dk1"/>
                </a:solidFill>
                <a:latin typeface="Times New Roman"/>
                <a:ea typeface="Times New Roman"/>
                <a:cs typeface="Times New Roman"/>
                <a:sym typeface="Times New Roman"/>
              </a:rPr>
              <a:t>i </a:t>
            </a:r>
            <a:r>
              <a:rPr lang="en-US" sz="1500">
                <a:solidFill>
                  <a:schemeClr val="dk1"/>
                </a:solidFill>
                <a:latin typeface="Times New Roman"/>
                <a:ea typeface="Times New Roman"/>
                <a:cs typeface="Times New Roman"/>
                <a:sym typeface="Times New Roman"/>
              </a:rPr>
              <a:t>) *……P(w</a:t>
            </a:r>
            <a:r>
              <a:rPr lang="en-US" sz="1500" baseline="-25000">
                <a:solidFill>
                  <a:schemeClr val="dk1"/>
                </a:solidFill>
                <a:latin typeface="Times New Roman"/>
                <a:ea typeface="Times New Roman"/>
                <a:cs typeface="Times New Roman"/>
                <a:sym typeface="Times New Roman"/>
              </a:rPr>
              <a:t>n</a:t>
            </a:r>
            <a:r>
              <a:rPr lang="en-US" sz="1500">
                <a:solidFill>
                  <a:schemeClr val="dk1"/>
                </a:solidFill>
                <a:latin typeface="Times New Roman"/>
                <a:ea typeface="Times New Roman"/>
                <a:cs typeface="Times New Roman"/>
                <a:sym typeface="Times New Roman"/>
              </a:rPr>
              <a:t>/t </a:t>
            </a:r>
            <a:r>
              <a:rPr lang="en-US" sz="1500" baseline="-25000">
                <a:solidFill>
                  <a:schemeClr val="dk1"/>
                </a:solidFill>
                <a:latin typeface="Times New Roman"/>
                <a:ea typeface="Times New Roman"/>
                <a:cs typeface="Times New Roman"/>
                <a:sym typeface="Times New Roman"/>
              </a:rPr>
              <a:t>n</a:t>
            </a:r>
            <a:r>
              <a:rPr lang="en-US" sz="1500">
                <a:solidFill>
                  <a:schemeClr val="dk1"/>
                </a:solidFill>
                <a:latin typeface="Times New Roman"/>
                <a:ea typeface="Times New Roman"/>
                <a:cs typeface="Times New Roman"/>
                <a:sym typeface="Times New Roman"/>
              </a:rPr>
              <a:t>)</a:t>
            </a:r>
            <a:endParaRPr sz="1500">
              <a:solidFill>
                <a:schemeClr val="dk1"/>
              </a:solidFill>
              <a:latin typeface="Times New Roman"/>
              <a:ea typeface="Times New Roman"/>
              <a:cs typeface="Times New Roman"/>
              <a:sym typeface="Times New Roman"/>
            </a:endParaRPr>
          </a:p>
          <a:p>
            <a:pPr marL="0" marR="0" lvl="0" indent="0" algn="l" rtl="0">
              <a:lnSpc>
                <a:spcPct val="100000"/>
              </a:lnSpc>
              <a:spcBef>
                <a:spcPts val="50"/>
              </a:spcBef>
              <a:spcAft>
                <a:spcPts val="0"/>
              </a:spcAft>
              <a:buNone/>
            </a:pPr>
            <a:endParaRPr sz="1650">
              <a:solidFill>
                <a:schemeClr val="dk1"/>
              </a:solidFill>
              <a:latin typeface="Times New Roman"/>
              <a:ea typeface="Times New Roman"/>
              <a:cs typeface="Times New Roman"/>
              <a:sym typeface="Times New Roman"/>
            </a:endParaRPr>
          </a:p>
          <a:p>
            <a:pPr marL="533400" marR="0" lvl="0" indent="0" algn="l" rtl="0">
              <a:lnSpc>
                <a:spcPct val="95666"/>
              </a:lnSpc>
              <a:spcBef>
                <a:spcPts val="5"/>
              </a:spcBef>
              <a:spcAft>
                <a:spcPts val="0"/>
              </a:spcAft>
              <a:buNone/>
            </a:pPr>
            <a:r>
              <a:rPr lang="en-US" sz="1500">
                <a:solidFill>
                  <a:schemeClr val="dk1"/>
                </a:solidFill>
                <a:latin typeface="Times New Roman"/>
                <a:ea typeface="Times New Roman"/>
                <a:cs typeface="Times New Roman"/>
                <a:sym typeface="Times New Roman"/>
              </a:rPr>
              <a:t>i.e,, P(W/T) = </a:t>
            </a:r>
            <a:r>
              <a:rPr lang="en-US" sz="1500">
                <a:solidFill>
                  <a:schemeClr val="dk1"/>
                </a:solidFill>
                <a:latin typeface="Calibri"/>
                <a:ea typeface="Calibri"/>
                <a:cs typeface="Calibri"/>
                <a:sym typeface="Calibri"/>
              </a:rPr>
              <a:t>π</a:t>
            </a:r>
            <a:r>
              <a:rPr lang="en-US" sz="1500" baseline="30000">
                <a:solidFill>
                  <a:schemeClr val="dk1"/>
                </a:solidFill>
                <a:latin typeface="Calibri"/>
                <a:ea typeface="Calibri"/>
                <a:cs typeface="Calibri"/>
                <a:sym typeface="Calibri"/>
              </a:rPr>
              <a:t>n	</a:t>
            </a:r>
            <a:r>
              <a:rPr lang="en-US" sz="1500">
                <a:solidFill>
                  <a:schemeClr val="dk1"/>
                </a:solidFill>
                <a:latin typeface="Times New Roman"/>
                <a:ea typeface="Times New Roman"/>
                <a:cs typeface="Times New Roman"/>
                <a:sym typeface="Times New Roman"/>
              </a:rPr>
              <a:t>P(w /t  )</a:t>
            </a:r>
            <a:endParaRPr sz="1500">
              <a:solidFill>
                <a:schemeClr val="dk1"/>
              </a:solidFill>
              <a:latin typeface="Times New Roman"/>
              <a:ea typeface="Times New Roman"/>
              <a:cs typeface="Times New Roman"/>
              <a:sym typeface="Times New Roman"/>
            </a:endParaRPr>
          </a:p>
          <a:p>
            <a:pPr marL="1842770" marR="0" lvl="0" indent="0" algn="l" rtl="0">
              <a:lnSpc>
                <a:spcPct val="83500"/>
              </a:lnSpc>
              <a:spcBef>
                <a:spcPts val="0"/>
              </a:spcBef>
              <a:spcAft>
                <a:spcPts val="0"/>
              </a:spcAft>
              <a:buNone/>
            </a:pPr>
            <a:r>
              <a:rPr lang="en-US" sz="1000">
                <a:solidFill>
                  <a:schemeClr val="dk1"/>
                </a:solidFill>
                <a:latin typeface="Calibri"/>
                <a:ea typeface="Calibri"/>
                <a:cs typeface="Calibri"/>
                <a:sym typeface="Calibri"/>
              </a:rPr>
              <a:t>i=1	</a:t>
            </a:r>
            <a:r>
              <a:rPr lang="en-US" sz="1000">
                <a:solidFill>
                  <a:schemeClr val="dk1"/>
                </a:solidFill>
                <a:latin typeface="Times New Roman"/>
                <a:ea typeface="Times New Roman"/>
                <a:cs typeface="Times New Roman"/>
                <a:sym typeface="Times New Roman"/>
              </a:rPr>
              <a:t>i  i</a:t>
            </a:r>
            <a:endParaRPr sz="1000">
              <a:solidFill>
                <a:schemeClr val="dk1"/>
              </a:solidFill>
              <a:latin typeface="Times New Roman"/>
              <a:ea typeface="Times New Roman"/>
              <a:cs typeface="Times New Roman"/>
              <a:sym typeface="Times New Roman"/>
            </a:endParaRPr>
          </a:p>
          <a:p>
            <a:pPr marL="0" marR="0" lvl="0" indent="0" algn="l" rtl="0">
              <a:lnSpc>
                <a:spcPct val="100000"/>
              </a:lnSpc>
              <a:spcBef>
                <a:spcPts val="35"/>
              </a:spcBef>
              <a:spcAft>
                <a:spcPts val="0"/>
              </a:spcAft>
              <a:buNone/>
            </a:pPr>
            <a:endParaRPr sz="1250">
              <a:solidFill>
                <a:schemeClr val="dk1"/>
              </a:solidFill>
              <a:latin typeface="Times New Roman"/>
              <a:ea typeface="Times New Roman"/>
              <a:cs typeface="Times New Roman"/>
              <a:sym typeface="Times New Roman"/>
            </a:endParaRPr>
          </a:p>
          <a:p>
            <a:pPr marL="76200" marR="0" lvl="0" indent="0" algn="l" rtl="0">
              <a:lnSpc>
                <a:spcPct val="95666"/>
              </a:lnSpc>
              <a:spcBef>
                <a:spcPts val="0"/>
              </a:spcBef>
              <a:spcAft>
                <a:spcPts val="0"/>
              </a:spcAft>
              <a:buNone/>
            </a:pPr>
            <a:r>
              <a:rPr lang="en-US" sz="1500">
                <a:solidFill>
                  <a:schemeClr val="dk1"/>
                </a:solidFill>
                <a:latin typeface="Times New Roman"/>
                <a:ea typeface="Times New Roman"/>
                <a:cs typeface="Times New Roman"/>
                <a:sym typeface="Times New Roman"/>
              </a:rPr>
              <a:t>so, P(W/T)*P(T) = </a:t>
            </a:r>
            <a:r>
              <a:rPr lang="en-US" sz="1500">
                <a:solidFill>
                  <a:schemeClr val="dk1"/>
                </a:solidFill>
                <a:latin typeface="Calibri"/>
                <a:ea typeface="Calibri"/>
                <a:cs typeface="Calibri"/>
                <a:sym typeface="Calibri"/>
              </a:rPr>
              <a:t>π</a:t>
            </a:r>
            <a:r>
              <a:rPr lang="en-US" sz="1500" baseline="30000">
                <a:solidFill>
                  <a:schemeClr val="dk1"/>
                </a:solidFill>
                <a:latin typeface="Calibri"/>
                <a:ea typeface="Calibri"/>
                <a:cs typeface="Calibri"/>
                <a:sym typeface="Calibri"/>
              </a:rPr>
              <a:t>n	</a:t>
            </a:r>
            <a:r>
              <a:rPr lang="en-US" sz="1500">
                <a:solidFill>
                  <a:schemeClr val="dk1"/>
                </a:solidFill>
                <a:latin typeface="Times New Roman"/>
                <a:ea typeface="Times New Roman"/>
                <a:cs typeface="Times New Roman"/>
                <a:sym typeface="Times New Roman"/>
              </a:rPr>
              <a:t>P(w /t ) * P(t )*P(t /t )*P(t /t t )…..*P(t  /t ,,,,,t	)</a:t>
            </a:r>
            <a:endParaRPr sz="1500">
              <a:solidFill>
                <a:schemeClr val="dk1"/>
              </a:solidFill>
              <a:latin typeface="Times New Roman"/>
              <a:ea typeface="Times New Roman"/>
              <a:cs typeface="Times New Roman"/>
              <a:sym typeface="Times New Roman"/>
            </a:endParaRPr>
          </a:p>
          <a:p>
            <a:pPr marL="1822450" marR="0" lvl="0" indent="0" algn="l" rtl="0">
              <a:lnSpc>
                <a:spcPct val="83500"/>
              </a:lnSpc>
              <a:spcBef>
                <a:spcPts val="0"/>
              </a:spcBef>
              <a:spcAft>
                <a:spcPts val="0"/>
              </a:spcAft>
              <a:buNone/>
            </a:pPr>
            <a:r>
              <a:rPr lang="en-US" sz="1000">
                <a:solidFill>
                  <a:schemeClr val="dk1"/>
                </a:solidFill>
                <a:latin typeface="Calibri"/>
                <a:ea typeface="Calibri"/>
                <a:cs typeface="Calibri"/>
                <a:sym typeface="Calibri"/>
              </a:rPr>
              <a:t>i=1	</a:t>
            </a:r>
            <a:r>
              <a:rPr lang="en-US" sz="1000">
                <a:solidFill>
                  <a:schemeClr val="dk1"/>
                </a:solidFill>
                <a:latin typeface="Times New Roman"/>
                <a:ea typeface="Times New Roman"/>
                <a:cs typeface="Times New Roman"/>
                <a:sym typeface="Times New Roman"/>
              </a:rPr>
              <a:t>i   i	1	2   1	3   2 1	n   1	n-1</a:t>
            </a:r>
            <a:endParaRPr sz="1000">
              <a:solidFill>
                <a:schemeClr val="dk1"/>
              </a:solidFill>
              <a:latin typeface="Times New Roman"/>
              <a:ea typeface="Times New Roman"/>
              <a:cs typeface="Times New Roman"/>
              <a:sym typeface="Times New Roman"/>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showMasterSp="0">
  <p:cSld>
    <p:spTree>
      <p:nvGrpSpPr>
        <p:cNvPr id="1" name="Shape 636"/>
        <p:cNvGrpSpPr/>
        <p:nvPr/>
      </p:nvGrpSpPr>
      <p:grpSpPr>
        <a:xfrm>
          <a:off x="0" y="0"/>
          <a:ext cx="0" cy="0"/>
          <a:chOff x="0" y="0"/>
          <a:chExt cx="0" cy="0"/>
        </a:xfrm>
      </p:grpSpPr>
      <p:sp>
        <p:nvSpPr>
          <p:cNvPr id="637" name="Google Shape;637;p56"/>
          <p:cNvSpPr txBox="1">
            <a:spLocks noGrp="1"/>
          </p:cNvSpPr>
          <p:nvPr>
            <p:ph type="title"/>
          </p:nvPr>
        </p:nvSpPr>
        <p:spPr>
          <a:xfrm>
            <a:off x="911225" y="639172"/>
            <a:ext cx="5405120" cy="69596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4400"/>
              <a:t>Parts of Speech Tagging</a:t>
            </a:r>
            <a:endParaRPr sz="4400"/>
          </a:p>
        </p:txBody>
      </p:sp>
      <p:sp>
        <p:nvSpPr>
          <p:cNvPr id="638" name="Google Shape;638;p56"/>
          <p:cNvSpPr txBox="1"/>
          <p:nvPr/>
        </p:nvSpPr>
        <p:spPr>
          <a:xfrm>
            <a:off x="911225" y="1727327"/>
            <a:ext cx="9351010" cy="4251325"/>
          </a:xfrm>
          <a:prstGeom prst="rect">
            <a:avLst/>
          </a:prstGeom>
          <a:noFill/>
          <a:ln>
            <a:noFill/>
          </a:ln>
        </p:spPr>
        <p:txBody>
          <a:bodyPr spcFirstLastPara="1" wrap="square" lIns="0" tIns="12700" rIns="0" bIns="0" anchor="t" anchorCtr="0">
            <a:spAutoFit/>
          </a:bodyPr>
          <a:lstStyle/>
          <a:p>
            <a:pPr marL="469900" marR="5080" lvl="0" indent="-457200" algn="l" rtl="0">
              <a:lnSpc>
                <a:spcPct val="119000"/>
              </a:lnSpc>
              <a:spcBef>
                <a:spcPts val="0"/>
              </a:spcBef>
              <a:spcAft>
                <a:spcPts val="0"/>
              </a:spcAft>
              <a:buNone/>
            </a:pPr>
            <a:r>
              <a:rPr lang="en-US" sz="1750">
                <a:solidFill>
                  <a:schemeClr val="dk1"/>
                </a:solidFill>
                <a:latin typeface="Calibri"/>
                <a:ea typeface="Calibri"/>
                <a:cs typeface="Calibri"/>
                <a:sym typeface="Calibri"/>
              </a:rPr>
              <a:t>Approximating the tag history using only the two previous tags, the transition probability, P(T) becomes  P(T)= P(t1)*P(t2/t1)*P(t3/t2t1)*…..*P(tn /tn-2 tn-1)</a:t>
            </a:r>
            <a:endParaRPr sz="1750">
              <a:solidFill>
                <a:schemeClr val="dk1"/>
              </a:solidFill>
              <a:latin typeface="Calibri"/>
              <a:ea typeface="Calibri"/>
              <a:cs typeface="Calibri"/>
              <a:sym typeface="Calibri"/>
            </a:endParaRPr>
          </a:p>
          <a:p>
            <a:pPr marL="12700" marR="0" lvl="0" indent="0" algn="l" rtl="0">
              <a:lnSpc>
                <a:spcPct val="100000"/>
              </a:lnSpc>
              <a:spcBef>
                <a:spcPts val="375"/>
              </a:spcBef>
              <a:spcAft>
                <a:spcPts val="0"/>
              </a:spcAft>
              <a:buNone/>
            </a:pPr>
            <a:r>
              <a:rPr lang="en-US" sz="1750">
                <a:solidFill>
                  <a:schemeClr val="dk1"/>
                </a:solidFill>
                <a:latin typeface="Calibri"/>
                <a:ea typeface="Calibri"/>
                <a:cs typeface="Calibri"/>
                <a:sym typeface="Calibri"/>
              </a:rPr>
              <a:t>Hence, P(t/w) can be estimated as</a:t>
            </a:r>
            <a:endParaRPr sz="1750">
              <a:solidFill>
                <a:schemeClr val="dk1"/>
              </a:solidFill>
              <a:latin typeface="Calibri"/>
              <a:ea typeface="Calibri"/>
              <a:cs typeface="Calibri"/>
              <a:sym typeface="Calibri"/>
            </a:endParaRPr>
          </a:p>
          <a:p>
            <a:pPr marL="0" marR="0" lvl="0" indent="0" algn="l" rtl="0">
              <a:lnSpc>
                <a:spcPct val="100000"/>
              </a:lnSpc>
              <a:spcBef>
                <a:spcPts val="35"/>
              </a:spcBef>
              <a:spcAft>
                <a:spcPts val="0"/>
              </a:spcAft>
              <a:buNone/>
            </a:pPr>
            <a:endParaRPr sz="1950">
              <a:solidFill>
                <a:schemeClr val="dk1"/>
              </a:solidFill>
              <a:latin typeface="Calibri"/>
              <a:ea typeface="Calibri"/>
              <a:cs typeface="Calibri"/>
              <a:sym typeface="Calibri"/>
            </a:endParaRPr>
          </a:p>
          <a:p>
            <a:pPr marL="12700" marR="0" lvl="0" indent="0" algn="l" rtl="0">
              <a:lnSpc>
                <a:spcPct val="110952"/>
              </a:lnSpc>
              <a:spcBef>
                <a:spcPts val="0"/>
              </a:spcBef>
              <a:spcAft>
                <a:spcPts val="0"/>
              </a:spcAft>
              <a:buNone/>
            </a:pPr>
            <a:r>
              <a:rPr lang="en-US" sz="1750">
                <a:solidFill>
                  <a:schemeClr val="dk1"/>
                </a:solidFill>
                <a:latin typeface="Calibri"/>
                <a:ea typeface="Calibri"/>
                <a:cs typeface="Calibri"/>
                <a:sym typeface="Calibri"/>
              </a:rPr>
              <a:t>P(w/t)*P(T) =  </a:t>
            </a:r>
            <a:r>
              <a:rPr lang="en-US" sz="3150">
                <a:solidFill>
                  <a:schemeClr val="dk1"/>
                </a:solidFill>
                <a:latin typeface="Calibri"/>
                <a:ea typeface="Calibri"/>
                <a:cs typeface="Calibri"/>
                <a:sym typeface="Calibri"/>
              </a:rPr>
              <a:t>π</a:t>
            </a:r>
            <a:r>
              <a:rPr lang="en-US" sz="1050">
                <a:solidFill>
                  <a:schemeClr val="dk1"/>
                </a:solidFill>
                <a:latin typeface="Calibri"/>
                <a:ea typeface="Calibri"/>
                <a:cs typeface="Calibri"/>
                <a:sym typeface="Calibri"/>
              </a:rPr>
              <a:t>i=1   </a:t>
            </a:r>
            <a:r>
              <a:rPr lang="en-US" sz="1750">
                <a:solidFill>
                  <a:schemeClr val="dk1"/>
                </a:solidFill>
                <a:latin typeface="Calibri"/>
                <a:ea typeface="Calibri"/>
                <a:cs typeface="Calibri"/>
                <a:sym typeface="Calibri"/>
              </a:rPr>
              <a:t>P(wi/ti ) * P(t1)*P(t2/t1)*P(t3/t2t1)*…..* P(tn /tn-2  tn-1)</a:t>
            </a:r>
            <a:endParaRPr sz="1750">
              <a:solidFill>
                <a:schemeClr val="dk1"/>
              </a:solidFill>
              <a:latin typeface="Calibri"/>
              <a:ea typeface="Calibri"/>
              <a:cs typeface="Calibri"/>
              <a:sym typeface="Calibri"/>
            </a:endParaRPr>
          </a:p>
          <a:p>
            <a:pPr marL="12700" marR="0" lvl="0" indent="0" algn="l" rtl="0">
              <a:lnSpc>
                <a:spcPct val="113666"/>
              </a:lnSpc>
              <a:spcBef>
                <a:spcPts val="0"/>
              </a:spcBef>
              <a:spcAft>
                <a:spcPts val="0"/>
              </a:spcAft>
              <a:buNone/>
            </a:pPr>
            <a:r>
              <a:rPr lang="en-US" sz="1750">
                <a:solidFill>
                  <a:schemeClr val="dk1"/>
                </a:solidFill>
                <a:latin typeface="Calibri"/>
                <a:ea typeface="Calibri"/>
                <a:cs typeface="Calibri"/>
                <a:sym typeface="Calibri"/>
              </a:rPr>
              <a:t>= </a:t>
            </a:r>
            <a:r>
              <a:rPr lang="en-US" sz="4500">
                <a:solidFill>
                  <a:schemeClr val="dk1"/>
                </a:solidFill>
                <a:latin typeface="Calibri"/>
                <a:ea typeface="Calibri"/>
                <a:cs typeface="Calibri"/>
                <a:sym typeface="Calibri"/>
              </a:rPr>
              <a:t>π</a:t>
            </a:r>
            <a:r>
              <a:rPr lang="en-US" sz="1750">
                <a:solidFill>
                  <a:schemeClr val="dk1"/>
                </a:solidFill>
                <a:latin typeface="Calibri"/>
                <a:ea typeface="Calibri"/>
                <a:cs typeface="Calibri"/>
                <a:sym typeface="Calibri"/>
              </a:rPr>
              <a:t>i=1 P(wi/ti ) * P(t1)*P(t2/t1)*	</a:t>
            </a:r>
            <a:r>
              <a:rPr lang="en-US" sz="4500">
                <a:solidFill>
                  <a:schemeClr val="dk1"/>
                </a:solidFill>
                <a:latin typeface="Calibri"/>
                <a:ea typeface="Calibri"/>
                <a:cs typeface="Calibri"/>
                <a:sym typeface="Calibri"/>
              </a:rPr>
              <a:t>π</a:t>
            </a:r>
            <a:r>
              <a:rPr lang="en-US" sz="1750">
                <a:solidFill>
                  <a:schemeClr val="dk1"/>
                </a:solidFill>
                <a:latin typeface="Calibri"/>
                <a:ea typeface="Calibri"/>
                <a:cs typeface="Calibri"/>
                <a:sym typeface="Calibri"/>
              </a:rPr>
              <a:t>i=3 P(ti /ti-2 ti-1)</a:t>
            </a:r>
            <a:endParaRPr sz="1750">
              <a:solidFill>
                <a:schemeClr val="dk1"/>
              </a:solidFill>
              <a:latin typeface="Calibri"/>
              <a:ea typeface="Calibri"/>
              <a:cs typeface="Calibri"/>
              <a:sym typeface="Calibri"/>
            </a:endParaRPr>
          </a:p>
          <a:p>
            <a:pPr marL="12700" marR="0" lvl="0" indent="0" algn="l" rtl="0">
              <a:lnSpc>
                <a:spcPct val="100000"/>
              </a:lnSpc>
              <a:spcBef>
                <a:spcPts val="300"/>
              </a:spcBef>
              <a:spcAft>
                <a:spcPts val="0"/>
              </a:spcAft>
              <a:buNone/>
            </a:pPr>
            <a:r>
              <a:rPr lang="en-US" sz="1750">
                <a:solidFill>
                  <a:schemeClr val="dk1"/>
                </a:solidFill>
                <a:latin typeface="Calibri"/>
                <a:ea typeface="Calibri"/>
                <a:cs typeface="Calibri"/>
                <a:sym typeface="Calibri"/>
              </a:rPr>
              <a:t>We estimate these probabilities from relative frequencies via maximum likelihood estimation.</a:t>
            </a:r>
            <a:endParaRPr sz="1750">
              <a:solidFill>
                <a:schemeClr val="dk1"/>
              </a:solidFill>
              <a:latin typeface="Calibri"/>
              <a:ea typeface="Calibri"/>
              <a:cs typeface="Calibri"/>
              <a:sym typeface="Calibri"/>
            </a:endParaRPr>
          </a:p>
          <a:p>
            <a:pPr marL="1484630" marR="5790565" lvl="0" indent="-1015364" algn="l" rtl="0">
              <a:lnSpc>
                <a:spcPct val="117900"/>
              </a:lnSpc>
              <a:spcBef>
                <a:spcPts val="0"/>
              </a:spcBef>
              <a:spcAft>
                <a:spcPts val="0"/>
              </a:spcAft>
              <a:buNone/>
            </a:pPr>
            <a:r>
              <a:rPr lang="en-US" sz="1750">
                <a:solidFill>
                  <a:schemeClr val="dk1"/>
                </a:solidFill>
                <a:latin typeface="Calibri"/>
                <a:ea typeface="Calibri"/>
                <a:cs typeface="Calibri"/>
                <a:sym typeface="Calibri"/>
              </a:rPr>
              <a:t>P(ti /ti-2 ti-1) =	C(ti-2 , ti-1 , ti)  C(ti-2 , ti-1)</a:t>
            </a:r>
            <a:endParaRPr sz="1750">
              <a:solidFill>
                <a:schemeClr val="dk1"/>
              </a:solidFill>
              <a:latin typeface="Calibri"/>
              <a:ea typeface="Calibri"/>
              <a:cs typeface="Calibri"/>
              <a:sym typeface="Calibri"/>
            </a:endParaRPr>
          </a:p>
          <a:p>
            <a:pPr marL="469900" marR="0" lvl="0" indent="0" algn="l" rtl="0">
              <a:lnSpc>
                <a:spcPct val="100000"/>
              </a:lnSpc>
              <a:spcBef>
                <a:spcPts val="375"/>
              </a:spcBef>
              <a:spcAft>
                <a:spcPts val="0"/>
              </a:spcAft>
              <a:buNone/>
            </a:pPr>
            <a:r>
              <a:rPr lang="en-US" sz="1750">
                <a:solidFill>
                  <a:schemeClr val="dk1"/>
                </a:solidFill>
                <a:latin typeface="Calibri"/>
                <a:ea typeface="Calibri"/>
                <a:cs typeface="Calibri"/>
                <a:sym typeface="Calibri"/>
              </a:rPr>
              <a:t>P(wi/t i ) = C(wi , ti )</a:t>
            </a:r>
            <a:endParaRPr sz="1750">
              <a:solidFill>
                <a:schemeClr val="dk1"/>
              </a:solidFill>
              <a:latin typeface="Calibri"/>
              <a:ea typeface="Calibri"/>
              <a:cs typeface="Calibri"/>
              <a:sym typeface="Calibri"/>
            </a:endParaRPr>
          </a:p>
          <a:p>
            <a:pPr marL="1524635" marR="0" lvl="0" indent="0" algn="l" rtl="0">
              <a:lnSpc>
                <a:spcPct val="100000"/>
              </a:lnSpc>
              <a:spcBef>
                <a:spcPts val="375"/>
              </a:spcBef>
              <a:spcAft>
                <a:spcPts val="0"/>
              </a:spcAft>
              <a:buNone/>
            </a:pPr>
            <a:r>
              <a:rPr lang="en-US" sz="1750">
                <a:solidFill>
                  <a:schemeClr val="dk1"/>
                </a:solidFill>
                <a:latin typeface="Calibri"/>
                <a:ea typeface="Calibri"/>
                <a:cs typeface="Calibri"/>
                <a:sym typeface="Calibri"/>
              </a:rPr>
              <a:t>C(t i)</a:t>
            </a:r>
            <a:endParaRPr sz="1750">
              <a:solidFill>
                <a:schemeClr val="dk1"/>
              </a:solidFill>
              <a:latin typeface="Calibri"/>
              <a:ea typeface="Calibri"/>
              <a:cs typeface="Calibri"/>
              <a:sym typeface="Calibri"/>
            </a:endParaRPr>
          </a:p>
          <a:p>
            <a:pPr marL="12700" marR="0" lvl="0" indent="0" algn="l" rtl="0">
              <a:lnSpc>
                <a:spcPct val="100000"/>
              </a:lnSpc>
              <a:spcBef>
                <a:spcPts val="375"/>
              </a:spcBef>
              <a:spcAft>
                <a:spcPts val="0"/>
              </a:spcAft>
              <a:buNone/>
            </a:pPr>
            <a:r>
              <a:rPr lang="en-US" sz="1750">
                <a:solidFill>
                  <a:schemeClr val="dk1"/>
                </a:solidFill>
                <a:latin typeface="Calibri"/>
                <a:ea typeface="Calibri"/>
                <a:cs typeface="Calibri"/>
                <a:sym typeface="Calibri"/>
              </a:rPr>
              <a:t>Where	C(ti-2, ti-1 , ti) is the number of occurrences of t i , followed by ti-2 , ti-1.</a:t>
            </a:r>
            <a:endParaRPr sz="1750">
              <a:solidFill>
                <a:schemeClr val="dk1"/>
              </a:solidFill>
              <a:latin typeface="Calibri"/>
              <a:ea typeface="Calibri"/>
              <a:cs typeface="Calibri"/>
              <a:sym typeface="Calibri"/>
            </a:endParaRPr>
          </a:p>
        </p:txBody>
      </p:sp>
      <p:sp>
        <p:nvSpPr>
          <p:cNvPr id="639" name="Google Shape;639;p56"/>
          <p:cNvSpPr/>
          <p:nvPr/>
        </p:nvSpPr>
        <p:spPr>
          <a:xfrm>
            <a:off x="3703782" y="4756727"/>
            <a:ext cx="1395095" cy="0"/>
          </a:xfrm>
          <a:custGeom>
            <a:avLst/>
            <a:gdLst/>
            <a:ahLst/>
            <a:cxnLst/>
            <a:rect l="l" t="t" r="r" b="b"/>
            <a:pathLst>
              <a:path w="1395095" h="120000" extrusionOk="0">
                <a:moveTo>
                  <a:pt x="0" y="0"/>
                </a:moveTo>
                <a:lnTo>
                  <a:pt x="1394690" y="0"/>
                </a:lnTo>
              </a:path>
            </a:pathLst>
          </a:custGeom>
          <a:noFill/>
          <a:ln w="190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40" name="Google Shape;640;p56"/>
          <p:cNvSpPr/>
          <p:nvPr/>
        </p:nvSpPr>
        <p:spPr>
          <a:xfrm>
            <a:off x="2890982" y="5394035"/>
            <a:ext cx="812800" cy="0"/>
          </a:xfrm>
          <a:custGeom>
            <a:avLst/>
            <a:gdLst/>
            <a:ahLst/>
            <a:cxnLst/>
            <a:rect l="l" t="t" r="r" b="b"/>
            <a:pathLst>
              <a:path w="812800" h="120000" extrusionOk="0">
                <a:moveTo>
                  <a:pt x="0" y="0"/>
                </a:moveTo>
                <a:lnTo>
                  <a:pt x="812799" y="0"/>
                </a:lnTo>
              </a:path>
            </a:pathLst>
          </a:custGeom>
          <a:noFill/>
          <a:ln w="190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showMasterSp="0">
  <p:cSld>
    <p:spTree>
      <p:nvGrpSpPr>
        <p:cNvPr id="1" name="Shape 644"/>
        <p:cNvGrpSpPr/>
        <p:nvPr/>
      </p:nvGrpSpPr>
      <p:grpSpPr>
        <a:xfrm>
          <a:off x="0" y="0"/>
          <a:ext cx="0" cy="0"/>
          <a:chOff x="0" y="0"/>
          <a:chExt cx="0" cy="0"/>
        </a:xfrm>
      </p:grpSpPr>
      <p:sp>
        <p:nvSpPr>
          <p:cNvPr id="645" name="Google Shape;645;p57"/>
          <p:cNvSpPr txBox="1">
            <a:spLocks noGrp="1"/>
          </p:cNvSpPr>
          <p:nvPr>
            <p:ph type="title"/>
          </p:nvPr>
        </p:nvSpPr>
        <p:spPr>
          <a:xfrm>
            <a:off x="911225" y="639172"/>
            <a:ext cx="5405120" cy="69596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4400"/>
              <a:t>Parts of Speech Tagging</a:t>
            </a:r>
            <a:endParaRPr sz="4400"/>
          </a:p>
        </p:txBody>
      </p:sp>
      <p:sp>
        <p:nvSpPr>
          <p:cNvPr id="646" name="Google Shape;646;p57"/>
          <p:cNvSpPr txBox="1"/>
          <p:nvPr/>
        </p:nvSpPr>
        <p:spPr>
          <a:xfrm>
            <a:off x="911225" y="1721383"/>
            <a:ext cx="6674484" cy="2070100"/>
          </a:xfrm>
          <a:prstGeom prst="rect">
            <a:avLst/>
          </a:prstGeom>
          <a:noFill/>
          <a:ln>
            <a:noFill/>
          </a:ln>
        </p:spPr>
        <p:txBody>
          <a:bodyPr spcFirstLastPara="1" wrap="square" lIns="0" tIns="93975" rIns="0" bIns="0" anchor="t" anchorCtr="0">
            <a:spAutoFit/>
          </a:bodyPr>
          <a:lstStyle/>
          <a:p>
            <a:pPr marL="12700" marR="0" lvl="0" indent="0" algn="l" rtl="0">
              <a:lnSpc>
                <a:spcPct val="100000"/>
              </a:lnSpc>
              <a:spcBef>
                <a:spcPts val="0"/>
              </a:spcBef>
              <a:spcAft>
                <a:spcPts val="0"/>
              </a:spcAft>
              <a:buNone/>
            </a:pPr>
            <a:r>
              <a:rPr lang="en-US" sz="2800">
                <a:solidFill>
                  <a:schemeClr val="dk1"/>
                </a:solidFill>
                <a:latin typeface="Calibri"/>
                <a:ea typeface="Calibri"/>
                <a:cs typeface="Calibri"/>
                <a:sym typeface="Calibri"/>
              </a:rPr>
              <a:t>Advantage:</a:t>
            </a:r>
            <a:endParaRPr sz="2800">
              <a:solidFill>
                <a:schemeClr val="dk1"/>
              </a:solidFill>
              <a:latin typeface="Calibri"/>
              <a:ea typeface="Calibri"/>
              <a:cs typeface="Calibri"/>
              <a:sym typeface="Calibri"/>
            </a:endParaRPr>
          </a:p>
          <a:p>
            <a:pPr marL="65405" marR="1203960" lvl="0" indent="-52705" algn="l" rtl="0">
              <a:lnSpc>
                <a:spcPct val="144642"/>
              </a:lnSpc>
              <a:spcBef>
                <a:spcPts val="200"/>
              </a:spcBef>
              <a:spcAft>
                <a:spcPts val="0"/>
              </a:spcAft>
              <a:buClr>
                <a:schemeClr val="dk1"/>
              </a:buClr>
              <a:buSzPts val="2800"/>
              <a:buFont typeface="Arial"/>
              <a:buChar char="•"/>
            </a:pPr>
            <a:r>
              <a:rPr lang="en-US" sz="2800">
                <a:solidFill>
                  <a:schemeClr val="dk1"/>
                </a:solidFill>
                <a:latin typeface="Calibri"/>
                <a:ea typeface="Calibri"/>
                <a:cs typeface="Calibri"/>
                <a:sym typeface="Calibri"/>
              </a:rPr>
              <a:t>Accurate and language independent  Drawback:</a:t>
            </a:r>
            <a:endParaRPr sz="2800">
              <a:solidFill>
                <a:schemeClr val="dk1"/>
              </a:solidFill>
              <a:latin typeface="Calibri"/>
              <a:ea typeface="Calibri"/>
              <a:cs typeface="Calibri"/>
              <a:sym typeface="Calibri"/>
            </a:endParaRPr>
          </a:p>
          <a:p>
            <a:pPr marL="241300" marR="0" lvl="0" indent="-177800" algn="l" rtl="0">
              <a:lnSpc>
                <a:spcPct val="100000"/>
              </a:lnSpc>
              <a:spcBef>
                <a:spcPts val="439"/>
              </a:spcBef>
              <a:spcAft>
                <a:spcPts val="0"/>
              </a:spcAft>
              <a:buClr>
                <a:schemeClr val="dk1"/>
              </a:buClr>
              <a:buSzPts val="2800"/>
              <a:buFont typeface="Arial"/>
              <a:buChar char="•"/>
            </a:pPr>
            <a:r>
              <a:rPr lang="en-US" sz="2800">
                <a:solidFill>
                  <a:schemeClr val="dk1"/>
                </a:solidFill>
                <a:latin typeface="Calibri"/>
                <a:ea typeface="Calibri"/>
                <a:cs typeface="Calibri"/>
                <a:sym typeface="Calibri"/>
              </a:rPr>
              <a:t>Require manually tagged corpus for training.</a:t>
            </a:r>
            <a:endParaRPr sz="2800">
              <a:solidFill>
                <a:schemeClr val="dk1"/>
              </a:solidFill>
              <a:latin typeface="Calibri"/>
              <a:ea typeface="Calibri"/>
              <a:cs typeface="Calibri"/>
              <a:sym typeface="Calibri"/>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showMasterSp="0">
  <p:cSld>
    <p:spTree>
      <p:nvGrpSpPr>
        <p:cNvPr id="1" name="Shape 650"/>
        <p:cNvGrpSpPr/>
        <p:nvPr/>
      </p:nvGrpSpPr>
      <p:grpSpPr>
        <a:xfrm>
          <a:off x="0" y="0"/>
          <a:ext cx="0" cy="0"/>
          <a:chOff x="0" y="0"/>
          <a:chExt cx="0" cy="0"/>
        </a:xfrm>
      </p:grpSpPr>
      <p:sp>
        <p:nvSpPr>
          <p:cNvPr id="651" name="Google Shape;651;p58"/>
          <p:cNvSpPr txBox="1">
            <a:spLocks noGrp="1"/>
          </p:cNvSpPr>
          <p:nvPr>
            <p:ph type="title"/>
          </p:nvPr>
        </p:nvSpPr>
        <p:spPr>
          <a:xfrm>
            <a:off x="911225" y="639172"/>
            <a:ext cx="8876665" cy="69596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4400"/>
              <a:t>Parts of Speech Tagging- Hybrid Tagger</a:t>
            </a:r>
            <a:endParaRPr sz="4400"/>
          </a:p>
        </p:txBody>
      </p:sp>
      <p:sp>
        <p:nvSpPr>
          <p:cNvPr id="652" name="Google Shape;652;p58"/>
          <p:cNvSpPr txBox="1"/>
          <p:nvPr/>
        </p:nvSpPr>
        <p:spPr>
          <a:xfrm>
            <a:off x="945492" y="1841880"/>
            <a:ext cx="10278745" cy="4128770"/>
          </a:xfrm>
          <a:prstGeom prst="rect">
            <a:avLst/>
          </a:prstGeom>
          <a:noFill/>
          <a:ln>
            <a:noFill/>
          </a:ln>
        </p:spPr>
        <p:txBody>
          <a:bodyPr spcFirstLastPara="1" wrap="square" lIns="0" tIns="12700" rIns="0" bIns="0" anchor="t" anchorCtr="0">
            <a:spAutoFit/>
          </a:bodyPr>
          <a:lstStyle/>
          <a:p>
            <a:pPr marL="207009" marR="0" lvl="0" indent="-194945" algn="l" rtl="0">
              <a:lnSpc>
                <a:spcPct val="100000"/>
              </a:lnSpc>
              <a:spcBef>
                <a:spcPts val="0"/>
              </a:spcBef>
              <a:spcAft>
                <a:spcPts val="0"/>
              </a:spcAft>
              <a:buClr>
                <a:schemeClr val="dk1"/>
              </a:buClr>
              <a:buSzPts val="1800"/>
              <a:buFont typeface="Arial"/>
              <a:buChar char="•"/>
            </a:pPr>
            <a:r>
              <a:rPr lang="en-US" sz="1800">
                <a:solidFill>
                  <a:schemeClr val="dk1"/>
                </a:solidFill>
                <a:latin typeface="Times New Roman"/>
                <a:ea typeface="Times New Roman"/>
                <a:cs typeface="Times New Roman"/>
                <a:sym typeface="Times New Roman"/>
              </a:rPr>
              <a:t>Hybrid approaches to tagging combine the features of both the rule based and stochastic approaches .</a:t>
            </a:r>
            <a:endParaRPr sz="1800">
              <a:solidFill>
                <a:schemeClr val="dk1"/>
              </a:solidFill>
              <a:latin typeface="Times New Roman"/>
              <a:ea typeface="Times New Roman"/>
              <a:cs typeface="Times New Roman"/>
              <a:sym typeface="Times New Roman"/>
            </a:endParaRPr>
          </a:p>
          <a:p>
            <a:pPr marL="0" marR="0" lvl="0" indent="0" algn="l" rtl="0">
              <a:lnSpc>
                <a:spcPct val="100000"/>
              </a:lnSpc>
              <a:spcBef>
                <a:spcPts val="20"/>
              </a:spcBef>
              <a:spcAft>
                <a:spcPts val="0"/>
              </a:spcAft>
              <a:buClr>
                <a:schemeClr val="dk1"/>
              </a:buClr>
              <a:buSzPts val="1800"/>
              <a:buFont typeface="Arial"/>
              <a:buNone/>
            </a:pPr>
            <a:endParaRPr sz="1800">
              <a:solidFill>
                <a:schemeClr val="dk1"/>
              </a:solidFill>
              <a:latin typeface="Times New Roman"/>
              <a:ea typeface="Times New Roman"/>
              <a:cs typeface="Times New Roman"/>
              <a:sym typeface="Times New Roman"/>
            </a:endParaRPr>
          </a:p>
          <a:p>
            <a:pPr marL="207009" marR="0" lvl="0" indent="-194945" algn="l" rtl="0">
              <a:lnSpc>
                <a:spcPct val="100000"/>
              </a:lnSpc>
              <a:spcBef>
                <a:spcPts val="0"/>
              </a:spcBef>
              <a:spcAft>
                <a:spcPts val="0"/>
              </a:spcAft>
              <a:buClr>
                <a:schemeClr val="dk1"/>
              </a:buClr>
              <a:buSzPts val="1800"/>
              <a:buFont typeface="Arial"/>
              <a:buChar char="•"/>
            </a:pPr>
            <a:r>
              <a:rPr lang="en-US" sz="1800">
                <a:solidFill>
                  <a:schemeClr val="dk1"/>
                </a:solidFill>
                <a:latin typeface="Times New Roman"/>
                <a:ea typeface="Times New Roman"/>
                <a:cs typeface="Times New Roman"/>
                <a:sym typeface="Times New Roman"/>
              </a:rPr>
              <a:t>They use rules to assign tags to words .</a:t>
            </a:r>
            <a:endParaRPr sz="1800">
              <a:solidFill>
                <a:schemeClr val="dk1"/>
              </a:solidFill>
              <a:latin typeface="Times New Roman"/>
              <a:ea typeface="Times New Roman"/>
              <a:cs typeface="Times New Roman"/>
              <a:sym typeface="Times New Roman"/>
            </a:endParaRPr>
          </a:p>
          <a:p>
            <a:pPr marL="0" marR="0" lvl="0" indent="0" algn="l" rtl="0">
              <a:lnSpc>
                <a:spcPct val="100000"/>
              </a:lnSpc>
              <a:spcBef>
                <a:spcPts val="45"/>
              </a:spcBef>
              <a:spcAft>
                <a:spcPts val="0"/>
              </a:spcAft>
              <a:buClr>
                <a:schemeClr val="dk1"/>
              </a:buClr>
              <a:buSzPts val="1700"/>
              <a:buFont typeface="Arial"/>
              <a:buNone/>
            </a:pPr>
            <a:endParaRPr sz="1700">
              <a:solidFill>
                <a:schemeClr val="dk1"/>
              </a:solidFill>
              <a:latin typeface="Times New Roman"/>
              <a:ea typeface="Times New Roman"/>
              <a:cs typeface="Times New Roman"/>
              <a:sym typeface="Times New Roman"/>
            </a:endParaRPr>
          </a:p>
          <a:p>
            <a:pPr marL="207009" marR="30480" lvl="0" indent="-194945" algn="l" rtl="0">
              <a:lnSpc>
                <a:spcPct val="105300"/>
              </a:lnSpc>
              <a:spcBef>
                <a:spcPts val="0"/>
              </a:spcBef>
              <a:spcAft>
                <a:spcPts val="0"/>
              </a:spcAft>
              <a:buClr>
                <a:schemeClr val="dk1"/>
              </a:buClr>
              <a:buSzPts val="1800"/>
              <a:buFont typeface="Arial"/>
              <a:buChar char="•"/>
            </a:pPr>
            <a:r>
              <a:rPr lang="en-US" sz="1800">
                <a:solidFill>
                  <a:schemeClr val="dk1"/>
                </a:solidFill>
                <a:latin typeface="Times New Roman"/>
                <a:ea typeface="Times New Roman"/>
                <a:cs typeface="Times New Roman"/>
                <a:sym typeface="Times New Roman"/>
              </a:rPr>
              <a:t>Like the stochastic taggers ,this is a machine learning techniques and rules are automatically induced from the  data.</a:t>
            </a:r>
            <a:endParaRPr sz="1800">
              <a:solidFill>
                <a:schemeClr val="dk1"/>
              </a:solidFill>
              <a:latin typeface="Times New Roman"/>
              <a:ea typeface="Times New Roman"/>
              <a:cs typeface="Times New Roman"/>
              <a:sym typeface="Times New Roman"/>
            </a:endParaRPr>
          </a:p>
          <a:p>
            <a:pPr marL="0" marR="0" lvl="0" indent="0" algn="l" rtl="0">
              <a:lnSpc>
                <a:spcPct val="100000"/>
              </a:lnSpc>
              <a:spcBef>
                <a:spcPts val="20"/>
              </a:spcBef>
              <a:spcAft>
                <a:spcPts val="0"/>
              </a:spcAft>
              <a:buClr>
                <a:schemeClr val="dk1"/>
              </a:buClr>
              <a:buSzPts val="1800"/>
              <a:buFont typeface="Arial"/>
              <a:buNone/>
            </a:pPr>
            <a:endParaRPr sz="1800">
              <a:solidFill>
                <a:schemeClr val="dk1"/>
              </a:solidFill>
              <a:latin typeface="Times New Roman"/>
              <a:ea typeface="Times New Roman"/>
              <a:cs typeface="Times New Roman"/>
              <a:sym typeface="Times New Roman"/>
            </a:endParaRPr>
          </a:p>
          <a:p>
            <a:pPr marL="207009" marR="0" lvl="0" indent="-194945" algn="l" rtl="0">
              <a:lnSpc>
                <a:spcPct val="100000"/>
              </a:lnSpc>
              <a:spcBef>
                <a:spcPts val="0"/>
              </a:spcBef>
              <a:spcAft>
                <a:spcPts val="0"/>
              </a:spcAft>
              <a:buClr>
                <a:schemeClr val="dk1"/>
              </a:buClr>
              <a:buSzPts val="1800"/>
              <a:buFont typeface="Arial"/>
              <a:buChar char="•"/>
            </a:pPr>
            <a:r>
              <a:rPr lang="en-US" sz="1800">
                <a:solidFill>
                  <a:schemeClr val="dk1"/>
                </a:solidFill>
                <a:latin typeface="Times New Roman"/>
                <a:ea typeface="Times New Roman"/>
                <a:cs typeface="Times New Roman"/>
                <a:sym typeface="Times New Roman"/>
              </a:rPr>
              <a:t>Transformation-based learning (TBL) of tags ,also known as Brill tagging ,is a example of hybrid approach .</a:t>
            </a:r>
            <a:endParaRPr sz="1800">
              <a:solidFill>
                <a:schemeClr val="dk1"/>
              </a:solidFill>
              <a:latin typeface="Times New Roman"/>
              <a:ea typeface="Times New Roman"/>
              <a:cs typeface="Times New Roman"/>
              <a:sym typeface="Times New Roman"/>
            </a:endParaRPr>
          </a:p>
          <a:p>
            <a:pPr marL="0" marR="0" lvl="0" indent="0" algn="l" rtl="0">
              <a:lnSpc>
                <a:spcPct val="100000"/>
              </a:lnSpc>
              <a:spcBef>
                <a:spcPts val="45"/>
              </a:spcBef>
              <a:spcAft>
                <a:spcPts val="0"/>
              </a:spcAft>
              <a:buClr>
                <a:schemeClr val="dk1"/>
              </a:buClr>
              <a:buSzPts val="1800"/>
              <a:buFont typeface="Arial"/>
              <a:buNone/>
            </a:pPr>
            <a:endParaRPr sz="1800">
              <a:solidFill>
                <a:schemeClr val="dk1"/>
              </a:solidFill>
              <a:latin typeface="Times New Roman"/>
              <a:ea typeface="Times New Roman"/>
              <a:cs typeface="Times New Roman"/>
              <a:sym typeface="Times New Roman"/>
            </a:endParaRPr>
          </a:p>
          <a:p>
            <a:pPr marL="207009" marR="0" lvl="0" indent="-194945" algn="l" rtl="0">
              <a:lnSpc>
                <a:spcPct val="100000"/>
              </a:lnSpc>
              <a:spcBef>
                <a:spcPts val="0"/>
              </a:spcBef>
              <a:spcAft>
                <a:spcPts val="0"/>
              </a:spcAft>
              <a:buClr>
                <a:schemeClr val="dk1"/>
              </a:buClr>
              <a:buSzPts val="1800"/>
              <a:buFont typeface="Arial"/>
              <a:buChar char="•"/>
            </a:pPr>
            <a:r>
              <a:rPr lang="en-US" sz="1800">
                <a:solidFill>
                  <a:schemeClr val="dk1"/>
                </a:solidFill>
                <a:latin typeface="Times New Roman"/>
                <a:ea typeface="Times New Roman"/>
                <a:cs typeface="Times New Roman"/>
                <a:sym typeface="Times New Roman"/>
              </a:rPr>
              <a:t>The input to Brill's TBL tagging algorithm is a tagged corpus and a lexicon .</a:t>
            </a:r>
            <a:endParaRPr sz="1800">
              <a:solidFill>
                <a:schemeClr val="dk1"/>
              </a:solidFill>
              <a:latin typeface="Times New Roman"/>
              <a:ea typeface="Times New Roman"/>
              <a:cs typeface="Times New Roman"/>
              <a:sym typeface="Times New Roman"/>
            </a:endParaRPr>
          </a:p>
          <a:p>
            <a:pPr marL="0" marR="0" lvl="0" indent="0" algn="l" rtl="0">
              <a:lnSpc>
                <a:spcPct val="100000"/>
              </a:lnSpc>
              <a:spcBef>
                <a:spcPts val="45"/>
              </a:spcBef>
              <a:spcAft>
                <a:spcPts val="0"/>
              </a:spcAft>
              <a:buClr>
                <a:schemeClr val="dk1"/>
              </a:buClr>
              <a:buSzPts val="1800"/>
              <a:buFont typeface="Arial"/>
              <a:buNone/>
            </a:pPr>
            <a:endParaRPr sz="1800">
              <a:solidFill>
                <a:schemeClr val="dk1"/>
              </a:solidFill>
              <a:latin typeface="Times New Roman"/>
              <a:ea typeface="Times New Roman"/>
              <a:cs typeface="Times New Roman"/>
              <a:sym typeface="Times New Roman"/>
            </a:endParaRPr>
          </a:p>
          <a:p>
            <a:pPr marL="207009" marR="0" lvl="0" indent="-194945" algn="l" rtl="0">
              <a:lnSpc>
                <a:spcPct val="100000"/>
              </a:lnSpc>
              <a:spcBef>
                <a:spcPts val="0"/>
              </a:spcBef>
              <a:spcAft>
                <a:spcPts val="0"/>
              </a:spcAft>
              <a:buClr>
                <a:schemeClr val="dk1"/>
              </a:buClr>
              <a:buSzPts val="1800"/>
              <a:buFont typeface="Arial"/>
              <a:buChar char="•"/>
            </a:pPr>
            <a:r>
              <a:rPr lang="en-US" sz="1800">
                <a:solidFill>
                  <a:schemeClr val="dk1"/>
                </a:solidFill>
                <a:latin typeface="Times New Roman"/>
                <a:ea typeface="Times New Roman"/>
                <a:cs typeface="Times New Roman"/>
                <a:sym typeface="Times New Roman"/>
              </a:rPr>
              <a:t>The initial state annotator uses the lexicon to assign the most likely tag to each word as the start state.</a:t>
            </a:r>
            <a:endParaRPr sz="1800">
              <a:solidFill>
                <a:schemeClr val="dk1"/>
              </a:solidFill>
              <a:latin typeface="Times New Roman"/>
              <a:ea typeface="Times New Roman"/>
              <a:cs typeface="Times New Roman"/>
              <a:sym typeface="Times New Roman"/>
            </a:endParaRPr>
          </a:p>
          <a:p>
            <a:pPr marL="0" marR="0" lvl="0" indent="0" algn="l" rtl="0">
              <a:lnSpc>
                <a:spcPct val="100000"/>
              </a:lnSpc>
              <a:spcBef>
                <a:spcPts val="45"/>
              </a:spcBef>
              <a:spcAft>
                <a:spcPts val="0"/>
              </a:spcAft>
              <a:buClr>
                <a:schemeClr val="dk1"/>
              </a:buClr>
              <a:buSzPts val="1700"/>
              <a:buFont typeface="Arial"/>
              <a:buNone/>
            </a:pPr>
            <a:endParaRPr sz="1700">
              <a:solidFill>
                <a:schemeClr val="dk1"/>
              </a:solidFill>
              <a:latin typeface="Times New Roman"/>
              <a:ea typeface="Times New Roman"/>
              <a:cs typeface="Times New Roman"/>
              <a:sym typeface="Times New Roman"/>
            </a:endParaRPr>
          </a:p>
          <a:p>
            <a:pPr marL="207009" marR="5080" lvl="0" indent="-194945" algn="l" rtl="0">
              <a:lnSpc>
                <a:spcPct val="105300"/>
              </a:lnSpc>
              <a:spcBef>
                <a:spcPts val="0"/>
              </a:spcBef>
              <a:spcAft>
                <a:spcPts val="0"/>
              </a:spcAft>
              <a:buClr>
                <a:schemeClr val="dk1"/>
              </a:buClr>
              <a:buSzPts val="1800"/>
              <a:buFont typeface="Arial"/>
              <a:buChar char="•"/>
            </a:pPr>
            <a:r>
              <a:rPr lang="en-US" sz="1800">
                <a:solidFill>
                  <a:schemeClr val="dk1"/>
                </a:solidFill>
                <a:latin typeface="Times New Roman"/>
                <a:ea typeface="Times New Roman"/>
                <a:cs typeface="Times New Roman"/>
                <a:sym typeface="Times New Roman"/>
              </a:rPr>
              <a:t>An ordered set of transformational rules are are applied sequentially. The rule that result in the most improved  tagging is selected.</a:t>
            </a:r>
            <a:endParaRPr sz="1800">
              <a:solidFill>
                <a:schemeClr val="dk1"/>
              </a:solidFill>
              <a:latin typeface="Times New Roman"/>
              <a:ea typeface="Times New Roman"/>
              <a:cs typeface="Times New Roman"/>
              <a:sym typeface="Times New Roman"/>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showMasterSp="0">
  <p:cSld>
    <p:spTree>
      <p:nvGrpSpPr>
        <p:cNvPr id="1" name="Shape 656"/>
        <p:cNvGrpSpPr/>
        <p:nvPr/>
      </p:nvGrpSpPr>
      <p:grpSpPr>
        <a:xfrm>
          <a:off x="0" y="0"/>
          <a:ext cx="0" cy="0"/>
          <a:chOff x="0" y="0"/>
          <a:chExt cx="0" cy="0"/>
        </a:xfrm>
      </p:grpSpPr>
      <p:sp>
        <p:nvSpPr>
          <p:cNvPr id="657" name="Google Shape;657;p59"/>
          <p:cNvSpPr txBox="1">
            <a:spLocks noGrp="1"/>
          </p:cNvSpPr>
          <p:nvPr>
            <p:ph type="title"/>
          </p:nvPr>
        </p:nvSpPr>
        <p:spPr>
          <a:xfrm>
            <a:off x="911225" y="352628"/>
            <a:ext cx="5405120" cy="69596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4400"/>
              <a:t>Parts of Speech Tagging</a:t>
            </a:r>
            <a:endParaRPr sz="4400"/>
          </a:p>
        </p:txBody>
      </p:sp>
      <p:sp>
        <p:nvSpPr>
          <p:cNvPr id="658" name="Google Shape;658;p59"/>
          <p:cNvSpPr txBox="1"/>
          <p:nvPr/>
        </p:nvSpPr>
        <p:spPr>
          <a:xfrm>
            <a:off x="949334" y="1230376"/>
            <a:ext cx="9735185" cy="3833495"/>
          </a:xfrm>
          <a:prstGeom prst="rect">
            <a:avLst/>
          </a:prstGeom>
          <a:noFill/>
          <a:ln>
            <a:noFill/>
          </a:ln>
        </p:spPr>
        <p:txBody>
          <a:bodyPr spcFirstLastPara="1" wrap="square" lIns="0" tIns="12700" rIns="0" bIns="0" anchor="t" anchorCtr="0">
            <a:spAutoFit/>
          </a:bodyPr>
          <a:lstStyle/>
          <a:p>
            <a:pPr marL="291465" marR="0" lvl="0" indent="-264795" algn="l" rtl="0">
              <a:lnSpc>
                <a:spcPct val="100000"/>
              </a:lnSpc>
              <a:spcBef>
                <a:spcPts val="0"/>
              </a:spcBef>
              <a:spcAft>
                <a:spcPts val="0"/>
              </a:spcAft>
              <a:buClr>
                <a:schemeClr val="dk1"/>
              </a:buClr>
              <a:buSzPts val="2800"/>
              <a:buFont typeface="Arial"/>
              <a:buChar char="•"/>
            </a:pPr>
            <a:r>
              <a:rPr lang="en-US" sz="2000">
                <a:solidFill>
                  <a:schemeClr val="dk1"/>
                </a:solidFill>
                <a:latin typeface="Times New Roman"/>
                <a:ea typeface="Times New Roman"/>
                <a:cs typeface="Times New Roman"/>
                <a:sym typeface="Times New Roman"/>
              </a:rPr>
              <a:t>A manually tagged corpus is used as reference for truth.</a:t>
            </a:r>
            <a:endParaRPr sz="2000">
              <a:solidFill>
                <a:schemeClr val="dk1"/>
              </a:solidFill>
              <a:latin typeface="Times New Roman"/>
              <a:ea typeface="Times New Roman"/>
              <a:cs typeface="Times New Roman"/>
              <a:sym typeface="Times New Roman"/>
            </a:endParaRPr>
          </a:p>
          <a:p>
            <a:pPr marL="202565" marR="387985" lvl="0" indent="-190500" algn="l" rtl="0">
              <a:lnSpc>
                <a:spcPct val="113500"/>
              </a:lnSpc>
              <a:spcBef>
                <a:spcPts val="2405"/>
              </a:spcBef>
              <a:spcAft>
                <a:spcPts val="0"/>
              </a:spcAft>
              <a:buClr>
                <a:schemeClr val="dk1"/>
              </a:buClr>
              <a:buSzPts val="2000"/>
              <a:buFont typeface="Arial"/>
              <a:buChar char="•"/>
            </a:pPr>
            <a:r>
              <a:rPr lang="en-US" sz="2000">
                <a:solidFill>
                  <a:schemeClr val="dk1"/>
                </a:solidFill>
                <a:latin typeface="Times New Roman"/>
                <a:ea typeface="Times New Roman"/>
                <a:cs typeface="Times New Roman"/>
                <a:sym typeface="Times New Roman"/>
              </a:rPr>
              <a:t>The process is iterated until some stopping criteria is reached ,such as when no significant  information is achieved over the previous iteration.</a:t>
            </a:r>
            <a:endParaRPr sz="2000">
              <a:solidFill>
                <a:schemeClr val="dk1"/>
              </a:solidFill>
              <a:latin typeface="Times New Roman"/>
              <a:ea typeface="Times New Roman"/>
              <a:cs typeface="Times New Roman"/>
              <a:sym typeface="Times New Roman"/>
            </a:endParaRPr>
          </a:p>
          <a:p>
            <a:pPr marL="0" marR="0" lvl="0" indent="0" algn="l" rtl="0">
              <a:lnSpc>
                <a:spcPct val="100000"/>
              </a:lnSpc>
              <a:spcBef>
                <a:spcPts val="20"/>
              </a:spcBef>
              <a:spcAft>
                <a:spcPts val="0"/>
              </a:spcAft>
              <a:buClr>
                <a:schemeClr val="dk1"/>
              </a:buClr>
              <a:buSzPts val="2050"/>
              <a:buFont typeface="Calibri"/>
              <a:buNone/>
            </a:pPr>
            <a:endParaRPr sz="2050">
              <a:solidFill>
                <a:schemeClr val="dk1"/>
              </a:solidFill>
              <a:latin typeface="Times New Roman"/>
              <a:ea typeface="Times New Roman"/>
              <a:cs typeface="Times New Roman"/>
              <a:sym typeface="Times New Roman"/>
            </a:endParaRPr>
          </a:p>
          <a:p>
            <a:pPr marL="202565" marR="0" lvl="0" indent="-190500" algn="l" rtl="0">
              <a:lnSpc>
                <a:spcPct val="100000"/>
              </a:lnSpc>
              <a:spcBef>
                <a:spcPts val="0"/>
              </a:spcBef>
              <a:spcAft>
                <a:spcPts val="0"/>
              </a:spcAft>
              <a:buClr>
                <a:schemeClr val="dk1"/>
              </a:buClr>
              <a:buSzPts val="2000"/>
              <a:buFont typeface="Arial"/>
              <a:buChar char="•"/>
            </a:pPr>
            <a:r>
              <a:rPr lang="en-US" sz="2000">
                <a:solidFill>
                  <a:schemeClr val="dk1"/>
                </a:solidFill>
                <a:latin typeface="Times New Roman"/>
                <a:ea typeface="Times New Roman"/>
                <a:cs typeface="Times New Roman"/>
                <a:sym typeface="Times New Roman"/>
              </a:rPr>
              <a:t>At each iteration ,the transformation that results in the highest score is selected.</a:t>
            </a:r>
            <a:endParaRPr sz="2000">
              <a:solidFill>
                <a:schemeClr val="dk1"/>
              </a:solidFill>
              <a:latin typeface="Times New Roman"/>
              <a:ea typeface="Times New Roman"/>
              <a:cs typeface="Times New Roman"/>
              <a:sym typeface="Times New Roman"/>
            </a:endParaRPr>
          </a:p>
          <a:p>
            <a:pPr marL="0" marR="0" lvl="0" indent="0" algn="l" rtl="0">
              <a:lnSpc>
                <a:spcPct val="100000"/>
              </a:lnSpc>
              <a:spcBef>
                <a:spcPts val="45"/>
              </a:spcBef>
              <a:spcAft>
                <a:spcPts val="0"/>
              </a:spcAft>
              <a:buClr>
                <a:schemeClr val="dk1"/>
              </a:buClr>
              <a:buSzPts val="1700"/>
              <a:buFont typeface="Calibri"/>
              <a:buNone/>
            </a:pPr>
            <a:endParaRPr sz="1700">
              <a:solidFill>
                <a:schemeClr val="dk1"/>
              </a:solidFill>
              <a:latin typeface="Times New Roman"/>
              <a:ea typeface="Times New Roman"/>
              <a:cs typeface="Times New Roman"/>
              <a:sym typeface="Times New Roman"/>
            </a:endParaRPr>
          </a:p>
          <a:p>
            <a:pPr marL="202565" marR="36195" lvl="0" indent="-190500" algn="l" rtl="0">
              <a:lnSpc>
                <a:spcPct val="113500"/>
              </a:lnSpc>
              <a:spcBef>
                <a:spcPts val="0"/>
              </a:spcBef>
              <a:spcAft>
                <a:spcPts val="0"/>
              </a:spcAft>
              <a:buClr>
                <a:schemeClr val="dk1"/>
              </a:buClr>
              <a:buSzPts val="2000"/>
              <a:buFont typeface="Arial"/>
              <a:buChar char="•"/>
            </a:pPr>
            <a:r>
              <a:rPr lang="en-US" sz="2000">
                <a:solidFill>
                  <a:schemeClr val="dk1"/>
                </a:solidFill>
                <a:latin typeface="Times New Roman"/>
                <a:ea typeface="Times New Roman"/>
                <a:cs typeface="Times New Roman"/>
                <a:sym typeface="Times New Roman"/>
              </a:rPr>
              <a:t>The output of the algorithm is a ranked list of learned transformation that transform the initial  tagging close to correct tagging .</a:t>
            </a:r>
            <a:endParaRPr sz="2000">
              <a:solidFill>
                <a:schemeClr val="dk1"/>
              </a:solidFill>
              <a:latin typeface="Times New Roman"/>
              <a:ea typeface="Times New Roman"/>
              <a:cs typeface="Times New Roman"/>
              <a:sym typeface="Times New Roman"/>
            </a:endParaRPr>
          </a:p>
          <a:p>
            <a:pPr marL="0" marR="0" lvl="0" indent="0" algn="l" rtl="0">
              <a:lnSpc>
                <a:spcPct val="100000"/>
              </a:lnSpc>
              <a:spcBef>
                <a:spcPts val="40"/>
              </a:spcBef>
              <a:spcAft>
                <a:spcPts val="0"/>
              </a:spcAft>
              <a:buClr>
                <a:schemeClr val="dk1"/>
              </a:buClr>
              <a:buSzPts val="1750"/>
              <a:buFont typeface="Calibri"/>
              <a:buNone/>
            </a:pPr>
            <a:endParaRPr sz="1750">
              <a:solidFill>
                <a:schemeClr val="dk1"/>
              </a:solidFill>
              <a:latin typeface="Times New Roman"/>
              <a:ea typeface="Times New Roman"/>
              <a:cs typeface="Times New Roman"/>
              <a:sym typeface="Times New Roman"/>
            </a:endParaRPr>
          </a:p>
          <a:p>
            <a:pPr marL="202565" marR="5080" lvl="0" indent="-190500" algn="l" rtl="0">
              <a:lnSpc>
                <a:spcPct val="113500"/>
              </a:lnSpc>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	</a:t>
            </a:r>
            <a:r>
              <a:rPr lang="en-US" sz="2000">
                <a:solidFill>
                  <a:schemeClr val="dk1"/>
                </a:solidFill>
                <a:latin typeface="Times New Roman"/>
                <a:ea typeface="Times New Roman"/>
                <a:cs typeface="Times New Roman"/>
                <a:sym typeface="Times New Roman"/>
              </a:rPr>
              <a:t>New text can then be annotated by first assigning the most frequent tag and then applying the  ranked list of learned transformation in order.</a:t>
            </a:r>
            <a:endParaRPr sz="2000">
              <a:solidFill>
                <a:schemeClr val="dk1"/>
              </a:solidFill>
              <a:latin typeface="Times New Roman"/>
              <a:ea typeface="Times New Roman"/>
              <a:cs typeface="Times New Roman"/>
              <a:sym typeface="Times New Roman"/>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showMasterSp="0">
  <p:cSld>
    <p:spTree>
      <p:nvGrpSpPr>
        <p:cNvPr id="1" name="Shape 662"/>
        <p:cNvGrpSpPr/>
        <p:nvPr/>
      </p:nvGrpSpPr>
      <p:grpSpPr>
        <a:xfrm>
          <a:off x="0" y="0"/>
          <a:ext cx="0" cy="0"/>
          <a:chOff x="0" y="0"/>
          <a:chExt cx="0" cy="0"/>
        </a:xfrm>
      </p:grpSpPr>
      <p:sp>
        <p:nvSpPr>
          <p:cNvPr id="663" name="Google Shape;663;p60"/>
          <p:cNvSpPr txBox="1">
            <a:spLocks noGrp="1"/>
          </p:cNvSpPr>
          <p:nvPr>
            <p:ph type="title"/>
          </p:nvPr>
        </p:nvSpPr>
        <p:spPr>
          <a:xfrm>
            <a:off x="911225" y="639172"/>
            <a:ext cx="5405120" cy="69596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4400"/>
              <a:t>Parts of Speech Tagging</a:t>
            </a:r>
            <a:endParaRPr sz="4400"/>
          </a:p>
        </p:txBody>
      </p:sp>
      <p:pic>
        <p:nvPicPr>
          <p:cNvPr id="664" name="Google Shape;664;p60"/>
          <p:cNvPicPr preferRelativeResize="0"/>
          <p:nvPr/>
        </p:nvPicPr>
        <p:blipFill rotWithShape="1">
          <a:blip r:embed="rId3">
            <a:alphaModFix/>
          </a:blip>
          <a:srcRect/>
          <a:stretch/>
        </p:blipFill>
        <p:spPr>
          <a:xfrm>
            <a:off x="3823855" y="2024061"/>
            <a:ext cx="4453943" cy="3702482"/>
          </a:xfrm>
          <a:prstGeom prst="rect">
            <a:avLst/>
          </a:prstGeom>
          <a:noFill/>
          <a:ln>
            <a:noFill/>
          </a:ln>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showMasterSp="0">
  <p:cSld>
    <p:spTree>
      <p:nvGrpSpPr>
        <p:cNvPr id="1" name="Shape 668"/>
        <p:cNvGrpSpPr/>
        <p:nvPr/>
      </p:nvGrpSpPr>
      <p:grpSpPr>
        <a:xfrm>
          <a:off x="0" y="0"/>
          <a:ext cx="0" cy="0"/>
          <a:chOff x="0" y="0"/>
          <a:chExt cx="0" cy="0"/>
        </a:xfrm>
      </p:grpSpPr>
      <p:sp>
        <p:nvSpPr>
          <p:cNvPr id="669" name="Google Shape;669;p61"/>
          <p:cNvSpPr txBox="1">
            <a:spLocks noGrp="1"/>
          </p:cNvSpPr>
          <p:nvPr>
            <p:ph type="title"/>
          </p:nvPr>
        </p:nvSpPr>
        <p:spPr>
          <a:xfrm>
            <a:off x="911225" y="639172"/>
            <a:ext cx="5405120" cy="69596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4400"/>
              <a:t>Parts of Speech Tagging</a:t>
            </a:r>
            <a:endParaRPr sz="4400"/>
          </a:p>
        </p:txBody>
      </p:sp>
      <p:sp>
        <p:nvSpPr>
          <p:cNvPr id="670" name="Google Shape;670;p61"/>
          <p:cNvSpPr txBox="1"/>
          <p:nvPr/>
        </p:nvSpPr>
        <p:spPr>
          <a:xfrm>
            <a:off x="945492" y="1841880"/>
            <a:ext cx="765810" cy="299720"/>
          </a:xfrm>
          <a:prstGeom prst="rect">
            <a:avLst/>
          </a:prstGeom>
          <a:noFill/>
          <a:ln>
            <a:noFill/>
          </a:ln>
        </p:spPr>
        <p:txBody>
          <a:bodyPr spcFirstLastPara="1" wrap="square" lIns="0" tIns="12700" rIns="0" bIns="0" anchor="t" anchorCtr="0">
            <a:spAutoFit/>
          </a:bodyPr>
          <a:lstStyle/>
          <a:p>
            <a:pPr marL="207009" marR="0" lvl="0" indent="-194945" algn="l" rtl="0">
              <a:lnSpc>
                <a:spcPct val="100000"/>
              </a:lnSpc>
              <a:spcBef>
                <a:spcPts val="0"/>
              </a:spcBef>
              <a:spcAft>
                <a:spcPts val="0"/>
              </a:spcAft>
              <a:buClr>
                <a:schemeClr val="dk1"/>
              </a:buClr>
              <a:buSzPts val="1800"/>
              <a:buFont typeface="Arial"/>
              <a:buChar char="•"/>
            </a:pPr>
            <a:r>
              <a:rPr lang="en-US" sz="1800">
                <a:solidFill>
                  <a:schemeClr val="dk1"/>
                </a:solidFill>
                <a:latin typeface="Times New Roman"/>
                <a:ea typeface="Times New Roman"/>
                <a:cs typeface="Times New Roman"/>
                <a:sym typeface="Times New Roman"/>
              </a:rPr>
              <a:t>Input:</a:t>
            </a:r>
            <a:endParaRPr sz="1800">
              <a:solidFill>
                <a:schemeClr val="dk1"/>
              </a:solidFill>
              <a:latin typeface="Times New Roman"/>
              <a:ea typeface="Times New Roman"/>
              <a:cs typeface="Times New Roman"/>
              <a:sym typeface="Times New Roman"/>
            </a:endParaRPr>
          </a:p>
        </p:txBody>
      </p:sp>
      <p:sp>
        <p:nvSpPr>
          <p:cNvPr id="671" name="Google Shape;671;p61"/>
          <p:cNvSpPr txBox="1"/>
          <p:nvPr/>
        </p:nvSpPr>
        <p:spPr>
          <a:xfrm>
            <a:off x="2282825" y="1841880"/>
            <a:ext cx="5496560" cy="2997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800">
                <a:solidFill>
                  <a:schemeClr val="dk1"/>
                </a:solidFill>
                <a:latin typeface="Times New Roman"/>
                <a:ea typeface="Times New Roman"/>
                <a:cs typeface="Times New Roman"/>
                <a:sym typeface="Times New Roman"/>
              </a:rPr>
              <a:t>Tagged corpus and lexicon(with most frequent information)</a:t>
            </a:r>
            <a:endParaRPr sz="1800">
              <a:solidFill>
                <a:schemeClr val="dk1"/>
              </a:solidFill>
              <a:latin typeface="Times New Roman"/>
              <a:ea typeface="Times New Roman"/>
              <a:cs typeface="Times New Roman"/>
              <a:sym typeface="Times New Roman"/>
            </a:endParaRPr>
          </a:p>
        </p:txBody>
      </p:sp>
      <p:sp>
        <p:nvSpPr>
          <p:cNvPr id="672" name="Google Shape;672;p61"/>
          <p:cNvSpPr txBox="1"/>
          <p:nvPr/>
        </p:nvSpPr>
        <p:spPr>
          <a:xfrm>
            <a:off x="945492" y="2410205"/>
            <a:ext cx="765810" cy="299720"/>
          </a:xfrm>
          <a:prstGeom prst="rect">
            <a:avLst/>
          </a:prstGeom>
          <a:noFill/>
          <a:ln>
            <a:noFill/>
          </a:ln>
        </p:spPr>
        <p:txBody>
          <a:bodyPr spcFirstLastPara="1" wrap="square" lIns="0" tIns="12700" rIns="0" bIns="0" anchor="t" anchorCtr="0">
            <a:spAutoFit/>
          </a:bodyPr>
          <a:lstStyle/>
          <a:p>
            <a:pPr marL="207009" marR="0" lvl="0" indent="-194945" algn="l" rtl="0">
              <a:lnSpc>
                <a:spcPct val="100000"/>
              </a:lnSpc>
              <a:spcBef>
                <a:spcPts val="0"/>
              </a:spcBef>
              <a:spcAft>
                <a:spcPts val="0"/>
              </a:spcAft>
              <a:buClr>
                <a:schemeClr val="dk1"/>
              </a:buClr>
              <a:buSzPts val="1800"/>
              <a:buFont typeface="Arial"/>
              <a:buChar char="•"/>
            </a:pPr>
            <a:r>
              <a:rPr lang="en-US" sz="1800">
                <a:solidFill>
                  <a:schemeClr val="dk1"/>
                </a:solidFill>
                <a:latin typeface="Times New Roman"/>
                <a:ea typeface="Times New Roman"/>
                <a:cs typeface="Times New Roman"/>
                <a:sym typeface="Times New Roman"/>
              </a:rPr>
              <a:t>step1:</a:t>
            </a:r>
            <a:endParaRPr sz="1800">
              <a:solidFill>
                <a:schemeClr val="dk1"/>
              </a:solidFill>
              <a:latin typeface="Times New Roman"/>
              <a:ea typeface="Times New Roman"/>
              <a:cs typeface="Times New Roman"/>
              <a:sym typeface="Times New Roman"/>
            </a:endParaRPr>
          </a:p>
        </p:txBody>
      </p:sp>
      <p:sp>
        <p:nvSpPr>
          <p:cNvPr id="673" name="Google Shape;673;p61"/>
          <p:cNvSpPr txBox="1"/>
          <p:nvPr/>
        </p:nvSpPr>
        <p:spPr>
          <a:xfrm>
            <a:off x="2282825" y="2410205"/>
            <a:ext cx="5086350" cy="2997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800">
                <a:solidFill>
                  <a:schemeClr val="dk1"/>
                </a:solidFill>
                <a:latin typeface="Times New Roman"/>
                <a:ea typeface="Times New Roman"/>
                <a:cs typeface="Times New Roman"/>
                <a:sym typeface="Times New Roman"/>
              </a:rPr>
              <a:t>Label every word with most likely tag(from dictionary)</a:t>
            </a:r>
            <a:endParaRPr sz="1800">
              <a:solidFill>
                <a:schemeClr val="dk1"/>
              </a:solidFill>
              <a:latin typeface="Times New Roman"/>
              <a:ea typeface="Times New Roman"/>
              <a:cs typeface="Times New Roman"/>
              <a:sym typeface="Times New Roman"/>
            </a:endParaRPr>
          </a:p>
        </p:txBody>
      </p:sp>
      <p:sp>
        <p:nvSpPr>
          <p:cNvPr id="674" name="Google Shape;674;p61"/>
          <p:cNvSpPr txBox="1"/>
          <p:nvPr/>
        </p:nvSpPr>
        <p:spPr>
          <a:xfrm>
            <a:off x="945492" y="2981705"/>
            <a:ext cx="765810" cy="299720"/>
          </a:xfrm>
          <a:prstGeom prst="rect">
            <a:avLst/>
          </a:prstGeom>
          <a:noFill/>
          <a:ln>
            <a:noFill/>
          </a:ln>
        </p:spPr>
        <p:txBody>
          <a:bodyPr spcFirstLastPara="1" wrap="square" lIns="0" tIns="12700" rIns="0" bIns="0" anchor="t" anchorCtr="0">
            <a:spAutoFit/>
          </a:bodyPr>
          <a:lstStyle/>
          <a:p>
            <a:pPr marL="207009" marR="0" lvl="0" indent="-194945" algn="l" rtl="0">
              <a:lnSpc>
                <a:spcPct val="100000"/>
              </a:lnSpc>
              <a:spcBef>
                <a:spcPts val="0"/>
              </a:spcBef>
              <a:spcAft>
                <a:spcPts val="0"/>
              </a:spcAft>
              <a:buClr>
                <a:schemeClr val="dk1"/>
              </a:buClr>
              <a:buSzPts val="1800"/>
              <a:buFont typeface="Arial"/>
              <a:buChar char="•"/>
            </a:pPr>
            <a:r>
              <a:rPr lang="en-US" sz="1800">
                <a:solidFill>
                  <a:schemeClr val="dk1"/>
                </a:solidFill>
                <a:latin typeface="Times New Roman"/>
                <a:ea typeface="Times New Roman"/>
                <a:cs typeface="Times New Roman"/>
                <a:sym typeface="Times New Roman"/>
              </a:rPr>
              <a:t>step2:</a:t>
            </a:r>
            <a:endParaRPr sz="1800">
              <a:solidFill>
                <a:schemeClr val="dk1"/>
              </a:solidFill>
              <a:latin typeface="Times New Roman"/>
              <a:ea typeface="Times New Roman"/>
              <a:cs typeface="Times New Roman"/>
              <a:sym typeface="Times New Roman"/>
            </a:endParaRPr>
          </a:p>
        </p:txBody>
      </p:sp>
      <p:sp>
        <p:nvSpPr>
          <p:cNvPr id="675" name="Google Shape;675;p61"/>
          <p:cNvSpPr txBox="1"/>
          <p:nvPr/>
        </p:nvSpPr>
        <p:spPr>
          <a:xfrm>
            <a:off x="2282825" y="2981705"/>
            <a:ext cx="7485380" cy="2997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800">
                <a:solidFill>
                  <a:schemeClr val="dk1"/>
                </a:solidFill>
                <a:latin typeface="Times New Roman"/>
                <a:ea typeface="Times New Roman"/>
                <a:cs typeface="Times New Roman"/>
                <a:sym typeface="Times New Roman"/>
              </a:rPr>
              <a:t>Check every possible transformation and select one which most improves tagging</a:t>
            </a:r>
            <a:endParaRPr sz="1800">
              <a:solidFill>
                <a:schemeClr val="dk1"/>
              </a:solidFill>
              <a:latin typeface="Times New Roman"/>
              <a:ea typeface="Times New Roman"/>
              <a:cs typeface="Times New Roman"/>
              <a:sym typeface="Times New Roman"/>
            </a:endParaRPr>
          </a:p>
        </p:txBody>
      </p:sp>
      <p:sp>
        <p:nvSpPr>
          <p:cNvPr id="676" name="Google Shape;676;p61"/>
          <p:cNvSpPr txBox="1"/>
          <p:nvPr/>
        </p:nvSpPr>
        <p:spPr>
          <a:xfrm>
            <a:off x="945492" y="3553205"/>
            <a:ext cx="765810" cy="299720"/>
          </a:xfrm>
          <a:prstGeom prst="rect">
            <a:avLst/>
          </a:prstGeom>
          <a:noFill/>
          <a:ln>
            <a:noFill/>
          </a:ln>
        </p:spPr>
        <p:txBody>
          <a:bodyPr spcFirstLastPara="1" wrap="square" lIns="0" tIns="12700" rIns="0" bIns="0" anchor="t" anchorCtr="0">
            <a:spAutoFit/>
          </a:bodyPr>
          <a:lstStyle/>
          <a:p>
            <a:pPr marL="207009" marR="0" lvl="0" indent="-194945" algn="l" rtl="0">
              <a:lnSpc>
                <a:spcPct val="100000"/>
              </a:lnSpc>
              <a:spcBef>
                <a:spcPts val="0"/>
              </a:spcBef>
              <a:spcAft>
                <a:spcPts val="0"/>
              </a:spcAft>
              <a:buClr>
                <a:schemeClr val="dk1"/>
              </a:buClr>
              <a:buSzPts val="1800"/>
              <a:buFont typeface="Arial"/>
              <a:buChar char="•"/>
            </a:pPr>
            <a:r>
              <a:rPr lang="en-US" sz="1800">
                <a:solidFill>
                  <a:schemeClr val="dk1"/>
                </a:solidFill>
                <a:latin typeface="Times New Roman"/>
                <a:ea typeface="Times New Roman"/>
                <a:cs typeface="Times New Roman"/>
                <a:sym typeface="Times New Roman"/>
              </a:rPr>
              <a:t>step3:</a:t>
            </a:r>
            <a:endParaRPr sz="1800">
              <a:solidFill>
                <a:schemeClr val="dk1"/>
              </a:solidFill>
              <a:latin typeface="Times New Roman"/>
              <a:ea typeface="Times New Roman"/>
              <a:cs typeface="Times New Roman"/>
              <a:sym typeface="Times New Roman"/>
            </a:endParaRPr>
          </a:p>
        </p:txBody>
      </p:sp>
      <p:sp>
        <p:nvSpPr>
          <p:cNvPr id="677" name="Google Shape;677;p61"/>
          <p:cNvSpPr txBox="1"/>
          <p:nvPr/>
        </p:nvSpPr>
        <p:spPr>
          <a:xfrm>
            <a:off x="2282825" y="3553205"/>
            <a:ext cx="2987675" cy="2997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800">
                <a:solidFill>
                  <a:schemeClr val="dk1"/>
                </a:solidFill>
                <a:latin typeface="Times New Roman"/>
                <a:ea typeface="Times New Roman"/>
                <a:cs typeface="Times New Roman"/>
                <a:sym typeface="Times New Roman"/>
              </a:rPr>
              <a:t>Re-tag corpus applying the rules</a:t>
            </a:r>
            <a:endParaRPr sz="1800">
              <a:solidFill>
                <a:schemeClr val="dk1"/>
              </a:solidFill>
              <a:latin typeface="Times New Roman"/>
              <a:ea typeface="Times New Roman"/>
              <a:cs typeface="Times New Roman"/>
              <a:sym typeface="Times New Roman"/>
            </a:endParaRPr>
          </a:p>
        </p:txBody>
      </p:sp>
      <p:sp>
        <p:nvSpPr>
          <p:cNvPr id="678" name="Google Shape;678;p61"/>
          <p:cNvSpPr txBox="1"/>
          <p:nvPr/>
        </p:nvSpPr>
        <p:spPr>
          <a:xfrm>
            <a:off x="945492" y="4124705"/>
            <a:ext cx="1214120" cy="299720"/>
          </a:xfrm>
          <a:prstGeom prst="rect">
            <a:avLst/>
          </a:prstGeom>
          <a:noFill/>
          <a:ln>
            <a:noFill/>
          </a:ln>
        </p:spPr>
        <p:txBody>
          <a:bodyPr spcFirstLastPara="1" wrap="square" lIns="0" tIns="12700" rIns="0" bIns="0" anchor="t" anchorCtr="0">
            <a:spAutoFit/>
          </a:bodyPr>
          <a:lstStyle/>
          <a:p>
            <a:pPr marL="207009" marR="0" lvl="0" indent="-194945" algn="l" rtl="0">
              <a:lnSpc>
                <a:spcPct val="100000"/>
              </a:lnSpc>
              <a:spcBef>
                <a:spcPts val="0"/>
              </a:spcBef>
              <a:spcAft>
                <a:spcPts val="0"/>
              </a:spcAft>
              <a:buClr>
                <a:schemeClr val="dk1"/>
              </a:buClr>
              <a:buSzPts val="1800"/>
              <a:buFont typeface="Arial"/>
              <a:buChar char="•"/>
            </a:pPr>
            <a:r>
              <a:rPr lang="en-US" sz="1800">
                <a:solidFill>
                  <a:schemeClr val="dk1"/>
                </a:solidFill>
                <a:latin typeface="Times New Roman"/>
                <a:ea typeface="Times New Roman"/>
                <a:cs typeface="Times New Roman"/>
                <a:sym typeface="Times New Roman"/>
              </a:rPr>
              <a:t>Repeat 2-3</a:t>
            </a:r>
            <a:endParaRPr sz="1800">
              <a:solidFill>
                <a:schemeClr val="dk1"/>
              </a:solidFill>
              <a:latin typeface="Times New Roman"/>
              <a:ea typeface="Times New Roman"/>
              <a:cs typeface="Times New Roman"/>
              <a:sym typeface="Times New Roman"/>
            </a:endParaRPr>
          </a:p>
        </p:txBody>
      </p:sp>
      <p:sp>
        <p:nvSpPr>
          <p:cNvPr id="679" name="Google Shape;679;p61"/>
          <p:cNvSpPr txBox="1"/>
          <p:nvPr/>
        </p:nvSpPr>
        <p:spPr>
          <a:xfrm>
            <a:off x="2282825" y="4124705"/>
            <a:ext cx="3683000" cy="2997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800">
                <a:solidFill>
                  <a:schemeClr val="dk1"/>
                </a:solidFill>
                <a:latin typeface="Times New Roman"/>
                <a:ea typeface="Times New Roman"/>
                <a:cs typeface="Times New Roman"/>
                <a:sym typeface="Times New Roman"/>
              </a:rPr>
              <a:t>Until some stopping criterion is reached</a:t>
            </a:r>
            <a:endParaRPr sz="1800">
              <a:solidFill>
                <a:schemeClr val="dk1"/>
              </a:solidFill>
              <a:latin typeface="Times New Roman"/>
              <a:ea typeface="Times New Roman"/>
              <a:cs typeface="Times New Roman"/>
              <a:sym typeface="Times New Roman"/>
            </a:endParaRPr>
          </a:p>
        </p:txBody>
      </p:sp>
      <p:sp>
        <p:nvSpPr>
          <p:cNvPr id="680" name="Google Shape;680;p61"/>
          <p:cNvSpPr txBox="1"/>
          <p:nvPr/>
        </p:nvSpPr>
        <p:spPr>
          <a:xfrm>
            <a:off x="945492" y="4696205"/>
            <a:ext cx="1145540" cy="299720"/>
          </a:xfrm>
          <a:prstGeom prst="rect">
            <a:avLst/>
          </a:prstGeom>
          <a:noFill/>
          <a:ln>
            <a:noFill/>
          </a:ln>
        </p:spPr>
        <p:txBody>
          <a:bodyPr spcFirstLastPara="1" wrap="square" lIns="0" tIns="12700" rIns="0" bIns="0" anchor="t" anchorCtr="0">
            <a:spAutoFit/>
          </a:bodyPr>
          <a:lstStyle/>
          <a:p>
            <a:pPr marL="207009" marR="0" lvl="0" indent="-194945" algn="l" rtl="0">
              <a:lnSpc>
                <a:spcPct val="100000"/>
              </a:lnSpc>
              <a:spcBef>
                <a:spcPts val="0"/>
              </a:spcBef>
              <a:spcAft>
                <a:spcPts val="0"/>
              </a:spcAft>
              <a:buClr>
                <a:schemeClr val="dk1"/>
              </a:buClr>
              <a:buSzPts val="1800"/>
              <a:buFont typeface="Arial"/>
              <a:buChar char="•"/>
            </a:pPr>
            <a:r>
              <a:rPr lang="en-US" sz="1800">
                <a:solidFill>
                  <a:schemeClr val="dk1"/>
                </a:solidFill>
                <a:latin typeface="Times New Roman"/>
                <a:ea typeface="Times New Roman"/>
                <a:cs typeface="Times New Roman"/>
                <a:sym typeface="Times New Roman"/>
              </a:rPr>
              <a:t>RESULT:</a:t>
            </a:r>
            <a:endParaRPr sz="1800">
              <a:solidFill>
                <a:schemeClr val="dk1"/>
              </a:solidFill>
              <a:latin typeface="Times New Roman"/>
              <a:ea typeface="Times New Roman"/>
              <a:cs typeface="Times New Roman"/>
              <a:sym typeface="Times New Roman"/>
            </a:endParaRPr>
          </a:p>
        </p:txBody>
      </p:sp>
      <p:sp>
        <p:nvSpPr>
          <p:cNvPr id="681" name="Google Shape;681;p61"/>
          <p:cNvSpPr txBox="1"/>
          <p:nvPr/>
        </p:nvSpPr>
        <p:spPr>
          <a:xfrm>
            <a:off x="2740025" y="4696205"/>
            <a:ext cx="3673475" cy="2997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800">
                <a:solidFill>
                  <a:schemeClr val="dk1"/>
                </a:solidFill>
                <a:latin typeface="Times New Roman"/>
                <a:ea typeface="Times New Roman"/>
                <a:cs typeface="Times New Roman"/>
                <a:sym typeface="Times New Roman"/>
              </a:rPr>
              <a:t>Ranked sequence of tranformation rules</a:t>
            </a:r>
            <a:endParaRPr sz="1800">
              <a:solidFill>
                <a:schemeClr val="dk1"/>
              </a:solidFill>
              <a:latin typeface="Times New Roman"/>
              <a:ea typeface="Times New Roman"/>
              <a:cs typeface="Times New Roman"/>
              <a:sym typeface="Times New Roman"/>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showMasterSp="0">
  <p:cSld>
    <p:spTree>
      <p:nvGrpSpPr>
        <p:cNvPr id="1" name="Shape 685"/>
        <p:cNvGrpSpPr/>
        <p:nvPr/>
      </p:nvGrpSpPr>
      <p:grpSpPr>
        <a:xfrm>
          <a:off x="0" y="0"/>
          <a:ext cx="0" cy="0"/>
          <a:chOff x="0" y="0"/>
          <a:chExt cx="0" cy="0"/>
        </a:xfrm>
      </p:grpSpPr>
      <p:sp>
        <p:nvSpPr>
          <p:cNvPr id="686" name="Google Shape;686;p62"/>
          <p:cNvSpPr txBox="1">
            <a:spLocks noGrp="1"/>
          </p:cNvSpPr>
          <p:nvPr>
            <p:ph type="title"/>
          </p:nvPr>
        </p:nvSpPr>
        <p:spPr>
          <a:xfrm>
            <a:off x="911225" y="231784"/>
            <a:ext cx="4867275" cy="629285"/>
          </a:xfrm>
          <a:prstGeom prst="rect">
            <a:avLst/>
          </a:prstGeom>
          <a:noFill/>
          <a:ln>
            <a:noFill/>
          </a:ln>
        </p:spPr>
        <p:txBody>
          <a:bodyPr spcFirstLastPara="1" wrap="square" lIns="0" tIns="13950" rIns="0" bIns="0" anchor="t" anchorCtr="0">
            <a:spAutoFit/>
          </a:bodyPr>
          <a:lstStyle/>
          <a:p>
            <a:pPr marL="12700" lvl="0" indent="0" algn="l" rtl="0">
              <a:lnSpc>
                <a:spcPct val="100000"/>
              </a:lnSpc>
              <a:spcBef>
                <a:spcPts val="0"/>
              </a:spcBef>
              <a:spcAft>
                <a:spcPts val="0"/>
              </a:spcAft>
              <a:buNone/>
            </a:pPr>
            <a:r>
              <a:rPr lang="en-US"/>
              <a:t>Parts of Speech Tagging</a:t>
            </a:r>
            <a:endParaRPr/>
          </a:p>
        </p:txBody>
      </p:sp>
      <p:sp>
        <p:nvSpPr>
          <p:cNvPr id="687" name="Google Shape;687;p62"/>
          <p:cNvSpPr txBox="1"/>
          <p:nvPr/>
        </p:nvSpPr>
        <p:spPr>
          <a:xfrm>
            <a:off x="911225" y="911166"/>
            <a:ext cx="9991725" cy="459740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2000">
                <a:solidFill>
                  <a:schemeClr val="dk1"/>
                </a:solidFill>
                <a:latin typeface="Times New Roman"/>
                <a:ea typeface="Times New Roman"/>
                <a:cs typeface="Times New Roman"/>
                <a:sym typeface="Times New Roman"/>
              </a:rPr>
              <a:t>Assume that in a corpus,fish is the most likely to be a noun.</a:t>
            </a:r>
            <a:endParaRPr sz="2000">
              <a:solidFill>
                <a:schemeClr val="dk1"/>
              </a:solidFill>
              <a:latin typeface="Times New Roman"/>
              <a:ea typeface="Times New Roman"/>
              <a:cs typeface="Times New Roman"/>
              <a:sym typeface="Times New Roman"/>
            </a:endParaRPr>
          </a:p>
          <a:p>
            <a:pPr marL="927100" marR="0" lvl="0" indent="0" algn="l" rtl="0">
              <a:lnSpc>
                <a:spcPct val="100000"/>
              </a:lnSpc>
              <a:spcBef>
                <a:spcPts val="0"/>
              </a:spcBef>
              <a:spcAft>
                <a:spcPts val="0"/>
              </a:spcAft>
              <a:buNone/>
            </a:pPr>
            <a:r>
              <a:rPr lang="en-US" sz="2000">
                <a:solidFill>
                  <a:schemeClr val="dk1"/>
                </a:solidFill>
                <a:latin typeface="Times New Roman"/>
                <a:ea typeface="Times New Roman"/>
                <a:cs typeface="Times New Roman"/>
                <a:sym typeface="Times New Roman"/>
              </a:rPr>
              <a:t>P(NN/fish) = 0.91</a:t>
            </a:r>
            <a:endParaRPr sz="2000">
              <a:solidFill>
                <a:schemeClr val="dk1"/>
              </a:solidFill>
              <a:latin typeface="Times New Roman"/>
              <a:ea typeface="Times New Roman"/>
              <a:cs typeface="Times New Roman"/>
              <a:sym typeface="Times New Roman"/>
            </a:endParaRPr>
          </a:p>
          <a:p>
            <a:pPr marL="927100" marR="0" lvl="0" indent="0" algn="l" rtl="0">
              <a:lnSpc>
                <a:spcPct val="100000"/>
              </a:lnSpc>
              <a:spcBef>
                <a:spcPts val="0"/>
              </a:spcBef>
              <a:spcAft>
                <a:spcPts val="0"/>
              </a:spcAft>
              <a:buNone/>
            </a:pPr>
            <a:r>
              <a:rPr lang="en-US" sz="2000">
                <a:solidFill>
                  <a:schemeClr val="dk1"/>
                </a:solidFill>
                <a:latin typeface="Times New Roman"/>
                <a:ea typeface="Times New Roman"/>
                <a:cs typeface="Times New Roman"/>
                <a:sym typeface="Times New Roman"/>
              </a:rPr>
              <a:t>P(VB/fish) = 0.09</a:t>
            </a:r>
            <a:endParaRPr sz="2000">
              <a:solidFill>
                <a:schemeClr val="dk1"/>
              </a:solidFill>
              <a:latin typeface="Times New Roman"/>
              <a:ea typeface="Times New Roman"/>
              <a:cs typeface="Times New Roman"/>
              <a:sym typeface="Times New Roman"/>
            </a:endParaRPr>
          </a:p>
          <a:p>
            <a:pPr marL="12700" marR="0" lvl="0" indent="0" algn="l" rtl="0">
              <a:lnSpc>
                <a:spcPct val="100000"/>
              </a:lnSpc>
              <a:spcBef>
                <a:spcPts val="0"/>
              </a:spcBef>
              <a:spcAft>
                <a:spcPts val="0"/>
              </a:spcAft>
              <a:buNone/>
            </a:pPr>
            <a:r>
              <a:rPr lang="en-US" sz="2000">
                <a:solidFill>
                  <a:schemeClr val="dk1"/>
                </a:solidFill>
                <a:latin typeface="Times New Roman"/>
                <a:ea typeface="Times New Roman"/>
                <a:cs typeface="Times New Roman"/>
                <a:sym typeface="Times New Roman"/>
              </a:rPr>
              <a:t>now,consider the following two sentences and their initial tags :</a:t>
            </a:r>
            <a:endParaRPr sz="2000">
              <a:solidFill>
                <a:schemeClr val="dk1"/>
              </a:solidFill>
              <a:latin typeface="Times New Roman"/>
              <a:ea typeface="Times New Roman"/>
              <a:cs typeface="Times New Roman"/>
              <a:sym typeface="Times New Roman"/>
            </a:endParaRPr>
          </a:p>
          <a:p>
            <a:pPr marL="0" marR="0" lvl="0" indent="0" algn="l" rtl="0">
              <a:lnSpc>
                <a:spcPct val="100000"/>
              </a:lnSpc>
              <a:spcBef>
                <a:spcPts val="40"/>
              </a:spcBef>
              <a:spcAft>
                <a:spcPts val="0"/>
              </a:spcAft>
              <a:buNone/>
            </a:pPr>
            <a:endParaRPr sz="2050">
              <a:solidFill>
                <a:schemeClr val="dk1"/>
              </a:solidFill>
              <a:latin typeface="Times New Roman"/>
              <a:ea typeface="Times New Roman"/>
              <a:cs typeface="Times New Roman"/>
              <a:sym typeface="Times New Roman"/>
            </a:endParaRPr>
          </a:p>
          <a:p>
            <a:pPr marL="469900" marR="5569585" lvl="0" indent="0" algn="l" rtl="0">
              <a:lnSpc>
                <a:spcPct val="100000"/>
              </a:lnSpc>
              <a:spcBef>
                <a:spcPts val="0"/>
              </a:spcBef>
              <a:spcAft>
                <a:spcPts val="0"/>
              </a:spcAft>
              <a:buNone/>
            </a:pPr>
            <a:r>
              <a:rPr lang="en-US" sz="2000">
                <a:solidFill>
                  <a:schemeClr val="dk1"/>
                </a:solidFill>
                <a:latin typeface="Times New Roman"/>
                <a:ea typeface="Times New Roman"/>
                <a:cs typeface="Times New Roman"/>
                <a:sym typeface="Times New Roman"/>
              </a:rPr>
              <a:t>I/PRP like/VB to/TO eat/VB fish/NNP  I/PRP like/VB to/TO fish/NNP</a:t>
            </a:r>
            <a:endParaRPr sz="2000">
              <a:solidFill>
                <a:schemeClr val="dk1"/>
              </a:solidFill>
              <a:latin typeface="Times New Roman"/>
              <a:ea typeface="Times New Roman"/>
              <a:cs typeface="Times New Roman"/>
              <a:sym typeface="Times New Roman"/>
            </a:endParaRPr>
          </a:p>
          <a:p>
            <a:pPr marL="0" marR="0" lvl="0" indent="0" algn="l" rtl="0">
              <a:lnSpc>
                <a:spcPct val="100000"/>
              </a:lnSpc>
              <a:spcBef>
                <a:spcPts val="45"/>
              </a:spcBef>
              <a:spcAft>
                <a:spcPts val="0"/>
              </a:spcAft>
              <a:buNone/>
            </a:pPr>
            <a:endParaRPr sz="2050">
              <a:solidFill>
                <a:schemeClr val="dk1"/>
              </a:solidFill>
              <a:latin typeface="Times New Roman"/>
              <a:ea typeface="Times New Roman"/>
              <a:cs typeface="Times New Roman"/>
              <a:sym typeface="Times New Roman"/>
            </a:endParaRPr>
          </a:p>
          <a:p>
            <a:pPr marL="12700" marR="5080" lvl="0" indent="0" algn="l" rtl="0">
              <a:lnSpc>
                <a:spcPct val="100000"/>
              </a:lnSpc>
              <a:spcBef>
                <a:spcPts val="0"/>
              </a:spcBef>
              <a:spcAft>
                <a:spcPts val="0"/>
              </a:spcAft>
              <a:buNone/>
            </a:pPr>
            <a:r>
              <a:rPr lang="en-US" sz="2000">
                <a:solidFill>
                  <a:schemeClr val="dk1"/>
                </a:solidFill>
                <a:latin typeface="Times New Roman"/>
                <a:ea typeface="Times New Roman"/>
                <a:cs typeface="Times New Roman"/>
                <a:sym typeface="Times New Roman"/>
              </a:rPr>
              <a:t>The most likely tag for fish in NNP, the tagger assigns this tag to the word in both sentence .In the  second case, it is a mistake .</a:t>
            </a:r>
            <a:endParaRPr sz="2000">
              <a:solidFill>
                <a:schemeClr val="dk1"/>
              </a:solidFill>
              <a:latin typeface="Times New Roman"/>
              <a:ea typeface="Times New Roman"/>
              <a:cs typeface="Times New Roman"/>
              <a:sym typeface="Times New Roman"/>
            </a:endParaRPr>
          </a:p>
          <a:p>
            <a:pPr marL="0" marR="0" lvl="0" indent="0" algn="l" rtl="0">
              <a:lnSpc>
                <a:spcPct val="100000"/>
              </a:lnSpc>
              <a:spcBef>
                <a:spcPts val="40"/>
              </a:spcBef>
              <a:spcAft>
                <a:spcPts val="0"/>
              </a:spcAft>
              <a:buNone/>
            </a:pPr>
            <a:endParaRPr sz="2050">
              <a:solidFill>
                <a:schemeClr val="dk1"/>
              </a:solidFill>
              <a:latin typeface="Times New Roman"/>
              <a:ea typeface="Times New Roman"/>
              <a:cs typeface="Times New Roman"/>
              <a:sym typeface="Times New Roman"/>
            </a:endParaRPr>
          </a:p>
          <a:p>
            <a:pPr marL="12700" marR="26034" lvl="0" indent="0" algn="l" rtl="0">
              <a:lnSpc>
                <a:spcPct val="100000"/>
              </a:lnSpc>
              <a:spcBef>
                <a:spcPts val="0"/>
              </a:spcBef>
              <a:spcAft>
                <a:spcPts val="0"/>
              </a:spcAft>
              <a:buNone/>
            </a:pPr>
            <a:r>
              <a:rPr lang="en-US" sz="2000">
                <a:solidFill>
                  <a:schemeClr val="dk1"/>
                </a:solidFill>
                <a:latin typeface="Times New Roman"/>
                <a:ea typeface="Times New Roman"/>
                <a:cs typeface="Times New Roman"/>
                <a:sym typeface="Times New Roman"/>
              </a:rPr>
              <a:t>After initial tagging when the transformation rules are applied ,the tagger learns a rule that applies  exactly to this mis-tagging of fish. Change NNP to VB of the previous tag in TO.</a:t>
            </a:r>
            <a:endParaRPr sz="2000">
              <a:solidFill>
                <a:schemeClr val="dk1"/>
              </a:solidFill>
              <a:latin typeface="Times New Roman"/>
              <a:ea typeface="Times New Roman"/>
              <a:cs typeface="Times New Roman"/>
              <a:sym typeface="Times New Roman"/>
            </a:endParaRPr>
          </a:p>
          <a:p>
            <a:pPr marL="927100" marR="1710689" lvl="0" indent="-914400" algn="l" rtl="0">
              <a:lnSpc>
                <a:spcPct val="100000"/>
              </a:lnSpc>
              <a:spcBef>
                <a:spcPts val="0"/>
              </a:spcBef>
              <a:spcAft>
                <a:spcPts val="0"/>
              </a:spcAft>
              <a:buNone/>
            </a:pPr>
            <a:r>
              <a:rPr lang="en-US" sz="2000">
                <a:solidFill>
                  <a:schemeClr val="dk1"/>
                </a:solidFill>
                <a:latin typeface="Times New Roman"/>
                <a:ea typeface="Times New Roman"/>
                <a:cs typeface="Times New Roman"/>
                <a:sym typeface="Times New Roman"/>
              </a:rPr>
              <a:t>As the contextual condition is satisfied ,this rule with change fish/NN to fish/VB:  like/VB to/TO fish/NN-&gt;like/VB to/TO fish/VB</a:t>
            </a:r>
            <a:endParaRPr sz="2000">
              <a:solidFill>
                <a:schemeClr val="dk1"/>
              </a:solidFill>
              <a:latin typeface="Times New Roman"/>
              <a:ea typeface="Times New Roman"/>
              <a:cs typeface="Times New Roman"/>
              <a:sym typeface="Times New Roman"/>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showMasterSp="0">
  <p:cSld>
    <p:spTree>
      <p:nvGrpSpPr>
        <p:cNvPr id="1" name="Shape 691"/>
        <p:cNvGrpSpPr/>
        <p:nvPr/>
      </p:nvGrpSpPr>
      <p:grpSpPr>
        <a:xfrm>
          <a:off x="0" y="0"/>
          <a:ext cx="0" cy="0"/>
          <a:chOff x="0" y="0"/>
          <a:chExt cx="0" cy="0"/>
        </a:xfrm>
      </p:grpSpPr>
      <p:sp>
        <p:nvSpPr>
          <p:cNvPr id="692" name="Google Shape;692;p63"/>
          <p:cNvSpPr txBox="1">
            <a:spLocks noGrp="1"/>
          </p:cNvSpPr>
          <p:nvPr>
            <p:ph type="title"/>
          </p:nvPr>
        </p:nvSpPr>
        <p:spPr>
          <a:xfrm>
            <a:off x="911225" y="195849"/>
            <a:ext cx="3362960" cy="629285"/>
          </a:xfrm>
          <a:prstGeom prst="rect">
            <a:avLst/>
          </a:prstGeom>
          <a:noFill/>
          <a:ln>
            <a:noFill/>
          </a:ln>
        </p:spPr>
        <p:txBody>
          <a:bodyPr spcFirstLastPara="1" wrap="square" lIns="0" tIns="13950" rIns="0" bIns="0" anchor="t" anchorCtr="0">
            <a:spAutoFit/>
          </a:bodyPr>
          <a:lstStyle/>
          <a:p>
            <a:pPr marL="12700" lvl="0" indent="0" algn="l" rtl="0">
              <a:lnSpc>
                <a:spcPct val="100000"/>
              </a:lnSpc>
              <a:spcBef>
                <a:spcPts val="0"/>
              </a:spcBef>
              <a:spcAft>
                <a:spcPts val="0"/>
              </a:spcAft>
              <a:buNone/>
            </a:pPr>
            <a:r>
              <a:rPr lang="en-US"/>
              <a:t>Unknown words</a:t>
            </a:r>
            <a:endParaRPr/>
          </a:p>
        </p:txBody>
      </p:sp>
      <p:sp>
        <p:nvSpPr>
          <p:cNvPr id="693" name="Google Shape;693;p63"/>
          <p:cNvSpPr txBox="1"/>
          <p:nvPr/>
        </p:nvSpPr>
        <p:spPr>
          <a:xfrm>
            <a:off x="911225" y="1290873"/>
            <a:ext cx="3073400" cy="2997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800">
                <a:solidFill>
                  <a:schemeClr val="dk1"/>
                </a:solidFill>
                <a:latin typeface="Calibri"/>
                <a:ea typeface="Calibri"/>
                <a:cs typeface="Calibri"/>
                <a:sym typeface="Calibri"/>
              </a:rPr>
              <a:t>- Unknown words are words that</a:t>
            </a:r>
            <a:endParaRPr sz="1800">
              <a:solidFill>
                <a:schemeClr val="dk1"/>
              </a:solidFill>
              <a:latin typeface="Calibri"/>
              <a:ea typeface="Calibri"/>
              <a:cs typeface="Calibri"/>
              <a:sym typeface="Calibri"/>
            </a:endParaRPr>
          </a:p>
        </p:txBody>
      </p:sp>
      <p:sp>
        <p:nvSpPr>
          <p:cNvPr id="694" name="Google Shape;694;p63"/>
          <p:cNvSpPr txBox="1"/>
          <p:nvPr/>
        </p:nvSpPr>
        <p:spPr>
          <a:xfrm>
            <a:off x="4030898" y="1312718"/>
            <a:ext cx="2573655" cy="274320"/>
          </a:xfrm>
          <a:prstGeom prst="rect">
            <a:avLst/>
          </a:prstGeom>
          <a:solidFill>
            <a:srgbClr val="FFFF00"/>
          </a:solidFill>
          <a:ln>
            <a:noFill/>
          </a:ln>
        </p:spPr>
        <p:txBody>
          <a:bodyPr spcFirstLastPara="1" wrap="square" lIns="0" tIns="0" rIns="0" bIns="0" anchor="t" anchorCtr="0">
            <a:spAutoFit/>
          </a:bodyPr>
          <a:lstStyle/>
          <a:p>
            <a:pPr marL="0" marR="0" lvl="0" indent="0" algn="l" rtl="0">
              <a:lnSpc>
                <a:spcPct val="116111"/>
              </a:lnSpc>
              <a:spcBef>
                <a:spcPts val="0"/>
              </a:spcBef>
              <a:spcAft>
                <a:spcPts val="0"/>
              </a:spcAft>
              <a:buNone/>
            </a:pPr>
            <a:r>
              <a:rPr lang="en-US" sz="1800">
                <a:solidFill>
                  <a:schemeClr val="dk1"/>
                </a:solidFill>
                <a:latin typeface="Calibri"/>
                <a:ea typeface="Calibri"/>
                <a:cs typeface="Calibri"/>
                <a:sym typeface="Calibri"/>
              </a:rPr>
              <a:t>do not appear in dictionary</a:t>
            </a:r>
            <a:endParaRPr sz="1800">
              <a:solidFill>
                <a:schemeClr val="dk1"/>
              </a:solidFill>
              <a:latin typeface="Calibri"/>
              <a:ea typeface="Calibri"/>
              <a:cs typeface="Calibri"/>
              <a:sym typeface="Calibri"/>
            </a:endParaRPr>
          </a:p>
        </p:txBody>
      </p:sp>
      <p:sp>
        <p:nvSpPr>
          <p:cNvPr id="695" name="Google Shape;695;p63"/>
          <p:cNvSpPr txBox="1"/>
          <p:nvPr/>
        </p:nvSpPr>
        <p:spPr>
          <a:xfrm>
            <a:off x="6580346" y="1290873"/>
            <a:ext cx="1887855" cy="2997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800">
                <a:solidFill>
                  <a:schemeClr val="dk1"/>
                </a:solidFill>
                <a:latin typeface="Calibri"/>
                <a:ea typeface="Calibri"/>
                <a:cs typeface="Calibri"/>
                <a:sym typeface="Calibri"/>
              </a:rPr>
              <a:t>or a training corpus.</a:t>
            </a:r>
            <a:endParaRPr sz="1800">
              <a:solidFill>
                <a:schemeClr val="dk1"/>
              </a:solidFill>
              <a:latin typeface="Calibri"/>
              <a:ea typeface="Calibri"/>
              <a:cs typeface="Calibri"/>
              <a:sym typeface="Calibri"/>
            </a:endParaRPr>
          </a:p>
        </p:txBody>
      </p:sp>
      <p:sp>
        <p:nvSpPr>
          <p:cNvPr id="696" name="Google Shape;696;p63"/>
          <p:cNvSpPr txBox="1"/>
          <p:nvPr/>
        </p:nvSpPr>
        <p:spPr>
          <a:xfrm>
            <a:off x="911225" y="1859198"/>
            <a:ext cx="5072380" cy="871219"/>
          </a:xfrm>
          <a:prstGeom prst="rect">
            <a:avLst/>
          </a:prstGeom>
          <a:noFill/>
          <a:ln>
            <a:noFill/>
          </a:ln>
        </p:spPr>
        <p:txBody>
          <a:bodyPr spcFirstLastPara="1" wrap="square" lIns="0" tIns="12700" rIns="0" bIns="0" anchor="t" anchorCtr="0">
            <a:spAutoFit/>
          </a:bodyPr>
          <a:lstStyle/>
          <a:p>
            <a:pPr marL="133985" marR="0" lvl="0" indent="-121920" algn="l" rtl="0">
              <a:lnSpc>
                <a:spcPct val="100000"/>
              </a:lnSpc>
              <a:spcBef>
                <a:spcPts val="0"/>
              </a:spcBef>
              <a:spcAft>
                <a:spcPts val="0"/>
              </a:spcAft>
              <a:buClr>
                <a:schemeClr val="dk1"/>
              </a:buClr>
              <a:buSzPts val="1800"/>
              <a:buFont typeface="Calibri"/>
              <a:buChar char="-"/>
            </a:pPr>
            <a:r>
              <a:rPr lang="en-US" sz="1800">
                <a:solidFill>
                  <a:schemeClr val="dk1"/>
                </a:solidFill>
                <a:latin typeface="Calibri"/>
                <a:ea typeface="Calibri"/>
                <a:cs typeface="Calibri"/>
                <a:sym typeface="Calibri"/>
              </a:rPr>
              <a:t>They create a problem during tagging.</a:t>
            </a:r>
            <a:endParaRPr sz="1800">
              <a:solidFill>
                <a:schemeClr val="dk1"/>
              </a:solidFill>
              <a:latin typeface="Calibri"/>
              <a:ea typeface="Calibri"/>
              <a:cs typeface="Calibri"/>
              <a:sym typeface="Calibri"/>
            </a:endParaRPr>
          </a:p>
          <a:p>
            <a:pPr marL="0" marR="0" lvl="0" indent="0" algn="l" rtl="0">
              <a:lnSpc>
                <a:spcPct val="100000"/>
              </a:lnSpc>
              <a:spcBef>
                <a:spcPts val="20"/>
              </a:spcBef>
              <a:spcAft>
                <a:spcPts val="0"/>
              </a:spcAft>
              <a:buClr>
                <a:schemeClr val="dk1"/>
              </a:buClr>
              <a:buSzPts val="1900"/>
              <a:buFont typeface="Calibri"/>
              <a:buNone/>
            </a:pPr>
            <a:endParaRPr sz="1900">
              <a:solidFill>
                <a:schemeClr val="dk1"/>
              </a:solidFill>
              <a:latin typeface="Calibri"/>
              <a:ea typeface="Calibri"/>
              <a:cs typeface="Calibri"/>
              <a:sym typeface="Calibri"/>
            </a:endParaRPr>
          </a:p>
          <a:p>
            <a:pPr marL="133985" marR="0" lvl="0" indent="-121920" algn="l" rtl="0">
              <a:lnSpc>
                <a:spcPct val="100000"/>
              </a:lnSpc>
              <a:spcBef>
                <a:spcPts val="0"/>
              </a:spcBef>
              <a:spcAft>
                <a:spcPts val="0"/>
              </a:spcAft>
              <a:buClr>
                <a:schemeClr val="dk1"/>
              </a:buClr>
              <a:buSzPts val="1800"/>
              <a:buFont typeface="Calibri"/>
              <a:buChar char="-"/>
            </a:pPr>
            <a:r>
              <a:rPr lang="en-US" sz="1800">
                <a:solidFill>
                  <a:schemeClr val="dk1"/>
                </a:solidFill>
                <a:latin typeface="Calibri"/>
                <a:ea typeface="Calibri"/>
                <a:cs typeface="Calibri"/>
                <a:sym typeface="Calibri"/>
              </a:rPr>
              <a:t>There are several potential solutions to this problem.</a:t>
            </a:r>
            <a:endParaRPr sz="1800">
              <a:solidFill>
                <a:schemeClr val="dk1"/>
              </a:solidFill>
              <a:latin typeface="Calibri"/>
              <a:ea typeface="Calibri"/>
              <a:cs typeface="Calibri"/>
              <a:sym typeface="Calibri"/>
            </a:endParaRPr>
          </a:p>
        </p:txBody>
      </p:sp>
      <p:sp>
        <p:nvSpPr>
          <p:cNvPr id="697" name="Google Shape;697;p63"/>
          <p:cNvSpPr txBox="1"/>
          <p:nvPr/>
        </p:nvSpPr>
        <p:spPr>
          <a:xfrm>
            <a:off x="1976623" y="3024043"/>
            <a:ext cx="2713990" cy="274320"/>
          </a:xfrm>
          <a:prstGeom prst="rect">
            <a:avLst/>
          </a:prstGeom>
          <a:solidFill>
            <a:srgbClr val="FFFF00"/>
          </a:solidFill>
          <a:ln>
            <a:noFill/>
          </a:ln>
        </p:spPr>
        <p:txBody>
          <a:bodyPr spcFirstLastPara="1" wrap="square" lIns="0" tIns="0" rIns="0" bIns="0" anchor="t" anchorCtr="0">
            <a:spAutoFit/>
          </a:bodyPr>
          <a:lstStyle/>
          <a:p>
            <a:pPr marL="0" marR="0" lvl="0" indent="0" algn="l" rtl="0">
              <a:lnSpc>
                <a:spcPct val="116111"/>
              </a:lnSpc>
              <a:spcBef>
                <a:spcPts val="0"/>
              </a:spcBef>
              <a:spcAft>
                <a:spcPts val="0"/>
              </a:spcAft>
              <a:buNone/>
            </a:pPr>
            <a:r>
              <a:rPr lang="en-US" sz="1800">
                <a:solidFill>
                  <a:schemeClr val="dk1"/>
                </a:solidFill>
                <a:latin typeface="Calibri"/>
                <a:ea typeface="Calibri"/>
                <a:cs typeface="Calibri"/>
                <a:sym typeface="Calibri"/>
              </a:rPr>
              <a:t>assign the most frequent tag</a:t>
            </a:r>
            <a:endParaRPr sz="1800">
              <a:solidFill>
                <a:schemeClr val="dk1"/>
              </a:solidFill>
              <a:latin typeface="Calibri"/>
              <a:ea typeface="Calibri"/>
              <a:cs typeface="Calibri"/>
              <a:sym typeface="Calibri"/>
            </a:endParaRPr>
          </a:p>
        </p:txBody>
      </p:sp>
      <p:sp>
        <p:nvSpPr>
          <p:cNvPr id="698" name="Google Shape;698;p63"/>
          <p:cNvSpPr txBox="1"/>
          <p:nvPr/>
        </p:nvSpPr>
        <p:spPr>
          <a:xfrm>
            <a:off x="911225" y="2959018"/>
            <a:ext cx="10233600" cy="289800"/>
          </a:xfrm>
          <a:prstGeom prst="rect">
            <a:avLst/>
          </a:prstGeom>
          <a:noFill/>
          <a:ln>
            <a:noFill/>
          </a:ln>
        </p:spPr>
        <p:txBody>
          <a:bodyPr spcFirstLastPara="1" wrap="square" lIns="0" tIns="12700" rIns="0" bIns="0" anchor="t" anchorCtr="0">
            <a:spAutoFit/>
          </a:bodyPr>
          <a:lstStyle/>
          <a:p>
            <a:pPr marL="12700" marR="5080" lvl="0" indent="0" algn="l" rtl="0">
              <a:lnSpc>
                <a:spcPct val="115700"/>
              </a:lnSpc>
              <a:spcBef>
                <a:spcPts val="0"/>
              </a:spcBef>
              <a:spcAft>
                <a:spcPts val="0"/>
              </a:spcAft>
              <a:buNone/>
            </a:pPr>
            <a:r>
              <a:rPr lang="en-US" sz="1800">
                <a:solidFill>
                  <a:schemeClr val="dk1"/>
                </a:solidFill>
                <a:latin typeface="Calibri"/>
                <a:ea typeface="Calibri"/>
                <a:cs typeface="Calibri"/>
                <a:sym typeface="Calibri"/>
              </a:rPr>
              <a:t>i) One is to	</a:t>
            </a:r>
            <a:endParaRPr sz="1800">
              <a:solidFill>
                <a:schemeClr val="dk1"/>
              </a:solidFill>
              <a:latin typeface="Calibri"/>
              <a:ea typeface="Calibri"/>
              <a:cs typeface="Calibri"/>
              <a:sym typeface="Calibri"/>
            </a:endParaRPr>
          </a:p>
        </p:txBody>
      </p:sp>
      <p:sp>
        <p:nvSpPr>
          <p:cNvPr id="699" name="Google Shape;699;p63"/>
          <p:cNvSpPr txBox="1"/>
          <p:nvPr/>
        </p:nvSpPr>
        <p:spPr>
          <a:xfrm>
            <a:off x="911225" y="3888023"/>
            <a:ext cx="10150475" cy="2997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800">
                <a:solidFill>
                  <a:schemeClr val="dk1"/>
                </a:solidFill>
                <a:latin typeface="Calibri"/>
                <a:ea typeface="Calibri"/>
                <a:cs typeface="Calibri"/>
                <a:sym typeface="Calibri"/>
              </a:rPr>
              <a:t>ii) Another solution is to assume that the unknown words can be of any parts of speech and initialize them by</a:t>
            </a:r>
            <a:endParaRPr sz="1800">
              <a:solidFill>
                <a:schemeClr val="dk1"/>
              </a:solidFill>
              <a:latin typeface="Calibri"/>
              <a:ea typeface="Calibri"/>
              <a:cs typeface="Calibri"/>
              <a:sym typeface="Calibri"/>
            </a:endParaRPr>
          </a:p>
        </p:txBody>
      </p:sp>
      <p:sp>
        <p:nvSpPr>
          <p:cNvPr id="700" name="Google Shape;700;p63"/>
          <p:cNvSpPr txBox="1"/>
          <p:nvPr/>
        </p:nvSpPr>
        <p:spPr>
          <a:xfrm>
            <a:off x="911225" y="4205523"/>
            <a:ext cx="1417320" cy="2997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800">
                <a:solidFill>
                  <a:schemeClr val="dk1"/>
                </a:solidFill>
                <a:latin typeface="Calibri"/>
                <a:ea typeface="Calibri"/>
                <a:cs typeface="Calibri"/>
                <a:sym typeface="Calibri"/>
              </a:rPr>
              <a:t>assigning them</a:t>
            </a:r>
            <a:endParaRPr sz="1800">
              <a:solidFill>
                <a:schemeClr val="dk1"/>
              </a:solidFill>
              <a:latin typeface="Calibri"/>
              <a:ea typeface="Calibri"/>
              <a:cs typeface="Calibri"/>
              <a:sym typeface="Calibri"/>
            </a:endParaRPr>
          </a:p>
        </p:txBody>
      </p:sp>
      <p:sp>
        <p:nvSpPr>
          <p:cNvPr id="701" name="Google Shape;701;p63"/>
          <p:cNvSpPr txBox="1"/>
          <p:nvPr/>
        </p:nvSpPr>
        <p:spPr>
          <a:xfrm>
            <a:off x="2368971" y="4227367"/>
            <a:ext cx="1456690" cy="274320"/>
          </a:xfrm>
          <a:prstGeom prst="rect">
            <a:avLst/>
          </a:prstGeom>
          <a:solidFill>
            <a:srgbClr val="FFFF00"/>
          </a:solidFill>
          <a:ln>
            <a:noFill/>
          </a:ln>
        </p:spPr>
        <p:txBody>
          <a:bodyPr spcFirstLastPara="1" wrap="square" lIns="0" tIns="0" rIns="0" bIns="0" anchor="t" anchorCtr="0">
            <a:spAutoFit/>
          </a:bodyPr>
          <a:lstStyle/>
          <a:p>
            <a:pPr marL="0" marR="0" lvl="0" indent="0" algn="l" rtl="0">
              <a:lnSpc>
                <a:spcPct val="116111"/>
              </a:lnSpc>
              <a:spcBef>
                <a:spcPts val="0"/>
              </a:spcBef>
              <a:spcAft>
                <a:spcPts val="0"/>
              </a:spcAft>
              <a:buNone/>
            </a:pPr>
            <a:r>
              <a:rPr lang="en-US" sz="1800">
                <a:solidFill>
                  <a:schemeClr val="dk1"/>
                </a:solidFill>
                <a:latin typeface="Calibri"/>
                <a:ea typeface="Calibri"/>
                <a:cs typeface="Calibri"/>
                <a:sym typeface="Calibri"/>
              </a:rPr>
              <a:t>open class tags.</a:t>
            </a:r>
            <a:endParaRPr sz="1800">
              <a:solidFill>
                <a:schemeClr val="dk1"/>
              </a:solidFill>
              <a:latin typeface="Calibri"/>
              <a:ea typeface="Calibri"/>
              <a:cs typeface="Calibri"/>
              <a:sym typeface="Calibri"/>
            </a:endParaRPr>
          </a:p>
        </p:txBody>
      </p:sp>
      <p:sp>
        <p:nvSpPr>
          <p:cNvPr id="702" name="Google Shape;702;p63"/>
          <p:cNvSpPr txBox="1"/>
          <p:nvPr/>
        </p:nvSpPr>
        <p:spPr>
          <a:xfrm>
            <a:off x="955538" y="4773848"/>
            <a:ext cx="1852200" cy="28980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800">
                <a:solidFill>
                  <a:schemeClr val="dk1"/>
                </a:solidFill>
                <a:latin typeface="Calibri"/>
                <a:ea typeface="Calibri"/>
                <a:cs typeface="Calibri"/>
                <a:sym typeface="Calibri"/>
              </a:rPr>
              <a:t>-	Then proceed </a:t>
            </a:r>
            <a:endParaRPr sz="1800">
              <a:solidFill>
                <a:schemeClr val="dk1"/>
              </a:solidFill>
              <a:latin typeface="Calibri"/>
              <a:ea typeface="Calibri"/>
              <a:cs typeface="Calibri"/>
              <a:sym typeface="Calibri"/>
            </a:endParaRPr>
          </a:p>
        </p:txBody>
      </p:sp>
      <p:sp>
        <p:nvSpPr>
          <p:cNvPr id="703" name="Google Shape;703;p63"/>
          <p:cNvSpPr txBox="1"/>
          <p:nvPr/>
        </p:nvSpPr>
        <p:spPr>
          <a:xfrm>
            <a:off x="2848942" y="4795692"/>
            <a:ext cx="1306195" cy="274320"/>
          </a:xfrm>
          <a:prstGeom prst="rect">
            <a:avLst/>
          </a:prstGeom>
          <a:solidFill>
            <a:srgbClr val="FFFF00"/>
          </a:solidFill>
          <a:ln>
            <a:noFill/>
          </a:ln>
        </p:spPr>
        <p:txBody>
          <a:bodyPr spcFirstLastPara="1" wrap="square" lIns="0" tIns="0" rIns="0" bIns="0" anchor="t" anchorCtr="0">
            <a:spAutoFit/>
          </a:bodyPr>
          <a:lstStyle/>
          <a:p>
            <a:pPr marL="0" marR="0" lvl="0" indent="0" algn="l" rtl="0">
              <a:lnSpc>
                <a:spcPct val="116111"/>
              </a:lnSpc>
              <a:spcBef>
                <a:spcPts val="0"/>
              </a:spcBef>
              <a:spcAft>
                <a:spcPts val="0"/>
              </a:spcAft>
              <a:buNone/>
            </a:pPr>
            <a:r>
              <a:rPr lang="en-US" sz="1800">
                <a:solidFill>
                  <a:schemeClr val="dk1"/>
                </a:solidFill>
                <a:latin typeface="Calibri"/>
                <a:ea typeface="Calibri"/>
                <a:cs typeface="Calibri"/>
                <a:sym typeface="Calibri"/>
              </a:rPr>
              <a:t>disambiguate</a:t>
            </a:r>
            <a:endParaRPr sz="1800">
              <a:solidFill>
                <a:schemeClr val="dk1"/>
              </a:solidFill>
              <a:latin typeface="Calibri"/>
              <a:ea typeface="Calibri"/>
              <a:cs typeface="Calibri"/>
              <a:sym typeface="Calibri"/>
            </a:endParaRPr>
          </a:p>
        </p:txBody>
      </p:sp>
      <p:sp>
        <p:nvSpPr>
          <p:cNvPr id="704" name="Google Shape;704;p63"/>
          <p:cNvSpPr txBox="1"/>
          <p:nvPr/>
        </p:nvSpPr>
        <p:spPr>
          <a:xfrm>
            <a:off x="4137200" y="4773848"/>
            <a:ext cx="3923029" cy="2997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800">
                <a:solidFill>
                  <a:schemeClr val="dk1"/>
                </a:solidFill>
                <a:latin typeface="Calibri"/>
                <a:ea typeface="Calibri"/>
                <a:cs typeface="Calibri"/>
                <a:sym typeface="Calibri"/>
              </a:rPr>
              <a:t>them using the probabilities of these tags.</a:t>
            </a:r>
            <a:endParaRPr sz="1800">
              <a:solidFill>
                <a:schemeClr val="dk1"/>
              </a:solidFill>
              <a:latin typeface="Calibri"/>
              <a:ea typeface="Calibri"/>
              <a:cs typeface="Calibri"/>
              <a:sym typeface="Calibri"/>
            </a:endParaRPr>
          </a:p>
        </p:txBody>
      </p:sp>
      <p:sp>
        <p:nvSpPr>
          <p:cNvPr id="705" name="Google Shape;705;p63"/>
          <p:cNvSpPr txBox="1"/>
          <p:nvPr/>
        </p:nvSpPr>
        <p:spPr>
          <a:xfrm>
            <a:off x="911225" y="5323403"/>
            <a:ext cx="9854565" cy="550545"/>
          </a:xfrm>
          <a:prstGeom prst="rect">
            <a:avLst/>
          </a:prstGeom>
          <a:noFill/>
          <a:ln>
            <a:noFill/>
          </a:ln>
        </p:spPr>
        <p:txBody>
          <a:bodyPr spcFirstLastPara="1" wrap="square" lIns="0" tIns="40000" rIns="0" bIns="0" anchor="t" anchorCtr="0">
            <a:spAutoFit/>
          </a:bodyPr>
          <a:lstStyle/>
          <a:p>
            <a:pPr marL="12700" marR="5080" lvl="0" indent="0" algn="l" rtl="0">
              <a:lnSpc>
                <a:spcPct val="110000"/>
              </a:lnSpc>
              <a:spcBef>
                <a:spcPts val="0"/>
              </a:spcBef>
              <a:spcAft>
                <a:spcPts val="0"/>
              </a:spcAft>
              <a:buNone/>
            </a:pPr>
            <a:r>
              <a:rPr lang="en-US" sz="1800">
                <a:solidFill>
                  <a:schemeClr val="dk1"/>
                </a:solidFill>
                <a:latin typeface="Calibri"/>
                <a:ea typeface="Calibri"/>
                <a:cs typeface="Calibri"/>
                <a:sym typeface="Calibri"/>
              </a:rPr>
              <a:t>In this approach, the unknown word is assigned a tag based on the probability of the words belonging to a  specific part of speech in the training corpus having the same suffix or prefix</a:t>
            </a:r>
            <a:endParaRPr sz="1800">
              <a:solidFill>
                <a:schemeClr val="dk1"/>
              </a:solidFill>
              <a:latin typeface="Calibri"/>
              <a:ea typeface="Calibri"/>
              <a:cs typeface="Calibri"/>
              <a:sym typeface="Calibri"/>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showMasterSp="0">
  <p:cSld>
    <p:spTree>
      <p:nvGrpSpPr>
        <p:cNvPr id="1" name="Shape 709"/>
        <p:cNvGrpSpPr/>
        <p:nvPr/>
      </p:nvGrpSpPr>
      <p:grpSpPr>
        <a:xfrm>
          <a:off x="0" y="0"/>
          <a:ext cx="0" cy="0"/>
          <a:chOff x="0" y="0"/>
          <a:chExt cx="0" cy="0"/>
        </a:xfrm>
      </p:grpSpPr>
      <p:sp>
        <p:nvSpPr>
          <p:cNvPr id="710" name="Google Shape;710;p64"/>
          <p:cNvSpPr txBox="1">
            <a:spLocks noGrp="1"/>
          </p:cNvSpPr>
          <p:nvPr>
            <p:ph type="title"/>
          </p:nvPr>
        </p:nvSpPr>
        <p:spPr>
          <a:xfrm>
            <a:off x="911225" y="333384"/>
            <a:ext cx="5867400" cy="629285"/>
          </a:xfrm>
          <a:prstGeom prst="rect">
            <a:avLst/>
          </a:prstGeom>
          <a:noFill/>
          <a:ln>
            <a:noFill/>
          </a:ln>
        </p:spPr>
        <p:txBody>
          <a:bodyPr spcFirstLastPara="1" wrap="square" lIns="0" tIns="13950" rIns="0" bIns="0" anchor="t" anchorCtr="0">
            <a:spAutoFit/>
          </a:bodyPr>
          <a:lstStyle/>
          <a:p>
            <a:pPr marL="12700" lvl="0" indent="0" algn="l" rtl="0">
              <a:lnSpc>
                <a:spcPct val="100000"/>
              </a:lnSpc>
              <a:spcBef>
                <a:spcPts val="0"/>
              </a:spcBef>
              <a:spcAft>
                <a:spcPts val="0"/>
              </a:spcAft>
              <a:buNone/>
            </a:pPr>
            <a:r>
              <a:rPr lang="en-US"/>
              <a:t>Chapter 2: Syntactic Analysis</a:t>
            </a:r>
            <a:endParaRPr/>
          </a:p>
        </p:txBody>
      </p:sp>
      <p:sp>
        <p:nvSpPr>
          <p:cNvPr id="711" name="Google Shape;711;p64"/>
          <p:cNvSpPr txBox="1"/>
          <p:nvPr/>
        </p:nvSpPr>
        <p:spPr>
          <a:xfrm>
            <a:off x="860343" y="1024391"/>
            <a:ext cx="10006965" cy="5707380"/>
          </a:xfrm>
          <a:prstGeom prst="rect">
            <a:avLst/>
          </a:prstGeom>
          <a:noFill/>
          <a:ln>
            <a:noFill/>
          </a:ln>
        </p:spPr>
        <p:txBody>
          <a:bodyPr spcFirstLastPara="1" wrap="square" lIns="0" tIns="16500" rIns="0" bIns="0" anchor="t" anchorCtr="0">
            <a:spAutoFit/>
          </a:bodyPr>
          <a:lstStyle/>
          <a:p>
            <a:pPr marL="406400" marR="0" lvl="0" indent="-306070" algn="l" rtl="0">
              <a:lnSpc>
                <a:spcPct val="100000"/>
              </a:lnSpc>
              <a:spcBef>
                <a:spcPts val="0"/>
              </a:spcBef>
              <a:spcAft>
                <a:spcPts val="0"/>
              </a:spcAft>
              <a:buClr>
                <a:srgbClr val="FF0000"/>
              </a:buClr>
              <a:buSzPts val="1500"/>
              <a:buFont typeface="Calibri"/>
              <a:buChar char="-"/>
            </a:pPr>
            <a:r>
              <a:rPr lang="en-US" sz="1500">
                <a:solidFill>
                  <a:srgbClr val="FF0000"/>
                </a:solidFill>
                <a:latin typeface="Calibri"/>
                <a:ea typeface="Calibri"/>
                <a:cs typeface="Calibri"/>
                <a:sym typeface="Calibri"/>
              </a:rPr>
              <a:t>Higher level constituents </a:t>
            </a:r>
            <a:r>
              <a:rPr lang="en-US" sz="1500">
                <a:solidFill>
                  <a:schemeClr val="dk1"/>
                </a:solidFill>
                <a:latin typeface="Calibri"/>
                <a:ea typeface="Calibri"/>
                <a:cs typeface="Calibri"/>
                <a:sym typeface="Calibri"/>
              </a:rPr>
              <a:t>like phrases and sentences.</a:t>
            </a:r>
            <a:endParaRPr sz="1500">
              <a:solidFill>
                <a:schemeClr val="dk1"/>
              </a:solidFill>
              <a:latin typeface="Calibri"/>
              <a:ea typeface="Calibri"/>
              <a:cs typeface="Calibri"/>
              <a:sym typeface="Calibri"/>
            </a:endParaRPr>
          </a:p>
          <a:p>
            <a:pPr marL="406400" marR="0" lvl="0" indent="-306070" algn="l" rtl="0">
              <a:lnSpc>
                <a:spcPct val="100000"/>
              </a:lnSpc>
              <a:spcBef>
                <a:spcPts val="1150"/>
              </a:spcBef>
              <a:spcAft>
                <a:spcPts val="0"/>
              </a:spcAft>
              <a:buClr>
                <a:schemeClr val="dk1"/>
              </a:buClr>
              <a:buSzPts val="1500"/>
              <a:buFont typeface="Calibri"/>
              <a:buChar char="-"/>
            </a:pPr>
            <a:r>
              <a:rPr lang="en-US" sz="1500">
                <a:solidFill>
                  <a:schemeClr val="dk1"/>
                </a:solidFill>
                <a:latin typeface="Calibri"/>
                <a:ea typeface="Calibri"/>
                <a:cs typeface="Calibri"/>
                <a:sym typeface="Calibri"/>
              </a:rPr>
              <a:t>The word syntax refers to </a:t>
            </a:r>
            <a:r>
              <a:rPr lang="en-US" sz="1500">
                <a:solidFill>
                  <a:srgbClr val="FF0000"/>
                </a:solidFill>
                <a:latin typeface="Calibri"/>
                <a:ea typeface="Calibri"/>
                <a:cs typeface="Calibri"/>
                <a:sym typeface="Calibri"/>
              </a:rPr>
              <a:t>the grammatical arrangement of words </a:t>
            </a:r>
            <a:r>
              <a:rPr lang="en-US" sz="1500">
                <a:solidFill>
                  <a:schemeClr val="dk1"/>
                </a:solidFill>
                <a:latin typeface="Calibri"/>
                <a:ea typeface="Calibri"/>
                <a:cs typeface="Calibri"/>
                <a:sym typeface="Calibri"/>
              </a:rPr>
              <a:t>in a sentence and their relationship with each other.</a:t>
            </a:r>
            <a:endParaRPr sz="1500">
              <a:solidFill>
                <a:schemeClr val="dk1"/>
              </a:solidFill>
              <a:latin typeface="Calibri"/>
              <a:ea typeface="Calibri"/>
              <a:cs typeface="Calibri"/>
              <a:sym typeface="Calibri"/>
            </a:endParaRPr>
          </a:p>
          <a:p>
            <a:pPr marL="406400" marR="0" lvl="0" indent="-306070" algn="l" rtl="0">
              <a:lnSpc>
                <a:spcPct val="100000"/>
              </a:lnSpc>
              <a:spcBef>
                <a:spcPts val="1125"/>
              </a:spcBef>
              <a:spcAft>
                <a:spcPts val="0"/>
              </a:spcAft>
              <a:buClr>
                <a:schemeClr val="dk1"/>
              </a:buClr>
              <a:buSzPts val="1500"/>
              <a:buFont typeface="Calibri"/>
              <a:buChar char="-"/>
            </a:pPr>
            <a:r>
              <a:rPr lang="en-US" sz="1500">
                <a:solidFill>
                  <a:schemeClr val="dk1"/>
                </a:solidFill>
                <a:latin typeface="Calibri"/>
                <a:ea typeface="Calibri"/>
                <a:cs typeface="Calibri"/>
                <a:sym typeface="Calibri"/>
              </a:rPr>
              <a:t>The objective is to find the </a:t>
            </a:r>
            <a:r>
              <a:rPr lang="en-US" sz="1500">
                <a:solidFill>
                  <a:srgbClr val="FF0000"/>
                </a:solidFill>
                <a:latin typeface="Calibri"/>
                <a:ea typeface="Calibri"/>
                <a:cs typeface="Calibri"/>
                <a:sym typeface="Calibri"/>
              </a:rPr>
              <a:t>syntactic structure </a:t>
            </a:r>
            <a:r>
              <a:rPr lang="en-US" sz="1500">
                <a:solidFill>
                  <a:schemeClr val="dk1"/>
                </a:solidFill>
                <a:latin typeface="Calibri"/>
                <a:ea typeface="Calibri"/>
                <a:cs typeface="Calibri"/>
                <a:sym typeface="Calibri"/>
              </a:rPr>
              <a:t>of the sentence.</a:t>
            </a:r>
            <a:endParaRPr sz="1500">
              <a:solidFill>
                <a:schemeClr val="dk1"/>
              </a:solidFill>
              <a:latin typeface="Calibri"/>
              <a:ea typeface="Calibri"/>
              <a:cs typeface="Calibri"/>
              <a:sym typeface="Calibri"/>
            </a:endParaRPr>
          </a:p>
          <a:p>
            <a:pPr marL="406400" marR="0" lvl="0" indent="-306070" algn="l" rtl="0">
              <a:lnSpc>
                <a:spcPct val="100000"/>
              </a:lnSpc>
              <a:spcBef>
                <a:spcPts val="1125"/>
              </a:spcBef>
              <a:spcAft>
                <a:spcPts val="0"/>
              </a:spcAft>
              <a:buClr>
                <a:schemeClr val="dk1"/>
              </a:buClr>
              <a:buSzPts val="1500"/>
              <a:buFont typeface="Calibri"/>
              <a:buChar char="-"/>
            </a:pPr>
            <a:r>
              <a:rPr lang="en-US" sz="1500">
                <a:solidFill>
                  <a:schemeClr val="dk1"/>
                </a:solidFill>
                <a:latin typeface="Calibri"/>
                <a:ea typeface="Calibri"/>
                <a:cs typeface="Calibri"/>
                <a:sym typeface="Calibri"/>
              </a:rPr>
              <a:t>Nodes in the tree represents the phrases and leaves correspond to the words.</a:t>
            </a:r>
            <a:endParaRPr sz="1500">
              <a:solidFill>
                <a:schemeClr val="dk1"/>
              </a:solidFill>
              <a:latin typeface="Calibri"/>
              <a:ea typeface="Calibri"/>
              <a:cs typeface="Calibri"/>
              <a:sym typeface="Calibri"/>
            </a:endParaRPr>
          </a:p>
          <a:p>
            <a:pPr marL="406400" marR="0" lvl="0" indent="-306070" algn="l" rtl="0">
              <a:lnSpc>
                <a:spcPct val="100000"/>
              </a:lnSpc>
              <a:spcBef>
                <a:spcPts val="1125"/>
              </a:spcBef>
              <a:spcAft>
                <a:spcPts val="0"/>
              </a:spcAft>
              <a:buClr>
                <a:schemeClr val="dk1"/>
              </a:buClr>
              <a:buSzPts val="1500"/>
              <a:buFont typeface="Calibri"/>
              <a:buChar char="-"/>
            </a:pPr>
            <a:r>
              <a:rPr lang="en-US" sz="1500">
                <a:solidFill>
                  <a:schemeClr val="dk1"/>
                </a:solidFill>
                <a:latin typeface="Calibri"/>
                <a:ea typeface="Calibri"/>
                <a:cs typeface="Calibri"/>
                <a:sym typeface="Calibri"/>
              </a:rPr>
              <a:t>The root of the tree is the whole sentence.</a:t>
            </a:r>
            <a:endParaRPr sz="1500">
              <a:solidFill>
                <a:schemeClr val="dk1"/>
              </a:solidFill>
              <a:latin typeface="Calibri"/>
              <a:ea typeface="Calibri"/>
              <a:cs typeface="Calibri"/>
              <a:sym typeface="Calibri"/>
            </a:endParaRPr>
          </a:p>
          <a:p>
            <a:pPr marL="406400" marR="0" lvl="0" indent="-306070" algn="l" rtl="0">
              <a:lnSpc>
                <a:spcPct val="100000"/>
              </a:lnSpc>
              <a:spcBef>
                <a:spcPts val="1125"/>
              </a:spcBef>
              <a:spcAft>
                <a:spcPts val="0"/>
              </a:spcAft>
              <a:buClr>
                <a:schemeClr val="dk1"/>
              </a:buClr>
              <a:buSzPts val="1500"/>
              <a:buFont typeface="Calibri"/>
              <a:buChar char="-"/>
            </a:pPr>
            <a:r>
              <a:rPr lang="en-US" sz="1500">
                <a:solidFill>
                  <a:schemeClr val="dk1"/>
                </a:solidFill>
                <a:latin typeface="Calibri"/>
                <a:ea typeface="Calibri"/>
                <a:cs typeface="Calibri"/>
                <a:sym typeface="Calibri"/>
              </a:rPr>
              <a:t>Identifying the syntactic structure is useful in </a:t>
            </a:r>
            <a:r>
              <a:rPr lang="en-US" sz="1500">
                <a:solidFill>
                  <a:srgbClr val="FF0000"/>
                </a:solidFill>
                <a:latin typeface="Calibri"/>
                <a:ea typeface="Calibri"/>
                <a:cs typeface="Calibri"/>
                <a:sym typeface="Calibri"/>
              </a:rPr>
              <a:t>determining the meaning of the sentence</a:t>
            </a:r>
            <a:r>
              <a:rPr lang="en-US" sz="1500">
                <a:solidFill>
                  <a:schemeClr val="dk1"/>
                </a:solidFill>
                <a:latin typeface="Calibri"/>
                <a:ea typeface="Calibri"/>
                <a:cs typeface="Calibri"/>
                <a:sym typeface="Calibri"/>
              </a:rPr>
              <a:t>.</a:t>
            </a:r>
            <a:endParaRPr sz="1500">
              <a:solidFill>
                <a:schemeClr val="dk1"/>
              </a:solidFill>
              <a:latin typeface="Calibri"/>
              <a:ea typeface="Calibri"/>
              <a:cs typeface="Calibri"/>
              <a:sym typeface="Calibri"/>
            </a:endParaRPr>
          </a:p>
          <a:p>
            <a:pPr marL="406400" marR="0" lvl="0" indent="-306070" algn="l" rtl="0">
              <a:lnSpc>
                <a:spcPct val="100000"/>
              </a:lnSpc>
              <a:spcBef>
                <a:spcPts val="1125"/>
              </a:spcBef>
              <a:spcAft>
                <a:spcPts val="0"/>
              </a:spcAft>
              <a:buClr>
                <a:schemeClr val="dk1"/>
              </a:buClr>
              <a:buSzPts val="1500"/>
              <a:buFont typeface="Calibri"/>
              <a:buChar char="-"/>
            </a:pPr>
            <a:r>
              <a:rPr lang="en-US" sz="1500">
                <a:solidFill>
                  <a:schemeClr val="dk1"/>
                </a:solidFill>
                <a:latin typeface="Calibri"/>
                <a:ea typeface="Calibri"/>
                <a:cs typeface="Calibri"/>
                <a:sym typeface="Calibri"/>
              </a:rPr>
              <a:t>The identification is done using a process known as parsing.</a:t>
            </a:r>
            <a:endParaRPr sz="1500">
              <a:solidFill>
                <a:schemeClr val="dk1"/>
              </a:solidFill>
              <a:latin typeface="Calibri"/>
              <a:ea typeface="Calibri"/>
              <a:cs typeface="Calibri"/>
              <a:sym typeface="Calibri"/>
            </a:endParaRPr>
          </a:p>
          <a:p>
            <a:pPr marL="406400" marR="0" lvl="0" indent="-306070" algn="l" rtl="0">
              <a:lnSpc>
                <a:spcPct val="100000"/>
              </a:lnSpc>
              <a:spcBef>
                <a:spcPts val="1125"/>
              </a:spcBef>
              <a:spcAft>
                <a:spcPts val="0"/>
              </a:spcAft>
              <a:buClr>
                <a:schemeClr val="dk1"/>
              </a:buClr>
              <a:buSzPts val="1500"/>
              <a:buFont typeface="Calibri"/>
              <a:buChar char="-"/>
            </a:pPr>
            <a:r>
              <a:rPr lang="en-US" sz="1500">
                <a:solidFill>
                  <a:schemeClr val="dk1"/>
                </a:solidFill>
                <a:latin typeface="Calibri"/>
                <a:ea typeface="Calibri"/>
                <a:cs typeface="Calibri"/>
                <a:sym typeface="Calibri"/>
              </a:rPr>
              <a:t>Syntactic parsing is the process known as parsing.</a:t>
            </a:r>
            <a:endParaRPr sz="1500">
              <a:solidFill>
                <a:schemeClr val="dk1"/>
              </a:solidFill>
              <a:latin typeface="Calibri"/>
              <a:ea typeface="Calibri"/>
              <a:cs typeface="Calibri"/>
              <a:sym typeface="Calibri"/>
            </a:endParaRPr>
          </a:p>
          <a:p>
            <a:pPr marL="406400" marR="0" lvl="0" indent="-306070" algn="l" rtl="0">
              <a:lnSpc>
                <a:spcPct val="100000"/>
              </a:lnSpc>
              <a:spcBef>
                <a:spcPts val="1125"/>
              </a:spcBef>
              <a:spcAft>
                <a:spcPts val="0"/>
              </a:spcAft>
              <a:buClr>
                <a:schemeClr val="dk1"/>
              </a:buClr>
              <a:buSzPts val="1500"/>
              <a:buFont typeface="Calibri"/>
              <a:buChar char="-"/>
            </a:pPr>
            <a:r>
              <a:rPr lang="en-US" sz="1500">
                <a:solidFill>
                  <a:schemeClr val="dk1"/>
                </a:solidFill>
                <a:latin typeface="Calibri"/>
                <a:ea typeface="Calibri"/>
                <a:cs typeface="Calibri"/>
                <a:sym typeface="Calibri"/>
              </a:rPr>
              <a:t>Two important ideas in natural language</a:t>
            </a:r>
            <a:endParaRPr sz="1500">
              <a:solidFill>
                <a:schemeClr val="dk1"/>
              </a:solidFill>
              <a:latin typeface="Calibri"/>
              <a:ea typeface="Calibri"/>
              <a:cs typeface="Calibri"/>
              <a:sym typeface="Calibri"/>
            </a:endParaRPr>
          </a:p>
          <a:p>
            <a:pPr marL="406400" marR="0" lvl="0" indent="-349885" algn="l" rtl="0">
              <a:lnSpc>
                <a:spcPct val="100000"/>
              </a:lnSpc>
              <a:spcBef>
                <a:spcPts val="1125"/>
              </a:spcBef>
              <a:spcAft>
                <a:spcPts val="0"/>
              </a:spcAft>
              <a:buClr>
                <a:schemeClr val="dk1"/>
              </a:buClr>
              <a:buSzPts val="1500"/>
              <a:buFont typeface="Calibri"/>
              <a:buAutoNum type="romanLcParenR"/>
            </a:pPr>
            <a:r>
              <a:rPr lang="en-US" sz="1500">
                <a:solidFill>
                  <a:schemeClr val="dk1"/>
                </a:solidFill>
                <a:latin typeface="Calibri"/>
                <a:ea typeface="Calibri"/>
                <a:cs typeface="Calibri"/>
                <a:sym typeface="Calibri"/>
              </a:rPr>
              <a:t>Constituency</a:t>
            </a:r>
            <a:endParaRPr sz="1500">
              <a:solidFill>
                <a:schemeClr val="dk1"/>
              </a:solidFill>
              <a:latin typeface="Calibri"/>
              <a:ea typeface="Calibri"/>
              <a:cs typeface="Calibri"/>
              <a:sym typeface="Calibri"/>
            </a:endParaRPr>
          </a:p>
          <a:p>
            <a:pPr marL="406400" marR="0" lvl="0" indent="-394335" algn="l" rtl="0">
              <a:lnSpc>
                <a:spcPct val="100000"/>
              </a:lnSpc>
              <a:spcBef>
                <a:spcPts val="1125"/>
              </a:spcBef>
              <a:spcAft>
                <a:spcPts val="0"/>
              </a:spcAft>
              <a:buClr>
                <a:schemeClr val="dk1"/>
              </a:buClr>
              <a:buSzPts val="1500"/>
              <a:buFont typeface="Calibri"/>
              <a:buAutoNum type="romanLcParenR"/>
            </a:pPr>
            <a:r>
              <a:rPr lang="en-US" sz="1500">
                <a:solidFill>
                  <a:schemeClr val="dk1"/>
                </a:solidFill>
                <a:latin typeface="Calibri"/>
                <a:ea typeface="Calibri"/>
                <a:cs typeface="Calibri"/>
                <a:sym typeface="Calibri"/>
              </a:rPr>
              <a:t>Word order</a:t>
            </a:r>
            <a:endParaRPr sz="1500">
              <a:solidFill>
                <a:schemeClr val="dk1"/>
              </a:solidFill>
              <a:latin typeface="Calibri"/>
              <a:ea typeface="Calibri"/>
              <a:cs typeface="Calibri"/>
              <a:sym typeface="Calibri"/>
            </a:endParaRPr>
          </a:p>
          <a:p>
            <a:pPr marL="0" marR="0" lvl="0" indent="0" algn="l" rtl="0">
              <a:lnSpc>
                <a:spcPct val="100000"/>
              </a:lnSpc>
              <a:spcBef>
                <a:spcPts val="45"/>
              </a:spcBef>
              <a:spcAft>
                <a:spcPts val="0"/>
              </a:spcAft>
              <a:buClr>
                <a:schemeClr val="dk1"/>
              </a:buClr>
              <a:buSzPts val="1700"/>
              <a:buFont typeface="Calibri"/>
              <a:buNone/>
            </a:pPr>
            <a:endParaRPr sz="1700">
              <a:solidFill>
                <a:schemeClr val="dk1"/>
              </a:solidFill>
              <a:latin typeface="Calibri"/>
              <a:ea typeface="Calibri"/>
              <a:cs typeface="Calibri"/>
              <a:sym typeface="Calibri"/>
            </a:endParaRPr>
          </a:p>
          <a:p>
            <a:pPr marL="292100" marR="0" lvl="1" indent="-200025" algn="l" rtl="0">
              <a:lnSpc>
                <a:spcPct val="100000"/>
              </a:lnSpc>
              <a:spcBef>
                <a:spcPts val="5"/>
              </a:spcBef>
              <a:spcAft>
                <a:spcPts val="0"/>
              </a:spcAft>
              <a:buClr>
                <a:schemeClr val="dk1"/>
              </a:buClr>
              <a:buSzPts val="1500"/>
              <a:buFont typeface="Arial"/>
              <a:buChar char="•"/>
            </a:pPr>
            <a:r>
              <a:rPr lang="en-US" sz="1500" b="0" i="0" u="none" strike="noStrike" cap="none">
                <a:solidFill>
                  <a:schemeClr val="dk1"/>
                </a:solidFill>
                <a:latin typeface="Calibri"/>
                <a:ea typeface="Calibri"/>
                <a:cs typeface="Calibri"/>
                <a:sym typeface="Calibri"/>
              </a:rPr>
              <a:t>Constituency- how words </a:t>
            </a:r>
            <a:r>
              <a:rPr lang="en-US" sz="1500" b="0" i="0" u="none" strike="noStrike" cap="none">
                <a:solidFill>
                  <a:srgbClr val="FF0000"/>
                </a:solidFill>
                <a:latin typeface="Calibri"/>
                <a:ea typeface="Calibri"/>
                <a:cs typeface="Calibri"/>
                <a:sym typeface="Calibri"/>
              </a:rPr>
              <a:t>are grouped together </a:t>
            </a:r>
            <a:r>
              <a:rPr lang="en-US" sz="1500" b="0" i="0" u="none" strike="noStrike" cap="none">
                <a:solidFill>
                  <a:schemeClr val="dk1"/>
                </a:solidFill>
                <a:latin typeface="Calibri"/>
                <a:ea typeface="Calibri"/>
                <a:cs typeface="Calibri"/>
                <a:sym typeface="Calibri"/>
              </a:rPr>
              <a:t>and how we know that they are really grouped together .</a:t>
            </a:r>
            <a:endParaRPr sz="1500" b="0" i="0" u="none" strike="noStrike" cap="none">
              <a:solidFill>
                <a:schemeClr val="dk1"/>
              </a:solidFill>
              <a:latin typeface="Calibri"/>
              <a:ea typeface="Calibri"/>
              <a:cs typeface="Calibri"/>
              <a:sym typeface="Calibri"/>
            </a:endParaRPr>
          </a:p>
          <a:p>
            <a:pPr marL="457200" marR="0" lvl="1" indent="0" algn="l" rtl="0">
              <a:lnSpc>
                <a:spcPct val="100000"/>
              </a:lnSpc>
              <a:spcBef>
                <a:spcPts val="20"/>
              </a:spcBef>
              <a:spcAft>
                <a:spcPts val="0"/>
              </a:spcAft>
              <a:buClr>
                <a:schemeClr val="dk1"/>
              </a:buClr>
              <a:buSzPts val="1700"/>
              <a:buFont typeface="Arial"/>
              <a:buNone/>
            </a:pPr>
            <a:endParaRPr sz="1700" b="0" i="0" u="none" strike="noStrike" cap="none">
              <a:solidFill>
                <a:schemeClr val="dk1"/>
              </a:solidFill>
              <a:latin typeface="Calibri"/>
              <a:ea typeface="Calibri"/>
              <a:cs typeface="Calibri"/>
              <a:sym typeface="Calibri"/>
            </a:endParaRPr>
          </a:p>
          <a:p>
            <a:pPr marL="292100" marR="0" lvl="1" indent="-200025" algn="l" rtl="0">
              <a:lnSpc>
                <a:spcPct val="100000"/>
              </a:lnSpc>
              <a:spcBef>
                <a:spcPts val="5"/>
              </a:spcBef>
              <a:spcAft>
                <a:spcPts val="0"/>
              </a:spcAft>
              <a:buClr>
                <a:schemeClr val="dk1"/>
              </a:buClr>
              <a:buSzPts val="1500"/>
              <a:buFont typeface="Arial"/>
              <a:buChar char="•"/>
            </a:pPr>
            <a:r>
              <a:rPr lang="en-US" sz="1500" b="0" i="0" u="none" strike="noStrike" cap="none">
                <a:solidFill>
                  <a:schemeClr val="dk1"/>
                </a:solidFill>
                <a:latin typeface="Calibri"/>
                <a:ea typeface="Calibri"/>
                <a:cs typeface="Calibri"/>
                <a:sym typeface="Calibri"/>
              </a:rPr>
              <a:t>Word order- how within a constituent </a:t>
            </a:r>
            <a:r>
              <a:rPr lang="en-US" sz="1500" b="0" i="0" u="none" strike="noStrike" cap="none">
                <a:solidFill>
                  <a:srgbClr val="FF0000"/>
                </a:solidFill>
                <a:latin typeface="Calibri"/>
                <a:ea typeface="Calibri"/>
                <a:cs typeface="Calibri"/>
                <a:sym typeface="Calibri"/>
              </a:rPr>
              <a:t>, words are ordered </a:t>
            </a:r>
            <a:r>
              <a:rPr lang="en-US" sz="1500" b="0" i="0" u="none" strike="noStrike" cap="none">
                <a:solidFill>
                  <a:schemeClr val="dk1"/>
                </a:solidFill>
                <a:latin typeface="Calibri"/>
                <a:ea typeface="Calibri"/>
                <a:cs typeface="Calibri"/>
                <a:sym typeface="Calibri"/>
              </a:rPr>
              <a:t>with respect to one another.</a:t>
            </a:r>
            <a:endParaRPr sz="1500" b="0" i="0" u="none" strike="noStrike" cap="none">
              <a:solidFill>
                <a:schemeClr val="dk1"/>
              </a:solidFill>
              <a:latin typeface="Calibri"/>
              <a:ea typeface="Calibri"/>
              <a:cs typeface="Calibri"/>
              <a:sym typeface="Calibri"/>
            </a:endParaRPr>
          </a:p>
          <a:p>
            <a:pPr marL="0" marR="0" lvl="0" indent="0" algn="l" rtl="0">
              <a:lnSpc>
                <a:spcPct val="100000"/>
              </a:lnSpc>
              <a:spcBef>
                <a:spcPts val="45"/>
              </a:spcBef>
              <a:spcAft>
                <a:spcPts val="0"/>
              </a:spcAft>
              <a:buNone/>
            </a:pPr>
            <a:endParaRPr sz="1600">
              <a:solidFill>
                <a:schemeClr val="dk1"/>
              </a:solidFill>
              <a:latin typeface="Calibri"/>
              <a:ea typeface="Calibri"/>
              <a:cs typeface="Calibri"/>
              <a:sym typeface="Calibri"/>
            </a:endParaRPr>
          </a:p>
          <a:p>
            <a:pPr marL="63500" marR="5080" lvl="0" indent="0" algn="l" rtl="0">
              <a:lnSpc>
                <a:spcPct val="105600"/>
              </a:lnSpc>
              <a:spcBef>
                <a:spcPts val="0"/>
              </a:spcBef>
              <a:spcAft>
                <a:spcPts val="0"/>
              </a:spcAft>
              <a:buNone/>
            </a:pPr>
            <a:r>
              <a:rPr lang="en-US" sz="1500">
                <a:solidFill>
                  <a:schemeClr val="dk1"/>
                </a:solidFill>
                <a:latin typeface="Calibri"/>
                <a:ea typeface="Calibri"/>
                <a:cs typeface="Calibri"/>
                <a:sym typeface="Calibri"/>
              </a:rPr>
              <a:t>A widely used mathematical system for modeling constituent structure in natural language is </a:t>
            </a:r>
            <a:r>
              <a:rPr lang="en-US" sz="1500">
                <a:solidFill>
                  <a:srgbClr val="FF0000"/>
                </a:solidFill>
                <a:latin typeface="Calibri"/>
                <a:ea typeface="Calibri"/>
                <a:cs typeface="Calibri"/>
                <a:sym typeface="Calibri"/>
              </a:rPr>
              <a:t>context free grammar </a:t>
            </a:r>
            <a:r>
              <a:rPr lang="en-US" sz="1500">
                <a:solidFill>
                  <a:schemeClr val="dk1"/>
                </a:solidFill>
                <a:latin typeface="Calibri"/>
                <a:ea typeface="Calibri"/>
                <a:cs typeface="Calibri"/>
                <a:sym typeface="Calibri"/>
              </a:rPr>
              <a:t>(CFG) also  known as phrase structure grammar.</a:t>
            </a:r>
            <a:endParaRPr sz="1500">
              <a:solidFill>
                <a:schemeClr val="dk1"/>
              </a:solidFill>
              <a:latin typeface="Calibri"/>
              <a:ea typeface="Calibri"/>
              <a:cs typeface="Calibri"/>
              <a:sym typeface="Calibri"/>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showMasterSp="0">
  <p:cSld>
    <p:spTree>
      <p:nvGrpSpPr>
        <p:cNvPr id="1" name="Shape 715"/>
        <p:cNvGrpSpPr/>
        <p:nvPr/>
      </p:nvGrpSpPr>
      <p:grpSpPr>
        <a:xfrm>
          <a:off x="0" y="0"/>
          <a:ext cx="0" cy="0"/>
          <a:chOff x="0" y="0"/>
          <a:chExt cx="0" cy="0"/>
        </a:xfrm>
      </p:grpSpPr>
      <p:sp>
        <p:nvSpPr>
          <p:cNvPr id="716" name="Google Shape;716;p65"/>
          <p:cNvSpPr txBox="1">
            <a:spLocks noGrp="1"/>
          </p:cNvSpPr>
          <p:nvPr>
            <p:ph type="title"/>
          </p:nvPr>
        </p:nvSpPr>
        <p:spPr>
          <a:xfrm>
            <a:off x="911225" y="348010"/>
            <a:ext cx="5229860" cy="69596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4400"/>
              <a:t>Context Free Grammar</a:t>
            </a:r>
            <a:endParaRPr sz="4400"/>
          </a:p>
        </p:txBody>
      </p:sp>
      <p:sp>
        <p:nvSpPr>
          <p:cNvPr id="717" name="Google Shape;717;p65"/>
          <p:cNvSpPr txBox="1"/>
          <p:nvPr/>
        </p:nvSpPr>
        <p:spPr>
          <a:xfrm>
            <a:off x="911225" y="1115155"/>
            <a:ext cx="9920700" cy="4725300"/>
          </a:xfrm>
          <a:prstGeom prst="rect">
            <a:avLst/>
          </a:prstGeom>
          <a:noFill/>
          <a:ln>
            <a:noFill/>
          </a:ln>
        </p:spPr>
        <p:txBody>
          <a:bodyPr spcFirstLastPara="1" wrap="square" lIns="0" tIns="33000" rIns="0" bIns="0" anchor="t" anchorCtr="0">
            <a:spAutoFit/>
          </a:bodyPr>
          <a:lstStyle/>
          <a:p>
            <a:pPr marL="12700" marR="5080" lvl="0" indent="0" algn="l" rtl="0">
              <a:lnSpc>
                <a:spcPct val="113939"/>
              </a:lnSpc>
              <a:spcBef>
                <a:spcPts val="0"/>
              </a:spcBef>
              <a:spcAft>
                <a:spcPts val="0"/>
              </a:spcAft>
              <a:buNone/>
            </a:pPr>
            <a:r>
              <a:rPr lang="en-US" sz="1650">
                <a:solidFill>
                  <a:schemeClr val="dk1"/>
                </a:solidFill>
                <a:latin typeface="Calibri"/>
                <a:ea typeface="Calibri"/>
                <a:cs typeface="Calibri"/>
                <a:sym typeface="Calibri"/>
              </a:rPr>
              <a:t>CFG was defined for natural language by Chomsky (1957) and used for Algol Programming Language by Backus  (1959) and Naur (1960).</a:t>
            </a:r>
            <a:endParaRPr/>
          </a:p>
          <a:p>
            <a:pPr marL="12700" marR="0" lvl="0" indent="0" algn="l" rtl="0">
              <a:lnSpc>
                <a:spcPct val="100000"/>
              </a:lnSpc>
              <a:spcBef>
                <a:spcPts val="844"/>
              </a:spcBef>
              <a:spcAft>
                <a:spcPts val="0"/>
              </a:spcAft>
              <a:buNone/>
            </a:pPr>
            <a:r>
              <a:rPr lang="en-US" sz="1650">
                <a:solidFill>
                  <a:schemeClr val="dk1"/>
                </a:solidFill>
                <a:latin typeface="Calibri"/>
                <a:ea typeface="Calibri"/>
                <a:cs typeface="Calibri"/>
                <a:sym typeface="Calibri"/>
              </a:rPr>
              <a:t>CFG also called phrase structure grammar consists of four components:</a:t>
            </a:r>
            <a:endParaRPr/>
          </a:p>
          <a:p>
            <a:pPr marL="12700" marR="7089775" lvl="0" indent="0" algn="l" rtl="0">
              <a:lnSpc>
                <a:spcPct val="147700"/>
              </a:lnSpc>
              <a:spcBef>
                <a:spcPts val="0"/>
              </a:spcBef>
              <a:spcAft>
                <a:spcPts val="0"/>
              </a:spcAft>
              <a:buNone/>
            </a:pPr>
            <a:r>
              <a:rPr lang="en-US" sz="1650">
                <a:solidFill>
                  <a:schemeClr val="dk1"/>
                </a:solidFill>
                <a:latin typeface="Calibri"/>
                <a:ea typeface="Calibri"/>
                <a:cs typeface="Calibri"/>
                <a:sym typeface="Calibri"/>
              </a:rPr>
              <a:t>A set of non-terminal symbols, N  A set of terminal symbols, t</a:t>
            </a:r>
            <a:endParaRPr sz="1650">
              <a:solidFill>
                <a:schemeClr val="dk1"/>
              </a:solidFill>
              <a:latin typeface="Calibri"/>
              <a:ea typeface="Calibri"/>
              <a:cs typeface="Calibri"/>
              <a:sym typeface="Calibri"/>
            </a:endParaRPr>
          </a:p>
          <a:p>
            <a:pPr marL="12700" marR="5560060" lvl="0" indent="0" algn="l" rtl="0">
              <a:lnSpc>
                <a:spcPct val="147700"/>
              </a:lnSpc>
              <a:spcBef>
                <a:spcPts val="0"/>
              </a:spcBef>
              <a:spcAft>
                <a:spcPts val="0"/>
              </a:spcAft>
              <a:buNone/>
            </a:pPr>
            <a:r>
              <a:rPr lang="en-US" sz="1650">
                <a:solidFill>
                  <a:schemeClr val="dk1"/>
                </a:solidFill>
                <a:latin typeface="Calibri"/>
                <a:ea typeface="Calibri"/>
                <a:cs typeface="Calibri"/>
                <a:sym typeface="Calibri"/>
              </a:rPr>
              <a:t>A designated start symbol S, one of symbol from N  A set of productions, P of the form:</a:t>
            </a:r>
            <a:endParaRPr/>
          </a:p>
          <a:p>
            <a:pPr marL="527685" marR="0" lvl="0" indent="0" algn="l" rtl="0">
              <a:lnSpc>
                <a:spcPct val="100000"/>
              </a:lnSpc>
              <a:spcBef>
                <a:spcPts val="944"/>
              </a:spcBef>
              <a:spcAft>
                <a:spcPts val="0"/>
              </a:spcAft>
              <a:buNone/>
            </a:pPr>
            <a:r>
              <a:rPr lang="en-US" sz="1650">
                <a:solidFill>
                  <a:schemeClr val="dk1"/>
                </a:solidFill>
                <a:latin typeface="Calibri"/>
                <a:ea typeface="Calibri"/>
                <a:cs typeface="Calibri"/>
                <a:sym typeface="Calibri"/>
              </a:rPr>
              <a:t>A -&gt; alpha</a:t>
            </a:r>
            <a:endParaRPr/>
          </a:p>
          <a:p>
            <a:pPr marL="241300" marR="0" lvl="0" indent="0" algn="l" rtl="0">
              <a:lnSpc>
                <a:spcPct val="100000"/>
              </a:lnSpc>
              <a:spcBef>
                <a:spcPts val="944"/>
              </a:spcBef>
              <a:spcAft>
                <a:spcPts val="0"/>
              </a:spcAft>
              <a:buNone/>
            </a:pPr>
            <a:r>
              <a:rPr lang="en-US" sz="1650">
                <a:solidFill>
                  <a:schemeClr val="dk1"/>
                </a:solidFill>
                <a:latin typeface="Calibri"/>
                <a:ea typeface="Calibri"/>
                <a:cs typeface="Calibri"/>
                <a:sym typeface="Calibri"/>
              </a:rPr>
              <a:t>Where A and alpha is a string consisting of terminal and non-terminal symbols.</a:t>
            </a:r>
            <a:endParaRPr/>
          </a:p>
          <a:p>
            <a:pPr marL="12700" marR="1155065" lvl="0" indent="0" algn="l" rtl="0">
              <a:lnSpc>
                <a:spcPct val="147700"/>
              </a:lnSpc>
              <a:spcBef>
                <a:spcPts val="0"/>
              </a:spcBef>
              <a:spcAft>
                <a:spcPts val="0"/>
              </a:spcAft>
              <a:buNone/>
            </a:pPr>
            <a:r>
              <a:rPr lang="en-US" sz="1650">
                <a:solidFill>
                  <a:schemeClr val="dk1"/>
                </a:solidFill>
                <a:latin typeface="Calibri"/>
                <a:ea typeface="Calibri"/>
                <a:cs typeface="Calibri"/>
                <a:sym typeface="Calibri"/>
              </a:rPr>
              <a:t>The rule A -&gt; a says that constituent A can be rewritten as alpha. This is also called the phrase structure rule.  It determines which element can occur in a phrase and in what order.</a:t>
            </a:r>
            <a:endParaRPr/>
          </a:p>
          <a:p>
            <a:pPr marL="241300" marR="0" lvl="0" indent="0" algn="l" rtl="0">
              <a:lnSpc>
                <a:spcPct val="100000"/>
              </a:lnSpc>
              <a:spcBef>
                <a:spcPts val="944"/>
              </a:spcBef>
              <a:spcAft>
                <a:spcPts val="0"/>
              </a:spcAft>
              <a:buNone/>
            </a:pPr>
            <a:r>
              <a:rPr lang="en-US" sz="1650">
                <a:solidFill>
                  <a:schemeClr val="dk1"/>
                </a:solidFill>
                <a:latin typeface="Calibri"/>
                <a:ea typeface="Calibri"/>
                <a:cs typeface="Calibri"/>
                <a:sym typeface="Calibri"/>
              </a:rPr>
              <a:t>Eg: The rule S -&gt; NP VP states that S contains of NP followed by VP.</a:t>
            </a:r>
            <a:endParaRPr/>
          </a:p>
          <a:p>
            <a:pPr marL="241300" marR="0" lvl="0" indent="0" algn="l" rtl="0">
              <a:lnSpc>
                <a:spcPct val="100000"/>
              </a:lnSpc>
              <a:spcBef>
                <a:spcPts val="944"/>
              </a:spcBef>
              <a:spcAft>
                <a:spcPts val="0"/>
              </a:spcAft>
              <a:buNone/>
            </a:pPr>
            <a:r>
              <a:rPr lang="en-US" sz="1650">
                <a:solidFill>
                  <a:schemeClr val="dk1"/>
                </a:solidFill>
                <a:latin typeface="Calibri"/>
                <a:ea typeface="Calibri"/>
                <a:cs typeface="Calibri"/>
                <a:sym typeface="Calibri"/>
              </a:rPr>
              <a:t>i.e) a sentence consists of noun phrase followed by a verb phrase.</a:t>
            </a:r>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showMasterSp="0">
  <p:cSld>
    <p:spTree>
      <p:nvGrpSpPr>
        <p:cNvPr id="1" name="Shape 721"/>
        <p:cNvGrpSpPr/>
        <p:nvPr/>
      </p:nvGrpSpPr>
      <p:grpSpPr>
        <a:xfrm>
          <a:off x="0" y="0"/>
          <a:ext cx="0" cy="0"/>
          <a:chOff x="0" y="0"/>
          <a:chExt cx="0" cy="0"/>
        </a:xfrm>
      </p:grpSpPr>
      <p:sp>
        <p:nvSpPr>
          <p:cNvPr id="722" name="Google Shape;722;p66"/>
          <p:cNvSpPr txBox="1">
            <a:spLocks noGrp="1"/>
          </p:cNvSpPr>
          <p:nvPr>
            <p:ph type="title"/>
          </p:nvPr>
        </p:nvSpPr>
        <p:spPr>
          <a:xfrm>
            <a:off x="911225" y="639172"/>
            <a:ext cx="932815" cy="69596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4400"/>
              <a:t>CFG</a:t>
            </a:r>
            <a:endParaRPr sz="4400"/>
          </a:p>
        </p:txBody>
      </p:sp>
      <p:sp>
        <p:nvSpPr>
          <p:cNvPr id="723" name="Google Shape;723;p66"/>
          <p:cNvSpPr txBox="1"/>
          <p:nvPr/>
        </p:nvSpPr>
        <p:spPr>
          <a:xfrm>
            <a:off x="3604681" y="2209800"/>
            <a:ext cx="1511935" cy="221615"/>
          </a:xfrm>
          <a:prstGeom prst="rect">
            <a:avLst/>
          </a:prstGeom>
          <a:solidFill>
            <a:srgbClr val="FFFF00"/>
          </a:solidFill>
          <a:ln>
            <a:noFill/>
          </a:ln>
        </p:spPr>
        <p:txBody>
          <a:bodyPr spcFirstLastPara="1" wrap="square" lIns="0" tIns="0" rIns="0" bIns="0" anchor="t" anchorCtr="0">
            <a:spAutoFit/>
          </a:bodyPr>
          <a:lstStyle/>
          <a:p>
            <a:pPr marL="0" marR="0" lvl="0" indent="0" algn="l" rtl="0">
              <a:lnSpc>
                <a:spcPct val="113000"/>
              </a:lnSpc>
              <a:spcBef>
                <a:spcPts val="0"/>
              </a:spcBef>
              <a:spcAft>
                <a:spcPts val="0"/>
              </a:spcAft>
              <a:buNone/>
            </a:pPr>
            <a:r>
              <a:rPr lang="en-US" sz="1500">
                <a:solidFill>
                  <a:schemeClr val="dk1"/>
                </a:solidFill>
                <a:latin typeface="Calibri"/>
                <a:ea typeface="Calibri"/>
                <a:cs typeface="Calibri"/>
                <a:sym typeface="Calibri"/>
              </a:rPr>
              <a:t>rewriting a symbol</a:t>
            </a:r>
            <a:endParaRPr sz="1500">
              <a:solidFill>
                <a:schemeClr val="dk1"/>
              </a:solidFill>
              <a:latin typeface="Calibri"/>
              <a:ea typeface="Calibri"/>
              <a:cs typeface="Calibri"/>
              <a:sym typeface="Calibri"/>
            </a:endParaRPr>
          </a:p>
        </p:txBody>
      </p:sp>
      <p:sp>
        <p:nvSpPr>
          <p:cNvPr id="724" name="Google Shape;724;p66"/>
          <p:cNvSpPr txBox="1"/>
          <p:nvPr/>
        </p:nvSpPr>
        <p:spPr>
          <a:xfrm>
            <a:off x="2610343" y="2562225"/>
            <a:ext cx="1862455" cy="221615"/>
          </a:xfrm>
          <a:prstGeom prst="rect">
            <a:avLst/>
          </a:prstGeom>
          <a:solidFill>
            <a:srgbClr val="FFFF00"/>
          </a:solidFill>
          <a:ln>
            <a:noFill/>
          </a:ln>
        </p:spPr>
        <p:txBody>
          <a:bodyPr spcFirstLastPara="1" wrap="square" lIns="0" tIns="0" rIns="0" bIns="0" anchor="t" anchorCtr="0">
            <a:spAutoFit/>
          </a:bodyPr>
          <a:lstStyle/>
          <a:p>
            <a:pPr marL="0" marR="0" lvl="0" indent="0" algn="l" rtl="0">
              <a:lnSpc>
                <a:spcPct val="113000"/>
              </a:lnSpc>
              <a:spcBef>
                <a:spcPts val="0"/>
              </a:spcBef>
              <a:spcAft>
                <a:spcPts val="0"/>
              </a:spcAft>
              <a:buNone/>
            </a:pPr>
            <a:r>
              <a:rPr lang="en-US" sz="1500">
                <a:solidFill>
                  <a:schemeClr val="dk1"/>
                </a:solidFill>
                <a:latin typeface="Calibri"/>
                <a:ea typeface="Calibri"/>
                <a:cs typeface="Calibri"/>
                <a:sym typeface="Calibri"/>
              </a:rPr>
              <a:t>to generate a sentence</a:t>
            </a:r>
            <a:endParaRPr sz="1500">
              <a:solidFill>
                <a:schemeClr val="dk1"/>
              </a:solidFill>
              <a:latin typeface="Calibri"/>
              <a:ea typeface="Calibri"/>
              <a:cs typeface="Calibri"/>
              <a:sym typeface="Calibri"/>
            </a:endParaRPr>
          </a:p>
        </p:txBody>
      </p:sp>
      <p:sp>
        <p:nvSpPr>
          <p:cNvPr id="725" name="Google Shape;725;p66"/>
          <p:cNvSpPr txBox="1"/>
          <p:nvPr/>
        </p:nvSpPr>
        <p:spPr>
          <a:xfrm>
            <a:off x="948918" y="1721022"/>
            <a:ext cx="9488805" cy="1069975"/>
          </a:xfrm>
          <a:prstGeom prst="rect">
            <a:avLst/>
          </a:prstGeom>
          <a:noFill/>
          <a:ln>
            <a:noFill/>
          </a:ln>
        </p:spPr>
        <p:txBody>
          <a:bodyPr spcFirstLastPara="1" wrap="square" lIns="0" tIns="128900" rIns="0" bIns="0" anchor="t" anchorCtr="0">
            <a:spAutoFit/>
          </a:bodyPr>
          <a:lstStyle/>
          <a:p>
            <a:pPr marL="317500" marR="0" lvl="0" indent="-305435" algn="l" rtl="0">
              <a:lnSpc>
                <a:spcPct val="100000"/>
              </a:lnSpc>
              <a:spcBef>
                <a:spcPts val="0"/>
              </a:spcBef>
              <a:spcAft>
                <a:spcPts val="0"/>
              </a:spcAft>
              <a:buClr>
                <a:schemeClr val="dk1"/>
              </a:buClr>
              <a:buSzPts val="1500"/>
              <a:buFont typeface="Calibri"/>
              <a:buChar char="-"/>
            </a:pPr>
            <a:r>
              <a:rPr lang="en-US" sz="1500">
                <a:solidFill>
                  <a:schemeClr val="dk1"/>
                </a:solidFill>
                <a:latin typeface="Calibri"/>
                <a:ea typeface="Calibri"/>
                <a:cs typeface="Calibri"/>
                <a:sym typeface="Calibri"/>
              </a:rPr>
              <a:t>A language is usually defined through the concept of derivation.</a:t>
            </a:r>
            <a:endParaRPr sz="1500">
              <a:solidFill>
                <a:schemeClr val="dk1"/>
              </a:solidFill>
              <a:latin typeface="Calibri"/>
              <a:ea typeface="Calibri"/>
              <a:cs typeface="Calibri"/>
              <a:sym typeface="Calibri"/>
            </a:endParaRPr>
          </a:p>
          <a:p>
            <a:pPr marL="317500" marR="0" lvl="0" indent="-305435" algn="l" rtl="0">
              <a:lnSpc>
                <a:spcPct val="100000"/>
              </a:lnSpc>
              <a:spcBef>
                <a:spcPts val="925"/>
              </a:spcBef>
              <a:spcAft>
                <a:spcPts val="0"/>
              </a:spcAft>
              <a:buClr>
                <a:schemeClr val="dk1"/>
              </a:buClr>
              <a:buSzPts val="1500"/>
              <a:buFont typeface="Calibri"/>
              <a:buChar char="-"/>
            </a:pPr>
            <a:r>
              <a:rPr lang="en-US" sz="1500">
                <a:solidFill>
                  <a:schemeClr val="dk1"/>
                </a:solidFill>
                <a:latin typeface="Calibri"/>
                <a:ea typeface="Calibri"/>
                <a:cs typeface="Calibri"/>
                <a:sym typeface="Calibri"/>
              </a:rPr>
              <a:t>The basic operation is that of	appearing on the left hand side of production by its right hand side.</a:t>
            </a:r>
            <a:endParaRPr sz="1500">
              <a:solidFill>
                <a:schemeClr val="dk1"/>
              </a:solidFill>
              <a:latin typeface="Calibri"/>
              <a:ea typeface="Calibri"/>
              <a:cs typeface="Calibri"/>
              <a:sym typeface="Calibri"/>
            </a:endParaRPr>
          </a:p>
          <a:p>
            <a:pPr marL="317500" marR="0" lvl="0" indent="-305435" algn="l" rtl="0">
              <a:lnSpc>
                <a:spcPct val="100000"/>
              </a:lnSpc>
              <a:spcBef>
                <a:spcPts val="975"/>
              </a:spcBef>
              <a:spcAft>
                <a:spcPts val="0"/>
              </a:spcAft>
              <a:buClr>
                <a:schemeClr val="dk1"/>
              </a:buClr>
              <a:buSzPts val="1500"/>
              <a:buFont typeface="Calibri"/>
              <a:buChar char="-"/>
            </a:pPr>
            <a:r>
              <a:rPr lang="en-US" sz="1500">
                <a:solidFill>
                  <a:schemeClr val="dk1"/>
                </a:solidFill>
                <a:latin typeface="Calibri"/>
                <a:ea typeface="Calibri"/>
                <a:cs typeface="Calibri"/>
                <a:sym typeface="Calibri"/>
              </a:rPr>
              <a:t>CFG can be used	or to assign a structure to a given sentence.</a:t>
            </a:r>
            <a:endParaRPr sz="1500">
              <a:solidFill>
                <a:schemeClr val="dk1"/>
              </a:solidFill>
              <a:latin typeface="Calibri"/>
              <a:ea typeface="Calibri"/>
              <a:cs typeface="Calibri"/>
              <a:sym typeface="Calibri"/>
            </a:endParaRPr>
          </a:p>
        </p:txBody>
      </p:sp>
      <p:sp>
        <p:nvSpPr>
          <p:cNvPr id="726" name="Google Shape;726;p66"/>
          <p:cNvSpPr/>
          <p:nvPr/>
        </p:nvSpPr>
        <p:spPr>
          <a:xfrm>
            <a:off x="3594844" y="5819775"/>
            <a:ext cx="2813685" cy="221615"/>
          </a:xfrm>
          <a:custGeom>
            <a:avLst/>
            <a:gdLst/>
            <a:ahLst/>
            <a:cxnLst/>
            <a:rect l="l" t="t" r="r" b="b"/>
            <a:pathLst>
              <a:path w="2813685" h="221614" extrusionOk="0">
                <a:moveTo>
                  <a:pt x="2813640" y="221513"/>
                </a:moveTo>
                <a:lnTo>
                  <a:pt x="0" y="221513"/>
                </a:lnTo>
                <a:lnTo>
                  <a:pt x="0" y="0"/>
                </a:lnTo>
                <a:lnTo>
                  <a:pt x="2813640" y="0"/>
                </a:lnTo>
                <a:lnTo>
                  <a:pt x="2813640" y="221513"/>
                </a:lnTo>
                <a:close/>
              </a:path>
            </a:pathLst>
          </a:custGeom>
          <a:solidFill>
            <a:srgbClr val="FFFF00"/>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27" name="Google Shape;727;p66"/>
          <p:cNvSpPr txBox="1"/>
          <p:nvPr/>
        </p:nvSpPr>
        <p:spPr>
          <a:xfrm>
            <a:off x="1168983" y="2884850"/>
            <a:ext cx="10055225" cy="3164205"/>
          </a:xfrm>
          <a:prstGeom prst="rect">
            <a:avLst/>
          </a:prstGeom>
          <a:noFill/>
          <a:ln>
            <a:noFill/>
          </a:ln>
        </p:spPr>
        <p:txBody>
          <a:bodyPr spcFirstLastPara="1" wrap="square" lIns="0" tIns="26025" rIns="0" bIns="0" anchor="t" anchorCtr="0">
            <a:spAutoFit/>
          </a:bodyPr>
          <a:lstStyle/>
          <a:p>
            <a:pPr marL="212090" marR="108585" lvl="0" indent="-200025" algn="l" rtl="0">
              <a:lnSpc>
                <a:spcPct val="118666"/>
              </a:lnSpc>
              <a:spcBef>
                <a:spcPts val="0"/>
              </a:spcBef>
              <a:spcAft>
                <a:spcPts val="0"/>
              </a:spcAft>
              <a:buClr>
                <a:schemeClr val="dk1"/>
              </a:buClr>
              <a:buSzPts val="1500"/>
              <a:buFont typeface="Arial"/>
              <a:buChar char="•"/>
            </a:pPr>
            <a:r>
              <a:rPr lang="en-US" sz="1500">
                <a:solidFill>
                  <a:schemeClr val="dk1"/>
                </a:solidFill>
                <a:latin typeface="Calibri"/>
                <a:ea typeface="Calibri"/>
                <a:cs typeface="Calibri"/>
                <a:sym typeface="Calibri"/>
              </a:rPr>
              <a:t>Eg: The symbol S can be rewritten as NP VP using Rule 1, then using rules R2 and R4, NP and VP are rewritten as N and V NP  respectively. NP is then rewritten as Det N(R3). Finally using rules R6 and R7, we get a sentence : Hena reads a book.</a:t>
            </a:r>
            <a:endParaRPr sz="1500">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500"/>
              <a:buFont typeface="Arial"/>
              <a:buNone/>
            </a:pPr>
            <a:endParaRPr sz="1500">
              <a:solidFill>
                <a:schemeClr val="dk1"/>
              </a:solidFill>
              <a:latin typeface="Calibri"/>
              <a:ea typeface="Calibri"/>
              <a:cs typeface="Calibri"/>
              <a:sym typeface="Calibri"/>
            </a:endParaRPr>
          </a:p>
          <a:p>
            <a:pPr marL="0" marR="0" lvl="0" indent="0" algn="l" rtl="0">
              <a:lnSpc>
                <a:spcPct val="100000"/>
              </a:lnSpc>
              <a:spcBef>
                <a:spcPts val="35"/>
              </a:spcBef>
              <a:spcAft>
                <a:spcPts val="0"/>
              </a:spcAft>
              <a:buClr>
                <a:schemeClr val="dk1"/>
              </a:buClr>
              <a:buSzPts val="1450"/>
              <a:buFont typeface="Arial"/>
              <a:buNone/>
            </a:pPr>
            <a:endParaRPr sz="1450">
              <a:solidFill>
                <a:schemeClr val="dk1"/>
              </a:solidFill>
              <a:latin typeface="Calibri"/>
              <a:ea typeface="Calibri"/>
              <a:cs typeface="Calibri"/>
              <a:sym typeface="Calibri"/>
            </a:endParaRPr>
          </a:p>
          <a:p>
            <a:pPr marL="212090" marR="0" lvl="0" indent="-200025" algn="l" rtl="0">
              <a:lnSpc>
                <a:spcPct val="100000"/>
              </a:lnSpc>
              <a:spcBef>
                <a:spcPts val="0"/>
              </a:spcBef>
              <a:spcAft>
                <a:spcPts val="0"/>
              </a:spcAft>
              <a:buClr>
                <a:schemeClr val="dk1"/>
              </a:buClr>
              <a:buSzPts val="1500"/>
              <a:buFont typeface="Arial"/>
              <a:buChar char="•"/>
            </a:pPr>
            <a:r>
              <a:rPr lang="en-US" sz="1500">
                <a:solidFill>
                  <a:schemeClr val="dk1"/>
                </a:solidFill>
                <a:latin typeface="Calibri"/>
                <a:ea typeface="Calibri"/>
                <a:cs typeface="Calibri"/>
                <a:sym typeface="Calibri"/>
              </a:rPr>
              <a:t>S-&gt;NP VP</a:t>
            </a:r>
            <a:endParaRPr sz="1500">
              <a:solidFill>
                <a:schemeClr val="dk1"/>
              </a:solidFill>
              <a:latin typeface="Calibri"/>
              <a:ea typeface="Calibri"/>
              <a:cs typeface="Calibri"/>
              <a:sym typeface="Calibri"/>
            </a:endParaRPr>
          </a:p>
          <a:p>
            <a:pPr marL="212090" marR="0" lvl="0" indent="-200025" algn="l" rtl="0">
              <a:lnSpc>
                <a:spcPct val="100000"/>
              </a:lnSpc>
              <a:spcBef>
                <a:spcPts val="975"/>
              </a:spcBef>
              <a:spcAft>
                <a:spcPts val="0"/>
              </a:spcAft>
              <a:buClr>
                <a:schemeClr val="dk1"/>
              </a:buClr>
              <a:buSzPts val="1500"/>
              <a:buFont typeface="Arial"/>
              <a:buChar char="•"/>
            </a:pPr>
            <a:r>
              <a:rPr lang="en-US" sz="1500">
                <a:solidFill>
                  <a:schemeClr val="dk1"/>
                </a:solidFill>
                <a:latin typeface="Calibri"/>
                <a:ea typeface="Calibri"/>
                <a:cs typeface="Calibri"/>
                <a:sym typeface="Calibri"/>
              </a:rPr>
              <a:t>NP-&gt;N VP</a:t>
            </a:r>
            <a:endParaRPr sz="1500">
              <a:solidFill>
                <a:schemeClr val="dk1"/>
              </a:solidFill>
              <a:latin typeface="Calibri"/>
              <a:ea typeface="Calibri"/>
              <a:cs typeface="Calibri"/>
              <a:sym typeface="Calibri"/>
            </a:endParaRPr>
          </a:p>
          <a:p>
            <a:pPr marL="212090" marR="0" lvl="0" indent="-200025" algn="l" rtl="0">
              <a:lnSpc>
                <a:spcPct val="100000"/>
              </a:lnSpc>
              <a:spcBef>
                <a:spcPts val="975"/>
              </a:spcBef>
              <a:spcAft>
                <a:spcPts val="0"/>
              </a:spcAft>
              <a:buClr>
                <a:schemeClr val="dk1"/>
              </a:buClr>
              <a:buSzPts val="1500"/>
              <a:buFont typeface="Arial"/>
              <a:buChar char="•"/>
            </a:pPr>
            <a:r>
              <a:rPr lang="en-US" sz="1500">
                <a:solidFill>
                  <a:schemeClr val="dk1"/>
                </a:solidFill>
                <a:latin typeface="Calibri"/>
                <a:ea typeface="Calibri"/>
                <a:cs typeface="Calibri"/>
                <a:sym typeface="Calibri"/>
              </a:rPr>
              <a:t>VP-&gt; V Np</a:t>
            </a:r>
            <a:endParaRPr sz="1500">
              <a:solidFill>
                <a:schemeClr val="dk1"/>
              </a:solidFill>
              <a:latin typeface="Calibri"/>
              <a:ea typeface="Calibri"/>
              <a:cs typeface="Calibri"/>
              <a:sym typeface="Calibri"/>
            </a:endParaRPr>
          </a:p>
          <a:p>
            <a:pPr marL="212090" marR="0" lvl="0" indent="-200025" algn="l" rtl="0">
              <a:lnSpc>
                <a:spcPct val="100000"/>
              </a:lnSpc>
              <a:spcBef>
                <a:spcPts val="975"/>
              </a:spcBef>
              <a:spcAft>
                <a:spcPts val="0"/>
              </a:spcAft>
              <a:buClr>
                <a:schemeClr val="dk1"/>
              </a:buClr>
              <a:buSzPts val="1500"/>
              <a:buFont typeface="Arial"/>
              <a:buChar char="•"/>
            </a:pPr>
            <a:r>
              <a:rPr lang="en-US" sz="1500">
                <a:solidFill>
                  <a:schemeClr val="dk1"/>
                </a:solidFill>
                <a:latin typeface="Calibri"/>
                <a:ea typeface="Calibri"/>
                <a:cs typeface="Calibri"/>
                <a:sym typeface="Calibri"/>
              </a:rPr>
              <a:t>NP-&gt; det N</a:t>
            </a:r>
            <a:endParaRPr sz="1500">
              <a:solidFill>
                <a:schemeClr val="dk1"/>
              </a:solidFill>
              <a:latin typeface="Calibri"/>
              <a:ea typeface="Calibri"/>
              <a:cs typeface="Calibri"/>
              <a:sym typeface="Calibri"/>
            </a:endParaRPr>
          </a:p>
          <a:p>
            <a:pPr marL="212090" marR="5080" lvl="0" indent="-200025" algn="l" rtl="0">
              <a:lnSpc>
                <a:spcPct val="98333"/>
              </a:lnSpc>
              <a:spcBef>
                <a:spcPts val="106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	</a:t>
            </a:r>
            <a:r>
              <a:rPr lang="en-US" sz="1500">
                <a:solidFill>
                  <a:schemeClr val="dk1"/>
                </a:solidFill>
                <a:latin typeface="Calibri"/>
                <a:ea typeface="Calibri"/>
                <a:cs typeface="Calibri"/>
                <a:sym typeface="Calibri"/>
              </a:rPr>
              <a:t>The set of all strings containing terminal symbols which can be derived from the start symbol of the grammar, defines the  language generated by that grammar.</a:t>
            </a:r>
            <a:endParaRPr sz="1500">
              <a:solidFill>
                <a:schemeClr val="dk1"/>
              </a:solidFill>
              <a:latin typeface="Calibri"/>
              <a:ea typeface="Calibri"/>
              <a:cs typeface="Calibri"/>
              <a:sym typeface="Calibri"/>
            </a:endParaRPr>
          </a:p>
          <a:p>
            <a:pPr marL="212090" marR="0" lvl="0" indent="-200025" algn="l" rtl="0">
              <a:lnSpc>
                <a:spcPct val="100000"/>
              </a:lnSpc>
              <a:spcBef>
                <a:spcPts val="875"/>
              </a:spcBef>
              <a:spcAft>
                <a:spcPts val="0"/>
              </a:spcAft>
              <a:buClr>
                <a:schemeClr val="dk1"/>
              </a:buClr>
              <a:buSzPts val="1500"/>
              <a:buFont typeface="Arial"/>
              <a:buChar char="•"/>
            </a:pPr>
            <a:r>
              <a:rPr lang="en-US" sz="1500">
                <a:solidFill>
                  <a:schemeClr val="dk1"/>
                </a:solidFill>
                <a:latin typeface="Calibri"/>
                <a:ea typeface="Calibri"/>
                <a:cs typeface="Calibri"/>
                <a:sym typeface="Calibri"/>
              </a:rPr>
              <a:t>The parse tree represents a mapping of a string to its parse tree. This mapping is called parsing.</a:t>
            </a:r>
            <a:endParaRPr sz="1500">
              <a:solidFill>
                <a:schemeClr val="dk1"/>
              </a:solidFill>
              <a:latin typeface="Calibri"/>
              <a:ea typeface="Calibri"/>
              <a:cs typeface="Calibri"/>
              <a:sym typeface="Calibri"/>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showMasterSp="0">
  <p:cSld>
    <p:spTree>
      <p:nvGrpSpPr>
        <p:cNvPr id="1" name="Shape 731"/>
        <p:cNvGrpSpPr/>
        <p:nvPr/>
      </p:nvGrpSpPr>
      <p:grpSpPr>
        <a:xfrm>
          <a:off x="0" y="0"/>
          <a:ext cx="0" cy="0"/>
          <a:chOff x="0" y="0"/>
          <a:chExt cx="0" cy="0"/>
        </a:xfrm>
      </p:grpSpPr>
      <p:sp>
        <p:nvSpPr>
          <p:cNvPr id="732" name="Google Shape;732;p67"/>
          <p:cNvSpPr txBox="1">
            <a:spLocks noGrp="1"/>
          </p:cNvSpPr>
          <p:nvPr>
            <p:ph type="title"/>
          </p:nvPr>
        </p:nvSpPr>
        <p:spPr>
          <a:xfrm>
            <a:off x="578716" y="329958"/>
            <a:ext cx="1963420" cy="464820"/>
          </a:xfrm>
          <a:prstGeom prst="rect">
            <a:avLst/>
          </a:prstGeom>
          <a:noFill/>
          <a:ln>
            <a:noFill/>
          </a:ln>
        </p:spPr>
        <p:txBody>
          <a:bodyPr spcFirstLastPara="1" wrap="square" lIns="0" tIns="16500" rIns="0" bIns="0" anchor="t" anchorCtr="0">
            <a:spAutoFit/>
          </a:bodyPr>
          <a:lstStyle/>
          <a:p>
            <a:pPr marL="12700" lvl="0" indent="0" algn="l" rtl="0">
              <a:lnSpc>
                <a:spcPct val="100000"/>
              </a:lnSpc>
              <a:spcBef>
                <a:spcPts val="0"/>
              </a:spcBef>
              <a:spcAft>
                <a:spcPts val="0"/>
              </a:spcAft>
              <a:buNone/>
            </a:pPr>
            <a:r>
              <a:rPr lang="en-US" sz="2850"/>
              <a:t>Constituency</a:t>
            </a:r>
            <a:endParaRPr sz="2850"/>
          </a:p>
        </p:txBody>
      </p:sp>
      <p:sp>
        <p:nvSpPr>
          <p:cNvPr id="733" name="Google Shape;733;p67"/>
          <p:cNvSpPr txBox="1"/>
          <p:nvPr/>
        </p:nvSpPr>
        <p:spPr>
          <a:xfrm>
            <a:off x="955538" y="1013898"/>
            <a:ext cx="9674225" cy="1270000"/>
          </a:xfrm>
          <a:prstGeom prst="rect">
            <a:avLst/>
          </a:prstGeom>
          <a:noFill/>
          <a:ln>
            <a:noFill/>
          </a:ln>
        </p:spPr>
        <p:txBody>
          <a:bodyPr spcFirstLastPara="1" wrap="square" lIns="0" tIns="151125" rIns="0" bIns="0" anchor="t" anchorCtr="0">
            <a:spAutoFit/>
          </a:bodyPr>
          <a:lstStyle/>
          <a:p>
            <a:pPr marL="311150" marR="0" lvl="0" indent="-299085" algn="l" rtl="0">
              <a:lnSpc>
                <a:spcPct val="100000"/>
              </a:lnSpc>
              <a:spcBef>
                <a:spcPts val="0"/>
              </a:spcBef>
              <a:spcAft>
                <a:spcPts val="0"/>
              </a:spcAft>
              <a:buClr>
                <a:schemeClr val="dk1"/>
              </a:buClr>
              <a:buSzPts val="1800"/>
              <a:buFont typeface="Calibri"/>
              <a:buChar char="-"/>
            </a:pPr>
            <a:r>
              <a:rPr lang="en-US" sz="1800">
                <a:solidFill>
                  <a:schemeClr val="dk1"/>
                </a:solidFill>
                <a:latin typeface="Calibri"/>
                <a:ea typeface="Calibri"/>
                <a:cs typeface="Calibri"/>
                <a:sym typeface="Calibri"/>
              </a:rPr>
              <a:t>Words in a sentence are not tied together as a sequence of parts of speech.</a:t>
            </a:r>
            <a:endParaRPr sz="1800">
              <a:solidFill>
                <a:schemeClr val="dk1"/>
              </a:solidFill>
              <a:latin typeface="Calibri"/>
              <a:ea typeface="Calibri"/>
              <a:cs typeface="Calibri"/>
              <a:sym typeface="Calibri"/>
            </a:endParaRPr>
          </a:p>
          <a:p>
            <a:pPr marL="311150" marR="0" lvl="0" indent="-299085" algn="l" rtl="0">
              <a:lnSpc>
                <a:spcPct val="100000"/>
              </a:lnSpc>
              <a:spcBef>
                <a:spcPts val="1090"/>
              </a:spcBef>
              <a:spcAft>
                <a:spcPts val="0"/>
              </a:spcAft>
              <a:buClr>
                <a:schemeClr val="dk1"/>
              </a:buClr>
              <a:buSzPts val="1800"/>
              <a:buFont typeface="Calibri"/>
              <a:buChar char="-"/>
            </a:pPr>
            <a:r>
              <a:rPr lang="en-US" sz="1800">
                <a:solidFill>
                  <a:schemeClr val="dk1"/>
                </a:solidFill>
                <a:latin typeface="Calibri"/>
                <a:ea typeface="Calibri"/>
                <a:cs typeface="Calibri"/>
                <a:sym typeface="Calibri"/>
              </a:rPr>
              <a:t>Language puts constraints on word order.</a:t>
            </a:r>
            <a:endParaRPr sz="1800">
              <a:solidFill>
                <a:schemeClr val="dk1"/>
              </a:solidFill>
              <a:latin typeface="Calibri"/>
              <a:ea typeface="Calibri"/>
              <a:cs typeface="Calibri"/>
              <a:sym typeface="Calibri"/>
            </a:endParaRPr>
          </a:p>
          <a:p>
            <a:pPr marL="425450" marR="0" lvl="1" indent="-194945" algn="l" rtl="0">
              <a:lnSpc>
                <a:spcPct val="100000"/>
              </a:lnSpc>
              <a:spcBef>
                <a:spcPts val="1140"/>
              </a:spcBef>
              <a:spcAft>
                <a:spcPts val="0"/>
              </a:spcAft>
              <a:buClr>
                <a:schemeClr val="dk1"/>
              </a:buClr>
              <a:buSzPts val="1800"/>
              <a:buFont typeface="Arial"/>
              <a:buChar char="•"/>
            </a:pPr>
            <a:r>
              <a:rPr lang="en-US" sz="1800" b="0" i="0" u="none" strike="noStrike" cap="none">
                <a:solidFill>
                  <a:schemeClr val="dk1"/>
                </a:solidFill>
                <a:latin typeface="Calibri"/>
                <a:ea typeface="Calibri"/>
                <a:cs typeface="Calibri"/>
                <a:sym typeface="Calibri"/>
              </a:rPr>
              <a:t>Eg: Certain words go together with each other more than with others and seem to behave as a unit.</a:t>
            </a:r>
            <a:endParaRPr sz="1800" b="0" i="0" u="none" strike="noStrike" cap="none">
              <a:solidFill>
                <a:schemeClr val="dk1"/>
              </a:solidFill>
              <a:latin typeface="Calibri"/>
              <a:ea typeface="Calibri"/>
              <a:cs typeface="Calibri"/>
              <a:sym typeface="Calibri"/>
            </a:endParaRPr>
          </a:p>
        </p:txBody>
      </p:sp>
      <p:sp>
        <p:nvSpPr>
          <p:cNvPr id="734" name="Google Shape;734;p67"/>
          <p:cNvSpPr/>
          <p:nvPr/>
        </p:nvSpPr>
        <p:spPr>
          <a:xfrm>
            <a:off x="4877209" y="2425123"/>
            <a:ext cx="4042410" cy="274320"/>
          </a:xfrm>
          <a:custGeom>
            <a:avLst/>
            <a:gdLst/>
            <a:ahLst/>
            <a:cxnLst/>
            <a:rect l="l" t="t" r="r" b="b"/>
            <a:pathLst>
              <a:path w="4042409" h="274319" extrusionOk="0">
                <a:moveTo>
                  <a:pt x="4041911" y="274319"/>
                </a:moveTo>
                <a:lnTo>
                  <a:pt x="0" y="274319"/>
                </a:lnTo>
                <a:lnTo>
                  <a:pt x="0" y="0"/>
                </a:lnTo>
                <a:lnTo>
                  <a:pt x="4041911" y="0"/>
                </a:lnTo>
                <a:lnTo>
                  <a:pt x="4041911" y="274319"/>
                </a:lnTo>
                <a:close/>
              </a:path>
            </a:pathLst>
          </a:custGeom>
          <a:solidFill>
            <a:srgbClr val="FFFF00"/>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35" name="Google Shape;735;p67"/>
          <p:cNvSpPr txBox="1"/>
          <p:nvPr/>
        </p:nvSpPr>
        <p:spPr>
          <a:xfrm>
            <a:off x="955538" y="2403279"/>
            <a:ext cx="10185400" cy="2997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800">
                <a:solidFill>
                  <a:schemeClr val="dk1"/>
                </a:solidFill>
                <a:latin typeface="Calibri"/>
                <a:ea typeface="Calibri"/>
                <a:cs typeface="Calibri"/>
                <a:sym typeface="Calibri"/>
              </a:rPr>
              <a:t>-	The fundamental idea of syntax is that words group together to form constituents , each of which acts as a</a:t>
            </a:r>
            <a:endParaRPr sz="1800">
              <a:solidFill>
                <a:schemeClr val="dk1"/>
              </a:solidFill>
              <a:latin typeface="Calibri"/>
              <a:ea typeface="Calibri"/>
              <a:cs typeface="Calibri"/>
              <a:sym typeface="Calibri"/>
            </a:endParaRPr>
          </a:p>
        </p:txBody>
      </p:sp>
      <p:sp>
        <p:nvSpPr>
          <p:cNvPr id="736" name="Google Shape;736;p67"/>
          <p:cNvSpPr txBox="1"/>
          <p:nvPr/>
        </p:nvSpPr>
        <p:spPr>
          <a:xfrm>
            <a:off x="955538" y="2556949"/>
            <a:ext cx="9697085" cy="1555750"/>
          </a:xfrm>
          <a:prstGeom prst="rect">
            <a:avLst/>
          </a:prstGeom>
          <a:noFill/>
          <a:ln>
            <a:noFill/>
          </a:ln>
        </p:spPr>
        <p:txBody>
          <a:bodyPr spcFirstLastPara="1" wrap="square" lIns="0" tIns="151125" rIns="0" bIns="0" anchor="t" anchorCtr="0">
            <a:spAutoFit/>
          </a:bodyPr>
          <a:lstStyle/>
          <a:p>
            <a:pPr marL="311150" marR="0" lvl="0" indent="0" algn="l" rtl="0">
              <a:lnSpc>
                <a:spcPct val="100000"/>
              </a:lnSpc>
              <a:spcBef>
                <a:spcPts val="0"/>
              </a:spcBef>
              <a:spcAft>
                <a:spcPts val="0"/>
              </a:spcAft>
              <a:buNone/>
            </a:pPr>
            <a:r>
              <a:rPr lang="en-US" sz="1800">
                <a:solidFill>
                  <a:schemeClr val="dk1"/>
                </a:solidFill>
                <a:latin typeface="Calibri"/>
                <a:ea typeface="Calibri"/>
                <a:cs typeface="Calibri"/>
                <a:sym typeface="Calibri"/>
              </a:rPr>
              <a:t>single unit.</a:t>
            </a:r>
            <a:endParaRPr sz="1800">
              <a:solidFill>
                <a:schemeClr val="dk1"/>
              </a:solidFill>
              <a:latin typeface="Calibri"/>
              <a:ea typeface="Calibri"/>
              <a:cs typeface="Calibri"/>
              <a:sym typeface="Calibri"/>
            </a:endParaRPr>
          </a:p>
          <a:p>
            <a:pPr marL="311150" marR="5080" lvl="0" indent="-299085" algn="l" rtl="0">
              <a:lnSpc>
                <a:spcPct val="106500"/>
              </a:lnSpc>
              <a:spcBef>
                <a:spcPts val="950"/>
              </a:spcBef>
              <a:spcAft>
                <a:spcPts val="0"/>
              </a:spcAft>
              <a:buClr>
                <a:schemeClr val="dk1"/>
              </a:buClr>
              <a:buSzPts val="1800"/>
              <a:buFont typeface="Calibri"/>
              <a:buChar char="-"/>
            </a:pPr>
            <a:r>
              <a:rPr lang="en-US" sz="1800">
                <a:solidFill>
                  <a:schemeClr val="dk1"/>
                </a:solidFill>
                <a:latin typeface="Calibri"/>
                <a:ea typeface="Calibri"/>
                <a:cs typeface="Calibri"/>
                <a:sym typeface="Calibri"/>
              </a:rPr>
              <a:t>They combine constituents to form larger constituents, The bird, The rain, The Wimbledon court, The  beautiful garden are all noun phrases that can occur in the same syntactic context.</a:t>
            </a:r>
            <a:endParaRPr sz="1800">
              <a:solidFill>
                <a:schemeClr val="dk1"/>
              </a:solidFill>
              <a:latin typeface="Calibri"/>
              <a:ea typeface="Calibri"/>
              <a:cs typeface="Calibri"/>
              <a:sym typeface="Calibri"/>
            </a:endParaRPr>
          </a:p>
          <a:p>
            <a:pPr marL="311150" marR="0" lvl="0" indent="-299085" algn="l" rtl="0">
              <a:lnSpc>
                <a:spcPct val="100000"/>
              </a:lnSpc>
              <a:spcBef>
                <a:spcPts val="1090"/>
              </a:spcBef>
              <a:spcAft>
                <a:spcPts val="0"/>
              </a:spcAft>
              <a:buClr>
                <a:schemeClr val="dk1"/>
              </a:buClr>
              <a:buSzPts val="1800"/>
              <a:buFont typeface="Calibri"/>
              <a:buChar char="-"/>
            </a:pPr>
            <a:r>
              <a:rPr lang="en-US" sz="1800">
                <a:solidFill>
                  <a:schemeClr val="dk1"/>
                </a:solidFill>
                <a:latin typeface="Calibri"/>
                <a:ea typeface="Calibri"/>
                <a:cs typeface="Calibri"/>
                <a:sym typeface="Calibri"/>
              </a:rPr>
              <a:t>For example, they can all function as the subject or the object of a verb.</a:t>
            </a:r>
            <a:endParaRPr sz="1800">
              <a:solidFill>
                <a:schemeClr val="dk1"/>
              </a:solidFill>
              <a:latin typeface="Calibri"/>
              <a:ea typeface="Calibri"/>
              <a:cs typeface="Calibri"/>
              <a:sym typeface="Calibri"/>
            </a:endParaRPr>
          </a:p>
        </p:txBody>
      </p:sp>
      <p:sp>
        <p:nvSpPr>
          <p:cNvPr id="737" name="Google Shape;737;p67"/>
          <p:cNvSpPr/>
          <p:nvPr/>
        </p:nvSpPr>
        <p:spPr>
          <a:xfrm>
            <a:off x="5797860" y="4253923"/>
            <a:ext cx="2178050" cy="274320"/>
          </a:xfrm>
          <a:custGeom>
            <a:avLst/>
            <a:gdLst/>
            <a:ahLst/>
            <a:cxnLst/>
            <a:rect l="l" t="t" r="r" b="b"/>
            <a:pathLst>
              <a:path w="2178050" h="274320" extrusionOk="0">
                <a:moveTo>
                  <a:pt x="2177504" y="274320"/>
                </a:moveTo>
                <a:lnTo>
                  <a:pt x="0" y="274320"/>
                </a:lnTo>
                <a:lnTo>
                  <a:pt x="0" y="0"/>
                </a:lnTo>
                <a:lnTo>
                  <a:pt x="2177504" y="0"/>
                </a:lnTo>
                <a:lnTo>
                  <a:pt x="2177504" y="274320"/>
                </a:lnTo>
                <a:close/>
              </a:path>
            </a:pathLst>
          </a:custGeom>
          <a:solidFill>
            <a:srgbClr val="FFFF00"/>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38" name="Google Shape;738;p67"/>
          <p:cNvSpPr txBox="1"/>
          <p:nvPr/>
        </p:nvSpPr>
        <p:spPr>
          <a:xfrm>
            <a:off x="851284" y="4087298"/>
            <a:ext cx="7122159" cy="1701800"/>
          </a:xfrm>
          <a:prstGeom prst="rect">
            <a:avLst/>
          </a:prstGeom>
          <a:noFill/>
          <a:ln>
            <a:noFill/>
          </a:ln>
        </p:spPr>
        <p:txBody>
          <a:bodyPr spcFirstLastPara="1" wrap="square" lIns="0" tIns="157475" rIns="0" bIns="0" anchor="t" anchorCtr="0">
            <a:spAutoFit/>
          </a:bodyPr>
          <a:lstStyle/>
          <a:p>
            <a:pPr marL="415290" marR="0" lvl="0" indent="-299085" algn="l" rtl="0">
              <a:lnSpc>
                <a:spcPct val="100000"/>
              </a:lnSpc>
              <a:spcBef>
                <a:spcPts val="0"/>
              </a:spcBef>
              <a:spcAft>
                <a:spcPts val="0"/>
              </a:spcAft>
              <a:buClr>
                <a:schemeClr val="dk1"/>
              </a:buClr>
              <a:buSzPts val="1800"/>
              <a:buFont typeface="Calibri"/>
              <a:buChar char="-"/>
            </a:pPr>
            <a:r>
              <a:rPr lang="en-US" sz="1800">
                <a:solidFill>
                  <a:schemeClr val="dk1"/>
                </a:solidFill>
                <a:latin typeface="Calibri"/>
                <a:ea typeface="Calibri"/>
                <a:cs typeface="Calibri"/>
                <a:sym typeface="Calibri"/>
              </a:rPr>
              <a:t>These constituents combine with others to form a sentence constituent.</a:t>
            </a:r>
            <a:endParaRPr sz="1800">
              <a:solidFill>
                <a:schemeClr val="dk1"/>
              </a:solidFill>
              <a:latin typeface="Calibri"/>
              <a:ea typeface="Calibri"/>
              <a:cs typeface="Calibri"/>
              <a:sym typeface="Calibri"/>
            </a:endParaRPr>
          </a:p>
          <a:p>
            <a:pPr marL="415290" marR="0" lvl="0" indent="-299085" algn="l" rtl="0">
              <a:lnSpc>
                <a:spcPct val="100000"/>
              </a:lnSpc>
              <a:spcBef>
                <a:spcPts val="1140"/>
              </a:spcBef>
              <a:spcAft>
                <a:spcPts val="0"/>
              </a:spcAft>
              <a:buClr>
                <a:schemeClr val="dk1"/>
              </a:buClr>
              <a:buSzPts val="1800"/>
              <a:buFont typeface="Calibri"/>
              <a:buChar char="-"/>
            </a:pPr>
            <a:r>
              <a:rPr lang="en-US" sz="1800">
                <a:solidFill>
                  <a:schemeClr val="dk1"/>
                </a:solidFill>
                <a:latin typeface="Calibri"/>
                <a:ea typeface="Calibri"/>
                <a:cs typeface="Calibri"/>
                <a:sym typeface="Calibri"/>
              </a:rPr>
              <a:t>Different types of phrases have different internal structure</a:t>
            </a:r>
            <a:endParaRPr sz="1800">
              <a:solidFill>
                <a:schemeClr val="dk1"/>
              </a:solidFill>
              <a:latin typeface="Calibri"/>
              <a:ea typeface="Calibri"/>
              <a:cs typeface="Calibri"/>
              <a:sym typeface="Calibri"/>
            </a:endParaRPr>
          </a:p>
          <a:p>
            <a:pPr marL="415290" marR="0" lvl="0" indent="-351155" algn="l" rtl="0">
              <a:lnSpc>
                <a:spcPct val="100000"/>
              </a:lnSpc>
              <a:spcBef>
                <a:spcPts val="1140"/>
              </a:spcBef>
              <a:spcAft>
                <a:spcPts val="0"/>
              </a:spcAft>
              <a:buClr>
                <a:schemeClr val="dk1"/>
              </a:buClr>
              <a:buSzPts val="1800"/>
              <a:buFont typeface="Calibri"/>
              <a:buAutoNum type="romanLcParenR"/>
            </a:pPr>
            <a:r>
              <a:rPr lang="en-US" sz="1800">
                <a:solidFill>
                  <a:schemeClr val="dk1"/>
                </a:solidFill>
                <a:latin typeface="Calibri"/>
                <a:ea typeface="Calibri"/>
                <a:cs typeface="Calibri"/>
                <a:sym typeface="Calibri"/>
              </a:rPr>
              <a:t>Phrase level constructions.</a:t>
            </a:r>
            <a:endParaRPr sz="1800">
              <a:solidFill>
                <a:schemeClr val="dk1"/>
              </a:solidFill>
              <a:latin typeface="Calibri"/>
              <a:ea typeface="Calibri"/>
              <a:cs typeface="Calibri"/>
              <a:sym typeface="Calibri"/>
            </a:endParaRPr>
          </a:p>
          <a:p>
            <a:pPr marL="415290" marR="0" lvl="0" indent="-403225" algn="l" rtl="0">
              <a:lnSpc>
                <a:spcPct val="100000"/>
              </a:lnSpc>
              <a:spcBef>
                <a:spcPts val="1140"/>
              </a:spcBef>
              <a:spcAft>
                <a:spcPts val="0"/>
              </a:spcAft>
              <a:buClr>
                <a:schemeClr val="dk1"/>
              </a:buClr>
              <a:buSzPts val="1800"/>
              <a:buFont typeface="Calibri"/>
              <a:buAutoNum type="romanLcParenR"/>
            </a:pPr>
            <a:r>
              <a:rPr lang="en-US" sz="1800">
                <a:solidFill>
                  <a:schemeClr val="dk1"/>
                </a:solidFill>
                <a:latin typeface="Calibri"/>
                <a:ea typeface="Calibri"/>
                <a:cs typeface="Calibri"/>
                <a:sym typeface="Calibri"/>
              </a:rPr>
              <a:t>Sentence level constructions .</a:t>
            </a:r>
            <a:endParaRPr sz="1800">
              <a:solidFill>
                <a:schemeClr val="dk1"/>
              </a:solidFill>
              <a:latin typeface="Calibri"/>
              <a:ea typeface="Calibri"/>
              <a:cs typeface="Calibri"/>
              <a:sym typeface="Calibri"/>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showMasterSp="0">
  <p:cSld>
    <p:spTree>
      <p:nvGrpSpPr>
        <p:cNvPr id="1" name="Shape 742"/>
        <p:cNvGrpSpPr/>
        <p:nvPr/>
      </p:nvGrpSpPr>
      <p:grpSpPr>
        <a:xfrm>
          <a:off x="0" y="0"/>
          <a:ext cx="0" cy="0"/>
          <a:chOff x="0" y="0"/>
          <a:chExt cx="0" cy="0"/>
        </a:xfrm>
      </p:grpSpPr>
      <p:sp>
        <p:nvSpPr>
          <p:cNvPr id="743" name="Google Shape;743;p68"/>
          <p:cNvSpPr/>
          <p:nvPr/>
        </p:nvSpPr>
        <p:spPr>
          <a:xfrm>
            <a:off x="5674518" y="961736"/>
            <a:ext cx="2167255" cy="274320"/>
          </a:xfrm>
          <a:custGeom>
            <a:avLst/>
            <a:gdLst/>
            <a:ahLst/>
            <a:cxnLst/>
            <a:rect l="l" t="t" r="r" b="b"/>
            <a:pathLst>
              <a:path w="2167254" h="274319" extrusionOk="0">
                <a:moveTo>
                  <a:pt x="2167011" y="274320"/>
                </a:moveTo>
                <a:lnTo>
                  <a:pt x="0" y="274320"/>
                </a:lnTo>
                <a:lnTo>
                  <a:pt x="0" y="0"/>
                </a:lnTo>
                <a:lnTo>
                  <a:pt x="2167011" y="0"/>
                </a:lnTo>
                <a:lnTo>
                  <a:pt x="2167011" y="274320"/>
                </a:lnTo>
                <a:close/>
              </a:path>
            </a:pathLst>
          </a:custGeom>
          <a:solidFill>
            <a:srgbClr val="FFFF00"/>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44" name="Google Shape;744;p68"/>
          <p:cNvSpPr/>
          <p:nvPr/>
        </p:nvSpPr>
        <p:spPr>
          <a:xfrm>
            <a:off x="5138179" y="1403060"/>
            <a:ext cx="3120390" cy="274320"/>
          </a:xfrm>
          <a:custGeom>
            <a:avLst/>
            <a:gdLst/>
            <a:ahLst/>
            <a:cxnLst/>
            <a:rect l="l" t="t" r="r" b="b"/>
            <a:pathLst>
              <a:path w="3120390" h="274319" extrusionOk="0">
                <a:moveTo>
                  <a:pt x="3120032" y="274319"/>
                </a:moveTo>
                <a:lnTo>
                  <a:pt x="0" y="274319"/>
                </a:lnTo>
                <a:lnTo>
                  <a:pt x="0" y="0"/>
                </a:lnTo>
                <a:lnTo>
                  <a:pt x="3120032" y="0"/>
                </a:lnTo>
                <a:lnTo>
                  <a:pt x="3120032" y="274319"/>
                </a:lnTo>
                <a:close/>
              </a:path>
            </a:pathLst>
          </a:custGeom>
          <a:solidFill>
            <a:srgbClr val="FFFF00"/>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45" name="Google Shape;745;p68"/>
          <p:cNvSpPr/>
          <p:nvPr/>
        </p:nvSpPr>
        <p:spPr>
          <a:xfrm>
            <a:off x="7388014" y="2152361"/>
            <a:ext cx="1218565" cy="274320"/>
          </a:xfrm>
          <a:custGeom>
            <a:avLst/>
            <a:gdLst/>
            <a:ahLst/>
            <a:cxnLst/>
            <a:rect l="l" t="t" r="r" b="b"/>
            <a:pathLst>
              <a:path w="1218565" h="274319" extrusionOk="0">
                <a:moveTo>
                  <a:pt x="1218567" y="274319"/>
                </a:moveTo>
                <a:lnTo>
                  <a:pt x="0" y="274319"/>
                </a:lnTo>
                <a:lnTo>
                  <a:pt x="0" y="0"/>
                </a:lnTo>
                <a:lnTo>
                  <a:pt x="1218567" y="0"/>
                </a:lnTo>
                <a:lnTo>
                  <a:pt x="1218567" y="274319"/>
                </a:lnTo>
                <a:close/>
              </a:path>
            </a:pathLst>
          </a:custGeom>
          <a:solidFill>
            <a:srgbClr val="FFFF00"/>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46" name="Google Shape;746;p68"/>
          <p:cNvSpPr/>
          <p:nvPr/>
        </p:nvSpPr>
        <p:spPr>
          <a:xfrm>
            <a:off x="4514329" y="2466686"/>
            <a:ext cx="1522730" cy="274320"/>
          </a:xfrm>
          <a:custGeom>
            <a:avLst/>
            <a:gdLst/>
            <a:ahLst/>
            <a:cxnLst/>
            <a:rect l="l" t="t" r="r" b="b"/>
            <a:pathLst>
              <a:path w="1522729" h="274319" extrusionOk="0">
                <a:moveTo>
                  <a:pt x="1522400" y="274319"/>
                </a:moveTo>
                <a:lnTo>
                  <a:pt x="0" y="274319"/>
                </a:lnTo>
                <a:lnTo>
                  <a:pt x="0" y="0"/>
                </a:lnTo>
                <a:lnTo>
                  <a:pt x="1522400" y="0"/>
                </a:lnTo>
                <a:lnTo>
                  <a:pt x="1522400" y="274319"/>
                </a:lnTo>
                <a:close/>
              </a:path>
            </a:pathLst>
          </a:custGeom>
          <a:solidFill>
            <a:srgbClr val="FFFF00"/>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47" name="Google Shape;747;p68"/>
          <p:cNvSpPr txBox="1"/>
          <p:nvPr/>
        </p:nvSpPr>
        <p:spPr>
          <a:xfrm>
            <a:off x="911225" y="380323"/>
            <a:ext cx="10059035" cy="5003165"/>
          </a:xfrm>
          <a:prstGeom prst="rect">
            <a:avLst/>
          </a:prstGeom>
          <a:noFill/>
          <a:ln>
            <a:noFill/>
          </a:ln>
        </p:spPr>
        <p:txBody>
          <a:bodyPr spcFirstLastPara="1" wrap="square" lIns="0" tIns="154925" rIns="0" bIns="0" anchor="t" anchorCtr="0">
            <a:spAutoFit/>
          </a:bodyPr>
          <a:lstStyle/>
          <a:p>
            <a:pPr marL="12700" marR="0" lvl="0" indent="0" algn="just" rtl="0">
              <a:lnSpc>
                <a:spcPct val="100000"/>
              </a:lnSpc>
              <a:spcBef>
                <a:spcPts val="0"/>
              </a:spcBef>
              <a:spcAft>
                <a:spcPts val="0"/>
              </a:spcAft>
              <a:buNone/>
            </a:pPr>
            <a:r>
              <a:rPr lang="en-US" sz="1800">
                <a:solidFill>
                  <a:schemeClr val="dk1"/>
                </a:solidFill>
                <a:latin typeface="Calibri"/>
                <a:ea typeface="Calibri"/>
                <a:cs typeface="Calibri"/>
                <a:sym typeface="Calibri"/>
              </a:rPr>
              <a:t>Phrase Level Constructions</a:t>
            </a:r>
            <a:endParaRPr sz="1800">
              <a:solidFill>
                <a:schemeClr val="dk1"/>
              </a:solidFill>
              <a:latin typeface="Calibri"/>
              <a:ea typeface="Calibri"/>
              <a:cs typeface="Calibri"/>
              <a:sym typeface="Calibri"/>
            </a:endParaRPr>
          </a:p>
          <a:p>
            <a:pPr marL="355600" marR="0" lvl="0" indent="-299085" algn="just" rtl="0">
              <a:lnSpc>
                <a:spcPct val="100000"/>
              </a:lnSpc>
              <a:spcBef>
                <a:spcPts val="1125"/>
              </a:spcBef>
              <a:spcAft>
                <a:spcPts val="0"/>
              </a:spcAft>
              <a:buClr>
                <a:schemeClr val="dk1"/>
              </a:buClr>
              <a:buSzPts val="1800"/>
              <a:buFont typeface="Calibri"/>
              <a:buChar char="-"/>
            </a:pPr>
            <a:r>
              <a:rPr lang="en-US" sz="1800">
                <a:solidFill>
                  <a:schemeClr val="dk1"/>
                </a:solidFill>
                <a:latin typeface="Calibri"/>
                <a:ea typeface="Calibri"/>
                <a:cs typeface="Calibri"/>
                <a:sym typeface="Calibri"/>
              </a:rPr>
              <a:t>Fundamental notion in natural language is that certain group of words behave as constituents.</a:t>
            </a:r>
            <a:endParaRPr sz="1800">
              <a:solidFill>
                <a:schemeClr val="dk1"/>
              </a:solidFill>
              <a:latin typeface="Calibri"/>
              <a:ea typeface="Calibri"/>
              <a:cs typeface="Calibri"/>
              <a:sym typeface="Calibri"/>
            </a:endParaRPr>
          </a:p>
          <a:p>
            <a:pPr marL="355600" marR="0" lvl="0" indent="-299085" algn="just" rtl="0">
              <a:lnSpc>
                <a:spcPct val="100000"/>
              </a:lnSpc>
              <a:spcBef>
                <a:spcPts val="1315"/>
              </a:spcBef>
              <a:spcAft>
                <a:spcPts val="0"/>
              </a:spcAft>
              <a:buClr>
                <a:schemeClr val="dk1"/>
              </a:buClr>
              <a:buSzPts val="1800"/>
              <a:buFont typeface="Calibri"/>
              <a:buChar char="-"/>
            </a:pPr>
            <a:r>
              <a:rPr lang="en-US" sz="1800">
                <a:solidFill>
                  <a:schemeClr val="dk1"/>
                </a:solidFill>
                <a:latin typeface="Calibri"/>
                <a:ea typeface="Calibri"/>
                <a:cs typeface="Calibri"/>
                <a:sym typeface="Calibri"/>
              </a:rPr>
              <a:t>These constituents are identified by their ability to occur in similar contexts.</a:t>
            </a:r>
            <a:endParaRPr sz="1800">
              <a:solidFill>
                <a:schemeClr val="dk1"/>
              </a:solidFill>
              <a:latin typeface="Calibri"/>
              <a:ea typeface="Calibri"/>
              <a:cs typeface="Calibri"/>
              <a:sym typeface="Calibri"/>
            </a:endParaRPr>
          </a:p>
          <a:p>
            <a:pPr marL="355600" marR="5080" lvl="0" indent="-299085" algn="just" rtl="0">
              <a:lnSpc>
                <a:spcPct val="113999"/>
              </a:lnSpc>
              <a:spcBef>
                <a:spcPts val="985"/>
              </a:spcBef>
              <a:spcAft>
                <a:spcPts val="0"/>
              </a:spcAft>
              <a:buClr>
                <a:schemeClr val="dk1"/>
              </a:buClr>
              <a:buSzPts val="1800"/>
              <a:buFont typeface="Calibri"/>
              <a:buChar char="-"/>
            </a:pPr>
            <a:r>
              <a:rPr lang="en-US" sz="1800">
                <a:solidFill>
                  <a:schemeClr val="dk1"/>
                </a:solidFill>
                <a:latin typeface="Calibri"/>
                <a:ea typeface="Calibri"/>
                <a:cs typeface="Calibri"/>
                <a:sym typeface="Calibri"/>
              </a:rPr>
              <a:t>Simplest way to decide whether a group of words is a phrase , is to see if it can be substituted with some  other group of words without changing the meaning. So, if such a substitution is possible then the set of  words form a phrase. This is called substitution test. We can substitute a number of other phrases:</a:t>
            </a:r>
            <a:endParaRPr sz="1800">
              <a:solidFill>
                <a:schemeClr val="dk1"/>
              </a:solidFill>
              <a:latin typeface="Calibri"/>
              <a:ea typeface="Calibri"/>
              <a:cs typeface="Calibri"/>
              <a:sym typeface="Calibri"/>
            </a:endParaRPr>
          </a:p>
          <a:p>
            <a:pPr marL="727710" marR="0" lvl="1" indent="-453389" algn="l" rtl="0">
              <a:lnSpc>
                <a:spcPct val="100000"/>
              </a:lnSpc>
              <a:spcBef>
                <a:spcPts val="1315"/>
              </a:spcBef>
              <a:spcAft>
                <a:spcPts val="0"/>
              </a:spcAft>
              <a:buClr>
                <a:schemeClr val="dk1"/>
              </a:buClr>
              <a:buSzPts val="1800"/>
              <a:buFont typeface="Arial"/>
              <a:buChar char="•"/>
            </a:pPr>
            <a:r>
              <a:rPr lang="en-US" sz="1800" b="0" i="0" u="none" strike="noStrike" cap="none">
                <a:solidFill>
                  <a:schemeClr val="dk1"/>
                </a:solidFill>
                <a:latin typeface="Calibri"/>
                <a:ea typeface="Calibri"/>
                <a:cs typeface="Calibri"/>
                <a:sym typeface="Calibri"/>
              </a:rPr>
              <a:t>Hena reads a book.</a:t>
            </a:r>
            <a:endParaRPr sz="1800" b="0" i="0" u="none" strike="noStrike" cap="none">
              <a:solidFill>
                <a:schemeClr val="dk1"/>
              </a:solidFill>
              <a:latin typeface="Calibri"/>
              <a:ea typeface="Calibri"/>
              <a:cs typeface="Calibri"/>
              <a:sym typeface="Calibri"/>
            </a:endParaRPr>
          </a:p>
          <a:p>
            <a:pPr marL="727710" marR="0" lvl="1" indent="-453389" algn="l" rtl="0">
              <a:lnSpc>
                <a:spcPct val="100000"/>
              </a:lnSpc>
              <a:spcBef>
                <a:spcPts val="1290"/>
              </a:spcBef>
              <a:spcAft>
                <a:spcPts val="0"/>
              </a:spcAft>
              <a:buClr>
                <a:schemeClr val="dk1"/>
              </a:buClr>
              <a:buSzPts val="1800"/>
              <a:buFont typeface="Arial"/>
              <a:buChar char="•"/>
            </a:pPr>
            <a:r>
              <a:rPr lang="en-US" sz="1800" b="0" i="0" u="none" strike="noStrike" cap="none">
                <a:solidFill>
                  <a:schemeClr val="dk1"/>
                </a:solidFill>
                <a:latin typeface="Calibri"/>
                <a:ea typeface="Calibri"/>
                <a:cs typeface="Calibri"/>
                <a:sym typeface="Calibri"/>
              </a:rPr>
              <a:t>Hena reads a story book.</a:t>
            </a:r>
            <a:endParaRPr sz="1800" b="0" i="0" u="none" strike="noStrike" cap="none">
              <a:solidFill>
                <a:schemeClr val="dk1"/>
              </a:solidFill>
              <a:latin typeface="Calibri"/>
              <a:ea typeface="Calibri"/>
              <a:cs typeface="Calibri"/>
              <a:sym typeface="Calibri"/>
            </a:endParaRPr>
          </a:p>
          <a:p>
            <a:pPr marL="676275" marR="0" lvl="1" indent="-401955" algn="l" rtl="0">
              <a:lnSpc>
                <a:spcPct val="100000"/>
              </a:lnSpc>
              <a:spcBef>
                <a:spcPts val="1290"/>
              </a:spcBef>
              <a:spcAft>
                <a:spcPts val="0"/>
              </a:spcAft>
              <a:buClr>
                <a:schemeClr val="dk1"/>
              </a:buClr>
              <a:buSzPts val="1800"/>
              <a:buFont typeface="Arial"/>
              <a:buChar char="•"/>
            </a:pPr>
            <a:r>
              <a:rPr lang="en-US" sz="1800" b="0" i="0" u="none" strike="noStrike" cap="none">
                <a:solidFill>
                  <a:schemeClr val="dk1"/>
                </a:solidFill>
                <a:latin typeface="Calibri"/>
                <a:ea typeface="Calibri"/>
                <a:cs typeface="Calibri"/>
                <a:sym typeface="Calibri"/>
              </a:rPr>
              <a:t>Those girls reads a book.</a:t>
            </a:r>
            <a:endParaRPr sz="1800" b="0" i="0" u="none" strike="noStrike" cap="none">
              <a:solidFill>
                <a:schemeClr val="dk1"/>
              </a:solidFill>
              <a:latin typeface="Calibri"/>
              <a:ea typeface="Calibri"/>
              <a:cs typeface="Calibri"/>
              <a:sym typeface="Calibri"/>
            </a:endParaRPr>
          </a:p>
          <a:p>
            <a:pPr marL="676275" marR="0" lvl="1" indent="-401955" algn="l" rtl="0">
              <a:lnSpc>
                <a:spcPct val="100000"/>
              </a:lnSpc>
              <a:spcBef>
                <a:spcPts val="1290"/>
              </a:spcBef>
              <a:spcAft>
                <a:spcPts val="0"/>
              </a:spcAft>
              <a:buClr>
                <a:schemeClr val="dk1"/>
              </a:buClr>
              <a:buSzPts val="1800"/>
              <a:buFont typeface="Arial"/>
              <a:buChar char="•"/>
            </a:pPr>
            <a:r>
              <a:rPr lang="en-US" sz="1800" b="0" i="0" u="none" strike="noStrike" cap="none">
                <a:solidFill>
                  <a:schemeClr val="dk1"/>
                </a:solidFill>
                <a:latin typeface="Calibri"/>
                <a:ea typeface="Calibri"/>
                <a:cs typeface="Calibri"/>
                <a:sym typeface="Calibri"/>
              </a:rPr>
              <a:t>She reads a comic book.</a:t>
            </a:r>
            <a:endParaRPr sz="18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None/>
            </a:pPr>
            <a:endParaRPr sz="1600">
              <a:solidFill>
                <a:schemeClr val="dk1"/>
              </a:solidFill>
              <a:latin typeface="Calibri"/>
              <a:ea typeface="Calibri"/>
              <a:cs typeface="Calibri"/>
              <a:sym typeface="Calibri"/>
            </a:endParaRPr>
          </a:p>
          <a:p>
            <a:pPr marL="241300" marR="80010" lvl="0" indent="0" algn="l" rtl="0">
              <a:lnSpc>
                <a:spcPct val="115700"/>
              </a:lnSpc>
              <a:spcBef>
                <a:spcPts val="0"/>
              </a:spcBef>
              <a:spcAft>
                <a:spcPts val="0"/>
              </a:spcAft>
              <a:buNone/>
            </a:pPr>
            <a:r>
              <a:rPr lang="en-US" sz="1800">
                <a:solidFill>
                  <a:schemeClr val="dk1"/>
                </a:solidFill>
                <a:latin typeface="Calibri"/>
                <a:ea typeface="Calibri"/>
                <a:cs typeface="Calibri"/>
                <a:sym typeface="Calibri"/>
              </a:rPr>
              <a:t>The constituents that can be replaced for each other in these sentences. These are Hena, She, Those girls  and a book, a story book and a comic book. These are the words that form a phrase.</a:t>
            </a:r>
            <a:endParaRPr sz="1800">
              <a:solidFill>
                <a:schemeClr val="dk1"/>
              </a:solidFill>
              <a:latin typeface="Calibri"/>
              <a:ea typeface="Calibri"/>
              <a:cs typeface="Calibri"/>
              <a:sym typeface="Calibri"/>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showMasterSp="0">
  <p:cSld>
    <p:spTree>
      <p:nvGrpSpPr>
        <p:cNvPr id="1" name="Shape 751"/>
        <p:cNvGrpSpPr/>
        <p:nvPr/>
      </p:nvGrpSpPr>
      <p:grpSpPr>
        <a:xfrm>
          <a:off x="0" y="0"/>
          <a:ext cx="0" cy="0"/>
          <a:chOff x="0" y="0"/>
          <a:chExt cx="0" cy="0"/>
        </a:xfrm>
      </p:grpSpPr>
      <p:sp>
        <p:nvSpPr>
          <p:cNvPr id="752" name="Google Shape;752;p69"/>
          <p:cNvSpPr txBox="1">
            <a:spLocks noGrp="1"/>
          </p:cNvSpPr>
          <p:nvPr>
            <p:ph type="title"/>
          </p:nvPr>
        </p:nvSpPr>
        <p:spPr>
          <a:xfrm>
            <a:off x="911225" y="245640"/>
            <a:ext cx="2640965" cy="629285"/>
          </a:xfrm>
          <a:prstGeom prst="rect">
            <a:avLst/>
          </a:prstGeom>
          <a:noFill/>
          <a:ln>
            <a:noFill/>
          </a:ln>
        </p:spPr>
        <p:txBody>
          <a:bodyPr spcFirstLastPara="1" wrap="square" lIns="0" tIns="13950" rIns="0" bIns="0" anchor="t" anchorCtr="0">
            <a:spAutoFit/>
          </a:bodyPr>
          <a:lstStyle/>
          <a:p>
            <a:pPr marL="12700" lvl="0" indent="0" algn="l" rtl="0">
              <a:lnSpc>
                <a:spcPct val="100000"/>
              </a:lnSpc>
              <a:spcBef>
                <a:spcPts val="0"/>
              </a:spcBef>
              <a:spcAft>
                <a:spcPts val="0"/>
              </a:spcAft>
              <a:buNone/>
            </a:pPr>
            <a:r>
              <a:rPr lang="en-US"/>
              <a:t>Noun Phrase</a:t>
            </a:r>
            <a:endParaRPr/>
          </a:p>
        </p:txBody>
      </p:sp>
      <p:sp>
        <p:nvSpPr>
          <p:cNvPr id="753" name="Google Shape;753;p69"/>
          <p:cNvSpPr/>
          <p:nvPr/>
        </p:nvSpPr>
        <p:spPr>
          <a:xfrm>
            <a:off x="3377389" y="1372176"/>
            <a:ext cx="1600200" cy="213360"/>
          </a:xfrm>
          <a:custGeom>
            <a:avLst/>
            <a:gdLst/>
            <a:ahLst/>
            <a:cxnLst/>
            <a:rect l="l" t="t" r="r" b="b"/>
            <a:pathLst>
              <a:path w="1600200" h="213359" extrusionOk="0">
                <a:moveTo>
                  <a:pt x="1600021" y="213359"/>
                </a:moveTo>
                <a:lnTo>
                  <a:pt x="0" y="213359"/>
                </a:lnTo>
                <a:lnTo>
                  <a:pt x="0" y="0"/>
                </a:lnTo>
                <a:lnTo>
                  <a:pt x="1600021" y="0"/>
                </a:lnTo>
                <a:lnTo>
                  <a:pt x="1600021" y="213359"/>
                </a:lnTo>
                <a:close/>
              </a:path>
            </a:pathLst>
          </a:custGeom>
          <a:solidFill>
            <a:srgbClr val="FFFF00"/>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54" name="Google Shape;754;p69"/>
          <p:cNvSpPr/>
          <p:nvPr/>
        </p:nvSpPr>
        <p:spPr>
          <a:xfrm>
            <a:off x="923925" y="3639127"/>
            <a:ext cx="1424940" cy="213360"/>
          </a:xfrm>
          <a:custGeom>
            <a:avLst/>
            <a:gdLst/>
            <a:ahLst/>
            <a:cxnLst/>
            <a:rect l="l" t="t" r="r" b="b"/>
            <a:pathLst>
              <a:path w="1424939" h="213360" extrusionOk="0">
                <a:moveTo>
                  <a:pt x="1424348" y="213360"/>
                </a:moveTo>
                <a:lnTo>
                  <a:pt x="0" y="213360"/>
                </a:lnTo>
                <a:lnTo>
                  <a:pt x="0" y="0"/>
                </a:lnTo>
                <a:lnTo>
                  <a:pt x="1424348" y="0"/>
                </a:lnTo>
                <a:lnTo>
                  <a:pt x="1424348" y="213360"/>
                </a:lnTo>
                <a:close/>
              </a:path>
            </a:pathLst>
          </a:custGeom>
          <a:solidFill>
            <a:srgbClr val="FFFF00"/>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55" name="Google Shape;755;p69"/>
          <p:cNvSpPr/>
          <p:nvPr/>
        </p:nvSpPr>
        <p:spPr>
          <a:xfrm>
            <a:off x="4400059" y="3982027"/>
            <a:ext cx="2820670" cy="213360"/>
          </a:xfrm>
          <a:custGeom>
            <a:avLst/>
            <a:gdLst/>
            <a:ahLst/>
            <a:cxnLst/>
            <a:rect l="l" t="t" r="r" b="b"/>
            <a:pathLst>
              <a:path w="2820670" h="213360" extrusionOk="0">
                <a:moveTo>
                  <a:pt x="2820430" y="213360"/>
                </a:moveTo>
                <a:lnTo>
                  <a:pt x="0" y="213360"/>
                </a:lnTo>
                <a:lnTo>
                  <a:pt x="0" y="0"/>
                </a:lnTo>
                <a:lnTo>
                  <a:pt x="2820430" y="0"/>
                </a:lnTo>
                <a:lnTo>
                  <a:pt x="2820430" y="213360"/>
                </a:lnTo>
                <a:close/>
              </a:path>
            </a:pathLst>
          </a:custGeom>
          <a:solidFill>
            <a:srgbClr val="FFFF00"/>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56" name="Google Shape;756;p69"/>
          <p:cNvSpPr/>
          <p:nvPr/>
        </p:nvSpPr>
        <p:spPr>
          <a:xfrm>
            <a:off x="5499965" y="4667827"/>
            <a:ext cx="2038350" cy="213360"/>
          </a:xfrm>
          <a:custGeom>
            <a:avLst/>
            <a:gdLst/>
            <a:ahLst/>
            <a:cxnLst/>
            <a:rect l="l" t="t" r="r" b="b"/>
            <a:pathLst>
              <a:path w="2038350" h="213360" extrusionOk="0">
                <a:moveTo>
                  <a:pt x="2037775" y="213360"/>
                </a:moveTo>
                <a:lnTo>
                  <a:pt x="0" y="213360"/>
                </a:lnTo>
                <a:lnTo>
                  <a:pt x="0" y="0"/>
                </a:lnTo>
                <a:lnTo>
                  <a:pt x="2037775" y="0"/>
                </a:lnTo>
                <a:lnTo>
                  <a:pt x="2037775" y="213360"/>
                </a:lnTo>
                <a:close/>
              </a:path>
            </a:pathLst>
          </a:custGeom>
          <a:solidFill>
            <a:srgbClr val="FFFF00"/>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57" name="Google Shape;757;p69"/>
          <p:cNvSpPr txBox="1"/>
          <p:nvPr/>
        </p:nvSpPr>
        <p:spPr>
          <a:xfrm>
            <a:off x="911225" y="1276165"/>
            <a:ext cx="10316845" cy="4654550"/>
          </a:xfrm>
          <a:prstGeom prst="rect">
            <a:avLst/>
          </a:prstGeom>
          <a:noFill/>
          <a:ln>
            <a:noFill/>
          </a:ln>
        </p:spPr>
        <p:txBody>
          <a:bodyPr spcFirstLastPara="1" wrap="square" lIns="0" tIns="101600" rIns="0" bIns="0" anchor="t" anchorCtr="0">
            <a:spAutoFit/>
          </a:bodyPr>
          <a:lstStyle/>
          <a:p>
            <a:pPr marL="12700" marR="5080" lvl="0" indent="0" algn="l" rtl="0">
              <a:lnSpc>
                <a:spcPct val="70800"/>
              </a:lnSpc>
              <a:spcBef>
                <a:spcPts val="0"/>
              </a:spcBef>
              <a:spcAft>
                <a:spcPts val="0"/>
              </a:spcAft>
              <a:buNone/>
            </a:pPr>
            <a:r>
              <a:rPr lang="en-US" sz="2000">
                <a:solidFill>
                  <a:schemeClr val="dk1"/>
                </a:solidFill>
                <a:latin typeface="Times New Roman"/>
                <a:ea typeface="Times New Roman"/>
                <a:cs typeface="Times New Roman"/>
                <a:sym typeface="Times New Roman"/>
              </a:rPr>
              <a:t>Phrase types are named after their head which is the lexical category that determines the properties of  the phrase</a:t>
            </a:r>
            <a:endParaRPr sz="2000">
              <a:solidFill>
                <a:schemeClr val="dk1"/>
              </a:solidFill>
              <a:latin typeface="Times New Roman"/>
              <a:ea typeface="Times New Roman"/>
              <a:cs typeface="Times New Roman"/>
              <a:sym typeface="Times New Roman"/>
            </a:endParaRPr>
          </a:p>
          <a:p>
            <a:pPr marL="0" marR="0" lvl="0" indent="0" algn="l" rtl="0">
              <a:lnSpc>
                <a:spcPct val="100000"/>
              </a:lnSpc>
              <a:spcBef>
                <a:spcPts val="15"/>
              </a:spcBef>
              <a:spcAft>
                <a:spcPts val="0"/>
              </a:spcAft>
              <a:buNone/>
            </a:pPr>
            <a:endParaRPr sz="2550">
              <a:solidFill>
                <a:schemeClr val="dk1"/>
              </a:solidFill>
              <a:latin typeface="Times New Roman"/>
              <a:ea typeface="Times New Roman"/>
              <a:cs typeface="Times New Roman"/>
              <a:sym typeface="Times New Roman"/>
            </a:endParaRPr>
          </a:p>
          <a:p>
            <a:pPr marL="241300" marR="0" lvl="0" indent="-186690" algn="l" rtl="0">
              <a:lnSpc>
                <a:spcPct val="100000"/>
              </a:lnSpc>
              <a:spcBef>
                <a:spcPts val="0"/>
              </a:spcBef>
              <a:spcAft>
                <a:spcPts val="0"/>
              </a:spcAft>
              <a:buClr>
                <a:schemeClr val="dk1"/>
              </a:buClr>
              <a:buSzPts val="2000"/>
              <a:buFont typeface="Times New Roman"/>
              <a:buChar char="-"/>
            </a:pPr>
            <a:r>
              <a:rPr lang="en-US" sz="2000">
                <a:solidFill>
                  <a:schemeClr val="dk1"/>
                </a:solidFill>
                <a:latin typeface="Times New Roman"/>
                <a:ea typeface="Times New Roman"/>
                <a:cs typeface="Times New Roman"/>
                <a:sym typeface="Times New Roman"/>
              </a:rPr>
              <a:t>If the head is a noun -the phrase is called noun phrase;</a:t>
            </a:r>
            <a:endParaRPr sz="2000">
              <a:solidFill>
                <a:schemeClr val="dk1"/>
              </a:solidFill>
              <a:latin typeface="Times New Roman"/>
              <a:ea typeface="Times New Roman"/>
              <a:cs typeface="Times New Roman"/>
              <a:sym typeface="Times New Roman"/>
            </a:endParaRPr>
          </a:p>
          <a:p>
            <a:pPr marL="241300" marR="0" lvl="0" indent="-186690" algn="l" rtl="0">
              <a:lnSpc>
                <a:spcPct val="100000"/>
              </a:lnSpc>
              <a:spcBef>
                <a:spcPts val="300"/>
              </a:spcBef>
              <a:spcAft>
                <a:spcPts val="0"/>
              </a:spcAft>
              <a:buClr>
                <a:schemeClr val="dk1"/>
              </a:buClr>
              <a:buSzPts val="2000"/>
              <a:buFont typeface="Times New Roman"/>
              <a:buChar char="-"/>
            </a:pPr>
            <a:r>
              <a:rPr lang="en-US" sz="2000">
                <a:solidFill>
                  <a:schemeClr val="dk1"/>
                </a:solidFill>
                <a:latin typeface="Times New Roman"/>
                <a:ea typeface="Times New Roman"/>
                <a:cs typeface="Times New Roman"/>
                <a:sym typeface="Times New Roman"/>
              </a:rPr>
              <a:t>If the head is a verb the phrase is called verb phrase</a:t>
            </a:r>
            <a:endParaRPr sz="2000">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None/>
            </a:pPr>
            <a:endParaRPr sz="2200">
              <a:solidFill>
                <a:schemeClr val="dk1"/>
              </a:solidFill>
              <a:latin typeface="Times New Roman"/>
              <a:ea typeface="Times New Roman"/>
              <a:cs typeface="Times New Roman"/>
              <a:sym typeface="Times New Roman"/>
            </a:endParaRPr>
          </a:p>
          <a:p>
            <a:pPr marL="0" marR="0" lvl="0" indent="0" algn="l" rtl="0">
              <a:lnSpc>
                <a:spcPct val="100000"/>
              </a:lnSpc>
              <a:spcBef>
                <a:spcPts val="10"/>
              </a:spcBef>
              <a:spcAft>
                <a:spcPts val="0"/>
              </a:spcAft>
              <a:buNone/>
            </a:pPr>
            <a:endParaRPr sz="2750">
              <a:solidFill>
                <a:schemeClr val="dk1"/>
              </a:solidFill>
              <a:latin typeface="Times New Roman"/>
              <a:ea typeface="Times New Roman"/>
              <a:cs typeface="Times New Roman"/>
              <a:sym typeface="Times New Roman"/>
            </a:endParaRPr>
          </a:p>
          <a:p>
            <a:pPr marL="76200" marR="0" lvl="0" indent="0" algn="l" rtl="0">
              <a:lnSpc>
                <a:spcPct val="100000"/>
              </a:lnSpc>
              <a:spcBef>
                <a:spcPts val="0"/>
              </a:spcBef>
              <a:spcAft>
                <a:spcPts val="0"/>
              </a:spcAft>
              <a:buNone/>
            </a:pPr>
            <a:r>
              <a:rPr lang="en-US" sz="2000">
                <a:solidFill>
                  <a:schemeClr val="dk1"/>
                </a:solidFill>
                <a:latin typeface="Times New Roman"/>
                <a:ea typeface="Times New Roman"/>
                <a:cs typeface="Times New Roman"/>
                <a:sym typeface="Times New Roman"/>
              </a:rPr>
              <a:t>Noun phrase:</a:t>
            </a:r>
            <a:endParaRPr sz="2000">
              <a:solidFill>
                <a:schemeClr val="dk1"/>
              </a:solidFill>
              <a:latin typeface="Times New Roman"/>
              <a:ea typeface="Times New Roman"/>
              <a:cs typeface="Times New Roman"/>
              <a:sym typeface="Times New Roman"/>
            </a:endParaRPr>
          </a:p>
          <a:p>
            <a:pPr marL="12700" marR="0" lvl="0" indent="0" algn="l" rtl="0">
              <a:lnSpc>
                <a:spcPct val="100000"/>
              </a:lnSpc>
              <a:spcBef>
                <a:spcPts val="300"/>
              </a:spcBef>
              <a:spcAft>
                <a:spcPts val="0"/>
              </a:spcAft>
              <a:buNone/>
            </a:pPr>
            <a:r>
              <a:rPr lang="en-US" sz="2000">
                <a:solidFill>
                  <a:schemeClr val="dk1"/>
                </a:solidFill>
                <a:latin typeface="Times New Roman"/>
                <a:ea typeface="Times New Roman"/>
                <a:cs typeface="Times New Roman"/>
                <a:sym typeface="Times New Roman"/>
              </a:rPr>
              <a:t>-A noun phrase is a phrase whose head is a noun or a pronoun, accomplished by set of modifiers</a:t>
            </a:r>
            <a:endParaRPr sz="2000">
              <a:solidFill>
                <a:schemeClr val="dk1"/>
              </a:solidFill>
              <a:latin typeface="Times New Roman"/>
              <a:ea typeface="Times New Roman"/>
              <a:cs typeface="Times New Roman"/>
              <a:sym typeface="Times New Roman"/>
            </a:endParaRPr>
          </a:p>
          <a:p>
            <a:pPr marL="12700" marR="0" lvl="0" indent="0" algn="l" rtl="0">
              <a:lnSpc>
                <a:spcPct val="100000"/>
              </a:lnSpc>
              <a:spcBef>
                <a:spcPts val="300"/>
              </a:spcBef>
              <a:spcAft>
                <a:spcPts val="0"/>
              </a:spcAft>
              <a:buNone/>
            </a:pPr>
            <a:r>
              <a:rPr lang="en-US" sz="2000">
                <a:solidFill>
                  <a:schemeClr val="dk1"/>
                </a:solidFill>
                <a:latin typeface="Times New Roman"/>
                <a:ea typeface="Times New Roman"/>
                <a:cs typeface="Times New Roman"/>
                <a:sym typeface="Times New Roman"/>
              </a:rPr>
              <a:t>-It can function as subject , object or complement determiners or adjective phrase.</a:t>
            </a:r>
            <a:endParaRPr sz="2000">
              <a:solidFill>
                <a:schemeClr val="dk1"/>
              </a:solidFill>
              <a:latin typeface="Times New Roman"/>
              <a:ea typeface="Times New Roman"/>
              <a:cs typeface="Times New Roman"/>
              <a:sym typeface="Times New Roman"/>
            </a:endParaRPr>
          </a:p>
          <a:p>
            <a:pPr marL="12700" marR="0" lvl="0" indent="0" algn="l" rtl="0">
              <a:lnSpc>
                <a:spcPct val="100000"/>
              </a:lnSpc>
              <a:spcBef>
                <a:spcPts val="300"/>
              </a:spcBef>
              <a:spcAft>
                <a:spcPts val="0"/>
              </a:spcAft>
              <a:buNone/>
            </a:pPr>
            <a:r>
              <a:rPr lang="en-US" sz="2000">
                <a:solidFill>
                  <a:schemeClr val="dk1"/>
                </a:solidFill>
                <a:latin typeface="Times New Roman"/>
                <a:ea typeface="Times New Roman"/>
                <a:cs typeface="Times New Roman"/>
                <a:sym typeface="Times New Roman"/>
              </a:rPr>
              <a:t>-The obligatory constituent of a noun phrase is the noun head all other constituents are optional</a:t>
            </a:r>
            <a:endParaRPr sz="2000">
              <a:solidFill>
                <a:schemeClr val="dk1"/>
              </a:solidFill>
              <a:latin typeface="Times New Roman"/>
              <a:ea typeface="Times New Roman"/>
              <a:cs typeface="Times New Roman"/>
              <a:sym typeface="Times New Roman"/>
            </a:endParaRPr>
          </a:p>
          <a:p>
            <a:pPr marL="12700" marR="0" lvl="0" indent="0" algn="l" rtl="0">
              <a:lnSpc>
                <a:spcPct val="100000"/>
              </a:lnSpc>
              <a:spcBef>
                <a:spcPts val="300"/>
              </a:spcBef>
              <a:spcAft>
                <a:spcPts val="0"/>
              </a:spcAft>
              <a:buNone/>
            </a:pPr>
            <a:r>
              <a:rPr lang="en-US" sz="2000">
                <a:solidFill>
                  <a:schemeClr val="dk1"/>
                </a:solidFill>
                <a:latin typeface="Times New Roman"/>
                <a:ea typeface="Times New Roman"/>
                <a:cs typeface="Times New Roman"/>
                <a:sym typeface="Times New Roman"/>
              </a:rPr>
              <a:t>-These structure can be represented using the phrase structure rule.</a:t>
            </a:r>
            <a:endParaRPr sz="2000">
              <a:solidFill>
                <a:schemeClr val="dk1"/>
              </a:solidFill>
              <a:latin typeface="Times New Roman"/>
              <a:ea typeface="Times New Roman"/>
              <a:cs typeface="Times New Roman"/>
              <a:sym typeface="Times New Roman"/>
            </a:endParaRPr>
          </a:p>
          <a:p>
            <a:pPr marL="12700" marR="0" lvl="0" indent="0" algn="l" rtl="0">
              <a:lnSpc>
                <a:spcPct val="100000"/>
              </a:lnSpc>
              <a:spcBef>
                <a:spcPts val="300"/>
              </a:spcBef>
              <a:spcAft>
                <a:spcPts val="0"/>
              </a:spcAft>
              <a:buNone/>
            </a:pPr>
            <a:r>
              <a:rPr lang="en-US" sz="2000">
                <a:solidFill>
                  <a:schemeClr val="dk1"/>
                </a:solidFill>
                <a:latin typeface="Times New Roman"/>
                <a:ea typeface="Times New Roman"/>
                <a:cs typeface="Times New Roman"/>
                <a:sym typeface="Times New Roman"/>
              </a:rPr>
              <a:t>-Phrase structure rules of the form</a:t>
            </a:r>
            <a:endParaRPr sz="2000">
              <a:solidFill>
                <a:schemeClr val="dk1"/>
              </a:solidFill>
              <a:latin typeface="Times New Roman"/>
              <a:ea typeface="Times New Roman"/>
              <a:cs typeface="Times New Roman"/>
              <a:sym typeface="Times New Roman"/>
            </a:endParaRPr>
          </a:p>
          <a:p>
            <a:pPr marL="457200" marR="0" lvl="0" indent="0" algn="l" rtl="0">
              <a:lnSpc>
                <a:spcPct val="100000"/>
              </a:lnSpc>
              <a:spcBef>
                <a:spcPts val="300"/>
              </a:spcBef>
              <a:spcAft>
                <a:spcPts val="0"/>
              </a:spcAft>
              <a:buNone/>
            </a:pPr>
            <a:r>
              <a:rPr lang="en-US" sz="2000">
                <a:solidFill>
                  <a:schemeClr val="dk1"/>
                </a:solidFill>
                <a:latin typeface="Times New Roman"/>
                <a:ea typeface="Times New Roman"/>
                <a:cs typeface="Times New Roman"/>
                <a:sym typeface="Times New Roman"/>
              </a:rPr>
              <a:t>A-&gt;BC, which states that constituent A can be rewritten as two constituents B and C.</a:t>
            </a:r>
            <a:endParaRPr sz="2000">
              <a:solidFill>
                <a:schemeClr val="dk1"/>
              </a:solidFill>
              <a:latin typeface="Times New Roman"/>
              <a:ea typeface="Times New Roman"/>
              <a:cs typeface="Times New Roman"/>
              <a:sym typeface="Times New Roman"/>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showMasterSp="0">
  <p:cSld>
    <p:spTree>
      <p:nvGrpSpPr>
        <p:cNvPr id="1" name="Shape 761"/>
        <p:cNvGrpSpPr/>
        <p:nvPr/>
      </p:nvGrpSpPr>
      <p:grpSpPr>
        <a:xfrm>
          <a:off x="0" y="0"/>
          <a:ext cx="0" cy="0"/>
          <a:chOff x="0" y="0"/>
          <a:chExt cx="0" cy="0"/>
        </a:xfrm>
      </p:grpSpPr>
      <p:sp>
        <p:nvSpPr>
          <p:cNvPr id="762" name="Google Shape;762;p70"/>
          <p:cNvSpPr txBox="1">
            <a:spLocks noGrp="1"/>
          </p:cNvSpPr>
          <p:nvPr>
            <p:ph type="title"/>
          </p:nvPr>
        </p:nvSpPr>
        <p:spPr>
          <a:xfrm>
            <a:off x="1050925" y="639172"/>
            <a:ext cx="2864485" cy="69596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4400">
                <a:latin typeface="Times New Roman"/>
                <a:ea typeface="Times New Roman"/>
                <a:cs typeface="Times New Roman"/>
                <a:sym typeface="Times New Roman"/>
              </a:rPr>
              <a:t>Noun phrase</a:t>
            </a:r>
            <a:endParaRPr sz="4400">
              <a:latin typeface="Times New Roman"/>
              <a:ea typeface="Times New Roman"/>
              <a:cs typeface="Times New Roman"/>
              <a:sym typeface="Times New Roman"/>
            </a:endParaRPr>
          </a:p>
        </p:txBody>
      </p:sp>
      <p:sp>
        <p:nvSpPr>
          <p:cNvPr id="763" name="Google Shape;763;p70"/>
          <p:cNvSpPr/>
          <p:nvPr/>
        </p:nvSpPr>
        <p:spPr>
          <a:xfrm>
            <a:off x="923925" y="4200525"/>
            <a:ext cx="2656205" cy="209550"/>
          </a:xfrm>
          <a:custGeom>
            <a:avLst/>
            <a:gdLst/>
            <a:ahLst/>
            <a:cxnLst/>
            <a:rect l="l" t="t" r="r" b="b"/>
            <a:pathLst>
              <a:path w="2656204" h="209550" extrusionOk="0">
                <a:moveTo>
                  <a:pt x="2655960" y="209092"/>
                </a:moveTo>
                <a:lnTo>
                  <a:pt x="0" y="209092"/>
                </a:lnTo>
                <a:lnTo>
                  <a:pt x="0" y="0"/>
                </a:lnTo>
                <a:lnTo>
                  <a:pt x="2655960" y="0"/>
                </a:lnTo>
                <a:lnTo>
                  <a:pt x="2655960" y="209092"/>
                </a:lnTo>
                <a:close/>
              </a:path>
            </a:pathLst>
          </a:custGeom>
          <a:solidFill>
            <a:srgbClr val="FFFF00"/>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64" name="Google Shape;764;p70"/>
          <p:cNvSpPr txBox="1"/>
          <p:nvPr/>
        </p:nvSpPr>
        <p:spPr>
          <a:xfrm>
            <a:off x="911225" y="1731533"/>
            <a:ext cx="10198735" cy="4241800"/>
          </a:xfrm>
          <a:prstGeom prst="rect">
            <a:avLst/>
          </a:prstGeom>
          <a:noFill/>
          <a:ln>
            <a:noFill/>
          </a:ln>
        </p:spPr>
        <p:txBody>
          <a:bodyPr spcFirstLastPara="1" wrap="square" lIns="0" tIns="12700" rIns="0" bIns="0" anchor="t" anchorCtr="0">
            <a:spAutoFit/>
          </a:bodyPr>
          <a:lstStyle/>
          <a:p>
            <a:pPr marL="697230" marR="2675890" lvl="0" indent="-684530" algn="l" rtl="0">
              <a:lnSpc>
                <a:spcPct val="113199"/>
              </a:lnSpc>
              <a:spcBef>
                <a:spcPts val="0"/>
              </a:spcBef>
              <a:spcAft>
                <a:spcPts val="0"/>
              </a:spcAft>
              <a:buNone/>
            </a:pPr>
            <a:r>
              <a:rPr lang="en-US" sz="1950">
                <a:solidFill>
                  <a:schemeClr val="dk1"/>
                </a:solidFill>
                <a:latin typeface="Times New Roman"/>
                <a:ea typeface="Times New Roman"/>
                <a:cs typeface="Times New Roman"/>
                <a:sym typeface="Times New Roman"/>
              </a:rPr>
              <a:t>These rules specify which elements can occur in a phrase and in what order  NP-&gt;Pronoun</a:t>
            </a:r>
            <a:endParaRPr sz="1950">
              <a:solidFill>
                <a:schemeClr val="dk1"/>
              </a:solidFill>
              <a:latin typeface="Times New Roman"/>
              <a:ea typeface="Times New Roman"/>
              <a:cs typeface="Times New Roman"/>
              <a:sym typeface="Times New Roman"/>
            </a:endParaRPr>
          </a:p>
          <a:p>
            <a:pPr marL="697230" marR="7977505" lvl="0" indent="0" algn="l" rtl="0">
              <a:lnSpc>
                <a:spcPct val="112200"/>
              </a:lnSpc>
              <a:spcBef>
                <a:spcPts val="0"/>
              </a:spcBef>
              <a:spcAft>
                <a:spcPts val="0"/>
              </a:spcAft>
              <a:buNone/>
            </a:pPr>
            <a:r>
              <a:rPr lang="en-US" sz="1950">
                <a:solidFill>
                  <a:schemeClr val="dk1"/>
                </a:solidFill>
                <a:latin typeface="Times New Roman"/>
                <a:ea typeface="Times New Roman"/>
                <a:cs typeface="Times New Roman"/>
                <a:sym typeface="Times New Roman"/>
              </a:rPr>
              <a:t>NP-&gt;Det Noun  NP-&gt;Noun</a:t>
            </a:r>
            <a:endParaRPr sz="1950">
              <a:solidFill>
                <a:schemeClr val="dk1"/>
              </a:solidFill>
              <a:latin typeface="Times New Roman"/>
              <a:ea typeface="Times New Roman"/>
              <a:cs typeface="Times New Roman"/>
              <a:sym typeface="Times New Roman"/>
            </a:endParaRPr>
          </a:p>
          <a:p>
            <a:pPr marL="697230" marR="0" lvl="0" indent="0" algn="l" rtl="0">
              <a:lnSpc>
                <a:spcPct val="100000"/>
              </a:lnSpc>
              <a:spcBef>
                <a:spcPts val="280"/>
              </a:spcBef>
              <a:spcAft>
                <a:spcPts val="0"/>
              </a:spcAft>
              <a:buNone/>
            </a:pPr>
            <a:r>
              <a:rPr lang="en-US" sz="1950">
                <a:solidFill>
                  <a:schemeClr val="dk1"/>
                </a:solidFill>
                <a:latin typeface="Times New Roman"/>
                <a:ea typeface="Times New Roman"/>
                <a:cs typeface="Times New Roman"/>
                <a:sym typeface="Times New Roman"/>
              </a:rPr>
              <a:t>NP-&gt;Adj Noun</a:t>
            </a:r>
            <a:endParaRPr sz="1950">
              <a:solidFill>
                <a:schemeClr val="dk1"/>
              </a:solidFill>
              <a:latin typeface="Times New Roman"/>
              <a:ea typeface="Times New Roman"/>
              <a:cs typeface="Times New Roman"/>
              <a:sym typeface="Times New Roman"/>
            </a:endParaRPr>
          </a:p>
          <a:p>
            <a:pPr marL="697230" marR="0" lvl="0" indent="0" algn="l" rtl="0">
              <a:lnSpc>
                <a:spcPct val="100000"/>
              </a:lnSpc>
              <a:spcBef>
                <a:spcPts val="285"/>
              </a:spcBef>
              <a:spcAft>
                <a:spcPts val="0"/>
              </a:spcAft>
              <a:buNone/>
            </a:pPr>
            <a:r>
              <a:rPr lang="en-US" sz="1950">
                <a:solidFill>
                  <a:schemeClr val="dk1"/>
                </a:solidFill>
                <a:latin typeface="Times New Roman"/>
                <a:ea typeface="Times New Roman"/>
                <a:cs typeface="Times New Roman"/>
                <a:sym typeface="Times New Roman"/>
              </a:rPr>
              <a:t>NP-&gt;Det Adj Noun</a:t>
            </a:r>
            <a:endParaRPr sz="1950">
              <a:solidFill>
                <a:schemeClr val="dk1"/>
              </a:solidFill>
              <a:latin typeface="Times New Roman"/>
              <a:ea typeface="Times New Roman"/>
              <a:cs typeface="Times New Roman"/>
              <a:sym typeface="Times New Roman"/>
            </a:endParaRPr>
          </a:p>
          <a:p>
            <a:pPr marL="510540" marR="4235450" lvl="0" indent="-497840" algn="l" rtl="0">
              <a:lnSpc>
                <a:spcPct val="112200"/>
              </a:lnSpc>
              <a:spcBef>
                <a:spcPts val="0"/>
              </a:spcBef>
              <a:spcAft>
                <a:spcPts val="0"/>
              </a:spcAft>
              <a:buNone/>
            </a:pPr>
            <a:r>
              <a:rPr lang="en-US" sz="1950">
                <a:solidFill>
                  <a:schemeClr val="dk1"/>
                </a:solidFill>
                <a:latin typeface="Times New Roman"/>
                <a:ea typeface="Times New Roman"/>
                <a:cs typeface="Times New Roman"/>
                <a:sym typeface="Times New Roman"/>
              </a:rPr>
              <a:t>- combine all these rules in a single phrase structure rule as:  NP-&gt;(Det)(Adj)Noun</a:t>
            </a:r>
            <a:endParaRPr sz="1950">
              <a:solidFill>
                <a:schemeClr val="dk1"/>
              </a:solidFill>
              <a:latin typeface="Times New Roman"/>
              <a:ea typeface="Times New Roman"/>
              <a:cs typeface="Times New Roman"/>
              <a:sym typeface="Times New Roman"/>
            </a:endParaRPr>
          </a:p>
          <a:p>
            <a:pPr marL="12700" marR="5080" lvl="0" indent="0" algn="l" rtl="0">
              <a:lnSpc>
                <a:spcPct val="69400"/>
              </a:lnSpc>
              <a:spcBef>
                <a:spcPts val="1005"/>
              </a:spcBef>
              <a:spcAft>
                <a:spcPts val="0"/>
              </a:spcAft>
              <a:buNone/>
            </a:pPr>
            <a:r>
              <a:rPr lang="en-US" sz="1950">
                <a:solidFill>
                  <a:schemeClr val="dk1"/>
                </a:solidFill>
                <a:latin typeface="Times New Roman"/>
                <a:ea typeface="Times New Roman"/>
                <a:cs typeface="Times New Roman"/>
                <a:sym typeface="Times New Roman"/>
              </a:rPr>
              <a:t>-Prepositional phrase(PP) more than one adjective is handled by allowing an adjective phrase(AP) for  the adjective in the rule.</a:t>
            </a:r>
            <a:endParaRPr sz="1950">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None/>
            </a:pPr>
            <a:endParaRPr sz="2300">
              <a:solidFill>
                <a:schemeClr val="dk1"/>
              </a:solidFill>
              <a:latin typeface="Times New Roman"/>
              <a:ea typeface="Times New Roman"/>
              <a:cs typeface="Times New Roman"/>
              <a:sym typeface="Times New Roman"/>
            </a:endParaRPr>
          </a:p>
          <a:p>
            <a:pPr marL="759460" marR="4020184" lvl="0" indent="-684530" algn="l" rtl="0">
              <a:lnSpc>
                <a:spcPct val="112200"/>
              </a:lnSpc>
              <a:spcBef>
                <a:spcPts val="0"/>
              </a:spcBef>
              <a:spcAft>
                <a:spcPts val="0"/>
              </a:spcAft>
              <a:buNone/>
            </a:pPr>
            <a:r>
              <a:rPr lang="en-US" sz="1950">
                <a:solidFill>
                  <a:schemeClr val="dk1"/>
                </a:solidFill>
                <a:latin typeface="Times New Roman"/>
                <a:ea typeface="Times New Roman"/>
                <a:cs typeface="Times New Roman"/>
                <a:sym typeface="Times New Roman"/>
              </a:rPr>
              <a:t>After including PP and AP in the phrase structure rule,we get  NP-&gt;(Det)(AP)Noun(PP)</a:t>
            </a:r>
            <a:endParaRPr sz="1950">
              <a:solidFill>
                <a:schemeClr val="dk1"/>
              </a:solidFill>
              <a:latin typeface="Times New Roman"/>
              <a:ea typeface="Times New Roman"/>
              <a:cs typeface="Times New Roman"/>
              <a:sym typeface="Times New Roman"/>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showMasterSp="0">
  <p:cSld>
    <p:spTree>
      <p:nvGrpSpPr>
        <p:cNvPr id="1" name="Shape 768"/>
        <p:cNvGrpSpPr/>
        <p:nvPr/>
      </p:nvGrpSpPr>
      <p:grpSpPr>
        <a:xfrm>
          <a:off x="0" y="0"/>
          <a:ext cx="0" cy="0"/>
          <a:chOff x="0" y="0"/>
          <a:chExt cx="0" cy="0"/>
        </a:xfrm>
      </p:grpSpPr>
      <p:sp>
        <p:nvSpPr>
          <p:cNvPr id="769" name="Google Shape;769;p71"/>
          <p:cNvSpPr txBox="1">
            <a:spLocks noGrp="1"/>
          </p:cNvSpPr>
          <p:nvPr>
            <p:ph type="title"/>
          </p:nvPr>
        </p:nvSpPr>
        <p:spPr>
          <a:xfrm>
            <a:off x="818860" y="483979"/>
            <a:ext cx="2580640" cy="629285"/>
          </a:xfrm>
          <a:prstGeom prst="rect">
            <a:avLst/>
          </a:prstGeom>
          <a:noFill/>
          <a:ln>
            <a:noFill/>
          </a:ln>
        </p:spPr>
        <p:txBody>
          <a:bodyPr spcFirstLastPara="1" wrap="square" lIns="0" tIns="13950" rIns="0" bIns="0" anchor="t" anchorCtr="0">
            <a:spAutoFit/>
          </a:bodyPr>
          <a:lstStyle/>
          <a:p>
            <a:pPr marL="12700" lvl="0" indent="0" algn="l" rtl="0">
              <a:lnSpc>
                <a:spcPct val="100000"/>
              </a:lnSpc>
              <a:spcBef>
                <a:spcPts val="0"/>
              </a:spcBef>
              <a:spcAft>
                <a:spcPts val="0"/>
              </a:spcAft>
              <a:buNone/>
            </a:pPr>
            <a:r>
              <a:rPr lang="en-US">
                <a:latin typeface="Times New Roman"/>
                <a:ea typeface="Times New Roman"/>
                <a:cs typeface="Times New Roman"/>
                <a:sym typeface="Times New Roman"/>
              </a:rPr>
              <a:t>Noun phrase</a:t>
            </a:r>
            <a:endParaRPr/>
          </a:p>
        </p:txBody>
      </p:sp>
      <p:sp>
        <p:nvSpPr>
          <p:cNvPr id="770" name="Google Shape;770;p71"/>
          <p:cNvSpPr txBox="1"/>
          <p:nvPr/>
        </p:nvSpPr>
        <p:spPr>
          <a:xfrm>
            <a:off x="911225" y="1475901"/>
            <a:ext cx="6496685" cy="2425700"/>
          </a:xfrm>
          <a:prstGeom prst="rect">
            <a:avLst/>
          </a:prstGeom>
          <a:noFill/>
          <a:ln>
            <a:noFill/>
          </a:ln>
        </p:spPr>
        <p:txBody>
          <a:bodyPr spcFirstLastPara="1" wrap="square" lIns="0" tIns="50800" rIns="0" bIns="0" anchor="t" anchorCtr="0">
            <a:spAutoFit/>
          </a:bodyPr>
          <a:lstStyle/>
          <a:p>
            <a:pPr marL="3534409" marR="0" lvl="0" indent="0" algn="l" rtl="0">
              <a:lnSpc>
                <a:spcPct val="100000"/>
              </a:lnSpc>
              <a:spcBef>
                <a:spcPts val="0"/>
              </a:spcBef>
              <a:spcAft>
                <a:spcPts val="0"/>
              </a:spcAft>
              <a:buNone/>
            </a:pPr>
            <a:r>
              <a:rPr lang="en-US" sz="2000">
                <a:solidFill>
                  <a:schemeClr val="dk1"/>
                </a:solidFill>
                <a:latin typeface="Times New Roman"/>
                <a:ea typeface="Times New Roman"/>
                <a:cs typeface="Times New Roman"/>
                <a:sym typeface="Times New Roman"/>
              </a:rPr>
              <a:t>They</a:t>
            </a:r>
            <a:endParaRPr sz="2000">
              <a:solidFill>
                <a:schemeClr val="dk1"/>
              </a:solidFill>
              <a:latin typeface="Times New Roman"/>
              <a:ea typeface="Times New Roman"/>
              <a:cs typeface="Times New Roman"/>
              <a:sym typeface="Times New Roman"/>
            </a:endParaRPr>
          </a:p>
          <a:p>
            <a:pPr marL="3611879" marR="922655" lvl="0" indent="-18415" algn="l" rtl="0">
              <a:lnSpc>
                <a:spcPct val="112500"/>
              </a:lnSpc>
              <a:spcBef>
                <a:spcPts val="0"/>
              </a:spcBef>
              <a:spcAft>
                <a:spcPts val="0"/>
              </a:spcAft>
              <a:buNone/>
            </a:pPr>
            <a:r>
              <a:rPr lang="en-US" sz="2000">
                <a:solidFill>
                  <a:schemeClr val="dk1"/>
                </a:solidFill>
                <a:latin typeface="Times New Roman"/>
                <a:ea typeface="Times New Roman"/>
                <a:cs typeface="Times New Roman"/>
                <a:sym typeface="Times New Roman"/>
              </a:rPr>
              <a:t>The foggy morning  chilled water</a:t>
            </a:r>
            <a:endParaRPr sz="2000">
              <a:solidFill>
                <a:schemeClr val="dk1"/>
              </a:solidFill>
              <a:latin typeface="Times New Roman"/>
              <a:ea typeface="Times New Roman"/>
              <a:cs typeface="Times New Roman"/>
              <a:sym typeface="Times New Roman"/>
            </a:endParaRPr>
          </a:p>
          <a:p>
            <a:pPr marL="3885565" marR="0" lvl="0" indent="0" algn="l" rtl="0">
              <a:lnSpc>
                <a:spcPct val="100000"/>
              </a:lnSpc>
              <a:spcBef>
                <a:spcPts val="300"/>
              </a:spcBef>
              <a:spcAft>
                <a:spcPts val="0"/>
              </a:spcAft>
              <a:buNone/>
            </a:pPr>
            <a:r>
              <a:rPr lang="en-US" sz="2000">
                <a:solidFill>
                  <a:schemeClr val="dk1"/>
                </a:solidFill>
                <a:latin typeface="Times New Roman"/>
                <a:ea typeface="Times New Roman"/>
                <a:cs typeface="Times New Roman"/>
                <a:sym typeface="Times New Roman"/>
              </a:rPr>
              <a:t>NP-&gt;(Det)(AP)Noun(PP)</a:t>
            </a:r>
            <a:endParaRPr sz="2000">
              <a:solidFill>
                <a:schemeClr val="dk1"/>
              </a:solidFill>
              <a:latin typeface="Times New Roman"/>
              <a:ea typeface="Times New Roman"/>
              <a:cs typeface="Times New Roman"/>
              <a:sym typeface="Times New Roman"/>
            </a:endParaRPr>
          </a:p>
          <a:p>
            <a:pPr marL="3499484" marR="201930" lvl="0" indent="10160" algn="l" rtl="0">
              <a:lnSpc>
                <a:spcPct val="112500"/>
              </a:lnSpc>
              <a:spcBef>
                <a:spcPts val="0"/>
              </a:spcBef>
              <a:spcAft>
                <a:spcPts val="0"/>
              </a:spcAft>
              <a:buNone/>
            </a:pPr>
            <a:r>
              <a:rPr lang="en-US" sz="2000">
                <a:solidFill>
                  <a:schemeClr val="dk1"/>
                </a:solidFill>
                <a:latin typeface="Times New Roman"/>
                <a:ea typeface="Times New Roman"/>
                <a:cs typeface="Times New Roman"/>
                <a:sym typeface="Times New Roman"/>
              </a:rPr>
              <a:t>A beautiful lake in kashmir  cold banana shake</a:t>
            </a:r>
            <a:endParaRPr sz="2000">
              <a:solidFill>
                <a:schemeClr val="dk1"/>
              </a:solidFill>
              <a:latin typeface="Times New Roman"/>
              <a:ea typeface="Times New Roman"/>
              <a:cs typeface="Times New Roman"/>
              <a:sym typeface="Times New Roman"/>
            </a:endParaRPr>
          </a:p>
          <a:p>
            <a:pPr marL="12700" marR="0" lvl="0" indent="0" algn="l" rtl="0">
              <a:lnSpc>
                <a:spcPct val="100000"/>
              </a:lnSpc>
              <a:spcBef>
                <a:spcPts val="300"/>
              </a:spcBef>
              <a:spcAft>
                <a:spcPts val="0"/>
              </a:spcAft>
              <a:buNone/>
            </a:pPr>
            <a:r>
              <a:rPr lang="en-US" sz="2000">
                <a:solidFill>
                  <a:schemeClr val="dk1"/>
                </a:solidFill>
                <a:latin typeface="Times New Roman"/>
                <a:ea typeface="Times New Roman"/>
                <a:cs typeface="Times New Roman"/>
                <a:sym typeface="Times New Roman"/>
              </a:rPr>
              <a:t>The phrase 4.2 a -consists of only a pronoun</a:t>
            </a:r>
            <a:endParaRPr sz="2000">
              <a:solidFill>
                <a:schemeClr val="dk1"/>
              </a:solidFill>
              <a:latin typeface="Times New Roman"/>
              <a:ea typeface="Times New Roman"/>
              <a:cs typeface="Times New Roman"/>
              <a:sym typeface="Times New Roman"/>
            </a:endParaRPr>
          </a:p>
        </p:txBody>
      </p:sp>
      <p:sp>
        <p:nvSpPr>
          <p:cNvPr id="771" name="Google Shape;771;p71"/>
          <p:cNvSpPr txBox="1"/>
          <p:nvPr/>
        </p:nvSpPr>
        <p:spPr>
          <a:xfrm>
            <a:off x="7413824" y="1475901"/>
            <a:ext cx="598805" cy="1054100"/>
          </a:xfrm>
          <a:prstGeom prst="rect">
            <a:avLst/>
          </a:prstGeom>
          <a:noFill/>
          <a:ln>
            <a:noFill/>
          </a:ln>
        </p:spPr>
        <p:txBody>
          <a:bodyPr spcFirstLastPara="1" wrap="square" lIns="0" tIns="50800" rIns="0" bIns="0" anchor="t" anchorCtr="0">
            <a:spAutoFit/>
          </a:bodyPr>
          <a:lstStyle/>
          <a:p>
            <a:pPr marL="92075" marR="0" lvl="0" indent="0" algn="l" rtl="0">
              <a:lnSpc>
                <a:spcPct val="100000"/>
              </a:lnSpc>
              <a:spcBef>
                <a:spcPts val="0"/>
              </a:spcBef>
              <a:spcAft>
                <a:spcPts val="0"/>
              </a:spcAft>
              <a:buNone/>
            </a:pPr>
            <a:r>
              <a:rPr lang="en-US" sz="2000">
                <a:solidFill>
                  <a:schemeClr val="dk1"/>
                </a:solidFill>
                <a:latin typeface="Times New Roman"/>
                <a:ea typeface="Times New Roman"/>
                <a:cs typeface="Times New Roman"/>
                <a:sym typeface="Times New Roman"/>
              </a:rPr>
              <a:t>4.2 a</a:t>
            </a:r>
            <a:endParaRPr sz="2000">
              <a:solidFill>
                <a:schemeClr val="dk1"/>
              </a:solidFill>
              <a:latin typeface="Times New Roman"/>
              <a:ea typeface="Times New Roman"/>
              <a:cs typeface="Times New Roman"/>
              <a:sym typeface="Times New Roman"/>
            </a:endParaRPr>
          </a:p>
          <a:p>
            <a:pPr marL="15240" marR="0" lvl="0" indent="0" algn="l" rtl="0">
              <a:lnSpc>
                <a:spcPct val="100000"/>
              </a:lnSpc>
              <a:spcBef>
                <a:spcPts val="300"/>
              </a:spcBef>
              <a:spcAft>
                <a:spcPts val="0"/>
              </a:spcAft>
              <a:buNone/>
            </a:pPr>
            <a:r>
              <a:rPr lang="en-US" sz="2000">
                <a:solidFill>
                  <a:schemeClr val="dk1"/>
                </a:solidFill>
                <a:latin typeface="Times New Roman"/>
                <a:ea typeface="Times New Roman"/>
                <a:cs typeface="Times New Roman"/>
                <a:sym typeface="Times New Roman"/>
              </a:rPr>
              <a:t>4.2 b</a:t>
            </a:r>
            <a:endParaRPr sz="2000">
              <a:solidFill>
                <a:schemeClr val="dk1"/>
              </a:solidFill>
              <a:latin typeface="Times New Roman"/>
              <a:ea typeface="Times New Roman"/>
              <a:cs typeface="Times New Roman"/>
              <a:sym typeface="Times New Roman"/>
            </a:endParaRPr>
          </a:p>
          <a:p>
            <a:pPr marL="12700" marR="0" lvl="0" indent="0" algn="l" rtl="0">
              <a:lnSpc>
                <a:spcPct val="100000"/>
              </a:lnSpc>
              <a:spcBef>
                <a:spcPts val="300"/>
              </a:spcBef>
              <a:spcAft>
                <a:spcPts val="0"/>
              </a:spcAft>
              <a:buNone/>
            </a:pPr>
            <a:r>
              <a:rPr lang="en-US" sz="2000">
                <a:solidFill>
                  <a:schemeClr val="dk1"/>
                </a:solidFill>
                <a:latin typeface="Times New Roman"/>
                <a:ea typeface="Times New Roman"/>
                <a:cs typeface="Times New Roman"/>
                <a:sym typeface="Times New Roman"/>
              </a:rPr>
              <a:t>4.2 c</a:t>
            </a:r>
            <a:endParaRPr sz="2000">
              <a:solidFill>
                <a:schemeClr val="dk1"/>
              </a:solidFill>
              <a:latin typeface="Times New Roman"/>
              <a:ea typeface="Times New Roman"/>
              <a:cs typeface="Times New Roman"/>
              <a:sym typeface="Times New Roman"/>
            </a:endParaRPr>
          </a:p>
        </p:txBody>
      </p:sp>
      <p:sp>
        <p:nvSpPr>
          <p:cNvPr id="772" name="Google Shape;772;p71"/>
          <p:cNvSpPr txBox="1"/>
          <p:nvPr/>
        </p:nvSpPr>
        <p:spPr>
          <a:xfrm>
            <a:off x="7502741" y="2847502"/>
            <a:ext cx="544830" cy="711200"/>
          </a:xfrm>
          <a:prstGeom prst="rect">
            <a:avLst/>
          </a:prstGeom>
          <a:noFill/>
          <a:ln>
            <a:noFill/>
          </a:ln>
        </p:spPr>
        <p:txBody>
          <a:bodyPr spcFirstLastPara="1" wrap="square" lIns="0" tIns="50800" rIns="0" bIns="0" anchor="t" anchorCtr="0">
            <a:spAutoFit/>
          </a:bodyPr>
          <a:lstStyle/>
          <a:p>
            <a:pPr marL="12700" marR="0" lvl="0" indent="0" algn="l" rtl="0">
              <a:lnSpc>
                <a:spcPct val="100000"/>
              </a:lnSpc>
              <a:spcBef>
                <a:spcPts val="0"/>
              </a:spcBef>
              <a:spcAft>
                <a:spcPts val="0"/>
              </a:spcAft>
              <a:buNone/>
            </a:pPr>
            <a:r>
              <a:rPr lang="en-US" sz="2000">
                <a:solidFill>
                  <a:schemeClr val="dk1"/>
                </a:solidFill>
                <a:latin typeface="Times New Roman"/>
                <a:ea typeface="Times New Roman"/>
                <a:cs typeface="Times New Roman"/>
                <a:sym typeface="Times New Roman"/>
              </a:rPr>
              <a:t>4.2 d</a:t>
            </a:r>
            <a:endParaRPr sz="2000">
              <a:solidFill>
                <a:schemeClr val="dk1"/>
              </a:solidFill>
              <a:latin typeface="Times New Roman"/>
              <a:ea typeface="Times New Roman"/>
              <a:cs typeface="Times New Roman"/>
              <a:sym typeface="Times New Roman"/>
            </a:endParaRPr>
          </a:p>
          <a:p>
            <a:pPr marL="37465" marR="0" lvl="0" indent="0" algn="l" rtl="0">
              <a:lnSpc>
                <a:spcPct val="100000"/>
              </a:lnSpc>
              <a:spcBef>
                <a:spcPts val="300"/>
              </a:spcBef>
              <a:spcAft>
                <a:spcPts val="0"/>
              </a:spcAft>
              <a:buNone/>
            </a:pPr>
            <a:r>
              <a:rPr lang="en-US" sz="2000">
                <a:solidFill>
                  <a:schemeClr val="dk1"/>
                </a:solidFill>
                <a:latin typeface="Times New Roman"/>
                <a:ea typeface="Times New Roman"/>
                <a:cs typeface="Times New Roman"/>
                <a:sym typeface="Times New Roman"/>
              </a:rPr>
              <a:t>4.2 e</a:t>
            </a:r>
            <a:endParaRPr sz="2000">
              <a:solidFill>
                <a:schemeClr val="dk1"/>
              </a:solidFill>
              <a:latin typeface="Times New Roman"/>
              <a:ea typeface="Times New Roman"/>
              <a:cs typeface="Times New Roman"/>
              <a:sym typeface="Times New Roman"/>
            </a:endParaRPr>
          </a:p>
        </p:txBody>
      </p:sp>
      <p:sp>
        <p:nvSpPr>
          <p:cNvPr id="773" name="Google Shape;773;p71"/>
          <p:cNvSpPr/>
          <p:nvPr/>
        </p:nvSpPr>
        <p:spPr>
          <a:xfrm>
            <a:off x="4012141" y="5801015"/>
            <a:ext cx="832485" cy="213360"/>
          </a:xfrm>
          <a:custGeom>
            <a:avLst/>
            <a:gdLst/>
            <a:ahLst/>
            <a:cxnLst/>
            <a:rect l="l" t="t" r="r" b="b"/>
            <a:pathLst>
              <a:path w="832485" h="213360" extrusionOk="0">
                <a:moveTo>
                  <a:pt x="832119" y="213359"/>
                </a:moveTo>
                <a:lnTo>
                  <a:pt x="0" y="213359"/>
                </a:lnTo>
                <a:lnTo>
                  <a:pt x="0" y="0"/>
                </a:lnTo>
                <a:lnTo>
                  <a:pt x="832119" y="0"/>
                </a:lnTo>
                <a:lnTo>
                  <a:pt x="832119" y="213359"/>
                </a:lnTo>
                <a:close/>
              </a:path>
            </a:pathLst>
          </a:custGeom>
          <a:solidFill>
            <a:srgbClr val="FFFF00"/>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74" name="Google Shape;774;p71"/>
          <p:cNvSpPr txBox="1"/>
          <p:nvPr/>
        </p:nvSpPr>
        <p:spPr>
          <a:xfrm>
            <a:off x="911225" y="3914302"/>
            <a:ext cx="9980930" cy="2806700"/>
          </a:xfrm>
          <a:prstGeom prst="rect">
            <a:avLst/>
          </a:prstGeom>
          <a:noFill/>
          <a:ln>
            <a:noFill/>
          </a:ln>
        </p:spPr>
        <p:txBody>
          <a:bodyPr spcFirstLastPara="1" wrap="square" lIns="0" tIns="101600" rIns="0" bIns="0" anchor="t" anchorCtr="0">
            <a:spAutoFit/>
          </a:bodyPr>
          <a:lstStyle/>
          <a:p>
            <a:pPr marL="12700" marR="5080" lvl="0" indent="698500" algn="l" rtl="0">
              <a:lnSpc>
                <a:spcPct val="70800"/>
              </a:lnSpc>
              <a:spcBef>
                <a:spcPts val="0"/>
              </a:spcBef>
              <a:spcAft>
                <a:spcPts val="0"/>
              </a:spcAft>
              <a:buNone/>
            </a:pPr>
            <a:r>
              <a:rPr lang="en-US" sz="2000">
                <a:solidFill>
                  <a:schemeClr val="dk1"/>
                </a:solidFill>
                <a:latin typeface="Times New Roman"/>
                <a:ea typeface="Times New Roman"/>
                <a:cs typeface="Times New Roman"/>
                <a:sym typeface="Times New Roman"/>
              </a:rPr>
              <a:t>4.2 b -consists of a determiner, an adjective(foggy)that stands for an entire adjective phrase  and a noun</a:t>
            </a:r>
            <a:endParaRPr sz="2000">
              <a:solidFill>
                <a:schemeClr val="dk1"/>
              </a:solidFill>
              <a:latin typeface="Times New Roman"/>
              <a:ea typeface="Times New Roman"/>
              <a:cs typeface="Times New Roman"/>
              <a:sym typeface="Times New Roman"/>
            </a:endParaRPr>
          </a:p>
          <a:p>
            <a:pPr marL="711200" marR="0" lvl="0" indent="0" algn="l" rtl="0">
              <a:lnSpc>
                <a:spcPct val="100000"/>
              </a:lnSpc>
              <a:spcBef>
                <a:spcPts val="250"/>
              </a:spcBef>
              <a:spcAft>
                <a:spcPts val="0"/>
              </a:spcAft>
              <a:buNone/>
            </a:pPr>
            <a:r>
              <a:rPr lang="en-US" sz="2000">
                <a:solidFill>
                  <a:schemeClr val="dk1"/>
                </a:solidFill>
                <a:latin typeface="Times New Roman"/>
                <a:ea typeface="Times New Roman"/>
                <a:cs typeface="Times New Roman"/>
                <a:sym typeface="Times New Roman"/>
              </a:rPr>
              <a:t>4.2 c -adjective phrase and a noun</a:t>
            </a:r>
            <a:endParaRPr sz="2000">
              <a:solidFill>
                <a:schemeClr val="dk1"/>
              </a:solidFill>
              <a:latin typeface="Times New Roman"/>
              <a:ea typeface="Times New Roman"/>
              <a:cs typeface="Times New Roman"/>
              <a:sym typeface="Times New Roman"/>
            </a:endParaRPr>
          </a:p>
          <a:p>
            <a:pPr marL="12700" marR="612775" lvl="0" indent="698500" algn="l" rtl="0">
              <a:lnSpc>
                <a:spcPct val="70800"/>
              </a:lnSpc>
              <a:spcBef>
                <a:spcPts val="1000"/>
              </a:spcBef>
              <a:spcAft>
                <a:spcPts val="0"/>
              </a:spcAft>
              <a:buNone/>
            </a:pPr>
            <a:r>
              <a:rPr lang="en-US" sz="2000">
                <a:solidFill>
                  <a:schemeClr val="dk1"/>
                </a:solidFill>
                <a:latin typeface="Times New Roman"/>
                <a:ea typeface="Times New Roman"/>
                <a:cs typeface="Times New Roman"/>
                <a:sym typeface="Times New Roman"/>
              </a:rPr>
              <a:t>4.2 d -determiner(the),an adjective phrase(beautiful),a noun(lake),and a prepositional  phrase(in kashmir)</a:t>
            </a:r>
            <a:endParaRPr sz="2000">
              <a:solidFill>
                <a:schemeClr val="dk1"/>
              </a:solidFill>
              <a:latin typeface="Times New Roman"/>
              <a:ea typeface="Times New Roman"/>
              <a:cs typeface="Times New Roman"/>
              <a:sym typeface="Times New Roman"/>
            </a:endParaRPr>
          </a:p>
          <a:p>
            <a:pPr marL="12700" marR="4241165" lvl="0" indent="698500" algn="l" rtl="0">
              <a:lnSpc>
                <a:spcPct val="135000"/>
              </a:lnSpc>
              <a:spcBef>
                <a:spcPts val="90"/>
              </a:spcBef>
              <a:spcAft>
                <a:spcPts val="0"/>
              </a:spcAft>
              <a:buNone/>
            </a:pPr>
            <a:r>
              <a:rPr lang="en-US" sz="2000">
                <a:solidFill>
                  <a:schemeClr val="dk1"/>
                </a:solidFill>
                <a:latin typeface="Times New Roman"/>
                <a:ea typeface="Times New Roman"/>
                <a:cs typeface="Times New Roman"/>
                <a:sym typeface="Times New Roman"/>
              </a:rPr>
              <a:t>4.2 e -adjective followed by a sequence of nouns.  A noun sequence is termed as nominal</a:t>
            </a:r>
            <a:endParaRPr sz="2000">
              <a:solidFill>
                <a:schemeClr val="dk1"/>
              </a:solidFill>
              <a:latin typeface="Times New Roman"/>
              <a:ea typeface="Times New Roman"/>
              <a:cs typeface="Times New Roman"/>
              <a:sym typeface="Times New Roman"/>
            </a:endParaRPr>
          </a:p>
          <a:p>
            <a:pPr marL="579120" marR="0" lvl="0" indent="0" algn="ctr" rtl="0">
              <a:lnSpc>
                <a:spcPct val="100000"/>
              </a:lnSpc>
              <a:spcBef>
                <a:spcPts val="160"/>
              </a:spcBef>
              <a:spcAft>
                <a:spcPts val="0"/>
              </a:spcAft>
              <a:buNone/>
            </a:pPr>
            <a:r>
              <a:rPr lang="en-US" sz="2000">
                <a:solidFill>
                  <a:schemeClr val="dk1"/>
                </a:solidFill>
                <a:latin typeface="Times New Roman"/>
                <a:ea typeface="Times New Roman"/>
                <a:cs typeface="Times New Roman"/>
                <a:sym typeface="Times New Roman"/>
              </a:rPr>
              <a:t>NP-&gt;(Det)(AP)Noun(PP)</a:t>
            </a:r>
            <a:endParaRPr sz="2000">
              <a:solidFill>
                <a:schemeClr val="dk1"/>
              </a:solidFill>
              <a:latin typeface="Times New Roman"/>
              <a:ea typeface="Times New Roman"/>
              <a:cs typeface="Times New Roman"/>
              <a:sym typeface="Times New Roman"/>
            </a:endParaRPr>
          </a:p>
          <a:p>
            <a:pPr marL="578485" marR="0" lvl="0" indent="0" algn="ctr" rtl="0">
              <a:lnSpc>
                <a:spcPct val="100000"/>
              </a:lnSpc>
              <a:spcBef>
                <a:spcPts val="300"/>
              </a:spcBef>
              <a:spcAft>
                <a:spcPts val="0"/>
              </a:spcAft>
              <a:buNone/>
            </a:pPr>
            <a:r>
              <a:rPr lang="en-US" sz="2000">
                <a:solidFill>
                  <a:schemeClr val="dk1"/>
                </a:solidFill>
                <a:latin typeface="Times New Roman"/>
                <a:ea typeface="Times New Roman"/>
                <a:cs typeface="Times New Roman"/>
                <a:sym typeface="Times New Roman"/>
              </a:rPr>
              <a:t>Nominal-&gt;Noun|Noun Nominal</a:t>
            </a:r>
            <a:endParaRPr sz="2000">
              <a:solidFill>
                <a:schemeClr val="dk1"/>
              </a:solidFill>
              <a:latin typeface="Times New Roman"/>
              <a:ea typeface="Times New Roman"/>
              <a:cs typeface="Times New Roman"/>
              <a:sym typeface="Times New Roman"/>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showMasterSp="0">
  <p:cSld>
    <p:spTree>
      <p:nvGrpSpPr>
        <p:cNvPr id="1" name="Shape 778"/>
        <p:cNvGrpSpPr/>
        <p:nvPr/>
      </p:nvGrpSpPr>
      <p:grpSpPr>
        <a:xfrm>
          <a:off x="0" y="0"/>
          <a:ext cx="0" cy="0"/>
          <a:chOff x="0" y="0"/>
          <a:chExt cx="0" cy="0"/>
        </a:xfrm>
      </p:grpSpPr>
      <p:sp>
        <p:nvSpPr>
          <p:cNvPr id="779" name="Google Shape;779;p72"/>
          <p:cNvSpPr txBox="1">
            <a:spLocks noGrp="1"/>
          </p:cNvSpPr>
          <p:nvPr>
            <p:ph type="title"/>
          </p:nvPr>
        </p:nvSpPr>
        <p:spPr>
          <a:xfrm>
            <a:off x="911225" y="352628"/>
            <a:ext cx="2773045" cy="69596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4400"/>
              <a:t>Verb Phrase</a:t>
            </a:r>
            <a:endParaRPr sz="4400"/>
          </a:p>
        </p:txBody>
      </p:sp>
      <p:sp>
        <p:nvSpPr>
          <p:cNvPr id="780" name="Google Shape;780;p72"/>
          <p:cNvSpPr txBox="1"/>
          <p:nvPr/>
        </p:nvSpPr>
        <p:spPr>
          <a:xfrm>
            <a:off x="911225" y="1025728"/>
            <a:ext cx="8158480" cy="898525"/>
          </a:xfrm>
          <a:prstGeom prst="rect">
            <a:avLst/>
          </a:prstGeom>
          <a:noFill/>
          <a:ln>
            <a:noFill/>
          </a:ln>
        </p:spPr>
        <p:txBody>
          <a:bodyPr spcFirstLastPara="1" wrap="square" lIns="0" tIns="65400" rIns="0" bIns="0" anchor="t" anchorCtr="0">
            <a:spAutoFit/>
          </a:bodyPr>
          <a:lstStyle/>
          <a:p>
            <a:pPr marL="12700" marR="0" lvl="0" indent="0" algn="l" rtl="0">
              <a:lnSpc>
                <a:spcPct val="100000"/>
              </a:lnSpc>
              <a:spcBef>
                <a:spcPts val="0"/>
              </a:spcBef>
              <a:spcAft>
                <a:spcPts val="0"/>
              </a:spcAft>
              <a:buNone/>
            </a:pPr>
            <a:r>
              <a:rPr lang="en-US" sz="1550">
                <a:solidFill>
                  <a:schemeClr val="dk1"/>
                </a:solidFill>
                <a:latin typeface="Times New Roman"/>
                <a:ea typeface="Times New Roman"/>
                <a:cs typeface="Times New Roman"/>
                <a:sym typeface="Times New Roman"/>
              </a:rPr>
              <a:t>-Analogous to the noun phrase, is the verb phrase, which is headed by a verb.</a:t>
            </a:r>
            <a:endParaRPr sz="1550">
              <a:solidFill>
                <a:schemeClr val="dk1"/>
              </a:solidFill>
              <a:latin typeface="Times New Roman"/>
              <a:ea typeface="Times New Roman"/>
              <a:cs typeface="Times New Roman"/>
              <a:sym typeface="Times New Roman"/>
            </a:endParaRPr>
          </a:p>
          <a:p>
            <a:pPr marL="160020" marR="5080" lvl="0" indent="-147955" algn="l" rtl="0">
              <a:lnSpc>
                <a:spcPct val="150322"/>
              </a:lnSpc>
              <a:spcBef>
                <a:spcPts val="40"/>
              </a:spcBef>
              <a:spcAft>
                <a:spcPts val="0"/>
              </a:spcAft>
              <a:buNone/>
            </a:pPr>
            <a:r>
              <a:rPr lang="en-US" sz="1550">
                <a:solidFill>
                  <a:schemeClr val="dk1"/>
                </a:solidFill>
                <a:latin typeface="Times New Roman"/>
                <a:ea typeface="Times New Roman"/>
                <a:cs typeface="Times New Roman"/>
                <a:sym typeface="Times New Roman"/>
              </a:rPr>
              <a:t>-There are wide ranges of phrases that can modify a verb. This makes verb phrases a bit more complex.  ex:</a:t>
            </a:r>
            <a:endParaRPr sz="1550">
              <a:solidFill>
                <a:schemeClr val="dk1"/>
              </a:solidFill>
              <a:latin typeface="Times New Roman"/>
              <a:ea typeface="Times New Roman"/>
              <a:cs typeface="Times New Roman"/>
              <a:sym typeface="Times New Roman"/>
            </a:endParaRPr>
          </a:p>
        </p:txBody>
      </p:sp>
      <p:sp>
        <p:nvSpPr>
          <p:cNvPr id="781" name="Google Shape;781;p72"/>
          <p:cNvSpPr txBox="1"/>
          <p:nvPr/>
        </p:nvSpPr>
        <p:spPr>
          <a:xfrm>
            <a:off x="1206500" y="1898853"/>
            <a:ext cx="2286635" cy="1206500"/>
          </a:xfrm>
          <a:prstGeom prst="rect">
            <a:avLst/>
          </a:prstGeom>
          <a:noFill/>
          <a:ln>
            <a:noFill/>
          </a:ln>
        </p:spPr>
        <p:txBody>
          <a:bodyPr spcFirstLastPara="1" wrap="square" lIns="0" tIns="71750" rIns="0" bIns="0" anchor="t" anchorCtr="0">
            <a:spAutoFit/>
          </a:bodyPr>
          <a:lstStyle/>
          <a:p>
            <a:pPr marL="12700" marR="0" lvl="0" indent="0" algn="l" rtl="0">
              <a:lnSpc>
                <a:spcPct val="100000"/>
              </a:lnSpc>
              <a:spcBef>
                <a:spcPts val="0"/>
              </a:spcBef>
              <a:spcAft>
                <a:spcPts val="0"/>
              </a:spcAft>
              <a:buNone/>
            </a:pPr>
            <a:r>
              <a:rPr lang="en-US" sz="1550">
                <a:solidFill>
                  <a:schemeClr val="dk1"/>
                </a:solidFill>
                <a:latin typeface="Times New Roman"/>
                <a:ea typeface="Times New Roman"/>
                <a:cs typeface="Times New Roman"/>
                <a:sym typeface="Times New Roman"/>
              </a:rPr>
              <a:t>Khushbu slept</a:t>
            </a:r>
            <a:endParaRPr sz="1550">
              <a:solidFill>
                <a:schemeClr val="dk1"/>
              </a:solidFill>
              <a:latin typeface="Times New Roman"/>
              <a:ea typeface="Times New Roman"/>
              <a:cs typeface="Times New Roman"/>
              <a:sym typeface="Times New Roman"/>
            </a:endParaRPr>
          </a:p>
          <a:p>
            <a:pPr marL="12700" marR="5080" lvl="0" indent="0" algn="l" rtl="0">
              <a:lnSpc>
                <a:spcPct val="125000"/>
              </a:lnSpc>
              <a:spcBef>
                <a:spcPts val="0"/>
              </a:spcBef>
              <a:spcAft>
                <a:spcPts val="0"/>
              </a:spcAft>
              <a:buNone/>
            </a:pPr>
            <a:r>
              <a:rPr lang="en-US" sz="1550">
                <a:solidFill>
                  <a:schemeClr val="dk1"/>
                </a:solidFill>
                <a:latin typeface="Times New Roman"/>
                <a:ea typeface="Times New Roman"/>
                <a:cs typeface="Times New Roman"/>
                <a:sym typeface="Times New Roman"/>
              </a:rPr>
              <a:t>The boy kicked the ball  Khushbu slept in the garden  The boy gave the girl a book</a:t>
            </a:r>
            <a:endParaRPr sz="1550">
              <a:solidFill>
                <a:schemeClr val="dk1"/>
              </a:solidFill>
              <a:latin typeface="Times New Roman"/>
              <a:ea typeface="Times New Roman"/>
              <a:cs typeface="Times New Roman"/>
              <a:sym typeface="Times New Roman"/>
            </a:endParaRPr>
          </a:p>
        </p:txBody>
      </p:sp>
      <p:sp>
        <p:nvSpPr>
          <p:cNvPr id="782" name="Google Shape;782;p72"/>
          <p:cNvSpPr txBox="1"/>
          <p:nvPr/>
        </p:nvSpPr>
        <p:spPr>
          <a:xfrm>
            <a:off x="4158472" y="1898853"/>
            <a:ext cx="466725" cy="1206500"/>
          </a:xfrm>
          <a:prstGeom prst="rect">
            <a:avLst/>
          </a:prstGeom>
          <a:noFill/>
          <a:ln>
            <a:noFill/>
          </a:ln>
        </p:spPr>
        <p:txBody>
          <a:bodyPr spcFirstLastPara="1" wrap="square" lIns="0" tIns="71750" rIns="0" bIns="0" anchor="t" anchorCtr="0">
            <a:spAutoFit/>
          </a:bodyPr>
          <a:lstStyle/>
          <a:p>
            <a:pPr marL="12700" marR="0" lvl="0" indent="0" algn="l" rtl="0">
              <a:lnSpc>
                <a:spcPct val="100000"/>
              </a:lnSpc>
              <a:spcBef>
                <a:spcPts val="0"/>
              </a:spcBef>
              <a:spcAft>
                <a:spcPts val="0"/>
              </a:spcAft>
              <a:buNone/>
            </a:pPr>
            <a:r>
              <a:rPr lang="en-US" sz="1550">
                <a:solidFill>
                  <a:schemeClr val="dk1"/>
                </a:solidFill>
                <a:latin typeface="Times New Roman"/>
                <a:ea typeface="Times New Roman"/>
                <a:cs typeface="Times New Roman"/>
                <a:sym typeface="Times New Roman"/>
              </a:rPr>
              <a:t>4.4 a</a:t>
            </a:r>
            <a:endParaRPr sz="1550">
              <a:solidFill>
                <a:schemeClr val="dk1"/>
              </a:solidFill>
              <a:latin typeface="Times New Roman"/>
              <a:ea typeface="Times New Roman"/>
              <a:cs typeface="Times New Roman"/>
              <a:sym typeface="Times New Roman"/>
            </a:endParaRPr>
          </a:p>
          <a:p>
            <a:pPr marL="48895" marR="0" lvl="0" indent="0" algn="l" rtl="0">
              <a:lnSpc>
                <a:spcPct val="100000"/>
              </a:lnSpc>
              <a:spcBef>
                <a:spcPts val="465"/>
              </a:spcBef>
              <a:spcAft>
                <a:spcPts val="0"/>
              </a:spcAft>
              <a:buNone/>
            </a:pPr>
            <a:r>
              <a:rPr lang="en-US" sz="1550">
                <a:solidFill>
                  <a:schemeClr val="dk1"/>
                </a:solidFill>
                <a:latin typeface="Times New Roman"/>
                <a:ea typeface="Times New Roman"/>
                <a:cs typeface="Times New Roman"/>
                <a:sym typeface="Times New Roman"/>
              </a:rPr>
              <a:t>4.4 b</a:t>
            </a:r>
            <a:endParaRPr sz="1550">
              <a:solidFill>
                <a:schemeClr val="dk1"/>
              </a:solidFill>
              <a:latin typeface="Times New Roman"/>
              <a:ea typeface="Times New Roman"/>
              <a:cs typeface="Times New Roman"/>
              <a:sym typeface="Times New Roman"/>
            </a:endParaRPr>
          </a:p>
          <a:p>
            <a:pPr marL="53975" marR="0" lvl="0" indent="0" algn="l" rtl="0">
              <a:lnSpc>
                <a:spcPct val="100000"/>
              </a:lnSpc>
              <a:spcBef>
                <a:spcPts val="465"/>
              </a:spcBef>
              <a:spcAft>
                <a:spcPts val="0"/>
              </a:spcAft>
              <a:buNone/>
            </a:pPr>
            <a:r>
              <a:rPr lang="en-US" sz="1550">
                <a:solidFill>
                  <a:schemeClr val="dk1"/>
                </a:solidFill>
                <a:latin typeface="Times New Roman"/>
                <a:ea typeface="Times New Roman"/>
                <a:cs typeface="Times New Roman"/>
                <a:sym typeface="Times New Roman"/>
              </a:rPr>
              <a:t>4.4 c</a:t>
            </a:r>
            <a:endParaRPr sz="1550">
              <a:solidFill>
                <a:schemeClr val="dk1"/>
              </a:solidFill>
              <a:latin typeface="Times New Roman"/>
              <a:ea typeface="Times New Roman"/>
              <a:cs typeface="Times New Roman"/>
              <a:sym typeface="Times New Roman"/>
            </a:endParaRPr>
          </a:p>
          <a:p>
            <a:pPr marL="59689" marR="0" lvl="0" indent="0" algn="l" rtl="0">
              <a:lnSpc>
                <a:spcPct val="100000"/>
              </a:lnSpc>
              <a:spcBef>
                <a:spcPts val="465"/>
              </a:spcBef>
              <a:spcAft>
                <a:spcPts val="0"/>
              </a:spcAft>
              <a:buNone/>
            </a:pPr>
            <a:r>
              <a:rPr lang="en-US" sz="1550">
                <a:solidFill>
                  <a:schemeClr val="dk1"/>
                </a:solidFill>
                <a:latin typeface="Times New Roman"/>
                <a:ea typeface="Times New Roman"/>
                <a:cs typeface="Times New Roman"/>
                <a:sym typeface="Times New Roman"/>
              </a:rPr>
              <a:t>4.4 d</a:t>
            </a:r>
            <a:endParaRPr sz="1550">
              <a:solidFill>
                <a:schemeClr val="dk1"/>
              </a:solidFill>
              <a:latin typeface="Times New Roman"/>
              <a:ea typeface="Times New Roman"/>
              <a:cs typeface="Times New Roman"/>
              <a:sym typeface="Times New Roman"/>
            </a:endParaRPr>
          </a:p>
        </p:txBody>
      </p:sp>
      <p:sp>
        <p:nvSpPr>
          <p:cNvPr id="783" name="Google Shape;783;p72"/>
          <p:cNvSpPr txBox="1"/>
          <p:nvPr/>
        </p:nvSpPr>
        <p:spPr>
          <a:xfrm>
            <a:off x="1206500" y="3139008"/>
            <a:ext cx="4039235" cy="2616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550">
                <a:solidFill>
                  <a:schemeClr val="dk1"/>
                </a:solidFill>
                <a:latin typeface="Times New Roman"/>
                <a:ea typeface="Times New Roman"/>
                <a:cs typeface="Times New Roman"/>
                <a:sym typeface="Times New Roman"/>
              </a:rPr>
              <a:t>The boy gave the girl a book with blue cover 4.4 e</a:t>
            </a:r>
            <a:endParaRPr sz="1550">
              <a:solidFill>
                <a:schemeClr val="dk1"/>
              </a:solidFill>
              <a:latin typeface="Times New Roman"/>
              <a:ea typeface="Times New Roman"/>
              <a:cs typeface="Times New Roman"/>
              <a:sym typeface="Times New Roman"/>
            </a:endParaRPr>
          </a:p>
        </p:txBody>
      </p:sp>
      <p:sp>
        <p:nvSpPr>
          <p:cNvPr id="784" name="Google Shape;784;p72"/>
          <p:cNvSpPr txBox="1"/>
          <p:nvPr/>
        </p:nvSpPr>
        <p:spPr>
          <a:xfrm>
            <a:off x="911225" y="3670503"/>
            <a:ext cx="2328545" cy="1206500"/>
          </a:xfrm>
          <a:prstGeom prst="rect">
            <a:avLst/>
          </a:prstGeom>
          <a:noFill/>
          <a:ln>
            <a:noFill/>
          </a:ln>
        </p:spPr>
        <p:txBody>
          <a:bodyPr spcFirstLastPara="1" wrap="square" lIns="0" tIns="71750" rIns="0" bIns="0" anchor="t" anchorCtr="0">
            <a:spAutoFit/>
          </a:bodyPr>
          <a:lstStyle/>
          <a:p>
            <a:pPr marL="12700" marR="0" lvl="0" indent="0" algn="l" rtl="0">
              <a:lnSpc>
                <a:spcPct val="100000"/>
              </a:lnSpc>
              <a:spcBef>
                <a:spcPts val="0"/>
              </a:spcBef>
              <a:spcAft>
                <a:spcPts val="0"/>
              </a:spcAft>
              <a:buNone/>
            </a:pPr>
            <a:r>
              <a:rPr lang="en-US" sz="1550">
                <a:solidFill>
                  <a:schemeClr val="dk1"/>
                </a:solidFill>
                <a:latin typeface="Times New Roman"/>
                <a:ea typeface="Times New Roman"/>
                <a:cs typeface="Times New Roman"/>
                <a:sym typeface="Times New Roman"/>
              </a:rPr>
              <a:t>VP-&gt;Verb in 4.4 a</a:t>
            </a:r>
            <a:endParaRPr sz="1550">
              <a:solidFill>
                <a:schemeClr val="dk1"/>
              </a:solidFill>
              <a:latin typeface="Times New Roman"/>
              <a:ea typeface="Times New Roman"/>
              <a:cs typeface="Times New Roman"/>
              <a:sym typeface="Times New Roman"/>
            </a:endParaRPr>
          </a:p>
          <a:p>
            <a:pPr marL="12700" marR="0" lvl="0" indent="0" algn="l" rtl="0">
              <a:lnSpc>
                <a:spcPct val="100000"/>
              </a:lnSpc>
              <a:spcBef>
                <a:spcPts val="465"/>
              </a:spcBef>
              <a:spcAft>
                <a:spcPts val="0"/>
              </a:spcAft>
              <a:buNone/>
            </a:pPr>
            <a:r>
              <a:rPr lang="en-US" sz="1550">
                <a:solidFill>
                  <a:schemeClr val="dk1"/>
                </a:solidFill>
                <a:latin typeface="Times New Roman"/>
                <a:ea typeface="Times New Roman"/>
                <a:cs typeface="Times New Roman"/>
                <a:sym typeface="Times New Roman"/>
              </a:rPr>
              <a:t>-a verb followed by an noun</a:t>
            </a:r>
            <a:endParaRPr sz="1550">
              <a:solidFill>
                <a:schemeClr val="dk1"/>
              </a:solidFill>
              <a:latin typeface="Times New Roman"/>
              <a:ea typeface="Times New Roman"/>
              <a:cs typeface="Times New Roman"/>
              <a:sym typeface="Times New Roman"/>
            </a:endParaRPr>
          </a:p>
          <a:p>
            <a:pPr marL="12700" marR="0" lvl="0" indent="0" algn="l" rtl="0">
              <a:lnSpc>
                <a:spcPct val="100000"/>
              </a:lnSpc>
              <a:spcBef>
                <a:spcPts val="465"/>
              </a:spcBef>
              <a:spcAft>
                <a:spcPts val="0"/>
              </a:spcAft>
              <a:buNone/>
            </a:pPr>
            <a:r>
              <a:rPr lang="en-US" sz="1550">
                <a:solidFill>
                  <a:schemeClr val="dk1"/>
                </a:solidFill>
                <a:latin typeface="Times New Roman"/>
                <a:ea typeface="Times New Roman"/>
                <a:cs typeface="Times New Roman"/>
                <a:sym typeface="Times New Roman"/>
              </a:rPr>
              <a:t>-a verb followed by PP</a:t>
            </a:r>
            <a:endParaRPr sz="1550">
              <a:solidFill>
                <a:schemeClr val="dk1"/>
              </a:solidFill>
              <a:latin typeface="Times New Roman"/>
              <a:ea typeface="Times New Roman"/>
              <a:cs typeface="Times New Roman"/>
              <a:sym typeface="Times New Roman"/>
            </a:endParaRPr>
          </a:p>
          <a:p>
            <a:pPr marL="12700" marR="0" lvl="0" indent="0" algn="l" rtl="0">
              <a:lnSpc>
                <a:spcPct val="100000"/>
              </a:lnSpc>
              <a:spcBef>
                <a:spcPts val="465"/>
              </a:spcBef>
              <a:spcAft>
                <a:spcPts val="0"/>
              </a:spcAft>
              <a:buNone/>
            </a:pPr>
            <a:r>
              <a:rPr lang="en-US" sz="1550">
                <a:solidFill>
                  <a:schemeClr val="dk1"/>
                </a:solidFill>
                <a:latin typeface="Times New Roman"/>
                <a:ea typeface="Times New Roman"/>
                <a:cs typeface="Times New Roman"/>
                <a:sym typeface="Times New Roman"/>
              </a:rPr>
              <a:t>-a verb followed by two NP's</a:t>
            </a:r>
            <a:endParaRPr sz="1550">
              <a:solidFill>
                <a:schemeClr val="dk1"/>
              </a:solidFill>
              <a:latin typeface="Times New Roman"/>
              <a:ea typeface="Times New Roman"/>
              <a:cs typeface="Times New Roman"/>
              <a:sym typeface="Times New Roman"/>
            </a:endParaRPr>
          </a:p>
        </p:txBody>
      </p:sp>
      <p:sp>
        <p:nvSpPr>
          <p:cNvPr id="785" name="Google Shape;785;p72"/>
          <p:cNvSpPr txBox="1"/>
          <p:nvPr/>
        </p:nvSpPr>
        <p:spPr>
          <a:xfrm>
            <a:off x="3464357" y="3965778"/>
            <a:ext cx="2215515" cy="911225"/>
          </a:xfrm>
          <a:prstGeom prst="rect">
            <a:avLst/>
          </a:prstGeom>
          <a:noFill/>
          <a:ln>
            <a:noFill/>
          </a:ln>
        </p:spPr>
        <p:txBody>
          <a:bodyPr spcFirstLastPara="1" wrap="square" lIns="0" tIns="12700" rIns="0" bIns="0" anchor="t" anchorCtr="0">
            <a:spAutoFit/>
          </a:bodyPr>
          <a:lstStyle/>
          <a:p>
            <a:pPr marL="12700" marR="335280" lvl="0" indent="162560" algn="l" rtl="0">
              <a:lnSpc>
                <a:spcPct val="125000"/>
              </a:lnSpc>
              <a:spcBef>
                <a:spcPts val="0"/>
              </a:spcBef>
              <a:spcAft>
                <a:spcPts val="0"/>
              </a:spcAft>
              <a:buNone/>
            </a:pPr>
            <a:r>
              <a:rPr lang="en-US" sz="1550">
                <a:solidFill>
                  <a:schemeClr val="dk1"/>
                </a:solidFill>
                <a:latin typeface="Times New Roman"/>
                <a:ea typeface="Times New Roman"/>
                <a:cs typeface="Times New Roman"/>
                <a:sym typeface="Times New Roman"/>
              </a:rPr>
              <a:t>[VP-&gt;Verb NP 4.4 b]  [VP-&gt;Verb PP 4.4 c]</a:t>
            </a:r>
            <a:endParaRPr sz="1550">
              <a:solidFill>
                <a:schemeClr val="dk1"/>
              </a:solidFill>
              <a:latin typeface="Times New Roman"/>
              <a:ea typeface="Times New Roman"/>
              <a:cs typeface="Times New Roman"/>
              <a:sym typeface="Times New Roman"/>
            </a:endParaRPr>
          </a:p>
          <a:p>
            <a:pPr marL="205104" marR="0" lvl="0" indent="0" algn="l" rtl="0">
              <a:lnSpc>
                <a:spcPct val="100000"/>
              </a:lnSpc>
              <a:spcBef>
                <a:spcPts val="465"/>
              </a:spcBef>
              <a:spcAft>
                <a:spcPts val="0"/>
              </a:spcAft>
              <a:buNone/>
            </a:pPr>
            <a:r>
              <a:rPr lang="en-US" sz="1550">
                <a:solidFill>
                  <a:schemeClr val="dk1"/>
                </a:solidFill>
                <a:latin typeface="Times New Roman"/>
                <a:ea typeface="Times New Roman"/>
                <a:cs typeface="Times New Roman"/>
                <a:sym typeface="Times New Roman"/>
              </a:rPr>
              <a:t>[VP-&gt;Verb NP NP 4.4 d]</a:t>
            </a:r>
            <a:endParaRPr sz="1550">
              <a:solidFill>
                <a:schemeClr val="dk1"/>
              </a:solidFill>
              <a:latin typeface="Times New Roman"/>
              <a:ea typeface="Times New Roman"/>
              <a:cs typeface="Times New Roman"/>
              <a:sym typeface="Times New Roman"/>
            </a:endParaRPr>
          </a:p>
        </p:txBody>
      </p:sp>
      <p:sp>
        <p:nvSpPr>
          <p:cNvPr id="786" name="Google Shape;786;p72"/>
          <p:cNvSpPr/>
          <p:nvPr/>
        </p:nvSpPr>
        <p:spPr>
          <a:xfrm>
            <a:off x="2103853" y="5283200"/>
            <a:ext cx="3161665" cy="165735"/>
          </a:xfrm>
          <a:custGeom>
            <a:avLst/>
            <a:gdLst/>
            <a:ahLst/>
            <a:cxnLst/>
            <a:rect l="l" t="t" r="r" b="b"/>
            <a:pathLst>
              <a:path w="3161665" h="165735" extrusionOk="0">
                <a:moveTo>
                  <a:pt x="3161653" y="165354"/>
                </a:moveTo>
                <a:lnTo>
                  <a:pt x="0" y="165354"/>
                </a:lnTo>
                <a:lnTo>
                  <a:pt x="0" y="0"/>
                </a:lnTo>
                <a:lnTo>
                  <a:pt x="3161653" y="0"/>
                </a:lnTo>
                <a:lnTo>
                  <a:pt x="3161653" y="165354"/>
                </a:lnTo>
                <a:close/>
              </a:path>
            </a:pathLst>
          </a:custGeom>
          <a:solidFill>
            <a:srgbClr val="FFFF00"/>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87" name="Google Shape;787;p72"/>
          <p:cNvSpPr/>
          <p:nvPr/>
        </p:nvSpPr>
        <p:spPr>
          <a:xfrm>
            <a:off x="923925" y="5578475"/>
            <a:ext cx="2526665" cy="165735"/>
          </a:xfrm>
          <a:custGeom>
            <a:avLst/>
            <a:gdLst/>
            <a:ahLst/>
            <a:cxnLst/>
            <a:rect l="l" t="t" r="r" b="b"/>
            <a:pathLst>
              <a:path w="2526665" h="165735" extrusionOk="0">
                <a:moveTo>
                  <a:pt x="2526537" y="165354"/>
                </a:moveTo>
                <a:lnTo>
                  <a:pt x="0" y="165354"/>
                </a:lnTo>
                <a:lnTo>
                  <a:pt x="0" y="0"/>
                </a:lnTo>
                <a:lnTo>
                  <a:pt x="2526537" y="0"/>
                </a:lnTo>
                <a:lnTo>
                  <a:pt x="2526537" y="165354"/>
                </a:lnTo>
                <a:close/>
              </a:path>
            </a:pathLst>
          </a:custGeom>
          <a:solidFill>
            <a:srgbClr val="FFFF00"/>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88" name="Google Shape;788;p72"/>
          <p:cNvSpPr txBox="1"/>
          <p:nvPr/>
        </p:nvSpPr>
        <p:spPr>
          <a:xfrm>
            <a:off x="911225" y="4851603"/>
            <a:ext cx="8184515" cy="911225"/>
          </a:xfrm>
          <a:prstGeom prst="rect">
            <a:avLst/>
          </a:prstGeom>
          <a:noFill/>
          <a:ln>
            <a:noFill/>
          </a:ln>
        </p:spPr>
        <p:txBody>
          <a:bodyPr spcFirstLastPara="1" wrap="square" lIns="0" tIns="71750" rIns="0" bIns="0" anchor="t" anchorCtr="0">
            <a:spAutoFit/>
          </a:bodyPr>
          <a:lstStyle/>
          <a:p>
            <a:pPr marL="12700" marR="0" lvl="0" indent="0" algn="l" rtl="0">
              <a:lnSpc>
                <a:spcPct val="100000"/>
              </a:lnSpc>
              <a:spcBef>
                <a:spcPts val="0"/>
              </a:spcBef>
              <a:spcAft>
                <a:spcPts val="0"/>
              </a:spcAft>
              <a:buNone/>
            </a:pPr>
            <a:r>
              <a:rPr lang="en-US" sz="1550">
                <a:solidFill>
                  <a:schemeClr val="dk1"/>
                </a:solidFill>
                <a:latin typeface="Times New Roman"/>
                <a:ea typeface="Times New Roman"/>
                <a:cs typeface="Times New Roman"/>
                <a:sym typeface="Times New Roman"/>
              </a:rPr>
              <a:t>-a verb followed by two NP's and PP [VP-&gt;Verb NP PP 4.4 e]</a:t>
            </a:r>
            <a:endParaRPr sz="1550">
              <a:solidFill>
                <a:schemeClr val="dk1"/>
              </a:solidFill>
              <a:latin typeface="Times New Roman"/>
              <a:ea typeface="Times New Roman"/>
              <a:cs typeface="Times New Roman"/>
              <a:sym typeface="Times New Roman"/>
            </a:endParaRPr>
          </a:p>
          <a:p>
            <a:pPr marL="307975" marR="5080" lvl="0" indent="-295275" algn="l" rtl="0">
              <a:lnSpc>
                <a:spcPct val="125000"/>
              </a:lnSpc>
              <a:spcBef>
                <a:spcPts val="0"/>
              </a:spcBef>
              <a:spcAft>
                <a:spcPts val="0"/>
              </a:spcAft>
              <a:buNone/>
            </a:pPr>
            <a:r>
              <a:rPr lang="en-US" sz="1550">
                <a:solidFill>
                  <a:schemeClr val="dk1"/>
                </a:solidFill>
                <a:latin typeface="Times New Roman"/>
                <a:ea typeface="Times New Roman"/>
                <a:cs typeface="Times New Roman"/>
                <a:sym typeface="Times New Roman"/>
              </a:rPr>
              <a:t>In general, the number of NP's in VP is limited to two, where as it is possible to add more than two PP's  VP-&gt;Verb (NP) (NP) (PP) *</a:t>
            </a:r>
            <a:endParaRPr sz="1550">
              <a:solidFill>
                <a:schemeClr val="dk1"/>
              </a:solidFill>
              <a:latin typeface="Times New Roman"/>
              <a:ea typeface="Times New Roman"/>
              <a:cs typeface="Times New Roman"/>
              <a:sym typeface="Times New Roman"/>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showMasterSp="0">
  <p:cSld>
    <p:spTree>
      <p:nvGrpSpPr>
        <p:cNvPr id="1" name="Shape 792"/>
        <p:cNvGrpSpPr/>
        <p:nvPr/>
      </p:nvGrpSpPr>
      <p:grpSpPr>
        <a:xfrm>
          <a:off x="0" y="0"/>
          <a:ext cx="0" cy="0"/>
          <a:chOff x="0" y="0"/>
          <a:chExt cx="0" cy="0"/>
        </a:xfrm>
      </p:grpSpPr>
      <p:sp>
        <p:nvSpPr>
          <p:cNvPr id="793" name="Google Shape;793;p73"/>
          <p:cNvSpPr txBox="1">
            <a:spLocks noGrp="1"/>
          </p:cNvSpPr>
          <p:nvPr>
            <p:ph type="title"/>
          </p:nvPr>
        </p:nvSpPr>
        <p:spPr>
          <a:xfrm>
            <a:off x="911225" y="277967"/>
            <a:ext cx="6516370" cy="629285"/>
          </a:xfrm>
          <a:prstGeom prst="rect">
            <a:avLst/>
          </a:prstGeom>
          <a:noFill/>
          <a:ln>
            <a:noFill/>
          </a:ln>
        </p:spPr>
        <p:txBody>
          <a:bodyPr spcFirstLastPara="1" wrap="square" lIns="0" tIns="13950" rIns="0" bIns="0" anchor="t" anchorCtr="0">
            <a:spAutoFit/>
          </a:bodyPr>
          <a:lstStyle/>
          <a:p>
            <a:pPr marL="12700" lvl="0" indent="0" algn="l" rtl="0">
              <a:lnSpc>
                <a:spcPct val="100000"/>
              </a:lnSpc>
              <a:spcBef>
                <a:spcPts val="0"/>
              </a:spcBef>
              <a:spcAft>
                <a:spcPts val="0"/>
              </a:spcAft>
              <a:buNone/>
            </a:pPr>
            <a:r>
              <a:rPr lang="en-US">
                <a:latin typeface="Times New Roman"/>
                <a:ea typeface="Times New Roman"/>
                <a:cs typeface="Times New Roman"/>
                <a:sym typeface="Times New Roman"/>
              </a:rPr>
              <a:t>Prepositional, Adjective phrases</a:t>
            </a:r>
            <a:endParaRPr/>
          </a:p>
        </p:txBody>
      </p:sp>
      <p:sp>
        <p:nvSpPr>
          <p:cNvPr id="794" name="Google Shape;794;p73"/>
          <p:cNvSpPr/>
          <p:nvPr/>
        </p:nvSpPr>
        <p:spPr>
          <a:xfrm>
            <a:off x="923925" y="2712604"/>
            <a:ext cx="1906905" cy="160020"/>
          </a:xfrm>
          <a:custGeom>
            <a:avLst/>
            <a:gdLst/>
            <a:ahLst/>
            <a:cxnLst/>
            <a:rect l="l" t="t" r="r" b="b"/>
            <a:pathLst>
              <a:path w="1906905" h="160019" extrusionOk="0">
                <a:moveTo>
                  <a:pt x="1906767" y="160019"/>
                </a:moveTo>
                <a:lnTo>
                  <a:pt x="0" y="160019"/>
                </a:lnTo>
                <a:lnTo>
                  <a:pt x="0" y="0"/>
                </a:lnTo>
                <a:lnTo>
                  <a:pt x="1906767" y="0"/>
                </a:lnTo>
                <a:lnTo>
                  <a:pt x="1906767" y="160019"/>
                </a:lnTo>
                <a:close/>
              </a:path>
            </a:pathLst>
          </a:custGeom>
          <a:solidFill>
            <a:srgbClr val="FFFF00"/>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95" name="Google Shape;795;p73"/>
          <p:cNvSpPr/>
          <p:nvPr/>
        </p:nvSpPr>
        <p:spPr>
          <a:xfrm>
            <a:off x="923925" y="3284104"/>
            <a:ext cx="1338580" cy="160020"/>
          </a:xfrm>
          <a:custGeom>
            <a:avLst/>
            <a:gdLst/>
            <a:ahLst/>
            <a:cxnLst/>
            <a:rect l="l" t="t" r="r" b="b"/>
            <a:pathLst>
              <a:path w="1338580" h="160020" extrusionOk="0">
                <a:moveTo>
                  <a:pt x="1338243" y="160019"/>
                </a:moveTo>
                <a:lnTo>
                  <a:pt x="0" y="160019"/>
                </a:lnTo>
                <a:lnTo>
                  <a:pt x="0" y="0"/>
                </a:lnTo>
                <a:lnTo>
                  <a:pt x="1338243" y="0"/>
                </a:lnTo>
                <a:lnTo>
                  <a:pt x="1338243" y="160019"/>
                </a:lnTo>
                <a:close/>
              </a:path>
            </a:pathLst>
          </a:custGeom>
          <a:solidFill>
            <a:srgbClr val="FFFF00"/>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96" name="Google Shape;796;p73"/>
          <p:cNvSpPr/>
          <p:nvPr/>
        </p:nvSpPr>
        <p:spPr>
          <a:xfrm>
            <a:off x="4246326" y="3855604"/>
            <a:ext cx="3444240" cy="160020"/>
          </a:xfrm>
          <a:custGeom>
            <a:avLst/>
            <a:gdLst/>
            <a:ahLst/>
            <a:cxnLst/>
            <a:rect l="l" t="t" r="r" b="b"/>
            <a:pathLst>
              <a:path w="3444240" h="160020" extrusionOk="0">
                <a:moveTo>
                  <a:pt x="3443789" y="160020"/>
                </a:moveTo>
                <a:lnTo>
                  <a:pt x="0" y="160020"/>
                </a:lnTo>
                <a:lnTo>
                  <a:pt x="0" y="0"/>
                </a:lnTo>
                <a:lnTo>
                  <a:pt x="3443789" y="0"/>
                </a:lnTo>
                <a:lnTo>
                  <a:pt x="3443789" y="160020"/>
                </a:lnTo>
                <a:close/>
              </a:path>
            </a:pathLst>
          </a:custGeom>
          <a:solidFill>
            <a:srgbClr val="FFFF00"/>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97" name="Google Shape;797;p73"/>
          <p:cNvSpPr txBox="1"/>
          <p:nvPr/>
        </p:nvSpPr>
        <p:spPr>
          <a:xfrm>
            <a:off x="911225" y="1043571"/>
            <a:ext cx="10273665" cy="4991100"/>
          </a:xfrm>
          <a:prstGeom prst="rect">
            <a:avLst/>
          </a:prstGeom>
          <a:noFill/>
          <a:ln>
            <a:noFill/>
          </a:ln>
        </p:spPr>
        <p:txBody>
          <a:bodyPr spcFirstLastPara="1" wrap="square" lIns="0" tIns="79375" rIns="0" bIns="0" anchor="t" anchorCtr="0">
            <a:spAutoFit/>
          </a:bodyPr>
          <a:lstStyle/>
          <a:p>
            <a:pPr marL="12700" marR="5080" lvl="0" indent="0" algn="l" rtl="0">
              <a:lnSpc>
                <a:spcPct val="70800"/>
              </a:lnSpc>
              <a:spcBef>
                <a:spcPts val="0"/>
              </a:spcBef>
              <a:spcAft>
                <a:spcPts val="0"/>
              </a:spcAft>
              <a:buNone/>
            </a:pPr>
            <a:r>
              <a:rPr lang="en-US" sz="1500">
                <a:solidFill>
                  <a:schemeClr val="dk1"/>
                </a:solidFill>
                <a:latin typeface="Times New Roman"/>
                <a:ea typeface="Times New Roman"/>
                <a:cs typeface="Times New Roman"/>
                <a:sym typeface="Times New Roman"/>
              </a:rPr>
              <a:t>Prepositional phrases are headed by a preposition. They consist of a preposition, possibly followed by some other constituents, usually  a noun phrase.</a:t>
            </a:r>
            <a:endParaRPr sz="1500">
              <a:solidFill>
                <a:schemeClr val="dk1"/>
              </a:solidFill>
              <a:latin typeface="Times New Roman"/>
              <a:ea typeface="Times New Roman"/>
              <a:cs typeface="Times New Roman"/>
              <a:sym typeface="Times New Roman"/>
            </a:endParaRPr>
          </a:p>
          <a:p>
            <a:pPr marL="60325" marR="3735704" lvl="0" indent="3825240" algn="l" rtl="0">
              <a:lnSpc>
                <a:spcPct val="125000"/>
              </a:lnSpc>
              <a:spcBef>
                <a:spcPts val="25"/>
              </a:spcBef>
              <a:spcAft>
                <a:spcPts val="0"/>
              </a:spcAft>
              <a:buNone/>
            </a:pPr>
            <a:r>
              <a:rPr lang="en-US" sz="1500">
                <a:solidFill>
                  <a:schemeClr val="dk1"/>
                </a:solidFill>
                <a:latin typeface="Times New Roman"/>
                <a:ea typeface="Times New Roman"/>
                <a:cs typeface="Times New Roman"/>
                <a:sym typeface="Times New Roman"/>
              </a:rPr>
              <a:t>we played volleyball on the beach.  we can have a preposition phrase that consists of just a preposition.</a:t>
            </a:r>
            <a:endParaRPr sz="1500">
              <a:solidFill>
                <a:schemeClr val="dk1"/>
              </a:solidFill>
              <a:latin typeface="Times New Roman"/>
              <a:ea typeface="Times New Roman"/>
              <a:cs typeface="Times New Roman"/>
              <a:sym typeface="Times New Roman"/>
            </a:endParaRPr>
          </a:p>
          <a:p>
            <a:pPr marL="4639310" marR="0" lvl="0" indent="0" algn="l" rtl="0">
              <a:lnSpc>
                <a:spcPct val="100000"/>
              </a:lnSpc>
              <a:spcBef>
                <a:spcPts val="450"/>
              </a:spcBef>
              <a:spcAft>
                <a:spcPts val="0"/>
              </a:spcAft>
              <a:buNone/>
            </a:pPr>
            <a:r>
              <a:rPr lang="en-US" sz="1500">
                <a:solidFill>
                  <a:schemeClr val="dk1"/>
                </a:solidFill>
                <a:latin typeface="Times New Roman"/>
                <a:ea typeface="Times New Roman"/>
                <a:cs typeface="Times New Roman"/>
                <a:sym typeface="Times New Roman"/>
              </a:rPr>
              <a:t>John went outside.</a:t>
            </a:r>
            <a:endParaRPr sz="1500">
              <a:solidFill>
                <a:schemeClr val="dk1"/>
              </a:solidFill>
              <a:latin typeface="Times New Roman"/>
              <a:ea typeface="Times New Roman"/>
              <a:cs typeface="Times New Roman"/>
              <a:sym typeface="Times New Roman"/>
            </a:endParaRPr>
          </a:p>
          <a:p>
            <a:pPr marL="250825" marR="5882005" lvl="0" indent="-190500" algn="l" rtl="0">
              <a:lnSpc>
                <a:spcPct val="125000"/>
              </a:lnSpc>
              <a:spcBef>
                <a:spcPts val="0"/>
              </a:spcBef>
              <a:spcAft>
                <a:spcPts val="0"/>
              </a:spcAft>
              <a:buNone/>
            </a:pPr>
            <a:r>
              <a:rPr lang="en-US" sz="1500">
                <a:solidFill>
                  <a:schemeClr val="dk1"/>
                </a:solidFill>
                <a:latin typeface="Times New Roman"/>
                <a:ea typeface="Times New Roman"/>
                <a:cs typeface="Times New Roman"/>
                <a:sym typeface="Times New Roman"/>
              </a:rPr>
              <a:t>The phrase structure rules that captures the eventualities:  PP-&gt;Preposition (NP)</a:t>
            </a:r>
            <a:endParaRPr sz="1500">
              <a:solidFill>
                <a:schemeClr val="dk1"/>
              </a:solidFill>
              <a:latin typeface="Times New Roman"/>
              <a:ea typeface="Times New Roman"/>
              <a:cs typeface="Times New Roman"/>
              <a:sym typeface="Times New Roman"/>
            </a:endParaRPr>
          </a:p>
          <a:p>
            <a:pPr marL="0" marR="0" lvl="0" indent="0" algn="l" rtl="0">
              <a:lnSpc>
                <a:spcPct val="100000"/>
              </a:lnSpc>
              <a:spcBef>
                <a:spcPts val="55"/>
              </a:spcBef>
              <a:spcAft>
                <a:spcPts val="0"/>
              </a:spcAft>
              <a:buNone/>
            </a:pPr>
            <a:endParaRPr sz="2300">
              <a:solidFill>
                <a:schemeClr val="dk1"/>
              </a:solidFill>
              <a:latin typeface="Times New Roman"/>
              <a:ea typeface="Times New Roman"/>
              <a:cs typeface="Times New Roman"/>
              <a:sym typeface="Times New Roman"/>
            </a:endParaRPr>
          </a:p>
          <a:p>
            <a:pPr marL="12700" marR="0" lvl="0" indent="0" algn="l" rtl="0">
              <a:lnSpc>
                <a:spcPct val="100000"/>
              </a:lnSpc>
              <a:spcBef>
                <a:spcPts val="0"/>
              </a:spcBef>
              <a:spcAft>
                <a:spcPts val="0"/>
              </a:spcAft>
              <a:buNone/>
            </a:pPr>
            <a:r>
              <a:rPr lang="en-US" sz="1500">
                <a:solidFill>
                  <a:schemeClr val="dk1"/>
                </a:solidFill>
                <a:latin typeface="Times New Roman"/>
                <a:ea typeface="Times New Roman"/>
                <a:cs typeface="Times New Roman"/>
                <a:sym typeface="Times New Roman"/>
              </a:rPr>
              <a:t>Adjective phrase:</a:t>
            </a:r>
            <a:endParaRPr sz="1500">
              <a:solidFill>
                <a:schemeClr val="dk1"/>
              </a:solidFill>
              <a:latin typeface="Times New Roman"/>
              <a:ea typeface="Times New Roman"/>
              <a:cs typeface="Times New Roman"/>
              <a:sym typeface="Times New Roman"/>
            </a:endParaRPr>
          </a:p>
          <a:p>
            <a:pPr marL="60325" marR="0" lvl="0" indent="0" algn="l" rtl="0">
              <a:lnSpc>
                <a:spcPct val="100000"/>
              </a:lnSpc>
              <a:spcBef>
                <a:spcPts val="450"/>
              </a:spcBef>
              <a:spcAft>
                <a:spcPts val="0"/>
              </a:spcAft>
              <a:buNone/>
            </a:pPr>
            <a:r>
              <a:rPr lang="en-US" sz="1500">
                <a:solidFill>
                  <a:schemeClr val="dk1"/>
                </a:solidFill>
                <a:latin typeface="Times New Roman"/>
                <a:ea typeface="Times New Roman"/>
                <a:cs typeface="Times New Roman"/>
                <a:sym typeface="Times New Roman"/>
              </a:rPr>
              <a:t>The head of an adjective phrase is an adjective.</a:t>
            </a:r>
            <a:endParaRPr sz="1500">
              <a:solidFill>
                <a:schemeClr val="dk1"/>
              </a:solidFill>
              <a:latin typeface="Times New Roman"/>
              <a:ea typeface="Times New Roman"/>
              <a:cs typeface="Times New Roman"/>
              <a:sym typeface="Times New Roman"/>
            </a:endParaRPr>
          </a:p>
          <a:p>
            <a:pPr marL="298450" marR="3498850" lvl="0" indent="-238125" algn="l" rtl="0">
              <a:lnSpc>
                <a:spcPct val="125000"/>
              </a:lnSpc>
              <a:spcBef>
                <a:spcPts val="0"/>
              </a:spcBef>
              <a:spcAft>
                <a:spcPts val="0"/>
              </a:spcAft>
              <a:buNone/>
            </a:pPr>
            <a:r>
              <a:rPr lang="en-US" sz="1500">
                <a:solidFill>
                  <a:schemeClr val="dk1"/>
                </a:solidFill>
                <a:latin typeface="Times New Roman"/>
                <a:ea typeface="Times New Roman"/>
                <a:cs typeface="Times New Roman"/>
                <a:sym typeface="Times New Roman"/>
              </a:rPr>
              <a:t>AP consists of an adjective, which may be preceded by an adverb and followed by a PP.  ex:</a:t>
            </a:r>
            <a:endParaRPr sz="1500">
              <a:solidFill>
                <a:schemeClr val="dk1"/>
              </a:solidFill>
              <a:latin typeface="Times New Roman"/>
              <a:ea typeface="Times New Roman"/>
              <a:cs typeface="Times New Roman"/>
              <a:sym typeface="Times New Roman"/>
            </a:endParaRPr>
          </a:p>
          <a:p>
            <a:pPr marL="488950" marR="0" lvl="0" indent="0" algn="l" rtl="0">
              <a:lnSpc>
                <a:spcPct val="100000"/>
              </a:lnSpc>
              <a:spcBef>
                <a:spcPts val="450"/>
              </a:spcBef>
              <a:spcAft>
                <a:spcPts val="0"/>
              </a:spcAft>
              <a:buNone/>
            </a:pPr>
            <a:r>
              <a:rPr lang="en-US" sz="1500">
                <a:solidFill>
                  <a:schemeClr val="dk1"/>
                </a:solidFill>
                <a:latin typeface="Times New Roman"/>
                <a:ea typeface="Times New Roman"/>
                <a:cs typeface="Times New Roman"/>
                <a:sym typeface="Times New Roman"/>
              </a:rPr>
              <a:t>Ashish is clever AP-&gt;Adj</a:t>
            </a:r>
            <a:endParaRPr sz="1500">
              <a:solidFill>
                <a:schemeClr val="dk1"/>
              </a:solidFill>
              <a:latin typeface="Times New Roman"/>
              <a:ea typeface="Times New Roman"/>
              <a:cs typeface="Times New Roman"/>
              <a:sym typeface="Times New Roman"/>
            </a:endParaRPr>
          </a:p>
          <a:p>
            <a:pPr marL="488950" marR="0" lvl="0" indent="0" algn="l" rtl="0">
              <a:lnSpc>
                <a:spcPct val="100000"/>
              </a:lnSpc>
              <a:spcBef>
                <a:spcPts val="450"/>
              </a:spcBef>
              <a:spcAft>
                <a:spcPts val="0"/>
              </a:spcAft>
              <a:buNone/>
            </a:pPr>
            <a:r>
              <a:rPr lang="en-US" sz="1500">
                <a:solidFill>
                  <a:schemeClr val="dk1"/>
                </a:solidFill>
                <a:latin typeface="Times New Roman"/>
                <a:ea typeface="Times New Roman"/>
                <a:cs typeface="Times New Roman"/>
                <a:sym typeface="Times New Roman"/>
              </a:rPr>
              <a:t>The train is very late AP-&gt; Adv Adj</a:t>
            </a:r>
            <a:endParaRPr sz="1500">
              <a:solidFill>
                <a:schemeClr val="dk1"/>
              </a:solidFill>
              <a:latin typeface="Times New Roman"/>
              <a:ea typeface="Times New Roman"/>
              <a:cs typeface="Times New Roman"/>
              <a:sym typeface="Times New Roman"/>
            </a:endParaRPr>
          </a:p>
          <a:p>
            <a:pPr marL="488950" marR="0" lvl="0" indent="0" algn="l" rtl="0">
              <a:lnSpc>
                <a:spcPct val="100000"/>
              </a:lnSpc>
              <a:spcBef>
                <a:spcPts val="450"/>
              </a:spcBef>
              <a:spcAft>
                <a:spcPts val="0"/>
              </a:spcAft>
              <a:buNone/>
            </a:pPr>
            <a:r>
              <a:rPr lang="en-US" sz="1500">
                <a:solidFill>
                  <a:schemeClr val="dk1"/>
                </a:solidFill>
                <a:latin typeface="Times New Roman"/>
                <a:ea typeface="Times New Roman"/>
                <a:cs typeface="Times New Roman"/>
                <a:sym typeface="Times New Roman"/>
              </a:rPr>
              <a:t>My sister is fond of animals AP-&gt;adj PP</a:t>
            </a:r>
            <a:endParaRPr sz="1500">
              <a:solidFill>
                <a:schemeClr val="dk1"/>
              </a:solidFill>
              <a:latin typeface="Times New Roman"/>
              <a:ea typeface="Times New Roman"/>
              <a:cs typeface="Times New Roman"/>
              <a:sym typeface="Times New Roman"/>
            </a:endParaRPr>
          </a:p>
          <a:p>
            <a:pPr marL="0" marR="0" lvl="0" indent="0" algn="l" rtl="0">
              <a:lnSpc>
                <a:spcPct val="100000"/>
              </a:lnSpc>
              <a:spcBef>
                <a:spcPts val="5"/>
              </a:spcBef>
              <a:spcAft>
                <a:spcPts val="0"/>
              </a:spcAft>
              <a:buNone/>
            </a:pPr>
            <a:endParaRPr sz="1950">
              <a:solidFill>
                <a:schemeClr val="dk1"/>
              </a:solidFill>
              <a:latin typeface="Times New Roman"/>
              <a:ea typeface="Times New Roman"/>
              <a:cs typeface="Times New Roman"/>
              <a:sym typeface="Times New Roman"/>
            </a:endParaRPr>
          </a:p>
          <a:p>
            <a:pPr marL="488950" marR="6539230" lvl="0" indent="-428625" algn="l" rtl="0">
              <a:lnSpc>
                <a:spcPct val="125000"/>
              </a:lnSpc>
              <a:spcBef>
                <a:spcPts val="0"/>
              </a:spcBef>
              <a:spcAft>
                <a:spcPts val="0"/>
              </a:spcAft>
              <a:buNone/>
            </a:pPr>
            <a:r>
              <a:rPr lang="en-US" sz="1500">
                <a:solidFill>
                  <a:schemeClr val="dk1"/>
                </a:solidFill>
                <a:latin typeface="Times New Roman"/>
                <a:ea typeface="Times New Roman"/>
                <a:cs typeface="Times New Roman"/>
                <a:sym typeface="Times New Roman"/>
              </a:rPr>
              <a:t>The phrase structure rule for adjective phrase is,  AP-&gt;(Adv) Adj (PP)</a:t>
            </a:r>
            <a:endParaRPr sz="1500">
              <a:solidFill>
                <a:schemeClr val="dk1"/>
              </a:solidFill>
              <a:latin typeface="Times New Roman"/>
              <a:ea typeface="Times New Roman"/>
              <a:cs typeface="Times New Roman"/>
              <a:sym typeface="Times New Roman"/>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showMasterSp="0">
  <p:cSld>
    <p:spTree>
      <p:nvGrpSpPr>
        <p:cNvPr id="1" name="Shape 801"/>
        <p:cNvGrpSpPr/>
        <p:nvPr/>
      </p:nvGrpSpPr>
      <p:grpSpPr>
        <a:xfrm>
          <a:off x="0" y="0"/>
          <a:ext cx="0" cy="0"/>
          <a:chOff x="0" y="0"/>
          <a:chExt cx="0" cy="0"/>
        </a:xfrm>
      </p:grpSpPr>
      <p:sp>
        <p:nvSpPr>
          <p:cNvPr id="802" name="Google Shape;802;p74"/>
          <p:cNvSpPr txBox="1">
            <a:spLocks noGrp="1"/>
          </p:cNvSpPr>
          <p:nvPr>
            <p:ph type="title"/>
          </p:nvPr>
        </p:nvSpPr>
        <p:spPr>
          <a:xfrm>
            <a:off x="911225" y="639172"/>
            <a:ext cx="3322954" cy="69596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4400"/>
              <a:t>Adverb Phrase</a:t>
            </a:r>
            <a:endParaRPr sz="4400"/>
          </a:p>
        </p:txBody>
      </p:sp>
      <p:sp>
        <p:nvSpPr>
          <p:cNvPr id="803" name="Google Shape;803;p74"/>
          <p:cNvSpPr txBox="1"/>
          <p:nvPr/>
        </p:nvSpPr>
        <p:spPr>
          <a:xfrm>
            <a:off x="1048407" y="1719605"/>
            <a:ext cx="9081135" cy="774700"/>
          </a:xfrm>
          <a:prstGeom prst="rect">
            <a:avLst/>
          </a:prstGeom>
          <a:noFill/>
          <a:ln>
            <a:noFill/>
          </a:ln>
        </p:spPr>
        <p:txBody>
          <a:bodyPr spcFirstLastPara="1" wrap="square" lIns="0" tIns="12700" rIns="0" bIns="0" anchor="t" anchorCtr="0">
            <a:spAutoFit/>
          </a:bodyPr>
          <a:lstStyle/>
          <a:p>
            <a:pPr marL="274955" marR="5080" lvl="0" indent="-262890" algn="l" rtl="0">
              <a:lnSpc>
                <a:spcPct val="136600"/>
              </a:lnSpc>
              <a:spcBef>
                <a:spcPts val="0"/>
              </a:spcBef>
              <a:spcAft>
                <a:spcPts val="0"/>
              </a:spcAft>
              <a:buNone/>
            </a:pPr>
            <a:r>
              <a:rPr lang="en-US" sz="1800">
                <a:solidFill>
                  <a:schemeClr val="dk1"/>
                </a:solidFill>
                <a:latin typeface="Times New Roman"/>
                <a:ea typeface="Times New Roman"/>
                <a:cs typeface="Times New Roman"/>
                <a:sym typeface="Times New Roman"/>
              </a:rPr>
              <a:t>An adverb phrase consists of an adverb, possibly preceded by a degree adverb. Here is an example  Time passes very Quickly</a:t>
            </a:r>
            <a:endParaRPr sz="1800">
              <a:solidFill>
                <a:schemeClr val="dk1"/>
              </a:solidFill>
              <a:latin typeface="Times New Roman"/>
              <a:ea typeface="Times New Roman"/>
              <a:cs typeface="Times New Roman"/>
              <a:sym typeface="Times New Roman"/>
            </a:endParaRPr>
          </a:p>
        </p:txBody>
      </p:sp>
      <p:sp>
        <p:nvSpPr>
          <p:cNvPr id="804" name="Google Shape;804;p74"/>
          <p:cNvSpPr txBox="1"/>
          <p:nvPr/>
        </p:nvSpPr>
        <p:spPr>
          <a:xfrm>
            <a:off x="1381125" y="2609850"/>
            <a:ext cx="2002155" cy="247015"/>
          </a:xfrm>
          <a:prstGeom prst="rect">
            <a:avLst/>
          </a:prstGeom>
          <a:solidFill>
            <a:srgbClr val="FFFF00"/>
          </a:solidFill>
          <a:ln>
            <a:noFill/>
          </a:ln>
        </p:spPr>
        <p:txBody>
          <a:bodyPr spcFirstLastPara="1" wrap="square" lIns="0" tIns="0" rIns="0" bIns="0" anchor="t" anchorCtr="0">
            <a:spAutoFit/>
          </a:bodyPr>
          <a:lstStyle/>
          <a:p>
            <a:pPr marL="0" marR="0" lvl="0" indent="0" algn="l" rtl="0">
              <a:lnSpc>
                <a:spcPct val="106333"/>
              </a:lnSpc>
              <a:spcBef>
                <a:spcPts val="0"/>
              </a:spcBef>
              <a:spcAft>
                <a:spcPts val="0"/>
              </a:spcAft>
              <a:buNone/>
            </a:pPr>
            <a:r>
              <a:rPr lang="en-US" sz="1800">
                <a:solidFill>
                  <a:schemeClr val="dk1"/>
                </a:solidFill>
                <a:latin typeface="Times New Roman"/>
                <a:ea typeface="Times New Roman"/>
                <a:cs typeface="Times New Roman"/>
                <a:sym typeface="Times New Roman"/>
              </a:rPr>
              <a:t>Adv P-&gt;(Intens) Adv.</a:t>
            </a:r>
            <a:endParaRPr sz="1800">
              <a:solidFill>
                <a:schemeClr val="dk1"/>
              </a:solidFill>
              <a:latin typeface="Times New Roman"/>
              <a:ea typeface="Times New Roman"/>
              <a:cs typeface="Times New Roman"/>
              <a:sym typeface="Times New Roman"/>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showMasterSp="0">
  <p:cSld>
    <p:spTree>
      <p:nvGrpSpPr>
        <p:cNvPr id="1" name="Shape 808"/>
        <p:cNvGrpSpPr/>
        <p:nvPr/>
      </p:nvGrpSpPr>
      <p:grpSpPr>
        <a:xfrm>
          <a:off x="0" y="0"/>
          <a:ext cx="0" cy="0"/>
          <a:chOff x="0" y="0"/>
          <a:chExt cx="0" cy="0"/>
        </a:xfrm>
      </p:grpSpPr>
      <p:sp>
        <p:nvSpPr>
          <p:cNvPr id="809" name="Google Shape;809;p75"/>
          <p:cNvSpPr txBox="1">
            <a:spLocks noGrp="1"/>
          </p:cNvSpPr>
          <p:nvPr>
            <p:ph type="title"/>
          </p:nvPr>
        </p:nvSpPr>
        <p:spPr>
          <a:xfrm>
            <a:off x="911225" y="181995"/>
            <a:ext cx="5852160" cy="629285"/>
          </a:xfrm>
          <a:prstGeom prst="rect">
            <a:avLst/>
          </a:prstGeom>
          <a:noFill/>
          <a:ln>
            <a:noFill/>
          </a:ln>
        </p:spPr>
        <p:txBody>
          <a:bodyPr spcFirstLastPara="1" wrap="square" lIns="0" tIns="13950" rIns="0" bIns="0" anchor="t" anchorCtr="0">
            <a:spAutoFit/>
          </a:bodyPr>
          <a:lstStyle/>
          <a:p>
            <a:pPr marL="12700" lvl="0" indent="0" algn="l" rtl="0">
              <a:lnSpc>
                <a:spcPct val="100000"/>
              </a:lnSpc>
              <a:spcBef>
                <a:spcPts val="0"/>
              </a:spcBef>
              <a:spcAft>
                <a:spcPts val="0"/>
              </a:spcAft>
              <a:buNone/>
            </a:pPr>
            <a:r>
              <a:rPr lang="en-US">
                <a:latin typeface="Times New Roman"/>
                <a:ea typeface="Times New Roman"/>
                <a:cs typeface="Times New Roman"/>
                <a:sym typeface="Times New Roman"/>
              </a:rPr>
              <a:t>Sentence Level construction:</a:t>
            </a:r>
            <a:endParaRPr/>
          </a:p>
        </p:txBody>
      </p:sp>
      <p:sp>
        <p:nvSpPr>
          <p:cNvPr id="810" name="Google Shape;810;p75"/>
          <p:cNvSpPr txBox="1"/>
          <p:nvPr/>
        </p:nvSpPr>
        <p:spPr>
          <a:xfrm>
            <a:off x="911225" y="1084201"/>
            <a:ext cx="7406640" cy="216027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800">
                <a:solidFill>
                  <a:schemeClr val="dk1"/>
                </a:solidFill>
                <a:latin typeface="Times New Roman"/>
                <a:ea typeface="Times New Roman"/>
                <a:cs typeface="Times New Roman"/>
                <a:sym typeface="Times New Roman"/>
              </a:rPr>
              <a:t>A sentence can have varying structure. The four commonly known structures are</a:t>
            </a:r>
            <a:endParaRPr sz="1800">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None/>
            </a:pPr>
            <a:endParaRPr sz="2000">
              <a:solidFill>
                <a:schemeClr val="dk1"/>
              </a:solidFill>
              <a:latin typeface="Times New Roman"/>
              <a:ea typeface="Times New Roman"/>
              <a:cs typeface="Times New Roman"/>
              <a:sym typeface="Times New Roman"/>
            </a:endParaRPr>
          </a:p>
          <a:p>
            <a:pPr marL="184150" marR="0" lvl="0" indent="0" algn="l" rtl="0">
              <a:lnSpc>
                <a:spcPct val="100000"/>
              </a:lnSpc>
              <a:spcBef>
                <a:spcPts val="1415"/>
              </a:spcBef>
              <a:spcAft>
                <a:spcPts val="0"/>
              </a:spcAft>
              <a:buNone/>
            </a:pPr>
            <a:r>
              <a:rPr lang="en-US" sz="1800">
                <a:solidFill>
                  <a:schemeClr val="dk1"/>
                </a:solidFill>
                <a:latin typeface="Times New Roman"/>
                <a:ea typeface="Times New Roman"/>
                <a:cs typeface="Times New Roman"/>
                <a:sym typeface="Times New Roman"/>
              </a:rPr>
              <a:t>*Declarative structure</a:t>
            </a:r>
            <a:endParaRPr sz="1800">
              <a:solidFill>
                <a:schemeClr val="dk1"/>
              </a:solidFill>
              <a:latin typeface="Times New Roman"/>
              <a:ea typeface="Times New Roman"/>
              <a:cs typeface="Times New Roman"/>
              <a:sym typeface="Times New Roman"/>
            </a:endParaRPr>
          </a:p>
          <a:p>
            <a:pPr marL="184150" marR="0" lvl="0" indent="0" algn="l" rtl="0">
              <a:lnSpc>
                <a:spcPct val="100000"/>
              </a:lnSpc>
              <a:spcBef>
                <a:spcPts val="765"/>
              </a:spcBef>
              <a:spcAft>
                <a:spcPts val="0"/>
              </a:spcAft>
              <a:buNone/>
            </a:pPr>
            <a:r>
              <a:rPr lang="en-US" sz="1800">
                <a:solidFill>
                  <a:schemeClr val="dk1"/>
                </a:solidFill>
                <a:latin typeface="Times New Roman"/>
                <a:ea typeface="Times New Roman"/>
                <a:cs typeface="Times New Roman"/>
                <a:sym typeface="Times New Roman"/>
              </a:rPr>
              <a:t>*Imperative structure</a:t>
            </a:r>
            <a:endParaRPr sz="1800">
              <a:solidFill>
                <a:schemeClr val="dk1"/>
              </a:solidFill>
              <a:latin typeface="Times New Roman"/>
              <a:ea typeface="Times New Roman"/>
              <a:cs typeface="Times New Roman"/>
              <a:sym typeface="Times New Roman"/>
            </a:endParaRPr>
          </a:p>
          <a:p>
            <a:pPr marL="184150" marR="0" lvl="0" indent="0" algn="l" rtl="0">
              <a:lnSpc>
                <a:spcPct val="100000"/>
              </a:lnSpc>
              <a:spcBef>
                <a:spcPts val="765"/>
              </a:spcBef>
              <a:spcAft>
                <a:spcPts val="0"/>
              </a:spcAft>
              <a:buNone/>
            </a:pPr>
            <a:r>
              <a:rPr lang="en-US" sz="1800">
                <a:solidFill>
                  <a:schemeClr val="dk1"/>
                </a:solidFill>
                <a:latin typeface="Times New Roman"/>
                <a:ea typeface="Times New Roman"/>
                <a:cs typeface="Times New Roman"/>
                <a:sym typeface="Times New Roman"/>
              </a:rPr>
              <a:t>*yes-no question structure</a:t>
            </a:r>
            <a:endParaRPr sz="1800">
              <a:solidFill>
                <a:schemeClr val="dk1"/>
              </a:solidFill>
              <a:latin typeface="Times New Roman"/>
              <a:ea typeface="Times New Roman"/>
              <a:cs typeface="Times New Roman"/>
              <a:sym typeface="Times New Roman"/>
            </a:endParaRPr>
          </a:p>
          <a:p>
            <a:pPr marL="184150" marR="0" lvl="0" indent="0" algn="l" rtl="0">
              <a:lnSpc>
                <a:spcPct val="100000"/>
              </a:lnSpc>
              <a:spcBef>
                <a:spcPts val="765"/>
              </a:spcBef>
              <a:spcAft>
                <a:spcPts val="0"/>
              </a:spcAft>
              <a:buNone/>
            </a:pPr>
            <a:r>
              <a:rPr lang="en-US" sz="1800">
                <a:solidFill>
                  <a:schemeClr val="dk1"/>
                </a:solidFill>
                <a:latin typeface="Times New Roman"/>
                <a:ea typeface="Times New Roman"/>
                <a:cs typeface="Times New Roman"/>
                <a:sym typeface="Times New Roman"/>
              </a:rPr>
              <a:t>*Wh-question structure</a:t>
            </a:r>
            <a:endParaRPr sz="1800">
              <a:solidFill>
                <a:schemeClr val="dk1"/>
              </a:solidFill>
              <a:latin typeface="Times New Roman"/>
              <a:ea typeface="Times New Roman"/>
              <a:cs typeface="Times New Roman"/>
              <a:sym typeface="Times New Roman"/>
            </a:endParaRPr>
          </a:p>
        </p:txBody>
      </p:sp>
      <p:sp>
        <p:nvSpPr>
          <p:cNvPr id="811" name="Google Shape;811;p75"/>
          <p:cNvSpPr txBox="1"/>
          <p:nvPr/>
        </p:nvSpPr>
        <p:spPr>
          <a:xfrm>
            <a:off x="981075" y="3360015"/>
            <a:ext cx="1116965" cy="247015"/>
          </a:xfrm>
          <a:prstGeom prst="rect">
            <a:avLst/>
          </a:prstGeom>
          <a:solidFill>
            <a:srgbClr val="FFFF00"/>
          </a:solidFill>
          <a:ln>
            <a:noFill/>
          </a:ln>
        </p:spPr>
        <p:txBody>
          <a:bodyPr spcFirstLastPara="1" wrap="square" lIns="0" tIns="0" rIns="0" bIns="0" anchor="t" anchorCtr="0">
            <a:spAutoFit/>
          </a:bodyPr>
          <a:lstStyle/>
          <a:p>
            <a:pPr marL="0" marR="0" lvl="0" indent="0" algn="l" rtl="0">
              <a:lnSpc>
                <a:spcPct val="106333"/>
              </a:lnSpc>
              <a:spcBef>
                <a:spcPts val="0"/>
              </a:spcBef>
              <a:spcAft>
                <a:spcPts val="0"/>
              </a:spcAft>
              <a:buNone/>
            </a:pPr>
            <a:r>
              <a:rPr lang="en-US" sz="1800">
                <a:solidFill>
                  <a:schemeClr val="dk1"/>
                </a:solidFill>
                <a:latin typeface="Times New Roman"/>
                <a:ea typeface="Times New Roman"/>
                <a:cs typeface="Times New Roman"/>
                <a:sym typeface="Times New Roman"/>
              </a:rPr>
              <a:t>Declarative:</a:t>
            </a:r>
            <a:endParaRPr sz="1800">
              <a:solidFill>
                <a:schemeClr val="dk1"/>
              </a:solidFill>
              <a:latin typeface="Times New Roman"/>
              <a:ea typeface="Times New Roman"/>
              <a:cs typeface="Times New Roman"/>
              <a:sym typeface="Times New Roman"/>
            </a:endParaRPr>
          </a:p>
        </p:txBody>
      </p:sp>
      <p:sp>
        <p:nvSpPr>
          <p:cNvPr id="812" name="Google Shape;812;p75"/>
          <p:cNvSpPr txBox="1"/>
          <p:nvPr/>
        </p:nvSpPr>
        <p:spPr>
          <a:xfrm>
            <a:off x="911225" y="3590546"/>
            <a:ext cx="7534909" cy="1882775"/>
          </a:xfrm>
          <a:prstGeom prst="rect">
            <a:avLst/>
          </a:prstGeom>
          <a:noFill/>
          <a:ln>
            <a:noFill/>
          </a:ln>
        </p:spPr>
        <p:txBody>
          <a:bodyPr spcFirstLastPara="1" wrap="square" lIns="0" tIns="12700" rIns="0" bIns="0" anchor="t" anchorCtr="0">
            <a:spAutoFit/>
          </a:bodyPr>
          <a:lstStyle/>
          <a:p>
            <a:pPr marL="12700" marR="5080" lvl="0" indent="0" algn="l" rtl="0">
              <a:lnSpc>
                <a:spcPct val="135400"/>
              </a:lnSpc>
              <a:spcBef>
                <a:spcPts val="0"/>
              </a:spcBef>
              <a:spcAft>
                <a:spcPts val="0"/>
              </a:spcAft>
              <a:buNone/>
            </a:pPr>
            <a:r>
              <a:rPr lang="en-US" sz="1800">
                <a:solidFill>
                  <a:schemeClr val="dk1"/>
                </a:solidFill>
                <a:latin typeface="Times New Roman"/>
                <a:ea typeface="Times New Roman"/>
                <a:cs typeface="Times New Roman"/>
                <a:sym typeface="Times New Roman"/>
              </a:rPr>
              <a:t>Sentences with a declarative structure have a subject followed by an predicate  The subject of a declarative sentence is a noun phrase and predicate is verb phrase</a:t>
            </a:r>
            <a:endParaRPr sz="1800">
              <a:solidFill>
                <a:schemeClr val="dk1"/>
              </a:solidFill>
              <a:latin typeface="Times New Roman"/>
              <a:ea typeface="Times New Roman"/>
              <a:cs typeface="Times New Roman"/>
              <a:sym typeface="Times New Roman"/>
            </a:endParaRPr>
          </a:p>
          <a:p>
            <a:pPr marL="2127250" marR="0" lvl="0" indent="0" algn="l" rtl="0">
              <a:lnSpc>
                <a:spcPct val="100000"/>
              </a:lnSpc>
              <a:spcBef>
                <a:spcPts val="765"/>
              </a:spcBef>
              <a:spcAft>
                <a:spcPts val="0"/>
              </a:spcAft>
              <a:buNone/>
            </a:pPr>
            <a:r>
              <a:rPr lang="en-US" sz="1800">
                <a:solidFill>
                  <a:schemeClr val="dk1"/>
                </a:solidFill>
                <a:latin typeface="Times New Roman"/>
                <a:ea typeface="Times New Roman"/>
                <a:cs typeface="Times New Roman"/>
                <a:sym typeface="Times New Roman"/>
              </a:rPr>
              <a:t>eg: I like horse riding</a:t>
            </a:r>
            <a:endParaRPr sz="1800">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None/>
            </a:pPr>
            <a:endParaRPr sz="2000">
              <a:solidFill>
                <a:schemeClr val="dk1"/>
              </a:solidFill>
              <a:latin typeface="Times New Roman"/>
              <a:ea typeface="Times New Roman"/>
              <a:cs typeface="Times New Roman"/>
              <a:sym typeface="Times New Roman"/>
            </a:endParaRPr>
          </a:p>
          <a:p>
            <a:pPr marL="12700" marR="0" lvl="0" indent="0" algn="l" rtl="0">
              <a:lnSpc>
                <a:spcPct val="100000"/>
              </a:lnSpc>
              <a:spcBef>
                <a:spcPts val="1390"/>
              </a:spcBef>
              <a:spcAft>
                <a:spcPts val="0"/>
              </a:spcAft>
              <a:buNone/>
            </a:pPr>
            <a:r>
              <a:rPr lang="en-US" sz="1800">
                <a:solidFill>
                  <a:schemeClr val="dk1"/>
                </a:solidFill>
                <a:latin typeface="Times New Roman"/>
                <a:ea typeface="Times New Roman"/>
                <a:cs typeface="Times New Roman"/>
                <a:sym typeface="Times New Roman"/>
              </a:rPr>
              <a:t>The phrase structure rule for declarative sentences is</a:t>
            </a:r>
            <a:endParaRPr sz="1800">
              <a:solidFill>
                <a:schemeClr val="dk1"/>
              </a:solidFill>
              <a:latin typeface="Times New Roman"/>
              <a:ea typeface="Times New Roman"/>
              <a:cs typeface="Times New Roman"/>
              <a:sym typeface="Times New Roman"/>
            </a:endParaRPr>
          </a:p>
        </p:txBody>
      </p:sp>
      <p:sp>
        <p:nvSpPr>
          <p:cNvPr id="813" name="Google Shape;813;p75"/>
          <p:cNvSpPr txBox="1"/>
          <p:nvPr/>
        </p:nvSpPr>
        <p:spPr>
          <a:xfrm>
            <a:off x="923925" y="5588865"/>
            <a:ext cx="1602740" cy="247015"/>
          </a:xfrm>
          <a:prstGeom prst="rect">
            <a:avLst/>
          </a:prstGeom>
          <a:solidFill>
            <a:srgbClr val="FFFF00"/>
          </a:solidFill>
          <a:ln>
            <a:noFill/>
          </a:ln>
        </p:spPr>
        <p:txBody>
          <a:bodyPr spcFirstLastPara="1" wrap="square" lIns="0" tIns="0" rIns="0" bIns="0" anchor="t" anchorCtr="0">
            <a:spAutoFit/>
          </a:bodyPr>
          <a:lstStyle/>
          <a:p>
            <a:pPr marL="628650" marR="0" lvl="0" indent="0" algn="l" rtl="0">
              <a:lnSpc>
                <a:spcPct val="106333"/>
              </a:lnSpc>
              <a:spcBef>
                <a:spcPts val="0"/>
              </a:spcBef>
              <a:spcAft>
                <a:spcPts val="0"/>
              </a:spcAft>
              <a:buNone/>
            </a:pPr>
            <a:r>
              <a:rPr lang="en-US" sz="1800">
                <a:solidFill>
                  <a:schemeClr val="dk1"/>
                </a:solidFill>
                <a:latin typeface="Times New Roman"/>
                <a:ea typeface="Times New Roman"/>
                <a:cs typeface="Times New Roman"/>
                <a:sym typeface="Times New Roman"/>
              </a:rPr>
              <a:t>S-&gt;NP VP</a:t>
            </a:r>
            <a:endParaRPr sz="1800">
              <a:solidFill>
                <a:schemeClr val="dk1"/>
              </a:solidFill>
              <a:latin typeface="Times New Roman"/>
              <a:ea typeface="Times New Roman"/>
              <a:cs typeface="Times New Roman"/>
              <a:sym typeface="Times New Roman"/>
            </a:endParaRP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showMasterSp="0">
  <p:cSld>
    <p:spTree>
      <p:nvGrpSpPr>
        <p:cNvPr id="1" name="Shape 817"/>
        <p:cNvGrpSpPr/>
        <p:nvPr/>
      </p:nvGrpSpPr>
      <p:grpSpPr>
        <a:xfrm>
          <a:off x="0" y="0"/>
          <a:ext cx="0" cy="0"/>
          <a:chOff x="0" y="0"/>
          <a:chExt cx="0" cy="0"/>
        </a:xfrm>
      </p:grpSpPr>
      <p:sp>
        <p:nvSpPr>
          <p:cNvPr id="818" name="Google Shape;818;p76"/>
          <p:cNvSpPr txBox="1">
            <a:spLocks noGrp="1"/>
          </p:cNvSpPr>
          <p:nvPr>
            <p:ph type="title"/>
          </p:nvPr>
        </p:nvSpPr>
        <p:spPr>
          <a:xfrm>
            <a:off x="911225" y="639172"/>
            <a:ext cx="6499225" cy="69596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4400">
                <a:latin typeface="Times New Roman"/>
                <a:ea typeface="Times New Roman"/>
                <a:cs typeface="Times New Roman"/>
                <a:sym typeface="Times New Roman"/>
              </a:rPr>
              <a:t>Sentence Level construction:</a:t>
            </a:r>
            <a:endParaRPr sz="4400">
              <a:latin typeface="Times New Roman"/>
              <a:ea typeface="Times New Roman"/>
              <a:cs typeface="Times New Roman"/>
              <a:sym typeface="Times New Roman"/>
            </a:endParaRPr>
          </a:p>
        </p:txBody>
      </p:sp>
      <p:sp>
        <p:nvSpPr>
          <p:cNvPr id="819" name="Google Shape;819;p76"/>
          <p:cNvSpPr txBox="1"/>
          <p:nvPr/>
        </p:nvSpPr>
        <p:spPr>
          <a:xfrm>
            <a:off x="923925" y="1634144"/>
            <a:ext cx="1054100" cy="247015"/>
          </a:xfrm>
          <a:prstGeom prst="rect">
            <a:avLst/>
          </a:prstGeom>
          <a:solidFill>
            <a:srgbClr val="FFFF00"/>
          </a:solidFill>
          <a:ln>
            <a:noFill/>
          </a:ln>
        </p:spPr>
        <p:txBody>
          <a:bodyPr spcFirstLastPara="1" wrap="square" lIns="0" tIns="0" rIns="0" bIns="0" anchor="t" anchorCtr="0">
            <a:spAutoFit/>
          </a:bodyPr>
          <a:lstStyle/>
          <a:p>
            <a:pPr marL="0" marR="0" lvl="0" indent="0" algn="l" rtl="0">
              <a:lnSpc>
                <a:spcPct val="106333"/>
              </a:lnSpc>
              <a:spcBef>
                <a:spcPts val="0"/>
              </a:spcBef>
              <a:spcAft>
                <a:spcPts val="0"/>
              </a:spcAft>
              <a:buNone/>
            </a:pPr>
            <a:r>
              <a:rPr lang="en-US" sz="1800">
                <a:solidFill>
                  <a:schemeClr val="dk1"/>
                </a:solidFill>
                <a:latin typeface="Times New Roman"/>
                <a:ea typeface="Times New Roman"/>
                <a:cs typeface="Times New Roman"/>
                <a:sym typeface="Times New Roman"/>
              </a:rPr>
              <a:t>Imperative:</a:t>
            </a:r>
            <a:endParaRPr sz="1800">
              <a:solidFill>
                <a:schemeClr val="dk1"/>
              </a:solidFill>
              <a:latin typeface="Times New Roman"/>
              <a:ea typeface="Times New Roman"/>
              <a:cs typeface="Times New Roman"/>
              <a:sym typeface="Times New Roman"/>
            </a:endParaRPr>
          </a:p>
        </p:txBody>
      </p:sp>
      <p:sp>
        <p:nvSpPr>
          <p:cNvPr id="820" name="Google Shape;820;p76"/>
          <p:cNvSpPr txBox="1"/>
          <p:nvPr/>
        </p:nvSpPr>
        <p:spPr>
          <a:xfrm>
            <a:off x="911225" y="1867849"/>
            <a:ext cx="9091930" cy="1511300"/>
          </a:xfrm>
          <a:prstGeom prst="rect">
            <a:avLst/>
          </a:prstGeom>
          <a:noFill/>
          <a:ln>
            <a:noFill/>
          </a:ln>
        </p:spPr>
        <p:txBody>
          <a:bodyPr spcFirstLastPara="1" wrap="square" lIns="0" tIns="12700" rIns="0" bIns="0" anchor="t" anchorCtr="0">
            <a:spAutoFit/>
          </a:bodyPr>
          <a:lstStyle/>
          <a:p>
            <a:pPr marL="12700" marR="929639" lvl="0" indent="0" algn="l" rtl="0">
              <a:lnSpc>
                <a:spcPct val="135400"/>
              </a:lnSpc>
              <a:spcBef>
                <a:spcPts val="0"/>
              </a:spcBef>
              <a:spcAft>
                <a:spcPts val="0"/>
              </a:spcAft>
              <a:buNone/>
            </a:pPr>
            <a:r>
              <a:rPr lang="en-US" sz="1800">
                <a:solidFill>
                  <a:schemeClr val="dk1"/>
                </a:solidFill>
                <a:latin typeface="Times New Roman"/>
                <a:ea typeface="Times New Roman"/>
                <a:cs typeface="Times New Roman"/>
                <a:sym typeface="Times New Roman"/>
              </a:rPr>
              <a:t>Sentences with an imperative structure usually begin with a verb phrase and lack subject.  The subject of these types of sentences is implicit and is understood to be 'you’.</a:t>
            </a:r>
            <a:endParaRPr sz="1800">
              <a:solidFill>
                <a:schemeClr val="dk1"/>
              </a:solidFill>
              <a:latin typeface="Times New Roman"/>
              <a:ea typeface="Times New Roman"/>
              <a:cs typeface="Times New Roman"/>
              <a:sym typeface="Times New Roman"/>
            </a:endParaRPr>
          </a:p>
          <a:p>
            <a:pPr marL="12700" marR="5080" lvl="0" indent="0" algn="l" rtl="0">
              <a:lnSpc>
                <a:spcPct val="135400"/>
              </a:lnSpc>
              <a:spcBef>
                <a:spcPts val="0"/>
              </a:spcBef>
              <a:spcAft>
                <a:spcPts val="0"/>
              </a:spcAft>
              <a:buNone/>
            </a:pPr>
            <a:r>
              <a:rPr lang="en-US" sz="1800">
                <a:solidFill>
                  <a:schemeClr val="dk1"/>
                </a:solidFill>
                <a:latin typeface="Times New Roman"/>
                <a:ea typeface="Times New Roman"/>
                <a:cs typeface="Times New Roman"/>
                <a:sym typeface="Times New Roman"/>
              </a:rPr>
              <a:t>These types of sentences are used for commands and suggestions, and hence are called imperative.  The grammar rule</a:t>
            </a:r>
            <a:endParaRPr sz="1800">
              <a:solidFill>
                <a:schemeClr val="dk1"/>
              </a:solidFill>
              <a:latin typeface="Times New Roman"/>
              <a:ea typeface="Times New Roman"/>
              <a:cs typeface="Times New Roman"/>
              <a:sym typeface="Times New Roman"/>
            </a:endParaRPr>
          </a:p>
        </p:txBody>
      </p:sp>
      <p:sp>
        <p:nvSpPr>
          <p:cNvPr id="821" name="Google Shape;821;p76"/>
          <p:cNvSpPr txBox="1"/>
          <p:nvPr/>
        </p:nvSpPr>
        <p:spPr>
          <a:xfrm>
            <a:off x="923925" y="3494693"/>
            <a:ext cx="967740" cy="247015"/>
          </a:xfrm>
          <a:prstGeom prst="rect">
            <a:avLst/>
          </a:prstGeom>
          <a:solidFill>
            <a:srgbClr val="FFFF00"/>
          </a:solidFill>
          <a:ln>
            <a:noFill/>
          </a:ln>
        </p:spPr>
        <p:txBody>
          <a:bodyPr spcFirstLastPara="1" wrap="square" lIns="0" tIns="0" rIns="0" bIns="0" anchor="t" anchorCtr="0">
            <a:spAutoFit/>
          </a:bodyPr>
          <a:lstStyle/>
          <a:p>
            <a:pPr marL="342900" marR="0" lvl="0" indent="0" algn="l" rtl="0">
              <a:lnSpc>
                <a:spcPct val="106333"/>
              </a:lnSpc>
              <a:spcBef>
                <a:spcPts val="0"/>
              </a:spcBef>
              <a:spcAft>
                <a:spcPts val="0"/>
              </a:spcAft>
              <a:buNone/>
            </a:pPr>
            <a:r>
              <a:rPr lang="en-US" sz="1800">
                <a:solidFill>
                  <a:schemeClr val="dk1"/>
                </a:solidFill>
                <a:latin typeface="Times New Roman"/>
                <a:ea typeface="Times New Roman"/>
                <a:cs typeface="Times New Roman"/>
                <a:sym typeface="Times New Roman"/>
              </a:rPr>
              <a:t>S-&gt;VP</a:t>
            </a:r>
            <a:endParaRPr sz="1800">
              <a:solidFill>
                <a:schemeClr val="dk1"/>
              </a:solidFill>
              <a:latin typeface="Times New Roman"/>
              <a:ea typeface="Times New Roman"/>
              <a:cs typeface="Times New Roman"/>
              <a:sym typeface="Times New Roman"/>
            </a:endParaRPr>
          </a:p>
        </p:txBody>
      </p:sp>
      <p:sp>
        <p:nvSpPr>
          <p:cNvPr id="822" name="Google Shape;822;p76"/>
          <p:cNvSpPr txBox="1"/>
          <p:nvPr/>
        </p:nvSpPr>
        <p:spPr>
          <a:xfrm>
            <a:off x="968375" y="3725224"/>
            <a:ext cx="2637155" cy="1511300"/>
          </a:xfrm>
          <a:prstGeom prst="rect">
            <a:avLst/>
          </a:prstGeom>
          <a:noFill/>
          <a:ln>
            <a:noFill/>
          </a:ln>
        </p:spPr>
        <p:txBody>
          <a:bodyPr spcFirstLastPara="1" wrap="square" lIns="0" tIns="12700" rIns="0" bIns="0" anchor="t" anchorCtr="0">
            <a:spAutoFit/>
          </a:bodyPr>
          <a:lstStyle/>
          <a:p>
            <a:pPr marL="241300" marR="758190" lvl="0" indent="-228600" algn="just" rtl="0">
              <a:lnSpc>
                <a:spcPct val="135400"/>
              </a:lnSpc>
              <a:spcBef>
                <a:spcPts val="0"/>
              </a:spcBef>
              <a:spcAft>
                <a:spcPts val="0"/>
              </a:spcAft>
              <a:buNone/>
            </a:pPr>
            <a:r>
              <a:rPr lang="en-US" sz="1800">
                <a:solidFill>
                  <a:schemeClr val="dk1"/>
                </a:solidFill>
                <a:latin typeface="Times New Roman"/>
                <a:ea typeface="Times New Roman"/>
                <a:cs typeface="Times New Roman"/>
                <a:sym typeface="Times New Roman"/>
              </a:rPr>
              <a:t>ex: Look at the door  Give me the book  stop talking</a:t>
            </a:r>
            <a:endParaRPr sz="1800">
              <a:solidFill>
                <a:schemeClr val="dk1"/>
              </a:solidFill>
              <a:latin typeface="Times New Roman"/>
              <a:ea typeface="Times New Roman"/>
              <a:cs typeface="Times New Roman"/>
              <a:sym typeface="Times New Roman"/>
            </a:endParaRPr>
          </a:p>
          <a:p>
            <a:pPr marL="241300" marR="0" lvl="0" indent="0" algn="just" rtl="0">
              <a:lnSpc>
                <a:spcPct val="100000"/>
              </a:lnSpc>
              <a:spcBef>
                <a:spcPts val="765"/>
              </a:spcBef>
              <a:spcAft>
                <a:spcPts val="0"/>
              </a:spcAft>
              <a:buNone/>
            </a:pPr>
            <a:r>
              <a:rPr lang="en-US" sz="1800">
                <a:solidFill>
                  <a:schemeClr val="dk1"/>
                </a:solidFill>
                <a:latin typeface="Times New Roman"/>
                <a:ea typeface="Times New Roman"/>
                <a:cs typeface="Times New Roman"/>
                <a:sym typeface="Times New Roman"/>
              </a:rPr>
              <a:t>Show me the latest design</a:t>
            </a:r>
            <a:endParaRPr sz="1800">
              <a:solidFill>
                <a:schemeClr val="dk1"/>
              </a:solidFill>
              <a:latin typeface="Times New Roman"/>
              <a:ea typeface="Times New Roman"/>
              <a:cs typeface="Times New Roman"/>
              <a:sym typeface="Times New Roman"/>
            </a:endParaRP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showMasterSp="0">
  <p:cSld>
    <p:spTree>
      <p:nvGrpSpPr>
        <p:cNvPr id="1" name="Shape 826"/>
        <p:cNvGrpSpPr/>
        <p:nvPr/>
      </p:nvGrpSpPr>
      <p:grpSpPr>
        <a:xfrm>
          <a:off x="0" y="0"/>
          <a:ext cx="0" cy="0"/>
          <a:chOff x="0" y="0"/>
          <a:chExt cx="0" cy="0"/>
        </a:xfrm>
      </p:grpSpPr>
      <p:sp>
        <p:nvSpPr>
          <p:cNvPr id="827" name="Google Shape;827;p77"/>
          <p:cNvSpPr txBox="1">
            <a:spLocks noGrp="1"/>
          </p:cNvSpPr>
          <p:nvPr>
            <p:ph type="title"/>
          </p:nvPr>
        </p:nvSpPr>
        <p:spPr>
          <a:xfrm>
            <a:off x="911225" y="639172"/>
            <a:ext cx="6499225" cy="69596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4400">
                <a:latin typeface="Times New Roman"/>
                <a:ea typeface="Times New Roman"/>
                <a:cs typeface="Times New Roman"/>
                <a:sym typeface="Times New Roman"/>
              </a:rPr>
              <a:t>Sentence Level construction:</a:t>
            </a:r>
            <a:endParaRPr sz="4400">
              <a:latin typeface="Times New Roman"/>
              <a:ea typeface="Times New Roman"/>
              <a:cs typeface="Times New Roman"/>
              <a:sym typeface="Times New Roman"/>
            </a:endParaRPr>
          </a:p>
        </p:txBody>
      </p:sp>
      <p:sp>
        <p:nvSpPr>
          <p:cNvPr id="828" name="Google Shape;828;p77"/>
          <p:cNvSpPr txBox="1"/>
          <p:nvPr/>
        </p:nvSpPr>
        <p:spPr>
          <a:xfrm>
            <a:off x="923925" y="1575955"/>
            <a:ext cx="774700" cy="247015"/>
          </a:xfrm>
          <a:prstGeom prst="rect">
            <a:avLst/>
          </a:prstGeom>
          <a:solidFill>
            <a:srgbClr val="FFFF00"/>
          </a:solidFill>
          <a:ln>
            <a:noFill/>
          </a:ln>
        </p:spPr>
        <p:txBody>
          <a:bodyPr spcFirstLastPara="1" wrap="square" lIns="0" tIns="0" rIns="0" bIns="0" anchor="t" anchorCtr="0">
            <a:spAutoFit/>
          </a:bodyPr>
          <a:lstStyle/>
          <a:p>
            <a:pPr marL="0" marR="0" lvl="0" indent="0" algn="l" rtl="0">
              <a:lnSpc>
                <a:spcPct val="106333"/>
              </a:lnSpc>
              <a:spcBef>
                <a:spcPts val="0"/>
              </a:spcBef>
              <a:spcAft>
                <a:spcPts val="0"/>
              </a:spcAft>
              <a:buNone/>
            </a:pPr>
            <a:r>
              <a:rPr lang="en-US" sz="1800">
                <a:solidFill>
                  <a:schemeClr val="dk1"/>
                </a:solidFill>
                <a:latin typeface="Times New Roman"/>
                <a:ea typeface="Times New Roman"/>
                <a:cs typeface="Times New Roman"/>
                <a:sym typeface="Times New Roman"/>
              </a:rPr>
              <a:t>Yes-No:</a:t>
            </a:r>
            <a:endParaRPr sz="1800">
              <a:solidFill>
                <a:schemeClr val="dk1"/>
              </a:solidFill>
              <a:latin typeface="Times New Roman"/>
              <a:ea typeface="Times New Roman"/>
              <a:cs typeface="Times New Roman"/>
              <a:sym typeface="Times New Roman"/>
            </a:endParaRPr>
          </a:p>
        </p:txBody>
      </p:sp>
      <p:sp>
        <p:nvSpPr>
          <p:cNvPr id="829" name="Google Shape;829;p77"/>
          <p:cNvSpPr txBox="1"/>
          <p:nvPr/>
        </p:nvSpPr>
        <p:spPr>
          <a:xfrm>
            <a:off x="911225" y="1809660"/>
            <a:ext cx="9031605" cy="2254250"/>
          </a:xfrm>
          <a:prstGeom prst="rect">
            <a:avLst/>
          </a:prstGeom>
          <a:noFill/>
          <a:ln>
            <a:noFill/>
          </a:ln>
        </p:spPr>
        <p:txBody>
          <a:bodyPr spcFirstLastPara="1" wrap="square" lIns="0" tIns="12700" rIns="0" bIns="0" anchor="t" anchorCtr="0">
            <a:spAutoFit/>
          </a:bodyPr>
          <a:lstStyle/>
          <a:p>
            <a:pPr marL="12700" marR="5080" lvl="0" indent="0" algn="just" rtl="0">
              <a:lnSpc>
                <a:spcPct val="135400"/>
              </a:lnSpc>
              <a:spcBef>
                <a:spcPts val="0"/>
              </a:spcBef>
              <a:spcAft>
                <a:spcPts val="0"/>
              </a:spcAft>
              <a:buNone/>
            </a:pPr>
            <a:r>
              <a:rPr lang="en-US" sz="1800">
                <a:solidFill>
                  <a:schemeClr val="dk1"/>
                </a:solidFill>
                <a:latin typeface="Times New Roman"/>
                <a:ea typeface="Times New Roman"/>
                <a:cs typeface="Times New Roman"/>
                <a:sym typeface="Times New Roman"/>
              </a:rPr>
              <a:t>Sentences with the yes-no question structure are questions which can be answered using yes or no.  These sentences begin with an auxiliary verb, followed by a subject NP, followed by a VP.</a:t>
            </a:r>
            <a:endParaRPr sz="1800">
              <a:solidFill>
                <a:schemeClr val="dk1"/>
              </a:solidFill>
              <a:latin typeface="Times New Roman"/>
              <a:ea typeface="Times New Roman"/>
              <a:cs typeface="Times New Roman"/>
              <a:sym typeface="Times New Roman"/>
            </a:endParaRPr>
          </a:p>
          <a:p>
            <a:pPr marL="298450" marR="6430010" lvl="0" indent="-228600" algn="just" rtl="0">
              <a:lnSpc>
                <a:spcPct val="135400"/>
              </a:lnSpc>
              <a:spcBef>
                <a:spcPts val="0"/>
              </a:spcBef>
              <a:spcAft>
                <a:spcPts val="0"/>
              </a:spcAft>
              <a:buNone/>
            </a:pPr>
            <a:r>
              <a:rPr lang="en-US" sz="1800">
                <a:solidFill>
                  <a:schemeClr val="dk1"/>
                </a:solidFill>
                <a:latin typeface="Times New Roman"/>
                <a:ea typeface="Times New Roman"/>
                <a:cs typeface="Times New Roman"/>
                <a:sym typeface="Times New Roman"/>
              </a:rPr>
              <a:t>ex: Do you have a red pen?  Is there a vacant quarter?  Is the game over?</a:t>
            </a:r>
            <a:endParaRPr sz="1800">
              <a:solidFill>
                <a:schemeClr val="dk1"/>
              </a:solidFill>
              <a:latin typeface="Times New Roman"/>
              <a:ea typeface="Times New Roman"/>
              <a:cs typeface="Times New Roman"/>
              <a:sym typeface="Times New Roman"/>
            </a:endParaRPr>
          </a:p>
          <a:p>
            <a:pPr marL="298450" marR="0" lvl="0" indent="0" algn="just" rtl="0">
              <a:lnSpc>
                <a:spcPct val="100000"/>
              </a:lnSpc>
              <a:spcBef>
                <a:spcPts val="765"/>
              </a:spcBef>
              <a:spcAft>
                <a:spcPts val="0"/>
              </a:spcAft>
              <a:buNone/>
            </a:pPr>
            <a:r>
              <a:rPr lang="en-US" sz="1800">
                <a:solidFill>
                  <a:schemeClr val="dk1"/>
                </a:solidFill>
                <a:latin typeface="Times New Roman"/>
                <a:ea typeface="Times New Roman"/>
                <a:cs typeface="Times New Roman"/>
                <a:sym typeface="Times New Roman"/>
              </a:rPr>
              <a:t>Can you show me your album?</a:t>
            </a:r>
            <a:endParaRPr sz="1800">
              <a:solidFill>
                <a:schemeClr val="dk1"/>
              </a:solidFill>
              <a:latin typeface="Times New Roman"/>
              <a:ea typeface="Times New Roman"/>
              <a:cs typeface="Times New Roman"/>
              <a:sym typeface="Times New Roman"/>
            </a:endParaRPr>
          </a:p>
        </p:txBody>
      </p:sp>
      <p:sp>
        <p:nvSpPr>
          <p:cNvPr id="830" name="Google Shape;830;p77"/>
          <p:cNvSpPr txBox="1"/>
          <p:nvPr/>
        </p:nvSpPr>
        <p:spPr>
          <a:xfrm>
            <a:off x="1038225" y="4179454"/>
            <a:ext cx="1424940" cy="247015"/>
          </a:xfrm>
          <a:prstGeom prst="rect">
            <a:avLst/>
          </a:prstGeom>
          <a:solidFill>
            <a:srgbClr val="FFFF00"/>
          </a:solidFill>
          <a:ln>
            <a:noFill/>
          </a:ln>
        </p:spPr>
        <p:txBody>
          <a:bodyPr spcFirstLastPara="1" wrap="square" lIns="0" tIns="0" rIns="0" bIns="0" anchor="t" anchorCtr="0">
            <a:spAutoFit/>
          </a:bodyPr>
          <a:lstStyle/>
          <a:p>
            <a:pPr marL="0" marR="0" lvl="0" indent="0" algn="l" rtl="0">
              <a:lnSpc>
                <a:spcPct val="106333"/>
              </a:lnSpc>
              <a:spcBef>
                <a:spcPts val="0"/>
              </a:spcBef>
              <a:spcAft>
                <a:spcPts val="0"/>
              </a:spcAft>
              <a:buNone/>
            </a:pPr>
            <a:r>
              <a:rPr lang="en-US" sz="1800">
                <a:solidFill>
                  <a:schemeClr val="dk1"/>
                </a:solidFill>
                <a:latin typeface="Times New Roman"/>
                <a:ea typeface="Times New Roman"/>
                <a:cs typeface="Times New Roman"/>
                <a:sym typeface="Times New Roman"/>
              </a:rPr>
              <a:t>S-&gt;Aux NP VP</a:t>
            </a:r>
            <a:endParaRPr sz="1800">
              <a:solidFill>
                <a:schemeClr val="dk1"/>
              </a:solidFill>
              <a:latin typeface="Times New Roman"/>
              <a:ea typeface="Times New Roman"/>
              <a:cs typeface="Times New Roman"/>
              <a:sym typeface="Times New Roman"/>
            </a:endParaRP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showMasterSp="0">
  <p:cSld>
    <p:spTree>
      <p:nvGrpSpPr>
        <p:cNvPr id="1" name="Shape 834"/>
        <p:cNvGrpSpPr/>
        <p:nvPr/>
      </p:nvGrpSpPr>
      <p:grpSpPr>
        <a:xfrm>
          <a:off x="0" y="0"/>
          <a:ext cx="0" cy="0"/>
          <a:chOff x="0" y="0"/>
          <a:chExt cx="0" cy="0"/>
        </a:xfrm>
      </p:grpSpPr>
      <p:sp>
        <p:nvSpPr>
          <p:cNvPr id="835" name="Google Shape;835;p78"/>
          <p:cNvSpPr txBox="1">
            <a:spLocks noGrp="1"/>
          </p:cNvSpPr>
          <p:nvPr>
            <p:ph type="title"/>
          </p:nvPr>
        </p:nvSpPr>
        <p:spPr>
          <a:xfrm>
            <a:off x="911225" y="639172"/>
            <a:ext cx="6499225" cy="69596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4400">
                <a:latin typeface="Times New Roman"/>
                <a:ea typeface="Times New Roman"/>
                <a:cs typeface="Times New Roman"/>
                <a:sym typeface="Times New Roman"/>
              </a:rPr>
              <a:t>Sentence Level construction:</a:t>
            </a:r>
            <a:endParaRPr sz="4400">
              <a:latin typeface="Times New Roman"/>
              <a:ea typeface="Times New Roman"/>
              <a:cs typeface="Times New Roman"/>
              <a:sym typeface="Times New Roman"/>
            </a:endParaRPr>
          </a:p>
        </p:txBody>
      </p:sp>
      <p:sp>
        <p:nvSpPr>
          <p:cNvPr id="836" name="Google Shape;836;p78"/>
          <p:cNvSpPr txBox="1"/>
          <p:nvPr/>
        </p:nvSpPr>
        <p:spPr>
          <a:xfrm>
            <a:off x="923925" y="1863725"/>
            <a:ext cx="1231900" cy="247015"/>
          </a:xfrm>
          <a:prstGeom prst="rect">
            <a:avLst/>
          </a:prstGeom>
          <a:solidFill>
            <a:srgbClr val="FFFF00"/>
          </a:solidFill>
          <a:ln>
            <a:noFill/>
          </a:ln>
        </p:spPr>
        <p:txBody>
          <a:bodyPr spcFirstLastPara="1" wrap="square" lIns="0" tIns="0" rIns="0" bIns="0" anchor="t" anchorCtr="0">
            <a:spAutoFit/>
          </a:bodyPr>
          <a:lstStyle/>
          <a:p>
            <a:pPr marL="0" marR="0" lvl="0" indent="0" algn="l" rtl="0">
              <a:lnSpc>
                <a:spcPct val="106333"/>
              </a:lnSpc>
              <a:spcBef>
                <a:spcPts val="0"/>
              </a:spcBef>
              <a:spcAft>
                <a:spcPts val="0"/>
              </a:spcAft>
              <a:buNone/>
            </a:pPr>
            <a:r>
              <a:rPr lang="en-US" sz="1800">
                <a:solidFill>
                  <a:schemeClr val="dk1"/>
                </a:solidFill>
                <a:latin typeface="Times New Roman"/>
                <a:ea typeface="Times New Roman"/>
                <a:cs typeface="Times New Roman"/>
                <a:sym typeface="Times New Roman"/>
              </a:rPr>
              <a:t>Wh-Question</a:t>
            </a:r>
            <a:endParaRPr sz="1800">
              <a:solidFill>
                <a:schemeClr val="dk1"/>
              </a:solidFill>
              <a:latin typeface="Times New Roman"/>
              <a:ea typeface="Times New Roman"/>
              <a:cs typeface="Times New Roman"/>
              <a:sym typeface="Times New Roman"/>
            </a:endParaRPr>
          </a:p>
        </p:txBody>
      </p:sp>
      <p:sp>
        <p:nvSpPr>
          <p:cNvPr id="837" name="Google Shape;837;p78"/>
          <p:cNvSpPr txBox="1"/>
          <p:nvPr/>
        </p:nvSpPr>
        <p:spPr>
          <a:xfrm>
            <a:off x="911225" y="2097430"/>
            <a:ext cx="7612380" cy="1511300"/>
          </a:xfrm>
          <a:prstGeom prst="rect">
            <a:avLst/>
          </a:prstGeom>
          <a:noFill/>
          <a:ln>
            <a:noFill/>
          </a:ln>
        </p:spPr>
        <p:txBody>
          <a:bodyPr spcFirstLastPara="1" wrap="square" lIns="0" tIns="109850" rIns="0" bIns="0" anchor="t" anchorCtr="0">
            <a:spAutoFit/>
          </a:bodyPr>
          <a:lstStyle/>
          <a:p>
            <a:pPr marL="12700" marR="0" lvl="0" indent="0" algn="l" rtl="0">
              <a:lnSpc>
                <a:spcPct val="100000"/>
              </a:lnSpc>
              <a:spcBef>
                <a:spcPts val="0"/>
              </a:spcBef>
              <a:spcAft>
                <a:spcPts val="0"/>
              </a:spcAft>
              <a:buNone/>
            </a:pPr>
            <a:r>
              <a:rPr lang="en-US" sz="1800">
                <a:solidFill>
                  <a:schemeClr val="dk1"/>
                </a:solidFill>
                <a:latin typeface="Times New Roman"/>
                <a:ea typeface="Times New Roman"/>
                <a:cs typeface="Times New Roman"/>
                <a:sym typeface="Times New Roman"/>
              </a:rPr>
              <a:t>Sentences with wh-question structure are more complex.</a:t>
            </a:r>
            <a:endParaRPr sz="1800">
              <a:solidFill>
                <a:schemeClr val="dk1"/>
              </a:solidFill>
              <a:latin typeface="Times New Roman"/>
              <a:ea typeface="Times New Roman"/>
              <a:cs typeface="Times New Roman"/>
              <a:sym typeface="Times New Roman"/>
            </a:endParaRPr>
          </a:p>
          <a:p>
            <a:pPr marL="69850" marR="5080" lvl="0" indent="-57150" algn="l" rtl="0">
              <a:lnSpc>
                <a:spcPct val="135400"/>
              </a:lnSpc>
              <a:spcBef>
                <a:spcPts val="0"/>
              </a:spcBef>
              <a:spcAft>
                <a:spcPts val="0"/>
              </a:spcAft>
              <a:buNone/>
            </a:pPr>
            <a:r>
              <a:rPr lang="en-US" sz="1800">
                <a:solidFill>
                  <a:schemeClr val="dk1"/>
                </a:solidFill>
                <a:latin typeface="Times New Roman"/>
                <a:ea typeface="Times New Roman"/>
                <a:cs typeface="Times New Roman"/>
                <a:sym typeface="Times New Roman"/>
              </a:rPr>
              <a:t>These sentence begin with a wh-words ,who , which , where , what , why and how.  It have a wh-phrase, as a subject or may include another subject.</a:t>
            </a:r>
            <a:endParaRPr sz="1800">
              <a:solidFill>
                <a:schemeClr val="dk1"/>
              </a:solidFill>
              <a:latin typeface="Times New Roman"/>
              <a:ea typeface="Times New Roman"/>
              <a:cs typeface="Times New Roman"/>
              <a:sym typeface="Times New Roman"/>
            </a:endParaRPr>
          </a:p>
          <a:p>
            <a:pPr marL="184150" marR="0" lvl="0" indent="0" algn="l" rtl="0">
              <a:lnSpc>
                <a:spcPct val="100000"/>
              </a:lnSpc>
              <a:spcBef>
                <a:spcPts val="765"/>
              </a:spcBef>
              <a:spcAft>
                <a:spcPts val="0"/>
              </a:spcAft>
              <a:buNone/>
            </a:pPr>
            <a:r>
              <a:rPr lang="en-US" sz="1800">
                <a:solidFill>
                  <a:schemeClr val="dk1"/>
                </a:solidFill>
                <a:latin typeface="Times New Roman"/>
                <a:ea typeface="Times New Roman"/>
                <a:cs typeface="Times New Roman"/>
                <a:sym typeface="Times New Roman"/>
              </a:rPr>
              <a:t>Which team won the match?</a:t>
            </a:r>
            <a:endParaRPr sz="1800">
              <a:solidFill>
                <a:schemeClr val="dk1"/>
              </a:solidFill>
              <a:latin typeface="Times New Roman"/>
              <a:ea typeface="Times New Roman"/>
              <a:cs typeface="Times New Roman"/>
              <a:sym typeface="Times New Roman"/>
            </a:endParaRPr>
          </a:p>
        </p:txBody>
      </p:sp>
      <p:sp>
        <p:nvSpPr>
          <p:cNvPr id="838" name="Google Shape;838;p78"/>
          <p:cNvSpPr txBox="1"/>
          <p:nvPr/>
        </p:nvSpPr>
        <p:spPr>
          <a:xfrm>
            <a:off x="923925" y="3724275"/>
            <a:ext cx="1666239" cy="247015"/>
          </a:xfrm>
          <a:prstGeom prst="rect">
            <a:avLst/>
          </a:prstGeom>
          <a:solidFill>
            <a:srgbClr val="FFFF00"/>
          </a:solidFill>
          <a:ln>
            <a:noFill/>
          </a:ln>
        </p:spPr>
        <p:txBody>
          <a:bodyPr spcFirstLastPara="1" wrap="square" lIns="0" tIns="0" rIns="0" bIns="0" anchor="t" anchorCtr="0">
            <a:spAutoFit/>
          </a:bodyPr>
          <a:lstStyle/>
          <a:p>
            <a:pPr marL="285750" marR="0" lvl="0" indent="0" algn="l" rtl="0">
              <a:lnSpc>
                <a:spcPct val="106333"/>
              </a:lnSpc>
              <a:spcBef>
                <a:spcPts val="0"/>
              </a:spcBef>
              <a:spcAft>
                <a:spcPts val="0"/>
              </a:spcAft>
              <a:buNone/>
            </a:pPr>
            <a:r>
              <a:rPr lang="en-US" sz="1800">
                <a:solidFill>
                  <a:schemeClr val="dk1"/>
                </a:solidFill>
                <a:latin typeface="Times New Roman"/>
                <a:ea typeface="Times New Roman"/>
                <a:cs typeface="Times New Roman"/>
                <a:sym typeface="Times New Roman"/>
              </a:rPr>
              <a:t>S-&gt;Wh-NP VP</a:t>
            </a:r>
            <a:endParaRPr sz="1800">
              <a:solidFill>
                <a:schemeClr val="dk1"/>
              </a:solidFill>
              <a:latin typeface="Times New Roman"/>
              <a:ea typeface="Times New Roman"/>
              <a:cs typeface="Times New Roman"/>
              <a:sym typeface="Times New Roman"/>
            </a:endParaRPr>
          </a:p>
        </p:txBody>
      </p:sp>
      <p:sp>
        <p:nvSpPr>
          <p:cNvPr id="839" name="Google Shape;839;p78"/>
          <p:cNvSpPr txBox="1"/>
          <p:nvPr/>
        </p:nvSpPr>
        <p:spPr>
          <a:xfrm>
            <a:off x="911225" y="4051960"/>
            <a:ext cx="8268334" cy="1042669"/>
          </a:xfrm>
          <a:prstGeom prst="rect">
            <a:avLst/>
          </a:prstGeom>
          <a:noFill/>
          <a:ln>
            <a:noFill/>
          </a:ln>
        </p:spPr>
        <p:txBody>
          <a:bodyPr spcFirstLastPara="1" wrap="square" lIns="0" tIns="12700" rIns="0" bIns="0" anchor="t" anchorCtr="0">
            <a:spAutoFit/>
          </a:bodyPr>
          <a:lstStyle/>
          <a:p>
            <a:pPr marL="127000" marR="0" lvl="0" indent="0" algn="l" rtl="0">
              <a:lnSpc>
                <a:spcPct val="100000"/>
              </a:lnSpc>
              <a:spcBef>
                <a:spcPts val="0"/>
              </a:spcBef>
              <a:spcAft>
                <a:spcPts val="0"/>
              </a:spcAft>
              <a:buNone/>
            </a:pPr>
            <a:r>
              <a:rPr lang="en-US" sz="1800">
                <a:solidFill>
                  <a:schemeClr val="dk1"/>
                </a:solidFill>
                <a:latin typeface="Times New Roman"/>
                <a:ea typeface="Times New Roman"/>
                <a:cs typeface="Times New Roman"/>
                <a:sym typeface="Times New Roman"/>
              </a:rPr>
              <a:t>Another type involves more than one NP the auxiliary verb comes before the subject NP</a:t>
            </a:r>
            <a:endParaRPr sz="1800">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None/>
            </a:pPr>
            <a:endParaRPr sz="2000">
              <a:solidFill>
                <a:schemeClr val="dk1"/>
              </a:solidFill>
              <a:latin typeface="Times New Roman"/>
              <a:ea typeface="Times New Roman"/>
              <a:cs typeface="Times New Roman"/>
              <a:sym typeface="Times New Roman"/>
            </a:endParaRPr>
          </a:p>
          <a:p>
            <a:pPr marL="12700" marR="0" lvl="0" indent="0" algn="l" rtl="0">
              <a:lnSpc>
                <a:spcPct val="100000"/>
              </a:lnSpc>
              <a:spcBef>
                <a:spcPts val="1390"/>
              </a:spcBef>
              <a:spcAft>
                <a:spcPts val="0"/>
              </a:spcAft>
              <a:buNone/>
            </a:pPr>
            <a:r>
              <a:rPr lang="en-US" sz="1800">
                <a:solidFill>
                  <a:schemeClr val="dk1"/>
                </a:solidFill>
                <a:latin typeface="Times New Roman"/>
                <a:ea typeface="Times New Roman"/>
                <a:cs typeface="Times New Roman"/>
                <a:sym typeface="Times New Roman"/>
              </a:rPr>
              <a:t>Which cameras can you show me in your shop?</a:t>
            </a:r>
            <a:endParaRPr sz="1800">
              <a:solidFill>
                <a:schemeClr val="dk1"/>
              </a:solidFill>
              <a:latin typeface="Times New Roman"/>
              <a:ea typeface="Times New Roman"/>
              <a:cs typeface="Times New Roman"/>
              <a:sym typeface="Times New Roman"/>
            </a:endParaRPr>
          </a:p>
        </p:txBody>
      </p:sp>
      <p:sp>
        <p:nvSpPr>
          <p:cNvPr id="840" name="Google Shape;840;p78"/>
          <p:cNvSpPr txBox="1"/>
          <p:nvPr/>
        </p:nvSpPr>
        <p:spPr>
          <a:xfrm>
            <a:off x="1323975" y="5210174"/>
            <a:ext cx="2231390" cy="247015"/>
          </a:xfrm>
          <a:prstGeom prst="rect">
            <a:avLst/>
          </a:prstGeom>
          <a:solidFill>
            <a:srgbClr val="FFFF00"/>
          </a:solidFill>
          <a:ln>
            <a:noFill/>
          </a:ln>
        </p:spPr>
        <p:txBody>
          <a:bodyPr spcFirstLastPara="1" wrap="square" lIns="0" tIns="0" rIns="0" bIns="0" anchor="t" anchorCtr="0">
            <a:spAutoFit/>
          </a:bodyPr>
          <a:lstStyle/>
          <a:p>
            <a:pPr marL="0" marR="0" lvl="0" indent="0" algn="l" rtl="0">
              <a:lnSpc>
                <a:spcPct val="106333"/>
              </a:lnSpc>
              <a:spcBef>
                <a:spcPts val="0"/>
              </a:spcBef>
              <a:spcAft>
                <a:spcPts val="0"/>
              </a:spcAft>
              <a:buNone/>
            </a:pPr>
            <a:r>
              <a:rPr lang="en-US" sz="1800">
                <a:solidFill>
                  <a:schemeClr val="dk1"/>
                </a:solidFill>
                <a:latin typeface="Times New Roman"/>
                <a:ea typeface="Times New Roman"/>
                <a:cs typeface="Times New Roman"/>
                <a:sym typeface="Times New Roman"/>
              </a:rPr>
              <a:t>S-&gt;WH-NP Aux NP VP</a:t>
            </a:r>
            <a:endParaRPr sz="1800">
              <a:solidFill>
                <a:schemeClr val="dk1"/>
              </a:solidFill>
              <a:latin typeface="Times New Roman"/>
              <a:ea typeface="Times New Roman"/>
              <a:cs typeface="Times New Roman"/>
              <a:sym typeface="Times New Roman"/>
            </a:endParaRP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showMasterSp="0">
  <p:cSld>
    <p:spTree>
      <p:nvGrpSpPr>
        <p:cNvPr id="1" name="Shape 844"/>
        <p:cNvGrpSpPr/>
        <p:nvPr/>
      </p:nvGrpSpPr>
      <p:grpSpPr>
        <a:xfrm>
          <a:off x="0" y="0"/>
          <a:ext cx="0" cy="0"/>
          <a:chOff x="0" y="0"/>
          <a:chExt cx="0" cy="0"/>
        </a:xfrm>
      </p:grpSpPr>
      <p:sp>
        <p:nvSpPr>
          <p:cNvPr id="845" name="Google Shape;845;p79"/>
          <p:cNvSpPr txBox="1">
            <a:spLocks noGrp="1"/>
          </p:cNvSpPr>
          <p:nvPr>
            <p:ph type="title"/>
          </p:nvPr>
        </p:nvSpPr>
        <p:spPr>
          <a:xfrm>
            <a:off x="911225" y="639172"/>
            <a:ext cx="2993390" cy="69596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4400"/>
              <a:t>Coordination</a:t>
            </a:r>
            <a:endParaRPr sz="4400"/>
          </a:p>
        </p:txBody>
      </p:sp>
      <p:sp>
        <p:nvSpPr>
          <p:cNvPr id="846" name="Google Shape;846;p79"/>
          <p:cNvSpPr txBox="1"/>
          <p:nvPr/>
        </p:nvSpPr>
        <p:spPr>
          <a:xfrm>
            <a:off x="911225" y="1445583"/>
            <a:ext cx="6396355" cy="33020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2000">
                <a:solidFill>
                  <a:schemeClr val="dk1"/>
                </a:solidFill>
                <a:latin typeface="Times New Roman"/>
                <a:ea typeface="Times New Roman"/>
                <a:cs typeface="Times New Roman"/>
                <a:sym typeface="Times New Roman"/>
              </a:rPr>
              <a:t>Conjoining phrases with conjunctions like ‘and’,’or’ and ‘but’.</a:t>
            </a:r>
            <a:endParaRPr sz="2000">
              <a:solidFill>
                <a:schemeClr val="dk1"/>
              </a:solidFill>
              <a:latin typeface="Times New Roman"/>
              <a:ea typeface="Times New Roman"/>
              <a:cs typeface="Times New Roman"/>
              <a:sym typeface="Times New Roman"/>
            </a:endParaRPr>
          </a:p>
        </p:txBody>
      </p:sp>
      <p:sp>
        <p:nvSpPr>
          <p:cNvPr id="847" name="Google Shape;847;p79"/>
          <p:cNvSpPr txBox="1"/>
          <p:nvPr/>
        </p:nvSpPr>
        <p:spPr>
          <a:xfrm>
            <a:off x="2115572" y="1896052"/>
            <a:ext cx="1297940" cy="274320"/>
          </a:xfrm>
          <a:prstGeom prst="rect">
            <a:avLst/>
          </a:prstGeom>
          <a:solidFill>
            <a:srgbClr val="FFFF00"/>
          </a:solidFill>
          <a:ln>
            <a:noFill/>
          </a:ln>
        </p:spPr>
        <p:txBody>
          <a:bodyPr spcFirstLastPara="1" wrap="square" lIns="0" tIns="0" rIns="0" bIns="0" anchor="t" anchorCtr="0">
            <a:spAutoFit/>
          </a:bodyPr>
          <a:lstStyle/>
          <a:p>
            <a:pPr marL="0" marR="0" lvl="0" indent="0" algn="l" rtl="0">
              <a:lnSpc>
                <a:spcPct val="106500"/>
              </a:lnSpc>
              <a:spcBef>
                <a:spcPts val="0"/>
              </a:spcBef>
              <a:spcAft>
                <a:spcPts val="0"/>
              </a:spcAft>
              <a:buNone/>
            </a:pPr>
            <a:r>
              <a:rPr lang="en-US" sz="2000">
                <a:solidFill>
                  <a:schemeClr val="dk1"/>
                </a:solidFill>
                <a:latin typeface="Times New Roman"/>
                <a:ea typeface="Times New Roman"/>
                <a:cs typeface="Times New Roman"/>
                <a:sym typeface="Times New Roman"/>
              </a:rPr>
              <a:t>noun phrase</a:t>
            </a:r>
            <a:endParaRPr sz="2000">
              <a:solidFill>
                <a:schemeClr val="dk1"/>
              </a:solidFill>
              <a:latin typeface="Times New Roman"/>
              <a:ea typeface="Times New Roman"/>
              <a:cs typeface="Times New Roman"/>
              <a:sym typeface="Times New Roman"/>
            </a:endParaRPr>
          </a:p>
        </p:txBody>
      </p:sp>
      <p:sp>
        <p:nvSpPr>
          <p:cNvPr id="848" name="Google Shape;848;p79"/>
          <p:cNvSpPr txBox="1"/>
          <p:nvPr/>
        </p:nvSpPr>
        <p:spPr>
          <a:xfrm>
            <a:off x="911225" y="1848808"/>
            <a:ext cx="9700895" cy="33020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2000">
                <a:solidFill>
                  <a:schemeClr val="dk1"/>
                </a:solidFill>
                <a:latin typeface="Times New Roman"/>
                <a:ea typeface="Times New Roman"/>
                <a:cs typeface="Times New Roman"/>
                <a:sym typeface="Times New Roman"/>
              </a:rPr>
              <a:t>Coordinate	can consist of two other noun phrases separated by a conjunction ‘and’</a:t>
            </a:r>
            <a:endParaRPr sz="2000">
              <a:solidFill>
                <a:schemeClr val="dk1"/>
              </a:solidFill>
              <a:latin typeface="Times New Roman"/>
              <a:ea typeface="Times New Roman"/>
              <a:cs typeface="Times New Roman"/>
              <a:sym typeface="Times New Roman"/>
            </a:endParaRPr>
          </a:p>
        </p:txBody>
      </p:sp>
      <p:sp>
        <p:nvSpPr>
          <p:cNvPr id="849" name="Google Shape;849;p79"/>
          <p:cNvSpPr txBox="1"/>
          <p:nvPr/>
        </p:nvSpPr>
        <p:spPr>
          <a:xfrm>
            <a:off x="911225" y="2153608"/>
            <a:ext cx="8578215" cy="2025650"/>
          </a:xfrm>
          <a:prstGeom prst="rect">
            <a:avLst/>
          </a:prstGeom>
          <a:noFill/>
          <a:ln>
            <a:noFill/>
          </a:ln>
        </p:spPr>
        <p:txBody>
          <a:bodyPr spcFirstLastPara="1" wrap="square" lIns="0" tIns="12050" rIns="0" bIns="0" anchor="t" anchorCtr="0">
            <a:spAutoFit/>
          </a:bodyPr>
          <a:lstStyle/>
          <a:p>
            <a:pPr marL="12700" marR="1278890" lvl="0" indent="3056890" algn="l" rtl="0">
              <a:lnSpc>
                <a:spcPct val="131300"/>
              </a:lnSpc>
              <a:spcBef>
                <a:spcPts val="0"/>
              </a:spcBef>
              <a:spcAft>
                <a:spcPts val="0"/>
              </a:spcAft>
              <a:buNone/>
            </a:pPr>
            <a:r>
              <a:rPr lang="en-US" sz="2000">
                <a:solidFill>
                  <a:schemeClr val="dk1"/>
                </a:solidFill>
                <a:latin typeface="Times New Roman"/>
                <a:ea typeface="Times New Roman"/>
                <a:cs typeface="Times New Roman"/>
                <a:sym typeface="Times New Roman"/>
              </a:rPr>
              <a:t>I ate[NP[NP an apple] and[NP a banana]]  Similarly, verb phrase and prepositional phrases can be conjoined</a:t>
            </a:r>
            <a:endParaRPr sz="2000">
              <a:solidFill>
                <a:schemeClr val="dk1"/>
              </a:solidFill>
              <a:latin typeface="Times New Roman"/>
              <a:ea typeface="Times New Roman"/>
              <a:cs typeface="Times New Roman"/>
              <a:sym typeface="Times New Roman"/>
            </a:endParaRPr>
          </a:p>
          <a:p>
            <a:pPr marL="3213735" marR="0" lvl="0" indent="0" algn="l" rtl="0">
              <a:lnSpc>
                <a:spcPct val="100000"/>
              </a:lnSpc>
              <a:spcBef>
                <a:spcPts val="750"/>
              </a:spcBef>
              <a:spcAft>
                <a:spcPts val="0"/>
              </a:spcAft>
              <a:buNone/>
            </a:pPr>
            <a:r>
              <a:rPr lang="en-US" sz="2000">
                <a:solidFill>
                  <a:schemeClr val="dk1"/>
                </a:solidFill>
                <a:latin typeface="Times New Roman"/>
                <a:ea typeface="Times New Roman"/>
                <a:cs typeface="Times New Roman"/>
                <a:sym typeface="Times New Roman"/>
              </a:rPr>
              <a:t>It is[VP[VP dazzling]and[VP raining]]</a:t>
            </a:r>
            <a:endParaRPr sz="2000">
              <a:solidFill>
                <a:schemeClr val="dk1"/>
              </a:solidFill>
              <a:latin typeface="Times New Roman"/>
              <a:ea typeface="Times New Roman"/>
              <a:cs typeface="Times New Roman"/>
              <a:sym typeface="Times New Roman"/>
            </a:endParaRPr>
          </a:p>
          <a:p>
            <a:pPr marL="12700" marR="0" lvl="0" indent="0" algn="l" rtl="0">
              <a:lnSpc>
                <a:spcPct val="100000"/>
              </a:lnSpc>
              <a:spcBef>
                <a:spcPts val="750"/>
              </a:spcBef>
              <a:spcAft>
                <a:spcPts val="0"/>
              </a:spcAft>
              <a:buNone/>
            </a:pPr>
            <a:r>
              <a:rPr lang="en-US" sz="2000">
                <a:solidFill>
                  <a:schemeClr val="dk1"/>
                </a:solidFill>
                <a:latin typeface="Times New Roman"/>
                <a:ea typeface="Times New Roman"/>
                <a:cs typeface="Times New Roman"/>
                <a:sym typeface="Times New Roman"/>
              </a:rPr>
              <a:t>Sentence can be conjoined</a:t>
            </a:r>
            <a:endParaRPr sz="2000">
              <a:solidFill>
                <a:schemeClr val="dk1"/>
              </a:solidFill>
              <a:latin typeface="Times New Roman"/>
              <a:ea typeface="Times New Roman"/>
              <a:cs typeface="Times New Roman"/>
              <a:sym typeface="Times New Roman"/>
            </a:endParaRPr>
          </a:p>
          <a:p>
            <a:pPr marL="1796414" marR="0" lvl="0" indent="0" algn="l" rtl="0">
              <a:lnSpc>
                <a:spcPct val="100000"/>
              </a:lnSpc>
              <a:spcBef>
                <a:spcPts val="750"/>
              </a:spcBef>
              <a:spcAft>
                <a:spcPts val="0"/>
              </a:spcAft>
              <a:buNone/>
            </a:pPr>
            <a:r>
              <a:rPr lang="en-US" sz="2000">
                <a:solidFill>
                  <a:schemeClr val="dk1"/>
                </a:solidFill>
                <a:latin typeface="Times New Roman"/>
                <a:ea typeface="Times New Roman"/>
                <a:cs typeface="Times New Roman"/>
                <a:sym typeface="Times New Roman"/>
              </a:rPr>
              <a:t>[S[S I am reading the book] and[ S I am also watching the movie]]</a:t>
            </a:r>
            <a:endParaRPr sz="2000">
              <a:solidFill>
                <a:schemeClr val="dk1"/>
              </a:solidFill>
              <a:latin typeface="Times New Roman"/>
              <a:ea typeface="Times New Roman"/>
              <a:cs typeface="Times New Roman"/>
              <a:sym typeface="Times New Roman"/>
            </a:endParaRP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showMasterSp="0">
  <p:cSld>
    <p:spTree>
      <p:nvGrpSpPr>
        <p:cNvPr id="1" name="Shape 853"/>
        <p:cNvGrpSpPr/>
        <p:nvPr/>
      </p:nvGrpSpPr>
      <p:grpSpPr>
        <a:xfrm>
          <a:off x="0" y="0"/>
          <a:ext cx="0" cy="0"/>
          <a:chOff x="0" y="0"/>
          <a:chExt cx="0" cy="0"/>
        </a:xfrm>
      </p:grpSpPr>
      <p:sp>
        <p:nvSpPr>
          <p:cNvPr id="854" name="Google Shape;854;p80"/>
          <p:cNvSpPr txBox="1">
            <a:spLocks noGrp="1"/>
          </p:cNvSpPr>
          <p:nvPr>
            <p:ph type="title"/>
          </p:nvPr>
        </p:nvSpPr>
        <p:spPr>
          <a:xfrm>
            <a:off x="911225" y="639172"/>
            <a:ext cx="2564765" cy="69596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4400"/>
              <a:t>Agreement</a:t>
            </a:r>
            <a:endParaRPr sz="4400"/>
          </a:p>
        </p:txBody>
      </p:sp>
      <p:sp>
        <p:nvSpPr>
          <p:cNvPr id="855" name="Google Shape;855;p80"/>
          <p:cNvSpPr txBox="1"/>
          <p:nvPr/>
        </p:nvSpPr>
        <p:spPr>
          <a:xfrm>
            <a:off x="911225" y="1816480"/>
            <a:ext cx="10173335" cy="2209800"/>
          </a:xfrm>
          <a:prstGeom prst="rect">
            <a:avLst/>
          </a:prstGeom>
          <a:noFill/>
          <a:ln>
            <a:noFill/>
          </a:ln>
        </p:spPr>
        <p:txBody>
          <a:bodyPr spcFirstLastPara="1" wrap="square" lIns="0" tIns="45075" rIns="0" bIns="0" anchor="t" anchorCtr="0">
            <a:spAutoFit/>
          </a:bodyPr>
          <a:lstStyle/>
          <a:p>
            <a:pPr marL="12700" marR="5080" lvl="0" indent="0" algn="l" rtl="0">
              <a:lnSpc>
                <a:spcPct val="109000"/>
              </a:lnSpc>
              <a:spcBef>
                <a:spcPts val="0"/>
              </a:spcBef>
              <a:spcAft>
                <a:spcPts val="0"/>
              </a:spcAft>
              <a:buNone/>
            </a:pPr>
            <a:r>
              <a:rPr lang="en-US" sz="2000">
                <a:solidFill>
                  <a:schemeClr val="dk1"/>
                </a:solidFill>
                <a:latin typeface="Times New Roman"/>
                <a:ea typeface="Times New Roman"/>
                <a:cs typeface="Times New Roman"/>
                <a:sym typeface="Times New Roman"/>
              </a:rPr>
              <a:t>Verbs use two different forms in present tense – one for third person singular subjects, and other for  all kinds of subjects.</a:t>
            </a:r>
            <a:endParaRPr sz="2000">
              <a:solidFill>
                <a:schemeClr val="dk1"/>
              </a:solidFill>
              <a:latin typeface="Times New Roman"/>
              <a:ea typeface="Times New Roman"/>
              <a:cs typeface="Times New Roman"/>
              <a:sym typeface="Times New Roman"/>
            </a:endParaRPr>
          </a:p>
          <a:p>
            <a:pPr marL="12700" marR="0" lvl="0" indent="0" algn="l" rtl="0">
              <a:lnSpc>
                <a:spcPct val="100000"/>
              </a:lnSpc>
              <a:spcBef>
                <a:spcPts val="735"/>
              </a:spcBef>
              <a:spcAft>
                <a:spcPts val="0"/>
              </a:spcAft>
              <a:buNone/>
            </a:pPr>
            <a:r>
              <a:rPr lang="en-US" sz="2000">
                <a:solidFill>
                  <a:schemeClr val="dk1"/>
                </a:solidFill>
                <a:latin typeface="Times New Roman"/>
                <a:ea typeface="Times New Roman"/>
                <a:cs typeface="Times New Roman"/>
                <a:sym typeface="Times New Roman"/>
              </a:rPr>
              <a:t>Third person singular form ends with a –s whereas the non-3sg does not.</a:t>
            </a:r>
            <a:endParaRPr sz="2000">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None/>
            </a:pPr>
            <a:endParaRPr sz="2200">
              <a:solidFill>
                <a:schemeClr val="dk1"/>
              </a:solidFill>
              <a:latin typeface="Times New Roman"/>
              <a:ea typeface="Times New Roman"/>
              <a:cs typeface="Times New Roman"/>
              <a:sym typeface="Times New Roman"/>
            </a:endParaRPr>
          </a:p>
          <a:p>
            <a:pPr marL="12700" marR="7938769" lvl="0" indent="0" algn="l" rtl="0">
              <a:lnSpc>
                <a:spcPct val="100000"/>
              </a:lnSpc>
              <a:spcBef>
                <a:spcPts val="1370"/>
              </a:spcBef>
              <a:spcAft>
                <a:spcPts val="0"/>
              </a:spcAft>
              <a:buNone/>
            </a:pPr>
            <a:r>
              <a:rPr lang="en-US" sz="2000">
                <a:solidFill>
                  <a:schemeClr val="dk1"/>
                </a:solidFill>
                <a:latin typeface="Times New Roman"/>
                <a:ea typeface="Times New Roman"/>
                <a:cs typeface="Times New Roman"/>
                <a:sym typeface="Times New Roman"/>
              </a:rPr>
              <a:t>Does[NP Priya] sing?</a:t>
            </a:r>
            <a:endParaRPr sz="2000">
              <a:solidFill>
                <a:schemeClr val="dk1"/>
              </a:solidFill>
              <a:latin typeface="Times New Roman"/>
              <a:ea typeface="Times New Roman"/>
              <a:cs typeface="Times New Roman"/>
              <a:sym typeface="Times New Roman"/>
            </a:endParaRPr>
          </a:p>
          <a:p>
            <a:pPr marL="12700" marR="7938769" lvl="0" indent="0" algn="l" rtl="0">
              <a:lnSpc>
                <a:spcPct val="100000"/>
              </a:lnSpc>
              <a:spcBef>
                <a:spcPts val="750"/>
              </a:spcBef>
              <a:spcAft>
                <a:spcPts val="0"/>
              </a:spcAft>
              <a:buNone/>
            </a:pPr>
            <a:r>
              <a:rPr lang="en-US" sz="2000">
                <a:solidFill>
                  <a:schemeClr val="dk1"/>
                </a:solidFill>
                <a:latin typeface="Times New Roman"/>
                <a:ea typeface="Times New Roman"/>
                <a:cs typeface="Times New Roman"/>
                <a:sym typeface="Times New Roman"/>
              </a:rPr>
              <a:t>Do[NP they] eat?</a:t>
            </a:r>
            <a:endParaRPr sz="2000">
              <a:solidFill>
                <a:schemeClr val="dk1"/>
              </a:solidFill>
              <a:latin typeface="Times New Roman"/>
              <a:ea typeface="Times New Roman"/>
              <a:cs typeface="Times New Roman"/>
              <a:sym typeface="Times New Roman"/>
            </a:endParaRP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showMasterSp="0">
  <p:cSld>
    <p:spTree>
      <p:nvGrpSpPr>
        <p:cNvPr id="1" name="Shape 859"/>
        <p:cNvGrpSpPr/>
        <p:nvPr/>
      </p:nvGrpSpPr>
      <p:grpSpPr>
        <a:xfrm>
          <a:off x="0" y="0"/>
          <a:ext cx="0" cy="0"/>
          <a:chOff x="0" y="0"/>
          <a:chExt cx="0" cy="0"/>
        </a:xfrm>
      </p:grpSpPr>
      <p:sp>
        <p:nvSpPr>
          <p:cNvPr id="860" name="Google Shape;860;p81"/>
          <p:cNvSpPr txBox="1">
            <a:spLocks noGrp="1"/>
          </p:cNvSpPr>
          <p:nvPr>
            <p:ph type="title"/>
          </p:nvPr>
        </p:nvSpPr>
        <p:spPr>
          <a:xfrm>
            <a:off x="911225" y="639172"/>
            <a:ext cx="4242435" cy="69596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4400"/>
              <a:t>Feature Structures</a:t>
            </a:r>
            <a:endParaRPr sz="4400"/>
          </a:p>
        </p:txBody>
      </p:sp>
      <p:sp>
        <p:nvSpPr>
          <p:cNvPr id="861" name="Google Shape;861;p81"/>
          <p:cNvSpPr txBox="1"/>
          <p:nvPr/>
        </p:nvSpPr>
        <p:spPr>
          <a:xfrm>
            <a:off x="1900832" y="1863725"/>
            <a:ext cx="1573530" cy="254000"/>
          </a:xfrm>
          <a:prstGeom prst="rect">
            <a:avLst/>
          </a:prstGeom>
          <a:solidFill>
            <a:srgbClr val="FFFF00"/>
          </a:solidFill>
          <a:ln>
            <a:noFill/>
          </a:ln>
        </p:spPr>
        <p:txBody>
          <a:bodyPr spcFirstLastPara="1" wrap="square" lIns="0" tIns="0" rIns="0" bIns="0" anchor="t" anchorCtr="0">
            <a:spAutoFit/>
          </a:bodyPr>
          <a:lstStyle/>
          <a:p>
            <a:pPr marL="0" marR="0" lvl="0" indent="0" algn="l" rtl="0">
              <a:lnSpc>
                <a:spcPct val="116969"/>
              </a:lnSpc>
              <a:spcBef>
                <a:spcPts val="0"/>
              </a:spcBef>
              <a:spcAft>
                <a:spcPts val="0"/>
              </a:spcAft>
              <a:buNone/>
            </a:pPr>
            <a:r>
              <a:rPr lang="en-US" sz="1650">
                <a:solidFill>
                  <a:schemeClr val="dk1"/>
                </a:solidFill>
                <a:latin typeface="Times New Roman"/>
                <a:ea typeface="Times New Roman"/>
                <a:cs typeface="Times New Roman"/>
                <a:sym typeface="Times New Roman"/>
              </a:rPr>
              <a:t>feature value pairs</a:t>
            </a:r>
            <a:endParaRPr sz="1650">
              <a:solidFill>
                <a:schemeClr val="dk1"/>
              </a:solidFill>
              <a:latin typeface="Times New Roman"/>
              <a:ea typeface="Times New Roman"/>
              <a:cs typeface="Times New Roman"/>
              <a:sym typeface="Times New Roman"/>
            </a:endParaRPr>
          </a:p>
        </p:txBody>
      </p:sp>
      <p:sp>
        <p:nvSpPr>
          <p:cNvPr id="862" name="Google Shape;862;p81"/>
          <p:cNvSpPr txBox="1"/>
          <p:nvPr/>
        </p:nvSpPr>
        <p:spPr>
          <a:xfrm>
            <a:off x="3491012" y="2257425"/>
            <a:ext cx="3221990" cy="254000"/>
          </a:xfrm>
          <a:prstGeom prst="rect">
            <a:avLst/>
          </a:prstGeom>
          <a:solidFill>
            <a:srgbClr val="FFFF00"/>
          </a:solidFill>
          <a:ln>
            <a:noFill/>
          </a:ln>
        </p:spPr>
        <p:txBody>
          <a:bodyPr spcFirstLastPara="1" wrap="square" lIns="0" tIns="0" rIns="0" bIns="0" anchor="t" anchorCtr="0">
            <a:spAutoFit/>
          </a:bodyPr>
          <a:lstStyle/>
          <a:p>
            <a:pPr marL="0" marR="0" lvl="0" indent="0" algn="l" rtl="0">
              <a:lnSpc>
                <a:spcPct val="116969"/>
              </a:lnSpc>
              <a:spcBef>
                <a:spcPts val="0"/>
              </a:spcBef>
              <a:spcAft>
                <a:spcPts val="0"/>
              </a:spcAft>
              <a:buNone/>
            </a:pPr>
            <a:r>
              <a:rPr lang="en-US" sz="1650">
                <a:solidFill>
                  <a:schemeClr val="dk1"/>
                </a:solidFill>
                <a:latin typeface="Times New Roman"/>
                <a:ea typeface="Times New Roman"/>
                <a:cs typeface="Times New Roman"/>
                <a:sym typeface="Times New Roman"/>
              </a:rPr>
              <a:t>capture the properties of grammatical</a:t>
            </a:r>
            <a:endParaRPr sz="1650">
              <a:solidFill>
                <a:schemeClr val="dk1"/>
              </a:solidFill>
              <a:latin typeface="Times New Roman"/>
              <a:ea typeface="Times New Roman"/>
              <a:cs typeface="Times New Roman"/>
              <a:sym typeface="Times New Roman"/>
            </a:endParaRPr>
          </a:p>
        </p:txBody>
      </p:sp>
      <p:sp>
        <p:nvSpPr>
          <p:cNvPr id="863" name="Google Shape;863;p81"/>
          <p:cNvSpPr txBox="1"/>
          <p:nvPr/>
        </p:nvSpPr>
        <p:spPr>
          <a:xfrm>
            <a:off x="962467" y="1702612"/>
            <a:ext cx="6735445" cy="1203325"/>
          </a:xfrm>
          <a:prstGeom prst="rect">
            <a:avLst/>
          </a:prstGeom>
          <a:noFill/>
          <a:ln>
            <a:noFill/>
          </a:ln>
        </p:spPr>
        <p:txBody>
          <a:bodyPr spcFirstLastPara="1" wrap="square" lIns="0" tIns="154300" rIns="0" bIns="0" anchor="t" anchorCtr="0">
            <a:spAutoFit/>
          </a:bodyPr>
          <a:lstStyle/>
          <a:p>
            <a:pPr marL="304165" marR="0" lvl="0" indent="-292100" algn="l" rtl="0">
              <a:lnSpc>
                <a:spcPct val="100000"/>
              </a:lnSpc>
              <a:spcBef>
                <a:spcPts val="0"/>
              </a:spcBef>
              <a:spcAft>
                <a:spcPts val="0"/>
              </a:spcAft>
              <a:buClr>
                <a:schemeClr val="dk1"/>
              </a:buClr>
              <a:buSzPts val="1650"/>
              <a:buFont typeface="Lucida Sans"/>
              <a:buChar char="∙"/>
            </a:pPr>
            <a:r>
              <a:rPr lang="en-US" sz="1650">
                <a:solidFill>
                  <a:schemeClr val="dk1"/>
                </a:solidFill>
                <a:latin typeface="Times New Roman"/>
                <a:ea typeface="Times New Roman"/>
                <a:cs typeface="Times New Roman"/>
                <a:sym typeface="Times New Roman"/>
              </a:rPr>
              <a:t>Sets of</a:t>
            </a:r>
            <a:endParaRPr sz="1650">
              <a:solidFill>
                <a:schemeClr val="dk1"/>
              </a:solidFill>
              <a:latin typeface="Times New Roman"/>
              <a:ea typeface="Times New Roman"/>
              <a:cs typeface="Times New Roman"/>
              <a:sym typeface="Times New Roman"/>
            </a:endParaRPr>
          </a:p>
          <a:p>
            <a:pPr marL="304165" marR="0" lvl="0" indent="-292100" algn="l" rtl="0">
              <a:lnSpc>
                <a:spcPct val="100000"/>
              </a:lnSpc>
              <a:spcBef>
                <a:spcPts val="1120"/>
              </a:spcBef>
              <a:spcAft>
                <a:spcPts val="0"/>
              </a:spcAft>
              <a:buClr>
                <a:schemeClr val="dk1"/>
              </a:buClr>
              <a:buSzPts val="1650"/>
              <a:buFont typeface="Lucida Sans"/>
              <a:buChar char="∙"/>
            </a:pPr>
            <a:r>
              <a:rPr lang="en-US" sz="1650">
                <a:solidFill>
                  <a:schemeClr val="dk1"/>
                </a:solidFill>
                <a:latin typeface="Times New Roman"/>
                <a:ea typeface="Times New Roman"/>
                <a:cs typeface="Times New Roman"/>
                <a:sym typeface="Times New Roman"/>
              </a:rPr>
              <a:t>Can be used to efficiently	categories</a:t>
            </a:r>
            <a:endParaRPr sz="1650">
              <a:solidFill>
                <a:schemeClr val="dk1"/>
              </a:solidFill>
              <a:latin typeface="Times New Roman"/>
              <a:ea typeface="Times New Roman"/>
              <a:cs typeface="Times New Roman"/>
              <a:sym typeface="Times New Roman"/>
            </a:endParaRPr>
          </a:p>
          <a:p>
            <a:pPr marL="304165" marR="0" lvl="0" indent="-292100" algn="l" rtl="0">
              <a:lnSpc>
                <a:spcPct val="100000"/>
              </a:lnSpc>
              <a:spcBef>
                <a:spcPts val="1095"/>
              </a:spcBef>
              <a:spcAft>
                <a:spcPts val="0"/>
              </a:spcAft>
              <a:buClr>
                <a:schemeClr val="dk1"/>
              </a:buClr>
              <a:buSzPts val="1650"/>
              <a:buFont typeface="Lucida Sans"/>
              <a:buChar char="∙"/>
            </a:pPr>
            <a:r>
              <a:rPr lang="en-US" sz="1650">
                <a:solidFill>
                  <a:schemeClr val="dk1"/>
                </a:solidFill>
                <a:latin typeface="Times New Roman"/>
                <a:ea typeface="Times New Roman"/>
                <a:cs typeface="Times New Roman"/>
                <a:sym typeface="Times New Roman"/>
              </a:rPr>
              <a:t>Features are simply symbols representing properties that we wish to capture</a:t>
            </a:r>
            <a:endParaRPr sz="1650">
              <a:solidFill>
                <a:schemeClr val="dk1"/>
              </a:solidFill>
              <a:latin typeface="Times New Roman"/>
              <a:ea typeface="Times New Roman"/>
              <a:cs typeface="Times New Roman"/>
              <a:sym typeface="Times New Roman"/>
            </a:endParaRPr>
          </a:p>
        </p:txBody>
      </p:sp>
      <p:sp>
        <p:nvSpPr>
          <p:cNvPr id="864" name="Google Shape;864;p81"/>
          <p:cNvSpPr txBox="1"/>
          <p:nvPr/>
        </p:nvSpPr>
        <p:spPr>
          <a:xfrm>
            <a:off x="1171564" y="3017316"/>
            <a:ext cx="514984" cy="279400"/>
          </a:xfrm>
          <a:prstGeom prst="rect">
            <a:avLst/>
          </a:prstGeom>
          <a:noFill/>
          <a:ln>
            <a:noFill/>
          </a:ln>
        </p:spPr>
        <p:txBody>
          <a:bodyPr spcFirstLastPara="1" wrap="square" lIns="0" tIns="14600" rIns="0" bIns="0" anchor="t" anchorCtr="0">
            <a:spAutoFit/>
          </a:bodyPr>
          <a:lstStyle/>
          <a:p>
            <a:pPr marL="209550" marR="0" lvl="0" indent="-197485" algn="l" rtl="0">
              <a:lnSpc>
                <a:spcPct val="100000"/>
              </a:lnSpc>
              <a:spcBef>
                <a:spcPts val="0"/>
              </a:spcBef>
              <a:spcAft>
                <a:spcPts val="0"/>
              </a:spcAft>
              <a:buClr>
                <a:schemeClr val="dk1"/>
              </a:buClr>
              <a:buSzPts val="1650"/>
              <a:buFont typeface="Arial"/>
              <a:buChar char="•"/>
            </a:pPr>
            <a:r>
              <a:rPr lang="en-US" sz="1650">
                <a:solidFill>
                  <a:schemeClr val="dk1"/>
                </a:solidFill>
                <a:latin typeface="Times New Roman"/>
                <a:ea typeface="Times New Roman"/>
                <a:cs typeface="Times New Roman"/>
                <a:sym typeface="Times New Roman"/>
              </a:rPr>
              <a:t>Eg:</a:t>
            </a:r>
            <a:endParaRPr sz="1650">
              <a:solidFill>
                <a:schemeClr val="dk1"/>
              </a:solidFill>
              <a:latin typeface="Times New Roman"/>
              <a:ea typeface="Times New Roman"/>
              <a:cs typeface="Times New Roman"/>
              <a:sym typeface="Times New Roman"/>
            </a:endParaRPr>
          </a:p>
        </p:txBody>
      </p:sp>
      <p:sp>
        <p:nvSpPr>
          <p:cNvPr id="865" name="Google Shape;865;p81"/>
          <p:cNvSpPr txBox="1"/>
          <p:nvPr/>
        </p:nvSpPr>
        <p:spPr>
          <a:xfrm>
            <a:off x="1727435" y="3038475"/>
            <a:ext cx="1849120" cy="254000"/>
          </a:xfrm>
          <a:prstGeom prst="rect">
            <a:avLst/>
          </a:prstGeom>
          <a:solidFill>
            <a:srgbClr val="FFFF00"/>
          </a:solidFill>
          <a:ln>
            <a:noFill/>
          </a:ln>
        </p:spPr>
        <p:txBody>
          <a:bodyPr spcFirstLastPara="1" wrap="square" lIns="0" tIns="0" rIns="0" bIns="0" anchor="t" anchorCtr="0">
            <a:spAutoFit/>
          </a:bodyPr>
          <a:lstStyle/>
          <a:p>
            <a:pPr marL="0" marR="0" lvl="0" indent="0" algn="l" rtl="0">
              <a:lnSpc>
                <a:spcPct val="116969"/>
              </a:lnSpc>
              <a:spcBef>
                <a:spcPts val="0"/>
              </a:spcBef>
              <a:spcAft>
                <a:spcPts val="0"/>
              </a:spcAft>
              <a:buNone/>
            </a:pPr>
            <a:r>
              <a:rPr lang="en-US" sz="1650">
                <a:solidFill>
                  <a:schemeClr val="dk1"/>
                </a:solidFill>
                <a:latin typeface="Times New Roman"/>
                <a:ea typeface="Times New Roman"/>
                <a:cs typeface="Times New Roman"/>
                <a:sym typeface="Times New Roman"/>
              </a:rPr>
              <a:t>The number property</a:t>
            </a:r>
            <a:endParaRPr sz="1650">
              <a:solidFill>
                <a:schemeClr val="dk1"/>
              </a:solidFill>
              <a:latin typeface="Times New Roman"/>
              <a:ea typeface="Times New Roman"/>
              <a:cs typeface="Times New Roman"/>
              <a:sym typeface="Times New Roman"/>
            </a:endParaRPr>
          </a:p>
        </p:txBody>
      </p:sp>
      <p:sp>
        <p:nvSpPr>
          <p:cNvPr id="866" name="Google Shape;866;p81"/>
          <p:cNvSpPr txBox="1"/>
          <p:nvPr/>
        </p:nvSpPr>
        <p:spPr>
          <a:xfrm>
            <a:off x="3562411" y="3017316"/>
            <a:ext cx="5231765" cy="279400"/>
          </a:xfrm>
          <a:prstGeom prst="rect">
            <a:avLst/>
          </a:prstGeom>
          <a:noFill/>
          <a:ln>
            <a:noFill/>
          </a:ln>
        </p:spPr>
        <p:txBody>
          <a:bodyPr spcFirstLastPara="1" wrap="square" lIns="0" tIns="14600" rIns="0" bIns="0" anchor="t" anchorCtr="0">
            <a:spAutoFit/>
          </a:bodyPr>
          <a:lstStyle/>
          <a:p>
            <a:pPr marL="12700" marR="0" lvl="0" indent="0" algn="l" rtl="0">
              <a:lnSpc>
                <a:spcPct val="100000"/>
              </a:lnSpc>
              <a:spcBef>
                <a:spcPts val="0"/>
              </a:spcBef>
              <a:spcAft>
                <a:spcPts val="0"/>
              </a:spcAft>
              <a:buNone/>
            </a:pPr>
            <a:r>
              <a:rPr lang="en-US" sz="1650">
                <a:solidFill>
                  <a:schemeClr val="dk1"/>
                </a:solidFill>
                <a:latin typeface="Times New Roman"/>
                <a:ea typeface="Times New Roman"/>
                <a:cs typeface="Times New Roman"/>
                <a:sym typeface="Times New Roman"/>
              </a:rPr>
              <a:t>of a noun phrase can be represented by NUMBER	feature.</a:t>
            </a:r>
            <a:endParaRPr sz="1650">
              <a:solidFill>
                <a:schemeClr val="dk1"/>
              </a:solidFill>
              <a:latin typeface="Times New Roman"/>
              <a:ea typeface="Times New Roman"/>
              <a:cs typeface="Times New Roman"/>
              <a:sym typeface="Times New Roman"/>
            </a:endParaRPr>
          </a:p>
        </p:txBody>
      </p:sp>
      <p:sp>
        <p:nvSpPr>
          <p:cNvPr id="867" name="Google Shape;867;p81"/>
          <p:cNvSpPr txBox="1"/>
          <p:nvPr/>
        </p:nvSpPr>
        <p:spPr>
          <a:xfrm>
            <a:off x="962467" y="3271063"/>
            <a:ext cx="7784465" cy="1196975"/>
          </a:xfrm>
          <a:prstGeom prst="rect">
            <a:avLst/>
          </a:prstGeom>
          <a:noFill/>
          <a:ln>
            <a:noFill/>
          </a:ln>
        </p:spPr>
        <p:txBody>
          <a:bodyPr spcFirstLastPara="1" wrap="square" lIns="0" tIns="151125" rIns="0" bIns="0" anchor="t" anchorCtr="0">
            <a:spAutoFit/>
          </a:bodyPr>
          <a:lstStyle/>
          <a:p>
            <a:pPr marL="418465" marR="0" lvl="0" indent="-197485" algn="l" rtl="0">
              <a:lnSpc>
                <a:spcPct val="100000"/>
              </a:lnSpc>
              <a:spcBef>
                <a:spcPts val="0"/>
              </a:spcBef>
              <a:spcAft>
                <a:spcPts val="0"/>
              </a:spcAft>
              <a:buClr>
                <a:schemeClr val="dk1"/>
              </a:buClr>
              <a:buSzPts val="1650"/>
              <a:buFont typeface="Arial"/>
              <a:buChar char="•"/>
            </a:pPr>
            <a:r>
              <a:rPr lang="en-US" sz="1650">
                <a:solidFill>
                  <a:schemeClr val="dk1"/>
                </a:solidFill>
                <a:latin typeface="Times New Roman"/>
                <a:ea typeface="Times New Roman"/>
                <a:cs typeface="Times New Roman"/>
                <a:sym typeface="Times New Roman"/>
              </a:rPr>
              <a:t>The value that a NUMBER feature can take is SG(singular) and PL(plural)</a:t>
            </a:r>
            <a:endParaRPr sz="1650">
              <a:solidFill>
                <a:schemeClr val="dk1"/>
              </a:solidFill>
              <a:latin typeface="Times New Roman"/>
              <a:ea typeface="Times New Roman"/>
              <a:cs typeface="Times New Roman"/>
              <a:sym typeface="Times New Roman"/>
            </a:endParaRPr>
          </a:p>
          <a:p>
            <a:pPr marL="304165" marR="0" lvl="0" indent="-292100" algn="l" rtl="0">
              <a:lnSpc>
                <a:spcPct val="100000"/>
              </a:lnSpc>
              <a:spcBef>
                <a:spcPts val="1095"/>
              </a:spcBef>
              <a:spcAft>
                <a:spcPts val="0"/>
              </a:spcAft>
              <a:buClr>
                <a:schemeClr val="dk1"/>
              </a:buClr>
              <a:buSzPts val="1650"/>
              <a:buFont typeface="Lucida Sans"/>
              <a:buChar char="∙"/>
            </a:pPr>
            <a:r>
              <a:rPr lang="en-US" sz="1650">
                <a:solidFill>
                  <a:schemeClr val="dk1"/>
                </a:solidFill>
                <a:latin typeface="Times New Roman"/>
                <a:ea typeface="Times New Roman"/>
                <a:cs typeface="Times New Roman"/>
                <a:sym typeface="Times New Roman"/>
              </a:rPr>
              <a:t>Values can be extra atomic symbols or feature structures</a:t>
            </a:r>
            <a:endParaRPr sz="1650">
              <a:solidFill>
                <a:schemeClr val="dk1"/>
              </a:solidFill>
              <a:latin typeface="Times New Roman"/>
              <a:ea typeface="Times New Roman"/>
              <a:cs typeface="Times New Roman"/>
              <a:sym typeface="Times New Roman"/>
            </a:endParaRPr>
          </a:p>
          <a:p>
            <a:pPr marL="304165" marR="0" lvl="0" indent="-292100" algn="l" rtl="0">
              <a:lnSpc>
                <a:spcPct val="100000"/>
              </a:lnSpc>
              <a:spcBef>
                <a:spcPts val="1095"/>
              </a:spcBef>
              <a:spcAft>
                <a:spcPts val="0"/>
              </a:spcAft>
              <a:buClr>
                <a:schemeClr val="dk1"/>
              </a:buClr>
              <a:buSzPts val="1650"/>
              <a:buFont typeface="Lucida Sans"/>
              <a:buChar char="∙"/>
            </a:pPr>
            <a:r>
              <a:rPr lang="en-US" sz="1650">
                <a:solidFill>
                  <a:schemeClr val="dk1"/>
                </a:solidFill>
                <a:latin typeface="Times New Roman"/>
                <a:ea typeface="Times New Roman"/>
                <a:cs typeface="Times New Roman"/>
                <a:sym typeface="Times New Roman"/>
              </a:rPr>
              <a:t>Feature structures are represented by a matrix-like diagram called attribute value matrix.</a:t>
            </a:r>
            <a:endParaRPr sz="1650">
              <a:solidFill>
                <a:schemeClr val="dk1"/>
              </a:solidFill>
              <a:latin typeface="Times New Roman"/>
              <a:ea typeface="Times New Roman"/>
              <a:cs typeface="Times New Roman"/>
              <a:sym typeface="Times New Roman"/>
            </a:endParaRPr>
          </a:p>
        </p:txBody>
      </p:sp>
      <p:sp>
        <p:nvSpPr>
          <p:cNvPr id="868" name="Google Shape;868;p81"/>
          <p:cNvSpPr txBox="1"/>
          <p:nvPr/>
        </p:nvSpPr>
        <p:spPr>
          <a:xfrm>
            <a:off x="985563" y="4588779"/>
            <a:ext cx="1304290" cy="1352550"/>
          </a:xfrm>
          <a:prstGeom prst="rect">
            <a:avLst/>
          </a:prstGeom>
          <a:noFill/>
          <a:ln>
            <a:noFill/>
          </a:ln>
        </p:spPr>
        <p:txBody>
          <a:bodyPr spcFirstLastPara="1" wrap="square" lIns="0" tIns="15875" rIns="0" bIns="0" anchor="t" anchorCtr="0">
            <a:spAutoFit/>
          </a:bodyPr>
          <a:lstStyle/>
          <a:p>
            <a:pPr marL="12700" marR="5080" lvl="0" indent="0" algn="just" rtl="0">
              <a:lnSpc>
                <a:spcPct val="111400"/>
              </a:lnSpc>
              <a:spcBef>
                <a:spcPts val="0"/>
              </a:spcBef>
              <a:spcAft>
                <a:spcPts val="0"/>
              </a:spcAft>
              <a:buNone/>
            </a:pPr>
            <a:r>
              <a:rPr lang="en-US" sz="2600">
                <a:solidFill>
                  <a:schemeClr val="dk1"/>
                </a:solidFill>
                <a:latin typeface="Calibri"/>
                <a:ea typeface="Calibri"/>
                <a:cs typeface="Calibri"/>
                <a:sym typeface="Calibri"/>
              </a:rPr>
              <a:t>Feature1  Feature2  Feature n</a:t>
            </a:r>
            <a:endParaRPr sz="2600">
              <a:solidFill>
                <a:schemeClr val="dk1"/>
              </a:solidFill>
              <a:latin typeface="Calibri"/>
              <a:ea typeface="Calibri"/>
              <a:cs typeface="Calibri"/>
              <a:sym typeface="Calibri"/>
            </a:endParaRPr>
          </a:p>
        </p:txBody>
      </p:sp>
      <p:sp>
        <p:nvSpPr>
          <p:cNvPr id="869" name="Google Shape;869;p81"/>
          <p:cNvSpPr txBox="1"/>
          <p:nvPr/>
        </p:nvSpPr>
        <p:spPr>
          <a:xfrm>
            <a:off x="3001197" y="4588779"/>
            <a:ext cx="1034415" cy="1352550"/>
          </a:xfrm>
          <a:prstGeom prst="rect">
            <a:avLst/>
          </a:prstGeom>
          <a:noFill/>
          <a:ln>
            <a:noFill/>
          </a:ln>
        </p:spPr>
        <p:txBody>
          <a:bodyPr spcFirstLastPara="1" wrap="square" lIns="0" tIns="15875" rIns="0" bIns="0" anchor="t" anchorCtr="0">
            <a:spAutoFit/>
          </a:bodyPr>
          <a:lstStyle/>
          <a:p>
            <a:pPr marL="86995" marR="5080" lvl="0" indent="-74930" algn="just" rtl="0">
              <a:lnSpc>
                <a:spcPct val="111400"/>
              </a:lnSpc>
              <a:spcBef>
                <a:spcPts val="0"/>
              </a:spcBef>
              <a:spcAft>
                <a:spcPts val="0"/>
              </a:spcAft>
              <a:buNone/>
            </a:pPr>
            <a:r>
              <a:rPr lang="en-US" sz="2600">
                <a:solidFill>
                  <a:schemeClr val="dk1"/>
                </a:solidFill>
                <a:latin typeface="Calibri"/>
                <a:ea typeface="Calibri"/>
                <a:cs typeface="Calibri"/>
                <a:sym typeface="Calibri"/>
              </a:rPr>
              <a:t>Value1  Value2  Valuen</a:t>
            </a:r>
            <a:endParaRPr sz="2600">
              <a:solidFill>
                <a:schemeClr val="dk1"/>
              </a:solidFill>
              <a:latin typeface="Calibri"/>
              <a:ea typeface="Calibri"/>
              <a:cs typeface="Calibri"/>
              <a:sym typeface="Calibri"/>
            </a:endParaRPr>
          </a:p>
        </p:txBody>
      </p:sp>
      <p:sp>
        <p:nvSpPr>
          <p:cNvPr id="870" name="Google Shape;870;p81"/>
          <p:cNvSpPr/>
          <p:nvPr/>
        </p:nvSpPr>
        <p:spPr>
          <a:xfrm>
            <a:off x="3971635" y="4692072"/>
            <a:ext cx="175895" cy="1441450"/>
          </a:xfrm>
          <a:custGeom>
            <a:avLst/>
            <a:gdLst/>
            <a:ahLst/>
            <a:cxnLst/>
            <a:rect l="l" t="t" r="r" b="b"/>
            <a:pathLst>
              <a:path w="175895" h="1441450" extrusionOk="0">
                <a:moveTo>
                  <a:pt x="0" y="0"/>
                </a:moveTo>
                <a:lnTo>
                  <a:pt x="68309" y="1149"/>
                </a:lnTo>
                <a:lnTo>
                  <a:pt x="124090" y="4283"/>
                </a:lnTo>
                <a:lnTo>
                  <a:pt x="161700" y="8931"/>
                </a:lnTo>
                <a:lnTo>
                  <a:pt x="175490" y="14623"/>
                </a:lnTo>
                <a:lnTo>
                  <a:pt x="175490" y="1426248"/>
                </a:lnTo>
                <a:lnTo>
                  <a:pt x="161700" y="1431940"/>
                </a:lnTo>
                <a:lnTo>
                  <a:pt x="124090" y="1436588"/>
                </a:lnTo>
                <a:lnTo>
                  <a:pt x="68309" y="1439722"/>
                </a:lnTo>
                <a:lnTo>
                  <a:pt x="0" y="1440871"/>
                </a:lnTo>
              </a:path>
            </a:pathLst>
          </a:custGeom>
          <a:noFill/>
          <a:ln w="9525" cap="flat" cmpd="sng">
            <a:solidFill>
              <a:srgbClr val="4472C4"/>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71" name="Google Shape;871;p81"/>
          <p:cNvSpPr/>
          <p:nvPr/>
        </p:nvSpPr>
        <p:spPr>
          <a:xfrm>
            <a:off x="914400" y="4596245"/>
            <a:ext cx="314325" cy="1536700"/>
          </a:xfrm>
          <a:custGeom>
            <a:avLst/>
            <a:gdLst/>
            <a:ahLst/>
            <a:cxnLst/>
            <a:rect l="l" t="t" r="r" b="b"/>
            <a:pathLst>
              <a:path w="314325" h="1536700" extrusionOk="0">
                <a:moveTo>
                  <a:pt x="314035" y="1536699"/>
                </a:moveTo>
                <a:lnTo>
                  <a:pt x="230552" y="1535765"/>
                </a:lnTo>
                <a:lnTo>
                  <a:pt x="155536" y="1533127"/>
                </a:lnTo>
                <a:lnTo>
                  <a:pt x="91979" y="1529035"/>
                </a:lnTo>
                <a:lnTo>
                  <a:pt x="42875" y="1523739"/>
                </a:lnTo>
                <a:lnTo>
                  <a:pt x="11217" y="1517488"/>
                </a:lnTo>
                <a:lnTo>
                  <a:pt x="0" y="1510531"/>
                </a:lnTo>
                <a:lnTo>
                  <a:pt x="0" y="26168"/>
                </a:lnTo>
                <a:lnTo>
                  <a:pt x="52761" y="11650"/>
                </a:lnTo>
                <a:lnTo>
                  <a:pt x="91978" y="7664"/>
                </a:lnTo>
                <a:lnTo>
                  <a:pt x="139808" y="4396"/>
                </a:lnTo>
                <a:lnTo>
                  <a:pt x="193859" y="1991"/>
                </a:lnTo>
                <a:lnTo>
                  <a:pt x="252484" y="507"/>
                </a:lnTo>
                <a:lnTo>
                  <a:pt x="314035" y="0"/>
                </a:lnTo>
              </a:path>
            </a:pathLst>
          </a:custGeom>
          <a:noFill/>
          <a:ln w="9525" cap="flat" cmpd="sng">
            <a:solidFill>
              <a:srgbClr val="4472C4"/>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showMasterSp="0">
  <p:cSld>
    <p:spTree>
      <p:nvGrpSpPr>
        <p:cNvPr id="1" name="Shape 875"/>
        <p:cNvGrpSpPr/>
        <p:nvPr/>
      </p:nvGrpSpPr>
      <p:grpSpPr>
        <a:xfrm>
          <a:off x="0" y="0"/>
          <a:ext cx="0" cy="0"/>
          <a:chOff x="0" y="0"/>
          <a:chExt cx="0" cy="0"/>
        </a:xfrm>
      </p:grpSpPr>
      <p:sp>
        <p:nvSpPr>
          <p:cNvPr id="876" name="Google Shape;876;p82"/>
          <p:cNvSpPr txBox="1">
            <a:spLocks noGrp="1"/>
          </p:cNvSpPr>
          <p:nvPr>
            <p:ph type="title"/>
          </p:nvPr>
        </p:nvSpPr>
        <p:spPr>
          <a:xfrm>
            <a:off x="911225" y="471316"/>
            <a:ext cx="4242435" cy="69596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4400"/>
              <a:t>Feature Structures</a:t>
            </a:r>
            <a:endParaRPr sz="4400"/>
          </a:p>
        </p:txBody>
      </p:sp>
      <p:sp>
        <p:nvSpPr>
          <p:cNvPr id="877" name="Google Shape;877;p82"/>
          <p:cNvSpPr txBox="1"/>
          <p:nvPr/>
        </p:nvSpPr>
        <p:spPr>
          <a:xfrm>
            <a:off x="803160" y="1063197"/>
            <a:ext cx="10060940" cy="4641850"/>
          </a:xfrm>
          <a:prstGeom prst="rect">
            <a:avLst/>
          </a:prstGeom>
          <a:noFill/>
          <a:ln>
            <a:noFill/>
          </a:ln>
        </p:spPr>
        <p:txBody>
          <a:bodyPr spcFirstLastPara="1" wrap="square" lIns="0" tIns="73025" rIns="0" bIns="0" anchor="t" anchorCtr="0">
            <a:spAutoFit/>
          </a:bodyPr>
          <a:lstStyle/>
          <a:p>
            <a:pPr marL="12700" marR="0" lvl="0" indent="0" algn="l" rtl="0">
              <a:lnSpc>
                <a:spcPct val="100000"/>
              </a:lnSpc>
              <a:spcBef>
                <a:spcPts val="0"/>
              </a:spcBef>
              <a:spcAft>
                <a:spcPts val="0"/>
              </a:spcAft>
              <a:buNone/>
            </a:pPr>
            <a:r>
              <a:rPr lang="en-US" sz="1500">
                <a:solidFill>
                  <a:schemeClr val="dk1"/>
                </a:solidFill>
                <a:latin typeface="Times New Roman"/>
                <a:ea typeface="Times New Roman"/>
                <a:cs typeface="Times New Roman"/>
                <a:sym typeface="Times New Roman"/>
              </a:rPr>
              <a:t>An AVM consisting of a single NUMBER feature with the value SG is</a:t>
            </a:r>
            <a:endParaRPr sz="1500">
              <a:solidFill>
                <a:schemeClr val="dk1"/>
              </a:solidFill>
              <a:latin typeface="Times New Roman"/>
              <a:ea typeface="Times New Roman"/>
              <a:cs typeface="Times New Roman"/>
              <a:sym typeface="Times New Roman"/>
            </a:endParaRPr>
          </a:p>
          <a:p>
            <a:pPr marL="4544060" marR="0" lvl="0" indent="0" algn="just" rtl="0">
              <a:lnSpc>
                <a:spcPct val="100000"/>
              </a:lnSpc>
              <a:spcBef>
                <a:spcPts val="475"/>
              </a:spcBef>
              <a:spcAft>
                <a:spcPts val="0"/>
              </a:spcAft>
              <a:buNone/>
            </a:pPr>
            <a:r>
              <a:rPr lang="en-US" sz="1500">
                <a:solidFill>
                  <a:schemeClr val="dk1"/>
                </a:solidFill>
                <a:latin typeface="Times New Roman"/>
                <a:ea typeface="Times New Roman"/>
                <a:cs typeface="Times New Roman"/>
                <a:sym typeface="Times New Roman"/>
              </a:rPr>
              <a:t>[ NUMBER SG]</a:t>
            </a:r>
            <a:endParaRPr sz="1500">
              <a:solidFill>
                <a:schemeClr val="dk1"/>
              </a:solidFill>
              <a:latin typeface="Times New Roman"/>
              <a:ea typeface="Times New Roman"/>
              <a:cs typeface="Times New Roman"/>
              <a:sym typeface="Times New Roman"/>
            </a:endParaRPr>
          </a:p>
          <a:p>
            <a:pPr marL="12700" marR="0" lvl="0" indent="0" algn="l" rtl="0">
              <a:lnSpc>
                <a:spcPct val="100000"/>
              </a:lnSpc>
              <a:spcBef>
                <a:spcPts val="450"/>
              </a:spcBef>
              <a:spcAft>
                <a:spcPts val="0"/>
              </a:spcAft>
              <a:buNone/>
            </a:pPr>
            <a:r>
              <a:rPr lang="en-US" sz="1500">
                <a:solidFill>
                  <a:schemeClr val="dk1"/>
                </a:solidFill>
                <a:latin typeface="Times New Roman"/>
                <a:ea typeface="Times New Roman"/>
                <a:cs typeface="Times New Roman"/>
                <a:sym typeface="Times New Roman"/>
              </a:rPr>
              <a:t>The value of a feature can be left unspecified and represented by an empty pair of square brackets.</a:t>
            </a:r>
            <a:endParaRPr sz="1500">
              <a:solidFill>
                <a:schemeClr val="dk1"/>
              </a:solidFill>
              <a:latin typeface="Times New Roman"/>
              <a:ea typeface="Times New Roman"/>
              <a:cs typeface="Times New Roman"/>
              <a:sym typeface="Times New Roman"/>
            </a:endParaRPr>
          </a:p>
          <a:p>
            <a:pPr marL="4554855" marR="0" lvl="0" indent="0" algn="just" rtl="0">
              <a:lnSpc>
                <a:spcPct val="100000"/>
              </a:lnSpc>
              <a:spcBef>
                <a:spcPts val="450"/>
              </a:spcBef>
              <a:spcAft>
                <a:spcPts val="0"/>
              </a:spcAft>
              <a:buNone/>
            </a:pPr>
            <a:r>
              <a:rPr lang="en-US" sz="1500">
                <a:solidFill>
                  <a:schemeClr val="dk1"/>
                </a:solidFill>
                <a:latin typeface="Times New Roman"/>
                <a:ea typeface="Times New Roman"/>
                <a:cs typeface="Times New Roman"/>
                <a:sym typeface="Times New Roman"/>
              </a:rPr>
              <a:t>[ NUMBER [ ] ]</a:t>
            </a:r>
            <a:endParaRPr sz="1500">
              <a:solidFill>
                <a:schemeClr val="dk1"/>
              </a:solidFill>
              <a:latin typeface="Times New Roman"/>
              <a:ea typeface="Times New Roman"/>
              <a:cs typeface="Times New Roman"/>
              <a:sym typeface="Times New Roman"/>
            </a:endParaRPr>
          </a:p>
          <a:p>
            <a:pPr marL="12700" marR="0" lvl="0" indent="0" algn="l" rtl="0">
              <a:lnSpc>
                <a:spcPct val="100000"/>
              </a:lnSpc>
              <a:spcBef>
                <a:spcPts val="450"/>
              </a:spcBef>
              <a:spcAft>
                <a:spcPts val="0"/>
              </a:spcAft>
              <a:buNone/>
            </a:pPr>
            <a:r>
              <a:rPr lang="en-US" sz="1500">
                <a:solidFill>
                  <a:schemeClr val="dk1"/>
                </a:solidFill>
                <a:latin typeface="Times New Roman"/>
                <a:ea typeface="Times New Roman"/>
                <a:cs typeface="Times New Roman"/>
                <a:sym typeface="Times New Roman"/>
              </a:rPr>
              <a:t>The feature structure can be used to encode the grammatical category of a constituent and the features associated with it eg:</a:t>
            </a:r>
            <a:endParaRPr sz="1500">
              <a:solidFill>
                <a:schemeClr val="dk1"/>
              </a:solidFill>
              <a:latin typeface="Times New Roman"/>
              <a:ea typeface="Times New Roman"/>
              <a:cs typeface="Times New Roman"/>
              <a:sym typeface="Times New Roman"/>
            </a:endParaRPr>
          </a:p>
          <a:p>
            <a:pPr marL="4584065" marR="4247515" lvl="0" indent="-21590" algn="just" rtl="0">
              <a:lnSpc>
                <a:spcPct val="125000"/>
              </a:lnSpc>
              <a:spcBef>
                <a:spcPts val="0"/>
              </a:spcBef>
              <a:spcAft>
                <a:spcPts val="0"/>
              </a:spcAft>
              <a:buNone/>
            </a:pPr>
            <a:r>
              <a:rPr lang="en-US" sz="1500">
                <a:solidFill>
                  <a:schemeClr val="dk1"/>
                </a:solidFill>
                <a:latin typeface="Times New Roman"/>
                <a:ea typeface="Times New Roman"/>
                <a:cs typeface="Times New Roman"/>
                <a:sym typeface="Times New Roman"/>
              </a:rPr>
              <a:t>CAT	NP  NUMBER SG  PERSON 3</a:t>
            </a:r>
            <a:endParaRPr sz="1500">
              <a:solidFill>
                <a:schemeClr val="dk1"/>
              </a:solidFill>
              <a:latin typeface="Times New Roman"/>
              <a:ea typeface="Times New Roman"/>
              <a:cs typeface="Times New Roman"/>
              <a:sym typeface="Times New Roman"/>
            </a:endParaRPr>
          </a:p>
          <a:p>
            <a:pPr marL="12700" marR="0" lvl="0" indent="0" algn="l" rtl="0">
              <a:lnSpc>
                <a:spcPct val="100000"/>
              </a:lnSpc>
              <a:spcBef>
                <a:spcPts val="450"/>
              </a:spcBef>
              <a:spcAft>
                <a:spcPts val="0"/>
              </a:spcAft>
              <a:buNone/>
            </a:pPr>
            <a:r>
              <a:rPr lang="en-US" sz="1500">
                <a:solidFill>
                  <a:schemeClr val="dk1"/>
                </a:solidFill>
                <a:latin typeface="Times New Roman"/>
                <a:ea typeface="Times New Roman"/>
                <a:cs typeface="Times New Roman"/>
                <a:sym typeface="Times New Roman"/>
              </a:rPr>
              <a:t>Similarly, a third person plural noun phrase can be represented as follows</a:t>
            </a:r>
            <a:endParaRPr sz="1500">
              <a:solidFill>
                <a:schemeClr val="dk1"/>
              </a:solidFill>
              <a:latin typeface="Times New Roman"/>
              <a:ea typeface="Times New Roman"/>
              <a:cs typeface="Times New Roman"/>
              <a:sym typeface="Times New Roman"/>
            </a:endParaRPr>
          </a:p>
          <a:p>
            <a:pPr marL="4594225" marR="4278630" lvl="0" indent="15875" algn="just" rtl="0">
              <a:lnSpc>
                <a:spcPct val="125000"/>
              </a:lnSpc>
              <a:spcBef>
                <a:spcPts val="0"/>
              </a:spcBef>
              <a:spcAft>
                <a:spcPts val="0"/>
              </a:spcAft>
              <a:buNone/>
            </a:pPr>
            <a:r>
              <a:rPr lang="en-US" sz="1500">
                <a:solidFill>
                  <a:schemeClr val="dk1"/>
                </a:solidFill>
                <a:latin typeface="Times New Roman"/>
                <a:ea typeface="Times New Roman"/>
                <a:cs typeface="Times New Roman"/>
                <a:sym typeface="Times New Roman"/>
              </a:rPr>
              <a:t>CAT	NP  NUMBER PL  PERSON 3</a:t>
            </a:r>
            <a:endParaRPr sz="1500">
              <a:solidFill>
                <a:schemeClr val="dk1"/>
              </a:solidFill>
              <a:latin typeface="Times New Roman"/>
              <a:ea typeface="Times New Roman"/>
              <a:cs typeface="Times New Roman"/>
              <a:sym typeface="Times New Roman"/>
            </a:endParaRPr>
          </a:p>
          <a:p>
            <a:pPr marL="12700" marR="106679" lvl="0" indent="0" algn="l" rtl="0">
              <a:lnSpc>
                <a:spcPct val="69400"/>
              </a:lnSpc>
              <a:spcBef>
                <a:spcPts val="1000"/>
              </a:spcBef>
              <a:spcAft>
                <a:spcPts val="0"/>
              </a:spcAft>
              <a:buNone/>
            </a:pPr>
            <a:r>
              <a:rPr lang="en-US" sz="1500">
                <a:solidFill>
                  <a:schemeClr val="dk1"/>
                </a:solidFill>
                <a:latin typeface="Times New Roman"/>
                <a:ea typeface="Times New Roman"/>
                <a:cs typeface="Times New Roman"/>
                <a:sym typeface="Times New Roman"/>
              </a:rPr>
              <a:t>The values of CAT and PERSON features remain the same is both structures. Feature values are not limited to atomic symbols. A  feature can have another feature structure as its value</a:t>
            </a:r>
            <a:endParaRPr sz="1500">
              <a:solidFill>
                <a:schemeClr val="dk1"/>
              </a:solidFill>
              <a:latin typeface="Times New Roman"/>
              <a:ea typeface="Times New Roman"/>
              <a:cs typeface="Times New Roman"/>
              <a:sym typeface="Times New Roman"/>
            </a:endParaRPr>
          </a:p>
          <a:p>
            <a:pPr marL="12700" marR="5080" lvl="0" indent="0" algn="l" rtl="0">
              <a:lnSpc>
                <a:spcPct val="69400"/>
              </a:lnSpc>
              <a:spcBef>
                <a:spcPts val="1025"/>
              </a:spcBef>
              <a:spcAft>
                <a:spcPts val="0"/>
              </a:spcAft>
              <a:buNone/>
            </a:pPr>
            <a:r>
              <a:rPr lang="en-US" sz="1500">
                <a:solidFill>
                  <a:schemeClr val="dk1"/>
                </a:solidFill>
                <a:latin typeface="Times New Roman"/>
                <a:ea typeface="Times New Roman"/>
                <a:cs typeface="Times New Roman"/>
                <a:sym typeface="Times New Roman"/>
              </a:rPr>
              <a:t>Consider the case combining the NUMBER and PERSON features into a single AGREEMENT feature . This makes sense because  grammatical subjects must agree their predicates is NUMBER as well as PERSON properties.</a:t>
            </a:r>
            <a:endParaRPr sz="1500">
              <a:solidFill>
                <a:schemeClr val="dk1"/>
              </a:solidFill>
              <a:latin typeface="Times New Roman"/>
              <a:ea typeface="Times New Roman"/>
              <a:cs typeface="Times New Roman"/>
              <a:sym typeface="Times New Roman"/>
            </a:endParaRPr>
          </a:p>
          <a:p>
            <a:pPr marL="12700" marR="0" lvl="0" indent="0" algn="l" rtl="0">
              <a:lnSpc>
                <a:spcPct val="100000"/>
              </a:lnSpc>
              <a:spcBef>
                <a:spcPts val="475"/>
              </a:spcBef>
              <a:spcAft>
                <a:spcPts val="0"/>
              </a:spcAft>
              <a:buNone/>
            </a:pPr>
            <a:r>
              <a:rPr lang="en-US" sz="1500">
                <a:solidFill>
                  <a:schemeClr val="dk1"/>
                </a:solidFill>
                <a:latin typeface="Times New Roman"/>
                <a:ea typeface="Times New Roman"/>
                <a:cs typeface="Times New Roman"/>
                <a:sym typeface="Times New Roman"/>
              </a:rPr>
              <a:t>Using this new feature, we represent the grammatical category third person plural noun phrase by:</a:t>
            </a:r>
            <a:endParaRPr sz="1500">
              <a:solidFill>
                <a:schemeClr val="dk1"/>
              </a:solidFill>
              <a:latin typeface="Times New Roman"/>
              <a:ea typeface="Times New Roman"/>
              <a:cs typeface="Times New Roman"/>
              <a:sym typeface="Times New Roman"/>
            </a:endParaRPr>
          </a:p>
        </p:txBody>
      </p:sp>
      <p:sp>
        <p:nvSpPr>
          <p:cNvPr id="878" name="Google Shape;878;p82"/>
          <p:cNvSpPr txBox="1"/>
          <p:nvPr/>
        </p:nvSpPr>
        <p:spPr>
          <a:xfrm>
            <a:off x="3739335" y="5679647"/>
            <a:ext cx="1252855" cy="596900"/>
          </a:xfrm>
          <a:prstGeom prst="rect">
            <a:avLst/>
          </a:prstGeom>
          <a:noFill/>
          <a:ln>
            <a:noFill/>
          </a:ln>
        </p:spPr>
        <p:txBody>
          <a:bodyPr spcFirstLastPara="1" wrap="square" lIns="0" tIns="12700" rIns="0" bIns="0" anchor="t" anchorCtr="0">
            <a:spAutoFit/>
          </a:bodyPr>
          <a:lstStyle/>
          <a:p>
            <a:pPr marL="12700" marR="5080" lvl="0" indent="158115" algn="l" rtl="0">
              <a:lnSpc>
                <a:spcPct val="125000"/>
              </a:lnSpc>
              <a:spcBef>
                <a:spcPts val="0"/>
              </a:spcBef>
              <a:spcAft>
                <a:spcPts val="0"/>
              </a:spcAft>
              <a:buNone/>
            </a:pPr>
            <a:r>
              <a:rPr lang="en-US" sz="1500">
                <a:solidFill>
                  <a:schemeClr val="dk1"/>
                </a:solidFill>
                <a:latin typeface="Times New Roman"/>
                <a:ea typeface="Times New Roman"/>
                <a:cs typeface="Times New Roman"/>
                <a:sym typeface="Times New Roman"/>
              </a:rPr>
              <a:t>NP  NUMBER	PL</a:t>
            </a:r>
            <a:endParaRPr sz="1500">
              <a:solidFill>
                <a:schemeClr val="dk1"/>
              </a:solidFill>
              <a:latin typeface="Times New Roman"/>
              <a:ea typeface="Times New Roman"/>
              <a:cs typeface="Times New Roman"/>
              <a:sym typeface="Times New Roman"/>
            </a:endParaRPr>
          </a:p>
        </p:txBody>
      </p:sp>
      <p:sp>
        <p:nvSpPr>
          <p:cNvPr id="879" name="Google Shape;879;p82"/>
          <p:cNvSpPr txBox="1"/>
          <p:nvPr/>
        </p:nvSpPr>
        <p:spPr>
          <a:xfrm>
            <a:off x="2327160" y="5679647"/>
            <a:ext cx="1270000" cy="882650"/>
          </a:xfrm>
          <a:prstGeom prst="rect">
            <a:avLst/>
          </a:prstGeom>
          <a:noFill/>
          <a:ln>
            <a:noFill/>
          </a:ln>
        </p:spPr>
        <p:txBody>
          <a:bodyPr spcFirstLastPara="1" wrap="square" lIns="0" tIns="12700" rIns="0" bIns="0" anchor="t" anchorCtr="0">
            <a:spAutoFit/>
          </a:bodyPr>
          <a:lstStyle/>
          <a:p>
            <a:pPr marL="12700" marR="5080" lvl="0" indent="0" algn="l" rtl="0">
              <a:lnSpc>
                <a:spcPct val="125000"/>
              </a:lnSpc>
              <a:spcBef>
                <a:spcPts val="0"/>
              </a:spcBef>
              <a:spcAft>
                <a:spcPts val="0"/>
              </a:spcAft>
              <a:buNone/>
            </a:pPr>
            <a:r>
              <a:rPr lang="en-US" sz="1500">
                <a:solidFill>
                  <a:schemeClr val="dk1"/>
                </a:solidFill>
                <a:latin typeface="Times New Roman"/>
                <a:ea typeface="Times New Roman"/>
                <a:cs typeface="Times New Roman"/>
                <a:sym typeface="Times New Roman"/>
              </a:rPr>
              <a:t>CAT  AGREEMENT  PERSON	3</a:t>
            </a:r>
            <a:endParaRPr sz="1500">
              <a:solidFill>
                <a:schemeClr val="dk1"/>
              </a:solidFill>
              <a:latin typeface="Times New Roman"/>
              <a:ea typeface="Times New Roman"/>
              <a:cs typeface="Times New Roman"/>
              <a:sym typeface="Times New Roman"/>
            </a:endParaRPr>
          </a:p>
        </p:txBody>
      </p:sp>
      <p:sp>
        <p:nvSpPr>
          <p:cNvPr id="880" name="Google Shape;880;p82"/>
          <p:cNvSpPr/>
          <p:nvPr/>
        </p:nvSpPr>
        <p:spPr>
          <a:xfrm>
            <a:off x="2136369" y="5752407"/>
            <a:ext cx="224790" cy="989965"/>
          </a:xfrm>
          <a:custGeom>
            <a:avLst/>
            <a:gdLst/>
            <a:ahLst/>
            <a:cxnLst/>
            <a:rect l="l" t="t" r="r" b="b"/>
            <a:pathLst>
              <a:path w="224789" h="989965" extrusionOk="0">
                <a:moveTo>
                  <a:pt x="224443" y="989849"/>
                </a:moveTo>
                <a:lnTo>
                  <a:pt x="153502" y="988896"/>
                </a:lnTo>
                <a:lnTo>
                  <a:pt x="91890" y="986241"/>
                </a:lnTo>
                <a:lnTo>
                  <a:pt x="43304" y="982192"/>
                </a:lnTo>
                <a:lnTo>
                  <a:pt x="11442" y="977058"/>
                </a:lnTo>
                <a:lnTo>
                  <a:pt x="0" y="971146"/>
                </a:lnTo>
                <a:lnTo>
                  <a:pt x="0" y="18702"/>
                </a:lnTo>
                <a:lnTo>
                  <a:pt x="37709" y="8326"/>
                </a:lnTo>
                <a:lnTo>
                  <a:pt x="99922" y="3142"/>
                </a:lnTo>
                <a:lnTo>
                  <a:pt x="138553" y="1423"/>
                </a:lnTo>
                <a:lnTo>
                  <a:pt x="180452" y="362"/>
                </a:lnTo>
                <a:lnTo>
                  <a:pt x="224443" y="0"/>
                </a:lnTo>
              </a:path>
            </a:pathLst>
          </a:custGeom>
          <a:noFill/>
          <a:ln w="9525" cap="flat" cmpd="sng">
            <a:solidFill>
              <a:srgbClr val="4472C4"/>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81" name="Google Shape;881;p82"/>
          <p:cNvSpPr/>
          <p:nvPr/>
        </p:nvSpPr>
        <p:spPr>
          <a:xfrm>
            <a:off x="3657600" y="6001789"/>
            <a:ext cx="307975" cy="741045"/>
          </a:xfrm>
          <a:custGeom>
            <a:avLst/>
            <a:gdLst/>
            <a:ahLst/>
            <a:cxnLst/>
            <a:rect l="l" t="t" r="r" b="b"/>
            <a:pathLst>
              <a:path w="307975" h="741045" extrusionOk="0">
                <a:moveTo>
                  <a:pt x="307570" y="740467"/>
                </a:moveTo>
                <a:lnTo>
                  <a:pt x="225806" y="739552"/>
                </a:lnTo>
                <a:lnTo>
                  <a:pt x="152334" y="736968"/>
                </a:lnTo>
                <a:lnTo>
                  <a:pt x="90085" y="732961"/>
                </a:lnTo>
                <a:lnTo>
                  <a:pt x="41992" y="727774"/>
                </a:lnTo>
                <a:lnTo>
                  <a:pt x="10986" y="721651"/>
                </a:lnTo>
                <a:lnTo>
                  <a:pt x="0" y="714838"/>
                </a:lnTo>
                <a:lnTo>
                  <a:pt x="0" y="25629"/>
                </a:lnTo>
                <a:lnTo>
                  <a:pt x="51675" y="11410"/>
                </a:lnTo>
                <a:lnTo>
                  <a:pt x="90085" y="7506"/>
                </a:lnTo>
                <a:lnTo>
                  <a:pt x="136930" y="4306"/>
                </a:lnTo>
                <a:lnTo>
                  <a:pt x="189868" y="1951"/>
                </a:lnTo>
                <a:lnTo>
                  <a:pt x="247286" y="497"/>
                </a:lnTo>
                <a:lnTo>
                  <a:pt x="307570" y="0"/>
                </a:lnTo>
              </a:path>
            </a:pathLst>
          </a:custGeom>
          <a:noFill/>
          <a:ln w="9525" cap="flat" cmpd="sng">
            <a:solidFill>
              <a:srgbClr val="4472C4"/>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82" name="Google Shape;882;p82"/>
          <p:cNvSpPr/>
          <p:nvPr/>
        </p:nvSpPr>
        <p:spPr>
          <a:xfrm>
            <a:off x="4879571" y="6001789"/>
            <a:ext cx="307975" cy="741045"/>
          </a:xfrm>
          <a:custGeom>
            <a:avLst/>
            <a:gdLst/>
            <a:ahLst/>
            <a:cxnLst/>
            <a:rect l="l" t="t" r="r" b="b"/>
            <a:pathLst>
              <a:path w="307975" h="741045" extrusionOk="0">
                <a:moveTo>
                  <a:pt x="0" y="0"/>
                </a:moveTo>
                <a:lnTo>
                  <a:pt x="81764" y="915"/>
                </a:lnTo>
                <a:lnTo>
                  <a:pt x="155237" y="3499"/>
                </a:lnTo>
                <a:lnTo>
                  <a:pt x="217485" y="7506"/>
                </a:lnTo>
                <a:lnTo>
                  <a:pt x="265578" y="12693"/>
                </a:lnTo>
                <a:lnTo>
                  <a:pt x="296584" y="18816"/>
                </a:lnTo>
                <a:lnTo>
                  <a:pt x="307571" y="25629"/>
                </a:lnTo>
                <a:lnTo>
                  <a:pt x="307571" y="714838"/>
                </a:lnTo>
                <a:lnTo>
                  <a:pt x="265578" y="727774"/>
                </a:lnTo>
                <a:lnTo>
                  <a:pt x="217485" y="732961"/>
                </a:lnTo>
                <a:lnTo>
                  <a:pt x="155237" y="736968"/>
                </a:lnTo>
                <a:lnTo>
                  <a:pt x="81764" y="739552"/>
                </a:lnTo>
                <a:lnTo>
                  <a:pt x="0" y="740467"/>
                </a:lnTo>
              </a:path>
            </a:pathLst>
          </a:custGeom>
          <a:noFill/>
          <a:ln w="9525" cap="flat" cmpd="sng">
            <a:solidFill>
              <a:srgbClr val="4472C4"/>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83" name="Google Shape;883;p82"/>
          <p:cNvSpPr/>
          <p:nvPr/>
        </p:nvSpPr>
        <p:spPr>
          <a:xfrm>
            <a:off x="5261957" y="5697394"/>
            <a:ext cx="141605" cy="1045210"/>
          </a:xfrm>
          <a:custGeom>
            <a:avLst/>
            <a:gdLst/>
            <a:ahLst/>
            <a:cxnLst/>
            <a:rect l="l" t="t" r="r" b="b"/>
            <a:pathLst>
              <a:path w="141604" h="1045209" extrusionOk="0">
                <a:moveTo>
                  <a:pt x="0" y="0"/>
                </a:moveTo>
                <a:lnTo>
                  <a:pt x="55006" y="925"/>
                </a:lnTo>
                <a:lnTo>
                  <a:pt x="99925" y="3449"/>
                </a:lnTo>
                <a:lnTo>
                  <a:pt x="130210" y="7192"/>
                </a:lnTo>
                <a:lnTo>
                  <a:pt x="141315" y="11775"/>
                </a:lnTo>
                <a:lnTo>
                  <a:pt x="141315" y="1033086"/>
                </a:lnTo>
                <a:lnTo>
                  <a:pt x="130210" y="1037670"/>
                </a:lnTo>
                <a:lnTo>
                  <a:pt x="99925" y="1041413"/>
                </a:lnTo>
                <a:lnTo>
                  <a:pt x="55006" y="1043937"/>
                </a:lnTo>
                <a:lnTo>
                  <a:pt x="0" y="1044862"/>
                </a:lnTo>
              </a:path>
            </a:pathLst>
          </a:custGeom>
          <a:noFill/>
          <a:ln w="9525" cap="flat" cmpd="sng">
            <a:solidFill>
              <a:srgbClr val="4472C4"/>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showMasterSp="0">
  <p:cSld>
    <p:spTree>
      <p:nvGrpSpPr>
        <p:cNvPr id="1" name="Shape 887"/>
        <p:cNvGrpSpPr/>
        <p:nvPr/>
      </p:nvGrpSpPr>
      <p:grpSpPr>
        <a:xfrm>
          <a:off x="0" y="0"/>
          <a:ext cx="0" cy="0"/>
          <a:chOff x="0" y="0"/>
          <a:chExt cx="0" cy="0"/>
        </a:xfrm>
      </p:grpSpPr>
      <p:sp>
        <p:nvSpPr>
          <p:cNvPr id="888" name="Google Shape;888;p83"/>
          <p:cNvSpPr txBox="1">
            <a:spLocks noGrp="1"/>
          </p:cNvSpPr>
          <p:nvPr>
            <p:ph type="title"/>
          </p:nvPr>
        </p:nvSpPr>
        <p:spPr>
          <a:xfrm>
            <a:off x="911225" y="639172"/>
            <a:ext cx="4242435" cy="69596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4400"/>
              <a:t>Feature Structures</a:t>
            </a:r>
            <a:endParaRPr sz="4400"/>
          </a:p>
        </p:txBody>
      </p:sp>
      <p:sp>
        <p:nvSpPr>
          <p:cNvPr id="889" name="Google Shape;889;p83"/>
          <p:cNvSpPr txBox="1"/>
          <p:nvPr/>
        </p:nvSpPr>
        <p:spPr>
          <a:xfrm>
            <a:off x="945492" y="1819935"/>
            <a:ext cx="9724390" cy="3277870"/>
          </a:xfrm>
          <a:prstGeom prst="rect">
            <a:avLst/>
          </a:prstGeom>
          <a:noFill/>
          <a:ln>
            <a:noFill/>
          </a:ln>
        </p:spPr>
        <p:txBody>
          <a:bodyPr spcFirstLastPara="1" wrap="square" lIns="0" tIns="43175" rIns="0" bIns="0" anchor="t" anchorCtr="0">
            <a:spAutoFit/>
          </a:bodyPr>
          <a:lstStyle/>
          <a:p>
            <a:pPr marL="207009" marR="135890" lvl="0" indent="-194945" algn="l" rtl="0">
              <a:lnSpc>
                <a:spcPct val="108333"/>
              </a:lnSpc>
              <a:spcBef>
                <a:spcPts val="0"/>
              </a:spcBef>
              <a:spcAft>
                <a:spcPts val="0"/>
              </a:spcAft>
              <a:buClr>
                <a:schemeClr val="dk1"/>
              </a:buClr>
              <a:buSzPts val="1800"/>
              <a:buFont typeface="Arial"/>
              <a:buChar char="•"/>
            </a:pPr>
            <a:r>
              <a:rPr lang="en-US" sz="1800">
                <a:solidFill>
                  <a:schemeClr val="dk1"/>
                </a:solidFill>
                <a:latin typeface="Times New Roman"/>
                <a:ea typeface="Times New Roman"/>
                <a:cs typeface="Times New Roman"/>
                <a:sym typeface="Times New Roman"/>
              </a:rPr>
              <a:t>The two most important operations we need to perform are merging the information content of the two  structures that are similar and rejecting structures that are incompatible.</a:t>
            </a:r>
            <a:endParaRPr sz="1800">
              <a:solidFill>
                <a:schemeClr val="dk1"/>
              </a:solidFill>
              <a:latin typeface="Times New Roman"/>
              <a:ea typeface="Times New Roman"/>
              <a:cs typeface="Times New Roman"/>
              <a:sym typeface="Times New Roman"/>
            </a:endParaRPr>
          </a:p>
          <a:p>
            <a:pPr marL="435609" marR="5080" lvl="1" indent="-194945" algn="l" rtl="0">
              <a:lnSpc>
                <a:spcPct val="113399"/>
              </a:lnSpc>
              <a:spcBef>
                <a:spcPts val="640"/>
              </a:spcBef>
              <a:spcAft>
                <a:spcPts val="0"/>
              </a:spcAft>
              <a:buClr>
                <a:schemeClr val="dk1"/>
              </a:buClr>
              <a:buSzPts val="1800"/>
              <a:buFont typeface="Arial"/>
              <a:buChar char="•"/>
            </a:pPr>
            <a:r>
              <a:rPr lang="en-US" sz="1800" b="0" i="0" u="none" strike="noStrike" cap="none">
                <a:solidFill>
                  <a:schemeClr val="dk1"/>
                </a:solidFill>
                <a:latin typeface="Times New Roman"/>
                <a:ea typeface="Times New Roman"/>
                <a:cs typeface="Times New Roman"/>
                <a:sym typeface="Times New Roman"/>
              </a:rPr>
              <a:t>Unification is implemented as a binary operator[U] that takes two feature structures as arguments and  returns a merged feature structure if they are compatible, otherwise reports a failure.</a:t>
            </a:r>
            <a:endParaRPr sz="1800" b="0" i="0" u="none" strike="noStrike" cap="none">
              <a:solidFill>
                <a:schemeClr val="dk1"/>
              </a:solidFill>
              <a:latin typeface="Times New Roman"/>
              <a:ea typeface="Times New Roman"/>
              <a:cs typeface="Times New Roman"/>
              <a:sym typeface="Times New Roman"/>
            </a:endParaRPr>
          </a:p>
          <a:p>
            <a:pPr marL="892810" marR="0" lvl="1" indent="-652145" algn="l" rtl="0">
              <a:lnSpc>
                <a:spcPct val="100000"/>
              </a:lnSpc>
              <a:spcBef>
                <a:spcPts val="1315"/>
              </a:spcBef>
              <a:spcAft>
                <a:spcPts val="0"/>
              </a:spcAft>
              <a:buClr>
                <a:schemeClr val="dk1"/>
              </a:buClr>
              <a:buSzPts val="1800"/>
              <a:buFont typeface="Arial"/>
              <a:buChar char="•"/>
            </a:pPr>
            <a:r>
              <a:rPr lang="en-US" sz="1800" b="0" i="0" u="none" strike="noStrike" cap="none">
                <a:solidFill>
                  <a:schemeClr val="dk1"/>
                </a:solidFill>
                <a:latin typeface="Times New Roman"/>
                <a:ea typeface="Times New Roman"/>
                <a:cs typeface="Times New Roman"/>
                <a:sym typeface="Times New Roman"/>
              </a:rPr>
              <a:t>[ NUMBER PL ] U [NUMBER PL ] = [ NUMBER PL ]</a:t>
            </a:r>
            <a:endParaRPr sz="1800" b="0" i="0" u="none" strike="noStrike" cap="none">
              <a:solidFill>
                <a:schemeClr val="dk1"/>
              </a:solidFill>
              <a:latin typeface="Times New Roman"/>
              <a:ea typeface="Times New Roman"/>
              <a:cs typeface="Times New Roman"/>
              <a:sym typeface="Times New Roman"/>
            </a:endParaRPr>
          </a:p>
          <a:p>
            <a:pPr marL="457200" marR="0" lvl="1" indent="0" algn="l" rtl="0">
              <a:lnSpc>
                <a:spcPct val="100000"/>
              </a:lnSpc>
              <a:spcBef>
                <a:spcPts val="50"/>
              </a:spcBef>
              <a:spcAft>
                <a:spcPts val="0"/>
              </a:spcAft>
              <a:buClr>
                <a:schemeClr val="dk1"/>
              </a:buClr>
              <a:buSzPts val="1950"/>
              <a:buFont typeface="Arial"/>
              <a:buNone/>
            </a:pPr>
            <a:endParaRPr sz="1950" b="0" i="0" u="none" strike="noStrike" cap="none">
              <a:solidFill>
                <a:schemeClr val="dk1"/>
              </a:solidFill>
              <a:latin typeface="Times New Roman"/>
              <a:ea typeface="Times New Roman"/>
              <a:cs typeface="Times New Roman"/>
              <a:sym typeface="Times New Roman"/>
            </a:endParaRPr>
          </a:p>
          <a:p>
            <a:pPr marL="892810" marR="0" lvl="1" indent="-652145" algn="l" rtl="0">
              <a:lnSpc>
                <a:spcPct val="100000"/>
              </a:lnSpc>
              <a:spcBef>
                <a:spcPts val="0"/>
              </a:spcBef>
              <a:spcAft>
                <a:spcPts val="0"/>
              </a:spcAft>
              <a:buClr>
                <a:schemeClr val="dk1"/>
              </a:buClr>
              <a:buSzPts val="1800"/>
              <a:buFont typeface="Arial"/>
              <a:buChar char="•"/>
            </a:pPr>
            <a:r>
              <a:rPr lang="en-US" sz="1800" b="0" i="0" u="none" strike="noStrike" cap="none">
                <a:solidFill>
                  <a:schemeClr val="dk1"/>
                </a:solidFill>
                <a:latin typeface="Times New Roman"/>
                <a:ea typeface="Times New Roman"/>
                <a:cs typeface="Times New Roman"/>
                <a:sym typeface="Times New Roman"/>
              </a:rPr>
              <a:t>[ NUMBER PL ] U [NUMBER [ ] ] = [ NUMBER PL ]</a:t>
            </a:r>
            <a:endParaRPr sz="1800" b="0" i="0" u="none" strike="noStrike" cap="none">
              <a:solidFill>
                <a:schemeClr val="dk1"/>
              </a:solidFill>
              <a:latin typeface="Times New Roman"/>
              <a:ea typeface="Times New Roman"/>
              <a:cs typeface="Times New Roman"/>
              <a:sym typeface="Times New Roman"/>
            </a:endParaRPr>
          </a:p>
          <a:p>
            <a:pPr marL="457200" marR="0" lvl="1" indent="0" algn="l" rtl="0">
              <a:lnSpc>
                <a:spcPct val="100000"/>
              </a:lnSpc>
              <a:spcBef>
                <a:spcPts val="40"/>
              </a:spcBef>
              <a:spcAft>
                <a:spcPts val="0"/>
              </a:spcAft>
              <a:buClr>
                <a:schemeClr val="dk1"/>
              </a:buClr>
              <a:buSzPts val="2000"/>
              <a:buFont typeface="Arial"/>
              <a:buNone/>
            </a:pPr>
            <a:endParaRPr sz="2000" b="0" i="0" u="none" strike="noStrike" cap="none">
              <a:solidFill>
                <a:schemeClr val="dk1"/>
              </a:solidFill>
              <a:latin typeface="Times New Roman"/>
              <a:ea typeface="Times New Roman"/>
              <a:cs typeface="Times New Roman"/>
              <a:sym typeface="Times New Roman"/>
            </a:endParaRPr>
          </a:p>
          <a:p>
            <a:pPr marL="435609" marR="0" lvl="1" indent="-194945" algn="l" rtl="0">
              <a:lnSpc>
                <a:spcPct val="100000"/>
              </a:lnSpc>
              <a:spcBef>
                <a:spcPts val="0"/>
              </a:spcBef>
              <a:spcAft>
                <a:spcPts val="0"/>
              </a:spcAft>
              <a:buClr>
                <a:schemeClr val="dk1"/>
              </a:buClr>
              <a:buSzPts val="1800"/>
              <a:buFont typeface="Arial"/>
              <a:buChar char="•"/>
            </a:pPr>
            <a:r>
              <a:rPr lang="en-US" sz="1800" b="0" i="0" u="none" strike="noStrike" cap="none">
                <a:solidFill>
                  <a:schemeClr val="dk1"/>
                </a:solidFill>
                <a:latin typeface="Times New Roman"/>
                <a:ea typeface="Times New Roman"/>
                <a:cs typeface="Times New Roman"/>
                <a:sym typeface="Times New Roman"/>
              </a:rPr>
              <a:t>NUMBER feature of the first and second structures have incompatible values.</a:t>
            </a:r>
            <a:endParaRPr sz="1800" b="0" i="0" u="none" strike="noStrike" cap="none">
              <a:solidFill>
                <a:schemeClr val="dk1"/>
              </a:solidFill>
              <a:latin typeface="Times New Roman"/>
              <a:ea typeface="Times New Roman"/>
              <a:cs typeface="Times New Roman"/>
              <a:sym typeface="Times New Roman"/>
            </a:endParaRPr>
          </a:p>
          <a:p>
            <a:pPr marL="892810" marR="0" lvl="1" indent="-652145" algn="l" rtl="0">
              <a:lnSpc>
                <a:spcPct val="100000"/>
              </a:lnSpc>
              <a:spcBef>
                <a:spcPts val="1340"/>
              </a:spcBef>
              <a:spcAft>
                <a:spcPts val="0"/>
              </a:spcAft>
              <a:buClr>
                <a:schemeClr val="dk1"/>
              </a:buClr>
              <a:buSzPts val="1800"/>
              <a:buFont typeface="Arial"/>
              <a:buChar char="•"/>
            </a:pPr>
            <a:r>
              <a:rPr lang="en-US" sz="1800" b="0" i="0" u="none" strike="noStrike" cap="none">
                <a:solidFill>
                  <a:schemeClr val="dk1"/>
                </a:solidFill>
                <a:latin typeface="Times New Roman"/>
                <a:ea typeface="Times New Roman"/>
                <a:cs typeface="Times New Roman"/>
                <a:sym typeface="Times New Roman"/>
              </a:rPr>
              <a:t>[ NUMBER PL ] U [NUMBER SG ] fails.</a:t>
            </a:r>
            <a:endParaRPr sz="1800" b="0" i="0" u="none" strike="noStrike" cap="none">
              <a:solidFill>
                <a:schemeClr val="dk1"/>
              </a:solidFill>
              <a:latin typeface="Times New Roman"/>
              <a:ea typeface="Times New Roman"/>
              <a:cs typeface="Times New Roman"/>
              <a:sym typeface="Times New Roman"/>
            </a:endParaRP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showMasterSp="0">
  <p:cSld>
    <p:spTree>
      <p:nvGrpSpPr>
        <p:cNvPr id="1" name="Shape 893"/>
        <p:cNvGrpSpPr/>
        <p:nvPr/>
      </p:nvGrpSpPr>
      <p:grpSpPr>
        <a:xfrm>
          <a:off x="0" y="0"/>
          <a:ext cx="0" cy="0"/>
          <a:chOff x="0" y="0"/>
          <a:chExt cx="0" cy="0"/>
        </a:xfrm>
      </p:grpSpPr>
      <p:sp>
        <p:nvSpPr>
          <p:cNvPr id="894" name="Google Shape;894;p84"/>
          <p:cNvSpPr txBox="1"/>
          <p:nvPr/>
        </p:nvSpPr>
        <p:spPr>
          <a:xfrm>
            <a:off x="888342" y="1703451"/>
            <a:ext cx="10098405" cy="4222750"/>
          </a:xfrm>
          <a:prstGeom prst="rect">
            <a:avLst/>
          </a:prstGeom>
          <a:noFill/>
          <a:ln>
            <a:noFill/>
          </a:ln>
        </p:spPr>
        <p:txBody>
          <a:bodyPr spcFirstLastPara="1" wrap="square" lIns="0" tIns="151125" rIns="0" bIns="0" anchor="t" anchorCtr="0">
            <a:spAutoFit/>
          </a:bodyPr>
          <a:lstStyle/>
          <a:p>
            <a:pPr marL="2321560" marR="0" lvl="0" indent="-194945" algn="l" rtl="0">
              <a:lnSpc>
                <a:spcPct val="100000"/>
              </a:lnSpc>
              <a:spcBef>
                <a:spcPts val="0"/>
              </a:spcBef>
              <a:spcAft>
                <a:spcPts val="0"/>
              </a:spcAft>
              <a:buClr>
                <a:schemeClr val="dk1"/>
              </a:buClr>
              <a:buSzPts val="1800"/>
              <a:buFont typeface="Arial"/>
              <a:buChar char="•"/>
            </a:pPr>
            <a:r>
              <a:rPr lang="en-US" sz="1800" b="1">
                <a:solidFill>
                  <a:schemeClr val="dk1"/>
                </a:solidFill>
                <a:latin typeface="Times New Roman"/>
                <a:ea typeface="Times New Roman"/>
                <a:cs typeface="Times New Roman"/>
                <a:sym typeface="Times New Roman"/>
              </a:rPr>
              <a:t>PARSING</a:t>
            </a:r>
            <a:endParaRPr sz="1800">
              <a:solidFill>
                <a:schemeClr val="dk1"/>
              </a:solidFill>
              <a:latin typeface="Times New Roman"/>
              <a:ea typeface="Times New Roman"/>
              <a:cs typeface="Times New Roman"/>
              <a:sym typeface="Times New Roman"/>
            </a:endParaRPr>
          </a:p>
          <a:p>
            <a:pPr marL="378460" marR="0" lvl="0" indent="-366394" algn="l" rtl="0">
              <a:lnSpc>
                <a:spcPct val="100000"/>
              </a:lnSpc>
              <a:spcBef>
                <a:spcPts val="1090"/>
              </a:spcBef>
              <a:spcAft>
                <a:spcPts val="0"/>
              </a:spcAft>
              <a:buClr>
                <a:schemeClr val="dk1"/>
              </a:buClr>
              <a:buSzPts val="1800"/>
              <a:buFont typeface="Lucida Sans"/>
              <a:buChar char="□"/>
            </a:pPr>
            <a:r>
              <a:rPr lang="en-US" sz="1800">
                <a:solidFill>
                  <a:schemeClr val="dk1"/>
                </a:solidFill>
                <a:latin typeface="Times New Roman"/>
                <a:ea typeface="Times New Roman"/>
                <a:cs typeface="Times New Roman"/>
                <a:sym typeface="Times New Roman"/>
              </a:rPr>
              <a:t>CFG defines the syntax of a language but does not specify how structures are assigned.</a:t>
            </a:r>
            <a:endParaRPr sz="1800">
              <a:solidFill>
                <a:schemeClr val="dk1"/>
              </a:solidFill>
              <a:latin typeface="Times New Roman"/>
              <a:ea typeface="Times New Roman"/>
              <a:cs typeface="Times New Roman"/>
              <a:sym typeface="Times New Roman"/>
            </a:endParaRPr>
          </a:p>
          <a:p>
            <a:pPr marL="378460" marR="5080" lvl="0" indent="-366394" algn="l" rtl="0">
              <a:lnSpc>
                <a:spcPct val="106500"/>
              </a:lnSpc>
              <a:spcBef>
                <a:spcPts val="1000"/>
              </a:spcBef>
              <a:spcAft>
                <a:spcPts val="0"/>
              </a:spcAft>
              <a:buClr>
                <a:schemeClr val="dk1"/>
              </a:buClr>
              <a:buSzPts val="1800"/>
              <a:buFont typeface="Lucida Sans"/>
              <a:buChar char="□"/>
            </a:pPr>
            <a:r>
              <a:rPr lang="en-US" sz="1800">
                <a:solidFill>
                  <a:schemeClr val="dk1"/>
                </a:solidFill>
                <a:latin typeface="Times New Roman"/>
                <a:ea typeface="Times New Roman"/>
                <a:cs typeface="Times New Roman"/>
                <a:sym typeface="Times New Roman"/>
              </a:rPr>
              <a:t>The task that uses the rewrite rules of a grammar to either a particular sequence of words or reconstruct its  derivation is termed as parsing</a:t>
            </a:r>
            <a:endParaRPr sz="1800">
              <a:solidFill>
                <a:schemeClr val="dk1"/>
              </a:solidFill>
              <a:latin typeface="Times New Roman"/>
              <a:ea typeface="Times New Roman"/>
              <a:cs typeface="Times New Roman"/>
              <a:sym typeface="Times New Roman"/>
            </a:endParaRPr>
          </a:p>
          <a:p>
            <a:pPr marL="378460" marR="0" lvl="0" indent="-366394" algn="l" rtl="0">
              <a:lnSpc>
                <a:spcPct val="100000"/>
              </a:lnSpc>
              <a:spcBef>
                <a:spcPts val="1090"/>
              </a:spcBef>
              <a:spcAft>
                <a:spcPts val="0"/>
              </a:spcAft>
              <a:buClr>
                <a:schemeClr val="dk1"/>
              </a:buClr>
              <a:buSzPts val="1800"/>
              <a:buFont typeface="Lucida Sans"/>
              <a:buChar char="□"/>
            </a:pPr>
            <a:r>
              <a:rPr lang="en-US" sz="1800">
                <a:solidFill>
                  <a:schemeClr val="dk1"/>
                </a:solidFill>
                <a:latin typeface="Times New Roman"/>
                <a:ea typeface="Times New Roman"/>
                <a:cs typeface="Times New Roman"/>
                <a:sym typeface="Times New Roman"/>
              </a:rPr>
              <a:t>The phrase structure tree constructed from a sentence is called a parse</a:t>
            </a:r>
            <a:endParaRPr sz="1800">
              <a:solidFill>
                <a:schemeClr val="dk1"/>
              </a:solidFill>
              <a:latin typeface="Times New Roman"/>
              <a:ea typeface="Times New Roman"/>
              <a:cs typeface="Times New Roman"/>
              <a:sym typeface="Times New Roman"/>
            </a:endParaRPr>
          </a:p>
          <a:p>
            <a:pPr marL="378460" marR="0" lvl="0" indent="-366394" algn="l" rtl="0">
              <a:lnSpc>
                <a:spcPct val="100000"/>
              </a:lnSpc>
              <a:spcBef>
                <a:spcPts val="1140"/>
              </a:spcBef>
              <a:spcAft>
                <a:spcPts val="0"/>
              </a:spcAft>
              <a:buClr>
                <a:schemeClr val="dk1"/>
              </a:buClr>
              <a:buSzPts val="1800"/>
              <a:buFont typeface="Lucida Sans"/>
              <a:buChar char="□"/>
            </a:pPr>
            <a:r>
              <a:rPr lang="en-US" sz="1800">
                <a:solidFill>
                  <a:schemeClr val="dk1"/>
                </a:solidFill>
                <a:latin typeface="Times New Roman"/>
                <a:ea typeface="Times New Roman"/>
                <a:cs typeface="Times New Roman"/>
                <a:sym typeface="Times New Roman"/>
              </a:rPr>
              <a:t>The syntactic parses is thus responsible for recognizing a sentence and assigning a syntactic structure to it</a:t>
            </a:r>
            <a:endParaRPr sz="1800">
              <a:solidFill>
                <a:schemeClr val="dk1"/>
              </a:solidFill>
              <a:latin typeface="Times New Roman"/>
              <a:ea typeface="Times New Roman"/>
              <a:cs typeface="Times New Roman"/>
              <a:sym typeface="Times New Roman"/>
            </a:endParaRPr>
          </a:p>
          <a:p>
            <a:pPr marL="378460" marR="251459" lvl="0" indent="-366394" algn="l" rtl="0">
              <a:lnSpc>
                <a:spcPct val="106500"/>
              </a:lnSpc>
              <a:spcBef>
                <a:spcPts val="1000"/>
              </a:spcBef>
              <a:spcAft>
                <a:spcPts val="0"/>
              </a:spcAft>
              <a:buClr>
                <a:schemeClr val="dk1"/>
              </a:buClr>
              <a:buSzPts val="1800"/>
              <a:buFont typeface="Lucida Sans"/>
              <a:buChar char="□"/>
            </a:pPr>
            <a:r>
              <a:rPr lang="en-US" sz="1800">
                <a:solidFill>
                  <a:schemeClr val="dk1"/>
                </a:solidFill>
                <a:latin typeface="Times New Roman"/>
                <a:ea typeface="Times New Roman"/>
                <a:cs typeface="Times New Roman"/>
                <a:sym typeface="Times New Roman"/>
              </a:rPr>
              <a:t>Its possible for many different phrase structure trees to drive the same sequence of words. This means a  sentence can have multiple parser. This phenomenon is called syntactic ambiguity</a:t>
            </a:r>
            <a:endParaRPr sz="1800">
              <a:solidFill>
                <a:schemeClr val="dk1"/>
              </a:solidFill>
              <a:latin typeface="Times New Roman"/>
              <a:ea typeface="Times New Roman"/>
              <a:cs typeface="Times New Roman"/>
              <a:sym typeface="Times New Roman"/>
            </a:endParaRPr>
          </a:p>
          <a:p>
            <a:pPr marL="378460" marR="179070" lvl="0" indent="-366394" algn="l" rtl="0">
              <a:lnSpc>
                <a:spcPct val="106500"/>
              </a:lnSpc>
              <a:spcBef>
                <a:spcPts val="944"/>
              </a:spcBef>
              <a:spcAft>
                <a:spcPts val="0"/>
              </a:spcAft>
              <a:buClr>
                <a:schemeClr val="dk1"/>
              </a:buClr>
              <a:buSzPts val="1800"/>
              <a:buFont typeface="Lucida Sans"/>
              <a:buChar char="□"/>
            </a:pPr>
            <a:r>
              <a:rPr lang="en-US" sz="1800">
                <a:solidFill>
                  <a:schemeClr val="dk1"/>
                </a:solidFill>
                <a:latin typeface="Times New Roman"/>
                <a:ea typeface="Times New Roman"/>
                <a:cs typeface="Times New Roman"/>
                <a:sym typeface="Times New Roman"/>
              </a:rPr>
              <a:t>Garden pathing is another phenomenon related to syntactic parsing -&gt; process of constructing a parse by  exploring the parse tree along different paths, one after the other till the right one is found</a:t>
            </a:r>
            <a:endParaRPr sz="1800">
              <a:solidFill>
                <a:schemeClr val="dk1"/>
              </a:solidFill>
              <a:latin typeface="Times New Roman"/>
              <a:ea typeface="Times New Roman"/>
              <a:cs typeface="Times New Roman"/>
              <a:sym typeface="Times New Roman"/>
            </a:endParaRPr>
          </a:p>
          <a:p>
            <a:pPr marL="492759" marR="0" lvl="1" indent="-194945" algn="l" rtl="0">
              <a:lnSpc>
                <a:spcPct val="100000"/>
              </a:lnSpc>
              <a:spcBef>
                <a:spcPts val="1090"/>
              </a:spcBef>
              <a:spcAft>
                <a:spcPts val="0"/>
              </a:spcAft>
              <a:buClr>
                <a:schemeClr val="dk1"/>
              </a:buClr>
              <a:buSzPts val="1800"/>
              <a:buFont typeface="Arial"/>
              <a:buChar char="•"/>
            </a:pPr>
            <a:r>
              <a:rPr lang="en-US" sz="1800" b="0" i="0" u="none" strike="noStrike" cap="none">
                <a:solidFill>
                  <a:schemeClr val="dk1"/>
                </a:solidFill>
                <a:latin typeface="Times New Roman"/>
                <a:ea typeface="Times New Roman"/>
                <a:cs typeface="Times New Roman"/>
                <a:sym typeface="Times New Roman"/>
              </a:rPr>
              <a:t>Eg:- The horse ran past the barn fell</a:t>
            </a:r>
            <a:endParaRPr sz="1800" b="0" i="0" u="none" strike="noStrike" cap="none">
              <a:solidFill>
                <a:schemeClr val="dk1"/>
              </a:solidFill>
              <a:latin typeface="Times New Roman"/>
              <a:ea typeface="Times New Roman"/>
              <a:cs typeface="Times New Roman"/>
              <a:sym typeface="Times New Roman"/>
            </a:endParaRP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showMasterSp="0">
  <p:cSld>
    <p:spTree>
      <p:nvGrpSpPr>
        <p:cNvPr id="1" name="Shape 898"/>
        <p:cNvGrpSpPr/>
        <p:nvPr/>
      </p:nvGrpSpPr>
      <p:grpSpPr>
        <a:xfrm>
          <a:off x="0" y="0"/>
          <a:ext cx="0" cy="0"/>
          <a:chOff x="0" y="0"/>
          <a:chExt cx="0" cy="0"/>
        </a:xfrm>
      </p:grpSpPr>
      <p:sp>
        <p:nvSpPr>
          <p:cNvPr id="899" name="Google Shape;899;p85"/>
          <p:cNvSpPr txBox="1"/>
          <p:nvPr/>
        </p:nvSpPr>
        <p:spPr>
          <a:xfrm>
            <a:off x="945492" y="1801876"/>
            <a:ext cx="10130155" cy="2956560"/>
          </a:xfrm>
          <a:prstGeom prst="rect">
            <a:avLst/>
          </a:prstGeom>
          <a:noFill/>
          <a:ln>
            <a:noFill/>
          </a:ln>
        </p:spPr>
        <p:txBody>
          <a:bodyPr spcFirstLastPara="1" wrap="square" lIns="0" tIns="12700" rIns="0" bIns="0" anchor="t" anchorCtr="0">
            <a:spAutoFit/>
          </a:bodyPr>
          <a:lstStyle/>
          <a:p>
            <a:pPr marL="435609" marR="5080" lvl="0" indent="-194945" algn="l" rtl="0">
              <a:lnSpc>
                <a:spcPct val="114599"/>
              </a:lnSpc>
              <a:spcBef>
                <a:spcPts val="0"/>
              </a:spcBef>
              <a:spcAft>
                <a:spcPts val="0"/>
              </a:spcAft>
              <a:buClr>
                <a:schemeClr val="dk1"/>
              </a:buClr>
              <a:buSzPts val="1800"/>
              <a:buFont typeface="Arial"/>
              <a:buChar char="•"/>
            </a:pPr>
            <a:r>
              <a:rPr lang="en-US" sz="1800">
                <a:solidFill>
                  <a:schemeClr val="dk1"/>
                </a:solidFill>
                <a:latin typeface="Times New Roman"/>
                <a:ea typeface="Times New Roman"/>
                <a:cs typeface="Times New Roman"/>
                <a:sym typeface="Times New Roman"/>
              </a:rPr>
              <a:t>Finding the right parse can be viewed as a search process. The search finds all trees whose root is the start  symbols and whose leaves cover exactly the word in the input.</a:t>
            </a:r>
            <a:endParaRPr sz="1800">
              <a:solidFill>
                <a:schemeClr val="dk1"/>
              </a:solidFill>
              <a:latin typeface="Times New Roman"/>
              <a:ea typeface="Times New Roman"/>
              <a:cs typeface="Times New Roman"/>
              <a:sym typeface="Times New Roman"/>
            </a:endParaRPr>
          </a:p>
          <a:p>
            <a:pPr marL="435609" marR="113029" lvl="0" indent="-194945" algn="l" rtl="0">
              <a:lnSpc>
                <a:spcPct val="113399"/>
              </a:lnSpc>
              <a:spcBef>
                <a:spcPts val="1025"/>
              </a:spcBef>
              <a:spcAft>
                <a:spcPts val="0"/>
              </a:spcAft>
              <a:buClr>
                <a:schemeClr val="dk1"/>
              </a:buClr>
              <a:buSzPts val="1800"/>
              <a:buFont typeface="Arial"/>
              <a:buChar char="•"/>
            </a:pPr>
            <a:r>
              <a:rPr lang="en-US" sz="1800">
                <a:solidFill>
                  <a:schemeClr val="dk1"/>
                </a:solidFill>
                <a:latin typeface="Times New Roman"/>
                <a:ea typeface="Times New Roman"/>
                <a:cs typeface="Times New Roman"/>
                <a:sym typeface="Times New Roman"/>
              </a:rPr>
              <a:t>The search space is this conception corresponds to all parse trees defined by the grammar. The following  constraints guide the search process:</a:t>
            </a:r>
            <a:endParaRPr sz="1800">
              <a:solidFill>
                <a:schemeClr val="dk1"/>
              </a:solidFill>
              <a:latin typeface="Times New Roman"/>
              <a:ea typeface="Times New Roman"/>
              <a:cs typeface="Times New Roman"/>
              <a:sym typeface="Times New Roman"/>
            </a:endParaRPr>
          </a:p>
          <a:p>
            <a:pPr marL="321310" marR="60325" lvl="0" indent="-287655" algn="l" rtl="0">
              <a:lnSpc>
                <a:spcPct val="113399"/>
              </a:lnSpc>
              <a:spcBef>
                <a:spcPts val="1025"/>
              </a:spcBef>
              <a:spcAft>
                <a:spcPts val="0"/>
              </a:spcAft>
              <a:buClr>
                <a:schemeClr val="dk1"/>
              </a:buClr>
              <a:buSzPts val="1800"/>
              <a:buFont typeface="Lucida Sans"/>
              <a:buChar char="∙"/>
            </a:pPr>
            <a:r>
              <a:rPr lang="en-US" sz="1800">
                <a:solidFill>
                  <a:schemeClr val="dk1"/>
                </a:solidFill>
                <a:latin typeface="Times New Roman"/>
                <a:ea typeface="Times New Roman"/>
                <a:cs typeface="Times New Roman"/>
                <a:sym typeface="Times New Roman"/>
              </a:rPr>
              <a:t>Input : The first constraint comes from the words on the input sentence.	A valid parse is one that covers  all the words in a sentence. Hence these words must constitute the leaves of the final parse tree.</a:t>
            </a:r>
            <a:endParaRPr sz="1800">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None/>
            </a:pPr>
            <a:endParaRPr sz="2050">
              <a:solidFill>
                <a:schemeClr val="dk1"/>
              </a:solidFill>
              <a:latin typeface="Times New Roman"/>
              <a:ea typeface="Times New Roman"/>
              <a:cs typeface="Times New Roman"/>
              <a:sym typeface="Times New Roman"/>
            </a:endParaRPr>
          </a:p>
          <a:p>
            <a:pPr marL="207009" marR="128904" lvl="0" indent="-194945" algn="l" rtl="0">
              <a:lnSpc>
                <a:spcPct val="110000"/>
              </a:lnSpc>
              <a:spcBef>
                <a:spcPts val="0"/>
              </a:spcBef>
              <a:spcAft>
                <a:spcPts val="0"/>
              </a:spcAft>
              <a:buClr>
                <a:schemeClr val="dk1"/>
              </a:buClr>
              <a:buSzPts val="1800"/>
              <a:buFont typeface="Arial"/>
              <a:buChar char="•"/>
            </a:pPr>
            <a:r>
              <a:rPr lang="en-US" sz="1800">
                <a:solidFill>
                  <a:schemeClr val="dk1"/>
                </a:solidFill>
                <a:latin typeface="Times New Roman"/>
                <a:ea typeface="Times New Roman"/>
                <a:cs typeface="Times New Roman"/>
                <a:sym typeface="Times New Roman"/>
              </a:rPr>
              <a:t>Grammar : The second kind of constraint comes from the grammar. The root of the final parse tree must be  the start symbol of the grammar</a:t>
            </a:r>
            <a:endParaRPr sz="1800">
              <a:solidFill>
                <a:schemeClr val="dk1"/>
              </a:solidFill>
              <a:latin typeface="Times New Roman"/>
              <a:ea typeface="Times New Roman"/>
              <a:cs typeface="Times New Roman"/>
              <a:sym typeface="Times New Roman"/>
            </a:endParaRP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showMasterSp="0">
  <p:cSld>
    <p:spTree>
      <p:nvGrpSpPr>
        <p:cNvPr id="1" name="Shape 903"/>
        <p:cNvGrpSpPr/>
        <p:nvPr/>
      </p:nvGrpSpPr>
      <p:grpSpPr>
        <a:xfrm>
          <a:off x="0" y="0"/>
          <a:ext cx="0" cy="0"/>
          <a:chOff x="0" y="0"/>
          <a:chExt cx="0" cy="0"/>
        </a:xfrm>
      </p:grpSpPr>
      <p:sp>
        <p:nvSpPr>
          <p:cNvPr id="904" name="Google Shape;904;p86"/>
          <p:cNvSpPr txBox="1">
            <a:spLocks noGrp="1"/>
          </p:cNvSpPr>
          <p:nvPr>
            <p:ph type="title"/>
          </p:nvPr>
        </p:nvSpPr>
        <p:spPr>
          <a:xfrm>
            <a:off x="911225" y="339134"/>
            <a:ext cx="4368800" cy="69596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4400" b="1">
                <a:latin typeface="Times New Roman"/>
                <a:ea typeface="Times New Roman"/>
                <a:cs typeface="Times New Roman"/>
                <a:sym typeface="Times New Roman"/>
              </a:rPr>
              <a:t>Top down parsing</a:t>
            </a:r>
            <a:endParaRPr sz="4400">
              <a:latin typeface="Times New Roman"/>
              <a:ea typeface="Times New Roman"/>
              <a:cs typeface="Times New Roman"/>
              <a:sym typeface="Times New Roman"/>
            </a:endParaRPr>
          </a:p>
        </p:txBody>
      </p:sp>
      <p:sp>
        <p:nvSpPr>
          <p:cNvPr id="905" name="Google Shape;905;p86"/>
          <p:cNvSpPr txBox="1"/>
          <p:nvPr/>
        </p:nvSpPr>
        <p:spPr>
          <a:xfrm>
            <a:off x="962467" y="1483826"/>
            <a:ext cx="10227945" cy="4213225"/>
          </a:xfrm>
          <a:prstGeom prst="rect">
            <a:avLst/>
          </a:prstGeom>
          <a:noFill/>
          <a:ln>
            <a:noFill/>
          </a:ln>
        </p:spPr>
        <p:txBody>
          <a:bodyPr spcFirstLastPara="1" wrap="square" lIns="0" tIns="151125" rIns="0" bIns="0" anchor="t" anchorCtr="0">
            <a:spAutoFit/>
          </a:bodyPr>
          <a:lstStyle/>
          <a:p>
            <a:pPr marL="304165" marR="0" lvl="0" indent="-292100" algn="l" rtl="0">
              <a:lnSpc>
                <a:spcPct val="100000"/>
              </a:lnSpc>
              <a:spcBef>
                <a:spcPts val="0"/>
              </a:spcBef>
              <a:spcAft>
                <a:spcPts val="0"/>
              </a:spcAft>
              <a:buClr>
                <a:schemeClr val="dk1"/>
              </a:buClr>
              <a:buSzPts val="1650"/>
              <a:buFont typeface="Lucida Sans"/>
              <a:buChar char="∙"/>
            </a:pPr>
            <a:r>
              <a:rPr lang="en-US" sz="1650">
                <a:solidFill>
                  <a:schemeClr val="dk1"/>
                </a:solidFill>
                <a:latin typeface="Times New Roman"/>
                <a:ea typeface="Times New Roman"/>
                <a:cs typeface="Times New Roman"/>
                <a:sym typeface="Times New Roman"/>
              </a:rPr>
              <a:t>Starts its search from the root node S and works downward towards the leaves</a:t>
            </a:r>
            <a:endParaRPr sz="1650">
              <a:solidFill>
                <a:schemeClr val="dk1"/>
              </a:solidFill>
              <a:latin typeface="Times New Roman"/>
              <a:ea typeface="Times New Roman"/>
              <a:cs typeface="Times New Roman"/>
              <a:sym typeface="Times New Roman"/>
            </a:endParaRPr>
          </a:p>
          <a:p>
            <a:pPr marL="304165" marR="0" lvl="0" indent="-292100" algn="l" rtl="0">
              <a:lnSpc>
                <a:spcPct val="100000"/>
              </a:lnSpc>
              <a:spcBef>
                <a:spcPts val="1095"/>
              </a:spcBef>
              <a:spcAft>
                <a:spcPts val="0"/>
              </a:spcAft>
              <a:buClr>
                <a:schemeClr val="dk1"/>
              </a:buClr>
              <a:buSzPts val="1650"/>
              <a:buFont typeface="Lucida Sans"/>
              <a:buChar char="∙"/>
            </a:pPr>
            <a:r>
              <a:rPr lang="en-US" sz="1650">
                <a:solidFill>
                  <a:schemeClr val="dk1"/>
                </a:solidFill>
                <a:latin typeface="Times New Roman"/>
                <a:ea typeface="Times New Roman"/>
                <a:cs typeface="Times New Roman"/>
                <a:sym typeface="Times New Roman"/>
              </a:rPr>
              <a:t>The input can be derived from the designated start symbol S, of the grammar</a:t>
            </a:r>
            <a:endParaRPr sz="1650">
              <a:solidFill>
                <a:schemeClr val="dk1"/>
              </a:solidFill>
              <a:latin typeface="Times New Roman"/>
              <a:ea typeface="Times New Roman"/>
              <a:cs typeface="Times New Roman"/>
              <a:sym typeface="Times New Roman"/>
            </a:endParaRPr>
          </a:p>
          <a:p>
            <a:pPr marL="304165" marR="0" lvl="0" indent="-292100" algn="l" rtl="0">
              <a:lnSpc>
                <a:spcPct val="100000"/>
              </a:lnSpc>
              <a:spcBef>
                <a:spcPts val="1095"/>
              </a:spcBef>
              <a:spcAft>
                <a:spcPts val="0"/>
              </a:spcAft>
              <a:buClr>
                <a:schemeClr val="dk1"/>
              </a:buClr>
              <a:buSzPts val="1650"/>
              <a:buFont typeface="Lucida Sans"/>
              <a:buChar char="∙"/>
            </a:pPr>
            <a:r>
              <a:rPr lang="en-US" sz="1650">
                <a:solidFill>
                  <a:schemeClr val="dk1"/>
                </a:solidFill>
                <a:latin typeface="Times New Roman"/>
                <a:ea typeface="Times New Roman"/>
                <a:cs typeface="Times New Roman"/>
                <a:sym typeface="Times New Roman"/>
              </a:rPr>
              <a:t>The next step is to find all sub trees which can start with S</a:t>
            </a:r>
            <a:endParaRPr sz="1650">
              <a:solidFill>
                <a:schemeClr val="dk1"/>
              </a:solidFill>
              <a:latin typeface="Times New Roman"/>
              <a:ea typeface="Times New Roman"/>
              <a:cs typeface="Times New Roman"/>
              <a:sym typeface="Times New Roman"/>
            </a:endParaRPr>
          </a:p>
          <a:p>
            <a:pPr marL="304165" marR="124460" lvl="0" indent="-292100" algn="l" rtl="0">
              <a:lnSpc>
                <a:spcPct val="104800"/>
              </a:lnSpc>
              <a:spcBef>
                <a:spcPts val="1000"/>
              </a:spcBef>
              <a:spcAft>
                <a:spcPts val="0"/>
              </a:spcAft>
              <a:buClr>
                <a:schemeClr val="dk1"/>
              </a:buClr>
              <a:buSzPts val="1650"/>
              <a:buFont typeface="Lucida Sans"/>
              <a:buChar char="∙"/>
            </a:pPr>
            <a:r>
              <a:rPr lang="en-US" sz="1650">
                <a:solidFill>
                  <a:schemeClr val="dk1"/>
                </a:solidFill>
                <a:latin typeface="Times New Roman"/>
                <a:ea typeface="Times New Roman"/>
                <a:cs typeface="Times New Roman"/>
                <a:sym typeface="Times New Roman"/>
              </a:rPr>
              <a:t>To generate the sub trees of all second level search expand the root node using all the grammar rules with S on their  left hand side</a:t>
            </a:r>
            <a:endParaRPr sz="1650">
              <a:solidFill>
                <a:schemeClr val="dk1"/>
              </a:solidFill>
              <a:latin typeface="Times New Roman"/>
              <a:ea typeface="Times New Roman"/>
              <a:cs typeface="Times New Roman"/>
              <a:sym typeface="Times New Roman"/>
            </a:endParaRPr>
          </a:p>
          <a:p>
            <a:pPr marL="304165" marR="0" lvl="0" indent="-292100" algn="l" rtl="0">
              <a:lnSpc>
                <a:spcPct val="100000"/>
              </a:lnSpc>
              <a:spcBef>
                <a:spcPts val="1120"/>
              </a:spcBef>
              <a:spcAft>
                <a:spcPts val="0"/>
              </a:spcAft>
              <a:buClr>
                <a:schemeClr val="dk1"/>
              </a:buClr>
              <a:buSzPts val="1650"/>
              <a:buFont typeface="Lucida Sans"/>
              <a:buChar char="∙"/>
            </a:pPr>
            <a:r>
              <a:rPr lang="en-US" sz="1650">
                <a:solidFill>
                  <a:schemeClr val="dk1"/>
                </a:solidFill>
                <a:latin typeface="Times New Roman"/>
                <a:ea typeface="Times New Roman"/>
                <a:cs typeface="Times New Roman"/>
                <a:sym typeface="Times New Roman"/>
              </a:rPr>
              <a:t>Each non-terminal symbol in the resulting sub trees is expanded next using the grammar rules having a matching non</a:t>
            </a:r>
            <a:endParaRPr sz="1650">
              <a:solidFill>
                <a:schemeClr val="dk1"/>
              </a:solidFill>
              <a:latin typeface="Times New Roman"/>
              <a:ea typeface="Times New Roman"/>
              <a:cs typeface="Times New Roman"/>
              <a:sym typeface="Times New Roman"/>
            </a:endParaRPr>
          </a:p>
          <a:p>
            <a:pPr marL="304165" marR="0" lvl="0" indent="0" algn="l" rtl="0">
              <a:lnSpc>
                <a:spcPct val="100000"/>
              </a:lnSpc>
              <a:spcBef>
                <a:spcPts val="95"/>
              </a:spcBef>
              <a:spcAft>
                <a:spcPts val="0"/>
              </a:spcAft>
              <a:buNone/>
            </a:pPr>
            <a:r>
              <a:rPr lang="en-US" sz="1650">
                <a:solidFill>
                  <a:schemeClr val="dk1"/>
                </a:solidFill>
                <a:latin typeface="Times New Roman"/>
                <a:ea typeface="Times New Roman"/>
                <a:cs typeface="Times New Roman"/>
                <a:sym typeface="Times New Roman"/>
              </a:rPr>
              <a:t>– terminal symbol on their left hand side</a:t>
            </a:r>
            <a:endParaRPr sz="1650">
              <a:solidFill>
                <a:schemeClr val="dk1"/>
              </a:solidFill>
              <a:latin typeface="Times New Roman"/>
              <a:ea typeface="Times New Roman"/>
              <a:cs typeface="Times New Roman"/>
              <a:sym typeface="Times New Roman"/>
            </a:endParaRPr>
          </a:p>
          <a:p>
            <a:pPr marL="304165" marR="0" lvl="0" indent="-292100" algn="l" rtl="0">
              <a:lnSpc>
                <a:spcPct val="100000"/>
              </a:lnSpc>
              <a:spcBef>
                <a:spcPts val="1120"/>
              </a:spcBef>
              <a:spcAft>
                <a:spcPts val="0"/>
              </a:spcAft>
              <a:buClr>
                <a:schemeClr val="dk1"/>
              </a:buClr>
              <a:buSzPts val="1650"/>
              <a:buFont typeface="Lucida Sans"/>
              <a:buChar char="∙"/>
            </a:pPr>
            <a:r>
              <a:rPr lang="en-US" sz="1650">
                <a:solidFill>
                  <a:schemeClr val="dk1"/>
                </a:solidFill>
                <a:latin typeface="Times New Roman"/>
                <a:ea typeface="Times New Roman"/>
                <a:cs typeface="Times New Roman"/>
                <a:sym typeface="Times New Roman"/>
              </a:rPr>
              <a:t>The right hand side of the grammar rules provide the nodes to be generated, which are then expanded recursively</a:t>
            </a:r>
            <a:endParaRPr sz="1650">
              <a:solidFill>
                <a:schemeClr val="dk1"/>
              </a:solidFill>
              <a:latin typeface="Times New Roman"/>
              <a:ea typeface="Times New Roman"/>
              <a:cs typeface="Times New Roman"/>
              <a:sym typeface="Times New Roman"/>
            </a:endParaRPr>
          </a:p>
          <a:p>
            <a:pPr marL="304165" marR="358775" lvl="0" indent="-292100" algn="l" rtl="0">
              <a:lnSpc>
                <a:spcPct val="104800"/>
              </a:lnSpc>
              <a:spcBef>
                <a:spcPts val="1000"/>
              </a:spcBef>
              <a:spcAft>
                <a:spcPts val="0"/>
              </a:spcAft>
              <a:buClr>
                <a:schemeClr val="dk1"/>
              </a:buClr>
              <a:buSzPts val="1650"/>
              <a:buFont typeface="Lucida Sans"/>
              <a:buChar char="∙"/>
            </a:pPr>
            <a:r>
              <a:rPr lang="en-US" sz="1650">
                <a:solidFill>
                  <a:schemeClr val="dk1"/>
                </a:solidFill>
                <a:latin typeface="Times New Roman"/>
                <a:ea typeface="Times New Roman"/>
                <a:cs typeface="Times New Roman"/>
                <a:sym typeface="Times New Roman"/>
              </a:rPr>
              <a:t>As the expansion continues, the tree grows downward and eventually reaches a state where the bottom of the tree  consists of part of speech categories</a:t>
            </a:r>
            <a:endParaRPr sz="1650">
              <a:solidFill>
                <a:schemeClr val="dk1"/>
              </a:solidFill>
              <a:latin typeface="Times New Roman"/>
              <a:ea typeface="Times New Roman"/>
              <a:cs typeface="Times New Roman"/>
              <a:sym typeface="Times New Roman"/>
            </a:endParaRPr>
          </a:p>
          <a:p>
            <a:pPr marL="304165" marR="521969" lvl="0" indent="-292100" algn="l" rtl="0">
              <a:lnSpc>
                <a:spcPct val="104800"/>
              </a:lnSpc>
              <a:spcBef>
                <a:spcPts val="1025"/>
              </a:spcBef>
              <a:spcAft>
                <a:spcPts val="0"/>
              </a:spcAft>
              <a:buClr>
                <a:schemeClr val="dk1"/>
              </a:buClr>
              <a:buSzPts val="1650"/>
              <a:buFont typeface="Lucida Sans"/>
              <a:buChar char="∙"/>
            </a:pPr>
            <a:r>
              <a:rPr lang="en-US" sz="1650">
                <a:solidFill>
                  <a:schemeClr val="dk1"/>
                </a:solidFill>
                <a:latin typeface="Times New Roman"/>
                <a:ea typeface="Times New Roman"/>
                <a:cs typeface="Times New Roman"/>
                <a:sym typeface="Times New Roman"/>
              </a:rPr>
              <a:t>All trees whose leaves do not match words in the input sentence are rejected, learning only trees that represents  successful parses, matches exactly with the words in the input sequence.</a:t>
            </a:r>
            <a:endParaRPr sz="1650">
              <a:solidFill>
                <a:schemeClr val="dk1"/>
              </a:solidFill>
              <a:latin typeface="Times New Roman"/>
              <a:ea typeface="Times New Roman"/>
              <a:cs typeface="Times New Roman"/>
              <a:sym typeface="Times New Roman"/>
            </a:endParaRP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showMasterSp="0">
  <p:cSld>
    <p:spTree>
      <p:nvGrpSpPr>
        <p:cNvPr id="1" name="Shape 909"/>
        <p:cNvGrpSpPr/>
        <p:nvPr/>
      </p:nvGrpSpPr>
      <p:grpSpPr>
        <a:xfrm>
          <a:off x="0" y="0"/>
          <a:ext cx="0" cy="0"/>
          <a:chOff x="0" y="0"/>
          <a:chExt cx="0" cy="0"/>
        </a:xfrm>
      </p:grpSpPr>
      <p:sp>
        <p:nvSpPr>
          <p:cNvPr id="910" name="Google Shape;910;p87"/>
          <p:cNvSpPr txBox="1"/>
          <p:nvPr/>
        </p:nvSpPr>
        <p:spPr>
          <a:xfrm>
            <a:off x="1163822" y="1836943"/>
            <a:ext cx="2367280" cy="3878579"/>
          </a:xfrm>
          <a:prstGeom prst="rect">
            <a:avLst/>
          </a:prstGeom>
          <a:noFill/>
          <a:ln>
            <a:noFill/>
          </a:ln>
        </p:spPr>
        <p:txBody>
          <a:bodyPr spcFirstLastPara="1" wrap="square" lIns="0" tIns="13950" rIns="0" bIns="0" anchor="t" anchorCtr="0">
            <a:spAutoFit/>
          </a:bodyPr>
          <a:lstStyle/>
          <a:p>
            <a:pPr marL="217170" marR="0" lvl="0" indent="-205104" algn="l" rtl="0">
              <a:lnSpc>
                <a:spcPct val="100000"/>
              </a:lnSpc>
              <a:spcBef>
                <a:spcPts val="0"/>
              </a:spcBef>
              <a:spcAft>
                <a:spcPts val="0"/>
              </a:spcAft>
              <a:buClr>
                <a:schemeClr val="dk1"/>
              </a:buClr>
              <a:buSzPts val="1250"/>
              <a:buFont typeface="Arial"/>
              <a:buChar char="•"/>
            </a:pPr>
            <a:r>
              <a:rPr lang="en-US" sz="1250">
                <a:solidFill>
                  <a:schemeClr val="dk1"/>
                </a:solidFill>
                <a:latin typeface="Times New Roman"/>
                <a:ea typeface="Times New Roman"/>
                <a:cs typeface="Times New Roman"/>
                <a:sym typeface="Times New Roman"/>
              </a:rPr>
              <a:t>S□ NP VP</a:t>
            </a:r>
            <a:endParaRPr sz="1250">
              <a:solidFill>
                <a:schemeClr val="dk1"/>
              </a:solidFill>
              <a:latin typeface="Times New Roman"/>
              <a:ea typeface="Times New Roman"/>
              <a:cs typeface="Times New Roman"/>
              <a:sym typeface="Times New Roman"/>
            </a:endParaRPr>
          </a:p>
          <a:p>
            <a:pPr marL="217170" marR="0" lvl="0" indent="-205104" algn="l" rtl="0">
              <a:lnSpc>
                <a:spcPct val="100000"/>
              </a:lnSpc>
              <a:spcBef>
                <a:spcPts val="925"/>
              </a:spcBef>
              <a:spcAft>
                <a:spcPts val="0"/>
              </a:spcAft>
              <a:buClr>
                <a:schemeClr val="dk1"/>
              </a:buClr>
              <a:buSzPts val="1250"/>
              <a:buFont typeface="Arial"/>
              <a:buChar char="•"/>
            </a:pPr>
            <a:r>
              <a:rPr lang="en-US" sz="1250">
                <a:solidFill>
                  <a:schemeClr val="dk1"/>
                </a:solidFill>
                <a:latin typeface="Times New Roman"/>
                <a:ea typeface="Times New Roman"/>
                <a:cs typeface="Times New Roman"/>
                <a:sym typeface="Times New Roman"/>
              </a:rPr>
              <a:t>S□VP</a:t>
            </a:r>
            <a:endParaRPr sz="1250">
              <a:solidFill>
                <a:schemeClr val="dk1"/>
              </a:solidFill>
              <a:latin typeface="Times New Roman"/>
              <a:ea typeface="Times New Roman"/>
              <a:cs typeface="Times New Roman"/>
              <a:sym typeface="Times New Roman"/>
            </a:endParaRPr>
          </a:p>
          <a:p>
            <a:pPr marL="217170" marR="0" lvl="0" indent="-205104" algn="l" rtl="0">
              <a:lnSpc>
                <a:spcPct val="100000"/>
              </a:lnSpc>
              <a:spcBef>
                <a:spcPts val="900"/>
              </a:spcBef>
              <a:spcAft>
                <a:spcPts val="0"/>
              </a:spcAft>
              <a:buClr>
                <a:schemeClr val="dk1"/>
              </a:buClr>
              <a:buSzPts val="1250"/>
              <a:buFont typeface="Arial"/>
              <a:buChar char="•"/>
            </a:pPr>
            <a:r>
              <a:rPr lang="en-US" sz="1250">
                <a:solidFill>
                  <a:schemeClr val="dk1"/>
                </a:solidFill>
                <a:latin typeface="Times New Roman"/>
                <a:ea typeface="Times New Roman"/>
                <a:cs typeface="Times New Roman"/>
                <a:sym typeface="Times New Roman"/>
              </a:rPr>
              <a:t>NP□ Det Nominal NP□ noun</a:t>
            </a:r>
            <a:endParaRPr sz="1250">
              <a:solidFill>
                <a:schemeClr val="dk1"/>
              </a:solidFill>
              <a:latin typeface="Times New Roman"/>
              <a:ea typeface="Times New Roman"/>
              <a:cs typeface="Times New Roman"/>
              <a:sym typeface="Times New Roman"/>
            </a:endParaRPr>
          </a:p>
          <a:p>
            <a:pPr marL="217170" marR="0" lvl="0" indent="-205104" algn="l" rtl="0">
              <a:lnSpc>
                <a:spcPct val="100000"/>
              </a:lnSpc>
              <a:spcBef>
                <a:spcPts val="900"/>
              </a:spcBef>
              <a:spcAft>
                <a:spcPts val="0"/>
              </a:spcAft>
              <a:buClr>
                <a:schemeClr val="dk1"/>
              </a:buClr>
              <a:buSzPts val="1250"/>
              <a:buFont typeface="Arial"/>
              <a:buChar char="•"/>
            </a:pPr>
            <a:r>
              <a:rPr lang="en-US" sz="1250">
                <a:solidFill>
                  <a:schemeClr val="dk1"/>
                </a:solidFill>
                <a:latin typeface="Times New Roman"/>
                <a:ea typeface="Times New Roman"/>
                <a:cs typeface="Times New Roman"/>
                <a:sym typeface="Times New Roman"/>
              </a:rPr>
              <a:t>NP□ Det noun PP</a:t>
            </a:r>
            <a:endParaRPr sz="1250">
              <a:solidFill>
                <a:schemeClr val="dk1"/>
              </a:solidFill>
              <a:latin typeface="Times New Roman"/>
              <a:ea typeface="Times New Roman"/>
              <a:cs typeface="Times New Roman"/>
              <a:sym typeface="Times New Roman"/>
            </a:endParaRPr>
          </a:p>
          <a:p>
            <a:pPr marL="217170" marR="0" lvl="0" indent="-205104" algn="l" rtl="0">
              <a:lnSpc>
                <a:spcPct val="100000"/>
              </a:lnSpc>
              <a:spcBef>
                <a:spcPts val="900"/>
              </a:spcBef>
              <a:spcAft>
                <a:spcPts val="0"/>
              </a:spcAft>
              <a:buClr>
                <a:schemeClr val="dk1"/>
              </a:buClr>
              <a:buSzPts val="1250"/>
              <a:buFont typeface="Arial"/>
              <a:buChar char="•"/>
            </a:pPr>
            <a:r>
              <a:rPr lang="en-US" sz="1250">
                <a:solidFill>
                  <a:schemeClr val="dk1"/>
                </a:solidFill>
                <a:latin typeface="Times New Roman"/>
                <a:ea typeface="Times New Roman"/>
                <a:cs typeface="Times New Roman"/>
                <a:sym typeface="Times New Roman"/>
              </a:rPr>
              <a:t>Nominal□Noun</a:t>
            </a:r>
            <a:endParaRPr sz="1250">
              <a:solidFill>
                <a:schemeClr val="dk1"/>
              </a:solidFill>
              <a:latin typeface="Times New Roman"/>
              <a:ea typeface="Times New Roman"/>
              <a:cs typeface="Times New Roman"/>
              <a:sym typeface="Times New Roman"/>
            </a:endParaRPr>
          </a:p>
          <a:p>
            <a:pPr marL="217170" marR="0" lvl="0" indent="-205104" algn="l" rtl="0">
              <a:lnSpc>
                <a:spcPct val="100000"/>
              </a:lnSpc>
              <a:spcBef>
                <a:spcPts val="900"/>
              </a:spcBef>
              <a:spcAft>
                <a:spcPts val="0"/>
              </a:spcAft>
              <a:buClr>
                <a:schemeClr val="dk1"/>
              </a:buClr>
              <a:buSzPts val="1250"/>
              <a:buFont typeface="Arial"/>
              <a:buChar char="•"/>
            </a:pPr>
            <a:r>
              <a:rPr lang="en-US" sz="1250">
                <a:solidFill>
                  <a:schemeClr val="dk1"/>
                </a:solidFill>
                <a:latin typeface="Times New Roman"/>
                <a:ea typeface="Times New Roman"/>
                <a:cs typeface="Times New Roman"/>
                <a:sym typeface="Times New Roman"/>
              </a:rPr>
              <a:t>Nominal□ Noun nominal</a:t>
            </a:r>
            <a:endParaRPr sz="1250">
              <a:solidFill>
                <a:schemeClr val="dk1"/>
              </a:solidFill>
              <a:latin typeface="Times New Roman"/>
              <a:ea typeface="Times New Roman"/>
              <a:cs typeface="Times New Roman"/>
              <a:sym typeface="Times New Roman"/>
            </a:endParaRPr>
          </a:p>
          <a:p>
            <a:pPr marL="217170" marR="0" lvl="0" indent="-205104" algn="l" rtl="0">
              <a:lnSpc>
                <a:spcPct val="100000"/>
              </a:lnSpc>
              <a:spcBef>
                <a:spcPts val="900"/>
              </a:spcBef>
              <a:spcAft>
                <a:spcPts val="0"/>
              </a:spcAft>
              <a:buClr>
                <a:schemeClr val="dk1"/>
              </a:buClr>
              <a:buSzPts val="1250"/>
              <a:buFont typeface="Arial"/>
              <a:buChar char="•"/>
            </a:pPr>
            <a:r>
              <a:rPr lang="en-US" sz="1250">
                <a:solidFill>
                  <a:schemeClr val="dk1"/>
                </a:solidFill>
                <a:latin typeface="Times New Roman"/>
                <a:ea typeface="Times New Roman"/>
                <a:cs typeface="Times New Roman"/>
                <a:sym typeface="Times New Roman"/>
              </a:rPr>
              <a:t>VP□ Verb NP</a:t>
            </a:r>
            <a:endParaRPr sz="1250">
              <a:solidFill>
                <a:schemeClr val="dk1"/>
              </a:solidFill>
              <a:latin typeface="Times New Roman"/>
              <a:ea typeface="Times New Roman"/>
              <a:cs typeface="Times New Roman"/>
              <a:sym typeface="Times New Roman"/>
            </a:endParaRPr>
          </a:p>
          <a:p>
            <a:pPr marL="217170" marR="0" lvl="0" indent="-205104" algn="l" rtl="0">
              <a:lnSpc>
                <a:spcPct val="100000"/>
              </a:lnSpc>
              <a:spcBef>
                <a:spcPts val="900"/>
              </a:spcBef>
              <a:spcAft>
                <a:spcPts val="0"/>
              </a:spcAft>
              <a:buClr>
                <a:schemeClr val="dk1"/>
              </a:buClr>
              <a:buSzPts val="1250"/>
              <a:buFont typeface="Arial"/>
              <a:buChar char="•"/>
            </a:pPr>
            <a:r>
              <a:rPr lang="en-US" sz="1250">
                <a:solidFill>
                  <a:schemeClr val="dk1"/>
                </a:solidFill>
                <a:latin typeface="Times New Roman"/>
                <a:ea typeface="Times New Roman"/>
                <a:cs typeface="Times New Roman"/>
                <a:sym typeface="Times New Roman"/>
              </a:rPr>
              <a:t>VP□ Verb</a:t>
            </a:r>
            <a:endParaRPr sz="1250">
              <a:solidFill>
                <a:schemeClr val="dk1"/>
              </a:solidFill>
              <a:latin typeface="Times New Roman"/>
              <a:ea typeface="Times New Roman"/>
              <a:cs typeface="Times New Roman"/>
              <a:sym typeface="Times New Roman"/>
            </a:endParaRPr>
          </a:p>
          <a:p>
            <a:pPr marL="217170" marR="0" lvl="0" indent="-205104" algn="l" rtl="0">
              <a:lnSpc>
                <a:spcPct val="100000"/>
              </a:lnSpc>
              <a:spcBef>
                <a:spcPts val="900"/>
              </a:spcBef>
              <a:spcAft>
                <a:spcPts val="0"/>
              </a:spcAft>
              <a:buClr>
                <a:schemeClr val="dk1"/>
              </a:buClr>
              <a:buSzPts val="1250"/>
              <a:buFont typeface="Arial"/>
              <a:buChar char="•"/>
            </a:pPr>
            <a:r>
              <a:rPr lang="en-US" sz="1250">
                <a:solidFill>
                  <a:schemeClr val="dk1"/>
                </a:solidFill>
                <a:latin typeface="Times New Roman"/>
                <a:ea typeface="Times New Roman"/>
                <a:cs typeface="Times New Roman"/>
                <a:sym typeface="Times New Roman"/>
              </a:rPr>
              <a:t>PP□ preposition NP</a:t>
            </a:r>
            <a:endParaRPr sz="1250">
              <a:solidFill>
                <a:schemeClr val="dk1"/>
              </a:solidFill>
              <a:latin typeface="Times New Roman"/>
              <a:ea typeface="Times New Roman"/>
              <a:cs typeface="Times New Roman"/>
              <a:sym typeface="Times New Roman"/>
            </a:endParaRPr>
          </a:p>
          <a:p>
            <a:pPr marL="217170" marR="0" lvl="0" indent="-205104" algn="l" rtl="0">
              <a:lnSpc>
                <a:spcPct val="100000"/>
              </a:lnSpc>
              <a:spcBef>
                <a:spcPts val="900"/>
              </a:spcBef>
              <a:spcAft>
                <a:spcPts val="0"/>
              </a:spcAft>
              <a:buClr>
                <a:schemeClr val="dk1"/>
              </a:buClr>
              <a:buSzPts val="1250"/>
              <a:buFont typeface="Arial"/>
              <a:buChar char="•"/>
            </a:pPr>
            <a:r>
              <a:rPr lang="en-US" sz="1250">
                <a:solidFill>
                  <a:schemeClr val="dk1"/>
                </a:solidFill>
                <a:latin typeface="Times New Roman"/>
                <a:ea typeface="Times New Roman"/>
                <a:cs typeface="Times New Roman"/>
                <a:sym typeface="Times New Roman"/>
              </a:rPr>
              <a:t>Det□this/that/a/the</a:t>
            </a:r>
            <a:endParaRPr sz="1250">
              <a:solidFill>
                <a:schemeClr val="dk1"/>
              </a:solidFill>
              <a:latin typeface="Times New Roman"/>
              <a:ea typeface="Times New Roman"/>
              <a:cs typeface="Times New Roman"/>
              <a:sym typeface="Times New Roman"/>
            </a:endParaRPr>
          </a:p>
          <a:p>
            <a:pPr marL="217170" marR="0" lvl="0" indent="-205104" algn="l" rtl="0">
              <a:lnSpc>
                <a:spcPct val="100000"/>
              </a:lnSpc>
              <a:spcBef>
                <a:spcPts val="900"/>
              </a:spcBef>
              <a:spcAft>
                <a:spcPts val="0"/>
              </a:spcAft>
              <a:buClr>
                <a:schemeClr val="dk1"/>
              </a:buClr>
              <a:buSzPts val="1250"/>
              <a:buFont typeface="Arial"/>
              <a:buChar char="•"/>
            </a:pPr>
            <a:r>
              <a:rPr lang="en-US" sz="1250">
                <a:solidFill>
                  <a:schemeClr val="dk1"/>
                </a:solidFill>
                <a:latin typeface="Times New Roman"/>
                <a:ea typeface="Times New Roman"/>
                <a:cs typeface="Times New Roman"/>
                <a:sym typeface="Times New Roman"/>
              </a:rPr>
              <a:t>Verb□ sleep/sing/saw/open/paint</a:t>
            </a:r>
            <a:endParaRPr sz="1250">
              <a:solidFill>
                <a:schemeClr val="dk1"/>
              </a:solidFill>
              <a:latin typeface="Times New Roman"/>
              <a:ea typeface="Times New Roman"/>
              <a:cs typeface="Times New Roman"/>
              <a:sym typeface="Times New Roman"/>
            </a:endParaRPr>
          </a:p>
          <a:p>
            <a:pPr marL="217170" marR="0" lvl="0" indent="-205104" algn="l" rtl="0">
              <a:lnSpc>
                <a:spcPct val="100000"/>
              </a:lnSpc>
              <a:spcBef>
                <a:spcPts val="900"/>
              </a:spcBef>
              <a:spcAft>
                <a:spcPts val="0"/>
              </a:spcAft>
              <a:buClr>
                <a:schemeClr val="dk1"/>
              </a:buClr>
              <a:buSzPts val="1250"/>
              <a:buFont typeface="Arial"/>
              <a:buChar char="•"/>
            </a:pPr>
            <a:r>
              <a:rPr lang="en-US" sz="1250">
                <a:solidFill>
                  <a:schemeClr val="dk1"/>
                </a:solidFill>
                <a:latin typeface="Times New Roman"/>
                <a:ea typeface="Times New Roman"/>
                <a:cs typeface="Times New Roman"/>
                <a:sym typeface="Times New Roman"/>
              </a:rPr>
              <a:t>Preposition□from/with/on/to</a:t>
            </a:r>
            <a:endParaRPr sz="1250">
              <a:solidFill>
                <a:schemeClr val="dk1"/>
              </a:solidFill>
              <a:latin typeface="Times New Roman"/>
              <a:ea typeface="Times New Roman"/>
              <a:cs typeface="Times New Roman"/>
              <a:sym typeface="Times New Roman"/>
            </a:endParaRPr>
          </a:p>
          <a:p>
            <a:pPr marL="217170" marR="0" lvl="0" indent="-205104" algn="l" rtl="0">
              <a:lnSpc>
                <a:spcPct val="100000"/>
              </a:lnSpc>
              <a:spcBef>
                <a:spcPts val="900"/>
              </a:spcBef>
              <a:spcAft>
                <a:spcPts val="0"/>
              </a:spcAft>
              <a:buClr>
                <a:schemeClr val="dk1"/>
              </a:buClr>
              <a:buSzPts val="1250"/>
              <a:buFont typeface="Arial"/>
              <a:buChar char="•"/>
            </a:pPr>
            <a:r>
              <a:rPr lang="en-US" sz="1250">
                <a:solidFill>
                  <a:schemeClr val="dk1"/>
                </a:solidFill>
                <a:latin typeface="Times New Roman"/>
                <a:ea typeface="Times New Roman"/>
                <a:cs typeface="Times New Roman"/>
                <a:sym typeface="Times New Roman"/>
              </a:rPr>
              <a:t>Pronoun□she/he/they</a:t>
            </a:r>
            <a:endParaRPr sz="1250">
              <a:solidFill>
                <a:schemeClr val="dk1"/>
              </a:solidFill>
              <a:latin typeface="Times New Roman"/>
              <a:ea typeface="Times New Roman"/>
              <a:cs typeface="Times New Roman"/>
              <a:sym typeface="Times New Roman"/>
            </a:endParaRP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showMasterSp="0">
  <p:cSld>
    <p:spTree>
      <p:nvGrpSpPr>
        <p:cNvPr id="1" name="Shape 914"/>
        <p:cNvGrpSpPr/>
        <p:nvPr/>
      </p:nvGrpSpPr>
      <p:grpSpPr>
        <a:xfrm>
          <a:off x="0" y="0"/>
          <a:ext cx="0" cy="0"/>
          <a:chOff x="0" y="0"/>
          <a:chExt cx="0" cy="0"/>
        </a:xfrm>
      </p:grpSpPr>
      <p:sp>
        <p:nvSpPr>
          <p:cNvPr id="915" name="Google Shape;915;p88"/>
          <p:cNvSpPr txBox="1"/>
          <p:nvPr/>
        </p:nvSpPr>
        <p:spPr>
          <a:xfrm>
            <a:off x="1186792" y="1841880"/>
            <a:ext cx="9975850" cy="4065270"/>
          </a:xfrm>
          <a:prstGeom prst="rect">
            <a:avLst/>
          </a:prstGeom>
          <a:noFill/>
          <a:ln>
            <a:noFill/>
          </a:ln>
        </p:spPr>
        <p:txBody>
          <a:bodyPr spcFirstLastPara="1" wrap="square" lIns="0" tIns="12700" rIns="0" bIns="0" anchor="t" anchorCtr="0">
            <a:spAutoFit/>
          </a:bodyPr>
          <a:lstStyle/>
          <a:p>
            <a:pPr marL="194310" marR="0" lvl="0" indent="-194310" algn="l" rtl="0">
              <a:lnSpc>
                <a:spcPct val="100000"/>
              </a:lnSpc>
              <a:spcBef>
                <a:spcPts val="0"/>
              </a:spcBef>
              <a:spcAft>
                <a:spcPts val="0"/>
              </a:spcAft>
              <a:buClr>
                <a:schemeClr val="dk1"/>
              </a:buClr>
              <a:buSzPts val="1800"/>
              <a:buFont typeface="Arial"/>
              <a:buChar char="•"/>
            </a:pPr>
            <a:r>
              <a:rPr lang="en-US" sz="1800">
                <a:solidFill>
                  <a:schemeClr val="dk1"/>
                </a:solidFill>
                <a:latin typeface="Times New Roman"/>
                <a:ea typeface="Times New Roman"/>
                <a:cs typeface="Times New Roman"/>
                <a:sym typeface="Times New Roman"/>
              </a:rPr>
              <a:t>“paint the door”</a:t>
            </a:r>
            <a:endParaRPr sz="1800">
              <a:solidFill>
                <a:schemeClr val="dk1"/>
              </a:solidFill>
              <a:latin typeface="Times New Roman"/>
              <a:ea typeface="Times New Roman"/>
              <a:cs typeface="Times New Roman"/>
              <a:sym typeface="Times New Roman"/>
            </a:endParaRPr>
          </a:p>
          <a:p>
            <a:pPr marL="194310" marR="645160" lvl="0" indent="-194310" algn="l" rtl="0">
              <a:lnSpc>
                <a:spcPct val="113399"/>
              </a:lnSpc>
              <a:spcBef>
                <a:spcPts val="1025"/>
              </a:spcBef>
              <a:spcAft>
                <a:spcPts val="0"/>
              </a:spcAft>
              <a:buClr>
                <a:schemeClr val="dk1"/>
              </a:buClr>
              <a:buSzPts val="1800"/>
              <a:buFont typeface="Arial"/>
              <a:buChar char="•"/>
            </a:pPr>
            <a:r>
              <a:rPr lang="en-US" sz="1800">
                <a:solidFill>
                  <a:schemeClr val="dk1"/>
                </a:solidFill>
                <a:latin typeface="Times New Roman"/>
                <a:ea typeface="Times New Roman"/>
                <a:cs typeface="Times New Roman"/>
                <a:sym typeface="Times New Roman"/>
              </a:rPr>
              <a:t>A top down search begins with the start symbol of the grammar. Thus the first level(ply) search tree  consists of a single node labeled S.</a:t>
            </a:r>
            <a:endParaRPr sz="1800">
              <a:solidFill>
                <a:schemeClr val="dk1"/>
              </a:solidFill>
              <a:latin typeface="Times New Roman"/>
              <a:ea typeface="Times New Roman"/>
              <a:cs typeface="Times New Roman"/>
              <a:sym typeface="Times New Roman"/>
            </a:endParaRPr>
          </a:p>
          <a:p>
            <a:pPr marL="194310" marR="135890" lvl="0" indent="-194310" algn="l" rtl="0">
              <a:lnSpc>
                <a:spcPct val="113399"/>
              </a:lnSpc>
              <a:spcBef>
                <a:spcPts val="1025"/>
              </a:spcBef>
              <a:spcAft>
                <a:spcPts val="0"/>
              </a:spcAft>
              <a:buClr>
                <a:schemeClr val="dk1"/>
              </a:buClr>
              <a:buSzPts val="1800"/>
              <a:buFont typeface="Arial"/>
              <a:buChar char="•"/>
            </a:pPr>
            <a:r>
              <a:rPr lang="en-US" sz="1800">
                <a:solidFill>
                  <a:schemeClr val="dk1"/>
                </a:solidFill>
                <a:latin typeface="Times New Roman"/>
                <a:ea typeface="Times New Roman"/>
                <a:cs typeface="Times New Roman"/>
                <a:sym typeface="Times New Roman"/>
              </a:rPr>
              <a:t>The grammar in table has two rules with S on their left hand side. These rules are used to expand the tree,  which gives us two partial trees at the second level search.</a:t>
            </a:r>
            <a:endParaRPr sz="1800">
              <a:solidFill>
                <a:schemeClr val="dk1"/>
              </a:solidFill>
              <a:latin typeface="Times New Roman"/>
              <a:ea typeface="Times New Roman"/>
              <a:cs typeface="Times New Roman"/>
              <a:sym typeface="Times New Roman"/>
            </a:endParaRPr>
          </a:p>
          <a:p>
            <a:pPr marL="194310" marR="0" lvl="0" indent="-194310" algn="l" rtl="0">
              <a:lnSpc>
                <a:spcPct val="113999"/>
              </a:lnSpc>
              <a:spcBef>
                <a:spcPts val="1010"/>
              </a:spcBef>
              <a:spcAft>
                <a:spcPts val="0"/>
              </a:spcAft>
              <a:buClr>
                <a:schemeClr val="dk1"/>
              </a:buClr>
              <a:buSzPts val="1800"/>
              <a:buFont typeface="Arial"/>
              <a:buChar char="•"/>
            </a:pPr>
            <a:r>
              <a:rPr lang="en-US" sz="1800">
                <a:solidFill>
                  <a:schemeClr val="dk1"/>
                </a:solidFill>
                <a:latin typeface="Times New Roman"/>
                <a:ea typeface="Times New Roman"/>
                <a:cs typeface="Times New Roman"/>
                <a:sym typeface="Times New Roman"/>
              </a:rPr>
              <a:t>The third level is generated by expanding the non – terminal at the bottom of the search tree is the previous  ply. Due to space constraints, only the expansion corresponding to the left most non- terminals has been  shown .</a:t>
            </a:r>
            <a:endParaRPr sz="1800">
              <a:solidFill>
                <a:schemeClr val="dk1"/>
              </a:solidFill>
              <a:latin typeface="Times New Roman"/>
              <a:ea typeface="Times New Roman"/>
              <a:cs typeface="Times New Roman"/>
              <a:sym typeface="Times New Roman"/>
            </a:endParaRPr>
          </a:p>
          <a:p>
            <a:pPr marL="194310" marR="263525" lvl="0" indent="-194310" algn="l" rtl="0">
              <a:lnSpc>
                <a:spcPct val="113399"/>
              </a:lnSpc>
              <a:spcBef>
                <a:spcPts val="1030"/>
              </a:spcBef>
              <a:spcAft>
                <a:spcPts val="0"/>
              </a:spcAft>
              <a:buClr>
                <a:schemeClr val="dk1"/>
              </a:buClr>
              <a:buSzPts val="1800"/>
              <a:buFont typeface="Arial"/>
              <a:buChar char="•"/>
            </a:pPr>
            <a:r>
              <a:rPr lang="en-US" sz="1800">
                <a:solidFill>
                  <a:schemeClr val="dk1"/>
                </a:solidFill>
                <a:latin typeface="Times New Roman"/>
                <a:ea typeface="Times New Roman"/>
                <a:cs typeface="Times New Roman"/>
                <a:sym typeface="Times New Roman"/>
              </a:rPr>
              <a:t>The subsequent steps in the parse are left. The correct parse tree is obtained by expanding the fifth parse  tree by the third level.</a:t>
            </a:r>
            <a:endParaRPr sz="1800">
              <a:solidFill>
                <a:schemeClr val="dk1"/>
              </a:solidFill>
              <a:latin typeface="Times New Roman"/>
              <a:ea typeface="Times New Roman"/>
              <a:cs typeface="Times New Roman"/>
              <a:sym typeface="Times New Roman"/>
            </a:endParaRPr>
          </a:p>
          <a:p>
            <a:pPr marL="0" marR="0" lvl="0" indent="0" algn="l" rtl="0">
              <a:lnSpc>
                <a:spcPct val="100000"/>
              </a:lnSpc>
              <a:spcBef>
                <a:spcPts val="1315"/>
              </a:spcBef>
              <a:spcAft>
                <a:spcPts val="0"/>
              </a:spcAft>
              <a:buNone/>
            </a:pPr>
            <a:r>
              <a:rPr lang="en-US" sz="1800">
                <a:solidFill>
                  <a:schemeClr val="dk1"/>
                </a:solidFill>
                <a:latin typeface="Arial"/>
                <a:ea typeface="Arial"/>
                <a:cs typeface="Arial"/>
                <a:sym typeface="Arial"/>
              </a:rPr>
              <a:t>•</a:t>
            </a:r>
            <a:endParaRPr sz="1800">
              <a:solidFill>
                <a:schemeClr val="dk1"/>
              </a:solidFill>
              <a:latin typeface="Arial"/>
              <a:ea typeface="Arial"/>
              <a:cs typeface="Arial"/>
              <a:sym typeface="Arial"/>
            </a:endParaRP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showMasterSp="0">
  <p:cSld>
    <p:spTree>
      <p:nvGrpSpPr>
        <p:cNvPr id="1" name="Shape 919"/>
        <p:cNvGrpSpPr/>
        <p:nvPr/>
      </p:nvGrpSpPr>
      <p:grpSpPr>
        <a:xfrm>
          <a:off x="0" y="0"/>
          <a:ext cx="0" cy="0"/>
          <a:chOff x="0" y="0"/>
          <a:chExt cx="0" cy="0"/>
        </a:xfrm>
      </p:grpSpPr>
      <p:pic>
        <p:nvPicPr>
          <p:cNvPr id="920" name="Google Shape;920;p89"/>
          <p:cNvPicPr preferRelativeResize="0"/>
          <p:nvPr/>
        </p:nvPicPr>
        <p:blipFill rotWithShape="1">
          <a:blip r:embed="rId3">
            <a:alphaModFix/>
          </a:blip>
          <a:srcRect/>
          <a:stretch/>
        </p:blipFill>
        <p:spPr>
          <a:xfrm>
            <a:off x="3448415" y="1825625"/>
            <a:ext cx="4941231" cy="4163959"/>
          </a:xfrm>
          <a:prstGeom prst="rect">
            <a:avLst/>
          </a:prstGeom>
          <a:noFill/>
          <a:ln>
            <a:noFill/>
          </a:ln>
        </p:spPr>
      </p:pic>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showMasterSp="0">
  <p:cSld>
    <p:spTree>
      <p:nvGrpSpPr>
        <p:cNvPr id="1" name="Shape 924"/>
        <p:cNvGrpSpPr/>
        <p:nvPr/>
      </p:nvGrpSpPr>
      <p:grpSpPr>
        <a:xfrm>
          <a:off x="0" y="0"/>
          <a:ext cx="0" cy="0"/>
          <a:chOff x="0" y="0"/>
          <a:chExt cx="0" cy="0"/>
        </a:xfrm>
      </p:grpSpPr>
      <p:sp>
        <p:nvSpPr>
          <p:cNvPr id="925" name="Google Shape;925;p90"/>
          <p:cNvSpPr txBox="1">
            <a:spLocks noGrp="1"/>
          </p:cNvSpPr>
          <p:nvPr>
            <p:ph type="title"/>
          </p:nvPr>
        </p:nvSpPr>
        <p:spPr>
          <a:xfrm>
            <a:off x="911225" y="339134"/>
            <a:ext cx="4907915" cy="69596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4400" b="1">
                <a:latin typeface="Times New Roman"/>
                <a:ea typeface="Times New Roman"/>
                <a:cs typeface="Times New Roman"/>
                <a:sym typeface="Times New Roman"/>
              </a:rPr>
              <a:t>Bottom –	up parsing</a:t>
            </a:r>
            <a:endParaRPr sz="4400">
              <a:latin typeface="Times New Roman"/>
              <a:ea typeface="Times New Roman"/>
              <a:cs typeface="Times New Roman"/>
              <a:sym typeface="Times New Roman"/>
            </a:endParaRPr>
          </a:p>
        </p:txBody>
      </p:sp>
      <p:sp>
        <p:nvSpPr>
          <p:cNvPr id="926" name="Google Shape;926;p90"/>
          <p:cNvSpPr txBox="1"/>
          <p:nvPr/>
        </p:nvSpPr>
        <p:spPr>
          <a:xfrm>
            <a:off x="966589" y="2246376"/>
            <a:ext cx="10273665" cy="1841500"/>
          </a:xfrm>
          <a:prstGeom prst="rect">
            <a:avLst/>
          </a:prstGeom>
          <a:noFill/>
          <a:ln>
            <a:noFill/>
          </a:ln>
        </p:spPr>
        <p:txBody>
          <a:bodyPr spcFirstLastPara="1" wrap="square" lIns="0" tIns="12700" rIns="0" bIns="0" anchor="t" anchorCtr="0">
            <a:spAutoFit/>
          </a:bodyPr>
          <a:lstStyle/>
          <a:p>
            <a:pPr marL="299720" marR="574040" lvl="0" indent="-287655" algn="l" rtl="0">
              <a:lnSpc>
                <a:spcPct val="113399"/>
              </a:lnSpc>
              <a:spcBef>
                <a:spcPts val="0"/>
              </a:spcBef>
              <a:spcAft>
                <a:spcPts val="0"/>
              </a:spcAft>
              <a:buClr>
                <a:schemeClr val="dk1"/>
              </a:buClr>
              <a:buSzPts val="1800"/>
              <a:buFont typeface="Lucida Sans"/>
              <a:buChar char="∙"/>
            </a:pPr>
            <a:r>
              <a:rPr lang="en-US" sz="1800">
                <a:solidFill>
                  <a:schemeClr val="dk1"/>
                </a:solidFill>
                <a:latin typeface="Times New Roman"/>
                <a:ea typeface="Times New Roman"/>
                <a:cs typeface="Times New Roman"/>
                <a:sym typeface="Times New Roman"/>
              </a:rPr>
              <a:t>Starts with the words is the Input sentence and attempts to construct a parse tree is an upward direction  towards the root</a:t>
            </a:r>
            <a:endParaRPr sz="1800">
              <a:solidFill>
                <a:schemeClr val="dk1"/>
              </a:solidFill>
              <a:latin typeface="Times New Roman"/>
              <a:ea typeface="Times New Roman"/>
              <a:cs typeface="Times New Roman"/>
              <a:sym typeface="Times New Roman"/>
            </a:endParaRPr>
          </a:p>
          <a:p>
            <a:pPr marL="299720" marR="5080" lvl="0" indent="-287655" algn="l" rtl="0">
              <a:lnSpc>
                <a:spcPct val="113399"/>
              </a:lnSpc>
              <a:spcBef>
                <a:spcPts val="1025"/>
              </a:spcBef>
              <a:spcAft>
                <a:spcPts val="0"/>
              </a:spcAft>
              <a:buClr>
                <a:schemeClr val="dk1"/>
              </a:buClr>
              <a:buSzPts val="1800"/>
              <a:buFont typeface="Lucida Sans"/>
              <a:buChar char="∙"/>
            </a:pPr>
            <a:r>
              <a:rPr lang="en-US" sz="1800">
                <a:solidFill>
                  <a:schemeClr val="dk1"/>
                </a:solidFill>
                <a:latin typeface="Times New Roman"/>
                <a:ea typeface="Times New Roman"/>
                <a:cs typeface="Times New Roman"/>
                <a:sym typeface="Times New Roman"/>
              </a:rPr>
              <a:t>At each step, the parser looks for rules in grammar where the right hand side matches some of the portions in  the parse tree constructed and reduces it using the left hand side of the production</a:t>
            </a:r>
            <a:endParaRPr sz="1800">
              <a:solidFill>
                <a:schemeClr val="dk1"/>
              </a:solidFill>
              <a:latin typeface="Times New Roman"/>
              <a:ea typeface="Times New Roman"/>
              <a:cs typeface="Times New Roman"/>
              <a:sym typeface="Times New Roman"/>
            </a:endParaRPr>
          </a:p>
          <a:p>
            <a:pPr marL="299720" marR="0" lvl="0" indent="-287655" algn="l" rtl="0">
              <a:lnSpc>
                <a:spcPct val="100000"/>
              </a:lnSpc>
              <a:spcBef>
                <a:spcPts val="1315"/>
              </a:spcBef>
              <a:spcAft>
                <a:spcPts val="0"/>
              </a:spcAft>
              <a:buClr>
                <a:schemeClr val="dk1"/>
              </a:buClr>
              <a:buSzPts val="1800"/>
              <a:buFont typeface="Lucida Sans"/>
              <a:buChar char="∙"/>
            </a:pPr>
            <a:r>
              <a:rPr lang="en-US" sz="1800">
                <a:solidFill>
                  <a:schemeClr val="dk1"/>
                </a:solidFill>
                <a:latin typeface="Times New Roman"/>
                <a:ea typeface="Times New Roman"/>
                <a:cs typeface="Times New Roman"/>
                <a:sym typeface="Times New Roman"/>
              </a:rPr>
              <a:t>The parse is considered successful of the parser reduces the tree to the start symbol of the grammar.</a:t>
            </a:r>
            <a:endParaRPr sz="1800">
              <a:solidFill>
                <a:schemeClr val="dk1"/>
              </a:solidFill>
              <a:latin typeface="Times New Roman"/>
              <a:ea typeface="Times New Roman"/>
              <a:cs typeface="Times New Roman"/>
              <a:sym typeface="Times New Roman"/>
            </a:endParaRP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showMasterSp="0">
  <p:cSld>
    <p:spTree>
      <p:nvGrpSpPr>
        <p:cNvPr id="1" name="Shape 930"/>
        <p:cNvGrpSpPr/>
        <p:nvPr/>
      </p:nvGrpSpPr>
      <p:grpSpPr>
        <a:xfrm>
          <a:off x="0" y="0"/>
          <a:ext cx="0" cy="0"/>
          <a:chOff x="0" y="0"/>
          <a:chExt cx="0" cy="0"/>
        </a:xfrm>
      </p:grpSpPr>
      <p:pic>
        <p:nvPicPr>
          <p:cNvPr id="931" name="Google Shape;931;p91"/>
          <p:cNvPicPr preferRelativeResize="0"/>
          <p:nvPr/>
        </p:nvPicPr>
        <p:blipFill rotWithShape="1">
          <a:blip r:embed="rId3">
            <a:alphaModFix/>
          </a:blip>
          <a:srcRect/>
          <a:stretch/>
        </p:blipFill>
        <p:spPr>
          <a:xfrm>
            <a:off x="1649475" y="1209964"/>
            <a:ext cx="7688536" cy="4745449"/>
          </a:xfrm>
          <a:prstGeom prst="rect">
            <a:avLst/>
          </a:prstGeom>
          <a:noFill/>
          <a:ln>
            <a:noFill/>
          </a:ln>
        </p:spPr>
      </p:pic>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showMasterSp="0">
  <p:cSld>
    <p:spTree>
      <p:nvGrpSpPr>
        <p:cNvPr id="1" name="Shape 935"/>
        <p:cNvGrpSpPr/>
        <p:nvPr/>
      </p:nvGrpSpPr>
      <p:grpSpPr>
        <a:xfrm>
          <a:off x="0" y="0"/>
          <a:ext cx="0" cy="0"/>
          <a:chOff x="0" y="0"/>
          <a:chExt cx="0" cy="0"/>
        </a:xfrm>
      </p:grpSpPr>
      <p:sp>
        <p:nvSpPr>
          <p:cNvPr id="936" name="Google Shape;936;p92"/>
          <p:cNvSpPr txBox="1">
            <a:spLocks noGrp="1"/>
          </p:cNvSpPr>
          <p:nvPr>
            <p:ph type="title"/>
          </p:nvPr>
        </p:nvSpPr>
        <p:spPr>
          <a:xfrm>
            <a:off x="911225" y="339134"/>
            <a:ext cx="6698615" cy="69596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4400" b="1">
                <a:latin typeface="Times New Roman"/>
                <a:ea typeface="Times New Roman"/>
                <a:cs typeface="Times New Roman"/>
                <a:sym typeface="Times New Roman"/>
              </a:rPr>
              <a:t>A Basic Top -	Down Parser:</a:t>
            </a:r>
            <a:endParaRPr sz="4400">
              <a:latin typeface="Times New Roman"/>
              <a:ea typeface="Times New Roman"/>
              <a:cs typeface="Times New Roman"/>
              <a:sym typeface="Times New Roman"/>
            </a:endParaRPr>
          </a:p>
        </p:txBody>
      </p:sp>
      <p:sp>
        <p:nvSpPr>
          <p:cNvPr id="937" name="Google Shape;937;p92"/>
          <p:cNvSpPr txBox="1"/>
          <p:nvPr/>
        </p:nvSpPr>
        <p:spPr>
          <a:xfrm>
            <a:off x="966589" y="1841880"/>
            <a:ext cx="10249535" cy="2557145"/>
          </a:xfrm>
          <a:prstGeom prst="rect">
            <a:avLst/>
          </a:prstGeom>
          <a:noFill/>
          <a:ln>
            <a:noFill/>
          </a:ln>
        </p:spPr>
        <p:txBody>
          <a:bodyPr spcFirstLastPara="1" wrap="square" lIns="0" tIns="12700" rIns="0" bIns="0" anchor="t" anchorCtr="0">
            <a:spAutoFit/>
          </a:bodyPr>
          <a:lstStyle/>
          <a:p>
            <a:pPr marL="299720" marR="0" lvl="0" indent="-287655" algn="l" rtl="0">
              <a:lnSpc>
                <a:spcPct val="100000"/>
              </a:lnSpc>
              <a:spcBef>
                <a:spcPts val="0"/>
              </a:spcBef>
              <a:spcAft>
                <a:spcPts val="0"/>
              </a:spcAft>
              <a:buClr>
                <a:schemeClr val="dk1"/>
              </a:buClr>
              <a:buSzPts val="1800"/>
              <a:buFont typeface="Lucida Sans"/>
              <a:buChar char="∙"/>
            </a:pPr>
            <a:r>
              <a:rPr lang="en-US" sz="1800">
                <a:solidFill>
                  <a:schemeClr val="dk1"/>
                </a:solidFill>
                <a:latin typeface="Times New Roman"/>
                <a:ea typeface="Times New Roman"/>
                <a:cs typeface="Times New Roman"/>
                <a:sym typeface="Times New Roman"/>
              </a:rPr>
              <a:t>The approach presented here is essentially, a depth first, left to right search</a:t>
            </a:r>
            <a:endParaRPr sz="1800">
              <a:solidFill>
                <a:schemeClr val="dk1"/>
              </a:solidFill>
              <a:latin typeface="Times New Roman"/>
              <a:ea typeface="Times New Roman"/>
              <a:cs typeface="Times New Roman"/>
              <a:sym typeface="Times New Roman"/>
            </a:endParaRPr>
          </a:p>
          <a:p>
            <a:pPr marL="299720" marR="67310" lvl="0" indent="-287655" algn="l" rtl="0">
              <a:lnSpc>
                <a:spcPct val="113399"/>
              </a:lnSpc>
              <a:spcBef>
                <a:spcPts val="1025"/>
              </a:spcBef>
              <a:spcAft>
                <a:spcPts val="0"/>
              </a:spcAft>
              <a:buClr>
                <a:schemeClr val="dk1"/>
              </a:buClr>
              <a:buSzPts val="1800"/>
              <a:buFont typeface="Lucida Sans"/>
              <a:buChar char="∙"/>
            </a:pPr>
            <a:r>
              <a:rPr lang="en-US" sz="1800">
                <a:solidFill>
                  <a:schemeClr val="dk1"/>
                </a:solidFill>
                <a:latin typeface="Times New Roman"/>
                <a:ea typeface="Times New Roman"/>
                <a:cs typeface="Times New Roman"/>
                <a:sym typeface="Times New Roman"/>
              </a:rPr>
              <a:t>The depth first approach expands the search space incrementally by one state at a time. At each step, the left  most unexpanded leaf nodes of the tree are expanded first using the relevant rule of the grammar</a:t>
            </a:r>
            <a:endParaRPr sz="1800">
              <a:solidFill>
                <a:schemeClr val="dk1"/>
              </a:solidFill>
              <a:latin typeface="Times New Roman"/>
              <a:ea typeface="Times New Roman"/>
              <a:cs typeface="Times New Roman"/>
              <a:sym typeface="Times New Roman"/>
            </a:endParaRPr>
          </a:p>
          <a:p>
            <a:pPr marL="299720" marR="478790" lvl="0" indent="-287655" algn="l" rtl="0">
              <a:lnSpc>
                <a:spcPct val="113399"/>
              </a:lnSpc>
              <a:spcBef>
                <a:spcPts val="1025"/>
              </a:spcBef>
              <a:spcAft>
                <a:spcPts val="0"/>
              </a:spcAft>
              <a:buClr>
                <a:schemeClr val="dk1"/>
              </a:buClr>
              <a:buSzPts val="1800"/>
              <a:buFont typeface="Lucida Sans"/>
              <a:buChar char="∙"/>
            </a:pPr>
            <a:r>
              <a:rPr lang="en-US" sz="1800">
                <a:solidFill>
                  <a:schemeClr val="dk1"/>
                </a:solidFill>
                <a:latin typeface="Times New Roman"/>
                <a:ea typeface="Times New Roman"/>
                <a:cs typeface="Times New Roman"/>
                <a:sym typeface="Times New Roman"/>
              </a:rPr>
              <a:t>The left most node is selected for expansion as it determines the order in which input words needs to be  considered</a:t>
            </a:r>
            <a:endParaRPr sz="1800">
              <a:solidFill>
                <a:schemeClr val="dk1"/>
              </a:solidFill>
              <a:latin typeface="Times New Roman"/>
              <a:ea typeface="Times New Roman"/>
              <a:cs typeface="Times New Roman"/>
              <a:sym typeface="Times New Roman"/>
            </a:endParaRPr>
          </a:p>
          <a:p>
            <a:pPr marL="299720" marR="5080" lvl="0" indent="-287655" algn="l" rtl="0">
              <a:lnSpc>
                <a:spcPct val="113399"/>
              </a:lnSpc>
              <a:spcBef>
                <a:spcPts val="1025"/>
              </a:spcBef>
              <a:spcAft>
                <a:spcPts val="0"/>
              </a:spcAft>
              <a:buClr>
                <a:schemeClr val="dk1"/>
              </a:buClr>
              <a:buSzPts val="1800"/>
              <a:buFont typeface="Lucida Sans"/>
              <a:buChar char="∙"/>
            </a:pPr>
            <a:r>
              <a:rPr lang="en-US" sz="1800">
                <a:solidFill>
                  <a:schemeClr val="dk1"/>
                </a:solidFill>
                <a:latin typeface="Times New Roman"/>
                <a:ea typeface="Times New Roman"/>
                <a:cs typeface="Times New Roman"/>
                <a:sym typeface="Times New Roman"/>
              </a:rPr>
              <a:t>When a state arrives that is inconsistent with the input, the search continues by returning to the most recently  generated and unexplored tree.</a:t>
            </a:r>
            <a:endParaRPr sz="1800">
              <a:solidFill>
                <a:schemeClr val="dk1"/>
              </a:solidFill>
              <a:latin typeface="Times New Roman"/>
              <a:ea typeface="Times New Roman"/>
              <a:cs typeface="Times New Roman"/>
              <a:sym typeface="Times New Roman"/>
            </a:endParaRP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showMasterSp="0">
  <p:cSld>
    <p:spTree>
      <p:nvGrpSpPr>
        <p:cNvPr id="1" name="Shape 941"/>
        <p:cNvGrpSpPr/>
        <p:nvPr/>
      </p:nvGrpSpPr>
      <p:grpSpPr>
        <a:xfrm>
          <a:off x="0" y="0"/>
          <a:ext cx="0" cy="0"/>
          <a:chOff x="0" y="0"/>
          <a:chExt cx="0" cy="0"/>
        </a:xfrm>
      </p:grpSpPr>
      <p:sp>
        <p:nvSpPr>
          <p:cNvPr id="942" name="Google Shape;942;p93"/>
          <p:cNvSpPr txBox="1">
            <a:spLocks noGrp="1"/>
          </p:cNvSpPr>
          <p:nvPr>
            <p:ph type="title"/>
          </p:nvPr>
        </p:nvSpPr>
        <p:spPr>
          <a:xfrm>
            <a:off x="911225" y="639172"/>
            <a:ext cx="3345179" cy="69596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4400"/>
              <a:t>Open the door</a:t>
            </a:r>
            <a:endParaRPr sz="4400"/>
          </a:p>
        </p:txBody>
      </p:sp>
      <p:pic>
        <p:nvPicPr>
          <p:cNvPr id="943" name="Google Shape;943;p93"/>
          <p:cNvPicPr preferRelativeResize="0"/>
          <p:nvPr/>
        </p:nvPicPr>
        <p:blipFill rotWithShape="1">
          <a:blip r:embed="rId3">
            <a:alphaModFix/>
          </a:blip>
          <a:srcRect/>
          <a:stretch/>
        </p:blipFill>
        <p:spPr>
          <a:xfrm>
            <a:off x="631827" y="1588055"/>
            <a:ext cx="10470282" cy="4988235"/>
          </a:xfrm>
          <a:prstGeom prst="rect">
            <a:avLst/>
          </a:prstGeom>
          <a:noFill/>
          <a:ln>
            <a:noFill/>
          </a:ln>
        </p:spPr>
      </p:pic>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showMasterSp="0">
  <p:cSld>
    <p:spTree>
      <p:nvGrpSpPr>
        <p:cNvPr id="1" name="Shape 947"/>
        <p:cNvGrpSpPr/>
        <p:nvPr/>
      </p:nvGrpSpPr>
      <p:grpSpPr>
        <a:xfrm>
          <a:off x="0" y="0"/>
          <a:ext cx="0" cy="0"/>
          <a:chOff x="0" y="0"/>
          <a:chExt cx="0" cy="0"/>
        </a:xfrm>
      </p:grpSpPr>
      <p:sp>
        <p:nvSpPr>
          <p:cNvPr id="948" name="Google Shape;948;p94"/>
          <p:cNvSpPr txBox="1">
            <a:spLocks noGrp="1"/>
          </p:cNvSpPr>
          <p:nvPr>
            <p:ph type="title"/>
          </p:nvPr>
        </p:nvSpPr>
        <p:spPr>
          <a:xfrm>
            <a:off x="911225" y="639172"/>
            <a:ext cx="2339340" cy="69596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4400"/>
              <a:t>Ambiguity</a:t>
            </a:r>
            <a:endParaRPr sz="4400"/>
          </a:p>
        </p:txBody>
      </p:sp>
      <p:sp>
        <p:nvSpPr>
          <p:cNvPr id="949" name="Google Shape;949;p94"/>
          <p:cNvSpPr txBox="1"/>
          <p:nvPr/>
        </p:nvSpPr>
        <p:spPr>
          <a:xfrm>
            <a:off x="945492" y="1819935"/>
            <a:ext cx="10164445" cy="1166495"/>
          </a:xfrm>
          <a:prstGeom prst="rect">
            <a:avLst/>
          </a:prstGeom>
          <a:noFill/>
          <a:ln>
            <a:noFill/>
          </a:ln>
        </p:spPr>
        <p:txBody>
          <a:bodyPr spcFirstLastPara="1" wrap="square" lIns="0" tIns="43175" rIns="0" bIns="0" anchor="t" anchorCtr="0">
            <a:spAutoFit/>
          </a:bodyPr>
          <a:lstStyle/>
          <a:p>
            <a:pPr marL="207009" marR="639445" lvl="0" indent="-194945" algn="l" rtl="0">
              <a:lnSpc>
                <a:spcPct val="108333"/>
              </a:lnSpc>
              <a:spcBef>
                <a:spcPts val="0"/>
              </a:spcBef>
              <a:spcAft>
                <a:spcPts val="0"/>
              </a:spcAft>
              <a:buClr>
                <a:schemeClr val="dk1"/>
              </a:buClr>
              <a:buSzPts val="1800"/>
              <a:buFont typeface="Arial"/>
              <a:buChar char="•"/>
            </a:pPr>
            <a:r>
              <a:rPr lang="en-US" sz="1800">
                <a:solidFill>
                  <a:schemeClr val="dk1"/>
                </a:solidFill>
                <a:latin typeface="Times New Roman"/>
                <a:ea typeface="Times New Roman"/>
                <a:cs typeface="Times New Roman"/>
                <a:sym typeface="Times New Roman"/>
              </a:rPr>
              <a:t>structural ambiguity which occurs when a grammar assigns more than are parse to a sentence, was the  ambiguity that occurs when a word has more than are part of speech associated with it.</a:t>
            </a:r>
            <a:endParaRPr sz="1800">
              <a:solidFill>
                <a:schemeClr val="dk1"/>
              </a:solidFill>
              <a:latin typeface="Times New Roman"/>
              <a:ea typeface="Times New Roman"/>
              <a:cs typeface="Times New Roman"/>
              <a:sym typeface="Times New Roman"/>
            </a:endParaRPr>
          </a:p>
          <a:p>
            <a:pPr marL="207009" marR="5080" lvl="0" indent="-194945" algn="l" rtl="0">
              <a:lnSpc>
                <a:spcPct val="107222"/>
              </a:lnSpc>
              <a:spcBef>
                <a:spcPts val="1015"/>
              </a:spcBef>
              <a:spcAft>
                <a:spcPts val="0"/>
              </a:spcAft>
              <a:buClr>
                <a:schemeClr val="dk1"/>
              </a:buClr>
              <a:buSzPts val="1800"/>
              <a:buFont typeface="Arial"/>
              <a:buChar char="•"/>
            </a:pPr>
            <a:r>
              <a:rPr lang="en-US" sz="1800">
                <a:solidFill>
                  <a:schemeClr val="dk1"/>
                </a:solidFill>
                <a:latin typeface="Times New Roman"/>
                <a:ea typeface="Times New Roman"/>
                <a:cs typeface="Times New Roman"/>
                <a:sym typeface="Times New Roman"/>
              </a:rPr>
              <a:t>A sentence has attachment ambiguity if a constituent fits more than one position in a parse tree. Eg:- The girl  plucked the flowers with a long stick.</a:t>
            </a:r>
            <a:endParaRPr sz="1800">
              <a:solidFill>
                <a:schemeClr val="dk1"/>
              </a:solidFill>
              <a:latin typeface="Times New Roman"/>
              <a:ea typeface="Times New Roman"/>
              <a:cs typeface="Times New Roman"/>
              <a:sym typeface="Times New Roman"/>
            </a:endParaRPr>
          </a:p>
        </p:txBody>
      </p:sp>
      <p:pic>
        <p:nvPicPr>
          <p:cNvPr id="950" name="Google Shape;950;p94"/>
          <p:cNvPicPr preferRelativeResize="0"/>
          <p:nvPr/>
        </p:nvPicPr>
        <p:blipFill rotWithShape="1">
          <a:blip r:embed="rId3">
            <a:alphaModFix/>
          </a:blip>
          <a:srcRect/>
          <a:stretch/>
        </p:blipFill>
        <p:spPr>
          <a:xfrm>
            <a:off x="2790955" y="3285886"/>
            <a:ext cx="6591582" cy="2682224"/>
          </a:xfrm>
          <a:prstGeom prst="rect">
            <a:avLst/>
          </a:prstGeom>
          <a:noFill/>
          <a:ln>
            <a:noFill/>
          </a:ln>
        </p:spPr>
      </p:pic>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showMasterSp="0">
  <p:cSld>
    <p:spTree>
      <p:nvGrpSpPr>
        <p:cNvPr id="1" name="Shape 954"/>
        <p:cNvGrpSpPr/>
        <p:nvPr/>
      </p:nvGrpSpPr>
      <p:grpSpPr>
        <a:xfrm>
          <a:off x="0" y="0"/>
          <a:ext cx="0" cy="0"/>
          <a:chOff x="0" y="0"/>
          <a:chExt cx="0" cy="0"/>
        </a:xfrm>
      </p:grpSpPr>
      <p:sp>
        <p:nvSpPr>
          <p:cNvPr id="955" name="Google Shape;955;p95"/>
          <p:cNvSpPr txBox="1">
            <a:spLocks noGrp="1"/>
          </p:cNvSpPr>
          <p:nvPr>
            <p:ph type="title"/>
          </p:nvPr>
        </p:nvSpPr>
        <p:spPr>
          <a:xfrm>
            <a:off x="911225" y="639172"/>
            <a:ext cx="2339340" cy="69596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4400"/>
              <a:t>Ambiguity</a:t>
            </a:r>
            <a:endParaRPr sz="4400"/>
          </a:p>
        </p:txBody>
      </p:sp>
      <p:sp>
        <p:nvSpPr>
          <p:cNvPr id="956" name="Google Shape;956;p95"/>
          <p:cNvSpPr txBox="1"/>
          <p:nvPr/>
        </p:nvSpPr>
        <p:spPr>
          <a:xfrm>
            <a:off x="888342" y="1801876"/>
            <a:ext cx="10332085" cy="4038600"/>
          </a:xfrm>
          <a:prstGeom prst="rect">
            <a:avLst/>
          </a:prstGeom>
          <a:noFill/>
          <a:ln>
            <a:noFill/>
          </a:ln>
        </p:spPr>
        <p:txBody>
          <a:bodyPr spcFirstLastPara="1" wrap="square" lIns="0" tIns="12700" rIns="0" bIns="0" anchor="t" anchorCtr="0">
            <a:spAutoFit/>
          </a:bodyPr>
          <a:lstStyle/>
          <a:p>
            <a:pPr marL="264160" marR="34925" lvl="0" indent="-194945" algn="l" rtl="0">
              <a:lnSpc>
                <a:spcPct val="114599"/>
              </a:lnSpc>
              <a:spcBef>
                <a:spcPts val="0"/>
              </a:spcBef>
              <a:spcAft>
                <a:spcPts val="0"/>
              </a:spcAft>
              <a:buClr>
                <a:schemeClr val="dk1"/>
              </a:buClr>
              <a:buSzPts val="1800"/>
              <a:buFont typeface="Arial"/>
              <a:buChar char="•"/>
            </a:pPr>
            <a:r>
              <a:rPr lang="en-US" sz="1800" dirty="0">
                <a:solidFill>
                  <a:schemeClr val="dk1"/>
                </a:solidFill>
                <a:latin typeface="Times New Roman"/>
                <a:ea typeface="Times New Roman"/>
                <a:cs typeface="Times New Roman"/>
                <a:sym typeface="Times New Roman"/>
              </a:rPr>
              <a:t>Co-ordination ambiguity occurs when it’s not clear which phrases are being combined with a conjunction like  and</a:t>
            </a:r>
            <a:endParaRPr sz="1800" dirty="0">
              <a:solidFill>
                <a:schemeClr val="dk1"/>
              </a:solidFill>
              <a:latin typeface="Times New Roman"/>
              <a:ea typeface="Times New Roman"/>
              <a:cs typeface="Times New Roman"/>
              <a:sym typeface="Times New Roman"/>
            </a:endParaRPr>
          </a:p>
          <a:p>
            <a:pPr marL="0" marR="0" lvl="0" indent="0" algn="l" rtl="0">
              <a:lnSpc>
                <a:spcPct val="100000"/>
              </a:lnSpc>
              <a:spcBef>
                <a:spcPts val="20"/>
              </a:spcBef>
              <a:spcAft>
                <a:spcPts val="0"/>
              </a:spcAft>
              <a:buClr>
                <a:schemeClr val="dk1"/>
              </a:buClr>
              <a:buSzPts val="1700"/>
              <a:buFont typeface="Arial"/>
              <a:buNone/>
            </a:pPr>
            <a:endParaRPr sz="1700" dirty="0">
              <a:solidFill>
                <a:schemeClr val="dk1"/>
              </a:solidFill>
              <a:latin typeface="Times New Roman"/>
              <a:ea typeface="Times New Roman"/>
              <a:cs typeface="Times New Roman"/>
              <a:sym typeface="Times New Roman"/>
            </a:endParaRPr>
          </a:p>
          <a:p>
            <a:pPr marL="264160" marR="269240" lvl="0" indent="-194945" algn="l" rtl="0">
              <a:lnSpc>
                <a:spcPct val="115700"/>
              </a:lnSpc>
              <a:spcBef>
                <a:spcPts val="0"/>
              </a:spcBef>
              <a:spcAft>
                <a:spcPts val="0"/>
              </a:spcAft>
              <a:buClr>
                <a:schemeClr val="dk1"/>
              </a:buClr>
              <a:buSzPts val="1800"/>
              <a:buFont typeface="Arial"/>
              <a:buChar char="•"/>
            </a:pPr>
            <a:r>
              <a:rPr lang="en-US" sz="1800" dirty="0">
                <a:solidFill>
                  <a:schemeClr val="dk1"/>
                </a:solidFill>
                <a:latin typeface="Calibri"/>
                <a:ea typeface="Calibri"/>
                <a:cs typeface="Calibri"/>
                <a:sym typeface="Calibri"/>
              </a:rPr>
              <a:t>	</a:t>
            </a:r>
            <a:r>
              <a:rPr lang="en-US" sz="1800" dirty="0" err="1">
                <a:solidFill>
                  <a:schemeClr val="dk1"/>
                </a:solidFill>
                <a:latin typeface="Times New Roman"/>
                <a:ea typeface="Times New Roman"/>
                <a:cs typeface="Times New Roman"/>
                <a:sym typeface="Times New Roman"/>
              </a:rPr>
              <a:t>Eg</a:t>
            </a:r>
            <a:r>
              <a:rPr lang="en-US" sz="1800" dirty="0">
                <a:solidFill>
                  <a:schemeClr val="dk1"/>
                </a:solidFill>
                <a:latin typeface="Times New Roman"/>
                <a:ea typeface="Times New Roman"/>
                <a:cs typeface="Times New Roman"/>
                <a:sym typeface="Times New Roman"/>
              </a:rPr>
              <a:t>:- the phrase beautiful hair and eyes have the structure [ beautiful hair] and [ eyes ] or [ beautiful  hair ] and [ beautiful eyes ].</a:t>
            </a:r>
            <a:endParaRPr sz="1800" dirty="0">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2050"/>
              <a:buFont typeface="Arial"/>
              <a:buNone/>
            </a:pPr>
            <a:endParaRPr sz="2050" dirty="0">
              <a:solidFill>
                <a:schemeClr val="dk1"/>
              </a:solidFill>
              <a:latin typeface="Times New Roman"/>
              <a:ea typeface="Times New Roman"/>
              <a:cs typeface="Times New Roman"/>
              <a:sym typeface="Times New Roman"/>
            </a:endParaRPr>
          </a:p>
          <a:p>
            <a:pPr marL="264160" marR="323850" lvl="0" indent="-194945" algn="l" rtl="0">
              <a:lnSpc>
                <a:spcPct val="110000"/>
              </a:lnSpc>
              <a:spcBef>
                <a:spcPts val="0"/>
              </a:spcBef>
              <a:spcAft>
                <a:spcPts val="0"/>
              </a:spcAft>
              <a:buClr>
                <a:schemeClr val="dk1"/>
              </a:buClr>
              <a:buSzPts val="1800"/>
              <a:buFont typeface="Arial"/>
              <a:buChar char="•"/>
            </a:pPr>
            <a:r>
              <a:rPr lang="en-US" sz="1800" dirty="0">
                <a:solidFill>
                  <a:schemeClr val="dk1"/>
                </a:solidFill>
                <a:latin typeface="Times New Roman"/>
                <a:ea typeface="Times New Roman"/>
                <a:cs typeface="Times New Roman"/>
                <a:sym typeface="Times New Roman"/>
              </a:rPr>
              <a:t>A sentence may have local ambiguity resulting in inefficient parsing. Local ambiguity occurs when certain  parts of a sentence are ambiguous.</a:t>
            </a:r>
            <a:endParaRPr sz="1800" dirty="0">
              <a:solidFill>
                <a:schemeClr val="dk1"/>
              </a:solidFill>
              <a:latin typeface="Times New Roman"/>
              <a:ea typeface="Times New Roman"/>
              <a:cs typeface="Times New Roman"/>
              <a:sym typeface="Times New Roman"/>
            </a:endParaRPr>
          </a:p>
          <a:p>
            <a:pPr marL="264160" marR="5080" lvl="0" indent="-194945" algn="l" rtl="0">
              <a:lnSpc>
                <a:spcPct val="89700"/>
              </a:lnSpc>
              <a:spcBef>
                <a:spcPts val="969"/>
              </a:spcBef>
              <a:spcAft>
                <a:spcPts val="0"/>
              </a:spcAft>
              <a:buClr>
                <a:schemeClr val="dk1"/>
              </a:buClr>
              <a:buSzPts val="1800"/>
              <a:buFont typeface="Arial"/>
              <a:buChar char="•"/>
            </a:pPr>
            <a:r>
              <a:rPr lang="en-US" sz="1800" dirty="0" err="1">
                <a:solidFill>
                  <a:schemeClr val="dk1"/>
                </a:solidFill>
                <a:latin typeface="Times New Roman"/>
                <a:ea typeface="Times New Roman"/>
                <a:cs typeface="Times New Roman"/>
                <a:sym typeface="Times New Roman"/>
              </a:rPr>
              <a:t>Eg</a:t>
            </a:r>
            <a:r>
              <a:rPr lang="en-US" sz="1800" dirty="0">
                <a:solidFill>
                  <a:schemeClr val="dk1"/>
                </a:solidFill>
                <a:latin typeface="Times New Roman"/>
                <a:ea typeface="Times New Roman"/>
                <a:cs typeface="Times New Roman"/>
                <a:sym typeface="Times New Roman"/>
              </a:rPr>
              <a:t>:- paint the door is unambiguous, but during parsing it’s not known whether the first word paint is a verb or  a noun. Hence the parser makes a few incorrect expansions before discovering that paint is a verb. Thus it  must use backtracking or parallelism to consider both parser.</a:t>
            </a:r>
            <a:endParaRPr sz="1800" dirty="0">
              <a:solidFill>
                <a:schemeClr val="dk1"/>
              </a:solidFill>
              <a:latin typeface="Times New Roman"/>
              <a:ea typeface="Times New Roman"/>
              <a:cs typeface="Times New Roman"/>
              <a:sym typeface="Times New Roman"/>
            </a:endParaRPr>
          </a:p>
          <a:p>
            <a:pPr marL="378460" marR="0" lvl="0" indent="-366394" algn="l" rtl="0">
              <a:lnSpc>
                <a:spcPct val="100000"/>
              </a:lnSpc>
              <a:spcBef>
                <a:spcPts val="965"/>
              </a:spcBef>
              <a:spcAft>
                <a:spcPts val="0"/>
              </a:spcAft>
              <a:buClr>
                <a:schemeClr val="dk1"/>
              </a:buClr>
              <a:buSzPts val="1800"/>
              <a:buFont typeface="Lucida Sans"/>
              <a:buChar char="□"/>
            </a:pPr>
            <a:r>
              <a:rPr lang="en-US" sz="1800" dirty="0">
                <a:solidFill>
                  <a:schemeClr val="dk1"/>
                </a:solidFill>
                <a:latin typeface="Times New Roman"/>
                <a:ea typeface="Times New Roman"/>
                <a:cs typeface="Times New Roman"/>
                <a:sym typeface="Times New Roman"/>
              </a:rPr>
              <a:t>Repeated parsing</a:t>
            </a:r>
            <a:endParaRPr sz="1800" dirty="0">
              <a:solidFill>
                <a:schemeClr val="dk1"/>
              </a:solidFill>
              <a:latin typeface="Times New Roman"/>
              <a:ea typeface="Times New Roman"/>
              <a:cs typeface="Times New Roman"/>
              <a:sym typeface="Times New Roman"/>
            </a:endParaRPr>
          </a:p>
          <a:p>
            <a:pPr marL="378460" marR="0" lvl="0" indent="-366394" algn="l" rtl="0">
              <a:lnSpc>
                <a:spcPct val="100000"/>
              </a:lnSpc>
              <a:spcBef>
                <a:spcPts val="1290"/>
              </a:spcBef>
              <a:spcAft>
                <a:spcPts val="0"/>
              </a:spcAft>
              <a:buClr>
                <a:schemeClr val="dk1"/>
              </a:buClr>
              <a:buSzPts val="1800"/>
              <a:buFont typeface="Lucida Sans"/>
              <a:buChar char="□"/>
            </a:pPr>
            <a:r>
              <a:rPr lang="en-US" sz="1800" dirty="0">
                <a:solidFill>
                  <a:schemeClr val="dk1"/>
                </a:solidFill>
                <a:latin typeface="Times New Roman"/>
                <a:ea typeface="Times New Roman"/>
                <a:cs typeface="Times New Roman"/>
                <a:sym typeface="Times New Roman"/>
              </a:rPr>
              <a:t>Dynamic programming algorithm can solve the problem.</a:t>
            </a:r>
            <a:endParaRPr sz="1800" dirty="0">
              <a:solidFill>
                <a:schemeClr val="dk1"/>
              </a:solidFill>
              <a:latin typeface="Times New Roman"/>
              <a:ea typeface="Times New Roman"/>
              <a:cs typeface="Times New Roman"/>
              <a:sym typeface="Times New Roman"/>
            </a:endParaRP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showMasterSp="0">
  <p:cSld>
    <p:spTree>
      <p:nvGrpSpPr>
        <p:cNvPr id="1" name="Shape 960"/>
        <p:cNvGrpSpPr/>
        <p:nvPr/>
      </p:nvGrpSpPr>
      <p:grpSpPr>
        <a:xfrm>
          <a:off x="0" y="0"/>
          <a:ext cx="0" cy="0"/>
          <a:chOff x="0" y="0"/>
          <a:chExt cx="0" cy="0"/>
        </a:xfrm>
      </p:grpSpPr>
      <p:sp>
        <p:nvSpPr>
          <p:cNvPr id="961" name="Google Shape;961;p96"/>
          <p:cNvSpPr txBox="1">
            <a:spLocks noGrp="1"/>
          </p:cNvSpPr>
          <p:nvPr>
            <p:ph type="title"/>
          </p:nvPr>
        </p:nvSpPr>
        <p:spPr>
          <a:xfrm>
            <a:off x="911225" y="75777"/>
            <a:ext cx="2991485" cy="629285"/>
          </a:xfrm>
          <a:prstGeom prst="rect">
            <a:avLst/>
          </a:prstGeom>
          <a:noFill/>
          <a:ln>
            <a:noFill/>
          </a:ln>
        </p:spPr>
        <p:txBody>
          <a:bodyPr spcFirstLastPara="1" wrap="square" lIns="0" tIns="13950" rIns="0" bIns="0" anchor="t" anchorCtr="0">
            <a:spAutoFit/>
          </a:bodyPr>
          <a:lstStyle/>
          <a:p>
            <a:pPr marL="12700" lvl="0" indent="0" algn="l" rtl="0">
              <a:lnSpc>
                <a:spcPct val="100000"/>
              </a:lnSpc>
              <a:spcBef>
                <a:spcPts val="0"/>
              </a:spcBef>
              <a:spcAft>
                <a:spcPts val="0"/>
              </a:spcAft>
              <a:buNone/>
            </a:pPr>
            <a:r>
              <a:rPr lang="en-US" b="1">
                <a:latin typeface="Times New Roman"/>
                <a:ea typeface="Times New Roman"/>
                <a:cs typeface="Times New Roman"/>
                <a:sym typeface="Times New Roman"/>
              </a:rPr>
              <a:t>Earley Parser</a:t>
            </a:r>
            <a:endParaRPr/>
          </a:p>
        </p:txBody>
      </p:sp>
      <p:sp>
        <p:nvSpPr>
          <p:cNvPr id="962" name="Google Shape;962;p96"/>
          <p:cNvSpPr txBox="1"/>
          <p:nvPr/>
        </p:nvSpPr>
        <p:spPr>
          <a:xfrm>
            <a:off x="810431" y="5489379"/>
            <a:ext cx="240665" cy="2997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800">
                <a:solidFill>
                  <a:schemeClr val="dk1"/>
                </a:solidFill>
                <a:latin typeface="Calibri"/>
                <a:ea typeface="Calibri"/>
                <a:cs typeface="Calibri"/>
                <a:sym typeface="Calibri"/>
              </a:rPr>
              <a:t>iii.</a:t>
            </a:r>
            <a:endParaRPr sz="1800">
              <a:solidFill>
                <a:schemeClr val="dk1"/>
              </a:solidFill>
              <a:latin typeface="Calibri"/>
              <a:ea typeface="Calibri"/>
              <a:cs typeface="Calibri"/>
              <a:sym typeface="Calibri"/>
            </a:endParaRPr>
          </a:p>
        </p:txBody>
      </p:sp>
      <p:sp>
        <p:nvSpPr>
          <p:cNvPr id="963" name="Google Shape;963;p96"/>
          <p:cNvSpPr txBox="1"/>
          <p:nvPr/>
        </p:nvSpPr>
        <p:spPr>
          <a:xfrm>
            <a:off x="862893" y="709098"/>
            <a:ext cx="10203815" cy="5080000"/>
          </a:xfrm>
          <a:prstGeom prst="rect">
            <a:avLst/>
          </a:prstGeom>
          <a:noFill/>
          <a:ln>
            <a:noFill/>
          </a:ln>
        </p:spPr>
        <p:txBody>
          <a:bodyPr spcFirstLastPara="1" wrap="square" lIns="0" tIns="151125" rIns="0" bIns="0" anchor="t" anchorCtr="0">
            <a:spAutoFit/>
          </a:bodyPr>
          <a:lstStyle/>
          <a:p>
            <a:pPr marL="403860" marR="0" lvl="0" indent="-366394" algn="l" rtl="0">
              <a:lnSpc>
                <a:spcPct val="100000"/>
              </a:lnSpc>
              <a:spcBef>
                <a:spcPts val="0"/>
              </a:spcBef>
              <a:spcAft>
                <a:spcPts val="0"/>
              </a:spcAft>
              <a:buClr>
                <a:schemeClr val="dk1"/>
              </a:buClr>
              <a:buSzPts val="1800"/>
              <a:buFont typeface="Lucida Sans"/>
              <a:buChar char="□"/>
            </a:pPr>
            <a:r>
              <a:rPr lang="en-US" sz="1800">
                <a:solidFill>
                  <a:schemeClr val="dk1"/>
                </a:solidFill>
                <a:latin typeface="Times New Roman"/>
                <a:ea typeface="Times New Roman"/>
                <a:cs typeface="Times New Roman"/>
                <a:sym typeface="Times New Roman"/>
              </a:rPr>
              <a:t>Implements a efficient parallel top down search using dynamic programming.</a:t>
            </a:r>
            <a:endParaRPr sz="1800">
              <a:solidFill>
                <a:schemeClr val="dk1"/>
              </a:solidFill>
              <a:latin typeface="Times New Roman"/>
              <a:ea typeface="Times New Roman"/>
              <a:cs typeface="Times New Roman"/>
              <a:sym typeface="Times New Roman"/>
            </a:endParaRPr>
          </a:p>
          <a:p>
            <a:pPr marL="403860" marR="8890" lvl="0" indent="-366394" algn="l" rtl="0">
              <a:lnSpc>
                <a:spcPct val="106500"/>
              </a:lnSpc>
              <a:spcBef>
                <a:spcPts val="950"/>
              </a:spcBef>
              <a:spcAft>
                <a:spcPts val="0"/>
              </a:spcAft>
              <a:buClr>
                <a:schemeClr val="dk1"/>
              </a:buClr>
              <a:buSzPts val="1800"/>
              <a:buFont typeface="Lucida Sans"/>
              <a:buChar char="□"/>
            </a:pPr>
            <a:r>
              <a:rPr lang="en-US" sz="1800">
                <a:solidFill>
                  <a:schemeClr val="dk1"/>
                </a:solidFill>
                <a:latin typeface="Times New Roman"/>
                <a:ea typeface="Times New Roman"/>
                <a:cs typeface="Times New Roman"/>
                <a:sym typeface="Times New Roman"/>
              </a:rPr>
              <a:t>It builds a table of sub-trees for each of the constituents in the input. This way, the algorithm eliminates the  repetitive parse of a constituent which arises from backtracking and successfully reduces the</a:t>
            </a:r>
            <a:endParaRPr sz="1800">
              <a:solidFill>
                <a:schemeClr val="dk1"/>
              </a:solidFill>
              <a:latin typeface="Times New Roman"/>
              <a:ea typeface="Times New Roman"/>
              <a:cs typeface="Times New Roman"/>
              <a:sym typeface="Times New Roman"/>
            </a:endParaRPr>
          </a:p>
          <a:p>
            <a:pPr marL="403860" marR="0" lvl="0" indent="0" algn="l" rtl="0">
              <a:lnSpc>
                <a:spcPct val="100000"/>
              </a:lnSpc>
              <a:spcBef>
                <a:spcPts val="90"/>
              </a:spcBef>
              <a:spcAft>
                <a:spcPts val="0"/>
              </a:spcAft>
              <a:buNone/>
            </a:pPr>
            <a:r>
              <a:rPr lang="en-US" sz="1800">
                <a:solidFill>
                  <a:schemeClr val="dk1"/>
                </a:solidFill>
                <a:latin typeface="Times New Roman"/>
                <a:ea typeface="Times New Roman"/>
                <a:cs typeface="Times New Roman"/>
                <a:sym typeface="Times New Roman"/>
              </a:rPr>
              <a:t>exponential-time problem to polynomial time.</a:t>
            </a:r>
            <a:endParaRPr sz="1800">
              <a:solidFill>
                <a:schemeClr val="dk1"/>
              </a:solidFill>
              <a:latin typeface="Times New Roman"/>
              <a:ea typeface="Times New Roman"/>
              <a:cs typeface="Times New Roman"/>
              <a:sym typeface="Times New Roman"/>
            </a:endParaRPr>
          </a:p>
          <a:p>
            <a:pPr marL="403860" marR="0" lvl="0" indent="-366394" algn="l" rtl="0">
              <a:lnSpc>
                <a:spcPct val="100000"/>
              </a:lnSpc>
              <a:spcBef>
                <a:spcPts val="1090"/>
              </a:spcBef>
              <a:spcAft>
                <a:spcPts val="0"/>
              </a:spcAft>
              <a:buClr>
                <a:schemeClr val="dk1"/>
              </a:buClr>
              <a:buSzPts val="1800"/>
              <a:buFont typeface="Lucida Sans"/>
              <a:buChar char="□"/>
            </a:pPr>
            <a:r>
              <a:rPr lang="en-US" sz="1800">
                <a:solidFill>
                  <a:schemeClr val="dk1"/>
                </a:solidFill>
                <a:latin typeface="Times New Roman"/>
                <a:ea typeface="Times New Roman"/>
                <a:cs typeface="Times New Roman"/>
                <a:sym typeface="Times New Roman"/>
              </a:rPr>
              <a:t>The Earley Parser can handle recursive rules such as A□A C without getting into an infinite loop.</a:t>
            </a:r>
            <a:endParaRPr sz="1800">
              <a:solidFill>
                <a:schemeClr val="dk1"/>
              </a:solidFill>
              <a:latin typeface="Times New Roman"/>
              <a:ea typeface="Times New Roman"/>
              <a:cs typeface="Times New Roman"/>
              <a:sym typeface="Times New Roman"/>
            </a:endParaRPr>
          </a:p>
          <a:p>
            <a:pPr marL="403860" marR="358140" lvl="0" indent="-366394" algn="l" rtl="0">
              <a:lnSpc>
                <a:spcPct val="106500"/>
              </a:lnSpc>
              <a:spcBef>
                <a:spcPts val="1000"/>
              </a:spcBef>
              <a:spcAft>
                <a:spcPts val="0"/>
              </a:spcAft>
              <a:buClr>
                <a:schemeClr val="dk1"/>
              </a:buClr>
              <a:buSzPts val="1800"/>
              <a:buFont typeface="Lucida Sans"/>
              <a:buChar char="□"/>
            </a:pPr>
            <a:r>
              <a:rPr lang="en-US" sz="1800">
                <a:solidFill>
                  <a:schemeClr val="dk1"/>
                </a:solidFill>
                <a:latin typeface="Times New Roman"/>
                <a:ea typeface="Times New Roman"/>
                <a:cs typeface="Times New Roman"/>
                <a:sym typeface="Times New Roman"/>
              </a:rPr>
              <a:t>The most important component of this algorithm is the Earley chart that has n+1 entries, where n is the  number of words in the input.</a:t>
            </a:r>
            <a:endParaRPr sz="1800">
              <a:solidFill>
                <a:schemeClr val="dk1"/>
              </a:solidFill>
              <a:latin typeface="Times New Roman"/>
              <a:ea typeface="Times New Roman"/>
              <a:cs typeface="Times New Roman"/>
              <a:sym typeface="Times New Roman"/>
            </a:endParaRPr>
          </a:p>
          <a:p>
            <a:pPr marL="403860" marR="5080" lvl="0" indent="-366394" algn="l" rtl="0">
              <a:lnSpc>
                <a:spcPct val="104900"/>
              </a:lnSpc>
              <a:spcBef>
                <a:spcPts val="980"/>
              </a:spcBef>
              <a:spcAft>
                <a:spcPts val="0"/>
              </a:spcAft>
              <a:buClr>
                <a:schemeClr val="dk1"/>
              </a:buClr>
              <a:buSzPts val="1800"/>
              <a:buFont typeface="Lucida Sans"/>
              <a:buChar char="□"/>
            </a:pPr>
            <a:r>
              <a:rPr lang="en-US" sz="1800">
                <a:solidFill>
                  <a:schemeClr val="dk1"/>
                </a:solidFill>
                <a:latin typeface="Times New Roman"/>
                <a:ea typeface="Times New Roman"/>
                <a:cs typeface="Times New Roman"/>
                <a:sym typeface="Times New Roman"/>
              </a:rPr>
              <a:t>The chart contains a set of states for each word position in the sentence. The algorithm makes a left to right  scan of input to fill the elements in this chart. It builds a set of states, one for each position in the input  string, that describes the condition of the recognition process at that point in the scan. The states in each  entry provides the following information:</a:t>
            </a:r>
            <a:endParaRPr sz="1800">
              <a:solidFill>
                <a:schemeClr val="dk1"/>
              </a:solidFill>
              <a:latin typeface="Times New Roman"/>
              <a:ea typeface="Times New Roman"/>
              <a:cs typeface="Times New Roman"/>
              <a:sym typeface="Times New Roman"/>
            </a:endParaRPr>
          </a:p>
          <a:p>
            <a:pPr marL="403860" marR="0" lvl="0" indent="-339725" algn="l" rtl="0">
              <a:lnSpc>
                <a:spcPct val="100000"/>
              </a:lnSpc>
              <a:spcBef>
                <a:spcPts val="1090"/>
              </a:spcBef>
              <a:spcAft>
                <a:spcPts val="0"/>
              </a:spcAft>
              <a:buClr>
                <a:schemeClr val="dk1"/>
              </a:buClr>
              <a:buSzPts val="1800"/>
              <a:buFont typeface="Calibri"/>
              <a:buAutoNum type="romanLcPeriod"/>
            </a:pPr>
            <a:r>
              <a:rPr lang="en-US" sz="1800">
                <a:solidFill>
                  <a:schemeClr val="dk1"/>
                </a:solidFill>
                <a:latin typeface="Times New Roman"/>
                <a:ea typeface="Times New Roman"/>
                <a:cs typeface="Times New Roman"/>
                <a:sym typeface="Times New Roman"/>
              </a:rPr>
              <a:t>A subtree corresponding to a grammar rule.</a:t>
            </a:r>
            <a:endParaRPr sz="1800">
              <a:solidFill>
                <a:schemeClr val="dk1"/>
              </a:solidFill>
              <a:latin typeface="Times New Roman"/>
              <a:ea typeface="Times New Roman"/>
              <a:cs typeface="Times New Roman"/>
              <a:sym typeface="Times New Roman"/>
            </a:endParaRPr>
          </a:p>
          <a:p>
            <a:pPr marL="403860" marR="4050665" lvl="0" indent="-391794" algn="l" rtl="0">
              <a:lnSpc>
                <a:spcPct val="152800"/>
              </a:lnSpc>
              <a:spcBef>
                <a:spcPts val="0"/>
              </a:spcBef>
              <a:spcAft>
                <a:spcPts val="0"/>
              </a:spcAft>
              <a:buClr>
                <a:schemeClr val="dk1"/>
              </a:buClr>
              <a:buSzPts val="1800"/>
              <a:buFont typeface="Calibri"/>
              <a:buAutoNum type="romanLcPeriod"/>
            </a:pPr>
            <a:r>
              <a:rPr lang="en-US" sz="1800">
                <a:solidFill>
                  <a:schemeClr val="dk1"/>
                </a:solidFill>
                <a:latin typeface="Times New Roman"/>
                <a:ea typeface="Times New Roman"/>
                <a:cs typeface="Times New Roman"/>
                <a:sym typeface="Times New Roman"/>
              </a:rPr>
              <a:t>Information about the progress made in completing the subtree  Position of the subtree with respect to input.</a:t>
            </a:r>
            <a:endParaRPr sz="1800">
              <a:solidFill>
                <a:schemeClr val="dk1"/>
              </a:solidFill>
              <a:latin typeface="Times New Roman"/>
              <a:ea typeface="Times New Roman"/>
              <a:cs typeface="Times New Roman"/>
              <a:sym typeface="Times New Roman"/>
            </a:endParaRP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showMasterSp="0">
  <p:cSld>
    <p:spTree>
      <p:nvGrpSpPr>
        <p:cNvPr id="1" name="Shape 967"/>
        <p:cNvGrpSpPr/>
        <p:nvPr/>
      </p:nvGrpSpPr>
      <p:grpSpPr>
        <a:xfrm>
          <a:off x="0" y="0"/>
          <a:ext cx="0" cy="0"/>
          <a:chOff x="0" y="0"/>
          <a:chExt cx="0" cy="0"/>
        </a:xfrm>
      </p:grpSpPr>
      <p:sp>
        <p:nvSpPr>
          <p:cNvPr id="968" name="Google Shape;968;p97"/>
          <p:cNvSpPr txBox="1">
            <a:spLocks noGrp="1"/>
          </p:cNvSpPr>
          <p:nvPr>
            <p:ph type="title"/>
          </p:nvPr>
        </p:nvSpPr>
        <p:spPr>
          <a:xfrm>
            <a:off x="911225" y="639172"/>
            <a:ext cx="3321050" cy="69596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4400" b="1">
                <a:latin typeface="Times New Roman"/>
                <a:ea typeface="Times New Roman"/>
                <a:cs typeface="Times New Roman"/>
                <a:sym typeface="Times New Roman"/>
              </a:rPr>
              <a:t>Earley Parser</a:t>
            </a:r>
            <a:endParaRPr sz="4400">
              <a:latin typeface="Times New Roman"/>
              <a:ea typeface="Times New Roman"/>
              <a:cs typeface="Times New Roman"/>
              <a:sym typeface="Times New Roman"/>
            </a:endParaRPr>
          </a:p>
        </p:txBody>
      </p:sp>
      <p:sp>
        <p:nvSpPr>
          <p:cNvPr id="969" name="Google Shape;969;p97"/>
          <p:cNvSpPr txBox="1"/>
          <p:nvPr/>
        </p:nvSpPr>
        <p:spPr>
          <a:xfrm>
            <a:off x="945492" y="1841880"/>
            <a:ext cx="6252210" cy="299720"/>
          </a:xfrm>
          <a:prstGeom prst="rect">
            <a:avLst/>
          </a:prstGeom>
          <a:noFill/>
          <a:ln>
            <a:noFill/>
          </a:ln>
        </p:spPr>
        <p:txBody>
          <a:bodyPr spcFirstLastPara="1" wrap="square" lIns="0" tIns="12700" rIns="0" bIns="0" anchor="t" anchorCtr="0">
            <a:spAutoFit/>
          </a:bodyPr>
          <a:lstStyle/>
          <a:p>
            <a:pPr marL="207009" marR="0" lvl="0" indent="-194945" algn="l" rtl="0">
              <a:lnSpc>
                <a:spcPct val="100000"/>
              </a:lnSpc>
              <a:spcBef>
                <a:spcPts val="0"/>
              </a:spcBef>
              <a:spcAft>
                <a:spcPts val="0"/>
              </a:spcAft>
              <a:buClr>
                <a:schemeClr val="dk1"/>
              </a:buClr>
              <a:buSzPts val="1800"/>
              <a:buFont typeface="Arial"/>
              <a:buChar char="•"/>
            </a:pPr>
            <a:r>
              <a:rPr lang="en-US" sz="1800">
                <a:solidFill>
                  <a:schemeClr val="dk1"/>
                </a:solidFill>
                <a:latin typeface="Times New Roman"/>
                <a:ea typeface="Times New Roman"/>
                <a:cs typeface="Times New Roman"/>
                <a:sym typeface="Times New Roman"/>
              </a:rPr>
              <a:t>The algorithm uses three operations to process states in the chart:-</a:t>
            </a:r>
            <a:endParaRPr sz="1800">
              <a:solidFill>
                <a:schemeClr val="dk1"/>
              </a:solidFill>
              <a:latin typeface="Times New Roman"/>
              <a:ea typeface="Times New Roman"/>
              <a:cs typeface="Times New Roman"/>
              <a:sym typeface="Times New Roman"/>
            </a:endParaRPr>
          </a:p>
        </p:txBody>
      </p:sp>
      <p:sp>
        <p:nvSpPr>
          <p:cNvPr id="970" name="Google Shape;970;p97"/>
          <p:cNvSpPr txBox="1"/>
          <p:nvPr/>
        </p:nvSpPr>
        <p:spPr>
          <a:xfrm>
            <a:off x="3748787" y="2410205"/>
            <a:ext cx="1040130" cy="2997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800">
                <a:solidFill>
                  <a:schemeClr val="dk1"/>
                </a:solidFill>
                <a:latin typeface="Times New Roman"/>
                <a:ea typeface="Times New Roman"/>
                <a:cs typeface="Times New Roman"/>
                <a:sym typeface="Times New Roman"/>
              </a:rPr>
              <a:t>The girl….</a:t>
            </a:r>
            <a:endParaRPr sz="1800">
              <a:solidFill>
                <a:schemeClr val="dk1"/>
              </a:solidFill>
              <a:latin typeface="Times New Roman"/>
              <a:ea typeface="Times New Roman"/>
              <a:cs typeface="Times New Roman"/>
              <a:sym typeface="Times New Roman"/>
            </a:endParaRPr>
          </a:p>
        </p:txBody>
      </p:sp>
      <p:sp>
        <p:nvSpPr>
          <p:cNvPr id="971" name="Google Shape;971;p97"/>
          <p:cNvSpPr txBox="1"/>
          <p:nvPr/>
        </p:nvSpPr>
        <p:spPr>
          <a:xfrm>
            <a:off x="840345" y="3292855"/>
            <a:ext cx="210820" cy="2997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800">
                <a:solidFill>
                  <a:schemeClr val="dk1"/>
                </a:solidFill>
                <a:latin typeface="Calibri"/>
                <a:ea typeface="Calibri"/>
                <a:cs typeface="Calibri"/>
                <a:sym typeface="Calibri"/>
              </a:rPr>
              <a:t>3)</a:t>
            </a:r>
            <a:endParaRPr sz="1800">
              <a:solidFill>
                <a:schemeClr val="dk1"/>
              </a:solidFill>
              <a:latin typeface="Calibri"/>
              <a:ea typeface="Calibri"/>
              <a:cs typeface="Calibri"/>
              <a:sym typeface="Calibri"/>
            </a:endParaRPr>
          </a:p>
        </p:txBody>
      </p:sp>
      <p:sp>
        <p:nvSpPr>
          <p:cNvPr id="972" name="Google Shape;972;p97"/>
          <p:cNvSpPr txBox="1"/>
          <p:nvPr/>
        </p:nvSpPr>
        <p:spPr>
          <a:xfrm>
            <a:off x="840345" y="3731005"/>
            <a:ext cx="210820" cy="2997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800">
                <a:solidFill>
                  <a:schemeClr val="dk1"/>
                </a:solidFill>
                <a:latin typeface="Calibri"/>
                <a:ea typeface="Calibri"/>
                <a:cs typeface="Calibri"/>
                <a:sym typeface="Calibri"/>
              </a:rPr>
              <a:t>4)</a:t>
            </a:r>
            <a:endParaRPr sz="1800">
              <a:solidFill>
                <a:schemeClr val="dk1"/>
              </a:solidFill>
              <a:latin typeface="Calibri"/>
              <a:ea typeface="Calibri"/>
              <a:cs typeface="Calibri"/>
              <a:sym typeface="Calibri"/>
            </a:endParaRPr>
          </a:p>
        </p:txBody>
      </p:sp>
      <p:sp>
        <p:nvSpPr>
          <p:cNvPr id="973" name="Google Shape;973;p97"/>
          <p:cNvSpPr txBox="1"/>
          <p:nvPr/>
        </p:nvSpPr>
        <p:spPr>
          <a:xfrm>
            <a:off x="840345" y="2410205"/>
            <a:ext cx="2564130" cy="2058670"/>
          </a:xfrm>
          <a:prstGeom prst="rect">
            <a:avLst/>
          </a:prstGeom>
          <a:noFill/>
          <a:ln>
            <a:noFill/>
          </a:ln>
        </p:spPr>
        <p:txBody>
          <a:bodyPr spcFirstLastPara="1" wrap="square" lIns="0" tIns="12700" rIns="0" bIns="0" anchor="t" anchorCtr="0">
            <a:spAutoFit/>
          </a:bodyPr>
          <a:lstStyle/>
          <a:p>
            <a:pPr marL="426084" marR="0" lvl="0" indent="-414020" algn="l" rtl="0">
              <a:lnSpc>
                <a:spcPct val="100000"/>
              </a:lnSpc>
              <a:spcBef>
                <a:spcPts val="0"/>
              </a:spcBef>
              <a:spcAft>
                <a:spcPts val="0"/>
              </a:spcAft>
              <a:buClr>
                <a:schemeClr val="dk1"/>
              </a:buClr>
              <a:buSzPts val="1800"/>
              <a:buFont typeface="Calibri"/>
              <a:buAutoNum type="arabicParenR"/>
            </a:pPr>
            <a:r>
              <a:rPr lang="en-US" sz="1800">
                <a:solidFill>
                  <a:schemeClr val="dk1"/>
                </a:solidFill>
                <a:latin typeface="Times New Roman"/>
                <a:ea typeface="Times New Roman"/>
                <a:cs typeface="Times New Roman"/>
                <a:sym typeface="Times New Roman"/>
              </a:rPr>
              <a:t>Predictor</a:t>
            </a:r>
            <a:endParaRPr sz="1800">
              <a:solidFill>
                <a:schemeClr val="dk1"/>
              </a:solidFill>
              <a:latin typeface="Times New Roman"/>
              <a:ea typeface="Times New Roman"/>
              <a:cs typeface="Times New Roman"/>
              <a:sym typeface="Times New Roman"/>
            </a:endParaRPr>
          </a:p>
          <a:p>
            <a:pPr marL="426084" marR="0" lvl="0" indent="-414020" algn="l" rtl="0">
              <a:lnSpc>
                <a:spcPct val="100000"/>
              </a:lnSpc>
              <a:spcBef>
                <a:spcPts val="1340"/>
              </a:spcBef>
              <a:spcAft>
                <a:spcPts val="0"/>
              </a:spcAft>
              <a:buClr>
                <a:schemeClr val="dk1"/>
              </a:buClr>
              <a:buSzPts val="1800"/>
              <a:buFont typeface="Calibri"/>
              <a:buAutoNum type="arabicParenR"/>
            </a:pPr>
            <a:r>
              <a:rPr lang="en-US" sz="1800">
                <a:solidFill>
                  <a:schemeClr val="dk1"/>
                </a:solidFill>
                <a:latin typeface="Times New Roman"/>
                <a:ea typeface="Times New Roman"/>
                <a:cs typeface="Times New Roman"/>
                <a:sym typeface="Times New Roman"/>
              </a:rPr>
              <a:t>Scanner S-&gt;.NP VP</a:t>
            </a:r>
            <a:endParaRPr sz="1800">
              <a:solidFill>
                <a:schemeClr val="dk1"/>
              </a:solidFill>
              <a:latin typeface="Times New Roman"/>
              <a:ea typeface="Times New Roman"/>
              <a:cs typeface="Times New Roman"/>
              <a:sym typeface="Times New Roman"/>
            </a:endParaRPr>
          </a:p>
          <a:p>
            <a:pPr marL="1111885" marR="0" lvl="0" indent="0" algn="l" rtl="0">
              <a:lnSpc>
                <a:spcPct val="100000"/>
              </a:lnSpc>
              <a:spcBef>
                <a:spcPts val="1290"/>
              </a:spcBef>
              <a:spcAft>
                <a:spcPts val="0"/>
              </a:spcAft>
              <a:buNone/>
            </a:pPr>
            <a:r>
              <a:rPr lang="en-US" sz="1800">
                <a:solidFill>
                  <a:schemeClr val="dk1"/>
                </a:solidFill>
                <a:latin typeface="Times New Roman"/>
                <a:ea typeface="Times New Roman"/>
                <a:cs typeface="Times New Roman"/>
                <a:sym typeface="Times New Roman"/>
              </a:rPr>
              <a:t>NP-&gt; Det. N</a:t>
            </a:r>
            <a:endParaRPr sz="1800">
              <a:solidFill>
                <a:schemeClr val="dk1"/>
              </a:solidFill>
              <a:latin typeface="Times New Roman"/>
              <a:ea typeface="Times New Roman"/>
              <a:cs typeface="Times New Roman"/>
              <a:sym typeface="Times New Roman"/>
            </a:endParaRPr>
          </a:p>
          <a:p>
            <a:pPr marL="1097915" marR="0" lvl="0" indent="0" algn="l" rtl="0">
              <a:lnSpc>
                <a:spcPct val="100000"/>
              </a:lnSpc>
              <a:spcBef>
                <a:spcPts val="1290"/>
              </a:spcBef>
              <a:spcAft>
                <a:spcPts val="0"/>
              </a:spcAft>
              <a:buNone/>
            </a:pPr>
            <a:r>
              <a:rPr lang="en-US" sz="1800">
                <a:solidFill>
                  <a:schemeClr val="dk1"/>
                </a:solidFill>
                <a:latin typeface="Calibri"/>
                <a:ea typeface="Calibri"/>
                <a:cs typeface="Calibri"/>
                <a:sym typeface="Calibri"/>
              </a:rPr>
              <a:t>Det-&gt; .the</a:t>
            </a:r>
            <a:endParaRPr sz="1800">
              <a:solidFill>
                <a:schemeClr val="dk1"/>
              </a:solidFill>
              <a:latin typeface="Calibri"/>
              <a:ea typeface="Calibri"/>
              <a:cs typeface="Calibri"/>
              <a:sym typeface="Calibri"/>
            </a:endParaRPr>
          </a:p>
          <a:p>
            <a:pPr marL="12700" marR="0" lvl="0" indent="0" algn="l" rtl="0">
              <a:lnSpc>
                <a:spcPct val="100000"/>
              </a:lnSpc>
              <a:spcBef>
                <a:spcPts val="1290"/>
              </a:spcBef>
              <a:spcAft>
                <a:spcPts val="0"/>
              </a:spcAft>
              <a:buNone/>
            </a:pPr>
            <a:r>
              <a:rPr lang="en-US" sz="1800">
                <a:solidFill>
                  <a:schemeClr val="dk1"/>
                </a:solidFill>
                <a:latin typeface="Calibri"/>
                <a:ea typeface="Calibri"/>
                <a:cs typeface="Calibri"/>
                <a:sym typeface="Calibri"/>
              </a:rPr>
              <a:t>5)	</a:t>
            </a:r>
            <a:r>
              <a:rPr lang="en-US" sz="1800">
                <a:solidFill>
                  <a:schemeClr val="dk1"/>
                </a:solidFill>
                <a:latin typeface="Times New Roman"/>
                <a:ea typeface="Times New Roman"/>
                <a:cs typeface="Times New Roman"/>
                <a:sym typeface="Times New Roman"/>
              </a:rPr>
              <a:t>Completer	s-&gt;NP VP.</a:t>
            </a:r>
            <a:endParaRPr sz="1800">
              <a:solidFill>
                <a:schemeClr val="dk1"/>
              </a:solidFill>
              <a:latin typeface="Times New Roman"/>
              <a:ea typeface="Times New Roman"/>
              <a:cs typeface="Times New Roman"/>
              <a:sym typeface="Times New Roman"/>
            </a:endParaRP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showMasterSp="0">
  <p:cSld>
    <p:spTree>
      <p:nvGrpSpPr>
        <p:cNvPr id="1" name="Shape 977"/>
        <p:cNvGrpSpPr/>
        <p:nvPr/>
      </p:nvGrpSpPr>
      <p:grpSpPr>
        <a:xfrm>
          <a:off x="0" y="0"/>
          <a:ext cx="0" cy="0"/>
          <a:chOff x="0" y="0"/>
          <a:chExt cx="0" cy="0"/>
        </a:xfrm>
      </p:grpSpPr>
      <p:sp>
        <p:nvSpPr>
          <p:cNvPr id="978" name="Google Shape;978;p98"/>
          <p:cNvSpPr txBox="1">
            <a:spLocks noGrp="1"/>
          </p:cNvSpPr>
          <p:nvPr>
            <p:ph type="title"/>
          </p:nvPr>
        </p:nvSpPr>
        <p:spPr>
          <a:xfrm>
            <a:off x="911225" y="639172"/>
            <a:ext cx="3321050" cy="69596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4400" b="1">
                <a:latin typeface="Times New Roman"/>
                <a:ea typeface="Times New Roman"/>
                <a:cs typeface="Times New Roman"/>
                <a:sym typeface="Times New Roman"/>
              </a:rPr>
              <a:t>Earley Parser</a:t>
            </a:r>
            <a:endParaRPr sz="4400">
              <a:latin typeface="Times New Roman"/>
              <a:ea typeface="Times New Roman"/>
              <a:cs typeface="Times New Roman"/>
              <a:sym typeface="Times New Roman"/>
            </a:endParaRPr>
          </a:p>
        </p:txBody>
      </p:sp>
      <p:pic>
        <p:nvPicPr>
          <p:cNvPr id="979" name="Google Shape;979;p98"/>
          <p:cNvPicPr preferRelativeResize="0"/>
          <p:nvPr/>
        </p:nvPicPr>
        <p:blipFill rotWithShape="1">
          <a:blip r:embed="rId3">
            <a:alphaModFix/>
          </a:blip>
          <a:srcRect/>
          <a:stretch/>
        </p:blipFill>
        <p:spPr>
          <a:xfrm>
            <a:off x="2522452" y="1825625"/>
            <a:ext cx="5370078" cy="4221333"/>
          </a:xfrm>
          <a:prstGeom prst="rect">
            <a:avLst/>
          </a:prstGeom>
          <a:noFill/>
          <a:ln>
            <a:noFill/>
          </a:ln>
        </p:spPr>
      </p:pic>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showMasterSp="0">
  <p:cSld>
    <p:spTree>
      <p:nvGrpSpPr>
        <p:cNvPr id="1" name="Shape 983"/>
        <p:cNvGrpSpPr/>
        <p:nvPr/>
      </p:nvGrpSpPr>
      <p:grpSpPr>
        <a:xfrm>
          <a:off x="0" y="0"/>
          <a:ext cx="0" cy="0"/>
          <a:chOff x="0" y="0"/>
          <a:chExt cx="0" cy="0"/>
        </a:xfrm>
      </p:grpSpPr>
      <p:pic>
        <p:nvPicPr>
          <p:cNvPr id="984" name="Google Shape;984;p99"/>
          <p:cNvPicPr preferRelativeResize="0"/>
          <p:nvPr/>
        </p:nvPicPr>
        <p:blipFill rotWithShape="1">
          <a:blip r:embed="rId3">
            <a:alphaModFix/>
          </a:blip>
          <a:srcRect/>
          <a:stretch/>
        </p:blipFill>
        <p:spPr>
          <a:xfrm>
            <a:off x="838201" y="434109"/>
            <a:ext cx="10356271" cy="5742853"/>
          </a:xfrm>
          <a:prstGeom prst="rect">
            <a:avLst/>
          </a:prstGeom>
          <a:noFill/>
          <a:ln>
            <a:noFill/>
          </a:ln>
        </p:spPr>
      </p:pic>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showMasterSp="0">
  <p:cSld>
    <p:spTree>
      <p:nvGrpSpPr>
        <p:cNvPr id="1" name="Shape 988"/>
        <p:cNvGrpSpPr/>
        <p:nvPr/>
      </p:nvGrpSpPr>
      <p:grpSpPr>
        <a:xfrm>
          <a:off x="0" y="0"/>
          <a:ext cx="0" cy="0"/>
          <a:chOff x="0" y="0"/>
          <a:chExt cx="0" cy="0"/>
        </a:xfrm>
      </p:grpSpPr>
      <p:pic>
        <p:nvPicPr>
          <p:cNvPr id="989" name="Google Shape;989;p100"/>
          <p:cNvPicPr preferRelativeResize="0"/>
          <p:nvPr/>
        </p:nvPicPr>
        <p:blipFill rotWithShape="1">
          <a:blip r:embed="rId3">
            <a:alphaModFix/>
          </a:blip>
          <a:srcRect/>
          <a:stretch/>
        </p:blipFill>
        <p:spPr>
          <a:xfrm>
            <a:off x="461818" y="175491"/>
            <a:ext cx="10723418" cy="6465453"/>
          </a:xfrm>
          <a:prstGeom prst="rect">
            <a:avLst/>
          </a:prstGeom>
          <a:noFill/>
          <a:ln>
            <a:noFill/>
          </a:ln>
        </p:spPr>
      </p:pic>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showMasterSp="0">
  <p:cSld>
    <p:spTree>
      <p:nvGrpSpPr>
        <p:cNvPr id="1" name="Shape 993"/>
        <p:cNvGrpSpPr/>
        <p:nvPr/>
      </p:nvGrpSpPr>
      <p:grpSpPr>
        <a:xfrm>
          <a:off x="0" y="0"/>
          <a:ext cx="0" cy="0"/>
          <a:chOff x="0" y="0"/>
          <a:chExt cx="0" cy="0"/>
        </a:xfrm>
      </p:grpSpPr>
      <p:sp>
        <p:nvSpPr>
          <p:cNvPr id="994" name="Google Shape;994;p101"/>
          <p:cNvSpPr txBox="1">
            <a:spLocks noGrp="1"/>
          </p:cNvSpPr>
          <p:nvPr>
            <p:ph type="title"/>
          </p:nvPr>
        </p:nvSpPr>
        <p:spPr>
          <a:xfrm>
            <a:off x="911225" y="639172"/>
            <a:ext cx="3268345" cy="69596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4400"/>
              <a:t>CYK Algorithm</a:t>
            </a:r>
            <a:endParaRPr sz="4400"/>
          </a:p>
        </p:txBody>
      </p:sp>
      <p:sp>
        <p:nvSpPr>
          <p:cNvPr id="995" name="Google Shape;995;p101"/>
          <p:cNvSpPr txBox="1"/>
          <p:nvPr/>
        </p:nvSpPr>
        <p:spPr>
          <a:xfrm>
            <a:off x="964547" y="1721383"/>
            <a:ext cx="6111240" cy="4127500"/>
          </a:xfrm>
          <a:prstGeom prst="rect">
            <a:avLst/>
          </a:prstGeom>
          <a:noFill/>
          <a:ln>
            <a:noFill/>
          </a:ln>
        </p:spPr>
        <p:txBody>
          <a:bodyPr spcFirstLastPara="1" wrap="square" lIns="0" tIns="93975" rIns="0" bIns="0" anchor="t" anchorCtr="0">
            <a:spAutoFit/>
          </a:bodyPr>
          <a:lstStyle/>
          <a:p>
            <a:pPr marL="187960" marR="0" lvl="0" indent="-177800" algn="l" rtl="0">
              <a:lnSpc>
                <a:spcPct val="100000"/>
              </a:lnSpc>
              <a:spcBef>
                <a:spcPts val="0"/>
              </a:spcBef>
              <a:spcAft>
                <a:spcPts val="0"/>
              </a:spcAft>
              <a:buClr>
                <a:schemeClr val="dk1"/>
              </a:buClr>
              <a:buSzPts val="2800"/>
              <a:buFont typeface="Arial"/>
              <a:buChar char="•"/>
            </a:pPr>
            <a:r>
              <a:rPr lang="en-US" sz="2800">
                <a:solidFill>
                  <a:schemeClr val="dk1"/>
                </a:solidFill>
                <a:latin typeface="Calibri"/>
                <a:ea typeface="Calibri"/>
                <a:cs typeface="Calibri"/>
                <a:sym typeface="Calibri"/>
              </a:rPr>
              <a:t>Cocke Younger Kosami</a:t>
            </a:r>
            <a:endParaRPr sz="2800">
              <a:solidFill>
                <a:schemeClr val="dk1"/>
              </a:solidFill>
              <a:latin typeface="Calibri"/>
              <a:ea typeface="Calibri"/>
              <a:cs typeface="Calibri"/>
              <a:sym typeface="Calibri"/>
            </a:endParaRPr>
          </a:p>
          <a:p>
            <a:pPr marL="187960" marR="0" lvl="0" indent="-177800" algn="l" rtl="0">
              <a:lnSpc>
                <a:spcPct val="100000"/>
              </a:lnSpc>
              <a:spcBef>
                <a:spcPts val="640"/>
              </a:spcBef>
              <a:spcAft>
                <a:spcPts val="0"/>
              </a:spcAft>
              <a:buClr>
                <a:schemeClr val="dk1"/>
              </a:buClr>
              <a:buSzPts val="2800"/>
              <a:buFont typeface="Arial"/>
              <a:buChar char="•"/>
            </a:pPr>
            <a:r>
              <a:rPr lang="en-US" sz="2800">
                <a:solidFill>
                  <a:schemeClr val="dk1"/>
                </a:solidFill>
                <a:latin typeface="Calibri"/>
                <a:ea typeface="Calibri"/>
                <a:cs typeface="Calibri"/>
                <a:sym typeface="Calibri"/>
              </a:rPr>
              <a:t>Dynamic programming parsing algorithm</a:t>
            </a:r>
            <a:endParaRPr sz="2800">
              <a:solidFill>
                <a:schemeClr val="dk1"/>
              </a:solidFill>
              <a:latin typeface="Calibri"/>
              <a:ea typeface="Calibri"/>
              <a:cs typeface="Calibri"/>
              <a:sym typeface="Calibri"/>
            </a:endParaRPr>
          </a:p>
          <a:p>
            <a:pPr marL="187960" marR="0" lvl="0" indent="-177800" algn="l" rtl="0">
              <a:lnSpc>
                <a:spcPct val="100000"/>
              </a:lnSpc>
              <a:spcBef>
                <a:spcPts val="690"/>
              </a:spcBef>
              <a:spcAft>
                <a:spcPts val="0"/>
              </a:spcAft>
              <a:buClr>
                <a:schemeClr val="dk1"/>
              </a:buClr>
              <a:buSzPts val="2800"/>
              <a:buFont typeface="Arial"/>
              <a:buChar char="•"/>
            </a:pPr>
            <a:r>
              <a:rPr lang="en-US" sz="2800">
                <a:solidFill>
                  <a:schemeClr val="dk1"/>
                </a:solidFill>
                <a:latin typeface="Calibri"/>
                <a:ea typeface="Calibri"/>
                <a:cs typeface="Calibri"/>
                <a:sym typeface="Calibri"/>
              </a:rPr>
              <a:t>Bottom up approach</a:t>
            </a:r>
            <a:endParaRPr sz="2800">
              <a:solidFill>
                <a:schemeClr val="dk1"/>
              </a:solidFill>
              <a:latin typeface="Calibri"/>
              <a:ea typeface="Calibri"/>
              <a:cs typeface="Calibri"/>
              <a:sym typeface="Calibri"/>
            </a:endParaRPr>
          </a:p>
          <a:p>
            <a:pPr marL="187960" marR="0" lvl="0" indent="-177800" algn="l" rtl="0">
              <a:lnSpc>
                <a:spcPct val="100000"/>
              </a:lnSpc>
              <a:spcBef>
                <a:spcPts val="690"/>
              </a:spcBef>
              <a:spcAft>
                <a:spcPts val="0"/>
              </a:spcAft>
              <a:buClr>
                <a:schemeClr val="dk1"/>
              </a:buClr>
              <a:buSzPts val="2800"/>
              <a:buFont typeface="Arial"/>
              <a:buChar char="•"/>
            </a:pPr>
            <a:r>
              <a:rPr lang="en-US" sz="2800">
                <a:solidFill>
                  <a:schemeClr val="dk1"/>
                </a:solidFill>
                <a:latin typeface="Calibri"/>
                <a:ea typeface="Calibri"/>
                <a:cs typeface="Calibri"/>
                <a:sym typeface="Calibri"/>
              </a:rPr>
              <a:t>Build parse tree incrementally</a:t>
            </a:r>
            <a:endParaRPr sz="2800">
              <a:solidFill>
                <a:schemeClr val="dk1"/>
              </a:solidFill>
              <a:latin typeface="Calibri"/>
              <a:ea typeface="Calibri"/>
              <a:cs typeface="Calibri"/>
              <a:sym typeface="Calibri"/>
            </a:endParaRPr>
          </a:p>
          <a:p>
            <a:pPr marL="187960" marR="0" lvl="0" indent="-177800" algn="l" rtl="0">
              <a:lnSpc>
                <a:spcPct val="100000"/>
              </a:lnSpc>
              <a:spcBef>
                <a:spcPts val="690"/>
              </a:spcBef>
              <a:spcAft>
                <a:spcPts val="0"/>
              </a:spcAft>
              <a:buClr>
                <a:schemeClr val="dk1"/>
              </a:buClr>
              <a:buSzPts val="2800"/>
              <a:buFont typeface="Arial"/>
              <a:buChar char="•"/>
            </a:pPr>
            <a:r>
              <a:rPr lang="en-US" sz="2800">
                <a:solidFill>
                  <a:schemeClr val="dk1"/>
                </a:solidFill>
                <a:latin typeface="Calibri"/>
                <a:ea typeface="Calibri"/>
                <a:cs typeface="Calibri"/>
                <a:sym typeface="Calibri"/>
              </a:rPr>
              <a:t>Each entry based on previous entry.</a:t>
            </a:r>
            <a:endParaRPr sz="2800">
              <a:solidFill>
                <a:schemeClr val="dk1"/>
              </a:solidFill>
              <a:latin typeface="Calibri"/>
              <a:ea typeface="Calibri"/>
              <a:cs typeface="Calibri"/>
              <a:sym typeface="Calibri"/>
            </a:endParaRPr>
          </a:p>
          <a:p>
            <a:pPr marL="187960" marR="0" lvl="0" indent="-177800" algn="l" rtl="0">
              <a:lnSpc>
                <a:spcPct val="100000"/>
              </a:lnSpc>
              <a:spcBef>
                <a:spcPts val="690"/>
              </a:spcBef>
              <a:spcAft>
                <a:spcPts val="0"/>
              </a:spcAft>
              <a:buClr>
                <a:schemeClr val="dk1"/>
              </a:buClr>
              <a:buSzPts val="2800"/>
              <a:buFont typeface="Arial"/>
              <a:buChar char="•"/>
            </a:pPr>
            <a:r>
              <a:rPr lang="en-US" sz="2800">
                <a:solidFill>
                  <a:schemeClr val="dk1"/>
                </a:solidFill>
                <a:latin typeface="Calibri"/>
                <a:ea typeface="Calibri"/>
                <a:cs typeface="Calibri"/>
                <a:sym typeface="Calibri"/>
              </a:rPr>
              <a:t>CNF</a:t>
            </a:r>
            <a:endParaRPr sz="2800">
              <a:solidFill>
                <a:schemeClr val="dk1"/>
              </a:solidFill>
              <a:latin typeface="Calibri"/>
              <a:ea typeface="Calibri"/>
              <a:cs typeface="Calibri"/>
              <a:sym typeface="Calibri"/>
            </a:endParaRPr>
          </a:p>
          <a:p>
            <a:pPr marL="187960" marR="0" lvl="0" indent="-177800" algn="l" rtl="0">
              <a:lnSpc>
                <a:spcPct val="100000"/>
              </a:lnSpc>
              <a:spcBef>
                <a:spcPts val="690"/>
              </a:spcBef>
              <a:spcAft>
                <a:spcPts val="0"/>
              </a:spcAft>
              <a:buClr>
                <a:schemeClr val="dk1"/>
              </a:buClr>
              <a:buSzPts val="2800"/>
              <a:buFont typeface="Arial"/>
              <a:buChar char="•"/>
            </a:pPr>
            <a:r>
              <a:rPr lang="en-US" sz="2800">
                <a:solidFill>
                  <a:schemeClr val="dk1"/>
                </a:solidFill>
                <a:latin typeface="Calibri"/>
                <a:ea typeface="Calibri"/>
                <a:cs typeface="Calibri"/>
                <a:sym typeface="Calibri"/>
              </a:rPr>
              <a:t>A-&gt;BC</a:t>
            </a:r>
            <a:endParaRPr sz="2800">
              <a:solidFill>
                <a:schemeClr val="dk1"/>
              </a:solidFill>
              <a:latin typeface="Calibri"/>
              <a:ea typeface="Calibri"/>
              <a:cs typeface="Calibri"/>
              <a:sym typeface="Calibri"/>
            </a:endParaRPr>
          </a:p>
          <a:p>
            <a:pPr marL="187960" marR="0" lvl="0" indent="-177800" algn="l" rtl="0">
              <a:lnSpc>
                <a:spcPct val="100000"/>
              </a:lnSpc>
              <a:spcBef>
                <a:spcPts val="690"/>
              </a:spcBef>
              <a:spcAft>
                <a:spcPts val="0"/>
              </a:spcAft>
              <a:buClr>
                <a:schemeClr val="dk1"/>
              </a:buClr>
              <a:buSzPts val="2800"/>
              <a:buFont typeface="Arial"/>
              <a:buChar char="•"/>
            </a:pPr>
            <a:r>
              <a:rPr lang="en-US" sz="2800">
                <a:solidFill>
                  <a:schemeClr val="dk1"/>
                </a:solidFill>
                <a:latin typeface="Calibri"/>
                <a:ea typeface="Calibri"/>
                <a:cs typeface="Calibri"/>
                <a:sym typeface="Calibri"/>
              </a:rPr>
              <a:t>A-&gt;w</a:t>
            </a:r>
            <a:endParaRPr sz="2800">
              <a:solidFill>
                <a:schemeClr val="dk1"/>
              </a:solidFill>
              <a:latin typeface="Calibri"/>
              <a:ea typeface="Calibri"/>
              <a:cs typeface="Calibri"/>
              <a:sym typeface="Calibri"/>
            </a:endParaRP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showMasterSp="0">
  <p:cSld>
    <p:spTree>
      <p:nvGrpSpPr>
        <p:cNvPr id="1" name="Shape 999"/>
        <p:cNvGrpSpPr/>
        <p:nvPr/>
      </p:nvGrpSpPr>
      <p:grpSpPr>
        <a:xfrm>
          <a:off x="0" y="0"/>
          <a:ext cx="0" cy="0"/>
          <a:chOff x="0" y="0"/>
          <a:chExt cx="0" cy="0"/>
        </a:xfrm>
      </p:grpSpPr>
      <p:sp>
        <p:nvSpPr>
          <p:cNvPr id="1000" name="Google Shape;1000;p102"/>
          <p:cNvSpPr txBox="1">
            <a:spLocks noGrp="1"/>
          </p:cNvSpPr>
          <p:nvPr>
            <p:ph type="title"/>
          </p:nvPr>
        </p:nvSpPr>
        <p:spPr>
          <a:xfrm>
            <a:off x="911225" y="639172"/>
            <a:ext cx="3268345" cy="69596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4400"/>
              <a:t>CYK Algorithm</a:t>
            </a:r>
            <a:endParaRPr sz="4400"/>
          </a:p>
        </p:txBody>
      </p:sp>
      <p:pic>
        <p:nvPicPr>
          <p:cNvPr id="1001" name="Google Shape;1001;p102"/>
          <p:cNvPicPr preferRelativeResize="0"/>
          <p:nvPr/>
        </p:nvPicPr>
        <p:blipFill rotWithShape="1">
          <a:blip r:embed="rId3">
            <a:alphaModFix/>
          </a:blip>
          <a:srcRect/>
          <a:stretch/>
        </p:blipFill>
        <p:spPr>
          <a:xfrm>
            <a:off x="1764145" y="1825625"/>
            <a:ext cx="6611012" cy="4351337"/>
          </a:xfrm>
          <a:prstGeom prst="rect">
            <a:avLst/>
          </a:prstGeom>
          <a:noFill/>
          <a:ln>
            <a:noFill/>
          </a:ln>
        </p:spPr>
      </p:pic>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showMasterSp="0">
  <p:cSld>
    <p:spTree>
      <p:nvGrpSpPr>
        <p:cNvPr id="1" name="Shape 1005"/>
        <p:cNvGrpSpPr/>
        <p:nvPr/>
      </p:nvGrpSpPr>
      <p:grpSpPr>
        <a:xfrm>
          <a:off x="0" y="0"/>
          <a:ext cx="0" cy="0"/>
          <a:chOff x="0" y="0"/>
          <a:chExt cx="0" cy="0"/>
        </a:xfrm>
      </p:grpSpPr>
      <p:sp>
        <p:nvSpPr>
          <p:cNvPr id="1006" name="Google Shape;1006;p103"/>
          <p:cNvSpPr txBox="1">
            <a:spLocks noGrp="1"/>
          </p:cNvSpPr>
          <p:nvPr>
            <p:ph type="title"/>
          </p:nvPr>
        </p:nvSpPr>
        <p:spPr>
          <a:xfrm>
            <a:off x="911225" y="639172"/>
            <a:ext cx="3268345" cy="69596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4400"/>
              <a:t>CYK Algorithm</a:t>
            </a:r>
            <a:endParaRPr sz="4400"/>
          </a:p>
        </p:txBody>
      </p:sp>
      <p:pic>
        <p:nvPicPr>
          <p:cNvPr id="1007" name="Google Shape;1007;p103"/>
          <p:cNvPicPr preferRelativeResize="0"/>
          <p:nvPr/>
        </p:nvPicPr>
        <p:blipFill rotWithShape="1">
          <a:blip r:embed="rId3">
            <a:alphaModFix/>
          </a:blip>
          <a:srcRect/>
          <a:stretch/>
        </p:blipFill>
        <p:spPr>
          <a:xfrm>
            <a:off x="1431637" y="1958108"/>
            <a:ext cx="7336125" cy="2981396"/>
          </a:xfrm>
          <a:prstGeom prst="rect">
            <a:avLst/>
          </a:prstGeom>
          <a:noFill/>
          <a:ln>
            <a:noFill/>
          </a:ln>
        </p:spPr>
      </p:pic>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showMasterSp="0">
  <p:cSld>
    <p:spTree>
      <p:nvGrpSpPr>
        <p:cNvPr id="1" name="Shape 1011"/>
        <p:cNvGrpSpPr/>
        <p:nvPr/>
      </p:nvGrpSpPr>
      <p:grpSpPr>
        <a:xfrm>
          <a:off x="0" y="0"/>
          <a:ext cx="0" cy="0"/>
          <a:chOff x="0" y="0"/>
          <a:chExt cx="0" cy="0"/>
        </a:xfrm>
      </p:grpSpPr>
      <p:pic>
        <p:nvPicPr>
          <p:cNvPr id="1012" name="Google Shape;1012;p104"/>
          <p:cNvPicPr preferRelativeResize="0"/>
          <p:nvPr/>
        </p:nvPicPr>
        <p:blipFill rotWithShape="1">
          <a:blip r:embed="rId3">
            <a:alphaModFix/>
          </a:blip>
          <a:srcRect/>
          <a:stretch/>
        </p:blipFill>
        <p:spPr>
          <a:xfrm>
            <a:off x="1" y="138545"/>
            <a:ext cx="11804071" cy="6548581"/>
          </a:xfrm>
          <a:prstGeom prst="rect">
            <a:avLst/>
          </a:prstGeom>
          <a:noFill/>
          <a:ln>
            <a:noFill/>
          </a:ln>
        </p:spPr>
      </p:pic>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showMasterSp="0">
  <p:cSld>
    <p:spTree>
      <p:nvGrpSpPr>
        <p:cNvPr id="1" name="Shape 1016"/>
        <p:cNvGrpSpPr/>
        <p:nvPr/>
      </p:nvGrpSpPr>
      <p:grpSpPr>
        <a:xfrm>
          <a:off x="0" y="0"/>
          <a:ext cx="0" cy="0"/>
          <a:chOff x="0" y="0"/>
          <a:chExt cx="0" cy="0"/>
        </a:xfrm>
      </p:grpSpPr>
      <p:sp>
        <p:nvSpPr>
          <p:cNvPr id="1017" name="Google Shape;1017;p105"/>
          <p:cNvSpPr txBox="1">
            <a:spLocks noGrp="1"/>
          </p:cNvSpPr>
          <p:nvPr>
            <p:ph type="title"/>
          </p:nvPr>
        </p:nvSpPr>
        <p:spPr>
          <a:xfrm>
            <a:off x="911225" y="675346"/>
            <a:ext cx="3322954" cy="1715135"/>
          </a:xfrm>
          <a:prstGeom prst="rect">
            <a:avLst/>
          </a:prstGeom>
          <a:noFill/>
          <a:ln>
            <a:noFill/>
          </a:ln>
        </p:spPr>
        <p:txBody>
          <a:bodyPr spcFirstLastPara="1" wrap="square" lIns="0" tIns="13950" rIns="0" bIns="0" anchor="t" anchorCtr="0">
            <a:spAutoFit/>
          </a:bodyPr>
          <a:lstStyle/>
          <a:p>
            <a:pPr marL="12700" lvl="0" indent="0" algn="l" rtl="0">
              <a:lnSpc>
                <a:spcPct val="100000"/>
              </a:lnSpc>
              <a:spcBef>
                <a:spcPts val="0"/>
              </a:spcBef>
              <a:spcAft>
                <a:spcPts val="0"/>
              </a:spcAft>
              <a:buNone/>
            </a:pPr>
            <a:r>
              <a:rPr lang="en-US"/>
              <a:t>CYK Algorithm</a:t>
            </a:r>
            <a:endParaRPr/>
          </a:p>
          <a:p>
            <a:pPr marL="0" lvl="0" indent="0" algn="l" rtl="0">
              <a:lnSpc>
                <a:spcPct val="100000"/>
              </a:lnSpc>
              <a:spcBef>
                <a:spcPts val="25"/>
              </a:spcBef>
              <a:spcAft>
                <a:spcPts val="0"/>
              </a:spcAft>
              <a:buNone/>
            </a:pPr>
            <a:endParaRPr sz="3100"/>
          </a:p>
          <a:p>
            <a:pPr marL="239395" lvl="0" indent="0" algn="l" rtl="0">
              <a:lnSpc>
                <a:spcPct val="100000"/>
              </a:lnSpc>
              <a:spcBef>
                <a:spcPts val="0"/>
              </a:spcBef>
              <a:spcAft>
                <a:spcPts val="0"/>
              </a:spcAft>
              <a:buNone/>
            </a:pPr>
            <a:r>
              <a:rPr lang="en-US"/>
              <a:t>The	Girl</a:t>
            </a:r>
            <a:endParaRPr/>
          </a:p>
        </p:txBody>
      </p:sp>
      <p:sp>
        <p:nvSpPr>
          <p:cNvPr id="1018" name="Google Shape;1018;p105"/>
          <p:cNvSpPr txBox="1"/>
          <p:nvPr/>
        </p:nvSpPr>
        <p:spPr>
          <a:xfrm>
            <a:off x="5685961" y="1761196"/>
            <a:ext cx="1329055" cy="629285"/>
          </a:xfrm>
          <a:prstGeom prst="rect">
            <a:avLst/>
          </a:prstGeom>
          <a:noFill/>
          <a:ln>
            <a:noFill/>
          </a:ln>
        </p:spPr>
        <p:txBody>
          <a:bodyPr spcFirstLastPara="1" wrap="square" lIns="0" tIns="13950" rIns="0" bIns="0" anchor="t" anchorCtr="0">
            <a:spAutoFit/>
          </a:bodyPr>
          <a:lstStyle/>
          <a:p>
            <a:pPr marL="12700" marR="0" lvl="0" indent="0" algn="l" rtl="0">
              <a:lnSpc>
                <a:spcPct val="100000"/>
              </a:lnSpc>
              <a:spcBef>
                <a:spcPts val="0"/>
              </a:spcBef>
              <a:spcAft>
                <a:spcPts val="0"/>
              </a:spcAft>
              <a:buNone/>
            </a:pPr>
            <a:r>
              <a:rPr lang="en-US" sz="3950">
                <a:solidFill>
                  <a:schemeClr val="dk1"/>
                </a:solidFill>
                <a:latin typeface="Calibri"/>
                <a:ea typeface="Calibri"/>
                <a:cs typeface="Calibri"/>
                <a:sym typeface="Calibri"/>
              </a:rPr>
              <a:t>Wrote</a:t>
            </a:r>
            <a:endParaRPr sz="3950">
              <a:solidFill>
                <a:schemeClr val="dk1"/>
              </a:solidFill>
              <a:latin typeface="Calibri"/>
              <a:ea typeface="Calibri"/>
              <a:cs typeface="Calibri"/>
              <a:sym typeface="Calibri"/>
            </a:endParaRPr>
          </a:p>
        </p:txBody>
      </p:sp>
      <p:sp>
        <p:nvSpPr>
          <p:cNvPr id="1019" name="Google Shape;1019;p105"/>
          <p:cNvSpPr txBox="1"/>
          <p:nvPr/>
        </p:nvSpPr>
        <p:spPr>
          <a:xfrm>
            <a:off x="7898638" y="1761196"/>
            <a:ext cx="579755" cy="629285"/>
          </a:xfrm>
          <a:prstGeom prst="rect">
            <a:avLst/>
          </a:prstGeom>
          <a:noFill/>
          <a:ln>
            <a:noFill/>
          </a:ln>
        </p:spPr>
        <p:txBody>
          <a:bodyPr spcFirstLastPara="1" wrap="square" lIns="0" tIns="13950" rIns="0" bIns="0" anchor="t" anchorCtr="0">
            <a:spAutoFit/>
          </a:bodyPr>
          <a:lstStyle/>
          <a:p>
            <a:pPr marL="12700" marR="0" lvl="0" indent="0" algn="l" rtl="0">
              <a:lnSpc>
                <a:spcPct val="100000"/>
              </a:lnSpc>
              <a:spcBef>
                <a:spcPts val="0"/>
              </a:spcBef>
              <a:spcAft>
                <a:spcPts val="0"/>
              </a:spcAft>
              <a:buNone/>
            </a:pPr>
            <a:r>
              <a:rPr lang="en-US" sz="3950">
                <a:solidFill>
                  <a:schemeClr val="dk1"/>
                </a:solidFill>
                <a:latin typeface="Calibri"/>
                <a:ea typeface="Calibri"/>
                <a:cs typeface="Calibri"/>
                <a:sym typeface="Calibri"/>
              </a:rPr>
              <a:t>An</a:t>
            </a:r>
            <a:endParaRPr sz="3950">
              <a:solidFill>
                <a:schemeClr val="dk1"/>
              </a:solidFill>
              <a:latin typeface="Calibri"/>
              <a:ea typeface="Calibri"/>
              <a:cs typeface="Calibri"/>
              <a:sym typeface="Calibri"/>
            </a:endParaRPr>
          </a:p>
        </p:txBody>
      </p:sp>
      <p:sp>
        <p:nvSpPr>
          <p:cNvPr id="1020" name="Google Shape;1020;p105"/>
          <p:cNvSpPr txBox="1"/>
          <p:nvPr/>
        </p:nvSpPr>
        <p:spPr>
          <a:xfrm>
            <a:off x="9930210" y="1761196"/>
            <a:ext cx="1132205" cy="629285"/>
          </a:xfrm>
          <a:prstGeom prst="rect">
            <a:avLst/>
          </a:prstGeom>
          <a:noFill/>
          <a:ln>
            <a:noFill/>
          </a:ln>
        </p:spPr>
        <p:txBody>
          <a:bodyPr spcFirstLastPara="1" wrap="square" lIns="0" tIns="13950" rIns="0" bIns="0" anchor="t" anchorCtr="0">
            <a:spAutoFit/>
          </a:bodyPr>
          <a:lstStyle/>
          <a:p>
            <a:pPr marL="12700" marR="0" lvl="0" indent="0" algn="l" rtl="0">
              <a:lnSpc>
                <a:spcPct val="100000"/>
              </a:lnSpc>
              <a:spcBef>
                <a:spcPts val="0"/>
              </a:spcBef>
              <a:spcAft>
                <a:spcPts val="0"/>
              </a:spcAft>
              <a:buNone/>
            </a:pPr>
            <a:r>
              <a:rPr lang="en-US" sz="3950">
                <a:solidFill>
                  <a:schemeClr val="dk1"/>
                </a:solidFill>
                <a:latin typeface="Calibri"/>
                <a:ea typeface="Calibri"/>
                <a:cs typeface="Calibri"/>
                <a:sym typeface="Calibri"/>
              </a:rPr>
              <a:t>Essay</a:t>
            </a:r>
            <a:endParaRPr sz="3950">
              <a:solidFill>
                <a:schemeClr val="dk1"/>
              </a:solidFill>
              <a:latin typeface="Calibri"/>
              <a:ea typeface="Calibri"/>
              <a:cs typeface="Calibri"/>
              <a:sym typeface="Calibri"/>
            </a:endParaRPr>
          </a:p>
        </p:txBody>
      </p:sp>
      <p:graphicFrame>
        <p:nvGraphicFramePr>
          <p:cNvPr id="1021" name="Google Shape;1021;p105"/>
          <p:cNvGraphicFramePr/>
          <p:nvPr/>
        </p:nvGraphicFramePr>
        <p:xfrm>
          <a:off x="869950" y="2385868"/>
          <a:ext cx="10442575" cy="3962335"/>
        </p:xfrm>
        <a:graphic>
          <a:graphicData uri="http://schemas.openxmlformats.org/drawingml/2006/table">
            <a:tbl>
              <a:tblPr firstRow="1" bandRow="1">
                <a:noFill/>
                <a:tableStyleId>{A6B57B2F-7F9A-4B30-8869-152D4AE16119}</a:tableStyleId>
              </a:tblPr>
              <a:tblGrid>
                <a:gridCol w="862975"/>
                <a:gridCol w="952500"/>
                <a:gridCol w="695950"/>
                <a:gridCol w="804550"/>
                <a:gridCol w="655950"/>
                <a:gridCol w="901075"/>
                <a:gridCol w="488325"/>
                <a:gridCol w="241925"/>
                <a:gridCol w="584825"/>
                <a:gridCol w="799475"/>
                <a:gridCol w="746125"/>
                <a:gridCol w="552450"/>
                <a:gridCol w="1570350"/>
                <a:gridCol w="586100"/>
              </a:tblGrid>
              <a:tr h="777700">
                <a:tc>
                  <a:txBody>
                    <a:bodyPr/>
                    <a:lstStyle/>
                    <a:p>
                      <a:pPr marL="85725" marR="0" lvl="0" indent="0" algn="l" rtl="0">
                        <a:lnSpc>
                          <a:spcPct val="100000"/>
                        </a:lnSpc>
                        <a:spcBef>
                          <a:spcPts val="0"/>
                        </a:spcBef>
                        <a:spcAft>
                          <a:spcPts val="0"/>
                        </a:spcAft>
                        <a:buNone/>
                      </a:pPr>
                      <a:r>
                        <a:rPr lang="en-US" sz="1800" b="1" u="none" strike="noStrike" cap="none">
                          <a:latin typeface="Calibri"/>
                          <a:ea typeface="Calibri"/>
                          <a:cs typeface="Calibri"/>
                          <a:sym typeface="Calibri"/>
                        </a:rPr>
                        <a:t>Det</a:t>
                      </a:r>
                      <a:endParaRPr sz="1800" u="none" strike="noStrike" cap="none">
                        <a:latin typeface="Calibri"/>
                        <a:ea typeface="Calibri"/>
                        <a:cs typeface="Calibri"/>
                        <a:sym typeface="Calibri"/>
                      </a:endParaRPr>
                    </a:p>
                  </a:txBody>
                  <a:tcPr marL="0" marR="0" marT="28575" marB="0">
                    <a:lnL w="12700" cap="flat" cmpd="sng">
                      <a:solidFill>
                        <a:srgbClr val="FFFFFF"/>
                      </a:solidFill>
                      <a:prstDash val="solid"/>
                      <a:round/>
                      <a:headEnd type="none" w="sm" len="sm"/>
                      <a:tailEnd type="none" w="sm" len="sm"/>
                    </a:lnL>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tcPr>
                </a:tc>
                <a:tc>
                  <a:txBody>
                    <a:bodyPr/>
                    <a:lstStyle/>
                    <a:p>
                      <a:pPr marL="438784" marR="0" lvl="0" indent="0" algn="l" rtl="0">
                        <a:lnSpc>
                          <a:spcPct val="100000"/>
                        </a:lnSpc>
                        <a:spcBef>
                          <a:spcPts val="0"/>
                        </a:spcBef>
                        <a:spcAft>
                          <a:spcPts val="0"/>
                        </a:spcAft>
                        <a:buNone/>
                      </a:pPr>
                      <a:r>
                        <a:rPr lang="en-US" sz="1800" b="1" u="none" strike="noStrike" cap="none">
                          <a:latin typeface="Calibri"/>
                          <a:ea typeface="Calibri"/>
                          <a:cs typeface="Calibri"/>
                          <a:sym typeface="Calibri"/>
                        </a:rPr>
                        <a:t>x01</a:t>
                      </a:r>
                      <a:endParaRPr sz="1800" u="none" strike="noStrike" cap="none">
                        <a:latin typeface="Calibri"/>
                        <a:ea typeface="Calibri"/>
                        <a:cs typeface="Calibri"/>
                        <a:sym typeface="Calibri"/>
                      </a:endParaRPr>
                    </a:p>
                  </a:txBody>
                  <a:tcPr marL="0" marR="0" marT="28575" marB="0">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sz="22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E7E6E6"/>
                    </a:solidFill>
                  </a:tcPr>
                </a:tc>
                <a:tc>
                  <a:txBody>
                    <a:bodyPr/>
                    <a:lstStyle/>
                    <a:p>
                      <a:pPr marL="299720" marR="0" lvl="0" indent="0" algn="l" rtl="0">
                        <a:lnSpc>
                          <a:spcPct val="100000"/>
                        </a:lnSpc>
                        <a:spcBef>
                          <a:spcPts val="0"/>
                        </a:spcBef>
                        <a:spcAft>
                          <a:spcPts val="0"/>
                        </a:spcAft>
                        <a:buNone/>
                      </a:pPr>
                      <a:r>
                        <a:rPr lang="en-US" sz="1800" b="1" u="none" strike="noStrike" cap="none">
                          <a:latin typeface="Calibri"/>
                          <a:ea typeface="Calibri"/>
                          <a:cs typeface="Calibri"/>
                          <a:sym typeface="Calibri"/>
                        </a:rPr>
                        <a:t>NP</a:t>
                      </a:r>
                      <a:endParaRPr sz="1800" u="none" strike="noStrike" cap="none">
                        <a:latin typeface="Calibri"/>
                        <a:ea typeface="Calibri"/>
                        <a:cs typeface="Calibri"/>
                        <a:sym typeface="Calibri"/>
                      </a:endParaRPr>
                    </a:p>
                  </a:txBody>
                  <a:tcPr marL="0" marR="0" marT="28575" marB="0">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E7E6E6"/>
                    </a:solidFill>
                  </a:tcPr>
                </a:tc>
                <a:tc>
                  <a:txBody>
                    <a:bodyPr/>
                    <a:lstStyle/>
                    <a:p>
                      <a:pPr marL="0" marR="78740" lvl="0" indent="0" algn="r" rtl="0">
                        <a:lnSpc>
                          <a:spcPct val="100000"/>
                        </a:lnSpc>
                        <a:spcBef>
                          <a:spcPts val="0"/>
                        </a:spcBef>
                        <a:spcAft>
                          <a:spcPts val="0"/>
                        </a:spcAft>
                        <a:buNone/>
                      </a:pPr>
                      <a:r>
                        <a:rPr lang="en-US" sz="1800" b="1" u="none" strike="noStrike" cap="none">
                          <a:latin typeface="Calibri"/>
                          <a:ea typeface="Calibri"/>
                          <a:cs typeface="Calibri"/>
                          <a:sym typeface="Calibri"/>
                        </a:rPr>
                        <a:t>x02</a:t>
                      </a:r>
                      <a:endParaRPr sz="1800" u="none" strike="noStrike" cap="none">
                        <a:latin typeface="Calibri"/>
                        <a:ea typeface="Calibri"/>
                        <a:cs typeface="Calibri"/>
                        <a:sym typeface="Calibri"/>
                      </a:endParaRPr>
                    </a:p>
                  </a:txBody>
                  <a:tcPr marL="0" marR="0" marT="28575" marB="0">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E7E6E6"/>
                    </a:solidFill>
                  </a:tcPr>
                </a:tc>
                <a:tc>
                  <a:txBody>
                    <a:bodyPr/>
                    <a:lstStyle/>
                    <a:p>
                      <a:pPr marL="0" marR="0" lvl="0" indent="0" algn="l" rtl="0">
                        <a:lnSpc>
                          <a:spcPct val="100000"/>
                        </a:lnSpc>
                        <a:spcBef>
                          <a:spcPts val="0"/>
                        </a:spcBef>
                        <a:spcAft>
                          <a:spcPts val="0"/>
                        </a:spcAft>
                        <a:buNone/>
                      </a:pPr>
                      <a:endParaRPr sz="22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E7E6E6"/>
                    </a:solidFill>
                  </a:tcPr>
                </a:tc>
                <a:tc>
                  <a:txBody>
                    <a:bodyPr/>
                    <a:lstStyle/>
                    <a:p>
                      <a:pPr marL="0" marR="0" lvl="0" indent="0" algn="l" rtl="0">
                        <a:lnSpc>
                          <a:spcPct val="100000"/>
                        </a:lnSpc>
                        <a:spcBef>
                          <a:spcPts val="0"/>
                        </a:spcBef>
                        <a:spcAft>
                          <a:spcPts val="0"/>
                        </a:spcAft>
                        <a:buNone/>
                      </a:pPr>
                      <a:endParaRPr sz="2200" u="none" strike="noStrike" cap="none">
                        <a:latin typeface="Times New Roman"/>
                        <a:ea typeface="Times New Roman"/>
                        <a:cs typeface="Times New Roman"/>
                        <a:sym typeface="Times New Roman"/>
                      </a:endParaRPr>
                    </a:p>
                  </a:txBody>
                  <a:tcPr marL="0" marR="0" marT="0" marB="0">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E7E6E6"/>
                    </a:solidFill>
                  </a:tcPr>
                </a:tc>
                <a:tc>
                  <a:txBody>
                    <a:bodyPr/>
                    <a:lstStyle/>
                    <a:p>
                      <a:pPr marL="23495" marR="0" lvl="0" indent="0" algn="l" rtl="0">
                        <a:lnSpc>
                          <a:spcPct val="100000"/>
                        </a:lnSpc>
                        <a:spcBef>
                          <a:spcPts val="0"/>
                        </a:spcBef>
                        <a:spcAft>
                          <a:spcPts val="0"/>
                        </a:spcAft>
                        <a:buNone/>
                      </a:pPr>
                      <a:r>
                        <a:rPr lang="en-US" sz="1800" b="1" u="none" strike="noStrike" cap="none">
                          <a:latin typeface="Calibri"/>
                          <a:ea typeface="Calibri"/>
                          <a:cs typeface="Calibri"/>
                          <a:sym typeface="Calibri"/>
                        </a:rPr>
                        <a:t>-</a:t>
                      </a:r>
                      <a:endParaRPr sz="1800" u="none" strike="noStrike" cap="none">
                        <a:latin typeface="Calibri"/>
                        <a:ea typeface="Calibri"/>
                        <a:cs typeface="Calibri"/>
                        <a:sym typeface="Calibri"/>
                      </a:endParaRPr>
                    </a:p>
                  </a:txBody>
                  <a:tcPr marL="0" marR="0" marT="28575" marB="0">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E7E6E6"/>
                    </a:solidFill>
                  </a:tcPr>
                </a:tc>
                <a:tc>
                  <a:txBody>
                    <a:bodyPr/>
                    <a:lstStyle/>
                    <a:p>
                      <a:pPr marL="74930" marR="0" lvl="0" indent="0" algn="ctr" rtl="0">
                        <a:lnSpc>
                          <a:spcPct val="100000"/>
                        </a:lnSpc>
                        <a:spcBef>
                          <a:spcPts val="0"/>
                        </a:spcBef>
                        <a:spcAft>
                          <a:spcPts val="0"/>
                        </a:spcAft>
                        <a:buNone/>
                      </a:pPr>
                      <a:r>
                        <a:rPr lang="en-US" sz="1800" b="1" u="none" strike="noStrike" cap="none">
                          <a:latin typeface="Calibri"/>
                          <a:ea typeface="Calibri"/>
                          <a:cs typeface="Calibri"/>
                          <a:sym typeface="Calibri"/>
                        </a:rPr>
                        <a:t>x03</a:t>
                      </a:r>
                      <a:endParaRPr sz="1800" u="none" strike="noStrike" cap="none">
                        <a:latin typeface="Calibri"/>
                        <a:ea typeface="Calibri"/>
                        <a:cs typeface="Calibri"/>
                        <a:sym typeface="Calibri"/>
                      </a:endParaRPr>
                    </a:p>
                  </a:txBody>
                  <a:tcPr marL="0" marR="0" marT="28575" marB="0">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E7E6E6"/>
                    </a:solidFill>
                  </a:tcPr>
                </a:tc>
                <a:tc>
                  <a:txBody>
                    <a:bodyPr/>
                    <a:lstStyle/>
                    <a:p>
                      <a:pPr marL="0" marR="0" lvl="0" indent="0" algn="l" rtl="0">
                        <a:lnSpc>
                          <a:spcPct val="100000"/>
                        </a:lnSpc>
                        <a:spcBef>
                          <a:spcPts val="0"/>
                        </a:spcBef>
                        <a:spcAft>
                          <a:spcPts val="0"/>
                        </a:spcAft>
                        <a:buNone/>
                      </a:pPr>
                      <a:endParaRPr sz="22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E7E6E6"/>
                    </a:solidFill>
                  </a:tcPr>
                </a:tc>
                <a:tc>
                  <a:txBody>
                    <a:bodyPr/>
                    <a:lstStyle/>
                    <a:p>
                      <a:pPr marL="0" marR="121285" lvl="0" indent="0" algn="r" rtl="0">
                        <a:lnSpc>
                          <a:spcPct val="100000"/>
                        </a:lnSpc>
                        <a:spcBef>
                          <a:spcPts val="0"/>
                        </a:spcBef>
                        <a:spcAft>
                          <a:spcPts val="0"/>
                        </a:spcAft>
                        <a:buNone/>
                      </a:pPr>
                      <a:r>
                        <a:rPr lang="en-US" sz="1800" b="1" u="none" strike="noStrike" cap="none">
                          <a:latin typeface="Calibri"/>
                          <a:ea typeface="Calibri"/>
                          <a:cs typeface="Calibri"/>
                          <a:sym typeface="Calibri"/>
                        </a:rPr>
                        <a:t>-,	-,</a:t>
                      </a:r>
                      <a:endParaRPr sz="1800" u="none" strike="noStrike" cap="none">
                        <a:latin typeface="Calibri"/>
                        <a:ea typeface="Calibri"/>
                        <a:cs typeface="Calibri"/>
                        <a:sym typeface="Calibri"/>
                      </a:endParaRPr>
                    </a:p>
                  </a:txBody>
                  <a:tcPr marL="0" marR="0" marT="28575" marB="0">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E7E6E6"/>
                    </a:solidFill>
                  </a:tcPr>
                </a:tc>
                <a:tc>
                  <a:txBody>
                    <a:bodyPr/>
                    <a:lstStyle/>
                    <a:p>
                      <a:pPr marL="0" marR="78740" lvl="0" indent="0" algn="r" rtl="0">
                        <a:lnSpc>
                          <a:spcPct val="100000"/>
                        </a:lnSpc>
                        <a:spcBef>
                          <a:spcPts val="0"/>
                        </a:spcBef>
                        <a:spcAft>
                          <a:spcPts val="0"/>
                        </a:spcAft>
                        <a:buNone/>
                      </a:pPr>
                      <a:r>
                        <a:rPr lang="en-US" sz="1800" b="1" u="none" strike="noStrike" cap="none">
                          <a:latin typeface="Calibri"/>
                          <a:ea typeface="Calibri"/>
                          <a:cs typeface="Calibri"/>
                          <a:sym typeface="Calibri"/>
                        </a:rPr>
                        <a:t>x04</a:t>
                      </a:r>
                      <a:endParaRPr sz="1800" u="none" strike="noStrike" cap="none">
                        <a:latin typeface="Calibri"/>
                        <a:ea typeface="Calibri"/>
                        <a:cs typeface="Calibri"/>
                        <a:sym typeface="Calibri"/>
                      </a:endParaRPr>
                    </a:p>
                  </a:txBody>
                  <a:tcPr marL="0" marR="0" marT="28575" marB="0">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E7E6E6"/>
                    </a:solidFill>
                  </a:tcPr>
                </a:tc>
                <a:tc>
                  <a:txBody>
                    <a:bodyPr/>
                    <a:lstStyle/>
                    <a:p>
                      <a:pPr marL="0" marR="140970" lvl="0" indent="0" algn="r" rtl="0">
                        <a:lnSpc>
                          <a:spcPct val="100000"/>
                        </a:lnSpc>
                        <a:spcBef>
                          <a:spcPts val="0"/>
                        </a:spcBef>
                        <a:spcAft>
                          <a:spcPts val="0"/>
                        </a:spcAft>
                        <a:buNone/>
                      </a:pPr>
                      <a:r>
                        <a:rPr lang="en-US" sz="1800" b="1" u="none" strike="noStrike" cap="none">
                          <a:latin typeface="Calibri"/>
                          <a:ea typeface="Calibri"/>
                          <a:cs typeface="Calibri"/>
                          <a:sym typeface="Calibri"/>
                        </a:rPr>
                        <a:t>S-&gt;NP+VP</a:t>
                      </a:r>
                      <a:endParaRPr sz="1800" u="none" strike="noStrike" cap="none">
                        <a:latin typeface="Calibri"/>
                        <a:ea typeface="Calibri"/>
                        <a:cs typeface="Calibri"/>
                        <a:sym typeface="Calibri"/>
                      </a:endParaRPr>
                    </a:p>
                  </a:txBody>
                  <a:tcPr marL="0" marR="0" marT="28575" marB="0">
                    <a:lnL w="12700" cap="flat" cmpd="sng">
                      <a:solidFill>
                        <a:srgbClr val="FFFFFF"/>
                      </a:solidFill>
                      <a:prstDash val="solid"/>
                      <a:round/>
                      <a:headEnd type="none" w="sm" len="sm"/>
                      <a:tailEnd type="none" w="sm" len="sm"/>
                    </a:lnL>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E7E6E6"/>
                    </a:solidFill>
                  </a:tcPr>
                </a:tc>
                <a:tc>
                  <a:txBody>
                    <a:bodyPr/>
                    <a:lstStyle/>
                    <a:p>
                      <a:pPr marL="0" marR="80645" lvl="0" indent="0" algn="r" rtl="0">
                        <a:lnSpc>
                          <a:spcPct val="100000"/>
                        </a:lnSpc>
                        <a:spcBef>
                          <a:spcPts val="0"/>
                        </a:spcBef>
                        <a:spcAft>
                          <a:spcPts val="0"/>
                        </a:spcAft>
                        <a:buNone/>
                      </a:pPr>
                      <a:r>
                        <a:rPr lang="en-US" sz="1800" b="1" u="none" strike="noStrike" cap="none">
                          <a:latin typeface="Calibri"/>
                          <a:ea typeface="Calibri"/>
                          <a:cs typeface="Calibri"/>
                          <a:sym typeface="Calibri"/>
                        </a:rPr>
                        <a:t>x05</a:t>
                      </a:r>
                      <a:endParaRPr sz="1800" u="none" strike="noStrike" cap="none">
                        <a:latin typeface="Calibri"/>
                        <a:ea typeface="Calibri"/>
                        <a:cs typeface="Calibri"/>
                        <a:sym typeface="Calibri"/>
                      </a:endParaRPr>
                    </a:p>
                  </a:txBody>
                  <a:tcPr marL="0" marR="0" marT="28575" marB="0">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E7E6E6"/>
                    </a:solidFill>
                  </a:tcPr>
                </a:tc>
              </a:tr>
              <a:tr h="777700">
                <a:tc gridSpan="2">
                  <a:txBody>
                    <a:bodyPr/>
                    <a:lstStyle/>
                    <a:p>
                      <a:pPr marL="0" marR="78105" lvl="0" indent="0" algn="r" rtl="0">
                        <a:lnSpc>
                          <a:spcPct val="100000"/>
                        </a:lnSpc>
                        <a:spcBef>
                          <a:spcPts val="0"/>
                        </a:spcBef>
                        <a:spcAft>
                          <a:spcPts val="0"/>
                        </a:spcAft>
                        <a:buNone/>
                      </a:pPr>
                      <a:r>
                        <a:rPr lang="en-US" sz="1800" u="none" strike="noStrike" cap="none">
                          <a:latin typeface="Calibri"/>
                          <a:ea typeface="Calibri"/>
                          <a:cs typeface="Calibri"/>
                          <a:sym typeface="Calibri"/>
                        </a:rPr>
                        <a:t>x11</a:t>
                      </a:r>
                      <a:endParaRPr sz="1800" u="none" strike="noStrike" cap="none">
                        <a:latin typeface="Calibri"/>
                        <a:ea typeface="Calibri"/>
                        <a:cs typeface="Calibri"/>
                        <a:sym typeface="Calibri"/>
                      </a:endParaRPr>
                    </a:p>
                  </a:txBody>
                  <a:tcPr marL="0" marR="0" marT="2857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7E6E6"/>
                    </a:solidFill>
                  </a:tcPr>
                </a:tc>
                <a:tc hMerge="1">
                  <a:txBody>
                    <a:bodyPr/>
                    <a:lstStyle/>
                    <a:p>
                      <a:endParaRPr lang="en-US"/>
                    </a:p>
                  </a:txBody>
                  <a:tcPr/>
                </a:tc>
                <a:tc>
                  <a:txBody>
                    <a:bodyPr/>
                    <a:lstStyle/>
                    <a:p>
                      <a:pPr marL="0" marR="43815" lvl="0" indent="0" algn="ctr" rtl="0">
                        <a:lnSpc>
                          <a:spcPct val="100000"/>
                        </a:lnSpc>
                        <a:spcBef>
                          <a:spcPts val="0"/>
                        </a:spcBef>
                        <a:spcAft>
                          <a:spcPts val="0"/>
                        </a:spcAft>
                        <a:buNone/>
                      </a:pPr>
                      <a:r>
                        <a:rPr lang="en-US" sz="1800" u="none" strike="noStrike" cap="none">
                          <a:latin typeface="Calibri"/>
                          <a:ea typeface="Calibri"/>
                          <a:cs typeface="Calibri"/>
                          <a:sym typeface="Calibri"/>
                        </a:rPr>
                        <a:t>N</a:t>
                      </a:r>
                      <a:endParaRPr sz="1800" u="none" strike="noStrike" cap="none">
                        <a:latin typeface="Calibri"/>
                        <a:ea typeface="Calibri"/>
                        <a:cs typeface="Calibri"/>
                        <a:sym typeface="Calibri"/>
                      </a:endParaRPr>
                    </a:p>
                  </a:txBody>
                  <a:tcPr marL="0" marR="0" marT="28575" marB="0">
                    <a:lnL w="12700" cap="flat" cmpd="sng">
                      <a:solidFill>
                        <a:srgbClr val="FFFFFF"/>
                      </a:solidFill>
                      <a:prstDash val="solid"/>
                      <a:round/>
                      <a:headEnd type="none" w="sm" len="sm"/>
                      <a:tailEnd type="none" w="sm" len="sm"/>
                    </a:lnL>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sz="2200" u="none" strike="noStrike" cap="none">
                        <a:latin typeface="Times New Roman"/>
                        <a:ea typeface="Times New Roman"/>
                        <a:cs typeface="Times New Roman"/>
                        <a:sym typeface="Times New Roman"/>
                      </a:endParaRPr>
                    </a:p>
                  </a:txBody>
                  <a:tcPr marL="0" marR="0" marT="0" marB="0">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tcPr>
                </a:tc>
                <a:tc>
                  <a:txBody>
                    <a:bodyPr/>
                    <a:lstStyle/>
                    <a:p>
                      <a:pPr marL="0" marR="78740" lvl="0" indent="0" algn="r" rtl="0">
                        <a:lnSpc>
                          <a:spcPct val="100000"/>
                        </a:lnSpc>
                        <a:spcBef>
                          <a:spcPts val="0"/>
                        </a:spcBef>
                        <a:spcAft>
                          <a:spcPts val="0"/>
                        </a:spcAft>
                        <a:buNone/>
                      </a:pPr>
                      <a:r>
                        <a:rPr lang="en-US" sz="1800" u="none" strike="noStrike" cap="none">
                          <a:latin typeface="Calibri"/>
                          <a:ea typeface="Calibri"/>
                          <a:cs typeface="Calibri"/>
                          <a:sym typeface="Calibri"/>
                        </a:rPr>
                        <a:t>x12</a:t>
                      </a:r>
                      <a:endParaRPr sz="1800" u="none" strike="noStrike" cap="none">
                        <a:latin typeface="Calibri"/>
                        <a:ea typeface="Calibri"/>
                        <a:cs typeface="Calibri"/>
                        <a:sym typeface="Calibri"/>
                      </a:endParaRPr>
                    </a:p>
                  </a:txBody>
                  <a:tcPr marL="0" marR="0" marT="28575" marB="0">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sz="22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7E6E6"/>
                    </a:solidFill>
                  </a:tcPr>
                </a:tc>
                <a:tc>
                  <a:txBody>
                    <a:bodyPr/>
                    <a:lstStyle/>
                    <a:p>
                      <a:pPr marL="0" marR="15875" lvl="0" indent="0" algn="r" rtl="0">
                        <a:lnSpc>
                          <a:spcPct val="100000"/>
                        </a:lnSpc>
                        <a:spcBef>
                          <a:spcPts val="0"/>
                        </a:spcBef>
                        <a:spcAft>
                          <a:spcPts val="0"/>
                        </a:spcAft>
                        <a:buNone/>
                      </a:pPr>
                      <a:r>
                        <a:rPr lang="en-US" sz="1800" u="none" strike="noStrike" cap="none">
                          <a:latin typeface="Calibri"/>
                          <a:ea typeface="Calibri"/>
                          <a:cs typeface="Calibri"/>
                          <a:sym typeface="Calibri"/>
                        </a:rPr>
                        <a:t>-</a:t>
                      </a:r>
                      <a:endParaRPr sz="1800" u="none" strike="noStrike" cap="none">
                        <a:latin typeface="Calibri"/>
                        <a:ea typeface="Calibri"/>
                        <a:cs typeface="Calibri"/>
                        <a:sym typeface="Calibri"/>
                      </a:endParaRPr>
                    </a:p>
                  </a:txBody>
                  <a:tcPr marL="0" marR="0" marT="28575" marB="0">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7E6E6"/>
                    </a:solidFill>
                  </a:tcPr>
                </a:tc>
                <a:tc>
                  <a:txBody>
                    <a:bodyPr/>
                    <a:lstStyle/>
                    <a:p>
                      <a:pPr marL="0" marR="0" lvl="0" indent="0" algn="l" rtl="0">
                        <a:lnSpc>
                          <a:spcPct val="100000"/>
                        </a:lnSpc>
                        <a:spcBef>
                          <a:spcPts val="0"/>
                        </a:spcBef>
                        <a:spcAft>
                          <a:spcPts val="0"/>
                        </a:spcAft>
                        <a:buNone/>
                      </a:pPr>
                      <a:endParaRPr sz="2200" u="none" strike="noStrike" cap="none">
                        <a:latin typeface="Times New Roman"/>
                        <a:ea typeface="Times New Roman"/>
                        <a:cs typeface="Times New Roman"/>
                        <a:sym typeface="Times New Roman"/>
                      </a:endParaRPr>
                    </a:p>
                  </a:txBody>
                  <a:tcPr marL="0" marR="0" marT="0" marB="0">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7E6E6"/>
                    </a:solidFill>
                  </a:tcPr>
                </a:tc>
                <a:tc>
                  <a:txBody>
                    <a:bodyPr/>
                    <a:lstStyle/>
                    <a:p>
                      <a:pPr marL="61594" marR="0" lvl="0" indent="0" algn="ctr" rtl="0">
                        <a:lnSpc>
                          <a:spcPct val="100000"/>
                        </a:lnSpc>
                        <a:spcBef>
                          <a:spcPts val="0"/>
                        </a:spcBef>
                        <a:spcAft>
                          <a:spcPts val="0"/>
                        </a:spcAft>
                        <a:buNone/>
                      </a:pPr>
                      <a:r>
                        <a:rPr lang="en-US" sz="1800" u="none" strike="noStrike" cap="none">
                          <a:latin typeface="Calibri"/>
                          <a:ea typeface="Calibri"/>
                          <a:cs typeface="Calibri"/>
                          <a:sym typeface="Calibri"/>
                        </a:rPr>
                        <a:t>X13</a:t>
                      </a:r>
                      <a:endParaRPr sz="1800" u="none" strike="noStrike" cap="none">
                        <a:latin typeface="Calibri"/>
                        <a:ea typeface="Calibri"/>
                        <a:cs typeface="Calibri"/>
                        <a:sym typeface="Calibri"/>
                      </a:endParaRPr>
                    </a:p>
                  </a:txBody>
                  <a:tcPr marL="0" marR="0" marT="28575" marB="0">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7E6E6"/>
                    </a:solidFill>
                  </a:tcPr>
                </a:tc>
                <a:tc>
                  <a:txBody>
                    <a:bodyPr/>
                    <a:lstStyle/>
                    <a:p>
                      <a:pPr marL="0" marR="0" lvl="0" indent="0" algn="l" rtl="0">
                        <a:lnSpc>
                          <a:spcPct val="100000"/>
                        </a:lnSpc>
                        <a:spcBef>
                          <a:spcPts val="0"/>
                        </a:spcBef>
                        <a:spcAft>
                          <a:spcPts val="0"/>
                        </a:spcAft>
                        <a:buNone/>
                      </a:pPr>
                      <a:endParaRPr sz="22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7E6E6"/>
                    </a:solidFill>
                  </a:tcPr>
                </a:tc>
                <a:tc>
                  <a:txBody>
                    <a:bodyPr/>
                    <a:lstStyle/>
                    <a:p>
                      <a:pPr marL="16510" marR="0" lvl="0" indent="0" algn="ctr" rtl="0">
                        <a:lnSpc>
                          <a:spcPct val="100000"/>
                        </a:lnSpc>
                        <a:spcBef>
                          <a:spcPts val="0"/>
                        </a:spcBef>
                        <a:spcAft>
                          <a:spcPts val="0"/>
                        </a:spcAft>
                        <a:buNone/>
                      </a:pPr>
                      <a:r>
                        <a:rPr lang="en-US" sz="1800" u="none" strike="noStrike" cap="none">
                          <a:latin typeface="Calibri"/>
                          <a:ea typeface="Calibri"/>
                          <a:cs typeface="Calibri"/>
                          <a:sym typeface="Calibri"/>
                        </a:rPr>
                        <a:t>-</a:t>
                      </a:r>
                      <a:endParaRPr sz="1800" u="none" strike="noStrike" cap="none">
                        <a:latin typeface="Calibri"/>
                        <a:ea typeface="Calibri"/>
                        <a:cs typeface="Calibri"/>
                        <a:sym typeface="Calibri"/>
                      </a:endParaRPr>
                    </a:p>
                  </a:txBody>
                  <a:tcPr marL="0" marR="0" marT="28575" marB="0">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7E6E6"/>
                    </a:solidFill>
                  </a:tcPr>
                </a:tc>
                <a:tc>
                  <a:txBody>
                    <a:bodyPr/>
                    <a:lstStyle/>
                    <a:p>
                      <a:pPr marL="0" marR="78105" lvl="0" indent="0" algn="r" rtl="0">
                        <a:lnSpc>
                          <a:spcPct val="100000"/>
                        </a:lnSpc>
                        <a:spcBef>
                          <a:spcPts val="0"/>
                        </a:spcBef>
                        <a:spcAft>
                          <a:spcPts val="0"/>
                        </a:spcAft>
                        <a:buNone/>
                      </a:pPr>
                      <a:r>
                        <a:rPr lang="en-US" sz="1800" u="none" strike="noStrike" cap="none">
                          <a:latin typeface="Calibri"/>
                          <a:ea typeface="Calibri"/>
                          <a:cs typeface="Calibri"/>
                          <a:sym typeface="Calibri"/>
                        </a:rPr>
                        <a:t>x14</a:t>
                      </a:r>
                      <a:endParaRPr sz="1800" u="none" strike="noStrike" cap="none">
                        <a:latin typeface="Calibri"/>
                        <a:ea typeface="Calibri"/>
                        <a:cs typeface="Calibri"/>
                        <a:sym typeface="Calibri"/>
                      </a:endParaRPr>
                    </a:p>
                  </a:txBody>
                  <a:tcPr marL="0" marR="0" marT="28575" marB="0">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7E6E6"/>
                    </a:solidFill>
                  </a:tcPr>
                </a:tc>
                <a:tc gridSpan="2">
                  <a:txBody>
                    <a:bodyPr/>
                    <a:lstStyle/>
                    <a:p>
                      <a:pPr marL="0" marR="78105" lvl="0" indent="0" algn="r" rtl="0">
                        <a:lnSpc>
                          <a:spcPct val="100000"/>
                        </a:lnSpc>
                        <a:spcBef>
                          <a:spcPts val="0"/>
                        </a:spcBef>
                        <a:spcAft>
                          <a:spcPts val="0"/>
                        </a:spcAft>
                        <a:buNone/>
                      </a:pPr>
                      <a:r>
                        <a:rPr lang="en-US" sz="1800" u="none" strike="noStrike" cap="none">
                          <a:latin typeface="Calibri"/>
                          <a:ea typeface="Calibri"/>
                          <a:cs typeface="Calibri"/>
                          <a:sym typeface="Calibri"/>
                        </a:rPr>
                        <a:t>-,X15</a:t>
                      </a:r>
                      <a:endParaRPr sz="1800" u="none" strike="noStrike" cap="none">
                        <a:latin typeface="Calibri"/>
                        <a:ea typeface="Calibri"/>
                        <a:cs typeface="Calibri"/>
                        <a:sym typeface="Calibri"/>
                      </a:endParaRPr>
                    </a:p>
                  </a:txBody>
                  <a:tcPr marL="0" marR="0" marT="2857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7E6E6"/>
                    </a:solidFill>
                  </a:tcPr>
                </a:tc>
                <a:tc hMerge="1">
                  <a:txBody>
                    <a:bodyPr/>
                    <a:lstStyle/>
                    <a:p>
                      <a:endParaRPr lang="en-US"/>
                    </a:p>
                  </a:txBody>
                  <a:tcPr/>
                </a:tc>
              </a:tr>
              <a:tr h="777700">
                <a:tc gridSpan="2">
                  <a:txBody>
                    <a:bodyPr/>
                    <a:lstStyle/>
                    <a:p>
                      <a:pPr marL="0" marR="78105" lvl="0" indent="0" algn="r" rtl="0">
                        <a:lnSpc>
                          <a:spcPct val="100000"/>
                        </a:lnSpc>
                        <a:spcBef>
                          <a:spcPts val="0"/>
                        </a:spcBef>
                        <a:spcAft>
                          <a:spcPts val="0"/>
                        </a:spcAft>
                        <a:buNone/>
                      </a:pPr>
                      <a:r>
                        <a:rPr lang="en-US" sz="1800" u="none" strike="noStrike" cap="none">
                          <a:latin typeface="Calibri"/>
                          <a:ea typeface="Calibri"/>
                          <a:cs typeface="Calibri"/>
                          <a:sym typeface="Calibri"/>
                        </a:rPr>
                        <a:t>X21</a:t>
                      </a:r>
                      <a:endParaRPr sz="1800" u="none" strike="noStrike" cap="none">
                        <a:latin typeface="Calibri"/>
                        <a:ea typeface="Calibri"/>
                        <a:cs typeface="Calibri"/>
                        <a:sym typeface="Calibri"/>
                      </a:endParaRPr>
                    </a:p>
                  </a:txBody>
                  <a:tcPr marL="0" marR="0" marT="2857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7E6E6"/>
                    </a:solidFill>
                  </a:tcPr>
                </a:tc>
                <a:tc hMerge="1">
                  <a:txBody>
                    <a:bodyPr/>
                    <a:lstStyle/>
                    <a:p>
                      <a:endParaRPr lang="en-US"/>
                    </a:p>
                  </a:txBody>
                  <a:tcPr/>
                </a:tc>
                <a:tc gridSpan="3">
                  <a:txBody>
                    <a:bodyPr/>
                    <a:lstStyle/>
                    <a:p>
                      <a:pPr marL="0" marR="78105" lvl="0" indent="0" algn="r" rtl="0">
                        <a:lnSpc>
                          <a:spcPct val="100000"/>
                        </a:lnSpc>
                        <a:spcBef>
                          <a:spcPts val="0"/>
                        </a:spcBef>
                        <a:spcAft>
                          <a:spcPts val="0"/>
                        </a:spcAft>
                        <a:buNone/>
                      </a:pPr>
                      <a:r>
                        <a:rPr lang="en-US" sz="1800" u="none" strike="noStrike" cap="none">
                          <a:latin typeface="Calibri"/>
                          <a:ea typeface="Calibri"/>
                          <a:cs typeface="Calibri"/>
                          <a:sym typeface="Calibri"/>
                        </a:rPr>
                        <a:t>x22</a:t>
                      </a:r>
                      <a:endParaRPr sz="1800" u="none" strike="noStrike" cap="none">
                        <a:latin typeface="Calibri"/>
                        <a:ea typeface="Calibri"/>
                        <a:cs typeface="Calibri"/>
                        <a:sym typeface="Calibri"/>
                      </a:endParaRPr>
                    </a:p>
                  </a:txBody>
                  <a:tcPr marL="0" marR="0" marT="2857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7E6E6"/>
                    </a:solidFill>
                  </a:tcPr>
                </a:tc>
                <a:tc hMerge="1">
                  <a:txBody>
                    <a:bodyPr/>
                    <a:lstStyle/>
                    <a:p>
                      <a:endParaRPr lang="en-US"/>
                    </a:p>
                  </a:txBody>
                  <a:tcPr/>
                </a:tc>
                <a:tc hMerge="1">
                  <a:txBody>
                    <a:bodyPr/>
                    <a:lstStyle/>
                    <a:p>
                      <a:endParaRPr lang="en-US"/>
                    </a:p>
                  </a:txBody>
                  <a:tcPr/>
                </a:tc>
                <a:tc>
                  <a:txBody>
                    <a:bodyPr/>
                    <a:lstStyle/>
                    <a:p>
                      <a:pPr marL="0" marR="10160" lvl="0" indent="0" algn="ctr" rtl="0">
                        <a:lnSpc>
                          <a:spcPct val="100000"/>
                        </a:lnSpc>
                        <a:spcBef>
                          <a:spcPts val="0"/>
                        </a:spcBef>
                        <a:spcAft>
                          <a:spcPts val="0"/>
                        </a:spcAft>
                        <a:buNone/>
                      </a:pPr>
                      <a:r>
                        <a:rPr lang="en-US" sz="1800" u="none" strike="noStrike" cap="none">
                          <a:latin typeface="Calibri"/>
                          <a:ea typeface="Calibri"/>
                          <a:cs typeface="Calibri"/>
                          <a:sym typeface="Calibri"/>
                        </a:rPr>
                        <a:t>V</a:t>
                      </a:r>
                      <a:endParaRPr sz="1800" u="none" strike="noStrike" cap="none">
                        <a:latin typeface="Calibri"/>
                        <a:ea typeface="Calibri"/>
                        <a:cs typeface="Calibri"/>
                        <a:sym typeface="Calibri"/>
                      </a:endParaRPr>
                    </a:p>
                  </a:txBody>
                  <a:tcPr marL="0" marR="0" marT="28575" marB="0">
                    <a:lnL w="12700" cap="flat" cmpd="sng">
                      <a:solidFill>
                        <a:srgbClr val="FFFFFF"/>
                      </a:solidFill>
                      <a:prstDash val="solid"/>
                      <a:round/>
                      <a:headEnd type="none" w="sm" len="sm"/>
                      <a:tailEnd type="none" w="sm" len="sm"/>
                    </a:lnL>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sz="2200" u="none" strike="noStrike" cap="none">
                        <a:latin typeface="Times New Roman"/>
                        <a:ea typeface="Times New Roman"/>
                        <a:cs typeface="Times New Roman"/>
                        <a:sym typeface="Times New Roman"/>
                      </a:endParaRPr>
                    </a:p>
                  </a:txBody>
                  <a:tcPr marL="0" marR="0" marT="0" marB="0">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sz="2200" u="none" strike="noStrike" cap="none">
                        <a:latin typeface="Times New Roman"/>
                        <a:ea typeface="Times New Roman"/>
                        <a:cs typeface="Times New Roman"/>
                        <a:sym typeface="Times New Roman"/>
                      </a:endParaRPr>
                    </a:p>
                  </a:txBody>
                  <a:tcPr marL="0" marR="0" marT="0" marB="0">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tcPr>
                </a:tc>
                <a:tc>
                  <a:txBody>
                    <a:bodyPr/>
                    <a:lstStyle/>
                    <a:p>
                      <a:pPr marL="80645" marR="0" lvl="0" indent="0" algn="ctr" rtl="0">
                        <a:lnSpc>
                          <a:spcPct val="100000"/>
                        </a:lnSpc>
                        <a:spcBef>
                          <a:spcPts val="0"/>
                        </a:spcBef>
                        <a:spcAft>
                          <a:spcPts val="0"/>
                        </a:spcAft>
                        <a:buNone/>
                      </a:pPr>
                      <a:r>
                        <a:rPr lang="en-US" sz="1800" u="none" strike="noStrike" cap="none">
                          <a:latin typeface="Calibri"/>
                          <a:ea typeface="Calibri"/>
                          <a:cs typeface="Calibri"/>
                          <a:sym typeface="Calibri"/>
                        </a:rPr>
                        <a:t>x23</a:t>
                      </a:r>
                      <a:endParaRPr sz="1800" u="none" strike="noStrike" cap="none">
                        <a:latin typeface="Calibri"/>
                        <a:ea typeface="Calibri"/>
                        <a:cs typeface="Calibri"/>
                        <a:sym typeface="Calibri"/>
                      </a:endParaRPr>
                    </a:p>
                  </a:txBody>
                  <a:tcPr marL="0" marR="0" marT="28575" marB="0">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sz="22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7E6E6"/>
                    </a:solidFill>
                  </a:tcPr>
                </a:tc>
                <a:tc>
                  <a:txBody>
                    <a:bodyPr/>
                    <a:lstStyle/>
                    <a:p>
                      <a:pPr marL="0" marR="166370" lvl="0" indent="0" algn="r" rtl="0">
                        <a:lnSpc>
                          <a:spcPct val="100000"/>
                        </a:lnSpc>
                        <a:spcBef>
                          <a:spcPts val="0"/>
                        </a:spcBef>
                        <a:spcAft>
                          <a:spcPts val="0"/>
                        </a:spcAft>
                        <a:buNone/>
                      </a:pPr>
                      <a:r>
                        <a:rPr lang="en-US" sz="1800" u="none" strike="noStrike" cap="none">
                          <a:latin typeface="Calibri"/>
                          <a:ea typeface="Calibri"/>
                          <a:cs typeface="Calibri"/>
                          <a:sym typeface="Calibri"/>
                        </a:rPr>
                        <a:t>-</a:t>
                      </a:r>
                      <a:endParaRPr sz="1800" u="none" strike="noStrike" cap="none">
                        <a:latin typeface="Calibri"/>
                        <a:ea typeface="Calibri"/>
                        <a:cs typeface="Calibri"/>
                        <a:sym typeface="Calibri"/>
                      </a:endParaRPr>
                    </a:p>
                  </a:txBody>
                  <a:tcPr marL="0" marR="0" marT="28575" marB="0">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7E6E6"/>
                    </a:solidFill>
                  </a:tcPr>
                </a:tc>
                <a:tc>
                  <a:txBody>
                    <a:bodyPr/>
                    <a:lstStyle/>
                    <a:p>
                      <a:pPr marL="0" marR="78105" lvl="0" indent="0" algn="r" rtl="0">
                        <a:lnSpc>
                          <a:spcPct val="100000"/>
                        </a:lnSpc>
                        <a:spcBef>
                          <a:spcPts val="0"/>
                        </a:spcBef>
                        <a:spcAft>
                          <a:spcPts val="0"/>
                        </a:spcAft>
                        <a:buNone/>
                      </a:pPr>
                      <a:r>
                        <a:rPr lang="en-US" sz="1800" u="none" strike="noStrike" cap="none">
                          <a:latin typeface="Calibri"/>
                          <a:ea typeface="Calibri"/>
                          <a:cs typeface="Calibri"/>
                          <a:sym typeface="Calibri"/>
                        </a:rPr>
                        <a:t>x24</a:t>
                      </a:r>
                      <a:endParaRPr sz="1800" u="none" strike="noStrike" cap="none">
                        <a:latin typeface="Calibri"/>
                        <a:ea typeface="Calibri"/>
                        <a:cs typeface="Calibri"/>
                        <a:sym typeface="Calibri"/>
                      </a:endParaRPr>
                    </a:p>
                  </a:txBody>
                  <a:tcPr marL="0" marR="0" marT="28575" marB="0">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7E6E6"/>
                    </a:solidFill>
                  </a:tcPr>
                </a:tc>
                <a:tc>
                  <a:txBody>
                    <a:bodyPr/>
                    <a:lstStyle/>
                    <a:p>
                      <a:pPr marL="0" marR="205104" lvl="0" indent="0" algn="r" rtl="0">
                        <a:lnSpc>
                          <a:spcPct val="100000"/>
                        </a:lnSpc>
                        <a:spcBef>
                          <a:spcPts val="0"/>
                        </a:spcBef>
                        <a:spcAft>
                          <a:spcPts val="0"/>
                        </a:spcAft>
                        <a:buNone/>
                      </a:pPr>
                      <a:r>
                        <a:rPr lang="en-US" sz="1800" u="none" strike="noStrike" cap="none">
                          <a:latin typeface="Calibri"/>
                          <a:ea typeface="Calibri"/>
                          <a:cs typeface="Calibri"/>
                          <a:sym typeface="Calibri"/>
                        </a:rPr>
                        <a:t>VP,-</a:t>
                      </a:r>
                      <a:endParaRPr sz="1800" u="none" strike="noStrike" cap="none">
                        <a:latin typeface="Calibri"/>
                        <a:ea typeface="Calibri"/>
                        <a:cs typeface="Calibri"/>
                        <a:sym typeface="Calibri"/>
                      </a:endParaRPr>
                    </a:p>
                  </a:txBody>
                  <a:tcPr marL="0" marR="0" marT="28575" marB="0">
                    <a:lnL w="12700" cap="flat" cmpd="sng">
                      <a:solidFill>
                        <a:srgbClr val="FFFFFF"/>
                      </a:solidFill>
                      <a:prstDash val="solid"/>
                      <a:round/>
                      <a:headEnd type="none" w="sm" len="sm"/>
                      <a:tailEnd type="none" w="sm" len="sm"/>
                    </a:lnL>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7E6E6"/>
                    </a:solidFill>
                  </a:tcPr>
                </a:tc>
                <a:tc>
                  <a:txBody>
                    <a:bodyPr/>
                    <a:lstStyle/>
                    <a:p>
                      <a:pPr marL="0" marR="78740" lvl="0" indent="0" algn="r" rtl="0">
                        <a:lnSpc>
                          <a:spcPct val="100000"/>
                        </a:lnSpc>
                        <a:spcBef>
                          <a:spcPts val="0"/>
                        </a:spcBef>
                        <a:spcAft>
                          <a:spcPts val="0"/>
                        </a:spcAft>
                        <a:buNone/>
                      </a:pPr>
                      <a:r>
                        <a:rPr lang="en-US" sz="1800" u="none" strike="noStrike" cap="none">
                          <a:latin typeface="Calibri"/>
                          <a:ea typeface="Calibri"/>
                          <a:cs typeface="Calibri"/>
                          <a:sym typeface="Calibri"/>
                        </a:rPr>
                        <a:t>X25</a:t>
                      </a:r>
                      <a:endParaRPr sz="1800" u="none" strike="noStrike" cap="none">
                        <a:latin typeface="Calibri"/>
                        <a:ea typeface="Calibri"/>
                        <a:cs typeface="Calibri"/>
                        <a:sym typeface="Calibri"/>
                      </a:endParaRPr>
                    </a:p>
                  </a:txBody>
                  <a:tcPr marL="0" marR="0" marT="28575" marB="0">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7E6E6"/>
                    </a:solidFill>
                  </a:tcPr>
                </a:tc>
              </a:tr>
              <a:tr h="777700">
                <a:tc gridSpan="2">
                  <a:txBody>
                    <a:bodyPr/>
                    <a:lstStyle/>
                    <a:p>
                      <a:pPr marL="0" marR="78105" lvl="0" indent="0" algn="r" rtl="0">
                        <a:lnSpc>
                          <a:spcPct val="100000"/>
                        </a:lnSpc>
                        <a:spcBef>
                          <a:spcPts val="0"/>
                        </a:spcBef>
                        <a:spcAft>
                          <a:spcPts val="0"/>
                        </a:spcAft>
                        <a:buNone/>
                      </a:pPr>
                      <a:r>
                        <a:rPr lang="en-US" sz="1800" u="none" strike="noStrike" cap="none">
                          <a:latin typeface="Calibri"/>
                          <a:ea typeface="Calibri"/>
                          <a:cs typeface="Calibri"/>
                          <a:sym typeface="Calibri"/>
                        </a:rPr>
                        <a:t>x31</a:t>
                      </a:r>
                      <a:endParaRPr sz="1800" u="none" strike="noStrike" cap="none">
                        <a:latin typeface="Calibri"/>
                        <a:ea typeface="Calibri"/>
                        <a:cs typeface="Calibri"/>
                        <a:sym typeface="Calibri"/>
                      </a:endParaRPr>
                    </a:p>
                  </a:txBody>
                  <a:tcPr marL="0" marR="0" marT="2857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7E6E6"/>
                    </a:solidFill>
                  </a:tcPr>
                </a:tc>
                <a:tc hMerge="1">
                  <a:txBody>
                    <a:bodyPr/>
                    <a:lstStyle/>
                    <a:p>
                      <a:endParaRPr lang="en-US"/>
                    </a:p>
                  </a:txBody>
                  <a:tcPr/>
                </a:tc>
                <a:tc gridSpan="3">
                  <a:txBody>
                    <a:bodyPr/>
                    <a:lstStyle/>
                    <a:p>
                      <a:pPr marL="0" marR="78105" lvl="0" indent="0" algn="r" rtl="0">
                        <a:lnSpc>
                          <a:spcPct val="100000"/>
                        </a:lnSpc>
                        <a:spcBef>
                          <a:spcPts val="0"/>
                        </a:spcBef>
                        <a:spcAft>
                          <a:spcPts val="0"/>
                        </a:spcAft>
                        <a:buNone/>
                      </a:pPr>
                      <a:r>
                        <a:rPr lang="en-US" sz="1800" u="none" strike="noStrike" cap="none">
                          <a:latin typeface="Calibri"/>
                          <a:ea typeface="Calibri"/>
                          <a:cs typeface="Calibri"/>
                          <a:sym typeface="Calibri"/>
                        </a:rPr>
                        <a:t>x32</a:t>
                      </a:r>
                      <a:endParaRPr sz="1800" u="none" strike="noStrike" cap="none">
                        <a:latin typeface="Calibri"/>
                        <a:ea typeface="Calibri"/>
                        <a:cs typeface="Calibri"/>
                        <a:sym typeface="Calibri"/>
                      </a:endParaRPr>
                    </a:p>
                  </a:txBody>
                  <a:tcPr marL="0" marR="0" marT="2857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7E6E6"/>
                    </a:solidFill>
                  </a:tcPr>
                </a:tc>
                <a:tc hMerge="1">
                  <a:txBody>
                    <a:bodyPr/>
                    <a:lstStyle/>
                    <a:p>
                      <a:endParaRPr lang="en-US"/>
                    </a:p>
                  </a:txBody>
                  <a:tcPr/>
                </a:tc>
                <a:tc hMerge="1">
                  <a:txBody>
                    <a:bodyPr/>
                    <a:lstStyle/>
                    <a:p>
                      <a:endParaRPr lang="en-US"/>
                    </a:p>
                  </a:txBody>
                  <a:tcPr/>
                </a:tc>
                <a:tc gridSpan="4">
                  <a:txBody>
                    <a:bodyPr/>
                    <a:lstStyle/>
                    <a:p>
                      <a:pPr marL="0" marR="78105" lvl="0" indent="0" algn="r" rtl="0">
                        <a:lnSpc>
                          <a:spcPct val="100000"/>
                        </a:lnSpc>
                        <a:spcBef>
                          <a:spcPts val="0"/>
                        </a:spcBef>
                        <a:spcAft>
                          <a:spcPts val="0"/>
                        </a:spcAft>
                        <a:buNone/>
                      </a:pPr>
                      <a:r>
                        <a:rPr lang="en-US" sz="1800" u="none" strike="noStrike" cap="none">
                          <a:latin typeface="Calibri"/>
                          <a:ea typeface="Calibri"/>
                          <a:cs typeface="Calibri"/>
                          <a:sym typeface="Calibri"/>
                        </a:rPr>
                        <a:t>x33</a:t>
                      </a:r>
                      <a:endParaRPr sz="1800" u="none" strike="noStrike" cap="none">
                        <a:latin typeface="Calibri"/>
                        <a:ea typeface="Calibri"/>
                        <a:cs typeface="Calibri"/>
                        <a:sym typeface="Calibri"/>
                      </a:endParaRPr>
                    </a:p>
                  </a:txBody>
                  <a:tcPr marL="0" marR="0" marT="2857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7E6E6"/>
                    </a:solidFill>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marL="315595" marR="0" lvl="0" indent="0" algn="l" rtl="0">
                        <a:lnSpc>
                          <a:spcPct val="100000"/>
                        </a:lnSpc>
                        <a:spcBef>
                          <a:spcPts val="0"/>
                        </a:spcBef>
                        <a:spcAft>
                          <a:spcPts val="0"/>
                        </a:spcAft>
                        <a:buNone/>
                      </a:pPr>
                      <a:r>
                        <a:rPr lang="en-US" sz="1800" u="none" strike="noStrike" cap="none">
                          <a:latin typeface="Calibri"/>
                          <a:ea typeface="Calibri"/>
                          <a:cs typeface="Calibri"/>
                          <a:sym typeface="Calibri"/>
                        </a:rPr>
                        <a:t>Det</a:t>
                      </a:r>
                      <a:endParaRPr sz="1800" u="none" strike="noStrike" cap="none">
                        <a:latin typeface="Calibri"/>
                        <a:ea typeface="Calibri"/>
                        <a:cs typeface="Calibri"/>
                        <a:sym typeface="Calibri"/>
                      </a:endParaRPr>
                    </a:p>
                  </a:txBody>
                  <a:tcPr marL="0" marR="0" marT="28575" marB="0">
                    <a:lnL w="12700" cap="flat" cmpd="sng">
                      <a:solidFill>
                        <a:srgbClr val="FFFFFF"/>
                      </a:solidFill>
                      <a:prstDash val="solid"/>
                      <a:round/>
                      <a:headEnd type="none" w="sm" len="sm"/>
                      <a:tailEnd type="none" w="sm" len="sm"/>
                    </a:lnL>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sz="2200" u="none" strike="noStrike" cap="none">
                        <a:latin typeface="Times New Roman"/>
                        <a:ea typeface="Times New Roman"/>
                        <a:cs typeface="Times New Roman"/>
                        <a:sym typeface="Times New Roman"/>
                      </a:endParaRPr>
                    </a:p>
                  </a:txBody>
                  <a:tcPr marL="0" marR="0" marT="0" marB="0">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tcPr>
                </a:tc>
                <a:tc>
                  <a:txBody>
                    <a:bodyPr/>
                    <a:lstStyle/>
                    <a:p>
                      <a:pPr marL="0" marR="78740" lvl="0" indent="0" algn="r" rtl="0">
                        <a:lnSpc>
                          <a:spcPct val="100000"/>
                        </a:lnSpc>
                        <a:spcBef>
                          <a:spcPts val="0"/>
                        </a:spcBef>
                        <a:spcAft>
                          <a:spcPts val="0"/>
                        </a:spcAft>
                        <a:buNone/>
                      </a:pPr>
                      <a:r>
                        <a:rPr lang="en-US" sz="1800" u="none" strike="noStrike" cap="none">
                          <a:latin typeface="Calibri"/>
                          <a:ea typeface="Calibri"/>
                          <a:cs typeface="Calibri"/>
                          <a:sym typeface="Calibri"/>
                        </a:rPr>
                        <a:t>x34</a:t>
                      </a:r>
                      <a:endParaRPr sz="1800" u="none" strike="noStrike" cap="none">
                        <a:latin typeface="Calibri"/>
                        <a:ea typeface="Calibri"/>
                        <a:cs typeface="Calibri"/>
                        <a:sym typeface="Calibri"/>
                      </a:endParaRPr>
                    </a:p>
                  </a:txBody>
                  <a:tcPr marL="0" marR="0" marT="28575" marB="0">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tcPr>
                </a:tc>
                <a:tc>
                  <a:txBody>
                    <a:bodyPr/>
                    <a:lstStyle/>
                    <a:p>
                      <a:pPr marL="988694" marR="0" lvl="0" indent="0" algn="l" rtl="0">
                        <a:lnSpc>
                          <a:spcPct val="100000"/>
                        </a:lnSpc>
                        <a:spcBef>
                          <a:spcPts val="0"/>
                        </a:spcBef>
                        <a:spcAft>
                          <a:spcPts val="0"/>
                        </a:spcAft>
                        <a:buNone/>
                      </a:pPr>
                      <a:r>
                        <a:rPr lang="en-US" sz="1800" u="none" strike="noStrike" cap="none">
                          <a:latin typeface="Calibri"/>
                          <a:ea typeface="Calibri"/>
                          <a:cs typeface="Calibri"/>
                          <a:sym typeface="Calibri"/>
                        </a:rPr>
                        <a:t>NP</a:t>
                      </a:r>
                      <a:endParaRPr sz="1800" u="none" strike="noStrike" cap="none">
                        <a:latin typeface="Calibri"/>
                        <a:ea typeface="Calibri"/>
                        <a:cs typeface="Calibri"/>
                        <a:sym typeface="Calibri"/>
                      </a:endParaRPr>
                    </a:p>
                  </a:txBody>
                  <a:tcPr marL="0" marR="0" marT="28575" marB="0">
                    <a:lnL w="12700" cap="flat" cmpd="sng">
                      <a:solidFill>
                        <a:srgbClr val="FFFFFF"/>
                      </a:solidFill>
                      <a:prstDash val="solid"/>
                      <a:round/>
                      <a:headEnd type="none" w="sm" len="sm"/>
                      <a:tailEnd type="none" w="sm" len="sm"/>
                    </a:lnL>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7E6E6"/>
                    </a:solidFill>
                  </a:tcPr>
                </a:tc>
                <a:tc>
                  <a:txBody>
                    <a:bodyPr/>
                    <a:lstStyle/>
                    <a:p>
                      <a:pPr marL="0" marR="78740" lvl="0" indent="0" algn="r" rtl="0">
                        <a:lnSpc>
                          <a:spcPct val="100000"/>
                        </a:lnSpc>
                        <a:spcBef>
                          <a:spcPts val="0"/>
                        </a:spcBef>
                        <a:spcAft>
                          <a:spcPts val="0"/>
                        </a:spcAft>
                        <a:buNone/>
                      </a:pPr>
                      <a:r>
                        <a:rPr lang="en-US" sz="1800" u="none" strike="noStrike" cap="none">
                          <a:latin typeface="Calibri"/>
                          <a:ea typeface="Calibri"/>
                          <a:cs typeface="Calibri"/>
                          <a:sym typeface="Calibri"/>
                        </a:rPr>
                        <a:t>X35</a:t>
                      </a:r>
                      <a:endParaRPr sz="1800" u="none" strike="noStrike" cap="none">
                        <a:latin typeface="Calibri"/>
                        <a:ea typeface="Calibri"/>
                        <a:cs typeface="Calibri"/>
                        <a:sym typeface="Calibri"/>
                      </a:endParaRPr>
                    </a:p>
                  </a:txBody>
                  <a:tcPr marL="0" marR="0" marT="28575" marB="0">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7E6E6"/>
                    </a:solidFill>
                  </a:tcPr>
                </a:tc>
              </a:tr>
              <a:tr h="777700">
                <a:tc gridSpan="2">
                  <a:txBody>
                    <a:bodyPr/>
                    <a:lstStyle/>
                    <a:p>
                      <a:pPr marL="0" marR="78105" lvl="0" indent="0" algn="r" rtl="0">
                        <a:lnSpc>
                          <a:spcPct val="100000"/>
                        </a:lnSpc>
                        <a:spcBef>
                          <a:spcPts val="0"/>
                        </a:spcBef>
                        <a:spcAft>
                          <a:spcPts val="0"/>
                        </a:spcAft>
                        <a:buNone/>
                      </a:pPr>
                      <a:r>
                        <a:rPr lang="en-US" sz="1800" u="none" strike="noStrike" cap="none">
                          <a:latin typeface="Calibri"/>
                          <a:ea typeface="Calibri"/>
                          <a:cs typeface="Calibri"/>
                          <a:sym typeface="Calibri"/>
                        </a:rPr>
                        <a:t>x41</a:t>
                      </a:r>
                      <a:endParaRPr sz="1800" u="none" strike="noStrike" cap="none">
                        <a:latin typeface="Calibri"/>
                        <a:ea typeface="Calibri"/>
                        <a:cs typeface="Calibri"/>
                        <a:sym typeface="Calibri"/>
                      </a:endParaRPr>
                    </a:p>
                  </a:txBody>
                  <a:tcPr marL="0" marR="0" marT="2857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7E6E6"/>
                    </a:solidFill>
                  </a:tcPr>
                </a:tc>
                <a:tc hMerge="1">
                  <a:txBody>
                    <a:bodyPr/>
                    <a:lstStyle/>
                    <a:p>
                      <a:endParaRPr lang="en-US"/>
                    </a:p>
                  </a:txBody>
                  <a:tcPr/>
                </a:tc>
                <a:tc gridSpan="3">
                  <a:txBody>
                    <a:bodyPr/>
                    <a:lstStyle/>
                    <a:p>
                      <a:pPr marL="0" marR="78105" lvl="0" indent="0" algn="r" rtl="0">
                        <a:lnSpc>
                          <a:spcPct val="100000"/>
                        </a:lnSpc>
                        <a:spcBef>
                          <a:spcPts val="0"/>
                        </a:spcBef>
                        <a:spcAft>
                          <a:spcPts val="0"/>
                        </a:spcAft>
                        <a:buNone/>
                      </a:pPr>
                      <a:r>
                        <a:rPr lang="en-US" sz="1800" u="none" strike="noStrike" cap="none">
                          <a:latin typeface="Calibri"/>
                          <a:ea typeface="Calibri"/>
                          <a:cs typeface="Calibri"/>
                          <a:sym typeface="Calibri"/>
                        </a:rPr>
                        <a:t>x42</a:t>
                      </a:r>
                      <a:endParaRPr sz="1800" u="none" strike="noStrike" cap="none">
                        <a:latin typeface="Calibri"/>
                        <a:ea typeface="Calibri"/>
                        <a:cs typeface="Calibri"/>
                        <a:sym typeface="Calibri"/>
                      </a:endParaRPr>
                    </a:p>
                  </a:txBody>
                  <a:tcPr marL="0" marR="0" marT="2857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7E6E6"/>
                    </a:solidFill>
                  </a:tcPr>
                </a:tc>
                <a:tc hMerge="1">
                  <a:txBody>
                    <a:bodyPr/>
                    <a:lstStyle/>
                    <a:p>
                      <a:endParaRPr lang="en-US"/>
                    </a:p>
                  </a:txBody>
                  <a:tcPr/>
                </a:tc>
                <a:tc hMerge="1">
                  <a:txBody>
                    <a:bodyPr/>
                    <a:lstStyle/>
                    <a:p>
                      <a:endParaRPr lang="en-US"/>
                    </a:p>
                  </a:txBody>
                  <a:tcPr/>
                </a:tc>
                <a:tc gridSpan="4">
                  <a:txBody>
                    <a:bodyPr/>
                    <a:lstStyle/>
                    <a:p>
                      <a:pPr marL="0" marR="78105" lvl="0" indent="0" algn="r" rtl="0">
                        <a:lnSpc>
                          <a:spcPct val="100000"/>
                        </a:lnSpc>
                        <a:spcBef>
                          <a:spcPts val="0"/>
                        </a:spcBef>
                        <a:spcAft>
                          <a:spcPts val="0"/>
                        </a:spcAft>
                        <a:buNone/>
                      </a:pPr>
                      <a:r>
                        <a:rPr lang="en-US" sz="1800" u="none" strike="noStrike" cap="none">
                          <a:latin typeface="Calibri"/>
                          <a:ea typeface="Calibri"/>
                          <a:cs typeface="Calibri"/>
                          <a:sym typeface="Calibri"/>
                        </a:rPr>
                        <a:t>x43</a:t>
                      </a:r>
                      <a:endParaRPr sz="1800" u="none" strike="noStrike" cap="none">
                        <a:latin typeface="Calibri"/>
                        <a:ea typeface="Calibri"/>
                        <a:cs typeface="Calibri"/>
                        <a:sym typeface="Calibri"/>
                      </a:endParaRPr>
                    </a:p>
                  </a:txBody>
                  <a:tcPr marL="0" marR="0" marT="2857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7E6E6"/>
                    </a:solidFill>
                  </a:tcPr>
                </a:tc>
                <a:tc hMerge="1">
                  <a:txBody>
                    <a:bodyPr/>
                    <a:lstStyle/>
                    <a:p>
                      <a:endParaRPr lang="en-US"/>
                    </a:p>
                  </a:txBody>
                  <a:tcPr/>
                </a:tc>
                <a:tc hMerge="1">
                  <a:txBody>
                    <a:bodyPr/>
                    <a:lstStyle/>
                    <a:p>
                      <a:endParaRPr lang="en-US"/>
                    </a:p>
                  </a:txBody>
                  <a:tcPr/>
                </a:tc>
                <a:tc hMerge="1">
                  <a:txBody>
                    <a:bodyPr/>
                    <a:lstStyle/>
                    <a:p>
                      <a:endParaRPr lang="en-US"/>
                    </a:p>
                  </a:txBody>
                  <a:tcPr/>
                </a:tc>
                <a:tc gridSpan="3">
                  <a:txBody>
                    <a:bodyPr/>
                    <a:lstStyle/>
                    <a:p>
                      <a:pPr marL="0" marR="78105" lvl="0" indent="0" algn="r" rtl="0">
                        <a:lnSpc>
                          <a:spcPct val="100000"/>
                        </a:lnSpc>
                        <a:spcBef>
                          <a:spcPts val="0"/>
                        </a:spcBef>
                        <a:spcAft>
                          <a:spcPts val="0"/>
                        </a:spcAft>
                        <a:buNone/>
                      </a:pPr>
                      <a:r>
                        <a:rPr lang="en-US" sz="1800" u="none" strike="noStrike" cap="none">
                          <a:latin typeface="Calibri"/>
                          <a:ea typeface="Calibri"/>
                          <a:cs typeface="Calibri"/>
                          <a:sym typeface="Calibri"/>
                        </a:rPr>
                        <a:t>x44</a:t>
                      </a:r>
                      <a:endParaRPr sz="1800" u="none" strike="noStrike" cap="none">
                        <a:latin typeface="Calibri"/>
                        <a:ea typeface="Calibri"/>
                        <a:cs typeface="Calibri"/>
                        <a:sym typeface="Calibri"/>
                      </a:endParaRPr>
                    </a:p>
                  </a:txBody>
                  <a:tcPr marL="0" marR="0" marT="2857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7E6E6"/>
                    </a:solidFill>
                  </a:tcPr>
                </a:tc>
                <a:tc hMerge="1">
                  <a:txBody>
                    <a:bodyPr/>
                    <a:lstStyle/>
                    <a:p>
                      <a:endParaRPr lang="en-US"/>
                    </a:p>
                  </a:txBody>
                  <a:tcPr/>
                </a:tc>
                <a:tc hMerge="1">
                  <a:txBody>
                    <a:bodyPr/>
                    <a:lstStyle/>
                    <a:p>
                      <a:endParaRPr lang="en-US"/>
                    </a:p>
                  </a:txBody>
                  <a:tcPr/>
                </a:tc>
                <a:tc>
                  <a:txBody>
                    <a:bodyPr/>
                    <a:lstStyle/>
                    <a:p>
                      <a:pPr marL="351155" marR="0" lvl="0" indent="0" algn="l" rtl="0">
                        <a:lnSpc>
                          <a:spcPct val="100000"/>
                        </a:lnSpc>
                        <a:spcBef>
                          <a:spcPts val="0"/>
                        </a:spcBef>
                        <a:spcAft>
                          <a:spcPts val="0"/>
                        </a:spcAft>
                        <a:buNone/>
                      </a:pPr>
                      <a:r>
                        <a:rPr lang="en-US" sz="1800" u="none" strike="noStrike" cap="none">
                          <a:latin typeface="Calibri"/>
                          <a:ea typeface="Calibri"/>
                          <a:cs typeface="Calibri"/>
                          <a:sym typeface="Calibri"/>
                        </a:rPr>
                        <a:t>N</a:t>
                      </a:r>
                      <a:endParaRPr sz="1800" u="none" strike="noStrike" cap="none">
                        <a:latin typeface="Calibri"/>
                        <a:ea typeface="Calibri"/>
                        <a:cs typeface="Calibri"/>
                        <a:sym typeface="Calibri"/>
                      </a:endParaRPr>
                    </a:p>
                  </a:txBody>
                  <a:tcPr marL="0" marR="0" marT="28575" marB="0">
                    <a:lnL w="12700" cap="flat" cmpd="sng">
                      <a:solidFill>
                        <a:srgbClr val="FFFFFF"/>
                      </a:solidFill>
                      <a:prstDash val="solid"/>
                      <a:round/>
                      <a:headEnd type="none" w="sm" len="sm"/>
                      <a:tailEnd type="none" w="sm" len="sm"/>
                    </a:lnL>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tcPr>
                </a:tc>
                <a:tc>
                  <a:txBody>
                    <a:bodyPr/>
                    <a:lstStyle/>
                    <a:p>
                      <a:pPr marL="0" marR="78740" lvl="0" indent="0" algn="r" rtl="0">
                        <a:lnSpc>
                          <a:spcPct val="100000"/>
                        </a:lnSpc>
                        <a:spcBef>
                          <a:spcPts val="0"/>
                        </a:spcBef>
                        <a:spcAft>
                          <a:spcPts val="0"/>
                        </a:spcAft>
                        <a:buNone/>
                      </a:pPr>
                      <a:r>
                        <a:rPr lang="en-US" sz="1800" u="none" strike="noStrike" cap="none">
                          <a:latin typeface="Calibri"/>
                          <a:ea typeface="Calibri"/>
                          <a:cs typeface="Calibri"/>
                          <a:sym typeface="Calibri"/>
                        </a:rPr>
                        <a:t>x45</a:t>
                      </a:r>
                      <a:endParaRPr sz="1800" u="none" strike="noStrike" cap="none">
                        <a:latin typeface="Calibri"/>
                        <a:ea typeface="Calibri"/>
                        <a:cs typeface="Calibri"/>
                        <a:sym typeface="Calibri"/>
                      </a:endParaRPr>
                    </a:p>
                  </a:txBody>
                  <a:tcPr marL="0" marR="0" marT="28575" marB="0">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tcPr>
                </a:tc>
              </a:tr>
            </a:tbl>
          </a:graphicData>
        </a:graphic>
      </p:graphicFrame>
      <p:grpSp>
        <p:nvGrpSpPr>
          <p:cNvPr id="1022" name="Google Shape;1022;p105"/>
          <p:cNvGrpSpPr/>
          <p:nvPr/>
        </p:nvGrpSpPr>
        <p:grpSpPr>
          <a:xfrm>
            <a:off x="876300" y="2392218"/>
            <a:ext cx="10440035" cy="3888744"/>
            <a:chOff x="876300" y="2392218"/>
            <a:chExt cx="10440035" cy="3888744"/>
          </a:xfrm>
        </p:grpSpPr>
        <p:sp>
          <p:nvSpPr>
            <p:cNvPr id="1023" name="Google Shape;1023;p105"/>
            <p:cNvSpPr/>
            <p:nvPr/>
          </p:nvSpPr>
          <p:spPr>
            <a:xfrm>
              <a:off x="876300" y="2392218"/>
              <a:ext cx="10440035" cy="3888740"/>
            </a:xfrm>
            <a:custGeom>
              <a:avLst/>
              <a:gdLst/>
              <a:ahLst/>
              <a:cxnLst/>
              <a:rect l="l" t="t" r="r" b="b"/>
              <a:pathLst>
                <a:path w="10440035" h="3888740" extrusionOk="0">
                  <a:moveTo>
                    <a:pt x="10439424" y="3888500"/>
                  </a:moveTo>
                  <a:lnTo>
                    <a:pt x="0" y="3888500"/>
                  </a:lnTo>
                  <a:lnTo>
                    <a:pt x="0" y="0"/>
                  </a:lnTo>
                  <a:lnTo>
                    <a:pt x="10439424" y="0"/>
                  </a:lnTo>
                  <a:lnTo>
                    <a:pt x="10439424" y="3888500"/>
                  </a:lnTo>
                  <a:close/>
                </a:path>
              </a:pathLst>
            </a:custGeom>
            <a:solidFill>
              <a:srgbClr val="E7EBF4"/>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024" name="Google Shape;1024;p105"/>
            <p:cNvSpPr/>
            <p:nvPr/>
          </p:nvSpPr>
          <p:spPr>
            <a:xfrm>
              <a:off x="876300" y="2392222"/>
              <a:ext cx="10440035" cy="3888740"/>
            </a:xfrm>
            <a:custGeom>
              <a:avLst/>
              <a:gdLst/>
              <a:ahLst/>
              <a:cxnLst/>
              <a:rect l="l" t="t" r="r" b="b"/>
              <a:pathLst>
                <a:path w="10440035" h="3888740" extrusionOk="0">
                  <a:moveTo>
                    <a:pt x="1815515" y="0"/>
                  </a:moveTo>
                  <a:lnTo>
                    <a:pt x="0" y="0"/>
                  </a:lnTo>
                  <a:lnTo>
                    <a:pt x="0" y="777697"/>
                  </a:lnTo>
                  <a:lnTo>
                    <a:pt x="1815515" y="777697"/>
                  </a:lnTo>
                  <a:lnTo>
                    <a:pt x="1815515" y="0"/>
                  </a:lnTo>
                  <a:close/>
                </a:path>
                <a:path w="10440035" h="3888740" extrusionOk="0">
                  <a:moveTo>
                    <a:pt x="3971493" y="777697"/>
                  </a:moveTo>
                  <a:lnTo>
                    <a:pt x="1815515" y="777697"/>
                  </a:lnTo>
                  <a:lnTo>
                    <a:pt x="1815515" y="1555407"/>
                  </a:lnTo>
                  <a:lnTo>
                    <a:pt x="3971493" y="1555407"/>
                  </a:lnTo>
                  <a:lnTo>
                    <a:pt x="3971493" y="777697"/>
                  </a:lnTo>
                  <a:close/>
                </a:path>
                <a:path w="10440035" h="3888740" extrusionOk="0">
                  <a:moveTo>
                    <a:pt x="6186322" y="1555407"/>
                  </a:moveTo>
                  <a:lnTo>
                    <a:pt x="3971493" y="1555407"/>
                  </a:lnTo>
                  <a:lnTo>
                    <a:pt x="3971493" y="2333104"/>
                  </a:lnTo>
                  <a:lnTo>
                    <a:pt x="6186322" y="2333104"/>
                  </a:lnTo>
                  <a:lnTo>
                    <a:pt x="6186322" y="1555407"/>
                  </a:lnTo>
                  <a:close/>
                </a:path>
                <a:path w="10440035" h="3888740" extrusionOk="0">
                  <a:moveTo>
                    <a:pt x="8283448" y="2333104"/>
                  </a:moveTo>
                  <a:lnTo>
                    <a:pt x="6186322" y="2333104"/>
                  </a:lnTo>
                  <a:lnTo>
                    <a:pt x="6186322" y="3110801"/>
                  </a:lnTo>
                  <a:lnTo>
                    <a:pt x="8283448" y="3110801"/>
                  </a:lnTo>
                  <a:lnTo>
                    <a:pt x="8283448" y="2333104"/>
                  </a:lnTo>
                  <a:close/>
                </a:path>
                <a:path w="10440035" h="3888740" extrusionOk="0">
                  <a:moveTo>
                    <a:pt x="10439413" y="3110801"/>
                  </a:moveTo>
                  <a:lnTo>
                    <a:pt x="8283448" y="3110801"/>
                  </a:lnTo>
                  <a:lnTo>
                    <a:pt x="8283448" y="3888498"/>
                  </a:lnTo>
                  <a:lnTo>
                    <a:pt x="10439413" y="3888498"/>
                  </a:lnTo>
                  <a:lnTo>
                    <a:pt x="10439413" y="3110801"/>
                  </a:lnTo>
                  <a:close/>
                </a:path>
              </a:pathLst>
            </a:custGeom>
            <a:solidFill>
              <a:srgbClr val="E7E6E6"/>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025" name="Google Shape;1025;p105"/>
            <p:cNvSpPr/>
            <p:nvPr/>
          </p:nvSpPr>
          <p:spPr>
            <a:xfrm>
              <a:off x="962025" y="2430322"/>
              <a:ext cx="10268585" cy="3385185"/>
            </a:xfrm>
            <a:custGeom>
              <a:avLst/>
              <a:gdLst/>
              <a:ahLst/>
              <a:cxnLst/>
              <a:rect l="l" t="t" r="r" b="b"/>
              <a:pathLst>
                <a:path w="10268585" h="3385185" extrusionOk="0">
                  <a:moveTo>
                    <a:pt x="1553756" y="0"/>
                  </a:moveTo>
                  <a:lnTo>
                    <a:pt x="0" y="0"/>
                  </a:lnTo>
                  <a:lnTo>
                    <a:pt x="0" y="274320"/>
                  </a:lnTo>
                  <a:lnTo>
                    <a:pt x="1553756" y="274320"/>
                  </a:lnTo>
                  <a:lnTo>
                    <a:pt x="1553756" y="0"/>
                  </a:lnTo>
                  <a:close/>
                </a:path>
                <a:path w="10268585" h="3385185" extrusionOk="0">
                  <a:moveTo>
                    <a:pt x="3469309" y="777697"/>
                  </a:moveTo>
                  <a:lnTo>
                    <a:pt x="1978050" y="777697"/>
                  </a:lnTo>
                  <a:lnTo>
                    <a:pt x="1978050" y="1052017"/>
                  </a:lnTo>
                  <a:lnTo>
                    <a:pt x="3469309" y="1052017"/>
                  </a:lnTo>
                  <a:lnTo>
                    <a:pt x="3469309" y="777697"/>
                  </a:lnTo>
                  <a:close/>
                </a:path>
                <a:path w="10268585" h="3385185" extrusionOk="0">
                  <a:moveTo>
                    <a:pt x="6014872" y="1555407"/>
                  </a:moveTo>
                  <a:lnTo>
                    <a:pt x="4262412" y="1555407"/>
                  </a:lnTo>
                  <a:lnTo>
                    <a:pt x="4262412" y="1829727"/>
                  </a:lnTo>
                  <a:lnTo>
                    <a:pt x="6014872" y="1829727"/>
                  </a:lnTo>
                  <a:lnTo>
                    <a:pt x="6014872" y="1555407"/>
                  </a:lnTo>
                  <a:close/>
                </a:path>
                <a:path w="10268585" h="3385185" extrusionOk="0">
                  <a:moveTo>
                    <a:pt x="8111998" y="2333104"/>
                  </a:moveTo>
                  <a:lnTo>
                    <a:pt x="6416688" y="2333104"/>
                  </a:lnTo>
                  <a:lnTo>
                    <a:pt x="6416688" y="2607424"/>
                  </a:lnTo>
                  <a:lnTo>
                    <a:pt x="8111998" y="2607424"/>
                  </a:lnTo>
                  <a:lnTo>
                    <a:pt x="8111998" y="2333104"/>
                  </a:lnTo>
                  <a:close/>
                </a:path>
                <a:path w="10268585" h="3385185" extrusionOk="0">
                  <a:moveTo>
                    <a:pt x="10267975" y="3110801"/>
                  </a:moveTo>
                  <a:lnTo>
                    <a:pt x="8549335" y="3110801"/>
                  </a:lnTo>
                  <a:lnTo>
                    <a:pt x="8549335" y="3385121"/>
                  </a:lnTo>
                  <a:lnTo>
                    <a:pt x="10267975" y="3385121"/>
                  </a:lnTo>
                  <a:lnTo>
                    <a:pt x="10267975" y="3110801"/>
                  </a:lnTo>
                  <a:close/>
                </a:path>
              </a:pathLst>
            </a:custGeom>
            <a:solidFill>
              <a:srgbClr val="FFFF00"/>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showMasterSp="0">
  <p:cSld>
    <p:spTree>
      <p:nvGrpSpPr>
        <p:cNvPr id="1" name="Shape 1029"/>
        <p:cNvGrpSpPr/>
        <p:nvPr/>
      </p:nvGrpSpPr>
      <p:grpSpPr>
        <a:xfrm>
          <a:off x="0" y="0"/>
          <a:ext cx="0" cy="0"/>
          <a:chOff x="0" y="0"/>
          <a:chExt cx="0" cy="0"/>
        </a:xfrm>
      </p:grpSpPr>
      <p:sp>
        <p:nvSpPr>
          <p:cNvPr id="1030" name="Google Shape;1030;p106"/>
          <p:cNvSpPr txBox="1">
            <a:spLocks noGrp="1"/>
          </p:cNvSpPr>
          <p:nvPr>
            <p:ph type="title"/>
          </p:nvPr>
        </p:nvSpPr>
        <p:spPr>
          <a:xfrm>
            <a:off x="911225" y="639172"/>
            <a:ext cx="3268345" cy="69596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4400"/>
              <a:t>CYK Algorithm</a:t>
            </a:r>
            <a:endParaRPr sz="4400"/>
          </a:p>
        </p:txBody>
      </p:sp>
      <p:sp>
        <p:nvSpPr>
          <p:cNvPr id="1031" name="Google Shape;1031;p106"/>
          <p:cNvSpPr/>
          <p:nvPr/>
        </p:nvSpPr>
        <p:spPr>
          <a:xfrm>
            <a:off x="2239314" y="1863725"/>
            <a:ext cx="180340" cy="384175"/>
          </a:xfrm>
          <a:custGeom>
            <a:avLst/>
            <a:gdLst/>
            <a:ahLst/>
            <a:cxnLst/>
            <a:rect l="l" t="t" r="r" b="b"/>
            <a:pathLst>
              <a:path w="180339" h="384175" extrusionOk="0">
                <a:moveTo>
                  <a:pt x="180205" y="384047"/>
                </a:moveTo>
                <a:lnTo>
                  <a:pt x="0" y="384047"/>
                </a:lnTo>
                <a:lnTo>
                  <a:pt x="0" y="0"/>
                </a:lnTo>
                <a:lnTo>
                  <a:pt x="180205" y="0"/>
                </a:lnTo>
                <a:lnTo>
                  <a:pt x="180205" y="384047"/>
                </a:lnTo>
                <a:close/>
              </a:path>
            </a:pathLst>
          </a:custGeom>
          <a:solidFill>
            <a:srgbClr val="FFFF00"/>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032" name="Google Shape;1032;p106"/>
          <p:cNvSpPr/>
          <p:nvPr/>
        </p:nvSpPr>
        <p:spPr>
          <a:xfrm>
            <a:off x="2781147" y="1863725"/>
            <a:ext cx="180340" cy="384175"/>
          </a:xfrm>
          <a:custGeom>
            <a:avLst/>
            <a:gdLst/>
            <a:ahLst/>
            <a:cxnLst/>
            <a:rect l="l" t="t" r="r" b="b"/>
            <a:pathLst>
              <a:path w="180339" h="384175" extrusionOk="0">
                <a:moveTo>
                  <a:pt x="180205" y="384047"/>
                </a:moveTo>
                <a:lnTo>
                  <a:pt x="0" y="384047"/>
                </a:lnTo>
                <a:lnTo>
                  <a:pt x="0" y="0"/>
                </a:lnTo>
                <a:lnTo>
                  <a:pt x="180205" y="0"/>
                </a:lnTo>
                <a:lnTo>
                  <a:pt x="180205" y="384047"/>
                </a:lnTo>
                <a:close/>
              </a:path>
            </a:pathLst>
          </a:custGeom>
          <a:solidFill>
            <a:srgbClr val="FFFF00"/>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033" name="Google Shape;1033;p106"/>
          <p:cNvSpPr/>
          <p:nvPr/>
        </p:nvSpPr>
        <p:spPr>
          <a:xfrm>
            <a:off x="2208759" y="3400425"/>
            <a:ext cx="180340" cy="384175"/>
          </a:xfrm>
          <a:custGeom>
            <a:avLst/>
            <a:gdLst/>
            <a:ahLst/>
            <a:cxnLst/>
            <a:rect l="l" t="t" r="r" b="b"/>
            <a:pathLst>
              <a:path w="180339" h="384175" extrusionOk="0">
                <a:moveTo>
                  <a:pt x="180205" y="384047"/>
                </a:moveTo>
                <a:lnTo>
                  <a:pt x="0" y="384047"/>
                </a:lnTo>
                <a:lnTo>
                  <a:pt x="0" y="0"/>
                </a:lnTo>
                <a:lnTo>
                  <a:pt x="180205" y="0"/>
                </a:lnTo>
                <a:lnTo>
                  <a:pt x="180205" y="384047"/>
                </a:lnTo>
                <a:close/>
              </a:path>
            </a:pathLst>
          </a:custGeom>
          <a:solidFill>
            <a:srgbClr val="FFFF00"/>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034" name="Google Shape;1034;p106"/>
          <p:cNvSpPr/>
          <p:nvPr/>
        </p:nvSpPr>
        <p:spPr>
          <a:xfrm>
            <a:off x="2720037" y="3400425"/>
            <a:ext cx="180340" cy="384175"/>
          </a:xfrm>
          <a:custGeom>
            <a:avLst/>
            <a:gdLst/>
            <a:ahLst/>
            <a:cxnLst/>
            <a:rect l="l" t="t" r="r" b="b"/>
            <a:pathLst>
              <a:path w="180339" h="384175" extrusionOk="0">
                <a:moveTo>
                  <a:pt x="180205" y="384047"/>
                </a:moveTo>
                <a:lnTo>
                  <a:pt x="0" y="384047"/>
                </a:lnTo>
                <a:lnTo>
                  <a:pt x="0" y="0"/>
                </a:lnTo>
                <a:lnTo>
                  <a:pt x="180205" y="0"/>
                </a:lnTo>
                <a:lnTo>
                  <a:pt x="180205" y="384047"/>
                </a:lnTo>
                <a:close/>
              </a:path>
            </a:pathLst>
          </a:custGeom>
          <a:solidFill>
            <a:srgbClr val="FFFF00"/>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035" name="Google Shape;1035;p106"/>
          <p:cNvSpPr/>
          <p:nvPr/>
        </p:nvSpPr>
        <p:spPr>
          <a:xfrm>
            <a:off x="2208759" y="3914775"/>
            <a:ext cx="180340" cy="384175"/>
          </a:xfrm>
          <a:custGeom>
            <a:avLst/>
            <a:gdLst/>
            <a:ahLst/>
            <a:cxnLst/>
            <a:rect l="l" t="t" r="r" b="b"/>
            <a:pathLst>
              <a:path w="180339" h="384175" extrusionOk="0">
                <a:moveTo>
                  <a:pt x="180205" y="384047"/>
                </a:moveTo>
                <a:lnTo>
                  <a:pt x="0" y="384047"/>
                </a:lnTo>
                <a:lnTo>
                  <a:pt x="0" y="0"/>
                </a:lnTo>
                <a:lnTo>
                  <a:pt x="180205" y="0"/>
                </a:lnTo>
                <a:lnTo>
                  <a:pt x="180205" y="384047"/>
                </a:lnTo>
                <a:close/>
              </a:path>
            </a:pathLst>
          </a:custGeom>
          <a:solidFill>
            <a:srgbClr val="FFFF00"/>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036" name="Google Shape;1036;p106"/>
          <p:cNvSpPr/>
          <p:nvPr/>
        </p:nvSpPr>
        <p:spPr>
          <a:xfrm>
            <a:off x="2720037" y="3914775"/>
            <a:ext cx="180340" cy="384175"/>
          </a:xfrm>
          <a:custGeom>
            <a:avLst/>
            <a:gdLst/>
            <a:ahLst/>
            <a:cxnLst/>
            <a:rect l="l" t="t" r="r" b="b"/>
            <a:pathLst>
              <a:path w="180339" h="384175" extrusionOk="0">
                <a:moveTo>
                  <a:pt x="180205" y="384047"/>
                </a:moveTo>
                <a:lnTo>
                  <a:pt x="0" y="384047"/>
                </a:lnTo>
                <a:lnTo>
                  <a:pt x="0" y="0"/>
                </a:lnTo>
                <a:lnTo>
                  <a:pt x="180205" y="0"/>
                </a:lnTo>
                <a:lnTo>
                  <a:pt x="180205" y="384047"/>
                </a:lnTo>
                <a:close/>
              </a:path>
            </a:pathLst>
          </a:custGeom>
          <a:solidFill>
            <a:srgbClr val="FFFF00"/>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037" name="Google Shape;1037;p106"/>
          <p:cNvSpPr txBox="1"/>
          <p:nvPr/>
        </p:nvSpPr>
        <p:spPr>
          <a:xfrm>
            <a:off x="964547" y="1721383"/>
            <a:ext cx="4725670" cy="4127500"/>
          </a:xfrm>
          <a:prstGeom prst="rect">
            <a:avLst/>
          </a:prstGeom>
          <a:noFill/>
          <a:ln>
            <a:noFill/>
          </a:ln>
        </p:spPr>
        <p:txBody>
          <a:bodyPr spcFirstLastPara="1" wrap="square" lIns="0" tIns="93975" rIns="0" bIns="0" anchor="t" anchorCtr="0">
            <a:spAutoFit/>
          </a:bodyPr>
          <a:lstStyle/>
          <a:p>
            <a:pPr marL="187960" marR="0" lvl="0" indent="-177800" algn="l" rtl="0">
              <a:lnSpc>
                <a:spcPct val="100000"/>
              </a:lnSpc>
              <a:spcBef>
                <a:spcPts val="0"/>
              </a:spcBef>
              <a:spcAft>
                <a:spcPts val="0"/>
              </a:spcAft>
              <a:buClr>
                <a:schemeClr val="dk1"/>
              </a:buClr>
              <a:buSzPts val="2800"/>
              <a:buFont typeface="Arial"/>
              <a:buChar char="•"/>
            </a:pPr>
            <a:r>
              <a:rPr lang="en-US" sz="2800">
                <a:solidFill>
                  <a:schemeClr val="dk1"/>
                </a:solidFill>
                <a:latin typeface="Calibri"/>
                <a:ea typeface="Calibri"/>
                <a:cs typeface="Calibri"/>
                <a:sym typeface="Calibri"/>
              </a:rPr>
              <a:t>X02=X01+X12 =&gt;	Det + N -&gt; NP</a:t>
            </a:r>
            <a:endParaRPr sz="2800">
              <a:solidFill>
                <a:schemeClr val="dk1"/>
              </a:solidFill>
              <a:latin typeface="Calibri"/>
              <a:ea typeface="Calibri"/>
              <a:cs typeface="Calibri"/>
              <a:sym typeface="Calibri"/>
            </a:endParaRPr>
          </a:p>
          <a:p>
            <a:pPr marL="187960" marR="0" lvl="0" indent="-177800" algn="l" rtl="0">
              <a:lnSpc>
                <a:spcPct val="100000"/>
              </a:lnSpc>
              <a:spcBef>
                <a:spcPts val="640"/>
              </a:spcBef>
              <a:spcAft>
                <a:spcPts val="0"/>
              </a:spcAft>
              <a:buClr>
                <a:schemeClr val="dk1"/>
              </a:buClr>
              <a:buSzPts val="2800"/>
              <a:buFont typeface="Arial"/>
              <a:buChar char="•"/>
            </a:pPr>
            <a:r>
              <a:rPr lang="en-US" sz="2800">
                <a:solidFill>
                  <a:schemeClr val="dk1"/>
                </a:solidFill>
                <a:latin typeface="Calibri"/>
                <a:ea typeface="Calibri"/>
                <a:cs typeface="Calibri"/>
                <a:sym typeface="Calibri"/>
              </a:rPr>
              <a:t>X13=x12+x23=&gt;	N+V-&gt; nil</a:t>
            </a:r>
            <a:endParaRPr sz="2800">
              <a:solidFill>
                <a:schemeClr val="dk1"/>
              </a:solidFill>
              <a:latin typeface="Calibri"/>
              <a:ea typeface="Calibri"/>
              <a:cs typeface="Calibri"/>
              <a:sym typeface="Calibri"/>
            </a:endParaRPr>
          </a:p>
          <a:p>
            <a:pPr marL="0" marR="0" lvl="0" indent="0" algn="l" rtl="0">
              <a:lnSpc>
                <a:spcPct val="100000"/>
              </a:lnSpc>
              <a:spcBef>
                <a:spcPts val="40"/>
              </a:spcBef>
              <a:spcAft>
                <a:spcPts val="0"/>
              </a:spcAft>
              <a:buClr>
                <a:schemeClr val="dk1"/>
              </a:buClr>
              <a:buSzPts val="3850"/>
              <a:buFont typeface="Arial"/>
              <a:buNone/>
            </a:pPr>
            <a:endParaRPr sz="3850">
              <a:solidFill>
                <a:schemeClr val="dk1"/>
              </a:solidFill>
              <a:latin typeface="Calibri"/>
              <a:ea typeface="Calibri"/>
              <a:cs typeface="Calibri"/>
              <a:sym typeface="Calibri"/>
            </a:endParaRPr>
          </a:p>
          <a:p>
            <a:pPr marL="187960" marR="0" lvl="0" indent="-177800" algn="l" rtl="0">
              <a:lnSpc>
                <a:spcPct val="100000"/>
              </a:lnSpc>
              <a:spcBef>
                <a:spcPts val="0"/>
              </a:spcBef>
              <a:spcAft>
                <a:spcPts val="0"/>
              </a:spcAft>
              <a:buClr>
                <a:schemeClr val="dk1"/>
              </a:buClr>
              <a:buSzPts val="2800"/>
              <a:buFont typeface="Arial"/>
              <a:buChar char="•"/>
            </a:pPr>
            <a:r>
              <a:rPr lang="en-US" sz="2800">
                <a:solidFill>
                  <a:schemeClr val="dk1"/>
                </a:solidFill>
                <a:latin typeface="Calibri"/>
                <a:ea typeface="Calibri"/>
                <a:cs typeface="Calibri"/>
                <a:sym typeface="Calibri"/>
              </a:rPr>
              <a:t>X03=x01+x13=Det+-==-</a:t>
            </a:r>
            <a:endParaRPr sz="2800">
              <a:solidFill>
                <a:schemeClr val="dk1"/>
              </a:solidFill>
              <a:latin typeface="Calibri"/>
              <a:ea typeface="Calibri"/>
              <a:cs typeface="Calibri"/>
              <a:sym typeface="Calibri"/>
            </a:endParaRPr>
          </a:p>
          <a:p>
            <a:pPr marL="187960" marR="0" lvl="0" indent="-177800" algn="l" rtl="0">
              <a:lnSpc>
                <a:spcPct val="100000"/>
              </a:lnSpc>
              <a:spcBef>
                <a:spcPts val="690"/>
              </a:spcBef>
              <a:spcAft>
                <a:spcPts val="0"/>
              </a:spcAft>
              <a:buClr>
                <a:schemeClr val="dk1"/>
              </a:buClr>
              <a:buSzPts val="2800"/>
              <a:buFont typeface="Arial"/>
              <a:buChar char="•"/>
            </a:pPr>
            <a:r>
              <a:rPr lang="en-US" sz="2800">
                <a:solidFill>
                  <a:schemeClr val="dk1"/>
                </a:solidFill>
                <a:latin typeface="Calibri"/>
                <a:ea typeface="Calibri"/>
                <a:cs typeface="Calibri"/>
                <a:sym typeface="Calibri"/>
              </a:rPr>
              <a:t>X03=x02+x23=NP+V=-</a:t>
            </a:r>
            <a:endParaRPr sz="2800">
              <a:solidFill>
                <a:schemeClr val="dk1"/>
              </a:solidFill>
              <a:latin typeface="Calibri"/>
              <a:ea typeface="Calibri"/>
              <a:cs typeface="Calibri"/>
              <a:sym typeface="Calibri"/>
            </a:endParaRPr>
          </a:p>
          <a:p>
            <a:pPr marL="0" marR="0" lvl="0" indent="0" algn="l" rtl="0">
              <a:lnSpc>
                <a:spcPct val="100000"/>
              </a:lnSpc>
              <a:spcBef>
                <a:spcPts val="40"/>
              </a:spcBef>
              <a:spcAft>
                <a:spcPts val="0"/>
              </a:spcAft>
              <a:buClr>
                <a:schemeClr val="dk1"/>
              </a:buClr>
              <a:buSzPts val="3850"/>
              <a:buFont typeface="Arial"/>
              <a:buNone/>
            </a:pPr>
            <a:endParaRPr sz="3850">
              <a:solidFill>
                <a:schemeClr val="dk1"/>
              </a:solidFill>
              <a:latin typeface="Calibri"/>
              <a:ea typeface="Calibri"/>
              <a:cs typeface="Calibri"/>
              <a:sym typeface="Calibri"/>
            </a:endParaRPr>
          </a:p>
          <a:p>
            <a:pPr marL="187960" marR="0" lvl="0" indent="-177800" algn="l" rtl="0">
              <a:lnSpc>
                <a:spcPct val="100000"/>
              </a:lnSpc>
              <a:spcBef>
                <a:spcPts val="0"/>
              </a:spcBef>
              <a:spcAft>
                <a:spcPts val="0"/>
              </a:spcAft>
              <a:buClr>
                <a:schemeClr val="dk1"/>
              </a:buClr>
              <a:buSzPts val="2800"/>
              <a:buFont typeface="Arial"/>
              <a:buChar char="•"/>
            </a:pPr>
            <a:r>
              <a:rPr lang="en-US" sz="2800">
                <a:solidFill>
                  <a:schemeClr val="dk1"/>
                </a:solidFill>
                <a:latin typeface="Calibri"/>
                <a:ea typeface="Calibri"/>
                <a:cs typeface="Calibri"/>
                <a:sym typeface="Calibri"/>
              </a:rPr>
              <a:t>X14=x12+x24=N+-=-</a:t>
            </a:r>
            <a:endParaRPr sz="2800">
              <a:solidFill>
                <a:schemeClr val="dk1"/>
              </a:solidFill>
              <a:latin typeface="Calibri"/>
              <a:ea typeface="Calibri"/>
              <a:cs typeface="Calibri"/>
              <a:sym typeface="Calibri"/>
            </a:endParaRPr>
          </a:p>
          <a:p>
            <a:pPr marL="187960" marR="0" lvl="0" indent="-177800" algn="l" rtl="0">
              <a:lnSpc>
                <a:spcPct val="100000"/>
              </a:lnSpc>
              <a:spcBef>
                <a:spcPts val="690"/>
              </a:spcBef>
              <a:spcAft>
                <a:spcPts val="0"/>
              </a:spcAft>
              <a:buClr>
                <a:schemeClr val="dk1"/>
              </a:buClr>
              <a:buSzPts val="2800"/>
              <a:buFont typeface="Arial"/>
              <a:buChar char="•"/>
            </a:pPr>
            <a:r>
              <a:rPr lang="en-US" sz="2800">
                <a:solidFill>
                  <a:schemeClr val="dk1"/>
                </a:solidFill>
                <a:latin typeface="Calibri"/>
                <a:ea typeface="Calibri"/>
                <a:cs typeface="Calibri"/>
                <a:sym typeface="Calibri"/>
              </a:rPr>
              <a:t>X14=x13+x34=-</a:t>
            </a:r>
            <a:endParaRPr sz="2800">
              <a:solidFill>
                <a:schemeClr val="dk1"/>
              </a:solidFill>
              <a:latin typeface="Calibri"/>
              <a:ea typeface="Calibri"/>
              <a:cs typeface="Calibri"/>
              <a:sym typeface="Calibri"/>
            </a:endParaRPr>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showMasterSp="0">
  <p:cSld>
    <p:spTree>
      <p:nvGrpSpPr>
        <p:cNvPr id="1" name="Shape 1041"/>
        <p:cNvGrpSpPr/>
        <p:nvPr/>
      </p:nvGrpSpPr>
      <p:grpSpPr>
        <a:xfrm>
          <a:off x="0" y="0"/>
          <a:ext cx="0" cy="0"/>
          <a:chOff x="0" y="0"/>
          <a:chExt cx="0" cy="0"/>
        </a:xfrm>
      </p:grpSpPr>
      <p:sp>
        <p:nvSpPr>
          <p:cNvPr id="1042" name="Google Shape;1042;p107"/>
          <p:cNvSpPr txBox="1">
            <a:spLocks noGrp="1"/>
          </p:cNvSpPr>
          <p:nvPr>
            <p:ph type="title"/>
          </p:nvPr>
        </p:nvSpPr>
        <p:spPr>
          <a:xfrm>
            <a:off x="911225" y="639172"/>
            <a:ext cx="1873250" cy="69596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4400"/>
              <a:t>Exercise</a:t>
            </a:r>
            <a:endParaRPr sz="4400"/>
          </a:p>
        </p:txBody>
      </p:sp>
      <p:sp>
        <p:nvSpPr>
          <p:cNvPr id="1043" name="Google Shape;1043;p107"/>
          <p:cNvSpPr txBox="1"/>
          <p:nvPr/>
        </p:nvSpPr>
        <p:spPr>
          <a:xfrm>
            <a:off x="737159" y="1732645"/>
            <a:ext cx="297815" cy="4441825"/>
          </a:xfrm>
          <a:prstGeom prst="rect">
            <a:avLst/>
          </a:prstGeom>
          <a:noFill/>
          <a:ln>
            <a:noFill/>
          </a:ln>
        </p:spPr>
        <p:txBody>
          <a:bodyPr spcFirstLastPara="1" wrap="square" lIns="0" tIns="65400" rIns="0" bIns="0" anchor="t" anchorCtr="0">
            <a:spAutoFit/>
          </a:bodyPr>
          <a:lstStyle/>
          <a:p>
            <a:pPr marL="121285" marR="0" lvl="0" indent="0" algn="l" rtl="0">
              <a:lnSpc>
                <a:spcPct val="100000"/>
              </a:lnSpc>
              <a:spcBef>
                <a:spcPts val="0"/>
              </a:spcBef>
              <a:spcAft>
                <a:spcPts val="0"/>
              </a:spcAft>
              <a:buNone/>
            </a:pPr>
            <a:r>
              <a:rPr lang="en-US" sz="1550">
                <a:solidFill>
                  <a:schemeClr val="dk1"/>
                </a:solidFill>
                <a:latin typeface="Arial"/>
                <a:ea typeface="Arial"/>
                <a:cs typeface="Arial"/>
                <a:sym typeface="Arial"/>
              </a:rPr>
              <a:t>1.</a:t>
            </a:r>
            <a:endParaRPr sz="1550">
              <a:solidFill>
                <a:schemeClr val="dk1"/>
              </a:solidFill>
              <a:latin typeface="Arial"/>
              <a:ea typeface="Arial"/>
              <a:cs typeface="Arial"/>
              <a:sym typeface="Arial"/>
            </a:endParaRPr>
          </a:p>
          <a:p>
            <a:pPr marL="121285" marR="0" lvl="0" indent="0" algn="l" rtl="0">
              <a:lnSpc>
                <a:spcPct val="100000"/>
              </a:lnSpc>
              <a:spcBef>
                <a:spcPts val="415"/>
              </a:spcBef>
              <a:spcAft>
                <a:spcPts val="0"/>
              </a:spcAft>
              <a:buNone/>
            </a:pPr>
            <a:r>
              <a:rPr lang="en-US" sz="1550">
                <a:solidFill>
                  <a:srgbClr val="202124"/>
                </a:solidFill>
                <a:latin typeface="Arial"/>
                <a:ea typeface="Arial"/>
                <a:cs typeface="Arial"/>
                <a:sym typeface="Arial"/>
              </a:rPr>
              <a:t>2.</a:t>
            </a:r>
            <a:endParaRPr sz="1550">
              <a:solidFill>
                <a:schemeClr val="dk1"/>
              </a:solidFill>
              <a:latin typeface="Arial"/>
              <a:ea typeface="Arial"/>
              <a:cs typeface="Arial"/>
              <a:sym typeface="Arial"/>
            </a:endParaRPr>
          </a:p>
          <a:p>
            <a:pPr marL="121285" marR="0" lvl="0" indent="0" algn="l" rtl="0">
              <a:lnSpc>
                <a:spcPct val="100000"/>
              </a:lnSpc>
              <a:spcBef>
                <a:spcPts val="465"/>
              </a:spcBef>
              <a:spcAft>
                <a:spcPts val="0"/>
              </a:spcAft>
              <a:buNone/>
            </a:pPr>
            <a:r>
              <a:rPr lang="en-US" sz="1550">
                <a:solidFill>
                  <a:schemeClr val="dk1"/>
                </a:solidFill>
                <a:latin typeface="Arial"/>
                <a:ea typeface="Arial"/>
                <a:cs typeface="Arial"/>
                <a:sym typeface="Arial"/>
              </a:rPr>
              <a:t>3.</a:t>
            </a:r>
            <a:endParaRPr sz="1550">
              <a:solidFill>
                <a:schemeClr val="dk1"/>
              </a:solidFill>
              <a:latin typeface="Arial"/>
              <a:ea typeface="Arial"/>
              <a:cs typeface="Arial"/>
              <a:sym typeface="Arial"/>
            </a:endParaRPr>
          </a:p>
          <a:p>
            <a:pPr marL="121285" marR="0" lvl="0" indent="0" algn="l" rtl="0">
              <a:lnSpc>
                <a:spcPct val="100000"/>
              </a:lnSpc>
              <a:spcBef>
                <a:spcPts val="465"/>
              </a:spcBef>
              <a:spcAft>
                <a:spcPts val="0"/>
              </a:spcAft>
              <a:buNone/>
            </a:pPr>
            <a:r>
              <a:rPr lang="en-US" sz="1550">
                <a:solidFill>
                  <a:schemeClr val="dk1"/>
                </a:solidFill>
                <a:latin typeface="Arial"/>
                <a:ea typeface="Arial"/>
                <a:cs typeface="Arial"/>
                <a:sym typeface="Arial"/>
              </a:rPr>
              <a:t>4.</a:t>
            </a:r>
            <a:endParaRPr sz="1550">
              <a:solidFill>
                <a:schemeClr val="dk1"/>
              </a:solidFill>
              <a:latin typeface="Arial"/>
              <a:ea typeface="Arial"/>
              <a:cs typeface="Arial"/>
              <a:sym typeface="Arial"/>
            </a:endParaRPr>
          </a:p>
          <a:p>
            <a:pPr marL="121285" marR="0" lvl="0" indent="0" algn="l" rtl="0">
              <a:lnSpc>
                <a:spcPct val="100000"/>
              </a:lnSpc>
              <a:spcBef>
                <a:spcPts val="465"/>
              </a:spcBef>
              <a:spcAft>
                <a:spcPts val="0"/>
              </a:spcAft>
              <a:buNone/>
            </a:pPr>
            <a:r>
              <a:rPr lang="en-US" sz="1550">
                <a:solidFill>
                  <a:schemeClr val="dk1"/>
                </a:solidFill>
                <a:latin typeface="Arial"/>
                <a:ea typeface="Arial"/>
                <a:cs typeface="Arial"/>
                <a:sym typeface="Arial"/>
              </a:rPr>
              <a:t>5.</a:t>
            </a:r>
            <a:endParaRPr sz="1550">
              <a:solidFill>
                <a:schemeClr val="dk1"/>
              </a:solidFill>
              <a:latin typeface="Arial"/>
              <a:ea typeface="Arial"/>
              <a:cs typeface="Arial"/>
              <a:sym typeface="Arial"/>
            </a:endParaRPr>
          </a:p>
          <a:p>
            <a:pPr marL="121285" marR="0" lvl="0" indent="0" algn="l" rtl="0">
              <a:lnSpc>
                <a:spcPct val="100000"/>
              </a:lnSpc>
              <a:spcBef>
                <a:spcPts val="465"/>
              </a:spcBef>
              <a:spcAft>
                <a:spcPts val="0"/>
              </a:spcAft>
              <a:buNone/>
            </a:pPr>
            <a:r>
              <a:rPr lang="en-US" sz="1550">
                <a:solidFill>
                  <a:schemeClr val="dk1"/>
                </a:solidFill>
                <a:latin typeface="Arial"/>
                <a:ea typeface="Arial"/>
                <a:cs typeface="Arial"/>
                <a:sym typeface="Arial"/>
              </a:rPr>
              <a:t>6.</a:t>
            </a:r>
            <a:endParaRPr sz="1550">
              <a:solidFill>
                <a:schemeClr val="dk1"/>
              </a:solidFill>
              <a:latin typeface="Arial"/>
              <a:ea typeface="Arial"/>
              <a:cs typeface="Arial"/>
              <a:sym typeface="Arial"/>
            </a:endParaRPr>
          </a:p>
          <a:p>
            <a:pPr marL="121285" marR="0" lvl="0" indent="0" algn="l" rtl="0">
              <a:lnSpc>
                <a:spcPct val="100000"/>
              </a:lnSpc>
              <a:spcBef>
                <a:spcPts val="465"/>
              </a:spcBef>
              <a:spcAft>
                <a:spcPts val="0"/>
              </a:spcAft>
              <a:buNone/>
            </a:pPr>
            <a:r>
              <a:rPr lang="en-US" sz="1550">
                <a:solidFill>
                  <a:schemeClr val="dk1"/>
                </a:solidFill>
                <a:latin typeface="Arial"/>
                <a:ea typeface="Arial"/>
                <a:cs typeface="Arial"/>
                <a:sym typeface="Arial"/>
              </a:rPr>
              <a:t>7.</a:t>
            </a:r>
            <a:endParaRPr sz="1550">
              <a:solidFill>
                <a:schemeClr val="dk1"/>
              </a:solidFill>
              <a:latin typeface="Arial"/>
              <a:ea typeface="Arial"/>
              <a:cs typeface="Arial"/>
              <a:sym typeface="Arial"/>
            </a:endParaRPr>
          </a:p>
          <a:p>
            <a:pPr marL="121285" marR="0" lvl="0" indent="0" algn="l" rtl="0">
              <a:lnSpc>
                <a:spcPct val="100000"/>
              </a:lnSpc>
              <a:spcBef>
                <a:spcPts val="465"/>
              </a:spcBef>
              <a:spcAft>
                <a:spcPts val="0"/>
              </a:spcAft>
              <a:buNone/>
            </a:pPr>
            <a:r>
              <a:rPr lang="en-US" sz="1550">
                <a:solidFill>
                  <a:schemeClr val="dk1"/>
                </a:solidFill>
                <a:latin typeface="Arial"/>
                <a:ea typeface="Arial"/>
                <a:cs typeface="Arial"/>
                <a:sym typeface="Arial"/>
              </a:rPr>
              <a:t>8.</a:t>
            </a:r>
            <a:endParaRPr sz="1550">
              <a:solidFill>
                <a:schemeClr val="dk1"/>
              </a:solidFill>
              <a:latin typeface="Arial"/>
              <a:ea typeface="Arial"/>
              <a:cs typeface="Arial"/>
              <a:sym typeface="Arial"/>
            </a:endParaRPr>
          </a:p>
          <a:p>
            <a:pPr marL="121285" marR="0" lvl="0" indent="0" algn="l" rtl="0">
              <a:lnSpc>
                <a:spcPct val="100000"/>
              </a:lnSpc>
              <a:spcBef>
                <a:spcPts val="465"/>
              </a:spcBef>
              <a:spcAft>
                <a:spcPts val="0"/>
              </a:spcAft>
              <a:buNone/>
            </a:pPr>
            <a:r>
              <a:rPr lang="en-US" sz="1550">
                <a:solidFill>
                  <a:schemeClr val="dk1"/>
                </a:solidFill>
                <a:latin typeface="Arial"/>
                <a:ea typeface="Arial"/>
                <a:cs typeface="Arial"/>
                <a:sym typeface="Arial"/>
              </a:rPr>
              <a:t>9.</a:t>
            </a:r>
            <a:endParaRPr sz="1550">
              <a:solidFill>
                <a:schemeClr val="dk1"/>
              </a:solidFill>
              <a:latin typeface="Arial"/>
              <a:ea typeface="Arial"/>
              <a:cs typeface="Arial"/>
              <a:sym typeface="Arial"/>
            </a:endParaRPr>
          </a:p>
          <a:p>
            <a:pPr marL="12700" marR="0" lvl="0" indent="0" algn="l" rtl="0">
              <a:lnSpc>
                <a:spcPct val="100000"/>
              </a:lnSpc>
              <a:spcBef>
                <a:spcPts val="465"/>
              </a:spcBef>
              <a:spcAft>
                <a:spcPts val="0"/>
              </a:spcAft>
              <a:buNone/>
            </a:pPr>
            <a:r>
              <a:rPr lang="en-US" sz="1550">
                <a:solidFill>
                  <a:schemeClr val="dk1"/>
                </a:solidFill>
                <a:latin typeface="Arial"/>
                <a:ea typeface="Arial"/>
                <a:cs typeface="Arial"/>
                <a:sym typeface="Arial"/>
              </a:rPr>
              <a:t>10.</a:t>
            </a:r>
            <a:endParaRPr sz="1550">
              <a:solidFill>
                <a:schemeClr val="dk1"/>
              </a:solidFill>
              <a:latin typeface="Arial"/>
              <a:ea typeface="Arial"/>
              <a:cs typeface="Arial"/>
              <a:sym typeface="Arial"/>
            </a:endParaRPr>
          </a:p>
          <a:p>
            <a:pPr marL="12700" marR="0" lvl="0" indent="0" algn="l" rtl="0">
              <a:lnSpc>
                <a:spcPct val="100000"/>
              </a:lnSpc>
              <a:spcBef>
                <a:spcPts val="465"/>
              </a:spcBef>
              <a:spcAft>
                <a:spcPts val="0"/>
              </a:spcAft>
              <a:buNone/>
            </a:pPr>
            <a:r>
              <a:rPr lang="en-US" sz="1550">
                <a:solidFill>
                  <a:schemeClr val="dk1"/>
                </a:solidFill>
                <a:latin typeface="Arial"/>
                <a:ea typeface="Arial"/>
                <a:cs typeface="Arial"/>
                <a:sym typeface="Arial"/>
              </a:rPr>
              <a:t>11.</a:t>
            </a:r>
            <a:endParaRPr sz="1550">
              <a:solidFill>
                <a:schemeClr val="dk1"/>
              </a:solidFill>
              <a:latin typeface="Arial"/>
              <a:ea typeface="Arial"/>
              <a:cs typeface="Arial"/>
              <a:sym typeface="Arial"/>
            </a:endParaRPr>
          </a:p>
          <a:p>
            <a:pPr marL="12700" marR="0" lvl="0" indent="0" algn="l" rtl="0">
              <a:lnSpc>
                <a:spcPct val="100000"/>
              </a:lnSpc>
              <a:spcBef>
                <a:spcPts val="465"/>
              </a:spcBef>
              <a:spcAft>
                <a:spcPts val="0"/>
              </a:spcAft>
              <a:buNone/>
            </a:pPr>
            <a:r>
              <a:rPr lang="en-US" sz="1550">
                <a:solidFill>
                  <a:schemeClr val="dk1"/>
                </a:solidFill>
                <a:latin typeface="Arial"/>
                <a:ea typeface="Arial"/>
                <a:cs typeface="Arial"/>
                <a:sym typeface="Arial"/>
              </a:rPr>
              <a:t>12.</a:t>
            </a:r>
            <a:endParaRPr sz="1550">
              <a:solidFill>
                <a:schemeClr val="dk1"/>
              </a:solidFill>
              <a:latin typeface="Arial"/>
              <a:ea typeface="Arial"/>
              <a:cs typeface="Arial"/>
              <a:sym typeface="Arial"/>
            </a:endParaRPr>
          </a:p>
          <a:p>
            <a:pPr marL="12700" marR="0" lvl="0" indent="0" algn="l" rtl="0">
              <a:lnSpc>
                <a:spcPct val="100000"/>
              </a:lnSpc>
              <a:spcBef>
                <a:spcPts val="465"/>
              </a:spcBef>
              <a:spcAft>
                <a:spcPts val="0"/>
              </a:spcAft>
              <a:buNone/>
            </a:pPr>
            <a:r>
              <a:rPr lang="en-US" sz="1550">
                <a:solidFill>
                  <a:schemeClr val="dk1"/>
                </a:solidFill>
                <a:latin typeface="Arial"/>
                <a:ea typeface="Arial"/>
                <a:cs typeface="Arial"/>
                <a:sym typeface="Arial"/>
              </a:rPr>
              <a:t>13.</a:t>
            </a:r>
            <a:endParaRPr sz="1550">
              <a:solidFill>
                <a:schemeClr val="dk1"/>
              </a:solidFill>
              <a:latin typeface="Arial"/>
              <a:ea typeface="Arial"/>
              <a:cs typeface="Arial"/>
              <a:sym typeface="Arial"/>
            </a:endParaRPr>
          </a:p>
          <a:p>
            <a:pPr marL="12700" marR="0" lvl="0" indent="0" algn="l" rtl="0">
              <a:lnSpc>
                <a:spcPct val="100000"/>
              </a:lnSpc>
              <a:spcBef>
                <a:spcPts val="465"/>
              </a:spcBef>
              <a:spcAft>
                <a:spcPts val="0"/>
              </a:spcAft>
              <a:buNone/>
            </a:pPr>
            <a:r>
              <a:rPr lang="en-US" sz="1550">
                <a:solidFill>
                  <a:schemeClr val="dk1"/>
                </a:solidFill>
                <a:latin typeface="Arial"/>
                <a:ea typeface="Arial"/>
                <a:cs typeface="Arial"/>
                <a:sym typeface="Arial"/>
              </a:rPr>
              <a:t>14.</a:t>
            </a:r>
            <a:endParaRPr sz="1550">
              <a:solidFill>
                <a:schemeClr val="dk1"/>
              </a:solidFill>
              <a:latin typeface="Arial"/>
              <a:ea typeface="Arial"/>
              <a:cs typeface="Arial"/>
              <a:sym typeface="Arial"/>
            </a:endParaRPr>
          </a:p>
          <a:p>
            <a:pPr marL="12700" marR="0" lvl="0" indent="0" algn="l" rtl="0">
              <a:lnSpc>
                <a:spcPct val="100000"/>
              </a:lnSpc>
              <a:spcBef>
                <a:spcPts val="465"/>
              </a:spcBef>
              <a:spcAft>
                <a:spcPts val="0"/>
              </a:spcAft>
              <a:buNone/>
            </a:pPr>
            <a:r>
              <a:rPr lang="en-US" sz="1550">
                <a:solidFill>
                  <a:schemeClr val="dk1"/>
                </a:solidFill>
                <a:latin typeface="Arial"/>
                <a:ea typeface="Arial"/>
                <a:cs typeface="Arial"/>
                <a:sym typeface="Arial"/>
              </a:rPr>
              <a:t>15.</a:t>
            </a:r>
            <a:endParaRPr sz="1550">
              <a:solidFill>
                <a:schemeClr val="dk1"/>
              </a:solidFill>
              <a:latin typeface="Arial"/>
              <a:ea typeface="Arial"/>
              <a:cs typeface="Arial"/>
              <a:sym typeface="Arial"/>
            </a:endParaRPr>
          </a:p>
        </p:txBody>
      </p:sp>
      <p:sp>
        <p:nvSpPr>
          <p:cNvPr id="1044" name="Google Shape;1044;p107"/>
          <p:cNvSpPr txBox="1"/>
          <p:nvPr/>
        </p:nvSpPr>
        <p:spPr>
          <a:xfrm>
            <a:off x="1425575" y="1732645"/>
            <a:ext cx="8717280" cy="4441825"/>
          </a:xfrm>
          <a:prstGeom prst="rect">
            <a:avLst/>
          </a:prstGeom>
          <a:noFill/>
          <a:ln>
            <a:noFill/>
          </a:ln>
        </p:spPr>
        <p:txBody>
          <a:bodyPr spcFirstLastPara="1" wrap="square" lIns="0" tIns="65400" rIns="0" bIns="0" anchor="t" anchorCtr="0">
            <a:spAutoFit/>
          </a:bodyPr>
          <a:lstStyle/>
          <a:p>
            <a:pPr marL="12700" marR="0" lvl="0" indent="0" algn="l" rtl="0">
              <a:lnSpc>
                <a:spcPct val="100000"/>
              </a:lnSpc>
              <a:spcBef>
                <a:spcPts val="0"/>
              </a:spcBef>
              <a:spcAft>
                <a:spcPts val="0"/>
              </a:spcAft>
              <a:buNone/>
            </a:pPr>
            <a:r>
              <a:rPr lang="en-US" sz="1550">
                <a:solidFill>
                  <a:schemeClr val="dk1"/>
                </a:solidFill>
                <a:latin typeface="Calibri"/>
                <a:ea typeface="Calibri"/>
                <a:cs typeface="Calibri"/>
                <a:sym typeface="Calibri"/>
              </a:rPr>
              <a:t>The Sun rises in the east</a:t>
            </a:r>
            <a:endParaRPr sz="1550">
              <a:solidFill>
                <a:schemeClr val="dk1"/>
              </a:solidFill>
              <a:latin typeface="Calibri"/>
              <a:ea typeface="Calibri"/>
              <a:cs typeface="Calibri"/>
              <a:sym typeface="Calibri"/>
            </a:endParaRPr>
          </a:p>
          <a:p>
            <a:pPr marL="12700" marR="0" lvl="0" indent="0" algn="l" rtl="0">
              <a:lnSpc>
                <a:spcPct val="100000"/>
              </a:lnSpc>
              <a:spcBef>
                <a:spcPts val="415"/>
              </a:spcBef>
              <a:spcAft>
                <a:spcPts val="0"/>
              </a:spcAft>
              <a:buNone/>
            </a:pPr>
            <a:r>
              <a:rPr lang="en-US" sz="1550">
                <a:solidFill>
                  <a:srgbClr val="202124"/>
                </a:solidFill>
                <a:latin typeface="Roboto"/>
                <a:ea typeface="Roboto"/>
                <a:cs typeface="Roboto"/>
                <a:sym typeface="Roboto"/>
              </a:rPr>
              <a:t>S -&gt; NP VP VP -&gt; V PP PP -&gt; P NP NP -&gt; Det Noun Det -&gt; the Verb -&gt; rises Noun -&gt; sun | east Prep -&gt; in</a:t>
            </a:r>
            <a:endParaRPr sz="1550">
              <a:solidFill>
                <a:schemeClr val="dk1"/>
              </a:solidFill>
              <a:latin typeface="Roboto"/>
              <a:ea typeface="Roboto"/>
              <a:cs typeface="Roboto"/>
              <a:sym typeface="Roboto"/>
            </a:endParaRPr>
          </a:p>
          <a:p>
            <a:pPr marL="12700" marR="6744969" lvl="0" indent="0" algn="l" rtl="0">
              <a:lnSpc>
                <a:spcPct val="125000"/>
              </a:lnSpc>
              <a:spcBef>
                <a:spcPts val="0"/>
              </a:spcBef>
              <a:spcAft>
                <a:spcPts val="0"/>
              </a:spcAft>
              <a:buNone/>
            </a:pPr>
            <a:r>
              <a:rPr lang="en-US" sz="1550">
                <a:solidFill>
                  <a:schemeClr val="dk1"/>
                </a:solidFill>
                <a:latin typeface="Calibri"/>
                <a:ea typeface="Calibri"/>
                <a:cs typeface="Calibri"/>
                <a:sym typeface="Calibri"/>
              </a:rPr>
              <a:t>A pilot likes flying planes  S-&gt;NP + Vp</a:t>
            </a:r>
            <a:endParaRPr sz="1550">
              <a:solidFill>
                <a:schemeClr val="dk1"/>
              </a:solidFill>
              <a:latin typeface="Calibri"/>
              <a:ea typeface="Calibri"/>
              <a:cs typeface="Calibri"/>
              <a:sym typeface="Calibri"/>
            </a:endParaRPr>
          </a:p>
          <a:p>
            <a:pPr marL="12700" marR="7510144" lvl="0" indent="0" algn="l" rtl="0">
              <a:lnSpc>
                <a:spcPct val="125000"/>
              </a:lnSpc>
              <a:spcBef>
                <a:spcPts val="0"/>
              </a:spcBef>
              <a:spcAft>
                <a:spcPts val="0"/>
              </a:spcAft>
              <a:buNone/>
            </a:pPr>
            <a:r>
              <a:rPr lang="en-US" sz="1550">
                <a:solidFill>
                  <a:schemeClr val="dk1"/>
                </a:solidFill>
                <a:latin typeface="Calibri"/>
                <a:ea typeface="Calibri"/>
                <a:cs typeface="Calibri"/>
                <a:sym typeface="Calibri"/>
              </a:rPr>
              <a:t>vP-&gt;VGG+ NNS  Vp-&gt;vBZ+ NP  VP-&gt;VBZ+VP  NP-&gt; DT + NN  NP-&gt; JJ + NNS  DT -&gt; a</a:t>
            </a:r>
            <a:endParaRPr sz="1550">
              <a:solidFill>
                <a:schemeClr val="dk1"/>
              </a:solidFill>
              <a:latin typeface="Calibri"/>
              <a:ea typeface="Calibri"/>
              <a:cs typeface="Calibri"/>
              <a:sym typeface="Calibri"/>
            </a:endParaRPr>
          </a:p>
          <a:p>
            <a:pPr marL="12700" marR="7722234" lvl="0" indent="0" algn="l" rtl="0">
              <a:lnSpc>
                <a:spcPct val="125000"/>
              </a:lnSpc>
              <a:spcBef>
                <a:spcPts val="0"/>
              </a:spcBef>
              <a:spcAft>
                <a:spcPts val="0"/>
              </a:spcAft>
              <a:buNone/>
            </a:pPr>
            <a:r>
              <a:rPr lang="en-US" sz="1550">
                <a:solidFill>
                  <a:schemeClr val="dk1"/>
                </a:solidFill>
                <a:latin typeface="Calibri"/>
                <a:ea typeface="Calibri"/>
                <a:cs typeface="Calibri"/>
                <a:sym typeface="Calibri"/>
              </a:rPr>
              <a:t>NN-&gt; pilot  VBZ-&gt;likes  JJ-&gt; flying  VBG-&gt; flying</a:t>
            </a:r>
            <a:endParaRPr sz="1550">
              <a:solidFill>
                <a:schemeClr val="dk1"/>
              </a:solidFill>
              <a:latin typeface="Calibri"/>
              <a:ea typeface="Calibri"/>
              <a:cs typeface="Calibri"/>
              <a:sym typeface="Calibri"/>
            </a:endParaRPr>
          </a:p>
          <a:p>
            <a:pPr marL="12700" marR="0" lvl="0" indent="0" algn="l" rtl="0">
              <a:lnSpc>
                <a:spcPct val="100000"/>
              </a:lnSpc>
              <a:spcBef>
                <a:spcPts val="465"/>
              </a:spcBef>
              <a:spcAft>
                <a:spcPts val="0"/>
              </a:spcAft>
              <a:buNone/>
            </a:pPr>
            <a:r>
              <a:rPr lang="en-US" sz="1550">
                <a:solidFill>
                  <a:schemeClr val="dk1"/>
                </a:solidFill>
                <a:latin typeface="Calibri"/>
                <a:ea typeface="Calibri"/>
                <a:cs typeface="Calibri"/>
                <a:sym typeface="Calibri"/>
              </a:rPr>
              <a:t>NNS-&gt; planes</a:t>
            </a:r>
            <a:endParaRPr sz="1550">
              <a:solidFill>
                <a:schemeClr val="dk1"/>
              </a:solidFill>
              <a:latin typeface="Calibri"/>
              <a:ea typeface="Calibri"/>
              <a:cs typeface="Calibri"/>
              <a:sym typeface="Calibri"/>
            </a:endParaRPr>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showMasterSp="0">
  <p:cSld>
    <p:spTree>
      <p:nvGrpSpPr>
        <p:cNvPr id="1" name="Shape 1048"/>
        <p:cNvGrpSpPr/>
        <p:nvPr/>
      </p:nvGrpSpPr>
      <p:grpSpPr>
        <a:xfrm>
          <a:off x="0" y="0"/>
          <a:ext cx="0" cy="0"/>
          <a:chOff x="0" y="0"/>
          <a:chExt cx="0" cy="0"/>
        </a:xfrm>
      </p:grpSpPr>
      <p:sp>
        <p:nvSpPr>
          <p:cNvPr id="1049" name="Google Shape;1049;p108"/>
          <p:cNvSpPr txBox="1">
            <a:spLocks noGrp="1"/>
          </p:cNvSpPr>
          <p:nvPr>
            <p:ph type="title"/>
          </p:nvPr>
        </p:nvSpPr>
        <p:spPr>
          <a:xfrm>
            <a:off x="911225" y="639172"/>
            <a:ext cx="4583430" cy="69596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4400"/>
              <a:t>Probabilistic Parsing</a:t>
            </a:r>
            <a:endParaRPr sz="4400"/>
          </a:p>
        </p:txBody>
      </p:sp>
      <p:sp>
        <p:nvSpPr>
          <p:cNvPr id="1050" name="Google Shape;1050;p108"/>
          <p:cNvSpPr txBox="1"/>
          <p:nvPr/>
        </p:nvSpPr>
        <p:spPr>
          <a:xfrm>
            <a:off x="960539" y="1728104"/>
            <a:ext cx="9766935" cy="4165600"/>
          </a:xfrm>
          <a:prstGeom prst="rect">
            <a:avLst/>
          </a:prstGeom>
          <a:noFill/>
          <a:ln>
            <a:noFill/>
          </a:ln>
        </p:spPr>
        <p:txBody>
          <a:bodyPr spcFirstLastPara="1" wrap="square" lIns="0" tIns="57775" rIns="0" bIns="0" anchor="t" anchorCtr="0">
            <a:spAutoFit/>
          </a:bodyPr>
          <a:lstStyle/>
          <a:p>
            <a:pPr marL="191770" marR="0" lvl="0" indent="-179705" algn="l" rtl="0">
              <a:lnSpc>
                <a:spcPct val="100000"/>
              </a:lnSpc>
              <a:spcBef>
                <a:spcPts val="0"/>
              </a:spcBef>
              <a:spcAft>
                <a:spcPts val="0"/>
              </a:spcAft>
              <a:buClr>
                <a:schemeClr val="dk1"/>
              </a:buClr>
              <a:buSzPts val="2600"/>
              <a:buFont typeface="Arial"/>
              <a:buChar char="•"/>
            </a:pPr>
            <a:r>
              <a:rPr lang="en-US" sz="2600">
                <a:solidFill>
                  <a:schemeClr val="dk1"/>
                </a:solidFill>
                <a:latin typeface="Calibri"/>
                <a:ea typeface="Calibri"/>
                <a:cs typeface="Calibri"/>
                <a:sym typeface="Calibri"/>
              </a:rPr>
              <a:t>Statistical parser- stochastic tagger-hand parsed text</a:t>
            </a:r>
            <a:endParaRPr sz="2600">
              <a:solidFill>
                <a:schemeClr val="dk1"/>
              </a:solidFill>
              <a:latin typeface="Calibri"/>
              <a:ea typeface="Calibri"/>
              <a:cs typeface="Calibri"/>
              <a:sym typeface="Calibri"/>
            </a:endParaRPr>
          </a:p>
          <a:p>
            <a:pPr marL="191770" marR="0" lvl="0" indent="-179705" algn="l" rtl="0">
              <a:lnSpc>
                <a:spcPct val="100000"/>
              </a:lnSpc>
              <a:spcBef>
                <a:spcPts val="355"/>
              </a:spcBef>
              <a:spcAft>
                <a:spcPts val="0"/>
              </a:spcAft>
              <a:buClr>
                <a:schemeClr val="dk1"/>
              </a:buClr>
              <a:buSzPts val="2600"/>
              <a:buFont typeface="Arial"/>
              <a:buChar char="•"/>
            </a:pPr>
            <a:r>
              <a:rPr lang="en-US" sz="2600">
                <a:solidFill>
                  <a:schemeClr val="dk1"/>
                </a:solidFill>
                <a:latin typeface="Calibri"/>
                <a:ea typeface="Calibri"/>
                <a:cs typeface="Calibri"/>
                <a:sym typeface="Calibri"/>
              </a:rPr>
              <a:t>Assigning probabilities to possible parses of a sentence? Most likely</a:t>
            </a:r>
            <a:endParaRPr sz="2600">
              <a:solidFill>
                <a:schemeClr val="dk1"/>
              </a:solidFill>
              <a:latin typeface="Calibri"/>
              <a:ea typeface="Calibri"/>
              <a:cs typeface="Calibri"/>
              <a:sym typeface="Calibri"/>
            </a:endParaRPr>
          </a:p>
          <a:p>
            <a:pPr marL="191770" marR="0" lvl="0" indent="-179705" algn="l" rtl="0">
              <a:lnSpc>
                <a:spcPct val="100000"/>
              </a:lnSpc>
              <a:spcBef>
                <a:spcPts val="330"/>
              </a:spcBef>
              <a:spcAft>
                <a:spcPts val="0"/>
              </a:spcAft>
              <a:buClr>
                <a:schemeClr val="dk1"/>
              </a:buClr>
              <a:buSzPts val="2600"/>
              <a:buFont typeface="Arial"/>
              <a:buChar char="•"/>
            </a:pPr>
            <a:r>
              <a:rPr lang="en-US" sz="2600">
                <a:solidFill>
                  <a:schemeClr val="dk1"/>
                </a:solidFill>
                <a:latin typeface="Calibri"/>
                <a:ea typeface="Calibri"/>
                <a:cs typeface="Calibri"/>
                <a:sym typeface="Calibri"/>
              </a:rPr>
              <a:t>Find, Assign, Return</a:t>
            </a:r>
            <a:endParaRPr sz="2600">
              <a:solidFill>
                <a:schemeClr val="dk1"/>
              </a:solidFill>
              <a:latin typeface="Calibri"/>
              <a:ea typeface="Calibri"/>
              <a:cs typeface="Calibri"/>
              <a:sym typeface="Calibri"/>
            </a:endParaRPr>
          </a:p>
          <a:p>
            <a:pPr marL="191770" marR="0" lvl="0" indent="-179705" algn="l" rtl="0">
              <a:lnSpc>
                <a:spcPct val="100000"/>
              </a:lnSpc>
              <a:spcBef>
                <a:spcPts val="330"/>
              </a:spcBef>
              <a:spcAft>
                <a:spcPts val="0"/>
              </a:spcAft>
              <a:buClr>
                <a:schemeClr val="dk1"/>
              </a:buClr>
              <a:buSzPts val="2600"/>
              <a:buFont typeface="Arial"/>
              <a:buChar char="•"/>
            </a:pPr>
            <a:r>
              <a:rPr lang="en-US" sz="2600">
                <a:solidFill>
                  <a:schemeClr val="dk1"/>
                </a:solidFill>
                <a:latin typeface="Calibri"/>
                <a:ea typeface="Calibri"/>
                <a:cs typeface="Calibri"/>
                <a:sym typeface="Calibri"/>
              </a:rPr>
              <a:t>PCFG</a:t>
            </a:r>
            <a:endParaRPr sz="2600">
              <a:solidFill>
                <a:schemeClr val="dk1"/>
              </a:solidFill>
              <a:latin typeface="Calibri"/>
              <a:ea typeface="Calibri"/>
              <a:cs typeface="Calibri"/>
              <a:sym typeface="Calibri"/>
            </a:endParaRPr>
          </a:p>
          <a:p>
            <a:pPr marL="191770" marR="0" lvl="0" indent="-179705" algn="just" rtl="0">
              <a:lnSpc>
                <a:spcPct val="100000"/>
              </a:lnSpc>
              <a:spcBef>
                <a:spcPts val="330"/>
              </a:spcBef>
              <a:spcAft>
                <a:spcPts val="0"/>
              </a:spcAft>
              <a:buClr>
                <a:schemeClr val="dk1"/>
              </a:buClr>
              <a:buSzPts val="2600"/>
              <a:buFont typeface="Arial"/>
              <a:buChar char="•"/>
            </a:pPr>
            <a:r>
              <a:rPr lang="en-US" sz="2600">
                <a:solidFill>
                  <a:schemeClr val="dk1"/>
                </a:solidFill>
                <a:latin typeface="Calibri"/>
                <a:ea typeface="Calibri"/>
                <a:cs typeface="Calibri"/>
                <a:sym typeface="Calibri"/>
              </a:rPr>
              <a:t>Probabilistic parser? assign probabilities to parses.</a:t>
            </a:r>
            <a:endParaRPr sz="2600">
              <a:solidFill>
                <a:schemeClr val="dk1"/>
              </a:solidFill>
              <a:latin typeface="Calibri"/>
              <a:ea typeface="Calibri"/>
              <a:cs typeface="Calibri"/>
              <a:sym typeface="Calibri"/>
            </a:endParaRPr>
          </a:p>
          <a:p>
            <a:pPr marL="191770" marR="0" lvl="0" indent="-179705" algn="just" rtl="0">
              <a:lnSpc>
                <a:spcPct val="100000"/>
              </a:lnSpc>
              <a:spcBef>
                <a:spcPts val="330"/>
              </a:spcBef>
              <a:spcAft>
                <a:spcPts val="0"/>
              </a:spcAft>
              <a:buClr>
                <a:schemeClr val="dk1"/>
              </a:buClr>
              <a:buSzPts val="2600"/>
              <a:buFont typeface="Arial"/>
              <a:buChar char="•"/>
            </a:pPr>
            <a:r>
              <a:rPr lang="en-US" sz="2600">
                <a:solidFill>
                  <a:schemeClr val="dk1"/>
                </a:solidFill>
                <a:latin typeface="Calibri"/>
                <a:ea typeface="Calibri"/>
                <a:cs typeface="Calibri"/>
                <a:sym typeface="Calibri"/>
              </a:rPr>
              <a:t>A-&gt;α[p]</a:t>
            </a:r>
            <a:endParaRPr sz="2600">
              <a:solidFill>
                <a:schemeClr val="dk1"/>
              </a:solidFill>
              <a:latin typeface="Calibri"/>
              <a:ea typeface="Calibri"/>
              <a:cs typeface="Calibri"/>
              <a:sym typeface="Calibri"/>
            </a:endParaRPr>
          </a:p>
          <a:p>
            <a:pPr marL="191770" marR="5080" lvl="0" indent="-179705" algn="just" rtl="0">
              <a:lnSpc>
                <a:spcPct val="78900"/>
              </a:lnSpc>
              <a:spcBef>
                <a:spcPts val="990"/>
              </a:spcBef>
              <a:spcAft>
                <a:spcPts val="0"/>
              </a:spcAft>
              <a:buClr>
                <a:schemeClr val="dk1"/>
              </a:buClr>
              <a:buSzPts val="2600"/>
              <a:buFont typeface="Arial"/>
              <a:buChar char="•"/>
            </a:pPr>
            <a:r>
              <a:rPr lang="en-US" sz="2600">
                <a:solidFill>
                  <a:schemeClr val="dk1"/>
                </a:solidFill>
                <a:latin typeface="Calibri"/>
                <a:ea typeface="Calibri"/>
                <a:cs typeface="Calibri"/>
                <a:sym typeface="Calibri"/>
              </a:rPr>
              <a:t>PCFG is defined by pair(G,f) where G is a CFG and f is a positive function  defined over the set of rules such that, the probabilities associated with  rules expanding particular non terminal is 1</a:t>
            </a:r>
            <a:endParaRPr sz="2600">
              <a:solidFill>
                <a:schemeClr val="dk1"/>
              </a:solidFill>
              <a:latin typeface="Calibri"/>
              <a:ea typeface="Calibri"/>
              <a:cs typeface="Calibri"/>
              <a:sym typeface="Calibri"/>
            </a:endParaRPr>
          </a:p>
          <a:p>
            <a:pPr marL="191770" marR="0" lvl="0" indent="-179705" algn="just" rtl="0">
              <a:lnSpc>
                <a:spcPct val="100000"/>
              </a:lnSpc>
              <a:spcBef>
                <a:spcPts val="355"/>
              </a:spcBef>
              <a:spcAft>
                <a:spcPts val="0"/>
              </a:spcAft>
              <a:buClr>
                <a:schemeClr val="dk1"/>
              </a:buClr>
              <a:buSzPts val="2600"/>
              <a:buFont typeface="Arial"/>
              <a:buChar char="•"/>
            </a:pPr>
            <a:r>
              <a:rPr lang="en-US" sz="2600">
                <a:solidFill>
                  <a:schemeClr val="dk1"/>
                </a:solidFill>
                <a:latin typeface="Calibri"/>
                <a:ea typeface="Calibri"/>
                <a:cs typeface="Calibri"/>
                <a:sym typeface="Calibri"/>
              </a:rPr>
              <a:t>∑f(A-&gt;α)=1</a:t>
            </a:r>
            <a:endParaRPr sz="2600">
              <a:solidFill>
                <a:schemeClr val="dk1"/>
              </a:solidFill>
              <a:latin typeface="Calibri"/>
              <a:ea typeface="Calibri"/>
              <a:cs typeface="Calibri"/>
              <a:sym typeface="Calibri"/>
            </a:endParaRPr>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showMasterSp="0">
  <p:cSld>
    <p:spTree>
      <p:nvGrpSpPr>
        <p:cNvPr id="1" name="Shape 1054"/>
        <p:cNvGrpSpPr/>
        <p:nvPr/>
      </p:nvGrpSpPr>
      <p:grpSpPr>
        <a:xfrm>
          <a:off x="0" y="0"/>
          <a:ext cx="0" cy="0"/>
          <a:chOff x="0" y="0"/>
          <a:chExt cx="0" cy="0"/>
        </a:xfrm>
      </p:grpSpPr>
      <p:pic>
        <p:nvPicPr>
          <p:cNvPr id="1055" name="Google Shape;1055;p109"/>
          <p:cNvPicPr preferRelativeResize="0"/>
          <p:nvPr/>
        </p:nvPicPr>
        <p:blipFill rotWithShape="1">
          <a:blip r:embed="rId3">
            <a:alphaModFix/>
          </a:blip>
          <a:srcRect/>
          <a:stretch/>
        </p:blipFill>
        <p:spPr>
          <a:xfrm>
            <a:off x="2414587" y="2496344"/>
            <a:ext cx="7010399" cy="2962274"/>
          </a:xfrm>
          <a:prstGeom prst="rect">
            <a:avLst/>
          </a:prstGeom>
          <a:noFill/>
          <a:ln>
            <a:noFill/>
          </a:ln>
        </p:spPr>
      </p:pic>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showMasterSp="0">
  <p:cSld>
    <p:spTree>
      <p:nvGrpSpPr>
        <p:cNvPr id="1" name="Shape 1059"/>
        <p:cNvGrpSpPr/>
        <p:nvPr/>
      </p:nvGrpSpPr>
      <p:grpSpPr>
        <a:xfrm>
          <a:off x="0" y="0"/>
          <a:ext cx="0" cy="0"/>
          <a:chOff x="0" y="0"/>
          <a:chExt cx="0" cy="0"/>
        </a:xfrm>
      </p:grpSpPr>
      <p:pic>
        <p:nvPicPr>
          <p:cNvPr id="1060" name="Google Shape;1060;p110"/>
          <p:cNvPicPr preferRelativeResize="0"/>
          <p:nvPr/>
        </p:nvPicPr>
        <p:blipFill rotWithShape="1">
          <a:blip r:embed="rId3">
            <a:alphaModFix/>
          </a:blip>
          <a:srcRect/>
          <a:stretch/>
        </p:blipFill>
        <p:spPr>
          <a:xfrm>
            <a:off x="1630150" y="1468581"/>
            <a:ext cx="8585265" cy="4765962"/>
          </a:xfrm>
          <a:prstGeom prst="rect">
            <a:avLst/>
          </a:prstGeom>
          <a:noFill/>
          <a:ln>
            <a:noFill/>
          </a:ln>
        </p:spPr>
      </p:pic>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showMasterSp="0">
  <p:cSld>
    <p:spTree>
      <p:nvGrpSpPr>
        <p:cNvPr id="1" name="Shape 1064"/>
        <p:cNvGrpSpPr/>
        <p:nvPr/>
      </p:nvGrpSpPr>
      <p:grpSpPr>
        <a:xfrm>
          <a:off x="0" y="0"/>
          <a:ext cx="0" cy="0"/>
          <a:chOff x="0" y="0"/>
          <a:chExt cx="0" cy="0"/>
        </a:xfrm>
      </p:grpSpPr>
      <p:pic>
        <p:nvPicPr>
          <p:cNvPr id="1065" name="Google Shape;1065;p111"/>
          <p:cNvPicPr preferRelativeResize="0"/>
          <p:nvPr/>
        </p:nvPicPr>
        <p:blipFill rotWithShape="1">
          <a:blip r:embed="rId3">
            <a:alphaModFix/>
          </a:blip>
          <a:srcRect/>
          <a:stretch/>
        </p:blipFill>
        <p:spPr>
          <a:xfrm>
            <a:off x="2566987" y="1100137"/>
            <a:ext cx="7191374" cy="4733924"/>
          </a:xfrm>
          <a:prstGeom prst="rect">
            <a:avLst/>
          </a:prstGeom>
          <a:noFill/>
          <a:ln>
            <a:noFill/>
          </a:ln>
        </p:spPr>
      </p:pic>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showMasterSp="0">
  <p:cSld>
    <p:spTree>
      <p:nvGrpSpPr>
        <p:cNvPr id="1" name="Shape 1069"/>
        <p:cNvGrpSpPr/>
        <p:nvPr/>
      </p:nvGrpSpPr>
      <p:grpSpPr>
        <a:xfrm>
          <a:off x="0" y="0"/>
          <a:ext cx="0" cy="0"/>
          <a:chOff x="0" y="0"/>
          <a:chExt cx="0" cy="0"/>
        </a:xfrm>
      </p:grpSpPr>
      <p:pic>
        <p:nvPicPr>
          <p:cNvPr id="1070" name="Google Shape;1070;p112"/>
          <p:cNvPicPr preferRelativeResize="0"/>
          <p:nvPr/>
        </p:nvPicPr>
        <p:blipFill rotWithShape="1">
          <a:blip r:embed="rId3">
            <a:alphaModFix/>
          </a:blip>
          <a:srcRect/>
          <a:stretch/>
        </p:blipFill>
        <p:spPr>
          <a:xfrm>
            <a:off x="628073" y="1825625"/>
            <a:ext cx="10861962" cy="4351337"/>
          </a:xfrm>
          <a:prstGeom prst="rect">
            <a:avLst/>
          </a:prstGeom>
          <a:noFill/>
          <a:ln>
            <a:noFill/>
          </a:ln>
        </p:spPr>
      </p:pic>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showMasterSp="0">
  <p:cSld>
    <p:spTree>
      <p:nvGrpSpPr>
        <p:cNvPr id="1" name="Shape 1074"/>
        <p:cNvGrpSpPr/>
        <p:nvPr/>
      </p:nvGrpSpPr>
      <p:grpSpPr>
        <a:xfrm>
          <a:off x="0" y="0"/>
          <a:ext cx="0" cy="0"/>
          <a:chOff x="0" y="0"/>
          <a:chExt cx="0" cy="0"/>
        </a:xfrm>
      </p:grpSpPr>
      <p:pic>
        <p:nvPicPr>
          <p:cNvPr id="1075" name="Google Shape;1075;p113"/>
          <p:cNvPicPr preferRelativeResize="0"/>
          <p:nvPr/>
        </p:nvPicPr>
        <p:blipFill rotWithShape="1">
          <a:blip r:embed="rId3">
            <a:alphaModFix/>
          </a:blip>
          <a:srcRect/>
          <a:stretch/>
        </p:blipFill>
        <p:spPr>
          <a:xfrm>
            <a:off x="600364" y="642937"/>
            <a:ext cx="10972799" cy="5572124"/>
          </a:xfrm>
          <a:prstGeom prst="rect">
            <a:avLst/>
          </a:prstGeom>
          <a:noFill/>
          <a:ln>
            <a:noFill/>
          </a:ln>
        </p:spPr>
      </p:pic>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showMasterSp="0">
  <p:cSld>
    <p:spTree>
      <p:nvGrpSpPr>
        <p:cNvPr id="1" name="Shape 1079"/>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596</TotalTime>
  <Words>8923</Words>
  <Application>Microsoft Office PowerPoint</Application>
  <PresentationFormat>Custom</PresentationFormat>
  <Paragraphs>1060</Paragraphs>
  <Slides>114</Slides>
  <Notes>114</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114</vt:i4>
      </vt:variant>
    </vt:vector>
  </HeadingPairs>
  <TitlesOfParts>
    <vt:vector size="121" baseType="lpstr">
      <vt:lpstr>Arial</vt:lpstr>
      <vt:lpstr>Times New Roman</vt:lpstr>
      <vt:lpstr>Calibri</vt:lpstr>
      <vt:lpstr>Lucida Sans</vt:lpstr>
      <vt:lpstr>Courier New</vt:lpstr>
      <vt:lpstr>Roboto</vt:lpstr>
      <vt:lpstr>Office Theme</vt:lpstr>
      <vt:lpstr>Module 2  WORD LEVEL ANALYSIS</vt:lpstr>
      <vt:lpstr>INTRODUCTION</vt:lpstr>
      <vt:lpstr>Regular Expressions</vt:lpstr>
      <vt:lpstr>Regular Expressions</vt:lpstr>
      <vt:lpstr>Character Classes</vt:lpstr>
      <vt:lpstr>Character Classes</vt:lpstr>
      <vt:lpstr>Character Classes</vt:lpstr>
      <vt:lpstr>Character Classes</vt:lpstr>
      <vt:lpstr>RE-Character Classes</vt:lpstr>
      <vt:lpstr>RE-Character Classes</vt:lpstr>
      <vt:lpstr>Morphological Parsing</vt:lpstr>
      <vt:lpstr>Morphological Parsing</vt:lpstr>
      <vt:lpstr>Morphological Parsing</vt:lpstr>
      <vt:lpstr>Morphological Parsing</vt:lpstr>
      <vt:lpstr>Morphological Parsing</vt:lpstr>
      <vt:lpstr>Morphological Parsing</vt:lpstr>
      <vt:lpstr>Morphological Parsing</vt:lpstr>
      <vt:lpstr>Morphological Parsing</vt:lpstr>
      <vt:lpstr>Morphological Parsing</vt:lpstr>
      <vt:lpstr>Morphological Parsing</vt:lpstr>
      <vt:lpstr>Morphological Parsing</vt:lpstr>
      <vt:lpstr>Morphological Parsing</vt:lpstr>
      <vt:lpstr>Morphological Parsing</vt:lpstr>
      <vt:lpstr>Morphological Parsing</vt:lpstr>
      <vt:lpstr>Morphological Parsing</vt:lpstr>
      <vt:lpstr>Morphological Parsing</vt:lpstr>
      <vt:lpstr>Morphological Parsing</vt:lpstr>
      <vt:lpstr>Spelling Error Detection and Correction</vt:lpstr>
      <vt:lpstr>Spelling Error Detection and Correction</vt:lpstr>
      <vt:lpstr>Spelling Error Detection and Correction</vt:lpstr>
      <vt:lpstr>Spelling Error Detection and Correction</vt:lpstr>
      <vt:lpstr>Spelling Error Detection and Correction</vt:lpstr>
      <vt:lpstr>SPELLING CORRECTION</vt:lpstr>
      <vt:lpstr>SPELLING ERROR CORRECTION ALGORITHM</vt:lpstr>
      <vt:lpstr>SPELLING ERROR CORRECTION ALGORITHM</vt:lpstr>
      <vt:lpstr>Minimum Edit Distance</vt:lpstr>
      <vt:lpstr>Minimum Edit Distance</vt:lpstr>
      <vt:lpstr>Minimum Edit Distance</vt:lpstr>
      <vt:lpstr>Minimum Edit Distance Algorithm</vt:lpstr>
      <vt:lpstr>Computation</vt:lpstr>
      <vt:lpstr>PowerPoint Presentation</vt:lpstr>
      <vt:lpstr>Homework</vt:lpstr>
      <vt:lpstr>Parts of Speech Tagging</vt:lpstr>
      <vt:lpstr>WORD AND WORD CLASSES</vt:lpstr>
      <vt:lpstr>Parts of Speech Tagging</vt:lpstr>
      <vt:lpstr>Parts of Speech Tagging</vt:lpstr>
      <vt:lpstr>Parts of Speech Tagging</vt:lpstr>
      <vt:lpstr>Parts of Speech Tagging</vt:lpstr>
      <vt:lpstr>Parts of Speech Tagging</vt:lpstr>
      <vt:lpstr>Parts of Speech Tagging</vt:lpstr>
      <vt:lpstr>Parts of Speech Tagging</vt:lpstr>
      <vt:lpstr>Parts of Speech Tagging</vt:lpstr>
      <vt:lpstr>Parts of Speech Tagging</vt:lpstr>
      <vt:lpstr>Parts of Speech Tagging</vt:lpstr>
      <vt:lpstr>Parts of Speech Tagging</vt:lpstr>
      <vt:lpstr>Parts of Speech Tagging</vt:lpstr>
      <vt:lpstr>Parts of Speech Tagging</vt:lpstr>
      <vt:lpstr>Parts of Speech Tagging- Hybrid Tagger</vt:lpstr>
      <vt:lpstr>Parts of Speech Tagging</vt:lpstr>
      <vt:lpstr>Parts of Speech Tagging</vt:lpstr>
      <vt:lpstr>Parts of Speech Tagging</vt:lpstr>
      <vt:lpstr>Parts of Speech Tagging</vt:lpstr>
      <vt:lpstr>Unknown words</vt:lpstr>
      <vt:lpstr>Chapter 2: Syntactic Analysis</vt:lpstr>
      <vt:lpstr>Context Free Grammar</vt:lpstr>
      <vt:lpstr>CFG</vt:lpstr>
      <vt:lpstr>Constituency</vt:lpstr>
      <vt:lpstr>PowerPoint Presentation</vt:lpstr>
      <vt:lpstr>Noun Phrase</vt:lpstr>
      <vt:lpstr>Noun phrase</vt:lpstr>
      <vt:lpstr>Noun phrase</vt:lpstr>
      <vt:lpstr>Verb Phrase</vt:lpstr>
      <vt:lpstr>Prepositional, Adjective phrases</vt:lpstr>
      <vt:lpstr>Adverb Phrase</vt:lpstr>
      <vt:lpstr>Sentence Level construction:</vt:lpstr>
      <vt:lpstr>Sentence Level construction:</vt:lpstr>
      <vt:lpstr>Sentence Level construction:</vt:lpstr>
      <vt:lpstr>Sentence Level construction:</vt:lpstr>
      <vt:lpstr>Coordination</vt:lpstr>
      <vt:lpstr>Agreement</vt:lpstr>
      <vt:lpstr>Feature Structures</vt:lpstr>
      <vt:lpstr>Feature Structures</vt:lpstr>
      <vt:lpstr>Feature Structures</vt:lpstr>
      <vt:lpstr>PowerPoint Presentation</vt:lpstr>
      <vt:lpstr>PowerPoint Presentation</vt:lpstr>
      <vt:lpstr>Top down parsing</vt:lpstr>
      <vt:lpstr>PowerPoint Presentation</vt:lpstr>
      <vt:lpstr>PowerPoint Presentation</vt:lpstr>
      <vt:lpstr>PowerPoint Presentation</vt:lpstr>
      <vt:lpstr>Bottom – up parsing</vt:lpstr>
      <vt:lpstr>PowerPoint Presentation</vt:lpstr>
      <vt:lpstr>A Basic Top - Down Parser:</vt:lpstr>
      <vt:lpstr>Open the door</vt:lpstr>
      <vt:lpstr>Ambiguity</vt:lpstr>
      <vt:lpstr>Ambiguity</vt:lpstr>
      <vt:lpstr>Earley Parser</vt:lpstr>
      <vt:lpstr>Earley Parser</vt:lpstr>
      <vt:lpstr>Earley Parser</vt:lpstr>
      <vt:lpstr>PowerPoint Presentation</vt:lpstr>
      <vt:lpstr>PowerPoint Presentation</vt:lpstr>
      <vt:lpstr>CYK Algorithm</vt:lpstr>
      <vt:lpstr>CYK Algorithm</vt:lpstr>
      <vt:lpstr>CYK Algorithm</vt:lpstr>
      <vt:lpstr>PowerPoint Presentation</vt:lpstr>
      <vt:lpstr>CYK Algorithm  The Girl</vt:lpstr>
      <vt:lpstr>CYK Algorithm</vt:lpstr>
      <vt:lpstr>Exercise</vt:lpstr>
      <vt:lpstr>Probabilistic Parsing</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2  WORD LEVEL ANALYSIS</dc:title>
  <cp:lastModifiedBy>mareddy charan</cp:lastModifiedBy>
  <cp:revision>7</cp:revision>
  <dcterms:created xsi:type="dcterms:W3CDTF">2022-11-03T01:17:42Z</dcterms:created>
  <dcterms:modified xsi:type="dcterms:W3CDTF">2025-07-05T12:09:43Z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or">
    <vt:lpwstr>Google</vt:lpwstr>
  </property>
</Properties>
</file>
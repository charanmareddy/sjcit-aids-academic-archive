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6" r:id="rId2"/>
  </p:sldMasterIdLst>
  <p:notesMasterIdLst>
    <p:notesMasterId r:id="rId8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Lst>
  <p:sldSz cx="9144000" cy="5143500" type="screen16x9"/>
  <p:notesSz cx="6858000" cy="9144000"/>
  <p:embeddedFontLst>
    <p:embeddedFont>
      <p:font typeface="Corbel" panose="020B0503020204020204" pitchFamily="34"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7" roundtripDataSignature="AMtx7mi/PUXc8DDmXwkvb/iIR9UBuGNlR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D4F73EF-A10F-4452-B2EA-171B12026A2E}">
  <a:tblStyle styleId="{0D4F73EF-A10F-4452-B2EA-171B12026A2E}" styleName="Table_0">
    <a:wholeTbl>
      <a:tcTxStyle b="off" i="off">
        <a:font>
          <a:latin typeface="Corbel"/>
          <a:ea typeface="Corbel"/>
          <a:cs typeface="Corbe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b="off" i="off"/>
      <a:tcStyle>
        <a:tcBdr/>
      </a:tcStyle>
    </a:seCell>
    <a:swCell>
      <a:tcTxStyle b="off" i="off"/>
      <a:tcStyle>
        <a:tcBdr/>
      </a:tcStyle>
    </a:swCell>
    <a:firstRow>
      <a:tcTxStyle b="on" i="off"/>
      <a:tcStyle>
        <a:tcBdr/>
        <a:fill>
          <a:solidFill>
            <a:srgbClr val="E6E6E6"/>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font" Target="fonts/font1.fntdata"/><Relationship Id="rId97" Type="http://customschemas.google.com/relationships/presentationmetadata" Target="meta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8"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4431074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967ca3c76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1967ca3c76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967ca3c76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1967ca3c76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967ca3c761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g1967ca3c761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967ca3c76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1967ca3c761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4" name="Google Shape;304;p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0" name="Google Shape;310;p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4" name="Google Shape;33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 name="Google Shape;345;p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6" name="Google Shape;366;p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8" name="Google Shape;37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4" name="Google Shape;384;p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2" name="Google Shape;392;p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0" name="Google Shape;430;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3" name="Google Shape;443;p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9" name="Google Shape;449;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6" name="Google Shape;456;p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2" name="Google Shape;462;p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19bd9a50099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8" name="Google Shape;468;g19bd9a50099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4" name="Google Shape;474;p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0" name="Google Shape;48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6" name="Google Shape;486;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6" name="Google Shape;506;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4" name="Google Shape;514;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6" name="Google Shape;52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2" name="Google Shape;532;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8" name="Google Shape;53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4" name="Google Shape;544;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0" name="Google Shape;550;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6" name="Google Shape;556;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8" name="Google Shape;608;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4" name="Google Shape;614;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1" name="Google Shape;621;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0" name="Google Shape;630;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7" name="Google Shape;637;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9" name="Google Shape;64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5" name="Google Shape;655;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1" name="Google Shape;661;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7" name="Google Shape;667;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4" name="Google Shape;674;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2000">
                <a:latin typeface="Times New Roman"/>
                <a:ea typeface="Times New Roman"/>
                <a:cs typeface="Times New Roman"/>
                <a:sym typeface="Times New Roman"/>
              </a:rPr>
              <a:t>Hypernym - </a:t>
            </a:r>
            <a:r>
              <a:rPr lang="en" sz="1950">
                <a:solidFill>
                  <a:srgbClr val="202124"/>
                </a:solidFill>
                <a:highlight>
                  <a:srgbClr val="FFFFFF"/>
                </a:highlight>
                <a:latin typeface="Times New Roman"/>
                <a:ea typeface="Times New Roman"/>
                <a:cs typeface="Times New Roman"/>
                <a:sym typeface="Times New Roman"/>
              </a:rPr>
              <a:t>a word with a broad meaning constituting a category into which words with more specific meanings fall; a superordinate. For example, </a:t>
            </a:r>
            <a:r>
              <a:rPr lang="en" sz="1950" i="1">
                <a:solidFill>
                  <a:srgbClr val="202124"/>
                </a:solidFill>
                <a:highlight>
                  <a:srgbClr val="FFFFFF"/>
                </a:highlight>
                <a:latin typeface="Times New Roman"/>
                <a:ea typeface="Times New Roman"/>
                <a:cs typeface="Times New Roman"/>
                <a:sym typeface="Times New Roman"/>
              </a:rPr>
              <a:t>colour</a:t>
            </a:r>
            <a:r>
              <a:rPr lang="en" sz="1950">
                <a:solidFill>
                  <a:srgbClr val="202124"/>
                </a:solidFill>
                <a:highlight>
                  <a:srgbClr val="FFFFFF"/>
                </a:highlight>
                <a:latin typeface="Times New Roman"/>
                <a:ea typeface="Times New Roman"/>
                <a:cs typeface="Times New Roman"/>
                <a:sym typeface="Times New Roman"/>
              </a:rPr>
              <a:t> is a hypernym of </a:t>
            </a:r>
            <a:r>
              <a:rPr lang="en" sz="1950" i="1">
                <a:solidFill>
                  <a:srgbClr val="202124"/>
                </a:solidFill>
                <a:highlight>
                  <a:srgbClr val="FFFFFF"/>
                </a:highlight>
                <a:latin typeface="Times New Roman"/>
                <a:ea typeface="Times New Roman"/>
                <a:cs typeface="Times New Roman"/>
                <a:sym typeface="Times New Roman"/>
              </a:rPr>
              <a:t>red</a:t>
            </a:r>
            <a:r>
              <a:rPr lang="en" sz="1950">
                <a:solidFill>
                  <a:srgbClr val="202124"/>
                </a:solidFill>
                <a:highlight>
                  <a:srgbClr val="FFFFFF"/>
                </a:highlight>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 name="Google Shape;681;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2000">
                <a:latin typeface="Times New Roman"/>
                <a:ea typeface="Times New Roman"/>
                <a:cs typeface="Times New Roman"/>
                <a:sym typeface="Times New Roman"/>
              </a:rPr>
              <a:t>Hypernym - </a:t>
            </a:r>
            <a:r>
              <a:rPr lang="en" sz="1950">
                <a:solidFill>
                  <a:srgbClr val="202124"/>
                </a:solidFill>
                <a:highlight>
                  <a:srgbClr val="FFFFFF"/>
                </a:highlight>
                <a:latin typeface="Times New Roman"/>
                <a:ea typeface="Times New Roman"/>
                <a:cs typeface="Times New Roman"/>
                <a:sym typeface="Times New Roman"/>
              </a:rPr>
              <a:t>a word with a broad meaning constituting a category into which words with more specific meanings fall; a superordinate. For example, </a:t>
            </a:r>
            <a:r>
              <a:rPr lang="en" sz="1950" i="1">
                <a:solidFill>
                  <a:srgbClr val="202124"/>
                </a:solidFill>
                <a:highlight>
                  <a:srgbClr val="FFFFFF"/>
                </a:highlight>
                <a:latin typeface="Times New Roman"/>
                <a:ea typeface="Times New Roman"/>
                <a:cs typeface="Times New Roman"/>
                <a:sym typeface="Times New Roman"/>
              </a:rPr>
              <a:t>colour</a:t>
            </a:r>
            <a:r>
              <a:rPr lang="en" sz="1950">
                <a:solidFill>
                  <a:srgbClr val="202124"/>
                </a:solidFill>
                <a:highlight>
                  <a:srgbClr val="FFFFFF"/>
                </a:highlight>
                <a:latin typeface="Times New Roman"/>
                <a:ea typeface="Times New Roman"/>
                <a:cs typeface="Times New Roman"/>
                <a:sym typeface="Times New Roman"/>
              </a:rPr>
              <a:t> is a hypernym of </a:t>
            </a:r>
            <a:r>
              <a:rPr lang="en" sz="1950" i="1">
                <a:solidFill>
                  <a:srgbClr val="202124"/>
                </a:solidFill>
                <a:highlight>
                  <a:srgbClr val="FFFFFF"/>
                </a:highlight>
                <a:latin typeface="Times New Roman"/>
                <a:ea typeface="Times New Roman"/>
                <a:cs typeface="Times New Roman"/>
                <a:sym typeface="Times New Roman"/>
              </a:rPr>
              <a:t>red</a:t>
            </a:r>
            <a:r>
              <a:rPr lang="en" sz="1950">
                <a:solidFill>
                  <a:srgbClr val="202124"/>
                </a:solidFill>
                <a:highlight>
                  <a:srgbClr val="FFFFFF"/>
                </a:highlight>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8" name="Google Shape;688;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2000">
                <a:latin typeface="Times New Roman"/>
                <a:ea typeface="Times New Roman"/>
                <a:cs typeface="Times New Roman"/>
                <a:sym typeface="Times New Roman"/>
              </a:rPr>
              <a:t>Hypernym - </a:t>
            </a:r>
            <a:r>
              <a:rPr lang="en" sz="1950">
                <a:solidFill>
                  <a:srgbClr val="202124"/>
                </a:solidFill>
                <a:highlight>
                  <a:srgbClr val="FFFFFF"/>
                </a:highlight>
                <a:latin typeface="Times New Roman"/>
                <a:ea typeface="Times New Roman"/>
                <a:cs typeface="Times New Roman"/>
                <a:sym typeface="Times New Roman"/>
              </a:rPr>
              <a:t>a word with a broad meaning constituting a category into which words with more specific meanings fall; a superordinate. For example, </a:t>
            </a:r>
            <a:r>
              <a:rPr lang="en" sz="1950" i="1">
                <a:solidFill>
                  <a:srgbClr val="202124"/>
                </a:solidFill>
                <a:highlight>
                  <a:srgbClr val="FFFFFF"/>
                </a:highlight>
                <a:latin typeface="Times New Roman"/>
                <a:ea typeface="Times New Roman"/>
                <a:cs typeface="Times New Roman"/>
                <a:sym typeface="Times New Roman"/>
              </a:rPr>
              <a:t>colour</a:t>
            </a:r>
            <a:r>
              <a:rPr lang="en" sz="1950">
                <a:solidFill>
                  <a:srgbClr val="202124"/>
                </a:solidFill>
                <a:highlight>
                  <a:srgbClr val="FFFFFF"/>
                </a:highlight>
                <a:latin typeface="Times New Roman"/>
                <a:ea typeface="Times New Roman"/>
                <a:cs typeface="Times New Roman"/>
                <a:sym typeface="Times New Roman"/>
              </a:rPr>
              <a:t> is a hypernym of </a:t>
            </a:r>
            <a:r>
              <a:rPr lang="en" sz="1950" i="1">
                <a:solidFill>
                  <a:srgbClr val="202124"/>
                </a:solidFill>
                <a:highlight>
                  <a:srgbClr val="FFFFFF"/>
                </a:highlight>
                <a:latin typeface="Times New Roman"/>
                <a:ea typeface="Times New Roman"/>
                <a:cs typeface="Times New Roman"/>
                <a:sym typeface="Times New Roman"/>
              </a:rPr>
              <a:t>red</a:t>
            </a:r>
            <a:r>
              <a:rPr lang="en" sz="1950">
                <a:solidFill>
                  <a:srgbClr val="202124"/>
                </a:solidFill>
                <a:highlight>
                  <a:srgbClr val="FFFFFF"/>
                </a:highlight>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5" name="Google Shape;695;p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1a3ae545d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g1a3ae545d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7" name="Google Shape;707;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3" name="Google Shape;713;p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9" name="Google Shape;719;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5" name="Google Shape;725;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1" name="Google Shape;731;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7" name="Google Shape;737;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3" name="Google Shape;743;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9" name="Google Shape;749;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8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82"/>
          <p:cNvSpPr txBox="1">
            <a:spLocks noGrp="1"/>
          </p:cNvSpPr>
          <p:nvPr>
            <p:ph type="body" idx="1"/>
          </p:nvPr>
        </p:nvSpPr>
        <p:spPr>
          <a:xfrm>
            <a:off x="840000" y="1369219"/>
            <a:ext cx="76755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4" name="Google Shape;14;p8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8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8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pic>
        <p:nvPicPr>
          <p:cNvPr id="17" name="Google Shape;17;p82"/>
          <p:cNvPicPr preferRelativeResize="0"/>
          <p:nvPr/>
        </p:nvPicPr>
        <p:blipFill rotWithShape="1">
          <a:blip r:embed="rId2">
            <a:alphaModFix/>
          </a:blip>
          <a:srcRect/>
          <a:stretch/>
        </p:blipFill>
        <p:spPr>
          <a:xfrm>
            <a:off x="8293894" y="0"/>
            <a:ext cx="850107" cy="457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95"/>
          <p:cNvSpPr txBox="1">
            <a:spLocks noGrp="1"/>
          </p:cNvSpPr>
          <p:nvPr>
            <p:ph type="ctrTitle"/>
          </p:nvPr>
        </p:nvSpPr>
        <p:spPr>
          <a:xfrm>
            <a:off x="1657350" y="3348021"/>
            <a:ext cx="6858000" cy="1231200"/>
          </a:xfrm>
          <a:prstGeom prst="rect">
            <a:avLst/>
          </a:prstGeom>
          <a:noFill/>
          <a:ln>
            <a:noFill/>
          </a:ln>
        </p:spPr>
        <p:txBody>
          <a:bodyPr spcFirstLastPara="1" wrap="square" lIns="68575" tIns="34275" rIns="68575" bIns="34275" anchor="t" anchorCtr="0">
            <a:normAutofit/>
          </a:bodyPr>
          <a:lstStyle>
            <a:lvl1pPr lvl="0" algn="r">
              <a:lnSpc>
                <a:spcPct val="90000"/>
              </a:lnSpc>
              <a:spcBef>
                <a:spcPts val="0"/>
              </a:spcBef>
              <a:spcAft>
                <a:spcPts val="0"/>
              </a:spcAft>
              <a:buClr>
                <a:srgbClr val="E2E2E2"/>
              </a:buClr>
              <a:buSzPts val="7200"/>
              <a:buFont typeface="Corbel"/>
              <a:buNone/>
              <a:defRPr sz="7200" b="0">
                <a:solidFill>
                  <a:srgbClr val="E2E2E2"/>
                </a:solidFill>
                <a:latin typeface="Corbel"/>
                <a:ea typeface="Corbel"/>
                <a:cs typeface="Corbel"/>
                <a:sym typeface="Corbe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95"/>
          <p:cNvSpPr txBox="1">
            <a:spLocks noGrp="1"/>
          </p:cNvSpPr>
          <p:nvPr>
            <p:ph type="subTitle" idx="1"/>
          </p:nvPr>
        </p:nvSpPr>
        <p:spPr>
          <a:xfrm>
            <a:off x="1657349" y="2770781"/>
            <a:ext cx="6858000" cy="5655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800"/>
              </a:spcBef>
              <a:spcAft>
                <a:spcPts val="0"/>
              </a:spcAft>
              <a:buClr>
                <a:schemeClr val="lt2"/>
              </a:buClr>
              <a:buSzPts val="2400"/>
              <a:buNone/>
              <a:defRPr sz="2400" b="0">
                <a:solidFill>
                  <a:schemeClr val="lt2"/>
                </a:solidFill>
                <a:latin typeface="Corbel"/>
                <a:ea typeface="Corbel"/>
                <a:cs typeface="Corbel"/>
                <a:sym typeface="Corbel"/>
              </a:defRPr>
            </a:lvl1pPr>
            <a:lvl2pPr lvl="1" algn="ctr">
              <a:lnSpc>
                <a:spcPct val="90000"/>
              </a:lnSpc>
              <a:spcBef>
                <a:spcPts val="400"/>
              </a:spcBef>
              <a:spcAft>
                <a:spcPts val="0"/>
              </a:spcAft>
              <a:buClr>
                <a:srgbClr val="EDEDED"/>
              </a:buClr>
              <a:buSzPts val="1500"/>
              <a:buNone/>
              <a:defRPr sz="1500"/>
            </a:lvl2pPr>
            <a:lvl3pPr lvl="2" algn="ctr">
              <a:lnSpc>
                <a:spcPct val="90000"/>
              </a:lnSpc>
              <a:spcBef>
                <a:spcPts val="400"/>
              </a:spcBef>
              <a:spcAft>
                <a:spcPts val="0"/>
              </a:spcAft>
              <a:buClr>
                <a:srgbClr val="EDEDED"/>
              </a:buClr>
              <a:buSzPts val="1400"/>
              <a:buNone/>
              <a:defRPr sz="1400"/>
            </a:lvl3pPr>
            <a:lvl4pPr lvl="3" algn="ctr">
              <a:lnSpc>
                <a:spcPct val="90000"/>
              </a:lnSpc>
              <a:spcBef>
                <a:spcPts val="400"/>
              </a:spcBef>
              <a:spcAft>
                <a:spcPts val="0"/>
              </a:spcAft>
              <a:buClr>
                <a:srgbClr val="EDEDED"/>
              </a:buClr>
              <a:buSzPts val="1200"/>
              <a:buNone/>
              <a:defRPr sz="1200"/>
            </a:lvl4pPr>
            <a:lvl5pPr lvl="4" algn="ctr">
              <a:lnSpc>
                <a:spcPct val="90000"/>
              </a:lnSpc>
              <a:spcBef>
                <a:spcPts val="400"/>
              </a:spcBef>
              <a:spcAft>
                <a:spcPts val="0"/>
              </a:spcAft>
              <a:buClr>
                <a:srgbClr val="EDEDED"/>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21" name="Google Shape;21;p9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9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9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pic>
        <p:nvPicPr>
          <p:cNvPr id="24" name="Google Shape;24;p95"/>
          <p:cNvPicPr preferRelativeResize="0"/>
          <p:nvPr/>
        </p:nvPicPr>
        <p:blipFill rotWithShape="1">
          <a:blip r:embed="rId2">
            <a:alphaModFix/>
          </a:blip>
          <a:srcRect/>
          <a:stretch/>
        </p:blipFill>
        <p:spPr>
          <a:xfrm>
            <a:off x="8293894" y="0"/>
            <a:ext cx="850107" cy="457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96"/>
          <p:cNvSpPr txBox="1">
            <a:spLocks noGrp="1"/>
          </p:cNvSpPr>
          <p:nvPr>
            <p:ph type="ctrTitle"/>
          </p:nvPr>
        </p:nvSpPr>
        <p:spPr>
          <a:xfrm>
            <a:off x="640899" y="3348021"/>
            <a:ext cx="6858000" cy="12312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rgbClr val="E2E2E2"/>
              </a:buClr>
              <a:buSzPts val="7200"/>
              <a:buFont typeface="Corbel"/>
              <a:buNone/>
              <a:defRPr sz="7200" b="0">
                <a:solidFill>
                  <a:srgbClr val="E2E2E2"/>
                </a:solidFill>
                <a:latin typeface="Corbel"/>
                <a:ea typeface="Corbel"/>
                <a:cs typeface="Corbel"/>
                <a:sym typeface="Corbe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96"/>
          <p:cNvSpPr txBox="1">
            <a:spLocks noGrp="1"/>
          </p:cNvSpPr>
          <p:nvPr>
            <p:ph type="subTitle" idx="1"/>
          </p:nvPr>
        </p:nvSpPr>
        <p:spPr>
          <a:xfrm>
            <a:off x="640899" y="2770255"/>
            <a:ext cx="6858000" cy="5655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800"/>
              </a:spcBef>
              <a:spcAft>
                <a:spcPts val="0"/>
              </a:spcAft>
              <a:buClr>
                <a:schemeClr val="lt2"/>
              </a:buClr>
              <a:buSzPts val="2400"/>
              <a:buNone/>
              <a:defRPr sz="2400" b="0">
                <a:solidFill>
                  <a:schemeClr val="lt2"/>
                </a:solidFill>
                <a:latin typeface="Corbel"/>
                <a:ea typeface="Corbel"/>
                <a:cs typeface="Corbel"/>
                <a:sym typeface="Corbel"/>
              </a:defRPr>
            </a:lvl1pPr>
            <a:lvl2pPr lvl="1" algn="ctr">
              <a:lnSpc>
                <a:spcPct val="90000"/>
              </a:lnSpc>
              <a:spcBef>
                <a:spcPts val="400"/>
              </a:spcBef>
              <a:spcAft>
                <a:spcPts val="0"/>
              </a:spcAft>
              <a:buClr>
                <a:srgbClr val="EDEDED"/>
              </a:buClr>
              <a:buSzPts val="1500"/>
              <a:buNone/>
              <a:defRPr sz="1500"/>
            </a:lvl2pPr>
            <a:lvl3pPr lvl="2" algn="ctr">
              <a:lnSpc>
                <a:spcPct val="90000"/>
              </a:lnSpc>
              <a:spcBef>
                <a:spcPts val="400"/>
              </a:spcBef>
              <a:spcAft>
                <a:spcPts val="0"/>
              </a:spcAft>
              <a:buClr>
                <a:srgbClr val="EDEDED"/>
              </a:buClr>
              <a:buSzPts val="1400"/>
              <a:buNone/>
              <a:defRPr sz="1400"/>
            </a:lvl3pPr>
            <a:lvl4pPr lvl="3" algn="ctr">
              <a:lnSpc>
                <a:spcPct val="90000"/>
              </a:lnSpc>
              <a:spcBef>
                <a:spcPts val="400"/>
              </a:spcBef>
              <a:spcAft>
                <a:spcPts val="0"/>
              </a:spcAft>
              <a:buClr>
                <a:srgbClr val="EDEDED"/>
              </a:buClr>
              <a:buSzPts val="1200"/>
              <a:buNone/>
              <a:defRPr sz="1200"/>
            </a:lvl4pPr>
            <a:lvl5pPr lvl="4" algn="ctr">
              <a:lnSpc>
                <a:spcPct val="90000"/>
              </a:lnSpc>
              <a:spcBef>
                <a:spcPts val="400"/>
              </a:spcBef>
              <a:spcAft>
                <a:spcPts val="0"/>
              </a:spcAft>
              <a:buClr>
                <a:srgbClr val="EDEDED"/>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28" name="Google Shape;28;p9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9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 name="Google Shape;30;p9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9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p97"/>
          <p:cNvSpPr txBox="1">
            <a:spLocks noGrp="1"/>
          </p:cNvSpPr>
          <p:nvPr>
            <p:ph type="body" idx="1"/>
          </p:nvPr>
        </p:nvSpPr>
        <p:spPr>
          <a:xfrm>
            <a:off x="840000" y="1369219"/>
            <a:ext cx="37689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34" name="Google Shape;34;p97"/>
          <p:cNvSpPr txBox="1">
            <a:spLocks noGrp="1"/>
          </p:cNvSpPr>
          <p:nvPr>
            <p:ph type="body" idx="2"/>
          </p:nvPr>
        </p:nvSpPr>
        <p:spPr>
          <a:xfrm>
            <a:off x="4739880" y="1369219"/>
            <a:ext cx="37755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35" name="Google Shape;35;p9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6" name="Google Shape;36;p9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7" name="Google Shape;37;p9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98"/>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0" name="Google Shape;40;p98"/>
          <p:cNvSpPr txBox="1">
            <a:spLocks noGrp="1"/>
          </p:cNvSpPr>
          <p:nvPr>
            <p:ph type="body" idx="1"/>
          </p:nvPr>
        </p:nvSpPr>
        <p:spPr>
          <a:xfrm>
            <a:off x="840000" y="1260872"/>
            <a:ext cx="37689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lt2"/>
              </a:buClr>
              <a:buSzPts val="1800"/>
              <a:buNone/>
              <a:defRPr sz="1800" b="0">
                <a:solidFill>
                  <a:schemeClr val="lt2"/>
                </a:solidFill>
              </a:defRPr>
            </a:lvl1pPr>
            <a:lvl2pPr marL="914400" lvl="1" indent="-228600" algn="l">
              <a:lnSpc>
                <a:spcPct val="90000"/>
              </a:lnSpc>
              <a:spcBef>
                <a:spcPts val="400"/>
              </a:spcBef>
              <a:spcAft>
                <a:spcPts val="0"/>
              </a:spcAft>
              <a:buClr>
                <a:srgbClr val="EDEDED"/>
              </a:buClr>
              <a:buSzPts val="1500"/>
              <a:buNone/>
              <a:defRPr sz="1500" b="1"/>
            </a:lvl2pPr>
            <a:lvl3pPr marL="1371600" lvl="2" indent="-228600" algn="l">
              <a:lnSpc>
                <a:spcPct val="90000"/>
              </a:lnSpc>
              <a:spcBef>
                <a:spcPts val="400"/>
              </a:spcBef>
              <a:spcAft>
                <a:spcPts val="0"/>
              </a:spcAft>
              <a:buClr>
                <a:srgbClr val="EDEDED"/>
              </a:buClr>
              <a:buSzPts val="1400"/>
              <a:buNone/>
              <a:defRPr sz="1400" b="1"/>
            </a:lvl3pPr>
            <a:lvl4pPr marL="1828800" lvl="3" indent="-228600" algn="l">
              <a:lnSpc>
                <a:spcPct val="90000"/>
              </a:lnSpc>
              <a:spcBef>
                <a:spcPts val="400"/>
              </a:spcBef>
              <a:spcAft>
                <a:spcPts val="0"/>
              </a:spcAft>
              <a:buClr>
                <a:srgbClr val="EDEDED"/>
              </a:buClr>
              <a:buSzPts val="1200"/>
              <a:buNone/>
              <a:defRPr sz="1200" b="1"/>
            </a:lvl4pPr>
            <a:lvl5pPr marL="2286000" lvl="4" indent="-228600" algn="l">
              <a:lnSpc>
                <a:spcPct val="90000"/>
              </a:lnSpc>
              <a:spcBef>
                <a:spcPts val="400"/>
              </a:spcBef>
              <a:spcAft>
                <a:spcPts val="0"/>
              </a:spcAft>
              <a:buClr>
                <a:srgbClr val="EDEDED"/>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41" name="Google Shape;41;p98"/>
          <p:cNvSpPr txBox="1">
            <a:spLocks noGrp="1"/>
          </p:cNvSpPr>
          <p:nvPr>
            <p:ph type="body" idx="2"/>
          </p:nvPr>
        </p:nvSpPr>
        <p:spPr>
          <a:xfrm>
            <a:off x="840000" y="1878806"/>
            <a:ext cx="37689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42" name="Google Shape;42;p98"/>
          <p:cNvSpPr txBox="1">
            <a:spLocks noGrp="1"/>
          </p:cNvSpPr>
          <p:nvPr>
            <p:ph type="body" idx="3"/>
          </p:nvPr>
        </p:nvSpPr>
        <p:spPr>
          <a:xfrm>
            <a:off x="4739880" y="1260872"/>
            <a:ext cx="37767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lt2"/>
              </a:buClr>
              <a:buSzPts val="1800"/>
              <a:buNone/>
              <a:defRPr sz="1800" b="0">
                <a:solidFill>
                  <a:schemeClr val="lt2"/>
                </a:solidFill>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43" name="Google Shape;43;p98"/>
          <p:cNvSpPr txBox="1">
            <a:spLocks noGrp="1"/>
          </p:cNvSpPr>
          <p:nvPr>
            <p:ph type="body" idx="4"/>
          </p:nvPr>
        </p:nvSpPr>
        <p:spPr>
          <a:xfrm>
            <a:off x="4739880" y="1878806"/>
            <a:ext cx="37767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44" name="Google Shape;44;p9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5" name="Google Shape;45;p9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9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9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9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 name="Google Shape;50;p9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9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0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4" name="Google Shape;54;p10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10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101"/>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EDEDED"/>
              </a:buClr>
              <a:buSzPts val="2400"/>
              <a:buFont typeface="Corbe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01"/>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59" name="Google Shape;59;p101"/>
          <p:cNvSpPr txBox="1">
            <a:spLocks noGrp="1"/>
          </p:cNvSpPr>
          <p:nvPr>
            <p:ph type="body" idx="2"/>
          </p:nvPr>
        </p:nvSpPr>
        <p:spPr>
          <a:xfrm>
            <a:off x="840000" y="1543050"/>
            <a:ext cx="273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2"/>
              </a:buClr>
              <a:buSzPts val="1200"/>
              <a:buNone/>
              <a:defRPr sz="1200">
                <a:solidFill>
                  <a:schemeClr val="lt2"/>
                </a:solidFill>
              </a:defRPr>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60" name="Google Shape;60;p10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0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10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0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EDEDED"/>
              </a:buClr>
              <a:buSzPts val="2400"/>
              <a:buFont typeface="Corbe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 name="Google Shape;65;p102"/>
          <p:cNvSpPr>
            <a:spLocks noGrp="1"/>
          </p:cNvSpPr>
          <p:nvPr>
            <p:ph type="pic" idx="2"/>
          </p:nvPr>
        </p:nvSpPr>
        <p:spPr>
          <a:xfrm>
            <a:off x="3887391" y="740569"/>
            <a:ext cx="4629300" cy="3655200"/>
          </a:xfrm>
          <a:prstGeom prst="rect">
            <a:avLst/>
          </a:prstGeom>
          <a:noFill/>
          <a:ln>
            <a:noFill/>
          </a:ln>
        </p:spPr>
      </p:sp>
      <p:sp>
        <p:nvSpPr>
          <p:cNvPr id="66" name="Google Shape;66;p102"/>
          <p:cNvSpPr txBox="1">
            <a:spLocks noGrp="1"/>
          </p:cNvSpPr>
          <p:nvPr>
            <p:ph type="body" idx="1"/>
          </p:nvPr>
        </p:nvSpPr>
        <p:spPr>
          <a:xfrm>
            <a:off x="840000" y="1543050"/>
            <a:ext cx="273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2"/>
              </a:buClr>
              <a:buSzPts val="1200"/>
              <a:buNone/>
              <a:defRPr sz="1200">
                <a:solidFill>
                  <a:schemeClr val="lt2"/>
                </a:solidFill>
              </a:defRPr>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67" name="Google Shape;67;p10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0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10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0"/>
        <p:cNvGrpSpPr/>
        <p:nvPr/>
      </p:nvGrpSpPr>
      <p:grpSpPr>
        <a:xfrm>
          <a:off x="0" y="0"/>
          <a:ext cx="0" cy="0"/>
          <a:chOff x="0" y="0"/>
          <a:chExt cx="0" cy="0"/>
        </a:xfrm>
      </p:grpSpPr>
      <p:sp>
        <p:nvSpPr>
          <p:cNvPr id="71" name="Google Shape;71;p103"/>
          <p:cNvSpPr txBox="1">
            <a:spLocks noGrp="1"/>
          </p:cNvSpPr>
          <p:nvPr>
            <p:ph type="title"/>
          </p:nvPr>
        </p:nvSpPr>
        <p:spPr>
          <a:xfrm>
            <a:off x="629841" y="3275370"/>
            <a:ext cx="7886700" cy="6144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EDEDED"/>
              </a:buClr>
              <a:buSzPts val="2400"/>
              <a:buFont typeface="Corbe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03"/>
          <p:cNvSpPr>
            <a:spLocks noGrp="1"/>
          </p:cNvSpPr>
          <p:nvPr>
            <p:ph type="pic" idx="2"/>
          </p:nvPr>
        </p:nvSpPr>
        <p:spPr>
          <a:xfrm>
            <a:off x="629841" y="740569"/>
            <a:ext cx="7886700" cy="2535000"/>
          </a:xfrm>
          <a:prstGeom prst="rect">
            <a:avLst/>
          </a:prstGeom>
          <a:noFill/>
          <a:ln>
            <a:noFill/>
          </a:ln>
        </p:spPr>
      </p:sp>
      <p:sp>
        <p:nvSpPr>
          <p:cNvPr id="73" name="Google Shape;73;p103"/>
          <p:cNvSpPr txBox="1">
            <a:spLocks noGrp="1"/>
          </p:cNvSpPr>
          <p:nvPr>
            <p:ph type="body" idx="1"/>
          </p:nvPr>
        </p:nvSpPr>
        <p:spPr>
          <a:xfrm>
            <a:off x="629841" y="3889887"/>
            <a:ext cx="7885500" cy="5118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2"/>
              </a:buClr>
              <a:buSzPts val="1200"/>
              <a:buNone/>
              <a:defRPr sz="1200">
                <a:solidFill>
                  <a:schemeClr val="lt2"/>
                </a:solidFill>
              </a:defRPr>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74" name="Google Shape;74;p10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10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0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77"/>
        <p:cNvGrpSpPr/>
        <p:nvPr/>
      </p:nvGrpSpPr>
      <p:grpSpPr>
        <a:xfrm>
          <a:off x="0" y="0"/>
          <a:ext cx="0" cy="0"/>
          <a:chOff x="0" y="0"/>
          <a:chExt cx="0" cy="0"/>
        </a:xfrm>
      </p:grpSpPr>
      <p:sp>
        <p:nvSpPr>
          <p:cNvPr id="78" name="Google Shape;78;p104"/>
          <p:cNvSpPr txBox="1">
            <a:spLocks noGrp="1"/>
          </p:cNvSpPr>
          <p:nvPr>
            <p:ph type="title"/>
          </p:nvPr>
        </p:nvSpPr>
        <p:spPr>
          <a:xfrm>
            <a:off x="629841" y="273844"/>
            <a:ext cx="7886700" cy="2650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2400"/>
              <a:buFont typeface="Corbe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04"/>
          <p:cNvSpPr txBox="1">
            <a:spLocks noGrp="1"/>
          </p:cNvSpPr>
          <p:nvPr>
            <p:ph type="body" idx="1"/>
          </p:nvPr>
        </p:nvSpPr>
        <p:spPr>
          <a:xfrm>
            <a:off x="629841" y="3367049"/>
            <a:ext cx="7885500" cy="11265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rgbClr val="EDEDED"/>
              </a:buClr>
              <a:buSzPts val="1200"/>
              <a:buNone/>
              <a:defRPr sz="1200"/>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80" name="Google Shape;80;p10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10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10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3"/>
        <p:cNvGrpSpPr/>
        <p:nvPr/>
      </p:nvGrpSpPr>
      <p:grpSpPr>
        <a:xfrm>
          <a:off x="0" y="0"/>
          <a:ext cx="0" cy="0"/>
          <a:chOff x="0" y="0"/>
          <a:chExt cx="0" cy="0"/>
        </a:xfrm>
      </p:grpSpPr>
      <p:sp>
        <p:nvSpPr>
          <p:cNvPr id="84" name="Google Shape;84;p105"/>
          <p:cNvSpPr txBox="1">
            <a:spLocks noGrp="1"/>
          </p:cNvSpPr>
          <p:nvPr>
            <p:ph type="title"/>
          </p:nvPr>
        </p:nvSpPr>
        <p:spPr>
          <a:xfrm>
            <a:off x="1084659" y="273844"/>
            <a:ext cx="6977100" cy="2244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3300"/>
              <a:buFont typeface="Corbel"/>
              <a:buNone/>
              <a:defRPr sz="33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05"/>
          <p:cNvSpPr txBox="1">
            <a:spLocks noGrp="1"/>
          </p:cNvSpPr>
          <p:nvPr>
            <p:ph type="body" idx="1"/>
          </p:nvPr>
        </p:nvSpPr>
        <p:spPr>
          <a:xfrm>
            <a:off x="1290483" y="2524168"/>
            <a:ext cx="6564300" cy="4116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86" name="Google Shape;86;p105"/>
          <p:cNvSpPr txBox="1">
            <a:spLocks noGrp="1"/>
          </p:cNvSpPr>
          <p:nvPr>
            <p:ph type="body" idx="2"/>
          </p:nvPr>
        </p:nvSpPr>
        <p:spPr>
          <a:xfrm>
            <a:off x="628650" y="3376297"/>
            <a:ext cx="7884300" cy="11172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rgbClr val="EDEDED"/>
              </a:buClr>
              <a:buSzPts val="1200"/>
              <a:buNone/>
              <a:defRPr sz="1200"/>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87" name="Google Shape;87;p10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0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0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
        <p:nvSpPr>
          <p:cNvPr id="90" name="Google Shape;90;p105"/>
          <p:cNvSpPr txBox="1"/>
          <p:nvPr/>
        </p:nvSpPr>
        <p:spPr>
          <a:xfrm>
            <a:off x="833283" y="590118"/>
            <a:ext cx="457200" cy="4386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6000"/>
              <a:buFont typeface="Corbel"/>
              <a:buNone/>
            </a:pPr>
            <a:r>
              <a:rPr lang="en" sz="6000" b="0" i="0" u="none" strike="noStrike" cap="none">
                <a:solidFill>
                  <a:schemeClr val="lt1"/>
                </a:solidFill>
                <a:latin typeface="Corbel"/>
                <a:ea typeface="Corbel"/>
                <a:cs typeface="Corbel"/>
                <a:sym typeface="Corbel"/>
              </a:rPr>
              <a:t>“</a:t>
            </a:r>
            <a:endParaRPr sz="1100" b="0" i="0" u="none" strike="noStrike" cap="none">
              <a:solidFill>
                <a:srgbClr val="000000"/>
              </a:solidFill>
              <a:latin typeface="Arial"/>
              <a:ea typeface="Arial"/>
              <a:cs typeface="Arial"/>
              <a:sym typeface="Arial"/>
            </a:endParaRPr>
          </a:p>
        </p:txBody>
      </p:sp>
      <p:sp>
        <p:nvSpPr>
          <p:cNvPr id="91" name="Google Shape;91;p105"/>
          <p:cNvSpPr txBox="1"/>
          <p:nvPr/>
        </p:nvSpPr>
        <p:spPr>
          <a:xfrm>
            <a:off x="7828359" y="2057400"/>
            <a:ext cx="457200" cy="43860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chemeClr val="lt1"/>
              </a:buClr>
              <a:buSzPts val="6000"/>
              <a:buFont typeface="Corbel"/>
              <a:buNone/>
            </a:pPr>
            <a:r>
              <a:rPr lang="en" sz="6000" b="0" i="0" u="none" strike="noStrike" cap="none">
                <a:solidFill>
                  <a:schemeClr val="lt1"/>
                </a:solidFill>
                <a:latin typeface="Corbel"/>
                <a:ea typeface="Corbel"/>
                <a:cs typeface="Corbel"/>
                <a:sym typeface="Corbel"/>
              </a:rPr>
              <a:t>”</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2"/>
        <p:cNvGrpSpPr/>
        <p:nvPr/>
      </p:nvGrpSpPr>
      <p:grpSpPr>
        <a:xfrm>
          <a:off x="0" y="0"/>
          <a:ext cx="0" cy="0"/>
          <a:chOff x="0" y="0"/>
          <a:chExt cx="0" cy="0"/>
        </a:xfrm>
      </p:grpSpPr>
      <p:sp>
        <p:nvSpPr>
          <p:cNvPr id="93" name="Google Shape;93;p106"/>
          <p:cNvSpPr txBox="1">
            <a:spLocks noGrp="1"/>
          </p:cNvSpPr>
          <p:nvPr>
            <p:ph type="title"/>
          </p:nvPr>
        </p:nvSpPr>
        <p:spPr>
          <a:xfrm>
            <a:off x="629841" y="1745225"/>
            <a:ext cx="7886700" cy="1884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EDEDED"/>
              </a:buClr>
              <a:buSzPts val="4100"/>
              <a:buFont typeface="Corbel"/>
              <a:buNone/>
              <a:defRPr sz="4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06"/>
          <p:cNvSpPr txBox="1">
            <a:spLocks noGrp="1"/>
          </p:cNvSpPr>
          <p:nvPr>
            <p:ph type="body" idx="1"/>
          </p:nvPr>
        </p:nvSpPr>
        <p:spPr>
          <a:xfrm>
            <a:off x="629841" y="3637936"/>
            <a:ext cx="7885500" cy="8556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200"/>
              <a:buNone/>
              <a:defRPr sz="1200"/>
            </a:lvl1pPr>
            <a:lvl2pPr marL="914400" lvl="1" indent="-228600" algn="l">
              <a:lnSpc>
                <a:spcPct val="90000"/>
              </a:lnSpc>
              <a:spcBef>
                <a:spcPts val="400"/>
              </a:spcBef>
              <a:spcAft>
                <a:spcPts val="0"/>
              </a:spcAft>
              <a:buClr>
                <a:srgbClr val="EDEDED"/>
              </a:buClr>
              <a:buSzPts val="1100"/>
              <a:buNone/>
              <a:defRPr sz="1100"/>
            </a:lvl2pPr>
            <a:lvl3pPr marL="1371600" lvl="2" indent="-228600" algn="l">
              <a:lnSpc>
                <a:spcPct val="90000"/>
              </a:lnSpc>
              <a:spcBef>
                <a:spcPts val="400"/>
              </a:spcBef>
              <a:spcAft>
                <a:spcPts val="0"/>
              </a:spcAft>
              <a:buClr>
                <a:srgbClr val="EDEDED"/>
              </a:buClr>
              <a:buSzPts val="900"/>
              <a:buNone/>
              <a:defRPr sz="900"/>
            </a:lvl3pPr>
            <a:lvl4pPr marL="1828800" lvl="3" indent="-228600" algn="l">
              <a:lnSpc>
                <a:spcPct val="90000"/>
              </a:lnSpc>
              <a:spcBef>
                <a:spcPts val="400"/>
              </a:spcBef>
              <a:spcAft>
                <a:spcPts val="0"/>
              </a:spcAft>
              <a:buClr>
                <a:srgbClr val="EDEDED"/>
              </a:buClr>
              <a:buSzPts val="800"/>
              <a:buNone/>
              <a:defRPr sz="800"/>
            </a:lvl4pPr>
            <a:lvl5pPr marL="2286000" lvl="4" indent="-228600" algn="l">
              <a:lnSpc>
                <a:spcPct val="90000"/>
              </a:lnSpc>
              <a:spcBef>
                <a:spcPts val="400"/>
              </a:spcBef>
              <a:spcAft>
                <a:spcPts val="0"/>
              </a:spcAft>
              <a:buClr>
                <a:srgbClr val="EDEDED"/>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95" name="Google Shape;95;p10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6" name="Google Shape;96;p10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10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10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107"/>
          <p:cNvSpPr txBox="1">
            <a:spLocks noGrp="1"/>
          </p:cNvSpPr>
          <p:nvPr>
            <p:ph type="body" idx="1"/>
          </p:nvPr>
        </p:nvSpPr>
        <p:spPr>
          <a:xfrm>
            <a:off x="1002962" y="1414463"/>
            <a:ext cx="22101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2"/>
              </a:buClr>
              <a:buSzPts val="1800"/>
              <a:buNone/>
              <a:defRPr sz="1800" b="0">
                <a:solidFill>
                  <a:schemeClr val="lt2"/>
                </a:solidFill>
              </a:defRPr>
            </a:lvl1pPr>
            <a:lvl2pPr marL="914400" lvl="1" indent="-228600" algn="l">
              <a:lnSpc>
                <a:spcPct val="90000"/>
              </a:lnSpc>
              <a:spcBef>
                <a:spcPts val="400"/>
              </a:spcBef>
              <a:spcAft>
                <a:spcPts val="0"/>
              </a:spcAft>
              <a:buClr>
                <a:srgbClr val="EDEDED"/>
              </a:buClr>
              <a:buSzPts val="1500"/>
              <a:buNone/>
              <a:defRPr sz="1500" b="1"/>
            </a:lvl2pPr>
            <a:lvl3pPr marL="1371600" lvl="2" indent="-228600" algn="l">
              <a:lnSpc>
                <a:spcPct val="90000"/>
              </a:lnSpc>
              <a:spcBef>
                <a:spcPts val="400"/>
              </a:spcBef>
              <a:spcAft>
                <a:spcPts val="0"/>
              </a:spcAft>
              <a:buClr>
                <a:srgbClr val="EDEDED"/>
              </a:buClr>
              <a:buSzPts val="1400"/>
              <a:buNone/>
              <a:defRPr sz="1400" b="1"/>
            </a:lvl3pPr>
            <a:lvl4pPr marL="1828800" lvl="3" indent="-228600" algn="l">
              <a:lnSpc>
                <a:spcPct val="90000"/>
              </a:lnSpc>
              <a:spcBef>
                <a:spcPts val="400"/>
              </a:spcBef>
              <a:spcAft>
                <a:spcPts val="0"/>
              </a:spcAft>
              <a:buClr>
                <a:srgbClr val="EDEDED"/>
              </a:buClr>
              <a:buSzPts val="1200"/>
              <a:buNone/>
              <a:defRPr sz="1200" b="1"/>
            </a:lvl4pPr>
            <a:lvl5pPr marL="2286000" lvl="4" indent="-228600" algn="l">
              <a:lnSpc>
                <a:spcPct val="90000"/>
              </a:lnSpc>
              <a:spcBef>
                <a:spcPts val="400"/>
              </a:spcBef>
              <a:spcAft>
                <a:spcPts val="0"/>
              </a:spcAft>
              <a:buClr>
                <a:srgbClr val="EDEDED"/>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01" name="Google Shape;101;p107"/>
          <p:cNvSpPr txBox="1">
            <a:spLocks noGrp="1"/>
          </p:cNvSpPr>
          <p:nvPr>
            <p:ph type="body" idx="2"/>
          </p:nvPr>
        </p:nvSpPr>
        <p:spPr>
          <a:xfrm>
            <a:off x="1017599" y="1928813"/>
            <a:ext cx="2195700" cy="2691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02" name="Google Shape;102;p107"/>
          <p:cNvSpPr txBox="1">
            <a:spLocks noGrp="1"/>
          </p:cNvSpPr>
          <p:nvPr>
            <p:ph type="body" idx="3"/>
          </p:nvPr>
        </p:nvSpPr>
        <p:spPr>
          <a:xfrm>
            <a:off x="3440996" y="1414463"/>
            <a:ext cx="22020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2"/>
              </a:buClr>
              <a:buSzPts val="1800"/>
              <a:buNone/>
              <a:defRPr sz="1800" b="0">
                <a:solidFill>
                  <a:schemeClr val="lt2"/>
                </a:solidFill>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03" name="Google Shape;103;p107"/>
          <p:cNvSpPr txBox="1">
            <a:spLocks noGrp="1"/>
          </p:cNvSpPr>
          <p:nvPr>
            <p:ph type="body" idx="4"/>
          </p:nvPr>
        </p:nvSpPr>
        <p:spPr>
          <a:xfrm>
            <a:off x="3433081" y="1928813"/>
            <a:ext cx="2210100" cy="2691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04" name="Google Shape;104;p107"/>
          <p:cNvSpPr txBox="1">
            <a:spLocks noGrp="1"/>
          </p:cNvSpPr>
          <p:nvPr>
            <p:ph type="body" idx="5"/>
          </p:nvPr>
        </p:nvSpPr>
        <p:spPr>
          <a:xfrm>
            <a:off x="5871776" y="1414463"/>
            <a:ext cx="21993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2"/>
              </a:buClr>
              <a:buSzPts val="1800"/>
              <a:buNone/>
              <a:defRPr sz="1800" b="0">
                <a:solidFill>
                  <a:schemeClr val="lt2"/>
                </a:solidFill>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05" name="Google Shape;105;p107"/>
          <p:cNvSpPr txBox="1">
            <a:spLocks noGrp="1"/>
          </p:cNvSpPr>
          <p:nvPr>
            <p:ph type="body" idx="6"/>
          </p:nvPr>
        </p:nvSpPr>
        <p:spPr>
          <a:xfrm>
            <a:off x="5871776" y="1928813"/>
            <a:ext cx="2199300" cy="2691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06" name="Google Shape;106;p10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10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10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09"/>
        <p:cNvGrpSpPr/>
        <p:nvPr/>
      </p:nvGrpSpPr>
      <p:grpSpPr>
        <a:xfrm>
          <a:off x="0" y="0"/>
          <a:ext cx="0" cy="0"/>
          <a:chOff x="0" y="0"/>
          <a:chExt cx="0" cy="0"/>
        </a:xfrm>
      </p:grpSpPr>
      <p:sp>
        <p:nvSpPr>
          <p:cNvPr id="110" name="Google Shape;110;p10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108"/>
          <p:cNvSpPr txBox="1">
            <a:spLocks noGrp="1"/>
          </p:cNvSpPr>
          <p:nvPr>
            <p:ph type="body" idx="1"/>
          </p:nvPr>
        </p:nvSpPr>
        <p:spPr>
          <a:xfrm>
            <a:off x="999064" y="3223127"/>
            <a:ext cx="22050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rgbClr val="EDEDED"/>
              </a:buClr>
              <a:buSzPts val="1800"/>
              <a:buNone/>
              <a:defRPr sz="1800" b="0">
                <a:solidFill>
                  <a:srgbClr val="EDEDED"/>
                </a:solidFill>
              </a:defRPr>
            </a:lvl1pPr>
            <a:lvl2pPr marL="914400" lvl="1" indent="-228600" algn="l">
              <a:lnSpc>
                <a:spcPct val="90000"/>
              </a:lnSpc>
              <a:spcBef>
                <a:spcPts val="400"/>
              </a:spcBef>
              <a:spcAft>
                <a:spcPts val="0"/>
              </a:spcAft>
              <a:buClr>
                <a:srgbClr val="EDEDED"/>
              </a:buClr>
              <a:buSzPts val="1500"/>
              <a:buNone/>
              <a:defRPr sz="1500" b="1"/>
            </a:lvl2pPr>
            <a:lvl3pPr marL="1371600" lvl="2" indent="-228600" algn="l">
              <a:lnSpc>
                <a:spcPct val="90000"/>
              </a:lnSpc>
              <a:spcBef>
                <a:spcPts val="400"/>
              </a:spcBef>
              <a:spcAft>
                <a:spcPts val="0"/>
              </a:spcAft>
              <a:buClr>
                <a:srgbClr val="EDEDED"/>
              </a:buClr>
              <a:buSzPts val="1400"/>
              <a:buNone/>
              <a:defRPr sz="1400" b="1"/>
            </a:lvl3pPr>
            <a:lvl4pPr marL="1828800" lvl="3" indent="-228600" algn="l">
              <a:lnSpc>
                <a:spcPct val="90000"/>
              </a:lnSpc>
              <a:spcBef>
                <a:spcPts val="400"/>
              </a:spcBef>
              <a:spcAft>
                <a:spcPts val="0"/>
              </a:spcAft>
              <a:buClr>
                <a:srgbClr val="EDEDED"/>
              </a:buClr>
              <a:buSzPts val="1200"/>
              <a:buNone/>
              <a:defRPr sz="1200" b="1"/>
            </a:lvl4pPr>
            <a:lvl5pPr marL="2286000" lvl="4" indent="-228600" algn="l">
              <a:lnSpc>
                <a:spcPct val="90000"/>
              </a:lnSpc>
              <a:spcBef>
                <a:spcPts val="400"/>
              </a:spcBef>
              <a:spcAft>
                <a:spcPts val="0"/>
              </a:spcAft>
              <a:buClr>
                <a:srgbClr val="EDEDED"/>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12" name="Google Shape;112;p108"/>
          <p:cNvSpPr>
            <a:spLocks noGrp="1"/>
          </p:cNvSpPr>
          <p:nvPr>
            <p:ph type="pic" idx="2"/>
          </p:nvPr>
        </p:nvSpPr>
        <p:spPr>
          <a:xfrm>
            <a:off x="999064" y="1692265"/>
            <a:ext cx="22050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3" name="Google Shape;113;p108"/>
          <p:cNvSpPr txBox="1">
            <a:spLocks noGrp="1"/>
          </p:cNvSpPr>
          <p:nvPr>
            <p:ph type="body" idx="3"/>
          </p:nvPr>
        </p:nvSpPr>
        <p:spPr>
          <a:xfrm>
            <a:off x="999064" y="3655324"/>
            <a:ext cx="2205000" cy="4944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14" name="Google Shape;114;p108"/>
          <p:cNvSpPr txBox="1">
            <a:spLocks noGrp="1"/>
          </p:cNvSpPr>
          <p:nvPr>
            <p:ph type="body" idx="4"/>
          </p:nvPr>
        </p:nvSpPr>
        <p:spPr>
          <a:xfrm>
            <a:off x="3426748" y="3223127"/>
            <a:ext cx="21978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rgbClr val="EDEDED"/>
              </a:buClr>
              <a:buSzPts val="1800"/>
              <a:buNone/>
              <a:defRPr sz="1800" b="0">
                <a:solidFill>
                  <a:srgbClr val="EDEDED"/>
                </a:solidFill>
              </a:defRPr>
            </a:lvl1pPr>
            <a:lvl2pPr marL="914400" lvl="1" indent="-228600" algn="l">
              <a:lnSpc>
                <a:spcPct val="90000"/>
              </a:lnSpc>
              <a:spcBef>
                <a:spcPts val="400"/>
              </a:spcBef>
              <a:spcAft>
                <a:spcPts val="0"/>
              </a:spcAft>
              <a:buClr>
                <a:srgbClr val="EDEDED"/>
              </a:buClr>
              <a:buSzPts val="1500"/>
              <a:buNone/>
              <a:defRPr sz="1500" b="1"/>
            </a:lvl2pPr>
            <a:lvl3pPr marL="1371600" lvl="2" indent="-228600" algn="l">
              <a:lnSpc>
                <a:spcPct val="90000"/>
              </a:lnSpc>
              <a:spcBef>
                <a:spcPts val="400"/>
              </a:spcBef>
              <a:spcAft>
                <a:spcPts val="0"/>
              </a:spcAft>
              <a:buClr>
                <a:srgbClr val="EDEDED"/>
              </a:buClr>
              <a:buSzPts val="1400"/>
              <a:buNone/>
              <a:defRPr sz="1400" b="1"/>
            </a:lvl3pPr>
            <a:lvl4pPr marL="1828800" lvl="3" indent="-228600" algn="l">
              <a:lnSpc>
                <a:spcPct val="90000"/>
              </a:lnSpc>
              <a:spcBef>
                <a:spcPts val="400"/>
              </a:spcBef>
              <a:spcAft>
                <a:spcPts val="0"/>
              </a:spcAft>
              <a:buClr>
                <a:srgbClr val="EDEDED"/>
              </a:buClr>
              <a:buSzPts val="1200"/>
              <a:buNone/>
              <a:defRPr sz="1200" b="1"/>
            </a:lvl4pPr>
            <a:lvl5pPr marL="2286000" lvl="4" indent="-228600" algn="l">
              <a:lnSpc>
                <a:spcPct val="90000"/>
              </a:lnSpc>
              <a:spcBef>
                <a:spcPts val="400"/>
              </a:spcBef>
              <a:spcAft>
                <a:spcPts val="0"/>
              </a:spcAft>
              <a:buClr>
                <a:srgbClr val="EDEDED"/>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15" name="Google Shape;115;p108"/>
          <p:cNvSpPr>
            <a:spLocks noGrp="1"/>
          </p:cNvSpPr>
          <p:nvPr>
            <p:ph type="pic" idx="5"/>
          </p:nvPr>
        </p:nvSpPr>
        <p:spPr>
          <a:xfrm>
            <a:off x="3426747" y="1692265"/>
            <a:ext cx="21978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6" name="Google Shape;116;p108"/>
          <p:cNvSpPr txBox="1">
            <a:spLocks noGrp="1"/>
          </p:cNvSpPr>
          <p:nvPr>
            <p:ph type="body" idx="6"/>
          </p:nvPr>
        </p:nvSpPr>
        <p:spPr>
          <a:xfrm>
            <a:off x="3425733" y="3655323"/>
            <a:ext cx="2200800" cy="4944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17" name="Google Shape;117;p108"/>
          <p:cNvSpPr txBox="1">
            <a:spLocks noGrp="1"/>
          </p:cNvSpPr>
          <p:nvPr>
            <p:ph type="body" idx="7"/>
          </p:nvPr>
        </p:nvSpPr>
        <p:spPr>
          <a:xfrm>
            <a:off x="5853241" y="3223127"/>
            <a:ext cx="2199300" cy="4323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rgbClr val="EDEDED"/>
              </a:buClr>
              <a:buSzPts val="1800"/>
              <a:buNone/>
              <a:defRPr sz="1800" b="0">
                <a:solidFill>
                  <a:srgbClr val="EDEDED"/>
                </a:solidFill>
              </a:defRPr>
            </a:lvl1pPr>
            <a:lvl2pPr marL="914400" lvl="1" indent="-228600" algn="l">
              <a:lnSpc>
                <a:spcPct val="90000"/>
              </a:lnSpc>
              <a:spcBef>
                <a:spcPts val="400"/>
              </a:spcBef>
              <a:spcAft>
                <a:spcPts val="0"/>
              </a:spcAft>
              <a:buClr>
                <a:srgbClr val="EDEDED"/>
              </a:buClr>
              <a:buSzPts val="1500"/>
              <a:buNone/>
              <a:defRPr sz="1500" b="1"/>
            </a:lvl2pPr>
            <a:lvl3pPr marL="1371600" lvl="2" indent="-228600" algn="l">
              <a:lnSpc>
                <a:spcPct val="90000"/>
              </a:lnSpc>
              <a:spcBef>
                <a:spcPts val="400"/>
              </a:spcBef>
              <a:spcAft>
                <a:spcPts val="0"/>
              </a:spcAft>
              <a:buClr>
                <a:srgbClr val="EDEDED"/>
              </a:buClr>
              <a:buSzPts val="1400"/>
              <a:buNone/>
              <a:defRPr sz="1400" b="1"/>
            </a:lvl3pPr>
            <a:lvl4pPr marL="1828800" lvl="3" indent="-228600" algn="l">
              <a:lnSpc>
                <a:spcPct val="90000"/>
              </a:lnSpc>
              <a:spcBef>
                <a:spcPts val="400"/>
              </a:spcBef>
              <a:spcAft>
                <a:spcPts val="0"/>
              </a:spcAft>
              <a:buClr>
                <a:srgbClr val="EDEDED"/>
              </a:buClr>
              <a:buSzPts val="1200"/>
              <a:buNone/>
              <a:defRPr sz="1200" b="1"/>
            </a:lvl4pPr>
            <a:lvl5pPr marL="2286000" lvl="4" indent="-228600" algn="l">
              <a:lnSpc>
                <a:spcPct val="90000"/>
              </a:lnSpc>
              <a:spcBef>
                <a:spcPts val="400"/>
              </a:spcBef>
              <a:spcAft>
                <a:spcPts val="0"/>
              </a:spcAft>
              <a:buClr>
                <a:srgbClr val="EDEDED"/>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18" name="Google Shape;118;p108"/>
          <p:cNvSpPr>
            <a:spLocks noGrp="1"/>
          </p:cNvSpPr>
          <p:nvPr>
            <p:ph type="pic" idx="8"/>
          </p:nvPr>
        </p:nvSpPr>
        <p:spPr>
          <a:xfrm>
            <a:off x="5853241" y="1692265"/>
            <a:ext cx="21993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108"/>
          <p:cNvSpPr txBox="1">
            <a:spLocks noGrp="1"/>
          </p:cNvSpPr>
          <p:nvPr>
            <p:ph type="body" idx="9"/>
          </p:nvPr>
        </p:nvSpPr>
        <p:spPr>
          <a:xfrm>
            <a:off x="5853148" y="3655322"/>
            <a:ext cx="2202000" cy="4944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EDEDED"/>
              </a:buClr>
              <a:buSzPts val="1100"/>
              <a:buNone/>
              <a:defRPr sz="1100"/>
            </a:lvl1pPr>
            <a:lvl2pPr marL="914400" lvl="1" indent="-228600" algn="l">
              <a:lnSpc>
                <a:spcPct val="90000"/>
              </a:lnSpc>
              <a:spcBef>
                <a:spcPts val="400"/>
              </a:spcBef>
              <a:spcAft>
                <a:spcPts val="0"/>
              </a:spcAft>
              <a:buClr>
                <a:srgbClr val="EDEDED"/>
              </a:buClr>
              <a:buSzPts val="900"/>
              <a:buNone/>
              <a:defRPr sz="900"/>
            </a:lvl2pPr>
            <a:lvl3pPr marL="1371600" lvl="2" indent="-228600" algn="l">
              <a:lnSpc>
                <a:spcPct val="90000"/>
              </a:lnSpc>
              <a:spcBef>
                <a:spcPts val="400"/>
              </a:spcBef>
              <a:spcAft>
                <a:spcPts val="0"/>
              </a:spcAft>
              <a:buClr>
                <a:srgbClr val="EDEDED"/>
              </a:buClr>
              <a:buSzPts val="800"/>
              <a:buNone/>
              <a:defRPr sz="800"/>
            </a:lvl3pPr>
            <a:lvl4pPr marL="1828800" lvl="3" indent="-228600" algn="l">
              <a:lnSpc>
                <a:spcPct val="90000"/>
              </a:lnSpc>
              <a:spcBef>
                <a:spcPts val="400"/>
              </a:spcBef>
              <a:spcAft>
                <a:spcPts val="0"/>
              </a:spcAft>
              <a:buClr>
                <a:srgbClr val="EDEDED"/>
              </a:buClr>
              <a:buSzPts val="700"/>
              <a:buNone/>
              <a:defRPr sz="700"/>
            </a:lvl4pPr>
            <a:lvl5pPr marL="2286000" lvl="4" indent="-228600" algn="l">
              <a:lnSpc>
                <a:spcPct val="90000"/>
              </a:lnSpc>
              <a:spcBef>
                <a:spcPts val="400"/>
              </a:spcBef>
              <a:spcAft>
                <a:spcPts val="0"/>
              </a:spcAft>
              <a:buClr>
                <a:srgbClr val="EDEDED"/>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20" name="Google Shape;120;p10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10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2" name="Google Shape;122;p10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3"/>
        <p:cNvGrpSpPr/>
        <p:nvPr/>
      </p:nvGrpSpPr>
      <p:grpSpPr>
        <a:xfrm>
          <a:off x="0" y="0"/>
          <a:ext cx="0" cy="0"/>
          <a:chOff x="0" y="0"/>
          <a:chExt cx="0" cy="0"/>
        </a:xfrm>
      </p:grpSpPr>
      <p:sp>
        <p:nvSpPr>
          <p:cNvPr id="124" name="Google Shape;124;p10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5" name="Google Shape;125;p109"/>
          <p:cNvSpPr txBox="1">
            <a:spLocks noGrp="1"/>
          </p:cNvSpPr>
          <p:nvPr>
            <p:ph type="body" idx="1"/>
          </p:nvPr>
        </p:nvSpPr>
        <p:spPr>
          <a:xfrm rot="5400000">
            <a:off x="3045900" y="-836831"/>
            <a:ext cx="3263400" cy="7675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26" name="Google Shape;126;p10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10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8" name="Google Shape;128;p10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9"/>
        <p:cNvGrpSpPr/>
        <p:nvPr/>
      </p:nvGrpSpPr>
      <p:grpSpPr>
        <a:xfrm>
          <a:off x="0" y="0"/>
          <a:ext cx="0" cy="0"/>
          <a:chOff x="0" y="0"/>
          <a:chExt cx="0" cy="0"/>
        </a:xfrm>
      </p:grpSpPr>
      <p:sp>
        <p:nvSpPr>
          <p:cNvPr id="130" name="Google Shape;130;p110"/>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EDEDED"/>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110"/>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rgbClr val="EDEDED"/>
              </a:buClr>
              <a:buSzPts val="1400"/>
              <a:buChar char="•"/>
              <a:defRPr/>
            </a:lvl1pPr>
            <a:lvl2pPr marL="914400" lvl="1" indent="-317500" algn="l">
              <a:lnSpc>
                <a:spcPct val="90000"/>
              </a:lnSpc>
              <a:spcBef>
                <a:spcPts val="400"/>
              </a:spcBef>
              <a:spcAft>
                <a:spcPts val="0"/>
              </a:spcAft>
              <a:buClr>
                <a:srgbClr val="EDEDED"/>
              </a:buClr>
              <a:buSzPts val="1400"/>
              <a:buChar char="•"/>
              <a:defRPr/>
            </a:lvl2pPr>
            <a:lvl3pPr marL="1371600" lvl="2" indent="-317500" algn="l">
              <a:lnSpc>
                <a:spcPct val="90000"/>
              </a:lnSpc>
              <a:spcBef>
                <a:spcPts val="400"/>
              </a:spcBef>
              <a:spcAft>
                <a:spcPts val="0"/>
              </a:spcAft>
              <a:buClr>
                <a:srgbClr val="EDEDED"/>
              </a:buClr>
              <a:buSzPts val="1400"/>
              <a:buChar char="•"/>
              <a:defRPr/>
            </a:lvl3pPr>
            <a:lvl4pPr marL="1828800" lvl="3" indent="-317500" algn="l">
              <a:lnSpc>
                <a:spcPct val="90000"/>
              </a:lnSpc>
              <a:spcBef>
                <a:spcPts val="400"/>
              </a:spcBef>
              <a:spcAft>
                <a:spcPts val="0"/>
              </a:spcAft>
              <a:buClr>
                <a:srgbClr val="EDEDED"/>
              </a:buClr>
              <a:buSzPts val="1400"/>
              <a:buChar char="•"/>
              <a:defRPr/>
            </a:lvl4pPr>
            <a:lvl5pPr marL="2286000" lvl="4" indent="-317500" algn="l">
              <a:lnSpc>
                <a:spcPct val="90000"/>
              </a:lnSpc>
              <a:spcBef>
                <a:spcPts val="400"/>
              </a:spcBef>
              <a:spcAft>
                <a:spcPts val="0"/>
              </a:spcAft>
              <a:buClr>
                <a:srgbClr val="EDEDED"/>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32" name="Google Shape;132;p1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1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11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9"/>
        <p:cNvGrpSpPr/>
        <p:nvPr/>
      </p:nvGrpSpPr>
      <p:grpSpPr>
        <a:xfrm>
          <a:off x="0" y="0"/>
          <a:ext cx="0" cy="0"/>
          <a:chOff x="0" y="0"/>
          <a:chExt cx="0" cy="0"/>
        </a:xfrm>
      </p:grpSpPr>
      <p:sp>
        <p:nvSpPr>
          <p:cNvPr id="140" name="Google Shape;140;p8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1" name="Google Shape;141;p8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2" name="Google Shape;142;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3"/>
        <p:cNvGrpSpPr/>
        <p:nvPr/>
      </p:nvGrpSpPr>
      <p:grpSpPr>
        <a:xfrm>
          <a:off x="0" y="0"/>
          <a:ext cx="0" cy="0"/>
          <a:chOff x="0" y="0"/>
          <a:chExt cx="0" cy="0"/>
        </a:xfrm>
      </p:grpSpPr>
      <p:sp>
        <p:nvSpPr>
          <p:cNvPr id="144" name="Google Shape;144;p8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5" name="Google Shape;145;p8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46" name="Google Shape;146;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7"/>
        <p:cNvGrpSpPr/>
        <p:nvPr/>
      </p:nvGrpSpPr>
      <p:grpSpPr>
        <a:xfrm>
          <a:off x="0" y="0"/>
          <a:ext cx="0" cy="0"/>
          <a:chOff x="0" y="0"/>
          <a:chExt cx="0" cy="0"/>
        </a:xfrm>
      </p:grpSpPr>
      <p:sp>
        <p:nvSpPr>
          <p:cNvPr id="148" name="Google Shape;148;p8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49" name="Google Shape;149;p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0"/>
        <p:cNvGrpSpPr/>
        <p:nvPr/>
      </p:nvGrpSpPr>
      <p:grpSpPr>
        <a:xfrm>
          <a:off x="0" y="0"/>
          <a:ext cx="0" cy="0"/>
          <a:chOff x="0" y="0"/>
          <a:chExt cx="0" cy="0"/>
        </a:xfrm>
      </p:grpSpPr>
      <p:sp>
        <p:nvSpPr>
          <p:cNvPr id="151" name="Google Shape;151;p8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2" name="Google Shape;152;p8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3" name="Google Shape;153;p8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4" name="Google Shape;154;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5"/>
        <p:cNvGrpSpPr/>
        <p:nvPr/>
      </p:nvGrpSpPr>
      <p:grpSpPr>
        <a:xfrm>
          <a:off x="0" y="0"/>
          <a:ext cx="0" cy="0"/>
          <a:chOff x="0" y="0"/>
          <a:chExt cx="0" cy="0"/>
        </a:xfrm>
      </p:grpSpPr>
      <p:sp>
        <p:nvSpPr>
          <p:cNvPr id="156" name="Google Shape;156;p8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7" name="Google Shape;157;p8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8"/>
        <p:cNvGrpSpPr/>
        <p:nvPr/>
      </p:nvGrpSpPr>
      <p:grpSpPr>
        <a:xfrm>
          <a:off x="0" y="0"/>
          <a:ext cx="0" cy="0"/>
          <a:chOff x="0" y="0"/>
          <a:chExt cx="0" cy="0"/>
        </a:xfrm>
      </p:grpSpPr>
      <p:sp>
        <p:nvSpPr>
          <p:cNvPr id="159" name="Google Shape;159;p8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60" name="Google Shape;160;p8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61" name="Google Shape;161;p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2"/>
        <p:cNvGrpSpPr/>
        <p:nvPr/>
      </p:nvGrpSpPr>
      <p:grpSpPr>
        <a:xfrm>
          <a:off x="0" y="0"/>
          <a:ext cx="0" cy="0"/>
          <a:chOff x="0" y="0"/>
          <a:chExt cx="0" cy="0"/>
        </a:xfrm>
      </p:grpSpPr>
      <p:sp>
        <p:nvSpPr>
          <p:cNvPr id="163" name="Google Shape;163;p9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64" name="Google Shape;164;p9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5"/>
        <p:cNvGrpSpPr/>
        <p:nvPr/>
      </p:nvGrpSpPr>
      <p:grpSpPr>
        <a:xfrm>
          <a:off x="0" y="0"/>
          <a:ext cx="0" cy="0"/>
          <a:chOff x="0" y="0"/>
          <a:chExt cx="0" cy="0"/>
        </a:xfrm>
      </p:grpSpPr>
      <p:sp>
        <p:nvSpPr>
          <p:cNvPr id="166" name="Google Shape;166;p9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9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68" name="Google Shape;168;p9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9" name="Google Shape;169;p9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0" name="Google Shape;170;p9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1"/>
        <p:cNvGrpSpPr/>
        <p:nvPr/>
      </p:nvGrpSpPr>
      <p:grpSpPr>
        <a:xfrm>
          <a:off x="0" y="0"/>
          <a:ext cx="0" cy="0"/>
          <a:chOff x="0" y="0"/>
          <a:chExt cx="0" cy="0"/>
        </a:xfrm>
      </p:grpSpPr>
      <p:sp>
        <p:nvSpPr>
          <p:cNvPr id="172" name="Google Shape;172;p9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73" name="Google Shape;173;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4"/>
        <p:cNvGrpSpPr/>
        <p:nvPr/>
      </p:nvGrpSpPr>
      <p:grpSpPr>
        <a:xfrm>
          <a:off x="0" y="0"/>
          <a:ext cx="0" cy="0"/>
          <a:chOff x="0" y="0"/>
          <a:chExt cx="0" cy="0"/>
        </a:xfrm>
      </p:grpSpPr>
      <p:sp>
        <p:nvSpPr>
          <p:cNvPr id="175" name="Google Shape;175;p9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76" name="Google Shape;176;p9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77" name="Google Shape;177;p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8"/>
        <p:cNvGrpSpPr/>
        <p:nvPr/>
      </p:nvGrpSpPr>
      <p:grpSpPr>
        <a:xfrm>
          <a:off x="0" y="0"/>
          <a:ext cx="0" cy="0"/>
          <a:chOff x="0" y="0"/>
          <a:chExt cx="0" cy="0"/>
        </a:xfrm>
      </p:grpSpPr>
      <p:sp>
        <p:nvSpPr>
          <p:cNvPr id="179" name="Google Shape;179;p9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sp>
        <p:nvSpPr>
          <p:cNvPr id="6" name="Google Shape;6;p8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EDEDED"/>
              </a:buClr>
              <a:buSzPts val="4100"/>
              <a:buFont typeface="Corbel"/>
              <a:buNone/>
              <a:defRPr sz="4100" b="0" i="0" u="none" strike="noStrike" cap="none">
                <a:solidFill>
                  <a:srgbClr val="EDEDED"/>
                </a:solidFill>
                <a:latin typeface="Corbel"/>
                <a:ea typeface="Corbel"/>
                <a:cs typeface="Corbel"/>
                <a:sym typeface="Corbe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81"/>
          <p:cNvSpPr txBox="1">
            <a:spLocks noGrp="1"/>
          </p:cNvSpPr>
          <p:nvPr>
            <p:ph type="body" idx="1"/>
          </p:nvPr>
        </p:nvSpPr>
        <p:spPr>
          <a:xfrm>
            <a:off x="840000" y="1369219"/>
            <a:ext cx="76755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rgbClr val="EDEDED"/>
              </a:buClr>
              <a:buSzPts val="2100"/>
              <a:buFont typeface="Arial"/>
              <a:buChar char="•"/>
              <a:defRPr sz="2100" b="0" i="0" u="none" strike="noStrike" cap="none">
                <a:solidFill>
                  <a:srgbClr val="EDEDED"/>
                </a:solidFill>
                <a:latin typeface="Corbel"/>
                <a:ea typeface="Corbel"/>
                <a:cs typeface="Corbel"/>
                <a:sym typeface="Corbel"/>
              </a:defRPr>
            </a:lvl1pPr>
            <a:lvl2pPr marL="914400" marR="0" lvl="1" indent="-342900" algn="l" rtl="0">
              <a:lnSpc>
                <a:spcPct val="90000"/>
              </a:lnSpc>
              <a:spcBef>
                <a:spcPts val="400"/>
              </a:spcBef>
              <a:spcAft>
                <a:spcPts val="0"/>
              </a:spcAft>
              <a:buClr>
                <a:srgbClr val="EDEDED"/>
              </a:buClr>
              <a:buSzPts val="1800"/>
              <a:buFont typeface="Arial"/>
              <a:buChar char="•"/>
              <a:defRPr sz="1800" b="0" i="0" u="none" strike="noStrike" cap="none">
                <a:solidFill>
                  <a:srgbClr val="EDEDED"/>
                </a:solidFill>
                <a:latin typeface="Corbel"/>
                <a:ea typeface="Corbel"/>
                <a:cs typeface="Corbel"/>
                <a:sym typeface="Corbel"/>
              </a:defRPr>
            </a:lvl2pPr>
            <a:lvl3pPr marL="1371600" marR="0" lvl="2" indent="-323850" algn="l" rtl="0">
              <a:lnSpc>
                <a:spcPct val="90000"/>
              </a:lnSpc>
              <a:spcBef>
                <a:spcPts val="400"/>
              </a:spcBef>
              <a:spcAft>
                <a:spcPts val="0"/>
              </a:spcAft>
              <a:buClr>
                <a:srgbClr val="EDEDED"/>
              </a:buClr>
              <a:buSzPts val="1500"/>
              <a:buFont typeface="Arial"/>
              <a:buChar char="•"/>
              <a:defRPr sz="1500" b="0" i="0" u="none" strike="noStrike" cap="none">
                <a:solidFill>
                  <a:srgbClr val="EDEDED"/>
                </a:solidFill>
                <a:latin typeface="Corbel"/>
                <a:ea typeface="Corbel"/>
                <a:cs typeface="Corbel"/>
                <a:sym typeface="Corbel"/>
              </a:defRPr>
            </a:lvl3pPr>
            <a:lvl4pPr marL="1828800" marR="0" lvl="3" indent="-317500" algn="l" rtl="0">
              <a:lnSpc>
                <a:spcPct val="90000"/>
              </a:lnSpc>
              <a:spcBef>
                <a:spcPts val="400"/>
              </a:spcBef>
              <a:spcAft>
                <a:spcPts val="0"/>
              </a:spcAft>
              <a:buClr>
                <a:srgbClr val="EDEDED"/>
              </a:buClr>
              <a:buSzPts val="1400"/>
              <a:buFont typeface="Arial"/>
              <a:buChar char="•"/>
              <a:defRPr sz="1400" b="0" i="0" u="none" strike="noStrike" cap="none">
                <a:solidFill>
                  <a:srgbClr val="EDEDED"/>
                </a:solidFill>
                <a:latin typeface="Corbel"/>
                <a:ea typeface="Corbel"/>
                <a:cs typeface="Corbel"/>
                <a:sym typeface="Corbel"/>
              </a:defRPr>
            </a:lvl4pPr>
            <a:lvl5pPr marL="2286000" marR="0" lvl="4" indent="-317500" algn="l" rtl="0">
              <a:lnSpc>
                <a:spcPct val="90000"/>
              </a:lnSpc>
              <a:spcBef>
                <a:spcPts val="400"/>
              </a:spcBef>
              <a:spcAft>
                <a:spcPts val="0"/>
              </a:spcAft>
              <a:buClr>
                <a:srgbClr val="EDEDED"/>
              </a:buClr>
              <a:buSzPts val="1400"/>
              <a:buFont typeface="Arial"/>
              <a:buChar char="•"/>
              <a:defRPr sz="1400" b="0" i="0" u="none" strike="noStrike" cap="none">
                <a:solidFill>
                  <a:srgbClr val="EDEDED"/>
                </a:solidFill>
                <a:latin typeface="Corbel"/>
                <a:ea typeface="Corbel"/>
                <a:cs typeface="Corbel"/>
                <a:sym typeface="Corbel"/>
              </a:defRPr>
            </a:lvl5pPr>
            <a:lvl6pPr marL="2743200" marR="0" lvl="5"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orbel"/>
                <a:ea typeface="Corbel"/>
                <a:cs typeface="Corbel"/>
                <a:sym typeface="Corbel"/>
              </a:defRPr>
            </a:lvl6pPr>
            <a:lvl7pPr marL="3200400" marR="0" lvl="6"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orbel"/>
                <a:ea typeface="Corbel"/>
                <a:cs typeface="Corbel"/>
                <a:sym typeface="Corbel"/>
              </a:defRPr>
            </a:lvl7pPr>
            <a:lvl8pPr marL="3657600" marR="0" lvl="7"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orbel"/>
                <a:ea typeface="Corbel"/>
                <a:cs typeface="Corbel"/>
                <a:sym typeface="Corbel"/>
              </a:defRPr>
            </a:lvl8pPr>
            <a:lvl9pPr marL="4114800" marR="0" lvl="8"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orbel"/>
                <a:ea typeface="Corbel"/>
                <a:cs typeface="Corbel"/>
                <a:sym typeface="Corbel"/>
              </a:defRPr>
            </a:lvl9pPr>
          </a:lstStyle>
          <a:p>
            <a:endParaRPr/>
          </a:p>
        </p:txBody>
      </p:sp>
      <p:sp>
        <p:nvSpPr>
          <p:cNvPr id="8" name="Google Shape;8;p8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EDEDED"/>
                </a:solidFill>
                <a:latin typeface="Corbel"/>
                <a:ea typeface="Corbel"/>
                <a:cs typeface="Corbel"/>
                <a:sym typeface="Corbe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9pPr>
          </a:lstStyle>
          <a:p>
            <a:endParaRPr/>
          </a:p>
        </p:txBody>
      </p:sp>
      <p:sp>
        <p:nvSpPr>
          <p:cNvPr id="9" name="Google Shape;9;p8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EDEDED"/>
                </a:solidFill>
                <a:latin typeface="Corbel"/>
                <a:ea typeface="Corbel"/>
                <a:cs typeface="Corbel"/>
                <a:sym typeface="Corbe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lt1"/>
                </a:solidFill>
                <a:latin typeface="Corbel"/>
                <a:ea typeface="Corbel"/>
                <a:cs typeface="Corbel"/>
                <a:sym typeface="Corbel"/>
              </a:defRPr>
            </a:lvl9pPr>
          </a:lstStyle>
          <a:p>
            <a:endParaRPr/>
          </a:p>
        </p:txBody>
      </p:sp>
      <p:sp>
        <p:nvSpPr>
          <p:cNvPr id="10" name="Google Shape;10;p8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EDEDED"/>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5"/>
        <p:cNvGrpSpPr/>
        <p:nvPr/>
      </p:nvGrpSpPr>
      <p:grpSpPr>
        <a:xfrm>
          <a:off x="0" y="0"/>
          <a:ext cx="0" cy="0"/>
          <a:chOff x="0" y="0"/>
          <a:chExt cx="0" cy="0"/>
        </a:xfrm>
      </p:grpSpPr>
      <p:sp>
        <p:nvSpPr>
          <p:cNvPr id="136" name="Google Shape;136;p8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37" name="Google Shape;137;p8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38" name="Google Shape;138;p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M1duqgg8-IM" TargetMode="External"/><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hyperlink" Target="https://www.youtube.com/watch?v=CwBn0voJDaw" TargetMode="External"/><Relationship Id="rId4" Type="http://schemas.openxmlformats.org/officeDocument/2006/relationships/hyperlink" Target="https://www.youtube.com/watch?v=P5mlg91as1c"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hyperlink" Target="http://wordnet.princeton.edu/obtain" TargetMode="External"/><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hyperlink" Target="http://www.cfilt.iitb.ac.in/wordnet/webmwn/wn/php" TargetMode="External"/><Relationship Id="rId4" Type="http://schemas.openxmlformats.org/officeDocument/2006/relationships/hyperlink" Target="http://www.cfilt.iitb.ac.in/sordnet/sebhwn/"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hyperlink" Target="http://www.cfilt.iitb.ac.in" TargetMode="External"/><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
          <p:cNvSpPr txBox="1">
            <a:spLocks noGrp="1"/>
          </p:cNvSpPr>
          <p:nvPr>
            <p:ph type="ctrTitle"/>
          </p:nvPr>
        </p:nvSpPr>
        <p:spPr>
          <a:xfrm>
            <a:off x="311700" y="498600"/>
            <a:ext cx="8520600" cy="1312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990"/>
              <a:buNone/>
            </a:pPr>
            <a:r>
              <a:rPr lang="en" sz="3280"/>
              <a:t>MODULE 5</a:t>
            </a:r>
            <a:endParaRPr sz="3280"/>
          </a:p>
          <a:p>
            <a:pPr marL="0" lvl="0" indent="0" algn="l" rtl="0">
              <a:lnSpc>
                <a:spcPct val="100000"/>
              </a:lnSpc>
              <a:spcBef>
                <a:spcPts val="0"/>
              </a:spcBef>
              <a:spcAft>
                <a:spcPts val="0"/>
              </a:spcAft>
              <a:buSzPts val="990"/>
              <a:buNone/>
            </a:pPr>
            <a:endParaRPr sz="2480"/>
          </a:p>
        </p:txBody>
      </p:sp>
      <p:sp>
        <p:nvSpPr>
          <p:cNvPr id="185" name="Google Shape;185;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chemeClr val="dk1"/>
              </a:buClr>
              <a:buSzPts val="990"/>
              <a:buFont typeface="Arial"/>
              <a:buNone/>
            </a:pPr>
            <a:r>
              <a:rPr lang="en" sz="2480">
                <a:solidFill>
                  <a:schemeClr val="dk1"/>
                </a:solidFill>
              </a:rPr>
              <a:t>INFORMATION RETRIEVAL AND LEXICAL RESOURCES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
          <p:cNvSpPr txBox="1">
            <a:spLocks noGrp="1"/>
          </p:cNvSpPr>
          <p:nvPr>
            <p:ph type="title"/>
          </p:nvPr>
        </p:nvSpPr>
        <p:spPr>
          <a:xfrm>
            <a:off x="311700" y="445025"/>
            <a:ext cx="8520600" cy="4026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111111"/>
              <a:buNone/>
            </a:pPr>
            <a:r>
              <a:rPr lang="en"/>
              <a:t>Introduction</a:t>
            </a:r>
            <a:endParaRPr/>
          </a:p>
        </p:txBody>
      </p:sp>
      <p:sp>
        <p:nvSpPr>
          <p:cNvPr id="191" name="Google Shape;191;p3"/>
          <p:cNvSpPr txBox="1">
            <a:spLocks noGrp="1"/>
          </p:cNvSpPr>
          <p:nvPr>
            <p:ph type="body" idx="1"/>
          </p:nvPr>
        </p:nvSpPr>
        <p:spPr>
          <a:xfrm>
            <a:off x="311700" y="847625"/>
            <a:ext cx="8520600" cy="4005600"/>
          </a:xfrm>
          <a:prstGeom prst="rect">
            <a:avLst/>
          </a:prstGeom>
          <a:noFill/>
          <a:ln>
            <a:noFill/>
          </a:ln>
        </p:spPr>
        <p:txBody>
          <a:bodyPr spcFirstLastPara="1" wrap="square" lIns="91425" tIns="91425" rIns="91425" bIns="91425" anchor="ctr" anchorCtr="0">
            <a:normAutofit fontScale="70000" lnSpcReduction="20000"/>
          </a:bodyPr>
          <a:lstStyle/>
          <a:p>
            <a:pPr marL="457200" lvl="0" indent="-317182" algn="just" rtl="0">
              <a:lnSpc>
                <a:spcPct val="115000"/>
              </a:lnSpc>
              <a:spcBef>
                <a:spcPts val="0"/>
              </a:spcBef>
              <a:spcAft>
                <a:spcPts val="0"/>
              </a:spcAft>
              <a:buClr>
                <a:schemeClr val="dk1"/>
              </a:buClr>
              <a:buSzPct val="100000"/>
              <a:buFont typeface="Times New Roman"/>
              <a:buChar char="●"/>
            </a:pPr>
            <a:r>
              <a:rPr lang="en" b="1" dirty="0">
                <a:solidFill>
                  <a:schemeClr val="dk1"/>
                </a:solidFill>
                <a:latin typeface="Times New Roman"/>
                <a:ea typeface="Times New Roman"/>
                <a:cs typeface="Times New Roman"/>
                <a:sym typeface="Times New Roman"/>
              </a:rPr>
              <a:t>Information retrieval (IR) deals with the organization, storage, retrieval and evaluation of information relevant to a user’s query.</a:t>
            </a:r>
            <a:endParaRPr b="1"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0"/>
              </a:spcBef>
              <a:spcAft>
                <a:spcPts val="0"/>
              </a:spcAft>
              <a:buClr>
                <a:schemeClr val="dk1"/>
              </a:buClr>
              <a:buSzPct val="100000"/>
              <a:buFont typeface="Times New Roman"/>
              <a:buChar char="●"/>
            </a:pPr>
            <a:r>
              <a:rPr lang="en" dirty="0">
                <a:solidFill>
                  <a:schemeClr val="dk1"/>
                </a:solidFill>
                <a:latin typeface="Times New Roman"/>
                <a:ea typeface="Times New Roman"/>
                <a:cs typeface="Times New Roman"/>
                <a:sym typeface="Times New Roman"/>
              </a:rPr>
              <a:t>The user in need of information formulates a request in the form of a query written in a natural language.</a:t>
            </a:r>
            <a:endParaRPr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Char char="●"/>
            </a:pPr>
            <a:r>
              <a:rPr lang="en" dirty="0">
                <a:solidFill>
                  <a:schemeClr val="dk1"/>
                </a:solidFill>
                <a:latin typeface="Times New Roman"/>
                <a:ea typeface="Times New Roman"/>
                <a:cs typeface="Times New Roman"/>
                <a:sym typeface="Times New Roman"/>
              </a:rPr>
              <a:t>The retrieval system responds by retrieving the document that seems </a:t>
            </a:r>
            <a:r>
              <a:rPr lang="en" b="1" dirty="0">
                <a:solidFill>
                  <a:schemeClr val="dk1"/>
                </a:solidFill>
                <a:latin typeface="Times New Roman"/>
                <a:ea typeface="Times New Roman"/>
                <a:cs typeface="Times New Roman"/>
                <a:sym typeface="Times New Roman"/>
              </a:rPr>
              <a:t>relevant to the query.</a:t>
            </a:r>
            <a:endParaRPr b="1"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Font typeface="Times New Roman"/>
              <a:buChar char="●"/>
            </a:pPr>
            <a:r>
              <a:rPr lang="en" dirty="0">
                <a:solidFill>
                  <a:schemeClr val="dk1"/>
                </a:solidFill>
                <a:highlight>
                  <a:srgbClr val="00FFFF"/>
                </a:highlight>
                <a:latin typeface="Times New Roman"/>
                <a:ea typeface="Times New Roman"/>
                <a:cs typeface="Times New Roman"/>
                <a:sym typeface="Times New Roman"/>
              </a:rPr>
              <a:t>IR systems doesn’t return the actual information, it returns the documents containing that information. </a:t>
            </a:r>
            <a:endParaRPr dirty="0">
              <a:solidFill>
                <a:schemeClr val="dk1"/>
              </a:solidFill>
              <a:highlight>
                <a:srgbClr val="00FFFF"/>
              </a:highlight>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Font typeface="Times New Roman"/>
              <a:buChar char="●"/>
            </a:pPr>
            <a:r>
              <a:rPr lang="en" dirty="0">
                <a:solidFill>
                  <a:schemeClr val="dk1"/>
                </a:solidFill>
                <a:latin typeface="Times New Roman"/>
                <a:ea typeface="Times New Roman"/>
                <a:cs typeface="Times New Roman"/>
                <a:sym typeface="Times New Roman"/>
              </a:rPr>
              <a:t>An information retrieval system does not inform the user on the subject of the query. Rather, it merely informs on the existence and whereabouts of documents relating to the query. </a:t>
            </a:r>
            <a:endParaRPr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Font typeface="Times New Roman"/>
              <a:buChar char="●"/>
            </a:pPr>
            <a:r>
              <a:rPr lang="en" dirty="0">
                <a:solidFill>
                  <a:schemeClr val="dk1"/>
                </a:solidFill>
                <a:latin typeface="Times New Roman"/>
                <a:ea typeface="Times New Roman"/>
                <a:cs typeface="Times New Roman"/>
                <a:sym typeface="Times New Roman"/>
              </a:rPr>
              <a:t>The IR system differs from question answering system and data retrieval system. The three systems differ in the nature of their queries and expected results of the queries.</a:t>
            </a:r>
            <a:endParaRPr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Font typeface="Times New Roman"/>
              <a:buChar char="●"/>
            </a:pPr>
            <a:r>
              <a:rPr lang="en" dirty="0">
                <a:solidFill>
                  <a:schemeClr val="dk1"/>
                </a:solidFill>
                <a:latin typeface="Times New Roman"/>
                <a:ea typeface="Times New Roman"/>
                <a:cs typeface="Times New Roman"/>
                <a:sym typeface="Times New Roman"/>
              </a:rPr>
              <a:t>In both question answering system and data retrieval systems, queries are very specific and precise in nature. Queries submitted to IR systems are often vague and imprecise. </a:t>
            </a:r>
            <a:endParaRPr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0"/>
              </a:spcAft>
              <a:buClr>
                <a:schemeClr val="dk1"/>
              </a:buClr>
              <a:buSzPct val="100000"/>
              <a:buFont typeface="Times New Roman"/>
              <a:buChar char="●"/>
            </a:pPr>
            <a:r>
              <a:rPr lang="en" dirty="0">
                <a:solidFill>
                  <a:schemeClr val="dk1"/>
                </a:solidFill>
                <a:latin typeface="Times New Roman"/>
                <a:ea typeface="Times New Roman"/>
                <a:cs typeface="Times New Roman"/>
                <a:sym typeface="Times New Roman"/>
              </a:rPr>
              <a:t>A question answering system provides users with answers to specific questions.</a:t>
            </a:r>
            <a:endParaRPr dirty="0">
              <a:solidFill>
                <a:schemeClr val="dk1"/>
              </a:solidFill>
              <a:latin typeface="Times New Roman"/>
              <a:ea typeface="Times New Roman"/>
              <a:cs typeface="Times New Roman"/>
              <a:sym typeface="Times New Roman"/>
            </a:endParaRPr>
          </a:p>
          <a:p>
            <a:pPr marL="457200" lvl="0" indent="-317182" algn="just" rtl="0">
              <a:lnSpc>
                <a:spcPct val="115000"/>
              </a:lnSpc>
              <a:spcBef>
                <a:spcPts val="1000"/>
              </a:spcBef>
              <a:spcAft>
                <a:spcPts val="1000"/>
              </a:spcAft>
              <a:buSzPct val="100000"/>
              <a:buFont typeface="Times New Roman"/>
              <a:buChar char="●"/>
            </a:pPr>
            <a:r>
              <a:rPr lang="en" dirty="0">
                <a:solidFill>
                  <a:schemeClr val="dk1"/>
                </a:solidFill>
                <a:latin typeface="Times New Roman"/>
                <a:ea typeface="Times New Roman"/>
                <a:cs typeface="Times New Roman"/>
                <a:sym typeface="Times New Roman"/>
              </a:rPr>
              <a:t>Data retrieval systems retrieve precise data, usually organized in a well defined structure.</a:t>
            </a:r>
            <a:r>
              <a:rPr lang="en" dirty="0">
                <a:latin typeface="Times New Roman"/>
                <a:ea typeface="Times New Roman"/>
                <a:cs typeface="Times New Roman"/>
                <a:sym typeface="Times New Roman"/>
              </a:rPr>
              <a:t> Unlike DR system, IR system do not search for specific data nor do they search for direct answers to questions as QA systems do.</a:t>
            </a:r>
            <a:endParaRPr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1967ca3c761_0_0"/>
          <p:cNvSpPr txBox="1">
            <a:spLocks noGrp="1"/>
          </p:cNvSpPr>
          <p:nvPr>
            <p:ph type="title"/>
          </p:nvPr>
        </p:nvSpPr>
        <p:spPr>
          <a:xfrm>
            <a:off x="311700" y="445025"/>
            <a:ext cx="8520600" cy="4026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111111"/>
              <a:buNone/>
            </a:pPr>
            <a:r>
              <a:rPr lang="en"/>
              <a:t>Introduction</a:t>
            </a:r>
            <a:endParaRPr/>
          </a:p>
        </p:txBody>
      </p:sp>
      <p:sp>
        <p:nvSpPr>
          <p:cNvPr id="197" name="Google Shape;197;g1967ca3c761_0_0"/>
          <p:cNvSpPr txBox="1">
            <a:spLocks noGrp="1"/>
          </p:cNvSpPr>
          <p:nvPr>
            <p:ph type="body" idx="1"/>
          </p:nvPr>
        </p:nvSpPr>
        <p:spPr>
          <a:xfrm>
            <a:off x="311700" y="847625"/>
            <a:ext cx="8520600" cy="4005600"/>
          </a:xfrm>
          <a:prstGeom prst="rect">
            <a:avLst/>
          </a:prstGeom>
          <a:noFill/>
          <a:ln>
            <a:noFill/>
          </a:ln>
        </p:spPr>
        <p:txBody>
          <a:bodyPr spcFirstLastPara="1" wrap="square" lIns="91425" tIns="91425" rIns="91425" bIns="91425" anchor="ctr" anchorCtr="0">
            <a:normAutofit/>
          </a:bodyPr>
          <a:lstStyle/>
          <a:p>
            <a:pPr marL="457200" lvl="0" indent="0" algn="just" rtl="0">
              <a:lnSpc>
                <a:spcPct val="115000"/>
              </a:lnSpc>
              <a:spcBef>
                <a:spcPts val="1000"/>
              </a:spcBef>
              <a:spcAft>
                <a:spcPts val="1000"/>
              </a:spcAft>
              <a:buNone/>
            </a:pPr>
            <a:endParaRPr>
              <a:latin typeface="Times New Roman"/>
              <a:ea typeface="Times New Roman"/>
              <a:cs typeface="Times New Roman"/>
              <a:sym typeface="Times New Roman"/>
            </a:endParaRPr>
          </a:p>
        </p:txBody>
      </p:sp>
      <p:pic>
        <p:nvPicPr>
          <p:cNvPr id="198" name="Google Shape;198;g1967ca3c761_0_0"/>
          <p:cNvPicPr preferRelativeResize="0"/>
          <p:nvPr/>
        </p:nvPicPr>
        <p:blipFill>
          <a:blip r:embed="rId3">
            <a:alphaModFix/>
          </a:blip>
          <a:stretch>
            <a:fillRect/>
          </a:stretch>
        </p:blipFill>
        <p:spPr>
          <a:xfrm>
            <a:off x="835975" y="917275"/>
            <a:ext cx="7361124" cy="3866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Design Features of Information Retrieval Systems</a:t>
            </a:r>
            <a:endParaRPr/>
          </a:p>
        </p:txBody>
      </p:sp>
      <p:sp>
        <p:nvSpPr>
          <p:cNvPr id="204" name="Google Shape;204;p4"/>
          <p:cNvSpPr txBox="1">
            <a:spLocks noGrp="1"/>
          </p:cNvSpPr>
          <p:nvPr>
            <p:ph type="body" idx="1"/>
          </p:nvPr>
        </p:nvSpPr>
        <p:spPr>
          <a:xfrm>
            <a:off x="311700" y="1152475"/>
            <a:ext cx="5934000" cy="34164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0"/>
              </a:spcAft>
              <a:buSzPct val="129032"/>
              <a:buNone/>
            </a:pPr>
            <a:r>
              <a:rPr lang="en">
                <a:solidFill>
                  <a:srgbClr val="0000FF"/>
                </a:solidFill>
              </a:rPr>
              <a:t>Give Design feature of IR system. (6 M, Jan 2019)</a:t>
            </a:r>
            <a:endParaRPr>
              <a:solidFill>
                <a:srgbClr val="0000FF"/>
              </a:solidFill>
            </a:endParaRPr>
          </a:p>
          <a:p>
            <a:pPr marL="0" lvl="0" indent="0" algn="l" rtl="0">
              <a:lnSpc>
                <a:spcPct val="115000"/>
              </a:lnSpc>
              <a:spcBef>
                <a:spcPts val="1000"/>
              </a:spcBef>
              <a:spcAft>
                <a:spcPts val="0"/>
              </a:spcAft>
              <a:buSzPct val="139076"/>
              <a:buNone/>
            </a:pPr>
            <a:r>
              <a:rPr lang="en" sz="1670">
                <a:solidFill>
                  <a:srgbClr val="0000FF"/>
                </a:solidFill>
              </a:rPr>
              <a:t>Explain design feature of IR systems with a neat diagram (10 M, Feb 2021)</a:t>
            </a:r>
            <a:endParaRPr sz="1670">
              <a:solidFill>
                <a:srgbClr val="0000FF"/>
              </a:solidFill>
            </a:endParaRPr>
          </a:p>
          <a:p>
            <a:pPr marL="457200" lvl="0" indent="-317182" algn="l" rtl="0">
              <a:lnSpc>
                <a:spcPct val="115000"/>
              </a:lnSpc>
              <a:spcBef>
                <a:spcPts val="1000"/>
              </a:spcBef>
              <a:spcAft>
                <a:spcPts val="0"/>
              </a:spcAft>
              <a:buSzPct val="100000"/>
              <a:buChar char="●"/>
            </a:pPr>
            <a:r>
              <a:rPr lang="en"/>
              <a:t>The process of IR begins with the user’s information need.</a:t>
            </a:r>
            <a:endParaRPr/>
          </a:p>
          <a:p>
            <a:pPr marL="457200" lvl="0" indent="-317182" algn="l" rtl="0">
              <a:lnSpc>
                <a:spcPct val="115000"/>
              </a:lnSpc>
              <a:spcBef>
                <a:spcPts val="1000"/>
              </a:spcBef>
              <a:spcAft>
                <a:spcPts val="0"/>
              </a:spcAft>
              <a:buSzPct val="100000"/>
              <a:buChar char="●"/>
            </a:pPr>
            <a:r>
              <a:rPr lang="en"/>
              <a:t>Based on the need the user formulates a query.</a:t>
            </a:r>
            <a:endParaRPr/>
          </a:p>
          <a:p>
            <a:pPr marL="457200" lvl="0" indent="-317182" algn="l" rtl="0">
              <a:lnSpc>
                <a:spcPct val="115000"/>
              </a:lnSpc>
              <a:spcBef>
                <a:spcPts val="1000"/>
              </a:spcBef>
              <a:spcAft>
                <a:spcPts val="0"/>
              </a:spcAft>
              <a:buSzPct val="100000"/>
              <a:buChar char="●"/>
            </a:pPr>
            <a:r>
              <a:rPr lang="en"/>
              <a:t>The IR system returns documents that seem relevant to the query. </a:t>
            </a:r>
            <a:endParaRPr/>
          </a:p>
          <a:p>
            <a:pPr marL="457200" lvl="0" indent="-317182" algn="l" rtl="0">
              <a:lnSpc>
                <a:spcPct val="115000"/>
              </a:lnSpc>
              <a:spcBef>
                <a:spcPts val="1000"/>
              </a:spcBef>
              <a:spcAft>
                <a:spcPts val="0"/>
              </a:spcAft>
              <a:buSzPct val="100000"/>
              <a:buChar char="●"/>
            </a:pPr>
            <a:r>
              <a:rPr lang="en">
                <a:highlight>
                  <a:srgbClr val="00FFFF"/>
                </a:highlight>
              </a:rPr>
              <a:t>The retrieval is performed by matching the query representation with document representation.</a:t>
            </a:r>
            <a:endParaRPr>
              <a:highlight>
                <a:srgbClr val="00FFFF"/>
              </a:highlight>
            </a:endParaRPr>
          </a:p>
          <a:p>
            <a:pPr marL="457200" lvl="0" indent="-317182" algn="l" rtl="0">
              <a:lnSpc>
                <a:spcPct val="115000"/>
              </a:lnSpc>
              <a:spcBef>
                <a:spcPts val="1000"/>
              </a:spcBef>
              <a:spcAft>
                <a:spcPts val="1000"/>
              </a:spcAft>
              <a:buSzPct val="100000"/>
              <a:buChar char="●"/>
            </a:pPr>
            <a:r>
              <a:rPr lang="en"/>
              <a:t>The actual text of the document is not used in the retrieval process. Instead documents in a collection are frequently represented through </a:t>
            </a:r>
            <a:r>
              <a:rPr lang="en" b="1"/>
              <a:t>a set of index terms or keywords</a:t>
            </a:r>
            <a:r>
              <a:rPr lang="en"/>
              <a:t>. </a:t>
            </a:r>
            <a:endParaRPr/>
          </a:p>
        </p:txBody>
      </p:sp>
      <p:pic>
        <p:nvPicPr>
          <p:cNvPr id="205" name="Google Shape;205;p4"/>
          <p:cNvPicPr preferRelativeResize="0"/>
          <p:nvPr/>
        </p:nvPicPr>
        <p:blipFill rotWithShape="1">
          <a:blip r:embed="rId3">
            <a:alphaModFix/>
          </a:blip>
          <a:srcRect/>
          <a:stretch/>
        </p:blipFill>
        <p:spPr>
          <a:xfrm>
            <a:off x="6182350" y="1152475"/>
            <a:ext cx="2649950" cy="34164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Design Features of Information Retrieval Systems</a:t>
            </a:r>
            <a:endParaRPr/>
          </a:p>
        </p:txBody>
      </p:sp>
      <p:sp>
        <p:nvSpPr>
          <p:cNvPr id="211" name="Google Shape;211;p5"/>
          <p:cNvSpPr txBox="1">
            <a:spLocks noGrp="1"/>
          </p:cNvSpPr>
          <p:nvPr>
            <p:ph type="body" idx="1"/>
          </p:nvPr>
        </p:nvSpPr>
        <p:spPr>
          <a:xfrm>
            <a:off x="0" y="1017725"/>
            <a:ext cx="8314500" cy="3823800"/>
          </a:xfrm>
          <a:prstGeom prst="rect">
            <a:avLst/>
          </a:prstGeom>
          <a:noFill/>
          <a:ln>
            <a:noFill/>
          </a:ln>
        </p:spPr>
        <p:txBody>
          <a:bodyPr spcFirstLastPara="1" wrap="square" lIns="91425" tIns="91425" rIns="91425" bIns="91425" anchor="t" anchorCtr="0">
            <a:normAutofit/>
          </a:bodyPr>
          <a:lstStyle/>
          <a:p>
            <a:pPr marL="457200" lvl="0" indent="-317500" algn="l" rtl="0">
              <a:lnSpc>
                <a:spcPct val="100000"/>
              </a:lnSpc>
              <a:spcBef>
                <a:spcPts val="10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Representation of documents as a set of index terms or keywords provides a logical view of the document. </a:t>
            </a:r>
            <a:endParaRPr sz="1400">
              <a:solidFill>
                <a:schemeClr val="dk1"/>
              </a:solidFill>
              <a:latin typeface="Times New Roman"/>
              <a:ea typeface="Times New Roman"/>
              <a:cs typeface="Times New Roman"/>
              <a:sym typeface="Times New Roman"/>
            </a:endParaRPr>
          </a:p>
          <a:p>
            <a:pPr marL="457200" lvl="0" indent="-317500" algn="l" rtl="0">
              <a:lnSpc>
                <a:spcPct val="100000"/>
              </a:lnSpc>
              <a:spcBef>
                <a:spcPts val="1000"/>
              </a:spcBef>
              <a:spcAft>
                <a:spcPts val="0"/>
              </a:spcAft>
              <a:buClr>
                <a:schemeClr val="dk1"/>
              </a:buClr>
              <a:buSzPts val="1400"/>
              <a:buChar char="●"/>
            </a:pPr>
            <a:r>
              <a:rPr lang="en" sz="1400" b="1">
                <a:solidFill>
                  <a:schemeClr val="dk1"/>
                </a:solidFill>
                <a:highlight>
                  <a:srgbClr val="FFFF00"/>
                </a:highlight>
                <a:latin typeface="Times New Roman"/>
                <a:ea typeface="Times New Roman"/>
                <a:cs typeface="Times New Roman"/>
                <a:sym typeface="Times New Roman"/>
              </a:rPr>
              <a:t>The process of transforming document text to some representation of it is known as indexing.</a:t>
            </a:r>
            <a:endParaRPr sz="1400" b="1">
              <a:solidFill>
                <a:schemeClr val="dk1"/>
              </a:solidFill>
              <a:highlight>
                <a:srgbClr val="FFFF00"/>
              </a:highlight>
              <a:latin typeface="Times New Roman"/>
              <a:ea typeface="Times New Roman"/>
              <a:cs typeface="Times New Roman"/>
              <a:sym typeface="Times New Roman"/>
            </a:endParaRPr>
          </a:p>
          <a:p>
            <a:pPr marL="457200" lvl="0" indent="-317500" algn="l" rtl="0">
              <a:lnSpc>
                <a:spcPct val="100000"/>
              </a:lnSpc>
              <a:spcBef>
                <a:spcPts val="10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There are different types of index structures. The one commonly used is </a:t>
            </a:r>
            <a:r>
              <a:rPr lang="en" sz="1400" b="1">
                <a:solidFill>
                  <a:schemeClr val="dk1"/>
                </a:solidFill>
                <a:highlight>
                  <a:srgbClr val="FFFF00"/>
                </a:highlight>
                <a:latin typeface="Times New Roman"/>
                <a:ea typeface="Times New Roman"/>
                <a:cs typeface="Times New Roman"/>
                <a:sym typeface="Times New Roman"/>
              </a:rPr>
              <a:t>inverted index</a:t>
            </a:r>
            <a:r>
              <a:rPr lang="en" sz="1400" b="1">
                <a:solidFill>
                  <a:schemeClr val="dk1"/>
                </a:solidFill>
                <a:latin typeface="Times New Roman"/>
                <a:ea typeface="Times New Roman"/>
                <a:cs typeface="Times New Roman"/>
                <a:sym typeface="Times New Roman"/>
              </a:rPr>
              <a:t>.</a:t>
            </a:r>
            <a:endParaRPr sz="1400" b="1">
              <a:solidFill>
                <a:schemeClr val="dk1"/>
              </a:solidFill>
              <a:latin typeface="Times New Roman"/>
              <a:ea typeface="Times New Roman"/>
              <a:cs typeface="Times New Roman"/>
              <a:sym typeface="Times New Roman"/>
            </a:endParaRPr>
          </a:p>
          <a:p>
            <a:pPr marL="457200" lvl="0" indent="-317500" algn="l" rtl="0">
              <a:lnSpc>
                <a:spcPct val="100000"/>
              </a:lnSpc>
              <a:spcBef>
                <a:spcPts val="1000"/>
              </a:spcBef>
              <a:spcAft>
                <a:spcPts val="0"/>
              </a:spcAft>
              <a:buClr>
                <a:schemeClr val="dk1"/>
              </a:buClr>
              <a:buSzPts val="1400"/>
              <a:buChar char="●"/>
            </a:pPr>
            <a:r>
              <a:rPr lang="en" sz="1400" b="1">
                <a:solidFill>
                  <a:schemeClr val="dk1"/>
                </a:solidFill>
                <a:latin typeface="Times New Roman"/>
                <a:ea typeface="Times New Roman"/>
                <a:cs typeface="Times New Roman"/>
                <a:sym typeface="Times New Roman"/>
              </a:rPr>
              <a:t>An inverted index is a list of keywords, with each keyword carrying  pointers to the documents containing that keywords.</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marL="457200" lvl="0" indent="-317500" algn="l" rtl="0">
              <a:lnSpc>
                <a:spcPct val="100000"/>
              </a:lnSpc>
              <a:spcBef>
                <a:spcPts val="1000"/>
              </a:spcBef>
              <a:spcAft>
                <a:spcPts val="0"/>
              </a:spcAft>
              <a:buClr>
                <a:schemeClr val="dk1"/>
              </a:buClr>
              <a:buSzPts val="1400"/>
              <a:buFont typeface="Times New Roman"/>
              <a:buChar char="●"/>
            </a:pPr>
            <a:r>
              <a:rPr lang="en" sz="1400" b="1">
                <a:solidFill>
                  <a:schemeClr val="dk1"/>
                </a:solidFill>
                <a:highlight>
                  <a:srgbClr val="FFFFFF"/>
                </a:highlight>
                <a:latin typeface="Times New Roman"/>
                <a:ea typeface="Times New Roman"/>
                <a:cs typeface="Times New Roman"/>
                <a:sym typeface="Times New Roman"/>
              </a:rPr>
              <a:t>Note: </a:t>
            </a:r>
            <a:endParaRPr sz="1400" b="1">
              <a:solidFill>
                <a:schemeClr val="dk1"/>
              </a:solidFill>
              <a:highlight>
                <a:srgbClr val="FFFFFF"/>
              </a:highlight>
              <a:latin typeface="Times New Roman"/>
              <a:ea typeface="Times New Roman"/>
              <a:cs typeface="Times New Roman"/>
              <a:sym typeface="Times New Roman"/>
            </a:endParaRPr>
          </a:p>
          <a:p>
            <a:pPr marL="914400" lvl="1" indent="-317500" algn="l" rtl="0">
              <a:lnSpc>
                <a:spcPct val="100000"/>
              </a:lnSpc>
              <a:spcBef>
                <a:spcPts val="1000"/>
              </a:spcBef>
              <a:spcAft>
                <a:spcPts val="0"/>
              </a:spcAft>
              <a:buClr>
                <a:schemeClr val="dk1"/>
              </a:buClr>
              <a:buSzPts val="1400"/>
              <a:buChar char="○"/>
            </a:pPr>
            <a:r>
              <a:rPr lang="en">
                <a:solidFill>
                  <a:schemeClr val="dk1"/>
                </a:solidFill>
                <a:highlight>
                  <a:srgbClr val="FFFFFF"/>
                </a:highlight>
                <a:latin typeface="Times New Roman"/>
                <a:ea typeface="Times New Roman"/>
                <a:cs typeface="Times New Roman"/>
                <a:sym typeface="Times New Roman"/>
              </a:rPr>
              <a:t>A forward index (or just index) is the </a:t>
            </a:r>
            <a:r>
              <a:rPr lang="en" b="1">
                <a:solidFill>
                  <a:schemeClr val="dk1"/>
                </a:solidFill>
                <a:highlight>
                  <a:srgbClr val="FFFFFF"/>
                </a:highlight>
                <a:latin typeface="Times New Roman"/>
                <a:ea typeface="Times New Roman"/>
                <a:cs typeface="Times New Roman"/>
                <a:sym typeface="Times New Roman"/>
              </a:rPr>
              <a:t>list of documents</a:t>
            </a:r>
            <a:r>
              <a:rPr lang="en">
                <a:solidFill>
                  <a:schemeClr val="dk1"/>
                </a:solidFill>
                <a:highlight>
                  <a:srgbClr val="FFFFFF"/>
                </a:highlight>
                <a:latin typeface="Times New Roman"/>
                <a:ea typeface="Times New Roman"/>
                <a:cs typeface="Times New Roman"/>
                <a:sym typeface="Times New Roman"/>
              </a:rPr>
              <a:t>, and which words appear in them. </a:t>
            </a:r>
            <a:endParaRPr>
              <a:solidFill>
                <a:schemeClr val="dk1"/>
              </a:solidFill>
              <a:highlight>
                <a:srgbClr val="FFFFFF"/>
              </a:highlight>
              <a:latin typeface="Times New Roman"/>
              <a:ea typeface="Times New Roman"/>
              <a:cs typeface="Times New Roman"/>
              <a:sym typeface="Times New Roman"/>
            </a:endParaRPr>
          </a:p>
          <a:p>
            <a:pPr marL="914400" lvl="1" indent="-317500" algn="l" rtl="0">
              <a:lnSpc>
                <a:spcPct val="100000"/>
              </a:lnSpc>
              <a:spcBef>
                <a:spcPts val="1000"/>
              </a:spcBef>
              <a:spcAft>
                <a:spcPts val="0"/>
              </a:spcAft>
              <a:buClr>
                <a:schemeClr val="dk1"/>
              </a:buClr>
              <a:buSzPts val="1400"/>
              <a:buChar char="○"/>
            </a:pPr>
            <a:r>
              <a:rPr lang="en">
                <a:solidFill>
                  <a:schemeClr val="dk1"/>
                </a:solidFill>
                <a:highlight>
                  <a:srgbClr val="FFFFFF"/>
                </a:highlight>
                <a:latin typeface="Times New Roman"/>
                <a:ea typeface="Times New Roman"/>
                <a:cs typeface="Times New Roman"/>
                <a:sym typeface="Times New Roman"/>
              </a:rPr>
              <a:t>The inverted index is the </a:t>
            </a:r>
            <a:r>
              <a:rPr lang="en" b="1">
                <a:solidFill>
                  <a:schemeClr val="dk1"/>
                </a:solidFill>
                <a:highlight>
                  <a:srgbClr val="FFFFFF"/>
                </a:highlight>
                <a:latin typeface="Times New Roman"/>
                <a:ea typeface="Times New Roman"/>
                <a:cs typeface="Times New Roman"/>
                <a:sym typeface="Times New Roman"/>
              </a:rPr>
              <a:t>list of words</a:t>
            </a:r>
            <a:r>
              <a:rPr lang="en">
                <a:solidFill>
                  <a:schemeClr val="dk1"/>
                </a:solidFill>
                <a:highlight>
                  <a:srgbClr val="FFFFFF"/>
                </a:highlight>
                <a:latin typeface="Times New Roman"/>
                <a:ea typeface="Times New Roman"/>
                <a:cs typeface="Times New Roman"/>
                <a:sym typeface="Times New Roman"/>
              </a:rPr>
              <a:t>, and the documents in which they appear. </a:t>
            </a:r>
            <a:endParaRPr>
              <a:solidFill>
                <a:schemeClr val="dk1"/>
              </a:solidFill>
              <a:highlight>
                <a:srgbClr val="FFFFFF"/>
              </a:highlight>
              <a:latin typeface="Times New Roman"/>
              <a:ea typeface="Times New Roman"/>
              <a:cs typeface="Times New Roman"/>
              <a:sym typeface="Times New Roman"/>
            </a:endParaRPr>
          </a:p>
          <a:p>
            <a:pPr marL="914400" lvl="1" indent="-317500" algn="l" rtl="0">
              <a:lnSpc>
                <a:spcPct val="100000"/>
              </a:lnSpc>
              <a:spcBef>
                <a:spcPts val="1000"/>
              </a:spcBef>
              <a:spcAft>
                <a:spcPts val="0"/>
              </a:spcAft>
              <a:buClr>
                <a:schemeClr val="dk1"/>
              </a:buClr>
              <a:buSzPts val="1400"/>
              <a:buFont typeface="Times New Roman"/>
              <a:buChar char="○"/>
            </a:pPr>
            <a:r>
              <a:rPr lang="en">
                <a:solidFill>
                  <a:schemeClr val="dk1"/>
                </a:solidFill>
                <a:highlight>
                  <a:srgbClr val="FFFFFF"/>
                </a:highlight>
                <a:latin typeface="Times New Roman"/>
                <a:ea typeface="Times New Roman"/>
                <a:cs typeface="Times New Roman"/>
                <a:sym typeface="Times New Roman"/>
              </a:rPr>
              <a:t>They are both indexes - it's just a question of which direction you're going. </a:t>
            </a:r>
            <a:endParaRPr>
              <a:solidFill>
                <a:schemeClr val="dk1"/>
              </a:solidFill>
              <a:highlight>
                <a:srgbClr val="FFFFFF"/>
              </a:highlight>
              <a:latin typeface="Times New Roman"/>
              <a:ea typeface="Times New Roman"/>
              <a:cs typeface="Times New Roman"/>
              <a:sym typeface="Times New Roman"/>
            </a:endParaRPr>
          </a:p>
          <a:p>
            <a:pPr marL="914400" lvl="1" indent="-317500" algn="l" rtl="0">
              <a:lnSpc>
                <a:spcPct val="100000"/>
              </a:lnSpc>
              <a:spcBef>
                <a:spcPts val="1000"/>
              </a:spcBef>
              <a:spcAft>
                <a:spcPts val="1000"/>
              </a:spcAft>
              <a:buClr>
                <a:schemeClr val="dk1"/>
              </a:buClr>
              <a:buSzPts val="1400"/>
              <a:buFont typeface="Times New Roman"/>
              <a:buChar char="○"/>
            </a:pPr>
            <a:r>
              <a:rPr lang="en">
                <a:solidFill>
                  <a:schemeClr val="dk1"/>
                </a:solidFill>
                <a:highlight>
                  <a:srgbClr val="FFFFFF"/>
                </a:highlight>
                <a:latin typeface="Times New Roman"/>
                <a:ea typeface="Times New Roman"/>
                <a:cs typeface="Times New Roman"/>
                <a:sym typeface="Times New Roman"/>
              </a:rPr>
              <a:t>Forward is from documents-&gt;to-&gt;words, inverted is from words-&gt;to-&gt;documents.</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1967ca3c761_0_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Design Features of Information Retrieval Systems</a:t>
            </a:r>
            <a:endParaRPr/>
          </a:p>
        </p:txBody>
      </p:sp>
      <p:sp>
        <p:nvSpPr>
          <p:cNvPr id="217" name="Google Shape;217;g1967ca3c761_0_6"/>
          <p:cNvSpPr txBox="1">
            <a:spLocks noGrp="1"/>
          </p:cNvSpPr>
          <p:nvPr>
            <p:ph type="body" idx="1"/>
          </p:nvPr>
        </p:nvSpPr>
        <p:spPr>
          <a:xfrm>
            <a:off x="0" y="1017725"/>
            <a:ext cx="8314500" cy="3823800"/>
          </a:xfrm>
          <a:prstGeom prst="rect">
            <a:avLst/>
          </a:prstGeom>
          <a:noFill/>
          <a:ln>
            <a:noFill/>
          </a:ln>
        </p:spPr>
        <p:txBody>
          <a:bodyPr spcFirstLastPara="1" wrap="square" lIns="91425" tIns="91425" rIns="91425" bIns="91425" anchor="t" anchorCtr="0">
            <a:normAutofit/>
          </a:bodyPr>
          <a:lstStyle/>
          <a:p>
            <a:pPr marL="457200" lvl="0" indent="0" algn="l" rtl="0">
              <a:lnSpc>
                <a:spcPct val="100000"/>
              </a:lnSpc>
              <a:spcBef>
                <a:spcPts val="1000"/>
              </a:spcBef>
              <a:spcAft>
                <a:spcPts val="1000"/>
              </a:spcAft>
              <a:buNone/>
            </a:pPr>
            <a:endParaRPr b="1">
              <a:solidFill>
                <a:schemeClr val="dk1"/>
              </a:solidFill>
              <a:latin typeface="Times New Roman"/>
              <a:ea typeface="Times New Roman"/>
              <a:cs typeface="Times New Roman"/>
              <a:sym typeface="Times New Roman"/>
            </a:endParaRPr>
          </a:p>
        </p:txBody>
      </p:sp>
      <p:pic>
        <p:nvPicPr>
          <p:cNvPr id="218" name="Google Shape;218;g1967ca3c761_0_6"/>
          <p:cNvPicPr preferRelativeResize="0"/>
          <p:nvPr/>
        </p:nvPicPr>
        <p:blipFill>
          <a:blip r:embed="rId3">
            <a:alphaModFix/>
          </a:blip>
          <a:stretch>
            <a:fillRect/>
          </a:stretch>
        </p:blipFill>
        <p:spPr>
          <a:xfrm>
            <a:off x="417975" y="1114625"/>
            <a:ext cx="7465625" cy="3494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Design Features of Information Retrieval Systems</a:t>
            </a:r>
            <a:endParaRPr/>
          </a:p>
          <a:p>
            <a:pPr marL="0" lvl="0" indent="0" algn="l" rtl="0">
              <a:lnSpc>
                <a:spcPct val="100000"/>
              </a:lnSpc>
              <a:spcBef>
                <a:spcPts val="0"/>
              </a:spcBef>
              <a:spcAft>
                <a:spcPts val="0"/>
              </a:spcAft>
              <a:buSzPct val="111111"/>
              <a:buNone/>
            </a:pPr>
            <a:endParaRPr/>
          </a:p>
        </p:txBody>
      </p:sp>
      <p:sp>
        <p:nvSpPr>
          <p:cNvPr id="224" name="Google Shape;22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rmAutofit fontScale="77500" lnSpcReduction="20000"/>
          </a:bodyPr>
          <a:lstStyle/>
          <a:p>
            <a:pPr marL="457200" lvl="0" indent="-325755" algn="just" rtl="0">
              <a:lnSpc>
                <a:spcPct val="100000"/>
              </a:lnSpc>
              <a:spcBef>
                <a:spcPts val="1000"/>
              </a:spcBef>
              <a:spcAft>
                <a:spcPts val="0"/>
              </a:spcAft>
              <a:buClr>
                <a:schemeClr val="dk1"/>
              </a:buClr>
              <a:buSzPct val="100000"/>
              <a:buChar char="●"/>
            </a:pPr>
            <a:r>
              <a:rPr lang="en">
                <a:solidFill>
                  <a:schemeClr val="dk1"/>
                </a:solidFill>
                <a:latin typeface="Times New Roman"/>
                <a:ea typeface="Times New Roman"/>
                <a:cs typeface="Times New Roman"/>
                <a:sym typeface="Times New Roman"/>
              </a:rPr>
              <a:t>The computational cost involved in adopting a full text logical view, i.e., using a full set of words to represent a document is high. Hence, some </a:t>
            </a:r>
            <a:r>
              <a:rPr lang="en" b="1">
                <a:solidFill>
                  <a:schemeClr val="dk1"/>
                </a:solidFill>
                <a:latin typeface="Times New Roman"/>
                <a:ea typeface="Times New Roman"/>
                <a:cs typeface="Times New Roman"/>
                <a:sym typeface="Times New Roman"/>
              </a:rPr>
              <a:t>text operations</a:t>
            </a:r>
            <a:r>
              <a:rPr lang="en">
                <a:solidFill>
                  <a:schemeClr val="dk1"/>
                </a:solidFill>
                <a:latin typeface="Times New Roman"/>
                <a:ea typeface="Times New Roman"/>
                <a:cs typeface="Times New Roman"/>
                <a:sym typeface="Times New Roman"/>
              </a:rPr>
              <a:t> are performed to reduce the set of representative keywords. </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Char char="●"/>
            </a:pPr>
            <a:r>
              <a:rPr lang="en">
                <a:solidFill>
                  <a:schemeClr val="dk1"/>
                </a:solidFill>
                <a:latin typeface="Times New Roman"/>
                <a:ea typeface="Times New Roman"/>
                <a:cs typeface="Times New Roman"/>
                <a:sym typeface="Times New Roman"/>
              </a:rPr>
              <a:t>The two  most commonly used text operations are </a:t>
            </a:r>
            <a:r>
              <a:rPr lang="en" b="1">
                <a:solidFill>
                  <a:schemeClr val="dk1"/>
                </a:solidFill>
                <a:highlight>
                  <a:srgbClr val="FFFF00"/>
                </a:highlight>
                <a:latin typeface="Times New Roman"/>
                <a:ea typeface="Times New Roman"/>
                <a:cs typeface="Times New Roman"/>
                <a:sym typeface="Times New Roman"/>
              </a:rPr>
              <a:t>stop word elimination and stemming.</a:t>
            </a:r>
            <a:endParaRPr b="1">
              <a:solidFill>
                <a:schemeClr val="dk1"/>
              </a:solidFill>
              <a:highlight>
                <a:srgbClr val="FFFF00"/>
              </a:highlight>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Stop word elimination removes grammatical or functional words.</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Stemming reduces words to their common grammatical roots.</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Char char="●"/>
            </a:pPr>
            <a:r>
              <a:rPr lang="en" b="1">
                <a:solidFill>
                  <a:schemeClr val="dk1"/>
                </a:solidFill>
                <a:latin typeface="Times New Roman"/>
                <a:ea typeface="Times New Roman"/>
                <a:cs typeface="Times New Roman"/>
                <a:sym typeface="Times New Roman"/>
              </a:rPr>
              <a:t>Zipf’s law</a:t>
            </a:r>
            <a:r>
              <a:rPr lang="en">
                <a:solidFill>
                  <a:schemeClr val="dk1"/>
                </a:solidFill>
                <a:latin typeface="Times New Roman"/>
                <a:ea typeface="Times New Roman"/>
                <a:cs typeface="Times New Roman"/>
                <a:sym typeface="Times New Roman"/>
              </a:rPr>
              <a:t> is applied to further reduce the size of index set.</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Char char="●"/>
            </a:pPr>
            <a:r>
              <a:rPr lang="en">
                <a:solidFill>
                  <a:schemeClr val="dk1"/>
                </a:solidFill>
                <a:latin typeface="Times New Roman"/>
                <a:ea typeface="Times New Roman"/>
                <a:cs typeface="Times New Roman"/>
                <a:sym typeface="Times New Roman"/>
              </a:rPr>
              <a:t>All terms in a document will not be equally relevant. Few might be more important in conveying a document’s content.</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Char char="●"/>
            </a:pPr>
            <a:r>
              <a:rPr lang="en">
                <a:solidFill>
                  <a:schemeClr val="dk1"/>
                </a:solidFill>
                <a:latin typeface="Times New Roman"/>
                <a:ea typeface="Times New Roman"/>
                <a:cs typeface="Times New Roman"/>
                <a:sym typeface="Times New Roman"/>
              </a:rPr>
              <a:t>We quantify the significance of index terms to a document by assigning them numerical values called </a:t>
            </a:r>
            <a:r>
              <a:rPr lang="en" b="1">
                <a:solidFill>
                  <a:schemeClr val="dk1"/>
                </a:solidFill>
                <a:latin typeface="Times New Roman"/>
                <a:ea typeface="Times New Roman"/>
                <a:cs typeface="Times New Roman"/>
                <a:sym typeface="Times New Roman"/>
              </a:rPr>
              <a:t>weights</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1000"/>
              </a:spcAft>
              <a:buClr>
                <a:schemeClr val="dk1"/>
              </a:buClr>
              <a:buSzPct val="100000"/>
              <a:buChar char="●"/>
            </a:pPr>
            <a:r>
              <a:rPr lang="en">
                <a:solidFill>
                  <a:schemeClr val="dk1"/>
                </a:solidFill>
                <a:latin typeface="Times New Roman"/>
                <a:ea typeface="Times New Roman"/>
                <a:cs typeface="Times New Roman"/>
                <a:sym typeface="Times New Roman"/>
              </a:rPr>
              <a:t>A number of </a:t>
            </a:r>
            <a:r>
              <a:rPr lang="en" b="1">
                <a:solidFill>
                  <a:schemeClr val="dk1"/>
                </a:solidFill>
                <a:latin typeface="Times New Roman"/>
                <a:ea typeface="Times New Roman"/>
                <a:cs typeface="Times New Roman"/>
                <a:sym typeface="Times New Roman"/>
              </a:rPr>
              <a:t>term-weighting schemes</a:t>
            </a:r>
            <a:r>
              <a:rPr lang="en">
                <a:solidFill>
                  <a:schemeClr val="dk1"/>
                </a:solidFill>
                <a:latin typeface="Times New Roman"/>
                <a:ea typeface="Times New Roman"/>
                <a:cs typeface="Times New Roman"/>
                <a:sym typeface="Times New Roman"/>
              </a:rPr>
              <a:t> are available.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7"/>
          <p:cNvSpPr txBox="1">
            <a:spLocks noGrp="1"/>
          </p:cNvSpPr>
          <p:nvPr>
            <p:ph type="title"/>
          </p:nvPr>
        </p:nvSpPr>
        <p:spPr>
          <a:xfrm>
            <a:off x="311700" y="445025"/>
            <a:ext cx="8520600" cy="2865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Indexing</a:t>
            </a:r>
            <a:endParaRPr/>
          </a:p>
        </p:txBody>
      </p:sp>
      <p:sp>
        <p:nvSpPr>
          <p:cNvPr id="230" name="Google Shape;230;p7"/>
          <p:cNvSpPr txBox="1">
            <a:spLocks noGrp="1"/>
          </p:cNvSpPr>
          <p:nvPr>
            <p:ph type="body" idx="1"/>
          </p:nvPr>
        </p:nvSpPr>
        <p:spPr>
          <a:xfrm>
            <a:off x="311700" y="731525"/>
            <a:ext cx="8520600" cy="3837300"/>
          </a:xfrm>
          <a:prstGeom prst="rect">
            <a:avLst/>
          </a:prstGeom>
          <a:noFill/>
          <a:ln>
            <a:noFill/>
          </a:ln>
        </p:spPr>
        <p:txBody>
          <a:bodyPr spcFirstLastPara="1" wrap="square" lIns="91425" tIns="91425" rIns="91425" bIns="91425" anchor="t" anchorCtr="0">
            <a:normAutofit fontScale="85000" lnSpcReduction="20000"/>
          </a:bodyPr>
          <a:lstStyle/>
          <a:p>
            <a:pPr marL="0" lvl="0" indent="0" algn="just" rtl="0">
              <a:lnSpc>
                <a:spcPct val="115000"/>
              </a:lnSpc>
              <a:spcBef>
                <a:spcPts val="0"/>
              </a:spcBef>
              <a:spcAft>
                <a:spcPts val="0"/>
              </a:spcAft>
              <a:buSzPct val="117647"/>
              <a:buNone/>
            </a:pPr>
            <a:r>
              <a:rPr lang="en" b="1">
                <a:solidFill>
                  <a:srgbClr val="0000FF"/>
                </a:solidFill>
              </a:rPr>
              <a:t>Define indexing. List and explain methods used to reduce the set of representative keywords during indexing.  (10 Marks, June/July 2019)</a:t>
            </a:r>
            <a:endParaRPr b="1">
              <a:solidFill>
                <a:srgbClr val="0000FF"/>
              </a:solidFill>
            </a:endParaRPr>
          </a:p>
          <a:p>
            <a:pPr marL="457200" lvl="0" indent="-325755" algn="just" rtl="0">
              <a:lnSpc>
                <a:spcPct val="100000"/>
              </a:lnSpc>
              <a:spcBef>
                <a:spcPts val="10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In a small collection of documents, an IR system can access a document to decide its relevance to a query. However, in a large collection of documents, the same technique poses practical problems. </a:t>
            </a:r>
            <a:r>
              <a:rPr lang="en" b="1">
                <a:solidFill>
                  <a:schemeClr val="dk1"/>
                </a:solidFill>
                <a:highlight>
                  <a:srgbClr val="FFFF00"/>
                </a:highlight>
                <a:latin typeface="Times New Roman"/>
                <a:ea typeface="Times New Roman"/>
                <a:cs typeface="Times New Roman"/>
                <a:sym typeface="Times New Roman"/>
              </a:rPr>
              <a:t>Hence a collection of raw documents is usually transformed into an easily accessible representation. This process of transforming a collection of raw documents into an easily accessible representation is known as </a:t>
            </a:r>
            <a:r>
              <a:rPr lang="en" b="1">
                <a:solidFill>
                  <a:schemeClr val="dk1"/>
                </a:solidFill>
                <a:highlight>
                  <a:srgbClr val="00FFFF"/>
                </a:highlight>
                <a:latin typeface="Times New Roman"/>
                <a:ea typeface="Times New Roman"/>
                <a:cs typeface="Times New Roman"/>
                <a:sym typeface="Times New Roman"/>
              </a:rPr>
              <a:t>indexing.</a:t>
            </a:r>
            <a:endParaRPr b="1">
              <a:solidFill>
                <a:schemeClr val="dk1"/>
              </a:solidFill>
              <a:highlight>
                <a:srgbClr val="00FFFF"/>
              </a:highlight>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Indexing technique involves identifying </a:t>
            </a:r>
            <a:r>
              <a:rPr lang="en" b="1">
                <a:solidFill>
                  <a:schemeClr val="dk1"/>
                </a:solidFill>
                <a:latin typeface="Times New Roman"/>
                <a:ea typeface="Times New Roman"/>
                <a:cs typeface="Times New Roman"/>
                <a:sym typeface="Times New Roman"/>
              </a:rPr>
              <a:t>good document descriptors</a:t>
            </a:r>
            <a:r>
              <a:rPr lang="en">
                <a:solidFill>
                  <a:schemeClr val="dk1"/>
                </a:solidFill>
                <a:latin typeface="Times New Roman"/>
                <a:ea typeface="Times New Roman"/>
                <a:cs typeface="Times New Roman"/>
                <a:sym typeface="Times New Roman"/>
              </a:rPr>
              <a:t> such as keywords or terms, which help in describing the content of the document and as well as discriminating it from other documents in the collection.</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0"/>
              </a:spcAft>
              <a:buClr>
                <a:schemeClr val="dk1"/>
              </a:buClr>
              <a:buSzPct val="100000"/>
              <a:buChar char="●"/>
            </a:pPr>
            <a:r>
              <a:rPr lang="en" b="1">
                <a:solidFill>
                  <a:schemeClr val="dk1"/>
                </a:solidFill>
                <a:latin typeface="Times New Roman"/>
                <a:ea typeface="Times New Roman"/>
                <a:cs typeface="Times New Roman"/>
                <a:sym typeface="Times New Roman"/>
              </a:rPr>
              <a:t>Luhn</a:t>
            </a:r>
            <a:r>
              <a:rPr lang="en">
                <a:solidFill>
                  <a:schemeClr val="dk1"/>
                </a:solidFill>
                <a:latin typeface="Times New Roman"/>
                <a:ea typeface="Times New Roman"/>
                <a:cs typeface="Times New Roman"/>
                <a:sym typeface="Times New Roman"/>
              </a:rPr>
              <a:t>, proposed that the </a:t>
            </a:r>
            <a:r>
              <a:rPr lang="en">
                <a:solidFill>
                  <a:schemeClr val="dk1"/>
                </a:solidFill>
                <a:highlight>
                  <a:srgbClr val="FFFF00"/>
                </a:highlight>
                <a:latin typeface="Times New Roman"/>
                <a:ea typeface="Times New Roman"/>
                <a:cs typeface="Times New Roman"/>
                <a:sym typeface="Times New Roman"/>
              </a:rPr>
              <a:t>discrimination power of index terms is a function of the rank order of the frequency of their occurrence  and that middle frequency terms have the highest discrimination power. This model was proposed for the extraction of salient terms from a document. These extracted terms are then used to represent text.</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457200" lvl="0" indent="-325755" algn="just" rtl="0">
              <a:lnSpc>
                <a:spcPct val="100000"/>
              </a:lnSpc>
              <a:spcBef>
                <a:spcPts val="1000"/>
              </a:spcBef>
              <a:spcAft>
                <a:spcPts val="1000"/>
              </a:spcAft>
              <a:buClr>
                <a:schemeClr val="dk1"/>
              </a:buClr>
              <a:buSzPct val="100000"/>
              <a:buChar char="●"/>
            </a:pPr>
            <a:r>
              <a:rPr lang="en" b="1">
                <a:solidFill>
                  <a:schemeClr val="dk1"/>
                </a:solidFill>
                <a:highlight>
                  <a:srgbClr val="00FFFF"/>
                </a:highlight>
                <a:latin typeface="Times New Roman"/>
                <a:ea typeface="Times New Roman"/>
                <a:cs typeface="Times New Roman"/>
                <a:sym typeface="Times New Roman"/>
              </a:rPr>
              <a:t>Hence indexing is simply the representation of text (both query and document) as a set of terms whose meaning is equivalent to some content of the original text.</a:t>
            </a:r>
            <a:endParaRPr b="1">
              <a:solidFill>
                <a:schemeClr val="dk1"/>
              </a:solidFill>
              <a:highlight>
                <a:srgbClr val="00FFFF"/>
              </a:highlight>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1967ca3c761_0_12"/>
          <p:cNvSpPr txBox="1">
            <a:spLocks noGrp="1"/>
          </p:cNvSpPr>
          <p:nvPr>
            <p:ph type="title"/>
          </p:nvPr>
        </p:nvSpPr>
        <p:spPr>
          <a:xfrm>
            <a:off x="311700" y="445025"/>
            <a:ext cx="8520600" cy="2865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Indexing</a:t>
            </a:r>
            <a:endParaRPr/>
          </a:p>
        </p:txBody>
      </p:sp>
      <p:sp>
        <p:nvSpPr>
          <p:cNvPr id="236" name="Google Shape;236;g1967ca3c761_0_12"/>
          <p:cNvSpPr txBox="1">
            <a:spLocks noGrp="1"/>
          </p:cNvSpPr>
          <p:nvPr>
            <p:ph type="body" idx="1"/>
          </p:nvPr>
        </p:nvSpPr>
        <p:spPr>
          <a:xfrm>
            <a:off x="311700" y="731525"/>
            <a:ext cx="8520600" cy="3837300"/>
          </a:xfrm>
          <a:prstGeom prst="rect">
            <a:avLst/>
          </a:prstGeom>
          <a:noFill/>
          <a:ln>
            <a:noFill/>
          </a:ln>
        </p:spPr>
        <p:txBody>
          <a:bodyPr spcFirstLastPara="1" wrap="square" lIns="91425" tIns="91425" rIns="91425" bIns="91425" anchor="ctr" anchorCtr="0">
            <a:normAutofit/>
          </a:bodyPr>
          <a:lstStyle/>
          <a:p>
            <a:pPr marL="457200" lvl="0" indent="-342900" algn="just" rtl="0">
              <a:lnSpc>
                <a:spcPct val="100000"/>
              </a:lnSpc>
              <a:spcBef>
                <a:spcPts val="1000"/>
              </a:spcBef>
              <a:spcAft>
                <a:spcPts val="0"/>
              </a:spcAft>
              <a:buClr>
                <a:schemeClr val="dk1"/>
              </a:buClr>
              <a:buSzPts val="1800"/>
              <a:buChar char="●"/>
            </a:pPr>
            <a:r>
              <a:rPr lang="en" dirty="0">
                <a:solidFill>
                  <a:schemeClr val="dk1"/>
                </a:solidFill>
                <a:latin typeface="Times New Roman"/>
                <a:ea typeface="Times New Roman"/>
                <a:cs typeface="Times New Roman"/>
                <a:sym typeface="Times New Roman"/>
              </a:rPr>
              <a:t>The word term can be a single word or multi-word phrases. </a:t>
            </a:r>
            <a:r>
              <a:rPr lang="en" dirty="0">
                <a:solidFill>
                  <a:schemeClr val="dk1"/>
                </a:solidFill>
                <a:highlight>
                  <a:srgbClr val="FFFF00"/>
                </a:highlight>
                <a:latin typeface="Times New Roman"/>
                <a:ea typeface="Times New Roman"/>
                <a:cs typeface="Times New Roman"/>
                <a:sym typeface="Times New Roman"/>
              </a:rPr>
              <a:t>For example, the sentence, Design features of information retrieval systems, can be represented as -</a:t>
            </a:r>
            <a:endParaRPr dirty="0">
              <a:solidFill>
                <a:schemeClr val="dk1"/>
              </a:solidFill>
              <a:highlight>
                <a:srgbClr val="FFFF00"/>
              </a:highlight>
              <a:latin typeface="Times New Roman"/>
              <a:ea typeface="Times New Roman"/>
              <a:cs typeface="Times New Roman"/>
              <a:sym typeface="Times New Roman"/>
            </a:endParaRPr>
          </a:p>
          <a:p>
            <a:pPr marL="457200" lvl="0" indent="0" algn="just" rtl="0">
              <a:lnSpc>
                <a:spcPct val="100000"/>
              </a:lnSpc>
              <a:spcBef>
                <a:spcPts val="1000"/>
              </a:spcBef>
              <a:spcAft>
                <a:spcPts val="0"/>
              </a:spcAft>
              <a:buNone/>
            </a:pPr>
            <a:r>
              <a:rPr lang="en" dirty="0">
                <a:solidFill>
                  <a:schemeClr val="dk1"/>
                </a:solidFill>
                <a:highlight>
                  <a:srgbClr val="FFFF00"/>
                </a:highlight>
                <a:latin typeface="Times New Roman"/>
                <a:ea typeface="Times New Roman"/>
                <a:cs typeface="Times New Roman"/>
                <a:sym typeface="Times New Roman"/>
              </a:rPr>
              <a:t>Design, features, information, retrieval, systems</a:t>
            </a:r>
            <a:endParaRPr dirty="0">
              <a:solidFill>
                <a:schemeClr val="dk1"/>
              </a:solidFill>
              <a:highlight>
                <a:srgbClr val="FFFF00"/>
              </a:highlight>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It can also be represented by the set of terms:</a:t>
            </a:r>
            <a:endParaRPr dirty="0">
              <a:solidFill>
                <a:schemeClr val="dk1"/>
              </a:solidFill>
              <a:latin typeface="Times New Roman"/>
              <a:ea typeface="Times New Roman"/>
              <a:cs typeface="Times New Roman"/>
              <a:sym typeface="Times New Roman"/>
            </a:endParaRPr>
          </a:p>
          <a:p>
            <a:pPr marL="457200" lvl="0" indent="0" algn="just" rtl="0">
              <a:lnSpc>
                <a:spcPct val="100000"/>
              </a:lnSpc>
              <a:spcBef>
                <a:spcPts val="1000"/>
              </a:spcBef>
              <a:spcAft>
                <a:spcPts val="0"/>
              </a:spcAft>
              <a:buNone/>
            </a:pPr>
            <a:r>
              <a:rPr lang="en" dirty="0">
                <a:solidFill>
                  <a:schemeClr val="dk1"/>
                </a:solidFill>
                <a:highlight>
                  <a:srgbClr val="FFFF00"/>
                </a:highlight>
                <a:latin typeface="Times New Roman"/>
                <a:ea typeface="Times New Roman"/>
                <a:cs typeface="Times New Roman"/>
                <a:sym typeface="Times New Roman"/>
              </a:rPr>
              <a:t>Design, features, information retrieval, information retrieval systems</a:t>
            </a:r>
            <a:endParaRPr dirty="0">
              <a:solidFill>
                <a:schemeClr val="dk1"/>
              </a:solidFill>
              <a:highlight>
                <a:srgbClr val="FFFF00"/>
              </a:highlight>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Multi-word terms are obtained by looking at frequently appearing sequences of words, n-grams, part-of-speech tags, or by applying NLP to identify meaningful phrases.</a:t>
            </a:r>
            <a:endParaRPr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POS tagging helps to extract meaningful sequences of words, it handles sense ambiguity as words are assigned POS based on their local or sentential context</a:t>
            </a:r>
            <a:endParaRPr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1967ca3c761_0_17"/>
          <p:cNvSpPr txBox="1">
            <a:spLocks noGrp="1"/>
          </p:cNvSpPr>
          <p:nvPr>
            <p:ph type="title"/>
          </p:nvPr>
        </p:nvSpPr>
        <p:spPr>
          <a:xfrm>
            <a:off x="311700" y="445025"/>
            <a:ext cx="8520600" cy="2865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Indexing</a:t>
            </a:r>
            <a:endParaRPr/>
          </a:p>
        </p:txBody>
      </p:sp>
      <p:sp>
        <p:nvSpPr>
          <p:cNvPr id="242" name="Google Shape;242;g1967ca3c761_0_17"/>
          <p:cNvSpPr txBox="1">
            <a:spLocks noGrp="1"/>
          </p:cNvSpPr>
          <p:nvPr>
            <p:ph type="body" idx="1"/>
          </p:nvPr>
        </p:nvSpPr>
        <p:spPr>
          <a:xfrm>
            <a:off x="311700" y="731525"/>
            <a:ext cx="8520600" cy="3837300"/>
          </a:xfrm>
          <a:prstGeom prst="rect">
            <a:avLst/>
          </a:prstGeom>
          <a:noFill/>
          <a:ln>
            <a:noFill/>
          </a:ln>
        </p:spPr>
        <p:txBody>
          <a:bodyPr spcFirstLastPara="1" wrap="square" lIns="91425" tIns="91425" rIns="91425" bIns="91425" anchor="ctr" anchorCtr="0">
            <a:normAutofit/>
          </a:bodyPr>
          <a:lstStyle/>
          <a:p>
            <a:pPr marL="457200" lvl="0" indent="-342900" algn="just" rtl="0">
              <a:lnSpc>
                <a:spcPct val="100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In text retrieval conference (TREC), the method used for phrase extraction is -</a:t>
            </a:r>
            <a:endParaRPr>
              <a:solidFill>
                <a:schemeClr val="dk1"/>
              </a:solidFill>
              <a:latin typeface="Times New Roman"/>
              <a:ea typeface="Times New Roman"/>
              <a:cs typeface="Times New Roman"/>
              <a:sym typeface="Times New Roman"/>
            </a:endParaRPr>
          </a:p>
          <a:p>
            <a:pPr marL="914400" lvl="0" indent="-342900" algn="just" rtl="0">
              <a:lnSpc>
                <a:spcPct val="100000"/>
              </a:lnSpc>
              <a:spcBef>
                <a:spcPts val="10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Any pair of adjacent non-stop words is regarded a potential phrase.</a:t>
            </a:r>
            <a:endParaRPr>
              <a:solidFill>
                <a:schemeClr val="dk1"/>
              </a:solidFill>
              <a:latin typeface="Times New Roman"/>
              <a:ea typeface="Times New Roman"/>
              <a:cs typeface="Times New Roman"/>
              <a:sym typeface="Times New Roman"/>
            </a:endParaRPr>
          </a:p>
          <a:p>
            <a:pPr marL="914400" lvl="0" indent="-342900" algn="just" rtl="0">
              <a:lnSpc>
                <a:spcPct val="100000"/>
              </a:lnSpc>
              <a:spcBef>
                <a:spcPts val="10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The final list of phrases is composed of those pairs of words that occur in, say, 25 or more documents in the document collection.</a:t>
            </a:r>
            <a:endParaRPr>
              <a:solidFill>
                <a:schemeClr val="dk1"/>
              </a:solidFill>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The NLP is also used in the recognition of proper nouns and the normalization of noun phrases.</a:t>
            </a:r>
            <a:endParaRPr>
              <a:solidFill>
                <a:schemeClr val="dk1"/>
              </a:solidFill>
              <a:latin typeface="Times New Roman"/>
              <a:ea typeface="Times New Roman"/>
              <a:cs typeface="Times New Roman"/>
              <a:sym typeface="Times New Roman"/>
            </a:endParaRPr>
          </a:p>
          <a:p>
            <a:pPr marL="457200" lvl="0" indent="-342900" algn="just" rtl="0">
              <a:lnSpc>
                <a:spcPct val="100000"/>
              </a:lnSpc>
              <a:spcBef>
                <a:spcPts val="1000"/>
              </a:spcBef>
              <a:spcAft>
                <a:spcPts val="100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Phrase normalization captures structural variations in phrases. For example, the three phrases, </a:t>
            </a:r>
            <a:r>
              <a:rPr lang="en">
                <a:solidFill>
                  <a:schemeClr val="dk1"/>
                </a:solidFill>
                <a:highlight>
                  <a:srgbClr val="00FFFF"/>
                </a:highlight>
                <a:latin typeface="Times New Roman"/>
                <a:ea typeface="Times New Roman"/>
                <a:cs typeface="Times New Roman"/>
                <a:sym typeface="Times New Roman"/>
              </a:rPr>
              <a:t>text categorization, categorization of text, and  categorize text</a:t>
            </a:r>
            <a:r>
              <a:rPr lang="en">
                <a:solidFill>
                  <a:schemeClr val="dk1"/>
                </a:solidFill>
                <a:latin typeface="Times New Roman"/>
                <a:ea typeface="Times New Roman"/>
                <a:cs typeface="Times New Roman"/>
                <a:sym typeface="Times New Roman"/>
              </a:rPr>
              <a:t> are normalized to give </a:t>
            </a:r>
            <a:r>
              <a:rPr lang="en">
                <a:solidFill>
                  <a:schemeClr val="dk1"/>
                </a:solidFill>
                <a:highlight>
                  <a:srgbClr val="FFFF00"/>
                </a:highlight>
                <a:latin typeface="Times New Roman"/>
                <a:ea typeface="Times New Roman"/>
                <a:cs typeface="Times New Roman"/>
                <a:sym typeface="Times New Roman"/>
              </a:rPr>
              <a:t>text categorize</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Eliminating Stop Words</a:t>
            </a:r>
            <a:endParaRPr/>
          </a:p>
        </p:txBody>
      </p:sp>
      <p:sp>
        <p:nvSpPr>
          <p:cNvPr id="248" name="Google Shape;248;p8"/>
          <p:cNvSpPr txBox="1">
            <a:spLocks noGrp="1"/>
          </p:cNvSpPr>
          <p:nvPr>
            <p:ph type="body" idx="1"/>
          </p:nvPr>
        </p:nvSpPr>
        <p:spPr>
          <a:xfrm>
            <a:off x="311700" y="894025"/>
            <a:ext cx="8520600" cy="36750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946"/>
              <a:buNone/>
            </a:pPr>
            <a:r>
              <a:rPr lang="en" b="1">
                <a:solidFill>
                  <a:srgbClr val="0000FF"/>
                </a:solidFill>
              </a:rPr>
              <a:t>Stop word elimination may be harmful - justify (Jan 2020, 4 Marks)</a:t>
            </a:r>
            <a:endParaRPr b="1">
              <a:solidFill>
                <a:srgbClr val="0000FF"/>
              </a:solidFill>
            </a:endParaRPr>
          </a:p>
          <a:p>
            <a:pPr marL="0" lvl="0" indent="0" algn="l" rtl="0">
              <a:lnSpc>
                <a:spcPct val="115000"/>
              </a:lnSpc>
              <a:spcBef>
                <a:spcPts val="1200"/>
              </a:spcBef>
              <a:spcAft>
                <a:spcPts val="0"/>
              </a:spcAft>
              <a:buSzPts val="1946"/>
              <a:buNone/>
            </a:pPr>
            <a:r>
              <a:rPr lang="en" b="1">
                <a:solidFill>
                  <a:srgbClr val="0000FF"/>
                </a:solidFill>
              </a:rPr>
              <a:t>Explain the benefits of eliminating stop words. Give examples in which stop word elimination may be harmful. (4 M, Feb 2021)</a:t>
            </a:r>
            <a:endParaRPr b="1">
              <a:solidFill>
                <a:srgbClr val="0000FF"/>
              </a:solidFill>
            </a:endParaRPr>
          </a:p>
          <a:p>
            <a:pPr marL="457200" lvl="0" indent="-342899" algn="just" rtl="0">
              <a:lnSpc>
                <a:spcPct val="100000"/>
              </a:lnSpc>
              <a:spcBef>
                <a:spcPts val="1000"/>
              </a:spcBef>
              <a:spcAft>
                <a:spcPts val="0"/>
              </a:spcAft>
              <a:buSzPts val="1800"/>
              <a:buFont typeface="Times New Roman"/>
              <a:buChar char="●"/>
            </a:pPr>
            <a:r>
              <a:rPr lang="en">
                <a:latin typeface="Times New Roman"/>
                <a:ea typeface="Times New Roman"/>
                <a:cs typeface="Times New Roman"/>
                <a:sym typeface="Times New Roman"/>
              </a:rPr>
              <a:t>The lexical processing of index terms involves elimination of stop words.</a:t>
            </a:r>
            <a:endParaRPr>
              <a:latin typeface="Times New Roman"/>
              <a:ea typeface="Times New Roman"/>
              <a:cs typeface="Times New Roman"/>
              <a:sym typeface="Times New Roman"/>
            </a:endParaRPr>
          </a:p>
          <a:p>
            <a:pPr marL="457200" lvl="0" indent="-342899" algn="just" rtl="0">
              <a:lnSpc>
                <a:spcPct val="100000"/>
              </a:lnSpc>
              <a:spcBef>
                <a:spcPts val="1000"/>
              </a:spcBef>
              <a:spcAft>
                <a:spcPts val="0"/>
              </a:spcAft>
              <a:buSzPts val="1800"/>
              <a:buFont typeface="Times New Roman"/>
              <a:buChar char="●"/>
            </a:pPr>
            <a:r>
              <a:rPr lang="en">
                <a:highlight>
                  <a:srgbClr val="FFFF00"/>
                </a:highlight>
                <a:latin typeface="Times New Roman"/>
                <a:ea typeface="Times New Roman"/>
                <a:cs typeface="Times New Roman"/>
                <a:sym typeface="Times New Roman"/>
              </a:rPr>
              <a:t>Stop words are high frequency words which have little semantic weight</a:t>
            </a:r>
            <a:r>
              <a:rPr lang="en">
                <a:latin typeface="Times New Roman"/>
                <a:ea typeface="Times New Roman"/>
                <a:cs typeface="Times New Roman"/>
                <a:sym typeface="Times New Roman"/>
              </a:rPr>
              <a:t> and are thus, unlikely to help in retrieval. </a:t>
            </a:r>
            <a:endParaRPr>
              <a:latin typeface="Times New Roman"/>
              <a:ea typeface="Times New Roman"/>
              <a:cs typeface="Times New Roman"/>
              <a:sym typeface="Times New Roman"/>
            </a:endParaRPr>
          </a:p>
          <a:p>
            <a:pPr marL="457200" lvl="0" indent="-342900" algn="just" rtl="0">
              <a:lnSpc>
                <a:spcPct val="100000"/>
              </a:lnSpc>
              <a:spcBef>
                <a:spcPts val="1000"/>
              </a:spcBef>
              <a:spcAft>
                <a:spcPts val="0"/>
              </a:spcAft>
              <a:buSzPts val="1800"/>
              <a:buFont typeface="Times New Roman"/>
              <a:buChar char="●"/>
            </a:pPr>
            <a:r>
              <a:rPr lang="en">
                <a:highlight>
                  <a:srgbClr val="FFFF00"/>
                </a:highlight>
                <a:latin typeface="Times New Roman"/>
                <a:ea typeface="Times New Roman"/>
                <a:cs typeface="Times New Roman"/>
                <a:sym typeface="Times New Roman"/>
              </a:rPr>
              <a:t>Stop words play important grammatical role in language but do not contribute to the semantic content of a document in a keyword based representation.</a:t>
            </a:r>
            <a:r>
              <a:rPr lang="en">
                <a:latin typeface="Times New Roman"/>
                <a:ea typeface="Times New Roman"/>
                <a:cs typeface="Times New Roman"/>
                <a:sym typeface="Times New Roman"/>
              </a:rPr>
              <a:t> Such words are commonly used in documents regardless of topics and thus, have no typical specificity.</a:t>
            </a:r>
            <a:endParaRPr>
              <a:latin typeface="Times New Roman"/>
              <a:ea typeface="Times New Roman"/>
              <a:cs typeface="Times New Roman"/>
              <a:sym typeface="Times New Roman"/>
            </a:endParaRPr>
          </a:p>
          <a:p>
            <a:pPr marL="457200" lvl="0" indent="-342899" algn="just" rtl="0">
              <a:lnSpc>
                <a:spcPct val="100000"/>
              </a:lnSpc>
              <a:spcBef>
                <a:spcPts val="1000"/>
              </a:spcBef>
              <a:spcAft>
                <a:spcPts val="1000"/>
              </a:spcAft>
              <a:buSzPts val="1800"/>
              <a:buChar char="●"/>
            </a:pPr>
            <a:r>
              <a:rPr lang="en">
                <a:latin typeface="Times New Roman"/>
                <a:ea typeface="Times New Roman"/>
                <a:cs typeface="Times New Roman"/>
                <a:sym typeface="Times New Roman"/>
              </a:rPr>
              <a:t>Typical  example of stop words are </a:t>
            </a:r>
            <a:r>
              <a:rPr lang="en" b="1">
                <a:latin typeface="Times New Roman"/>
                <a:ea typeface="Times New Roman"/>
                <a:cs typeface="Times New Roman"/>
                <a:sym typeface="Times New Roman"/>
              </a:rPr>
              <a:t>articles and prepositions</a:t>
            </a:r>
            <a:r>
              <a:rPr lang="en">
                <a:latin typeface="Times New Roman"/>
                <a:ea typeface="Times New Roman"/>
                <a:cs typeface="Times New Roman"/>
                <a:sym typeface="Times New Roman"/>
              </a:rPr>
              <a:t>. Eliminating them considerably reduces the number of index terms.</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Advantages and Disadvantages of Eliminating Stop words</a:t>
            </a:r>
            <a:endParaRPr/>
          </a:p>
        </p:txBody>
      </p:sp>
      <p:sp>
        <p:nvSpPr>
          <p:cNvPr id="254" name="Google Shape;254;p9"/>
          <p:cNvSpPr txBox="1">
            <a:spLocks noGrp="1"/>
          </p:cNvSpPr>
          <p:nvPr>
            <p:ph type="body" idx="1"/>
          </p:nvPr>
        </p:nvSpPr>
        <p:spPr>
          <a:xfrm>
            <a:off x="311700" y="1152475"/>
            <a:ext cx="8520600" cy="351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b="1">
                <a:solidFill>
                  <a:schemeClr val="dk1"/>
                </a:solidFill>
                <a:latin typeface="Times New Roman"/>
                <a:ea typeface="Times New Roman"/>
                <a:cs typeface="Times New Roman"/>
                <a:sym typeface="Times New Roman"/>
              </a:rPr>
              <a:t>Advantages:</a:t>
            </a:r>
            <a:endParaRPr b="1">
              <a:solidFill>
                <a:schemeClr val="dk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Eliminating stop words can result in considerable reduction in number of index terms without losing any significant information. </a:t>
            </a:r>
            <a:endParaRPr>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0"/>
              </a:spcAft>
              <a:buSzPts val="1800"/>
              <a:buNone/>
            </a:pPr>
            <a:r>
              <a:rPr lang="en" b="1">
                <a:solidFill>
                  <a:schemeClr val="dk1"/>
                </a:solidFill>
                <a:latin typeface="Times New Roman"/>
                <a:ea typeface="Times New Roman"/>
                <a:cs typeface="Times New Roman"/>
                <a:sym typeface="Times New Roman"/>
              </a:rPr>
              <a:t>Disadvantages:</a:t>
            </a:r>
            <a:endParaRPr b="1">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The drawback of eliminating stop words is that it can sometimes result in elimination of useful index terms.</a:t>
            </a:r>
            <a:endParaRPr>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For example, the stop word ‘A’ in Vitamin A.</a:t>
            </a:r>
            <a:endParaRPr>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Some phrases like ‘to be or not to be’ consist entirely of stop words.</a:t>
            </a:r>
            <a:r>
              <a:rPr lang="en">
                <a:solidFill>
                  <a:schemeClr val="dk1"/>
                </a:solidFill>
                <a:latin typeface="Times New Roman"/>
                <a:ea typeface="Times New Roman"/>
                <a:cs typeface="Times New Roman"/>
                <a:sym typeface="Times New Roman"/>
              </a:rPr>
              <a:t> Eliminating stop words in this case makes it impossible to correctly search a document.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Sample Stop Words in English</a:t>
            </a:r>
            <a:endParaRPr/>
          </a:p>
        </p:txBody>
      </p:sp>
      <p:sp>
        <p:nvSpPr>
          <p:cNvPr id="260" name="Google Shape;260;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261" name="Google Shape;261;p10"/>
          <p:cNvPicPr preferRelativeResize="0"/>
          <p:nvPr/>
        </p:nvPicPr>
        <p:blipFill rotWithShape="1">
          <a:blip r:embed="rId3">
            <a:alphaModFix/>
          </a:blip>
          <a:srcRect/>
          <a:stretch/>
        </p:blipFill>
        <p:spPr>
          <a:xfrm>
            <a:off x="311700" y="1152475"/>
            <a:ext cx="8520600" cy="3723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Stemming</a:t>
            </a:r>
            <a:endParaRPr/>
          </a:p>
        </p:txBody>
      </p:sp>
      <p:sp>
        <p:nvSpPr>
          <p:cNvPr id="267" name="Google Shape;267;p11"/>
          <p:cNvSpPr txBox="1">
            <a:spLocks noGrp="1"/>
          </p:cNvSpPr>
          <p:nvPr>
            <p:ph type="body" idx="1"/>
          </p:nvPr>
        </p:nvSpPr>
        <p:spPr>
          <a:xfrm>
            <a:off x="311700" y="958550"/>
            <a:ext cx="8520600" cy="3610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500" b="1">
                <a:solidFill>
                  <a:srgbClr val="0000FF"/>
                </a:solidFill>
                <a:latin typeface="Times New Roman"/>
                <a:ea typeface="Times New Roman"/>
                <a:cs typeface="Times New Roman"/>
                <a:sym typeface="Times New Roman"/>
              </a:rPr>
              <a:t>How stemming affects the performance of IR system? (4M Jan 2020)</a:t>
            </a:r>
            <a:endParaRPr sz="1500" b="1">
              <a:solidFill>
                <a:srgbClr val="0000FF"/>
              </a:solidFill>
              <a:latin typeface="Times New Roman"/>
              <a:ea typeface="Times New Roman"/>
              <a:cs typeface="Times New Roman"/>
              <a:sym typeface="Times New Roman"/>
            </a:endParaRPr>
          </a:p>
          <a:p>
            <a:pPr marL="457200" lvl="0" indent="-323850" algn="l" rtl="0">
              <a:lnSpc>
                <a:spcPct val="115000"/>
              </a:lnSpc>
              <a:spcBef>
                <a:spcPts val="1000"/>
              </a:spcBef>
              <a:spcAft>
                <a:spcPts val="0"/>
              </a:spcAft>
              <a:buSzPts val="1500"/>
              <a:buFont typeface="Times New Roman"/>
              <a:buChar char="●"/>
            </a:pPr>
            <a:r>
              <a:rPr lang="en" sz="1500" b="1">
                <a:highlight>
                  <a:srgbClr val="EAD1DC"/>
                </a:highlight>
                <a:latin typeface="Times New Roman"/>
                <a:ea typeface="Times New Roman"/>
                <a:cs typeface="Times New Roman"/>
                <a:sym typeface="Times New Roman"/>
              </a:rPr>
              <a:t>Stemming normalizes morphological variants by removing affixes from the words to reduce them to their stem.</a:t>
            </a:r>
            <a:endParaRPr sz="1500" b="1">
              <a:highlight>
                <a:srgbClr val="EAD1DC"/>
              </a:highlight>
              <a:latin typeface="Times New Roman"/>
              <a:ea typeface="Times New Roman"/>
              <a:cs typeface="Times New Roman"/>
              <a:sym typeface="Times New Roman"/>
            </a:endParaRPr>
          </a:p>
          <a:p>
            <a:pPr marL="457200" lvl="0" indent="-323850" algn="l" rtl="0">
              <a:lnSpc>
                <a:spcPct val="115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Example The words </a:t>
            </a:r>
            <a:r>
              <a:rPr lang="en" sz="1500">
                <a:highlight>
                  <a:srgbClr val="00FFFF"/>
                </a:highlight>
                <a:latin typeface="Times New Roman"/>
                <a:ea typeface="Times New Roman"/>
                <a:cs typeface="Times New Roman"/>
                <a:sym typeface="Times New Roman"/>
              </a:rPr>
              <a:t>compute, computing, computes and computer</a:t>
            </a:r>
            <a:r>
              <a:rPr lang="en" sz="1500">
                <a:latin typeface="Times New Roman"/>
                <a:ea typeface="Times New Roman"/>
                <a:cs typeface="Times New Roman"/>
                <a:sym typeface="Times New Roman"/>
              </a:rPr>
              <a:t> will be reduced to it stem </a:t>
            </a:r>
            <a:r>
              <a:rPr lang="en" sz="1500">
                <a:highlight>
                  <a:srgbClr val="FFFF00"/>
                </a:highlight>
                <a:latin typeface="Times New Roman"/>
                <a:ea typeface="Times New Roman"/>
                <a:cs typeface="Times New Roman"/>
                <a:sym typeface="Times New Roman"/>
              </a:rPr>
              <a:t>comput</a:t>
            </a: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p>
            <a:pPr marL="457200" lvl="0" indent="-323850" algn="l" rtl="0">
              <a:lnSpc>
                <a:spcPct val="115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Hence, the keywords or terms used to represent text are </a:t>
            </a:r>
            <a:r>
              <a:rPr lang="en" sz="1500" b="1">
                <a:latin typeface="Times New Roman"/>
                <a:ea typeface="Times New Roman"/>
                <a:cs typeface="Times New Roman"/>
                <a:sym typeface="Times New Roman"/>
              </a:rPr>
              <a:t>stems </a:t>
            </a:r>
            <a:r>
              <a:rPr lang="en" sz="1500">
                <a:latin typeface="Times New Roman"/>
                <a:ea typeface="Times New Roman"/>
                <a:cs typeface="Times New Roman"/>
                <a:sym typeface="Times New Roman"/>
              </a:rPr>
              <a:t>and not the actual words.</a:t>
            </a:r>
            <a:endParaRPr sz="1500">
              <a:latin typeface="Times New Roman"/>
              <a:ea typeface="Times New Roman"/>
              <a:cs typeface="Times New Roman"/>
              <a:sym typeface="Times New Roman"/>
            </a:endParaRPr>
          </a:p>
          <a:p>
            <a:pPr marL="457200" lvl="0" indent="-323850" algn="l" rtl="0">
              <a:lnSpc>
                <a:spcPct val="115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The stemmed representation of the text - </a:t>
            </a:r>
            <a:endParaRPr sz="1500">
              <a:latin typeface="Times New Roman"/>
              <a:ea typeface="Times New Roman"/>
              <a:cs typeface="Times New Roman"/>
              <a:sym typeface="Times New Roman"/>
            </a:endParaRPr>
          </a:p>
          <a:p>
            <a:pPr marL="914400" lvl="0" indent="0" algn="l" rtl="0">
              <a:lnSpc>
                <a:spcPct val="115000"/>
              </a:lnSpc>
              <a:spcBef>
                <a:spcPts val="1000"/>
              </a:spcBef>
              <a:spcAft>
                <a:spcPts val="0"/>
              </a:spcAft>
              <a:buSzPts val="1800"/>
              <a:buNone/>
            </a:pPr>
            <a:r>
              <a:rPr lang="en" sz="1500">
                <a:latin typeface="Times New Roman"/>
                <a:ea typeface="Times New Roman"/>
                <a:cs typeface="Times New Roman"/>
                <a:sym typeface="Times New Roman"/>
              </a:rPr>
              <a:t>‘</a:t>
            </a:r>
            <a:r>
              <a:rPr lang="en" sz="1500" b="1">
                <a:latin typeface="Times New Roman"/>
                <a:ea typeface="Times New Roman"/>
                <a:cs typeface="Times New Roman"/>
                <a:sym typeface="Times New Roman"/>
              </a:rPr>
              <a:t>Design features of information retrieval systems</a:t>
            </a:r>
            <a:r>
              <a:rPr lang="en" sz="1500">
                <a:latin typeface="Times New Roman"/>
                <a:ea typeface="Times New Roman"/>
                <a:cs typeface="Times New Roman"/>
                <a:sym typeface="Times New Roman"/>
              </a:rPr>
              <a:t>’ is </a:t>
            </a:r>
            <a:endParaRPr sz="1500">
              <a:latin typeface="Times New Roman"/>
              <a:ea typeface="Times New Roman"/>
              <a:cs typeface="Times New Roman"/>
              <a:sym typeface="Times New Roman"/>
            </a:endParaRPr>
          </a:p>
          <a:p>
            <a:pPr marL="914400" lvl="0" indent="0" algn="l" rtl="0">
              <a:lnSpc>
                <a:spcPct val="115000"/>
              </a:lnSpc>
              <a:spcBef>
                <a:spcPts val="1000"/>
              </a:spcBef>
              <a:spcAft>
                <a:spcPts val="0"/>
              </a:spcAft>
              <a:buSzPts val="1800"/>
              <a:buNone/>
            </a:pPr>
            <a:r>
              <a:rPr lang="en" sz="1500" b="1">
                <a:latin typeface="Times New Roman"/>
                <a:ea typeface="Times New Roman"/>
                <a:cs typeface="Times New Roman"/>
                <a:sym typeface="Times New Roman"/>
              </a:rPr>
              <a:t>{design, featur, inform, retriev, system}</a:t>
            </a:r>
            <a:endParaRPr sz="1500" b="1">
              <a:latin typeface="Times New Roman"/>
              <a:ea typeface="Times New Roman"/>
              <a:cs typeface="Times New Roman"/>
              <a:sym typeface="Times New Roman"/>
            </a:endParaRPr>
          </a:p>
          <a:p>
            <a:pPr marL="457200" lvl="0" indent="0" algn="l" rtl="0">
              <a:lnSpc>
                <a:spcPct val="115000"/>
              </a:lnSpc>
              <a:spcBef>
                <a:spcPts val="1000"/>
              </a:spcBef>
              <a:spcAft>
                <a:spcPts val="1000"/>
              </a:spcAft>
              <a:buSzPts val="1800"/>
              <a:buNone/>
            </a:pPr>
            <a:r>
              <a:rPr lang="en" sz="1500">
                <a:latin typeface="Times New Roman"/>
                <a:ea typeface="Times New Roman"/>
                <a:cs typeface="Times New Roman"/>
                <a:sym typeface="Times New Roman"/>
              </a:rPr>
              <a:t>The stop words have been removed and the remaining terms are in lower case.</a:t>
            </a:r>
            <a:endParaRPr sz="15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Advantages and Disadvantages of Stemming</a:t>
            </a:r>
            <a:endParaRPr/>
          </a:p>
        </p:txBody>
      </p:sp>
      <p:sp>
        <p:nvSpPr>
          <p:cNvPr id="273" name="Google Shape;273;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b="1">
                <a:latin typeface="Times New Roman"/>
                <a:ea typeface="Times New Roman"/>
                <a:cs typeface="Times New Roman"/>
                <a:sym typeface="Times New Roman"/>
              </a:rPr>
              <a:t>Advantages:</a:t>
            </a:r>
            <a:endParaRPr b="1">
              <a:latin typeface="Times New Roman"/>
              <a:ea typeface="Times New Roman"/>
              <a:cs typeface="Times New Roman"/>
              <a:sym typeface="Times New Roman"/>
            </a:endParaRPr>
          </a:p>
          <a:p>
            <a:pPr marL="457200" lvl="0" indent="-342900" algn="l" rtl="0">
              <a:lnSpc>
                <a:spcPct val="115000"/>
              </a:lnSpc>
              <a:spcBef>
                <a:spcPts val="1200"/>
              </a:spcBef>
              <a:spcAft>
                <a:spcPts val="0"/>
              </a:spcAft>
              <a:buSzPts val="1800"/>
              <a:buFont typeface="Times New Roman"/>
              <a:buChar char="●"/>
            </a:pPr>
            <a:r>
              <a:rPr lang="en">
                <a:highlight>
                  <a:schemeClr val="accent6"/>
                </a:highlight>
                <a:latin typeface="Times New Roman"/>
                <a:ea typeface="Times New Roman"/>
                <a:cs typeface="Times New Roman"/>
                <a:sym typeface="Times New Roman"/>
              </a:rPr>
              <a:t>Stemming is useful to help combine similar terms resulting in increased recall.</a:t>
            </a:r>
            <a:endParaRPr>
              <a:highlight>
                <a:schemeClr val="accent6"/>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Char char="●"/>
            </a:pPr>
            <a:r>
              <a:rPr lang="en">
                <a:latin typeface="Times New Roman"/>
                <a:ea typeface="Times New Roman"/>
                <a:cs typeface="Times New Roman"/>
                <a:sym typeface="Times New Roman"/>
              </a:rPr>
              <a:t>Eg., The words compute, computing, computers and computer will be reduced to its stem </a:t>
            </a:r>
            <a:r>
              <a:rPr lang="en" b="1">
                <a:latin typeface="Times New Roman"/>
                <a:ea typeface="Times New Roman"/>
                <a:cs typeface="Times New Roman"/>
                <a:sym typeface="Times New Roman"/>
              </a:rPr>
              <a:t>comput</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SzPts val="1800"/>
              <a:buNone/>
            </a:pPr>
            <a:r>
              <a:rPr lang="en" b="1">
                <a:latin typeface="Times New Roman"/>
                <a:ea typeface="Times New Roman"/>
                <a:cs typeface="Times New Roman"/>
                <a:sym typeface="Times New Roman"/>
              </a:rPr>
              <a:t>Disadvantages:</a:t>
            </a:r>
            <a:endParaRPr b="1">
              <a:latin typeface="Times New Roman"/>
              <a:ea typeface="Times New Roman"/>
              <a:cs typeface="Times New Roman"/>
              <a:sym typeface="Times New Roman"/>
            </a:endParaRPr>
          </a:p>
          <a:p>
            <a:pPr marL="457200" lvl="0" indent="-342900" algn="l" rtl="0">
              <a:lnSpc>
                <a:spcPct val="115000"/>
              </a:lnSpc>
              <a:spcBef>
                <a:spcPts val="1200"/>
              </a:spcBef>
              <a:spcAft>
                <a:spcPts val="0"/>
              </a:spcAft>
              <a:buSzPts val="1800"/>
              <a:buFont typeface="Times New Roman"/>
              <a:buChar char="●"/>
            </a:pPr>
            <a:r>
              <a:rPr lang="en">
                <a:latin typeface="Times New Roman"/>
                <a:ea typeface="Times New Roman"/>
                <a:cs typeface="Times New Roman"/>
                <a:sym typeface="Times New Roman"/>
              </a:rPr>
              <a:t>Stemming may throw away useful distinctions.</a:t>
            </a:r>
            <a:endParaRPr>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
                <a:highlight>
                  <a:srgbClr val="FFFF00"/>
                </a:highlight>
                <a:latin typeface="Times New Roman"/>
                <a:ea typeface="Times New Roman"/>
                <a:cs typeface="Times New Roman"/>
                <a:sym typeface="Times New Roman"/>
              </a:rPr>
              <a:t>In some cases it may be resulting in reduced precision. Eg., when documents containing the term computation are returned in response to the query phrase ‘personal computer’.</a:t>
            </a:r>
            <a:endParaRPr>
              <a:highlight>
                <a:srgbClr val="FFFF00"/>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sp>
        <p:nvSpPr>
          <p:cNvPr id="278" name="Google Shape;278;p13"/>
          <p:cNvSpPr txBox="1">
            <a:spLocks noGrp="1"/>
          </p:cNvSpPr>
          <p:nvPr>
            <p:ph type="title"/>
          </p:nvPr>
        </p:nvSpPr>
        <p:spPr>
          <a:xfrm>
            <a:off x="311700" y="445025"/>
            <a:ext cx="8520600" cy="3753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111111"/>
              <a:buNone/>
            </a:pPr>
            <a:r>
              <a:rPr lang="en"/>
              <a:t>Precision and Recall</a:t>
            </a:r>
            <a:endParaRPr/>
          </a:p>
        </p:txBody>
      </p:sp>
      <p:sp>
        <p:nvSpPr>
          <p:cNvPr id="279" name="Google Shape;279;p13"/>
          <p:cNvSpPr txBox="1">
            <a:spLocks noGrp="1"/>
          </p:cNvSpPr>
          <p:nvPr>
            <p:ph type="body" idx="1"/>
          </p:nvPr>
        </p:nvSpPr>
        <p:spPr>
          <a:xfrm>
            <a:off x="311700" y="884900"/>
            <a:ext cx="8520600" cy="3684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n"/>
              <a:t>https://www.youtube.com/watch?v=ZpiJNez28fY&amp;list=RDCMUCIZ3CSNL-8mBHfFZLic1-aQ&amp;index=5</a:t>
            </a:r>
            <a:endParaRPr/>
          </a:p>
        </p:txBody>
      </p:sp>
      <p:pic>
        <p:nvPicPr>
          <p:cNvPr id="280" name="Google Shape;280;p13"/>
          <p:cNvPicPr preferRelativeResize="0"/>
          <p:nvPr/>
        </p:nvPicPr>
        <p:blipFill rotWithShape="1">
          <a:blip r:embed="rId3">
            <a:alphaModFix/>
          </a:blip>
          <a:srcRect/>
          <a:stretch/>
        </p:blipFill>
        <p:spPr>
          <a:xfrm>
            <a:off x="516175" y="1603675"/>
            <a:ext cx="7982576" cy="28828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4"/>
          <p:cNvSpPr txBox="1">
            <a:spLocks noGrp="1"/>
          </p:cNvSpPr>
          <p:nvPr>
            <p:ph type="title"/>
          </p:nvPr>
        </p:nvSpPr>
        <p:spPr>
          <a:xfrm>
            <a:off x="311700" y="445025"/>
            <a:ext cx="8520600" cy="3570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111111"/>
              <a:buNone/>
            </a:pPr>
            <a:r>
              <a:rPr lang="en"/>
              <a:t>IR System</a:t>
            </a:r>
            <a:endParaRPr/>
          </a:p>
        </p:txBody>
      </p:sp>
      <p:sp>
        <p:nvSpPr>
          <p:cNvPr id="286" name="Google Shape;286;p14"/>
          <p:cNvSpPr txBox="1">
            <a:spLocks noGrp="1"/>
          </p:cNvSpPr>
          <p:nvPr>
            <p:ph type="body" idx="1"/>
          </p:nvPr>
        </p:nvSpPr>
        <p:spPr>
          <a:xfrm>
            <a:off x="311700" y="802025"/>
            <a:ext cx="8520600" cy="4065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287" name="Google Shape;287;p14"/>
          <p:cNvPicPr preferRelativeResize="0"/>
          <p:nvPr/>
        </p:nvPicPr>
        <p:blipFill rotWithShape="1">
          <a:blip r:embed="rId3">
            <a:alphaModFix/>
          </a:blip>
          <a:srcRect/>
          <a:stretch/>
        </p:blipFill>
        <p:spPr>
          <a:xfrm>
            <a:off x="1971575" y="802025"/>
            <a:ext cx="5297676" cy="39035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5"/>
          <p:cNvSpPr txBox="1">
            <a:spLocks noGrp="1"/>
          </p:cNvSpPr>
          <p:nvPr>
            <p:ph type="title"/>
          </p:nvPr>
        </p:nvSpPr>
        <p:spPr>
          <a:xfrm>
            <a:off x="311700" y="445025"/>
            <a:ext cx="8520600" cy="420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Zipf’s Law</a:t>
            </a:r>
            <a:endParaRPr/>
          </a:p>
        </p:txBody>
      </p:sp>
      <p:sp>
        <p:nvSpPr>
          <p:cNvPr id="293" name="Google Shape;293;p15"/>
          <p:cNvSpPr txBox="1">
            <a:spLocks noGrp="1"/>
          </p:cNvSpPr>
          <p:nvPr>
            <p:ph type="body" idx="1"/>
          </p:nvPr>
        </p:nvSpPr>
        <p:spPr>
          <a:xfrm>
            <a:off x="311700" y="909725"/>
            <a:ext cx="8832300" cy="4233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sz="1400" b="1">
                <a:solidFill>
                  <a:srgbClr val="0000FF"/>
                </a:solidFill>
                <a:latin typeface="Times New Roman"/>
                <a:ea typeface="Times New Roman"/>
                <a:cs typeface="Times New Roman"/>
                <a:sym typeface="Times New Roman"/>
              </a:rPr>
              <a:t>State and Explain Zip’s law (4 M, Feb 2021)</a:t>
            </a:r>
            <a:endParaRPr sz="1400" b="1">
              <a:solidFill>
                <a:srgbClr val="0000FF"/>
              </a:solidFill>
              <a:latin typeface="Times New Roman"/>
              <a:ea typeface="Times New Roman"/>
              <a:cs typeface="Times New Roman"/>
              <a:sym typeface="Times New Roman"/>
            </a:endParaRPr>
          </a:p>
          <a:p>
            <a:pPr marL="457200" lvl="0" indent="-311150" algn="just"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Zipf made an important observation on the distribution of words in natural languages. This observation has been named Zipf’s law.</a:t>
            </a:r>
            <a:endParaRPr sz="1300">
              <a:latin typeface="Times New Roman"/>
              <a:ea typeface="Times New Roman"/>
              <a:cs typeface="Times New Roman"/>
              <a:sym typeface="Times New Roman"/>
            </a:endParaRPr>
          </a:p>
          <a:p>
            <a:pPr marL="457200" lvl="0" indent="-311150" algn="just" rtl="0">
              <a:lnSpc>
                <a:spcPct val="115000"/>
              </a:lnSpc>
              <a:spcBef>
                <a:spcPts val="0"/>
              </a:spcBef>
              <a:spcAft>
                <a:spcPts val="0"/>
              </a:spcAft>
              <a:buSzPts val="1300"/>
              <a:buFont typeface="Times New Roman"/>
              <a:buChar char="●"/>
            </a:pPr>
            <a:r>
              <a:rPr lang="en" sz="1300" b="1">
                <a:latin typeface="Times New Roman"/>
                <a:ea typeface="Times New Roman"/>
                <a:cs typeface="Times New Roman"/>
                <a:sym typeface="Times New Roman"/>
              </a:rPr>
              <a:t>Zipf’s law states that the frequency of words multiplied by their ranks in a large corpus is more or less constant.</a:t>
            </a:r>
            <a:endParaRPr sz="1300" b="1">
              <a:latin typeface="Times New Roman"/>
              <a:ea typeface="Times New Roman"/>
              <a:cs typeface="Times New Roman"/>
              <a:sym typeface="Times New Roman"/>
            </a:endParaRPr>
          </a:p>
          <a:p>
            <a:pPr marL="914400" lvl="1" indent="-311150" algn="just" rtl="0">
              <a:lnSpc>
                <a:spcPct val="115000"/>
              </a:lnSpc>
              <a:spcBef>
                <a:spcPts val="0"/>
              </a:spcBef>
              <a:spcAft>
                <a:spcPts val="0"/>
              </a:spcAft>
              <a:buClr>
                <a:srgbClr val="FF0000"/>
              </a:buClr>
              <a:buSzPts val="1300"/>
              <a:buFont typeface="Times New Roman"/>
              <a:buChar char="○"/>
            </a:pPr>
            <a:r>
              <a:rPr lang="en" sz="1300" b="1">
                <a:solidFill>
                  <a:srgbClr val="FF0000"/>
                </a:solidFill>
                <a:latin typeface="Times New Roman"/>
                <a:ea typeface="Times New Roman"/>
                <a:cs typeface="Times New Roman"/>
                <a:sym typeface="Times New Roman"/>
              </a:rPr>
              <a:t>Frequency  *  rank ≈ constant</a:t>
            </a:r>
            <a:endParaRPr sz="1300" b="1">
              <a:solidFill>
                <a:srgbClr val="FF0000"/>
              </a:solidFill>
              <a:latin typeface="Times New Roman"/>
              <a:ea typeface="Times New Roman"/>
              <a:cs typeface="Times New Roman"/>
              <a:sym typeface="Times New Roman"/>
            </a:endParaRPr>
          </a:p>
          <a:p>
            <a:pPr marL="457200" lvl="0" indent="-311150" algn="just"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If we compute the frequencies of words in a corpus and arrange them in decreasing order of frequency, then the product of the frequency of a word and its rank is approximately equal to the product of, the frequency and rank of another word. </a:t>
            </a:r>
            <a:endParaRPr sz="1300">
              <a:latin typeface="Times New Roman"/>
              <a:ea typeface="Times New Roman"/>
              <a:cs typeface="Times New Roman"/>
              <a:sym typeface="Times New Roman"/>
            </a:endParaRPr>
          </a:p>
          <a:p>
            <a:pPr marL="457200" lvl="0" indent="-311150" algn="just"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This indicates that frequency of the word is inversely proportional to its rank.</a:t>
            </a:r>
            <a:endParaRPr sz="1300">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sz="1400">
              <a:latin typeface="Times New Roman"/>
              <a:ea typeface="Times New Roman"/>
              <a:cs typeface="Times New Roman"/>
              <a:sym typeface="Times New Roman"/>
            </a:endParaRPr>
          </a:p>
        </p:txBody>
      </p:sp>
      <p:pic>
        <p:nvPicPr>
          <p:cNvPr id="294" name="Google Shape;294;p15"/>
          <p:cNvPicPr preferRelativeResize="0"/>
          <p:nvPr/>
        </p:nvPicPr>
        <p:blipFill rotWithShape="1">
          <a:blip r:embed="rId3">
            <a:alphaModFix/>
          </a:blip>
          <a:srcRect/>
          <a:stretch/>
        </p:blipFill>
        <p:spPr>
          <a:xfrm>
            <a:off x="5069750" y="2868025"/>
            <a:ext cx="3525100" cy="198062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6"/>
          <p:cNvSpPr txBox="1">
            <a:spLocks noGrp="1"/>
          </p:cNvSpPr>
          <p:nvPr>
            <p:ph type="title"/>
          </p:nvPr>
        </p:nvSpPr>
        <p:spPr>
          <a:xfrm>
            <a:off x="311700" y="445025"/>
            <a:ext cx="8520600" cy="4584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Application of Zipf’s Law in Stop Word Elimination</a:t>
            </a:r>
            <a:endParaRPr/>
          </a:p>
        </p:txBody>
      </p:sp>
      <p:sp>
        <p:nvSpPr>
          <p:cNvPr id="300" name="Google Shape;300;p16"/>
          <p:cNvSpPr txBox="1">
            <a:spLocks noGrp="1"/>
          </p:cNvSpPr>
          <p:nvPr>
            <p:ph type="body" idx="1"/>
          </p:nvPr>
        </p:nvSpPr>
        <p:spPr>
          <a:xfrm>
            <a:off x="311700" y="903350"/>
            <a:ext cx="8520600" cy="3872700"/>
          </a:xfrm>
          <a:prstGeom prst="rect">
            <a:avLst/>
          </a:prstGeom>
          <a:noFill/>
          <a:ln>
            <a:noFill/>
          </a:ln>
        </p:spPr>
        <p:txBody>
          <a:bodyPr spcFirstLastPara="1" wrap="square" lIns="91425" tIns="91425" rIns="91425" bIns="91425" anchor="t" anchorCtr="0">
            <a:normAutofit/>
          </a:bodyPr>
          <a:lstStyle/>
          <a:p>
            <a:pPr marL="457200" lvl="0" indent="-310832" algn="just" rtl="0">
              <a:lnSpc>
                <a:spcPct val="100000"/>
              </a:lnSpc>
              <a:spcBef>
                <a:spcPts val="0"/>
              </a:spcBef>
              <a:spcAft>
                <a:spcPts val="0"/>
              </a:spcAft>
              <a:buClr>
                <a:schemeClr val="dk1"/>
              </a:buClr>
              <a:buSzPts val="1295"/>
              <a:buChar char="●"/>
            </a:pPr>
            <a:r>
              <a:rPr lang="en" sz="1295" dirty="0">
                <a:solidFill>
                  <a:schemeClr val="dk1"/>
                </a:solidFill>
                <a:latin typeface="Times New Roman"/>
                <a:ea typeface="Times New Roman"/>
                <a:cs typeface="Times New Roman"/>
                <a:sym typeface="Times New Roman"/>
              </a:rPr>
              <a:t>Empirical investigation of Zipf’s law on large corpuses suggest that human languages contain </a:t>
            </a:r>
            <a:r>
              <a:rPr lang="en" sz="1295" b="1" dirty="0">
                <a:solidFill>
                  <a:schemeClr val="dk1"/>
                </a:solidFill>
                <a:latin typeface="Times New Roman"/>
                <a:ea typeface="Times New Roman"/>
                <a:cs typeface="Times New Roman"/>
                <a:sym typeface="Times New Roman"/>
              </a:rPr>
              <a:t>a small number of words that occur with high frequency and a large number of words that occur with low frequency.</a:t>
            </a:r>
            <a:endParaRPr sz="1295" b="1"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Font typeface="Times New Roman"/>
              <a:buChar char="●"/>
            </a:pPr>
            <a:r>
              <a:rPr lang="en" sz="1295" dirty="0">
                <a:solidFill>
                  <a:schemeClr val="dk1"/>
                </a:solidFill>
                <a:latin typeface="Times New Roman"/>
                <a:ea typeface="Times New Roman"/>
                <a:cs typeface="Times New Roman"/>
                <a:sym typeface="Times New Roman"/>
              </a:rPr>
              <a:t>In between is a middling number of medium frequency terms. This distribution has important significance in IR.</a:t>
            </a:r>
            <a:endParaRPr sz="1295"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Font typeface="Times New Roman"/>
              <a:buChar char="●"/>
            </a:pPr>
            <a:r>
              <a:rPr lang="en" sz="1295" dirty="0">
                <a:solidFill>
                  <a:schemeClr val="dk1"/>
                </a:solidFill>
                <a:latin typeface="Times New Roman"/>
                <a:ea typeface="Times New Roman"/>
                <a:cs typeface="Times New Roman"/>
                <a:sym typeface="Times New Roman"/>
              </a:rPr>
              <a:t>The high frequency words, being common, have less discriminating power and are not useful for indexing.</a:t>
            </a:r>
            <a:endParaRPr sz="1295"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Font typeface="Times New Roman"/>
              <a:buChar char="●"/>
            </a:pPr>
            <a:r>
              <a:rPr lang="en" sz="1295" dirty="0">
                <a:solidFill>
                  <a:schemeClr val="dk1"/>
                </a:solidFill>
                <a:latin typeface="Times New Roman"/>
                <a:ea typeface="Times New Roman"/>
                <a:cs typeface="Times New Roman"/>
                <a:sym typeface="Times New Roman"/>
              </a:rPr>
              <a:t>Low frequency words are less likely to be included in the query and are also not useful for indexing. As there are large number of low frequency words, dropping them considerably reduces the size of list of index terms.</a:t>
            </a:r>
            <a:endParaRPr sz="1295"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Char char="●"/>
            </a:pPr>
            <a:r>
              <a:rPr lang="en" sz="1295" dirty="0">
                <a:solidFill>
                  <a:schemeClr val="dk1"/>
                </a:solidFill>
                <a:latin typeface="Times New Roman"/>
                <a:ea typeface="Times New Roman"/>
                <a:cs typeface="Times New Roman"/>
                <a:sym typeface="Times New Roman"/>
              </a:rPr>
              <a:t>The remaining </a:t>
            </a:r>
            <a:r>
              <a:rPr lang="en" sz="1295" b="1" dirty="0">
                <a:solidFill>
                  <a:schemeClr val="dk1"/>
                </a:solidFill>
                <a:latin typeface="Times New Roman"/>
                <a:ea typeface="Times New Roman"/>
                <a:cs typeface="Times New Roman"/>
                <a:sym typeface="Times New Roman"/>
              </a:rPr>
              <a:t>medium frequency words are content-bearing terms and can be used for indexing. </a:t>
            </a:r>
            <a:endParaRPr sz="1295" b="1"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Font typeface="Times New Roman"/>
              <a:buChar char="●"/>
            </a:pPr>
            <a:r>
              <a:rPr lang="en" sz="1295" dirty="0">
                <a:solidFill>
                  <a:schemeClr val="dk1"/>
                </a:solidFill>
                <a:latin typeface="Times New Roman"/>
                <a:ea typeface="Times New Roman"/>
                <a:cs typeface="Times New Roman"/>
                <a:sym typeface="Times New Roman"/>
              </a:rPr>
              <a:t>This is implemented by defining thresholds for high and low frequency and dropping words that have frequencies above or below these thresholds.</a:t>
            </a:r>
            <a:endParaRPr sz="1295" dirty="0">
              <a:solidFill>
                <a:schemeClr val="dk1"/>
              </a:solidFill>
              <a:latin typeface="Times New Roman"/>
              <a:ea typeface="Times New Roman"/>
              <a:cs typeface="Times New Roman"/>
              <a:sym typeface="Times New Roman"/>
            </a:endParaRPr>
          </a:p>
          <a:p>
            <a:pPr marL="457200" lvl="0" indent="-310832" algn="just" rtl="0">
              <a:lnSpc>
                <a:spcPct val="100000"/>
              </a:lnSpc>
              <a:spcBef>
                <a:spcPts val="0"/>
              </a:spcBef>
              <a:spcAft>
                <a:spcPts val="0"/>
              </a:spcAft>
              <a:buClr>
                <a:schemeClr val="dk1"/>
              </a:buClr>
              <a:buSzPts val="1295"/>
              <a:buFont typeface="Times New Roman"/>
              <a:buChar char="●"/>
            </a:pPr>
            <a:r>
              <a:rPr lang="en" sz="1295" dirty="0">
                <a:solidFill>
                  <a:schemeClr val="dk1"/>
                </a:solidFill>
                <a:latin typeface="Times New Roman"/>
                <a:ea typeface="Times New Roman"/>
                <a:cs typeface="Times New Roman"/>
                <a:sym typeface="Times New Roman"/>
              </a:rPr>
              <a:t>Stop word elimination is an implementation of Zipf’s law, where high frequency terms are dropped from a set of index terms.</a:t>
            </a:r>
            <a:endParaRPr sz="1295" dirty="0">
              <a:solidFill>
                <a:schemeClr val="dk1"/>
              </a:solidFill>
              <a:latin typeface="Times New Roman"/>
              <a:ea typeface="Times New Roman"/>
              <a:cs typeface="Times New Roman"/>
              <a:sym typeface="Times New Roman"/>
            </a:endParaRPr>
          </a:p>
        </p:txBody>
      </p:sp>
      <p:pic>
        <p:nvPicPr>
          <p:cNvPr id="301" name="Google Shape;301;p16"/>
          <p:cNvPicPr preferRelativeResize="0"/>
          <p:nvPr/>
        </p:nvPicPr>
        <p:blipFill rotWithShape="1">
          <a:blip r:embed="rId3">
            <a:alphaModFix/>
          </a:blip>
          <a:srcRect/>
          <a:stretch/>
        </p:blipFill>
        <p:spPr>
          <a:xfrm>
            <a:off x="4622275" y="3241675"/>
            <a:ext cx="3922576" cy="1453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628650" y="273848"/>
            <a:ext cx="7886700" cy="705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DEDED"/>
              </a:buClr>
              <a:buSzPts val="4100"/>
              <a:buFont typeface="Corbel"/>
              <a:buNone/>
            </a:pPr>
            <a:r>
              <a:rPr lang="en"/>
              <a:t>Information Retrieval Models</a:t>
            </a:r>
            <a:endParaRPr/>
          </a:p>
        </p:txBody>
      </p:sp>
      <p:sp>
        <p:nvSpPr>
          <p:cNvPr id="307" name="Google Shape;307;p17"/>
          <p:cNvSpPr txBox="1">
            <a:spLocks noGrp="1"/>
          </p:cNvSpPr>
          <p:nvPr>
            <p:ph type="body" idx="1"/>
          </p:nvPr>
        </p:nvSpPr>
        <p:spPr>
          <a:xfrm>
            <a:off x="840000" y="1187125"/>
            <a:ext cx="7675500" cy="3521700"/>
          </a:xfrm>
          <a:prstGeom prst="rect">
            <a:avLst/>
          </a:prstGeom>
          <a:noFill/>
          <a:ln>
            <a:noFill/>
          </a:ln>
        </p:spPr>
        <p:txBody>
          <a:bodyPr spcFirstLastPara="1" wrap="square" lIns="68575" tIns="34275" rIns="68575" bIns="34275" anchor="ctr" anchorCtr="0">
            <a:normAutofit fontScale="77500" lnSpcReduction="20000"/>
          </a:bodyPr>
          <a:lstStyle/>
          <a:p>
            <a:pPr marL="457200" lvl="0" indent="-316737" algn="just" rtl="0">
              <a:lnSpc>
                <a:spcPct val="90000"/>
              </a:lnSpc>
              <a:spcBef>
                <a:spcPts val="0"/>
              </a:spcBef>
              <a:spcAft>
                <a:spcPts val="0"/>
              </a:spcAft>
              <a:buSzPct val="100000"/>
              <a:buFont typeface="Times New Roman"/>
              <a:buChar char="●"/>
            </a:pPr>
            <a:r>
              <a:rPr lang="en" sz="1500">
                <a:latin typeface="Times New Roman"/>
                <a:ea typeface="Times New Roman"/>
                <a:cs typeface="Times New Roman"/>
                <a:sym typeface="Times New Roman"/>
              </a:rPr>
              <a:t>An IR model is a pattern that defines several aspects of retrieval procedure, for eg., </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how documents and user’s queries are represented</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how a system retrieves relevant documents according to users’ queries</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how retrieved documents are ranked. </a:t>
            </a:r>
            <a:endParaRPr sz="1500">
              <a:latin typeface="Times New Roman"/>
              <a:ea typeface="Times New Roman"/>
              <a:cs typeface="Times New Roman"/>
              <a:sym typeface="Times New Roman"/>
            </a:endParaRPr>
          </a:p>
          <a:p>
            <a:pPr marL="457200" lvl="0"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An IR system consists of</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a model of documents</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a model of queries</a:t>
            </a:r>
            <a:endParaRPr sz="1500">
              <a:latin typeface="Times New Roman"/>
              <a:ea typeface="Times New Roman"/>
              <a:cs typeface="Times New Roman"/>
              <a:sym typeface="Times New Roman"/>
            </a:endParaRPr>
          </a:p>
          <a:p>
            <a:pPr marL="914400" lvl="1"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a matching function which compares queries to documents. </a:t>
            </a:r>
            <a:endParaRPr sz="1500">
              <a:latin typeface="Times New Roman"/>
              <a:ea typeface="Times New Roman"/>
              <a:cs typeface="Times New Roman"/>
              <a:sym typeface="Times New Roman"/>
            </a:endParaRPr>
          </a:p>
          <a:p>
            <a:pPr marL="457200" lvl="0"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The central objective of the model is to retrieve all documents relevant to the query.</a:t>
            </a:r>
            <a:endParaRPr sz="1500">
              <a:latin typeface="Times New Roman"/>
              <a:ea typeface="Times New Roman"/>
              <a:cs typeface="Times New Roman"/>
              <a:sym typeface="Times New Roman"/>
            </a:endParaRPr>
          </a:p>
          <a:p>
            <a:pPr marL="457200" lvl="0" indent="-316737" algn="just" rtl="0">
              <a:lnSpc>
                <a:spcPct val="90000"/>
              </a:lnSpc>
              <a:spcBef>
                <a:spcPts val="1000"/>
              </a:spcBef>
              <a:spcAft>
                <a:spcPts val="0"/>
              </a:spcAft>
              <a:buSzPct val="100000"/>
              <a:buFont typeface="Times New Roman"/>
              <a:buChar char="●"/>
            </a:pPr>
            <a:r>
              <a:rPr lang="en" sz="1500">
                <a:latin typeface="Times New Roman"/>
                <a:ea typeface="Times New Roman"/>
                <a:cs typeface="Times New Roman"/>
                <a:sym typeface="Times New Roman"/>
              </a:rPr>
              <a:t>IR models can be classified as:</a:t>
            </a:r>
            <a:endParaRPr sz="1500">
              <a:latin typeface="Times New Roman"/>
              <a:ea typeface="Times New Roman"/>
              <a:cs typeface="Times New Roman"/>
              <a:sym typeface="Times New Roman"/>
            </a:endParaRPr>
          </a:p>
          <a:p>
            <a:pPr marL="1371600" lvl="0" indent="-316737" algn="just" rtl="0">
              <a:lnSpc>
                <a:spcPct val="90000"/>
              </a:lnSpc>
              <a:spcBef>
                <a:spcPts val="1000"/>
              </a:spcBef>
              <a:spcAft>
                <a:spcPts val="0"/>
              </a:spcAft>
              <a:buClr>
                <a:srgbClr val="FFFF00"/>
              </a:buClr>
              <a:buSzPct val="100000"/>
              <a:buFont typeface="Times New Roman"/>
              <a:buAutoNum type="arabicPeriod"/>
            </a:pPr>
            <a:r>
              <a:rPr lang="en" sz="1500" b="1">
                <a:solidFill>
                  <a:srgbClr val="FFFF00"/>
                </a:solidFill>
                <a:latin typeface="Times New Roman"/>
                <a:ea typeface="Times New Roman"/>
                <a:cs typeface="Times New Roman"/>
                <a:sym typeface="Times New Roman"/>
              </a:rPr>
              <a:t>Classical models of IR </a:t>
            </a:r>
            <a:endParaRPr sz="1500" b="1">
              <a:solidFill>
                <a:srgbClr val="FFFF00"/>
              </a:solidFill>
              <a:latin typeface="Times New Roman"/>
              <a:ea typeface="Times New Roman"/>
              <a:cs typeface="Times New Roman"/>
              <a:sym typeface="Times New Roman"/>
            </a:endParaRPr>
          </a:p>
          <a:p>
            <a:pPr marL="1371600" lvl="0" indent="-316737" algn="just" rtl="0">
              <a:lnSpc>
                <a:spcPct val="90000"/>
              </a:lnSpc>
              <a:spcBef>
                <a:spcPts val="1000"/>
              </a:spcBef>
              <a:spcAft>
                <a:spcPts val="0"/>
              </a:spcAft>
              <a:buClr>
                <a:srgbClr val="FFFF00"/>
              </a:buClr>
              <a:buSzPct val="100000"/>
              <a:buFont typeface="Times New Roman"/>
              <a:buAutoNum type="arabicPeriod"/>
            </a:pPr>
            <a:r>
              <a:rPr lang="en" sz="1500" b="1">
                <a:solidFill>
                  <a:srgbClr val="FFFF00"/>
                </a:solidFill>
                <a:latin typeface="Times New Roman"/>
                <a:ea typeface="Times New Roman"/>
                <a:cs typeface="Times New Roman"/>
                <a:sym typeface="Times New Roman"/>
              </a:rPr>
              <a:t>Non-Classical models of IR</a:t>
            </a:r>
            <a:endParaRPr sz="1500" b="1">
              <a:solidFill>
                <a:srgbClr val="FFFF00"/>
              </a:solidFill>
              <a:latin typeface="Times New Roman"/>
              <a:ea typeface="Times New Roman"/>
              <a:cs typeface="Times New Roman"/>
              <a:sym typeface="Times New Roman"/>
            </a:endParaRPr>
          </a:p>
          <a:p>
            <a:pPr marL="1371600" lvl="0" indent="-316737" algn="just" rtl="0">
              <a:lnSpc>
                <a:spcPct val="90000"/>
              </a:lnSpc>
              <a:spcBef>
                <a:spcPts val="1000"/>
              </a:spcBef>
              <a:spcAft>
                <a:spcPts val="1000"/>
              </a:spcAft>
              <a:buClr>
                <a:srgbClr val="FFFF00"/>
              </a:buClr>
              <a:buSzPct val="100000"/>
              <a:buFont typeface="Times New Roman"/>
              <a:buAutoNum type="arabicPeriod"/>
            </a:pPr>
            <a:r>
              <a:rPr lang="en" sz="1500" b="1">
                <a:solidFill>
                  <a:srgbClr val="FFFF00"/>
                </a:solidFill>
                <a:latin typeface="Times New Roman"/>
                <a:ea typeface="Times New Roman"/>
                <a:cs typeface="Times New Roman"/>
                <a:sym typeface="Times New Roman"/>
              </a:rPr>
              <a:t>Alternative models of IR</a:t>
            </a:r>
            <a:endParaRPr sz="1500" b="1">
              <a:solidFill>
                <a:srgbClr val="FFFF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DEDED"/>
              </a:buClr>
              <a:buSzPts val="4100"/>
              <a:buFont typeface="Corbel"/>
              <a:buNone/>
            </a:pPr>
            <a:r>
              <a:rPr lang="en"/>
              <a:t>Classical models of IR </a:t>
            </a:r>
            <a:endParaRPr/>
          </a:p>
        </p:txBody>
      </p:sp>
      <p:sp>
        <p:nvSpPr>
          <p:cNvPr id="313" name="Google Shape;313;p18"/>
          <p:cNvSpPr txBox="1">
            <a:spLocks noGrp="1"/>
          </p:cNvSpPr>
          <p:nvPr>
            <p:ph type="body" idx="1"/>
          </p:nvPr>
        </p:nvSpPr>
        <p:spPr>
          <a:xfrm>
            <a:off x="515250" y="951175"/>
            <a:ext cx="8113500" cy="3774300"/>
          </a:xfrm>
          <a:prstGeom prst="rect">
            <a:avLst/>
          </a:prstGeom>
          <a:noFill/>
          <a:ln>
            <a:noFill/>
          </a:ln>
        </p:spPr>
        <p:txBody>
          <a:bodyPr spcFirstLastPara="1" wrap="square" lIns="68575" tIns="34275" rIns="68575" bIns="34275" anchor="ctr" anchorCtr="0">
            <a:normAutofit/>
          </a:bodyPr>
          <a:lstStyle/>
          <a:p>
            <a:pPr marL="457200" lvl="0" indent="-317500" algn="just" rtl="0">
              <a:lnSpc>
                <a:spcPct val="90000"/>
              </a:lnSpc>
              <a:spcBef>
                <a:spcPts val="0"/>
              </a:spcBef>
              <a:spcAft>
                <a:spcPts val="0"/>
              </a:spcAft>
              <a:buSzPts val="1400"/>
              <a:buFont typeface="Times New Roman"/>
              <a:buChar char="•"/>
            </a:pPr>
            <a:r>
              <a:rPr lang="en">
                <a:latin typeface="Times New Roman"/>
                <a:ea typeface="Times New Roman"/>
                <a:cs typeface="Times New Roman"/>
                <a:sym typeface="Times New Roman"/>
              </a:rPr>
              <a:t>Classical models of IR are based on mathematical knowledge that is easily recognized and well understood.</a:t>
            </a:r>
            <a:endParaRPr>
              <a:latin typeface="Times New Roman"/>
              <a:ea typeface="Times New Roman"/>
              <a:cs typeface="Times New Roman"/>
              <a:sym typeface="Times New Roman"/>
            </a:endParaRPr>
          </a:p>
          <a:p>
            <a:pPr marL="457200" lvl="0" indent="-317500" algn="just" rtl="0">
              <a:spcBef>
                <a:spcPts val="800"/>
              </a:spcBef>
              <a:spcAft>
                <a:spcPts val="0"/>
              </a:spcAft>
              <a:buSzPts val="1400"/>
              <a:buFont typeface="Times New Roman"/>
              <a:buChar char="•"/>
            </a:pPr>
            <a:r>
              <a:rPr lang="en">
                <a:latin typeface="Times New Roman"/>
                <a:ea typeface="Times New Roman"/>
                <a:cs typeface="Times New Roman"/>
                <a:sym typeface="Times New Roman"/>
              </a:rPr>
              <a:t>They are simple, efficient and easy to implement.</a:t>
            </a:r>
            <a:endParaRPr>
              <a:latin typeface="Times New Roman"/>
              <a:ea typeface="Times New Roman"/>
              <a:cs typeface="Times New Roman"/>
              <a:sym typeface="Times New Roman"/>
            </a:endParaRPr>
          </a:p>
          <a:p>
            <a:pPr marL="457200" lvl="0" indent="-317500" algn="just" rtl="0">
              <a:spcBef>
                <a:spcPts val="800"/>
              </a:spcBef>
              <a:spcAft>
                <a:spcPts val="0"/>
              </a:spcAft>
              <a:buSzPts val="1400"/>
              <a:buFont typeface="Times New Roman"/>
              <a:buChar char="•"/>
            </a:pPr>
            <a:r>
              <a:rPr lang="en">
                <a:latin typeface="Times New Roman"/>
                <a:ea typeface="Times New Roman"/>
                <a:cs typeface="Times New Roman"/>
                <a:sym typeface="Times New Roman"/>
              </a:rPr>
              <a:t>Almost all existing commercial systems are based on the mathematical models of IR. Hence the name classical models of IR.</a:t>
            </a:r>
            <a:endParaRPr>
              <a:latin typeface="Times New Roman"/>
              <a:ea typeface="Times New Roman"/>
              <a:cs typeface="Times New Roman"/>
              <a:sym typeface="Times New Roman"/>
            </a:endParaRPr>
          </a:p>
          <a:p>
            <a:pPr marL="457200" lvl="0" indent="-317500" algn="just" rtl="0">
              <a:spcBef>
                <a:spcPts val="800"/>
              </a:spcBef>
              <a:spcAft>
                <a:spcPts val="0"/>
              </a:spcAft>
              <a:buSzPts val="1400"/>
              <a:buFont typeface="Times New Roman"/>
              <a:buChar char="•"/>
            </a:pPr>
            <a:r>
              <a:rPr lang="en">
                <a:latin typeface="Times New Roman"/>
                <a:ea typeface="Times New Roman"/>
                <a:cs typeface="Times New Roman"/>
                <a:sym typeface="Times New Roman"/>
              </a:rPr>
              <a:t>The three classical IR models are:</a:t>
            </a:r>
            <a:endParaRPr>
              <a:latin typeface="Times New Roman"/>
              <a:ea typeface="Times New Roman"/>
              <a:cs typeface="Times New Roman"/>
              <a:sym typeface="Times New Roman"/>
            </a:endParaRPr>
          </a:p>
          <a:p>
            <a:pPr marL="1371600" lvl="0" indent="-317500" algn="l" rtl="0">
              <a:lnSpc>
                <a:spcPct val="90000"/>
              </a:lnSpc>
              <a:spcBef>
                <a:spcPts val="0"/>
              </a:spcBef>
              <a:spcAft>
                <a:spcPts val="0"/>
              </a:spcAft>
              <a:buClr>
                <a:srgbClr val="FFFF00"/>
              </a:buClr>
              <a:buSzPts val="1400"/>
              <a:buFont typeface="Times New Roman"/>
              <a:buAutoNum type="arabicPeriod"/>
            </a:pPr>
            <a:r>
              <a:rPr lang="en" b="1">
                <a:solidFill>
                  <a:srgbClr val="FFFF00"/>
                </a:solidFill>
                <a:latin typeface="Times New Roman"/>
                <a:ea typeface="Times New Roman"/>
                <a:cs typeface="Times New Roman"/>
                <a:sym typeface="Times New Roman"/>
              </a:rPr>
              <a:t>Boolean model</a:t>
            </a:r>
            <a:endParaRPr b="1">
              <a:solidFill>
                <a:srgbClr val="FFFF00"/>
              </a:solidFill>
              <a:latin typeface="Times New Roman"/>
              <a:ea typeface="Times New Roman"/>
              <a:cs typeface="Times New Roman"/>
              <a:sym typeface="Times New Roman"/>
            </a:endParaRPr>
          </a:p>
          <a:p>
            <a:pPr marL="1371600" lvl="0" indent="-317500" algn="l" rtl="0">
              <a:lnSpc>
                <a:spcPct val="90000"/>
              </a:lnSpc>
              <a:spcBef>
                <a:spcPts val="0"/>
              </a:spcBef>
              <a:spcAft>
                <a:spcPts val="0"/>
              </a:spcAft>
              <a:buClr>
                <a:srgbClr val="FFFF00"/>
              </a:buClr>
              <a:buSzPts val="1400"/>
              <a:buFont typeface="Times New Roman"/>
              <a:buAutoNum type="arabicPeriod"/>
            </a:pPr>
            <a:r>
              <a:rPr lang="en" b="1">
                <a:solidFill>
                  <a:srgbClr val="FFFF00"/>
                </a:solidFill>
                <a:latin typeface="Times New Roman"/>
                <a:ea typeface="Times New Roman"/>
                <a:cs typeface="Times New Roman"/>
                <a:sym typeface="Times New Roman"/>
              </a:rPr>
              <a:t>Vector model</a:t>
            </a:r>
            <a:endParaRPr b="1">
              <a:solidFill>
                <a:srgbClr val="FFFF00"/>
              </a:solidFill>
              <a:latin typeface="Times New Roman"/>
              <a:ea typeface="Times New Roman"/>
              <a:cs typeface="Times New Roman"/>
              <a:sym typeface="Times New Roman"/>
            </a:endParaRPr>
          </a:p>
          <a:p>
            <a:pPr marL="1371600" lvl="0" indent="-317500" algn="l" rtl="0">
              <a:lnSpc>
                <a:spcPct val="90000"/>
              </a:lnSpc>
              <a:spcBef>
                <a:spcPts val="0"/>
              </a:spcBef>
              <a:spcAft>
                <a:spcPts val="0"/>
              </a:spcAft>
              <a:buClr>
                <a:srgbClr val="FFFF00"/>
              </a:buClr>
              <a:buSzPts val="1400"/>
              <a:buFont typeface="Times New Roman"/>
              <a:buAutoNum type="arabicPeriod"/>
            </a:pPr>
            <a:r>
              <a:rPr lang="en" b="1">
                <a:solidFill>
                  <a:srgbClr val="FFFF00"/>
                </a:solidFill>
                <a:latin typeface="Times New Roman"/>
                <a:ea typeface="Times New Roman"/>
                <a:cs typeface="Times New Roman"/>
                <a:sym typeface="Times New Roman"/>
              </a:rPr>
              <a:t>Probabilistic model</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Non-classical Models of IR </a:t>
            </a:r>
            <a:endParaRPr/>
          </a:p>
        </p:txBody>
      </p:sp>
      <p:sp>
        <p:nvSpPr>
          <p:cNvPr id="319" name="Google Shape;319;p19"/>
          <p:cNvSpPr txBox="1">
            <a:spLocks noGrp="1"/>
          </p:cNvSpPr>
          <p:nvPr>
            <p:ph type="body" idx="1"/>
          </p:nvPr>
        </p:nvSpPr>
        <p:spPr>
          <a:xfrm>
            <a:off x="630000" y="1026925"/>
            <a:ext cx="7802700" cy="3705600"/>
          </a:xfrm>
          <a:prstGeom prst="rect">
            <a:avLst/>
          </a:prstGeom>
          <a:noFill/>
          <a:ln>
            <a:noFill/>
          </a:ln>
        </p:spPr>
        <p:txBody>
          <a:bodyPr spcFirstLastPara="1" wrap="square" lIns="68575" tIns="34275" rIns="68575" bIns="34275" anchor="t" anchorCtr="0">
            <a:normAutofit lnSpcReduction="10000"/>
          </a:bodyPr>
          <a:lstStyle/>
          <a:p>
            <a:pPr marL="457200" lvl="0" indent="-317500" algn="just" rtl="0">
              <a:lnSpc>
                <a:spcPct val="100000"/>
              </a:lnSpc>
              <a:spcBef>
                <a:spcPts val="1000"/>
              </a:spcBef>
              <a:spcAft>
                <a:spcPts val="0"/>
              </a:spcAft>
              <a:buSzPts val="1400"/>
              <a:buFont typeface="Times New Roman"/>
              <a:buChar char="•"/>
            </a:pPr>
            <a:r>
              <a:rPr lang="en" dirty="0">
                <a:latin typeface="Times New Roman"/>
                <a:ea typeface="Times New Roman"/>
                <a:cs typeface="Times New Roman"/>
                <a:sym typeface="Times New Roman"/>
              </a:rPr>
              <a:t>Non-classical IR models perform retrieval based on principles other than those used by classical models, i.e.,  similarity, probability and Boolean operation. </a:t>
            </a:r>
            <a:endParaRPr dirty="0">
              <a:latin typeface="Times New Roman"/>
              <a:ea typeface="Times New Roman"/>
              <a:cs typeface="Times New Roman"/>
              <a:sym typeface="Times New Roman"/>
            </a:endParaRPr>
          </a:p>
          <a:p>
            <a:pPr marL="457200" lvl="0" indent="-317500" algn="just" rtl="0">
              <a:lnSpc>
                <a:spcPct val="100000"/>
              </a:lnSpc>
              <a:spcBef>
                <a:spcPts val="1000"/>
              </a:spcBef>
              <a:spcAft>
                <a:spcPts val="0"/>
              </a:spcAft>
              <a:buSzPts val="1400"/>
              <a:buChar char="•"/>
            </a:pPr>
            <a:r>
              <a:rPr lang="en" dirty="0">
                <a:latin typeface="Times New Roman"/>
                <a:ea typeface="Times New Roman"/>
                <a:cs typeface="Times New Roman"/>
                <a:sym typeface="Times New Roman"/>
              </a:rPr>
              <a:t>These are best illustrated by models based on </a:t>
            </a:r>
            <a:r>
              <a:rPr lang="en" b="1" dirty="0">
                <a:latin typeface="Times New Roman"/>
                <a:ea typeface="Times New Roman"/>
                <a:cs typeface="Times New Roman"/>
                <a:sym typeface="Times New Roman"/>
              </a:rPr>
              <a:t>special logic technique, situation theory or the concept of interaction</a:t>
            </a:r>
            <a:r>
              <a:rPr lang="e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457200" lvl="0" indent="-317500" algn="just" rtl="0">
              <a:lnSpc>
                <a:spcPct val="100000"/>
              </a:lnSpc>
              <a:spcBef>
                <a:spcPts val="1000"/>
              </a:spcBef>
              <a:spcAft>
                <a:spcPts val="0"/>
              </a:spcAft>
              <a:buSzPts val="1400"/>
              <a:buFont typeface="Times New Roman"/>
              <a:buChar char="•"/>
            </a:pPr>
            <a:r>
              <a:rPr lang="en" dirty="0">
                <a:latin typeface="Times New Roman"/>
                <a:ea typeface="Times New Roman"/>
                <a:cs typeface="Times New Roman"/>
                <a:sym typeface="Times New Roman"/>
              </a:rPr>
              <a:t>Non-classical IR models are -</a:t>
            </a:r>
            <a:endParaRPr dirty="0">
              <a:latin typeface="Times New Roman"/>
              <a:ea typeface="Times New Roman"/>
              <a:cs typeface="Times New Roman"/>
              <a:sym typeface="Times New Roman"/>
            </a:endParaRPr>
          </a:p>
          <a:p>
            <a:pPr marL="1371600" lvl="0" indent="-317500" algn="just" rtl="0">
              <a:lnSpc>
                <a:spcPct val="100000"/>
              </a:lnSpc>
              <a:spcBef>
                <a:spcPts val="1000"/>
              </a:spcBef>
              <a:spcAft>
                <a:spcPts val="0"/>
              </a:spcAft>
              <a:buClr>
                <a:srgbClr val="FFFF00"/>
              </a:buClr>
              <a:buSzPts val="1400"/>
              <a:buFont typeface="Times New Roman"/>
              <a:buAutoNum type="arabicPeriod"/>
            </a:pPr>
            <a:r>
              <a:rPr lang="en" b="1" dirty="0">
                <a:solidFill>
                  <a:srgbClr val="FFFF00"/>
                </a:solidFill>
                <a:latin typeface="Times New Roman"/>
                <a:ea typeface="Times New Roman"/>
                <a:cs typeface="Times New Roman"/>
                <a:sym typeface="Times New Roman"/>
              </a:rPr>
              <a:t>Information logic model</a:t>
            </a:r>
            <a:endParaRPr b="1" dirty="0">
              <a:solidFill>
                <a:srgbClr val="FFFF00"/>
              </a:solidFill>
              <a:latin typeface="Times New Roman"/>
              <a:ea typeface="Times New Roman"/>
              <a:cs typeface="Times New Roman"/>
              <a:sym typeface="Times New Roman"/>
            </a:endParaRPr>
          </a:p>
          <a:p>
            <a:pPr marL="1371600" lvl="0" indent="-317500" algn="just" rtl="0">
              <a:lnSpc>
                <a:spcPct val="100000"/>
              </a:lnSpc>
              <a:spcBef>
                <a:spcPts val="1000"/>
              </a:spcBef>
              <a:spcAft>
                <a:spcPts val="0"/>
              </a:spcAft>
              <a:buClr>
                <a:srgbClr val="FFFF00"/>
              </a:buClr>
              <a:buSzPts val="1400"/>
              <a:buFont typeface="Times New Roman"/>
              <a:buAutoNum type="arabicPeriod"/>
            </a:pPr>
            <a:r>
              <a:rPr lang="en" b="1" dirty="0">
                <a:solidFill>
                  <a:srgbClr val="FFFF00"/>
                </a:solidFill>
                <a:latin typeface="Times New Roman"/>
                <a:ea typeface="Times New Roman"/>
                <a:cs typeface="Times New Roman"/>
                <a:sym typeface="Times New Roman"/>
              </a:rPr>
              <a:t>Situation theory model</a:t>
            </a:r>
            <a:endParaRPr b="1" dirty="0">
              <a:solidFill>
                <a:srgbClr val="FFFF00"/>
              </a:solidFill>
              <a:latin typeface="Times New Roman"/>
              <a:ea typeface="Times New Roman"/>
              <a:cs typeface="Times New Roman"/>
              <a:sym typeface="Times New Roman"/>
            </a:endParaRPr>
          </a:p>
          <a:p>
            <a:pPr marL="1371600" lvl="0" indent="-317500" algn="just" rtl="0">
              <a:lnSpc>
                <a:spcPct val="100000"/>
              </a:lnSpc>
              <a:spcBef>
                <a:spcPts val="1000"/>
              </a:spcBef>
              <a:spcAft>
                <a:spcPts val="0"/>
              </a:spcAft>
              <a:buSzPts val="1400"/>
              <a:buAutoNum type="arabicPeriod"/>
            </a:pPr>
            <a:r>
              <a:rPr lang="en" b="1" dirty="0">
                <a:solidFill>
                  <a:srgbClr val="FFFF00"/>
                </a:solidFill>
                <a:latin typeface="Times New Roman"/>
                <a:ea typeface="Times New Roman"/>
                <a:cs typeface="Times New Roman"/>
                <a:sym typeface="Times New Roman"/>
              </a:rPr>
              <a:t>Interaction model.</a:t>
            </a:r>
            <a:r>
              <a:rPr lang="e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Alternative Models of IR</a:t>
            </a:r>
            <a:endParaRPr/>
          </a:p>
        </p:txBody>
      </p:sp>
      <p:sp>
        <p:nvSpPr>
          <p:cNvPr id="325" name="Google Shape;325;p20"/>
          <p:cNvSpPr txBox="1">
            <a:spLocks noGrp="1"/>
          </p:cNvSpPr>
          <p:nvPr>
            <p:ph type="body" idx="1"/>
          </p:nvPr>
        </p:nvSpPr>
        <p:spPr>
          <a:xfrm>
            <a:off x="840000" y="1369219"/>
            <a:ext cx="7675500" cy="3263400"/>
          </a:xfrm>
          <a:prstGeom prst="rect">
            <a:avLst/>
          </a:prstGeom>
          <a:noFill/>
          <a:ln>
            <a:noFill/>
          </a:ln>
        </p:spPr>
        <p:txBody>
          <a:bodyPr spcFirstLastPara="1" wrap="square" lIns="68575" tIns="34275" rIns="68575" bIns="34275" anchor="ctr" anchorCtr="0">
            <a:normAutofit/>
          </a:bodyPr>
          <a:lstStyle/>
          <a:p>
            <a:pPr marL="457200" lvl="0" indent="-368300" algn="just" rtl="0">
              <a:lnSpc>
                <a:spcPct val="100000"/>
              </a:lnSpc>
              <a:spcBef>
                <a:spcPts val="1000"/>
              </a:spcBef>
              <a:spcAft>
                <a:spcPts val="0"/>
              </a:spcAft>
              <a:buSzPts val="2200"/>
              <a:buFont typeface="Times New Roman"/>
              <a:buChar char="•"/>
            </a:pPr>
            <a:r>
              <a:rPr lang="en" sz="2200">
                <a:latin typeface="Times New Roman"/>
                <a:ea typeface="Times New Roman"/>
                <a:cs typeface="Times New Roman"/>
                <a:sym typeface="Times New Roman"/>
              </a:rPr>
              <a:t>Alternative IR models are</a:t>
            </a:r>
            <a:r>
              <a:rPr lang="en" sz="2200" b="1">
                <a:latin typeface="Times New Roman"/>
                <a:ea typeface="Times New Roman"/>
                <a:cs typeface="Times New Roman"/>
                <a:sym typeface="Times New Roman"/>
              </a:rPr>
              <a:t> </a:t>
            </a:r>
            <a:r>
              <a:rPr lang="en" sz="2200">
                <a:latin typeface="Times New Roman"/>
                <a:ea typeface="Times New Roman"/>
                <a:cs typeface="Times New Roman"/>
                <a:sym typeface="Times New Roman"/>
              </a:rPr>
              <a:t>enhancements of classical models making use of specific techniques from other fields. </a:t>
            </a:r>
            <a:endParaRPr sz="2200">
              <a:latin typeface="Times New Roman"/>
              <a:ea typeface="Times New Roman"/>
              <a:cs typeface="Times New Roman"/>
              <a:sym typeface="Times New Roman"/>
            </a:endParaRPr>
          </a:p>
          <a:p>
            <a:pPr marL="457200" lvl="0" indent="-368300" algn="just" rtl="0">
              <a:lnSpc>
                <a:spcPct val="100000"/>
              </a:lnSpc>
              <a:spcBef>
                <a:spcPts val="1000"/>
              </a:spcBef>
              <a:spcAft>
                <a:spcPts val="0"/>
              </a:spcAft>
              <a:buSzPts val="2200"/>
              <a:buFont typeface="Times New Roman"/>
              <a:buChar char="•"/>
            </a:pPr>
            <a:r>
              <a:rPr lang="en" sz="2200">
                <a:latin typeface="Times New Roman"/>
                <a:ea typeface="Times New Roman"/>
                <a:cs typeface="Times New Roman"/>
                <a:sym typeface="Times New Roman"/>
              </a:rPr>
              <a:t>Alternative IR models are -</a:t>
            </a:r>
            <a:endParaRPr sz="2200">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Cluster model</a:t>
            </a:r>
            <a:endParaRPr sz="2200" b="1">
              <a:solidFill>
                <a:srgbClr val="FFFF00"/>
              </a:solidFill>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Fuzzy model</a:t>
            </a:r>
            <a:endParaRPr sz="2200" b="1">
              <a:solidFill>
                <a:srgbClr val="FFFF00"/>
              </a:solidFill>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Latent semantic indexing (LSI) model</a:t>
            </a:r>
            <a:endParaRPr sz="2200" b="1">
              <a:solidFill>
                <a:srgbClr val="FFFF00"/>
              </a:solidFill>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rgbClr val="EDEDED"/>
              </a:buClr>
              <a:buSzPts val="2800"/>
              <a:buFont typeface="Arial"/>
              <a:buNone/>
            </a:pPr>
            <a:endParaRPr sz="2800"/>
          </a:p>
          <a:p>
            <a:pPr marL="0" lvl="0" indent="0" algn="l" rtl="0">
              <a:lnSpc>
                <a:spcPct val="90000"/>
              </a:lnSpc>
              <a:spcBef>
                <a:spcPts val="800"/>
              </a:spcBef>
              <a:spcAft>
                <a:spcPts val="0"/>
              </a:spcAft>
              <a:buSzPts val="14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1"/>
          <p:cNvSpPr txBox="1">
            <a:spLocks noGrp="1"/>
          </p:cNvSpPr>
          <p:nvPr>
            <p:ph type="title"/>
          </p:nvPr>
        </p:nvSpPr>
        <p:spPr>
          <a:xfrm>
            <a:off x="628650" y="273850"/>
            <a:ext cx="7886700" cy="443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3190"/>
              <a:t>Classical IR Models - Boolean Model</a:t>
            </a:r>
            <a:endParaRPr sz="3190"/>
          </a:p>
        </p:txBody>
      </p:sp>
      <p:sp>
        <p:nvSpPr>
          <p:cNvPr id="331" name="Google Shape;331;p21"/>
          <p:cNvSpPr txBox="1">
            <a:spLocks noGrp="1"/>
          </p:cNvSpPr>
          <p:nvPr>
            <p:ph type="body" idx="1"/>
          </p:nvPr>
        </p:nvSpPr>
        <p:spPr>
          <a:xfrm>
            <a:off x="681275" y="771525"/>
            <a:ext cx="7886700" cy="3922200"/>
          </a:xfrm>
          <a:prstGeom prst="rect">
            <a:avLst/>
          </a:prstGeom>
          <a:noFill/>
          <a:ln>
            <a:noFill/>
          </a:ln>
        </p:spPr>
        <p:txBody>
          <a:bodyPr spcFirstLastPara="1" wrap="square" lIns="68575" tIns="34275" rIns="68575" bIns="34275" anchor="ctr" anchorCtr="0">
            <a:normAutofit/>
          </a:bodyPr>
          <a:lstStyle/>
          <a:p>
            <a:pPr marL="0" lvl="0" indent="0" algn="just" rtl="0">
              <a:lnSpc>
                <a:spcPct val="90000"/>
              </a:lnSpc>
              <a:spcBef>
                <a:spcPts val="0"/>
              </a:spcBef>
              <a:spcAft>
                <a:spcPts val="0"/>
              </a:spcAft>
              <a:buSzPts val="1400"/>
              <a:buNone/>
            </a:pPr>
            <a:r>
              <a:rPr lang="en" sz="1800">
                <a:solidFill>
                  <a:srgbClr val="FFFF00"/>
                </a:solidFill>
                <a:latin typeface="Times New Roman"/>
                <a:ea typeface="Times New Roman"/>
                <a:cs typeface="Times New Roman"/>
                <a:sym typeface="Times New Roman"/>
              </a:rPr>
              <a:t>Explain Boolean and Vector space information retrieval model (10 M, Jan 2019)</a:t>
            </a:r>
            <a:endParaRPr sz="1800">
              <a:solidFill>
                <a:srgbClr val="FFFF00"/>
              </a:solidFill>
              <a:latin typeface="Times New Roman"/>
              <a:ea typeface="Times New Roman"/>
              <a:cs typeface="Times New Roman"/>
              <a:sym typeface="Times New Roman"/>
            </a:endParaRPr>
          </a:p>
          <a:p>
            <a:pPr marL="0" lvl="0" indent="0" algn="just" rtl="0">
              <a:lnSpc>
                <a:spcPct val="90000"/>
              </a:lnSpc>
              <a:spcBef>
                <a:spcPts val="1000"/>
              </a:spcBef>
              <a:spcAft>
                <a:spcPts val="0"/>
              </a:spcAft>
              <a:buSzPts val="1400"/>
              <a:buNone/>
            </a:pPr>
            <a:r>
              <a:rPr lang="en" sz="1800">
                <a:solidFill>
                  <a:srgbClr val="FFFF00"/>
                </a:solidFill>
                <a:latin typeface="Times New Roman"/>
                <a:ea typeface="Times New Roman"/>
                <a:cs typeface="Times New Roman"/>
                <a:sym typeface="Times New Roman"/>
              </a:rPr>
              <a:t>With Example explain Boolean model for classical IR (6 M, Feb 2021)</a:t>
            </a:r>
            <a:endParaRPr sz="1800">
              <a:solidFill>
                <a:srgbClr val="FFFF00"/>
              </a:solidFill>
              <a:latin typeface="Times New Roman"/>
              <a:ea typeface="Times New Roman"/>
              <a:cs typeface="Times New Roman"/>
              <a:sym typeface="Times New Roman"/>
            </a:endParaRPr>
          </a:p>
          <a:p>
            <a:pPr marL="228600" lvl="0" indent="-165100" algn="just" rtl="0">
              <a:lnSpc>
                <a:spcPct val="9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Boolean model is the oldest of the three classical models. </a:t>
            </a:r>
            <a:r>
              <a:rPr lang="en" sz="1800" b="1">
                <a:solidFill>
                  <a:srgbClr val="00FFFF"/>
                </a:solidFill>
                <a:latin typeface="Times New Roman"/>
                <a:ea typeface="Times New Roman"/>
                <a:cs typeface="Times New Roman"/>
                <a:sym typeface="Times New Roman"/>
              </a:rPr>
              <a:t>It is based on Boolean logic and classical set theory. </a:t>
            </a:r>
            <a:endParaRPr sz="1800" b="1">
              <a:solidFill>
                <a:srgbClr val="00FFFF"/>
              </a:solidFill>
              <a:latin typeface="Times New Roman"/>
              <a:ea typeface="Times New Roman"/>
              <a:cs typeface="Times New Roman"/>
              <a:sym typeface="Times New Roman"/>
            </a:endParaRPr>
          </a:p>
          <a:p>
            <a:pPr marL="228600" lvl="0" indent="-165100" algn="just" rtl="0">
              <a:lnSpc>
                <a:spcPct val="9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In this model documents are represented as a set of keywords, usually stored in an inverted file.</a:t>
            </a:r>
            <a:endParaRPr sz="1800">
              <a:latin typeface="Times New Roman"/>
              <a:ea typeface="Times New Roman"/>
              <a:cs typeface="Times New Roman"/>
              <a:sym typeface="Times New Roman"/>
            </a:endParaRPr>
          </a:p>
          <a:p>
            <a:pPr marL="228600" lvl="0" indent="-165100" algn="just" rtl="0">
              <a:lnSpc>
                <a:spcPct val="9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An inverted file is a list of keywords, and identifiers of the documents in which they occur.</a:t>
            </a:r>
            <a:endParaRPr sz="1800">
              <a:latin typeface="Times New Roman"/>
              <a:ea typeface="Times New Roman"/>
              <a:cs typeface="Times New Roman"/>
              <a:sym typeface="Times New Roman"/>
            </a:endParaRPr>
          </a:p>
          <a:p>
            <a:pPr marL="228600" lvl="0" indent="-165100" algn="just" rtl="0">
              <a:lnSpc>
                <a:spcPct val="9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Users are required to express their queries as a boolean expression consisting of keywords connected with boolean logical operators (AND, OR, NOT). </a:t>
            </a:r>
            <a:endParaRPr sz="1800">
              <a:latin typeface="Times New Roman"/>
              <a:ea typeface="Times New Roman"/>
              <a:cs typeface="Times New Roman"/>
              <a:sym typeface="Times New Roman"/>
            </a:endParaRPr>
          </a:p>
          <a:p>
            <a:pPr marL="228600" lvl="0" indent="-165100" algn="just" rtl="0">
              <a:lnSpc>
                <a:spcPct val="90000"/>
              </a:lnSpc>
              <a:spcBef>
                <a:spcPts val="1000"/>
              </a:spcBef>
              <a:spcAft>
                <a:spcPts val="1000"/>
              </a:spcAft>
              <a:buSzPts val="1800"/>
              <a:buFont typeface="Times New Roman"/>
              <a:buChar char="•"/>
            </a:pPr>
            <a:r>
              <a:rPr lang="en" sz="1800" b="1">
                <a:solidFill>
                  <a:srgbClr val="00FFFF"/>
                </a:solidFill>
                <a:latin typeface="Times New Roman"/>
                <a:ea typeface="Times New Roman"/>
                <a:cs typeface="Times New Roman"/>
                <a:sym typeface="Times New Roman"/>
              </a:rPr>
              <a:t>Retrieval is performed based on whether or not document contains the query terms.</a:t>
            </a:r>
            <a:r>
              <a:rPr lang="en" sz="1800" b="1">
                <a:latin typeface="Times New Roman"/>
                <a:ea typeface="Times New Roman"/>
                <a:cs typeface="Times New Roman"/>
                <a:sym typeface="Times New Roman"/>
              </a:rPr>
              <a:t> </a:t>
            </a:r>
            <a:endParaRPr sz="1800" b="1">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2"/>
          <p:cNvSpPr txBox="1">
            <a:spLocks noGrp="1"/>
          </p:cNvSpPr>
          <p:nvPr>
            <p:ph type="title"/>
          </p:nvPr>
        </p:nvSpPr>
        <p:spPr>
          <a:xfrm>
            <a:off x="628650" y="133929"/>
            <a:ext cx="7886700" cy="4056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31034"/>
              <a:buFont typeface="Arial"/>
              <a:buNone/>
            </a:pPr>
            <a:r>
              <a:rPr lang="en" sz="3190"/>
              <a:t>Boolean Model</a:t>
            </a:r>
            <a:endParaRPr/>
          </a:p>
        </p:txBody>
      </p:sp>
      <p:sp>
        <p:nvSpPr>
          <p:cNvPr id="337" name="Google Shape;337;p22"/>
          <p:cNvSpPr txBox="1">
            <a:spLocks noGrp="1"/>
          </p:cNvSpPr>
          <p:nvPr>
            <p:ph type="body" idx="1"/>
          </p:nvPr>
        </p:nvSpPr>
        <p:spPr>
          <a:xfrm>
            <a:off x="734775" y="857250"/>
            <a:ext cx="7780800" cy="4185000"/>
          </a:xfrm>
          <a:prstGeom prst="rect">
            <a:avLst/>
          </a:prstGeom>
          <a:noFill/>
          <a:ln>
            <a:noFill/>
          </a:ln>
        </p:spPr>
        <p:txBody>
          <a:bodyPr spcFirstLastPara="1" wrap="square" lIns="68575" tIns="34275" rIns="68575" bIns="34275" anchor="t" anchorCtr="0">
            <a:normAutofit fontScale="92500" lnSpcReduction="20000"/>
          </a:bodyPr>
          <a:lstStyle/>
          <a:p>
            <a:pPr marL="0" lvl="0" indent="0" algn="l" rtl="0">
              <a:lnSpc>
                <a:spcPct val="90000"/>
              </a:lnSpc>
              <a:spcBef>
                <a:spcPts val="0"/>
              </a:spcBef>
              <a:spcAft>
                <a:spcPts val="0"/>
              </a:spcAft>
              <a:buClr>
                <a:srgbClr val="EDEDED"/>
              </a:buClr>
              <a:buSzPct val="100000"/>
              <a:buFont typeface="Noto Sans"/>
              <a:buNone/>
            </a:pPr>
            <a:r>
              <a:rPr lang="en" dirty="0">
                <a:latin typeface="Times New Roman"/>
                <a:ea typeface="Times New Roman"/>
                <a:cs typeface="Times New Roman"/>
                <a:sym typeface="Times New Roman"/>
              </a:rPr>
              <a:t>Given a finite set </a:t>
            </a:r>
            <a:endParaRPr dirty="0">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         T = { t</a:t>
            </a:r>
            <a:r>
              <a:rPr lang="en" baseline="-25000" dirty="0">
                <a:latin typeface="Times New Roman"/>
                <a:ea typeface="Times New Roman"/>
                <a:cs typeface="Times New Roman"/>
                <a:sym typeface="Times New Roman"/>
              </a:rPr>
              <a:t>1</a:t>
            </a:r>
            <a:r>
              <a:rPr lang="en" dirty="0">
                <a:latin typeface="Times New Roman"/>
                <a:ea typeface="Times New Roman"/>
                <a:cs typeface="Times New Roman"/>
                <a:sym typeface="Times New Roman"/>
              </a:rPr>
              <a:t>, t</a:t>
            </a:r>
            <a:r>
              <a:rPr lang="en" baseline="-25000" dirty="0">
                <a:latin typeface="Times New Roman"/>
                <a:ea typeface="Times New Roman"/>
                <a:cs typeface="Times New Roman"/>
                <a:sym typeface="Times New Roman"/>
              </a:rPr>
              <a:t>2</a:t>
            </a:r>
            <a:r>
              <a:rPr lang="en" dirty="0">
                <a:latin typeface="Times New Roman"/>
                <a:ea typeface="Times New Roman"/>
                <a:cs typeface="Times New Roman"/>
                <a:sym typeface="Times New Roman"/>
              </a:rPr>
              <a:t>, ..., t</a:t>
            </a:r>
            <a:r>
              <a:rPr lang="en" baseline="-25000" dirty="0">
                <a:latin typeface="Times New Roman"/>
                <a:ea typeface="Times New Roman"/>
                <a:cs typeface="Times New Roman"/>
                <a:sym typeface="Times New Roman"/>
              </a:rPr>
              <a:t>i </a:t>
            </a:r>
            <a:r>
              <a:rPr lang="en" dirty="0">
                <a:latin typeface="Times New Roman"/>
                <a:ea typeface="Times New Roman"/>
                <a:cs typeface="Times New Roman"/>
                <a:sym typeface="Times New Roman"/>
              </a:rPr>
              <a:t>, ...,t</a:t>
            </a:r>
            <a:r>
              <a:rPr lang="en" baseline="-25000" dirty="0">
                <a:latin typeface="Times New Roman"/>
                <a:ea typeface="Times New Roman"/>
                <a:cs typeface="Times New Roman"/>
                <a:sym typeface="Times New Roman"/>
              </a:rPr>
              <a:t>m</a:t>
            </a:r>
            <a:r>
              <a:rPr lang="en" dirty="0">
                <a:latin typeface="Times New Roman"/>
                <a:ea typeface="Times New Roman"/>
                <a:cs typeface="Times New Roman"/>
                <a:sym typeface="Times New Roman"/>
              </a:rPr>
              <a:t> }  of index terms, </a:t>
            </a:r>
            <a:endParaRPr dirty="0">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a finite set </a:t>
            </a:r>
            <a:endParaRPr dirty="0">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         D = { d</a:t>
            </a:r>
            <a:r>
              <a:rPr lang="en" baseline="-25000" dirty="0">
                <a:latin typeface="Times New Roman"/>
                <a:ea typeface="Times New Roman"/>
                <a:cs typeface="Times New Roman"/>
                <a:sym typeface="Times New Roman"/>
              </a:rPr>
              <a:t>1</a:t>
            </a:r>
            <a:r>
              <a:rPr lang="en" dirty="0">
                <a:latin typeface="Times New Roman"/>
                <a:ea typeface="Times New Roman"/>
                <a:cs typeface="Times New Roman"/>
                <a:sym typeface="Times New Roman"/>
              </a:rPr>
              <a:t>, d</a:t>
            </a:r>
            <a:r>
              <a:rPr lang="en" baseline="-25000" dirty="0">
                <a:latin typeface="Times New Roman"/>
                <a:ea typeface="Times New Roman"/>
                <a:cs typeface="Times New Roman"/>
                <a:sym typeface="Times New Roman"/>
              </a:rPr>
              <a:t>2 </a:t>
            </a:r>
            <a:r>
              <a:rPr lang="en" dirty="0">
                <a:latin typeface="Times New Roman"/>
                <a:ea typeface="Times New Roman"/>
                <a:cs typeface="Times New Roman"/>
                <a:sym typeface="Times New Roman"/>
              </a:rPr>
              <a:t>, ...,d</a:t>
            </a:r>
            <a:r>
              <a:rPr lang="en" baseline="-25000" dirty="0">
                <a:latin typeface="Times New Roman"/>
                <a:ea typeface="Times New Roman"/>
                <a:cs typeface="Times New Roman"/>
                <a:sym typeface="Times New Roman"/>
              </a:rPr>
              <a:t>j </a:t>
            </a:r>
            <a:r>
              <a:rPr lang="en" dirty="0">
                <a:latin typeface="Times New Roman"/>
                <a:ea typeface="Times New Roman"/>
                <a:cs typeface="Times New Roman"/>
                <a:sym typeface="Times New Roman"/>
              </a:rPr>
              <a:t>,..., d</a:t>
            </a:r>
            <a:r>
              <a:rPr lang="en" baseline="-25000" dirty="0">
                <a:latin typeface="Times New Roman"/>
                <a:ea typeface="Times New Roman"/>
                <a:cs typeface="Times New Roman"/>
                <a:sym typeface="Times New Roman"/>
              </a:rPr>
              <a:t>n</a:t>
            </a:r>
            <a:r>
              <a:rPr lang="en" dirty="0">
                <a:latin typeface="Times New Roman"/>
                <a:ea typeface="Times New Roman"/>
                <a:cs typeface="Times New Roman"/>
                <a:sym typeface="Times New Roman"/>
              </a:rPr>
              <a:t>} of documents and </a:t>
            </a:r>
            <a:endParaRPr dirty="0">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a boolean expression - in a normal form - represent a query Q  as follows:</a:t>
            </a:r>
            <a:endParaRPr dirty="0">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Font typeface="Noto Sans"/>
              <a:buNone/>
            </a:pP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The retrieval is performed in two steps:</a:t>
            </a:r>
            <a:endParaRPr dirty="0">
              <a:latin typeface="Times New Roman"/>
              <a:ea typeface="Times New Roman"/>
              <a:cs typeface="Times New Roman"/>
              <a:sym typeface="Times New Roman"/>
            </a:endParaRPr>
          </a:p>
          <a:p>
            <a:pPr marL="457200" lvl="0" indent="-297518" algn="l" rtl="0">
              <a:lnSpc>
                <a:spcPct val="90000"/>
              </a:lnSpc>
              <a:spcBef>
                <a:spcPts val="800"/>
              </a:spcBef>
              <a:spcAft>
                <a:spcPts val="0"/>
              </a:spcAft>
              <a:buSzPct val="66666"/>
              <a:buFont typeface="Times New Roman"/>
              <a:buAutoNum type="arabicPeriod"/>
            </a:pPr>
            <a:r>
              <a:rPr lang="en" dirty="0">
                <a:latin typeface="Times New Roman"/>
                <a:ea typeface="Times New Roman"/>
                <a:cs typeface="Times New Roman"/>
                <a:sym typeface="Times New Roman"/>
              </a:rPr>
              <a:t>The set R</a:t>
            </a:r>
            <a:r>
              <a:rPr lang="en" baseline="-25000" dirty="0">
                <a:latin typeface="Times New Roman"/>
                <a:ea typeface="Times New Roman"/>
                <a:cs typeface="Times New Roman"/>
                <a:sym typeface="Times New Roman"/>
              </a:rPr>
              <a:t>i</a:t>
            </a:r>
            <a:r>
              <a:rPr lang="en" dirty="0">
                <a:latin typeface="Times New Roman"/>
                <a:ea typeface="Times New Roman"/>
                <a:cs typeface="Times New Roman"/>
                <a:sym typeface="Times New Roman"/>
              </a:rPr>
              <a:t> of documents are obtained that contain or do not contain the term t</a:t>
            </a:r>
            <a:r>
              <a:rPr lang="en" baseline="-25000" dirty="0">
                <a:latin typeface="Times New Roman"/>
                <a:ea typeface="Times New Roman"/>
                <a:cs typeface="Times New Roman"/>
                <a:sym typeface="Times New Roman"/>
              </a:rPr>
              <a:t>i</a:t>
            </a:r>
            <a:r>
              <a:rPr lang="en"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      R</a:t>
            </a:r>
            <a:r>
              <a:rPr lang="en" baseline="-25000" dirty="0">
                <a:latin typeface="Times New Roman"/>
                <a:ea typeface="Times New Roman"/>
                <a:cs typeface="Times New Roman"/>
                <a:sym typeface="Times New Roman"/>
              </a:rPr>
              <a:t>i</a:t>
            </a:r>
            <a:r>
              <a:rPr lang="en" dirty="0">
                <a:latin typeface="Times New Roman"/>
                <a:ea typeface="Times New Roman"/>
                <a:cs typeface="Times New Roman"/>
                <a:sym typeface="Times New Roman"/>
              </a:rPr>
              <a:t> = {                            },               </a:t>
            </a: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Where</a:t>
            </a:r>
            <a:endParaRPr dirty="0">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r>
              <a:rPr lang="en" dirty="0">
                <a:latin typeface="Times New Roman"/>
                <a:ea typeface="Times New Roman"/>
                <a:cs typeface="Times New Roman"/>
                <a:sym typeface="Times New Roman"/>
              </a:rPr>
              <a:t>2. Set operations are used to retrieve documents in response to Q: </a:t>
            </a:r>
            <a:endParaRPr dirty="0">
              <a:latin typeface="Times New Roman"/>
              <a:ea typeface="Times New Roman"/>
              <a:cs typeface="Times New Roman"/>
              <a:sym typeface="Times New Roman"/>
            </a:endParaRPr>
          </a:p>
          <a:p>
            <a:pPr marL="0" lvl="0" indent="0" algn="just" rtl="0">
              <a:lnSpc>
                <a:spcPct val="90000"/>
              </a:lnSpc>
              <a:spcBef>
                <a:spcPts val="800"/>
              </a:spcBef>
              <a:spcAft>
                <a:spcPts val="0"/>
              </a:spcAft>
              <a:buClr>
                <a:srgbClr val="EDEDED"/>
              </a:buClr>
              <a:buSzPct val="100000"/>
              <a:buFont typeface="Noto Sans"/>
              <a:buNone/>
            </a:pPr>
            <a:endParaRPr dirty="0">
              <a:latin typeface="Times New Roman"/>
              <a:ea typeface="Times New Roman"/>
              <a:cs typeface="Times New Roman"/>
              <a:sym typeface="Times New Roman"/>
            </a:endParaRPr>
          </a:p>
        </p:txBody>
      </p:sp>
      <p:pic>
        <p:nvPicPr>
          <p:cNvPr id="338" name="Google Shape;338;p22"/>
          <p:cNvPicPr preferRelativeResize="0"/>
          <p:nvPr/>
        </p:nvPicPr>
        <p:blipFill rotWithShape="1">
          <a:blip r:embed="rId3">
            <a:alphaModFix/>
          </a:blip>
          <a:srcRect/>
          <a:stretch/>
        </p:blipFill>
        <p:spPr>
          <a:xfrm>
            <a:off x="1257837" y="2401340"/>
            <a:ext cx="3017306" cy="405717"/>
          </a:xfrm>
          <a:prstGeom prst="rect">
            <a:avLst/>
          </a:prstGeom>
          <a:solidFill>
            <a:schemeClr val="lt1"/>
          </a:solidFill>
          <a:ln>
            <a:noFill/>
          </a:ln>
        </p:spPr>
      </p:pic>
      <p:pic>
        <p:nvPicPr>
          <p:cNvPr id="339" name="Google Shape;339;p22"/>
          <p:cNvPicPr preferRelativeResize="0"/>
          <p:nvPr/>
        </p:nvPicPr>
        <p:blipFill rotWithShape="1">
          <a:blip r:embed="rId4">
            <a:alphaModFix/>
          </a:blip>
          <a:srcRect/>
          <a:stretch/>
        </p:blipFill>
        <p:spPr>
          <a:xfrm>
            <a:off x="2111851" y="3564266"/>
            <a:ext cx="1039970" cy="319823"/>
          </a:xfrm>
          <a:prstGeom prst="rect">
            <a:avLst/>
          </a:prstGeom>
          <a:solidFill>
            <a:schemeClr val="lt1"/>
          </a:solidFill>
          <a:ln>
            <a:noFill/>
          </a:ln>
        </p:spPr>
      </p:pic>
      <p:pic>
        <p:nvPicPr>
          <p:cNvPr id="340" name="Google Shape;340;p22"/>
          <p:cNvPicPr preferRelativeResize="0"/>
          <p:nvPr/>
        </p:nvPicPr>
        <p:blipFill rotWithShape="1">
          <a:blip r:embed="rId5">
            <a:alphaModFix/>
          </a:blip>
          <a:srcRect/>
          <a:stretch/>
        </p:blipFill>
        <p:spPr>
          <a:xfrm>
            <a:off x="3380420" y="3564266"/>
            <a:ext cx="1215154" cy="318711"/>
          </a:xfrm>
          <a:prstGeom prst="rect">
            <a:avLst/>
          </a:prstGeom>
          <a:solidFill>
            <a:schemeClr val="lt1"/>
          </a:solidFill>
          <a:ln>
            <a:noFill/>
          </a:ln>
        </p:spPr>
      </p:pic>
      <p:pic>
        <p:nvPicPr>
          <p:cNvPr id="341" name="Google Shape;341;p22"/>
          <p:cNvPicPr preferRelativeResize="0"/>
          <p:nvPr/>
        </p:nvPicPr>
        <p:blipFill rotWithShape="1">
          <a:blip r:embed="rId6">
            <a:alphaModFix/>
          </a:blip>
          <a:srcRect/>
          <a:stretch/>
        </p:blipFill>
        <p:spPr>
          <a:xfrm>
            <a:off x="1720410" y="4090100"/>
            <a:ext cx="2646610" cy="329852"/>
          </a:xfrm>
          <a:prstGeom prst="rect">
            <a:avLst/>
          </a:prstGeom>
          <a:solidFill>
            <a:schemeClr val="lt1"/>
          </a:solidFill>
          <a:ln>
            <a:noFill/>
          </a:ln>
        </p:spPr>
      </p:pic>
      <p:pic>
        <p:nvPicPr>
          <p:cNvPr id="342" name="Google Shape;342;p22"/>
          <p:cNvPicPr preferRelativeResize="0"/>
          <p:nvPr/>
        </p:nvPicPr>
        <p:blipFill rotWithShape="1">
          <a:blip r:embed="rId7">
            <a:alphaModFix/>
          </a:blip>
          <a:srcRect/>
          <a:stretch/>
        </p:blipFill>
        <p:spPr>
          <a:xfrm>
            <a:off x="7079205" y="4342175"/>
            <a:ext cx="596503" cy="344093"/>
          </a:xfrm>
          <a:prstGeom prst="rect">
            <a:avLst/>
          </a:prstGeom>
          <a:solidFill>
            <a:schemeClr val="lt1"/>
          </a:solid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3"/>
          <p:cNvSpPr txBox="1">
            <a:spLocks noGrp="1"/>
          </p:cNvSpPr>
          <p:nvPr>
            <p:ph type="title"/>
          </p:nvPr>
        </p:nvSpPr>
        <p:spPr>
          <a:xfrm>
            <a:off x="599672" y="96061"/>
            <a:ext cx="7886700" cy="6240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Boolean Model - Example 1:</a:t>
            </a:r>
            <a:endParaRPr/>
          </a:p>
        </p:txBody>
      </p:sp>
      <p:sp>
        <p:nvSpPr>
          <p:cNvPr id="348" name="Google Shape;348;p23"/>
          <p:cNvSpPr txBox="1">
            <a:spLocks noGrp="1"/>
          </p:cNvSpPr>
          <p:nvPr>
            <p:ph type="body" idx="1"/>
          </p:nvPr>
        </p:nvSpPr>
        <p:spPr>
          <a:xfrm>
            <a:off x="453975" y="830675"/>
            <a:ext cx="8345400" cy="4277700"/>
          </a:xfrm>
          <a:prstGeom prst="rect">
            <a:avLst/>
          </a:prstGeom>
          <a:noFill/>
          <a:ln>
            <a:noFill/>
          </a:ln>
        </p:spPr>
        <p:txBody>
          <a:bodyPr spcFirstLastPara="1" wrap="square" lIns="68575" tIns="34275" rIns="68575" bIns="34275" anchor="t" anchorCtr="0">
            <a:normAutofit fontScale="85000" lnSpcReduction="20000"/>
          </a:bodyPr>
          <a:lstStyle/>
          <a:p>
            <a:pPr marL="177800" lvl="0" indent="-177800" algn="l" rtl="0">
              <a:lnSpc>
                <a:spcPct val="90000"/>
              </a:lnSpc>
              <a:spcBef>
                <a:spcPts val="0"/>
              </a:spcBef>
              <a:spcAft>
                <a:spcPts val="0"/>
              </a:spcAft>
              <a:buClr>
                <a:srgbClr val="EDEDED"/>
              </a:buClr>
              <a:buSzPct val="100000"/>
              <a:buFont typeface="Noto Sans"/>
              <a:buNone/>
            </a:pPr>
            <a:r>
              <a:rPr lang="en">
                <a:latin typeface="Times New Roman"/>
                <a:ea typeface="Times New Roman"/>
                <a:cs typeface="Times New Roman"/>
                <a:sym typeface="Times New Roman"/>
              </a:rPr>
              <a:t>Which plays of Shakespeare contain the words </a:t>
            </a:r>
            <a:r>
              <a:rPr lang="en" b="1" i="1">
                <a:solidFill>
                  <a:srgbClr val="FFFF00"/>
                </a:solidFill>
                <a:latin typeface="Times New Roman"/>
                <a:ea typeface="Times New Roman"/>
                <a:cs typeface="Times New Roman"/>
                <a:sym typeface="Times New Roman"/>
              </a:rPr>
              <a:t>Brutus</a:t>
            </a:r>
            <a:r>
              <a:rPr lang="en">
                <a:solidFill>
                  <a:srgbClr val="FFFF00"/>
                </a:solidFill>
                <a:latin typeface="Times New Roman"/>
                <a:ea typeface="Times New Roman"/>
                <a:cs typeface="Times New Roman"/>
                <a:sym typeface="Times New Roman"/>
              </a:rPr>
              <a:t> </a:t>
            </a:r>
            <a:r>
              <a:rPr lang="en" i="1">
                <a:solidFill>
                  <a:srgbClr val="FFFF00"/>
                </a:solidFill>
                <a:latin typeface="Times New Roman"/>
                <a:ea typeface="Times New Roman"/>
                <a:cs typeface="Times New Roman"/>
                <a:sym typeface="Times New Roman"/>
              </a:rPr>
              <a:t>AND</a:t>
            </a:r>
            <a:r>
              <a:rPr lang="en">
                <a:solidFill>
                  <a:srgbClr val="FFFF00"/>
                </a:solidFill>
                <a:latin typeface="Times New Roman"/>
                <a:ea typeface="Times New Roman"/>
                <a:cs typeface="Times New Roman"/>
                <a:sym typeface="Times New Roman"/>
              </a:rPr>
              <a:t> </a:t>
            </a:r>
            <a:r>
              <a:rPr lang="en" b="1" i="1">
                <a:solidFill>
                  <a:srgbClr val="FFFF00"/>
                </a:solidFill>
                <a:latin typeface="Times New Roman"/>
                <a:ea typeface="Times New Roman"/>
                <a:cs typeface="Times New Roman"/>
                <a:sym typeface="Times New Roman"/>
              </a:rPr>
              <a:t>Caesar</a:t>
            </a:r>
            <a:r>
              <a:rPr lang="en">
                <a:solidFill>
                  <a:srgbClr val="FFFF00"/>
                </a:solidFill>
                <a:latin typeface="Times New Roman"/>
                <a:ea typeface="Times New Roman"/>
                <a:cs typeface="Times New Roman"/>
                <a:sym typeface="Times New Roman"/>
              </a:rPr>
              <a:t> but </a:t>
            </a:r>
            <a:r>
              <a:rPr lang="en" i="1">
                <a:solidFill>
                  <a:srgbClr val="FFFF00"/>
                </a:solidFill>
                <a:latin typeface="Times New Roman"/>
                <a:ea typeface="Times New Roman"/>
                <a:cs typeface="Times New Roman"/>
                <a:sym typeface="Times New Roman"/>
              </a:rPr>
              <a:t>NOT</a:t>
            </a:r>
            <a:r>
              <a:rPr lang="en">
                <a:solidFill>
                  <a:srgbClr val="FFFF00"/>
                </a:solidFill>
                <a:latin typeface="Times New Roman"/>
                <a:ea typeface="Times New Roman"/>
                <a:cs typeface="Times New Roman"/>
                <a:sym typeface="Times New Roman"/>
              </a:rPr>
              <a:t> </a:t>
            </a:r>
            <a:r>
              <a:rPr lang="en" b="1" i="1">
                <a:solidFill>
                  <a:srgbClr val="FFFF00"/>
                </a:solidFill>
                <a:latin typeface="Times New Roman"/>
                <a:ea typeface="Times New Roman"/>
                <a:cs typeface="Times New Roman"/>
                <a:sym typeface="Times New Roman"/>
              </a:rPr>
              <a:t>Calpurnia</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r>
              <a:rPr lang="en">
                <a:latin typeface="Times New Roman"/>
                <a:ea typeface="Times New Roman"/>
                <a:cs typeface="Times New Roman"/>
                <a:sym typeface="Times New Roman"/>
              </a:rPr>
              <a:t>Document  collection: A collection of  Shakespeare's work.</a:t>
            </a: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EDEDED"/>
              </a:buClr>
              <a:buSzPct val="100000"/>
              <a:buFont typeface="Noto Sans"/>
              <a:buNone/>
            </a:pPr>
            <a:endParaRPr>
              <a:latin typeface="Times New Roman"/>
              <a:ea typeface="Times New Roman"/>
              <a:cs typeface="Times New Roman"/>
              <a:sym typeface="Times New Roman"/>
            </a:endParaRPr>
          </a:p>
          <a:p>
            <a:pPr marL="177800" lvl="0" indent="-164147" algn="l" rtl="0">
              <a:lnSpc>
                <a:spcPct val="90000"/>
              </a:lnSpc>
              <a:spcBef>
                <a:spcPts val="800"/>
              </a:spcBef>
              <a:spcAft>
                <a:spcPts val="0"/>
              </a:spcAft>
              <a:buClr>
                <a:srgbClr val="EDEDED"/>
              </a:buClr>
              <a:buSzPct val="100000"/>
              <a:buFont typeface="Times New Roman"/>
              <a:buChar char="•"/>
            </a:pPr>
            <a:r>
              <a:rPr lang="en">
                <a:latin typeface="Times New Roman"/>
                <a:ea typeface="Times New Roman"/>
                <a:cs typeface="Times New Roman"/>
                <a:sym typeface="Times New Roman"/>
              </a:rPr>
              <a:t>So we have a 0/1 vector for each term.</a:t>
            </a:r>
            <a:endParaRPr>
              <a:latin typeface="Times New Roman"/>
              <a:ea typeface="Times New Roman"/>
              <a:cs typeface="Times New Roman"/>
              <a:sym typeface="Times New Roman"/>
            </a:endParaRPr>
          </a:p>
          <a:p>
            <a:pPr marL="177800" lvl="0" indent="-164147" algn="l" rtl="0">
              <a:lnSpc>
                <a:spcPct val="90000"/>
              </a:lnSpc>
              <a:spcBef>
                <a:spcPts val="800"/>
              </a:spcBef>
              <a:spcAft>
                <a:spcPts val="0"/>
              </a:spcAft>
              <a:buClr>
                <a:srgbClr val="EDEDED"/>
              </a:buClr>
              <a:buSzPct val="100000"/>
              <a:buChar char="•"/>
            </a:pPr>
            <a:r>
              <a:rPr lang="en">
                <a:latin typeface="Times New Roman"/>
                <a:ea typeface="Times New Roman"/>
                <a:cs typeface="Times New Roman"/>
                <a:sym typeface="Times New Roman"/>
              </a:rPr>
              <a:t>To answer query: take the vectors for </a:t>
            </a:r>
            <a:r>
              <a:rPr lang="en" b="1" i="1">
                <a:latin typeface="Times New Roman"/>
                <a:ea typeface="Times New Roman"/>
                <a:cs typeface="Times New Roman"/>
                <a:sym typeface="Times New Roman"/>
              </a:rPr>
              <a:t>Brutus, Caesar</a:t>
            </a:r>
            <a:r>
              <a:rPr lang="en">
                <a:latin typeface="Times New Roman"/>
                <a:ea typeface="Times New Roman"/>
                <a:cs typeface="Times New Roman"/>
                <a:sym typeface="Times New Roman"/>
              </a:rPr>
              <a:t> and </a:t>
            </a:r>
            <a:r>
              <a:rPr lang="en" b="1" i="1">
                <a:latin typeface="Times New Roman"/>
                <a:ea typeface="Times New Roman"/>
                <a:cs typeface="Times New Roman"/>
                <a:sym typeface="Times New Roman"/>
              </a:rPr>
              <a:t>Calpurnia</a:t>
            </a:r>
            <a:r>
              <a:rPr lang="en">
                <a:latin typeface="Times New Roman"/>
                <a:ea typeface="Times New Roman"/>
                <a:cs typeface="Times New Roman"/>
                <a:sym typeface="Times New Roman"/>
              </a:rPr>
              <a:t> (complemented) </a:t>
            </a:r>
            <a:endParaRPr>
              <a:latin typeface="Times New Roman"/>
              <a:ea typeface="Times New Roman"/>
              <a:cs typeface="Times New Roman"/>
              <a:sym typeface="Times New Roman"/>
            </a:endParaRPr>
          </a:p>
          <a:p>
            <a:pPr marL="177800" lvl="0" indent="-164147" algn="l" rtl="0">
              <a:lnSpc>
                <a:spcPct val="90000"/>
              </a:lnSpc>
              <a:spcBef>
                <a:spcPts val="800"/>
              </a:spcBef>
              <a:spcAft>
                <a:spcPts val="0"/>
              </a:spcAft>
              <a:buClr>
                <a:srgbClr val="EDEDED"/>
              </a:buClr>
              <a:buSzPct val="100000"/>
              <a:buFont typeface="Times New Roman"/>
              <a:buChar char="•"/>
            </a:pPr>
            <a:r>
              <a:rPr lang="en">
                <a:latin typeface="Times New Roman"/>
                <a:ea typeface="Times New Roman"/>
                <a:cs typeface="Times New Roman"/>
                <a:sym typeface="Times New Roman"/>
              </a:rPr>
              <a:t>110100 </a:t>
            </a:r>
            <a:r>
              <a:rPr lang="en" i="1">
                <a:latin typeface="Times New Roman"/>
                <a:ea typeface="Times New Roman"/>
                <a:cs typeface="Times New Roman"/>
                <a:sym typeface="Times New Roman"/>
              </a:rPr>
              <a:t>AND</a:t>
            </a:r>
            <a:r>
              <a:rPr lang="en">
                <a:latin typeface="Times New Roman"/>
                <a:ea typeface="Times New Roman"/>
                <a:cs typeface="Times New Roman"/>
                <a:sym typeface="Times New Roman"/>
              </a:rPr>
              <a:t> 110111 </a:t>
            </a:r>
            <a:r>
              <a:rPr lang="en" i="1">
                <a:latin typeface="Times New Roman"/>
                <a:ea typeface="Times New Roman"/>
                <a:cs typeface="Times New Roman"/>
                <a:sym typeface="Times New Roman"/>
              </a:rPr>
              <a:t>AND</a:t>
            </a:r>
            <a:r>
              <a:rPr lang="en">
                <a:latin typeface="Times New Roman"/>
                <a:ea typeface="Times New Roman"/>
                <a:cs typeface="Times New Roman"/>
                <a:sym typeface="Times New Roman"/>
              </a:rPr>
              <a:t> 101111 = 100100</a:t>
            </a:r>
            <a:endParaRPr>
              <a:latin typeface="Times New Roman"/>
              <a:ea typeface="Times New Roman"/>
              <a:cs typeface="Times New Roman"/>
              <a:sym typeface="Times New Roman"/>
            </a:endParaRPr>
          </a:p>
          <a:p>
            <a:pPr marL="177800" lvl="0" indent="-126364" algn="l" rtl="0">
              <a:lnSpc>
                <a:spcPct val="90000"/>
              </a:lnSpc>
              <a:spcBef>
                <a:spcPts val="800"/>
              </a:spcBef>
              <a:spcAft>
                <a:spcPts val="0"/>
              </a:spcAft>
              <a:buSzPct val="66666"/>
              <a:buFont typeface="Times New Roman"/>
              <a:buChar char="•"/>
            </a:pPr>
            <a:r>
              <a:rPr lang="en">
                <a:latin typeface="Times New Roman"/>
                <a:ea typeface="Times New Roman"/>
                <a:cs typeface="Times New Roman"/>
                <a:sym typeface="Times New Roman"/>
              </a:rPr>
              <a:t>The plays </a:t>
            </a:r>
            <a:r>
              <a:rPr lang="en" i="1">
                <a:solidFill>
                  <a:srgbClr val="FFFF00"/>
                </a:solidFill>
                <a:latin typeface="Times New Roman"/>
                <a:ea typeface="Times New Roman"/>
                <a:cs typeface="Times New Roman"/>
                <a:sym typeface="Times New Roman"/>
              </a:rPr>
              <a:t>Antony and cleopatra</a:t>
            </a:r>
            <a:r>
              <a:rPr lang="en">
                <a:solidFill>
                  <a:srgbClr val="FFFF00"/>
                </a:solidFill>
                <a:latin typeface="Times New Roman"/>
                <a:ea typeface="Times New Roman"/>
                <a:cs typeface="Times New Roman"/>
                <a:sym typeface="Times New Roman"/>
              </a:rPr>
              <a:t> and  </a:t>
            </a:r>
            <a:r>
              <a:rPr lang="en" i="1">
                <a:solidFill>
                  <a:srgbClr val="FFFF00"/>
                </a:solidFill>
                <a:latin typeface="Times New Roman"/>
                <a:ea typeface="Times New Roman"/>
                <a:cs typeface="Times New Roman"/>
                <a:sym typeface="Times New Roman"/>
              </a:rPr>
              <a:t>Hamlet</a:t>
            </a:r>
            <a:r>
              <a:rPr lang="en" i="1">
                <a:latin typeface="Times New Roman"/>
                <a:ea typeface="Times New Roman"/>
                <a:cs typeface="Times New Roman"/>
                <a:sym typeface="Times New Roman"/>
              </a:rPr>
              <a:t> </a:t>
            </a:r>
            <a:r>
              <a:rPr lang="en">
                <a:latin typeface="Times New Roman"/>
                <a:ea typeface="Times New Roman"/>
                <a:cs typeface="Times New Roman"/>
                <a:sym typeface="Times New Roman"/>
              </a:rPr>
              <a:t>contain the words </a:t>
            </a:r>
            <a:r>
              <a:rPr lang="en">
                <a:solidFill>
                  <a:srgbClr val="FFFF00"/>
                </a:solidFill>
                <a:latin typeface="Times New Roman"/>
                <a:ea typeface="Times New Roman"/>
                <a:cs typeface="Times New Roman"/>
                <a:sym typeface="Times New Roman"/>
              </a:rPr>
              <a:t>Brutus and Caesar but not Calpurnia.    </a:t>
            </a:r>
            <a:endParaRPr>
              <a:solidFill>
                <a:srgbClr val="FFFF00"/>
              </a:solidFill>
              <a:latin typeface="Times New Roman"/>
              <a:ea typeface="Times New Roman"/>
              <a:cs typeface="Times New Roman"/>
              <a:sym typeface="Times New Roman"/>
            </a:endParaRPr>
          </a:p>
          <a:p>
            <a:pPr marL="177800" lvl="0" indent="-126364" algn="l" rtl="0">
              <a:lnSpc>
                <a:spcPct val="90000"/>
              </a:lnSpc>
              <a:spcBef>
                <a:spcPts val="800"/>
              </a:spcBef>
              <a:spcAft>
                <a:spcPts val="0"/>
              </a:spcAft>
              <a:buSzPct val="66666"/>
              <a:buFont typeface="Times New Roman"/>
              <a:buChar char="•"/>
            </a:pPr>
            <a:r>
              <a:rPr lang="en">
                <a:solidFill>
                  <a:srgbClr val="FFFF00"/>
                </a:solidFill>
                <a:latin typeface="Times New Roman"/>
                <a:ea typeface="Times New Roman"/>
                <a:cs typeface="Times New Roman"/>
                <a:sym typeface="Times New Roman"/>
              </a:rPr>
              <a:t>Reference: https://www.youtube.com/watch?v=zRcwihu67H4</a:t>
            </a:r>
            <a:endParaRPr>
              <a:solidFill>
                <a:srgbClr val="FFFF00"/>
              </a:solidFill>
              <a:latin typeface="Times New Roman"/>
              <a:ea typeface="Times New Roman"/>
              <a:cs typeface="Times New Roman"/>
              <a:sym typeface="Times New Roman"/>
            </a:endParaRPr>
          </a:p>
        </p:txBody>
      </p:sp>
      <p:pic>
        <p:nvPicPr>
          <p:cNvPr id="349" name="Google Shape;349;p23"/>
          <p:cNvPicPr preferRelativeResize="0"/>
          <p:nvPr/>
        </p:nvPicPr>
        <p:blipFill rotWithShape="1">
          <a:blip r:embed="rId3">
            <a:alphaModFix/>
          </a:blip>
          <a:srcRect/>
          <a:stretch/>
        </p:blipFill>
        <p:spPr>
          <a:xfrm>
            <a:off x="1659950" y="1437850"/>
            <a:ext cx="4939073" cy="1818850"/>
          </a:xfrm>
          <a:prstGeom prst="rect">
            <a:avLst/>
          </a:prstGeom>
          <a:noFill/>
          <a:ln>
            <a:noFill/>
          </a:ln>
        </p:spPr>
      </p:pic>
      <p:sp>
        <p:nvSpPr>
          <p:cNvPr id="350" name="Google Shape;350;p23"/>
          <p:cNvSpPr txBox="1"/>
          <p:nvPr/>
        </p:nvSpPr>
        <p:spPr>
          <a:xfrm>
            <a:off x="6822349" y="2752075"/>
            <a:ext cx="1837500" cy="623400"/>
          </a:xfrm>
          <a:prstGeom prst="rect">
            <a:avLst/>
          </a:prstGeom>
          <a:noFill/>
          <a:ln w="9525" cap="flat" cmpd="sng">
            <a:solidFill>
              <a:schemeClr val="lt1"/>
            </a:solidFill>
            <a:prstDash val="solid"/>
            <a:miter lim="800000"/>
            <a:headEnd type="none" w="sm" len="sm"/>
            <a:tailEnd type="none" w="sm" len="sm"/>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Times New Roman"/>
                <a:ea typeface="Times New Roman"/>
                <a:cs typeface="Times New Roman"/>
                <a:sym typeface="Times New Roman"/>
              </a:rPr>
              <a:t>1 if </a:t>
            </a:r>
            <a:r>
              <a:rPr lang="en" sz="1800" b="0" i="0" u="none" strike="noStrike" cap="none">
                <a:solidFill>
                  <a:schemeClr val="folHlink"/>
                </a:solidFill>
                <a:latin typeface="Times New Roman"/>
                <a:ea typeface="Times New Roman"/>
                <a:cs typeface="Times New Roman"/>
                <a:sym typeface="Times New Roman"/>
              </a:rPr>
              <a:t>play</a:t>
            </a:r>
            <a:r>
              <a:rPr lang="en" sz="1800" b="0" i="0" u="none" strike="noStrike" cap="none">
                <a:solidFill>
                  <a:schemeClr val="lt1"/>
                </a:solidFill>
                <a:latin typeface="Times New Roman"/>
                <a:ea typeface="Times New Roman"/>
                <a:cs typeface="Times New Roman"/>
                <a:sym typeface="Times New Roman"/>
              </a:rPr>
              <a:t> contains word, otherwise 0</a:t>
            </a:r>
            <a:endParaRPr sz="1100" b="0" i="0" u="none" strike="noStrike" cap="none">
              <a:solidFill>
                <a:srgbClr val="000000"/>
              </a:solidFill>
              <a:latin typeface="Times New Roman"/>
              <a:ea typeface="Times New Roman"/>
              <a:cs typeface="Times New Roman"/>
              <a:sym typeface="Times New Roman"/>
            </a:endParaRPr>
          </a:p>
        </p:txBody>
      </p:sp>
      <p:cxnSp>
        <p:nvCxnSpPr>
          <p:cNvPr id="351" name="Google Shape;351;p23"/>
          <p:cNvCxnSpPr/>
          <p:nvPr/>
        </p:nvCxnSpPr>
        <p:spPr>
          <a:xfrm rot="10800000">
            <a:off x="5702143" y="2452673"/>
            <a:ext cx="1120200" cy="909000"/>
          </a:xfrm>
          <a:prstGeom prst="straightConnector1">
            <a:avLst/>
          </a:prstGeom>
          <a:noFill/>
          <a:ln w="19050" cap="flat" cmpd="sng">
            <a:solidFill>
              <a:srgbClr val="000080"/>
            </a:solidFill>
            <a:prstDash val="solid"/>
            <a:round/>
            <a:headEnd type="none" w="sm" len="sm"/>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4"/>
          <p:cNvSpPr txBox="1">
            <a:spLocks noGrp="1"/>
          </p:cNvSpPr>
          <p:nvPr>
            <p:ph type="title"/>
          </p:nvPr>
        </p:nvSpPr>
        <p:spPr>
          <a:xfrm>
            <a:off x="303925" y="203875"/>
            <a:ext cx="8211300" cy="4260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890">
                <a:latin typeface="Times New Roman"/>
                <a:ea typeface="Times New Roman"/>
                <a:cs typeface="Times New Roman"/>
                <a:sym typeface="Times New Roman"/>
              </a:rPr>
              <a:t>Boolean Model - Example 2</a:t>
            </a:r>
            <a:endParaRPr sz="2890">
              <a:latin typeface="Times New Roman"/>
              <a:ea typeface="Times New Roman"/>
              <a:cs typeface="Times New Roman"/>
              <a:sym typeface="Times New Roman"/>
            </a:endParaRPr>
          </a:p>
        </p:txBody>
      </p:sp>
      <p:sp>
        <p:nvSpPr>
          <p:cNvPr id="357" name="Google Shape;357;p24"/>
          <p:cNvSpPr txBox="1">
            <a:spLocks noGrp="1"/>
          </p:cNvSpPr>
          <p:nvPr>
            <p:ph type="body" idx="1"/>
          </p:nvPr>
        </p:nvSpPr>
        <p:spPr>
          <a:xfrm>
            <a:off x="244925" y="629875"/>
            <a:ext cx="8721000" cy="4443600"/>
          </a:xfrm>
          <a:prstGeom prst="rect">
            <a:avLst/>
          </a:prstGeom>
          <a:noFill/>
          <a:ln>
            <a:noFill/>
          </a:ln>
        </p:spPr>
        <p:txBody>
          <a:bodyPr spcFirstLastPara="1" wrap="square" lIns="68575" tIns="34275" rIns="68575" bIns="34275" anchor="t" anchorCtr="0">
            <a:normAutofit fontScale="70000" lnSpcReduction="20000"/>
          </a:bodyPr>
          <a:lstStyle/>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Let the set of original documents be D={D1, D2, D3}</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Where</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D1 =</a:t>
            </a:r>
            <a:r>
              <a:rPr lang="en" sz="1400" b="1">
                <a:solidFill>
                  <a:srgbClr val="FFFF00"/>
                </a:solidFill>
                <a:latin typeface="Times New Roman"/>
                <a:ea typeface="Times New Roman"/>
                <a:cs typeface="Times New Roman"/>
                <a:sym typeface="Times New Roman"/>
              </a:rPr>
              <a:t>Information </a:t>
            </a:r>
            <a:r>
              <a:rPr lang="en" sz="1400">
                <a:latin typeface="Times New Roman"/>
                <a:ea typeface="Times New Roman"/>
                <a:cs typeface="Times New Roman"/>
                <a:sym typeface="Times New Roman"/>
              </a:rPr>
              <a:t>retrieval is concerned with the organization, storage, </a:t>
            </a:r>
            <a:r>
              <a:rPr lang="en" sz="1400" b="1">
                <a:solidFill>
                  <a:srgbClr val="FFFF00"/>
                </a:solidFill>
                <a:latin typeface="Times New Roman"/>
                <a:ea typeface="Times New Roman"/>
                <a:cs typeface="Times New Roman"/>
                <a:sym typeface="Times New Roman"/>
              </a:rPr>
              <a:t>retrieval </a:t>
            </a:r>
            <a:r>
              <a:rPr lang="en" sz="1400">
                <a:latin typeface="Times New Roman"/>
                <a:ea typeface="Times New Roman"/>
                <a:cs typeface="Times New Roman"/>
                <a:sym typeface="Times New Roman"/>
              </a:rPr>
              <a:t>and evaluation of information relevant to user’s </a:t>
            </a:r>
            <a:r>
              <a:rPr lang="en" sz="1400" b="1">
                <a:solidFill>
                  <a:srgbClr val="FFFF00"/>
                </a:solidFill>
                <a:latin typeface="Times New Roman"/>
                <a:ea typeface="Times New Roman"/>
                <a:cs typeface="Times New Roman"/>
                <a:sym typeface="Times New Roman"/>
              </a:rPr>
              <a:t>query</a:t>
            </a:r>
            <a:r>
              <a:rPr lang="en"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D2 = A user having an </a:t>
            </a:r>
            <a:r>
              <a:rPr lang="en" sz="1400" b="1">
                <a:solidFill>
                  <a:srgbClr val="FFFF00"/>
                </a:solidFill>
                <a:latin typeface="Times New Roman"/>
                <a:ea typeface="Times New Roman"/>
                <a:cs typeface="Times New Roman"/>
                <a:sym typeface="Times New Roman"/>
              </a:rPr>
              <a:t>information </a:t>
            </a:r>
            <a:r>
              <a:rPr lang="en" sz="1400">
                <a:latin typeface="Times New Roman"/>
                <a:ea typeface="Times New Roman"/>
                <a:cs typeface="Times New Roman"/>
                <a:sym typeface="Times New Roman"/>
              </a:rPr>
              <a:t>needs to formulate a request in the form of </a:t>
            </a:r>
            <a:r>
              <a:rPr lang="en" sz="1400" b="1">
                <a:solidFill>
                  <a:srgbClr val="FFFF00"/>
                </a:solidFill>
                <a:latin typeface="Times New Roman"/>
                <a:ea typeface="Times New Roman"/>
                <a:cs typeface="Times New Roman"/>
                <a:sym typeface="Times New Roman"/>
              </a:rPr>
              <a:t>query </a:t>
            </a:r>
            <a:r>
              <a:rPr lang="en" sz="1400">
                <a:latin typeface="Times New Roman"/>
                <a:ea typeface="Times New Roman"/>
                <a:cs typeface="Times New Roman"/>
                <a:sym typeface="Times New Roman"/>
              </a:rPr>
              <a:t>written in natural language.</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D3 = The </a:t>
            </a:r>
            <a:r>
              <a:rPr lang="en" sz="1400" b="1">
                <a:solidFill>
                  <a:srgbClr val="FFFF00"/>
                </a:solidFill>
                <a:latin typeface="Times New Roman"/>
                <a:ea typeface="Times New Roman"/>
                <a:cs typeface="Times New Roman"/>
                <a:sym typeface="Times New Roman"/>
              </a:rPr>
              <a:t>retrieval </a:t>
            </a:r>
            <a:r>
              <a:rPr lang="en" sz="1400">
                <a:latin typeface="Times New Roman"/>
                <a:ea typeface="Times New Roman"/>
                <a:cs typeface="Times New Roman"/>
                <a:sym typeface="Times New Roman"/>
              </a:rPr>
              <a:t>system responds by retrieving the document that seems relevant to the </a:t>
            </a:r>
            <a:r>
              <a:rPr lang="en" sz="1400" b="1">
                <a:solidFill>
                  <a:srgbClr val="FFFF00"/>
                </a:solidFill>
                <a:latin typeface="Times New Roman"/>
                <a:ea typeface="Times New Roman"/>
                <a:cs typeface="Times New Roman"/>
                <a:sym typeface="Times New Roman"/>
              </a:rPr>
              <a:t>query</a:t>
            </a:r>
            <a:r>
              <a:rPr lang="en"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Let the set of terms used to represent these documents be</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T = { information, retrieval, query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Then, the set D of document will be represented as follows: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D = { d1, d2, d3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Where</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 d1 = { information, retrieval, query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 d2 = { information, query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 d3 = { retrieval, query}</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Let the Query Q be, Q = </a:t>
            </a:r>
            <a:r>
              <a:rPr lang="en" sz="1400" b="1">
                <a:solidFill>
                  <a:srgbClr val="FFFF00"/>
                </a:solidFill>
                <a:latin typeface="Times New Roman"/>
                <a:ea typeface="Times New Roman"/>
                <a:cs typeface="Times New Roman"/>
                <a:sym typeface="Times New Roman"/>
              </a:rPr>
              <a:t>information ^ retrieval</a:t>
            </a:r>
            <a:endParaRPr sz="1400" b="1">
              <a:solidFill>
                <a:srgbClr val="FFFF00"/>
              </a:solidFill>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b="1">
                <a:latin typeface="Times New Roman"/>
                <a:ea typeface="Times New Roman"/>
                <a:cs typeface="Times New Roman"/>
                <a:sym typeface="Times New Roman"/>
              </a:rPr>
              <a:t>Step 1</a:t>
            </a:r>
            <a:r>
              <a:rPr lang="en" sz="1400">
                <a:latin typeface="Times New Roman"/>
                <a:ea typeface="Times New Roman"/>
                <a:cs typeface="Times New Roman"/>
                <a:sym typeface="Times New Roman"/>
              </a:rPr>
              <a:t>: The sets R1 and R2 of documents are retrieved in response to Q, where</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R1 = { dj | information ∈ dj } = { d1, d2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R2 = { dj | retrieval ∈ dj } = { d1, d3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b="1">
                <a:latin typeface="Times New Roman"/>
                <a:ea typeface="Times New Roman"/>
                <a:cs typeface="Times New Roman"/>
                <a:sym typeface="Times New Roman"/>
              </a:rPr>
              <a:t>Step 2</a:t>
            </a:r>
            <a:r>
              <a:rPr lang="en" sz="1400">
                <a:latin typeface="Times New Roman"/>
                <a:ea typeface="Times New Roman"/>
                <a:cs typeface="Times New Roman"/>
                <a:sym typeface="Times New Roman"/>
              </a:rPr>
              <a:t>: Then, the following documents are retrieved in response to the query Q</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 dj | dj ∈ R1 ⋂ R2 } = { d1 }</a:t>
            </a: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ct val="129032"/>
              <a:buNone/>
            </a:pPr>
            <a:r>
              <a:rPr lang="en" sz="1400">
                <a:latin typeface="Times New Roman"/>
                <a:ea typeface="Times New Roman"/>
                <a:cs typeface="Times New Roman"/>
                <a:sym typeface="Times New Roman"/>
              </a:rPr>
              <a:t>This results in the retrieval of the original document D1 that has the representation d1. </a:t>
            </a:r>
            <a:endParaRPr sz="14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5"/>
          <p:cNvSpPr txBox="1">
            <a:spLocks noGrp="1"/>
          </p:cNvSpPr>
          <p:nvPr>
            <p:ph type="title"/>
          </p:nvPr>
        </p:nvSpPr>
        <p:spPr>
          <a:xfrm>
            <a:off x="628650" y="273847"/>
            <a:ext cx="7886700" cy="460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990"/>
              <a:buFont typeface="Arial"/>
              <a:buNone/>
            </a:pPr>
            <a:r>
              <a:rPr lang="en" sz="2790" dirty="0">
                <a:latin typeface="Times New Roman"/>
                <a:ea typeface="Times New Roman"/>
                <a:cs typeface="Times New Roman"/>
                <a:sym typeface="Times New Roman"/>
              </a:rPr>
              <a:t>Boolean Model - Advantages and Disadvantages</a:t>
            </a:r>
            <a:endParaRPr sz="2790" dirty="0"/>
          </a:p>
        </p:txBody>
      </p:sp>
      <p:sp>
        <p:nvSpPr>
          <p:cNvPr id="363" name="Google Shape;363;p25"/>
          <p:cNvSpPr txBox="1">
            <a:spLocks noGrp="1"/>
          </p:cNvSpPr>
          <p:nvPr>
            <p:ph type="body" idx="1"/>
          </p:nvPr>
        </p:nvSpPr>
        <p:spPr>
          <a:xfrm>
            <a:off x="734775" y="796025"/>
            <a:ext cx="7780800" cy="3836700"/>
          </a:xfrm>
          <a:prstGeom prst="rect">
            <a:avLst/>
          </a:prstGeom>
          <a:noFill/>
          <a:ln>
            <a:noFill/>
          </a:ln>
        </p:spPr>
        <p:txBody>
          <a:bodyPr spcFirstLastPara="1" wrap="square" lIns="68575" tIns="34275" rIns="68575" bIns="34275" anchor="ctr" anchorCtr="0">
            <a:normAutofit lnSpcReduction="10000"/>
          </a:bodyPr>
          <a:lstStyle/>
          <a:p>
            <a:pPr marL="0" lvl="0" indent="0" algn="just" rtl="0">
              <a:lnSpc>
                <a:spcPct val="100000"/>
              </a:lnSpc>
              <a:spcBef>
                <a:spcPts val="0"/>
              </a:spcBef>
              <a:spcAft>
                <a:spcPts val="0"/>
              </a:spcAft>
              <a:buSzPts val="852"/>
              <a:buNone/>
            </a:pPr>
            <a:r>
              <a:rPr lang="en" sz="1970" b="1" dirty="0">
                <a:solidFill>
                  <a:srgbClr val="FFFF00"/>
                </a:solidFill>
                <a:latin typeface="Times New Roman"/>
                <a:ea typeface="Times New Roman"/>
                <a:cs typeface="Times New Roman"/>
                <a:sym typeface="Times New Roman"/>
              </a:rPr>
              <a:t>Advantages: </a:t>
            </a:r>
            <a:endParaRPr sz="1970" b="1" dirty="0">
              <a:solidFill>
                <a:srgbClr val="FFFF00"/>
              </a:solidFill>
              <a:latin typeface="Times New Roman"/>
              <a:ea typeface="Times New Roman"/>
              <a:cs typeface="Times New Roman"/>
              <a:sym typeface="Times New Roman"/>
            </a:endParaRPr>
          </a:p>
          <a:p>
            <a:pPr marL="457200" lvl="0" indent="-353695" algn="just" rtl="0">
              <a:lnSpc>
                <a:spcPct val="100000"/>
              </a:lnSpc>
              <a:spcBef>
                <a:spcPts val="0"/>
              </a:spcBef>
              <a:spcAft>
                <a:spcPts val="0"/>
              </a:spcAft>
              <a:buClr>
                <a:schemeClr val="lt1"/>
              </a:buClr>
              <a:buSzPts val="1970"/>
              <a:buFont typeface="Times New Roman"/>
              <a:buChar char="•"/>
            </a:pPr>
            <a:r>
              <a:rPr lang="en" sz="1970" dirty="0">
                <a:solidFill>
                  <a:schemeClr val="lt1"/>
                </a:solidFill>
                <a:latin typeface="Times New Roman"/>
                <a:ea typeface="Times New Roman"/>
                <a:cs typeface="Times New Roman"/>
                <a:sym typeface="Times New Roman"/>
              </a:rPr>
              <a:t>Boolean IR models have been used in IR systems for a long time.</a:t>
            </a:r>
            <a:endParaRPr sz="1970" dirty="0">
              <a:solidFill>
                <a:schemeClr val="lt1"/>
              </a:solidFill>
              <a:latin typeface="Times New Roman"/>
              <a:ea typeface="Times New Roman"/>
              <a:cs typeface="Times New Roman"/>
              <a:sym typeface="Times New Roman"/>
            </a:endParaRPr>
          </a:p>
          <a:p>
            <a:pPr marL="457200" lvl="0" indent="-353695" algn="just" rtl="0">
              <a:lnSpc>
                <a:spcPct val="100000"/>
              </a:lnSpc>
              <a:spcBef>
                <a:spcPts val="0"/>
              </a:spcBef>
              <a:spcAft>
                <a:spcPts val="0"/>
              </a:spcAft>
              <a:buClr>
                <a:srgbClr val="FFFFFF"/>
              </a:buClr>
              <a:buSzPts val="1970"/>
              <a:buFont typeface="Times New Roman"/>
              <a:buChar char="•"/>
            </a:pPr>
            <a:r>
              <a:rPr lang="en" sz="1970" dirty="0">
                <a:solidFill>
                  <a:srgbClr val="FFFFFF"/>
                </a:solidFill>
                <a:latin typeface="Times New Roman"/>
                <a:ea typeface="Times New Roman"/>
                <a:cs typeface="Times New Roman"/>
                <a:sym typeface="Times New Roman"/>
              </a:rPr>
              <a:t>They are simple, </a:t>
            </a:r>
            <a:r>
              <a:rPr lang="en" sz="1970" dirty="0">
                <a:latin typeface="Times New Roman"/>
                <a:ea typeface="Times New Roman"/>
                <a:cs typeface="Times New Roman"/>
                <a:sym typeface="Times New Roman"/>
              </a:rPr>
              <a:t>efficient, easy to implement, perform well in terms of recall and precision if the query is well formulated.</a:t>
            </a:r>
            <a:endParaRPr sz="1970" dirty="0">
              <a:latin typeface="Times New Roman"/>
              <a:ea typeface="Times New Roman"/>
              <a:cs typeface="Times New Roman"/>
              <a:sym typeface="Times New Roman"/>
            </a:endParaRPr>
          </a:p>
          <a:p>
            <a:pPr marL="0" lvl="0" indent="0" algn="just" rtl="0">
              <a:lnSpc>
                <a:spcPct val="100000"/>
              </a:lnSpc>
              <a:spcBef>
                <a:spcPts val="1000"/>
              </a:spcBef>
              <a:spcAft>
                <a:spcPts val="0"/>
              </a:spcAft>
              <a:buClr>
                <a:srgbClr val="EDEDED"/>
              </a:buClr>
              <a:buSzPts val="852"/>
              <a:buFont typeface="Arial"/>
              <a:buNone/>
            </a:pPr>
            <a:r>
              <a:rPr lang="en" sz="1970" b="1" dirty="0">
                <a:solidFill>
                  <a:srgbClr val="FFFF00"/>
                </a:solidFill>
                <a:latin typeface="Times New Roman"/>
                <a:ea typeface="Times New Roman"/>
                <a:cs typeface="Times New Roman"/>
                <a:sym typeface="Times New Roman"/>
              </a:rPr>
              <a:t>Disadvantages:</a:t>
            </a:r>
            <a:endParaRPr sz="1970" b="1" dirty="0">
              <a:solidFill>
                <a:srgbClr val="FFFF00"/>
              </a:solidFill>
              <a:latin typeface="Times New Roman"/>
              <a:ea typeface="Times New Roman"/>
              <a:cs typeface="Times New Roman"/>
              <a:sym typeface="Times New Roman"/>
            </a:endParaRPr>
          </a:p>
          <a:p>
            <a:pPr marL="514350" lvl="0" indent="-461644" algn="just" rtl="0">
              <a:lnSpc>
                <a:spcPct val="100000"/>
              </a:lnSpc>
              <a:spcBef>
                <a:spcPts val="1000"/>
              </a:spcBef>
              <a:spcAft>
                <a:spcPts val="0"/>
              </a:spcAft>
              <a:buSzPts val="1970"/>
              <a:buFont typeface="Times New Roman"/>
              <a:buAutoNum type="arabicPeriod"/>
            </a:pPr>
            <a:r>
              <a:rPr lang="en" sz="1970" dirty="0">
                <a:latin typeface="Times New Roman"/>
                <a:ea typeface="Times New Roman"/>
                <a:cs typeface="Times New Roman"/>
                <a:sym typeface="Times New Roman"/>
              </a:rPr>
              <a:t>The model fails to retrieve documents that are only partly relevant to user query, all information is ‘to be or not to be’.</a:t>
            </a:r>
            <a:endParaRPr sz="1970" dirty="0">
              <a:latin typeface="Times New Roman"/>
              <a:ea typeface="Times New Roman"/>
              <a:cs typeface="Times New Roman"/>
              <a:sym typeface="Times New Roman"/>
            </a:endParaRPr>
          </a:p>
          <a:p>
            <a:pPr marL="514350" lvl="0" indent="-461644" algn="just" rtl="0">
              <a:lnSpc>
                <a:spcPct val="100000"/>
              </a:lnSpc>
              <a:spcBef>
                <a:spcPts val="1000"/>
              </a:spcBef>
              <a:spcAft>
                <a:spcPts val="0"/>
              </a:spcAft>
              <a:buSzPts val="1970"/>
              <a:buFont typeface="Times New Roman"/>
              <a:buAutoNum type="arabicPeriod"/>
            </a:pPr>
            <a:r>
              <a:rPr lang="en" sz="1970" dirty="0">
                <a:latin typeface="Times New Roman"/>
                <a:ea typeface="Times New Roman"/>
                <a:cs typeface="Times New Roman"/>
                <a:sym typeface="Times New Roman"/>
              </a:rPr>
              <a:t>Boolean system cannot rank the retrieved list of documents.</a:t>
            </a:r>
            <a:endParaRPr sz="1970" dirty="0">
              <a:latin typeface="Times New Roman"/>
              <a:ea typeface="Times New Roman"/>
              <a:cs typeface="Times New Roman"/>
              <a:sym typeface="Times New Roman"/>
            </a:endParaRPr>
          </a:p>
          <a:p>
            <a:pPr marL="514350" lvl="0" indent="-461644" algn="just" rtl="0">
              <a:lnSpc>
                <a:spcPct val="100000"/>
              </a:lnSpc>
              <a:spcBef>
                <a:spcPts val="1000"/>
              </a:spcBef>
              <a:spcAft>
                <a:spcPts val="0"/>
              </a:spcAft>
              <a:buSzPts val="1970"/>
              <a:buFont typeface="Times New Roman"/>
              <a:buAutoNum type="arabicPeriod"/>
            </a:pPr>
            <a:r>
              <a:rPr lang="en" sz="1970" dirty="0">
                <a:latin typeface="Times New Roman"/>
                <a:ea typeface="Times New Roman"/>
                <a:cs typeface="Times New Roman"/>
                <a:sym typeface="Times New Roman"/>
              </a:rPr>
              <a:t>It distinguishes between presence and absence of keywords but fails to assign relevance and importance to keywords in a document.</a:t>
            </a:r>
            <a:endParaRPr sz="1970" dirty="0">
              <a:latin typeface="Times New Roman"/>
              <a:ea typeface="Times New Roman"/>
              <a:cs typeface="Times New Roman"/>
              <a:sym typeface="Times New Roman"/>
            </a:endParaRPr>
          </a:p>
          <a:p>
            <a:pPr marL="514350" lvl="0" indent="-461644" algn="just" rtl="0">
              <a:lnSpc>
                <a:spcPct val="100000"/>
              </a:lnSpc>
              <a:spcBef>
                <a:spcPts val="1000"/>
              </a:spcBef>
              <a:spcAft>
                <a:spcPts val="0"/>
              </a:spcAft>
              <a:buSzPts val="1970"/>
              <a:buFont typeface="Times New Roman"/>
              <a:buAutoNum type="arabicPeriod"/>
            </a:pPr>
            <a:r>
              <a:rPr lang="en" sz="1970" dirty="0">
                <a:latin typeface="Times New Roman"/>
                <a:ea typeface="Times New Roman"/>
                <a:cs typeface="Times New Roman"/>
                <a:sym typeface="Times New Roman"/>
              </a:rPr>
              <a:t>User has to formulate the query in pure boolean expression.</a:t>
            </a:r>
            <a:endParaRPr sz="1627"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DEDED"/>
              </a:buClr>
              <a:buSzPts val="4100"/>
              <a:buFont typeface="Corbel"/>
              <a:buNone/>
            </a:pPr>
            <a:r>
              <a:rPr lang="en"/>
              <a:t>Probabilistic model</a:t>
            </a:r>
            <a:endParaRPr/>
          </a:p>
        </p:txBody>
      </p:sp>
      <p:sp>
        <p:nvSpPr>
          <p:cNvPr id="369" name="Google Shape;369;p26"/>
          <p:cNvSpPr txBox="1">
            <a:spLocks noGrp="1"/>
          </p:cNvSpPr>
          <p:nvPr>
            <p:ph type="body" idx="1"/>
          </p:nvPr>
        </p:nvSpPr>
        <p:spPr>
          <a:xfrm>
            <a:off x="471500" y="1026925"/>
            <a:ext cx="8048400" cy="3784200"/>
          </a:xfrm>
          <a:prstGeom prst="rect">
            <a:avLst/>
          </a:prstGeom>
          <a:noFill/>
          <a:ln>
            <a:noFill/>
          </a:ln>
        </p:spPr>
        <p:txBody>
          <a:bodyPr spcFirstLastPara="1" wrap="square" lIns="68575" tIns="34275" rIns="68575" bIns="34275" anchor="ctr" anchorCtr="0">
            <a:normAutofit fontScale="92500" lnSpcReduction="20000"/>
          </a:bodyPr>
          <a:lstStyle/>
          <a:p>
            <a:pPr marL="177800" lvl="0" indent="-165100" algn="just" rtl="0">
              <a:lnSpc>
                <a:spcPct val="100000"/>
              </a:lnSpc>
              <a:spcBef>
                <a:spcPts val="1000"/>
              </a:spcBef>
              <a:spcAft>
                <a:spcPts val="0"/>
              </a:spcAft>
              <a:buClr>
                <a:srgbClr val="EDEDED"/>
              </a:buClr>
              <a:buSzPts val="1800"/>
              <a:buFont typeface="Times New Roman"/>
              <a:buChar char="•"/>
            </a:pPr>
            <a:r>
              <a:rPr lang="en" sz="1800">
                <a:latin typeface="Times New Roman"/>
                <a:ea typeface="Times New Roman"/>
                <a:cs typeface="Times New Roman"/>
                <a:sym typeface="Times New Roman"/>
              </a:rPr>
              <a:t>Ranks the document based on the probability of their relevance to a given query.</a:t>
            </a:r>
            <a:endParaRPr sz="1800">
              <a:latin typeface="Times New Roman"/>
              <a:ea typeface="Times New Roman"/>
              <a:cs typeface="Times New Roman"/>
              <a:sym typeface="Times New Roman"/>
            </a:endParaRPr>
          </a:p>
          <a:p>
            <a:pPr marL="177800" lvl="0" indent="-165100" algn="just" rtl="0">
              <a:lnSpc>
                <a:spcPct val="100000"/>
              </a:lnSpc>
              <a:spcBef>
                <a:spcPts val="1000"/>
              </a:spcBef>
              <a:spcAft>
                <a:spcPts val="0"/>
              </a:spcAft>
              <a:buClr>
                <a:srgbClr val="EDEDED"/>
              </a:buClr>
              <a:buSzPts val="1800"/>
              <a:buFont typeface="Times New Roman"/>
              <a:buChar char="•"/>
            </a:pPr>
            <a:r>
              <a:rPr lang="en" sz="1800">
                <a:latin typeface="Times New Roman"/>
                <a:ea typeface="Times New Roman"/>
                <a:cs typeface="Times New Roman"/>
                <a:sym typeface="Times New Roman"/>
              </a:rPr>
              <a:t>Retrieval depends on whether probability of relevance (relative to a query) of a document is higher than that of non relevance, that is, whether it exceeds a threshold  value.</a:t>
            </a:r>
            <a:endParaRPr sz="1800">
              <a:latin typeface="Times New Roman"/>
              <a:ea typeface="Times New Roman"/>
              <a:cs typeface="Times New Roman"/>
              <a:sym typeface="Times New Roman"/>
            </a:endParaRPr>
          </a:p>
          <a:p>
            <a:pPr marL="177800" lvl="0" indent="-165100" algn="just" rtl="0">
              <a:lnSpc>
                <a:spcPct val="100000"/>
              </a:lnSpc>
              <a:spcBef>
                <a:spcPts val="1000"/>
              </a:spcBef>
              <a:spcAft>
                <a:spcPts val="0"/>
              </a:spcAft>
              <a:buClr>
                <a:srgbClr val="EDEDED"/>
              </a:buClr>
              <a:buSzPts val="1800"/>
              <a:buFont typeface="Times New Roman"/>
              <a:buChar char="•"/>
            </a:pPr>
            <a:r>
              <a:rPr lang="en" sz="1800">
                <a:latin typeface="Times New Roman"/>
                <a:ea typeface="Times New Roman"/>
                <a:cs typeface="Times New Roman"/>
                <a:sym typeface="Times New Roman"/>
              </a:rPr>
              <a:t>Given a set of documents D, a query ‘q’, and a cut off value ‘α’ , this model first calculates the probability of relevance and irrelevance of a document to the query.</a:t>
            </a:r>
            <a:endParaRPr sz="1800">
              <a:latin typeface="Times New Roman"/>
              <a:ea typeface="Times New Roman"/>
              <a:cs typeface="Times New Roman"/>
              <a:sym typeface="Times New Roman"/>
            </a:endParaRPr>
          </a:p>
          <a:p>
            <a:pPr marL="177800" lvl="0" indent="-165100" algn="just" rtl="0">
              <a:lnSpc>
                <a:spcPct val="100000"/>
              </a:lnSpc>
              <a:spcBef>
                <a:spcPts val="1000"/>
              </a:spcBef>
              <a:spcAft>
                <a:spcPts val="0"/>
              </a:spcAft>
              <a:buClr>
                <a:srgbClr val="EDEDED"/>
              </a:buClr>
              <a:buSzPts val="1800"/>
              <a:buFont typeface="Times New Roman"/>
              <a:buChar char="•"/>
            </a:pPr>
            <a:r>
              <a:rPr lang="en" sz="1800">
                <a:latin typeface="Times New Roman"/>
                <a:ea typeface="Times New Roman"/>
                <a:cs typeface="Times New Roman"/>
                <a:sym typeface="Times New Roman"/>
              </a:rPr>
              <a:t>It then ranks documents having probability of relevance at least that of irrelevance in decreasing order of their relevance. </a:t>
            </a:r>
            <a:endParaRPr sz="1800">
              <a:latin typeface="Times New Roman"/>
              <a:ea typeface="Times New Roman"/>
              <a:cs typeface="Times New Roman"/>
              <a:sym typeface="Times New Roman"/>
            </a:endParaRPr>
          </a:p>
          <a:p>
            <a:pPr marL="177800" lvl="0" indent="-165100" algn="just" rtl="0">
              <a:lnSpc>
                <a:spcPct val="100000"/>
              </a:lnSpc>
              <a:spcBef>
                <a:spcPts val="1000"/>
              </a:spcBef>
              <a:spcAft>
                <a:spcPts val="0"/>
              </a:spcAft>
              <a:buSzPts val="1800"/>
              <a:buFont typeface="Times New Roman"/>
              <a:buChar char="•"/>
            </a:pPr>
            <a:r>
              <a:rPr lang="en" sz="1800" b="1">
                <a:latin typeface="Times New Roman"/>
                <a:ea typeface="Times New Roman"/>
                <a:cs typeface="Times New Roman"/>
                <a:sym typeface="Times New Roman"/>
              </a:rPr>
              <a:t>Documents are retrieved if the probability of relevance in the ranked list exceeds the cut off value. </a:t>
            </a:r>
            <a:endParaRPr sz="1800" b="1">
              <a:latin typeface="Times New Roman"/>
              <a:ea typeface="Times New Roman"/>
              <a:cs typeface="Times New Roman"/>
              <a:sym typeface="Times New Roman"/>
            </a:endParaRPr>
          </a:p>
          <a:p>
            <a:pPr marL="177800" lvl="0" indent="-165100" algn="just" rtl="0">
              <a:lnSpc>
                <a:spcPct val="100000"/>
              </a:lnSpc>
              <a:spcBef>
                <a:spcPts val="1000"/>
              </a:spcBef>
              <a:spcAft>
                <a:spcPts val="0"/>
              </a:spcAft>
              <a:buClr>
                <a:srgbClr val="EDEDED"/>
              </a:buClr>
              <a:buSzPts val="1800"/>
              <a:buFont typeface="Times New Roman"/>
              <a:buChar char="•"/>
            </a:pPr>
            <a:r>
              <a:rPr lang="en" sz="1800">
                <a:latin typeface="Times New Roman"/>
                <a:ea typeface="Times New Roman"/>
                <a:cs typeface="Times New Roman"/>
                <a:sym typeface="Times New Roman"/>
              </a:rPr>
              <a:t>If P( R / d ) is the probability of relevance of a document d, for query q, P( I / d ) is the probability of irrelevance. Then the set of the documents retrieved is:</a:t>
            </a:r>
            <a:endParaRPr sz="1800">
              <a:latin typeface="Times New Roman"/>
              <a:ea typeface="Times New Roman"/>
              <a:cs typeface="Times New Roman"/>
              <a:sym typeface="Times New Roman"/>
            </a:endParaRPr>
          </a:p>
          <a:p>
            <a:pPr marL="177800" lvl="0" indent="-165100" algn="just" rtl="0">
              <a:lnSpc>
                <a:spcPct val="100000"/>
              </a:lnSpc>
              <a:spcBef>
                <a:spcPts val="1000"/>
              </a:spcBef>
              <a:spcAft>
                <a:spcPts val="1000"/>
              </a:spcAft>
              <a:buClr>
                <a:srgbClr val="FFFF00"/>
              </a:buClr>
              <a:buSzPts val="1800"/>
              <a:buFont typeface="Times New Roman"/>
              <a:buChar char="•"/>
            </a:pPr>
            <a:r>
              <a:rPr lang="en" sz="1800" b="1">
                <a:solidFill>
                  <a:srgbClr val="FFFF00"/>
                </a:solidFill>
                <a:latin typeface="Times New Roman"/>
                <a:ea typeface="Times New Roman"/>
                <a:cs typeface="Times New Roman"/>
                <a:sym typeface="Times New Roman"/>
              </a:rPr>
              <a:t>S ={ d</a:t>
            </a:r>
            <a:r>
              <a:rPr lang="en" sz="1800" b="1" baseline="-25000">
                <a:solidFill>
                  <a:srgbClr val="FFFF00"/>
                </a:solidFill>
                <a:latin typeface="Times New Roman"/>
                <a:ea typeface="Times New Roman"/>
                <a:cs typeface="Times New Roman"/>
                <a:sym typeface="Times New Roman"/>
              </a:rPr>
              <a:t>j</a:t>
            </a:r>
            <a:r>
              <a:rPr lang="en" sz="1800" b="1">
                <a:solidFill>
                  <a:srgbClr val="FFFF00"/>
                </a:solidFill>
                <a:latin typeface="Times New Roman"/>
                <a:ea typeface="Times New Roman"/>
                <a:cs typeface="Times New Roman"/>
                <a:sym typeface="Times New Roman"/>
              </a:rPr>
              <a:t> | P ( R / d</a:t>
            </a:r>
            <a:r>
              <a:rPr lang="en" sz="1800" b="1" baseline="-25000">
                <a:solidFill>
                  <a:srgbClr val="FFFF00"/>
                </a:solidFill>
                <a:latin typeface="Times New Roman"/>
                <a:ea typeface="Times New Roman"/>
                <a:cs typeface="Times New Roman"/>
                <a:sym typeface="Times New Roman"/>
              </a:rPr>
              <a:t>j</a:t>
            </a:r>
            <a:r>
              <a:rPr lang="en" sz="1800" b="1">
                <a:solidFill>
                  <a:srgbClr val="FFFF00"/>
                </a:solidFill>
                <a:latin typeface="Times New Roman"/>
                <a:ea typeface="Times New Roman"/>
                <a:cs typeface="Times New Roman"/>
                <a:sym typeface="Times New Roman"/>
              </a:rPr>
              <a:t> ) &gt;= P( I / d</a:t>
            </a:r>
            <a:r>
              <a:rPr lang="en" sz="1800" b="1" baseline="-25000">
                <a:solidFill>
                  <a:srgbClr val="FFFF00"/>
                </a:solidFill>
                <a:latin typeface="Times New Roman"/>
                <a:ea typeface="Times New Roman"/>
                <a:cs typeface="Times New Roman"/>
                <a:sym typeface="Times New Roman"/>
              </a:rPr>
              <a:t>j</a:t>
            </a:r>
            <a:r>
              <a:rPr lang="en" sz="1800" b="1">
                <a:solidFill>
                  <a:srgbClr val="FFFF00"/>
                </a:solidFill>
                <a:latin typeface="Times New Roman"/>
                <a:ea typeface="Times New Roman"/>
                <a:cs typeface="Times New Roman"/>
                <a:sym typeface="Times New Roman"/>
              </a:rPr>
              <a:t> ) } , P ( R / d</a:t>
            </a:r>
            <a:r>
              <a:rPr lang="en" sz="1800" b="1" baseline="-25000">
                <a:solidFill>
                  <a:srgbClr val="FFFF00"/>
                </a:solidFill>
                <a:latin typeface="Times New Roman"/>
                <a:ea typeface="Times New Roman"/>
                <a:cs typeface="Times New Roman"/>
                <a:sym typeface="Times New Roman"/>
              </a:rPr>
              <a:t>j</a:t>
            </a:r>
            <a:r>
              <a:rPr lang="en" sz="1800" b="1">
                <a:solidFill>
                  <a:srgbClr val="FFFF00"/>
                </a:solidFill>
                <a:latin typeface="Times New Roman"/>
                <a:ea typeface="Times New Roman"/>
                <a:cs typeface="Times New Roman"/>
                <a:sym typeface="Times New Roman"/>
              </a:rPr>
              <a:t> ) &gt; α</a:t>
            </a:r>
            <a:endParaRPr sz="1800" b="1" baseline="-25000">
              <a:solidFill>
                <a:srgbClr val="FFFF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7"/>
          <p:cNvSpPr txBox="1">
            <a:spLocks noGrp="1"/>
          </p:cNvSpPr>
          <p:nvPr>
            <p:ph type="title"/>
          </p:nvPr>
        </p:nvSpPr>
        <p:spPr>
          <a:xfrm>
            <a:off x="628650" y="273846"/>
            <a:ext cx="7886700" cy="43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790"/>
              <a:t>Probabilistic Model - Advantages and Disadvantages</a:t>
            </a:r>
            <a:endParaRPr sz="2790"/>
          </a:p>
        </p:txBody>
      </p:sp>
      <p:sp>
        <p:nvSpPr>
          <p:cNvPr id="375" name="Google Shape;375;p27"/>
          <p:cNvSpPr txBox="1">
            <a:spLocks noGrp="1"/>
          </p:cNvSpPr>
          <p:nvPr>
            <p:ph type="body" idx="1"/>
          </p:nvPr>
        </p:nvSpPr>
        <p:spPr>
          <a:xfrm>
            <a:off x="673550" y="874750"/>
            <a:ext cx="7842000" cy="3757800"/>
          </a:xfrm>
          <a:prstGeom prst="rect">
            <a:avLst/>
          </a:prstGeom>
          <a:noFill/>
          <a:ln>
            <a:noFill/>
          </a:ln>
        </p:spPr>
        <p:txBody>
          <a:bodyPr spcFirstLastPara="1" wrap="square" lIns="68575" tIns="34275" rIns="68575" bIns="34275" anchor="t" anchorCtr="0">
            <a:normAutofit fontScale="92500"/>
          </a:bodyPr>
          <a:lstStyle/>
          <a:p>
            <a:pPr marL="0" lvl="0" indent="0" algn="just" rtl="0">
              <a:lnSpc>
                <a:spcPct val="90000"/>
              </a:lnSpc>
              <a:spcBef>
                <a:spcPts val="800"/>
              </a:spcBef>
              <a:spcAft>
                <a:spcPts val="0"/>
              </a:spcAft>
              <a:buSzPts val="1400"/>
              <a:buNone/>
            </a:pPr>
            <a:r>
              <a:rPr lang="en" b="1">
                <a:solidFill>
                  <a:srgbClr val="FFFF00"/>
                </a:solidFill>
              </a:rPr>
              <a:t>Advantages:</a:t>
            </a:r>
            <a:endParaRPr b="1">
              <a:solidFill>
                <a:srgbClr val="FFFF00"/>
              </a:solidFill>
            </a:endParaRPr>
          </a:p>
          <a:p>
            <a:pPr marL="457200" lvl="0" indent="-317500" algn="just" rtl="0">
              <a:lnSpc>
                <a:spcPct val="90000"/>
              </a:lnSpc>
              <a:spcBef>
                <a:spcPts val="800"/>
              </a:spcBef>
              <a:spcAft>
                <a:spcPts val="0"/>
              </a:spcAft>
              <a:buSzPts val="1400"/>
              <a:buChar char="•"/>
            </a:pPr>
            <a:r>
              <a:rPr lang="en"/>
              <a:t>The probabilistic model produce results that partly match the user query.</a:t>
            </a:r>
            <a:endParaRPr/>
          </a:p>
          <a:p>
            <a:pPr marL="0" lvl="0" indent="0" algn="just" rtl="0">
              <a:lnSpc>
                <a:spcPct val="90000"/>
              </a:lnSpc>
              <a:spcBef>
                <a:spcPts val="800"/>
              </a:spcBef>
              <a:spcAft>
                <a:spcPts val="0"/>
              </a:spcAft>
              <a:buSzPts val="1400"/>
              <a:buNone/>
            </a:pPr>
            <a:r>
              <a:rPr lang="en" b="1">
                <a:solidFill>
                  <a:srgbClr val="FFFF00"/>
                </a:solidFill>
              </a:rPr>
              <a:t>Disadvantages:</a:t>
            </a:r>
            <a:endParaRPr b="1">
              <a:solidFill>
                <a:srgbClr val="FFFF00"/>
              </a:solidFill>
            </a:endParaRPr>
          </a:p>
          <a:p>
            <a:pPr marL="457200" lvl="0" indent="-317500" algn="just" rtl="0">
              <a:lnSpc>
                <a:spcPct val="90000"/>
              </a:lnSpc>
              <a:spcBef>
                <a:spcPts val="800"/>
              </a:spcBef>
              <a:spcAft>
                <a:spcPts val="0"/>
              </a:spcAft>
              <a:buClr>
                <a:srgbClr val="FFFFFF"/>
              </a:buClr>
              <a:buSzPts val="1400"/>
              <a:buChar char="•"/>
            </a:pPr>
            <a:r>
              <a:rPr lang="en">
                <a:solidFill>
                  <a:srgbClr val="FFFFFF"/>
                </a:solidFill>
              </a:rPr>
              <a:t>Drawback is the determination of threshold value for the initially retrieved set, the number of relevant documents by a query is usually too small for the probability to be estimated accurately.</a:t>
            </a:r>
            <a:endParaRPr>
              <a:solidFill>
                <a:srgbClr val="FFFFFF"/>
              </a:solidFill>
            </a:endParaRPr>
          </a:p>
          <a:p>
            <a:pPr marL="457200" lvl="0" indent="-317500" algn="just" rtl="0">
              <a:lnSpc>
                <a:spcPct val="90000"/>
              </a:lnSpc>
              <a:spcBef>
                <a:spcPts val="800"/>
              </a:spcBef>
              <a:spcAft>
                <a:spcPts val="0"/>
              </a:spcAft>
              <a:buSzPts val="1400"/>
              <a:buChar char="•"/>
            </a:pPr>
            <a:r>
              <a:rPr lang="en"/>
              <a:t>It assumes that the terms are independent when estimating probabilities. This assumption allows for accurate estimation of parameter values and helps reduce computational complexity of the model. However, this assumption seems to be inaccurate as terms in a given domain usually tend to co-occur. For eg., it is more likely that ‘match point’ will co-occur with ‘tennis’ rather than ‘cricket’.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DEDED"/>
              </a:buClr>
              <a:buSzPts val="4100"/>
              <a:buFont typeface="Corbel"/>
              <a:buNone/>
            </a:pPr>
            <a:r>
              <a:rPr lang="en"/>
              <a:t>Vector space model</a:t>
            </a:r>
            <a:endParaRPr/>
          </a:p>
        </p:txBody>
      </p:sp>
      <p:sp>
        <p:nvSpPr>
          <p:cNvPr id="381" name="Google Shape;381;p28"/>
          <p:cNvSpPr txBox="1">
            <a:spLocks noGrp="1"/>
          </p:cNvSpPr>
          <p:nvPr>
            <p:ph type="body" idx="1"/>
          </p:nvPr>
        </p:nvSpPr>
        <p:spPr>
          <a:xfrm>
            <a:off x="623073" y="867603"/>
            <a:ext cx="7995000" cy="3670500"/>
          </a:xfrm>
          <a:prstGeom prst="rect">
            <a:avLst/>
          </a:prstGeom>
          <a:noFill/>
          <a:ln>
            <a:noFill/>
          </a:ln>
        </p:spPr>
        <p:txBody>
          <a:bodyPr spcFirstLastPara="1" wrap="square" lIns="68575" tIns="34275" rIns="68575" bIns="34275" anchor="ctr" anchorCtr="0">
            <a:normAutofit fontScale="77500" lnSpcReduction="20000"/>
          </a:bodyPr>
          <a:lstStyle/>
          <a:p>
            <a:pPr marL="177800" lvl="0" indent="-151447" algn="just" rtl="0">
              <a:lnSpc>
                <a:spcPct val="100000"/>
              </a:lnSpc>
              <a:spcBef>
                <a:spcPts val="0"/>
              </a:spcBef>
              <a:spcAft>
                <a:spcPts val="0"/>
              </a:spcAft>
              <a:buClr>
                <a:srgbClr val="0000FF"/>
              </a:buClr>
              <a:buSzPct val="100000"/>
              <a:buChar char="•"/>
            </a:pPr>
            <a:r>
              <a:rPr lang="en" b="1" dirty="0">
                <a:solidFill>
                  <a:srgbClr val="0000FF"/>
                </a:solidFill>
                <a:highlight>
                  <a:srgbClr val="00FFFF"/>
                </a:highlight>
              </a:rPr>
              <a:t>The vector space model is one of the most well studied retrieval models.</a:t>
            </a:r>
            <a:endParaRPr b="1" dirty="0">
              <a:solidFill>
                <a:srgbClr val="0000FF"/>
              </a:solidFill>
              <a:highlight>
                <a:srgbClr val="00FFFF"/>
              </a:highlight>
            </a:endParaRPr>
          </a:p>
          <a:p>
            <a:pPr marL="177800" lvl="0" indent="-151447" algn="just" rtl="0">
              <a:lnSpc>
                <a:spcPct val="100000"/>
              </a:lnSpc>
              <a:spcBef>
                <a:spcPts val="1000"/>
              </a:spcBef>
              <a:spcAft>
                <a:spcPts val="0"/>
              </a:spcAft>
              <a:buClr>
                <a:srgbClr val="EDEDED"/>
              </a:buClr>
              <a:buSzPct val="100000"/>
              <a:buChar char="•"/>
            </a:pPr>
            <a:r>
              <a:rPr lang="en" dirty="0"/>
              <a:t>Vector space model represents documents and queries as </a:t>
            </a:r>
            <a:r>
              <a:rPr lang="en" b="1" dirty="0">
                <a:solidFill>
                  <a:srgbClr val="00FFFF"/>
                </a:solidFill>
              </a:rPr>
              <a:t>vectors of features representing terms that occur within them. Each document is characterized by a numerical vector. </a:t>
            </a:r>
            <a:endParaRPr b="1" dirty="0">
              <a:solidFill>
                <a:srgbClr val="00FFFF"/>
              </a:solidFill>
            </a:endParaRPr>
          </a:p>
          <a:p>
            <a:pPr marL="177800" lvl="0" indent="-151447" algn="just" rtl="0">
              <a:lnSpc>
                <a:spcPct val="100000"/>
              </a:lnSpc>
              <a:spcBef>
                <a:spcPts val="1000"/>
              </a:spcBef>
              <a:spcAft>
                <a:spcPts val="0"/>
              </a:spcAft>
              <a:buClr>
                <a:srgbClr val="EDEDED"/>
              </a:buClr>
              <a:buSzPct val="100000"/>
              <a:buChar char="•"/>
            </a:pPr>
            <a:r>
              <a:rPr lang="en" dirty="0"/>
              <a:t>These Vectors are represented in multidimensional space, in which each dimension corresponds to a distinct term in the corpus of documents.</a:t>
            </a:r>
            <a:endParaRPr dirty="0"/>
          </a:p>
          <a:p>
            <a:pPr marL="177800" lvl="0" indent="-113664" algn="just" rtl="0">
              <a:lnSpc>
                <a:spcPct val="100000"/>
              </a:lnSpc>
              <a:spcBef>
                <a:spcPts val="1000"/>
              </a:spcBef>
              <a:spcAft>
                <a:spcPts val="0"/>
              </a:spcAft>
              <a:buSzPct val="66666"/>
              <a:buChar char="•"/>
            </a:pPr>
            <a:r>
              <a:rPr lang="en" dirty="0"/>
              <a:t>Each feature takes a value of either zero or one, indicating the absence or presence of that term in a document or query. </a:t>
            </a:r>
            <a:endParaRPr dirty="0"/>
          </a:p>
          <a:p>
            <a:pPr marL="177800" lvl="0" indent="-113664" algn="just" rtl="0">
              <a:lnSpc>
                <a:spcPct val="100000"/>
              </a:lnSpc>
              <a:spcBef>
                <a:spcPts val="1000"/>
              </a:spcBef>
              <a:spcAft>
                <a:spcPts val="0"/>
              </a:spcAft>
              <a:buSzPct val="66666"/>
              <a:buChar char="•"/>
            </a:pPr>
            <a:r>
              <a:rPr lang="en" dirty="0"/>
              <a:t>Features are assigned numerical values that are usually a function of the frequency of terms. </a:t>
            </a:r>
            <a:endParaRPr dirty="0"/>
          </a:p>
          <a:p>
            <a:pPr marL="177800" lvl="0" indent="-113664" algn="just" rtl="0">
              <a:lnSpc>
                <a:spcPct val="100000"/>
              </a:lnSpc>
              <a:spcBef>
                <a:spcPts val="1000"/>
              </a:spcBef>
              <a:spcAft>
                <a:spcPts val="0"/>
              </a:spcAft>
              <a:buSzPct val="66666"/>
              <a:buChar char="•"/>
            </a:pPr>
            <a:r>
              <a:rPr lang="en" dirty="0"/>
              <a:t>Ranking algorithms compute the similarity between document and query vectors, to yield a retrieval score to each document. </a:t>
            </a:r>
            <a:endParaRPr dirty="0"/>
          </a:p>
          <a:p>
            <a:pPr marL="177800" lvl="0" indent="-113664" algn="just" rtl="0">
              <a:lnSpc>
                <a:spcPct val="100000"/>
              </a:lnSpc>
              <a:spcBef>
                <a:spcPts val="1000"/>
              </a:spcBef>
              <a:spcAft>
                <a:spcPts val="1000"/>
              </a:spcAft>
              <a:buSzPct val="66666"/>
              <a:buChar char="•"/>
            </a:pPr>
            <a:r>
              <a:rPr lang="en" dirty="0"/>
              <a:t>This score is used to produce a ranked list of retrieval documents.</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9"/>
          <p:cNvSpPr txBox="1">
            <a:spLocks noGrp="1"/>
          </p:cNvSpPr>
          <p:nvPr>
            <p:ph type="body" idx="1"/>
          </p:nvPr>
        </p:nvSpPr>
        <p:spPr>
          <a:xfrm>
            <a:off x="840000" y="802700"/>
            <a:ext cx="7675500" cy="3830100"/>
          </a:xfrm>
          <a:prstGeom prst="rect">
            <a:avLst/>
          </a:prstGeom>
          <a:noFill/>
          <a:ln>
            <a:noFill/>
          </a:ln>
        </p:spPr>
        <p:txBody>
          <a:bodyPr spcFirstLastPara="1" wrap="square" lIns="68575" tIns="34275" rIns="68575" bIns="34275" anchor="t" anchorCtr="0">
            <a:normAutofit fontScale="62500" lnSpcReduction="20000"/>
          </a:bodyPr>
          <a:lstStyle/>
          <a:p>
            <a:pPr marL="0" lvl="0" indent="0" algn="l" rtl="0">
              <a:lnSpc>
                <a:spcPct val="100000"/>
              </a:lnSpc>
              <a:spcBef>
                <a:spcPts val="800"/>
              </a:spcBef>
              <a:spcAft>
                <a:spcPts val="0"/>
              </a:spcAft>
              <a:buSzPct val="106666"/>
              <a:buNone/>
            </a:pPr>
            <a:r>
              <a:rPr lang="en"/>
              <a:t>Given a finite set of n documents</a:t>
            </a:r>
            <a:endParaRPr/>
          </a:p>
          <a:p>
            <a:pPr marL="177800" lvl="0" indent="-177800" algn="l" rtl="0">
              <a:lnSpc>
                <a:spcPct val="100000"/>
              </a:lnSpc>
              <a:spcBef>
                <a:spcPts val="1000"/>
              </a:spcBef>
              <a:spcAft>
                <a:spcPts val="0"/>
              </a:spcAft>
              <a:buClr>
                <a:srgbClr val="EDEDED"/>
              </a:buClr>
              <a:buSzPct val="100000"/>
              <a:buFont typeface="Noto Sans"/>
              <a:buNone/>
            </a:pPr>
            <a:r>
              <a:rPr lang="en"/>
              <a:t>		</a:t>
            </a:r>
            <a:r>
              <a:rPr lang="en" b="1">
                <a:solidFill>
                  <a:srgbClr val="FFFF00"/>
                </a:solidFill>
              </a:rPr>
              <a:t>D =	{ d</a:t>
            </a:r>
            <a:r>
              <a:rPr lang="en" b="1" baseline="-25000">
                <a:solidFill>
                  <a:srgbClr val="FFFF00"/>
                </a:solidFill>
              </a:rPr>
              <a:t>1</a:t>
            </a:r>
            <a:r>
              <a:rPr lang="en" b="1">
                <a:solidFill>
                  <a:srgbClr val="FFFF00"/>
                </a:solidFill>
              </a:rPr>
              <a:t>, d</a:t>
            </a:r>
            <a:r>
              <a:rPr lang="en" b="1" baseline="-25000">
                <a:solidFill>
                  <a:srgbClr val="FFFF00"/>
                </a:solidFill>
              </a:rPr>
              <a:t>2</a:t>
            </a:r>
            <a:r>
              <a:rPr lang="en" b="1">
                <a:solidFill>
                  <a:srgbClr val="FFFF00"/>
                </a:solidFill>
              </a:rPr>
              <a:t>, d</a:t>
            </a:r>
            <a:r>
              <a:rPr lang="en" b="1" baseline="-25000">
                <a:solidFill>
                  <a:srgbClr val="FFFF00"/>
                </a:solidFill>
              </a:rPr>
              <a:t>3</a:t>
            </a:r>
            <a:r>
              <a:rPr lang="en" b="1">
                <a:solidFill>
                  <a:srgbClr val="FFFF00"/>
                </a:solidFill>
              </a:rPr>
              <a:t>, …, d</a:t>
            </a:r>
            <a:r>
              <a:rPr lang="en" b="1" baseline="-25000">
                <a:solidFill>
                  <a:srgbClr val="FFFF00"/>
                </a:solidFill>
              </a:rPr>
              <a:t>n </a:t>
            </a:r>
            <a:r>
              <a:rPr lang="en" b="1">
                <a:solidFill>
                  <a:srgbClr val="FFFF00"/>
                </a:solidFill>
              </a:rPr>
              <a:t>}</a:t>
            </a:r>
            <a:endParaRPr b="1">
              <a:solidFill>
                <a:srgbClr val="FFFF00"/>
              </a:solidFill>
            </a:endParaRPr>
          </a:p>
          <a:p>
            <a:pPr marL="0" lvl="0" indent="0" algn="l" rtl="0">
              <a:lnSpc>
                <a:spcPct val="100000"/>
              </a:lnSpc>
              <a:spcBef>
                <a:spcPts val="1000"/>
              </a:spcBef>
              <a:spcAft>
                <a:spcPts val="0"/>
              </a:spcAft>
              <a:buSzPct val="106666"/>
              <a:buNone/>
            </a:pPr>
            <a:r>
              <a:rPr lang="en"/>
              <a:t>and a finite set of m terms</a:t>
            </a:r>
            <a:endParaRPr/>
          </a:p>
          <a:p>
            <a:pPr marL="177800" lvl="0" indent="-177800" algn="l" rtl="0">
              <a:lnSpc>
                <a:spcPct val="100000"/>
              </a:lnSpc>
              <a:spcBef>
                <a:spcPts val="1000"/>
              </a:spcBef>
              <a:spcAft>
                <a:spcPts val="0"/>
              </a:spcAft>
              <a:buSzPct val="106666"/>
              <a:buNone/>
            </a:pPr>
            <a:r>
              <a:rPr lang="en"/>
              <a:t>		</a:t>
            </a:r>
            <a:r>
              <a:rPr lang="en" b="1">
                <a:solidFill>
                  <a:srgbClr val="FFFF00"/>
                </a:solidFill>
              </a:rPr>
              <a:t>T= { t</a:t>
            </a:r>
            <a:r>
              <a:rPr lang="en" b="1" baseline="-25000">
                <a:solidFill>
                  <a:srgbClr val="FFFF00"/>
                </a:solidFill>
              </a:rPr>
              <a:t>1</a:t>
            </a:r>
            <a:r>
              <a:rPr lang="en" b="1">
                <a:solidFill>
                  <a:srgbClr val="FFFF00"/>
                </a:solidFill>
              </a:rPr>
              <a:t>,   t</a:t>
            </a:r>
            <a:r>
              <a:rPr lang="en" b="1" baseline="-25000">
                <a:solidFill>
                  <a:srgbClr val="FFFF00"/>
                </a:solidFill>
              </a:rPr>
              <a:t>2</a:t>
            </a:r>
            <a:r>
              <a:rPr lang="en" b="1">
                <a:solidFill>
                  <a:srgbClr val="FFFF00"/>
                </a:solidFill>
              </a:rPr>
              <a:t>,   t</a:t>
            </a:r>
            <a:r>
              <a:rPr lang="en" b="1" baseline="-25000">
                <a:solidFill>
                  <a:srgbClr val="FFFF00"/>
                </a:solidFill>
              </a:rPr>
              <a:t>3</a:t>
            </a:r>
            <a:r>
              <a:rPr lang="en" b="1">
                <a:solidFill>
                  <a:srgbClr val="FFFF00"/>
                </a:solidFill>
              </a:rPr>
              <a:t>, …, t</a:t>
            </a:r>
            <a:r>
              <a:rPr lang="en" b="1" baseline="-25000">
                <a:solidFill>
                  <a:srgbClr val="FFFF00"/>
                </a:solidFill>
              </a:rPr>
              <a:t>m </a:t>
            </a:r>
            <a:r>
              <a:rPr lang="en" b="1">
                <a:solidFill>
                  <a:srgbClr val="FFFF00"/>
                </a:solidFill>
              </a:rPr>
              <a:t>}</a:t>
            </a:r>
            <a:endParaRPr b="1">
              <a:solidFill>
                <a:srgbClr val="FFFF00"/>
              </a:solidFill>
            </a:endParaRPr>
          </a:p>
          <a:p>
            <a:pPr marL="0" lvl="0" indent="0" algn="just" rtl="0">
              <a:lnSpc>
                <a:spcPct val="100000"/>
              </a:lnSpc>
              <a:spcBef>
                <a:spcPts val="1000"/>
              </a:spcBef>
              <a:spcAft>
                <a:spcPts val="0"/>
              </a:spcAft>
              <a:buSzPct val="106666"/>
              <a:buNone/>
            </a:pPr>
            <a:r>
              <a:rPr lang="en"/>
              <a:t>each document is represented by a </a:t>
            </a:r>
            <a:r>
              <a:rPr lang="en" b="1">
                <a:solidFill>
                  <a:srgbClr val="00FFFF"/>
                </a:solidFill>
              </a:rPr>
              <a:t>column vector of weights</a:t>
            </a:r>
            <a:r>
              <a:rPr lang="en"/>
              <a:t> as follows</a:t>
            </a:r>
            <a:endParaRPr/>
          </a:p>
          <a:p>
            <a:pPr marL="0" lvl="0" indent="0" algn="just" rtl="0">
              <a:lnSpc>
                <a:spcPct val="100000"/>
              </a:lnSpc>
              <a:spcBef>
                <a:spcPts val="1000"/>
              </a:spcBef>
              <a:spcAft>
                <a:spcPts val="0"/>
              </a:spcAft>
              <a:buClr>
                <a:srgbClr val="EDEDED"/>
              </a:buClr>
              <a:buSzPct val="100000"/>
              <a:buNone/>
            </a:pPr>
            <a:r>
              <a:rPr lang="en"/>
              <a:t>	</a:t>
            </a:r>
            <a:r>
              <a:rPr lang="en" b="1">
                <a:solidFill>
                  <a:srgbClr val="FFFF00"/>
                </a:solidFill>
              </a:rPr>
              <a:t>(w</a:t>
            </a:r>
            <a:r>
              <a:rPr lang="en" b="1" baseline="-25000">
                <a:solidFill>
                  <a:srgbClr val="FFFF00"/>
                </a:solidFill>
              </a:rPr>
              <a:t>1j,</a:t>
            </a:r>
            <a:r>
              <a:rPr lang="en" b="1">
                <a:solidFill>
                  <a:srgbClr val="FFFF00"/>
                </a:solidFill>
              </a:rPr>
              <a:t> w</a:t>
            </a:r>
            <a:r>
              <a:rPr lang="en" b="1" baseline="-25000">
                <a:solidFill>
                  <a:srgbClr val="FFFF00"/>
                </a:solidFill>
              </a:rPr>
              <a:t>2j,</a:t>
            </a:r>
            <a:r>
              <a:rPr lang="en" b="1">
                <a:solidFill>
                  <a:srgbClr val="FFFF00"/>
                </a:solidFill>
              </a:rPr>
              <a:t> w</a:t>
            </a:r>
            <a:r>
              <a:rPr lang="en" b="1" baseline="-25000">
                <a:solidFill>
                  <a:srgbClr val="FFFF00"/>
                </a:solidFill>
              </a:rPr>
              <a:t>3j </a:t>
            </a:r>
            <a:r>
              <a:rPr lang="en" b="1">
                <a:solidFill>
                  <a:srgbClr val="FFFF00"/>
                </a:solidFill>
              </a:rPr>
              <a:t>,…, W</a:t>
            </a:r>
            <a:r>
              <a:rPr lang="en" b="1" baseline="-25000">
                <a:solidFill>
                  <a:srgbClr val="FFFF00"/>
                </a:solidFill>
              </a:rPr>
              <a:t>ij </a:t>
            </a:r>
            <a:r>
              <a:rPr lang="en" b="1">
                <a:solidFill>
                  <a:srgbClr val="FFFF00"/>
                </a:solidFill>
              </a:rPr>
              <a:t>,..., w</a:t>
            </a:r>
            <a:r>
              <a:rPr lang="en" b="1" baseline="-25000">
                <a:solidFill>
                  <a:srgbClr val="FFFF00"/>
                </a:solidFill>
              </a:rPr>
              <a:t>mj </a:t>
            </a:r>
            <a:r>
              <a:rPr lang="en" b="1">
                <a:solidFill>
                  <a:srgbClr val="FFFF00"/>
                </a:solidFill>
              </a:rPr>
              <a:t> )</a:t>
            </a:r>
            <a:r>
              <a:rPr lang="en" b="1" baseline="30000">
                <a:solidFill>
                  <a:srgbClr val="FFFF00"/>
                </a:solidFill>
              </a:rPr>
              <a:t>t</a:t>
            </a:r>
            <a:endParaRPr b="1">
              <a:solidFill>
                <a:srgbClr val="FFFF00"/>
              </a:solidFill>
            </a:endParaRPr>
          </a:p>
          <a:p>
            <a:pPr marL="0" lvl="0" indent="0" algn="just" rtl="0">
              <a:lnSpc>
                <a:spcPct val="100000"/>
              </a:lnSpc>
              <a:spcBef>
                <a:spcPts val="1000"/>
              </a:spcBef>
              <a:spcAft>
                <a:spcPts val="0"/>
              </a:spcAft>
              <a:buClr>
                <a:srgbClr val="EDEDED"/>
              </a:buClr>
              <a:buSzPct val="100000"/>
              <a:buNone/>
            </a:pPr>
            <a:r>
              <a:rPr lang="en"/>
              <a:t> Where W</a:t>
            </a:r>
            <a:r>
              <a:rPr lang="en" baseline="-25000"/>
              <a:t>ij</a:t>
            </a:r>
            <a:r>
              <a:rPr lang="en"/>
              <a:t> is the weight of the term t</a:t>
            </a:r>
            <a:r>
              <a:rPr lang="en" baseline="-25000"/>
              <a:t>i</a:t>
            </a:r>
            <a:r>
              <a:rPr lang="en"/>
              <a:t> in document d</a:t>
            </a:r>
            <a:r>
              <a:rPr lang="en" baseline="-25000"/>
              <a:t>j</a:t>
            </a:r>
            <a:r>
              <a:rPr lang="en"/>
              <a:t>. </a:t>
            </a:r>
            <a:endParaRPr/>
          </a:p>
          <a:p>
            <a:pPr marL="0" lvl="0" indent="0" algn="just" rtl="0">
              <a:lnSpc>
                <a:spcPct val="100000"/>
              </a:lnSpc>
              <a:spcBef>
                <a:spcPts val="1000"/>
              </a:spcBef>
              <a:spcAft>
                <a:spcPts val="0"/>
              </a:spcAft>
              <a:buClr>
                <a:srgbClr val="EDEDED"/>
              </a:buClr>
              <a:buSzPct val="100000"/>
              <a:buNone/>
            </a:pPr>
            <a:r>
              <a:rPr lang="en"/>
              <a:t>The document collection as a whole is represented by a </a:t>
            </a:r>
            <a:r>
              <a:rPr lang="en" b="1" i="1">
                <a:solidFill>
                  <a:srgbClr val="00FFFF"/>
                </a:solidFill>
              </a:rPr>
              <a:t>m x n</a:t>
            </a:r>
            <a:r>
              <a:rPr lang="en" b="1">
                <a:solidFill>
                  <a:srgbClr val="00FFFF"/>
                </a:solidFill>
              </a:rPr>
              <a:t> term - document matrix </a:t>
            </a:r>
            <a:r>
              <a:rPr lang="en">
                <a:solidFill>
                  <a:schemeClr val="lt1"/>
                </a:solidFill>
              </a:rPr>
              <a:t>-</a:t>
            </a:r>
            <a:endParaRPr>
              <a:solidFill>
                <a:schemeClr val="lt1"/>
              </a:solidFill>
            </a:endParaRPr>
          </a:p>
          <a:p>
            <a:pPr marL="0" lvl="0" indent="0" algn="just" rtl="0">
              <a:lnSpc>
                <a:spcPct val="90000"/>
              </a:lnSpc>
              <a:spcBef>
                <a:spcPts val="1000"/>
              </a:spcBef>
              <a:spcAft>
                <a:spcPts val="0"/>
              </a:spcAft>
              <a:buClr>
                <a:srgbClr val="EDEDED"/>
              </a:buClr>
              <a:buSzPct val="100000"/>
              <a:buNone/>
            </a:pPr>
            <a:r>
              <a:rPr lang="en" baseline="-25000"/>
              <a:t>			</a:t>
            </a:r>
            <a:r>
              <a:rPr lang="en"/>
              <a:t>                        Term space</a:t>
            </a:r>
            <a:endParaRPr baseline="-25000"/>
          </a:p>
          <a:p>
            <a:pPr marL="0" lvl="0" indent="0" algn="l" rtl="0">
              <a:lnSpc>
                <a:spcPct val="90000"/>
              </a:lnSpc>
              <a:spcBef>
                <a:spcPts val="800"/>
              </a:spcBef>
              <a:spcAft>
                <a:spcPts val="0"/>
              </a:spcAft>
              <a:buClr>
                <a:schemeClr val="folHlink"/>
              </a:buClr>
              <a:buSzPct val="100000"/>
              <a:buNone/>
            </a:pPr>
            <a:r>
              <a:rPr lang="en">
                <a:solidFill>
                  <a:schemeClr val="folHlink"/>
                </a:solidFill>
              </a:rPr>
              <a:t>                                       </a:t>
            </a: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11	</a:t>
            </a:r>
            <a:r>
              <a:rPr lang="en" b="1">
                <a:solidFill>
                  <a:srgbClr val="FFFF00"/>
                </a:solidFill>
                <a:latin typeface="Times New Roman"/>
                <a:ea typeface="Times New Roman"/>
                <a:cs typeface="Times New Roman"/>
                <a:sym typeface="Times New Roman"/>
              </a:rPr>
              <a:t>w</a:t>
            </a:r>
            <a:r>
              <a:rPr lang="en" b="1" baseline="-25000">
                <a:solidFill>
                  <a:srgbClr val="FFFF00"/>
                </a:solidFill>
                <a:latin typeface="Times New Roman"/>
                <a:ea typeface="Times New Roman"/>
                <a:cs typeface="Times New Roman"/>
                <a:sym typeface="Times New Roman"/>
              </a:rPr>
              <a:t>12 </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1j</a:t>
            </a:r>
            <a:r>
              <a:rPr lang="en" b="1">
                <a:solidFill>
                  <a:srgbClr val="FFFF00"/>
                </a:solidFill>
                <a:latin typeface="Times New Roman"/>
                <a:ea typeface="Times New Roman"/>
                <a:cs typeface="Times New Roman"/>
                <a:sym typeface="Times New Roman"/>
              </a:rPr>
              <a:t>	…	</a:t>
            </a:r>
            <a:r>
              <a:rPr lang="en" b="1" baseline="-25000">
                <a:solidFill>
                  <a:srgbClr val="FFFF00"/>
                </a:solidFill>
                <a:latin typeface="Times New Roman"/>
                <a:ea typeface="Times New Roman"/>
                <a:cs typeface="Times New Roman"/>
                <a:sym typeface="Times New Roman"/>
              </a:rPr>
              <a:t> </a:t>
            </a:r>
            <a:r>
              <a:rPr lang="en" b="1">
                <a:solidFill>
                  <a:srgbClr val="FFFF00"/>
                </a:solidFill>
                <a:latin typeface="Times New Roman"/>
                <a:ea typeface="Times New Roman"/>
                <a:cs typeface="Times New Roman"/>
                <a:sym typeface="Times New Roman"/>
              </a:rPr>
              <a:t>w</a:t>
            </a:r>
            <a:r>
              <a:rPr lang="en" b="1" baseline="-25000">
                <a:solidFill>
                  <a:srgbClr val="FFFF00"/>
                </a:solidFill>
                <a:latin typeface="Times New Roman"/>
                <a:ea typeface="Times New Roman"/>
                <a:cs typeface="Times New Roman"/>
                <a:sym typeface="Times New Roman"/>
              </a:rPr>
              <a:t>1n</a:t>
            </a:r>
            <a:endParaRPr b="1">
              <a:solidFill>
                <a:srgbClr val="FFFF00"/>
              </a:solidFill>
              <a:latin typeface="Times New Roman"/>
              <a:ea typeface="Times New Roman"/>
              <a:cs typeface="Times New Roman"/>
              <a:sym typeface="Times New Roman"/>
            </a:endParaRPr>
          </a:p>
          <a:p>
            <a:pPr marL="0" lvl="0" indent="0" algn="l" rtl="0">
              <a:lnSpc>
                <a:spcPct val="90000"/>
              </a:lnSpc>
              <a:spcBef>
                <a:spcPts val="800"/>
              </a:spcBef>
              <a:spcAft>
                <a:spcPts val="0"/>
              </a:spcAft>
              <a:buClr>
                <a:schemeClr val="folHlink"/>
              </a:buClr>
              <a:buSzPct val="100000"/>
              <a:buNone/>
            </a:pPr>
            <a:r>
              <a:rPr lang="en" b="1" baseline="-25000">
                <a:solidFill>
                  <a:srgbClr val="FFFF00"/>
                </a:solidFill>
                <a:latin typeface="Times New Roman"/>
                <a:ea typeface="Times New Roman"/>
                <a:cs typeface="Times New Roman"/>
                <a:sym typeface="Times New Roman"/>
              </a:rPr>
              <a:t>			</a:t>
            </a:r>
            <a:r>
              <a:rPr lang="en" b="1">
                <a:solidFill>
                  <a:srgbClr val="FFFF00"/>
                </a:solidFill>
                <a:latin typeface="Times New Roman"/>
                <a:ea typeface="Times New Roman"/>
                <a:cs typeface="Times New Roman"/>
                <a:sym typeface="Times New Roman"/>
              </a:rPr>
              <a:t>w</a:t>
            </a:r>
            <a:r>
              <a:rPr lang="en" b="1" baseline="-25000">
                <a:solidFill>
                  <a:srgbClr val="FFFF00"/>
                </a:solidFill>
                <a:latin typeface="Times New Roman"/>
                <a:ea typeface="Times New Roman"/>
                <a:cs typeface="Times New Roman"/>
                <a:sym typeface="Times New Roman"/>
              </a:rPr>
              <a:t>21</a:t>
            </a: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22</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2j</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2n</a:t>
            </a:r>
            <a:endParaRPr b="1">
              <a:solidFill>
                <a:srgbClr val="FFFF00"/>
              </a:solidFill>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None/>
            </a:pP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31</a:t>
            </a: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32</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3j</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3n</a:t>
            </a:r>
            <a:endParaRPr b="1">
              <a:solidFill>
                <a:srgbClr val="FFFF00"/>
              </a:solidFill>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None/>
            </a:pP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m1</a:t>
            </a:r>
            <a:r>
              <a:rPr lang="en" b="1">
                <a:solidFill>
                  <a:srgbClr val="FFFF00"/>
                </a:solidFill>
                <a:latin typeface="Times New Roman"/>
                <a:ea typeface="Times New Roman"/>
                <a:cs typeface="Times New Roman"/>
                <a:sym typeface="Times New Roman"/>
              </a:rPr>
              <a:t>    w</a:t>
            </a:r>
            <a:r>
              <a:rPr lang="en" b="1" baseline="-25000">
                <a:solidFill>
                  <a:srgbClr val="FFFF00"/>
                </a:solidFill>
                <a:latin typeface="Times New Roman"/>
                <a:ea typeface="Times New Roman"/>
                <a:cs typeface="Times New Roman"/>
                <a:sym typeface="Times New Roman"/>
              </a:rPr>
              <a:t>m2</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mj</a:t>
            </a:r>
            <a:r>
              <a:rPr lang="en" b="1">
                <a:solidFill>
                  <a:srgbClr val="FFFF00"/>
                </a:solidFill>
                <a:latin typeface="Times New Roman"/>
                <a:ea typeface="Times New Roman"/>
                <a:cs typeface="Times New Roman"/>
                <a:sym typeface="Times New Roman"/>
              </a:rPr>
              <a:t>	…	w</a:t>
            </a:r>
            <a:r>
              <a:rPr lang="en" b="1" baseline="-25000">
                <a:solidFill>
                  <a:srgbClr val="FFFF00"/>
                </a:solidFill>
                <a:latin typeface="Times New Roman"/>
                <a:ea typeface="Times New Roman"/>
                <a:cs typeface="Times New Roman"/>
                <a:sym typeface="Times New Roman"/>
              </a:rPr>
              <a:t>mn</a:t>
            </a:r>
            <a:endParaRPr b="1">
              <a:solidFill>
                <a:srgbClr val="FFFF00"/>
              </a:solidFill>
              <a:latin typeface="Times New Roman"/>
              <a:ea typeface="Times New Roman"/>
              <a:cs typeface="Times New Roman"/>
              <a:sym typeface="Times New Roman"/>
            </a:endParaRPr>
          </a:p>
          <a:p>
            <a:pPr marL="0" lvl="0" indent="0" algn="l" rtl="0">
              <a:lnSpc>
                <a:spcPct val="90000"/>
              </a:lnSpc>
              <a:spcBef>
                <a:spcPts val="800"/>
              </a:spcBef>
              <a:spcAft>
                <a:spcPts val="0"/>
              </a:spcAft>
              <a:buClr>
                <a:srgbClr val="EDEDED"/>
              </a:buClr>
              <a:buSzPct val="100000"/>
              <a:buNone/>
            </a:pPr>
            <a:endParaRPr b="1">
              <a:solidFill>
                <a:srgbClr val="FFFF00"/>
              </a:solidFill>
              <a:latin typeface="Times New Roman"/>
              <a:ea typeface="Times New Roman"/>
              <a:cs typeface="Times New Roman"/>
              <a:sym typeface="Times New Roman"/>
            </a:endParaRPr>
          </a:p>
        </p:txBody>
      </p:sp>
      <p:sp>
        <p:nvSpPr>
          <p:cNvPr id="387" name="Google Shape;387;p29"/>
          <p:cNvSpPr/>
          <p:nvPr/>
        </p:nvSpPr>
        <p:spPr>
          <a:xfrm>
            <a:off x="1869100" y="3337100"/>
            <a:ext cx="4484100" cy="1101600"/>
          </a:xfrm>
          <a:prstGeom prst="bracePair">
            <a:avLst/>
          </a:prstGeom>
          <a:noFill/>
          <a:ln w="9525"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sp>
        <p:nvSpPr>
          <p:cNvPr id="388" name="Google Shape;388;p29"/>
          <p:cNvSpPr txBox="1"/>
          <p:nvPr/>
        </p:nvSpPr>
        <p:spPr>
          <a:xfrm rot="5400000">
            <a:off x="981850" y="3745550"/>
            <a:ext cx="1489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Corbel"/>
                <a:ea typeface="Corbel"/>
                <a:cs typeface="Corbel"/>
                <a:sym typeface="Corbel"/>
              </a:rPr>
              <a:t>Document space</a:t>
            </a:r>
            <a:endParaRPr sz="1400" b="0" i="0" u="none" strike="noStrike" cap="none">
              <a:solidFill>
                <a:schemeClr val="lt1"/>
              </a:solidFill>
              <a:latin typeface="Corbel"/>
              <a:ea typeface="Corbel"/>
              <a:cs typeface="Corbel"/>
              <a:sym typeface="Corbel"/>
            </a:endParaRPr>
          </a:p>
        </p:txBody>
      </p:sp>
      <p:sp>
        <p:nvSpPr>
          <p:cNvPr id="389" name="Google Shape;389;p29"/>
          <p:cNvSpPr txBox="1"/>
          <p:nvPr/>
        </p:nvSpPr>
        <p:spPr>
          <a:xfrm>
            <a:off x="888425" y="233800"/>
            <a:ext cx="7380000" cy="4893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EDEDED"/>
              </a:buClr>
              <a:buSzPts val="4100"/>
              <a:buFont typeface="Corbel"/>
              <a:buNone/>
            </a:pPr>
            <a:r>
              <a:rPr lang="en" sz="2200" b="1" i="0" u="none" strike="noStrike" cap="none">
                <a:solidFill>
                  <a:srgbClr val="EDEDED"/>
                </a:solidFill>
                <a:latin typeface="Times New Roman"/>
                <a:ea typeface="Times New Roman"/>
                <a:cs typeface="Times New Roman"/>
                <a:sym typeface="Times New Roman"/>
              </a:rPr>
              <a:t>Vector space model</a:t>
            </a:r>
            <a:endParaRPr sz="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DEDED"/>
              </a:buClr>
              <a:buSzPts val="4100"/>
              <a:buFont typeface="Corbel"/>
              <a:buNone/>
            </a:pPr>
            <a:r>
              <a:rPr lang="en"/>
              <a:t>Example:</a:t>
            </a:r>
            <a:endParaRPr/>
          </a:p>
        </p:txBody>
      </p:sp>
      <p:sp>
        <p:nvSpPr>
          <p:cNvPr id="395" name="Google Shape;395;p30"/>
          <p:cNvSpPr txBox="1">
            <a:spLocks noGrp="1"/>
          </p:cNvSpPr>
          <p:nvPr>
            <p:ph type="body" idx="1"/>
          </p:nvPr>
        </p:nvSpPr>
        <p:spPr>
          <a:xfrm>
            <a:off x="408700" y="951175"/>
            <a:ext cx="8529000" cy="4192200"/>
          </a:xfrm>
          <a:prstGeom prst="rect">
            <a:avLst/>
          </a:prstGeom>
          <a:noFill/>
          <a:ln>
            <a:noFill/>
          </a:ln>
        </p:spPr>
        <p:txBody>
          <a:bodyPr spcFirstLastPara="1" wrap="square" lIns="68575" tIns="34275" rIns="68575" bIns="34275" anchor="t" anchorCtr="0">
            <a:normAutofit/>
          </a:bodyPr>
          <a:lstStyle/>
          <a:p>
            <a:pPr marL="457200" lvl="0" indent="-311150" algn="just" rtl="0">
              <a:lnSpc>
                <a:spcPct val="100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D1 = </a:t>
            </a:r>
            <a:r>
              <a:rPr lang="en" sz="1300" b="1">
                <a:solidFill>
                  <a:srgbClr val="FFFF00"/>
                </a:solidFill>
                <a:latin typeface="Times New Roman"/>
                <a:ea typeface="Times New Roman"/>
                <a:cs typeface="Times New Roman"/>
                <a:sym typeface="Times New Roman"/>
              </a:rPr>
              <a:t>Information </a:t>
            </a:r>
            <a:r>
              <a:rPr lang="en" sz="1300" b="1">
                <a:solidFill>
                  <a:srgbClr val="00FFFF"/>
                </a:solidFill>
                <a:latin typeface="Times New Roman"/>
                <a:ea typeface="Times New Roman"/>
                <a:cs typeface="Times New Roman"/>
                <a:sym typeface="Times New Roman"/>
              </a:rPr>
              <a:t>retrieval </a:t>
            </a:r>
            <a:r>
              <a:rPr lang="en" sz="1300">
                <a:latin typeface="Times New Roman"/>
                <a:ea typeface="Times New Roman"/>
                <a:cs typeface="Times New Roman"/>
                <a:sym typeface="Times New Roman"/>
              </a:rPr>
              <a:t>is concerned with the organization, storage, </a:t>
            </a:r>
            <a:r>
              <a:rPr lang="en" sz="1300" b="1">
                <a:solidFill>
                  <a:srgbClr val="00FFFF"/>
                </a:solidFill>
                <a:latin typeface="Times New Roman"/>
                <a:ea typeface="Times New Roman"/>
                <a:cs typeface="Times New Roman"/>
                <a:sym typeface="Times New Roman"/>
              </a:rPr>
              <a:t>retrieval </a:t>
            </a:r>
            <a:r>
              <a:rPr lang="en" sz="1300">
                <a:latin typeface="Times New Roman"/>
                <a:ea typeface="Times New Roman"/>
                <a:cs typeface="Times New Roman"/>
                <a:sym typeface="Times New Roman"/>
              </a:rPr>
              <a:t>and evaluation of </a:t>
            </a:r>
            <a:r>
              <a:rPr lang="en" sz="1300" b="1">
                <a:solidFill>
                  <a:srgbClr val="FFFF00"/>
                </a:solidFill>
                <a:latin typeface="Times New Roman"/>
                <a:ea typeface="Times New Roman"/>
                <a:cs typeface="Times New Roman"/>
                <a:sym typeface="Times New Roman"/>
              </a:rPr>
              <a:t>information </a:t>
            </a:r>
            <a:r>
              <a:rPr lang="en" sz="1300">
                <a:latin typeface="Times New Roman"/>
                <a:ea typeface="Times New Roman"/>
                <a:cs typeface="Times New Roman"/>
                <a:sym typeface="Times New Roman"/>
              </a:rPr>
              <a:t>relevant to user’s </a:t>
            </a:r>
            <a:r>
              <a:rPr lang="en" sz="1300" b="1">
                <a:solidFill>
                  <a:srgbClr val="00FF00"/>
                </a:solidFill>
                <a:latin typeface="Times New Roman"/>
                <a:ea typeface="Times New Roman"/>
                <a:cs typeface="Times New Roman"/>
                <a:sym typeface="Times New Roman"/>
              </a:rPr>
              <a:t>query</a:t>
            </a: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marL="457200" lvl="0" indent="-311150" algn="just"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D2 = A user having an </a:t>
            </a:r>
            <a:r>
              <a:rPr lang="en" sz="1300" b="1">
                <a:solidFill>
                  <a:srgbClr val="FFFF00"/>
                </a:solidFill>
                <a:latin typeface="Times New Roman"/>
                <a:ea typeface="Times New Roman"/>
                <a:cs typeface="Times New Roman"/>
                <a:sym typeface="Times New Roman"/>
              </a:rPr>
              <a:t>information </a:t>
            </a:r>
            <a:r>
              <a:rPr lang="en" sz="1300">
                <a:latin typeface="Times New Roman"/>
                <a:ea typeface="Times New Roman"/>
                <a:cs typeface="Times New Roman"/>
                <a:sym typeface="Times New Roman"/>
              </a:rPr>
              <a:t>needs to formulate a request in the form of </a:t>
            </a:r>
            <a:r>
              <a:rPr lang="en" sz="1300" b="1">
                <a:solidFill>
                  <a:srgbClr val="00FF00"/>
                </a:solidFill>
                <a:latin typeface="Times New Roman"/>
                <a:ea typeface="Times New Roman"/>
                <a:cs typeface="Times New Roman"/>
                <a:sym typeface="Times New Roman"/>
              </a:rPr>
              <a:t>query </a:t>
            </a:r>
            <a:r>
              <a:rPr lang="en" sz="1300">
                <a:latin typeface="Times New Roman"/>
                <a:ea typeface="Times New Roman"/>
                <a:cs typeface="Times New Roman"/>
                <a:sym typeface="Times New Roman"/>
              </a:rPr>
              <a:t>written in natural languages.</a:t>
            </a:r>
            <a:endParaRPr sz="1300">
              <a:latin typeface="Times New Roman"/>
              <a:ea typeface="Times New Roman"/>
              <a:cs typeface="Times New Roman"/>
              <a:sym typeface="Times New Roman"/>
            </a:endParaRPr>
          </a:p>
          <a:p>
            <a:pPr marL="457200" lvl="0" indent="-311150" algn="just"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D3 = The </a:t>
            </a:r>
            <a:r>
              <a:rPr lang="en" sz="1300" b="1">
                <a:solidFill>
                  <a:srgbClr val="00FFFF"/>
                </a:solidFill>
                <a:latin typeface="Times New Roman"/>
                <a:ea typeface="Times New Roman"/>
                <a:cs typeface="Times New Roman"/>
                <a:sym typeface="Times New Roman"/>
              </a:rPr>
              <a:t>retrieval </a:t>
            </a:r>
            <a:r>
              <a:rPr lang="en" sz="1300">
                <a:latin typeface="Times New Roman"/>
                <a:ea typeface="Times New Roman"/>
                <a:cs typeface="Times New Roman"/>
                <a:sym typeface="Times New Roman"/>
              </a:rPr>
              <a:t>system responds by retrieving the document that seems relevant to the </a:t>
            </a:r>
            <a:r>
              <a:rPr lang="en" sz="1300" b="1">
                <a:solidFill>
                  <a:srgbClr val="00FF00"/>
                </a:solidFill>
                <a:latin typeface="Times New Roman"/>
                <a:ea typeface="Times New Roman"/>
                <a:cs typeface="Times New Roman"/>
                <a:sym typeface="Times New Roman"/>
              </a:rPr>
              <a:t>query</a:t>
            </a: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marL="457200" lvl="0" indent="-311150" algn="just"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T = { information, retrieval, query }</a:t>
            </a:r>
            <a:endParaRPr sz="1300">
              <a:latin typeface="Times New Roman"/>
              <a:ea typeface="Times New Roman"/>
              <a:cs typeface="Times New Roman"/>
              <a:sym typeface="Times New Roman"/>
            </a:endParaRPr>
          </a:p>
          <a:p>
            <a:pPr marL="457200" lvl="0" indent="-311150" algn="just"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Let the weights be assigned based on the frequency of the term in the document. Then the associated vectors will be as shown in matrix 1.</a:t>
            </a:r>
            <a:endParaRPr sz="1300">
              <a:latin typeface="Times New Roman"/>
              <a:ea typeface="Times New Roman"/>
              <a:cs typeface="Times New Roman"/>
              <a:sym typeface="Times New Roman"/>
            </a:endParaRPr>
          </a:p>
          <a:p>
            <a:pPr marL="457200" lvl="0" indent="-311150" algn="just"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Convert document vectors to unit length by dividing elements of each column by the length of the column vector given by √Σ</a:t>
            </a:r>
            <a:r>
              <a:rPr lang="en" sz="1300" baseline="-25000">
                <a:latin typeface="Times New Roman"/>
                <a:ea typeface="Times New Roman"/>
                <a:cs typeface="Times New Roman"/>
                <a:sym typeface="Times New Roman"/>
              </a:rPr>
              <a:t>i</a:t>
            </a:r>
            <a:r>
              <a:rPr lang="en" sz="1300">
                <a:latin typeface="Times New Roman"/>
                <a:ea typeface="Times New Roman"/>
                <a:cs typeface="Times New Roman"/>
                <a:sym typeface="Times New Roman"/>
              </a:rPr>
              <a:t>w</a:t>
            </a:r>
            <a:r>
              <a:rPr lang="en" sz="1300" baseline="-25000">
                <a:latin typeface="Times New Roman"/>
                <a:ea typeface="Times New Roman"/>
                <a:cs typeface="Times New Roman"/>
                <a:sym typeface="Times New Roman"/>
              </a:rPr>
              <a:t>ij</a:t>
            </a:r>
            <a:r>
              <a:rPr lang="en" sz="1300" baseline="30000">
                <a:latin typeface="Times New Roman"/>
                <a:ea typeface="Times New Roman"/>
                <a:cs typeface="Times New Roman"/>
                <a:sym typeface="Times New Roman"/>
              </a:rPr>
              <a:t>2</a:t>
            </a:r>
            <a:endParaRPr sz="1300">
              <a:latin typeface="Times New Roman"/>
              <a:ea typeface="Times New Roman"/>
              <a:cs typeface="Times New Roman"/>
              <a:sym typeface="Times New Roman"/>
            </a:endParaRPr>
          </a:p>
          <a:p>
            <a:pPr marL="457200" lvl="0" indent="0" algn="just" rtl="0">
              <a:lnSpc>
                <a:spcPct val="100000"/>
              </a:lnSpc>
              <a:spcBef>
                <a:spcPts val="1000"/>
              </a:spcBef>
              <a:spcAft>
                <a:spcPts val="0"/>
              </a:spcAft>
              <a:buSzPts val="1400"/>
              <a:buNone/>
            </a:pPr>
            <a:endParaRPr sz="1500">
              <a:latin typeface="Times New Roman"/>
              <a:ea typeface="Times New Roman"/>
              <a:cs typeface="Times New Roman"/>
              <a:sym typeface="Times New Roman"/>
            </a:endParaRPr>
          </a:p>
          <a:p>
            <a:pPr marL="457200" lvl="0" indent="0" algn="just" rtl="0">
              <a:lnSpc>
                <a:spcPct val="100000"/>
              </a:lnSpc>
              <a:spcBef>
                <a:spcPts val="1000"/>
              </a:spcBef>
              <a:spcAft>
                <a:spcPts val="1000"/>
              </a:spcAft>
              <a:buSzPts val="1400"/>
              <a:buNone/>
            </a:pPr>
            <a:r>
              <a:rPr lang="en" sz="1700">
                <a:latin typeface="Times New Roman"/>
                <a:ea typeface="Times New Roman"/>
                <a:cs typeface="Times New Roman"/>
                <a:sym typeface="Times New Roman"/>
              </a:rPr>
              <a:t>                             </a:t>
            </a:r>
            <a:endParaRPr sz="1700">
              <a:latin typeface="Times New Roman"/>
              <a:ea typeface="Times New Roman"/>
              <a:cs typeface="Times New Roman"/>
              <a:sym typeface="Times New Roman"/>
            </a:endParaRPr>
          </a:p>
        </p:txBody>
      </p:sp>
      <p:graphicFrame>
        <p:nvGraphicFramePr>
          <p:cNvPr id="396" name="Google Shape;396;p30"/>
          <p:cNvGraphicFramePr/>
          <p:nvPr/>
        </p:nvGraphicFramePr>
        <p:xfrm>
          <a:off x="484903" y="3936969"/>
          <a:ext cx="1750300" cy="1127840"/>
        </p:xfrm>
        <a:graphic>
          <a:graphicData uri="http://schemas.openxmlformats.org/drawingml/2006/table">
            <a:tbl>
              <a:tblPr firstRow="1" bandRow="1">
                <a:noFill/>
                <a:tableStyleId>{0D4F73EF-A10F-4452-B2EA-171B12026A2E}</a:tableStyleId>
              </a:tblPr>
              <a:tblGrid>
                <a:gridCol w="437575"/>
                <a:gridCol w="437575"/>
                <a:gridCol w="437575"/>
                <a:gridCol w="437575"/>
              </a:tblGrid>
              <a:tr h="1864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r>
              <a:tr h="186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r>
              <a:tr h="186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r>
              <a:tr h="186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r>
            </a:tbl>
          </a:graphicData>
        </a:graphic>
      </p:graphicFrame>
      <p:sp>
        <p:nvSpPr>
          <p:cNvPr id="397" name="Google Shape;397;p30"/>
          <p:cNvSpPr txBox="1"/>
          <p:nvPr/>
        </p:nvSpPr>
        <p:spPr>
          <a:xfrm>
            <a:off x="4400435" y="4127011"/>
            <a:ext cx="1966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Corbel"/>
                <a:ea typeface="Corbel"/>
                <a:cs typeface="Corbel"/>
                <a:sym typeface="Corbel"/>
              </a:rPr>
              <a:t>After Normalization -&gt;</a:t>
            </a:r>
            <a:endParaRPr sz="1400" b="0" i="0" u="none" strike="noStrike" cap="none">
              <a:solidFill>
                <a:schemeClr val="lt1"/>
              </a:solidFill>
              <a:latin typeface="Corbel"/>
              <a:ea typeface="Corbel"/>
              <a:cs typeface="Corbel"/>
              <a:sym typeface="Corbel"/>
            </a:endParaRPr>
          </a:p>
        </p:txBody>
      </p:sp>
      <p:sp>
        <p:nvSpPr>
          <p:cNvPr id="398" name="Google Shape;398;p30"/>
          <p:cNvSpPr txBox="1"/>
          <p:nvPr/>
        </p:nvSpPr>
        <p:spPr>
          <a:xfrm>
            <a:off x="4675031" y="4589172"/>
            <a:ext cx="1448700" cy="302100"/>
          </a:xfrm>
          <a:prstGeom prst="rect">
            <a:avLst/>
          </a:prstGeom>
          <a:blipFill rotWithShape="1">
            <a:blip r:embed="rId3">
              <a:alphaModFix/>
            </a:blip>
            <a:stretch>
              <a:fillRect l="-2848" t="-103011" b="-169664"/>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rbel"/>
                <a:ea typeface="Corbel"/>
                <a:cs typeface="Corbel"/>
                <a:sym typeface="Corbel"/>
              </a:rPr>
              <a:t> </a:t>
            </a:r>
            <a:endParaRPr sz="1100" b="0" i="0" u="none" strike="noStrike" cap="none">
              <a:solidFill>
                <a:srgbClr val="000000"/>
              </a:solidFill>
              <a:latin typeface="Arial"/>
              <a:ea typeface="Arial"/>
              <a:cs typeface="Arial"/>
              <a:sym typeface="Arial"/>
            </a:endParaRPr>
          </a:p>
        </p:txBody>
      </p:sp>
      <p:graphicFrame>
        <p:nvGraphicFramePr>
          <p:cNvPr id="399" name="Google Shape;399;p30"/>
          <p:cNvGraphicFramePr/>
          <p:nvPr/>
        </p:nvGraphicFramePr>
        <p:xfrm>
          <a:off x="2481278" y="3886309"/>
          <a:ext cx="1862900" cy="1178500"/>
        </p:xfrm>
        <a:graphic>
          <a:graphicData uri="http://schemas.openxmlformats.org/drawingml/2006/table">
            <a:tbl>
              <a:tblPr firstRow="1" bandRow="1">
                <a:noFill/>
                <a:tableStyleId>{0D4F73EF-A10F-4452-B2EA-171B12026A2E}</a:tableStyleId>
              </a:tblPr>
              <a:tblGrid>
                <a:gridCol w="465725"/>
                <a:gridCol w="465725"/>
                <a:gridCol w="465725"/>
                <a:gridCol w="465725"/>
              </a:tblGrid>
              <a:tr h="2946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68600" marR="68600" marT="34300" marB="34300"/>
                </a:tc>
              </a:tr>
            </a:tbl>
          </a:graphicData>
        </a:graphic>
      </p:graphicFrame>
      <p:graphicFrame>
        <p:nvGraphicFramePr>
          <p:cNvPr id="400" name="Google Shape;400;p30"/>
          <p:cNvGraphicFramePr/>
          <p:nvPr/>
        </p:nvGraphicFramePr>
        <p:xfrm>
          <a:off x="6423478" y="3936984"/>
          <a:ext cx="2227875" cy="1178500"/>
        </p:xfrm>
        <a:graphic>
          <a:graphicData uri="http://schemas.openxmlformats.org/drawingml/2006/table">
            <a:tbl>
              <a:tblPr firstRow="1" bandRow="1">
                <a:noFill/>
                <a:tableStyleId>{0D4F73EF-A10F-4452-B2EA-171B12026A2E}</a:tableStyleId>
              </a:tblPr>
              <a:tblGrid>
                <a:gridCol w="541400"/>
                <a:gridCol w="598100"/>
                <a:gridCol w="579200"/>
                <a:gridCol w="509175"/>
              </a:tblGrid>
              <a:tr h="2946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t1</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0.67</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0.71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t2</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 sz="1400" u="none" strike="noStrike" cap="none">
                          <a:latin typeface="Times New Roman"/>
                          <a:ea typeface="Times New Roman"/>
                          <a:cs typeface="Times New Roman"/>
                          <a:sym typeface="Times New Roman"/>
                        </a:rPr>
                        <a:t>0.67</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0.71</a:t>
                      </a:r>
                      <a:endParaRPr sz="1400" u="none" strike="noStrike" cap="none">
                        <a:latin typeface="Times New Roman"/>
                        <a:ea typeface="Times New Roman"/>
                        <a:cs typeface="Times New Roman"/>
                        <a:sym typeface="Times New Roman"/>
                      </a:endParaRPr>
                    </a:p>
                  </a:txBody>
                  <a:tcPr marL="68600" marR="68600" marT="34300" marB="34300"/>
                </a:tc>
              </a:tr>
              <a:tr h="294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t3</a:t>
                      </a:r>
                      <a:endParaRPr sz="1400" u="none" strike="noStrike" cap="none">
                        <a:latin typeface="Times New Roman"/>
                        <a:ea typeface="Times New Roman"/>
                        <a:cs typeface="Times New Roman"/>
                        <a:sym typeface="Times New Roman"/>
                      </a:endParaRPr>
                    </a:p>
                  </a:txBody>
                  <a:tcPr marL="68600" marR="68600" marT="34300" marB="343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0.33</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0.71</a:t>
                      </a:r>
                      <a:endParaRPr sz="1400" u="none" strike="noStrike" cap="none">
                        <a:latin typeface="Times New Roman"/>
                        <a:ea typeface="Times New Roman"/>
                        <a:cs typeface="Times New Roman"/>
                        <a:sym typeface="Times New Roman"/>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0.71</a:t>
                      </a:r>
                      <a:endParaRPr sz="1400" u="none" strike="noStrike" cap="none">
                        <a:latin typeface="Times New Roman"/>
                        <a:ea typeface="Times New Roman"/>
                        <a:cs typeface="Times New Roman"/>
                        <a:sym typeface="Times New Roman"/>
                      </a:endParaRPr>
                    </a:p>
                  </a:txBody>
                  <a:tcPr marL="68600" marR="68600" marT="34300" marB="34300"/>
                </a:tc>
              </a:tr>
            </a:tbl>
          </a:graphicData>
        </a:graphic>
      </p:graphicFrame>
      <p:sp>
        <p:nvSpPr>
          <p:cNvPr id="401" name="Google Shape;401;p30"/>
          <p:cNvSpPr txBox="1"/>
          <p:nvPr/>
        </p:nvSpPr>
        <p:spPr>
          <a:xfrm>
            <a:off x="2034025" y="3512850"/>
            <a:ext cx="2196300" cy="369300"/>
          </a:xfrm>
          <a:prstGeom prst="rect">
            <a:avLst/>
          </a:prstGeom>
          <a:noFill/>
          <a:ln>
            <a:noFill/>
          </a:ln>
        </p:spPr>
        <p:txBody>
          <a:bodyPr spcFirstLastPara="1" wrap="square" lIns="91425" tIns="91425" rIns="91425" bIns="91425" anchor="t" anchorCtr="0">
            <a:spAutoFit/>
          </a:bodyPr>
          <a:lstStyle/>
          <a:p>
            <a:pPr marL="457200" marR="0" lvl="0" indent="0" algn="just" rtl="0">
              <a:lnSpc>
                <a:spcPct val="100000"/>
              </a:lnSpc>
              <a:spcBef>
                <a:spcPts val="0"/>
              </a:spcBef>
              <a:spcAft>
                <a:spcPts val="1000"/>
              </a:spcAft>
              <a:buClr>
                <a:schemeClr val="dk1"/>
              </a:buClr>
              <a:buSzPts val="1100"/>
              <a:buFont typeface="Arial"/>
              <a:buNone/>
            </a:pPr>
            <a:r>
              <a:rPr lang="en" sz="1200" b="0" i="0" u="none" strike="noStrike" cap="none">
                <a:solidFill>
                  <a:srgbClr val="EDEDED"/>
                </a:solidFill>
                <a:latin typeface="Times New Roman"/>
                <a:ea typeface="Times New Roman"/>
                <a:cs typeface="Times New Roman"/>
                <a:sym typeface="Times New Roman"/>
              </a:rPr>
              <a:t>Term Document Matrix</a:t>
            </a:r>
            <a:endParaRPr sz="900" b="0" i="0" u="none" strike="noStrike" cap="none">
              <a:solidFill>
                <a:srgbClr val="000000"/>
              </a:solidFill>
              <a:latin typeface="Corbel"/>
              <a:ea typeface="Corbel"/>
              <a:cs typeface="Corbel"/>
              <a:sym typeface="Corbe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1"/>
          <p:cNvSpPr txBox="1">
            <a:spLocks noGrp="1"/>
          </p:cNvSpPr>
          <p:nvPr>
            <p:ph type="title"/>
          </p:nvPr>
        </p:nvSpPr>
        <p:spPr>
          <a:xfrm>
            <a:off x="628650" y="273847"/>
            <a:ext cx="7886700" cy="474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Term Weighting</a:t>
            </a:r>
            <a:endParaRPr/>
          </a:p>
        </p:txBody>
      </p:sp>
      <p:sp>
        <p:nvSpPr>
          <p:cNvPr id="407" name="Google Shape;407;p31"/>
          <p:cNvSpPr txBox="1">
            <a:spLocks noGrp="1"/>
          </p:cNvSpPr>
          <p:nvPr>
            <p:ph type="body" idx="1"/>
          </p:nvPr>
        </p:nvSpPr>
        <p:spPr>
          <a:xfrm>
            <a:off x="840000" y="826076"/>
            <a:ext cx="7675500" cy="38064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800"/>
              </a:spcBef>
              <a:spcAft>
                <a:spcPts val="0"/>
              </a:spcAft>
              <a:buSzPts val="1400"/>
              <a:buNone/>
            </a:pPr>
            <a:r>
              <a:rPr lang="en" sz="1600" b="1">
                <a:solidFill>
                  <a:srgbClr val="00FFFF"/>
                </a:solidFill>
                <a:latin typeface="Times New Roman"/>
                <a:ea typeface="Times New Roman"/>
                <a:cs typeface="Times New Roman"/>
                <a:sym typeface="Times New Roman"/>
              </a:rPr>
              <a:t>Define Term Weighting. (Feb 2021)</a:t>
            </a:r>
            <a:endParaRPr sz="1600" b="1">
              <a:solidFill>
                <a:srgbClr val="00FFFF"/>
              </a:solidFill>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Each term that is selected as an indexing feature for a document, acts as a discriminator between that document and all other documents in the corpus.</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Term weighting is the process to quantify the discriminating power of the terms by associating the frequency of their occurrence (term frequency) within a document. </a:t>
            </a:r>
            <a:endParaRPr sz="1600" b="1">
              <a:solidFill>
                <a:srgbClr val="FFFF00"/>
              </a:solidFill>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The following facts must be taken into account:</a:t>
            </a:r>
            <a:endParaRPr sz="1600">
              <a:latin typeface="Times New Roman"/>
              <a:ea typeface="Times New Roman"/>
              <a:cs typeface="Times New Roman"/>
              <a:sym typeface="Times New Roman"/>
            </a:endParaRPr>
          </a:p>
          <a:p>
            <a:pPr marL="914400" lvl="0" indent="-330200" algn="just" rtl="0">
              <a:lnSpc>
                <a:spcPct val="100000"/>
              </a:lnSpc>
              <a:spcBef>
                <a:spcPts val="1000"/>
              </a:spcBef>
              <a:spcAft>
                <a:spcPts val="0"/>
              </a:spcAft>
              <a:buSzPts val="1600"/>
              <a:buFont typeface="Times New Roman"/>
              <a:buAutoNum type="arabicPeriod"/>
            </a:pPr>
            <a:r>
              <a:rPr lang="en" sz="1600">
                <a:latin typeface="Times New Roman"/>
                <a:ea typeface="Times New Roman"/>
                <a:cs typeface="Times New Roman"/>
                <a:sym typeface="Times New Roman"/>
              </a:rPr>
              <a:t>The more a document contains a given word, the more that document is about a concept represented by that word.</a:t>
            </a:r>
            <a:endParaRPr sz="1600">
              <a:latin typeface="Times New Roman"/>
              <a:ea typeface="Times New Roman"/>
              <a:cs typeface="Times New Roman"/>
              <a:sym typeface="Times New Roman"/>
            </a:endParaRPr>
          </a:p>
          <a:p>
            <a:pPr marL="914400" lvl="0" indent="-330200" algn="just" rtl="0">
              <a:lnSpc>
                <a:spcPct val="100000"/>
              </a:lnSpc>
              <a:spcBef>
                <a:spcPts val="1000"/>
              </a:spcBef>
              <a:spcAft>
                <a:spcPts val="1000"/>
              </a:spcAft>
              <a:buSzPts val="1600"/>
              <a:buFont typeface="Times New Roman"/>
              <a:buAutoNum type="arabicPeriod"/>
            </a:pPr>
            <a:r>
              <a:rPr lang="en" sz="1600">
                <a:latin typeface="Times New Roman"/>
                <a:ea typeface="Times New Roman"/>
                <a:cs typeface="Times New Roman"/>
                <a:sym typeface="Times New Roman"/>
              </a:rPr>
              <a:t>The less a term occurs in particular document in a collection, the more discriminating that term is.</a:t>
            </a:r>
            <a:endParaRPr sz="16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2"/>
          <p:cNvSpPr txBox="1">
            <a:spLocks noGrp="1"/>
          </p:cNvSpPr>
          <p:nvPr>
            <p:ph type="title"/>
          </p:nvPr>
        </p:nvSpPr>
        <p:spPr>
          <a:xfrm>
            <a:off x="628650" y="273850"/>
            <a:ext cx="7886700" cy="419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26829"/>
              <a:buFont typeface="Arial"/>
              <a:buNone/>
            </a:pPr>
            <a:r>
              <a:rPr lang="en"/>
              <a:t>Term Weighting</a:t>
            </a:r>
            <a:endParaRPr/>
          </a:p>
        </p:txBody>
      </p:sp>
      <p:sp>
        <p:nvSpPr>
          <p:cNvPr id="413" name="Google Shape;413;p32"/>
          <p:cNvSpPr txBox="1">
            <a:spLocks noGrp="1"/>
          </p:cNvSpPr>
          <p:nvPr>
            <p:ph type="body" idx="1"/>
          </p:nvPr>
        </p:nvSpPr>
        <p:spPr>
          <a:xfrm>
            <a:off x="840000" y="748150"/>
            <a:ext cx="7675500" cy="4091400"/>
          </a:xfrm>
          <a:prstGeom prst="rect">
            <a:avLst/>
          </a:prstGeom>
          <a:noFill/>
          <a:ln>
            <a:noFill/>
          </a:ln>
        </p:spPr>
        <p:txBody>
          <a:bodyPr spcFirstLastPara="1" wrap="square" lIns="68575" tIns="34275" rIns="68575" bIns="34275" anchor="ctr" anchorCtr="0">
            <a:noAutofit/>
          </a:bodyPr>
          <a:lstStyle/>
          <a:p>
            <a:pPr marL="457200" lvl="0" indent="-304800" algn="just" rtl="0">
              <a:lnSpc>
                <a:spcPct val="10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The first factor indicates that terms that occur more frequently represent the document’s meaning more strongly than those occurring less frequently and hence must be given high weights. </a:t>
            </a:r>
            <a:r>
              <a:rPr lang="en" sz="1200" b="1">
                <a:solidFill>
                  <a:srgbClr val="00FFFF"/>
                </a:solidFill>
                <a:latin typeface="Times New Roman"/>
                <a:ea typeface="Times New Roman"/>
                <a:cs typeface="Times New Roman"/>
                <a:sym typeface="Times New Roman"/>
              </a:rPr>
              <a:t>This weight is the raw frequency of the term in the document.</a:t>
            </a:r>
            <a:endParaRPr sz="1200" b="1">
              <a:solidFill>
                <a:srgbClr val="00FFFF"/>
              </a:solidFill>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b="1">
                <a:solidFill>
                  <a:srgbClr val="00FFFF"/>
                </a:solidFill>
                <a:latin typeface="Times New Roman"/>
                <a:ea typeface="Times New Roman"/>
                <a:cs typeface="Times New Roman"/>
                <a:sym typeface="Times New Roman"/>
              </a:rPr>
              <a:t>The second factor considers term distribution across the document collection.</a:t>
            </a:r>
            <a:r>
              <a:rPr lang="en" sz="1200">
                <a:latin typeface="Times New Roman"/>
                <a:ea typeface="Times New Roman"/>
                <a:cs typeface="Times New Roman"/>
                <a:sym typeface="Times New Roman"/>
              </a:rPr>
              <a:t> Terms occurring in a few documents are useful for distinguishing those documents from the rest of the collection. Similarly, terms that occur more frequently across the entire collection are less helpful while discriminating among documents. This requires a measure that favours terms appearing in fewer documents.</a:t>
            </a:r>
            <a:endParaRPr sz="120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Clr>
                <a:srgbClr val="FFFF00"/>
              </a:buClr>
              <a:buSzPts val="1200"/>
              <a:buFont typeface="Times New Roman"/>
              <a:buChar char="•"/>
            </a:pPr>
            <a:r>
              <a:rPr lang="en" sz="1200" b="1">
                <a:solidFill>
                  <a:srgbClr val="FFFF00"/>
                </a:solidFill>
                <a:latin typeface="Times New Roman"/>
                <a:ea typeface="Times New Roman"/>
                <a:cs typeface="Times New Roman"/>
                <a:sym typeface="Times New Roman"/>
              </a:rPr>
              <a:t>The fraction n / n</a:t>
            </a:r>
            <a:r>
              <a:rPr lang="en" sz="1200" b="1" baseline="-25000">
                <a:solidFill>
                  <a:srgbClr val="FFFF00"/>
                </a:solidFill>
                <a:latin typeface="Times New Roman"/>
                <a:ea typeface="Times New Roman"/>
                <a:cs typeface="Times New Roman"/>
                <a:sym typeface="Times New Roman"/>
              </a:rPr>
              <a:t>i</a:t>
            </a:r>
            <a:r>
              <a:rPr lang="en" sz="1200" b="1">
                <a:solidFill>
                  <a:srgbClr val="FFFF00"/>
                </a:solidFill>
                <a:latin typeface="Times New Roman"/>
                <a:ea typeface="Times New Roman"/>
                <a:cs typeface="Times New Roman"/>
                <a:sym typeface="Times New Roman"/>
              </a:rPr>
              <a:t> - gives the measure that favours terms appearing in fewer documents, where</a:t>
            </a:r>
            <a:endParaRPr sz="1200" b="1">
              <a:solidFill>
                <a:srgbClr val="FFFF00"/>
              </a:solidFill>
              <a:latin typeface="Times New Roman"/>
              <a:ea typeface="Times New Roman"/>
              <a:cs typeface="Times New Roman"/>
              <a:sym typeface="Times New Roman"/>
            </a:endParaRPr>
          </a:p>
          <a:p>
            <a:pPr marL="457200" lvl="0" indent="0" algn="just" rtl="0">
              <a:lnSpc>
                <a:spcPct val="100000"/>
              </a:lnSpc>
              <a:spcBef>
                <a:spcPts val="1000"/>
              </a:spcBef>
              <a:spcAft>
                <a:spcPts val="0"/>
              </a:spcAft>
              <a:buSzPts val="1400"/>
              <a:buNone/>
            </a:pPr>
            <a:r>
              <a:rPr lang="en" sz="1200">
                <a:latin typeface="Times New Roman"/>
                <a:ea typeface="Times New Roman"/>
                <a:cs typeface="Times New Roman"/>
                <a:sym typeface="Times New Roman"/>
              </a:rPr>
              <a:t>n - total number of documents in the collection</a:t>
            </a:r>
            <a:endParaRPr sz="1200">
              <a:latin typeface="Times New Roman"/>
              <a:ea typeface="Times New Roman"/>
              <a:cs typeface="Times New Roman"/>
              <a:sym typeface="Times New Roman"/>
            </a:endParaRPr>
          </a:p>
          <a:p>
            <a:pPr marL="0" lvl="0" indent="457200" algn="just" rtl="0">
              <a:lnSpc>
                <a:spcPct val="100000"/>
              </a:lnSpc>
              <a:spcBef>
                <a:spcPts val="1000"/>
              </a:spcBef>
              <a:spcAft>
                <a:spcPts val="0"/>
              </a:spcAft>
              <a:buSzPts val="1400"/>
              <a:buNone/>
            </a:pPr>
            <a:r>
              <a:rPr lang="en" sz="1200">
                <a:latin typeface="Times New Roman"/>
                <a:ea typeface="Times New Roman"/>
                <a:cs typeface="Times New Roman"/>
                <a:sym typeface="Times New Roman"/>
              </a:rPr>
              <a:t>n</a:t>
            </a:r>
            <a:r>
              <a:rPr lang="en" sz="1200" baseline="-25000">
                <a:latin typeface="Times New Roman"/>
                <a:ea typeface="Times New Roman"/>
                <a:cs typeface="Times New Roman"/>
                <a:sym typeface="Times New Roman"/>
              </a:rPr>
              <a:t>i</a:t>
            </a:r>
            <a:r>
              <a:rPr lang="en" sz="1200">
                <a:latin typeface="Times New Roman"/>
                <a:ea typeface="Times New Roman"/>
                <a:cs typeface="Times New Roman"/>
                <a:sym typeface="Times New Roman"/>
              </a:rPr>
              <a:t> - the number of documents in which the term i occurs</a:t>
            </a:r>
            <a:endParaRPr sz="120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Clr>
                <a:srgbClr val="00FFFF"/>
              </a:buClr>
              <a:buSzPts val="1200"/>
              <a:buFont typeface="Times New Roman"/>
              <a:buChar char="•"/>
            </a:pPr>
            <a:r>
              <a:rPr lang="en" sz="1200">
                <a:solidFill>
                  <a:srgbClr val="00FFFF"/>
                </a:solidFill>
                <a:latin typeface="Times New Roman"/>
                <a:ea typeface="Times New Roman"/>
                <a:cs typeface="Times New Roman"/>
                <a:sym typeface="Times New Roman"/>
              </a:rPr>
              <a:t>This measure assigns the </a:t>
            </a:r>
            <a:r>
              <a:rPr lang="en" sz="1200" b="1">
                <a:solidFill>
                  <a:schemeClr val="dk1"/>
                </a:solidFill>
                <a:highlight>
                  <a:srgbClr val="FFFF00"/>
                </a:highlight>
                <a:latin typeface="Times New Roman"/>
                <a:ea typeface="Times New Roman"/>
                <a:cs typeface="Times New Roman"/>
                <a:sym typeface="Times New Roman"/>
              </a:rPr>
              <a:t>lowest weight 1</a:t>
            </a:r>
            <a:r>
              <a:rPr lang="en" sz="1200" b="1">
                <a:solidFill>
                  <a:srgbClr val="00FFFF"/>
                </a:solidFill>
                <a:latin typeface="Times New Roman"/>
                <a:ea typeface="Times New Roman"/>
                <a:cs typeface="Times New Roman"/>
                <a:sym typeface="Times New Roman"/>
              </a:rPr>
              <a:t> </a:t>
            </a:r>
            <a:r>
              <a:rPr lang="en" sz="1200">
                <a:solidFill>
                  <a:srgbClr val="00FFFF"/>
                </a:solidFill>
                <a:latin typeface="Times New Roman"/>
                <a:ea typeface="Times New Roman"/>
                <a:cs typeface="Times New Roman"/>
                <a:sym typeface="Times New Roman"/>
              </a:rPr>
              <a:t>to a term that appears in all documents and the </a:t>
            </a:r>
            <a:r>
              <a:rPr lang="en" sz="1200" b="1">
                <a:solidFill>
                  <a:schemeClr val="dk1"/>
                </a:solidFill>
                <a:highlight>
                  <a:srgbClr val="FFFF00"/>
                </a:highlight>
                <a:latin typeface="Times New Roman"/>
                <a:ea typeface="Times New Roman"/>
                <a:cs typeface="Times New Roman"/>
                <a:sym typeface="Times New Roman"/>
              </a:rPr>
              <a:t>highest weight of n</a:t>
            </a:r>
            <a:r>
              <a:rPr lang="en" sz="1200">
                <a:solidFill>
                  <a:srgbClr val="00FFFF"/>
                </a:solidFill>
                <a:latin typeface="Times New Roman"/>
                <a:ea typeface="Times New Roman"/>
                <a:cs typeface="Times New Roman"/>
                <a:sym typeface="Times New Roman"/>
              </a:rPr>
              <a:t> to a term that occurs in only one document.</a:t>
            </a:r>
            <a:endParaRPr sz="1200">
              <a:solidFill>
                <a:srgbClr val="00FFFF"/>
              </a:solidFill>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a:latin typeface="Times New Roman"/>
                <a:ea typeface="Times New Roman"/>
                <a:cs typeface="Times New Roman"/>
                <a:sym typeface="Times New Roman"/>
              </a:rPr>
              <a:t>As the number of documents in any collection is usually large, the log of this measure is taken, which is called </a:t>
            </a:r>
            <a:r>
              <a:rPr lang="en" sz="1200" b="1">
                <a:solidFill>
                  <a:srgbClr val="FFFF00"/>
                </a:solidFill>
                <a:latin typeface="Times New Roman"/>
                <a:ea typeface="Times New Roman"/>
                <a:cs typeface="Times New Roman"/>
                <a:sym typeface="Times New Roman"/>
              </a:rPr>
              <a:t>inverse document frequency (idf) term weight.</a:t>
            </a:r>
            <a:endParaRPr sz="1200" b="1">
              <a:solidFill>
                <a:srgbClr val="FFFF00"/>
              </a:solidFill>
              <a:latin typeface="Times New Roman"/>
              <a:ea typeface="Times New Roman"/>
              <a:cs typeface="Times New Roman"/>
              <a:sym typeface="Times New Roman"/>
            </a:endParaRPr>
          </a:p>
          <a:p>
            <a:pPr marL="1828800" lvl="0" indent="457200" algn="just" rtl="0">
              <a:lnSpc>
                <a:spcPct val="100000"/>
              </a:lnSpc>
              <a:spcBef>
                <a:spcPts val="1000"/>
              </a:spcBef>
              <a:spcAft>
                <a:spcPts val="0"/>
              </a:spcAft>
              <a:buSzPts val="1400"/>
              <a:buNone/>
            </a:pPr>
            <a:r>
              <a:rPr lang="en" sz="1200" b="1">
                <a:solidFill>
                  <a:srgbClr val="FFFF00"/>
                </a:solidFill>
                <a:latin typeface="Times New Roman"/>
                <a:ea typeface="Times New Roman"/>
                <a:cs typeface="Times New Roman"/>
                <a:sym typeface="Times New Roman"/>
              </a:rPr>
              <a:t>idf</a:t>
            </a:r>
            <a:r>
              <a:rPr lang="en" sz="1200" b="1" baseline="-25000">
                <a:solidFill>
                  <a:srgbClr val="FFFF00"/>
                </a:solidFill>
                <a:latin typeface="Times New Roman"/>
                <a:ea typeface="Times New Roman"/>
                <a:cs typeface="Times New Roman"/>
                <a:sym typeface="Times New Roman"/>
              </a:rPr>
              <a:t>i </a:t>
            </a:r>
            <a:r>
              <a:rPr lang="en" sz="1200" b="1">
                <a:solidFill>
                  <a:srgbClr val="FFFF00"/>
                </a:solidFill>
                <a:latin typeface="Times New Roman"/>
                <a:ea typeface="Times New Roman"/>
                <a:cs typeface="Times New Roman"/>
                <a:sym typeface="Times New Roman"/>
              </a:rPr>
              <a:t> =  log  ( n / n</a:t>
            </a:r>
            <a:r>
              <a:rPr lang="en" sz="1200" b="1" baseline="-25000">
                <a:solidFill>
                  <a:srgbClr val="FFFF00"/>
                </a:solidFill>
                <a:latin typeface="Times New Roman"/>
                <a:ea typeface="Times New Roman"/>
                <a:cs typeface="Times New Roman"/>
                <a:sym typeface="Times New Roman"/>
              </a:rPr>
              <a:t>i</a:t>
            </a:r>
            <a:r>
              <a:rPr lang="en" sz="1200" b="1">
                <a:solidFill>
                  <a:srgbClr val="FFFF00"/>
                </a:solidFill>
                <a:latin typeface="Times New Roman"/>
                <a:ea typeface="Times New Roman"/>
                <a:cs typeface="Times New Roman"/>
                <a:sym typeface="Times New Roman"/>
              </a:rPr>
              <a:t> )</a:t>
            </a:r>
            <a:endParaRPr sz="1200" b="1">
              <a:solidFill>
                <a:srgbClr val="FFFF00"/>
              </a:solidFill>
              <a:latin typeface="Times New Roman"/>
              <a:ea typeface="Times New Roman"/>
              <a:cs typeface="Times New Roman"/>
              <a:sym typeface="Times New Roman"/>
            </a:endParaRPr>
          </a:p>
          <a:p>
            <a:pPr marL="457200" lvl="0" indent="-304800" algn="just" rtl="0">
              <a:lnSpc>
                <a:spcPct val="100000"/>
              </a:lnSpc>
              <a:spcBef>
                <a:spcPts val="1000"/>
              </a:spcBef>
              <a:spcAft>
                <a:spcPts val="1000"/>
              </a:spcAft>
              <a:buSzPts val="1200"/>
              <a:buFont typeface="Times New Roman"/>
              <a:buChar char="•"/>
            </a:pPr>
            <a:r>
              <a:rPr lang="en" sz="1200">
                <a:latin typeface="Times New Roman"/>
                <a:ea typeface="Times New Roman"/>
                <a:cs typeface="Times New Roman"/>
                <a:sym typeface="Times New Roman"/>
              </a:rPr>
              <a:t>If a term occurs in all documents in a collection, its idf is 0</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3"/>
          <p:cNvSpPr txBox="1">
            <a:spLocks noGrp="1"/>
          </p:cNvSpPr>
          <p:nvPr>
            <p:ph type="title"/>
          </p:nvPr>
        </p:nvSpPr>
        <p:spPr>
          <a:xfrm>
            <a:off x="628650" y="273846"/>
            <a:ext cx="7886700" cy="435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Term Weighting</a:t>
            </a:r>
            <a:endParaRPr/>
          </a:p>
        </p:txBody>
      </p:sp>
      <p:sp>
        <p:nvSpPr>
          <p:cNvPr id="419" name="Google Shape;419;p33"/>
          <p:cNvSpPr txBox="1">
            <a:spLocks noGrp="1"/>
          </p:cNvSpPr>
          <p:nvPr>
            <p:ph type="body" idx="1"/>
          </p:nvPr>
        </p:nvSpPr>
        <p:spPr>
          <a:xfrm>
            <a:off x="684125" y="787101"/>
            <a:ext cx="7675500" cy="3829800"/>
          </a:xfrm>
          <a:prstGeom prst="rect">
            <a:avLst/>
          </a:prstGeom>
          <a:noFill/>
          <a:ln>
            <a:noFill/>
          </a:ln>
        </p:spPr>
        <p:txBody>
          <a:bodyPr spcFirstLastPara="1" wrap="square" lIns="68575" tIns="34275" rIns="68575" bIns="34275" anchor="ctr" anchorCtr="0">
            <a:normAutofit/>
          </a:bodyPr>
          <a:lstStyle/>
          <a:p>
            <a:pPr marL="457200" lvl="0" indent="-317500" algn="l" rtl="0">
              <a:lnSpc>
                <a:spcPct val="100000"/>
              </a:lnSpc>
              <a:spcBef>
                <a:spcPts val="800"/>
              </a:spcBef>
              <a:spcAft>
                <a:spcPts val="0"/>
              </a:spcAft>
              <a:buSzPts val="1400"/>
              <a:buFont typeface="Times New Roman"/>
              <a:buChar char="•"/>
            </a:pPr>
            <a:r>
              <a:rPr lang="en" sz="1400">
                <a:latin typeface="Times New Roman"/>
                <a:ea typeface="Times New Roman"/>
                <a:cs typeface="Times New Roman"/>
                <a:sym typeface="Times New Roman"/>
              </a:rPr>
              <a:t>The combination of term frequency (tf) and inverse document frequency (idf) weights results in a family of </a:t>
            </a:r>
            <a:r>
              <a:rPr lang="en" sz="1400" b="1">
                <a:solidFill>
                  <a:srgbClr val="FFFF00"/>
                </a:solidFill>
                <a:latin typeface="Times New Roman"/>
                <a:ea typeface="Times New Roman"/>
                <a:cs typeface="Times New Roman"/>
                <a:sym typeface="Times New Roman"/>
              </a:rPr>
              <a:t>tf x idf </a:t>
            </a:r>
            <a:r>
              <a:rPr lang="en" sz="1400">
                <a:latin typeface="Times New Roman"/>
                <a:ea typeface="Times New Roman"/>
                <a:cs typeface="Times New Roman"/>
                <a:sym typeface="Times New Roman"/>
              </a:rPr>
              <a:t>weight schemes having the general formula -</a:t>
            </a:r>
            <a:endParaRPr sz="1400">
              <a:latin typeface="Times New Roman"/>
              <a:ea typeface="Times New Roman"/>
              <a:cs typeface="Times New Roman"/>
              <a:sym typeface="Times New Roman"/>
            </a:endParaRPr>
          </a:p>
          <a:p>
            <a:pPr marL="1828800" lvl="0" indent="457200" algn="l" rtl="0">
              <a:lnSpc>
                <a:spcPct val="100000"/>
              </a:lnSpc>
              <a:spcBef>
                <a:spcPts val="1000"/>
              </a:spcBef>
              <a:spcAft>
                <a:spcPts val="0"/>
              </a:spcAft>
              <a:buClr>
                <a:schemeClr val="dk1"/>
              </a:buClr>
              <a:buSzPts val="1100"/>
              <a:buFont typeface="Arial"/>
              <a:buNone/>
            </a:pPr>
            <a:r>
              <a:rPr lang="en" sz="1400" b="1">
                <a:solidFill>
                  <a:srgbClr val="FFFF00"/>
                </a:solidFill>
                <a:latin typeface="Times New Roman"/>
                <a:ea typeface="Times New Roman"/>
                <a:cs typeface="Times New Roman"/>
                <a:sym typeface="Times New Roman"/>
              </a:rPr>
              <a:t>W</a:t>
            </a:r>
            <a:r>
              <a:rPr lang="en" sz="1400" b="1" baseline="-25000">
                <a:solidFill>
                  <a:srgbClr val="FFFF00"/>
                </a:solidFill>
                <a:latin typeface="Times New Roman"/>
                <a:ea typeface="Times New Roman"/>
                <a:cs typeface="Times New Roman"/>
                <a:sym typeface="Times New Roman"/>
              </a:rPr>
              <a:t>ij</a:t>
            </a:r>
            <a:r>
              <a:rPr lang="en" sz="1400" b="1">
                <a:solidFill>
                  <a:srgbClr val="FFFF00"/>
                </a:solidFill>
                <a:latin typeface="Times New Roman"/>
                <a:ea typeface="Times New Roman"/>
                <a:cs typeface="Times New Roman"/>
                <a:sym typeface="Times New Roman"/>
              </a:rPr>
              <a:t> = tf</a:t>
            </a:r>
            <a:r>
              <a:rPr lang="en" sz="1400" b="1" baseline="-25000">
                <a:solidFill>
                  <a:srgbClr val="FFFF00"/>
                </a:solidFill>
                <a:latin typeface="Times New Roman"/>
                <a:ea typeface="Times New Roman"/>
                <a:cs typeface="Times New Roman"/>
                <a:sym typeface="Times New Roman"/>
              </a:rPr>
              <a:t>ij</a:t>
            </a:r>
            <a:r>
              <a:rPr lang="en" sz="1400" b="1">
                <a:solidFill>
                  <a:srgbClr val="FFFF00"/>
                </a:solidFill>
                <a:latin typeface="Times New Roman"/>
                <a:ea typeface="Times New Roman"/>
                <a:cs typeface="Times New Roman"/>
                <a:sym typeface="Times New Roman"/>
              </a:rPr>
              <a:t>  * log (n/n</a:t>
            </a:r>
            <a:r>
              <a:rPr lang="en" sz="1400" b="1" baseline="-25000">
                <a:solidFill>
                  <a:srgbClr val="FFFF00"/>
                </a:solidFill>
                <a:latin typeface="Times New Roman"/>
                <a:ea typeface="Times New Roman"/>
                <a:cs typeface="Times New Roman"/>
                <a:sym typeface="Times New Roman"/>
              </a:rPr>
              <a:t>i</a:t>
            </a:r>
            <a:r>
              <a:rPr lang="en" sz="1400" b="1">
                <a:solidFill>
                  <a:srgbClr val="FFFF00"/>
                </a:solidFill>
                <a:latin typeface="Times New Roman"/>
                <a:ea typeface="Times New Roman"/>
                <a:cs typeface="Times New Roman"/>
                <a:sym typeface="Times New Roman"/>
              </a:rPr>
              <a:t>) </a:t>
            </a:r>
            <a:r>
              <a:rPr lang="en"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According to the above scheme, the weight of the term t</a:t>
            </a:r>
            <a:r>
              <a:rPr lang="en" sz="1400" baseline="-25000">
                <a:latin typeface="Times New Roman"/>
                <a:ea typeface="Times New Roman"/>
                <a:cs typeface="Times New Roman"/>
                <a:sym typeface="Times New Roman"/>
              </a:rPr>
              <a:t>i </a:t>
            </a:r>
            <a:r>
              <a:rPr lang="en" sz="1400">
                <a:latin typeface="Times New Roman"/>
                <a:ea typeface="Times New Roman"/>
                <a:cs typeface="Times New Roman"/>
                <a:sym typeface="Times New Roman"/>
              </a:rPr>
              <a:t>in document d</a:t>
            </a:r>
            <a:r>
              <a:rPr lang="en" sz="1400" baseline="-25000">
                <a:latin typeface="Times New Roman"/>
                <a:ea typeface="Times New Roman"/>
                <a:cs typeface="Times New Roman"/>
                <a:sym typeface="Times New Roman"/>
              </a:rPr>
              <a:t>j</a:t>
            </a:r>
            <a:r>
              <a:rPr lang="en" sz="1400">
                <a:latin typeface="Times New Roman"/>
                <a:ea typeface="Times New Roman"/>
                <a:cs typeface="Times New Roman"/>
                <a:sym typeface="Times New Roman"/>
              </a:rPr>
              <a:t> is equal to the product of document frequency of the term (</a:t>
            </a:r>
            <a:r>
              <a:rPr lang="en" sz="1400" b="1">
                <a:latin typeface="Times New Roman"/>
                <a:ea typeface="Times New Roman"/>
                <a:cs typeface="Times New Roman"/>
                <a:sym typeface="Times New Roman"/>
              </a:rPr>
              <a:t>term frequency</a:t>
            </a:r>
            <a:r>
              <a:rPr lang="en" sz="1400">
                <a:latin typeface="Times New Roman"/>
                <a:ea typeface="Times New Roman"/>
                <a:cs typeface="Times New Roman"/>
                <a:sym typeface="Times New Roman"/>
              </a:rPr>
              <a:t>) and log of its </a:t>
            </a:r>
            <a:r>
              <a:rPr lang="en" sz="1400" b="1">
                <a:latin typeface="Times New Roman"/>
                <a:ea typeface="Times New Roman"/>
                <a:cs typeface="Times New Roman"/>
                <a:sym typeface="Times New Roman"/>
              </a:rPr>
              <a:t>inverse document frequency</a:t>
            </a:r>
            <a:r>
              <a:rPr lang="en" sz="1400">
                <a:latin typeface="Times New Roman"/>
                <a:ea typeface="Times New Roman"/>
                <a:cs typeface="Times New Roman"/>
                <a:sym typeface="Times New Roman"/>
              </a:rPr>
              <a:t> within the collection.</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0"/>
              </a:spcAft>
              <a:buClr>
                <a:srgbClr val="00FFFF"/>
              </a:buClr>
              <a:buSzPts val="1400"/>
              <a:buFont typeface="Times New Roman"/>
              <a:buChar char="•"/>
            </a:pPr>
            <a:r>
              <a:rPr lang="en" sz="1400" b="1">
                <a:solidFill>
                  <a:srgbClr val="00FFFF"/>
                </a:solidFill>
                <a:latin typeface="Times New Roman"/>
                <a:ea typeface="Times New Roman"/>
                <a:cs typeface="Times New Roman"/>
                <a:sym typeface="Times New Roman"/>
              </a:rPr>
              <a:t>The tf  x idf weighting scheme combines both the ‘local’ and ‘global’ statistics to assign term weight.</a:t>
            </a:r>
            <a:endParaRPr sz="1400" b="1">
              <a:solidFill>
                <a:srgbClr val="00FFFF"/>
              </a:solidFill>
              <a:latin typeface="Times New Roman"/>
              <a:ea typeface="Times New Roman"/>
              <a:cs typeface="Times New Roman"/>
              <a:sym typeface="Times New Roman"/>
            </a:endParaRPr>
          </a:p>
          <a:p>
            <a:pPr marL="457200" lvl="0" indent="-317500"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The </a:t>
            </a:r>
            <a:r>
              <a:rPr lang="en" sz="1400" b="1">
                <a:solidFill>
                  <a:srgbClr val="FFFF00"/>
                </a:solidFill>
                <a:latin typeface="Times New Roman"/>
                <a:ea typeface="Times New Roman"/>
                <a:cs typeface="Times New Roman"/>
                <a:sym typeface="Times New Roman"/>
              </a:rPr>
              <a:t>tf</a:t>
            </a:r>
            <a:r>
              <a:rPr lang="en" sz="1400">
                <a:latin typeface="Times New Roman"/>
                <a:ea typeface="Times New Roman"/>
                <a:cs typeface="Times New Roman"/>
                <a:sym typeface="Times New Roman"/>
              </a:rPr>
              <a:t> component is a document specific statistic that measures the importance of the term within the document.</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1000"/>
              </a:spcAft>
              <a:buSzPts val="1400"/>
              <a:buFont typeface="Times New Roman"/>
              <a:buChar char="•"/>
            </a:pPr>
            <a:r>
              <a:rPr lang="en" sz="1400">
                <a:latin typeface="Times New Roman"/>
                <a:ea typeface="Times New Roman"/>
                <a:cs typeface="Times New Roman"/>
                <a:sym typeface="Times New Roman"/>
              </a:rPr>
              <a:t>The </a:t>
            </a:r>
            <a:r>
              <a:rPr lang="en" sz="1400" b="1">
                <a:solidFill>
                  <a:srgbClr val="FFFF00"/>
                </a:solidFill>
                <a:latin typeface="Times New Roman"/>
                <a:ea typeface="Times New Roman"/>
                <a:cs typeface="Times New Roman"/>
                <a:sym typeface="Times New Roman"/>
              </a:rPr>
              <a:t>idf </a:t>
            </a:r>
            <a:r>
              <a:rPr lang="en" sz="1400">
                <a:latin typeface="Times New Roman"/>
                <a:ea typeface="Times New Roman"/>
                <a:cs typeface="Times New Roman"/>
                <a:sym typeface="Times New Roman"/>
              </a:rPr>
              <a:t>is a global statistic that attempts to include distribution of the term across the document collection. </a:t>
            </a:r>
            <a:endParaRPr sz="14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4"/>
          <p:cNvSpPr txBox="1">
            <a:spLocks noGrp="1"/>
          </p:cNvSpPr>
          <p:nvPr>
            <p:ph type="title"/>
          </p:nvPr>
        </p:nvSpPr>
        <p:spPr>
          <a:xfrm>
            <a:off x="628650" y="273847"/>
            <a:ext cx="7886700" cy="583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26829"/>
              <a:buFont typeface="Arial"/>
              <a:buNone/>
            </a:pPr>
            <a:r>
              <a:rPr lang="en"/>
              <a:t>Term Weighting - Example</a:t>
            </a:r>
            <a:endParaRPr/>
          </a:p>
        </p:txBody>
      </p:sp>
      <p:sp>
        <p:nvSpPr>
          <p:cNvPr id="425" name="Google Shape;425;p34"/>
          <p:cNvSpPr txBox="1">
            <a:spLocks noGrp="1"/>
          </p:cNvSpPr>
          <p:nvPr>
            <p:ph type="body" idx="1"/>
          </p:nvPr>
        </p:nvSpPr>
        <p:spPr>
          <a:xfrm>
            <a:off x="592275" y="857350"/>
            <a:ext cx="7956900" cy="40836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800"/>
              </a:spcBef>
              <a:spcAft>
                <a:spcPts val="0"/>
              </a:spcAft>
              <a:buSzPts val="1400"/>
              <a:buNone/>
            </a:pPr>
            <a:r>
              <a:rPr lang="en" sz="1400">
                <a:latin typeface="Times New Roman"/>
                <a:ea typeface="Times New Roman"/>
                <a:cs typeface="Times New Roman"/>
                <a:sym typeface="Times New Roman"/>
              </a:rPr>
              <a:t>Example to explain how term weights can be calculated using the tf-idf weighting scheme.  </a:t>
            </a:r>
            <a:endParaRPr sz="1400">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r>
              <a:rPr lang="en" sz="1400">
                <a:latin typeface="Times New Roman"/>
                <a:ea typeface="Times New Roman"/>
                <a:cs typeface="Times New Roman"/>
                <a:sym typeface="Times New Roman"/>
              </a:rPr>
              <a:t>Consider a document represented by three terms {tornado, swirl, wind} with the raw tf 4,1,1 respectively. In a collection of 100 documents, 15 documents contain the term tornado, 20 contain swirl and 40 contain wind. Find the idf and the term weight of the three terms. (6 M, Feb 2021)</a:t>
            </a:r>
            <a:endParaRPr sz="1400">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r>
              <a:rPr lang="en" sz="1400">
                <a:solidFill>
                  <a:srgbClr val="FFFF00"/>
                </a:solidFill>
                <a:latin typeface="Times New Roman"/>
                <a:ea typeface="Times New Roman"/>
                <a:cs typeface="Times New Roman"/>
                <a:sym typeface="Times New Roman"/>
              </a:rPr>
              <a:t>idf - tornado -&gt; log(n / ni) = log (100 / 15 ) = 0.824  </a:t>
            </a:r>
            <a:r>
              <a:rPr lang="en" sz="1400">
                <a:solidFill>
                  <a:srgbClr val="00FFFF"/>
                </a:solidFill>
                <a:latin typeface="Times New Roman"/>
                <a:ea typeface="Times New Roman"/>
                <a:cs typeface="Times New Roman"/>
                <a:sym typeface="Times New Roman"/>
              </a:rPr>
              <a:t>Weight - tornado    -&gt; tf x idf = 4 * 0.824    = 3.296</a:t>
            </a:r>
            <a:endParaRPr sz="1400">
              <a:solidFill>
                <a:srgbClr val="FFFF00"/>
              </a:solidFill>
              <a:latin typeface="Times New Roman"/>
              <a:ea typeface="Times New Roman"/>
              <a:cs typeface="Times New Roman"/>
              <a:sym typeface="Times New Roman"/>
            </a:endParaRPr>
          </a:p>
          <a:p>
            <a:pPr marL="0" lvl="0" indent="0" algn="just" rtl="0">
              <a:lnSpc>
                <a:spcPct val="90000"/>
              </a:lnSpc>
              <a:spcBef>
                <a:spcPts val="800"/>
              </a:spcBef>
              <a:spcAft>
                <a:spcPts val="0"/>
              </a:spcAft>
              <a:buClr>
                <a:schemeClr val="dk1"/>
              </a:buClr>
              <a:buSzPts val="1100"/>
              <a:buFont typeface="Arial"/>
              <a:buNone/>
            </a:pPr>
            <a:r>
              <a:rPr lang="en" sz="1400">
                <a:solidFill>
                  <a:srgbClr val="FFFF00"/>
                </a:solidFill>
                <a:latin typeface="Times New Roman"/>
                <a:ea typeface="Times New Roman"/>
                <a:cs typeface="Times New Roman"/>
                <a:sym typeface="Times New Roman"/>
              </a:rPr>
              <a:t>idf - swirl     -&gt; log(n / ni) = log (100 / 20 ) = 0.699  </a:t>
            </a:r>
            <a:r>
              <a:rPr lang="en" sz="1400">
                <a:solidFill>
                  <a:srgbClr val="00FFFF"/>
                </a:solidFill>
                <a:latin typeface="Times New Roman"/>
                <a:ea typeface="Times New Roman"/>
                <a:cs typeface="Times New Roman"/>
                <a:sym typeface="Times New Roman"/>
              </a:rPr>
              <a:t>Weight - tornado    -&gt; tf x idf = 1 * 0.699    = 0.699</a:t>
            </a:r>
            <a:endParaRPr sz="1400">
              <a:solidFill>
                <a:srgbClr val="FFFF00"/>
              </a:solidFill>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r>
              <a:rPr lang="en" sz="1400">
                <a:solidFill>
                  <a:srgbClr val="FFFF00"/>
                </a:solidFill>
                <a:latin typeface="Times New Roman"/>
                <a:ea typeface="Times New Roman"/>
                <a:cs typeface="Times New Roman"/>
                <a:sym typeface="Times New Roman"/>
              </a:rPr>
              <a:t>idf - wind     -&gt; log(n / ni) = log (100 / 40 ) = 0.398  </a:t>
            </a:r>
            <a:r>
              <a:rPr lang="en" sz="1400">
                <a:solidFill>
                  <a:srgbClr val="00FFFF"/>
                </a:solidFill>
                <a:latin typeface="Times New Roman"/>
                <a:ea typeface="Times New Roman"/>
                <a:cs typeface="Times New Roman"/>
                <a:sym typeface="Times New Roman"/>
              </a:rPr>
              <a:t>Weight - tornado    -&gt; tf x idf = 1 * 0.398    = 0.398</a:t>
            </a:r>
            <a:endParaRPr sz="1400">
              <a:solidFill>
                <a:srgbClr val="00FFFF"/>
              </a:solidFill>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r>
              <a:rPr lang="en" sz="1400">
                <a:solidFill>
                  <a:schemeClr val="lt1"/>
                </a:solidFill>
                <a:latin typeface="Times New Roman"/>
                <a:ea typeface="Times New Roman"/>
                <a:cs typeface="Times New Roman"/>
                <a:sym typeface="Times New Roman"/>
              </a:rPr>
              <a:t>The following table shows the weights assigned to the three terms using tf x idf weighting scheme</a:t>
            </a:r>
            <a:endParaRPr sz="1400">
              <a:solidFill>
                <a:schemeClr val="lt1"/>
              </a:solidFill>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endParaRPr sz="1400">
              <a:solidFill>
                <a:srgbClr val="FFFF00"/>
              </a:solidFill>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endParaRPr sz="1400">
              <a:solidFill>
                <a:srgbClr val="00FFFF"/>
              </a:solidFill>
              <a:latin typeface="Times New Roman"/>
              <a:ea typeface="Times New Roman"/>
              <a:cs typeface="Times New Roman"/>
              <a:sym typeface="Times New Roman"/>
            </a:endParaRPr>
          </a:p>
          <a:p>
            <a:pPr marL="0" lvl="0" indent="0" algn="just" rtl="0">
              <a:lnSpc>
                <a:spcPct val="90000"/>
              </a:lnSpc>
              <a:spcBef>
                <a:spcPts val="800"/>
              </a:spcBef>
              <a:spcAft>
                <a:spcPts val="0"/>
              </a:spcAft>
              <a:buSzPts val="1400"/>
              <a:buNone/>
            </a:pPr>
            <a:endParaRPr sz="1400">
              <a:solidFill>
                <a:srgbClr val="00FFFF"/>
              </a:solidFill>
              <a:latin typeface="Times New Roman"/>
              <a:ea typeface="Times New Roman"/>
              <a:cs typeface="Times New Roman"/>
              <a:sym typeface="Times New Roman"/>
            </a:endParaRPr>
          </a:p>
          <a:p>
            <a:pPr marL="0" lvl="0" indent="0" algn="l" rtl="0">
              <a:lnSpc>
                <a:spcPct val="90000"/>
              </a:lnSpc>
              <a:spcBef>
                <a:spcPts val="800"/>
              </a:spcBef>
              <a:spcAft>
                <a:spcPts val="0"/>
              </a:spcAft>
              <a:buSzPts val="1400"/>
              <a:buNone/>
            </a:pPr>
            <a:endParaRPr sz="1400">
              <a:solidFill>
                <a:srgbClr val="00FFFF"/>
              </a:solidFill>
              <a:latin typeface="Times New Roman"/>
              <a:ea typeface="Times New Roman"/>
              <a:cs typeface="Times New Roman"/>
              <a:sym typeface="Times New Roman"/>
            </a:endParaRPr>
          </a:p>
          <a:p>
            <a:pPr marL="0" lvl="0" indent="0" algn="l" rtl="0">
              <a:lnSpc>
                <a:spcPct val="90000"/>
              </a:lnSpc>
              <a:spcBef>
                <a:spcPts val="800"/>
              </a:spcBef>
              <a:spcAft>
                <a:spcPts val="0"/>
              </a:spcAft>
              <a:buSzPts val="1400"/>
              <a:buNone/>
            </a:pPr>
            <a:endParaRPr>
              <a:latin typeface="Times New Roman"/>
              <a:ea typeface="Times New Roman"/>
              <a:cs typeface="Times New Roman"/>
              <a:sym typeface="Times New Roman"/>
            </a:endParaRPr>
          </a:p>
          <a:p>
            <a:pPr marL="0" lvl="0" indent="0" algn="l" rtl="0">
              <a:lnSpc>
                <a:spcPct val="90000"/>
              </a:lnSpc>
              <a:spcBef>
                <a:spcPts val="800"/>
              </a:spcBef>
              <a:spcAft>
                <a:spcPts val="0"/>
              </a:spcAft>
              <a:buSzPts val="1400"/>
              <a:buNone/>
            </a:pPr>
            <a:endParaRPr>
              <a:latin typeface="Times New Roman"/>
              <a:ea typeface="Times New Roman"/>
              <a:cs typeface="Times New Roman"/>
              <a:sym typeface="Times New Roman"/>
            </a:endParaRPr>
          </a:p>
        </p:txBody>
      </p:sp>
      <p:pic>
        <p:nvPicPr>
          <p:cNvPr id="426" name="Google Shape;426;p34"/>
          <p:cNvPicPr preferRelativeResize="0"/>
          <p:nvPr/>
        </p:nvPicPr>
        <p:blipFill rotWithShape="1">
          <a:blip r:embed="rId3">
            <a:alphaModFix/>
          </a:blip>
          <a:srcRect/>
          <a:stretch/>
        </p:blipFill>
        <p:spPr>
          <a:xfrm>
            <a:off x="813100" y="3132075"/>
            <a:ext cx="7385327" cy="1808875"/>
          </a:xfrm>
          <a:prstGeom prst="rect">
            <a:avLst/>
          </a:prstGeom>
          <a:noFill/>
          <a:ln>
            <a:noFill/>
          </a:ln>
        </p:spPr>
      </p:pic>
      <p:sp>
        <p:nvSpPr>
          <p:cNvPr id="427" name="Google Shape;427;p34"/>
          <p:cNvSpPr txBox="1"/>
          <p:nvPr/>
        </p:nvSpPr>
        <p:spPr>
          <a:xfrm>
            <a:off x="7543800" y="3785800"/>
            <a:ext cx="576600" cy="292500"/>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000000"/>
                </a:solidFill>
                <a:latin typeface="Times New Roman"/>
                <a:ea typeface="Times New Roman"/>
                <a:cs typeface="Times New Roman"/>
                <a:sym typeface="Times New Roman"/>
              </a:rPr>
              <a:t>3.296</a:t>
            </a:r>
            <a:endParaRPr sz="13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5"/>
          <p:cNvSpPr txBox="1">
            <a:spLocks noGrp="1"/>
          </p:cNvSpPr>
          <p:nvPr>
            <p:ph type="title"/>
          </p:nvPr>
        </p:nvSpPr>
        <p:spPr>
          <a:xfrm>
            <a:off x="628650" y="273850"/>
            <a:ext cx="7886700" cy="521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Weighting Schemes</a:t>
            </a:r>
            <a:endParaRPr/>
          </a:p>
        </p:txBody>
      </p:sp>
      <p:sp>
        <p:nvSpPr>
          <p:cNvPr id="433" name="Google Shape;433;p35"/>
          <p:cNvSpPr txBox="1">
            <a:spLocks noGrp="1"/>
          </p:cNvSpPr>
          <p:nvPr>
            <p:ph type="body" idx="1"/>
          </p:nvPr>
        </p:nvSpPr>
        <p:spPr>
          <a:xfrm>
            <a:off x="670225" y="794950"/>
            <a:ext cx="7845300" cy="4036800"/>
          </a:xfrm>
          <a:prstGeom prst="rect">
            <a:avLst/>
          </a:prstGeom>
          <a:noFill/>
          <a:ln>
            <a:noFill/>
          </a:ln>
        </p:spPr>
        <p:txBody>
          <a:bodyPr spcFirstLastPara="1" wrap="square" lIns="68575" tIns="34275" rIns="68575" bIns="34275" anchor="ctr" anchorCtr="0">
            <a:normAutofit/>
          </a:bodyPr>
          <a:lstStyle/>
          <a:p>
            <a:pPr marL="457200" lvl="0" indent="-330200" algn="just" rtl="0">
              <a:lnSpc>
                <a:spcPct val="100000"/>
              </a:lnSpc>
              <a:spcBef>
                <a:spcPts val="800"/>
              </a:spcBef>
              <a:spcAft>
                <a:spcPts val="0"/>
              </a:spcAft>
              <a:buSzPts val="1600"/>
              <a:buFont typeface="Times New Roman"/>
              <a:buChar char="•"/>
            </a:pPr>
            <a:r>
              <a:rPr lang="en" sz="1600">
                <a:latin typeface="Times New Roman"/>
                <a:ea typeface="Times New Roman"/>
                <a:cs typeface="Times New Roman"/>
                <a:sym typeface="Times New Roman"/>
              </a:rPr>
              <a:t>The three factors of weighting schemes are -</a:t>
            </a:r>
            <a:endParaRPr sz="1600">
              <a:latin typeface="Times New Roman"/>
              <a:ea typeface="Times New Roman"/>
              <a:cs typeface="Times New Roman"/>
              <a:sym typeface="Times New Roman"/>
            </a:endParaRPr>
          </a:p>
          <a:p>
            <a:pPr marL="914400" lvl="0" indent="-330200" algn="just" rtl="0">
              <a:lnSpc>
                <a:spcPct val="100000"/>
              </a:lnSpc>
              <a:spcBef>
                <a:spcPts val="1000"/>
              </a:spcBef>
              <a:spcAft>
                <a:spcPts val="0"/>
              </a:spcAft>
              <a:buSzPts val="1600"/>
              <a:buFont typeface="Times New Roman"/>
              <a:buAutoNum type="arabicPeriod"/>
            </a:pPr>
            <a:r>
              <a:rPr lang="en" sz="1600">
                <a:latin typeface="Times New Roman"/>
                <a:ea typeface="Times New Roman"/>
                <a:cs typeface="Times New Roman"/>
                <a:sym typeface="Times New Roman"/>
              </a:rPr>
              <a:t>Within - document frequency or term frequence (tf)</a:t>
            </a:r>
            <a:endParaRPr sz="1600">
              <a:latin typeface="Times New Roman"/>
              <a:ea typeface="Times New Roman"/>
              <a:cs typeface="Times New Roman"/>
              <a:sym typeface="Times New Roman"/>
            </a:endParaRPr>
          </a:p>
          <a:p>
            <a:pPr marL="914400" lvl="0" indent="-330200" algn="just" rtl="0">
              <a:lnSpc>
                <a:spcPct val="100000"/>
              </a:lnSpc>
              <a:spcBef>
                <a:spcPts val="1000"/>
              </a:spcBef>
              <a:spcAft>
                <a:spcPts val="0"/>
              </a:spcAft>
              <a:buSzPts val="1600"/>
              <a:buFont typeface="Times New Roman"/>
              <a:buAutoNum type="arabicPeriod"/>
            </a:pPr>
            <a:r>
              <a:rPr lang="en" sz="1600">
                <a:latin typeface="Times New Roman"/>
                <a:ea typeface="Times New Roman"/>
                <a:cs typeface="Times New Roman"/>
                <a:sym typeface="Times New Roman"/>
              </a:rPr>
              <a:t>Collection frequency or inverse document frequency (idf)</a:t>
            </a:r>
            <a:endParaRPr sz="1600">
              <a:latin typeface="Times New Roman"/>
              <a:ea typeface="Times New Roman"/>
              <a:cs typeface="Times New Roman"/>
              <a:sym typeface="Times New Roman"/>
            </a:endParaRPr>
          </a:p>
          <a:p>
            <a:pPr marL="914400" lvl="0" indent="-330200" algn="just" rtl="0">
              <a:lnSpc>
                <a:spcPct val="100000"/>
              </a:lnSpc>
              <a:spcBef>
                <a:spcPts val="1000"/>
              </a:spcBef>
              <a:spcAft>
                <a:spcPts val="0"/>
              </a:spcAft>
              <a:buSzPts val="1600"/>
              <a:buFont typeface="Times New Roman"/>
              <a:buAutoNum type="arabicPeriod"/>
            </a:pPr>
            <a:r>
              <a:rPr lang="en" sz="1600">
                <a:latin typeface="Times New Roman"/>
                <a:ea typeface="Times New Roman"/>
                <a:cs typeface="Times New Roman"/>
                <a:sym typeface="Times New Roman"/>
              </a:rPr>
              <a:t>Document length - If a term appears the same number of times in a short document and in a long document, then the term appearing in short document is more valuable compared to the term appearing in long document.</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Char char="•"/>
            </a:pPr>
            <a:r>
              <a:rPr lang="en" sz="1600">
                <a:latin typeface="Times New Roman"/>
                <a:ea typeface="Times New Roman"/>
                <a:cs typeface="Times New Roman"/>
                <a:sym typeface="Times New Roman"/>
              </a:rPr>
              <a:t>Any term weighting schemes can be represented by a triple </a:t>
            </a:r>
            <a:r>
              <a:rPr lang="en" sz="1600" b="1">
                <a:solidFill>
                  <a:srgbClr val="FFFF00"/>
                </a:solidFill>
                <a:latin typeface="Times New Roman"/>
                <a:ea typeface="Times New Roman"/>
                <a:cs typeface="Times New Roman"/>
                <a:sym typeface="Times New Roman"/>
              </a:rPr>
              <a:t>ABC</a:t>
            </a:r>
            <a:r>
              <a:rPr lang="e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Char char="•"/>
            </a:pPr>
            <a:r>
              <a:rPr lang="en" sz="1600" b="1">
                <a:solidFill>
                  <a:srgbClr val="FFFF00"/>
                </a:solidFill>
                <a:latin typeface="Times New Roman"/>
                <a:ea typeface="Times New Roman"/>
                <a:cs typeface="Times New Roman"/>
                <a:sym typeface="Times New Roman"/>
              </a:rPr>
              <a:t>A</a:t>
            </a:r>
            <a:r>
              <a:rPr lang="en" sz="1600">
                <a:latin typeface="Times New Roman"/>
                <a:ea typeface="Times New Roman"/>
                <a:cs typeface="Times New Roman"/>
                <a:sym typeface="Times New Roman"/>
              </a:rPr>
              <a:t> represents the way the </a:t>
            </a:r>
            <a:r>
              <a:rPr lang="en" sz="1600" b="1">
                <a:solidFill>
                  <a:srgbClr val="FFFF00"/>
                </a:solidFill>
                <a:latin typeface="Times New Roman"/>
                <a:ea typeface="Times New Roman"/>
                <a:cs typeface="Times New Roman"/>
                <a:sym typeface="Times New Roman"/>
              </a:rPr>
              <a:t>tf</a:t>
            </a:r>
            <a:r>
              <a:rPr lang="en" sz="1600" b="1">
                <a:latin typeface="Times New Roman"/>
                <a:ea typeface="Times New Roman"/>
                <a:cs typeface="Times New Roman"/>
                <a:sym typeface="Times New Roman"/>
              </a:rPr>
              <a:t> </a:t>
            </a:r>
            <a:r>
              <a:rPr lang="en" sz="1600">
                <a:latin typeface="Times New Roman"/>
                <a:ea typeface="Times New Roman"/>
                <a:cs typeface="Times New Roman"/>
                <a:sym typeface="Times New Roman"/>
              </a:rPr>
              <a:t>component is handled.</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Char char="•"/>
            </a:pPr>
            <a:r>
              <a:rPr lang="en" sz="1600" b="1">
                <a:solidFill>
                  <a:srgbClr val="FFFF00"/>
                </a:solidFill>
                <a:latin typeface="Times New Roman"/>
                <a:ea typeface="Times New Roman"/>
                <a:cs typeface="Times New Roman"/>
                <a:sym typeface="Times New Roman"/>
              </a:rPr>
              <a:t>B</a:t>
            </a:r>
            <a:r>
              <a:rPr lang="en" sz="1600" b="1">
                <a:latin typeface="Times New Roman"/>
                <a:ea typeface="Times New Roman"/>
                <a:cs typeface="Times New Roman"/>
                <a:sym typeface="Times New Roman"/>
              </a:rPr>
              <a:t> </a:t>
            </a:r>
            <a:r>
              <a:rPr lang="en" sz="1600">
                <a:latin typeface="Times New Roman"/>
                <a:ea typeface="Times New Roman"/>
                <a:cs typeface="Times New Roman"/>
                <a:sym typeface="Times New Roman"/>
              </a:rPr>
              <a:t>indicates the way the </a:t>
            </a:r>
            <a:r>
              <a:rPr lang="en" sz="1600" b="1">
                <a:solidFill>
                  <a:srgbClr val="FFFF00"/>
                </a:solidFill>
                <a:latin typeface="Times New Roman"/>
                <a:ea typeface="Times New Roman"/>
                <a:cs typeface="Times New Roman"/>
                <a:sym typeface="Times New Roman"/>
              </a:rPr>
              <a:t>idf </a:t>
            </a:r>
            <a:r>
              <a:rPr lang="en" sz="1600">
                <a:latin typeface="Times New Roman"/>
                <a:ea typeface="Times New Roman"/>
                <a:cs typeface="Times New Roman"/>
                <a:sym typeface="Times New Roman"/>
              </a:rPr>
              <a:t>component is incorporated.</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Char char="•"/>
            </a:pPr>
            <a:r>
              <a:rPr lang="en" sz="1600" b="1">
                <a:solidFill>
                  <a:srgbClr val="FFFF00"/>
                </a:solidFill>
                <a:latin typeface="Times New Roman"/>
                <a:ea typeface="Times New Roman"/>
                <a:cs typeface="Times New Roman"/>
                <a:sym typeface="Times New Roman"/>
              </a:rPr>
              <a:t>C</a:t>
            </a:r>
            <a:r>
              <a:rPr lang="en" sz="1600" b="1">
                <a:latin typeface="Times New Roman"/>
                <a:ea typeface="Times New Roman"/>
                <a:cs typeface="Times New Roman"/>
                <a:sym typeface="Times New Roman"/>
              </a:rPr>
              <a:t> </a:t>
            </a:r>
            <a:r>
              <a:rPr lang="en" sz="1600">
                <a:latin typeface="Times New Roman"/>
                <a:ea typeface="Times New Roman"/>
                <a:cs typeface="Times New Roman"/>
                <a:sym typeface="Times New Roman"/>
              </a:rPr>
              <a:t>represents the </a:t>
            </a:r>
            <a:r>
              <a:rPr lang="en" sz="1600" b="1">
                <a:solidFill>
                  <a:srgbClr val="FFFF00"/>
                </a:solidFill>
                <a:latin typeface="Times New Roman"/>
                <a:ea typeface="Times New Roman"/>
                <a:cs typeface="Times New Roman"/>
                <a:sym typeface="Times New Roman"/>
              </a:rPr>
              <a:t>length </a:t>
            </a:r>
            <a:r>
              <a:rPr lang="en" sz="1600">
                <a:latin typeface="Times New Roman"/>
                <a:ea typeface="Times New Roman"/>
                <a:cs typeface="Times New Roman"/>
                <a:sym typeface="Times New Roman"/>
              </a:rPr>
              <a:t>normalization component.</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1000"/>
              </a:spcAft>
              <a:buSzPts val="1600"/>
              <a:buFont typeface="Times New Roman"/>
              <a:buChar char="•"/>
            </a:pPr>
            <a:r>
              <a:rPr lang="en" sz="1600">
                <a:latin typeface="Times New Roman"/>
                <a:ea typeface="Times New Roman"/>
                <a:cs typeface="Times New Roman"/>
                <a:sym typeface="Times New Roman"/>
              </a:rPr>
              <a:t>Possible option for each of the three dimensions of the triple are shown in table. </a:t>
            </a:r>
            <a:endParaRPr sz="16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6"/>
          <p:cNvSpPr txBox="1">
            <a:spLocks noGrp="1"/>
          </p:cNvSpPr>
          <p:nvPr>
            <p:ph type="title"/>
          </p:nvPr>
        </p:nvSpPr>
        <p:spPr>
          <a:xfrm>
            <a:off x="628650" y="273846"/>
            <a:ext cx="7886700" cy="435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26829"/>
              <a:buFont typeface="Arial"/>
              <a:buNone/>
            </a:pPr>
            <a:r>
              <a:rPr lang="en"/>
              <a:t>Weighting Schemes</a:t>
            </a:r>
            <a:endParaRPr/>
          </a:p>
        </p:txBody>
      </p:sp>
      <p:pic>
        <p:nvPicPr>
          <p:cNvPr id="439" name="Google Shape;439;p36"/>
          <p:cNvPicPr preferRelativeResize="0"/>
          <p:nvPr/>
        </p:nvPicPr>
        <p:blipFill>
          <a:blip r:embed="rId3">
            <a:alphaModFix/>
          </a:blip>
          <a:stretch>
            <a:fillRect/>
          </a:stretch>
        </p:blipFill>
        <p:spPr>
          <a:xfrm>
            <a:off x="4624825" y="942250"/>
            <a:ext cx="3978525" cy="3407726"/>
          </a:xfrm>
          <a:prstGeom prst="rect">
            <a:avLst/>
          </a:prstGeom>
          <a:noFill/>
          <a:ln>
            <a:noFill/>
          </a:ln>
        </p:spPr>
      </p:pic>
      <p:sp>
        <p:nvSpPr>
          <p:cNvPr id="440" name="Google Shape;440;p36"/>
          <p:cNvSpPr txBox="1"/>
          <p:nvPr/>
        </p:nvSpPr>
        <p:spPr>
          <a:xfrm>
            <a:off x="795300" y="860125"/>
            <a:ext cx="3691200" cy="3955800"/>
          </a:xfrm>
          <a:prstGeom prst="rect">
            <a:avLst/>
          </a:prstGeom>
          <a:noFill/>
          <a:ln>
            <a:noFill/>
          </a:ln>
        </p:spPr>
        <p:txBody>
          <a:bodyPr spcFirstLastPara="1" wrap="square" lIns="91425" tIns="91425" rIns="91425" bIns="91425" anchor="t" anchorCtr="0">
            <a:spAutoFit/>
          </a:bodyPr>
          <a:lstStyle/>
          <a:p>
            <a:pPr marL="0" lvl="0" indent="0" algn="just" rtl="0">
              <a:spcBef>
                <a:spcPts val="1000"/>
              </a:spcBef>
              <a:spcAft>
                <a:spcPts val="0"/>
              </a:spcAft>
              <a:buClr>
                <a:schemeClr val="dk1"/>
              </a:buClr>
              <a:buSzPts val="1100"/>
              <a:buFont typeface="Arial"/>
              <a:buNone/>
            </a:pPr>
            <a:r>
              <a:rPr lang="en" sz="1600">
                <a:solidFill>
                  <a:srgbClr val="EDEDED"/>
                </a:solidFill>
                <a:latin typeface="Times New Roman"/>
                <a:ea typeface="Times New Roman"/>
                <a:cs typeface="Times New Roman"/>
                <a:sym typeface="Times New Roman"/>
              </a:rPr>
              <a:t>Different combinations of options can be used to represent document and query vectors.</a:t>
            </a:r>
            <a:endParaRPr sz="1600">
              <a:solidFill>
                <a:srgbClr val="EDEDED"/>
              </a:solidFill>
              <a:latin typeface="Times New Roman"/>
              <a:ea typeface="Times New Roman"/>
              <a:cs typeface="Times New Roman"/>
              <a:sym typeface="Times New Roman"/>
            </a:endParaRPr>
          </a:p>
          <a:p>
            <a:pPr marL="457200" lvl="0" indent="-330201" algn="just" rtl="0">
              <a:spcBef>
                <a:spcPts val="1000"/>
              </a:spcBef>
              <a:spcAft>
                <a:spcPts val="0"/>
              </a:spcAft>
              <a:buClr>
                <a:srgbClr val="EDEDED"/>
              </a:buClr>
              <a:buSzPts val="1600"/>
              <a:buChar char="•"/>
            </a:pPr>
            <a:r>
              <a:rPr lang="en" sz="1600">
                <a:solidFill>
                  <a:srgbClr val="EDEDED"/>
                </a:solidFill>
                <a:latin typeface="Times New Roman"/>
                <a:ea typeface="Times New Roman"/>
                <a:cs typeface="Times New Roman"/>
                <a:sym typeface="Times New Roman"/>
              </a:rPr>
              <a:t>The retrieval model can be represented by a pair of triples like </a:t>
            </a:r>
            <a:r>
              <a:rPr lang="en" sz="1600" b="1">
                <a:solidFill>
                  <a:srgbClr val="FFFF00"/>
                </a:solidFill>
                <a:latin typeface="Times New Roman"/>
                <a:ea typeface="Times New Roman"/>
                <a:cs typeface="Times New Roman"/>
                <a:sym typeface="Times New Roman"/>
              </a:rPr>
              <a:t>nnn.nnn</a:t>
            </a:r>
            <a:r>
              <a:rPr lang="en" sz="1600">
                <a:solidFill>
                  <a:srgbClr val="EDEDED"/>
                </a:solidFill>
                <a:latin typeface="Times New Roman"/>
                <a:ea typeface="Times New Roman"/>
                <a:cs typeface="Times New Roman"/>
                <a:sym typeface="Times New Roman"/>
              </a:rPr>
              <a:t> (doc = ‘nnn’, query = ‘nnn’).</a:t>
            </a:r>
            <a:endParaRPr sz="1600">
              <a:solidFill>
                <a:srgbClr val="EDEDED"/>
              </a:solidFill>
              <a:latin typeface="Times New Roman"/>
              <a:ea typeface="Times New Roman"/>
              <a:cs typeface="Times New Roman"/>
              <a:sym typeface="Times New Roman"/>
            </a:endParaRPr>
          </a:p>
          <a:p>
            <a:pPr marL="457200" lvl="0" indent="-330201" algn="just" rtl="0">
              <a:spcBef>
                <a:spcPts val="1000"/>
              </a:spcBef>
              <a:spcAft>
                <a:spcPts val="0"/>
              </a:spcAft>
              <a:buClr>
                <a:srgbClr val="EDEDED"/>
              </a:buClr>
              <a:buSzPts val="1600"/>
              <a:buFont typeface="Times New Roman"/>
              <a:buChar char="•"/>
            </a:pPr>
            <a:r>
              <a:rPr lang="en" sz="1600">
                <a:solidFill>
                  <a:srgbClr val="EDEDED"/>
                </a:solidFill>
                <a:latin typeface="Times New Roman"/>
                <a:ea typeface="Times New Roman"/>
                <a:cs typeface="Times New Roman"/>
                <a:sym typeface="Times New Roman"/>
              </a:rPr>
              <a:t>The first triple corresponds to the weighting strategy used for the documents and the second triple to the weighing strategy used for the query, for example, ntc-ntc, lnc-ltc, etc.</a:t>
            </a:r>
            <a:endParaRPr sz="1600">
              <a:solidFill>
                <a:srgbClr val="EDEDED"/>
              </a:solidFill>
              <a:latin typeface="Times New Roman"/>
              <a:ea typeface="Times New Roman"/>
              <a:cs typeface="Times New Roman"/>
              <a:sym typeface="Times New Roman"/>
            </a:endParaRPr>
          </a:p>
          <a:p>
            <a:pPr marL="0" lvl="0" indent="0" algn="l" rtl="0">
              <a:spcBef>
                <a:spcPts val="1000"/>
              </a:spcBef>
              <a:spcAft>
                <a:spcPts val="0"/>
              </a:spcAft>
              <a:buNone/>
            </a:pPr>
            <a:endParaRPr sz="12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7"/>
          <p:cNvSpPr txBox="1">
            <a:spLocks noGrp="1"/>
          </p:cNvSpPr>
          <p:nvPr>
            <p:ph type="title"/>
          </p:nvPr>
        </p:nvSpPr>
        <p:spPr>
          <a:xfrm>
            <a:off x="471500" y="205375"/>
            <a:ext cx="8124300" cy="3792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Simple automatic method for indexing</a:t>
            </a:r>
            <a:endParaRPr/>
          </a:p>
        </p:txBody>
      </p:sp>
      <p:sp>
        <p:nvSpPr>
          <p:cNvPr id="446" name="Google Shape;446;p37"/>
          <p:cNvSpPr txBox="1">
            <a:spLocks noGrp="1"/>
          </p:cNvSpPr>
          <p:nvPr>
            <p:ph type="body" idx="1"/>
          </p:nvPr>
        </p:nvSpPr>
        <p:spPr>
          <a:xfrm>
            <a:off x="298100" y="639052"/>
            <a:ext cx="8471100" cy="42759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1647"/>
              <a:buNone/>
            </a:pPr>
            <a:r>
              <a:rPr lang="en" sz="1600">
                <a:latin typeface="Times New Roman"/>
                <a:ea typeface="Times New Roman"/>
                <a:cs typeface="Times New Roman"/>
                <a:sym typeface="Times New Roman"/>
              </a:rPr>
              <a:t>A simple auto method for obtaining indexed representation of the document is as follows - </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SzPts val="1647"/>
              <a:buNone/>
            </a:pPr>
            <a:r>
              <a:rPr lang="en" sz="1600" b="1">
                <a:solidFill>
                  <a:srgbClr val="FFFF00"/>
                </a:solidFill>
                <a:latin typeface="Times New Roman"/>
                <a:ea typeface="Times New Roman"/>
                <a:cs typeface="Times New Roman"/>
                <a:sym typeface="Times New Roman"/>
              </a:rPr>
              <a:t>Step 1: Tokenization: </a:t>
            </a:r>
            <a:endParaRPr sz="1600">
              <a:solidFill>
                <a:srgbClr val="FFFF00"/>
              </a:solidFill>
              <a:latin typeface="Times New Roman"/>
              <a:ea typeface="Times New Roman"/>
              <a:cs typeface="Times New Roman"/>
              <a:sym typeface="Times New Roman"/>
            </a:endParaRPr>
          </a:p>
          <a:p>
            <a:pPr marL="0" lvl="0" indent="0" algn="l" rtl="0">
              <a:lnSpc>
                <a:spcPct val="100000"/>
              </a:lnSpc>
              <a:spcBef>
                <a:spcPts val="1000"/>
              </a:spcBef>
              <a:spcAft>
                <a:spcPts val="0"/>
              </a:spcAft>
              <a:buClr>
                <a:srgbClr val="EDEDED"/>
              </a:buClr>
              <a:buSzPts val="2100"/>
              <a:buNone/>
            </a:pPr>
            <a:r>
              <a:rPr lang="en" sz="1600">
                <a:latin typeface="Times New Roman"/>
                <a:ea typeface="Times New Roman"/>
                <a:cs typeface="Times New Roman"/>
                <a:sym typeface="Times New Roman"/>
              </a:rPr>
              <a:t>This extracts individual term from the document, converts all the letters to lower case, and removes punctuation marks.  The output of the first stage is a representation of the document as a stream of terms.</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SzPts val="1647"/>
              <a:buNone/>
            </a:pPr>
            <a:r>
              <a:rPr lang="en" sz="1600" b="1">
                <a:solidFill>
                  <a:srgbClr val="FFFF00"/>
                </a:solidFill>
                <a:latin typeface="Times New Roman"/>
                <a:ea typeface="Times New Roman"/>
                <a:cs typeface="Times New Roman"/>
                <a:sym typeface="Times New Roman"/>
              </a:rPr>
              <a:t>Step 2: Stop word elimination:</a:t>
            </a:r>
            <a:r>
              <a:rPr lang="en" sz="1600" b="1">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Clr>
                <a:srgbClr val="EDEDED"/>
              </a:buClr>
              <a:buSzPts val="2100"/>
              <a:buNone/>
            </a:pPr>
            <a:r>
              <a:rPr lang="en" sz="1600">
                <a:latin typeface="Times New Roman"/>
                <a:ea typeface="Times New Roman"/>
                <a:cs typeface="Times New Roman"/>
                <a:sym typeface="Times New Roman"/>
              </a:rPr>
              <a:t>This removes the words that appear more frequently in the document.</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SzPts val="1647"/>
              <a:buNone/>
            </a:pPr>
            <a:r>
              <a:rPr lang="en" sz="1600" b="1">
                <a:solidFill>
                  <a:srgbClr val="FFFF00"/>
                </a:solidFill>
                <a:latin typeface="Times New Roman"/>
                <a:ea typeface="Times New Roman"/>
                <a:cs typeface="Times New Roman"/>
                <a:sym typeface="Times New Roman"/>
              </a:rPr>
              <a:t>Step 3: Stemming:</a:t>
            </a:r>
            <a:r>
              <a:rPr lang="en" sz="1600" b="1">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Clr>
                <a:srgbClr val="EDEDED"/>
              </a:buClr>
              <a:buSzPts val="2100"/>
              <a:buNone/>
            </a:pPr>
            <a:r>
              <a:rPr lang="en" sz="1600">
                <a:latin typeface="Times New Roman"/>
                <a:ea typeface="Times New Roman"/>
                <a:cs typeface="Times New Roman"/>
                <a:sym typeface="Times New Roman"/>
              </a:rPr>
              <a:t>This reduces the remaining terms to their linguistic root, to obtain the index terms.</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SzPts val="1647"/>
              <a:buNone/>
            </a:pPr>
            <a:r>
              <a:rPr lang="en" sz="1600" b="1">
                <a:solidFill>
                  <a:srgbClr val="FFFF00"/>
                </a:solidFill>
                <a:latin typeface="Times New Roman"/>
                <a:ea typeface="Times New Roman"/>
                <a:cs typeface="Times New Roman"/>
                <a:sym typeface="Times New Roman"/>
              </a:rPr>
              <a:t>Step 4: Term weighting: </a:t>
            </a:r>
            <a:endParaRPr sz="1600">
              <a:solidFill>
                <a:srgbClr val="FFFF00"/>
              </a:solidFill>
              <a:latin typeface="Times New Roman"/>
              <a:ea typeface="Times New Roman"/>
              <a:cs typeface="Times New Roman"/>
              <a:sym typeface="Times New Roman"/>
            </a:endParaRPr>
          </a:p>
          <a:p>
            <a:pPr marL="0" lvl="0" indent="0" algn="l" rtl="0">
              <a:lnSpc>
                <a:spcPct val="100000"/>
              </a:lnSpc>
              <a:spcBef>
                <a:spcPts val="1000"/>
              </a:spcBef>
              <a:spcAft>
                <a:spcPts val="1000"/>
              </a:spcAft>
              <a:buClr>
                <a:srgbClr val="EDEDED"/>
              </a:buClr>
              <a:buSzPts val="2100"/>
              <a:buNone/>
            </a:pPr>
            <a:r>
              <a:rPr lang="en" sz="1600">
                <a:latin typeface="Times New Roman"/>
                <a:ea typeface="Times New Roman"/>
                <a:cs typeface="Times New Roman"/>
                <a:sym typeface="Times New Roman"/>
              </a:rPr>
              <a:t>This assigns weight to terms according to their importance in the document, in the collection or some combination of both.</a:t>
            </a:r>
            <a:endParaRPr sz="16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8"/>
          <p:cNvSpPr txBox="1">
            <a:spLocks noGrp="1"/>
          </p:cNvSpPr>
          <p:nvPr>
            <p:ph type="title"/>
          </p:nvPr>
        </p:nvSpPr>
        <p:spPr>
          <a:xfrm>
            <a:off x="628650" y="273846"/>
            <a:ext cx="7886700" cy="427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Simple automatic method for indexing</a:t>
            </a:r>
            <a:endParaRPr/>
          </a:p>
        </p:txBody>
      </p:sp>
      <p:sp>
        <p:nvSpPr>
          <p:cNvPr id="452" name="Google Shape;452;p38"/>
          <p:cNvSpPr txBox="1">
            <a:spLocks noGrp="1"/>
          </p:cNvSpPr>
          <p:nvPr>
            <p:ph type="body" idx="1"/>
          </p:nvPr>
        </p:nvSpPr>
        <p:spPr>
          <a:xfrm>
            <a:off x="662425" y="794900"/>
            <a:ext cx="7853100" cy="38376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a:t>Table shows the document vectors obtained after the application of above steps on sample documents shown in fig. Below.</a:t>
            </a:r>
            <a:endParaRPr/>
          </a:p>
          <a:p>
            <a:pPr marL="0" lvl="0" indent="0" algn="l" rtl="0">
              <a:lnSpc>
                <a:spcPct val="90000"/>
              </a:lnSpc>
              <a:spcBef>
                <a:spcPts val="800"/>
              </a:spcBef>
              <a:spcAft>
                <a:spcPts val="0"/>
              </a:spcAft>
              <a:buSzPts val="1400"/>
              <a:buNone/>
            </a:pPr>
            <a:endParaRPr/>
          </a:p>
        </p:txBody>
      </p:sp>
      <p:pic>
        <p:nvPicPr>
          <p:cNvPr id="453" name="Google Shape;453;p38"/>
          <p:cNvPicPr preferRelativeResize="0"/>
          <p:nvPr/>
        </p:nvPicPr>
        <p:blipFill rotWithShape="1">
          <a:blip r:embed="rId3">
            <a:alphaModFix/>
          </a:blip>
          <a:srcRect/>
          <a:stretch/>
        </p:blipFill>
        <p:spPr>
          <a:xfrm>
            <a:off x="927400" y="1470525"/>
            <a:ext cx="7387923" cy="31619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9"/>
          <p:cNvSpPr txBox="1">
            <a:spLocks noGrp="1"/>
          </p:cNvSpPr>
          <p:nvPr>
            <p:ph type="title"/>
          </p:nvPr>
        </p:nvSpPr>
        <p:spPr>
          <a:xfrm>
            <a:off x="471600" y="182000"/>
            <a:ext cx="7804800" cy="620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Non-classical models of IR</a:t>
            </a:r>
            <a:endParaRPr/>
          </a:p>
        </p:txBody>
      </p:sp>
      <p:sp>
        <p:nvSpPr>
          <p:cNvPr id="459" name="Google Shape;459;p39"/>
          <p:cNvSpPr txBox="1">
            <a:spLocks noGrp="1"/>
          </p:cNvSpPr>
          <p:nvPr>
            <p:ph type="body" idx="1"/>
          </p:nvPr>
        </p:nvSpPr>
        <p:spPr>
          <a:xfrm>
            <a:off x="630000" y="802700"/>
            <a:ext cx="7804800" cy="3779700"/>
          </a:xfrm>
          <a:prstGeom prst="rect">
            <a:avLst/>
          </a:prstGeom>
          <a:noFill/>
          <a:ln>
            <a:noFill/>
          </a:ln>
        </p:spPr>
        <p:txBody>
          <a:bodyPr spcFirstLastPara="1" wrap="square" lIns="68575" tIns="34275" rIns="68575" bIns="34275" anchor="ctr" anchorCtr="0">
            <a:noAutofit/>
          </a:bodyPr>
          <a:lstStyle/>
          <a:p>
            <a:pPr marL="177800" lvl="0" indent="-107950" algn="just" rtl="0">
              <a:lnSpc>
                <a:spcPct val="100000"/>
              </a:lnSpc>
              <a:spcBef>
                <a:spcPts val="0"/>
              </a:spcBef>
              <a:spcAft>
                <a:spcPts val="0"/>
              </a:spcAft>
              <a:buClr>
                <a:srgbClr val="EDEDED"/>
              </a:buClr>
              <a:buSzPts val="1100"/>
              <a:buFont typeface="Times New Roman"/>
              <a:buChar char="•"/>
            </a:pPr>
            <a:r>
              <a:rPr lang="en" sz="1100" dirty="0">
                <a:latin typeface="Times New Roman"/>
                <a:ea typeface="Times New Roman"/>
                <a:cs typeface="Times New Roman"/>
                <a:sym typeface="Times New Roman"/>
              </a:rPr>
              <a:t>Non-classical IR models are based on principles other than similarity, probability, Boolean operations, etc., on which classical IR models are based.</a:t>
            </a:r>
            <a:endParaRPr sz="1100" dirty="0">
              <a:latin typeface="Times New Roman"/>
              <a:ea typeface="Times New Roman"/>
              <a:cs typeface="Times New Roman"/>
              <a:sym typeface="Times New Roman"/>
            </a:endParaRPr>
          </a:p>
          <a:p>
            <a:pPr marL="177800" lvl="0" indent="-107950" algn="just" rtl="0">
              <a:lnSpc>
                <a:spcPct val="100000"/>
              </a:lnSpc>
              <a:spcBef>
                <a:spcPts val="1000"/>
              </a:spcBef>
              <a:spcAft>
                <a:spcPts val="0"/>
              </a:spcAft>
              <a:buClr>
                <a:srgbClr val="EDEDED"/>
              </a:buClr>
              <a:buSzPts val="1100"/>
              <a:buFont typeface="Times New Roman"/>
              <a:buChar char="•"/>
            </a:pPr>
            <a:r>
              <a:rPr lang="en" sz="1100" dirty="0">
                <a:latin typeface="Times New Roman"/>
                <a:ea typeface="Times New Roman"/>
                <a:cs typeface="Times New Roman"/>
                <a:sym typeface="Times New Roman"/>
              </a:rPr>
              <a:t>Non-classical IR models are</a:t>
            </a:r>
            <a:endParaRPr sz="1100" dirty="0">
              <a:latin typeface="Times New Roman"/>
              <a:ea typeface="Times New Roman"/>
              <a:cs typeface="Times New Roman"/>
              <a:sym typeface="Times New Roman"/>
            </a:endParaRPr>
          </a:p>
          <a:p>
            <a:pPr marL="1549400" lvl="0" indent="-158750" algn="just" rtl="0">
              <a:lnSpc>
                <a:spcPct val="100000"/>
              </a:lnSpc>
              <a:spcBef>
                <a:spcPts val="0"/>
              </a:spcBef>
              <a:spcAft>
                <a:spcPts val="0"/>
              </a:spcAft>
              <a:buClr>
                <a:srgbClr val="FFFF00"/>
              </a:buClr>
              <a:buSzPts val="1100"/>
              <a:buFont typeface="Times New Roman"/>
              <a:buAutoNum type="arabicPeriod"/>
            </a:pPr>
            <a:r>
              <a:rPr lang="en" sz="1100" b="1" dirty="0">
                <a:solidFill>
                  <a:srgbClr val="FFFF00"/>
                </a:solidFill>
                <a:latin typeface="Times New Roman"/>
                <a:ea typeface="Times New Roman"/>
                <a:cs typeface="Times New Roman"/>
                <a:sym typeface="Times New Roman"/>
              </a:rPr>
              <a:t>Information logic model</a:t>
            </a:r>
            <a:endParaRPr sz="1100" b="1" dirty="0">
              <a:solidFill>
                <a:srgbClr val="FFFF00"/>
              </a:solidFill>
              <a:latin typeface="Times New Roman"/>
              <a:ea typeface="Times New Roman"/>
              <a:cs typeface="Times New Roman"/>
              <a:sym typeface="Times New Roman"/>
            </a:endParaRPr>
          </a:p>
          <a:p>
            <a:pPr marL="1549400" lvl="0" indent="-158750" algn="just" rtl="0">
              <a:lnSpc>
                <a:spcPct val="100000"/>
              </a:lnSpc>
              <a:spcBef>
                <a:spcPts val="0"/>
              </a:spcBef>
              <a:spcAft>
                <a:spcPts val="0"/>
              </a:spcAft>
              <a:buClr>
                <a:srgbClr val="FFFF00"/>
              </a:buClr>
              <a:buSzPts val="1100"/>
              <a:buFont typeface="Times New Roman"/>
              <a:buAutoNum type="arabicPeriod"/>
            </a:pPr>
            <a:r>
              <a:rPr lang="en" sz="1100" b="1" dirty="0">
                <a:solidFill>
                  <a:srgbClr val="FFFF00"/>
                </a:solidFill>
                <a:latin typeface="Times New Roman"/>
                <a:ea typeface="Times New Roman"/>
                <a:cs typeface="Times New Roman"/>
                <a:sym typeface="Times New Roman"/>
              </a:rPr>
              <a:t>situation theory model</a:t>
            </a:r>
            <a:endParaRPr sz="1100" b="1" dirty="0">
              <a:solidFill>
                <a:srgbClr val="FFFF00"/>
              </a:solidFill>
              <a:latin typeface="Times New Roman"/>
              <a:ea typeface="Times New Roman"/>
              <a:cs typeface="Times New Roman"/>
              <a:sym typeface="Times New Roman"/>
            </a:endParaRPr>
          </a:p>
          <a:p>
            <a:pPr marL="1549400" lvl="0" indent="-158750" algn="just" rtl="0">
              <a:lnSpc>
                <a:spcPct val="100000"/>
              </a:lnSpc>
              <a:spcBef>
                <a:spcPts val="0"/>
              </a:spcBef>
              <a:spcAft>
                <a:spcPts val="0"/>
              </a:spcAft>
              <a:buClr>
                <a:srgbClr val="FFFF00"/>
              </a:buClr>
              <a:buSzPts val="1100"/>
              <a:buFont typeface="Times New Roman"/>
              <a:buAutoNum type="arabicPeriod"/>
            </a:pPr>
            <a:r>
              <a:rPr lang="en" sz="1100" b="1" dirty="0">
                <a:solidFill>
                  <a:srgbClr val="FFFF00"/>
                </a:solidFill>
                <a:latin typeface="Times New Roman"/>
                <a:ea typeface="Times New Roman"/>
                <a:cs typeface="Times New Roman"/>
                <a:sym typeface="Times New Roman"/>
              </a:rPr>
              <a:t>interaction model.</a:t>
            </a:r>
            <a:endParaRPr sz="1100" b="1" dirty="0">
              <a:solidFill>
                <a:srgbClr val="FFFF00"/>
              </a:solidFill>
              <a:latin typeface="Times New Roman"/>
              <a:ea typeface="Times New Roman"/>
              <a:cs typeface="Times New Roman"/>
              <a:sym typeface="Times New Roman"/>
            </a:endParaRPr>
          </a:p>
          <a:p>
            <a:pPr marL="457200" lvl="0" indent="-298450" algn="just" rtl="0">
              <a:lnSpc>
                <a:spcPct val="100000"/>
              </a:lnSpc>
              <a:spcBef>
                <a:spcPts val="0"/>
              </a:spcBef>
              <a:spcAft>
                <a:spcPts val="0"/>
              </a:spcAft>
              <a:buClr>
                <a:srgbClr val="00FFFF"/>
              </a:buClr>
              <a:buSzPts val="1100"/>
              <a:buFont typeface="Times New Roman"/>
              <a:buAutoNum type="arabicPeriod"/>
            </a:pPr>
            <a:r>
              <a:rPr lang="en" sz="1100" b="1" dirty="0">
                <a:solidFill>
                  <a:srgbClr val="00FFFF"/>
                </a:solidFill>
                <a:latin typeface="Times New Roman"/>
                <a:ea typeface="Times New Roman"/>
                <a:cs typeface="Times New Roman"/>
                <a:sym typeface="Times New Roman"/>
              </a:rPr>
              <a:t>Information Logic Model: </a:t>
            </a:r>
            <a:endParaRPr sz="1100" b="1" dirty="0">
              <a:solidFill>
                <a:srgbClr val="00FFFF"/>
              </a:solidFill>
              <a:latin typeface="Times New Roman"/>
              <a:ea typeface="Times New Roman"/>
              <a:cs typeface="Times New Roman"/>
              <a:sym typeface="Times New Roman"/>
            </a:endParaRPr>
          </a:p>
          <a:p>
            <a:pPr marL="914400" lvl="0" indent="-298450" algn="just" rtl="0">
              <a:lnSpc>
                <a:spcPct val="100000"/>
              </a:lnSpc>
              <a:spcBef>
                <a:spcPts val="1000"/>
              </a:spcBef>
              <a:spcAft>
                <a:spcPts val="0"/>
              </a:spcAft>
              <a:buSzPts val="1100"/>
              <a:buFont typeface="Times New Roman"/>
              <a:buChar char="•"/>
            </a:pPr>
            <a:r>
              <a:rPr lang="en" sz="1100" dirty="0">
                <a:latin typeface="Times New Roman"/>
                <a:ea typeface="Times New Roman"/>
                <a:cs typeface="Times New Roman"/>
                <a:sym typeface="Times New Roman"/>
              </a:rPr>
              <a:t>Information logic model is based on the special logic technique called logical imaging.</a:t>
            </a:r>
            <a:endParaRPr sz="1100" dirty="0">
              <a:latin typeface="Times New Roman"/>
              <a:ea typeface="Times New Roman"/>
              <a:cs typeface="Times New Roman"/>
              <a:sym typeface="Times New Roman"/>
            </a:endParaRPr>
          </a:p>
          <a:p>
            <a:pPr marL="914400" lvl="0" indent="-298450" algn="just" rtl="0">
              <a:lnSpc>
                <a:spcPct val="100000"/>
              </a:lnSpc>
              <a:spcBef>
                <a:spcPts val="1000"/>
              </a:spcBef>
              <a:spcAft>
                <a:spcPts val="0"/>
              </a:spcAft>
              <a:buSzPts val="1100"/>
              <a:buFont typeface="Times New Roman"/>
              <a:buChar char="•"/>
            </a:pPr>
            <a:r>
              <a:rPr lang="en" sz="1100" dirty="0">
                <a:latin typeface="Times New Roman"/>
                <a:ea typeface="Times New Roman"/>
                <a:cs typeface="Times New Roman"/>
                <a:sym typeface="Times New Roman"/>
              </a:rPr>
              <a:t>Retrieval is performed by making inferences from document to query. </a:t>
            </a:r>
            <a:endParaRPr sz="1100" dirty="0">
              <a:latin typeface="Times New Roman"/>
              <a:ea typeface="Times New Roman"/>
              <a:cs typeface="Times New Roman"/>
              <a:sym typeface="Times New Roman"/>
            </a:endParaRPr>
          </a:p>
          <a:p>
            <a:pPr marL="914400" lvl="0" indent="-298450" algn="just" rtl="0">
              <a:lnSpc>
                <a:spcPct val="100000"/>
              </a:lnSpc>
              <a:spcBef>
                <a:spcPts val="1000"/>
              </a:spcBef>
              <a:spcAft>
                <a:spcPts val="0"/>
              </a:spcAft>
              <a:buSzPts val="1100"/>
              <a:buFont typeface="Times New Roman"/>
              <a:buChar char="•"/>
            </a:pPr>
            <a:r>
              <a:rPr lang="en" sz="1100" dirty="0">
                <a:latin typeface="Times New Roman"/>
                <a:ea typeface="Times New Roman"/>
                <a:cs typeface="Times New Roman"/>
                <a:sym typeface="Times New Roman"/>
              </a:rPr>
              <a:t>Does not make use of any search process.</a:t>
            </a:r>
            <a:endParaRPr sz="1100" dirty="0">
              <a:latin typeface="Times New Roman"/>
              <a:ea typeface="Times New Roman"/>
              <a:cs typeface="Times New Roman"/>
              <a:sym typeface="Times New Roman"/>
            </a:endParaRPr>
          </a:p>
          <a:p>
            <a:pPr marL="914400" lvl="0" indent="-298450" algn="just" rtl="0">
              <a:lnSpc>
                <a:spcPct val="100000"/>
              </a:lnSpc>
              <a:spcBef>
                <a:spcPts val="1000"/>
              </a:spcBef>
              <a:spcAft>
                <a:spcPts val="0"/>
              </a:spcAft>
              <a:buSzPts val="1100"/>
              <a:buFont typeface="Times New Roman"/>
              <a:buChar char="•"/>
            </a:pPr>
            <a:r>
              <a:rPr lang="en" sz="1100" dirty="0">
                <a:latin typeface="Times New Roman"/>
                <a:ea typeface="Times New Roman"/>
                <a:cs typeface="Times New Roman"/>
                <a:sym typeface="Times New Roman"/>
              </a:rPr>
              <a:t>A measure of uncertainty is associated with this inferences.</a:t>
            </a:r>
            <a:endParaRPr sz="1100" dirty="0">
              <a:latin typeface="Times New Roman"/>
              <a:ea typeface="Times New Roman"/>
              <a:cs typeface="Times New Roman"/>
              <a:sym typeface="Times New Roman"/>
            </a:endParaRPr>
          </a:p>
          <a:p>
            <a:pPr marL="914400" lvl="0" indent="-298450" algn="just" rtl="0">
              <a:lnSpc>
                <a:spcPct val="100000"/>
              </a:lnSpc>
              <a:spcBef>
                <a:spcPts val="1000"/>
              </a:spcBef>
              <a:spcAft>
                <a:spcPts val="0"/>
              </a:spcAft>
              <a:buSzPts val="1100"/>
              <a:buFont typeface="Times New Roman"/>
              <a:buChar char="•"/>
            </a:pPr>
            <a:r>
              <a:rPr lang="en" sz="1100" dirty="0">
                <a:latin typeface="Times New Roman"/>
                <a:ea typeface="Times New Roman"/>
                <a:cs typeface="Times New Roman"/>
                <a:sym typeface="Times New Roman"/>
              </a:rPr>
              <a:t>The principle put forward by Van Rijsbergen is used to measure this uncertainty, which says that -</a:t>
            </a:r>
            <a:endParaRPr sz="1100" dirty="0">
              <a:latin typeface="Times New Roman"/>
              <a:ea typeface="Times New Roman"/>
              <a:cs typeface="Times New Roman"/>
              <a:sym typeface="Times New Roman"/>
            </a:endParaRPr>
          </a:p>
          <a:p>
            <a:pPr marL="914400" lvl="0" indent="0" algn="just" rtl="0">
              <a:lnSpc>
                <a:spcPct val="100000"/>
              </a:lnSpc>
              <a:spcBef>
                <a:spcPts val="1000"/>
              </a:spcBef>
              <a:spcAft>
                <a:spcPts val="0"/>
              </a:spcAft>
              <a:buNone/>
            </a:pPr>
            <a:r>
              <a:rPr lang="en" sz="1100" b="1" i="1" dirty="0">
                <a:solidFill>
                  <a:srgbClr val="FFFF00"/>
                </a:solidFill>
                <a:latin typeface="Times New Roman"/>
                <a:ea typeface="Times New Roman"/>
                <a:cs typeface="Times New Roman"/>
                <a:sym typeface="Times New Roman"/>
              </a:rPr>
              <a:t>“Given any two sentences x and y , a measure of uncertainty of y-&gt;x relating to a given data set is determined by the minimal extent to which one has to add information to the data set in order to establish truth of  y-&gt;x”</a:t>
            </a:r>
            <a:endParaRPr sz="1100" b="1" i="1" dirty="0">
              <a:solidFill>
                <a:srgbClr val="FFFF00"/>
              </a:solidFill>
              <a:latin typeface="Times New Roman"/>
              <a:ea typeface="Times New Roman"/>
              <a:cs typeface="Times New Roman"/>
              <a:sym typeface="Times New Roman"/>
            </a:endParaRPr>
          </a:p>
          <a:p>
            <a:pPr marL="914400" lvl="0" indent="-285115" algn="just" rtl="0">
              <a:lnSpc>
                <a:spcPct val="100000"/>
              </a:lnSpc>
              <a:spcBef>
                <a:spcPts val="1000"/>
              </a:spcBef>
              <a:spcAft>
                <a:spcPts val="1000"/>
              </a:spcAft>
              <a:buClr>
                <a:schemeClr val="lt1"/>
              </a:buClr>
              <a:buSzPts val="1100"/>
              <a:buFont typeface="Times New Roman"/>
              <a:buChar char="•"/>
            </a:pPr>
            <a:r>
              <a:rPr lang="en" sz="1100" dirty="0">
                <a:solidFill>
                  <a:schemeClr val="lt1"/>
                </a:solidFill>
                <a:latin typeface="Times New Roman"/>
                <a:ea typeface="Times New Roman"/>
                <a:cs typeface="Times New Roman"/>
                <a:sym typeface="Times New Roman"/>
              </a:rPr>
              <a:t>This model was developed in response to  van Rijsbergen’s realization that classical models were unable to enhance effectiveness and that new meaning-based models were required.</a:t>
            </a:r>
            <a:endParaRPr sz="1100" dirty="0">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0"/>
          <p:cNvSpPr txBox="1">
            <a:spLocks noGrp="1"/>
          </p:cNvSpPr>
          <p:nvPr>
            <p:ph type="title"/>
          </p:nvPr>
        </p:nvSpPr>
        <p:spPr>
          <a:xfrm>
            <a:off x="471600" y="182000"/>
            <a:ext cx="7804800" cy="620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Non-classical models of IR</a:t>
            </a:r>
            <a:endParaRPr/>
          </a:p>
        </p:txBody>
      </p:sp>
      <p:sp>
        <p:nvSpPr>
          <p:cNvPr id="465" name="Google Shape;465;p40"/>
          <p:cNvSpPr txBox="1">
            <a:spLocks noGrp="1"/>
          </p:cNvSpPr>
          <p:nvPr>
            <p:ph type="body" idx="1"/>
          </p:nvPr>
        </p:nvSpPr>
        <p:spPr>
          <a:xfrm>
            <a:off x="630000" y="662424"/>
            <a:ext cx="7804800" cy="3920100"/>
          </a:xfrm>
          <a:prstGeom prst="rect">
            <a:avLst/>
          </a:prstGeom>
          <a:noFill/>
          <a:ln>
            <a:noFill/>
          </a:ln>
        </p:spPr>
        <p:txBody>
          <a:bodyPr spcFirstLastPara="1" wrap="square" lIns="68575" tIns="34275" rIns="68575" bIns="34275" anchor="ctr" anchorCtr="0">
            <a:normAutofit/>
          </a:bodyPr>
          <a:lstStyle/>
          <a:p>
            <a:pPr marL="0" lvl="0" indent="0" algn="just" rtl="0">
              <a:lnSpc>
                <a:spcPct val="100000"/>
              </a:lnSpc>
              <a:spcBef>
                <a:spcPts val="0"/>
              </a:spcBef>
              <a:spcAft>
                <a:spcPts val="0"/>
              </a:spcAft>
              <a:buSzPts val="1400"/>
              <a:buNone/>
            </a:pPr>
            <a:r>
              <a:rPr lang="en" sz="1600" b="1">
                <a:solidFill>
                  <a:srgbClr val="00FFFF"/>
                </a:solidFill>
                <a:latin typeface="Times New Roman"/>
                <a:ea typeface="Times New Roman"/>
                <a:cs typeface="Times New Roman"/>
                <a:sym typeface="Times New Roman"/>
              </a:rPr>
              <a:t>2. Situation Theory Model</a:t>
            </a:r>
            <a:endParaRPr sz="1600" b="1">
              <a:solidFill>
                <a:srgbClr val="00FFFF"/>
              </a:solidFill>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The Situation theory model is also based on Van Rijsbergen’s principle.</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Retrieval is considered as a flow of information from document to query.</a:t>
            </a:r>
            <a:endParaRPr sz="1600">
              <a:latin typeface="Times New Roman"/>
              <a:ea typeface="Times New Roman"/>
              <a:cs typeface="Times New Roman"/>
              <a:sym typeface="Times New Roman"/>
            </a:endParaRPr>
          </a:p>
          <a:p>
            <a:pPr marL="457200" lvl="0" indent="-330200" algn="just"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A structure called infon, denoted by </a:t>
            </a:r>
            <a:r>
              <a:rPr lang="en" sz="1600" b="1">
                <a:solidFill>
                  <a:srgbClr val="FFFF00"/>
                </a:solidFill>
                <a:latin typeface="Times New Roman"/>
                <a:ea typeface="Times New Roman"/>
                <a:cs typeface="Times New Roman"/>
                <a:sym typeface="Times New Roman"/>
              </a:rPr>
              <a:t>τ</a:t>
            </a:r>
            <a:r>
              <a:rPr lang="en" sz="1600">
                <a:latin typeface="Times New Roman"/>
                <a:ea typeface="Times New Roman"/>
                <a:cs typeface="Times New Roman"/>
                <a:sym typeface="Times New Roman"/>
              </a:rPr>
              <a:t> (tau) is used to describe the situation and to model information flow.</a:t>
            </a:r>
            <a:endParaRPr sz="1600">
              <a:latin typeface="Times New Roman"/>
              <a:ea typeface="Times New Roman"/>
              <a:cs typeface="Times New Roman"/>
              <a:sym typeface="Times New Roman"/>
            </a:endParaRPr>
          </a:p>
          <a:p>
            <a:pPr marL="457200" lvl="0" indent="-330200" algn="just" rtl="0">
              <a:lnSpc>
                <a:spcPct val="10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An infon represents a </a:t>
            </a:r>
            <a:r>
              <a:rPr lang="en" sz="1600" b="1" i="1">
                <a:solidFill>
                  <a:srgbClr val="FFFF00"/>
                </a:solidFill>
                <a:latin typeface="Times New Roman"/>
                <a:ea typeface="Times New Roman"/>
                <a:cs typeface="Times New Roman"/>
                <a:sym typeface="Times New Roman"/>
              </a:rPr>
              <a:t>n-ary</a:t>
            </a:r>
            <a:r>
              <a:rPr lang="en" sz="1600">
                <a:latin typeface="Times New Roman"/>
                <a:ea typeface="Times New Roman"/>
                <a:cs typeface="Times New Roman"/>
                <a:sym typeface="Times New Roman"/>
              </a:rPr>
              <a:t> relation and its polarity.</a:t>
            </a:r>
            <a:endParaRPr sz="1600">
              <a:latin typeface="Times New Roman"/>
              <a:ea typeface="Times New Roman"/>
              <a:cs typeface="Times New Roman"/>
              <a:sym typeface="Times New Roman"/>
            </a:endParaRPr>
          </a:p>
          <a:p>
            <a:pPr marL="457200" lvl="0" indent="-330200" algn="just" rtl="0">
              <a:lnSpc>
                <a:spcPct val="10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The polarity of an infon is either 0 or 1, indicating infon carries either positive or negative information.</a:t>
            </a:r>
            <a:endParaRPr sz="1600">
              <a:latin typeface="Times New Roman"/>
              <a:ea typeface="Times New Roman"/>
              <a:cs typeface="Times New Roman"/>
              <a:sym typeface="Times New Roman"/>
            </a:endParaRPr>
          </a:p>
          <a:p>
            <a:pPr marL="457200" lvl="0" indent="-330200" algn="just" rtl="0">
              <a:lnSpc>
                <a:spcPct val="10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For example, the Information in the sentence - ‘</a:t>
            </a:r>
            <a:r>
              <a:rPr lang="en" sz="1600" b="1" i="1">
                <a:solidFill>
                  <a:srgbClr val="FFFF00"/>
                </a:solidFill>
                <a:latin typeface="Times New Roman"/>
                <a:ea typeface="Times New Roman"/>
                <a:cs typeface="Times New Roman"/>
                <a:sym typeface="Times New Roman"/>
              </a:rPr>
              <a:t>Adil is serving a dish</a:t>
            </a:r>
            <a:r>
              <a:rPr lang="en" sz="1600">
                <a:latin typeface="Times New Roman"/>
                <a:ea typeface="Times New Roman"/>
                <a:cs typeface="Times New Roman"/>
                <a:sym typeface="Times New Roman"/>
              </a:rPr>
              <a:t>’, is conveyed by the infon</a:t>
            </a:r>
            <a:endParaRPr sz="1600">
              <a:latin typeface="Times New Roman"/>
              <a:ea typeface="Times New Roman"/>
              <a:cs typeface="Times New Roman"/>
              <a:sym typeface="Times New Roman"/>
            </a:endParaRPr>
          </a:p>
          <a:p>
            <a:pPr marL="0" lvl="0" indent="0" algn="just" rtl="0">
              <a:lnSpc>
                <a:spcPct val="90000"/>
              </a:lnSpc>
              <a:spcBef>
                <a:spcPts val="1000"/>
              </a:spcBef>
              <a:spcAft>
                <a:spcPts val="0"/>
              </a:spcAft>
              <a:buSzPts val="1400"/>
              <a:buNone/>
            </a:pPr>
            <a:r>
              <a:rPr lang="en" sz="1600">
                <a:latin typeface="Times New Roman"/>
                <a:ea typeface="Times New Roman"/>
                <a:cs typeface="Times New Roman"/>
                <a:sym typeface="Times New Roman"/>
              </a:rPr>
              <a:t>			</a:t>
            </a:r>
            <a:r>
              <a:rPr lang="en" sz="1600" b="1">
                <a:solidFill>
                  <a:srgbClr val="FFFF00"/>
                </a:solidFill>
                <a:latin typeface="Times New Roman"/>
                <a:ea typeface="Times New Roman"/>
                <a:cs typeface="Times New Roman"/>
                <a:sym typeface="Times New Roman"/>
              </a:rPr>
              <a:t> τ  =  &lt;&lt;  Serving Adil, dish; 1 &gt;&gt;  </a:t>
            </a:r>
            <a:endParaRPr sz="16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g19bd9a50099_0_2"/>
          <p:cNvSpPr txBox="1">
            <a:spLocks noGrp="1"/>
          </p:cNvSpPr>
          <p:nvPr>
            <p:ph type="title"/>
          </p:nvPr>
        </p:nvSpPr>
        <p:spPr>
          <a:xfrm>
            <a:off x="471600" y="182000"/>
            <a:ext cx="7804800" cy="620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Non-classical models of IR</a:t>
            </a:r>
            <a:endParaRPr/>
          </a:p>
        </p:txBody>
      </p:sp>
      <p:sp>
        <p:nvSpPr>
          <p:cNvPr id="471" name="Google Shape;471;g19bd9a50099_0_2"/>
          <p:cNvSpPr txBox="1">
            <a:spLocks noGrp="1"/>
          </p:cNvSpPr>
          <p:nvPr>
            <p:ph type="body" idx="1"/>
          </p:nvPr>
        </p:nvSpPr>
        <p:spPr>
          <a:xfrm>
            <a:off x="630000" y="662424"/>
            <a:ext cx="7804800" cy="3920100"/>
          </a:xfrm>
          <a:prstGeom prst="rect">
            <a:avLst/>
          </a:prstGeom>
          <a:noFill/>
          <a:ln>
            <a:noFill/>
          </a:ln>
        </p:spPr>
        <p:txBody>
          <a:bodyPr spcFirstLastPara="1" wrap="square" lIns="68575" tIns="34275" rIns="68575" bIns="34275" anchor="ctr" anchorCtr="0">
            <a:normAutofit lnSpcReduction="10000"/>
          </a:bodyPr>
          <a:lstStyle/>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Polarity of an infon depends on the support. The support of an infon is represented as s ⊨ τ, which means that the situation </a:t>
            </a:r>
            <a:r>
              <a:rPr lang="en" sz="1600" b="1">
                <a:solidFill>
                  <a:srgbClr val="FFFF00"/>
                </a:solidFill>
                <a:latin typeface="Times New Roman"/>
                <a:ea typeface="Times New Roman"/>
                <a:cs typeface="Times New Roman"/>
                <a:sym typeface="Times New Roman"/>
              </a:rPr>
              <a:t>s</a:t>
            </a:r>
            <a:r>
              <a:rPr lang="en" sz="1600">
                <a:latin typeface="Times New Roman"/>
                <a:ea typeface="Times New Roman"/>
                <a:cs typeface="Times New Roman"/>
                <a:sym typeface="Times New Roman"/>
              </a:rPr>
              <a:t> makes the infon </a:t>
            </a:r>
            <a:r>
              <a:rPr lang="en" sz="1600" b="1">
                <a:solidFill>
                  <a:srgbClr val="FFFF00"/>
                </a:solidFill>
                <a:latin typeface="Times New Roman"/>
                <a:ea typeface="Times New Roman"/>
                <a:cs typeface="Times New Roman"/>
                <a:sym typeface="Times New Roman"/>
              </a:rPr>
              <a:t>τ</a:t>
            </a:r>
            <a:r>
              <a:rPr lang="en" sz="1600">
                <a:latin typeface="Times New Roman"/>
                <a:ea typeface="Times New Roman"/>
                <a:cs typeface="Times New Roman"/>
                <a:sym typeface="Times New Roman"/>
              </a:rPr>
              <a:t> true. </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For example, the infon, </a:t>
            </a:r>
            <a:r>
              <a:rPr lang="en" sz="1600" b="1">
                <a:solidFill>
                  <a:srgbClr val="FFFF00"/>
                </a:solidFill>
                <a:latin typeface="Times New Roman"/>
                <a:ea typeface="Times New Roman"/>
                <a:cs typeface="Times New Roman"/>
                <a:sym typeface="Times New Roman"/>
              </a:rPr>
              <a:t>τ  =  &lt;&lt;  Serving Adil, dish; 1 &gt;&gt;  </a:t>
            </a:r>
            <a:r>
              <a:rPr lang="en" sz="1600">
                <a:solidFill>
                  <a:schemeClr val="lt1"/>
                </a:solidFill>
                <a:latin typeface="Times New Roman"/>
                <a:ea typeface="Times New Roman"/>
                <a:cs typeface="Times New Roman"/>
                <a:sym typeface="Times New Roman"/>
              </a:rPr>
              <a:t>is made true by a situation </a:t>
            </a:r>
            <a:endParaRPr sz="1600">
              <a:solidFill>
                <a:schemeClr val="lt1"/>
              </a:solidFill>
              <a:latin typeface="Times New Roman"/>
              <a:ea typeface="Times New Roman"/>
              <a:cs typeface="Times New Roman"/>
              <a:sym typeface="Times New Roman"/>
            </a:endParaRPr>
          </a:p>
          <a:p>
            <a:pPr marL="1371600" lvl="0" indent="0" algn="l" rtl="0">
              <a:lnSpc>
                <a:spcPct val="100000"/>
              </a:lnSpc>
              <a:spcBef>
                <a:spcPts val="1000"/>
              </a:spcBef>
              <a:spcAft>
                <a:spcPts val="0"/>
              </a:spcAft>
              <a:buNone/>
            </a:pPr>
            <a:r>
              <a:rPr lang="en" sz="1600">
                <a:solidFill>
                  <a:schemeClr val="lt1"/>
                </a:solidFill>
                <a:latin typeface="Times New Roman"/>
                <a:ea typeface="Times New Roman"/>
                <a:cs typeface="Times New Roman"/>
                <a:sym typeface="Times New Roman"/>
              </a:rPr>
              <a:t>s1 = </a:t>
            </a:r>
            <a:r>
              <a:rPr lang="en" sz="1600">
                <a:latin typeface="Times New Roman"/>
                <a:ea typeface="Times New Roman"/>
                <a:cs typeface="Times New Roman"/>
                <a:sym typeface="Times New Roman"/>
              </a:rPr>
              <a:t>“ I see Adil serving a dish”</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Clr>
                <a:srgbClr val="00FFFF"/>
              </a:buClr>
              <a:buSzPts val="1600"/>
              <a:buFont typeface="Times New Roman"/>
              <a:buChar char="•"/>
            </a:pPr>
            <a:r>
              <a:rPr lang="en" sz="1600" b="1">
                <a:solidFill>
                  <a:srgbClr val="00FFFF"/>
                </a:solidFill>
                <a:latin typeface="Times New Roman"/>
                <a:ea typeface="Times New Roman"/>
                <a:cs typeface="Times New Roman"/>
                <a:sym typeface="Times New Roman"/>
              </a:rPr>
              <a:t>A document d is relevant to a query q, if d </a:t>
            </a:r>
            <a:r>
              <a:rPr lang="en" sz="1600">
                <a:solidFill>
                  <a:srgbClr val="00FFFF"/>
                </a:solidFill>
                <a:latin typeface="Times New Roman"/>
                <a:ea typeface="Times New Roman"/>
                <a:cs typeface="Times New Roman"/>
                <a:sym typeface="Times New Roman"/>
              </a:rPr>
              <a:t>⊨</a:t>
            </a:r>
            <a:r>
              <a:rPr lang="en" sz="1600" b="1">
                <a:solidFill>
                  <a:srgbClr val="00FFFF"/>
                </a:solidFill>
                <a:latin typeface="Times New Roman"/>
                <a:ea typeface="Times New Roman"/>
                <a:cs typeface="Times New Roman"/>
                <a:sym typeface="Times New Roman"/>
              </a:rPr>
              <a:t> q  (document supports the query)</a:t>
            </a:r>
            <a:endParaRPr sz="1600">
              <a:solidFill>
                <a:srgbClr val="00FFFF"/>
              </a:solidFill>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If a document does not support the query, additional information such as synonyms, hypernyms / hyponyms, meronyms, etc., are used to transform the document d into d` such that d`</a:t>
            </a:r>
            <a:r>
              <a:rPr lang="en" sz="1600" b="1">
                <a:latin typeface="Times New Roman"/>
                <a:ea typeface="Times New Roman"/>
                <a:cs typeface="Times New Roman"/>
                <a:sym typeface="Times New Roman"/>
              </a:rPr>
              <a:t> </a:t>
            </a:r>
            <a:r>
              <a:rPr lang="en" sz="1600">
                <a:latin typeface="Times New Roman"/>
                <a:ea typeface="Times New Roman"/>
                <a:cs typeface="Times New Roman"/>
                <a:sym typeface="Times New Roman"/>
              </a:rPr>
              <a:t>⊨ q. </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Semantic relationships in the thesaurus, like WordNet, are useful sources for this information.</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100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The transformation from d to d` is regarded as flow of information between situations.</a:t>
            </a:r>
            <a:endParaRPr sz="1600" b="1">
              <a:solidFill>
                <a:srgbClr val="FFFF0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1"/>
          <p:cNvSpPr txBox="1">
            <a:spLocks noGrp="1"/>
          </p:cNvSpPr>
          <p:nvPr>
            <p:ph type="title"/>
          </p:nvPr>
        </p:nvSpPr>
        <p:spPr>
          <a:xfrm>
            <a:off x="471600" y="182000"/>
            <a:ext cx="7804800" cy="620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EDEDED"/>
              </a:buClr>
              <a:buSzPct val="100000"/>
              <a:buFont typeface="Corbel"/>
              <a:buNone/>
            </a:pPr>
            <a:r>
              <a:rPr lang="en"/>
              <a:t>Non-classical models of IR</a:t>
            </a:r>
            <a:endParaRPr/>
          </a:p>
        </p:txBody>
      </p:sp>
      <p:sp>
        <p:nvSpPr>
          <p:cNvPr id="477" name="Google Shape;477;p41"/>
          <p:cNvSpPr txBox="1">
            <a:spLocks noGrp="1"/>
          </p:cNvSpPr>
          <p:nvPr>
            <p:ph type="body" idx="1"/>
          </p:nvPr>
        </p:nvSpPr>
        <p:spPr>
          <a:xfrm>
            <a:off x="669600" y="1034730"/>
            <a:ext cx="7804800" cy="3555600"/>
          </a:xfrm>
          <a:prstGeom prst="rect">
            <a:avLst/>
          </a:prstGeom>
          <a:noFill/>
          <a:ln>
            <a:noFill/>
          </a:ln>
        </p:spPr>
        <p:txBody>
          <a:bodyPr spcFirstLastPara="1" wrap="square" lIns="68575" tIns="34275" rIns="68575" bIns="34275" anchor="ctr" anchorCtr="0">
            <a:normAutofit fontScale="70000" lnSpcReduction="20000"/>
          </a:bodyPr>
          <a:lstStyle/>
          <a:p>
            <a:pPr marL="0" lvl="0" indent="0" algn="just" rtl="0">
              <a:lnSpc>
                <a:spcPct val="100000"/>
              </a:lnSpc>
              <a:spcBef>
                <a:spcPts val="0"/>
              </a:spcBef>
              <a:spcAft>
                <a:spcPts val="0"/>
              </a:spcAft>
              <a:buSzPct val="74866"/>
              <a:buNone/>
            </a:pPr>
            <a:r>
              <a:rPr lang="en" sz="2200" b="1">
                <a:solidFill>
                  <a:srgbClr val="00FFFF"/>
                </a:solidFill>
                <a:latin typeface="Times New Roman"/>
                <a:ea typeface="Times New Roman"/>
                <a:cs typeface="Times New Roman"/>
                <a:sym typeface="Times New Roman"/>
              </a:rPr>
              <a:t>3. Interaction model: </a:t>
            </a:r>
            <a:endParaRPr sz="2200">
              <a:solidFill>
                <a:srgbClr val="00FFFF"/>
              </a:solidFill>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In interaction model documents are not isolated, instead they are interconnected.</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The query interacts with the inter connected documents.</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Retrieval is conceived as a result of this interaction. </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Clr>
                <a:srgbClr val="FFFF00"/>
              </a:buClr>
              <a:buSzPct val="100000"/>
              <a:buFont typeface="Times New Roman"/>
              <a:buChar char="•"/>
            </a:pPr>
            <a:r>
              <a:rPr lang="en" sz="2200" b="1">
                <a:solidFill>
                  <a:srgbClr val="FFFF00"/>
                </a:solidFill>
                <a:latin typeface="Times New Roman"/>
                <a:ea typeface="Times New Roman"/>
                <a:cs typeface="Times New Roman"/>
                <a:sym typeface="Times New Roman"/>
              </a:rPr>
              <a:t>Artificial neural networks can be used to implement this model.</a:t>
            </a:r>
            <a:endParaRPr sz="2200" b="1">
              <a:solidFill>
                <a:srgbClr val="FFFF00"/>
              </a:solidFill>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Each document is modelled as a neuron, the document set as a whole forms a neural network. </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The query is also modelled as a neuron and integrated into the network. </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Because of this integration new connections are built between the query and the document and existing connections are changed. </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0"/>
              </a:spcAft>
              <a:buSzPct val="100000"/>
              <a:buFont typeface="Times New Roman"/>
              <a:buChar char="•"/>
            </a:pPr>
            <a:r>
              <a:rPr lang="en" sz="2200">
                <a:latin typeface="Times New Roman"/>
                <a:ea typeface="Times New Roman"/>
                <a:cs typeface="Times New Roman"/>
                <a:sym typeface="Times New Roman"/>
              </a:rPr>
              <a:t>This restructuring corresponds to the concept of interaction.</a:t>
            </a:r>
            <a:endParaRPr sz="2200">
              <a:latin typeface="Times New Roman"/>
              <a:ea typeface="Times New Roman"/>
              <a:cs typeface="Times New Roman"/>
              <a:sym typeface="Times New Roman"/>
            </a:endParaRPr>
          </a:p>
          <a:p>
            <a:pPr marL="457200" lvl="0" indent="-326390" algn="just" rtl="0">
              <a:lnSpc>
                <a:spcPct val="100000"/>
              </a:lnSpc>
              <a:spcBef>
                <a:spcPts val="1000"/>
              </a:spcBef>
              <a:spcAft>
                <a:spcPts val="1000"/>
              </a:spcAft>
              <a:buSzPct val="100000"/>
              <a:buFont typeface="Times New Roman"/>
              <a:buChar char="•"/>
            </a:pPr>
            <a:r>
              <a:rPr lang="en" sz="2200">
                <a:latin typeface="Times New Roman"/>
                <a:ea typeface="Times New Roman"/>
                <a:cs typeface="Times New Roman"/>
                <a:sym typeface="Times New Roman"/>
              </a:rPr>
              <a:t>A measure of this interaction is obtained and used for retrieval.</a:t>
            </a:r>
            <a:endParaRPr sz="14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Alternative Models of IR</a:t>
            </a:r>
            <a:endParaRPr/>
          </a:p>
        </p:txBody>
      </p:sp>
      <p:sp>
        <p:nvSpPr>
          <p:cNvPr id="483" name="Google Shape;483;p42"/>
          <p:cNvSpPr txBox="1">
            <a:spLocks noGrp="1"/>
          </p:cNvSpPr>
          <p:nvPr>
            <p:ph type="body" idx="1"/>
          </p:nvPr>
        </p:nvSpPr>
        <p:spPr>
          <a:xfrm>
            <a:off x="840000" y="1369219"/>
            <a:ext cx="7675500" cy="3263400"/>
          </a:xfrm>
          <a:prstGeom prst="rect">
            <a:avLst/>
          </a:prstGeom>
          <a:noFill/>
          <a:ln>
            <a:noFill/>
          </a:ln>
        </p:spPr>
        <p:txBody>
          <a:bodyPr spcFirstLastPara="1" wrap="square" lIns="68575" tIns="34275" rIns="68575" bIns="34275" anchor="ctr" anchorCtr="0">
            <a:normAutofit/>
          </a:bodyPr>
          <a:lstStyle/>
          <a:p>
            <a:pPr marL="457200" lvl="0" indent="-368300" algn="just" rtl="0">
              <a:lnSpc>
                <a:spcPct val="100000"/>
              </a:lnSpc>
              <a:spcBef>
                <a:spcPts val="1000"/>
              </a:spcBef>
              <a:spcAft>
                <a:spcPts val="0"/>
              </a:spcAft>
              <a:buSzPts val="2200"/>
              <a:buFont typeface="Times New Roman"/>
              <a:buChar char="•"/>
            </a:pPr>
            <a:r>
              <a:rPr lang="en" sz="2200">
                <a:latin typeface="Times New Roman"/>
                <a:ea typeface="Times New Roman"/>
                <a:cs typeface="Times New Roman"/>
                <a:sym typeface="Times New Roman"/>
              </a:rPr>
              <a:t>Alternative IR models are</a:t>
            </a:r>
            <a:r>
              <a:rPr lang="en" sz="2200" b="1">
                <a:latin typeface="Times New Roman"/>
                <a:ea typeface="Times New Roman"/>
                <a:cs typeface="Times New Roman"/>
                <a:sym typeface="Times New Roman"/>
              </a:rPr>
              <a:t> </a:t>
            </a:r>
            <a:r>
              <a:rPr lang="en" sz="2200">
                <a:latin typeface="Times New Roman"/>
                <a:ea typeface="Times New Roman"/>
                <a:cs typeface="Times New Roman"/>
                <a:sym typeface="Times New Roman"/>
              </a:rPr>
              <a:t>enhancements of classical models making use of specific techniques from other fields. </a:t>
            </a:r>
            <a:endParaRPr sz="2200">
              <a:latin typeface="Times New Roman"/>
              <a:ea typeface="Times New Roman"/>
              <a:cs typeface="Times New Roman"/>
              <a:sym typeface="Times New Roman"/>
            </a:endParaRPr>
          </a:p>
          <a:p>
            <a:pPr marL="457200" lvl="0" indent="-368300" algn="just" rtl="0">
              <a:lnSpc>
                <a:spcPct val="100000"/>
              </a:lnSpc>
              <a:spcBef>
                <a:spcPts val="1000"/>
              </a:spcBef>
              <a:spcAft>
                <a:spcPts val="0"/>
              </a:spcAft>
              <a:buSzPts val="2200"/>
              <a:buFont typeface="Times New Roman"/>
              <a:buChar char="•"/>
            </a:pPr>
            <a:r>
              <a:rPr lang="en" sz="2200">
                <a:latin typeface="Times New Roman"/>
                <a:ea typeface="Times New Roman"/>
                <a:cs typeface="Times New Roman"/>
                <a:sym typeface="Times New Roman"/>
              </a:rPr>
              <a:t>Alternative IR models are -</a:t>
            </a:r>
            <a:endParaRPr sz="2200">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Cluster model</a:t>
            </a:r>
            <a:endParaRPr sz="2200" b="1">
              <a:solidFill>
                <a:srgbClr val="FFFF00"/>
              </a:solidFill>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Fuzzy model</a:t>
            </a:r>
            <a:endParaRPr sz="2200" b="1">
              <a:solidFill>
                <a:srgbClr val="FFFF00"/>
              </a:solidFill>
              <a:latin typeface="Times New Roman"/>
              <a:ea typeface="Times New Roman"/>
              <a:cs typeface="Times New Roman"/>
              <a:sym typeface="Times New Roman"/>
            </a:endParaRPr>
          </a:p>
          <a:p>
            <a:pPr marL="914400" lvl="0" indent="-368300" algn="just" rtl="0">
              <a:lnSpc>
                <a:spcPct val="100000"/>
              </a:lnSpc>
              <a:spcBef>
                <a:spcPts val="1000"/>
              </a:spcBef>
              <a:spcAft>
                <a:spcPts val="0"/>
              </a:spcAft>
              <a:buClr>
                <a:srgbClr val="FFFF00"/>
              </a:buClr>
              <a:buSzPts val="2200"/>
              <a:buFont typeface="Times New Roman"/>
              <a:buAutoNum type="arabicPeriod"/>
            </a:pPr>
            <a:r>
              <a:rPr lang="en" sz="2200" b="1">
                <a:solidFill>
                  <a:srgbClr val="FFFF00"/>
                </a:solidFill>
                <a:latin typeface="Times New Roman"/>
                <a:ea typeface="Times New Roman"/>
                <a:cs typeface="Times New Roman"/>
                <a:sym typeface="Times New Roman"/>
              </a:rPr>
              <a:t>Latent semantic indexing (LSI) model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3"/>
          <p:cNvSpPr txBox="1">
            <a:spLocks noGrp="1"/>
          </p:cNvSpPr>
          <p:nvPr>
            <p:ph type="title"/>
          </p:nvPr>
        </p:nvSpPr>
        <p:spPr>
          <a:xfrm>
            <a:off x="628650" y="273846"/>
            <a:ext cx="7886700" cy="388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latin typeface="Times New Roman"/>
                <a:ea typeface="Times New Roman"/>
                <a:cs typeface="Times New Roman"/>
                <a:sym typeface="Times New Roman"/>
              </a:rPr>
              <a:t>Cluster Model</a:t>
            </a:r>
            <a:endParaRPr>
              <a:latin typeface="Times New Roman"/>
              <a:ea typeface="Times New Roman"/>
              <a:cs typeface="Times New Roman"/>
              <a:sym typeface="Times New Roman"/>
            </a:endParaRPr>
          </a:p>
        </p:txBody>
      </p:sp>
      <p:sp>
        <p:nvSpPr>
          <p:cNvPr id="489" name="Google Shape;489;p43"/>
          <p:cNvSpPr txBox="1">
            <a:spLocks noGrp="1"/>
          </p:cNvSpPr>
          <p:nvPr>
            <p:ph type="body" idx="1"/>
          </p:nvPr>
        </p:nvSpPr>
        <p:spPr>
          <a:xfrm>
            <a:off x="628800" y="740350"/>
            <a:ext cx="7886700" cy="3892200"/>
          </a:xfrm>
          <a:prstGeom prst="rect">
            <a:avLst/>
          </a:prstGeom>
          <a:noFill/>
          <a:ln>
            <a:noFill/>
          </a:ln>
        </p:spPr>
        <p:txBody>
          <a:bodyPr spcFirstLastPara="1" wrap="square" lIns="68575" tIns="34275" rIns="68575" bIns="34275" anchor="t" anchorCtr="0">
            <a:normAutofit fontScale="47500" lnSpcReduction="20000"/>
          </a:bodyPr>
          <a:lstStyle/>
          <a:p>
            <a:pPr marL="0" lvl="0" indent="0" algn="l" rtl="0">
              <a:lnSpc>
                <a:spcPct val="90000"/>
              </a:lnSpc>
              <a:spcBef>
                <a:spcPts val="0"/>
              </a:spcBef>
              <a:spcAft>
                <a:spcPts val="0"/>
              </a:spcAft>
              <a:buSzPct val="105263"/>
              <a:buNone/>
            </a:pPr>
            <a:endParaRPr sz="2800"/>
          </a:p>
          <a:p>
            <a:pPr marL="0" lvl="0" indent="0" algn="just" rtl="0">
              <a:lnSpc>
                <a:spcPct val="100000"/>
              </a:lnSpc>
              <a:spcBef>
                <a:spcPts val="1000"/>
              </a:spcBef>
              <a:spcAft>
                <a:spcPts val="0"/>
              </a:spcAft>
              <a:buSzPct val="105263"/>
              <a:buNone/>
            </a:pPr>
            <a:r>
              <a:rPr lang="en" sz="2800" b="1">
                <a:solidFill>
                  <a:srgbClr val="00FFFF"/>
                </a:solidFill>
                <a:latin typeface="Times New Roman"/>
                <a:ea typeface="Times New Roman"/>
                <a:cs typeface="Times New Roman"/>
                <a:sym typeface="Times New Roman"/>
              </a:rPr>
              <a:t>Explain the cluster and fuzzy models of IR system. (8M, Jan 2019)</a:t>
            </a:r>
            <a:endParaRPr sz="2800" b="1">
              <a:solidFill>
                <a:srgbClr val="00FFFF"/>
              </a:solidFill>
              <a:latin typeface="Times New Roman"/>
              <a:ea typeface="Times New Roman"/>
              <a:cs typeface="Times New Roman"/>
              <a:sym typeface="Times New Roman"/>
            </a:endParaRPr>
          </a:p>
          <a:p>
            <a:pPr marL="0" lvl="0" indent="0" algn="just" rtl="0">
              <a:lnSpc>
                <a:spcPct val="100000"/>
              </a:lnSpc>
              <a:spcBef>
                <a:spcPts val="1000"/>
              </a:spcBef>
              <a:spcAft>
                <a:spcPts val="0"/>
              </a:spcAft>
              <a:buSzPct val="105263"/>
              <a:buNone/>
            </a:pPr>
            <a:r>
              <a:rPr lang="en" sz="2800" b="1">
                <a:solidFill>
                  <a:srgbClr val="00FFFF"/>
                </a:solidFill>
                <a:latin typeface="Times New Roman"/>
                <a:ea typeface="Times New Roman"/>
                <a:cs typeface="Times New Roman"/>
                <a:sym typeface="Times New Roman"/>
              </a:rPr>
              <a:t>With a suitable example explain cluster based IR modelling (8 M, July 2019)</a:t>
            </a:r>
            <a:endParaRPr sz="2800" b="1">
              <a:solidFill>
                <a:srgbClr val="00FFFF"/>
              </a:solidFill>
              <a:latin typeface="Times New Roman"/>
              <a:ea typeface="Times New Roman"/>
              <a:cs typeface="Times New Roman"/>
              <a:sym typeface="Times New Roman"/>
            </a:endParaRPr>
          </a:p>
          <a:p>
            <a:pPr marL="457200" lvl="0" indent="-31305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The cluster model attempts to reduce the number of matches during retrieval.</a:t>
            </a:r>
            <a:endParaRPr sz="2800">
              <a:latin typeface="Times New Roman"/>
              <a:ea typeface="Times New Roman"/>
              <a:cs typeface="Times New Roman"/>
              <a:sym typeface="Times New Roman"/>
            </a:endParaRPr>
          </a:p>
          <a:p>
            <a:pPr marL="457200" lvl="0" indent="-31305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The cluster hypothesis that explains why clustering could prove efficient in IR states that</a:t>
            </a:r>
            <a:endParaRPr sz="2800">
              <a:latin typeface="Times New Roman"/>
              <a:ea typeface="Times New Roman"/>
              <a:cs typeface="Times New Roman"/>
              <a:sym typeface="Times New Roman"/>
            </a:endParaRPr>
          </a:p>
          <a:p>
            <a:pPr marL="457200" lvl="0" indent="0" algn="just" rtl="0">
              <a:lnSpc>
                <a:spcPct val="100000"/>
              </a:lnSpc>
              <a:spcBef>
                <a:spcPts val="1000"/>
              </a:spcBef>
              <a:spcAft>
                <a:spcPts val="0"/>
              </a:spcAft>
              <a:buSzPct val="105263"/>
              <a:buNone/>
            </a:pPr>
            <a:r>
              <a:rPr lang="en" sz="2800" b="1">
                <a:solidFill>
                  <a:schemeClr val="lt1"/>
                </a:solidFill>
                <a:latin typeface="Times New Roman"/>
                <a:ea typeface="Times New Roman"/>
                <a:cs typeface="Times New Roman"/>
                <a:sym typeface="Times New Roman"/>
              </a:rPr>
              <a:t>“Closely associated documents tend to be relevant to the same clusters.”</a:t>
            </a:r>
            <a:endParaRPr sz="2800" b="1">
              <a:solidFill>
                <a:schemeClr val="lt1"/>
              </a:solidFill>
              <a:latin typeface="Times New Roman"/>
              <a:ea typeface="Times New Roman"/>
              <a:cs typeface="Times New Roman"/>
              <a:sym typeface="Times New Roman"/>
            </a:endParaRPr>
          </a:p>
          <a:p>
            <a:pPr marL="457200" lvl="0" indent="-325754" algn="just" rtl="0">
              <a:lnSpc>
                <a:spcPct val="100000"/>
              </a:lnSpc>
              <a:spcBef>
                <a:spcPts val="1000"/>
              </a:spcBef>
              <a:spcAft>
                <a:spcPts val="0"/>
              </a:spcAft>
              <a:buClr>
                <a:srgbClr val="FFFF00"/>
              </a:buClr>
              <a:buSzPct val="100000"/>
              <a:buFont typeface="Times New Roman"/>
              <a:buChar char="•"/>
            </a:pPr>
            <a:r>
              <a:rPr lang="en" sz="3221" b="1">
                <a:solidFill>
                  <a:srgbClr val="FFFF00"/>
                </a:solidFill>
                <a:latin typeface="Times New Roman"/>
                <a:ea typeface="Times New Roman"/>
                <a:cs typeface="Times New Roman"/>
                <a:sym typeface="Times New Roman"/>
              </a:rPr>
              <a:t>The hypothesis suggests that closely associated documents are likely to be retrieved together. </a:t>
            </a:r>
            <a:endParaRPr sz="3221" b="1">
              <a:solidFill>
                <a:srgbClr val="FFFF00"/>
              </a:solidFill>
              <a:latin typeface="Times New Roman"/>
              <a:ea typeface="Times New Roman"/>
              <a:cs typeface="Times New Roman"/>
              <a:sym typeface="Times New Roman"/>
            </a:endParaRPr>
          </a:p>
          <a:p>
            <a:pPr marL="457200" lvl="0" indent="-313055" algn="just" rtl="0">
              <a:lnSpc>
                <a:spcPct val="100000"/>
              </a:lnSpc>
              <a:spcBef>
                <a:spcPts val="1000"/>
              </a:spcBef>
              <a:spcAft>
                <a:spcPts val="0"/>
              </a:spcAft>
              <a:buClr>
                <a:srgbClr val="00FFFF"/>
              </a:buClr>
              <a:buSzPct val="100000"/>
              <a:buFont typeface="Times New Roman"/>
              <a:buChar char="•"/>
            </a:pPr>
            <a:r>
              <a:rPr lang="en" sz="2800" b="1">
                <a:solidFill>
                  <a:srgbClr val="00FFFF"/>
                </a:solidFill>
                <a:latin typeface="Times New Roman"/>
                <a:ea typeface="Times New Roman"/>
                <a:cs typeface="Times New Roman"/>
                <a:sym typeface="Times New Roman"/>
              </a:rPr>
              <a:t>By forming groups or classes or clusters of related documents, the search time reduces considerably. </a:t>
            </a:r>
            <a:endParaRPr sz="2800" b="1">
              <a:solidFill>
                <a:srgbClr val="00FFFF"/>
              </a:solidFill>
              <a:latin typeface="Times New Roman"/>
              <a:ea typeface="Times New Roman"/>
              <a:cs typeface="Times New Roman"/>
              <a:sym typeface="Times New Roman"/>
            </a:endParaRPr>
          </a:p>
          <a:p>
            <a:pPr marL="457200" lvl="0" indent="-31305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Instead of matching a query with every document in the collection, it is matched with representatives of the cluster (class), and only documents from a class whose representative is close to query, are considered for individual match.</a:t>
            </a:r>
            <a:endParaRPr sz="2800">
              <a:latin typeface="Times New Roman"/>
              <a:ea typeface="Times New Roman"/>
              <a:cs typeface="Times New Roman"/>
              <a:sym typeface="Times New Roman"/>
            </a:endParaRPr>
          </a:p>
          <a:p>
            <a:pPr marL="457200" lvl="0" indent="-31305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Clustering is applied on terms instead of documents. Terms can be grouped to form classes of co-occurrence terms.</a:t>
            </a:r>
            <a:endParaRPr sz="2800">
              <a:latin typeface="Times New Roman"/>
              <a:ea typeface="Times New Roman"/>
              <a:cs typeface="Times New Roman"/>
              <a:sym typeface="Times New Roman"/>
            </a:endParaRPr>
          </a:p>
          <a:p>
            <a:pPr marL="457200" lvl="0" indent="-313055" algn="just" rtl="0">
              <a:lnSpc>
                <a:spcPct val="100000"/>
              </a:lnSpc>
              <a:spcBef>
                <a:spcPts val="1000"/>
              </a:spcBef>
              <a:spcAft>
                <a:spcPts val="1000"/>
              </a:spcAft>
              <a:buSzPct val="100000"/>
              <a:buFont typeface="Times New Roman"/>
              <a:buChar char="•"/>
            </a:pPr>
            <a:r>
              <a:rPr lang="en" sz="2800">
                <a:latin typeface="Times New Roman"/>
                <a:ea typeface="Times New Roman"/>
                <a:cs typeface="Times New Roman"/>
                <a:sym typeface="Times New Roman"/>
              </a:rPr>
              <a:t>A number of methods are used to group documents. One of the method is based on similarity matrix.</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4"/>
          <p:cNvSpPr txBox="1">
            <a:spLocks noGrp="1"/>
          </p:cNvSpPr>
          <p:nvPr>
            <p:ph type="title"/>
          </p:nvPr>
        </p:nvSpPr>
        <p:spPr>
          <a:xfrm>
            <a:off x="628650" y="273847"/>
            <a:ext cx="7886700" cy="536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Cluster Model</a:t>
            </a:r>
            <a:endParaRPr/>
          </a:p>
        </p:txBody>
      </p:sp>
      <p:sp>
        <p:nvSpPr>
          <p:cNvPr id="495" name="Google Shape;495;p44"/>
          <p:cNvSpPr txBox="1">
            <a:spLocks noGrp="1"/>
          </p:cNvSpPr>
          <p:nvPr>
            <p:ph type="body" idx="1"/>
          </p:nvPr>
        </p:nvSpPr>
        <p:spPr>
          <a:xfrm>
            <a:off x="628800" y="810550"/>
            <a:ext cx="7886700" cy="38220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SzPts val="1400"/>
              <a:buNone/>
            </a:pPr>
            <a:r>
              <a:rPr lang="en" sz="1500" b="1">
                <a:latin typeface="Times New Roman"/>
                <a:ea typeface="Times New Roman"/>
                <a:cs typeface="Times New Roman"/>
                <a:sym typeface="Times New Roman"/>
              </a:rPr>
              <a:t>Cluster Generation method based on Similarity Matrix</a:t>
            </a:r>
            <a:endParaRPr sz="1500" b="1">
              <a:latin typeface="Times New Roman"/>
              <a:ea typeface="Times New Roman"/>
              <a:cs typeface="Times New Roman"/>
              <a:sym typeface="Times New Roman"/>
            </a:endParaRPr>
          </a:p>
          <a:p>
            <a:pPr marL="228600" lvl="0" indent="0" algn="l" rtl="0">
              <a:lnSpc>
                <a:spcPct val="100000"/>
              </a:lnSpc>
              <a:spcBef>
                <a:spcPts val="0"/>
              </a:spcBef>
              <a:spcAft>
                <a:spcPts val="0"/>
              </a:spcAft>
              <a:buSzPts val="1400"/>
              <a:buNone/>
            </a:pPr>
            <a:endParaRPr sz="1500" b="1">
              <a:latin typeface="Times New Roman"/>
              <a:ea typeface="Times New Roman"/>
              <a:cs typeface="Times New Roman"/>
              <a:sym typeface="Times New Roman"/>
            </a:endParaRPr>
          </a:p>
          <a:p>
            <a:pPr marL="228600" lvl="0" indent="-146050" algn="l" rtl="0">
              <a:lnSpc>
                <a:spcPct val="10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Let D = { d</a:t>
            </a:r>
            <a:r>
              <a:rPr lang="en" sz="1500" baseline="-25000">
                <a:latin typeface="Times New Roman"/>
                <a:ea typeface="Times New Roman"/>
                <a:cs typeface="Times New Roman"/>
                <a:sym typeface="Times New Roman"/>
              </a:rPr>
              <a:t>1</a:t>
            </a:r>
            <a:r>
              <a:rPr lang="en" sz="1500">
                <a:latin typeface="Times New Roman"/>
                <a:ea typeface="Times New Roman"/>
                <a:cs typeface="Times New Roman"/>
                <a:sym typeface="Times New Roman"/>
              </a:rPr>
              <a:t>,d</a:t>
            </a:r>
            <a:r>
              <a:rPr lang="en" sz="1500" baseline="-25000">
                <a:latin typeface="Times New Roman"/>
                <a:ea typeface="Times New Roman"/>
                <a:cs typeface="Times New Roman"/>
                <a:sym typeface="Times New Roman"/>
              </a:rPr>
              <a:t>2</a:t>
            </a:r>
            <a:r>
              <a:rPr lang="en" sz="1500">
                <a:latin typeface="Times New Roman"/>
                <a:ea typeface="Times New Roman"/>
                <a:cs typeface="Times New Roman"/>
                <a:sym typeface="Times New Roman"/>
              </a:rPr>
              <a:t>,d</a:t>
            </a:r>
            <a:r>
              <a:rPr lang="en" sz="1500" baseline="-25000">
                <a:latin typeface="Times New Roman"/>
                <a:ea typeface="Times New Roman"/>
                <a:cs typeface="Times New Roman"/>
                <a:sym typeface="Times New Roman"/>
              </a:rPr>
              <a:t>3</a:t>
            </a:r>
            <a:r>
              <a:rPr lang="en" sz="1500">
                <a:latin typeface="Times New Roman"/>
                <a:ea typeface="Times New Roman"/>
                <a:cs typeface="Times New Roman"/>
                <a:sym typeface="Times New Roman"/>
              </a:rPr>
              <a:t>,…..d</a:t>
            </a:r>
            <a:r>
              <a:rPr lang="en" sz="1500" baseline="-25000">
                <a:latin typeface="Times New Roman"/>
                <a:ea typeface="Times New Roman"/>
                <a:cs typeface="Times New Roman"/>
                <a:sym typeface="Times New Roman"/>
              </a:rPr>
              <a:t>m</a:t>
            </a:r>
            <a:r>
              <a:rPr lang="en" sz="1500">
                <a:latin typeface="Times New Roman"/>
                <a:ea typeface="Times New Roman"/>
                <a:cs typeface="Times New Roman"/>
                <a:sym typeface="Times New Roman"/>
              </a:rPr>
              <a:t> } be set of documents.</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Let E =  (e</a:t>
            </a:r>
            <a:r>
              <a:rPr lang="en" sz="1500" baseline="-25000">
                <a:latin typeface="Times New Roman"/>
                <a:ea typeface="Times New Roman"/>
                <a:cs typeface="Times New Roman"/>
                <a:sym typeface="Times New Roman"/>
              </a:rPr>
              <a:t>ij</a:t>
            </a:r>
            <a:r>
              <a:rPr lang="en" sz="1500">
                <a:latin typeface="Times New Roman"/>
                <a:ea typeface="Times New Roman"/>
                <a:cs typeface="Times New Roman"/>
                <a:sym typeface="Times New Roman"/>
              </a:rPr>
              <a:t>)</a:t>
            </a:r>
            <a:r>
              <a:rPr lang="en" sz="1500" baseline="-25000">
                <a:latin typeface="Times New Roman"/>
                <a:ea typeface="Times New Roman"/>
                <a:cs typeface="Times New Roman"/>
                <a:sym typeface="Times New Roman"/>
              </a:rPr>
              <a:t>n,n </a:t>
            </a:r>
            <a:r>
              <a:rPr lang="en" sz="1500">
                <a:latin typeface="Times New Roman"/>
                <a:ea typeface="Times New Roman"/>
                <a:cs typeface="Times New Roman"/>
                <a:sym typeface="Times New Roman"/>
              </a:rPr>
              <a:t> be the similarity matrix.</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The element E</a:t>
            </a:r>
            <a:r>
              <a:rPr lang="en" sz="1500" baseline="-25000">
                <a:latin typeface="Times New Roman"/>
                <a:ea typeface="Times New Roman"/>
                <a:cs typeface="Times New Roman"/>
                <a:sym typeface="Times New Roman"/>
              </a:rPr>
              <a:t>i,j </a:t>
            </a:r>
            <a:r>
              <a:rPr lang="en" sz="1500">
                <a:latin typeface="Times New Roman"/>
                <a:ea typeface="Times New Roman"/>
                <a:cs typeface="Times New Roman"/>
                <a:sym typeface="Times New Roman"/>
              </a:rPr>
              <a:t> in this matrix, denotes a similarity between document d</a:t>
            </a:r>
            <a:r>
              <a:rPr lang="en" sz="1500" baseline="-25000">
                <a:latin typeface="Times New Roman"/>
                <a:ea typeface="Times New Roman"/>
                <a:cs typeface="Times New Roman"/>
                <a:sym typeface="Times New Roman"/>
              </a:rPr>
              <a:t>i</a:t>
            </a:r>
            <a:r>
              <a:rPr lang="en" sz="1500">
                <a:latin typeface="Times New Roman"/>
                <a:ea typeface="Times New Roman"/>
                <a:cs typeface="Times New Roman"/>
                <a:sym typeface="Times New Roman"/>
              </a:rPr>
              <a:t> and d</a:t>
            </a:r>
            <a:r>
              <a:rPr lang="en" sz="1500" baseline="-25000">
                <a:latin typeface="Times New Roman"/>
                <a:ea typeface="Times New Roman"/>
                <a:cs typeface="Times New Roman"/>
                <a:sym typeface="Times New Roman"/>
              </a:rPr>
              <a:t>j</a:t>
            </a: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Let T be the threshold value. </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Any pair of documents d</a:t>
            </a:r>
            <a:r>
              <a:rPr lang="en" sz="1500" baseline="-25000">
                <a:latin typeface="Times New Roman"/>
                <a:ea typeface="Times New Roman"/>
                <a:cs typeface="Times New Roman"/>
                <a:sym typeface="Times New Roman"/>
              </a:rPr>
              <a:t>i</a:t>
            </a:r>
            <a:r>
              <a:rPr lang="en" sz="1500">
                <a:latin typeface="Times New Roman"/>
                <a:ea typeface="Times New Roman"/>
                <a:cs typeface="Times New Roman"/>
                <a:sym typeface="Times New Roman"/>
              </a:rPr>
              <a:t> and d</a:t>
            </a:r>
            <a:r>
              <a:rPr lang="en" sz="1500" baseline="-25000">
                <a:latin typeface="Times New Roman"/>
                <a:ea typeface="Times New Roman"/>
                <a:cs typeface="Times New Roman"/>
                <a:sym typeface="Times New Roman"/>
              </a:rPr>
              <a:t>j</a:t>
            </a:r>
            <a:r>
              <a:rPr lang="en" sz="1500">
                <a:latin typeface="Times New Roman"/>
                <a:ea typeface="Times New Roman"/>
                <a:cs typeface="Times New Roman"/>
                <a:sym typeface="Times New Roman"/>
              </a:rPr>
              <a:t> (i != j) whose similarity measure exceeds threshold (e</a:t>
            </a:r>
            <a:r>
              <a:rPr lang="en" sz="1500" baseline="-25000">
                <a:latin typeface="Times New Roman"/>
                <a:ea typeface="Times New Roman"/>
                <a:cs typeface="Times New Roman"/>
                <a:sym typeface="Times New Roman"/>
              </a:rPr>
              <a:t>ij</a:t>
            </a:r>
            <a:r>
              <a:rPr lang="en" sz="1500">
                <a:latin typeface="Times New Roman"/>
                <a:ea typeface="Times New Roman"/>
                <a:cs typeface="Times New Roman"/>
                <a:sym typeface="Times New Roman"/>
              </a:rPr>
              <a:t> &gt;= T) is grouped to form a cluster.</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The remaining documents form a single cluster.</a:t>
            </a:r>
            <a:endParaRPr sz="1500">
              <a:latin typeface="Times New Roman"/>
              <a:ea typeface="Times New Roman"/>
              <a:cs typeface="Times New Roman"/>
              <a:sym typeface="Times New Roman"/>
            </a:endParaRPr>
          </a:p>
          <a:p>
            <a:pPr marL="228600" lvl="0" indent="-146050" algn="l" rtl="0">
              <a:lnSpc>
                <a:spcPct val="100000"/>
              </a:lnSpc>
              <a:spcBef>
                <a:spcPts val="1000"/>
              </a:spcBef>
              <a:spcAft>
                <a:spcPts val="0"/>
              </a:spcAft>
              <a:buSzPts val="1500"/>
              <a:buFont typeface="Times New Roman"/>
              <a:buChar char="•"/>
            </a:pPr>
            <a:r>
              <a:rPr lang="en" sz="1500">
                <a:latin typeface="Times New Roman"/>
                <a:ea typeface="Times New Roman"/>
                <a:cs typeface="Times New Roman"/>
                <a:sym typeface="Times New Roman"/>
              </a:rPr>
              <a:t>The set of clusters thus obtained is</a:t>
            </a:r>
            <a:endParaRPr sz="15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400"/>
              <a:buNone/>
            </a:pPr>
            <a:r>
              <a:rPr lang="en" sz="1500">
                <a:latin typeface="Times New Roman"/>
                <a:ea typeface="Times New Roman"/>
                <a:cs typeface="Times New Roman"/>
                <a:sym typeface="Times New Roman"/>
              </a:rPr>
              <a:t>C = { C</a:t>
            </a:r>
            <a:r>
              <a:rPr lang="en" sz="1500" baseline="-25000">
                <a:latin typeface="Times New Roman"/>
                <a:ea typeface="Times New Roman"/>
                <a:cs typeface="Times New Roman"/>
                <a:sym typeface="Times New Roman"/>
              </a:rPr>
              <a:t>1</a:t>
            </a:r>
            <a:r>
              <a:rPr lang="en" sz="1500">
                <a:latin typeface="Times New Roman"/>
                <a:ea typeface="Times New Roman"/>
                <a:cs typeface="Times New Roman"/>
                <a:sym typeface="Times New Roman"/>
              </a:rPr>
              <a:t>, C</a:t>
            </a:r>
            <a:r>
              <a:rPr lang="en" sz="1500" baseline="-25000">
                <a:latin typeface="Times New Roman"/>
                <a:ea typeface="Times New Roman"/>
                <a:cs typeface="Times New Roman"/>
                <a:sym typeface="Times New Roman"/>
              </a:rPr>
              <a:t>2</a:t>
            </a:r>
            <a:r>
              <a:rPr lang="en" sz="1500">
                <a:latin typeface="Times New Roman"/>
                <a:ea typeface="Times New Roman"/>
                <a:cs typeface="Times New Roman"/>
                <a:sym typeface="Times New Roman"/>
              </a:rPr>
              <a:t>, …, C</a:t>
            </a:r>
            <a:r>
              <a:rPr lang="en" sz="1500" baseline="-25000">
                <a:latin typeface="Times New Roman"/>
                <a:ea typeface="Times New Roman"/>
                <a:cs typeface="Times New Roman"/>
                <a:sym typeface="Times New Roman"/>
              </a:rPr>
              <a:t>k</a:t>
            </a:r>
            <a:r>
              <a:rPr lang="en" sz="1500">
                <a:latin typeface="Times New Roman"/>
                <a:ea typeface="Times New Roman"/>
                <a:cs typeface="Times New Roman"/>
                <a:sym typeface="Times New Roman"/>
              </a:rPr>
              <a:t>, …, C</a:t>
            </a:r>
            <a:r>
              <a:rPr lang="en" sz="1500" baseline="-25000">
                <a:latin typeface="Times New Roman"/>
                <a:ea typeface="Times New Roman"/>
                <a:cs typeface="Times New Roman"/>
                <a:sym typeface="Times New Roman"/>
              </a:rPr>
              <a:t>p</a:t>
            </a:r>
            <a:r>
              <a:rPr lang="en" sz="1500">
                <a:latin typeface="Times New Roman"/>
                <a:ea typeface="Times New Roman"/>
                <a:cs typeface="Times New Roman"/>
                <a:sym typeface="Times New Roman"/>
              </a:rPr>
              <a:t> }</a:t>
            </a:r>
            <a:endParaRPr sz="1500">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5"/>
          <p:cNvSpPr txBox="1">
            <a:spLocks noGrp="1"/>
          </p:cNvSpPr>
          <p:nvPr>
            <p:ph type="title"/>
          </p:nvPr>
        </p:nvSpPr>
        <p:spPr>
          <a:xfrm>
            <a:off x="628650" y="273847"/>
            <a:ext cx="7886700" cy="474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Cluster Model</a:t>
            </a:r>
            <a:endParaRPr/>
          </a:p>
        </p:txBody>
      </p:sp>
      <p:sp>
        <p:nvSpPr>
          <p:cNvPr id="501" name="Google Shape;501;p45"/>
          <p:cNvSpPr txBox="1">
            <a:spLocks noGrp="1"/>
          </p:cNvSpPr>
          <p:nvPr>
            <p:ph type="body" idx="1"/>
          </p:nvPr>
        </p:nvSpPr>
        <p:spPr>
          <a:xfrm>
            <a:off x="628800" y="779325"/>
            <a:ext cx="7886700" cy="3853200"/>
          </a:xfrm>
          <a:prstGeom prst="rect">
            <a:avLst/>
          </a:prstGeom>
          <a:noFill/>
          <a:ln>
            <a:noFill/>
          </a:ln>
        </p:spPr>
        <p:txBody>
          <a:bodyPr spcFirstLastPara="1" wrap="square" lIns="68575" tIns="34275" rIns="68575" bIns="34275" anchor="ctr" anchorCtr="0">
            <a:normAutofit fontScale="47500" lnSpcReduction="20000"/>
          </a:bodyPr>
          <a:lstStyle/>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A representative vector of each cluster is constructed by computing the centroid of the document vectors belonging to that class.</a:t>
            </a: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Representation vector for a cluster C</a:t>
            </a:r>
            <a:r>
              <a:rPr lang="en" sz="2800" baseline="-25000" dirty="0">
                <a:latin typeface="Times New Roman"/>
                <a:ea typeface="Times New Roman"/>
                <a:cs typeface="Times New Roman"/>
                <a:sym typeface="Times New Roman"/>
              </a:rPr>
              <a:t>k</a:t>
            </a:r>
            <a:r>
              <a:rPr lang="en" sz="2800" dirty="0">
                <a:latin typeface="Times New Roman"/>
                <a:ea typeface="Times New Roman"/>
                <a:cs typeface="Times New Roman"/>
                <a:sym typeface="Times New Roman"/>
              </a:rPr>
              <a:t> is  r</a:t>
            </a:r>
            <a:r>
              <a:rPr lang="en" sz="2800" baseline="-25000" dirty="0">
                <a:latin typeface="Times New Roman"/>
                <a:ea typeface="Times New Roman"/>
                <a:cs typeface="Times New Roman"/>
                <a:sym typeface="Times New Roman"/>
              </a:rPr>
              <a:t>k</a:t>
            </a:r>
            <a:r>
              <a:rPr lang="en" sz="2800" dirty="0">
                <a:latin typeface="Times New Roman"/>
                <a:ea typeface="Times New Roman"/>
                <a:cs typeface="Times New Roman"/>
                <a:sym typeface="Times New Roman"/>
              </a:rPr>
              <a:t> = { a</a:t>
            </a:r>
            <a:r>
              <a:rPr lang="en" sz="2800" baseline="-25000" dirty="0">
                <a:latin typeface="Times New Roman"/>
                <a:ea typeface="Times New Roman"/>
                <a:cs typeface="Times New Roman"/>
                <a:sym typeface="Times New Roman"/>
              </a:rPr>
              <a:t>1k</a:t>
            </a:r>
            <a:r>
              <a:rPr lang="en" sz="2800" dirty="0">
                <a:latin typeface="Times New Roman"/>
                <a:ea typeface="Times New Roman"/>
                <a:cs typeface="Times New Roman"/>
                <a:sym typeface="Times New Roman"/>
              </a:rPr>
              <a:t>, a</a:t>
            </a:r>
            <a:r>
              <a:rPr lang="en" sz="2800" baseline="-25000" dirty="0">
                <a:latin typeface="Times New Roman"/>
                <a:ea typeface="Times New Roman"/>
                <a:cs typeface="Times New Roman"/>
                <a:sym typeface="Times New Roman"/>
              </a:rPr>
              <a:t>2k</a:t>
            </a:r>
            <a:r>
              <a:rPr lang="en" sz="2800" dirty="0">
                <a:latin typeface="Times New Roman"/>
                <a:ea typeface="Times New Roman"/>
                <a:cs typeface="Times New Roman"/>
                <a:sym typeface="Times New Roman"/>
              </a:rPr>
              <a:t>, …, a</a:t>
            </a:r>
            <a:r>
              <a:rPr lang="en" sz="2800" baseline="-25000" dirty="0">
                <a:latin typeface="Times New Roman"/>
                <a:ea typeface="Times New Roman"/>
                <a:cs typeface="Times New Roman"/>
                <a:sym typeface="Times New Roman"/>
              </a:rPr>
              <a:t>ik</a:t>
            </a:r>
            <a:r>
              <a:rPr lang="en" sz="2800" dirty="0">
                <a:latin typeface="Times New Roman"/>
                <a:ea typeface="Times New Roman"/>
                <a:cs typeface="Times New Roman"/>
                <a:sym typeface="Times New Roman"/>
              </a:rPr>
              <a:t>, …, a</a:t>
            </a:r>
            <a:r>
              <a:rPr lang="en" sz="2800" baseline="-25000" dirty="0">
                <a:latin typeface="Times New Roman"/>
                <a:ea typeface="Times New Roman"/>
                <a:cs typeface="Times New Roman"/>
                <a:sym typeface="Times New Roman"/>
              </a:rPr>
              <a:t>mk</a:t>
            </a:r>
            <a:r>
              <a:rPr lang="en" sz="2800" dirty="0">
                <a:latin typeface="Times New Roman"/>
                <a:ea typeface="Times New Roman"/>
                <a:cs typeface="Times New Roman"/>
                <a:sym typeface="Times New Roman"/>
              </a:rPr>
              <a:t> }</a:t>
            </a: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An element a</a:t>
            </a:r>
            <a:r>
              <a:rPr lang="en" sz="2800" baseline="-25000" dirty="0">
                <a:latin typeface="Times New Roman"/>
                <a:ea typeface="Times New Roman"/>
                <a:cs typeface="Times New Roman"/>
                <a:sym typeface="Times New Roman"/>
              </a:rPr>
              <a:t>ik</a:t>
            </a:r>
            <a:r>
              <a:rPr lang="en" sz="2800" dirty="0">
                <a:latin typeface="Times New Roman"/>
                <a:ea typeface="Times New Roman"/>
                <a:cs typeface="Times New Roman"/>
                <a:sym typeface="Times New Roman"/>
              </a:rPr>
              <a:t> in this vector is computed as</a:t>
            </a:r>
            <a:endParaRPr sz="2800" dirty="0">
              <a:latin typeface="Times New Roman"/>
              <a:ea typeface="Times New Roman"/>
              <a:cs typeface="Times New Roman"/>
              <a:sym typeface="Times New Roman"/>
            </a:endParaRPr>
          </a:p>
          <a:p>
            <a:pPr marL="457200" lvl="0" indent="0" algn="l" rtl="0">
              <a:lnSpc>
                <a:spcPct val="100000"/>
              </a:lnSpc>
              <a:spcBef>
                <a:spcPts val="1000"/>
              </a:spcBef>
              <a:spcAft>
                <a:spcPts val="0"/>
              </a:spcAft>
              <a:buSzPct val="105263"/>
              <a:buNone/>
            </a:pPr>
            <a:endParaRPr sz="2800" dirty="0">
              <a:latin typeface="Times New Roman"/>
              <a:ea typeface="Times New Roman"/>
              <a:cs typeface="Times New Roman"/>
              <a:sym typeface="Times New Roman"/>
            </a:endParaRPr>
          </a:p>
          <a:p>
            <a:pPr marL="457200" lvl="0" indent="0" algn="l" rtl="0">
              <a:lnSpc>
                <a:spcPct val="100000"/>
              </a:lnSpc>
              <a:spcBef>
                <a:spcPts val="1000"/>
              </a:spcBef>
              <a:spcAft>
                <a:spcPts val="0"/>
              </a:spcAft>
              <a:buSzPct val="105263"/>
              <a:buNone/>
            </a:pP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Where a</a:t>
            </a:r>
            <a:r>
              <a:rPr lang="en" sz="2800" baseline="-25000" dirty="0">
                <a:latin typeface="Times New Roman"/>
                <a:ea typeface="Times New Roman"/>
                <a:cs typeface="Times New Roman"/>
                <a:sym typeface="Times New Roman"/>
              </a:rPr>
              <a:t>ij</a:t>
            </a:r>
            <a:r>
              <a:rPr lang="en" sz="2800" dirty="0">
                <a:latin typeface="Times New Roman"/>
                <a:ea typeface="Times New Roman"/>
                <a:cs typeface="Times New Roman"/>
                <a:sym typeface="Times New Roman"/>
              </a:rPr>
              <a:t> is weight of the term t</a:t>
            </a:r>
            <a:r>
              <a:rPr lang="en" sz="2800" baseline="-25000" dirty="0">
                <a:latin typeface="Times New Roman"/>
                <a:ea typeface="Times New Roman"/>
                <a:cs typeface="Times New Roman"/>
                <a:sym typeface="Times New Roman"/>
              </a:rPr>
              <a:t>i</a:t>
            </a:r>
            <a:r>
              <a:rPr lang="en" sz="2800" dirty="0">
                <a:latin typeface="Times New Roman"/>
                <a:ea typeface="Times New Roman"/>
                <a:cs typeface="Times New Roman"/>
                <a:sym typeface="Times New Roman"/>
              </a:rPr>
              <a:t>, of the document d</a:t>
            </a:r>
            <a:r>
              <a:rPr lang="en" sz="2800" baseline="-25000" dirty="0">
                <a:latin typeface="Times New Roman"/>
                <a:ea typeface="Times New Roman"/>
                <a:cs typeface="Times New Roman"/>
                <a:sym typeface="Times New Roman"/>
              </a:rPr>
              <a:t>j</a:t>
            </a:r>
            <a:r>
              <a:rPr lang="en" sz="2800" dirty="0">
                <a:latin typeface="Times New Roman"/>
                <a:ea typeface="Times New Roman"/>
                <a:cs typeface="Times New Roman"/>
                <a:sym typeface="Times New Roman"/>
              </a:rPr>
              <a:t>, in cluster C</a:t>
            </a:r>
            <a:r>
              <a:rPr lang="en" sz="2800" baseline="-25000" dirty="0">
                <a:latin typeface="Times New Roman"/>
                <a:ea typeface="Times New Roman"/>
                <a:cs typeface="Times New Roman"/>
                <a:sym typeface="Times New Roman"/>
              </a:rPr>
              <a:t>k</a:t>
            </a:r>
            <a:r>
              <a:rPr lang="en" sz="2800" dirty="0">
                <a:latin typeface="Times New Roman"/>
                <a:ea typeface="Times New Roman"/>
                <a:cs typeface="Times New Roman"/>
                <a:sym typeface="Times New Roman"/>
              </a:rPr>
              <a:t>.</a:t>
            </a: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During retrieval, the query is compared with the cluster vectors</a:t>
            </a:r>
            <a:endParaRPr sz="2800" dirty="0">
              <a:latin typeface="Times New Roman"/>
              <a:ea typeface="Times New Roman"/>
              <a:cs typeface="Times New Roman"/>
              <a:sym typeface="Times New Roman"/>
            </a:endParaRPr>
          </a:p>
          <a:p>
            <a:pPr marL="1828800" lvl="0" indent="0" algn="l" rtl="0">
              <a:lnSpc>
                <a:spcPct val="100000"/>
              </a:lnSpc>
              <a:spcBef>
                <a:spcPts val="1000"/>
              </a:spcBef>
              <a:spcAft>
                <a:spcPts val="0"/>
              </a:spcAft>
              <a:buSzPct val="105263"/>
              <a:buNone/>
            </a:pPr>
            <a:r>
              <a:rPr lang="en" sz="2800" dirty="0">
                <a:latin typeface="Times New Roman"/>
                <a:ea typeface="Times New Roman"/>
                <a:cs typeface="Times New Roman"/>
                <a:sym typeface="Times New Roman"/>
              </a:rPr>
              <a:t>(r</a:t>
            </a:r>
            <a:r>
              <a:rPr lang="en" sz="2800" baseline="-25000" dirty="0">
                <a:latin typeface="Times New Roman"/>
                <a:ea typeface="Times New Roman"/>
                <a:cs typeface="Times New Roman"/>
                <a:sym typeface="Times New Roman"/>
              </a:rPr>
              <a:t>1</a:t>
            </a:r>
            <a:r>
              <a:rPr lang="en" sz="2800" dirty="0">
                <a:latin typeface="Times New Roman"/>
                <a:ea typeface="Times New Roman"/>
                <a:cs typeface="Times New Roman"/>
                <a:sym typeface="Times New Roman"/>
              </a:rPr>
              <a:t>, r</a:t>
            </a:r>
            <a:r>
              <a:rPr lang="en" sz="2800" baseline="-25000" dirty="0">
                <a:latin typeface="Times New Roman"/>
                <a:ea typeface="Times New Roman"/>
                <a:cs typeface="Times New Roman"/>
                <a:sym typeface="Times New Roman"/>
              </a:rPr>
              <a:t>2</a:t>
            </a:r>
            <a:r>
              <a:rPr lang="en" sz="2800" dirty="0">
                <a:latin typeface="Times New Roman"/>
                <a:ea typeface="Times New Roman"/>
                <a:cs typeface="Times New Roman"/>
                <a:sym typeface="Times New Roman"/>
              </a:rPr>
              <a:t>, …, r</a:t>
            </a:r>
            <a:r>
              <a:rPr lang="en" sz="2800" baseline="-25000" dirty="0">
                <a:latin typeface="Times New Roman"/>
                <a:ea typeface="Times New Roman"/>
                <a:cs typeface="Times New Roman"/>
                <a:sym typeface="Times New Roman"/>
              </a:rPr>
              <a:t>k</a:t>
            </a:r>
            <a:r>
              <a:rPr lang="en" sz="2800" dirty="0">
                <a:latin typeface="Times New Roman"/>
                <a:ea typeface="Times New Roman"/>
                <a:cs typeface="Times New Roman"/>
                <a:sym typeface="Times New Roman"/>
              </a:rPr>
              <a:t>, …, r</a:t>
            </a:r>
            <a:r>
              <a:rPr lang="en" sz="2800" baseline="-25000" dirty="0">
                <a:latin typeface="Times New Roman"/>
                <a:ea typeface="Times New Roman"/>
                <a:cs typeface="Times New Roman"/>
                <a:sym typeface="Times New Roman"/>
              </a:rPr>
              <a:t>p</a:t>
            </a:r>
            <a:r>
              <a:rPr lang="en" sz="2800" dirty="0">
                <a:latin typeface="Times New Roman"/>
                <a:ea typeface="Times New Roman"/>
                <a:cs typeface="Times New Roman"/>
                <a:sym typeface="Times New Roman"/>
              </a:rPr>
              <a:t> )</a:t>
            </a: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0"/>
              </a:spcAft>
              <a:buSzPct val="100000"/>
              <a:buFont typeface="Times New Roman"/>
              <a:buChar char="•"/>
            </a:pPr>
            <a:r>
              <a:rPr lang="en" sz="2800" dirty="0">
                <a:latin typeface="Times New Roman"/>
                <a:ea typeface="Times New Roman"/>
                <a:cs typeface="Times New Roman"/>
                <a:sym typeface="Times New Roman"/>
              </a:rPr>
              <a:t>This comparison is carried out by computing the similarity between the query vector q and the representative vector r, as </a:t>
            </a:r>
            <a:endParaRPr sz="2800" dirty="0">
              <a:latin typeface="Times New Roman"/>
              <a:ea typeface="Times New Roman"/>
              <a:cs typeface="Times New Roman"/>
              <a:sym typeface="Times New Roman"/>
            </a:endParaRPr>
          </a:p>
          <a:p>
            <a:pPr marL="457200" lvl="0" indent="0" algn="l" rtl="0">
              <a:lnSpc>
                <a:spcPct val="100000"/>
              </a:lnSpc>
              <a:spcBef>
                <a:spcPts val="1000"/>
              </a:spcBef>
              <a:spcAft>
                <a:spcPts val="0"/>
              </a:spcAft>
              <a:buSzPct val="105263"/>
              <a:buNone/>
            </a:pPr>
            <a:endParaRPr sz="2800" dirty="0">
              <a:latin typeface="Times New Roman"/>
              <a:ea typeface="Times New Roman"/>
              <a:cs typeface="Times New Roman"/>
              <a:sym typeface="Times New Roman"/>
            </a:endParaRPr>
          </a:p>
          <a:p>
            <a:pPr marL="457200" lvl="0" indent="-313055" algn="l" rtl="0">
              <a:lnSpc>
                <a:spcPct val="100000"/>
              </a:lnSpc>
              <a:spcBef>
                <a:spcPts val="1000"/>
              </a:spcBef>
              <a:spcAft>
                <a:spcPts val="1000"/>
              </a:spcAft>
              <a:buSzPct val="100000"/>
              <a:buFont typeface="Times New Roman"/>
              <a:buChar char="•"/>
            </a:pPr>
            <a:r>
              <a:rPr lang="en" sz="2800" dirty="0">
                <a:latin typeface="Times New Roman"/>
                <a:ea typeface="Times New Roman"/>
                <a:cs typeface="Times New Roman"/>
                <a:sym typeface="Times New Roman"/>
              </a:rPr>
              <a:t>A cluster C, whose similarity s, exceeds a threshold is returned and the search proceeds in that cluster.</a:t>
            </a:r>
            <a:endParaRPr dirty="0">
              <a:latin typeface="Times New Roman"/>
              <a:ea typeface="Times New Roman"/>
              <a:cs typeface="Times New Roman"/>
              <a:sym typeface="Times New Roman"/>
            </a:endParaRPr>
          </a:p>
        </p:txBody>
      </p:sp>
      <p:pic>
        <p:nvPicPr>
          <p:cNvPr id="502" name="Google Shape;502;p45"/>
          <p:cNvPicPr preferRelativeResize="0"/>
          <p:nvPr/>
        </p:nvPicPr>
        <p:blipFill rotWithShape="1">
          <a:blip r:embed="rId3">
            <a:alphaModFix/>
          </a:blip>
          <a:srcRect/>
          <a:stretch/>
        </p:blipFill>
        <p:spPr>
          <a:xfrm>
            <a:off x="2031425" y="1920675"/>
            <a:ext cx="968951" cy="607774"/>
          </a:xfrm>
          <a:prstGeom prst="rect">
            <a:avLst/>
          </a:prstGeom>
          <a:noFill/>
          <a:ln>
            <a:noFill/>
          </a:ln>
        </p:spPr>
      </p:pic>
      <p:pic>
        <p:nvPicPr>
          <p:cNvPr id="503" name="Google Shape;503;p45"/>
          <p:cNvPicPr preferRelativeResize="0"/>
          <p:nvPr/>
        </p:nvPicPr>
        <p:blipFill rotWithShape="1">
          <a:blip r:embed="rId4">
            <a:alphaModFix/>
          </a:blip>
          <a:srcRect/>
          <a:stretch/>
        </p:blipFill>
        <p:spPr>
          <a:xfrm>
            <a:off x="3224305" y="3786525"/>
            <a:ext cx="2378118" cy="474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6"/>
          <p:cNvSpPr txBox="1">
            <a:spLocks noGrp="1"/>
          </p:cNvSpPr>
          <p:nvPr>
            <p:ph type="title"/>
          </p:nvPr>
        </p:nvSpPr>
        <p:spPr>
          <a:xfrm>
            <a:off x="628650" y="273847"/>
            <a:ext cx="7886700" cy="458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Cluster Model - Example</a:t>
            </a:r>
            <a:endParaRPr/>
          </a:p>
        </p:txBody>
      </p:sp>
      <p:sp>
        <p:nvSpPr>
          <p:cNvPr id="509" name="Google Shape;509;p46"/>
          <p:cNvSpPr txBox="1">
            <a:spLocks noGrp="1"/>
          </p:cNvSpPr>
          <p:nvPr>
            <p:ph type="body" idx="1"/>
          </p:nvPr>
        </p:nvSpPr>
        <p:spPr>
          <a:xfrm>
            <a:off x="840000" y="810501"/>
            <a:ext cx="7675500" cy="38220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endParaRPr/>
          </a:p>
        </p:txBody>
      </p:sp>
      <p:pic>
        <p:nvPicPr>
          <p:cNvPr id="510" name="Google Shape;510;p46"/>
          <p:cNvPicPr preferRelativeResize="0"/>
          <p:nvPr/>
        </p:nvPicPr>
        <p:blipFill rotWithShape="1">
          <a:blip r:embed="rId3">
            <a:alphaModFix/>
          </a:blip>
          <a:srcRect/>
          <a:stretch/>
        </p:blipFill>
        <p:spPr>
          <a:xfrm>
            <a:off x="840000" y="847100"/>
            <a:ext cx="1467699" cy="1318025"/>
          </a:xfrm>
          <a:prstGeom prst="rect">
            <a:avLst/>
          </a:prstGeom>
          <a:noFill/>
          <a:ln>
            <a:noFill/>
          </a:ln>
        </p:spPr>
      </p:pic>
      <p:pic>
        <p:nvPicPr>
          <p:cNvPr id="511" name="Google Shape;511;p46"/>
          <p:cNvPicPr preferRelativeResize="0"/>
          <p:nvPr/>
        </p:nvPicPr>
        <p:blipFill rotWithShape="1">
          <a:blip r:embed="rId4">
            <a:alphaModFix/>
          </a:blip>
          <a:srcRect/>
          <a:stretch/>
        </p:blipFill>
        <p:spPr>
          <a:xfrm>
            <a:off x="2361325" y="847100"/>
            <a:ext cx="6154025" cy="37175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7"/>
          <p:cNvSpPr txBox="1">
            <a:spLocks noGrp="1"/>
          </p:cNvSpPr>
          <p:nvPr>
            <p:ph type="title"/>
          </p:nvPr>
        </p:nvSpPr>
        <p:spPr>
          <a:xfrm>
            <a:off x="628650" y="273847"/>
            <a:ext cx="7886700" cy="482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3490">
                <a:latin typeface="Times New Roman"/>
                <a:ea typeface="Times New Roman"/>
                <a:cs typeface="Times New Roman"/>
                <a:sym typeface="Times New Roman"/>
              </a:rPr>
              <a:t>Fuzzy Model</a:t>
            </a:r>
            <a:endParaRPr sz="3490">
              <a:latin typeface="Times New Roman"/>
              <a:ea typeface="Times New Roman"/>
              <a:cs typeface="Times New Roman"/>
              <a:sym typeface="Times New Roman"/>
            </a:endParaRPr>
          </a:p>
        </p:txBody>
      </p:sp>
      <p:sp>
        <p:nvSpPr>
          <p:cNvPr id="517" name="Google Shape;517;p47"/>
          <p:cNvSpPr txBox="1">
            <a:spLocks noGrp="1"/>
          </p:cNvSpPr>
          <p:nvPr>
            <p:ph type="body" idx="1"/>
          </p:nvPr>
        </p:nvSpPr>
        <p:spPr>
          <a:xfrm>
            <a:off x="628800" y="755950"/>
            <a:ext cx="7886700" cy="3876600"/>
          </a:xfrm>
          <a:prstGeom prst="rect">
            <a:avLst/>
          </a:prstGeom>
          <a:noFill/>
          <a:ln>
            <a:noFill/>
          </a:ln>
        </p:spPr>
        <p:txBody>
          <a:bodyPr spcFirstLastPara="1" wrap="square" lIns="68575" tIns="34275" rIns="68575" bIns="34275" anchor="t" anchorCtr="0">
            <a:normAutofit/>
          </a:bodyPr>
          <a:lstStyle/>
          <a:p>
            <a:pPr marL="228600" lvl="0" indent="-179705" algn="l" rtl="0">
              <a:lnSpc>
                <a:spcPct val="100000"/>
              </a:lnSpc>
              <a:spcBef>
                <a:spcPts val="0"/>
              </a:spcBef>
              <a:spcAft>
                <a:spcPts val="0"/>
              </a:spcAft>
              <a:buSzPts val="1400"/>
              <a:buChar char="•"/>
            </a:pPr>
            <a:r>
              <a:rPr lang="en" sz="1400">
                <a:latin typeface="Times New Roman"/>
                <a:ea typeface="Times New Roman"/>
                <a:cs typeface="Times New Roman"/>
                <a:sym typeface="Times New Roman"/>
              </a:rPr>
              <a:t>In the fuzzy model, the document is represented as a fuzzy set of terms, i.e., a set of pairs </a:t>
            </a:r>
            <a:r>
              <a:rPr lang="en" sz="1400" b="1">
                <a:solidFill>
                  <a:srgbClr val="FFFF00"/>
                </a:solidFill>
                <a:latin typeface="Times New Roman"/>
                <a:ea typeface="Times New Roman"/>
                <a:cs typeface="Times New Roman"/>
                <a:sym typeface="Times New Roman"/>
              </a:rPr>
              <a:t>[ t</a:t>
            </a:r>
            <a:r>
              <a:rPr lang="en" sz="1400" b="1" baseline="-25000">
                <a:solidFill>
                  <a:srgbClr val="FFFF00"/>
                </a:solidFill>
                <a:latin typeface="Times New Roman"/>
                <a:ea typeface="Times New Roman"/>
                <a:cs typeface="Times New Roman"/>
                <a:sym typeface="Times New Roman"/>
              </a:rPr>
              <a:t>i</a:t>
            </a:r>
            <a:r>
              <a:rPr lang="en" sz="1400" b="1">
                <a:solidFill>
                  <a:srgbClr val="FFFF00"/>
                </a:solidFill>
                <a:latin typeface="Times New Roman"/>
                <a:ea typeface="Times New Roman"/>
                <a:cs typeface="Times New Roman"/>
                <a:sym typeface="Times New Roman"/>
              </a:rPr>
              <a:t> ,μ (t</a:t>
            </a:r>
            <a:r>
              <a:rPr lang="en" sz="1400" b="1" baseline="-25000">
                <a:solidFill>
                  <a:srgbClr val="FFFF00"/>
                </a:solidFill>
                <a:latin typeface="Times New Roman"/>
                <a:ea typeface="Times New Roman"/>
                <a:cs typeface="Times New Roman"/>
                <a:sym typeface="Times New Roman"/>
              </a:rPr>
              <a:t>i </a:t>
            </a:r>
            <a:r>
              <a:rPr lang="en" sz="1400" b="1">
                <a:solidFill>
                  <a:srgbClr val="FFFF00"/>
                </a:solidFill>
                <a:latin typeface="Times New Roman"/>
                <a:ea typeface="Times New Roman"/>
                <a:cs typeface="Times New Roman"/>
                <a:sym typeface="Times New Roman"/>
              </a:rPr>
              <a:t>) ] </a:t>
            </a:r>
            <a:r>
              <a:rPr lang="en" sz="1400">
                <a:latin typeface="Times New Roman"/>
                <a:ea typeface="Times New Roman"/>
                <a:cs typeface="Times New Roman"/>
                <a:sym typeface="Times New Roman"/>
              </a:rPr>
              <a:t>Where μ is the membership function.</a:t>
            </a:r>
            <a:endParaRPr sz="1400">
              <a:latin typeface="Times New Roman"/>
              <a:ea typeface="Times New Roman"/>
              <a:cs typeface="Times New Roman"/>
              <a:sym typeface="Times New Roman"/>
            </a:endParaRPr>
          </a:p>
          <a:p>
            <a:pPr marL="228600" lvl="0" indent="-179705"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The membership function assigns to each term of the document a numeric membership degree.</a:t>
            </a:r>
            <a:endParaRPr sz="1400">
              <a:latin typeface="Times New Roman"/>
              <a:ea typeface="Times New Roman"/>
              <a:cs typeface="Times New Roman"/>
              <a:sym typeface="Times New Roman"/>
            </a:endParaRPr>
          </a:p>
          <a:p>
            <a:pPr marL="228600" lvl="0" indent="-179705"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The membership degree expresses the significance of term to the information contained in the document.</a:t>
            </a:r>
            <a:endParaRPr sz="1400">
              <a:latin typeface="Times New Roman"/>
              <a:ea typeface="Times New Roman"/>
              <a:cs typeface="Times New Roman"/>
              <a:sym typeface="Times New Roman"/>
            </a:endParaRPr>
          </a:p>
          <a:p>
            <a:pPr marL="228600" lvl="0" indent="-179705"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Significance values (weights) are assigned based on the number of occurrences of the term in the document and in the entire document collection. </a:t>
            </a:r>
            <a:endParaRPr sz="1400">
              <a:latin typeface="Times New Roman"/>
              <a:ea typeface="Times New Roman"/>
              <a:cs typeface="Times New Roman"/>
              <a:sym typeface="Times New Roman"/>
            </a:endParaRPr>
          </a:p>
          <a:p>
            <a:pPr marL="228600" lvl="0" indent="-179705"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Each document in the collection - </a:t>
            </a:r>
            <a:endParaRPr sz="14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400"/>
              <a:buNone/>
            </a:pPr>
            <a:r>
              <a:rPr lang="en" sz="1400">
                <a:latin typeface="Times New Roman"/>
                <a:ea typeface="Times New Roman"/>
                <a:cs typeface="Times New Roman"/>
                <a:sym typeface="Times New Roman"/>
              </a:rPr>
              <a:t>D = { 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 d</a:t>
            </a:r>
            <a:r>
              <a:rPr lang="en" sz="1400" baseline="-25000">
                <a:latin typeface="Times New Roman"/>
                <a:ea typeface="Times New Roman"/>
                <a:cs typeface="Times New Roman"/>
                <a:sym typeface="Times New Roman"/>
              </a:rPr>
              <a:t>j</a:t>
            </a:r>
            <a:r>
              <a:rPr lang="en" sz="1400">
                <a:latin typeface="Times New Roman"/>
                <a:ea typeface="Times New Roman"/>
                <a:cs typeface="Times New Roman"/>
                <a:sym typeface="Times New Roman"/>
              </a:rPr>
              <a:t>, …, d</a:t>
            </a:r>
            <a:r>
              <a:rPr lang="en" sz="1400" baseline="-25000">
                <a:latin typeface="Times New Roman"/>
                <a:ea typeface="Times New Roman"/>
                <a:cs typeface="Times New Roman"/>
                <a:sym typeface="Times New Roman"/>
              </a:rPr>
              <a:t>n</a:t>
            </a:r>
            <a:r>
              <a:rPr lang="en" sz="1400">
                <a:latin typeface="Times New Roman"/>
                <a:ea typeface="Times New Roman"/>
                <a:cs typeface="Times New Roman"/>
                <a:sym typeface="Times New Roman"/>
              </a:rPr>
              <a:t> } </a:t>
            </a:r>
            <a:endParaRPr sz="1400">
              <a:latin typeface="Times New Roman"/>
              <a:ea typeface="Times New Roman"/>
              <a:cs typeface="Times New Roman"/>
              <a:sym typeface="Times New Roman"/>
            </a:endParaRPr>
          </a:p>
          <a:p>
            <a:pPr marL="228600" lvl="0" indent="0" algn="l" rtl="0">
              <a:lnSpc>
                <a:spcPct val="100000"/>
              </a:lnSpc>
              <a:spcBef>
                <a:spcPts val="1000"/>
              </a:spcBef>
              <a:spcAft>
                <a:spcPts val="0"/>
              </a:spcAft>
              <a:buSzPts val="1400"/>
              <a:buNone/>
            </a:pPr>
            <a:r>
              <a:rPr lang="en" sz="1400">
                <a:latin typeface="Times New Roman"/>
                <a:ea typeface="Times New Roman"/>
                <a:cs typeface="Times New Roman"/>
                <a:sym typeface="Times New Roman"/>
              </a:rPr>
              <a:t>Can thus be represented as a vector of term weights,</a:t>
            </a:r>
            <a:endParaRPr sz="14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400"/>
              <a:buNone/>
            </a:pPr>
            <a:r>
              <a:rPr lang="en" sz="1400">
                <a:latin typeface="Times New Roman"/>
                <a:ea typeface="Times New Roman"/>
                <a:cs typeface="Times New Roman"/>
                <a:sym typeface="Times New Roman"/>
              </a:rPr>
              <a:t>(w</a:t>
            </a:r>
            <a:r>
              <a:rPr lang="en" sz="1400" baseline="-25000">
                <a:latin typeface="Times New Roman"/>
                <a:ea typeface="Times New Roman"/>
                <a:cs typeface="Times New Roman"/>
                <a:sym typeface="Times New Roman"/>
              </a:rPr>
              <a:t>ij</a:t>
            </a:r>
            <a:r>
              <a:rPr lang="en" sz="1400">
                <a:latin typeface="Times New Roman"/>
                <a:ea typeface="Times New Roman"/>
                <a:cs typeface="Times New Roman"/>
                <a:sym typeface="Times New Roman"/>
              </a:rPr>
              <a:t>, w</a:t>
            </a:r>
            <a:r>
              <a:rPr lang="en" sz="1400" baseline="-25000">
                <a:latin typeface="Times New Roman"/>
                <a:ea typeface="Times New Roman"/>
                <a:cs typeface="Times New Roman"/>
                <a:sym typeface="Times New Roman"/>
              </a:rPr>
              <a:t>2j</a:t>
            </a:r>
            <a:r>
              <a:rPr lang="en" sz="1400">
                <a:latin typeface="Times New Roman"/>
                <a:ea typeface="Times New Roman"/>
                <a:cs typeface="Times New Roman"/>
                <a:sym typeface="Times New Roman"/>
              </a:rPr>
              <a:t>, w</a:t>
            </a:r>
            <a:r>
              <a:rPr lang="en" sz="1400" baseline="-25000">
                <a:latin typeface="Times New Roman"/>
                <a:ea typeface="Times New Roman"/>
                <a:cs typeface="Times New Roman"/>
                <a:sym typeface="Times New Roman"/>
              </a:rPr>
              <a:t>3j</a:t>
            </a:r>
            <a:r>
              <a:rPr lang="en" sz="1400">
                <a:latin typeface="Times New Roman"/>
                <a:ea typeface="Times New Roman"/>
                <a:cs typeface="Times New Roman"/>
                <a:sym typeface="Times New Roman"/>
              </a:rPr>
              <a:t>, …, w</a:t>
            </a:r>
            <a:r>
              <a:rPr lang="en" sz="1400" baseline="-25000">
                <a:latin typeface="Times New Roman"/>
                <a:ea typeface="Times New Roman"/>
                <a:cs typeface="Times New Roman"/>
                <a:sym typeface="Times New Roman"/>
              </a:rPr>
              <a:t>ij</a:t>
            </a:r>
            <a:r>
              <a:rPr lang="en" sz="1400">
                <a:latin typeface="Times New Roman"/>
                <a:ea typeface="Times New Roman"/>
                <a:cs typeface="Times New Roman"/>
                <a:sym typeface="Times New Roman"/>
              </a:rPr>
              <a:t>, …, w</a:t>
            </a:r>
            <a:r>
              <a:rPr lang="en" sz="1400" baseline="-25000">
                <a:latin typeface="Times New Roman"/>
                <a:ea typeface="Times New Roman"/>
                <a:cs typeface="Times New Roman"/>
                <a:sym typeface="Times New Roman"/>
              </a:rPr>
              <a:t>mj</a:t>
            </a:r>
            <a:r>
              <a:rPr lang="en" sz="1400">
                <a:latin typeface="Times New Roman"/>
                <a:ea typeface="Times New Roman"/>
                <a:cs typeface="Times New Roman"/>
                <a:sym typeface="Times New Roman"/>
              </a:rPr>
              <a:t> )</a:t>
            </a:r>
            <a:r>
              <a:rPr lang="en" sz="1800" baseline="30000">
                <a:latin typeface="Times New Roman"/>
                <a:ea typeface="Times New Roman"/>
                <a:cs typeface="Times New Roman"/>
                <a:sym typeface="Times New Roman"/>
              </a:rPr>
              <a:t> t</a:t>
            </a:r>
            <a:endParaRPr sz="1800" baseline="30000">
              <a:latin typeface="Times New Roman"/>
              <a:ea typeface="Times New Roman"/>
              <a:cs typeface="Times New Roman"/>
              <a:sym typeface="Times New Roman"/>
            </a:endParaRPr>
          </a:p>
          <a:p>
            <a:pPr marL="0" lvl="0" indent="0" algn="l" rtl="0">
              <a:lnSpc>
                <a:spcPct val="100000"/>
              </a:lnSpc>
              <a:spcBef>
                <a:spcPts val="1000"/>
              </a:spcBef>
              <a:spcAft>
                <a:spcPts val="0"/>
              </a:spcAft>
              <a:buSzPts val="1400"/>
              <a:buNone/>
            </a:pPr>
            <a:r>
              <a:rPr lang="en" sz="1400">
                <a:latin typeface="Times New Roman"/>
                <a:ea typeface="Times New Roman"/>
                <a:cs typeface="Times New Roman"/>
                <a:sym typeface="Times New Roman"/>
              </a:rPr>
              <a:t>Where w</a:t>
            </a:r>
            <a:r>
              <a:rPr lang="en" sz="1400" baseline="-25000">
                <a:latin typeface="Times New Roman"/>
                <a:ea typeface="Times New Roman"/>
                <a:cs typeface="Times New Roman"/>
                <a:sym typeface="Times New Roman"/>
              </a:rPr>
              <a:t>ij</a:t>
            </a:r>
            <a:r>
              <a:rPr lang="en" sz="1400">
                <a:latin typeface="Times New Roman"/>
                <a:ea typeface="Times New Roman"/>
                <a:cs typeface="Times New Roman"/>
                <a:sym typeface="Times New Roman"/>
              </a:rPr>
              <a:t> is the degree to which term t</a:t>
            </a:r>
            <a:r>
              <a:rPr lang="en" sz="1400" baseline="-25000">
                <a:latin typeface="Times New Roman"/>
                <a:ea typeface="Times New Roman"/>
                <a:cs typeface="Times New Roman"/>
                <a:sym typeface="Times New Roman"/>
              </a:rPr>
              <a:t>i</a:t>
            </a:r>
            <a:r>
              <a:rPr lang="en" sz="1400">
                <a:latin typeface="Times New Roman"/>
                <a:ea typeface="Times New Roman"/>
                <a:cs typeface="Times New Roman"/>
                <a:sym typeface="Times New Roman"/>
              </a:rPr>
              <a:t> belongs to document d</a:t>
            </a:r>
            <a:r>
              <a:rPr lang="en" sz="1400" baseline="-25000">
                <a:latin typeface="Times New Roman"/>
                <a:ea typeface="Times New Roman"/>
                <a:cs typeface="Times New Roman"/>
                <a:sym typeface="Times New Roman"/>
              </a:rPr>
              <a:t>j</a:t>
            </a:r>
            <a:r>
              <a:rPr lang="en"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marL="0" lvl="0" indent="0" algn="l" rtl="0">
              <a:lnSpc>
                <a:spcPct val="100000"/>
              </a:lnSpc>
              <a:spcBef>
                <a:spcPts val="1000"/>
              </a:spcBef>
              <a:spcAft>
                <a:spcPts val="1000"/>
              </a:spcAft>
              <a:buSzPts val="1400"/>
              <a:buNone/>
            </a:pPr>
            <a:endParaRPr sz="1400">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8"/>
          <p:cNvSpPr txBox="1">
            <a:spLocks noGrp="1"/>
          </p:cNvSpPr>
          <p:nvPr>
            <p:ph type="title"/>
          </p:nvPr>
        </p:nvSpPr>
        <p:spPr>
          <a:xfrm>
            <a:off x="628650" y="273847"/>
            <a:ext cx="7886700" cy="552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Fuzzy Model</a:t>
            </a:r>
            <a:endParaRPr/>
          </a:p>
        </p:txBody>
      </p:sp>
      <p:sp>
        <p:nvSpPr>
          <p:cNvPr id="523" name="Google Shape;523;p48"/>
          <p:cNvSpPr txBox="1">
            <a:spLocks noGrp="1"/>
          </p:cNvSpPr>
          <p:nvPr>
            <p:ph type="body" idx="1"/>
          </p:nvPr>
        </p:nvSpPr>
        <p:spPr>
          <a:xfrm>
            <a:off x="628800" y="826150"/>
            <a:ext cx="7886700" cy="3806400"/>
          </a:xfrm>
          <a:prstGeom prst="rect">
            <a:avLst/>
          </a:prstGeom>
          <a:noFill/>
          <a:ln>
            <a:noFill/>
          </a:ln>
        </p:spPr>
        <p:txBody>
          <a:bodyPr spcFirstLastPara="1" wrap="square" lIns="68575" tIns="34275" rIns="68575" bIns="34275" anchor="ctr" anchorCtr="0">
            <a:normAutofit fontScale="92500" lnSpcReduction="20000"/>
          </a:bodyPr>
          <a:lstStyle/>
          <a:p>
            <a:pPr marL="457200" lvl="0" indent="-310853" algn="l" rtl="0">
              <a:lnSpc>
                <a:spcPct val="100000"/>
              </a:lnSpc>
              <a:spcBef>
                <a:spcPts val="800"/>
              </a:spcBef>
              <a:spcAft>
                <a:spcPts val="0"/>
              </a:spcAft>
              <a:buSzPct val="66666"/>
              <a:buChar char="•"/>
            </a:pPr>
            <a:r>
              <a:rPr lang="en"/>
              <a:t>Each term in the document is considered a representative of a subject area and wij is the membership function of document dj to the subject area represented by term ti. </a:t>
            </a:r>
            <a:endParaRPr/>
          </a:p>
          <a:p>
            <a:pPr marL="457200" lvl="0" indent="-310853" algn="l" rtl="0">
              <a:lnSpc>
                <a:spcPct val="100000"/>
              </a:lnSpc>
              <a:spcBef>
                <a:spcPts val="1000"/>
              </a:spcBef>
              <a:spcAft>
                <a:spcPts val="0"/>
              </a:spcAft>
              <a:buSzPct val="66666"/>
              <a:buChar char="•"/>
            </a:pPr>
            <a:r>
              <a:rPr lang="en"/>
              <a:t>Each term ti is represented by a fuzzy set fi in the domain of documents given by</a:t>
            </a:r>
            <a:endParaRPr/>
          </a:p>
          <a:p>
            <a:pPr marL="457200" lvl="0" indent="0" algn="l" rtl="0">
              <a:lnSpc>
                <a:spcPct val="100000"/>
              </a:lnSpc>
              <a:spcBef>
                <a:spcPts val="1000"/>
              </a:spcBef>
              <a:spcAft>
                <a:spcPts val="0"/>
              </a:spcAft>
              <a:buSzPct val="72072"/>
              <a:buNone/>
            </a:pPr>
            <a:r>
              <a:rPr lang="en"/>
              <a:t>f</a:t>
            </a:r>
            <a:r>
              <a:rPr lang="en" baseline="-25000"/>
              <a:t>i</a:t>
            </a:r>
            <a:r>
              <a:rPr lang="en"/>
              <a:t> = { (d</a:t>
            </a:r>
            <a:r>
              <a:rPr lang="en" baseline="-25000"/>
              <a:t>j</a:t>
            </a:r>
            <a:r>
              <a:rPr lang="en"/>
              <a:t>, w</a:t>
            </a:r>
            <a:r>
              <a:rPr lang="en" baseline="-25000"/>
              <a:t>ij</a:t>
            </a:r>
            <a:r>
              <a:rPr lang="en"/>
              <a:t>) } | i = 1, …, m;  j = 1, …, n</a:t>
            </a:r>
            <a:endParaRPr/>
          </a:p>
          <a:p>
            <a:pPr marL="457200" lvl="0" indent="-310853" algn="l" rtl="0">
              <a:lnSpc>
                <a:spcPct val="100000"/>
              </a:lnSpc>
              <a:spcBef>
                <a:spcPts val="1000"/>
              </a:spcBef>
              <a:spcAft>
                <a:spcPts val="0"/>
              </a:spcAft>
              <a:buSzPct val="66666"/>
              <a:buChar char="•"/>
            </a:pPr>
            <a:r>
              <a:rPr lang="en"/>
              <a:t>This weighted representation makes it possible to rank the retrieved documents in decreasing order of their relevance to the user’s query.</a:t>
            </a:r>
            <a:endParaRPr/>
          </a:p>
          <a:p>
            <a:pPr marL="457200" lvl="0" indent="-310853" algn="l" rtl="0">
              <a:lnSpc>
                <a:spcPct val="100000"/>
              </a:lnSpc>
              <a:spcBef>
                <a:spcPts val="1000"/>
              </a:spcBef>
              <a:spcAft>
                <a:spcPts val="0"/>
              </a:spcAft>
              <a:buSzPct val="66666"/>
              <a:buChar char="•"/>
            </a:pPr>
            <a:r>
              <a:rPr lang="en"/>
              <a:t>Queries are Boolean queries.</a:t>
            </a:r>
            <a:endParaRPr/>
          </a:p>
          <a:p>
            <a:pPr marL="457200" lvl="0" indent="-310853" algn="l" rtl="0">
              <a:lnSpc>
                <a:spcPct val="100000"/>
              </a:lnSpc>
              <a:spcBef>
                <a:spcPts val="1000"/>
              </a:spcBef>
              <a:spcAft>
                <a:spcPts val="0"/>
              </a:spcAft>
              <a:buSzPct val="66666"/>
              <a:buChar char="•"/>
            </a:pPr>
            <a:r>
              <a:rPr lang="en"/>
              <a:t>For each term that appears in the query, a set of documents is retrieved. </a:t>
            </a:r>
            <a:endParaRPr/>
          </a:p>
          <a:p>
            <a:pPr marL="457200" lvl="0" indent="-310853" algn="l" rtl="0">
              <a:lnSpc>
                <a:spcPct val="100000"/>
              </a:lnSpc>
              <a:spcBef>
                <a:spcPts val="1000"/>
              </a:spcBef>
              <a:spcAft>
                <a:spcPts val="1000"/>
              </a:spcAft>
              <a:buSzPct val="66666"/>
              <a:buChar char="•"/>
            </a:pPr>
            <a:r>
              <a:rPr lang="en"/>
              <a:t>Fuzzy set operations are then applied to obtain the desired result.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49"/>
          <p:cNvSpPr txBox="1">
            <a:spLocks noGrp="1"/>
          </p:cNvSpPr>
          <p:nvPr>
            <p:ph type="title"/>
          </p:nvPr>
        </p:nvSpPr>
        <p:spPr>
          <a:xfrm>
            <a:off x="628650" y="273847"/>
            <a:ext cx="7886700" cy="513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Fuzzy Model</a:t>
            </a:r>
            <a:endParaRPr/>
          </a:p>
        </p:txBody>
      </p:sp>
      <p:sp>
        <p:nvSpPr>
          <p:cNvPr id="529" name="Google Shape;529;p49"/>
          <p:cNvSpPr txBox="1">
            <a:spLocks noGrp="1"/>
          </p:cNvSpPr>
          <p:nvPr>
            <p:ph type="body" idx="1"/>
          </p:nvPr>
        </p:nvSpPr>
        <p:spPr>
          <a:xfrm>
            <a:off x="628800" y="826075"/>
            <a:ext cx="7886700" cy="3806700"/>
          </a:xfrm>
          <a:prstGeom prst="rect">
            <a:avLst/>
          </a:prstGeom>
          <a:noFill/>
          <a:ln>
            <a:noFill/>
          </a:ln>
        </p:spPr>
        <p:txBody>
          <a:bodyPr spcFirstLastPara="1" wrap="square" lIns="68575" tIns="34275" rIns="68575" bIns="34275" anchor="ctr" anchorCtr="0">
            <a:normAutofit fontScale="62500" lnSpcReduction="20000"/>
          </a:bodyPr>
          <a:lstStyle/>
          <a:p>
            <a:pPr marL="0" lvl="0" indent="0" algn="l" rtl="0">
              <a:lnSpc>
                <a:spcPct val="100000"/>
              </a:lnSpc>
              <a:spcBef>
                <a:spcPts val="800"/>
              </a:spcBef>
              <a:spcAft>
                <a:spcPts val="0"/>
              </a:spcAft>
              <a:buSzPct val="95238"/>
              <a:buNone/>
            </a:pPr>
            <a:r>
              <a:rPr lang="en" b="1">
                <a:solidFill>
                  <a:srgbClr val="FFFF00"/>
                </a:solidFill>
                <a:latin typeface="Times New Roman"/>
                <a:ea typeface="Times New Roman"/>
                <a:cs typeface="Times New Roman"/>
                <a:sym typeface="Times New Roman"/>
              </a:rPr>
              <a:t>Single-term Query:</a:t>
            </a:r>
            <a:endParaRPr b="1">
              <a:solidFill>
                <a:srgbClr val="FFFF00"/>
              </a:solidFill>
              <a:latin typeface="Times New Roman"/>
              <a:ea typeface="Times New Roman"/>
              <a:cs typeface="Times New Roman"/>
              <a:sym typeface="Times New Roman"/>
            </a:endParaRPr>
          </a:p>
          <a:p>
            <a:pPr marL="457200" lvl="0" indent="-290830" algn="l" rtl="0">
              <a:lnSpc>
                <a:spcPct val="100000"/>
              </a:lnSpc>
              <a:spcBef>
                <a:spcPts val="1000"/>
              </a:spcBef>
              <a:spcAft>
                <a:spcPts val="0"/>
              </a:spcAft>
              <a:buSzPct val="66666"/>
              <a:buFont typeface="Times New Roman"/>
              <a:buChar char="•"/>
            </a:pPr>
            <a:r>
              <a:rPr lang="en">
                <a:latin typeface="Times New Roman"/>
                <a:ea typeface="Times New Roman"/>
                <a:cs typeface="Times New Roman"/>
                <a:sym typeface="Times New Roman"/>
              </a:rPr>
              <a:t>For a single-term query </a:t>
            </a:r>
            <a:r>
              <a:rPr lang="en">
                <a:solidFill>
                  <a:srgbClr val="00FFFF"/>
                </a:solidFill>
                <a:latin typeface="Times New Roman"/>
                <a:ea typeface="Times New Roman"/>
                <a:cs typeface="Times New Roman"/>
                <a:sym typeface="Times New Roman"/>
              </a:rPr>
              <a:t>q=t</a:t>
            </a:r>
            <a:r>
              <a:rPr lang="en" baseline="-25000">
                <a:solidFill>
                  <a:srgbClr val="00FFFF"/>
                </a:solidFill>
                <a:latin typeface="Times New Roman"/>
                <a:ea typeface="Times New Roman"/>
                <a:cs typeface="Times New Roman"/>
                <a:sym typeface="Times New Roman"/>
              </a:rPr>
              <a:t>q</a:t>
            </a:r>
            <a:r>
              <a:rPr lang="en">
                <a:latin typeface="Times New Roman"/>
                <a:ea typeface="Times New Roman"/>
                <a:cs typeface="Times New Roman"/>
                <a:sym typeface="Times New Roman"/>
              </a:rPr>
              <a:t>, those documents from the fuzzy set </a:t>
            </a:r>
            <a:endParaRPr>
              <a:latin typeface="Times New Roman"/>
              <a:ea typeface="Times New Roman"/>
              <a:cs typeface="Times New Roman"/>
              <a:sym typeface="Times New Roman"/>
            </a:endParaRPr>
          </a:p>
          <a:p>
            <a:pPr marL="1371600" lvl="0" indent="0" algn="l" rtl="0">
              <a:lnSpc>
                <a:spcPct val="100000"/>
              </a:lnSpc>
              <a:spcBef>
                <a:spcPts val="1000"/>
              </a:spcBef>
              <a:spcAft>
                <a:spcPts val="0"/>
              </a:spcAft>
              <a:buSzPct val="95238"/>
              <a:buNone/>
            </a:pPr>
            <a:r>
              <a:rPr lang="en">
                <a:solidFill>
                  <a:srgbClr val="00FFFF"/>
                </a:solidFill>
                <a:latin typeface="Times New Roman"/>
                <a:ea typeface="Times New Roman"/>
                <a:cs typeface="Times New Roman"/>
                <a:sym typeface="Times New Roman"/>
              </a:rPr>
              <a:t>f</a:t>
            </a:r>
            <a:r>
              <a:rPr lang="en" baseline="-25000">
                <a:solidFill>
                  <a:srgbClr val="00FFFF"/>
                </a:solidFill>
                <a:latin typeface="Times New Roman"/>
                <a:ea typeface="Times New Roman"/>
                <a:cs typeface="Times New Roman"/>
                <a:sym typeface="Times New Roman"/>
              </a:rPr>
              <a:t>q</a:t>
            </a:r>
            <a:r>
              <a:rPr lang="en">
                <a:solidFill>
                  <a:srgbClr val="00FFFF"/>
                </a:solidFill>
                <a:latin typeface="Times New Roman"/>
                <a:ea typeface="Times New Roman"/>
                <a:cs typeface="Times New Roman"/>
                <a:sym typeface="Times New Roman"/>
              </a:rPr>
              <a:t> ={(d</a:t>
            </a:r>
            <a:r>
              <a:rPr lang="en" baseline="-25000">
                <a:solidFill>
                  <a:srgbClr val="00FFFF"/>
                </a:solidFill>
                <a:latin typeface="Times New Roman"/>
                <a:ea typeface="Times New Roman"/>
                <a:cs typeface="Times New Roman"/>
                <a:sym typeface="Times New Roman"/>
              </a:rPr>
              <a:t>j</a:t>
            </a:r>
            <a:r>
              <a:rPr lang="en">
                <a:solidFill>
                  <a:srgbClr val="00FFFF"/>
                </a:solidFill>
                <a:latin typeface="Times New Roman"/>
                <a:ea typeface="Times New Roman"/>
                <a:cs typeface="Times New Roman"/>
                <a:sym typeface="Times New Roman"/>
              </a:rPr>
              <a:t>, w</a:t>
            </a:r>
            <a:r>
              <a:rPr lang="en" baseline="-25000">
                <a:solidFill>
                  <a:srgbClr val="00FFFF"/>
                </a:solidFill>
                <a:latin typeface="Times New Roman"/>
                <a:ea typeface="Times New Roman"/>
                <a:cs typeface="Times New Roman"/>
                <a:sym typeface="Times New Roman"/>
              </a:rPr>
              <a:t>iq</a:t>
            </a:r>
            <a:r>
              <a:rPr lang="en">
                <a:solidFill>
                  <a:srgbClr val="00FFFF"/>
                </a:solidFill>
                <a:latin typeface="Times New Roman"/>
                <a:ea typeface="Times New Roman"/>
                <a:cs typeface="Times New Roman"/>
                <a:sym typeface="Times New Roman"/>
              </a:rPr>
              <a:t>)}</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0" lvl="0" indent="457200" algn="l" rtl="0">
              <a:lnSpc>
                <a:spcPct val="100000"/>
              </a:lnSpc>
              <a:spcBef>
                <a:spcPts val="1000"/>
              </a:spcBef>
              <a:spcAft>
                <a:spcPts val="0"/>
              </a:spcAft>
              <a:buSzPct val="95238"/>
              <a:buNone/>
            </a:pPr>
            <a:r>
              <a:rPr lang="en">
                <a:latin typeface="Times New Roman"/>
                <a:ea typeface="Times New Roman"/>
                <a:cs typeface="Times New Roman"/>
                <a:sym typeface="Times New Roman"/>
              </a:rPr>
              <a:t>are retrieved for which wiq exceeds a given threshold. The threshold may also be zero.</a:t>
            </a:r>
            <a:endParaRPr>
              <a:latin typeface="Times New Roman"/>
              <a:ea typeface="Times New Roman"/>
              <a:cs typeface="Times New Roman"/>
              <a:sym typeface="Times New Roman"/>
            </a:endParaRPr>
          </a:p>
          <a:p>
            <a:pPr marL="0" lvl="0" indent="0" algn="l" rtl="0">
              <a:lnSpc>
                <a:spcPct val="100000"/>
              </a:lnSpc>
              <a:spcBef>
                <a:spcPts val="1000"/>
              </a:spcBef>
              <a:spcAft>
                <a:spcPts val="0"/>
              </a:spcAft>
              <a:buSzPct val="95238"/>
              <a:buNone/>
            </a:pPr>
            <a:r>
              <a:rPr lang="en" b="1">
                <a:solidFill>
                  <a:srgbClr val="FFFF00"/>
                </a:solidFill>
                <a:latin typeface="Times New Roman"/>
                <a:ea typeface="Times New Roman"/>
                <a:cs typeface="Times New Roman"/>
                <a:sym typeface="Times New Roman"/>
              </a:rPr>
              <a:t>AND Query</a:t>
            </a:r>
            <a:r>
              <a:rPr lang="en">
                <a:solidFill>
                  <a:srgbClr val="FFFF00"/>
                </a:solidFill>
                <a:latin typeface="Times New Roman"/>
                <a:ea typeface="Times New Roman"/>
                <a:cs typeface="Times New Roman"/>
                <a:sym typeface="Times New Roman"/>
              </a:rPr>
              <a:t>:</a:t>
            </a:r>
            <a:endParaRPr>
              <a:solidFill>
                <a:srgbClr val="FFFF00"/>
              </a:solidFill>
              <a:latin typeface="Times New Roman"/>
              <a:ea typeface="Times New Roman"/>
              <a:cs typeface="Times New Roman"/>
              <a:sym typeface="Times New Roman"/>
            </a:endParaRPr>
          </a:p>
          <a:p>
            <a:pPr marL="457200" lvl="0" indent="-290830" algn="l" rtl="0">
              <a:lnSpc>
                <a:spcPct val="100000"/>
              </a:lnSpc>
              <a:spcBef>
                <a:spcPts val="1000"/>
              </a:spcBef>
              <a:spcAft>
                <a:spcPts val="0"/>
              </a:spcAft>
              <a:buSzPct val="66666"/>
              <a:buFont typeface="Times New Roman"/>
              <a:buChar char="•"/>
            </a:pPr>
            <a:r>
              <a:rPr lang="en">
                <a:latin typeface="Times New Roman"/>
                <a:ea typeface="Times New Roman"/>
                <a:cs typeface="Times New Roman"/>
                <a:sym typeface="Times New Roman"/>
              </a:rPr>
              <a:t>For an AND query </a:t>
            </a:r>
            <a:r>
              <a:rPr lang="en">
                <a:solidFill>
                  <a:srgbClr val="00FFFF"/>
                </a:solidFill>
                <a:latin typeface="Times New Roman"/>
                <a:ea typeface="Times New Roman"/>
                <a:cs typeface="Times New Roman"/>
                <a:sym typeface="Times New Roman"/>
              </a:rPr>
              <a:t>q = t</a:t>
            </a:r>
            <a:r>
              <a:rPr lang="en" baseline="-25000">
                <a:solidFill>
                  <a:srgbClr val="00FFFF"/>
                </a:solidFill>
                <a:latin typeface="Times New Roman"/>
                <a:ea typeface="Times New Roman"/>
                <a:cs typeface="Times New Roman"/>
                <a:sym typeface="Times New Roman"/>
              </a:rPr>
              <a:t>q1</a:t>
            </a:r>
            <a:r>
              <a:rPr lang="en">
                <a:solidFill>
                  <a:srgbClr val="00FFFF"/>
                </a:solidFill>
                <a:latin typeface="Times New Roman"/>
                <a:ea typeface="Times New Roman"/>
                <a:cs typeface="Times New Roman"/>
                <a:sym typeface="Times New Roman"/>
              </a:rPr>
              <a:t> ^ t</a:t>
            </a:r>
            <a:r>
              <a:rPr lang="en" baseline="-25000">
                <a:solidFill>
                  <a:srgbClr val="00FFFF"/>
                </a:solidFill>
                <a:latin typeface="Times New Roman"/>
                <a:ea typeface="Times New Roman"/>
                <a:cs typeface="Times New Roman"/>
                <a:sym typeface="Times New Roman"/>
              </a:rPr>
              <a:t>q2</a:t>
            </a:r>
            <a:r>
              <a:rPr lang="en">
                <a:latin typeface="Times New Roman"/>
                <a:ea typeface="Times New Roman"/>
                <a:cs typeface="Times New Roman"/>
                <a:sym typeface="Times New Roman"/>
              </a:rPr>
              <a:t>, the fuzzy sets fq1 and fq2 are obtained and then, their intersection is obtained, using the fuzzy intersection operator </a:t>
            </a:r>
            <a:endParaRPr>
              <a:latin typeface="Times New Roman"/>
              <a:ea typeface="Times New Roman"/>
              <a:cs typeface="Times New Roman"/>
              <a:sym typeface="Times New Roman"/>
            </a:endParaRPr>
          </a:p>
          <a:p>
            <a:pPr marL="914400" lvl="0" indent="457200" algn="l" rtl="0">
              <a:lnSpc>
                <a:spcPct val="100000"/>
              </a:lnSpc>
              <a:spcBef>
                <a:spcPts val="1000"/>
              </a:spcBef>
              <a:spcAft>
                <a:spcPts val="0"/>
              </a:spcAft>
              <a:buSzPct val="95238"/>
              <a:buNone/>
            </a:pPr>
            <a:r>
              <a:rPr lang="en">
                <a:solidFill>
                  <a:srgbClr val="00FFFF"/>
                </a:solidFill>
                <a:latin typeface="Times New Roman"/>
                <a:ea typeface="Times New Roman"/>
                <a:cs typeface="Times New Roman"/>
                <a:sym typeface="Times New Roman"/>
              </a:rPr>
              <a:t>f</a:t>
            </a:r>
            <a:r>
              <a:rPr lang="en" baseline="-25000">
                <a:solidFill>
                  <a:srgbClr val="00FFFF"/>
                </a:solidFill>
                <a:latin typeface="Times New Roman"/>
                <a:ea typeface="Times New Roman"/>
                <a:cs typeface="Times New Roman"/>
                <a:sym typeface="Times New Roman"/>
              </a:rPr>
              <a:t>q1</a:t>
            </a:r>
            <a:r>
              <a:rPr lang="en">
                <a:solidFill>
                  <a:srgbClr val="00FFFF"/>
                </a:solidFill>
                <a:latin typeface="Times New Roman"/>
                <a:ea typeface="Times New Roman"/>
                <a:cs typeface="Times New Roman"/>
                <a:sym typeface="Times New Roman"/>
              </a:rPr>
              <a:t> ^ f</a:t>
            </a:r>
            <a:r>
              <a:rPr lang="en" baseline="-25000">
                <a:solidFill>
                  <a:srgbClr val="00FFFF"/>
                </a:solidFill>
                <a:latin typeface="Times New Roman"/>
                <a:ea typeface="Times New Roman"/>
                <a:cs typeface="Times New Roman"/>
                <a:sym typeface="Times New Roman"/>
              </a:rPr>
              <a:t>q2</a:t>
            </a:r>
            <a:r>
              <a:rPr lang="en">
                <a:solidFill>
                  <a:srgbClr val="00FFFF"/>
                </a:solidFill>
                <a:latin typeface="Times New Roman"/>
                <a:ea typeface="Times New Roman"/>
                <a:cs typeface="Times New Roman"/>
                <a:sym typeface="Times New Roman"/>
              </a:rPr>
              <a:t> = min { (d</a:t>
            </a:r>
            <a:r>
              <a:rPr lang="en" baseline="-25000">
                <a:solidFill>
                  <a:srgbClr val="00FFFF"/>
                </a:solidFill>
                <a:latin typeface="Times New Roman"/>
                <a:ea typeface="Times New Roman"/>
                <a:cs typeface="Times New Roman"/>
                <a:sym typeface="Times New Roman"/>
              </a:rPr>
              <a:t>j</a:t>
            </a:r>
            <a:r>
              <a:rPr lang="en">
                <a:solidFill>
                  <a:srgbClr val="00FFFF"/>
                </a:solidFill>
                <a:latin typeface="Times New Roman"/>
                <a:ea typeface="Times New Roman"/>
                <a:cs typeface="Times New Roman"/>
                <a:sym typeface="Times New Roman"/>
              </a:rPr>
              <a:t>, w</a:t>
            </a:r>
            <a:r>
              <a:rPr lang="en" baseline="-25000">
                <a:solidFill>
                  <a:srgbClr val="00FFFF"/>
                </a:solidFill>
                <a:latin typeface="Times New Roman"/>
                <a:ea typeface="Times New Roman"/>
                <a:cs typeface="Times New Roman"/>
                <a:sym typeface="Times New Roman"/>
              </a:rPr>
              <a:t>iq1</a:t>
            </a:r>
            <a:r>
              <a:rPr lang="en">
                <a:solidFill>
                  <a:srgbClr val="00FFFF"/>
                </a:solidFill>
                <a:latin typeface="Times New Roman"/>
                <a:ea typeface="Times New Roman"/>
                <a:cs typeface="Times New Roman"/>
                <a:sym typeface="Times New Roman"/>
              </a:rPr>
              <a:t>), (d</a:t>
            </a:r>
            <a:r>
              <a:rPr lang="en" baseline="-25000">
                <a:solidFill>
                  <a:srgbClr val="00FFFF"/>
                </a:solidFill>
                <a:latin typeface="Times New Roman"/>
                <a:ea typeface="Times New Roman"/>
                <a:cs typeface="Times New Roman"/>
                <a:sym typeface="Times New Roman"/>
              </a:rPr>
              <a:t>j</a:t>
            </a:r>
            <a:r>
              <a:rPr lang="en">
                <a:solidFill>
                  <a:srgbClr val="00FFFF"/>
                </a:solidFill>
                <a:latin typeface="Times New Roman"/>
                <a:ea typeface="Times New Roman"/>
                <a:cs typeface="Times New Roman"/>
                <a:sym typeface="Times New Roman"/>
              </a:rPr>
              <a:t>, w</a:t>
            </a:r>
            <a:r>
              <a:rPr lang="en" baseline="-25000">
                <a:solidFill>
                  <a:srgbClr val="00FFFF"/>
                </a:solidFill>
                <a:latin typeface="Times New Roman"/>
                <a:ea typeface="Times New Roman"/>
                <a:cs typeface="Times New Roman"/>
                <a:sym typeface="Times New Roman"/>
              </a:rPr>
              <a:t>iq</a:t>
            </a:r>
            <a:r>
              <a:rPr lang="en">
                <a:solidFill>
                  <a:srgbClr val="00FFFF"/>
                </a:solidFill>
                <a:latin typeface="Times New Roman"/>
                <a:ea typeface="Times New Roman"/>
                <a:cs typeface="Times New Roman"/>
                <a:sym typeface="Times New Roman"/>
              </a:rPr>
              <a:t>) }</a:t>
            </a:r>
            <a:endParaRPr>
              <a:solidFill>
                <a:srgbClr val="00FFFF"/>
              </a:solidFill>
              <a:latin typeface="Times New Roman"/>
              <a:ea typeface="Times New Roman"/>
              <a:cs typeface="Times New Roman"/>
              <a:sym typeface="Times New Roman"/>
            </a:endParaRPr>
          </a:p>
          <a:p>
            <a:pPr marL="0" lvl="0" indent="0" algn="l" rtl="0">
              <a:lnSpc>
                <a:spcPct val="100000"/>
              </a:lnSpc>
              <a:spcBef>
                <a:spcPts val="1000"/>
              </a:spcBef>
              <a:spcAft>
                <a:spcPts val="0"/>
              </a:spcAft>
              <a:buSzPct val="95238"/>
              <a:buNone/>
            </a:pPr>
            <a:r>
              <a:rPr lang="en">
                <a:latin typeface="Times New Roman"/>
                <a:ea typeface="Times New Roman"/>
                <a:cs typeface="Times New Roman"/>
                <a:sym typeface="Times New Roman"/>
              </a:rPr>
              <a:t>	The documents in this set are returned.</a:t>
            </a:r>
            <a:endParaRPr>
              <a:latin typeface="Times New Roman"/>
              <a:ea typeface="Times New Roman"/>
              <a:cs typeface="Times New Roman"/>
              <a:sym typeface="Times New Roman"/>
            </a:endParaRPr>
          </a:p>
          <a:p>
            <a:pPr marL="0" lvl="0" indent="0" algn="l" rtl="0">
              <a:lnSpc>
                <a:spcPct val="100000"/>
              </a:lnSpc>
              <a:spcBef>
                <a:spcPts val="1000"/>
              </a:spcBef>
              <a:spcAft>
                <a:spcPts val="0"/>
              </a:spcAft>
              <a:buSzPct val="95238"/>
              <a:buNone/>
            </a:pPr>
            <a:r>
              <a:rPr lang="en" b="1">
                <a:solidFill>
                  <a:srgbClr val="FFFF00"/>
                </a:solidFill>
                <a:latin typeface="Times New Roman"/>
                <a:ea typeface="Times New Roman"/>
                <a:cs typeface="Times New Roman"/>
                <a:sym typeface="Times New Roman"/>
              </a:rPr>
              <a:t>OR Query:</a:t>
            </a:r>
            <a:endParaRPr b="1">
              <a:solidFill>
                <a:srgbClr val="FFFF00"/>
              </a:solidFill>
              <a:latin typeface="Times New Roman"/>
              <a:ea typeface="Times New Roman"/>
              <a:cs typeface="Times New Roman"/>
              <a:sym typeface="Times New Roman"/>
            </a:endParaRPr>
          </a:p>
          <a:p>
            <a:pPr marL="457200" lvl="0" indent="-290830" algn="l" rtl="0">
              <a:lnSpc>
                <a:spcPct val="100000"/>
              </a:lnSpc>
              <a:spcBef>
                <a:spcPts val="1000"/>
              </a:spcBef>
              <a:spcAft>
                <a:spcPts val="0"/>
              </a:spcAft>
              <a:buSzPct val="66666"/>
              <a:buFont typeface="Times New Roman"/>
              <a:buChar char="•"/>
            </a:pPr>
            <a:r>
              <a:rPr lang="en">
                <a:latin typeface="Times New Roman"/>
                <a:ea typeface="Times New Roman"/>
                <a:cs typeface="Times New Roman"/>
                <a:sym typeface="Times New Roman"/>
              </a:rPr>
              <a:t>For an OR query </a:t>
            </a:r>
            <a:r>
              <a:rPr lang="en">
                <a:solidFill>
                  <a:srgbClr val="00FFFF"/>
                </a:solidFill>
                <a:latin typeface="Times New Roman"/>
                <a:ea typeface="Times New Roman"/>
                <a:cs typeface="Times New Roman"/>
                <a:sym typeface="Times New Roman"/>
              </a:rPr>
              <a:t>q = t</a:t>
            </a:r>
            <a:r>
              <a:rPr lang="en" baseline="-25000">
                <a:solidFill>
                  <a:srgbClr val="00FFFF"/>
                </a:solidFill>
                <a:latin typeface="Times New Roman"/>
                <a:ea typeface="Times New Roman"/>
                <a:cs typeface="Times New Roman"/>
                <a:sym typeface="Times New Roman"/>
              </a:rPr>
              <a:t>q1</a:t>
            </a:r>
            <a:r>
              <a:rPr lang="en">
                <a:solidFill>
                  <a:srgbClr val="00FFFF"/>
                </a:solidFill>
                <a:latin typeface="Times New Roman"/>
                <a:ea typeface="Times New Roman"/>
                <a:cs typeface="Times New Roman"/>
                <a:sym typeface="Times New Roman"/>
              </a:rPr>
              <a:t> V t</a:t>
            </a:r>
            <a:r>
              <a:rPr lang="en" baseline="-25000">
                <a:solidFill>
                  <a:srgbClr val="00FFFF"/>
                </a:solidFill>
                <a:latin typeface="Times New Roman"/>
                <a:ea typeface="Times New Roman"/>
                <a:cs typeface="Times New Roman"/>
                <a:sym typeface="Times New Roman"/>
              </a:rPr>
              <a:t>q2</a:t>
            </a:r>
            <a:r>
              <a:rPr lang="en">
                <a:latin typeface="Times New Roman"/>
                <a:ea typeface="Times New Roman"/>
                <a:cs typeface="Times New Roman"/>
                <a:sym typeface="Times New Roman"/>
              </a:rPr>
              <a:t>, the union of fuzzy sets fq1 and fa2 is computed to retrieve documents as follows -</a:t>
            </a:r>
            <a:endParaRPr>
              <a:latin typeface="Times New Roman"/>
              <a:ea typeface="Times New Roman"/>
              <a:cs typeface="Times New Roman"/>
              <a:sym typeface="Times New Roman"/>
            </a:endParaRPr>
          </a:p>
          <a:p>
            <a:pPr marL="457200" lvl="0" indent="0" algn="l" rtl="0">
              <a:lnSpc>
                <a:spcPct val="100000"/>
              </a:lnSpc>
              <a:spcBef>
                <a:spcPts val="1000"/>
              </a:spcBef>
              <a:spcAft>
                <a:spcPts val="1000"/>
              </a:spcAft>
              <a:buSzPct val="95238"/>
              <a:buNone/>
            </a:pPr>
            <a:r>
              <a:rPr lang="en">
                <a:latin typeface="Times New Roman"/>
                <a:ea typeface="Times New Roman"/>
                <a:cs typeface="Times New Roman"/>
                <a:sym typeface="Times New Roman"/>
              </a:rPr>
              <a:t>		</a:t>
            </a:r>
            <a:r>
              <a:rPr lang="en">
                <a:solidFill>
                  <a:srgbClr val="00FFFF"/>
                </a:solidFill>
                <a:latin typeface="Times New Roman"/>
                <a:ea typeface="Times New Roman"/>
                <a:cs typeface="Times New Roman"/>
                <a:sym typeface="Times New Roman"/>
              </a:rPr>
              <a:t>f</a:t>
            </a:r>
            <a:r>
              <a:rPr lang="en" baseline="-25000">
                <a:solidFill>
                  <a:srgbClr val="00FFFF"/>
                </a:solidFill>
                <a:latin typeface="Times New Roman"/>
                <a:ea typeface="Times New Roman"/>
                <a:cs typeface="Times New Roman"/>
                <a:sym typeface="Times New Roman"/>
              </a:rPr>
              <a:t>q1</a:t>
            </a:r>
            <a:r>
              <a:rPr lang="en">
                <a:solidFill>
                  <a:srgbClr val="00FFFF"/>
                </a:solidFill>
                <a:latin typeface="Times New Roman"/>
                <a:ea typeface="Times New Roman"/>
                <a:cs typeface="Times New Roman"/>
                <a:sym typeface="Times New Roman"/>
              </a:rPr>
              <a:t> V f</a:t>
            </a:r>
            <a:r>
              <a:rPr lang="en" baseline="-25000">
                <a:solidFill>
                  <a:srgbClr val="00FFFF"/>
                </a:solidFill>
                <a:latin typeface="Times New Roman"/>
                <a:ea typeface="Times New Roman"/>
                <a:cs typeface="Times New Roman"/>
                <a:sym typeface="Times New Roman"/>
              </a:rPr>
              <a:t>q2</a:t>
            </a:r>
            <a:r>
              <a:rPr lang="en">
                <a:solidFill>
                  <a:srgbClr val="00FFFF"/>
                </a:solidFill>
                <a:latin typeface="Times New Roman"/>
                <a:ea typeface="Times New Roman"/>
                <a:cs typeface="Times New Roman"/>
                <a:sym typeface="Times New Roman"/>
              </a:rPr>
              <a:t> = max { (d</a:t>
            </a:r>
            <a:r>
              <a:rPr lang="en" baseline="-25000">
                <a:solidFill>
                  <a:srgbClr val="00FFFF"/>
                </a:solidFill>
                <a:latin typeface="Times New Roman"/>
                <a:ea typeface="Times New Roman"/>
                <a:cs typeface="Times New Roman"/>
                <a:sym typeface="Times New Roman"/>
              </a:rPr>
              <a:t>j</a:t>
            </a:r>
            <a:r>
              <a:rPr lang="en">
                <a:solidFill>
                  <a:srgbClr val="00FFFF"/>
                </a:solidFill>
                <a:latin typeface="Times New Roman"/>
                <a:ea typeface="Times New Roman"/>
                <a:cs typeface="Times New Roman"/>
                <a:sym typeface="Times New Roman"/>
              </a:rPr>
              <a:t>, w</a:t>
            </a:r>
            <a:r>
              <a:rPr lang="en" baseline="-25000">
                <a:solidFill>
                  <a:srgbClr val="00FFFF"/>
                </a:solidFill>
                <a:latin typeface="Times New Roman"/>
                <a:ea typeface="Times New Roman"/>
                <a:cs typeface="Times New Roman"/>
                <a:sym typeface="Times New Roman"/>
              </a:rPr>
              <a:t>iq1</a:t>
            </a:r>
            <a:r>
              <a:rPr lang="en">
                <a:solidFill>
                  <a:srgbClr val="00FFFF"/>
                </a:solidFill>
                <a:latin typeface="Times New Roman"/>
                <a:ea typeface="Times New Roman"/>
                <a:cs typeface="Times New Roman"/>
                <a:sym typeface="Times New Roman"/>
              </a:rPr>
              <a:t>), (d</a:t>
            </a:r>
            <a:r>
              <a:rPr lang="en" baseline="-25000">
                <a:solidFill>
                  <a:srgbClr val="00FFFF"/>
                </a:solidFill>
                <a:latin typeface="Times New Roman"/>
                <a:ea typeface="Times New Roman"/>
                <a:cs typeface="Times New Roman"/>
                <a:sym typeface="Times New Roman"/>
              </a:rPr>
              <a:t>j</a:t>
            </a:r>
            <a:r>
              <a:rPr lang="en">
                <a:solidFill>
                  <a:srgbClr val="00FFFF"/>
                </a:solidFill>
                <a:latin typeface="Times New Roman"/>
                <a:ea typeface="Times New Roman"/>
                <a:cs typeface="Times New Roman"/>
                <a:sym typeface="Times New Roman"/>
              </a:rPr>
              <a:t>, w</a:t>
            </a:r>
            <a:r>
              <a:rPr lang="en" baseline="-25000">
                <a:solidFill>
                  <a:srgbClr val="00FFFF"/>
                </a:solidFill>
                <a:latin typeface="Times New Roman"/>
                <a:ea typeface="Times New Roman"/>
                <a:cs typeface="Times New Roman"/>
                <a:sym typeface="Times New Roman"/>
              </a:rPr>
              <a:t>iq</a:t>
            </a:r>
            <a:r>
              <a:rPr lang="en">
                <a:solidFill>
                  <a:srgbClr val="00FFFF"/>
                </a:solidFill>
                <a:latin typeface="Times New Roman"/>
                <a:ea typeface="Times New Roman"/>
                <a:cs typeface="Times New Roman"/>
                <a:sym typeface="Times New Roman"/>
              </a:rPr>
              <a:t>) }</a:t>
            </a:r>
            <a:endParaRPr>
              <a:solidFill>
                <a:srgbClr val="00FFFF"/>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0"/>
          <p:cNvSpPr txBox="1">
            <a:spLocks noGrp="1"/>
          </p:cNvSpPr>
          <p:nvPr>
            <p:ph type="title"/>
          </p:nvPr>
        </p:nvSpPr>
        <p:spPr>
          <a:xfrm>
            <a:off x="628650" y="273847"/>
            <a:ext cx="7886700" cy="513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Fuzzy Model - Example</a:t>
            </a:r>
            <a:endParaRPr/>
          </a:p>
        </p:txBody>
      </p:sp>
      <p:sp>
        <p:nvSpPr>
          <p:cNvPr id="535" name="Google Shape;535;p50"/>
          <p:cNvSpPr txBox="1">
            <a:spLocks noGrp="1"/>
          </p:cNvSpPr>
          <p:nvPr>
            <p:ph type="body" idx="1"/>
          </p:nvPr>
        </p:nvSpPr>
        <p:spPr>
          <a:xfrm>
            <a:off x="498775" y="732550"/>
            <a:ext cx="8016600" cy="39000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1000"/>
              </a:spcBef>
              <a:spcAft>
                <a:spcPts val="0"/>
              </a:spcAft>
              <a:buSzPts val="1400"/>
              <a:buNone/>
            </a:pPr>
            <a:r>
              <a:rPr lang="en" sz="1400">
                <a:latin typeface="Times New Roman"/>
                <a:ea typeface="Times New Roman"/>
                <a:cs typeface="Times New Roman"/>
                <a:sym typeface="Times New Roman"/>
              </a:rPr>
              <a:t>Consider the following 3 documents:</a:t>
            </a:r>
            <a:endParaRPr sz="1400">
              <a:latin typeface="Times New Roman"/>
              <a:ea typeface="Times New Roman"/>
              <a:cs typeface="Times New Roman"/>
              <a:sym typeface="Times New Roman"/>
            </a:endParaRPr>
          </a:p>
          <a:p>
            <a:pPr marL="0" lvl="0" indent="457200" algn="l" rtl="0">
              <a:lnSpc>
                <a:spcPct val="90000"/>
              </a:lnSpc>
              <a:spcBef>
                <a:spcPts val="1000"/>
              </a:spcBef>
              <a:spcAft>
                <a:spcPts val="0"/>
              </a:spcAft>
              <a:buSzPts val="1400"/>
              <a:buNone/>
            </a:pPr>
            <a:r>
              <a:rPr lang="en" sz="1400">
                <a:latin typeface="Times New Roman"/>
                <a:ea typeface="Times New Roman"/>
                <a:cs typeface="Times New Roman"/>
                <a:sym typeface="Times New Roman"/>
              </a:rPr>
              <a:t>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 { information, retrieval, query }</a:t>
            </a:r>
            <a:endParaRPr sz="1400">
              <a:latin typeface="Times New Roman"/>
              <a:ea typeface="Times New Roman"/>
              <a:cs typeface="Times New Roman"/>
              <a:sym typeface="Times New Roman"/>
            </a:endParaRPr>
          </a:p>
          <a:p>
            <a:pPr marL="0" lvl="0" indent="45720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 { retrieval, query, model }</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	d</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 { information, retrieval }</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Where the set of terms used to represent documents is </a:t>
            </a:r>
            <a:endParaRPr sz="1400">
              <a:latin typeface="Times New Roman"/>
              <a:ea typeface="Times New Roman"/>
              <a:cs typeface="Times New Roman"/>
              <a:sym typeface="Times New Roman"/>
            </a:endParaRPr>
          </a:p>
          <a:p>
            <a:pPr marL="0" lvl="0" indent="45720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T = { information, model, query, retrieval }</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Fuzzy set for terms</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	f</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 { (d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1/3),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0),	(d</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1/2) }   	→ t</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 information</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	f</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 { (d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0),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1/3),	( d</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0 ) }	→ t</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 model</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	f</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 { (d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1/3),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1/3),	(d</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0) }	→ t</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 query</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	f</a:t>
            </a:r>
            <a:r>
              <a:rPr lang="en" sz="1400" baseline="-25000">
                <a:latin typeface="Times New Roman"/>
                <a:ea typeface="Times New Roman"/>
                <a:cs typeface="Times New Roman"/>
                <a:sym typeface="Times New Roman"/>
              </a:rPr>
              <a:t>4</a:t>
            </a:r>
            <a:r>
              <a:rPr lang="en" sz="1400">
                <a:latin typeface="Times New Roman"/>
                <a:ea typeface="Times New Roman"/>
                <a:cs typeface="Times New Roman"/>
                <a:sym typeface="Times New Roman"/>
              </a:rPr>
              <a:t> = { (d</a:t>
            </a:r>
            <a:r>
              <a:rPr lang="en" sz="1400" baseline="-25000">
                <a:latin typeface="Times New Roman"/>
                <a:ea typeface="Times New Roman"/>
                <a:cs typeface="Times New Roman"/>
                <a:sym typeface="Times New Roman"/>
              </a:rPr>
              <a:t>1</a:t>
            </a:r>
            <a:r>
              <a:rPr lang="en" sz="1400">
                <a:latin typeface="Times New Roman"/>
                <a:ea typeface="Times New Roman"/>
                <a:cs typeface="Times New Roman"/>
                <a:sym typeface="Times New Roman"/>
              </a:rPr>
              <a:t>, 1/3),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1/3),	(d</a:t>
            </a:r>
            <a:r>
              <a:rPr lang="en" sz="1400" baseline="-25000">
                <a:latin typeface="Times New Roman"/>
                <a:ea typeface="Times New Roman"/>
                <a:cs typeface="Times New Roman"/>
                <a:sym typeface="Times New Roman"/>
              </a:rPr>
              <a:t>3</a:t>
            </a:r>
            <a:r>
              <a:rPr lang="en" sz="1400">
                <a:latin typeface="Times New Roman"/>
                <a:ea typeface="Times New Roman"/>
                <a:cs typeface="Times New Roman"/>
                <a:sym typeface="Times New Roman"/>
              </a:rPr>
              <a:t>, 1/2) }	→ t</a:t>
            </a:r>
            <a:r>
              <a:rPr lang="en" sz="1400" baseline="-25000">
                <a:latin typeface="Times New Roman"/>
                <a:ea typeface="Times New Roman"/>
                <a:cs typeface="Times New Roman"/>
                <a:sym typeface="Times New Roman"/>
              </a:rPr>
              <a:t>4</a:t>
            </a:r>
            <a:r>
              <a:rPr lang="en" sz="1400">
                <a:latin typeface="Times New Roman"/>
                <a:ea typeface="Times New Roman"/>
                <a:cs typeface="Times New Roman"/>
                <a:sym typeface="Times New Roman"/>
              </a:rPr>
              <a:t> = retrieval</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100"/>
              <a:buFont typeface="Arial"/>
              <a:buNone/>
            </a:pPr>
            <a:r>
              <a:rPr lang="en" sz="1400">
                <a:latin typeface="Times New Roman"/>
                <a:ea typeface="Times New Roman"/>
                <a:cs typeface="Times New Roman"/>
                <a:sym typeface="Times New Roman"/>
              </a:rPr>
              <a:t>If the query is q =   t</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 t</a:t>
            </a:r>
            <a:r>
              <a:rPr lang="en" sz="1400" baseline="-25000">
                <a:latin typeface="Times New Roman"/>
                <a:ea typeface="Times New Roman"/>
                <a:cs typeface="Times New Roman"/>
                <a:sym typeface="Times New Roman"/>
              </a:rPr>
              <a:t>4</a:t>
            </a:r>
            <a:r>
              <a:rPr lang="en" sz="1400">
                <a:latin typeface="Times New Roman"/>
                <a:ea typeface="Times New Roman"/>
                <a:cs typeface="Times New Roman"/>
                <a:sym typeface="Times New Roman"/>
              </a:rPr>
              <a:t>, then document d</a:t>
            </a:r>
            <a:r>
              <a:rPr lang="en" sz="1400" baseline="-25000">
                <a:latin typeface="Times New Roman"/>
                <a:ea typeface="Times New Roman"/>
                <a:cs typeface="Times New Roman"/>
                <a:sym typeface="Times New Roman"/>
              </a:rPr>
              <a:t>2</a:t>
            </a:r>
            <a:r>
              <a:rPr lang="en" sz="1400">
                <a:latin typeface="Times New Roman"/>
                <a:ea typeface="Times New Roman"/>
                <a:cs typeface="Times New Roman"/>
                <a:sym typeface="Times New Roman"/>
              </a:rPr>
              <a:t> is returned.</a:t>
            </a:r>
            <a:endParaRPr sz="1400">
              <a:latin typeface="Times New Roman"/>
              <a:ea typeface="Times New Roman"/>
              <a:cs typeface="Times New Roman"/>
              <a:sym typeface="Times New Roman"/>
            </a:endParaRPr>
          </a:p>
          <a:p>
            <a:pPr marL="228600" lvl="0" indent="-90804" algn="l" rtl="0">
              <a:lnSpc>
                <a:spcPct val="90000"/>
              </a:lnSpc>
              <a:spcBef>
                <a:spcPts val="1000"/>
              </a:spcBef>
              <a:spcAft>
                <a:spcPts val="0"/>
              </a:spcAft>
              <a:buClr>
                <a:schemeClr val="dk1"/>
              </a:buClr>
              <a:buSzPts val="1100"/>
              <a:buFont typeface="Arial"/>
              <a:buNone/>
            </a:pPr>
            <a:endParaRPr sz="1400">
              <a:latin typeface="Times New Roman"/>
              <a:ea typeface="Times New Roman"/>
              <a:cs typeface="Times New Roman"/>
              <a:sym typeface="Times New Roman"/>
            </a:endParaRPr>
          </a:p>
          <a:p>
            <a:pPr marL="0" lvl="0" indent="0" algn="l" rtl="0">
              <a:lnSpc>
                <a:spcPct val="90000"/>
              </a:lnSpc>
              <a:spcBef>
                <a:spcPts val="800"/>
              </a:spcBef>
              <a:spcAft>
                <a:spcPts val="0"/>
              </a:spcAft>
              <a:buSzPts val="1400"/>
              <a:buNone/>
            </a:pPr>
            <a:endParaRPr sz="1800">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Latent Semantic Indexing Model </a:t>
            </a:r>
            <a:endParaRPr/>
          </a:p>
        </p:txBody>
      </p:sp>
      <p:sp>
        <p:nvSpPr>
          <p:cNvPr id="541" name="Google Shape;541;p51"/>
          <p:cNvSpPr txBox="1">
            <a:spLocks noGrp="1"/>
          </p:cNvSpPr>
          <p:nvPr>
            <p:ph type="body" idx="1"/>
          </p:nvPr>
        </p:nvSpPr>
        <p:spPr>
          <a:xfrm>
            <a:off x="840000" y="1369219"/>
            <a:ext cx="7675500" cy="32634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u="sng">
                <a:solidFill>
                  <a:schemeClr val="hlink"/>
                </a:solidFill>
                <a:hlinkClick r:id="rId3"/>
              </a:rPr>
              <a:t>https://www.youtube.com/watch?v=M1duqgg8-IM</a:t>
            </a:r>
            <a:r>
              <a:rPr lang="en"/>
              <a:t> </a:t>
            </a:r>
            <a:endParaRPr/>
          </a:p>
          <a:p>
            <a:pPr marL="0" lvl="0" indent="0" algn="l" rtl="0">
              <a:lnSpc>
                <a:spcPct val="90000"/>
              </a:lnSpc>
              <a:spcBef>
                <a:spcPts val="800"/>
              </a:spcBef>
              <a:spcAft>
                <a:spcPts val="0"/>
              </a:spcAft>
              <a:buSzPts val="1400"/>
              <a:buNone/>
            </a:pPr>
            <a:r>
              <a:rPr lang="en" u="sng">
                <a:solidFill>
                  <a:schemeClr val="hlink"/>
                </a:solidFill>
                <a:hlinkClick r:id="rId4"/>
              </a:rPr>
              <a:t>https://www.youtube.com/watch?v=P5mlg91as1c</a:t>
            </a:r>
            <a:endParaRPr/>
          </a:p>
          <a:p>
            <a:pPr marL="0" lvl="0" indent="0" algn="l" rtl="0">
              <a:lnSpc>
                <a:spcPct val="90000"/>
              </a:lnSpc>
              <a:spcBef>
                <a:spcPts val="800"/>
              </a:spcBef>
              <a:spcAft>
                <a:spcPts val="0"/>
              </a:spcAft>
              <a:buSzPts val="1400"/>
              <a:buNone/>
            </a:pPr>
            <a:r>
              <a:rPr lang="en" u="sng">
                <a:solidFill>
                  <a:schemeClr val="hlink"/>
                </a:solidFill>
                <a:hlinkClick r:id="rId5"/>
              </a:rPr>
              <a:t>https://www.youtube.com/watch?v=CwBn0voJDaw</a:t>
            </a:r>
            <a:endParaRPr/>
          </a:p>
          <a:p>
            <a:pPr marL="0" lvl="0" indent="0" algn="l" rtl="0">
              <a:lnSpc>
                <a:spcPct val="90000"/>
              </a:lnSpc>
              <a:spcBef>
                <a:spcPts val="800"/>
              </a:spcBef>
              <a:spcAft>
                <a:spcPts val="0"/>
              </a:spcAft>
              <a:buSzPts val="14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2"/>
          <p:cNvSpPr txBox="1">
            <a:spLocks noGrp="1"/>
          </p:cNvSpPr>
          <p:nvPr>
            <p:ph type="title"/>
          </p:nvPr>
        </p:nvSpPr>
        <p:spPr>
          <a:xfrm>
            <a:off x="628650" y="273849"/>
            <a:ext cx="7886700" cy="331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Evaluation of IR System</a:t>
            </a:r>
            <a:endParaRPr/>
          </a:p>
        </p:txBody>
      </p:sp>
      <p:sp>
        <p:nvSpPr>
          <p:cNvPr id="547" name="Google Shape;547;p52"/>
          <p:cNvSpPr txBox="1">
            <a:spLocks noGrp="1"/>
          </p:cNvSpPr>
          <p:nvPr>
            <p:ph type="body" idx="1"/>
          </p:nvPr>
        </p:nvSpPr>
        <p:spPr>
          <a:xfrm>
            <a:off x="628800" y="605650"/>
            <a:ext cx="7886700" cy="4027200"/>
          </a:xfrm>
          <a:prstGeom prst="rect">
            <a:avLst/>
          </a:prstGeom>
          <a:noFill/>
          <a:ln>
            <a:noFill/>
          </a:ln>
        </p:spPr>
        <p:txBody>
          <a:bodyPr spcFirstLastPara="1" wrap="square" lIns="68575" tIns="34275" rIns="68575" bIns="34275" anchor="ctr" anchorCtr="0">
            <a:noAutofit/>
          </a:bodyPr>
          <a:lstStyle/>
          <a:p>
            <a:pPr marL="457200" lvl="0" indent="-317500" algn="l" rtl="0">
              <a:lnSpc>
                <a:spcPct val="100000"/>
              </a:lnSpc>
              <a:spcBef>
                <a:spcPts val="0"/>
              </a:spcBef>
              <a:spcAft>
                <a:spcPts val="0"/>
              </a:spcAft>
              <a:buSzPts val="1400"/>
              <a:buFont typeface="Times New Roman"/>
              <a:buChar char="•"/>
            </a:pPr>
            <a:r>
              <a:rPr lang="en" sz="1400">
                <a:latin typeface="Times New Roman"/>
                <a:ea typeface="Times New Roman"/>
                <a:cs typeface="Times New Roman"/>
                <a:sym typeface="Times New Roman"/>
              </a:rPr>
              <a:t>The evaluation of IR systems is the process of assessing how well a system meets the information needs of its users.</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IR Evaluation models can be broadly classified as -</a:t>
            </a:r>
            <a:endParaRPr sz="1400">
              <a:latin typeface="Times New Roman"/>
              <a:ea typeface="Times New Roman"/>
              <a:cs typeface="Times New Roman"/>
              <a:sym typeface="Times New Roman"/>
            </a:endParaRPr>
          </a:p>
          <a:p>
            <a:pPr marL="1371600" lvl="0" indent="-317500" algn="l" rtl="0">
              <a:lnSpc>
                <a:spcPct val="100000"/>
              </a:lnSpc>
              <a:spcBef>
                <a:spcPts val="1000"/>
              </a:spcBef>
              <a:spcAft>
                <a:spcPts val="0"/>
              </a:spcAft>
              <a:buSzPts val="1400"/>
              <a:buFont typeface="Times New Roman"/>
              <a:buAutoNum type="arabicPeriod"/>
            </a:pPr>
            <a:r>
              <a:rPr lang="en" sz="1400">
                <a:latin typeface="Times New Roman"/>
                <a:ea typeface="Times New Roman"/>
                <a:cs typeface="Times New Roman"/>
                <a:sym typeface="Times New Roman"/>
              </a:rPr>
              <a:t>system driven - System driven models measure how well a system ranks documents</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user-centered models - User-centered models measure user satisfaction.</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Following are the six criteria that can be used for evaluation -</a:t>
            </a:r>
            <a:endParaRPr sz="1400">
              <a:latin typeface="Times New Roman"/>
              <a:ea typeface="Times New Roman"/>
              <a:cs typeface="Times New Roman"/>
              <a:sym typeface="Times New Roman"/>
            </a:endParaRPr>
          </a:p>
          <a:p>
            <a:pPr marL="1371600" lvl="0" indent="-317500" algn="l" rtl="0">
              <a:lnSpc>
                <a:spcPct val="100000"/>
              </a:lnSpc>
              <a:spcBef>
                <a:spcPts val="1000"/>
              </a:spcBef>
              <a:spcAft>
                <a:spcPts val="0"/>
              </a:spcAft>
              <a:buSzPts val="1400"/>
              <a:buFont typeface="Times New Roman"/>
              <a:buAutoNum type="arabicPeriod"/>
            </a:pPr>
            <a:r>
              <a:rPr lang="en" sz="1400">
                <a:latin typeface="Times New Roman"/>
                <a:ea typeface="Times New Roman"/>
                <a:cs typeface="Times New Roman"/>
                <a:sym typeface="Times New Roman"/>
              </a:rPr>
              <a:t>Coverage of the collection</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Time lag - The time that elapses between submission of a query and getting back the response.</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Presentation format</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User effort - The effort made by the user to obtain relevant information.</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Precision - The proportion of retrieved documents that are relevant.</a:t>
            </a:r>
            <a:endParaRPr sz="1400">
              <a:latin typeface="Times New Roman"/>
              <a:ea typeface="Times New Roman"/>
              <a:cs typeface="Times New Roman"/>
              <a:sym typeface="Times New Roman"/>
            </a:endParaRPr>
          </a:p>
          <a:p>
            <a:pPr marL="1371600" lvl="0" indent="-317500" algn="l" rtl="0">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Recall - The proportion of relevant documents that are retrieved.</a:t>
            </a:r>
            <a:endParaRPr sz="1400">
              <a:latin typeface="Times New Roman"/>
              <a:ea typeface="Times New Roman"/>
              <a:cs typeface="Times New Roman"/>
              <a:sym typeface="Times New Roman"/>
            </a:endParaRPr>
          </a:p>
          <a:p>
            <a:pPr marL="457200" lvl="0" indent="-317500" algn="l" rtl="0">
              <a:lnSpc>
                <a:spcPct val="100000"/>
              </a:lnSpc>
              <a:spcBef>
                <a:spcPts val="1000"/>
              </a:spcBef>
              <a:spcAft>
                <a:spcPts val="1000"/>
              </a:spcAft>
              <a:buSzPts val="1400"/>
              <a:buFont typeface="Times New Roman"/>
              <a:buChar char="•"/>
            </a:pPr>
            <a:r>
              <a:rPr lang="en" sz="1400">
                <a:latin typeface="Times New Roman"/>
                <a:ea typeface="Times New Roman"/>
                <a:cs typeface="Times New Roman"/>
                <a:sym typeface="Times New Roman"/>
              </a:rPr>
              <a:t>Precision and recall are most frequently applied in evaluating IR system and both are related to effectiveness, that is, the ability of a system to retrieve relevant documents in response to user query.</a:t>
            </a:r>
            <a:endParaRPr sz="14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53"/>
          <p:cNvSpPr txBox="1">
            <a:spLocks noGrp="1"/>
          </p:cNvSpPr>
          <p:nvPr>
            <p:ph type="title"/>
          </p:nvPr>
        </p:nvSpPr>
        <p:spPr>
          <a:xfrm>
            <a:off x="628650" y="273846"/>
            <a:ext cx="7886700" cy="3534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Relevance</a:t>
            </a:r>
            <a:endParaRPr/>
          </a:p>
        </p:txBody>
      </p:sp>
      <p:sp>
        <p:nvSpPr>
          <p:cNvPr id="553" name="Google Shape;553;p53"/>
          <p:cNvSpPr txBox="1">
            <a:spLocks noGrp="1"/>
          </p:cNvSpPr>
          <p:nvPr>
            <p:ph type="body" idx="1"/>
          </p:nvPr>
        </p:nvSpPr>
        <p:spPr>
          <a:xfrm>
            <a:off x="628800" y="755900"/>
            <a:ext cx="7886700" cy="3876600"/>
          </a:xfrm>
          <a:prstGeom prst="rect">
            <a:avLst/>
          </a:prstGeom>
          <a:noFill/>
          <a:ln>
            <a:noFill/>
          </a:ln>
        </p:spPr>
        <p:txBody>
          <a:bodyPr spcFirstLastPara="1" wrap="square" lIns="68575" tIns="34275" rIns="68575" bIns="34275" anchor="t" anchorCtr="0">
            <a:normAutofit fontScale="55000" lnSpcReduction="20000"/>
          </a:bodyPr>
          <a:lstStyle/>
          <a:p>
            <a:pPr marL="457200" lvl="0" indent="-339725" algn="just" rtl="0">
              <a:lnSpc>
                <a:spcPct val="100000"/>
              </a:lnSpc>
              <a:spcBef>
                <a:spcPts val="800"/>
              </a:spcBef>
              <a:spcAft>
                <a:spcPts val="0"/>
              </a:spcAft>
              <a:buSzPct val="100000"/>
              <a:buFont typeface="Times New Roman"/>
              <a:buChar char="•"/>
            </a:pPr>
            <a:r>
              <a:rPr lang="en" sz="2800">
                <a:latin typeface="Times New Roman"/>
                <a:ea typeface="Times New Roman"/>
                <a:cs typeface="Times New Roman"/>
                <a:sym typeface="Times New Roman"/>
              </a:rPr>
              <a:t>Relevance is subjective in nature, it depends on the individual judgements of users.</a:t>
            </a:r>
            <a:endParaRPr sz="2800">
              <a:latin typeface="Times New Roman"/>
              <a:ea typeface="Times New Roman"/>
              <a:cs typeface="Times New Roman"/>
              <a:sym typeface="Times New Roman"/>
            </a:endParaRPr>
          </a:p>
          <a:p>
            <a:pPr marL="457200" lvl="0" indent="-33972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Given a query, the same document may be judged as relevant by one user and non-relevant by another.</a:t>
            </a:r>
            <a:endParaRPr sz="2800">
              <a:latin typeface="Times New Roman"/>
              <a:ea typeface="Times New Roman"/>
              <a:cs typeface="Times New Roman"/>
              <a:sym typeface="Times New Roman"/>
            </a:endParaRPr>
          </a:p>
          <a:p>
            <a:pPr marL="457200" lvl="0" indent="-33972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It is not possible to measure true relevance because no human can read all documents in a collection and provide a relevance assessment.</a:t>
            </a:r>
            <a:endParaRPr sz="2800">
              <a:latin typeface="Times New Roman"/>
              <a:ea typeface="Times New Roman"/>
              <a:cs typeface="Times New Roman"/>
              <a:sym typeface="Times New Roman"/>
            </a:endParaRPr>
          </a:p>
          <a:p>
            <a:pPr marL="457200" lvl="0" indent="-33972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Another issue with relevance is the </a:t>
            </a:r>
            <a:r>
              <a:rPr lang="en" sz="2800" b="1">
                <a:solidFill>
                  <a:srgbClr val="FFFF00"/>
                </a:solidFill>
                <a:latin typeface="Times New Roman"/>
                <a:ea typeface="Times New Roman"/>
                <a:cs typeface="Times New Roman"/>
                <a:sym typeface="Times New Roman"/>
              </a:rPr>
              <a:t>degree of relevance</a:t>
            </a:r>
            <a:r>
              <a:rPr lang="en" sz="2800">
                <a:latin typeface="Times New Roman"/>
                <a:ea typeface="Times New Roman"/>
                <a:cs typeface="Times New Roman"/>
                <a:sym typeface="Times New Roman"/>
              </a:rPr>
              <a:t>. Traditionally, relevance is visualized as a binary concept, that is, a document is either relevant or not relevant; whereas relevance is actually a continuous function.</a:t>
            </a:r>
            <a:endParaRPr sz="2800">
              <a:latin typeface="Times New Roman"/>
              <a:ea typeface="Times New Roman"/>
              <a:cs typeface="Times New Roman"/>
              <a:sym typeface="Times New Roman"/>
            </a:endParaRPr>
          </a:p>
          <a:p>
            <a:pPr marL="457200" lvl="0" indent="-339725" algn="just" rtl="0">
              <a:lnSpc>
                <a:spcPct val="100000"/>
              </a:lnSpc>
              <a:spcBef>
                <a:spcPts val="1000"/>
              </a:spcBef>
              <a:spcAft>
                <a:spcPts val="0"/>
              </a:spcAft>
              <a:buSzPct val="100000"/>
              <a:buFont typeface="Times New Roman"/>
              <a:buChar char="•"/>
            </a:pPr>
            <a:r>
              <a:rPr lang="en" sz="2800">
                <a:latin typeface="Times New Roman"/>
                <a:ea typeface="Times New Roman"/>
                <a:cs typeface="Times New Roman"/>
                <a:sym typeface="Times New Roman"/>
              </a:rPr>
              <a:t>A number of relevance frameworks includes system, communication, psychological and situational frameworks. </a:t>
            </a:r>
            <a:endParaRPr sz="2800">
              <a:latin typeface="Times New Roman"/>
              <a:ea typeface="Times New Roman"/>
              <a:cs typeface="Times New Roman"/>
              <a:sym typeface="Times New Roman"/>
            </a:endParaRPr>
          </a:p>
          <a:p>
            <a:pPr marL="457200" lvl="0" indent="-339725" algn="just" rtl="0">
              <a:lnSpc>
                <a:spcPct val="100000"/>
              </a:lnSpc>
              <a:spcBef>
                <a:spcPts val="1000"/>
              </a:spcBef>
              <a:spcAft>
                <a:spcPts val="1000"/>
              </a:spcAft>
              <a:buSzPct val="100000"/>
              <a:buFont typeface="Times New Roman"/>
              <a:buChar char="•"/>
            </a:pPr>
            <a:r>
              <a:rPr lang="en" sz="2800">
                <a:latin typeface="Times New Roman"/>
                <a:ea typeface="Times New Roman"/>
                <a:cs typeface="Times New Roman"/>
                <a:sym typeface="Times New Roman"/>
              </a:rPr>
              <a:t>The most inclusive of these is the situational framework, which is based on a cognitive view of the information seeking process and considers the importance of situation, context, multi-dimensionality and time. </a:t>
            </a:r>
            <a:endParaRPr>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4"/>
          <p:cNvSpPr txBox="1">
            <a:spLocks noGrp="1"/>
          </p:cNvSpPr>
          <p:nvPr>
            <p:ph type="title"/>
          </p:nvPr>
        </p:nvSpPr>
        <p:spPr>
          <a:xfrm>
            <a:off x="628650" y="273846"/>
            <a:ext cx="7886700" cy="396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Effectiveness Measure</a:t>
            </a:r>
            <a:endParaRPr/>
          </a:p>
        </p:txBody>
      </p:sp>
      <p:sp>
        <p:nvSpPr>
          <p:cNvPr id="559" name="Google Shape;559;p54"/>
          <p:cNvSpPr txBox="1">
            <a:spLocks noGrp="1"/>
          </p:cNvSpPr>
          <p:nvPr>
            <p:ph type="body" idx="1"/>
          </p:nvPr>
        </p:nvSpPr>
        <p:spPr>
          <a:xfrm>
            <a:off x="682600" y="705851"/>
            <a:ext cx="7675500" cy="3912600"/>
          </a:xfrm>
          <a:prstGeom prst="rect">
            <a:avLst/>
          </a:prstGeom>
          <a:noFill/>
          <a:ln>
            <a:noFill/>
          </a:ln>
        </p:spPr>
        <p:txBody>
          <a:bodyPr spcFirstLastPara="1" wrap="square" lIns="68575" tIns="34275" rIns="68575" bIns="34275" anchor="ctr" anchorCtr="0">
            <a:normAutofit lnSpcReduction="10000"/>
          </a:bodyPr>
          <a:lstStyle/>
          <a:p>
            <a:pPr marL="457200" lvl="0" indent="-355600" algn="just" rtl="0">
              <a:lnSpc>
                <a:spcPct val="100000"/>
              </a:lnSpc>
              <a:spcBef>
                <a:spcPts val="800"/>
              </a:spcBef>
              <a:spcAft>
                <a:spcPts val="0"/>
              </a:spcAft>
              <a:buSzPts val="2000"/>
              <a:buFont typeface="Times New Roman"/>
              <a:buChar char="•"/>
            </a:pPr>
            <a:r>
              <a:rPr lang="en" sz="2000">
                <a:latin typeface="Times New Roman"/>
                <a:ea typeface="Times New Roman"/>
                <a:cs typeface="Times New Roman"/>
                <a:sym typeface="Times New Roman"/>
              </a:rPr>
              <a:t>Effectiveness is a measure of the ability of a system to satisfy the user in terms of the relevance of documents retrieved.</a:t>
            </a:r>
            <a:endParaRPr sz="2000">
              <a:latin typeface="Times New Roman"/>
              <a:ea typeface="Times New Roman"/>
              <a:cs typeface="Times New Roman"/>
              <a:sym typeface="Times New Roman"/>
            </a:endParaRPr>
          </a:p>
          <a:p>
            <a:pPr marL="457200" lvl="0" indent="-355600" algn="just" rtl="0">
              <a:lnSpc>
                <a:spcPct val="100000"/>
              </a:lnSpc>
              <a:spcBef>
                <a:spcPts val="1000"/>
              </a:spcBef>
              <a:spcAft>
                <a:spcPts val="0"/>
              </a:spcAft>
              <a:buSzPts val="2000"/>
              <a:buFont typeface="Times New Roman"/>
              <a:buChar char="•"/>
            </a:pPr>
            <a:r>
              <a:rPr lang="en" sz="2000">
                <a:latin typeface="Times New Roman"/>
                <a:ea typeface="Times New Roman"/>
                <a:cs typeface="Times New Roman"/>
                <a:sym typeface="Times New Roman"/>
              </a:rPr>
              <a:t>Aspect of the effectiveness include -</a:t>
            </a:r>
            <a:endParaRPr sz="2000">
              <a:latin typeface="Times New Roman"/>
              <a:ea typeface="Times New Roman"/>
              <a:cs typeface="Times New Roman"/>
              <a:sym typeface="Times New Roman"/>
            </a:endParaRPr>
          </a:p>
          <a:p>
            <a:pPr marL="914400" lvl="1" indent="-355600" algn="just" rtl="0">
              <a:lnSpc>
                <a:spcPct val="100000"/>
              </a:lnSpc>
              <a:spcBef>
                <a:spcPts val="1000"/>
              </a:spcBef>
              <a:spcAft>
                <a:spcPts val="0"/>
              </a:spcAft>
              <a:buSzPts val="2000"/>
              <a:buFont typeface="Times New Roman"/>
              <a:buChar char="•"/>
            </a:pPr>
            <a:r>
              <a:rPr lang="en" sz="2000">
                <a:latin typeface="Times New Roman"/>
                <a:ea typeface="Times New Roman"/>
                <a:cs typeface="Times New Roman"/>
                <a:sym typeface="Times New Roman"/>
              </a:rPr>
              <a:t>Whether the documents returned are relevant to the user</a:t>
            </a:r>
            <a:endParaRPr sz="2000">
              <a:latin typeface="Times New Roman"/>
              <a:ea typeface="Times New Roman"/>
              <a:cs typeface="Times New Roman"/>
              <a:sym typeface="Times New Roman"/>
            </a:endParaRPr>
          </a:p>
          <a:p>
            <a:pPr marL="914400" lvl="1" indent="-355600" algn="just" rtl="0">
              <a:lnSpc>
                <a:spcPct val="100000"/>
              </a:lnSpc>
              <a:spcBef>
                <a:spcPts val="1000"/>
              </a:spcBef>
              <a:spcAft>
                <a:spcPts val="0"/>
              </a:spcAft>
              <a:buSzPts val="2000"/>
              <a:buFont typeface="Times New Roman"/>
              <a:buChar char="•"/>
            </a:pPr>
            <a:r>
              <a:rPr lang="en" sz="2000">
                <a:latin typeface="Times New Roman"/>
                <a:ea typeface="Times New Roman"/>
                <a:cs typeface="Times New Roman"/>
                <a:sym typeface="Times New Roman"/>
              </a:rPr>
              <a:t>Whether they are presented in order of relevance</a:t>
            </a:r>
            <a:endParaRPr sz="2000">
              <a:latin typeface="Times New Roman"/>
              <a:ea typeface="Times New Roman"/>
              <a:cs typeface="Times New Roman"/>
              <a:sym typeface="Times New Roman"/>
            </a:endParaRPr>
          </a:p>
          <a:p>
            <a:pPr marL="914400" lvl="1" indent="-355600" algn="just" rtl="0">
              <a:lnSpc>
                <a:spcPct val="100000"/>
              </a:lnSpc>
              <a:spcBef>
                <a:spcPts val="1000"/>
              </a:spcBef>
              <a:spcAft>
                <a:spcPts val="0"/>
              </a:spcAft>
              <a:buSzPts val="2000"/>
              <a:buFont typeface="Times New Roman"/>
              <a:buChar char="•"/>
            </a:pPr>
            <a:r>
              <a:rPr lang="en" sz="2000">
                <a:latin typeface="Times New Roman"/>
                <a:ea typeface="Times New Roman"/>
                <a:cs typeface="Times New Roman"/>
                <a:sym typeface="Times New Roman"/>
              </a:rPr>
              <a:t>Whether a significant number of relevant documents in the collection are returned to the user.</a:t>
            </a:r>
            <a:endParaRPr sz="2000">
              <a:latin typeface="Times New Roman"/>
              <a:ea typeface="Times New Roman"/>
              <a:cs typeface="Times New Roman"/>
              <a:sym typeface="Times New Roman"/>
            </a:endParaRPr>
          </a:p>
          <a:p>
            <a:pPr marL="457200" lvl="0" indent="-355600" algn="just" rtl="0">
              <a:lnSpc>
                <a:spcPct val="100000"/>
              </a:lnSpc>
              <a:spcBef>
                <a:spcPts val="1000"/>
              </a:spcBef>
              <a:spcAft>
                <a:spcPts val="1000"/>
              </a:spcAft>
              <a:buSzPts val="2000"/>
              <a:buFont typeface="Times New Roman"/>
              <a:buChar char="•"/>
            </a:pPr>
            <a:r>
              <a:rPr lang="en" sz="2000">
                <a:latin typeface="Times New Roman"/>
                <a:ea typeface="Times New Roman"/>
                <a:cs typeface="Times New Roman"/>
                <a:sym typeface="Times New Roman"/>
              </a:rPr>
              <a:t>A number of measures have been proposed to quantify effectiveness. The most commonly used measures of effectiveness are </a:t>
            </a:r>
            <a:r>
              <a:rPr lang="en" sz="2000" b="1">
                <a:solidFill>
                  <a:srgbClr val="FFFF00"/>
                </a:solidFill>
                <a:latin typeface="Times New Roman"/>
                <a:ea typeface="Times New Roman"/>
                <a:cs typeface="Times New Roman"/>
                <a:sym typeface="Times New Roman"/>
              </a:rPr>
              <a:t>precision and recall</a:t>
            </a:r>
            <a:r>
              <a:rPr lang="e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5"/>
          <p:cNvSpPr txBox="1">
            <a:spLocks noGrp="1"/>
          </p:cNvSpPr>
          <p:nvPr>
            <p:ph type="title"/>
          </p:nvPr>
        </p:nvSpPr>
        <p:spPr>
          <a:xfrm>
            <a:off x="628650" y="273850"/>
            <a:ext cx="7886700" cy="34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690" b="1">
                <a:latin typeface="Times New Roman"/>
                <a:ea typeface="Times New Roman"/>
                <a:cs typeface="Times New Roman"/>
                <a:sym typeface="Times New Roman"/>
              </a:rPr>
              <a:t>Precision and Recall</a:t>
            </a:r>
            <a:endParaRPr sz="2690" b="1">
              <a:latin typeface="Times New Roman"/>
              <a:ea typeface="Times New Roman"/>
              <a:cs typeface="Times New Roman"/>
              <a:sym typeface="Times New Roman"/>
            </a:endParaRPr>
          </a:p>
        </p:txBody>
      </p:sp>
      <p:sp>
        <p:nvSpPr>
          <p:cNvPr id="565" name="Google Shape;565;p55"/>
          <p:cNvSpPr txBox="1">
            <a:spLocks noGrp="1"/>
          </p:cNvSpPr>
          <p:nvPr>
            <p:ph type="body" idx="1"/>
          </p:nvPr>
        </p:nvSpPr>
        <p:spPr>
          <a:xfrm>
            <a:off x="693175" y="713000"/>
            <a:ext cx="7886700" cy="42285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sz="1800" b="1">
                <a:solidFill>
                  <a:srgbClr val="00FFFF"/>
                </a:solidFill>
                <a:latin typeface="Times New Roman"/>
                <a:ea typeface="Times New Roman"/>
                <a:cs typeface="Times New Roman"/>
                <a:sym typeface="Times New Roman"/>
              </a:rPr>
              <a:t>Define precision and recall and explain the tradeoff between them in evaluation of IR systems (8 M, July 2019)</a:t>
            </a:r>
            <a:endParaRPr sz="1800" b="1">
              <a:solidFill>
                <a:srgbClr val="00FFFF"/>
              </a:solidFill>
              <a:latin typeface="Times New Roman"/>
              <a:ea typeface="Times New Roman"/>
              <a:cs typeface="Times New Roman"/>
              <a:sym typeface="Times New Roman"/>
            </a:endParaRPr>
          </a:p>
          <a:p>
            <a:pPr marL="0" lvl="0" indent="0" algn="l" rtl="0">
              <a:lnSpc>
                <a:spcPct val="90000"/>
              </a:lnSpc>
              <a:spcBef>
                <a:spcPts val="800"/>
              </a:spcBef>
              <a:spcAft>
                <a:spcPts val="0"/>
              </a:spcAft>
              <a:buSzPts val="1400"/>
              <a:buNone/>
            </a:pPr>
            <a:r>
              <a:rPr lang="en" b="1">
                <a:solidFill>
                  <a:srgbClr val="FFFF00"/>
                </a:solidFill>
              </a:rPr>
              <a:t>Precision:</a:t>
            </a:r>
            <a:endParaRPr b="1">
              <a:solidFill>
                <a:srgbClr val="FFFF00"/>
              </a:solidFill>
            </a:endParaRPr>
          </a:p>
          <a:p>
            <a:pPr marL="457200" lvl="0" indent="-298450" algn="l" rtl="0">
              <a:lnSpc>
                <a:spcPct val="90000"/>
              </a:lnSpc>
              <a:spcBef>
                <a:spcPts val="800"/>
              </a:spcBef>
              <a:spcAft>
                <a:spcPts val="0"/>
              </a:spcAft>
              <a:buSzPts val="1100"/>
              <a:buChar char="•"/>
            </a:pPr>
            <a:r>
              <a:rPr lang="en" sz="1800"/>
              <a:t>Precision is defined as the proportion of relevant documents in a retrieved set.</a:t>
            </a:r>
            <a:endParaRPr sz="1800"/>
          </a:p>
          <a:p>
            <a:pPr marL="457200" lvl="0" indent="-298450" algn="l" rtl="0">
              <a:lnSpc>
                <a:spcPct val="90000"/>
              </a:lnSpc>
              <a:spcBef>
                <a:spcPts val="0"/>
              </a:spcBef>
              <a:spcAft>
                <a:spcPts val="0"/>
              </a:spcAft>
              <a:buSzPts val="1100"/>
              <a:buChar char="•"/>
            </a:pPr>
            <a:r>
              <a:rPr lang="en" sz="1800"/>
              <a:t>It is the probability that a relevant document is retrieved.</a:t>
            </a:r>
            <a:endParaRPr sz="1800"/>
          </a:p>
          <a:p>
            <a:pPr marL="457200" lvl="0" indent="-298450" algn="l" rtl="0">
              <a:lnSpc>
                <a:spcPct val="90000"/>
              </a:lnSpc>
              <a:spcBef>
                <a:spcPts val="0"/>
              </a:spcBef>
              <a:spcAft>
                <a:spcPts val="0"/>
              </a:spcAft>
              <a:buSzPts val="1100"/>
              <a:buChar char="•"/>
            </a:pPr>
            <a:r>
              <a:rPr lang="en" sz="1800"/>
              <a:t>It measures the accuracy of a system.</a:t>
            </a:r>
            <a:endParaRPr sz="1800"/>
          </a:p>
          <a:p>
            <a:pPr marL="457200" lvl="0" indent="0" algn="l" rtl="0">
              <a:lnSpc>
                <a:spcPct val="90000"/>
              </a:lnSpc>
              <a:spcBef>
                <a:spcPts val="800"/>
              </a:spcBef>
              <a:spcAft>
                <a:spcPts val="0"/>
              </a:spcAft>
              <a:buSzPts val="1400"/>
              <a:buNone/>
            </a:pPr>
            <a:r>
              <a:rPr lang="en" sz="1800"/>
              <a:t>                    </a:t>
            </a:r>
            <a:endParaRPr sz="1800"/>
          </a:p>
          <a:p>
            <a:pPr marL="0" lvl="0" indent="0" algn="l" rtl="0">
              <a:lnSpc>
                <a:spcPct val="90000"/>
              </a:lnSpc>
              <a:spcBef>
                <a:spcPts val="800"/>
              </a:spcBef>
              <a:spcAft>
                <a:spcPts val="0"/>
              </a:spcAft>
              <a:buSzPts val="1400"/>
              <a:buNone/>
            </a:pPr>
            <a:r>
              <a:rPr lang="en" sz="1800" b="1">
                <a:solidFill>
                  <a:srgbClr val="FFFF00"/>
                </a:solidFill>
              </a:rPr>
              <a:t>Recall:</a:t>
            </a:r>
            <a:endParaRPr sz="1800" b="1">
              <a:solidFill>
                <a:srgbClr val="FFFF00"/>
              </a:solidFill>
            </a:endParaRPr>
          </a:p>
          <a:p>
            <a:pPr marL="457200" lvl="0" indent="-298450" algn="l" rtl="0">
              <a:lnSpc>
                <a:spcPct val="90000"/>
              </a:lnSpc>
              <a:spcBef>
                <a:spcPts val="800"/>
              </a:spcBef>
              <a:spcAft>
                <a:spcPts val="0"/>
              </a:spcAft>
              <a:buSzPts val="1100"/>
              <a:buChar char="•"/>
            </a:pPr>
            <a:r>
              <a:rPr lang="en" sz="1800"/>
              <a:t>Recall is the proportion of relevant documents that are actually been retrieved.</a:t>
            </a:r>
            <a:endParaRPr sz="1800"/>
          </a:p>
          <a:p>
            <a:pPr marL="457200" lvl="0" indent="-298450" algn="l" rtl="0">
              <a:lnSpc>
                <a:spcPct val="90000"/>
              </a:lnSpc>
              <a:spcBef>
                <a:spcPts val="0"/>
              </a:spcBef>
              <a:spcAft>
                <a:spcPts val="0"/>
              </a:spcAft>
              <a:buSzPts val="1100"/>
              <a:buChar char="•"/>
            </a:pPr>
            <a:r>
              <a:rPr lang="en" sz="1800"/>
              <a:t>Recall measures the exhaustiveness of the system.</a:t>
            </a:r>
            <a:endParaRPr sz="1800"/>
          </a:p>
        </p:txBody>
      </p:sp>
      <p:sp>
        <p:nvSpPr>
          <p:cNvPr id="566" name="Google Shape;566;p55"/>
          <p:cNvSpPr txBox="1"/>
          <p:nvPr/>
        </p:nvSpPr>
        <p:spPr>
          <a:xfrm>
            <a:off x="2101875" y="2896275"/>
            <a:ext cx="1152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rbel"/>
                <a:ea typeface="Corbel"/>
                <a:cs typeface="Corbel"/>
                <a:sym typeface="Corbel"/>
              </a:rPr>
              <a:t>Precision   =</a:t>
            </a:r>
            <a:endParaRPr sz="1400" b="1" i="0" u="none" strike="noStrike" cap="none">
              <a:solidFill>
                <a:srgbClr val="FFFF00"/>
              </a:solidFill>
              <a:latin typeface="Corbel"/>
              <a:ea typeface="Corbel"/>
              <a:cs typeface="Corbel"/>
              <a:sym typeface="Corbel"/>
            </a:endParaRPr>
          </a:p>
        </p:txBody>
      </p:sp>
      <p:sp>
        <p:nvSpPr>
          <p:cNvPr id="567" name="Google Shape;567;p55"/>
          <p:cNvSpPr txBox="1"/>
          <p:nvPr/>
        </p:nvSpPr>
        <p:spPr>
          <a:xfrm>
            <a:off x="3376950" y="3116000"/>
            <a:ext cx="34707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FF00"/>
                </a:solidFill>
                <a:latin typeface="Times New Roman"/>
                <a:ea typeface="Times New Roman"/>
                <a:cs typeface="Times New Roman"/>
                <a:sym typeface="Times New Roman"/>
              </a:rPr>
              <a:t>Total number of documents retrieved ( N</a:t>
            </a:r>
            <a:r>
              <a:rPr lang="en" sz="1500" b="1" i="0" u="none" strike="noStrike" cap="none" baseline="-25000">
                <a:solidFill>
                  <a:srgbClr val="FFFF00"/>
                </a:solidFill>
                <a:latin typeface="Times New Roman"/>
                <a:ea typeface="Times New Roman"/>
                <a:cs typeface="Times New Roman"/>
                <a:sym typeface="Times New Roman"/>
              </a:rPr>
              <a:t>ret </a:t>
            </a:r>
            <a:r>
              <a:rPr lang="en" sz="1300" b="1" i="0" u="none" strike="noStrike" cap="none">
                <a:solidFill>
                  <a:srgbClr val="FFFF00"/>
                </a:solidFill>
                <a:latin typeface="Times New Roman"/>
                <a:ea typeface="Times New Roman"/>
                <a:cs typeface="Times New Roman"/>
                <a:sym typeface="Times New Roman"/>
              </a:rPr>
              <a:t>)</a:t>
            </a:r>
            <a:endParaRPr sz="1500" b="1" i="0" u="none" strike="noStrike" cap="none">
              <a:solidFill>
                <a:srgbClr val="FFFF00"/>
              </a:solidFill>
              <a:latin typeface="Corbel"/>
              <a:ea typeface="Corbel"/>
              <a:cs typeface="Corbel"/>
              <a:sym typeface="Corbel"/>
            </a:endParaRPr>
          </a:p>
        </p:txBody>
      </p:sp>
      <p:sp>
        <p:nvSpPr>
          <p:cNvPr id="568" name="Google Shape;568;p55"/>
          <p:cNvSpPr txBox="1"/>
          <p:nvPr/>
        </p:nvSpPr>
        <p:spPr>
          <a:xfrm>
            <a:off x="2010300" y="4424950"/>
            <a:ext cx="795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rbel"/>
                <a:ea typeface="Corbel"/>
                <a:cs typeface="Corbel"/>
                <a:sym typeface="Corbel"/>
              </a:rPr>
              <a:t>Recall =</a:t>
            </a:r>
            <a:r>
              <a:rPr lang="en" sz="1400" b="0" i="0" u="none" strike="noStrike" cap="none">
                <a:solidFill>
                  <a:srgbClr val="000000"/>
                </a:solidFill>
                <a:latin typeface="Corbel"/>
                <a:ea typeface="Corbel"/>
                <a:cs typeface="Corbel"/>
                <a:sym typeface="Corbel"/>
              </a:rPr>
              <a:t> </a:t>
            </a:r>
            <a:endParaRPr sz="1400" b="0" i="0" u="none" strike="noStrike" cap="none">
              <a:solidFill>
                <a:srgbClr val="000000"/>
              </a:solidFill>
              <a:latin typeface="Corbel"/>
              <a:ea typeface="Corbel"/>
              <a:cs typeface="Corbel"/>
              <a:sym typeface="Corbel"/>
            </a:endParaRPr>
          </a:p>
        </p:txBody>
      </p:sp>
      <p:sp>
        <p:nvSpPr>
          <p:cNvPr id="569" name="Google Shape;569;p55"/>
          <p:cNvSpPr txBox="1"/>
          <p:nvPr/>
        </p:nvSpPr>
        <p:spPr>
          <a:xfrm>
            <a:off x="2805300" y="4240300"/>
            <a:ext cx="46140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FFFF00"/>
                </a:solidFill>
                <a:latin typeface="Times New Roman"/>
                <a:ea typeface="Times New Roman"/>
                <a:cs typeface="Times New Roman"/>
                <a:sym typeface="Times New Roman"/>
              </a:rPr>
              <a:t>   Number of relevant documents retrieved ( NR</a:t>
            </a:r>
            <a:r>
              <a:rPr lang="en" sz="1200" b="1" i="0" u="none" strike="noStrike" cap="none" baseline="-25000">
                <a:solidFill>
                  <a:srgbClr val="FFFF00"/>
                </a:solidFill>
                <a:latin typeface="Times New Roman"/>
                <a:ea typeface="Times New Roman"/>
                <a:cs typeface="Times New Roman"/>
                <a:sym typeface="Times New Roman"/>
              </a:rPr>
              <a:t>r </a:t>
            </a:r>
            <a:r>
              <a:rPr lang="en" sz="1200" b="1" i="0" u="none" strike="noStrike" cap="none">
                <a:solidFill>
                  <a:srgbClr val="FFFF00"/>
                </a:solidFill>
                <a:latin typeface="Times New Roman"/>
                <a:ea typeface="Times New Roman"/>
                <a:cs typeface="Times New Roman"/>
                <a:sym typeface="Times New Roman"/>
              </a:rPr>
              <a:t>)</a:t>
            </a:r>
            <a:endParaRPr sz="1200" b="1" i="0" u="none" strike="noStrike" cap="none">
              <a:solidFill>
                <a:srgbClr val="FFFF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Times New Roman"/>
                <a:ea typeface="Times New Roman"/>
                <a:cs typeface="Times New Roman"/>
                <a:sym typeface="Times New Roman"/>
              </a:rPr>
              <a:t>________________________________________________________</a:t>
            </a:r>
            <a:endParaRPr sz="1100" b="1" i="0" u="none" strike="noStrike" cap="none">
              <a:solidFill>
                <a:srgbClr val="FFFF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 sz="1200" b="1" i="0" u="none" strike="noStrike" cap="none">
                <a:solidFill>
                  <a:srgbClr val="FFFF00"/>
                </a:solidFill>
                <a:latin typeface="Times New Roman"/>
                <a:ea typeface="Times New Roman"/>
                <a:cs typeface="Times New Roman"/>
                <a:sym typeface="Times New Roman"/>
              </a:rPr>
              <a:t>Total number of relevant documents in the collection  ( NR</a:t>
            </a:r>
            <a:r>
              <a:rPr lang="en" sz="1500" b="1" i="0" u="none" strike="noStrike" cap="none" baseline="-25000">
                <a:solidFill>
                  <a:srgbClr val="FFFF00"/>
                </a:solidFill>
                <a:latin typeface="Times New Roman"/>
                <a:ea typeface="Times New Roman"/>
                <a:cs typeface="Times New Roman"/>
                <a:sym typeface="Times New Roman"/>
              </a:rPr>
              <a:t>rel </a:t>
            </a:r>
            <a:r>
              <a:rPr lang="en" sz="1200" b="1" i="0" u="none" strike="noStrike" cap="none">
                <a:solidFill>
                  <a:srgbClr val="FFFF00"/>
                </a:solidFill>
                <a:latin typeface="Times New Roman"/>
                <a:ea typeface="Times New Roman"/>
                <a:cs typeface="Times New Roman"/>
                <a:sym typeface="Times New Roman"/>
              </a:rPr>
              <a:t>)</a:t>
            </a:r>
            <a:endParaRPr sz="1200" b="1" i="0" u="none" strike="noStrike" cap="none">
              <a:solidFill>
                <a:srgbClr val="FFFF00"/>
              </a:solidFill>
              <a:latin typeface="Times New Roman"/>
              <a:ea typeface="Times New Roman"/>
              <a:cs typeface="Times New Roman"/>
              <a:sym typeface="Times New Roman"/>
            </a:endParaRPr>
          </a:p>
        </p:txBody>
      </p:sp>
      <p:sp>
        <p:nvSpPr>
          <p:cNvPr id="570" name="Google Shape;570;p55"/>
          <p:cNvSpPr txBox="1"/>
          <p:nvPr/>
        </p:nvSpPr>
        <p:spPr>
          <a:xfrm>
            <a:off x="3219500" y="2613000"/>
            <a:ext cx="3967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FF00"/>
                </a:solidFill>
                <a:latin typeface="Times New Roman"/>
                <a:ea typeface="Times New Roman"/>
                <a:cs typeface="Times New Roman"/>
                <a:sym typeface="Times New Roman"/>
              </a:rPr>
              <a:t>Number of relevant documents retrieved ( NR</a:t>
            </a:r>
            <a:r>
              <a:rPr lang="en" sz="1500" b="1" i="0" u="none" strike="noStrike" cap="none" baseline="-25000">
                <a:solidFill>
                  <a:srgbClr val="FFFF00"/>
                </a:solidFill>
                <a:latin typeface="Times New Roman"/>
                <a:ea typeface="Times New Roman"/>
                <a:cs typeface="Times New Roman"/>
                <a:sym typeface="Times New Roman"/>
              </a:rPr>
              <a:t>ret </a:t>
            </a:r>
            <a:r>
              <a:rPr lang="en" sz="1300" b="1" i="0" u="none" strike="noStrike" cap="none">
                <a:solidFill>
                  <a:srgbClr val="FFFF00"/>
                </a:solidFill>
                <a:latin typeface="Times New Roman"/>
                <a:ea typeface="Times New Roman"/>
                <a:cs typeface="Times New Roman"/>
                <a:sym typeface="Times New Roman"/>
              </a:rPr>
              <a:t>)</a:t>
            </a:r>
            <a:endParaRPr sz="1300" b="1" i="0" u="none" strike="noStrike" cap="none">
              <a:solidFill>
                <a:srgbClr val="FFFF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FF00"/>
                </a:solidFill>
                <a:latin typeface="Times New Roman"/>
                <a:ea typeface="Times New Roman"/>
                <a:cs typeface="Times New Roman"/>
                <a:sym typeface="Times New Roman"/>
              </a:rPr>
              <a:t>___________________________________________</a:t>
            </a:r>
            <a:endParaRPr sz="1300" b="1" i="0" u="none" strike="noStrike" cap="none">
              <a:solidFill>
                <a:srgbClr val="FFFF00"/>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6"/>
          <p:cNvSpPr txBox="1">
            <a:spLocks noGrp="1"/>
          </p:cNvSpPr>
          <p:nvPr>
            <p:ph type="title"/>
          </p:nvPr>
        </p:nvSpPr>
        <p:spPr>
          <a:xfrm>
            <a:off x="628650" y="273846"/>
            <a:ext cx="7886700" cy="3999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890" b="1">
                <a:latin typeface="Times New Roman"/>
                <a:ea typeface="Times New Roman"/>
                <a:cs typeface="Times New Roman"/>
                <a:sym typeface="Times New Roman"/>
              </a:rPr>
              <a:t>Precision and Recall</a:t>
            </a:r>
            <a:endParaRPr sz="2890" b="1">
              <a:latin typeface="Times New Roman"/>
              <a:ea typeface="Times New Roman"/>
              <a:cs typeface="Times New Roman"/>
              <a:sym typeface="Times New Roman"/>
            </a:endParaRPr>
          </a:p>
        </p:txBody>
      </p:sp>
      <p:sp>
        <p:nvSpPr>
          <p:cNvPr id="576" name="Google Shape;576;p56"/>
          <p:cNvSpPr txBox="1">
            <a:spLocks noGrp="1"/>
          </p:cNvSpPr>
          <p:nvPr>
            <p:ph type="body" idx="1"/>
          </p:nvPr>
        </p:nvSpPr>
        <p:spPr>
          <a:xfrm>
            <a:off x="678600" y="673750"/>
            <a:ext cx="7836900" cy="3958800"/>
          </a:xfrm>
          <a:prstGeom prst="rect">
            <a:avLst/>
          </a:prstGeom>
          <a:noFill/>
          <a:ln>
            <a:noFill/>
          </a:ln>
        </p:spPr>
        <p:txBody>
          <a:bodyPr spcFirstLastPara="1" wrap="square" lIns="68575" tIns="34275" rIns="68575" bIns="34275" anchor="t" anchorCtr="0">
            <a:normAutofit/>
          </a:bodyPr>
          <a:lstStyle/>
          <a:p>
            <a:pPr marL="457200" lvl="0" indent="-311150" algn="l" rtl="0">
              <a:lnSpc>
                <a:spcPct val="100000"/>
              </a:lnSpc>
              <a:spcBef>
                <a:spcPts val="800"/>
              </a:spcBef>
              <a:spcAft>
                <a:spcPts val="0"/>
              </a:spcAft>
              <a:buSzPts val="1300"/>
              <a:buFont typeface="Times New Roman"/>
              <a:buChar char="•"/>
            </a:pPr>
            <a:r>
              <a:rPr lang="en" sz="1300">
                <a:latin typeface="Times New Roman"/>
                <a:ea typeface="Times New Roman"/>
                <a:cs typeface="Times New Roman"/>
                <a:sym typeface="Times New Roman"/>
              </a:rPr>
              <a:t>Precision and recall are based on binary relevance judgement.</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Every retrievable item is recognizably ‘relevant’, or recognizably ‘not relevant’.</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For every search result, all retrievable documents will be either -</a:t>
            </a:r>
            <a:endParaRPr sz="1300">
              <a:latin typeface="Times New Roman"/>
              <a:ea typeface="Times New Roman"/>
              <a:cs typeface="Times New Roman"/>
              <a:sym typeface="Times New Roman"/>
            </a:endParaRPr>
          </a:p>
          <a:p>
            <a:pPr marL="914400" lvl="1"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Relevant or non-relevant</a:t>
            </a:r>
            <a:endParaRPr sz="1300">
              <a:latin typeface="Times New Roman"/>
              <a:ea typeface="Times New Roman"/>
              <a:cs typeface="Times New Roman"/>
              <a:sym typeface="Times New Roman"/>
            </a:endParaRPr>
          </a:p>
          <a:p>
            <a:pPr marL="914400" lvl="1" indent="-311150" algn="l" rtl="0">
              <a:lnSpc>
                <a:spcPct val="100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Retrieved or not retrieved</a:t>
            </a:r>
            <a:endParaRPr sz="1300">
              <a:latin typeface="Times New Roman"/>
              <a:ea typeface="Times New Roman"/>
              <a:cs typeface="Times New Roman"/>
              <a:sym typeface="Times New Roman"/>
            </a:endParaRPr>
          </a:p>
          <a:p>
            <a:pPr marL="457200" lvl="0" indent="-311150" algn="l" rtl="0">
              <a:lnSpc>
                <a:spcPct val="100000"/>
              </a:lnSpc>
              <a:spcBef>
                <a:spcPts val="800"/>
              </a:spcBef>
              <a:spcAft>
                <a:spcPts val="1000"/>
              </a:spcAft>
              <a:buSzPts val="1300"/>
              <a:buFont typeface="Times New Roman"/>
              <a:buChar char="•"/>
            </a:pPr>
            <a:r>
              <a:rPr lang="en" sz="1300">
                <a:latin typeface="Times New Roman"/>
                <a:ea typeface="Times New Roman"/>
                <a:cs typeface="Times New Roman"/>
                <a:sym typeface="Times New Roman"/>
              </a:rPr>
              <a:t>Hence, each document will fall into one, and only one, of four cells of the matrix as shown in </a:t>
            </a:r>
            <a:r>
              <a:rPr lang="en" sz="1300" b="1">
                <a:solidFill>
                  <a:srgbClr val="FFFF00"/>
                </a:solidFill>
                <a:latin typeface="Times New Roman"/>
                <a:ea typeface="Times New Roman"/>
                <a:cs typeface="Times New Roman"/>
                <a:sym typeface="Times New Roman"/>
              </a:rPr>
              <a:t>relevant matrix</a:t>
            </a:r>
            <a:endParaRPr sz="1300">
              <a:latin typeface="Times New Roman"/>
              <a:ea typeface="Times New Roman"/>
              <a:cs typeface="Times New Roman"/>
              <a:sym typeface="Times New Roman"/>
            </a:endParaRPr>
          </a:p>
        </p:txBody>
      </p:sp>
      <p:cxnSp>
        <p:nvCxnSpPr>
          <p:cNvPr id="577" name="Google Shape;577;p56"/>
          <p:cNvCxnSpPr/>
          <p:nvPr/>
        </p:nvCxnSpPr>
        <p:spPr>
          <a:xfrm>
            <a:off x="4651900" y="3669300"/>
            <a:ext cx="134700" cy="0"/>
          </a:xfrm>
          <a:prstGeom prst="straightConnector1">
            <a:avLst/>
          </a:prstGeom>
          <a:noFill/>
          <a:ln w="9525" cap="flat" cmpd="sng">
            <a:solidFill>
              <a:schemeClr val="dk2"/>
            </a:solidFill>
            <a:prstDash val="solid"/>
            <a:round/>
            <a:headEnd type="none" w="sm" len="sm"/>
            <a:tailEnd type="none" w="sm" len="sm"/>
          </a:ln>
        </p:spPr>
      </p:cxnSp>
      <p:cxnSp>
        <p:nvCxnSpPr>
          <p:cNvPr id="578" name="Google Shape;578;p56"/>
          <p:cNvCxnSpPr/>
          <p:nvPr/>
        </p:nvCxnSpPr>
        <p:spPr>
          <a:xfrm>
            <a:off x="3543575" y="3410100"/>
            <a:ext cx="134700" cy="0"/>
          </a:xfrm>
          <a:prstGeom prst="straightConnector1">
            <a:avLst/>
          </a:prstGeom>
          <a:noFill/>
          <a:ln w="9525" cap="flat" cmpd="sng">
            <a:solidFill>
              <a:schemeClr val="dk2"/>
            </a:solidFill>
            <a:prstDash val="solid"/>
            <a:round/>
            <a:headEnd type="none" w="sm" len="sm"/>
            <a:tailEnd type="none" w="sm" len="sm"/>
          </a:ln>
        </p:spPr>
      </p:cxnSp>
      <p:cxnSp>
        <p:nvCxnSpPr>
          <p:cNvPr id="579" name="Google Shape;579;p56"/>
          <p:cNvCxnSpPr/>
          <p:nvPr/>
        </p:nvCxnSpPr>
        <p:spPr>
          <a:xfrm>
            <a:off x="3836825" y="3669300"/>
            <a:ext cx="134700" cy="0"/>
          </a:xfrm>
          <a:prstGeom prst="straightConnector1">
            <a:avLst/>
          </a:prstGeom>
          <a:noFill/>
          <a:ln w="9525" cap="flat" cmpd="sng">
            <a:solidFill>
              <a:schemeClr val="dk2"/>
            </a:solidFill>
            <a:prstDash val="solid"/>
            <a:round/>
            <a:headEnd type="none" w="sm" len="sm"/>
            <a:tailEnd type="none" w="sm" len="sm"/>
          </a:ln>
        </p:spPr>
      </p:cxnSp>
      <p:cxnSp>
        <p:nvCxnSpPr>
          <p:cNvPr id="580" name="Google Shape;580;p56"/>
          <p:cNvCxnSpPr/>
          <p:nvPr/>
        </p:nvCxnSpPr>
        <p:spPr>
          <a:xfrm>
            <a:off x="2387675" y="3719875"/>
            <a:ext cx="134700" cy="0"/>
          </a:xfrm>
          <a:prstGeom prst="straightConnector1">
            <a:avLst/>
          </a:prstGeom>
          <a:noFill/>
          <a:ln w="9525" cap="flat" cmpd="sng">
            <a:solidFill>
              <a:schemeClr val="dk2"/>
            </a:solidFill>
            <a:prstDash val="solid"/>
            <a:round/>
            <a:headEnd type="none" w="sm" len="sm"/>
            <a:tailEnd type="none" w="sm" len="sm"/>
          </a:ln>
        </p:spPr>
      </p:cxnSp>
      <p:cxnSp>
        <p:nvCxnSpPr>
          <p:cNvPr id="581" name="Google Shape;581;p56"/>
          <p:cNvCxnSpPr/>
          <p:nvPr/>
        </p:nvCxnSpPr>
        <p:spPr>
          <a:xfrm>
            <a:off x="3543575" y="3670775"/>
            <a:ext cx="134700" cy="0"/>
          </a:xfrm>
          <a:prstGeom prst="straightConnector1">
            <a:avLst/>
          </a:prstGeom>
          <a:noFill/>
          <a:ln w="9525" cap="flat" cmpd="sng">
            <a:solidFill>
              <a:schemeClr val="dk2"/>
            </a:solidFill>
            <a:prstDash val="solid"/>
            <a:round/>
            <a:headEnd type="none" w="sm" len="sm"/>
            <a:tailEnd type="none" w="sm" len="sm"/>
          </a:ln>
        </p:spPr>
      </p:cxnSp>
      <p:cxnSp>
        <p:nvCxnSpPr>
          <p:cNvPr id="582" name="Google Shape;582;p56"/>
          <p:cNvCxnSpPr/>
          <p:nvPr/>
        </p:nvCxnSpPr>
        <p:spPr>
          <a:xfrm>
            <a:off x="6657600" y="4022425"/>
            <a:ext cx="134700" cy="0"/>
          </a:xfrm>
          <a:prstGeom prst="straightConnector1">
            <a:avLst/>
          </a:prstGeom>
          <a:noFill/>
          <a:ln w="9525" cap="flat" cmpd="sng">
            <a:solidFill>
              <a:schemeClr val="dk2"/>
            </a:solidFill>
            <a:prstDash val="solid"/>
            <a:round/>
            <a:headEnd type="none" w="sm" len="sm"/>
            <a:tailEnd type="none" w="sm" len="sm"/>
          </a:ln>
        </p:spPr>
      </p:cxnSp>
      <p:pic>
        <p:nvPicPr>
          <p:cNvPr id="583" name="Google Shape;583;p56"/>
          <p:cNvPicPr preferRelativeResize="0"/>
          <p:nvPr/>
        </p:nvPicPr>
        <p:blipFill rotWithShape="1">
          <a:blip r:embed="rId3">
            <a:alphaModFix/>
          </a:blip>
          <a:srcRect/>
          <a:stretch/>
        </p:blipFill>
        <p:spPr>
          <a:xfrm>
            <a:off x="104100" y="2670300"/>
            <a:ext cx="4609702" cy="1867424"/>
          </a:xfrm>
          <a:prstGeom prst="rect">
            <a:avLst/>
          </a:prstGeom>
          <a:noFill/>
          <a:ln>
            <a:noFill/>
          </a:ln>
        </p:spPr>
      </p:pic>
      <p:pic>
        <p:nvPicPr>
          <p:cNvPr id="584" name="Google Shape;584;p56"/>
          <p:cNvPicPr preferRelativeResize="0"/>
          <p:nvPr/>
        </p:nvPicPr>
        <p:blipFill rotWithShape="1">
          <a:blip r:embed="rId4">
            <a:alphaModFix/>
          </a:blip>
          <a:srcRect/>
          <a:stretch/>
        </p:blipFill>
        <p:spPr>
          <a:xfrm>
            <a:off x="4744400" y="2670300"/>
            <a:ext cx="4258749" cy="190332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57"/>
          <p:cNvSpPr txBox="1">
            <a:spLocks noGrp="1"/>
          </p:cNvSpPr>
          <p:nvPr>
            <p:ph type="title"/>
          </p:nvPr>
        </p:nvSpPr>
        <p:spPr>
          <a:xfrm>
            <a:off x="628650" y="273847"/>
            <a:ext cx="7886700" cy="50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Precision and Recall</a:t>
            </a:r>
            <a:endParaRPr/>
          </a:p>
        </p:txBody>
      </p:sp>
      <p:sp>
        <p:nvSpPr>
          <p:cNvPr id="590" name="Google Shape;590;p57"/>
          <p:cNvSpPr txBox="1">
            <a:spLocks noGrp="1"/>
          </p:cNvSpPr>
          <p:nvPr>
            <p:ph type="body" idx="1"/>
          </p:nvPr>
        </p:nvSpPr>
        <p:spPr>
          <a:xfrm>
            <a:off x="662425" y="841675"/>
            <a:ext cx="7853100" cy="37911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a:t>Refer: https://www.youtube.com/watch?v=mctizdBujk4</a:t>
            </a:r>
            <a:endParaRPr/>
          </a:p>
        </p:txBody>
      </p:sp>
      <p:pic>
        <p:nvPicPr>
          <p:cNvPr id="591" name="Google Shape;591;p57"/>
          <p:cNvPicPr preferRelativeResize="0"/>
          <p:nvPr/>
        </p:nvPicPr>
        <p:blipFill rotWithShape="1">
          <a:blip r:embed="rId3">
            <a:alphaModFix/>
          </a:blip>
          <a:srcRect/>
          <a:stretch/>
        </p:blipFill>
        <p:spPr>
          <a:xfrm>
            <a:off x="693600" y="1231325"/>
            <a:ext cx="7682325" cy="33778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8"/>
          <p:cNvSpPr txBox="1">
            <a:spLocks noGrp="1"/>
          </p:cNvSpPr>
          <p:nvPr>
            <p:ph type="title"/>
          </p:nvPr>
        </p:nvSpPr>
        <p:spPr>
          <a:xfrm>
            <a:off x="628650" y="273847"/>
            <a:ext cx="7886700" cy="560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Precision and Recall</a:t>
            </a:r>
            <a:endParaRPr/>
          </a:p>
        </p:txBody>
      </p:sp>
      <p:sp>
        <p:nvSpPr>
          <p:cNvPr id="597" name="Google Shape;597;p58"/>
          <p:cNvSpPr txBox="1">
            <a:spLocks noGrp="1"/>
          </p:cNvSpPr>
          <p:nvPr>
            <p:ph type="body" idx="1"/>
          </p:nvPr>
        </p:nvSpPr>
        <p:spPr>
          <a:xfrm>
            <a:off x="628650" y="921176"/>
            <a:ext cx="7675500" cy="36999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endParaRPr/>
          </a:p>
        </p:txBody>
      </p:sp>
      <p:pic>
        <p:nvPicPr>
          <p:cNvPr id="598" name="Google Shape;598;p58"/>
          <p:cNvPicPr preferRelativeResize="0"/>
          <p:nvPr/>
        </p:nvPicPr>
        <p:blipFill rotWithShape="1">
          <a:blip r:embed="rId3">
            <a:alphaModFix/>
          </a:blip>
          <a:srcRect/>
          <a:stretch/>
        </p:blipFill>
        <p:spPr>
          <a:xfrm>
            <a:off x="628650" y="921175"/>
            <a:ext cx="7886701" cy="3805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59"/>
          <p:cNvSpPr txBox="1">
            <a:spLocks noGrp="1"/>
          </p:cNvSpPr>
          <p:nvPr>
            <p:ph type="title"/>
          </p:nvPr>
        </p:nvSpPr>
        <p:spPr>
          <a:xfrm>
            <a:off x="628650" y="273847"/>
            <a:ext cx="7886700" cy="448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EDEDED"/>
              </a:buClr>
              <a:buSzPts val="990"/>
              <a:buFont typeface="Corbel"/>
              <a:buNone/>
            </a:pPr>
            <a:r>
              <a:rPr lang="en" sz="3060">
                <a:latin typeface="Times New Roman"/>
                <a:ea typeface="Times New Roman"/>
                <a:cs typeface="Times New Roman"/>
                <a:sym typeface="Times New Roman"/>
              </a:rPr>
              <a:t>Trade off between precision and recall</a:t>
            </a:r>
            <a:endParaRPr sz="1890">
              <a:latin typeface="Times New Roman"/>
              <a:ea typeface="Times New Roman"/>
              <a:cs typeface="Times New Roman"/>
              <a:sym typeface="Times New Roman"/>
            </a:endParaRPr>
          </a:p>
        </p:txBody>
      </p:sp>
      <p:sp>
        <p:nvSpPr>
          <p:cNvPr id="604" name="Google Shape;604;p59"/>
          <p:cNvSpPr txBox="1">
            <a:spLocks noGrp="1"/>
          </p:cNvSpPr>
          <p:nvPr>
            <p:ph type="body" idx="1"/>
          </p:nvPr>
        </p:nvSpPr>
        <p:spPr>
          <a:xfrm>
            <a:off x="628650" y="722651"/>
            <a:ext cx="7675500" cy="3867000"/>
          </a:xfrm>
          <a:prstGeom prst="rect">
            <a:avLst/>
          </a:prstGeom>
          <a:noFill/>
          <a:ln>
            <a:noFill/>
          </a:ln>
        </p:spPr>
        <p:txBody>
          <a:bodyPr spcFirstLastPara="1" wrap="square" lIns="68575" tIns="34275" rIns="68575" bIns="34275" anchor="t" anchorCtr="0">
            <a:normAutofit/>
          </a:bodyPr>
          <a:lstStyle/>
          <a:p>
            <a:pPr marL="457200" lvl="0" indent="-304800" algn="just" rtl="0">
              <a:lnSpc>
                <a:spcPct val="100000"/>
              </a:lnSpc>
              <a:spcBef>
                <a:spcPts val="800"/>
              </a:spcBef>
              <a:spcAft>
                <a:spcPts val="0"/>
              </a:spcAft>
              <a:buSzPts val="1200"/>
              <a:buFont typeface="Times New Roman"/>
              <a:buChar char="•"/>
            </a:pPr>
            <a:r>
              <a:rPr lang="en" sz="1200" dirty="0">
                <a:latin typeface="Times New Roman"/>
                <a:ea typeface="Times New Roman"/>
                <a:cs typeface="Times New Roman"/>
                <a:sym typeface="Times New Roman"/>
              </a:rPr>
              <a:t>There exists a tradeoff between precision and recall, though a high value of both at the same time is desirable. </a:t>
            </a:r>
            <a:endParaRPr sz="1200" dirty="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Clr>
                <a:srgbClr val="FFFF00"/>
              </a:buClr>
              <a:buSzPts val="1200"/>
              <a:buFont typeface="Times New Roman"/>
              <a:buChar char="•"/>
            </a:pPr>
            <a:r>
              <a:rPr lang="en" sz="1200" b="1" dirty="0">
                <a:solidFill>
                  <a:srgbClr val="FFFF00"/>
                </a:solidFill>
                <a:latin typeface="Times New Roman"/>
                <a:ea typeface="Times New Roman"/>
                <a:cs typeface="Times New Roman"/>
                <a:sym typeface="Times New Roman"/>
              </a:rPr>
              <a:t>Precision is high at low recall values.</a:t>
            </a:r>
            <a:endParaRPr sz="1200" b="1" dirty="0">
              <a:solidFill>
                <a:srgbClr val="FFFF00"/>
              </a:solidFill>
              <a:latin typeface="Times New Roman"/>
              <a:ea typeface="Times New Roman"/>
              <a:cs typeface="Times New Roman"/>
              <a:sym typeface="Times New Roman"/>
            </a:endParaRPr>
          </a:p>
          <a:p>
            <a:pPr marL="457200" lvl="0" indent="-304800" algn="just" rtl="0">
              <a:lnSpc>
                <a:spcPct val="100000"/>
              </a:lnSpc>
              <a:spcBef>
                <a:spcPts val="1000"/>
              </a:spcBef>
              <a:spcAft>
                <a:spcPts val="0"/>
              </a:spcAft>
              <a:buClr>
                <a:srgbClr val="FFFF00"/>
              </a:buClr>
              <a:buSzPts val="1200"/>
              <a:buFont typeface="Times New Roman"/>
              <a:buChar char="•"/>
            </a:pPr>
            <a:r>
              <a:rPr lang="en" sz="1200" b="1" dirty="0">
                <a:solidFill>
                  <a:srgbClr val="FFFF00"/>
                </a:solidFill>
                <a:latin typeface="Times New Roman"/>
                <a:ea typeface="Times New Roman"/>
                <a:cs typeface="Times New Roman"/>
                <a:sym typeface="Times New Roman"/>
              </a:rPr>
              <a:t>As the recall increases, precision decreases. </a:t>
            </a:r>
            <a:endParaRPr sz="1200" b="1" dirty="0">
              <a:solidFill>
                <a:srgbClr val="FFFF00"/>
              </a:solidFill>
              <a:latin typeface="Times New Roman"/>
              <a:ea typeface="Times New Roman"/>
              <a:cs typeface="Times New Roman"/>
              <a:sym typeface="Times New Roman"/>
            </a:endParaRPr>
          </a:p>
          <a:p>
            <a:pPr marL="457200" lvl="0" indent="-304800" algn="just" rtl="0">
              <a:lnSpc>
                <a:spcPct val="100000"/>
              </a:lnSpc>
              <a:spcBef>
                <a:spcPts val="1000"/>
              </a:spcBef>
              <a:spcAft>
                <a:spcPts val="0"/>
              </a:spcAft>
              <a:buClr>
                <a:srgbClr val="00FFFF"/>
              </a:buClr>
              <a:buSzPts val="1200"/>
              <a:buFont typeface="Times New Roman"/>
              <a:buChar char="•"/>
            </a:pPr>
            <a:r>
              <a:rPr lang="en" sz="1200" b="1" dirty="0">
                <a:solidFill>
                  <a:srgbClr val="00FFFF"/>
                </a:solidFill>
                <a:latin typeface="Times New Roman"/>
                <a:ea typeface="Times New Roman"/>
                <a:cs typeface="Times New Roman"/>
                <a:sym typeface="Times New Roman"/>
              </a:rPr>
              <a:t>The ideal case of perfect retrieval requires that all relevant documents be retrieved before the first non-relevant document is retrieved. </a:t>
            </a:r>
            <a:endParaRPr sz="1200" b="1" dirty="0">
              <a:solidFill>
                <a:srgbClr val="00FFFF"/>
              </a:solidFill>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This is shown in the figure by the line parallel to x-axis having a precision of 1.0 at all recall points.</a:t>
            </a:r>
            <a:endParaRPr sz="1200" dirty="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Recall is an additive process. Once the highest recall (1.0) is achieved, it remains 1.0 for any subsequent document retrieved. </a:t>
            </a:r>
            <a:endParaRPr sz="1200" dirty="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We can achieve 100% recall by retrieving all documents in the collection, but this defeats the intent of the IR system.</a:t>
            </a:r>
            <a:endParaRPr sz="1200" dirty="0">
              <a:latin typeface="Times New Roman"/>
              <a:ea typeface="Times New Roman"/>
              <a:cs typeface="Times New Roman"/>
              <a:sym typeface="Times New Roman"/>
            </a:endParaRPr>
          </a:p>
          <a:p>
            <a:pPr marL="457200" lvl="0" indent="-304800" algn="just" rtl="0">
              <a:lnSpc>
                <a:spcPct val="10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A multi-stage retrieval is used to improve both recall and precision simultaneously. Precision is calculated at a particular cut-off, typically 5 documents, 10 documents, 15 documents, etc.  </a:t>
            </a:r>
            <a:endParaRPr sz="1200" dirty="0">
              <a:latin typeface="Times New Roman"/>
              <a:ea typeface="Times New Roman"/>
              <a:cs typeface="Times New Roman"/>
              <a:sym typeface="Times New Roman"/>
            </a:endParaRPr>
          </a:p>
          <a:p>
            <a:pPr marL="457200" lvl="0" indent="-304800" algn="just" rtl="0">
              <a:lnSpc>
                <a:spcPct val="100000"/>
              </a:lnSpc>
              <a:spcBef>
                <a:spcPts val="1000"/>
              </a:spcBef>
              <a:spcAft>
                <a:spcPts val="1000"/>
              </a:spcAft>
              <a:buSzPts val="1200"/>
              <a:buFont typeface="Times New Roman"/>
              <a:buChar char="•"/>
            </a:pPr>
            <a:r>
              <a:rPr lang="en" sz="1200" b="1" dirty="0">
                <a:solidFill>
                  <a:srgbClr val="00FFFF"/>
                </a:solidFill>
                <a:latin typeface="Times New Roman"/>
                <a:ea typeface="Times New Roman"/>
                <a:cs typeface="Times New Roman"/>
                <a:sym typeface="Times New Roman"/>
              </a:rPr>
              <a:t>Another measure called, non-interpolated average precision</a:t>
            </a:r>
            <a:r>
              <a:rPr lang="en" sz="1200" dirty="0">
                <a:latin typeface="Times New Roman"/>
                <a:ea typeface="Times New Roman"/>
                <a:cs typeface="Times New Roman"/>
                <a:sym typeface="Times New Roman"/>
              </a:rPr>
              <a:t> </a:t>
            </a:r>
            <a:endParaRPr sz="1200" dirty="0">
              <a:latin typeface="Times New Roman"/>
              <a:ea typeface="Times New Roman"/>
              <a:cs typeface="Times New Roman"/>
              <a:sym typeface="Times New Roman"/>
            </a:endParaRPr>
          </a:p>
        </p:txBody>
      </p:sp>
      <p:pic>
        <p:nvPicPr>
          <p:cNvPr id="605" name="Google Shape;605;p59"/>
          <p:cNvPicPr preferRelativeResize="0"/>
          <p:nvPr/>
        </p:nvPicPr>
        <p:blipFill rotWithShape="1">
          <a:blip r:embed="rId3">
            <a:alphaModFix/>
          </a:blip>
          <a:srcRect/>
          <a:stretch/>
        </p:blipFill>
        <p:spPr>
          <a:xfrm>
            <a:off x="5509775" y="3888800"/>
            <a:ext cx="3634227" cy="12111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0"/>
          <p:cNvSpPr txBox="1">
            <a:spLocks noGrp="1"/>
          </p:cNvSpPr>
          <p:nvPr>
            <p:ph type="title"/>
          </p:nvPr>
        </p:nvSpPr>
        <p:spPr>
          <a:xfrm>
            <a:off x="628650" y="273846"/>
            <a:ext cx="7886700" cy="3753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Non-interpolated Average Precision</a:t>
            </a:r>
            <a:endParaRPr/>
          </a:p>
        </p:txBody>
      </p:sp>
      <p:sp>
        <p:nvSpPr>
          <p:cNvPr id="611" name="Google Shape;611;p60"/>
          <p:cNvSpPr txBox="1">
            <a:spLocks noGrp="1"/>
          </p:cNvSpPr>
          <p:nvPr>
            <p:ph type="body" idx="1"/>
          </p:nvPr>
        </p:nvSpPr>
        <p:spPr>
          <a:xfrm>
            <a:off x="628800" y="799350"/>
            <a:ext cx="7886700" cy="3833400"/>
          </a:xfrm>
          <a:prstGeom prst="rect">
            <a:avLst/>
          </a:prstGeom>
          <a:noFill/>
          <a:ln>
            <a:noFill/>
          </a:ln>
        </p:spPr>
        <p:txBody>
          <a:bodyPr spcFirstLastPara="1" wrap="square" lIns="68575" tIns="34275" rIns="68575" bIns="34275" anchor="t" anchorCtr="0">
            <a:normAutofit/>
          </a:bodyPr>
          <a:lstStyle/>
          <a:p>
            <a:pPr marL="457200" lvl="0" indent="-317500" algn="just" rtl="0">
              <a:lnSpc>
                <a:spcPct val="100000"/>
              </a:lnSpc>
              <a:spcBef>
                <a:spcPts val="800"/>
              </a:spcBef>
              <a:spcAft>
                <a:spcPts val="0"/>
              </a:spcAft>
              <a:buSzPts val="1400"/>
              <a:buFont typeface="Times New Roman"/>
              <a:buChar char="•"/>
            </a:pPr>
            <a:r>
              <a:rPr lang="en">
                <a:latin typeface="Times New Roman"/>
                <a:ea typeface="Times New Roman"/>
                <a:cs typeface="Times New Roman"/>
                <a:sym typeface="Times New Roman"/>
              </a:rPr>
              <a:t>Non-interpolated average precision is the average precision at observed recall points. </a:t>
            </a:r>
            <a:endParaRPr>
              <a:latin typeface="Times New Roman"/>
              <a:ea typeface="Times New Roman"/>
              <a:cs typeface="Times New Roman"/>
              <a:sym typeface="Times New Roman"/>
            </a:endParaRPr>
          </a:p>
          <a:p>
            <a:pPr marL="457200" lvl="0" indent="-317500" algn="just" rtl="0">
              <a:lnSpc>
                <a:spcPct val="100000"/>
              </a:lnSpc>
              <a:spcBef>
                <a:spcPts val="1000"/>
              </a:spcBef>
              <a:spcAft>
                <a:spcPts val="0"/>
              </a:spcAft>
              <a:buSzPts val="1400"/>
              <a:buFont typeface="Times New Roman"/>
              <a:buChar char="•"/>
            </a:pPr>
            <a:r>
              <a:rPr lang="en">
                <a:latin typeface="Times New Roman"/>
                <a:ea typeface="Times New Roman"/>
                <a:cs typeface="Times New Roman"/>
                <a:sym typeface="Times New Roman"/>
              </a:rPr>
              <a:t>Observed recall points correspond to points where a relevant document is retrieved. </a:t>
            </a:r>
            <a:endParaRPr>
              <a:latin typeface="Times New Roman"/>
              <a:ea typeface="Times New Roman"/>
              <a:cs typeface="Times New Roman"/>
              <a:sym typeface="Times New Roman"/>
            </a:endParaRPr>
          </a:p>
          <a:p>
            <a:pPr marL="457200" lvl="0" indent="-317500" algn="just" rtl="0">
              <a:lnSpc>
                <a:spcPct val="100000"/>
              </a:lnSpc>
              <a:spcBef>
                <a:spcPts val="1000"/>
              </a:spcBef>
              <a:spcAft>
                <a:spcPts val="1000"/>
              </a:spcAft>
              <a:buSzPts val="1400"/>
              <a:buFont typeface="Times New Roman"/>
              <a:buChar char="•"/>
            </a:pPr>
            <a:r>
              <a:rPr lang="en">
                <a:latin typeface="Times New Roman"/>
                <a:ea typeface="Times New Roman"/>
                <a:cs typeface="Times New Roman"/>
                <a:sym typeface="Times New Roman"/>
              </a:rPr>
              <a:t>First, compute precision at each point where a relevant document is found and then compute average of these precision numbers to get a single number.</a:t>
            </a:r>
            <a:endParaRPr>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61"/>
          <p:cNvSpPr txBox="1">
            <a:spLocks noGrp="1"/>
          </p:cNvSpPr>
          <p:nvPr>
            <p:ph type="title"/>
          </p:nvPr>
        </p:nvSpPr>
        <p:spPr>
          <a:xfrm>
            <a:off x="628650" y="273846"/>
            <a:ext cx="7886700" cy="361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390"/>
              <a:t>Example: To compute Non-interpolated Average Precision</a:t>
            </a:r>
            <a:endParaRPr sz="2390"/>
          </a:p>
        </p:txBody>
      </p:sp>
      <p:sp>
        <p:nvSpPr>
          <p:cNvPr id="617" name="Google Shape;617;p61"/>
          <p:cNvSpPr txBox="1">
            <a:spLocks noGrp="1"/>
          </p:cNvSpPr>
          <p:nvPr>
            <p:ph type="body" idx="1"/>
          </p:nvPr>
        </p:nvSpPr>
        <p:spPr>
          <a:xfrm>
            <a:off x="840000" y="669576"/>
            <a:ext cx="7675500" cy="39630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800"/>
              </a:spcBef>
              <a:spcAft>
                <a:spcPts val="0"/>
              </a:spcAft>
              <a:buSzPts val="1400"/>
              <a:buNone/>
            </a:pPr>
            <a:r>
              <a:rPr lang="en" sz="1800">
                <a:latin typeface="Times New Roman"/>
                <a:ea typeface="Times New Roman"/>
                <a:cs typeface="Times New Roman"/>
                <a:sym typeface="Times New Roman"/>
              </a:rPr>
              <a:t>The table shows the ranking of 10 documents for a particular retrieval. The crossed documents are those that are relevant. Find the non-interpolated average precision.</a:t>
            </a:r>
            <a:endParaRPr sz="1800">
              <a:latin typeface="Times New Roman"/>
              <a:ea typeface="Times New Roman"/>
              <a:cs typeface="Times New Roman"/>
              <a:sym typeface="Times New Roman"/>
            </a:endParaRPr>
          </a:p>
        </p:txBody>
      </p:sp>
      <p:pic>
        <p:nvPicPr>
          <p:cNvPr id="618" name="Google Shape;618;p61"/>
          <p:cNvPicPr preferRelativeResize="0"/>
          <p:nvPr/>
        </p:nvPicPr>
        <p:blipFill rotWithShape="1">
          <a:blip r:embed="rId3">
            <a:alphaModFix/>
          </a:blip>
          <a:srcRect/>
          <a:stretch/>
        </p:blipFill>
        <p:spPr>
          <a:xfrm>
            <a:off x="2075300" y="1309450"/>
            <a:ext cx="5587475" cy="32522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62"/>
          <p:cNvSpPr txBox="1">
            <a:spLocks noGrp="1"/>
          </p:cNvSpPr>
          <p:nvPr>
            <p:ph type="title"/>
          </p:nvPr>
        </p:nvSpPr>
        <p:spPr>
          <a:xfrm>
            <a:off x="628650" y="273846"/>
            <a:ext cx="7886700" cy="361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590"/>
              <a:t>Example to compute Non-interpolated Average Precision</a:t>
            </a:r>
            <a:endParaRPr sz="2590"/>
          </a:p>
        </p:txBody>
      </p:sp>
      <p:sp>
        <p:nvSpPr>
          <p:cNvPr id="624" name="Google Shape;624;p62"/>
          <p:cNvSpPr txBox="1">
            <a:spLocks noGrp="1"/>
          </p:cNvSpPr>
          <p:nvPr>
            <p:ph type="body" idx="1"/>
          </p:nvPr>
        </p:nvSpPr>
        <p:spPr>
          <a:xfrm>
            <a:off x="675000" y="690075"/>
            <a:ext cx="7840500" cy="43170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endParaRPr/>
          </a:p>
        </p:txBody>
      </p:sp>
      <p:pic>
        <p:nvPicPr>
          <p:cNvPr id="625" name="Google Shape;625;p62"/>
          <p:cNvPicPr preferRelativeResize="0"/>
          <p:nvPr/>
        </p:nvPicPr>
        <p:blipFill rotWithShape="1">
          <a:blip r:embed="rId3">
            <a:alphaModFix/>
          </a:blip>
          <a:srcRect/>
          <a:stretch/>
        </p:blipFill>
        <p:spPr>
          <a:xfrm>
            <a:off x="722800" y="720300"/>
            <a:ext cx="5505551" cy="2574450"/>
          </a:xfrm>
          <a:prstGeom prst="rect">
            <a:avLst/>
          </a:prstGeom>
          <a:noFill/>
          <a:ln>
            <a:noFill/>
          </a:ln>
        </p:spPr>
      </p:pic>
      <p:pic>
        <p:nvPicPr>
          <p:cNvPr id="626" name="Google Shape;626;p62"/>
          <p:cNvPicPr preferRelativeResize="0"/>
          <p:nvPr/>
        </p:nvPicPr>
        <p:blipFill rotWithShape="1">
          <a:blip r:embed="rId4">
            <a:alphaModFix/>
          </a:blip>
          <a:srcRect/>
          <a:stretch/>
        </p:blipFill>
        <p:spPr>
          <a:xfrm>
            <a:off x="722800" y="3427525"/>
            <a:ext cx="4916650" cy="701100"/>
          </a:xfrm>
          <a:prstGeom prst="rect">
            <a:avLst/>
          </a:prstGeom>
          <a:noFill/>
          <a:ln>
            <a:noFill/>
          </a:ln>
        </p:spPr>
      </p:pic>
      <p:pic>
        <p:nvPicPr>
          <p:cNvPr id="627" name="Google Shape;627;p62"/>
          <p:cNvPicPr preferRelativeResize="0"/>
          <p:nvPr/>
        </p:nvPicPr>
        <p:blipFill rotWithShape="1">
          <a:blip r:embed="rId5">
            <a:alphaModFix/>
          </a:blip>
          <a:srcRect/>
          <a:stretch/>
        </p:blipFill>
        <p:spPr>
          <a:xfrm>
            <a:off x="722800" y="4165751"/>
            <a:ext cx="4916649" cy="8246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63"/>
          <p:cNvSpPr txBox="1">
            <a:spLocks noGrp="1"/>
          </p:cNvSpPr>
          <p:nvPr>
            <p:ph type="title"/>
          </p:nvPr>
        </p:nvSpPr>
        <p:spPr>
          <a:xfrm>
            <a:off x="628650" y="273846"/>
            <a:ext cx="7886700" cy="361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590"/>
              <a:t>Example to compute Non-interpolated Average Precision</a:t>
            </a:r>
            <a:endParaRPr sz="2590"/>
          </a:p>
        </p:txBody>
      </p:sp>
      <p:sp>
        <p:nvSpPr>
          <p:cNvPr id="633" name="Google Shape;633;p63"/>
          <p:cNvSpPr txBox="1">
            <a:spLocks noGrp="1"/>
          </p:cNvSpPr>
          <p:nvPr>
            <p:ph type="body" idx="1"/>
          </p:nvPr>
        </p:nvSpPr>
        <p:spPr>
          <a:xfrm>
            <a:off x="675000" y="690075"/>
            <a:ext cx="7840500" cy="4317000"/>
          </a:xfrm>
          <a:prstGeom prst="rect">
            <a:avLst/>
          </a:prstGeom>
          <a:noFill/>
          <a:ln>
            <a:noFill/>
          </a:ln>
        </p:spPr>
        <p:txBody>
          <a:bodyPr spcFirstLastPara="1" wrap="square" lIns="68575" tIns="34275" rIns="68575" bIns="34275" anchor="t" anchorCtr="0">
            <a:normAutofit/>
          </a:bodyPr>
          <a:lstStyle/>
          <a:p>
            <a:pPr marL="457200" lvl="0" indent="-317500" algn="l" rtl="0">
              <a:lnSpc>
                <a:spcPct val="100000"/>
              </a:lnSpc>
              <a:spcBef>
                <a:spcPts val="800"/>
              </a:spcBef>
              <a:spcAft>
                <a:spcPts val="0"/>
              </a:spcAft>
              <a:buSzPts val="1400"/>
              <a:buFont typeface="Times New Roman"/>
              <a:buChar char="•"/>
            </a:pPr>
            <a:r>
              <a:rPr lang="en" sz="1400">
                <a:latin typeface="Times New Roman"/>
                <a:ea typeface="Times New Roman"/>
                <a:cs typeface="Times New Roman"/>
                <a:sym typeface="Times New Roman"/>
              </a:rPr>
              <a:t>Observed recall points correspond to points where a relevant document is retrieved. The observed recall points are 0.2, 0.4, 0.6, 0.8 and 1.0</a:t>
            </a:r>
            <a:endParaRPr sz="1400">
              <a:latin typeface="Times New Roman"/>
              <a:ea typeface="Times New Roman"/>
              <a:cs typeface="Times New Roman"/>
              <a:sym typeface="Times New Roman"/>
            </a:endParaRPr>
          </a:p>
          <a:p>
            <a:pPr marL="457200" lvl="0" indent="0" algn="l" rtl="0">
              <a:lnSpc>
                <a:spcPct val="100000"/>
              </a:lnSpc>
              <a:spcBef>
                <a:spcPts val="1000"/>
              </a:spcBef>
              <a:spcAft>
                <a:spcPts val="0"/>
              </a:spcAft>
              <a:buSzPts val="1400"/>
              <a:buNone/>
            </a:pPr>
            <a:r>
              <a:rPr lang="en" sz="1400">
                <a:latin typeface="Times New Roman"/>
                <a:ea typeface="Times New Roman"/>
                <a:cs typeface="Times New Roman"/>
                <a:sym typeface="Times New Roman"/>
              </a:rPr>
              <a:t>Precision at recall point 0.2:   1/1    = 1.0</a:t>
            </a:r>
            <a:endParaRPr sz="1400">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latin typeface="Times New Roman"/>
                <a:ea typeface="Times New Roman"/>
                <a:cs typeface="Times New Roman"/>
                <a:sym typeface="Times New Roman"/>
              </a:rPr>
              <a:t>Precision at recall point 0.4:   2/2    = 1.0</a:t>
            </a:r>
            <a:endParaRPr sz="1400">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latin typeface="Times New Roman"/>
                <a:ea typeface="Times New Roman"/>
                <a:cs typeface="Times New Roman"/>
                <a:sym typeface="Times New Roman"/>
              </a:rPr>
              <a:t>Precision at recall point 0.6:   3/5    = 0.6</a:t>
            </a:r>
            <a:endParaRPr sz="1400">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latin typeface="Times New Roman"/>
                <a:ea typeface="Times New Roman"/>
                <a:cs typeface="Times New Roman"/>
                <a:sym typeface="Times New Roman"/>
              </a:rPr>
              <a:t>Precision at recall point 0.8:   4/9    = 0.4</a:t>
            </a:r>
            <a:endParaRPr sz="1400">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latin typeface="Times New Roman"/>
                <a:ea typeface="Times New Roman"/>
                <a:cs typeface="Times New Roman"/>
                <a:sym typeface="Times New Roman"/>
              </a:rPr>
              <a:t>Precision at recall point 1.0:   5/10  = 0.5</a:t>
            </a:r>
            <a:endParaRPr sz="1400">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solidFill>
                  <a:srgbClr val="FFFF00"/>
                </a:solidFill>
                <a:latin typeface="Times New Roman"/>
                <a:ea typeface="Times New Roman"/>
                <a:cs typeface="Times New Roman"/>
                <a:sym typeface="Times New Roman"/>
              </a:rPr>
              <a:t>Non-interpolated average precision =     1.0 + 1.0 + 0.6 + 0.4 + 0.5      =  0.7</a:t>
            </a:r>
            <a:endParaRPr sz="1400">
              <a:solidFill>
                <a:srgbClr val="FFFF00"/>
              </a:solidFill>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r>
              <a:rPr lang="en" sz="1400">
                <a:solidFill>
                  <a:srgbClr val="FFFF00"/>
                </a:solidFill>
                <a:latin typeface="Times New Roman"/>
                <a:ea typeface="Times New Roman"/>
                <a:cs typeface="Times New Roman"/>
                <a:sym typeface="Times New Roman"/>
              </a:rPr>
              <a:t>                                                                                        5</a:t>
            </a:r>
            <a:endParaRPr sz="1400">
              <a:solidFill>
                <a:srgbClr val="FFFF00"/>
              </a:solidFill>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endParaRPr sz="1400">
              <a:latin typeface="Times New Roman"/>
              <a:ea typeface="Times New Roman"/>
              <a:cs typeface="Times New Roman"/>
              <a:sym typeface="Times New Roman"/>
            </a:endParaRPr>
          </a:p>
          <a:p>
            <a:pPr marL="457200" lvl="0" indent="0" algn="l" rtl="0">
              <a:lnSpc>
                <a:spcPct val="100000"/>
              </a:lnSpc>
              <a:spcBef>
                <a:spcPts val="1000"/>
              </a:spcBef>
              <a:spcAft>
                <a:spcPts val="0"/>
              </a:spcAft>
              <a:buSzPts val="1400"/>
              <a:buNone/>
            </a:pPr>
            <a:endParaRPr sz="1400">
              <a:latin typeface="Times New Roman"/>
              <a:ea typeface="Times New Roman"/>
              <a:cs typeface="Times New Roman"/>
              <a:sym typeface="Times New Roman"/>
            </a:endParaRPr>
          </a:p>
          <a:p>
            <a:pPr marL="0" lvl="0" indent="0" algn="l" rtl="0">
              <a:lnSpc>
                <a:spcPct val="100000"/>
              </a:lnSpc>
              <a:spcBef>
                <a:spcPts val="1000"/>
              </a:spcBef>
              <a:spcAft>
                <a:spcPts val="1000"/>
              </a:spcAft>
              <a:buSzPts val="1400"/>
              <a:buNone/>
            </a:pPr>
            <a:endParaRPr sz="1400">
              <a:latin typeface="Times New Roman"/>
              <a:ea typeface="Times New Roman"/>
              <a:cs typeface="Times New Roman"/>
              <a:sym typeface="Times New Roman"/>
            </a:endParaRPr>
          </a:p>
        </p:txBody>
      </p:sp>
      <p:cxnSp>
        <p:nvCxnSpPr>
          <p:cNvPr id="634" name="Google Shape;634;p63"/>
          <p:cNvCxnSpPr/>
          <p:nvPr/>
        </p:nvCxnSpPr>
        <p:spPr>
          <a:xfrm rot="10800000" flipH="1">
            <a:off x="4063025" y="3101375"/>
            <a:ext cx="1967100" cy="20400"/>
          </a:xfrm>
          <a:prstGeom prst="straightConnector1">
            <a:avLst/>
          </a:prstGeom>
          <a:noFill/>
          <a:ln w="9525" cap="flat" cmpd="sng">
            <a:solidFill>
              <a:srgbClr val="FFFF00"/>
            </a:solidFill>
            <a:prstDash val="solid"/>
            <a:round/>
            <a:headEnd type="none" w="sm" len="sm"/>
            <a:tailEnd type="none" w="sm" len="sm"/>
          </a:ln>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64"/>
          <p:cNvSpPr txBox="1">
            <a:spLocks noGrp="1"/>
          </p:cNvSpPr>
          <p:nvPr>
            <p:ph type="title"/>
          </p:nvPr>
        </p:nvSpPr>
        <p:spPr>
          <a:xfrm>
            <a:off x="628650" y="273846"/>
            <a:ext cx="7886700" cy="361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990"/>
              <a:buNone/>
            </a:pPr>
            <a:r>
              <a:rPr lang="en" sz="2590"/>
              <a:t>Example to compute Non-interpolated Average Precision</a:t>
            </a:r>
            <a:endParaRPr sz="2590"/>
          </a:p>
        </p:txBody>
      </p:sp>
      <p:sp>
        <p:nvSpPr>
          <p:cNvPr id="640" name="Google Shape;640;p64"/>
          <p:cNvSpPr txBox="1">
            <a:spLocks noGrp="1"/>
          </p:cNvSpPr>
          <p:nvPr>
            <p:ph type="body" idx="1"/>
          </p:nvPr>
        </p:nvSpPr>
        <p:spPr>
          <a:xfrm>
            <a:off x="675000" y="690075"/>
            <a:ext cx="7840500" cy="4317000"/>
          </a:xfrm>
          <a:prstGeom prst="rect">
            <a:avLst/>
          </a:prstGeom>
          <a:noFill/>
          <a:ln>
            <a:noFill/>
          </a:ln>
        </p:spPr>
        <p:txBody>
          <a:bodyPr spcFirstLastPara="1" wrap="square" lIns="68575" tIns="34275" rIns="68575" bIns="34275" anchor="t" anchorCtr="0">
            <a:normAutofit/>
          </a:bodyPr>
          <a:lstStyle/>
          <a:p>
            <a:pPr marL="0" lvl="0" indent="0" algn="just" rtl="0">
              <a:lnSpc>
                <a:spcPct val="100000"/>
              </a:lnSpc>
              <a:spcBef>
                <a:spcPts val="800"/>
              </a:spcBef>
              <a:spcAft>
                <a:spcPts val="0"/>
              </a:spcAft>
              <a:buSzPts val="1400"/>
              <a:buNone/>
            </a:pPr>
            <a:r>
              <a:rPr lang="en" sz="1400">
                <a:solidFill>
                  <a:srgbClr val="00FFFF"/>
                </a:solidFill>
                <a:latin typeface="Times New Roman"/>
                <a:ea typeface="Times New Roman"/>
                <a:cs typeface="Times New Roman"/>
                <a:sym typeface="Times New Roman"/>
              </a:rPr>
              <a:t>A user submitted a query to an IR system, out of the first 15 documents returned by the system, those ranked 1, 2, 5, 8, 12 were relevant. Compute the non-interpolated average precision of this retrieval. Assume there are 6 relevant documents. (6 M, Jan 2020)</a:t>
            </a:r>
            <a:endParaRPr sz="1400">
              <a:solidFill>
                <a:srgbClr val="00FFFF"/>
              </a:solidFill>
              <a:latin typeface="Times New Roman"/>
              <a:ea typeface="Times New Roman"/>
              <a:cs typeface="Times New Roman"/>
              <a:sym typeface="Times New Roman"/>
            </a:endParaRPr>
          </a:p>
          <a:p>
            <a:pPr marL="457200" lvl="0" indent="0" algn="l" rtl="0">
              <a:lnSpc>
                <a:spcPct val="100000"/>
              </a:lnSpc>
              <a:spcBef>
                <a:spcPts val="800"/>
              </a:spcBef>
              <a:spcAft>
                <a:spcPts val="0"/>
              </a:spcAft>
              <a:buSzPts val="1400"/>
              <a:buNone/>
            </a:pPr>
            <a:endParaRPr sz="1400">
              <a:latin typeface="Times New Roman"/>
              <a:ea typeface="Times New Roman"/>
              <a:cs typeface="Times New Roman"/>
              <a:sym typeface="Times New Roman"/>
            </a:endParaRPr>
          </a:p>
          <a:p>
            <a:pPr marL="0" lvl="0" indent="0" algn="l" rtl="0">
              <a:lnSpc>
                <a:spcPct val="100000"/>
              </a:lnSpc>
              <a:spcBef>
                <a:spcPts val="1000"/>
              </a:spcBef>
              <a:spcAft>
                <a:spcPts val="0"/>
              </a:spcAft>
              <a:buSzPts val="1400"/>
              <a:buNone/>
            </a:pPr>
            <a:endParaRPr sz="1400">
              <a:latin typeface="Times New Roman"/>
              <a:ea typeface="Times New Roman"/>
              <a:cs typeface="Times New Roman"/>
              <a:sym typeface="Times New Roman"/>
            </a:endParaRPr>
          </a:p>
          <a:p>
            <a:pPr marL="0" lvl="0" indent="0" algn="l" rtl="0">
              <a:lnSpc>
                <a:spcPct val="100000"/>
              </a:lnSpc>
              <a:spcBef>
                <a:spcPts val="1000"/>
              </a:spcBef>
              <a:spcAft>
                <a:spcPts val="1000"/>
              </a:spcAft>
              <a:buSzPts val="1400"/>
              <a:buNone/>
            </a:pPr>
            <a:endParaRPr sz="1400">
              <a:latin typeface="Times New Roman"/>
              <a:ea typeface="Times New Roman"/>
              <a:cs typeface="Times New Roman"/>
              <a:sym typeface="Times New Roman"/>
            </a:endParaRPr>
          </a:p>
        </p:txBody>
      </p:sp>
      <p:pic>
        <p:nvPicPr>
          <p:cNvPr id="641" name="Google Shape;641;p64"/>
          <p:cNvPicPr preferRelativeResize="0"/>
          <p:nvPr/>
        </p:nvPicPr>
        <p:blipFill rotWithShape="1">
          <a:blip r:embed="rId3">
            <a:alphaModFix/>
          </a:blip>
          <a:srcRect/>
          <a:stretch/>
        </p:blipFill>
        <p:spPr>
          <a:xfrm>
            <a:off x="426300" y="1496275"/>
            <a:ext cx="4185000" cy="3510799"/>
          </a:xfrm>
          <a:prstGeom prst="rect">
            <a:avLst/>
          </a:prstGeom>
          <a:noFill/>
          <a:ln>
            <a:noFill/>
          </a:ln>
        </p:spPr>
      </p:pic>
      <p:sp>
        <p:nvSpPr>
          <p:cNvPr id="642" name="Google Shape;642;p64"/>
          <p:cNvSpPr txBox="1"/>
          <p:nvPr/>
        </p:nvSpPr>
        <p:spPr>
          <a:xfrm>
            <a:off x="5229900" y="1277525"/>
            <a:ext cx="3285600" cy="147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Observed Recall Points are</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1/6 = 0.17</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2/6 = 0.11</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3/6 = 0.5</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4/6 = 0.67</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5/6 = 0.83</a:t>
            </a:r>
            <a:endParaRPr sz="1400" b="0" i="0" u="none" strike="noStrike" cap="none">
              <a:solidFill>
                <a:schemeClr val="lt1"/>
              </a:solidFill>
              <a:latin typeface="Times New Roman"/>
              <a:ea typeface="Times New Roman"/>
              <a:cs typeface="Times New Roman"/>
              <a:sym typeface="Times New Roman"/>
            </a:endParaRPr>
          </a:p>
        </p:txBody>
      </p:sp>
      <p:sp>
        <p:nvSpPr>
          <p:cNvPr id="643" name="Google Shape;643;p64"/>
          <p:cNvSpPr txBox="1"/>
          <p:nvPr/>
        </p:nvSpPr>
        <p:spPr>
          <a:xfrm>
            <a:off x="5135450" y="2670950"/>
            <a:ext cx="3934500" cy="1262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Precision at recall point 0.17 = 1.0</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Precision at recall point 0.11 = 1.0</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Precision at recall point 0.5   = 0.6</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Times New Roman"/>
                <a:ea typeface="Times New Roman"/>
                <a:cs typeface="Times New Roman"/>
                <a:sym typeface="Times New Roman"/>
              </a:rPr>
              <a:t>Precision at recall point 0.67 = 0.5</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lt1"/>
                </a:solidFill>
                <a:latin typeface="Times New Roman"/>
                <a:ea typeface="Times New Roman"/>
                <a:cs typeface="Times New Roman"/>
                <a:sym typeface="Times New Roman"/>
              </a:rPr>
              <a:t>Precision at recall point 0.83 = 0.42</a:t>
            </a:r>
            <a:endParaRPr sz="1400" b="0" i="0" u="none" strike="noStrike" cap="none">
              <a:solidFill>
                <a:schemeClr val="lt1"/>
              </a:solidFill>
              <a:latin typeface="Times New Roman"/>
              <a:ea typeface="Times New Roman"/>
              <a:cs typeface="Times New Roman"/>
              <a:sym typeface="Times New Roman"/>
            </a:endParaRPr>
          </a:p>
        </p:txBody>
      </p:sp>
      <p:sp>
        <p:nvSpPr>
          <p:cNvPr id="644" name="Google Shape;644;p64"/>
          <p:cNvSpPr txBox="1"/>
          <p:nvPr/>
        </p:nvSpPr>
        <p:spPr>
          <a:xfrm>
            <a:off x="4759275" y="3996125"/>
            <a:ext cx="4269600" cy="1077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Times New Roman"/>
                <a:ea typeface="Times New Roman"/>
                <a:cs typeface="Times New Roman"/>
                <a:sym typeface="Times New Roman"/>
              </a:rPr>
              <a:t>Non-interpolated Average Precision =   1.0 + 1.0 + 0.6 + 0.5 + 0.42    =    3.52</a:t>
            </a:r>
            <a:endParaRPr sz="10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Times New Roman"/>
                <a:ea typeface="Times New Roman"/>
                <a:cs typeface="Times New Roman"/>
                <a:sym typeface="Times New Roman"/>
              </a:rPr>
              <a:t>                                                                                     </a:t>
            </a:r>
            <a:endParaRPr sz="10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Times New Roman"/>
                <a:ea typeface="Times New Roman"/>
                <a:cs typeface="Times New Roman"/>
                <a:sym typeface="Times New Roman"/>
              </a:rPr>
              <a:t>                                                                                   5                                    5</a:t>
            </a:r>
            <a:endParaRPr sz="10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FFFF00"/>
                </a:solidFill>
                <a:latin typeface="Times New Roman"/>
                <a:ea typeface="Times New Roman"/>
                <a:cs typeface="Times New Roman"/>
                <a:sym typeface="Times New Roman"/>
              </a:rPr>
              <a:t>Non-interpolated Average Precision = 0.704</a:t>
            </a:r>
            <a:endParaRPr sz="1400" b="1" i="0" u="none" strike="noStrike" cap="none">
              <a:solidFill>
                <a:srgbClr val="FFFF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Times New Roman"/>
              <a:ea typeface="Times New Roman"/>
              <a:cs typeface="Times New Roman"/>
              <a:sym typeface="Times New Roman"/>
            </a:endParaRPr>
          </a:p>
        </p:txBody>
      </p:sp>
      <p:cxnSp>
        <p:nvCxnSpPr>
          <p:cNvPr id="645" name="Google Shape;645;p64"/>
          <p:cNvCxnSpPr/>
          <p:nvPr/>
        </p:nvCxnSpPr>
        <p:spPr>
          <a:xfrm>
            <a:off x="6880900" y="4289825"/>
            <a:ext cx="1433400" cy="0"/>
          </a:xfrm>
          <a:prstGeom prst="straightConnector1">
            <a:avLst/>
          </a:prstGeom>
          <a:noFill/>
          <a:ln w="9525" cap="flat" cmpd="sng">
            <a:solidFill>
              <a:schemeClr val="lt1"/>
            </a:solidFill>
            <a:prstDash val="solid"/>
            <a:round/>
            <a:headEnd type="none" w="sm" len="sm"/>
            <a:tailEnd type="none" w="sm" len="sm"/>
          </a:ln>
        </p:spPr>
      </p:cxnSp>
      <p:cxnSp>
        <p:nvCxnSpPr>
          <p:cNvPr id="646" name="Google Shape;646;p64"/>
          <p:cNvCxnSpPr/>
          <p:nvPr/>
        </p:nvCxnSpPr>
        <p:spPr>
          <a:xfrm>
            <a:off x="8589025" y="4313100"/>
            <a:ext cx="338400" cy="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65"/>
          <p:cNvSpPr txBox="1">
            <a:spLocks noGrp="1"/>
          </p:cNvSpPr>
          <p:nvPr>
            <p:ph type="title"/>
          </p:nvPr>
        </p:nvSpPr>
        <p:spPr>
          <a:xfrm>
            <a:off x="628650" y="273847"/>
            <a:ext cx="7886700" cy="4776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Lexical Resources</a:t>
            </a:r>
            <a:endParaRPr/>
          </a:p>
        </p:txBody>
      </p:sp>
      <p:sp>
        <p:nvSpPr>
          <p:cNvPr id="652" name="Google Shape;652;p65"/>
          <p:cNvSpPr txBox="1">
            <a:spLocks noGrp="1"/>
          </p:cNvSpPr>
          <p:nvPr>
            <p:ph type="body" idx="1"/>
          </p:nvPr>
        </p:nvSpPr>
        <p:spPr>
          <a:xfrm>
            <a:off x="594650" y="751450"/>
            <a:ext cx="7886700" cy="3881100"/>
          </a:xfrm>
          <a:prstGeom prst="rect">
            <a:avLst/>
          </a:prstGeom>
          <a:noFill/>
          <a:ln>
            <a:noFill/>
          </a:ln>
        </p:spPr>
        <p:txBody>
          <a:bodyPr spcFirstLastPara="1" wrap="square" lIns="68575" tIns="34275" rIns="68575" bIns="34275" anchor="ctr" anchorCtr="0">
            <a:normAutofit lnSpcReduction="10000"/>
          </a:bodyPr>
          <a:lstStyle/>
          <a:p>
            <a:pPr marL="0" lvl="0" indent="0" algn="l" rtl="0">
              <a:lnSpc>
                <a:spcPct val="90000"/>
              </a:lnSpc>
              <a:spcBef>
                <a:spcPts val="800"/>
              </a:spcBef>
              <a:spcAft>
                <a:spcPts val="0"/>
              </a:spcAft>
              <a:buSzPts val="1400"/>
              <a:buNone/>
            </a:pPr>
            <a:r>
              <a:rPr lang="en" sz="1400" b="1">
                <a:solidFill>
                  <a:srgbClr val="00FFFF"/>
                </a:solidFill>
                <a:latin typeface="Times New Roman"/>
                <a:ea typeface="Times New Roman"/>
                <a:cs typeface="Times New Roman"/>
                <a:sym typeface="Times New Roman"/>
              </a:rPr>
              <a:t>Write short notes on WordNet, FrameNet, Stemmer, POS Tagging (16 M, Feb 2021)</a:t>
            </a:r>
            <a:endParaRPr sz="1400" b="1">
              <a:solidFill>
                <a:srgbClr val="00FFFF"/>
              </a:solidFill>
              <a:latin typeface="Times New Roman"/>
              <a:ea typeface="Times New Roman"/>
              <a:cs typeface="Times New Roman"/>
              <a:sym typeface="Times New Roman"/>
            </a:endParaRPr>
          </a:p>
          <a:p>
            <a:pPr marL="457200" lvl="0" indent="-317500" algn="l" rtl="0">
              <a:lnSpc>
                <a:spcPct val="9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Various tools and lexical resources are developed to ease the task of researchers working with NLP. </a:t>
            </a:r>
            <a:endParaRPr sz="1400">
              <a:latin typeface="Times New Roman"/>
              <a:ea typeface="Times New Roman"/>
              <a:cs typeface="Times New Roman"/>
              <a:sym typeface="Times New Roman"/>
            </a:endParaRPr>
          </a:p>
          <a:p>
            <a:pPr marL="457200" lvl="0" indent="-317500" algn="l" rtl="0">
              <a:lnSpc>
                <a:spcPct val="9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These resources are open sources and are readily available. </a:t>
            </a: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SzPts val="1400"/>
              <a:buNone/>
            </a:pPr>
            <a:r>
              <a:rPr lang="en" sz="1400">
                <a:latin typeface="Times New Roman"/>
                <a:ea typeface="Times New Roman"/>
                <a:cs typeface="Times New Roman"/>
                <a:sym typeface="Times New Roman"/>
              </a:rPr>
              <a:t>The various resources and tools are</a:t>
            </a:r>
            <a:endParaRPr sz="1400">
              <a:latin typeface="Times New Roman"/>
              <a:ea typeface="Times New Roman"/>
              <a:cs typeface="Times New Roman"/>
              <a:sym typeface="Times New Roman"/>
            </a:endParaRPr>
          </a:p>
          <a:p>
            <a:pPr marL="457200" lvl="0" indent="-317500" algn="l" rtl="0">
              <a:lnSpc>
                <a:spcPct val="90000"/>
              </a:lnSpc>
              <a:spcBef>
                <a:spcPts val="1000"/>
              </a:spcBef>
              <a:spcAft>
                <a:spcPts val="0"/>
              </a:spcAft>
              <a:buSzPts val="1400"/>
              <a:buFont typeface="Times New Roman"/>
              <a:buAutoNum type="arabicPeriod"/>
            </a:pPr>
            <a:r>
              <a:rPr lang="en" sz="1400">
                <a:latin typeface="Times New Roman"/>
                <a:ea typeface="Times New Roman"/>
                <a:cs typeface="Times New Roman"/>
                <a:sym typeface="Times New Roman"/>
              </a:rPr>
              <a:t>Lexical Resources</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0"/>
              </a:spcAft>
              <a:buSzPts val="1400"/>
              <a:buFont typeface="Times New Roman"/>
              <a:buAutoNum type="alphaLcPeriod"/>
            </a:pPr>
            <a:r>
              <a:rPr lang="en" sz="1400">
                <a:latin typeface="Times New Roman"/>
                <a:ea typeface="Times New Roman"/>
                <a:cs typeface="Times New Roman"/>
                <a:sym typeface="Times New Roman"/>
              </a:rPr>
              <a:t>WordNet</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0"/>
              </a:spcAft>
              <a:buSzPts val="1400"/>
              <a:buFont typeface="Times New Roman"/>
              <a:buAutoNum type="alphaLcPeriod"/>
            </a:pPr>
            <a:r>
              <a:rPr lang="en" sz="1400">
                <a:latin typeface="Times New Roman"/>
                <a:ea typeface="Times New Roman"/>
                <a:cs typeface="Times New Roman"/>
                <a:sym typeface="Times New Roman"/>
              </a:rPr>
              <a:t>FrameNet</a:t>
            </a:r>
            <a:endParaRPr sz="1400">
              <a:latin typeface="Times New Roman"/>
              <a:ea typeface="Times New Roman"/>
              <a:cs typeface="Times New Roman"/>
              <a:sym typeface="Times New Roman"/>
            </a:endParaRPr>
          </a:p>
          <a:p>
            <a:pPr marL="457200" lvl="0" indent="-317500" algn="l" rtl="0">
              <a:lnSpc>
                <a:spcPct val="90000"/>
              </a:lnSpc>
              <a:spcBef>
                <a:spcPts val="1000"/>
              </a:spcBef>
              <a:spcAft>
                <a:spcPts val="0"/>
              </a:spcAft>
              <a:buSzPts val="1400"/>
              <a:buFont typeface="Times New Roman"/>
              <a:buAutoNum type="arabicPeriod"/>
            </a:pPr>
            <a:r>
              <a:rPr lang="en" sz="1400">
                <a:latin typeface="Times New Roman"/>
                <a:ea typeface="Times New Roman"/>
                <a:cs typeface="Times New Roman"/>
                <a:sym typeface="Times New Roman"/>
              </a:rPr>
              <a:t>Tools</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0"/>
              </a:spcAft>
              <a:buSzPts val="1400"/>
              <a:buFont typeface="Times New Roman"/>
              <a:buAutoNum type="alphaLcPeriod"/>
            </a:pPr>
            <a:r>
              <a:rPr lang="en" sz="1400">
                <a:latin typeface="Times New Roman"/>
                <a:ea typeface="Times New Roman"/>
                <a:cs typeface="Times New Roman"/>
                <a:sym typeface="Times New Roman"/>
              </a:rPr>
              <a:t>Stemmers</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0"/>
              </a:spcAft>
              <a:buSzPts val="1400"/>
              <a:buFont typeface="Times New Roman"/>
              <a:buAutoNum type="alphaLcPeriod"/>
            </a:pPr>
            <a:r>
              <a:rPr lang="en" sz="1400">
                <a:latin typeface="Times New Roman"/>
                <a:ea typeface="Times New Roman"/>
                <a:cs typeface="Times New Roman"/>
                <a:sym typeface="Times New Roman"/>
              </a:rPr>
              <a:t>Taggers</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0"/>
              </a:spcAft>
              <a:buSzPts val="1400"/>
              <a:buFont typeface="Times New Roman"/>
              <a:buAutoNum type="alphaLcPeriod"/>
            </a:pPr>
            <a:r>
              <a:rPr lang="en" sz="1400">
                <a:latin typeface="Times New Roman"/>
                <a:ea typeface="Times New Roman"/>
                <a:cs typeface="Times New Roman"/>
                <a:sym typeface="Times New Roman"/>
              </a:rPr>
              <a:t>Parsers</a:t>
            </a:r>
            <a:endParaRPr sz="1400">
              <a:latin typeface="Times New Roman"/>
              <a:ea typeface="Times New Roman"/>
              <a:cs typeface="Times New Roman"/>
              <a:sym typeface="Times New Roman"/>
            </a:endParaRPr>
          </a:p>
          <a:p>
            <a:pPr marL="914400" lvl="1" indent="-317500" algn="l" rtl="0">
              <a:lnSpc>
                <a:spcPct val="90000"/>
              </a:lnSpc>
              <a:spcBef>
                <a:spcPts val="1000"/>
              </a:spcBef>
              <a:spcAft>
                <a:spcPts val="1000"/>
              </a:spcAft>
              <a:buSzPts val="1400"/>
              <a:buFont typeface="Times New Roman"/>
              <a:buAutoNum type="alphaLcPeriod"/>
            </a:pPr>
            <a:r>
              <a:rPr lang="en" sz="1400">
                <a:latin typeface="Times New Roman"/>
                <a:ea typeface="Times New Roman"/>
                <a:cs typeface="Times New Roman"/>
                <a:sym typeface="Times New Roman"/>
              </a:rPr>
              <a:t>Freely Available test corpuses for text-processing applications</a:t>
            </a:r>
            <a:endParaRPr sz="1400">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66"/>
          <p:cNvSpPr txBox="1">
            <a:spLocks noGrp="1"/>
          </p:cNvSpPr>
          <p:nvPr>
            <p:ph type="title"/>
          </p:nvPr>
        </p:nvSpPr>
        <p:spPr>
          <a:xfrm>
            <a:off x="628650" y="273846"/>
            <a:ext cx="7886700" cy="436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58" name="Google Shape;658;p66"/>
          <p:cNvSpPr txBox="1">
            <a:spLocks noGrp="1"/>
          </p:cNvSpPr>
          <p:nvPr>
            <p:ph type="body" idx="1"/>
          </p:nvPr>
        </p:nvSpPr>
        <p:spPr>
          <a:xfrm>
            <a:off x="282917" y="627750"/>
            <a:ext cx="7886700" cy="3888000"/>
          </a:xfrm>
          <a:prstGeom prst="rect">
            <a:avLst/>
          </a:prstGeom>
          <a:noFill/>
          <a:ln>
            <a:noFill/>
          </a:ln>
        </p:spPr>
        <p:txBody>
          <a:bodyPr spcFirstLastPara="1" wrap="square" lIns="68575" tIns="34275" rIns="68575" bIns="34275" anchor="ctr" anchorCtr="0">
            <a:normAutofit fontScale="92500" lnSpcReduction="20000"/>
          </a:bodyPr>
          <a:lstStyle/>
          <a:p>
            <a:pPr marL="0" lvl="0" indent="0" algn="l" rtl="0">
              <a:lnSpc>
                <a:spcPct val="90000"/>
              </a:lnSpc>
              <a:spcBef>
                <a:spcPts val="800"/>
              </a:spcBef>
              <a:spcAft>
                <a:spcPts val="0"/>
              </a:spcAft>
              <a:buSzPts val="1514"/>
              <a:buNone/>
            </a:pPr>
            <a:r>
              <a:rPr lang="en" sz="1400" b="1">
                <a:solidFill>
                  <a:srgbClr val="00FFFF"/>
                </a:solidFill>
                <a:latin typeface="Times New Roman"/>
                <a:ea typeface="Times New Roman"/>
                <a:cs typeface="Times New Roman"/>
                <a:sym typeface="Times New Roman"/>
              </a:rPr>
              <a:t>Explain WordNet. List the applications of WordNet (6 M, Jan 2020)</a:t>
            </a:r>
            <a:endParaRPr sz="1400" b="1">
              <a:solidFill>
                <a:srgbClr val="00FFFF"/>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1514"/>
              <a:buNone/>
            </a:pPr>
            <a:r>
              <a:rPr lang="en" sz="1400" b="1">
                <a:solidFill>
                  <a:srgbClr val="00FFFF"/>
                </a:solidFill>
                <a:latin typeface="Times New Roman"/>
                <a:ea typeface="Times New Roman"/>
                <a:cs typeface="Times New Roman"/>
                <a:sym typeface="Times New Roman"/>
              </a:rPr>
              <a:t>Explain WordNet and list the applications of WordNet (10M, Feb 2021)</a:t>
            </a:r>
            <a:endParaRPr sz="1400" b="1">
              <a:solidFill>
                <a:srgbClr val="00FFFF"/>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1514"/>
              <a:buNone/>
            </a:pPr>
            <a:r>
              <a:rPr lang="en" sz="1400" b="1">
                <a:solidFill>
                  <a:srgbClr val="00FFFF"/>
                </a:solidFill>
                <a:latin typeface="Times New Roman"/>
                <a:ea typeface="Times New Roman"/>
                <a:cs typeface="Times New Roman"/>
                <a:sym typeface="Times New Roman"/>
              </a:rPr>
              <a:t>Write a note of WordNet Lexical Resource and its application in NLP (6M, July 2019)</a:t>
            </a:r>
            <a:endParaRPr sz="1400" b="1">
              <a:solidFill>
                <a:srgbClr val="00FFFF"/>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1514"/>
              <a:buNone/>
            </a:pPr>
            <a:r>
              <a:rPr lang="en" sz="1400" b="1">
                <a:solidFill>
                  <a:srgbClr val="00FFFF"/>
                </a:solidFill>
                <a:latin typeface="Times New Roman"/>
                <a:ea typeface="Times New Roman"/>
                <a:cs typeface="Times New Roman"/>
                <a:sym typeface="Times New Roman"/>
              </a:rPr>
              <a:t>Explain the WordNet for English language and its applications.  (8M, Jan 2019)</a:t>
            </a:r>
            <a:endParaRPr sz="1400" b="1">
              <a:solidFill>
                <a:srgbClr val="00FFFF"/>
              </a:solidFill>
              <a:latin typeface="Times New Roman"/>
              <a:ea typeface="Times New Roman"/>
              <a:cs typeface="Times New Roman"/>
              <a:sym typeface="Times New Roman"/>
            </a:endParaRPr>
          </a:p>
          <a:p>
            <a:pPr marL="457200" lvl="0"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WordNet is a large lexical database for the English language.</a:t>
            </a:r>
            <a:endParaRPr sz="1400">
              <a:latin typeface="Times New Roman"/>
              <a:ea typeface="Times New Roman"/>
              <a:cs typeface="Times New Roman"/>
              <a:sym typeface="Times New Roman"/>
            </a:endParaRPr>
          </a:p>
          <a:p>
            <a:pPr marL="457200" lvl="0"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Inspired by psycholinguistic theories, it was developed and is being maintained at the Cognitive Science Laboratory, Princeton University, under the direction of George A. Miller.</a:t>
            </a:r>
            <a:endParaRPr sz="1400">
              <a:latin typeface="Times New Roman"/>
              <a:ea typeface="Times New Roman"/>
              <a:cs typeface="Times New Roman"/>
              <a:sym typeface="Times New Roman"/>
            </a:endParaRPr>
          </a:p>
          <a:p>
            <a:pPr marL="457200" lvl="0"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WordNet consists of three databases</a:t>
            </a:r>
            <a:endParaRPr sz="1400">
              <a:latin typeface="Times New Roman"/>
              <a:ea typeface="Times New Roman"/>
              <a:cs typeface="Times New Roman"/>
              <a:sym typeface="Times New Roman"/>
            </a:endParaRPr>
          </a:p>
          <a:p>
            <a:pPr marL="914400" lvl="1"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One for nouns</a:t>
            </a:r>
            <a:endParaRPr sz="1400">
              <a:latin typeface="Times New Roman"/>
              <a:ea typeface="Times New Roman"/>
              <a:cs typeface="Times New Roman"/>
              <a:sym typeface="Times New Roman"/>
            </a:endParaRPr>
          </a:p>
          <a:p>
            <a:pPr marL="914400" lvl="1"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One for verbs</a:t>
            </a:r>
            <a:endParaRPr sz="1400">
              <a:latin typeface="Times New Roman"/>
              <a:ea typeface="Times New Roman"/>
              <a:cs typeface="Times New Roman"/>
              <a:sym typeface="Times New Roman"/>
            </a:endParaRPr>
          </a:p>
          <a:p>
            <a:pPr marL="914400" lvl="1"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One for both adjectives and adverbs</a:t>
            </a:r>
            <a:endParaRPr sz="1400">
              <a:latin typeface="Times New Roman"/>
              <a:ea typeface="Times New Roman"/>
              <a:cs typeface="Times New Roman"/>
              <a:sym typeface="Times New Roman"/>
            </a:endParaRPr>
          </a:p>
          <a:p>
            <a:pPr marL="457200" lvl="0" indent="-317499" algn="just" rtl="0">
              <a:lnSpc>
                <a:spcPct val="100000"/>
              </a:lnSpc>
              <a:spcBef>
                <a:spcPts val="1000"/>
              </a:spcBef>
              <a:spcAft>
                <a:spcPts val="0"/>
              </a:spcAft>
              <a:buSzPts val="1400"/>
              <a:buFont typeface="Times New Roman"/>
              <a:buChar char="•"/>
            </a:pPr>
            <a:r>
              <a:rPr lang="en" sz="1400">
                <a:latin typeface="Times New Roman"/>
                <a:ea typeface="Times New Roman"/>
                <a:cs typeface="Times New Roman"/>
                <a:sym typeface="Times New Roman"/>
              </a:rPr>
              <a:t>Information is organized into sets of synonymous words called </a:t>
            </a:r>
            <a:r>
              <a:rPr lang="en" sz="1400" b="1">
                <a:solidFill>
                  <a:srgbClr val="FFFF00"/>
                </a:solidFill>
                <a:latin typeface="Times New Roman"/>
                <a:ea typeface="Times New Roman"/>
                <a:cs typeface="Times New Roman"/>
                <a:sym typeface="Times New Roman"/>
              </a:rPr>
              <a:t>synsets</a:t>
            </a:r>
            <a:r>
              <a:rPr lang="en" sz="1400">
                <a:latin typeface="Times New Roman"/>
                <a:ea typeface="Times New Roman"/>
                <a:cs typeface="Times New Roman"/>
                <a:sym typeface="Times New Roman"/>
              </a:rPr>
              <a:t>, each representing one base concept. </a:t>
            </a:r>
            <a:endParaRPr sz="1400">
              <a:latin typeface="Times New Roman"/>
              <a:ea typeface="Times New Roman"/>
              <a:cs typeface="Times New Roman"/>
              <a:sym typeface="Times New Roman"/>
            </a:endParaRPr>
          </a:p>
          <a:p>
            <a:pPr marL="457200" lvl="0" indent="-317499" algn="just" rtl="0">
              <a:lnSpc>
                <a:spcPct val="100000"/>
              </a:lnSpc>
              <a:spcBef>
                <a:spcPts val="1000"/>
              </a:spcBef>
              <a:spcAft>
                <a:spcPts val="1000"/>
              </a:spcAft>
              <a:buSzPts val="1400"/>
              <a:buFont typeface="Times New Roman"/>
              <a:buChar char="•"/>
            </a:pPr>
            <a:r>
              <a:rPr lang="en" sz="1400">
                <a:latin typeface="Times New Roman"/>
                <a:ea typeface="Times New Roman"/>
                <a:cs typeface="Times New Roman"/>
                <a:sym typeface="Times New Roman"/>
              </a:rPr>
              <a:t>The synsets are linked to each other by means of lexical and semantic relations.</a:t>
            </a:r>
            <a:endParaRPr sz="14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7"/>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64" name="Google Shape;664;p67"/>
          <p:cNvSpPr txBox="1">
            <a:spLocks noGrp="1"/>
          </p:cNvSpPr>
          <p:nvPr>
            <p:ph type="body" idx="1"/>
          </p:nvPr>
        </p:nvSpPr>
        <p:spPr>
          <a:xfrm>
            <a:off x="695500" y="683250"/>
            <a:ext cx="8052300" cy="4031400"/>
          </a:xfrm>
          <a:prstGeom prst="rect">
            <a:avLst/>
          </a:prstGeom>
          <a:noFill/>
          <a:ln>
            <a:noFill/>
          </a:ln>
        </p:spPr>
        <p:txBody>
          <a:bodyPr spcFirstLastPara="1" wrap="square" lIns="68575" tIns="34275" rIns="68575" bIns="34275" anchor="ctr" anchorCtr="0">
            <a:normAutofit/>
          </a:bodyPr>
          <a:lstStyle/>
          <a:p>
            <a:pPr marL="457200" lvl="0" indent="-342900" algn="l" rtl="0">
              <a:lnSpc>
                <a:spcPct val="10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Lexical relations occur between word-forms (senses) and semantic relations between word meanings. </a:t>
            </a:r>
            <a:endParaRPr sz="1800">
              <a:latin typeface="Times New Roman"/>
              <a:ea typeface="Times New Roman"/>
              <a:cs typeface="Times New Roman"/>
              <a:sym typeface="Times New Roman"/>
            </a:endParaRPr>
          </a:p>
          <a:p>
            <a:pPr marL="457200" lvl="0" indent="-342900" algn="l" rtl="0">
              <a:lnSpc>
                <a:spcPct val="10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These relations include synonymy, hypernymy / hyponymy, antonymy, meronymy / holonymy, troponymy, etc.</a:t>
            </a:r>
            <a:endParaRPr sz="1800">
              <a:latin typeface="Times New Roman"/>
              <a:ea typeface="Times New Roman"/>
              <a:cs typeface="Times New Roman"/>
              <a:sym typeface="Times New Roman"/>
            </a:endParaRPr>
          </a:p>
          <a:p>
            <a:pPr marL="457200" lvl="0" indent="-342900" algn="l" rtl="0">
              <a:lnSpc>
                <a:spcPct val="10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A word may appear in more than one synset and in more than one part-of-speech. The meaning of the word is called sense. </a:t>
            </a:r>
            <a:endParaRPr sz="1800">
              <a:latin typeface="Times New Roman"/>
              <a:ea typeface="Times New Roman"/>
              <a:cs typeface="Times New Roman"/>
              <a:sym typeface="Times New Roman"/>
            </a:endParaRPr>
          </a:p>
          <a:p>
            <a:pPr marL="457200" lvl="0" indent="-342900" algn="l" rtl="0">
              <a:lnSpc>
                <a:spcPct val="100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WordNet lists all senses of a word, each sense belonging to a different synset. </a:t>
            </a:r>
            <a:endParaRPr sz="1800">
              <a:latin typeface="Times New Roman"/>
              <a:ea typeface="Times New Roman"/>
              <a:cs typeface="Times New Roman"/>
              <a:sym typeface="Times New Roman"/>
            </a:endParaRPr>
          </a:p>
          <a:p>
            <a:pPr marL="457200" lvl="0" indent="-342900" algn="l" rtl="0">
              <a:lnSpc>
                <a:spcPct val="100000"/>
              </a:lnSpc>
              <a:spcBef>
                <a:spcPts val="1000"/>
              </a:spcBef>
              <a:spcAft>
                <a:spcPts val="1000"/>
              </a:spcAft>
              <a:buSzPts val="1800"/>
              <a:buFont typeface="Times New Roman"/>
              <a:buChar char="•"/>
            </a:pPr>
            <a:r>
              <a:rPr lang="en" sz="1800">
                <a:latin typeface="Times New Roman"/>
                <a:ea typeface="Times New Roman"/>
                <a:cs typeface="Times New Roman"/>
                <a:sym typeface="Times New Roman"/>
              </a:rPr>
              <a:t>WordNet’s sense-entries consist of a set synonyms and a gloss.</a:t>
            </a:r>
            <a:endParaRPr sz="18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8"/>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70" name="Google Shape;670;p68"/>
          <p:cNvSpPr txBox="1">
            <a:spLocks noGrp="1"/>
          </p:cNvSpPr>
          <p:nvPr>
            <p:ph type="body" idx="1"/>
          </p:nvPr>
        </p:nvSpPr>
        <p:spPr>
          <a:xfrm>
            <a:off x="695500" y="683250"/>
            <a:ext cx="8052300" cy="4031400"/>
          </a:xfrm>
          <a:prstGeom prst="rect">
            <a:avLst/>
          </a:prstGeom>
          <a:noFill/>
          <a:ln>
            <a:noFill/>
          </a:ln>
        </p:spPr>
        <p:txBody>
          <a:bodyPr spcFirstLastPara="1" wrap="square" lIns="68575" tIns="34275" rIns="68575" bIns="34275" anchor="t" anchorCtr="0">
            <a:normAutofit/>
          </a:bodyPr>
          <a:lstStyle/>
          <a:p>
            <a:pPr marL="457200" lvl="0" indent="-317500" algn="l" rtl="0">
              <a:lnSpc>
                <a:spcPct val="90000"/>
              </a:lnSpc>
              <a:spcBef>
                <a:spcPts val="800"/>
              </a:spcBef>
              <a:spcAft>
                <a:spcPts val="1000"/>
              </a:spcAft>
              <a:buSzPts val="1400"/>
              <a:buFont typeface="Times New Roman"/>
              <a:buChar char="•"/>
            </a:pPr>
            <a:r>
              <a:rPr lang="en" sz="1400">
                <a:latin typeface="Times New Roman"/>
                <a:ea typeface="Times New Roman"/>
                <a:cs typeface="Times New Roman"/>
                <a:sym typeface="Times New Roman"/>
              </a:rPr>
              <a:t>A gloss consists of a dictionary-style definition and examples demonstrating the use of a synset in a sentence, as shown in the figure below. </a:t>
            </a:r>
            <a:endParaRPr sz="1400">
              <a:latin typeface="Times New Roman"/>
              <a:ea typeface="Times New Roman"/>
              <a:cs typeface="Times New Roman"/>
              <a:sym typeface="Times New Roman"/>
            </a:endParaRPr>
          </a:p>
        </p:txBody>
      </p:sp>
      <p:pic>
        <p:nvPicPr>
          <p:cNvPr id="671" name="Google Shape;671;p68"/>
          <p:cNvPicPr preferRelativeResize="0"/>
          <p:nvPr/>
        </p:nvPicPr>
        <p:blipFill rotWithShape="1">
          <a:blip r:embed="rId3">
            <a:alphaModFix/>
          </a:blip>
          <a:srcRect/>
          <a:stretch/>
        </p:blipFill>
        <p:spPr>
          <a:xfrm>
            <a:off x="832100" y="1203850"/>
            <a:ext cx="7817499" cy="382369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69"/>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77" name="Google Shape;677;p69"/>
          <p:cNvSpPr txBox="1">
            <a:spLocks noGrp="1"/>
          </p:cNvSpPr>
          <p:nvPr>
            <p:ph type="body" idx="1"/>
          </p:nvPr>
        </p:nvSpPr>
        <p:spPr>
          <a:xfrm>
            <a:off x="695500" y="683250"/>
            <a:ext cx="8052300" cy="42888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sz="1300" b="1">
                <a:solidFill>
                  <a:srgbClr val="00FFFF"/>
                </a:solidFill>
                <a:latin typeface="Times New Roman"/>
                <a:ea typeface="Times New Roman"/>
                <a:cs typeface="Times New Roman"/>
                <a:sym typeface="Times New Roman"/>
              </a:rPr>
              <a:t>Write the hypernym chain for ‘RIVER’ extracted from WordNet 2.0 (4M, Jan 2020)</a:t>
            </a:r>
            <a:endParaRPr sz="1300">
              <a:latin typeface="Times New Roman"/>
              <a:ea typeface="Times New Roman"/>
              <a:cs typeface="Times New Roman"/>
              <a:sym typeface="Times New Roman"/>
            </a:endParaRPr>
          </a:p>
          <a:p>
            <a:pPr marL="457200" lvl="0" indent="-311150" algn="l" rtl="0">
              <a:lnSpc>
                <a:spcPct val="100000"/>
              </a:lnSpc>
              <a:spcBef>
                <a:spcPts val="800"/>
              </a:spcBef>
              <a:spcAft>
                <a:spcPts val="0"/>
              </a:spcAft>
              <a:buSzPts val="1300"/>
              <a:buFont typeface="Times New Roman"/>
              <a:buChar char="•"/>
            </a:pPr>
            <a:r>
              <a:rPr lang="en" sz="1300">
                <a:latin typeface="Times New Roman"/>
                <a:ea typeface="Times New Roman"/>
                <a:cs typeface="Times New Roman"/>
                <a:sym typeface="Times New Roman"/>
              </a:rPr>
              <a:t>The figure shows the entries for the word ‘read’.  Read has one sense as a noun and 11 senses as a verb.</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Glosses help differentiate meanings.</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Figure show Noun relations in WordNet</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Nouns and verbs are organized into hierarchies based on the hypernymy / hyponymy relation.</a:t>
            </a:r>
            <a:endParaRPr sz="1300">
              <a:latin typeface="Times New Roman"/>
              <a:ea typeface="Times New Roman"/>
              <a:cs typeface="Times New Roman"/>
              <a:sym typeface="Times New Roman"/>
            </a:endParaRPr>
          </a:p>
          <a:p>
            <a:pPr marL="457200" lvl="0" indent="0" algn="l" rtl="0">
              <a:lnSpc>
                <a:spcPct val="100000"/>
              </a:lnSpc>
              <a:spcBef>
                <a:spcPts val="1000"/>
              </a:spcBef>
              <a:spcAft>
                <a:spcPts val="0"/>
              </a:spcAft>
              <a:buSzPts val="1400"/>
              <a:buNone/>
            </a:pPr>
            <a:endParaRPr sz="1300">
              <a:latin typeface="Times New Roman"/>
              <a:ea typeface="Times New Roman"/>
              <a:cs typeface="Times New Roman"/>
              <a:sym typeface="Times New Roman"/>
            </a:endParaRPr>
          </a:p>
          <a:p>
            <a:pPr marL="0" lvl="0" indent="0" algn="l" rtl="0">
              <a:lnSpc>
                <a:spcPct val="100000"/>
              </a:lnSpc>
              <a:spcBef>
                <a:spcPts val="1000"/>
              </a:spcBef>
              <a:spcAft>
                <a:spcPts val="1000"/>
              </a:spcAft>
              <a:buSzPts val="1400"/>
              <a:buNone/>
            </a:pPr>
            <a:endParaRPr sz="1300">
              <a:latin typeface="Times New Roman"/>
              <a:ea typeface="Times New Roman"/>
              <a:cs typeface="Times New Roman"/>
              <a:sym typeface="Times New Roman"/>
            </a:endParaRPr>
          </a:p>
        </p:txBody>
      </p:sp>
      <p:pic>
        <p:nvPicPr>
          <p:cNvPr id="678" name="Google Shape;678;p69"/>
          <p:cNvPicPr preferRelativeResize="0"/>
          <p:nvPr/>
        </p:nvPicPr>
        <p:blipFill rotWithShape="1">
          <a:blip r:embed="rId3">
            <a:alphaModFix/>
          </a:blip>
          <a:srcRect t="5540" b="-5540"/>
          <a:stretch/>
        </p:blipFill>
        <p:spPr>
          <a:xfrm>
            <a:off x="1452450" y="2376100"/>
            <a:ext cx="6667223" cy="25959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70"/>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84" name="Google Shape;684;p70"/>
          <p:cNvSpPr txBox="1">
            <a:spLocks noGrp="1"/>
          </p:cNvSpPr>
          <p:nvPr>
            <p:ph type="body" idx="1"/>
          </p:nvPr>
        </p:nvSpPr>
        <p:spPr>
          <a:xfrm>
            <a:off x="695500" y="683250"/>
            <a:ext cx="8052300" cy="4031400"/>
          </a:xfrm>
          <a:prstGeom prst="rect">
            <a:avLst/>
          </a:prstGeom>
          <a:noFill/>
          <a:ln>
            <a:noFill/>
          </a:ln>
        </p:spPr>
        <p:txBody>
          <a:bodyPr spcFirstLastPara="1" wrap="square" lIns="68575" tIns="34275" rIns="68575" bIns="34275" anchor="t" anchorCtr="0">
            <a:normAutofit/>
          </a:bodyPr>
          <a:lstStyle/>
          <a:p>
            <a:pPr marL="457200" lvl="0" indent="0" algn="l" rtl="0">
              <a:lnSpc>
                <a:spcPct val="100000"/>
              </a:lnSpc>
              <a:spcBef>
                <a:spcPts val="800"/>
              </a:spcBef>
              <a:spcAft>
                <a:spcPts val="0"/>
              </a:spcAft>
              <a:buSzPts val="1400"/>
              <a:buNone/>
            </a:pPr>
            <a:r>
              <a:rPr lang="en" sz="1300">
                <a:latin typeface="Times New Roman"/>
                <a:ea typeface="Times New Roman"/>
                <a:cs typeface="Times New Roman"/>
                <a:sym typeface="Times New Roman"/>
              </a:rPr>
              <a:t>Figure shows the verb, adjective and adverb relations in Wordnet</a:t>
            </a:r>
            <a:endParaRPr sz="1300">
              <a:latin typeface="Times New Roman"/>
              <a:ea typeface="Times New Roman"/>
              <a:cs typeface="Times New Roman"/>
              <a:sym typeface="Times New Roman"/>
            </a:endParaRPr>
          </a:p>
          <a:p>
            <a:pPr marL="0" lvl="0" indent="0" algn="l" rtl="0">
              <a:lnSpc>
                <a:spcPct val="100000"/>
              </a:lnSpc>
              <a:spcBef>
                <a:spcPts val="1000"/>
              </a:spcBef>
              <a:spcAft>
                <a:spcPts val="1000"/>
              </a:spcAft>
              <a:buSzPts val="1400"/>
              <a:buNone/>
            </a:pPr>
            <a:endParaRPr sz="1300">
              <a:latin typeface="Times New Roman"/>
              <a:ea typeface="Times New Roman"/>
              <a:cs typeface="Times New Roman"/>
              <a:sym typeface="Times New Roman"/>
            </a:endParaRPr>
          </a:p>
        </p:txBody>
      </p:sp>
      <p:pic>
        <p:nvPicPr>
          <p:cNvPr id="685" name="Google Shape;685;p70"/>
          <p:cNvPicPr preferRelativeResize="0"/>
          <p:nvPr/>
        </p:nvPicPr>
        <p:blipFill rotWithShape="1">
          <a:blip r:embed="rId3">
            <a:alphaModFix/>
          </a:blip>
          <a:srcRect/>
          <a:stretch/>
        </p:blipFill>
        <p:spPr>
          <a:xfrm>
            <a:off x="1745650" y="1037900"/>
            <a:ext cx="5540974" cy="360597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71"/>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91" name="Google Shape;691;p71"/>
          <p:cNvSpPr txBox="1">
            <a:spLocks noGrp="1"/>
          </p:cNvSpPr>
          <p:nvPr>
            <p:ph type="body" idx="1"/>
          </p:nvPr>
        </p:nvSpPr>
        <p:spPr>
          <a:xfrm>
            <a:off x="695500" y="683250"/>
            <a:ext cx="8052300" cy="40314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 sz="1300" b="1">
                <a:solidFill>
                  <a:srgbClr val="00FFFF"/>
                </a:solidFill>
                <a:latin typeface="Times New Roman"/>
                <a:ea typeface="Times New Roman"/>
                <a:cs typeface="Times New Roman"/>
                <a:sym typeface="Times New Roman"/>
              </a:rPr>
              <a:t>Write the hypernym chain for ‘RIVER’ extracted from WordNet 2.0 (4M, Jan 2020)</a:t>
            </a:r>
            <a:endParaRPr sz="1300">
              <a:latin typeface="Times New Roman"/>
              <a:ea typeface="Times New Roman"/>
              <a:cs typeface="Times New Roman"/>
              <a:sym typeface="Times New Roman"/>
            </a:endParaRPr>
          </a:p>
          <a:p>
            <a:pPr marL="457200" lvl="0" indent="-311150" algn="l" rtl="0">
              <a:lnSpc>
                <a:spcPct val="100000"/>
              </a:lnSpc>
              <a:spcBef>
                <a:spcPts val="1000"/>
              </a:spcBef>
              <a:spcAft>
                <a:spcPts val="0"/>
              </a:spcAft>
              <a:buSzPts val="1300"/>
              <a:buFont typeface="Times New Roman"/>
              <a:buChar char="•"/>
            </a:pPr>
            <a:r>
              <a:rPr lang="en" sz="1300">
                <a:latin typeface="Times New Roman"/>
                <a:ea typeface="Times New Roman"/>
                <a:cs typeface="Times New Roman"/>
                <a:sym typeface="Times New Roman"/>
              </a:rPr>
              <a:t>The below figure shows the hypernym chain for ‘RIVER’ extracted from WordNet.</a:t>
            </a:r>
            <a:endParaRPr sz="1300">
              <a:latin typeface="Times New Roman"/>
              <a:ea typeface="Times New Roman"/>
              <a:cs typeface="Times New Roman"/>
              <a:sym typeface="Times New Roman"/>
            </a:endParaRPr>
          </a:p>
          <a:p>
            <a:pPr marL="457200" lvl="0" indent="0" algn="l" rtl="0">
              <a:lnSpc>
                <a:spcPct val="100000"/>
              </a:lnSpc>
              <a:spcBef>
                <a:spcPts val="1000"/>
              </a:spcBef>
              <a:spcAft>
                <a:spcPts val="1000"/>
              </a:spcAft>
              <a:buSzPts val="1400"/>
              <a:buNone/>
            </a:pPr>
            <a:endParaRPr sz="1300">
              <a:latin typeface="Times New Roman"/>
              <a:ea typeface="Times New Roman"/>
              <a:cs typeface="Times New Roman"/>
              <a:sym typeface="Times New Roman"/>
            </a:endParaRPr>
          </a:p>
        </p:txBody>
      </p:sp>
      <p:pic>
        <p:nvPicPr>
          <p:cNvPr id="692" name="Google Shape;692;p71"/>
          <p:cNvPicPr preferRelativeResize="0"/>
          <p:nvPr/>
        </p:nvPicPr>
        <p:blipFill rotWithShape="1">
          <a:blip r:embed="rId3">
            <a:alphaModFix/>
          </a:blip>
          <a:srcRect/>
          <a:stretch/>
        </p:blipFill>
        <p:spPr>
          <a:xfrm>
            <a:off x="1628513" y="1560875"/>
            <a:ext cx="5886976" cy="32611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72"/>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WORDNET</a:t>
            </a:r>
            <a:endParaRPr/>
          </a:p>
        </p:txBody>
      </p:sp>
      <p:sp>
        <p:nvSpPr>
          <p:cNvPr id="698" name="Google Shape;698;p72"/>
          <p:cNvSpPr txBox="1">
            <a:spLocks noGrp="1"/>
          </p:cNvSpPr>
          <p:nvPr>
            <p:ph type="body" idx="1"/>
          </p:nvPr>
        </p:nvSpPr>
        <p:spPr>
          <a:xfrm>
            <a:off x="695500" y="683250"/>
            <a:ext cx="8052300" cy="4031400"/>
          </a:xfrm>
          <a:prstGeom prst="rect">
            <a:avLst/>
          </a:prstGeom>
          <a:noFill/>
          <a:ln>
            <a:noFill/>
          </a:ln>
        </p:spPr>
        <p:txBody>
          <a:bodyPr spcFirstLastPara="1" wrap="square" lIns="68575" tIns="34275" rIns="68575" bIns="34275" anchor="ctr" anchorCtr="0">
            <a:normAutofit lnSpcReduction="10000"/>
          </a:bodyPr>
          <a:lstStyle/>
          <a:p>
            <a:pPr marL="457200" lvl="0" indent="-330200" algn="l" rtl="0">
              <a:lnSpc>
                <a:spcPct val="100000"/>
              </a:lnSpc>
              <a:spcBef>
                <a:spcPts val="800"/>
              </a:spcBef>
              <a:spcAft>
                <a:spcPts val="0"/>
              </a:spcAft>
              <a:buSzPts val="1600"/>
              <a:buFont typeface="Times New Roman"/>
              <a:buChar char="•"/>
            </a:pPr>
            <a:r>
              <a:rPr lang="en" sz="1600">
                <a:latin typeface="Times New Roman"/>
                <a:ea typeface="Times New Roman"/>
                <a:cs typeface="Times New Roman"/>
                <a:sym typeface="Times New Roman"/>
              </a:rPr>
              <a:t>WordNet is freely and publicly available for download from </a:t>
            </a:r>
            <a:r>
              <a:rPr lang="en" sz="1600" u="sng">
                <a:solidFill>
                  <a:schemeClr val="hlink"/>
                </a:solidFill>
                <a:latin typeface="Times New Roman"/>
                <a:ea typeface="Times New Roman"/>
                <a:cs typeface="Times New Roman"/>
                <a:sym typeface="Times New Roman"/>
                <a:hlinkClick r:id="rId3"/>
              </a:rPr>
              <a:t>http://wordnet.princeton.edu/obtain</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WordNet for other languages have been developed, Example, </a:t>
            </a:r>
            <a:r>
              <a:rPr lang="en" sz="1600" b="1">
                <a:solidFill>
                  <a:srgbClr val="FFFF00"/>
                </a:solidFill>
                <a:latin typeface="Times New Roman"/>
                <a:ea typeface="Times New Roman"/>
                <a:cs typeface="Times New Roman"/>
                <a:sym typeface="Times New Roman"/>
              </a:rPr>
              <a:t>EuroWordNet </a:t>
            </a:r>
            <a:r>
              <a:rPr lang="en" sz="1600">
                <a:latin typeface="Times New Roman"/>
                <a:ea typeface="Times New Roman"/>
                <a:cs typeface="Times New Roman"/>
                <a:sym typeface="Times New Roman"/>
              </a:rPr>
              <a:t>and </a:t>
            </a:r>
            <a:r>
              <a:rPr lang="en" sz="1600" b="1">
                <a:solidFill>
                  <a:srgbClr val="FFFF00"/>
                </a:solidFill>
                <a:latin typeface="Times New Roman"/>
                <a:ea typeface="Times New Roman"/>
                <a:cs typeface="Times New Roman"/>
                <a:sym typeface="Times New Roman"/>
              </a:rPr>
              <a:t>Hindi WordNet</a:t>
            </a:r>
            <a:endParaRPr sz="1600" b="1">
              <a:solidFill>
                <a:srgbClr val="FFFF00"/>
              </a:solidFill>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b="1">
                <a:solidFill>
                  <a:srgbClr val="FFFF00"/>
                </a:solidFill>
                <a:latin typeface="Times New Roman"/>
                <a:ea typeface="Times New Roman"/>
                <a:cs typeface="Times New Roman"/>
                <a:sym typeface="Times New Roman"/>
              </a:rPr>
              <a:t>EuroWordNet </a:t>
            </a:r>
            <a:r>
              <a:rPr lang="en" sz="1600">
                <a:latin typeface="Times New Roman"/>
                <a:ea typeface="Times New Roman"/>
                <a:cs typeface="Times New Roman"/>
                <a:sym typeface="Times New Roman"/>
              </a:rPr>
              <a:t>covers European languages, including English, Dutch, Spanish, Italian, German, French, Czech, and Estonian.</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b="1">
                <a:solidFill>
                  <a:srgbClr val="FFFF00"/>
                </a:solidFill>
                <a:latin typeface="Times New Roman"/>
                <a:ea typeface="Times New Roman"/>
                <a:cs typeface="Times New Roman"/>
                <a:sym typeface="Times New Roman"/>
              </a:rPr>
              <a:t>Hindi WordNet </a:t>
            </a:r>
            <a:r>
              <a:rPr lang="en" sz="1600">
                <a:latin typeface="Times New Roman"/>
                <a:ea typeface="Times New Roman"/>
                <a:cs typeface="Times New Roman"/>
                <a:sym typeface="Times New Roman"/>
              </a:rPr>
              <a:t>has been developed by CFILT (Resource Center for Indian Language Technology Solutions), IIT Bombay. Its database consists of more than 26208 synsets and 56928 Hindi words. It is organized using the same principles as English WordNet but include some Hindi specific relations - causative relations.</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 sz="1600">
                <a:latin typeface="Times New Roman"/>
                <a:ea typeface="Times New Roman"/>
                <a:cs typeface="Times New Roman"/>
                <a:sym typeface="Times New Roman"/>
              </a:rPr>
              <a:t>Hindi WordNet can be obtained from the URL </a:t>
            </a:r>
            <a:r>
              <a:rPr lang="en" sz="1600" u="sng">
                <a:solidFill>
                  <a:schemeClr val="hlink"/>
                </a:solidFill>
                <a:latin typeface="Times New Roman"/>
                <a:ea typeface="Times New Roman"/>
                <a:cs typeface="Times New Roman"/>
                <a:sym typeface="Times New Roman"/>
                <a:hlinkClick r:id="rId4"/>
              </a:rPr>
              <a:t>http://www.cfilt.iitb.ac.in/wordnet/webhwn/</a:t>
            </a:r>
            <a:endParaRPr sz="1600">
              <a:latin typeface="Times New Roman"/>
              <a:ea typeface="Times New Roman"/>
              <a:cs typeface="Times New Roman"/>
              <a:sym typeface="Times New Roman"/>
            </a:endParaRPr>
          </a:p>
          <a:p>
            <a:pPr marL="457200" lvl="0" indent="-330200" algn="l" rtl="0">
              <a:lnSpc>
                <a:spcPct val="100000"/>
              </a:lnSpc>
              <a:spcBef>
                <a:spcPts val="1000"/>
              </a:spcBef>
              <a:spcAft>
                <a:spcPts val="1000"/>
              </a:spcAft>
              <a:buSzPts val="1600"/>
              <a:buFont typeface="Times New Roman"/>
              <a:buChar char="•"/>
            </a:pPr>
            <a:r>
              <a:rPr lang="en" sz="1600">
                <a:latin typeface="Times New Roman"/>
                <a:ea typeface="Times New Roman"/>
                <a:cs typeface="Times New Roman"/>
                <a:sym typeface="Times New Roman"/>
              </a:rPr>
              <a:t>CFLIT has also developed a </a:t>
            </a:r>
            <a:r>
              <a:rPr lang="en" sz="1600" b="1">
                <a:solidFill>
                  <a:srgbClr val="FFFF00"/>
                </a:solidFill>
                <a:latin typeface="Times New Roman"/>
                <a:ea typeface="Times New Roman"/>
                <a:cs typeface="Times New Roman"/>
                <a:sym typeface="Times New Roman"/>
              </a:rPr>
              <a:t>Marathi WordNet</a:t>
            </a:r>
            <a:r>
              <a:rPr lang="en" sz="1600">
                <a:latin typeface="Times New Roman"/>
                <a:ea typeface="Times New Roman"/>
                <a:cs typeface="Times New Roman"/>
                <a:sym typeface="Times New Roman"/>
              </a:rPr>
              <a:t> </a:t>
            </a:r>
            <a:r>
              <a:rPr lang="en" sz="1600" u="sng">
                <a:solidFill>
                  <a:schemeClr val="hlink"/>
                </a:solidFill>
                <a:latin typeface="Times New Roman"/>
                <a:ea typeface="Times New Roman"/>
                <a:cs typeface="Times New Roman"/>
                <a:sym typeface="Times New Roman"/>
                <a:hlinkClick r:id="rId5"/>
              </a:rPr>
              <a:t>http://www.cfilt.iitb.ac.in/wordnet/webmwn/wn.php</a:t>
            </a:r>
            <a:endParaRPr sz="1600">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g1a3ae545d28_0_0"/>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Application of WORDNET</a:t>
            </a:r>
            <a:endParaRPr/>
          </a:p>
        </p:txBody>
      </p:sp>
      <p:sp>
        <p:nvSpPr>
          <p:cNvPr id="704" name="Google Shape;704;g1a3ae545d28_0_0"/>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rmAutofit fontScale="47500" lnSpcReduction="20000"/>
          </a:bodyPr>
          <a:lstStyle/>
          <a:p>
            <a:pPr marL="457200" lvl="0" indent="-313055" algn="l" rtl="0">
              <a:lnSpc>
                <a:spcPct val="90000"/>
              </a:lnSpc>
              <a:spcBef>
                <a:spcPts val="0"/>
              </a:spcBef>
              <a:spcAft>
                <a:spcPts val="0"/>
              </a:spcAft>
              <a:buClr>
                <a:srgbClr val="FFFF00"/>
              </a:buClr>
              <a:buSzPct val="100000"/>
              <a:buChar char="•"/>
            </a:pPr>
            <a:r>
              <a:rPr lang="en" sz="2800" b="1">
                <a:solidFill>
                  <a:srgbClr val="FFFF00"/>
                </a:solidFill>
              </a:rPr>
              <a:t>Concept identifications in Natural language</a:t>
            </a:r>
            <a:endParaRPr sz="2800" b="1">
              <a:solidFill>
                <a:srgbClr val="FFFF00"/>
              </a:solidFill>
            </a:endParaRPr>
          </a:p>
          <a:p>
            <a:pPr marL="914400" lvl="1" indent="-313055" algn="l" rtl="0">
              <a:lnSpc>
                <a:spcPct val="90000"/>
              </a:lnSpc>
              <a:spcBef>
                <a:spcPts val="1000"/>
              </a:spcBef>
              <a:spcAft>
                <a:spcPts val="0"/>
              </a:spcAft>
              <a:buSzPct val="100000"/>
              <a:buChar char="•"/>
            </a:pPr>
            <a:r>
              <a:rPr lang="en" sz="2800"/>
              <a:t>WordNet can be used to identify concepts pertaining to a term, to suit them to the full semantic richness. </a:t>
            </a:r>
            <a:endParaRPr sz="2800"/>
          </a:p>
          <a:p>
            <a:pPr marL="457200" lvl="0" indent="-313055" algn="l" rtl="0">
              <a:lnSpc>
                <a:spcPct val="90000"/>
              </a:lnSpc>
              <a:spcBef>
                <a:spcPts val="1000"/>
              </a:spcBef>
              <a:spcAft>
                <a:spcPts val="0"/>
              </a:spcAft>
              <a:buClr>
                <a:srgbClr val="FFFF00"/>
              </a:buClr>
              <a:buSzPct val="100000"/>
              <a:buChar char="•"/>
            </a:pPr>
            <a:r>
              <a:rPr lang="en" sz="2800" b="1">
                <a:solidFill>
                  <a:srgbClr val="FFFF00"/>
                </a:solidFill>
              </a:rPr>
              <a:t>Word sense disambiguation</a:t>
            </a:r>
            <a:endParaRPr sz="2800" b="1">
              <a:solidFill>
                <a:srgbClr val="FFFF00"/>
              </a:solidFill>
            </a:endParaRPr>
          </a:p>
          <a:p>
            <a:pPr marL="914400" lvl="1" indent="-313055" algn="l" rtl="0">
              <a:lnSpc>
                <a:spcPct val="90000"/>
              </a:lnSpc>
              <a:spcBef>
                <a:spcPts val="1000"/>
              </a:spcBef>
              <a:spcAft>
                <a:spcPts val="0"/>
              </a:spcAft>
              <a:buSzPct val="100000"/>
              <a:buChar char="•"/>
            </a:pPr>
            <a:r>
              <a:rPr lang="en" sz="2800"/>
              <a:t>It offers </a:t>
            </a:r>
            <a:endParaRPr sz="2800"/>
          </a:p>
          <a:p>
            <a:pPr marL="1371600" lvl="2" indent="-313055" algn="l" rtl="0">
              <a:lnSpc>
                <a:spcPct val="90000"/>
              </a:lnSpc>
              <a:spcBef>
                <a:spcPts val="1000"/>
              </a:spcBef>
              <a:spcAft>
                <a:spcPts val="0"/>
              </a:spcAft>
              <a:buSzPct val="100000"/>
              <a:buChar char="•"/>
            </a:pPr>
            <a:r>
              <a:rPr lang="en" sz="2800"/>
              <a:t>sense definitions of words</a:t>
            </a:r>
            <a:endParaRPr sz="2800"/>
          </a:p>
          <a:p>
            <a:pPr marL="1371600" lvl="2" indent="-313055" algn="l" rtl="0">
              <a:lnSpc>
                <a:spcPct val="90000"/>
              </a:lnSpc>
              <a:spcBef>
                <a:spcPts val="1000"/>
              </a:spcBef>
              <a:spcAft>
                <a:spcPts val="0"/>
              </a:spcAft>
              <a:buSzPct val="100000"/>
              <a:buChar char="•"/>
            </a:pPr>
            <a:r>
              <a:rPr lang="en" sz="2800"/>
              <a:t>identifies synsets of synonyms</a:t>
            </a:r>
            <a:endParaRPr sz="2800"/>
          </a:p>
          <a:p>
            <a:pPr marL="1371600" lvl="2" indent="-313055" algn="l" rtl="0">
              <a:lnSpc>
                <a:spcPct val="90000"/>
              </a:lnSpc>
              <a:spcBef>
                <a:spcPts val="1000"/>
              </a:spcBef>
              <a:spcAft>
                <a:spcPts val="0"/>
              </a:spcAft>
              <a:buSzPct val="100000"/>
              <a:buChar char="•"/>
            </a:pPr>
            <a:r>
              <a:rPr lang="en" sz="2800"/>
              <a:t>Defines a number of semantic relations</a:t>
            </a:r>
            <a:endParaRPr sz="2800"/>
          </a:p>
          <a:p>
            <a:pPr marL="457200" lvl="0" indent="-313055" algn="l" rtl="0">
              <a:lnSpc>
                <a:spcPct val="90000"/>
              </a:lnSpc>
              <a:spcBef>
                <a:spcPts val="1000"/>
              </a:spcBef>
              <a:spcAft>
                <a:spcPts val="0"/>
              </a:spcAft>
              <a:buClr>
                <a:srgbClr val="FFFF00"/>
              </a:buClr>
              <a:buSzPct val="100000"/>
              <a:buChar char="•"/>
            </a:pPr>
            <a:r>
              <a:rPr lang="en" sz="2800" b="1">
                <a:solidFill>
                  <a:srgbClr val="FFFF00"/>
                </a:solidFill>
              </a:rPr>
              <a:t>Automatic Query Expansion</a:t>
            </a:r>
            <a:endParaRPr sz="2800" b="1">
              <a:solidFill>
                <a:srgbClr val="FFFF00"/>
              </a:solidFill>
            </a:endParaRPr>
          </a:p>
          <a:p>
            <a:pPr marL="914400" lvl="1" indent="-313055" algn="l" rtl="0">
              <a:lnSpc>
                <a:spcPct val="90000"/>
              </a:lnSpc>
              <a:spcBef>
                <a:spcPts val="1000"/>
              </a:spcBef>
              <a:spcAft>
                <a:spcPts val="0"/>
              </a:spcAft>
              <a:buSzPct val="100000"/>
              <a:buChar char="•"/>
            </a:pPr>
            <a:r>
              <a:rPr lang="en" sz="2800"/>
              <a:t>WordNet semantic relations can be used to expand queries so that the search for a document is not confined to the pattern-matching of query terms, but also covers synonyms.</a:t>
            </a:r>
            <a:endParaRPr sz="2800"/>
          </a:p>
          <a:p>
            <a:pPr marL="457200" lvl="0" indent="-313055" algn="l" rtl="0">
              <a:lnSpc>
                <a:spcPct val="90000"/>
              </a:lnSpc>
              <a:spcBef>
                <a:spcPts val="1000"/>
              </a:spcBef>
              <a:spcAft>
                <a:spcPts val="0"/>
              </a:spcAft>
              <a:buClr>
                <a:srgbClr val="FFFF00"/>
              </a:buClr>
              <a:buSzPct val="100000"/>
              <a:buChar char="•"/>
            </a:pPr>
            <a:r>
              <a:rPr lang="en" sz="2800" b="1">
                <a:solidFill>
                  <a:srgbClr val="FFFF00"/>
                </a:solidFill>
              </a:rPr>
              <a:t>Document structuring and categorization</a:t>
            </a:r>
            <a:endParaRPr sz="2800" b="1">
              <a:solidFill>
                <a:srgbClr val="FFFF00"/>
              </a:solidFill>
            </a:endParaRPr>
          </a:p>
          <a:p>
            <a:pPr marL="914400" lvl="1" indent="-313055" algn="l" rtl="0">
              <a:lnSpc>
                <a:spcPct val="90000"/>
              </a:lnSpc>
              <a:spcBef>
                <a:spcPts val="1000"/>
              </a:spcBef>
              <a:spcAft>
                <a:spcPts val="0"/>
              </a:spcAft>
              <a:buSzPct val="100000"/>
              <a:buChar char="•"/>
            </a:pPr>
            <a:r>
              <a:rPr lang="en" sz="2800"/>
              <a:t>The semantic information extracted from WordNet have been used for text categorization.</a:t>
            </a:r>
            <a:endParaRPr sz="2800"/>
          </a:p>
          <a:p>
            <a:pPr marL="457200" lvl="0" indent="-313055" algn="l" rtl="0">
              <a:lnSpc>
                <a:spcPct val="90000"/>
              </a:lnSpc>
              <a:spcBef>
                <a:spcPts val="1000"/>
              </a:spcBef>
              <a:spcAft>
                <a:spcPts val="0"/>
              </a:spcAft>
              <a:buClr>
                <a:srgbClr val="FFFF00"/>
              </a:buClr>
              <a:buSzPct val="100000"/>
              <a:buChar char="•"/>
            </a:pPr>
            <a:r>
              <a:rPr lang="en" sz="2800" b="1">
                <a:solidFill>
                  <a:srgbClr val="FFFF00"/>
                </a:solidFill>
              </a:rPr>
              <a:t>Document summarization</a:t>
            </a:r>
            <a:endParaRPr sz="2800" b="1">
              <a:solidFill>
                <a:srgbClr val="FFFF00"/>
              </a:solidFill>
            </a:endParaRPr>
          </a:p>
          <a:p>
            <a:pPr marL="914400" lvl="1" indent="-313055" algn="l" rtl="0">
              <a:lnSpc>
                <a:spcPct val="90000"/>
              </a:lnSpc>
              <a:spcBef>
                <a:spcPts val="1000"/>
              </a:spcBef>
              <a:spcAft>
                <a:spcPts val="1000"/>
              </a:spcAft>
              <a:buSzPct val="100000"/>
              <a:buChar char="•"/>
            </a:pPr>
            <a:r>
              <a:rPr lang="en" sz="2800"/>
              <a:t>The approach presented by Barzilay and Elhadad uses information from WordNet to compute lexical chains.</a:t>
            </a:r>
            <a:endParaRPr sz="28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73"/>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FRAMENET</a:t>
            </a:r>
            <a:endParaRPr/>
          </a:p>
        </p:txBody>
      </p:sp>
      <p:sp>
        <p:nvSpPr>
          <p:cNvPr id="710" name="Google Shape;710;p73"/>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rmAutofit lnSpcReduction="10000"/>
          </a:bodyPr>
          <a:lstStyle/>
          <a:p>
            <a:pPr marL="457200" lvl="0" indent="-342900" algn="just" rtl="0">
              <a:lnSpc>
                <a:spcPct val="90000"/>
              </a:lnSpc>
              <a:spcBef>
                <a:spcPts val="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FrameNet is a large database of semantically annotated English sentences. </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It is based on principles of frame semantics.</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It defines a tagset of semantic roles called the </a:t>
            </a:r>
            <a:r>
              <a:rPr lang="en" sz="1800" b="1" dirty="0">
                <a:solidFill>
                  <a:srgbClr val="FFFF00"/>
                </a:solidFill>
                <a:latin typeface="Times New Roman"/>
                <a:ea typeface="Times New Roman"/>
                <a:cs typeface="Times New Roman"/>
                <a:sym typeface="Times New Roman"/>
              </a:rPr>
              <a:t>frame element</a:t>
            </a:r>
            <a:r>
              <a:rPr lang="en" sz="1800" dirty="0">
                <a:solidFill>
                  <a:schemeClr val="lt1"/>
                </a:solidFill>
                <a:latin typeface="Times New Roman"/>
                <a:ea typeface="Times New Roman"/>
                <a:cs typeface="Times New Roman"/>
                <a:sym typeface="Times New Roman"/>
              </a:rPr>
              <a:t>. </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Sentences from the British National Corpus are tagged with these frame elements. </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rgbClr val="FFFF00"/>
                </a:solidFill>
                <a:latin typeface="Times New Roman"/>
                <a:ea typeface="Times New Roman"/>
                <a:cs typeface="Times New Roman"/>
                <a:sym typeface="Times New Roman"/>
              </a:rPr>
              <a:t>The basic philosophy involved is that each word evokes a particular situation with particular participants.</a:t>
            </a:r>
            <a:r>
              <a:rPr lang="en" sz="1800" dirty="0">
                <a:solidFill>
                  <a:schemeClr val="lt1"/>
                </a:solidFill>
                <a:latin typeface="Times New Roman"/>
                <a:ea typeface="Times New Roman"/>
                <a:cs typeface="Times New Roman"/>
                <a:sym typeface="Times New Roman"/>
              </a:rPr>
              <a:t> </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FrameNet aims at capturing these situations through case-frame representation of words (verbs, adjectives, and nouns).</a:t>
            </a:r>
            <a:endParaRPr sz="1800" dirty="0">
              <a:solidFill>
                <a:schemeClr val="lt1"/>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chemeClr val="lt1"/>
              </a:buClr>
              <a:buSzPts val="1800"/>
              <a:buFont typeface="Times New Roman"/>
              <a:buChar char="•"/>
            </a:pPr>
            <a:r>
              <a:rPr lang="en" sz="1800" dirty="0">
                <a:solidFill>
                  <a:schemeClr val="lt1"/>
                </a:solidFill>
                <a:latin typeface="Times New Roman"/>
                <a:ea typeface="Times New Roman"/>
                <a:cs typeface="Times New Roman"/>
                <a:sym typeface="Times New Roman"/>
              </a:rPr>
              <a:t>The word that invokes a frame is called target </a:t>
            </a:r>
            <a:r>
              <a:rPr lang="en" sz="1800" dirty="0">
                <a:solidFill>
                  <a:srgbClr val="FFFF00"/>
                </a:solidFill>
                <a:latin typeface="Times New Roman"/>
                <a:ea typeface="Times New Roman"/>
                <a:cs typeface="Times New Roman"/>
                <a:sym typeface="Times New Roman"/>
              </a:rPr>
              <a:t>word or predicate</a:t>
            </a:r>
            <a:r>
              <a:rPr lang="en" sz="1800" dirty="0">
                <a:solidFill>
                  <a:schemeClr val="lt1"/>
                </a:solidFill>
                <a:latin typeface="Times New Roman"/>
                <a:ea typeface="Times New Roman"/>
                <a:cs typeface="Times New Roman"/>
                <a:sym typeface="Times New Roman"/>
              </a:rPr>
              <a:t>, and the participant entities are defined using semantic roles, which are called </a:t>
            </a:r>
            <a:r>
              <a:rPr lang="en" sz="1800" dirty="0">
                <a:solidFill>
                  <a:srgbClr val="FFFF00"/>
                </a:solidFill>
                <a:latin typeface="Times New Roman"/>
                <a:ea typeface="Times New Roman"/>
                <a:cs typeface="Times New Roman"/>
                <a:sym typeface="Times New Roman"/>
              </a:rPr>
              <a:t>frame elements.</a:t>
            </a:r>
            <a:endParaRPr sz="1800" dirty="0">
              <a:solidFill>
                <a:srgbClr val="FFFF00"/>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Clr>
                <a:srgbClr val="FFFFFF"/>
              </a:buClr>
              <a:buSzPts val="1800"/>
              <a:buFont typeface="Times New Roman"/>
              <a:buChar char="•"/>
            </a:pPr>
            <a:r>
              <a:rPr lang="en" sz="1800" dirty="0">
                <a:solidFill>
                  <a:srgbClr val="FFFFFF"/>
                </a:solidFill>
                <a:latin typeface="Times New Roman"/>
                <a:ea typeface="Times New Roman"/>
                <a:cs typeface="Times New Roman"/>
                <a:sym typeface="Times New Roman"/>
              </a:rPr>
              <a:t>The FrameNet ontology can be viewed as a semantic level representation of predicate argument structure. </a:t>
            </a:r>
            <a:endParaRPr sz="1800" dirty="0">
              <a:solidFill>
                <a:srgbClr val="FFFFFF"/>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74"/>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FRAMENET</a:t>
            </a:r>
            <a:endParaRPr/>
          </a:p>
        </p:txBody>
      </p:sp>
      <p:sp>
        <p:nvSpPr>
          <p:cNvPr id="716" name="Google Shape;716;p74"/>
          <p:cNvSpPr txBox="1">
            <a:spLocks noGrp="1"/>
          </p:cNvSpPr>
          <p:nvPr>
            <p:ph type="body" idx="1"/>
          </p:nvPr>
        </p:nvSpPr>
        <p:spPr>
          <a:xfrm>
            <a:off x="545850" y="805279"/>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rmAutofit fontScale="77500" lnSpcReduction="20000"/>
          </a:bodyPr>
          <a:lstStyle/>
          <a:p>
            <a:pPr marL="457200" lvl="0" indent="-308610" algn="l" rtl="0">
              <a:lnSpc>
                <a:spcPct val="90000"/>
              </a:lnSpc>
              <a:spcBef>
                <a:spcPts val="0"/>
              </a:spcBef>
              <a:spcAft>
                <a:spcPts val="0"/>
              </a:spcAft>
              <a:buClr>
                <a:schemeClr val="lt1"/>
              </a:buClr>
              <a:buSzPct val="100000"/>
              <a:buFont typeface="Times New Roman"/>
              <a:buChar char="•"/>
            </a:pPr>
            <a:r>
              <a:rPr lang="en" sz="1800">
                <a:solidFill>
                  <a:schemeClr val="lt1"/>
                </a:solidFill>
                <a:latin typeface="Times New Roman"/>
                <a:ea typeface="Times New Roman"/>
                <a:cs typeface="Times New Roman"/>
                <a:sym typeface="Times New Roman"/>
              </a:rPr>
              <a:t>Each frame contains a main lexical item as predicate and associated frame-specific semantic roles, such as AUTHORITIES, TIME, AND SUSPECT in the ARREST frame, called frame elements. </a:t>
            </a:r>
            <a:endParaRPr sz="1800">
              <a:solidFill>
                <a:schemeClr val="lt1"/>
              </a:solidFill>
              <a:latin typeface="Times New Roman"/>
              <a:ea typeface="Times New Roman"/>
              <a:cs typeface="Times New Roman"/>
              <a:sym typeface="Times New Roman"/>
            </a:endParaRPr>
          </a:p>
          <a:p>
            <a:pPr marL="457200" lvl="0" indent="-308610" algn="l" rtl="0">
              <a:lnSpc>
                <a:spcPct val="90000"/>
              </a:lnSpc>
              <a:spcBef>
                <a:spcPts val="1000"/>
              </a:spcBef>
              <a:spcAft>
                <a:spcPts val="0"/>
              </a:spcAft>
              <a:buClr>
                <a:schemeClr val="lt1"/>
              </a:buClr>
              <a:buSzPct val="100000"/>
              <a:buFont typeface="Times New Roman"/>
              <a:buChar char="•"/>
            </a:pPr>
            <a:r>
              <a:rPr lang="en" sz="1800">
                <a:solidFill>
                  <a:schemeClr val="lt1"/>
                </a:solidFill>
                <a:latin typeface="Times New Roman"/>
                <a:ea typeface="Times New Roman"/>
                <a:cs typeface="Times New Roman"/>
                <a:sym typeface="Times New Roman"/>
              </a:rPr>
              <a:t>Example: The sentence below is annotated with semantic roles AUTHORITIES AND SUSPECT</a:t>
            </a:r>
            <a:endParaRPr sz="1800">
              <a:solidFill>
                <a:schemeClr val="lt1"/>
              </a:solidFill>
              <a:latin typeface="Times New Roman"/>
              <a:ea typeface="Times New Roman"/>
              <a:cs typeface="Times New Roman"/>
              <a:sym typeface="Times New Roman"/>
            </a:endParaRPr>
          </a:p>
          <a:p>
            <a:pPr marL="914400" lvl="1" indent="-308610" algn="l" rtl="0">
              <a:lnSpc>
                <a:spcPct val="90000"/>
              </a:lnSpc>
              <a:spcBef>
                <a:spcPts val="1000"/>
              </a:spcBef>
              <a:spcAft>
                <a:spcPts val="0"/>
              </a:spcAft>
              <a:buClr>
                <a:srgbClr val="FFFF00"/>
              </a:buClr>
              <a:buSzPct val="100000"/>
              <a:buFont typeface="Times New Roman"/>
              <a:buChar char="•"/>
            </a:pPr>
            <a:r>
              <a:rPr lang="en" b="1">
                <a:solidFill>
                  <a:srgbClr val="FFFF00"/>
                </a:solidFill>
                <a:latin typeface="Times New Roman"/>
                <a:ea typeface="Times New Roman"/>
                <a:cs typeface="Times New Roman"/>
                <a:sym typeface="Times New Roman"/>
              </a:rPr>
              <a:t>[</a:t>
            </a:r>
            <a:r>
              <a:rPr lang="en" b="1" baseline="-25000">
                <a:solidFill>
                  <a:srgbClr val="FFFF00"/>
                </a:solidFill>
                <a:latin typeface="Times New Roman"/>
                <a:ea typeface="Times New Roman"/>
                <a:cs typeface="Times New Roman"/>
                <a:sym typeface="Times New Roman"/>
              </a:rPr>
              <a:t>Authorities</a:t>
            </a:r>
            <a:r>
              <a:rPr lang="en" b="1">
                <a:solidFill>
                  <a:srgbClr val="FFFF00"/>
                </a:solidFill>
                <a:latin typeface="Times New Roman"/>
                <a:ea typeface="Times New Roman"/>
                <a:cs typeface="Times New Roman"/>
                <a:sym typeface="Times New Roman"/>
              </a:rPr>
              <a:t> The police] nabbed [</a:t>
            </a:r>
            <a:r>
              <a:rPr lang="en" b="1" baseline="-25000">
                <a:solidFill>
                  <a:srgbClr val="FFFF00"/>
                </a:solidFill>
                <a:latin typeface="Times New Roman"/>
                <a:ea typeface="Times New Roman"/>
                <a:cs typeface="Times New Roman"/>
                <a:sym typeface="Times New Roman"/>
              </a:rPr>
              <a:t>suspect</a:t>
            </a:r>
            <a:r>
              <a:rPr lang="en" b="1">
                <a:solidFill>
                  <a:srgbClr val="FFFF00"/>
                </a:solidFill>
                <a:latin typeface="Times New Roman"/>
                <a:ea typeface="Times New Roman"/>
                <a:cs typeface="Times New Roman"/>
                <a:sym typeface="Times New Roman"/>
              </a:rPr>
              <a:t> the snatcher].</a:t>
            </a:r>
            <a:endParaRPr b="1">
              <a:solidFill>
                <a:srgbClr val="FFFF00"/>
              </a:solidFill>
              <a:latin typeface="Times New Roman"/>
              <a:ea typeface="Times New Roman"/>
              <a:cs typeface="Times New Roman"/>
              <a:sym typeface="Times New Roman"/>
            </a:endParaRPr>
          </a:p>
          <a:p>
            <a:pPr marL="457200" lvl="0" indent="-290830" algn="l" rtl="0">
              <a:lnSpc>
                <a:spcPct val="90000"/>
              </a:lnSpc>
              <a:spcBef>
                <a:spcPts val="1000"/>
              </a:spcBef>
              <a:spcAft>
                <a:spcPts val="0"/>
              </a:spcAft>
              <a:buClr>
                <a:schemeClr val="lt1"/>
              </a:buClr>
              <a:buSzPct val="66666"/>
              <a:buFont typeface="Times New Roman"/>
              <a:buChar char="•"/>
            </a:pPr>
            <a:r>
              <a:rPr lang="en">
                <a:solidFill>
                  <a:schemeClr val="lt1"/>
                </a:solidFill>
                <a:latin typeface="Times New Roman"/>
                <a:ea typeface="Times New Roman"/>
                <a:cs typeface="Times New Roman"/>
                <a:sym typeface="Times New Roman"/>
              </a:rPr>
              <a:t>The COMMUNICATION frame has the semantic roles ADDRESSEE, COMMUNICATOR, TOPIC, and MEDIUM.</a:t>
            </a:r>
            <a:endParaRPr>
              <a:solidFill>
                <a:schemeClr val="lt1"/>
              </a:solidFill>
              <a:latin typeface="Times New Roman"/>
              <a:ea typeface="Times New Roman"/>
              <a:cs typeface="Times New Roman"/>
              <a:sym typeface="Times New Roman"/>
            </a:endParaRPr>
          </a:p>
          <a:p>
            <a:pPr marL="457200" lvl="0" indent="-290830" algn="l" rtl="0">
              <a:lnSpc>
                <a:spcPct val="90000"/>
              </a:lnSpc>
              <a:spcBef>
                <a:spcPts val="1000"/>
              </a:spcBef>
              <a:spcAft>
                <a:spcPts val="0"/>
              </a:spcAft>
              <a:buClr>
                <a:schemeClr val="lt1"/>
              </a:buClr>
              <a:buSzPct val="66666"/>
              <a:buFont typeface="Times New Roman"/>
              <a:buChar char="•"/>
            </a:pPr>
            <a:r>
              <a:rPr lang="en">
                <a:solidFill>
                  <a:schemeClr val="lt1"/>
                </a:solidFill>
                <a:latin typeface="Times New Roman"/>
                <a:ea typeface="Times New Roman"/>
                <a:cs typeface="Times New Roman"/>
                <a:sym typeface="Times New Roman"/>
              </a:rPr>
              <a:t>A JUDGEMENT frame contains roles such as a JUDGE, EVALUEE, and REASON.</a:t>
            </a:r>
            <a:endParaRPr>
              <a:solidFill>
                <a:schemeClr val="lt1"/>
              </a:solidFill>
              <a:latin typeface="Times New Roman"/>
              <a:ea typeface="Times New Roman"/>
              <a:cs typeface="Times New Roman"/>
              <a:sym typeface="Times New Roman"/>
            </a:endParaRPr>
          </a:p>
          <a:p>
            <a:pPr marL="457200" lvl="0" indent="-290830" algn="l" rtl="0">
              <a:lnSpc>
                <a:spcPct val="90000"/>
              </a:lnSpc>
              <a:spcBef>
                <a:spcPts val="1000"/>
              </a:spcBef>
              <a:spcAft>
                <a:spcPts val="0"/>
              </a:spcAft>
              <a:buClr>
                <a:schemeClr val="lt1"/>
              </a:buClr>
              <a:buSzPct val="66666"/>
              <a:buFont typeface="Times New Roman"/>
              <a:buChar char="•"/>
            </a:pPr>
            <a:r>
              <a:rPr lang="en">
                <a:solidFill>
                  <a:schemeClr val="lt1"/>
                </a:solidFill>
                <a:latin typeface="Times New Roman"/>
                <a:ea typeface="Times New Roman"/>
                <a:cs typeface="Times New Roman"/>
                <a:sym typeface="Times New Roman"/>
              </a:rPr>
              <a:t>Example:</a:t>
            </a:r>
            <a:endParaRPr>
              <a:solidFill>
                <a:schemeClr val="lt1"/>
              </a:solidFill>
              <a:latin typeface="Times New Roman"/>
              <a:ea typeface="Times New Roman"/>
              <a:cs typeface="Times New Roman"/>
              <a:sym typeface="Times New Roman"/>
            </a:endParaRPr>
          </a:p>
          <a:p>
            <a:pPr marL="914400" lvl="1" indent="-290830" algn="l" rtl="0">
              <a:lnSpc>
                <a:spcPct val="90000"/>
              </a:lnSpc>
              <a:spcBef>
                <a:spcPts val="1000"/>
              </a:spcBef>
              <a:spcAft>
                <a:spcPts val="0"/>
              </a:spcAft>
              <a:buClr>
                <a:srgbClr val="FFFF00"/>
              </a:buClr>
              <a:buSzPct val="77777"/>
              <a:buFont typeface="Times New Roman"/>
              <a:buChar char="•"/>
            </a:pPr>
            <a:r>
              <a:rPr lang="en" b="1">
                <a:solidFill>
                  <a:srgbClr val="FFFF00"/>
                </a:solidFill>
                <a:latin typeface="Times New Roman"/>
                <a:ea typeface="Times New Roman"/>
                <a:cs typeface="Times New Roman"/>
                <a:sym typeface="Times New Roman"/>
              </a:rPr>
              <a:t>[</a:t>
            </a:r>
            <a:r>
              <a:rPr lang="en" b="1" baseline="-25000">
                <a:solidFill>
                  <a:srgbClr val="FFFF00"/>
                </a:solidFill>
                <a:latin typeface="Times New Roman"/>
                <a:ea typeface="Times New Roman"/>
                <a:cs typeface="Times New Roman"/>
                <a:sym typeface="Times New Roman"/>
              </a:rPr>
              <a:t>judge</a:t>
            </a:r>
            <a:r>
              <a:rPr lang="en" b="1">
                <a:solidFill>
                  <a:srgbClr val="FFFF00"/>
                </a:solidFill>
                <a:latin typeface="Times New Roman"/>
                <a:ea typeface="Times New Roman"/>
                <a:cs typeface="Times New Roman"/>
                <a:sym typeface="Times New Roman"/>
              </a:rPr>
              <a:t> She] [</a:t>
            </a:r>
            <a:r>
              <a:rPr lang="en" b="1" baseline="-25000">
                <a:solidFill>
                  <a:srgbClr val="FFFF00"/>
                </a:solidFill>
                <a:latin typeface="Times New Roman"/>
                <a:ea typeface="Times New Roman"/>
                <a:cs typeface="Times New Roman"/>
                <a:sym typeface="Times New Roman"/>
              </a:rPr>
              <a:t>Evaluee</a:t>
            </a:r>
            <a:r>
              <a:rPr lang="en" b="1">
                <a:solidFill>
                  <a:srgbClr val="FFFF00"/>
                </a:solidFill>
                <a:latin typeface="Times New Roman"/>
                <a:ea typeface="Times New Roman"/>
                <a:cs typeface="Times New Roman"/>
                <a:sym typeface="Times New Roman"/>
              </a:rPr>
              <a:t> blames the police] [ </a:t>
            </a:r>
            <a:r>
              <a:rPr lang="en" b="1" baseline="-25000">
                <a:solidFill>
                  <a:srgbClr val="FFFF00"/>
                </a:solidFill>
                <a:latin typeface="Times New Roman"/>
                <a:ea typeface="Times New Roman"/>
                <a:cs typeface="Times New Roman"/>
                <a:sym typeface="Times New Roman"/>
              </a:rPr>
              <a:t>Reason </a:t>
            </a:r>
            <a:r>
              <a:rPr lang="en" b="1">
                <a:solidFill>
                  <a:srgbClr val="FFFF00"/>
                </a:solidFill>
                <a:latin typeface="Times New Roman"/>
                <a:ea typeface="Times New Roman"/>
                <a:cs typeface="Times New Roman"/>
                <a:sym typeface="Times New Roman"/>
              </a:rPr>
              <a:t>for failing to provide enough protection].</a:t>
            </a:r>
            <a:endParaRPr b="1">
              <a:solidFill>
                <a:srgbClr val="FFFF00"/>
              </a:solidFill>
              <a:latin typeface="Times New Roman"/>
              <a:ea typeface="Times New Roman"/>
              <a:cs typeface="Times New Roman"/>
              <a:sym typeface="Times New Roman"/>
            </a:endParaRPr>
          </a:p>
          <a:p>
            <a:pPr marL="457200" lvl="0" indent="-290830" algn="l" rtl="0">
              <a:lnSpc>
                <a:spcPct val="90000"/>
              </a:lnSpc>
              <a:spcBef>
                <a:spcPts val="1000"/>
              </a:spcBef>
              <a:spcAft>
                <a:spcPts val="0"/>
              </a:spcAft>
              <a:buClr>
                <a:schemeClr val="lt1"/>
              </a:buClr>
              <a:buSzPct val="66666"/>
              <a:buFont typeface="Times New Roman"/>
              <a:buChar char="•"/>
            </a:pPr>
            <a:r>
              <a:rPr lang="en">
                <a:solidFill>
                  <a:schemeClr val="lt1"/>
                </a:solidFill>
                <a:latin typeface="Times New Roman"/>
                <a:ea typeface="Times New Roman"/>
                <a:cs typeface="Times New Roman"/>
                <a:sym typeface="Times New Roman"/>
              </a:rPr>
              <a:t>A frame may inherit roles from another frame. Eg., a STATEMENT frame may inherit from a COMMUNICATION frame, it contains roles such as SPEAKER, ADDRESSEE, and MESSAGE.</a:t>
            </a:r>
            <a:endParaRPr>
              <a:solidFill>
                <a:schemeClr val="lt1"/>
              </a:solidFill>
              <a:latin typeface="Times New Roman"/>
              <a:ea typeface="Times New Roman"/>
              <a:cs typeface="Times New Roman"/>
              <a:sym typeface="Times New Roman"/>
            </a:endParaRPr>
          </a:p>
          <a:p>
            <a:pPr marL="457200" lvl="0" indent="-290830" algn="l" rtl="0">
              <a:lnSpc>
                <a:spcPct val="90000"/>
              </a:lnSpc>
              <a:spcBef>
                <a:spcPts val="1000"/>
              </a:spcBef>
              <a:spcAft>
                <a:spcPts val="0"/>
              </a:spcAft>
              <a:buClr>
                <a:schemeClr val="lt1"/>
              </a:buClr>
              <a:buSzPct val="66666"/>
              <a:buFont typeface="Times New Roman"/>
              <a:buChar char="•"/>
            </a:pPr>
            <a:r>
              <a:rPr lang="en">
                <a:solidFill>
                  <a:schemeClr val="lt1"/>
                </a:solidFill>
                <a:latin typeface="Times New Roman"/>
                <a:ea typeface="Times New Roman"/>
                <a:cs typeface="Times New Roman"/>
                <a:sym typeface="Times New Roman"/>
              </a:rPr>
              <a:t>Example:</a:t>
            </a:r>
            <a:endParaRPr>
              <a:solidFill>
                <a:schemeClr val="lt1"/>
              </a:solidFill>
              <a:latin typeface="Times New Roman"/>
              <a:ea typeface="Times New Roman"/>
              <a:cs typeface="Times New Roman"/>
              <a:sym typeface="Times New Roman"/>
            </a:endParaRPr>
          </a:p>
          <a:p>
            <a:pPr marL="914400" lvl="1" indent="-290830" algn="l" rtl="0">
              <a:lnSpc>
                <a:spcPct val="90000"/>
              </a:lnSpc>
              <a:spcBef>
                <a:spcPts val="1000"/>
              </a:spcBef>
              <a:spcAft>
                <a:spcPts val="1000"/>
              </a:spcAft>
              <a:buClr>
                <a:srgbClr val="FFFF00"/>
              </a:buClr>
              <a:buSzPct val="77777"/>
              <a:buFont typeface="Times New Roman"/>
              <a:buChar char="•"/>
            </a:pPr>
            <a:r>
              <a:rPr lang="en" b="1">
                <a:solidFill>
                  <a:srgbClr val="FFFF00"/>
                </a:solidFill>
                <a:latin typeface="Times New Roman"/>
                <a:ea typeface="Times New Roman"/>
                <a:cs typeface="Times New Roman"/>
                <a:sym typeface="Times New Roman"/>
              </a:rPr>
              <a:t>[</a:t>
            </a:r>
            <a:r>
              <a:rPr lang="en" b="1" baseline="-25000">
                <a:solidFill>
                  <a:srgbClr val="FFFF00"/>
                </a:solidFill>
                <a:latin typeface="Times New Roman"/>
                <a:ea typeface="Times New Roman"/>
                <a:cs typeface="Times New Roman"/>
                <a:sym typeface="Times New Roman"/>
              </a:rPr>
              <a:t>Speaker</a:t>
            </a:r>
            <a:r>
              <a:rPr lang="en" b="1">
                <a:solidFill>
                  <a:srgbClr val="FFFF00"/>
                </a:solidFill>
                <a:latin typeface="Times New Roman"/>
                <a:ea typeface="Times New Roman"/>
                <a:cs typeface="Times New Roman"/>
                <a:sym typeface="Times New Roman"/>
              </a:rPr>
              <a:t> She] told [</a:t>
            </a:r>
            <a:r>
              <a:rPr lang="en" b="1" baseline="-25000">
                <a:solidFill>
                  <a:srgbClr val="FFFF00"/>
                </a:solidFill>
                <a:latin typeface="Times New Roman"/>
                <a:ea typeface="Times New Roman"/>
                <a:cs typeface="Times New Roman"/>
                <a:sym typeface="Times New Roman"/>
              </a:rPr>
              <a:t>Addressee</a:t>
            </a:r>
            <a:r>
              <a:rPr lang="en" b="1">
                <a:solidFill>
                  <a:srgbClr val="FFFF00"/>
                </a:solidFill>
                <a:latin typeface="Times New Roman"/>
                <a:ea typeface="Times New Roman"/>
                <a:cs typeface="Times New Roman"/>
                <a:sym typeface="Times New Roman"/>
              </a:rPr>
              <a:t> me] [</a:t>
            </a:r>
            <a:r>
              <a:rPr lang="en" b="1" baseline="-25000">
                <a:solidFill>
                  <a:srgbClr val="FFFF00"/>
                </a:solidFill>
                <a:latin typeface="Times New Roman"/>
                <a:ea typeface="Times New Roman"/>
                <a:cs typeface="Times New Roman"/>
                <a:sym typeface="Times New Roman"/>
              </a:rPr>
              <a:t>Message</a:t>
            </a:r>
            <a:r>
              <a:rPr lang="en" b="1">
                <a:solidFill>
                  <a:srgbClr val="FFFF00"/>
                </a:solidFill>
                <a:latin typeface="Times New Roman"/>
                <a:ea typeface="Times New Roman"/>
                <a:cs typeface="Times New Roman"/>
                <a:sym typeface="Times New Roman"/>
              </a:rPr>
              <a:t> ‘I’ll return by 7:00 pm today’].</a:t>
            </a:r>
            <a:endParaRPr b="1">
              <a:solidFill>
                <a:srgbClr val="FFFF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75"/>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FrameNet APPLICATIONS</a:t>
            </a:r>
            <a:endParaRPr/>
          </a:p>
        </p:txBody>
      </p:sp>
      <p:sp>
        <p:nvSpPr>
          <p:cNvPr id="722" name="Google Shape;722;p75"/>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rmAutofit/>
          </a:bodyPr>
          <a:lstStyle/>
          <a:p>
            <a:pPr marL="457200" lvl="0" indent="-342900" algn="l" rtl="0">
              <a:lnSpc>
                <a:spcPct val="9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FrameNet data can be used for</a:t>
            </a:r>
            <a:endParaRPr sz="1800">
              <a:solidFill>
                <a:schemeClr val="lt1"/>
              </a:solidFill>
              <a:latin typeface="Times New Roman"/>
              <a:ea typeface="Times New Roman"/>
              <a:cs typeface="Times New Roman"/>
              <a:sym typeface="Times New Roman"/>
            </a:endParaRPr>
          </a:p>
          <a:p>
            <a:pPr marL="914400" lvl="1" indent="-342900" algn="l" rtl="0">
              <a:lnSpc>
                <a:spcPct val="90000"/>
              </a:lnSpc>
              <a:spcBef>
                <a:spcPts val="1000"/>
              </a:spcBef>
              <a:spcAft>
                <a:spcPts val="0"/>
              </a:spcAft>
              <a:buClr>
                <a:schemeClr val="lt1"/>
              </a:buClr>
              <a:buSzPts val="1800"/>
              <a:buFont typeface="Times New Roman"/>
              <a:buChar char="•"/>
            </a:pPr>
            <a:r>
              <a:rPr lang="en">
                <a:solidFill>
                  <a:schemeClr val="lt1"/>
                </a:solidFill>
                <a:latin typeface="Times New Roman"/>
                <a:ea typeface="Times New Roman"/>
                <a:cs typeface="Times New Roman"/>
                <a:sym typeface="Times New Roman"/>
              </a:rPr>
              <a:t>Automatic semantic parsing</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Information extraction</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Question answering system</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Information retrieval</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Machine translation</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Text summarization</a:t>
            </a:r>
            <a:endParaRPr>
              <a:solidFill>
                <a:schemeClr val="lt1"/>
              </a:solidFill>
              <a:latin typeface="Times New Roman"/>
              <a:ea typeface="Times New Roman"/>
              <a:cs typeface="Times New Roman"/>
              <a:sym typeface="Times New Roman"/>
            </a:endParaRPr>
          </a:p>
          <a:p>
            <a:pPr marL="914400" lvl="1" indent="-317500" algn="l" rtl="0">
              <a:lnSpc>
                <a:spcPct val="90000"/>
              </a:lnSpc>
              <a:spcBef>
                <a:spcPts val="1000"/>
              </a:spcBef>
              <a:spcAft>
                <a:spcPts val="1000"/>
              </a:spcAft>
              <a:buClr>
                <a:schemeClr val="lt1"/>
              </a:buClr>
              <a:buSzPts val="1400"/>
              <a:buFont typeface="Times New Roman"/>
              <a:buChar char="•"/>
            </a:pPr>
            <a:r>
              <a:rPr lang="en">
                <a:solidFill>
                  <a:schemeClr val="lt1"/>
                </a:solidFill>
                <a:latin typeface="Times New Roman"/>
                <a:ea typeface="Times New Roman"/>
                <a:cs typeface="Times New Roman"/>
                <a:sym typeface="Times New Roman"/>
              </a:rPr>
              <a:t>Word sense disambiguation</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6"/>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STEMMERS</a:t>
            </a:r>
            <a:endParaRPr/>
          </a:p>
        </p:txBody>
      </p:sp>
      <p:sp>
        <p:nvSpPr>
          <p:cNvPr id="728" name="Google Shape;728;p76"/>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rmAutofit/>
          </a:bodyPr>
          <a:lstStyle/>
          <a:p>
            <a:pPr marL="457200" lvl="0" indent="-342900" algn="l" rtl="0">
              <a:lnSpc>
                <a:spcPct val="9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Stemming or conflation is the process of reducing inflected words to their base or root form. </a:t>
            </a:r>
            <a:endParaRPr sz="1800">
              <a:solidFill>
                <a:schemeClr val="lt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The stem need not be identical to the morphological base of the word.</a:t>
            </a:r>
            <a:endParaRPr sz="1800">
              <a:solidFill>
                <a:schemeClr val="lt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It is sufficient if related words map to the same stem, even if the stem is not in itself a valid root.</a:t>
            </a:r>
            <a:endParaRPr sz="1800">
              <a:solidFill>
                <a:schemeClr val="lt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Stemming is useful in search engines for query expansion or indexing.</a:t>
            </a:r>
            <a:endParaRPr sz="1800">
              <a:solidFill>
                <a:schemeClr val="lt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Stemming programs are commonly referred to as stemmers.</a:t>
            </a:r>
            <a:endParaRPr sz="1800">
              <a:solidFill>
                <a:schemeClr val="lt1"/>
              </a:solidFill>
              <a:latin typeface="Times New Roman"/>
              <a:ea typeface="Times New Roman"/>
              <a:cs typeface="Times New Roman"/>
              <a:sym typeface="Times New Roman"/>
            </a:endParaRPr>
          </a:p>
          <a:p>
            <a:pPr marL="457200" lvl="0" indent="-342900" algn="l" rtl="0">
              <a:lnSpc>
                <a:spcPct val="90000"/>
              </a:lnSpc>
              <a:spcBef>
                <a:spcPts val="1000"/>
              </a:spcBef>
              <a:spcAft>
                <a:spcPts val="100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The most common algorithm for stemming English is Porter’s algorithm, other stemmers are Lovins stemmer and Paice/Husk stemmer.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77"/>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STEMMERS </a:t>
            </a:r>
            <a:endParaRPr/>
          </a:p>
        </p:txBody>
      </p:sp>
      <p:sp>
        <p:nvSpPr>
          <p:cNvPr id="734" name="Google Shape;734;p77"/>
          <p:cNvSpPr txBox="1">
            <a:spLocks noGrp="1"/>
          </p:cNvSpPr>
          <p:nvPr>
            <p:ph type="body" idx="1"/>
          </p:nvPr>
        </p:nvSpPr>
        <p:spPr>
          <a:xfrm>
            <a:off x="545850" y="807485"/>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Autofit/>
          </a:bodyPr>
          <a:lstStyle/>
          <a:p>
            <a:pPr marL="457200" lvl="0" indent="-330200" algn="l" rtl="0">
              <a:lnSpc>
                <a:spcPct val="90000"/>
              </a:lnSpc>
              <a:spcBef>
                <a:spcPts val="0"/>
              </a:spcBef>
              <a:spcAft>
                <a:spcPts val="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Stemmers for European Languages:</a:t>
            </a:r>
            <a:endParaRPr sz="1600" b="1">
              <a:solidFill>
                <a:srgbClr val="FFFF00"/>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Snowball presents stemmers for English, Russian and a number of other European languages, including French, Spanish, Portuguese, Hungarian, Italian, German, Dutch, Swedish, Norwegian, Danish and Finnish.</a:t>
            </a:r>
            <a:endParaRPr sz="1600">
              <a:solidFill>
                <a:schemeClr val="lt1"/>
              </a:solidFill>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Stemmers for Indian Languages:</a:t>
            </a:r>
            <a:endParaRPr sz="1600" b="1">
              <a:solidFill>
                <a:srgbClr val="FFFF00"/>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The Resource Centre of Indian Language Technology (CFILT), IIT Bombay has developed stemmers for Indian languages, which are available at </a:t>
            </a:r>
            <a:r>
              <a:rPr lang="en" sz="1600" u="sng">
                <a:solidFill>
                  <a:schemeClr val="hlink"/>
                </a:solidFill>
                <a:latin typeface="Times New Roman"/>
                <a:ea typeface="Times New Roman"/>
                <a:cs typeface="Times New Roman"/>
                <a:sym typeface="Times New Roman"/>
                <a:hlinkClick r:id="rId3"/>
              </a:rPr>
              <a:t>http://www.cfilt.iitb.ac.in</a:t>
            </a:r>
            <a:endParaRPr sz="1600">
              <a:solidFill>
                <a:schemeClr val="lt1"/>
              </a:solidFill>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Stemming Application:</a:t>
            </a:r>
            <a:endParaRPr sz="1600" b="1">
              <a:solidFill>
                <a:srgbClr val="FFFF00"/>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Stemmers are used in</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Web search engines</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Text summarization</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100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Text categorization</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78"/>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PART-OF-SPEECH TAGGER</a:t>
            </a:r>
            <a:endParaRPr/>
          </a:p>
        </p:txBody>
      </p:sp>
      <p:sp>
        <p:nvSpPr>
          <p:cNvPr id="740" name="Google Shape;740;p78"/>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Autofit/>
          </a:bodyPr>
          <a:lstStyle/>
          <a:p>
            <a:pPr marL="457200" lvl="0" indent="-330200" algn="l" rtl="0">
              <a:lnSpc>
                <a:spcPct val="9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Part-of-Speech tagging is used at an early stage of text processing in many NLP application such as</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Speech synthesis</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Machine translation</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Information Retrieval</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Information extraction</a:t>
            </a:r>
            <a:endParaRPr sz="1600">
              <a:solidFill>
                <a:schemeClr val="lt1"/>
              </a:solidFill>
              <a:latin typeface="Times New Roman"/>
              <a:ea typeface="Times New Roman"/>
              <a:cs typeface="Times New Roman"/>
              <a:sym typeface="Times New Roman"/>
            </a:endParaRPr>
          </a:p>
          <a:p>
            <a:pPr marL="0" lvl="0" indent="0" algn="l" rtl="0">
              <a:lnSpc>
                <a:spcPct val="90000"/>
              </a:lnSpc>
              <a:spcBef>
                <a:spcPts val="1000"/>
              </a:spcBef>
              <a:spcAft>
                <a:spcPts val="1000"/>
              </a:spcAft>
              <a:buSzPts val="1400"/>
              <a:buNone/>
            </a:pP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79"/>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PART-OF-SPEECH TAGGER</a:t>
            </a:r>
            <a:endParaRPr/>
          </a:p>
        </p:txBody>
      </p:sp>
      <p:sp>
        <p:nvSpPr>
          <p:cNvPr id="746" name="Google Shape;746;p79"/>
          <p:cNvSpPr txBox="1">
            <a:spLocks noGrp="1"/>
          </p:cNvSpPr>
          <p:nvPr>
            <p:ph type="body" idx="1"/>
          </p:nvPr>
        </p:nvSpPr>
        <p:spPr>
          <a:xfrm>
            <a:off x="545838" y="832972"/>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Autofit/>
          </a:bodyPr>
          <a:lstStyle/>
          <a:p>
            <a:pPr marL="457200" lvl="0" indent="-330200" algn="l" rtl="0">
              <a:lnSpc>
                <a:spcPct val="90000"/>
              </a:lnSpc>
              <a:spcBef>
                <a:spcPts val="0"/>
              </a:spcBef>
              <a:spcAft>
                <a:spcPts val="0"/>
              </a:spcAft>
              <a:buClr>
                <a:srgbClr val="FFFF00"/>
              </a:buClr>
              <a:buSzPts val="1600"/>
              <a:buFont typeface="Times New Roman"/>
              <a:buChar char="•"/>
            </a:pPr>
            <a:r>
              <a:rPr lang="en" sz="1600" b="1">
                <a:solidFill>
                  <a:srgbClr val="FFFF00"/>
                </a:solidFill>
                <a:latin typeface="Times New Roman"/>
                <a:ea typeface="Times New Roman"/>
                <a:cs typeface="Times New Roman"/>
                <a:sym typeface="Times New Roman"/>
              </a:rPr>
              <a:t>Various part-of-speech taggers are -</a:t>
            </a:r>
            <a:endParaRPr sz="1600" b="1">
              <a:solidFill>
                <a:srgbClr val="FFFF00"/>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rgbClr val="FFFF00"/>
              </a:buClr>
              <a:buSzPts val="1600"/>
              <a:buFont typeface="Times New Roman"/>
              <a:buChar char="•"/>
            </a:pPr>
            <a:r>
              <a:rPr lang="en" sz="1600">
                <a:solidFill>
                  <a:schemeClr val="lt1"/>
                </a:solidFill>
                <a:latin typeface="Times New Roman"/>
                <a:ea typeface="Times New Roman"/>
                <a:cs typeface="Times New Roman"/>
                <a:sym typeface="Times New Roman"/>
              </a:rPr>
              <a:t>Stanford Log-linear Part-of Speech (POS) Tagger</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Part-of-Speech Tagger for English</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TnT Tagger</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Brill Tagger</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CLAWS Part-of-Speech Tagger for English</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Tree-Tagger</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ACOPOST - A Collection of POS Taggers</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Maximum Entropy Tagger (MET)</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Trigram Tagger (T3)</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Error-driven Transformation-based Tagger (TBT)</a:t>
            </a:r>
            <a:endParaRPr sz="1600">
              <a:solidFill>
                <a:schemeClr val="lt1"/>
              </a:solidFill>
              <a:latin typeface="Times New Roman"/>
              <a:ea typeface="Times New Roman"/>
              <a:cs typeface="Times New Roman"/>
              <a:sym typeface="Times New Roman"/>
            </a:endParaRPr>
          </a:p>
          <a:p>
            <a:pPr marL="1371600" lvl="2" indent="-330200" algn="l" rtl="0">
              <a:lnSpc>
                <a:spcPct val="90000"/>
              </a:lnSpc>
              <a:spcBef>
                <a:spcPts val="1000"/>
              </a:spcBef>
              <a:spcAft>
                <a:spcPts val="100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Example-based Tagger (ET)</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80"/>
          <p:cNvSpPr txBox="1">
            <a:spLocks noGrp="1"/>
          </p:cNvSpPr>
          <p:nvPr>
            <p:ph type="title"/>
          </p:nvPr>
        </p:nvSpPr>
        <p:spPr>
          <a:xfrm>
            <a:off x="628650" y="273849"/>
            <a:ext cx="7886700" cy="286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37940"/>
              <a:buNone/>
            </a:pPr>
            <a:r>
              <a:rPr lang="en"/>
              <a:t>RESEARCH CORPORA</a:t>
            </a:r>
            <a:endParaRPr/>
          </a:p>
        </p:txBody>
      </p:sp>
      <p:sp>
        <p:nvSpPr>
          <p:cNvPr id="752" name="Google Shape;752;p80"/>
          <p:cNvSpPr txBox="1">
            <a:spLocks noGrp="1"/>
          </p:cNvSpPr>
          <p:nvPr>
            <p:ph type="body" idx="1"/>
          </p:nvPr>
        </p:nvSpPr>
        <p:spPr>
          <a:xfrm>
            <a:off x="695500" y="683250"/>
            <a:ext cx="8052300" cy="4031400"/>
          </a:xfrm>
          <a:prstGeom prst="rect">
            <a:avLst/>
          </a:prstGeom>
          <a:noFill/>
          <a:ln w="9525" cap="flat" cmpd="sng">
            <a:solidFill>
              <a:srgbClr val="FFFF00"/>
            </a:solidFill>
            <a:prstDash val="solid"/>
            <a:round/>
            <a:headEnd type="none" w="sm" len="sm"/>
            <a:tailEnd type="none" w="sm" len="sm"/>
          </a:ln>
        </p:spPr>
        <p:txBody>
          <a:bodyPr spcFirstLastPara="1" wrap="square" lIns="68575" tIns="34275" rIns="68575" bIns="34275" anchor="ctr" anchorCtr="0">
            <a:noAutofit/>
          </a:bodyPr>
          <a:lstStyle/>
          <a:p>
            <a:pPr marL="457200" lvl="0" indent="-330200" algn="l" rtl="0">
              <a:lnSpc>
                <a:spcPct val="9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Research carpora is developed for a number of NLP related tasks. </a:t>
            </a:r>
            <a:endParaRPr sz="1600">
              <a:solidFill>
                <a:schemeClr val="lt1"/>
              </a:solidFill>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Following are the available standard document collections -</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IR Test Collection</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Summarization Data</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Word Sense Disambiguation</a:t>
            </a:r>
            <a:endParaRPr sz="1600">
              <a:solidFill>
                <a:schemeClr val="lt1"/>
              </a:solidFill>
              <a:latin typeface="Times New Roman"/>
              <a:ea typeface="Times New Roman"/>
              <a:cs typeface="Times New Roman"/>
              <a:sym typeface="Times New Roman"/>
            </a:endParaRPr>
          </a:p>
          <a:p>
            <a:pPr marL="914400" lvl="1" indent="-330200" algn="l" rtl="0">
              <a:lnSpc>
                <a:spcPct val="90000"/>
              </a:lnSpc>
              <a:spcBef>
                <a:spcPts val="10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Asian Language Corpora</a:t>
            </a:r>
            <a:endParaRPr sz="1600">
              <a:solidFill>
                <a:schemeClr val="lt1"/>
              </a:solidFill>
              <a:latin typeface="Times New Roman"/>
              <a:ea typeface="Times New Roman"/>
              <a:cs typeface="Times New Roman"/>
              <a:sym typeface="Times New Roman"/>
            </a:endParaRPr>
          </a:p>
          <a:p>
            <a:pPr marL="457200" lvl="0" indent="0" algn="l" rtl="0">
              <a:lnSpc>
                <a:spcPct val="90000"/>
              </a:lnSpc>
              <a:spcBef>
                <a:spcPts val="1000"/>
              </a:spcBef>
              <a:spcAft>
                <a:spcPts val="1000"/>
              </a:spcAft>
              <a:buSzPts val="1400"/>
              <a:buNone/>
            </a:pP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Depth">
  <a:themeElements>
    <a:clrScheme name="Depth">
      <a:dk1>
        <a:srgbClr val="000000"/>
      </a:dk1>
      <a:lt1>
        <a:srgbClr val="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729</TotalTime>
  <Words>8479</Words>
  <Application>Microsoft Office PowerPoint</Application>
  <PresentationFormat>On-screen Show (16:9)</PresentationFormat>
  <Paragraphs>740</Paragraphs>
  <Slides>85</Slides>
  <Notes>85</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85</vt:i4>
      </vt:variant>
    </vt:vector>
  </HeadingPairs>
  <TitlesOfParts>
    <vt:vector size="91" baseType="lpstr">
      <vt:lpstr>Arial</vt:lpstr>
      <vt:lpstr>Noto Sans</vt:lpstr>
      <vt:lpstr>Corbel</vt:lpstr>
      <vt:lpstr>Times New Roman</vt:lpstr>
      <vt:lpstr>Depth</vt:lpstr>
      <vt:lpstr>Simple Light</vt:lpstr>
      <vt:lpstr>MODULE 5 </vt:lpstr>
      <vt:lpstr>Introduction</vt:lpstr>
      <vt:lpstr>Introduction</vt:lpstr>
      <vt:lpstr>Design Features of Information Retrieval Systems</vt:lpstr>
      <vt:lpstr>Design Features of Information Retrieval Systems</vt:lpstr>
      <vt:lpstr>Design Features of Information Retrieval Systems</vt:lpstr>
      <vt:lpstr>Design Features of Information Retrieval Systems </vt:lpstr>
      <vt:lpstr>Indexing</vt:lpstr>
      <vt:lpstr>Indexing</vt:lpstr>
      <vt:lpstr>Indexing</vt:lpstr>
      <vt:lpstr>Eliminating Stop Words</vt:lpstr>
      <vt:lpstr>Advantages and Disadvantages of Eliminating Stop words</vt:lpstr>
      <vt:lpstr>Sample Stop Words in English</vt:lpstr>
      <vt:lpstr>Stemming</vt:lpstr>
      <vt:lpstr>Advantages and Disadvantages of Stemming</vt:lpstr>
      <vt:lpstr>Precision and Recall</vt:lpstr>
      <vt:lpstr>IR System</vt:lpstr>
      <vt:lpstr>Zipf’s Law</vt:lpstr>
      <vt:lpstr>Application of Zipf’s Law in Stop Word Elimination</vt:lpstr>
      <vt:lpstr>Information Retrieval Models</vt:lpstr>
      <vt:lpstr>Classical models of IR </vt:lpstr>
      <vt:lpstr>Non-classical Models of IR </vt:lpstr>
      <vt:lpstr>Alternative Models of IR</vt:lpstr>
      <vt:lpstr>Classical IR Models - Boolean Model</vt:lpstr>
      <vt:lpstr>Boolean Model</vt:lpstr>
      <vt:lpstr>Boolean Model - Example 1:</vt:lpstr>
      <vt:lpstr>Boolean Model - Example 2</vt:lpstr>
      <vt:lpstr>Boolean Model - Advantages and Disadvantages</vt:lpstr>
      <vt:lpstr>Probabilistic model</vt:lpstr>
      <vt:lpstr>Probabilistic Model - Advantages and Disadvantages</vt:lpstr>
      <vt:lpstr>Vector space model</vt:lpstr>
      <vt:lpstr>PowerPoint Presentation</vt:lpstr>
      <vt:lpstr>Example:</vt:lpstr>
      <vt:lpstr>Term Weighting</vt:lpstr>
      <vt:lpstr>Term Weighting</vt:lpstr>
      <vt:lpstr>Term Weighting</vt:lpstr>
      <vt:lpstr>Term Weighting - Example</vt:lpstr>
      <vt:lpstr>Weighting Schemes</vt:lpstr>
      <vt:lpstr>Weighting Schemes</vt:lpstr>
      <vt:lpstr>Simple automatic method for indexing</vt:lpstr>
      <vt:lpstr>Simple automatic method for indexing</vt:lpstr>
      <vt:lpstr>Non-classical models of IR</vt:lpstr>
      <vt:lpstr>Non-classical models of IR</vt:lpstr>
      <vt:lpstr>Non-classical models of IR</vt:lpstr>
      <vt:lpstr>Non-classical models of IR</vt:lpstr>
      <vt:lpstr>Alternative Models of IR</vt:lpstr>
      <vt:lpstr>Cluster Model</vt:lpstr>
      <vt:lpstr>Cluster Model</vt:lpstr>
      <vt:lpstr>Cluster Model</vt:lpstr>
      <vt:lpstr>Cluster Model - Example</vt:lpstr>
      <vt:lpstr>Fuzzy Model</vt:lpstr>
      <vt:lpstr>Fuzzy Model</vt:lpstr>
      <vt:lpstr>Fuzzy Model</vt:lpstr>
      <vt:lpstr>Fuzzy Model - Example</vt:lpstr>
      <vt:lpstr>Latent Semantic Indexing Model </vt:lpstr>
      <vt:lpstr>Evaluation of IR System</vt:lpstr>
      <vt:lpstr>Relevance</vt:lpstr>
      <vt:lpstr>Effectiveness Measure</vt:lpstr>
      <vt:lpstr>Precision and Recall</vt:lpstr>
      <vt:lpstr>Precision and Recall</vt:lpstr>
      <vt:lpstr>Precision and Recall</vt:lpstr>
      <vt:lpstr>Precision and Recall</vt:lpstr>
      <vt:lpstr>Trade off between precision and recall</vt:lpstr>
      <vt:lpstr>Non-interpolated Average Precision</vt:lpstr>
      <vt:lpstr>Example: To compute Non-interpolated Average Precision</vt:lpstr>
      <vt:lpstr>Example to compute Non-interpolated Average Precision</vt:lpstr>
      <vt:lpstr>Example to compute Non-interpolated Average Precision</vt:lpstr>
      <vt:lpstr>Example to compute Non-interpolated Average Precision</vt:lpstr>
      <vt:lpstr>Lexical Resources</vt:lpstr>
      <vt:lpstr>WORDNET</vt:lpstr>
      <vt:lpstr>WORDNET</vt:lpstr>
      <vt:lpstr>WORDNET</vt:lpstr>
      <vt:lpstr>WORDNET</vt:lpstr>
      <vt:lpstr>WORDNET</vt:lpstr>
      <vt:lpstr>WORDNET</vt:lpstr>
      <vt:lpstr>WORDNET</vt:lpstr>
      <vt:lpstr>Application of WORDNET</vt:lpstr>
      <vt:lpstr>FRAMENET</vt:lpstr>
      <vt:lpstr>FRAMENET</vt:lpstr>
      <vt:lpstr>FrameNet APPLICATIONS</vt:lpstr>
      <vt:lpstr>STEMMERS</vt:lpstr>
      <vt:lpstr>STEMMERS </vt:lpstr>
      <vt:lpstr>PART-OF-SPEECH TAGGER</vt:lpstr>
      <vt:lpstr>PART-OF-SPEECH TAGGER</vt:lpstr>
      <vt:lpstr>RESEARCH CORPORA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dc:title>
  <cp:lastModifiedBy>mareddy charan</cp:lastModifiedBy>
  <cp:revision>6</cp:revision>
  <dcterms:modified xsi:type="dcterms:W3CDTF">2025-07-07T07:52:19Z</dcterms:modified>
</cp:coreProperties>
</file>
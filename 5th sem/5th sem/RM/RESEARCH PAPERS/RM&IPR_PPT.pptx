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66" r:id="rId4"/>
    <p:sldId id="258" r:id="rId5"/>
    <p:sldId id="267" r:id="rId6"/>
    <p:sldId id="259" r:id="rId7"/>
    <p:sldId id="268" r:id="rId8"/>
    <p:sldId id="260" r:id="rId9"/>
    <p:sldId id="269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>
        <p:scale>
          <a:sx n="119" d="100"/>
          <a:sy n="119" d="100"/>
        </p:scale>
        <p:origin x="-250" y="-5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28751"/>
            <a:ext cx="7543800" cy="1945481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429000"/>
            <a:ext cx="6461760" cy="8001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114800"/>
            <a:ext cx="7659687" cy="8763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889647"/>
            <a:ext cx="6135687" cy="122515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52144"/>
            <a:ext cx="3657600" cy="34427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152144"/>
            <a:ext cx="3657600" cy="34427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3657600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365760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151335"/>
            <a:ext cx="3657600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1631156"/>
            <a:ext cx="365760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4121658"/>
            <a:ext cx="7772400" cy="44577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4572000"/>
            <a:ext cx="7772401" cy="4572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285750"/>
            <a:ext cx="7772400" cy="370713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4121458"/>
            <a:ext cx="7772400" cy="445970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4572000"/>
            <a:ext cx="7772400" cy="45948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1752600" cy="4388644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6200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7620000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4114800"/>
            <a:ext cx="685800" cy="51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4236720"/>
            <a:ext cx="548640" cy="29718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882821" y="2990850"/>
            <a:ext cx="177546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56152" y="1188720"/>
            <a:ext cx="18287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12/27/2024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Vinayaka\Downloads\WhatsApp Image 2024-08-19 at 10.09.31 PM (1).jpe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0"/>
            <a:ext cx="7188200" cy="1353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14400" y="1276350"/>
            <a:ext cx="695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>
                <a:solidFill>
                  <a:srgbClr val="0070C0"/>
                </a:solidFill>
                <a:latin typeface="Berlin Sans FB Demi" pitchFamily="34" charset="0"/>
              </a:rPr>
              <a:t>Department of Artificial Intelligence and Data Science</a:t>
            </a:r>
            <a:endParaRPr lang="en-IN" sz="2000" b="1" dirty="0">
              <a:solidFill>
                <a:srgbClr val="0070C0"/>
              </a:solidFill>
              <a:latin typeface="Berlin Sans FB Dem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0600" y="1638240"/>
            <a:ext cx="695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>
                <a:solidFill>
                  <a:srgbClr val="C00000"/>
                </a:solidFill>
                <a:latin typeface="Berlin Sans FB Demi" pitchFamily="34" charset="0"/>
              </a:rPr>
              <a:t>Subject : Research Methodology and IPR</a:t>
            </a:r>
            <a:endParaRPr lang="en-IN" sz="2000" b="1" dirty="0">
              <a:solidFill>
                <a:srgbClr val="C00000"/>
              </a:solidFill>
              <a:latin typeface="Berlin Sans FB Demi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358153"/>
              </p:ext>
            </p:extLst>
          </p:nvPr>
        </p:nvGraphicFramePr>
        <p:xfrm>
          <a:off x="127355" y="2038350"/>
          <a:ext cx="8153400" cy="214884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914400"/>
                <a:gridCol w="7239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100" dirty="0" err="1" smtClean="0"/>
                        <a:t>Sl.No</a:t>
                      </a:r>
                      <a:endParaRPr lang="en-IN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 smtClean="0"/>
                        <a:t>Title of the paper</a:t>
                      </a:r>
                      <a:endParaRPr lang="en-IN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1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Application of </a:t>
                      </a:r>
                      <a:r>
                        <a:rPr lang="en-US" sz="1400" b="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Blockchain</a:t>
                      </a:r>
                      <a:r>
                        <a:rPr lang="en-US" sz="1400" b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Technology in Network Information Security</a:t>
                      </a:r>
                      <a:endParaRPr lang="en-IN" sz="1400" b="1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lang="en-IN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Research on Bid Evaluation Data Storage System Based on </a:t>
                      </a: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Blockchain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3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Validating the </a:t>
                      </a: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Blockchain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Benchmarking Framework Through Controlled Deployments of XRPL and </a:t>
                      </a: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Ethereum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lang="en-IN" sz="1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Medical Data Sharing Scheme Based on </a:t>
                      </a:r>
                      <a:r>
                        <a:rPr lang="en-US" sz="1400" kern="1200" dirty="0" err="1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Blockchain</a:t>
                      </a:r>
                      <a:r>
                        <a:rPr lang="en-US" sz="1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Attribute-based Searchable Encryption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7355" y="4289079"/>
            <a:ext cx="80772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Student Details:</a:t>
            </a:r>
          </a:p>
          <a:p>
            <a:r>
              <a:rPr lang="en-IN" sz="1100" dirty="0" smtClean="0"/>
              <a:t>MAREDDY CHARAN	1SJ22AD024</a:t>
            </a:r>
          </a:p>
          <a:p>
            <a:r>
              <a:rPr lang="en-IN" sz="1100" dirty="0" smtClean="0"/>
              <a:t>A CHETAN		1SJ22AD005</a:t>
            </a:r>
          </a:p>
          <a:p>
            <a:r>
              <a:rPr lang="en-IN" sz="1100" dirty="0" smtClean="0"/>
              <a:t>Y REVANTH		1SJ22AD063</a:t>
            </a:r>
          </a:p>
          <a:p>
            <a:r>
              <a:rPr lang="en-IN" sz="1100" dirty="0" smtClean="0"/>
              <a:t>M AKASH		1SJ22AD021</a:t>
            </a:r>
          </a:p>
        </p:txBody>
      </p:sp>
    </p:spTree>
    <p:extLst>
      <p:ext uri="{BB962C8B-B14F-4D97-AF65-F5344CB8AC3E}">
        <p14:creationId xmlns:p14="http://schemas.microsoft.com/office/powerpoint/2010/main" val="154356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of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in Network Information Security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71500" indent="-457200" algn="just">
              <a:buFont typeface="+mj-lt"/>
              <a:buAutoNum type="arabicPeriod"/>
            </a:pPr>
            <a:r>
              <a:rPr lang="en-IN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and Tools Used</a:t>
            </a:r>
            <a:r>
              <a:rPr lang="en-IN" sz="1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(distributed ledger, cryptography, smart contracts, consensus mechanisms).</a:t>
            </a:r>
          </a:p>
          <a:p>
            <a:pPr lvl="1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sensors, RFID, WSN, GIS, EPC code.</a:t>
            </a:r>
          </a:p>
          <a:p>
            <a:pPr lvl="1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systems for identity authentication.</a:t>
            </a:r>
          </a:p>
          <a:p>
            <a:pPr marL="571500" indent="-457200" algn="just">
              <a:buFont typeface="+mj-lt"/>
              <a:buAutoNum type="arabicPeriod"/>
            </a:pPr>
            <a:r>
              <a:rPr lang="en-IN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sz="1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traditional security models.</a:t>
            </a:r>
          </a:p>
          <a:p>
            <a:pPr lvl="1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cross-level security protection with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(application, network, transaction, and physical layers).</a:t>
            </a:r>
          </a:p>
          <a:p>
            <a:pPr lvl="1" algn="just"/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Analyses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using case studies, questionnaires, and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 Results and Outcomes</a:t>
            </a:r>
            <a:r>
              <a:rPr lang="en-US" sz="1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data integrity, traceability, and decentralized security.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supply chain transparency (e.g., O2O catering, food safety).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privacy protection with encrypted, tamper-proof records.</a:t>
            </a:r>
          </a:p>
          <a:p>
            <a:pPr marL="411480" lvl="1" indent="0" algn="just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72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in Network Information Security</a:t>
            </a:r>
            <a:r>
              <a:rPr lang="en-IN" sz="4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    Applications</a:t>
            </a: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protection with biometrics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supply chain management and traceability.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 through decentralized storage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IN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    </a:t>
            </a:r>
            <a:r>
              <a:rPr lang="en-IN" sz="21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Drawbacks </a:t>
            </a:r>
            <a:r>
              <a:rPr lang="en-IN" sz="21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Challenges</a:t>
            </a:r>
            <a:r>
              <a:rPr lang="en-IN" sz="2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for high transaction volumes.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standards 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interoperability.</a:t>
            </a:r>
          </a:p>
          <a:p>
            <a:pPr marL="114300" indent="0">
              <a:buNone/>
            </a:pPr>
            <a:r>
              <a:rPr lang="en-IN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    </a:t>
            </a:r>
            <a:r>
              <a:rPr lang="en-IN" sz="21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  <a:r>
              <a:rPr lang="en-IN" sz="21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r>
              <a:rPr lang="en-IN" sz="2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 energy-efficient consensus algorithms (e.g.,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hybrid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scalability and efficiency.</a:t>
            </a:r>
          </a:p>
          <a:p>
            <a:pPr marL="411480" lvl="1" indent="0">
              <a:buNone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72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Bid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Data Storage System Based on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71500" indent="-457200">
              <a:buFont typeface="+mj-lt"/>
              <a:buAutoNum type="arabicPeriod"/>
            </a:pP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and Tools Used:</a:t>
            </a:r>
          </a:p>
          <a:p>
            <a:pPr lvl="1" algn="just"/>
            <a:r>
              <a:rPr lang="en-IN" dirty="0"/>
              <a:t>  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Hyperledger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Fabric)</a:t>
            </a: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InterPlanetary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(IPFS)</a:t>
            </a: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Contracts, Raft Consensus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/>
            </a:pPr>
            <a:r>
              <a:rPr lang="en-IN" sz="2400" dirty="0" smtClean="0">
                <a:solidFill>
                  <a:schemeClr val="tx2"/>
                </a:solidFill>
              </a:rPr>
              <a:t> </a:t>
            </a:r>
            <a:r>
              <a:rPr lang="en-IN" sz="2400" dirty="0">
                <a:solidFill>
                  <a:schemeClr val="tx2"/>
                </a:solidFill>
              </a:rPr>
              <a:t>Methodology:</a:t>
            </a:r>
          </a:p>
          <a:p>
            <a:pPr lvl="1"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using IPFS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for data integrity and transparency.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back-end integration with Vue3, Node.js,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SpringBoot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Significant Results:</a:t>
            </a:r>
          </a:p>
          <a:p>
            <a:pPr lvl="1"/>
            <a:r>
              <a:rPr lang="en-US" dirty="0"/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Immutable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traceable bid evaluation data.</a:t>
            </a:r>
          </a:p>
          <a:p>
            <a:pPr>
              <a:buFontTx/>
              <a:buChar char="-"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3718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000" dirty="0" smtClean="0"/>
              <a:t> </a:t>
            </a:r>
            <a:r>
              <a:rPr lang="en-US" sz="3000" dirty="0"/>
              <a:t>Bid Evaluation Data Storage System Based on </a:t>
            </a:r>
            <a:r>
              <a:rPr lang="en-US" sz="3000" dirty="0" err="1"/>
              <a:t>Blockchain</a:t>
            </a:r>
            <a:endParaRPr lang="en-IN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and transparency.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under transaction testing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r>
              <a:rPr lang="en-US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   Applications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transparent e-bidding platforms.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public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supervision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and Limitations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fault tolerance in Raft consensus.</a:t>
            </a:r>
          </a:p>
          <a:p>
            <a:pPr lvl="1"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depends on IPFS availability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4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   Proposed </a:t>
            </a: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lvl="1"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Byzantine fault-tolerant algorithms.</a:t>
            </a:r>
          </a:p>
          <a:p>
            <a:pPr lvl="1" algn="just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nodes to ensure availability.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18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Validating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Benchmarking Framework (BBF)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857250" indent="-742950">
              <a:buFont typeface="+mj-lt"/>
              <a:buAutoNum type="arabicPeriod"/>
            </a:pPr>
            <a:r>
              <a:rPr lang="en-IN" sz="4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</a:t>
            </a:r>
            <a:r>
              <a:rPr lang="en-IN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Tools Used:</a:t>
            </a:r>
          </a:p>
          <a:p>
            <a:pPr lvl="1" algn="just"/>
            <a:r>
              <a:rPr lang="en-IN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Benchmarking Framework (BBF)</a:t>
            </a:r>
          </a:p>
          <a:p>
            <a:pPr lvl="1" algn="just"/>
            <a:r>
              <a:rPr lang="en-IN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Ripple 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XRP Ledger (XRPL) and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Ethereum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AWS EC2, Prometheus, </a:t>
            </a:r>
            <a:r>
              <a:rPr lang="en-IN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Grafana</a:t>
            </a:r>
            <a:endParaRPr lang="en-IN" sz="3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indent="-742950">
              <a:buFont typeface="+mj-lt"/>
              <a:buAutoNum type="arabicPeriod"/>
            </a:pPr>
            <a:r>
              <a:rPr lang="en-IN" sz="4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pPr lvl="1" algn="just"/>
            <a:r>
              <a:rPr lang="en-IN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deployments of XRPL and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Ethereum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IN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tests: double-spend attacks, node failure.</a:t>
            </a:r>
          </a:p>
          <a:p>
            <a:pPr lvl="1" algn="just"/>
            <a:r>
              <a:rPr lang="en-IN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BBF's Visual Analytics and Monitoring systems</a:t>
            </a:r>
            <a:r>
              <a:rPr lang="en-IN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57250" indent="-742950">
              <a:buFont typeface="+mj-lt"/>
              <a:buAutoNum type="arabicPeriod"/>
            </a:pPr>
            <a:r>
              <a:rPr lang="en-IN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 Results:</a:t>
            </a:r>
          </a:p>
          <a:p>
            <a:pPr lvl="1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XRPL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 resilience to attacks, low latency.</a:t>
            </a:r>
          </a:p>
          <a:p>
            <a:pPr lvl="1"/>
            <a:r>
              <a:rPr lang="en-IN" sz="3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Ethereum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Improved scalability under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IN" sz="3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88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Validating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Benchmarking Framework (BBF)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r>
              <a:rPr lang="en-IN" sz="3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	</a:t>
            </a:r>
            <a:r>
              <a:rPr lang="en-IN" sz="4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IN" sz="4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IN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Pre-launch 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of </a:t>
            </a:r>
            <a:r>
              <a:rPr lang="en-IN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protocols.</a:t>
            </a:r>
          </a:p>
          <a:p>
            <a:pPr lvl="1" algn="just"/>
            <a:r>
              <a:rPr lang="en-IN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benchmarking 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diverse </a:t>
            </a:r>
            <a:r>
              <a:rPr lang="en-IN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cases</a:t>
            </a:r>
            <a:r>
              <a:rPr lang="en-IN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35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	Drawbacks </a:t>
            </a:r>
            <a:r>
              <a:rPr lang="en-IN" sz="3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Limitations</a:t>
            </a:r>
            <a:r>
              <a:rPr lang="en-IN" sz="35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XRPL: Limited scalability for non-payment use cases.</a:t>
            </a:r>
          </a:p>
          <a:p>
            <a:pPr lvl="1"/>
            <a:r>
              <a:rPr lang="en-IN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Ethereum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Increased node failure impact during high stress</a:t>
            </a:r>
            <a:r>
              <a:rPr lang="en-IN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35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	Proposed </a:t>
            </a:r>
            <a:r>
              <a:rPr lang="en-IN" sz="3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lvl="1"/>
            <a:r>
              <a:rPr lang="en-IN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XRPL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Enhance modularity for broader applications.</a:t>
            </a:r>
          </a:p>
          <a:p>
            <a:pPr lvl="1"/>
            <a:r>
              <a:rPr lang="en-IN" sz="2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Ethereum</a:t>
            </a: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Optimize consensus for fault-tolerance.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188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Medical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Sharing Scheme Using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342900">
              <a:buFont typeface="+mj-lt"/>
              <a:buAutoNum type="arabicPeriod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and Tools Used:</a:t>
            </a:r>
          </a:p>
          <a:p>
            <a:pPr lvl="1"/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Hyperledger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Fabric 2.2.0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Attribute-Based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(CP-ABE)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Searchable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Encryption, IPFS for off-chain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IN" sz="15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Fine-grained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using CP-ABE.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on-chain/off-chain storage for scalability.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data dictionary index for fast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</a:p>
          <a:p>
            <a:pPr marL="114300" indent="0">
              <a:buNone/>
            </a:pPr>
            <a:r>
              <a:rPr 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 Significant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lvl="1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encryption/decryption and search retrieval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88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Medical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Sharing Scheme Using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privacy and security of medical data.</a:t>
            </a:r>
          </a:p>
          <a:p>
            <a:pPr marL="114300" indent="0">
              <a:buNone/>
            </a:pPr>
            <a:r>
              <a:rPr 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 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lvl="1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sharing of electronic medical records (EMR).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Privacy-preserving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across healthcare databases.</a:t>
            </a:r>
          </a:p>
          <a:p>
            <a:pPr marL="114300" indent="0">
              <a:buNone/>
            </a:pPr>
            <a:r>
              <a:rPr 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   Drawbacks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Limitations: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IPFS for off-chain storage integrity.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in user attribute management.</a:t>
            </a:r>
          </a:p>
          <a:p>
            <a:pPr marL="114300" indent="0">
              <a:buNone/>
            </a:pPr>
            <a:r>
              <a:rPr lang="en-US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   Proposed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lvl="1" algn="just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redundancy for fault tolerance.</a:t>
            </a:r>
          </a:p>
          <a:p>
            <a:pPr lvl="1"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Simplify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generation for user access control.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88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1538813"/>
            <a:ext cx="6501908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Thank</a:t>
            </a:r>
            <a:r>
              <a:rPr lang="en-US" sz="11500" b="1" cap="none" spc="0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 You</a:t>
            </a:r>
            <a:endParaRPr lang="en-US" sz="11500" b="1" cap="none" spc="0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9312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129</TotalTime>
  <Words>655</Words>
  <Application>Microsoft Office PowerPoint</Application>
  <PresentationFormat>On-screen Show (16:9)</PresentationFormat>
  <Paragraphs>109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Adjacency</vt:lpstr>
      <vt:lpstr>PowerPoint Presentation</vt:lpstr>
      <vt:lpstr>   The Application of BlockChain Technology in Network Information Security </vt:lpstr>
      <vt:lpstr>  The Application of BlockChain Technology in Network Information Security </vt:lpstr>
      <vt:lpstr>Bid Evaluation Data Storage System Based on Blockchain</vt:lpstr>
      <vt:lpstr> Bid Evaluation Data Storage System Based on Blockchain</vt:lpstr>
      <vt:lpstr>Validating Blockchain Benchmarking Framework (BBF)</vt:lpstr>
      <vt:lpstr>Validating Blockchain Benchmarking Framework (BBF)</vt:lpstr>
      <vt:lpstr>Medical Data Sharing Scheme Using Blockchain</vt:lpstr>
      <vt:lpstr>Medical Data Sharing Scheme Using Blockchain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Darshan A</dc:creator>
  <cp:lastModifiedBy>mareddy charan</cp:lastModifiedBy>
  <cp:revision>33</cp:revision>
  <dcterms:created xsi:type="dcterms:W3CDTF">2006-08-16T00:00:00Z</dcterms:created>
  <dcterms:modified xsi:type="dcterms:W3CDTF">2024-12-27T04:41:40Z</dcterms:modified>
</cp:coreProperties>
</file>
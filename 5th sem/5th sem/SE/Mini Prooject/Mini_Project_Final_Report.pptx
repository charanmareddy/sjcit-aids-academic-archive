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1" r:id="rId1"/>
  </p:sldMasterIdLst>
  <p:notesMasterIdLst>
    <p:notesMasterId r:id="rId20"/>
  </p:notesMasterIdLst>
  <p:sldIdLst>
    <p:sldId id="256" r:id="rId2"/>
    <p:sldId id="267" r:id="rId3"/>
    <p:sldId id="257" r:id="rId4"/>
    <p:sldId id="258" r:id="rId5"/>
    <p:sldId id="262" r:id="rId6"/>
    <p:sldId id="281" r:id="rId7"/>
    <p:sldId id="269" r:id="rId8"/>
    <p:sldId id="270" r:id="rId9"/>
    <p:sldId id="271" r:id="rId10"/>
    <p:sldId id="282" r:id="rId11"/>
    <p:sldId id="273" r:id="rId12"/>
    <p:sldId id="284" r:id="rId13"/>
    <p:sldId id="283" r:id="rId14"/>
    <p:sldId id="277" r:id="rId15"/>
    <p:sldId id="278" r:id="rId16"/>
    <p:sldId id="279" r:id="rId17"/>
    <p:sldId id="285" r:id="rId18"/>
    <p:sldId id="268" r:id="rId1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568C6A-A7F0-4B20-AD53-80797A939179}" v="1" dt="2024-07-25T11:57:47.1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18" autoAdjust="0"/>
    <p:restoredTop sz="94660"/>
  </p:normalViewPr>
  <p:slideViewPr>
    <p:cSldViewPr snapToGrid="0">
      <p:cViewPr>
        <p:scale>
          <a:sx n="95" d="100"/>
          <a:sy n="95" d="100"/>
        </p:scale>
        <p:origin x="-250" y="2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igeri Sheshadri" userId="9bf75120f0f04223" providerId="LiveId" clId="{61568C6A-A7F0-4B20-AD53-80797A939179}"/>
    <pc:docChg chg="undo custSel modSld">
      <pc:chgData name="Kaligeri Sheshadri" userId="9bf75120f0f04223" providerId="LiveId" clId="{61568C6A-A7F0-4B20-AD53-80797A939179}" dt="2024-07-25T11:57:37.648" v="1" actId="20577"/>
      <pc:docMkLst>
        <pc:docMk/>
      </pc:docMkLst>
      <pc:sldChg chg="modSp mod">
        <pc:chgData name="Kaligeri Sheshadri" userId="9bf75120f0f04223" providerId="LiveId" clId="{61568C6A-A7F0-4B20-AD53-80797A939179}" dt="2024-07-25T11:57:37.648" v="1" actId="20577"/>
        <pc:sldMkLst>
          <pc:docMk/>
          <pc:sldMk cId="0" sldId="275"/>
        </pc:sldMkLst>
        <pc:spChg chg="mod">
          <ac:chgData name="Kaligeri Sheshadri" userId="9bf75120f0f04223" providerId="LiveId" clId="{61568C6A-A7F0-4B20-AD53-80797A939179}" dt="2024-07-25T11:57:37.648" v="1" actId="20577"/>
          <ac:spMkLst>
            <pc:docMk/>
            <pc:sldMk cId="0" sldId="275"/>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B859EF5A-897B-4E7A-8987-72E0BA270BA5}" type="datetimeFigureOut">
              <a:rPr lang="en-US"/>
              <a:pPr>
                <a:defRPr/>
              </a:pPr>
              <a:t>12/23/2024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2906111-89A0-43B7-ADC8-DA25A439EE4A}" type="slidenum">
              <a:rPr lang="en-US"/>
              <a:pPr>
                <a:defRPr/>
              </a:pPr>
              <a:t>‹#›</a:t>
            </a:fld>
            <a:endParaRPr lang="en-US"/>
          </a:p>
        </p:txBody>
      </p:sp>
    </p:spTree>
    <p:extLst>
      <p:ext uri="{BB962C8B-B14F-4D97-AF65-F5344CB8AC3E}">
        <p14:creationId xmlns:p14="http://schemas.microsoft.com/office/powerpoint/2010/main" val="22679269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1434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3858CDF-14E0-4CE0-A79D-B000CC5FC8B9}" type="slidenum">
              <a:rPr lang="en-US" smtClean="0"/>
              <a:pPr fontAlgn="base">
                <a:spcBef>
                  <a:spcPct val="0"/>
                </a:spcBef>
                <a:spcAft>
                  <a:spcPct val="0"/>
                </a:spcAft>
                <a:defRPr/>
              </a:pPr>
              <a:t>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pPr>
              <a:defRPr/>
            </a:pPr>
            <a:fld id="{397B3778-FE02-4121-8E8E-B45ED9C49C68}" type="datetime1">
              <a:rPr lang="en-US" smtClean="0"/>
              <a:t>12/23/2024</a:t>
            </a:fld>
            <a:endParaRPr lang="en-US"/>
          </a:p>
        </p:txBody>
      </p:sp>
      <p:sp>
        <p:nvSpPr>
          <p:cNvPr id="20" name="Footer Placeholder 19"/>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10" name="Slide Number Placeholder 9"/>
          <p:cNvSpPr>
            <a:spLocks noGrp="1"/>
          </p:cNvSpPr>
          <p:nvPr>
            <p:ph type="sldNum" sz="quarter" idx="12"/>
          </p:nvPr>
        </p:nvSpPr>
        <p:spPr/>
        <p:txBody>
          <a:bodyPr/>
          <a:lstStyle>
            <a:extLst/>
          </a:lstStyle>
          <a:p>
            <a:pPr>
              <a:defRPr/>
            </a:pPr>
            <a:fld id="{43DB150C-4E42-4732-B852-F3E2657F5049}" type="slidenum">
              <a:rPr lang="en-US" smtClean="0"/>
              <a:pPr>
                <a:defRPr/>
              </a:pPr>
              <a:t>‹#›</a:t>
            </a:fld>
            <a:endParaRPr lang="en-US"/>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defRPr/>
            </a:pPr>
            <a:fld id="{F713ABFE-FF7C-464A-A1A5-D0CDE12993B6}" type="datetime1">
              <a:rPr lang="en-US" smtClean="0"/>
              <a:t>12/23/2024</a:t>
            </a:fld>
            <a:endParaRPr lang="en-US"/>
          </a:p>
        </p:txBody>
      </p:sp>
      <p:sp>
        <p:nvSpPr>
          <p:cNvPr id="5" name="Footer Placeholder 4"/>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6" name="Slide Number Placeholder 5"/>
          <p:cNvSpPr>
            <a:spLocks noGrp="1"/>
          </p:cNvSpPr>
          <p:nvPr>
            <p:ph type="sldNum" sz="quarter" idx="12"/>
          </p:nvPr>
        </p:nvSpPr>
        <p:spPr/>
        <p:txBody>
          <a:bodyPr/>
          <a:lstStyle>
            <a:extLst/>
          </a:lstStyle>
          <a:p>
            <a:pPr>
              <a:defRPr/>
            </a:pPr>
            <a:fld id="{81778C72-80D4-44C2-A5C0-B833B330A205}"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pPr>
              <a:defRPr/>
            </a:pPr>
            <a:fld id="{5FA97222-695A-4975-8F46-E887E1ABC4EF}" type="datetime1">
              <a:rPr lang="en-US" smtClean="0"/>
              <a:t>12/23/2024</a:t>
            </a:fld>
            <a:endParaRPr lang="en-US"/>
          </a:p>
        </p:txBody>
      </p:sp>
      <p:sp>
        <p:nvSpPr>
          <p:cNvPr id="5" name="Footer Placeholder 4"/>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6" name="Slide Number Placeholder 5"/>
          <p:cNvSpPr>
            <a:spLocks noGrp="1"/>
          </p:cNvSpPr>
          <p:nvPr>
            <p:ph type="sldNum" sz="quarter" idx="12"/>
          </p:nvPr>
        </p:nvSpPr>
        <p:spPr/>
        <p:txBody>
          <a:bodyPr/>
          <a:lstStyle>
            <a:extLst/>
          </a:lstStyle>
          <a:p>
            <a:pPr>
              <a:defRPr/>
            </a:pPr>
            <a:fld id="{A39FF9DD-F899-4DD8-AEC9-E68D1485F8D8}" type="slidenum">
              <a:rPr lang="en-US" smtClean="0"/>
              <a:pPr>
                <a:defRPr/>
              </a:pPr>
              <a:t>‹#›</a:t>
            </a:fld>
            <a:endParaRPr lang="en-US"/>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defRPr/>
            </a:pPr>
            <a:fld id="{072A14AB-0B32-4274-80F9-14ECD49F21EA}" type="datetime1">
              <a:rPr lang="en-US" smtClean="0"/>
              <a:t>12/23/2024</a:t>
            </a:fld>
            <a:endParaRPr lang="en-US"/>
          </a:p>
        </p:txBody>
      </p:sp>
      <p:sp>
        <p:nvSpPr>
          <p:cNvPr id="6" name="Footer Placeholder 5"/>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7" name="Slide Number Placeholder 6"/>
          <p:cNvSpPr>
            <a:spLocks noGrp="1"/>
          </p:cNvSpPr>
          <p:nvPr>
            <p:ph type="sldNum" sz="quarter" idx="12"/>
          </p:nvPr>
        </p:nvSpPr>
        <p:spPr/>
        <p:txBody>
          <a:bodyPr/>
          <a:lstStyle>
            <a:extLst/>
          </a:lstStyle>
          <a:p>
            <a:pPr>
              <a:defRPr/>
            </a:pPr>
            <a:fld id="{B9907319-E605-4C82-8804-679D4188845B}"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pPr>
              <a:defRPr/>
            </a:pPr>
            <a:fld id="{317B9F8F-5F15-42A6-8ED7-F5688C91EFF4}" type="datetime1">
              <a:rPr lang="en-US" smtClean="0"/>
              <a:t>12/23/2024</a:t>
            </a:fld>
            <a:endParaRPr lang="en-US"/>
          </a:p>
        </p:txBody>
      </p:sp>
      <p:sp>
        <p:nvSpPr>
          <p:cNvPr id="8" name="Footer Placeholder 7"/>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9" name="Slide Number Placeholder 8"/>
          <p:cNvSpPr>
            <a:spLocks noGrp="1"/>
          </p:cNvSpPr>
          <p:nvPr>
            <p:ph type="sldNum" sz="quarter" idx="12"/>
          </p:nvPr>
        </p:nvSpPr>
        <p:spPr/>
        <p:txBody>
          <a:bodyPr/>
          <a:lstStyle>
            <a:extLst/>
          </a:lstStyle>
          <a:p>
            <a:pPr>
              <a:defRPr/>
            </a:pPr>
            <a:fld id="{A74AB872-5383-48F3-995F-18EDF236200C}"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pPr>
              <a:defRPr/>
            </a:pPr>
            <a:fld id="{08745D9F-F450-4C4A-B53D-EC96AC4D7EAD}" type="datetime1">
              <a:rPr lang="en-US" smtClean="0"/>
              <a:t>12/23/2024</a:t>
            </a:fld>
            <a:endParaRPr lang="en-US"/>
          </a:p>
        </p:txBody>
      </p:sp>
      <p:sp>
        <p:nvSpPr>
          <p:cNvPr id="4" name="Footer Placeholder 3"/>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5" name="Slide Number Placeholder 4"/>
          <p:cNvSpPr>
            <a:spLocks noGrp="1"/>
          </p:cNvSpPr>
          <p:nvPr>
            <p:ph type="sldNum" sz="quarter" idx="12"/>
          </p:nvPr>
        </p:nvSpPr>
        <p:spPr/>
        <p:txBody>
          <a:bodyPr/>
          <a:lstStyle>
            <a:extLst/>
          </a:lstStyle>
          <a:p>
            <a:pPr>
              <a:defRPr/>
            </a:pPr>
            <a:fld id="{9DD35C92-ACCB-447D-B829-D51BBBFE6EFF}"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pPr>
              <a:defRPr/>
            </a:pPr>
            <a:fld id="{A85F4ED3-083F-4CA3-AD75-D4E1A4D0B68E}" type="datetime1">
              <a:rPr lang="en-US" smtClean="0"/>
              <a:t>12/23/2024</a:t>
            </a:fld>
            <a:endParaRPr lang="en-US"/>
          </a:p>
        </p:txBody>
      </p:sp>
      <p:sp>
        <p:nvSpPr>
          <p:cNvPr id="3" name="Footer Placeholder 2"/>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4" name="Slide Number Placeholder 3"/>
          <p:cNvSpPr>
            <a:spLocks noGrp="1"/>
          </p:cNvSpPr>
          <p:nvPr>
            <p:ph type="sldNum" sz="quarter" idx="12"/>
          </p:nvPr>
        </p:nvSpPr>
        <p:spPr/>
        <p:txBody>
          <a:bodyPr/>
          <a:lstStyle>
            <a:extLst/>
          </a:lstStyle>
          <a:p>
            <a:pPr>
              <a:defRPr/>
            </a:pPr>
            <a:fld id="{49523D1E-D3B1-4E89-BB26-D8075D63C344}" type="slidenum">
              <a:rPr lang="en-US" smtClean="0"/>
              <a:pPr>
                <a:defRPr/>
              </a:pPr>
              <a:t>‹#›</a:t>
            </a:fld>
            <a:endParaRPr lang="en-US"/>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pPr>
              <a:defRPr/>
            </a:pPr>
            <a:fld id="{522B49C6-9435-45A1-9DC5-E1A8ABBCD972}" type="datetime1">
              <a:rPr lang="en-US" smtClean="0"/>
              <a:t>12/23/2024</a:t>
            </a:fld>
            <a:endParaRPr lang="en-US"/>
          </a:p>
        </p:txBody>
      </p:sp>
      <p:sp>
        <p:nvSpPr>
          <p:cNvPr id="6" name="Footer Placeholder 5"/>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7" name="Slide Number Placeholder 6"/>
          <p:cNvSpPr>
            <a:spLocks noGrp="1"/>
          </p:cNvSpPr>
          <p:nvPr>
            <p:ph type="sldNum" sz="quarter" idx="12"/>
          </p:nvPr>
        </p:nvSpPr>
        <p:spPr/>
        <p:txBody>
          <a:bodyPr/>
          <a:lstStyle>
            <a:extLst/>
          </a:lstStyle>
          <a:p>
            <a:pPr>
              <a:defRPr/>
            </a:pPr>
            <a:fld id="{BB162F6F-03AC-4078-AA59-519032B66C8E}"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pPr>
              <a:defRPr/>
            </a:pPr>
            <a:fld id="{5505914D-6F01-42A9-B9C5-0C408261C95A}" type="datetime1">
              <a:rPr lang="en-US" smtClean="0"/>
              <a:t>12/23/2024</a:t>
            </a:fld>
            <a:endParaRPr lang="en-US"/>
          </a:p>
        </p:txBody>
      </p:sp>
      <p:sp>
        <p:nvSpPr>
          <p:cNvPr id="6" name="Footer Placeholder 5"/>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7" name="Slide Number Placeholder 6"/>
          <p:cNvSpPr>
            <a:spLocks noGrp="1"/>
          </p:cNvSpPr>
          <p:nvPr>
            <p:ph type="sldNum" sz="quarter" idx="12"/>
          </p:nvPr>
        </p:nvSpPr>
        <p:spPr/>
        <p:txBody>
          <a:bodyPr/>
          <a:lstStyle>
            <a:extLst/>
          </a:lstStyle>
          <a:p>
            <a:pPr>
              <a:defRPr/>
            </a:pPr>
            <a:fld id="{9654373D-11C6-450E-B824-71FBCFB22253}" type="slidenum">
              <a:rPr lang="en-US" smtClean="0"/>
              <a:pPr>
                <a:defRPr/>
              </a:pPr>
              <a:t>‹#›</a:t>
            </a:fld>
            <a:endParaRPr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defRPr/>
            </a:pPr>
            <a:fld id="{75148BD8-EE58-41E8-8331-6CD912471AA1}" type="datetime1">
              <a:rPr lang="en-US" smtClean="0"/>
              <a:t>12/23/2024</a:t>
            </a:fld>
            <a:endParaRPr lang="en-US"/>
          </a:p>
        </p:txBody>
      </p:sp>
      <p:sp>
        <p:nvSpPr>
          <p:cNvPr id="5" name="Footer Placeholder 4"/>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6" name="Slide Number Placeholder 5"/>
          <p:cNvSpPr>
            <a:spLocks noGrp="1"/>
          </p:cNvSpPr>
          <p:nvPr>
            <p:ph type="sldNum" sz="quarter" idx="12"/>
          </p:nvPr>
        </p:nvSpPr>
        <p:spPr/>
        <p:txBody>
          <a:bodyPr/>
          <a:lstStyle>
            <a:extLst/>
          </a:lstStyle>
          <a:p>
            <a:pPr>
              <a:defRPr/>
            </a:pPr>
            <a:fld id="{E5D10FFB-B723-47FA-AE94-2E99EB6648EC}"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524000" y="274641"/>
            <a:ext cx="7416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pPr>
              <a:defRPr/>
            </a:pPr>
            <a:fld id="{03682451-2714-4C71-A120-2BE183B0439E}" type="datetime1">
              <a:rPr lang="en-US" smtClean="0"/>
              <a:t>12/23/2024</a:t>
            </a:fld>
            <a:endParaRPr lang="en-US"/>
          </a:p>
        </p:txBody>
      </p:sp>
      <p:sp>
        <p:nvSpPr>
          <p:cNvPr id="5" name="Footer Placeholder 4"/>
          <p:cNvSpPr>
            <a:spLocks noGrp="1"/>
          </p:cNvSpPr>
          <p:nvPr>
            <p:ph type="ftr" sz="quarter" idx="11"/>
          </p:nvPr>
        </p:nvSpPr>
        <p:spPr/>
        <p:txBody>
          <a:bodyPr/>
          <a:lstStyle>
            <a:extLst/>
          </a:lstStyle>
          <a:p>
            <a:pPr>
              <a:defRPr/>
            </a:pPr>
            <a:r>
              <a:rPr lang="en-US" smtClean="0"/>
              <a:t>5th Sem Dept. of AI&amp;DS, SJCIT</a:t>
            </a:r>
            <a:endParaRPr lang="en-US" dirty="0"/>
          </a:p>
        </p:txBody>
      </p:sp>
      <p:sp>
        <p:nvSpPr>
          <p:cNvPr id="6" name="Slide Number Placeholder 5"/>
          <p:cNvSpPr>
            <a:spLocks noGrp="1"/>
          </p:cNvSpPr>
          <p:nvPr>
            <p:ph type="sldNum" sz="quarter" idx="12"/>
          </p:nvPr>
        </p:nvSpPr>
        <p:spPr/>
        <p:txBody>
          <a:bodyPr/>
          <a:lstStyle>
            <a:extLst/>
          </a:lstStyle>
          <a:p>
            <a:pPr>
              <a:defRPr/>
            </a:pPr>
            <a:fld id="{4AE3F581-0D82-4287-82E1-346AE1C0151F}"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defRPr/>
            </a:pPr>
            <a:fld id="{037B394D-09E4-413B-A7C5-37AC8D7FB272}" type="datetime1">
              <a:rPr lang="en-US" smtClean="0"/>
              <a:t>12/23/2024</a:t>
            </a:fld>
            <a:endParaRPr lang="en-US"/>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pPr>
              <a:defRPr/>
            </a:pPr>
            <a:r>
              <a:rPr lang="en-US" smtClean="0"/>
              <a:t>5th Sem Dept. of AI&amp;DS, SJCIT</a:t>
            </a:r>
            <a:endParaRPr lang="en-US" dirty="0"/>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defRPr/>
            </a:pPr>
            <a:fld id="{F93DA94D-2222-4437-96EC-3C570EFD98C1}" type="slidenum">
              <a:rPr lang="en-US" smtClean="0"/>
              <a:pPr>
                <a:defRPr/>
              </a:pPr>
              <a:t>‹#›</a:t>
            </a:fld>
            <a:endParaRPr lang="en-US"/>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pic>
        <p:nvPicPr>
          <p:cNvPr id="13" name="Picture 12"/>
          <p:cNvPicPr>
            <a:picLocks noChangeAspect="1"/>
          </p:cNvPicPr>
          <p:nvPr userDrawn="1"/>
        </p:nvPicPr>
        <p:blipFill>
          <a:blip r:embed="rId13"/>
          <a:srcRect/>
          <a:stretch>
            <a:fillRect/>
          </a:stretch>
        </p:blipFill>
        <p:spPr bwMode="auto">
          <a:xfrm>
            <a:off x="10747375" y="0"/>
            <a:ext cx="1444625" cy="11239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Lst>
  <p:hf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3213" y="169864"/>
            <a:ext cx="10507662" cy="1270000"/>
          </a:xfrm>
        </p:spPr>
        <p:txBody>
          <a:bodyPr>
            <a:normAutofit fontScale="90000"/>
          </a:bodyPr>
          <a:lstStyle/>
          <a:p>
            <a:pPr eaLnBrk="1" hangingPunct="1"/>
            <a:r>
              <a:rPr lang="en-US" sz="3200" dirty="0">
                <a:latin typeface="Times New Roman" pitchFamily="18" charset="0"/>
                <a:cs typeface="Times New Roman" pitchFamily="18" charset="0"/>
              </a:rPr>
              <a:t>          </a:t>
            </a:r>
            <a:r>
              <a:rPr lang="en-US" sz="3600" b="1" dirty="0">
                <a:solidFill>
                  <a:srgbClr val="002060"/>
                </a:solidFill>
                <a:latin typeface="Times New Roman" pitchFamily="18" charset="0"/>
                <a:cs typeface="Times New Roman" pitchFamily="18" charset="0"/>
              </a:rPr>
              <a:t>S J C INSTITUTE OF TECHNOLOGY</a:t>
            </a:r>
            <a:r>
              <a:rPr lang="en-US" sz="3200" dirty="0">
                <a:solidFill>
                  <a:srgbClr val="002060"/>
                </a:solidFill>
                <a:latin typeface="Times New Roman" pitchFamily="18" charset="0"/>
                <a:cs typeface="Times New Roman" pitchFamily="18" charset="0"/>
              </a:rPr>
              <a:t/>
            </a:r>
            <a:br>
              <a:rPr lang="en-US" sz="3200" dirty="0">
                <a:solidFill>
                  <a:srgbClr val="002060"/>
                </a:solidFill>
                <a:latin typeface="Times New Roman" pitchFamily="18" charset="0"/>
                <a:cs typeface="Times New Roman" pitchFamily="18" charset="0"/>
              </a:rPr>
            </a:br>
            <a:r>
              <a:rPr lang="en-US" sz="3200" dirty="0">
                <a:solidFill>
                  <a:srgbClr val="002060"/>
                </a:solidFill>
                <a:latin typeface="Times New Roman" pitchFamily="18" charset="0"/>
                <a:cs typeface="Times New Roman" pitchFamily="18" charset="0"/>
              </a:rPr>
              <a:t>        </a:t>
            </a:r>
            <a:r>
              <a:rPr lang="en-US" sz="2400" b="1" dirty="0">
                <a:solidFill>
                  <a:srgbClr val="002060"/>
                </a:solidFill>
                <a:latin typeface="Times New Roman" pitchFamily="18" charset="0"/>
                <a:cs typeface="Times New Roman" pitchFamily="18" charset="0"/>
              </a:rPr>
              <a:t>DEPARTMENT </a:t>
            </a:r>
            <a:r>
              <a:rPr lang="en-US" sz="2400" b="1" dirty="0" smtClean="0">
                <a:solidFill>
                  <a:srgbClr val="002060"/>
                </a:solidFill>
                <a:latin typeface="Times New Roman" pitchFamily="18" charset="0"/>
                <a:cs typeface="Times New Roman" pitchFamily="18" charset="0"/>
              </a:rPr>
              <a:t>OF ARTIFICIAL INTELLIGENCE AND DATA SCIENCE</a:t>
            </a:r>
            <a:endParaRPr lang="en-US" sz="3200" b="1" dirty="0">
              <a:solidFill>
                <a:srgbClr val="002060"/>
              </a:solidFill>
              <a:latin typeface="Times New Roman" pitchFamily="18" charset="0"/>
              <a:cs typeface="Times New Roman" pitchFamily="18" charset="0"/>
            </a:endParaRPr>
          </a:p>
        </p:txBody>
      </p:sp>
      <p:sp>
        <p:nvSpPr>
          <p:cNvPr id="3" name="Subtitle 2"/>
          <p:cNvSpPr>
            <a:spLocks noGrp="1"/>
          </p:cNvSpPr>
          <p:nvPr>
            <p:ph type="subTitle" idx="1"/>
          </p:nvPr>
        </p:nvSpPr>
        <p:spPr>
          <a:xfrm>
            <a:off x="811212" y="1439863"/>
            <a:ext cx="10920123" cy="4913312"/>
          </a:xfrm>
        </p:spPr>
        <p:txBody>
          <a:bodyPr rtlCol="0">
            <a:normAutofit fontScale="92500" lnSpcReduction="10000"/>
          </a:bodyPr>
          <a:lstStyle/>
          <a:p>
            <a:pPr algn="ctr" eaLnBrk="1" fontAlgn="auto" hangingPunct="1">
              <a:spcAft>
                <a:spcPts val="0"/>
              </a:spcAft>
              <a:buFont typeface="Arial" pitchFamily="34" charset="0"/>
              <a:buNone/>
              <a:defRPr/>
            </a:pPr>
            <a:r>
              <a:rPr lang="en-US" sz="2400" dirty="0">
                <a:solidFill>
                  <a:schemeClr val="tx1"/>
                </a:solidFill>
                <a:latin typeface="Times New Roman" pitchFamily="18" charset="0"/>
                <a:cs typeface="Times New Roman" pitchFamily="18" charset="0"/>
              </a:rPr>
              <a:t>Mini- Project work </a:t>
            </a:r>
          </a:p>
          <a:p>
            <a:pPr algn="ctr" eaLnBrk="1" fontAlgn="auto" hangingPunct="1">
              <a:spcAft>
                <a:spcPts val="0"/>
              </a:spcAft>
              <a:buFont typeface="Arial" pitchFamily="34" charset="0"/>
              <a:buNone/>
              <a:defRPr/>
            </a:pPr>
            <a:r>
              <a:rPr lang="en-US" sz="2400" dirty="0">
                <a:solidFill>
                  <a:schemeClr val="tx1"/>
                </a:solidFill>
                <a:latin typeface="Times New Roman" pitchFamily="18" charset="0"/>
                <a:cs typeface="Times New Roman" pitchFamily="18" charset="0"/>
              </a:rPr>
              <a:t> On       </a:t>
            </a:r>
          </a:p>
          <a:p>
            <a:pPr algn="ctr" eaLnBrk="1" fontAlgn="auto" hangingPunct="1">
              <a:spcAft>
                <a:spcPts val="0"/>
              </a:spcAft>
              <a:buFont typeface="Arial" pitchFamily="34" charset="0"/>
              <a:buNone/>
              <a:defRPr/>
            </a:pPr>
            <a:r>
              <a:rPr lang="en-US" dirty="0" smtClean="0">
                <a:solidFill>
                  <a:schemeClr val="accent1">
                    <a:lumMod val="75000"/>
                  </a:schemeClr>
                </a:solidFill>
                <a:latin typeface="Times New Roman" panose="02020603050405020304" pitchFamily="18" charset="0"/>
                <a:cs typeface="Times New Roman" panose="02020603050405020304" pitchFamily="18" charset="0"/>
              </a:rPr>
              <a:t>“</a:t>
            </a:r>
            <a:r>
              <a:rPr lang="en-US" b="1" dirty="0" smtClean="0">
                <a:solidFill>
                  <a:schemeClr val="accent1">
                    <a:lumMod val="75000"/>
                  </a:schemeClr>
                </a:solidFill>
                <a:latin typeface="Times New Roman" panose="02020603050405020304" pitchFamily="18" charset="0"/>
                <a:cs typeface="Times New Roman" panose="02020603050405020304" pitchFamily="18" charset="0"/>
              </a:rPr>
              <a:t>Image-to-Text Conversion</a:t>
            </a:r>
            <a:r>
              <a:rPr lang="en-US" dirty="0" smtClean="0">
                <a:solidFill>
                  <a:schemeClr val="accent1">
                    <a:lumMod val="75000"/>
                  </a:schemeClr>
                </a:solidFill>
                <a:latin typeface="Times New Roman" panose="02020603050405020304" pitchFamily="18" charset="0"/>
                <a:cs typeface="Times New Roman" panose="02020603050405020304" pitchFamily="18" charset="0"/>
              </a:rPr>
              <a:t>”</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a:p>
            <a:pPr algn="ctr" eaLnBrk="1" fontAlgn="auto" hangingPunct="1">
              <a:spcAft>
                <a:spcPts val="0"/>
              </a:spcAft>
              <a:buFont typeface="Arial" pitchFamily="34" charset="0"/>
              <a:buNone/>
              <a:defRPr/>
            </a:pPr>
            <a:r>
              <a:rPr lang="en-US" sz="2000" dirty="0">
                <a:solidFill>
                  <a:schemeClr val="tx1"/>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PRESENTED BY</a:t>
            </a:r>
          </a:p>
          <a:p>
            <a:pPr algn="ctr" eaLnBrk="1" fontAlgn="auto" hangingPunct="1">
              <a:spcAft>
                <a:spcPts val="0"/>
              </a:spcAft>
              <a:buFont typeface="Arial" pitchFamily="34" charset="0"/>
              <a:buNone/>
              <a:defRPr/>
            </a:pPr>
            <a:r>
              <a:rPr lang="en-US" sz="1800" dirty="0">
                <a:solidFill>
                  <a:srgbClr val="002060"/>
                </a:solidFill>
                <a:latin typeface="Times New Roman" panose="02020603050405020304" pitchFamily="18" charset="0"/>
                <a:cs typeface="Times New Roman" panose="02020603050405020304" pitchFamily="18" charset="0"/>
              </a:rPr>
              <a:t> </a:t>
            </a:r>
            <a:r>
              <a:rPr lang="en-US" sz="1800" dirty="0" smtClean="0">
                <a:solidFill>
                  <a:srgbClr val="002060"/>
                </a:solidFill>
                <a:latin typeface="Times New Roman" panose="02020603050405020304" pitchFamily="18" charset="0"/>
                <a:cs typeface="Times New Roman" panose="02020603050405020304" pitchFamily="18" charset="0"/>
              </a:rPr>
              <a:t>MAREDDY CHARAN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smtClean="0">
                <a:solidFill>
                  <a:srgbClr val="002060"/>
                </a:solidFill>
                <a:latin typeface="Times New Roman" panose="02020603050405020304" pitchFamily="18" charset="0"/>
                <a:cs typeface="Times New Roman" panose="02020603050405020304" pitchFamily="18" charset="0"/>
              </a:rPr>
              <a:t>		1SJ22AD024</a:t>
            </a:r>
            <a:endParaRPr lang="en-US" sz="2000" dirty="0">
              <a:solidFill>
                <a:srgbClr val="002060"/>
              </a:solidFill>
              <a:latin typeface="Times New Roman" panose="02020603050405020304" pitchFamily="18" charset="0"/>
              <a:cs typeface="Times New Roman" panose="02020603050405020304" pitchFamily="18" charset="0"/>
            </a:endParaRPr>
          </a:p>
          <a:p>
            <a:pPr algn="ctr" eaLnBrk="1" fontAlgn="auto" hangingPunct="1">
              <a:spcAft>
                <a:spcPts val="0"/>
              </a:spcAft>
              <a:buFont typeface="Arial" pitchFamily="34" charset="0"/>
              <a:buNone/>
              <a:defRPr/>
            </a:pPr>
            <a:r>
              <a:rPr lang="en-US" sz="2000" dirty="0" smtClean="0">
                <a:solidFill>
                  <a:srgbClr val="002060"/>
                </a:solidFill>
                <a:latin typeface="Times New Roman" panose="02020603050405020304" pitchFamily="18" charset="0"/>
                <a:cs typeface="Times New Roman" panose="02020603050405020304" pitchFamily="18" charset="0"/>
              </a:rPr>
              <a:t>A CHETAN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smtClean="0">
                <a:solidFill>
                  <a:srgbClr val="002060"/>
                </a:solidFill>
                <a:latin typeface="Times New Roman" panose="02020603050405020304" pitchFamily="18" charset="0"/>
                <a:cs typeface="Times New Roman" panose="02020603050405020304" pitchFamily="18" charset="0"/>
              </a:rPr>
              <a:t>			1SJ22AD005</a:t>
            </a:r>
          </a:p>
          <a:p>
            <a:pPr algn="ctr" eaLnBrk="1" fontAlgn="auto" hangingPunct="1">
              <a:spcAft>
                <a:spcPts val="0"/>
              </a:spcAft>
              <a:buFont typeface="Arial" pitchFamily="34" charset="0"/>
              <a:buNone/>
              <a:defRPr/>
            </a:pPr>
            <a:r>
              <a:rPr lang="en-US" sz="2000" dirty="0" smtClean="0">
                <a:solidFill>
                  <a:srgbClr val="002060"/>
                </a:solidFill>
                <a:latin typeface="Times New Roman" panose="02020603050405020304" pitchFamily="18" charset="0"/>
                <a:cs typeface="Times New Roman" panose="02020603050405020304" pitchFamily="18" charset="0"/>
              </a:rPr>
              <a:t>Y REVANTH				1SJ22AD063</a:t>
            </a:r>
          </a:p>
          <a:p>
            <a:pPr algn="ctr" eaLnBrk="1" fontAlgn="auto" hangingPunct="1">
              <a:spcAft>
                <a:spcPts val="0"/>
              </a:spcAft>
              <a:buFont typeface="Arial" pitchFamily="34" charset="0"/>
              <a:buNone/>
              <a:defRPr/>
            </a:pPr>
            <a:r>
              <a:rPr lang="en-US" sz="2000" dirty="0" smtClean="0">
                <a:solidFill>
                  <a:srgbClr val="002060"/>
                </a:solidFill>
                <a:latin typeface="Times New Roman" panose="02020603050405020304" pitchFamily="18" charset="0"/>
                <a:cs typeface="Times New Roman" panose="02020603050405020304" pitchFamily="18" charset="0"/>
              </a:rPr>
              <a:t>M AKASH				1SJ22AD021</a:t>
            </a:r>
          </a:p>
          <a:p>
            <a:pPr algn="ctr" eaLnBrk="1" fontAlgn="auto" hangingPunct="1">
              <a:spcAft>
                <a:spcPts val="0"/>
              </a:spcAft>
              <a:buFont typeface="Arial" pitchFamily="34" charset="0"/>
              <a:buNone/>
              <a:defRPr/>
            </a:pPr>
            <a:endParaRPr lang="en-US" sz="2000" dirty="0">
              <a:solidFill>
                <a:srgbClr val="002060"/>
              </a:solidFill>
              <a:latin typeface="Times New Roman" panose="02020603050405020304" pitchFamily="18" charset="0"/>
              <a:cs typeface="Times New Roman" panose="02020603050405020304" pitchFamily="18" charset="0"/>
            </a:endParaRPr>
          </a:p>
          <a:p>
            <a:pPr algn="ctr" eaLnBrk="1" fontAlgn="auto" hangingPunct="1">
              <a:spcAft>
                <a:spcPts val="0"/>
              </a:spcAft>
              <a:buFont typeface="Arial" pitchFamily="34" charset="0"/>
              <a:buNone/>
              <a:defRPr/>
            </a:pPr>
            <a:r>
              <a:rPr lang="en-US" sz="2000" b="1" dirty="0">
                <a:solidFill>
                  <a:schemeClr val="tx1"/>
                </a:solidFill>
                <a:latin typeface="Times New Roman" panose="02020603050405020304" pitchFamily="18" charset="0"/>
                <a:cs typeface="Times New Roman" panose="02020603050405020304" pitchFamily="18" charset="0"/>
              </a:rPr>
              <a:t>UNDER THE GUIDANCE OF  </a:t>
            </a:r>
          </a:p>
          <a:p>
            <a:pPr eaLnBrk="1" fontAlgn="auto" hangingPunct="1">
              <a:spcAft>
                <a:spcPts val="0"/>
              </a:spcAft>
              <a:buFont typeface="Arial" pitchFamily="34" charset="0"/>
              <a:buNone/>
              <a:defRPr/>
            </a:pPr>
            <a:endParaRPr lang="en-US" sz="2000" b="1" dirty="0">
              <a:solidFill>
                <a:schemeClr val="tx1"/>
              </a:solidFill>
              <a:latin typeface="Times New Roman" panose="02020603050405020304" pitchFamily="18" charset="0"/>
              <a:cs typeface="Times New Roman" panose="02020603050405020304" pitchFamily="18" charset="0"/>
            </a:endParaRPr>
          </a:p>
          <a:p>
            <a:pPr algn="just" eaLnBrk="1" fontAlgn="auto" hangingPunct="1">
              <a:spcAft>
                <a:spcPts val="0"/>
              </a:spcAft>
              <a:buFont typeface="Arial" pitchFamily="34" charset="0"/>
              <a:buNone/>
              <a:defRPr/>
            </a:pPr>
            <a:r>
              <a:rPr lang="en-US" sz="2000" dirty="0">
                <a:solidFill>
                  <a:schemeClr val="tx1"/>
                </a:solidFill>
                <a:latin typeface="Times New Roman" panose="02020603050405020304" pitchFamily="18" charset="0"/>
                <a:cs typeface="Times New Roman" panose="02020603050405020304" pitchFamily="18" charset="0"/>
              </a:rPr>
              <a:t>               </a:t>
            </a:r>
            <a:r>
              <a:rPr lang="en-US" sz="1700" b="1" dirty="0" smtClean="0">
                <a:solidFill>
                  <a:schemeClr val="tx1"/>
                </a:solidFill>
                <a:latin typeface="Times New Roman" panose="02020603050405020304" pitchFamily="18" charset="0"/>
                <a:cs typeface="Times New Roman" panose="02020603050405020304" pitchFamily="18" charset="0"/>
              </a:rPr>
              <a:t>NAVEEN KUMAR V G</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smtClean="0">
                <a:solidFill>
                  <a:schemeClr val="tx1"/>
                </a:solidFill>
                <a:latin typeface="Times New Roman" panose="02020603050405020304" pitchFamily="18" charset="0"/>
                <a:cs typeface="Times New Roman" panose="02020603050405020304" pitchFamily="18" charset="0"/>
              </a:rPr>
              <a:t>            </a:t>
            </a:r>
            <a:r>
              <a:rPr lang="en-US" sz="1700" b="1" dirty="0" smtClean="0">
                <a:solidFill>
                  <a:schemeClr val="tx1"/>
                </a:solidFill>
                <a:latin typeface="Times New Roman" panose="02020603050405020304" pitchFamily="18" charset="0"/>
                <a:cs typeface="Times New Roman" panose="02020603050405020304" pitchFamily="18" charset="0"/>
              </a:rPr>
              <a:t>NAVEEN KUMAR V G                            </a:t>
            </a:r>
            <a:r>
              <a:rPr lang="en-US" sz="2000" b="1" dirty="0" smtClean="0">
                <a:solidFill>
                  <a:schemeClr val="tx1"/>
                </a:solidFill>
                <a:latin typeface="Times New Roman" panose="02020603050405020304" pitchFamily="18" charset="0"/>
                <a:cs typeface="Times New Roman" panose="02020603050405020304" pitchFamily="18" charset="0"/>
              </a:rPr>
              <a:t>Prof .NAGARAJA G</a:t>
            </a:r>
            <a:endParaRPr lang="en-US" sz="2000" b="1" dirty="0">
              <a:solidFill>
                <a:srgbClr val="002060"/>
              </a:solidFill>
              <a:latin typeface="Times New Roman" panose="02020603050405020304" pitchFamily="18" charset="0"/>
              <a:cs typeface="Times New Roman" panose="02020603050405020304" pitchFamily="18" charset="0"/>
            </a:endParaRPr>
          </a:p>
          <a:p>
            <a:pPr algn="just" eaLnBrk="1" fontAlgn="auto" hangingPunct="1">
              <a:spcAft>
                <a:spcPts val="0"/>
              </a:spcAft>
              <a:defRPr/>
            </a:pPr>
            <a:r>
              <a:rPr lang="en-US" sz="2000" dirty="0" smtClean="0">
                <a:solidFill>
                  <a:srgbClr val="002060"/>
                </a:solidFill>
                <a:latin typeface="Times New Roman" panose="02020603050405020304" pitchFamily="18" charset="0"/>
                <a:cs typeface="Times New Roman" panose="02020603050405020304" pitchFamily="18" charset="0"/>
              </a:rPr>
              <a:t>               </a:t>
            </a:r>
            <a:r>
              <a:rPr lang="en-US" sz="1800" dirty="0" smtClean="0">
                <a:solidFill>
                  <a:srgbClr val="002060"/>
                </a:solidFill>
                <a:latin typeface="Times New Roman" panose="02020603050405020304" pitchFamily="18" charset="0"/>
                <a:cs typeface="Times New Roman" panose="02020603050405020304" pitchFamily="18" charset="0"/>
              </a:rPr>
              <a:t>Assistant Professor		               Assistant Professor 	      </a:t>
            </a:r>
            <a:r>
              <a:rPr lang="en-US" sz="1800" dirty="0">
                <a:solidFill>
                  <a:srgbClr val="002060"/>
                </a:solidFill>
                <a:latin typeface="Times New Roman" panose="02020603050405020304" pitchFamily="18" charset="0"/>
                <a:cs typeface="Times New Roman" panose="02020603050405020304" pitchFamily="18" charset="0"/>
              </a:rPr>
              <a:t> </a:t>
            </a:r>
            <a:r>
              <a:rPr lang="en-US" sz="1800" dirty="0" smtClean="0">
                <a:solidFill>
                  <a:srgbClr val="002060"/>
                </a:solidFill>
                <a:latin typeface="Times New Roman" panose="02020603050405020304" pitchFamily="18" charset="0"/>
                <a:cs typeface="Times New Roman" panose="02020603050405020304" pitchFamily="18" charset="0"/>
              </a:rPr>
              <a:t>                       Professor &amp; HOD</a:t>
            </a:r>
          </a:p>
          <a:p>
            <a:pPr algn="just" eaLnBrk="1" fontAlgn="auto" hangingPunct="1">
              <a:spcAft>
                <a:spcPts val="0"/>
              </a:spcAft>
              <a:defRPr/>
            </a:pPr>
            <a:r>
              <a:rPr lang="en-US" sz="1800" dirty="0" smtClean="0">
                <a:solidFill>
                  <a:srgbClr val="002060"/>
                </a:solidFill>
                <a:latin typeface="Times New Roman" panose="02020603050405020304" pitchFamily="18" charset="0"/>
                <a:cs typeface="Times New Roman" panose="02020603050405020304" pitchFamily="18" charset="0"/>
              </a:rPr>
              <a:t>                </a:t>
            </a:r>
            <a:r>
              <a:rPr lang="en-US" sz="1800" dirty="0">
                <a:solidFill>
                  <a:srgbClr val="002060"/>
                </a:solidFill>
                <a:latin typeface="Times New Roman" panose="02020603050405020304" pitchFamily="18" charset="0"/>
                <a:cs typeface="Times New Roman" panose="02020603050405020304" pitchFamily="18" charset="0"/>
              </a:rPr>
              <a:t>Dept. Of </a:t>
            </a:r>
            <a:r>
              <a:rPr lang="en-US" sz="1800" dirty="0" smtClean="0">
                <a:solidFill>
                  <a:srgbClr val="002060"/>
                </a:solidFill>
                <a:latin typeface="Times New Roman" panose="02020603050405020304" pitchFamily="18" charset="0"/>
                <a:cs typeface="Times New Roman" panose="02020603050405020304" pitchFamily="18" charset="0"/>
              </a:rPr>
              <a:t>AI&amp;DS,SJCIT                            </a:t>
            </a:r>
            <a:r>
              <a:rPr lang="en-US" sz="1800" dirty="0">
                <a:solidFill>
                  <a:srgbClr val="002060"/>
                </a:solidFill>
                <a:latin typeface="Times New Roman" panose="02020603050405020304" pitchFamily="18" charset="0"/>
                <a:cs typeface="Times New Roman" panose="02020603050405020304" pitchFamily="18" charset="0"/>
              </a:rPr>
              <a:t>Dept. Of </a:t>
            </a:r>
            <a:r>
              <a:rPr lang="en-US" sz="1800" dirty="0" smtClean="0">
                <a:solidFill>
                  <a:srgbClr val="002060"/>
                </a:solidFill>
                <a:latin typeface="Times New Roman" panose="02020603050405020304" pitchFamily="18" charset="0"/>
                <a:cs typeface="Times New Roman" panose="02020603050405020304" pitchFamily="18" charset="0"/>
              </a:rPr>
              <a:t>AI&amp;DS,SJCIT                             Dept</a:t>
            </a:r>
            <a:r>
              <a:rPr lang="en-US" sz="1800" dirty="0">
                <a:solidFill>
                  <a:srgbClr val="002060"/>
                </a:solidFill>
                <a:latin typeface="Times New Roman" panose="02020603050405020304" pitchFamily="18" charset="0"/>
                <a:cs typeface="Times New Roman" panose="02020603050405020304" pitchFamily="18" charset="0"/>
              </a:rPr>
              <a:t>. Of </a:t>
            </a:r>
            <a:r>
              <a:rPr lang="en-US" sz="1800" dirty="0" smtClean="0">
                <a:solidFill>
                  <a:srgbClr val="002060"/>
                </a:solidFill>
                <a:latin typeface="Times New Roman" panose="02020603050405020304" pitchFamily="18" charset="0"/>
                <a:cs typeface="Times New Roman" panose="02020603050405020304" pitchFamily="18" charset="0"/>
              </a:rPr>
              <a:t>AI&amp;DS, </a:t>
            </a:r>
            <a:r>
              <a:rPr lang="en-US" sz="1800" dirty="0">
                <a:solidFill>
                  <a:srgbClr val="002060"/>
                </a:solidFill>
                <a:latin typeface="Times New Roman" panose="02020603050405020304" pitchFamily="18" charset="0"/>
                <a:cs typeface="Times New Roman" panose="02020603050405020304" pitchFamily="18" charset="0"/>
              </a:rPr>
              <a:t>SJCIT</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ctr" eaLnBrk="1" hangingPunct="1"/>
            <a:r>
              <a:rPr lang="en-US" sz="3200" b="1" dirty="0">
                <a:latin typeface="Times New Roman" pitchFamily="18" charset="0"/>
                <a:cs typeface="Times New Roman" pitchFamily="18" charset="0"/>
              </a:rPr>
              <a:t>CONTENTS</a:t>
            </a:r>
          </a:p>
        </p:txBody>
      </p:sp>
      <p:sp>
        <p:nvSpPr>
          <p:cNvPr id="3075" name="Content Placeholder 2"/>
          <p:cNvSpPr>
            <a:spLocks noGrp="1"/>
          </p:cNvSpPr>
          <p:nvPr>
            <p:ph idx="1"/>
          </p:nvPr>
        </p:nvSpPr>
        <p:spPr>
          <a:xfrm>
            <a:off x="904009" y="1117140"/>
            <a:ext cx="10149754" cy="5318234"/>
          </a:xfrm>
        </p:spPr>
        <p:txBody>
          <a:bodyPr>
            <a:normAutofit/>
          </a:bodyPr>
          <a:lstStyle/>
          <a:p>
            <a:pPr marL="514350" indent="-514350" eaLnBrk="1" hangingPunct="1">
              <a:buFont typeface="+mj-lt"/>
              <a:buAutoNum type="romanUcPeriod"/>
            </a:pPr>
            <a:r>
              <a:rPr lang="en-US" sz="2000" dirty="0" smtClean="0">
                <a:latin typeface="Times New Roman" pitchFamily="18" charset="0"/>
                <a:cs typeface="Times New Roman" pitchFamily="18" charset="0"/>
              </a:rPr>
              <a:t> ABSTRACT</a:t>
            </a:r>
            <a:endParaRPr lang="en-US" sz="2000" dirty="0">
              <a:latin typeface="Times New Roman" pitchFamily="18" charset="0"/>
              <a:cs typeface="Times New Roman" pitchFamily="18" charset="0"/>
            </a:endParaRPr>
          </a:p>
          <a:p>
            <a:pPr marL="514350" indent="-514350" eaLnBrk="1" hangingPunct="1">
              <a:buFont typeface="+mj-lt"/>
              <a:buAutoNum type="romanUcPeriod"/>
            </a:pPr>
            <a:r>
              <a:rPr lang="en-US" sz="2000" dirty="0" smtClean="0">
                <a:latin typeface="Times New Roman" pitchFamily="18" charset="0"/>
                <a:cs typeface="Times New Roman" pitchFamily="18" charset="0"/>
              </a:rPr>
              <a:t>INTRODUCTION</a:t>
            </a:r>
            <a:endParaRPr lang="en-US" sz="2000" dirty="0">
              <a:latin typeface="Times New Roman" pitchFamily="18" charset="0"/>
              <a:cs typeface="Times New Roman" pitchFamily="18" charset="0"/>
            </a:endParaRPr>
          </a:p>
          <a:p>
            <a:pPr marL="514350" indent="-514350" eaLnBrk="1" hangingPunct="1">
              <a:buFont typeface="+mj-lt"/>
              <a:buAutoNum type="romanUcPeriod"/>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LITERATURE SURVEY</a:t>
            </a:r>
          </a:p>
          <a:p>
            <a:pPr marL="514350" indent="-514350" eaLnBrk="1" hangingPunct="1">
              <a:buFont typeface="+mj-lt"/>
              <a:buAutoNum type="romanUcPeriod"/>
            </a:pP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PROBLEM IDENTIFICATION &amp; DEFINITION</a:t>
            </a:r>
          </a:p>
          <a:p>
            <a:pPr marL="514350" indent="-514350" eaLnBrk="1" hangingPunct="1">
              <a:buFont typeface="+mj-lt"/>
              <a:buAutoNum type="romanUcPeriod"/>
            </a:pPr>
            <a:r>
              <a:rPr lang="en-US" sz="2000" dirty="0" smtClean="0">
                <a:latin typeface="Times New Roman" pitchFamily="18" charset="0"/>
                <a:cs typeface="Times New Roman" pitchFamily="18" charset="0"/>
              </a:rPr>
              <a:t>SIGNIFICANCE </a:t>
            </a:r>
            <a:r>
              <a:rPr lang="en-US" sz="2000" dirty="0">
                <a:latin typeface="Times New Roman" pitchFamily="18" charset="0"/>
                <a:cs typeface="Times New Roman" pitchFamily="18" charset="0"/>
              </a:rPr>
              <a:t>&amp; RELEVANCE OF WORK</a:t>
            </a:r>
          </a:p>
          <a:p>
            <a:pPr marL="514350" indent="-514350" eaLnBrk="1" hangingPunct="1">
              <a:buFont typeface="+mj-lt"/>
              <a:buAutoNum type="romanUcPeriod"/>
            </a:pPr>
            <a:r>
              <a:rPr lang="en-US" sz="2000" dirty="0" smtClean="0">
                <a:latin typeface="Times New Roman" pitchFamily="18" charset="0"/>
                <a:cs typeface="Times New Roman" pitchFamily="18" charset="0"/>
              </a:rPr>
              <a:t>OBJECTIVES </a:t>
            </a:r>
            <a:r>
              <a:rPr lang="en-US" sz="2000" dirty="0">
                <a:latin typeface="Times New Roman" pitchFamily="18" charset="0"/>
                <a:cs typeface="Times New Roman" pitchFamily="18" charset="0"/>
              </a:rPr>
              <a:t>AND </a:t>
            </a:r>
            <a:r>
              <a:rPr lang="en-US" sz="2000" dirty="0" smtClean="0">
                <a:latin typeface="Times New Roman" pitchFamily="18" charset="0"/>
                <a:cs typeface="Times New Roman" pitchFamily="18" charset="0"/>
              </a:rPr>
              <a:t>METHODOLOGY</a:t>
            </a:r>
          </a:p>
          <a:p>
            <a:pPr marL="514350" indent="-514350" eaLnBrk="1" hangingPunct="1">
              <a:buFont typeface="+mj-lt"/>
              <a:buAutoNum type="romanUcPeriod"/>
            </a:pPr>
            <a:r>
              <a:rPr lang="en-US" sz="2000" dirty="0" smtClean="0">
                <a:latin typeface="Times New Roman" pitchFamily="18" charset="0"/>
                <a:cs typeface="Times New Roman" pitchFamily="18" charset="0"/>
              </a:rPr>
              <a:t>HARDWARE AND SOFTWARE REQUIREMENTS</a:t>
            </a:r>
          </a:p>
          <a:p>
            <a:pPr marL="514350" indent="-514350" eaLnBrk="1" hangingPunct="1">
              <a:buFont typeface="+mj-lt"/>
              <a:buAutoNum type="romanUcPeriod"/>
            </a:pPr>
            <a:r>
              <a:rPr lang="en-US" sz="2000" dirty="0" smtClean="0">
                <a:latin typeface="Times New Roman" pitchFamily="18" charset="0"/>
                <a:cs typeface="Times New Roman" pitchFamily="18" charset="0"/>
              </a:rPr>
              <a:t>ARCHITECTURE DESIGN</a:t>
            </a:r>
          </a:p>
          <a:p>
            <a:pPr marL="514350" indent="-514350" eaLnBrk="1" hangingPunct="1">
              <a:buFont typeface="+mj-lt"/>
              <a:buAutoNum type="romanUcPeriod"/>
            </a:pPr>
            <a:r>
              <a:rPr lang="en-US" sz="2000" dirty="0" smtClean="0">
                <a:latin typeface="Times New Roman" pitchFamily="18" charset="0"/>
                <a:cs typeface="Times New Roman" pitchFamily="18" charset="0"/>
              </a:rPr>
              <a:t>TESTING</a:t>
            </a:r>
          </a:p>
          <a:p>
            <a:pPr marL="514350" indent="-514350" eaLnBrk="1" hangingPunct="1">
              <a:buFont typeface="+mj-lt"/>
              <a:buAutoNum type="romanUcPeriod"/>
            </a:pPr>
            <a:r>
              <a:rPr lang="en-US" sz="2000" dirty="0" smtClean="0">
                <a:latin typeface="Times New Roman" pitchFamily="18" charset="0"/>
                <a:cs typeface="Times New Roman" pitchFamily="18" charset="0"/>
              </a:rPr>
              <a:t>RESULTS</a:t>
            </a:r>
            <a:endParaRPr lang="en-US" sz="2000" dirty="0">
              <a:latin typeface="Times New Roman" pitchFamily="18" charset="0"/>
              <a:cs typeface="Times New Roman" pitchFamily="18" charset="0"/>
            </a:endParaRPr>
          </a:p>
          <a:p>
            <a:pPr marL="514350" indent="-514350" eaLnBrk="1" hangingPunct="1">
              <a:buFont typeface="+mj-lt"/>
              <a:buAutoNum type="romanUcPeriod"/>
            </a:pPr>
            <a:r>
              <a:rPr lang="en-US" sz="2000" dirty="0" smtClean="0">
                <a:latin typeface="Times New Roman" pitchFamily="18" charset="0"/>
                <a:cs typeface="Times New Roman" pitchFamily="18" charset="0"/>
              </a:rPr>
              <a:t>CONCLUSION </a:t>
            </a:r>
            <a:r>
              <a:rPr lang="en-US" sz="2000" dirty="0">
                <a:latin typeface="Times New Roman" pitchFamily="18" charset="0"/>
                <a:cs typeface="Times New Roman" pitchFamily="18" charset="0"/>
              </a:rPr>
              <a:t>AND FUTURE </a:t>
            </a:r>
            <a:r>
              <a:rPr lang="en-US" sz="2000" dirty="0" smtClean="0">
                <a:latin typeface="Times New Roman" pitchFamily="18" charset="0"/>
                <a:cs typeface="Times New Roman" pitchFamily="18" charset="0"/>
              </a:rPr>
              <a:t>ENHANCEMENTS</a:t>
            </a:r>
            <a:endParaRPr lang="en-US" sz="20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pPr>
              <a:defRPr/>
            </a:pPr>
            <a:r>
              <a:rPr lang="en-US" b="1" dirty="0" smtClean="0">
                <a:latin typeface="Times New Roman" pitchFamily="18" charset="0"/>
                <a:cs typeface="Times New Roman" pitchFamily="18" charset="0"/>
              </a:rPr>
              <a:t>5th Sem Dept. of AI&amp;DS, SJCIT</a:t>
            </a:r>
            <a:endParaRPr lang="en-US"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AD5E59E0-17D6-407F-846F-AC252CE09AC1}" type="slidenum">
              <a:rPr lang="en-US" b="1">
                <a:latin typeface="Times New Roman" pitchFamily="18" charset="0"/>
                <a:cs typeface="Times New Roman" pitchFamily="18" charset="0"/>
              </a:rPr>
              <a:pPr>
                <a:defRPr/>
              </a:pPr>
              <a:t>2</a:t>
            </a:fld>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524000" y="398463"/>
            <a:ext cx="9208167" cy="1042987"/>
          </a:xfrm>
        </p:spPr>
        <p:txBody>
          <a:bodyPr/>
          <a:lstStyle/>
          <a:p>
            <a:pPr algn="ctr" eaLnBrk="1" hangingPunct="1"/>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 ABSTRACT</a:t>
            </a:r>
          </a:p>
        </p:txBody>
      </p:sp>
      <p:sp>
        <p:nvSpPr>
          <p:cNvPr id="4099" name="Content Placeholder 2"/>
          <p:cNvSpPr>
            <a:spLocks noGrp="1"/>
          </p:cNvSpPr>
          <p:nvPr>
            <p:ph idx="1"/>
          </p:nvPr>
        </p:nvSpPr>
        <p:spPr>
          <a:xfrm>
            <a:off x="709613" y="1390650"/>
            <a:ext cx="11036300" cy="4675188"/>
          </a:xfrm>
        </p:spPr>
        <p:txBody>
          <a:bodyPr/>
          <a:lstStyle/>
          <a:p>
            <a:pPr marL="0" indent="0" algn="just" eaLnBrk="1" hangingPunct="1">
              <a:lnSpc>
                <a:spcPct val="150000"/>
              </a:lnSpc>
              <a:buNone/>
            </a:pPr>
            <a:r>
              <a:rPr lang="en-IN" sz="2200" dirty="0">
                <a:latin typeface="Times New Roman" panose="02020603050405020304" pitchFamily="18" charset="0"/>
                <a:cs typeface="Times New Roman" panose="02020603050405020304" pitchFamily="18" charset="0"/>
              </a:rPr>
              <a:t>Converting image information into text is a critical task in computer vision and natural language processing with applications in accessibility, content generation, and data analysis. This project focuses on developing an automated pipeline that can accurately interpret visual data, extract relevant details, and generate descriptive text output. By combining deep learning techniques in object detection, optical character recognition (OCR), and image captioning models, the system identifies and interprets visual elements within images, such as objects, text, and contextual scenes. The project aims to achieve high accuracy in translating complex visual scenes into structured text, allowing applications in fields ranging from digital accessibility for visually impaired individuals to automated metadata creation for media content</a:t>
            </a:r>
          </a:p>
          <a:p>
            <a:pPr marL="0" indent="0" algn="just" eaLnBrk="1" hangingPunct="1">
              <a:lnSpc>
                <a:spcPct val="150000"/>
              </a:lnSpc>
              <a:buFont typeface="Arial" charset="0"/>
              <a:buNone/>
            </a:pPr>
            <a:endParaRPr lang="en-US" sz="2400" dirty="0">
              <a:latin typeface="Times New Roman" panose="02020603050405020304" pitchFamily="18" charset="0"/>
              <a:cs typeface="Times New Roman" panose="02020603050405020304" pitchFamily="18" charset="0"/>
            </a:endParaRPr>
          </a:p>
        </p:txBody>
      </p:sp>
      <p:sp>
        <p:nvSpPr>
          <p:cNvPr id="6" name="Footer Placeholder 3"/>
          <p:cNvSpPr>
            <a:spLocks noGrp="1"/>
          </p:cNvSpPr>
          <p:nvPr>
            <p:ph type="ftr" sz="quarter" idx="11"/>
          </p:nvPr>
        </p:nvSpPr>
        <p:spPr/>
        <p:txBody>
          <a:bodyPr/>
          <a:lstStyle/>
          <a:p>
            <a:pPr>
              <a:defRPr/>
            </a:pPr>
            <a:r>
              <a:rPr lang="en-US" b="1" dirty="0" smtClean="0">
                <a:latin typeface="Times New Roman" pitchFamily="18" charset="0"/>
                <a:cs typeface="Times New Roman" pitchFamily="18" charset="0"/>
              </a:rPr>
              <a:t>5th Sem Dept. of AI&amp;DS, SJCIT</a:t>
            </a:r>
            <a:endParaRPr lang="en-US"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852E21DD-684C-436D-993C-56D19137C848}" type="slidenum">
              <a:rPr lang="en-US"/>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1624013" y="274638"/>
            <a:ext cx="7472362" cy="1143000"/>
          </a:xfrm>
        </p:spPr>
        <p:txBody>
          <a:bodyPr/>
          <a:lstStyle/>
          <a:p>
            <a:pPr algn="ctr" eaLnBrk="1" hangingPunct="1"/>
            <a:r>
              <a:rPr lang="en-US" sz="3200" b="1" dirty="0">
                <a:latin typeface="Times New Roman" pitchFamily="18" charset="0"/>
                <a:cs typeface="Times New Roman" pitchFamily="18" charset="0"/>
              </a:rPr>
              <a:t>            INTRODUCTION</a:t>
            </a:r>
          </a:p>
        </p:txBody>
      </p:sp>
      <p:sp>
        <p:nvSpPr>
          <p:cNvPr id="3" name="Content Placeholder 2"/>
          <p:cNvSpPr>
            <a:spLocks noGrp="1"/>
          </p:cNvSpPr>
          <p:nvPr>
            <p:ph idx="1"/>
          </p:nvPr>
        </p:nvSpPr>
        <p:spPr>
          <a:xfrm>
            <a:off x="1404938" y="1720850"/>
            <a:ext cx="8915400" cy="3571875"/>
          </a:xfrm>
        </p:spPr>
        <p:txBody>
          <a:bodyPr rtlCol="0">
            <a:normAutofit fontScale="92500" lnSpcReduction="10000"/>
          </a:bodyPr>
          <a:lstStyle/>
          <a:p>
            <a:pPr marL="0" indent="0" algn="just">
              <a:lnSpc>
                <a:spcPct val="150000"/>
              </a:lnSpc>
              <a:buNone/>
            </a:pPr>
            <a:r>
              <a:rPr lang="en-US" sz="2800" dirty="0">
                <a:latin typeface="Times New Roman" panose="02020603050405020304" pitchFamily="18" charset="0"/>
                <a:cs typeface="Times New Roman" panose="02020603050405020304" pitchFamily="18" charset="0"/>
              </a:rPr>
              <a:t>This project focuses on creating a system to extract text from images and translate it into a desired language using </a:t>
            </a:r>
            <a:r>
              <a:rPr lang="en-US" sz="2800" b="1" dirty="0">
                <a:latin typeface="Times New Roman" panose="02020603050405020304" pitchFamily="18" charset="0"/>
                <a:cs typeface="Times New Roman" panose="02020603050405020304" pitchFamily="18" charset="0"/>
              </a:rPr>
              <a:t>Optical Character Recognition (OCR)</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neural networks</a:t>
            </a:r>
            <a:r>
              <a:rPr lang="en-US" sz="2800" dirty="0">
                <a:latin typeface="Times New Roman" panose="02020603050405020304" pitchFamily="18" charset="0"/>
                <a:cs typeface="Times New Roman" panose="02020603050405020304" pitchFamily="18" charset="0"/>
              </a:rPr>
              <a:t> integrated with the </a:t>
            </a:r>
            <a:r>
              <a:rPr lang="en-US" sz="2800" b="1" dirty="0">
                <a:latin typeface="Times New Roman" panose="02020603050405020304" pitchFamily="18" charset="0"/>
                <a:cs typeface="Times New Roman" panose="02020603050405020304" pitchFamily="18" charset="0"/>
              </a:rPr>
              <a:t>Google Translator API</a:t>
            </a:r>
            <a:r>
              <a:rPr lang="en-US" sz="2800" dirty="0">
                <a:latin typeface="Times New Roman" panose="02020603050405020304" pitchFamily="18" charset="0"/>
                <a:cs typeface="Times New Roman" panose="02020603050405020304" pitchFamily="18" charset="0"/>
              </a:rPr>
              <a:t>. Designed for smartphone-captured images, the system addresses challenges like varied text styles, noisy backgrounds, and complex orientations.</a:t>
            </a:r>
          </a:p>
          <a:p>
            <a:pPr marL="0" indent="0" algn="just">
              <a:lnSpc>
                <a:spcPct val="150000"/>
              </a:lnSpc>
              <a:buNone/>
            </a:pPr>
            <a:endParaRPr lang="en-IN" sz="2800" dirty="0">
              <a:latin typeface="Times New Roman" panose="02020603050405020304" pitchFamily="18" charset="0"/>
              <a:cs typeface="Times New Roman" panose="02020603050405020304" pitchFamily="18" charset="0"/>
            </a:endParaRPr>
          </a:p>
        </p:txBody>
      </p:sp>
      <p:sp>
        <p:nvSpPr>
          <p:cNvPr id="6" name="Footer Placeholder 3"/>
          <p:cNvSpPr>
            <a:spLocks noGrp="1"/>
          </p:cNvSpPr>
          <p:nvPr>
            <p:ph type="ftr" sz="quarter" idx="11"/>
          </p:nvPr>
        </p:nvSpPr>
        <p:spPr/>
        <p:txBody>
          <a:bodyPr/>
          <a:lstStyle/>
          <a:p>
            <a:pPr>
              <a:defRPr/>
            </a:pPr>
            <a:r>
              <a:rPr lang="en-US" b="1" dirty="0" smtClean="0">
                <a:latin typeface="Times New Roman" pitchFamily="18" charset="0"/>
                <a:cs typeface="Times New Roman" pitchFamily="18" charset="0"/>
              </a:rPr>
              <a:t>5th Sem Dept. of AI&amp;DS, SJCIT</a:t>
            </a:r>
            <a:endParaRPr lang="en-US"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7C2F7E0E-0530-4147-860D-B7134606320A}" type="slidenum">
              <a:rPr lang="en-US"/>
              <a:pPr>
                <a:defRPr/>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30363" y="377825"/>
            <a:ext cx="8910637" cy="1281113"/>
          </a:xfrm>
        </p:spPr>
        <p:txBody>
          <a:bodyPr/>
          <a:lstStyle/>
          <a:p>
            <a:pPr algn="ctr" eaLnBrk="1" hangingPunct="1"/>
            <a:r>
              <a:rPr lang="en-US" sz="3200" b="1" dirty="0">
                <a:latin typeface="Times New Roman" pitchFamily="18" charset="0"/>
                <a:cs typeface="Times New Roman" pitchFamily="18" charset="0"/>
              </a:rPr>
              <a:t>LITERATURE SURVEY</a:t>
            </a:r>
          </a:p>
        </p:txBody>
      </p:sp>
      <p:sp>
        <p:nvSpPr>
          <p:cNvPr id="6148" name="Content Placeholder 5"/>
          <p:cNvSpPr>
            <a:spLocks noGrp="1"/>
          </p:cNvSpPr>
          <p:nvPr>
            <p:ph idx="1"/>
          </p:nvPr>
        </p:nvSpPr>
        <p:spPr/>
        <p:txBody>
          <a:bodyPr>
            <a:normAutofit fontScale="92500"/>
          </a:bodyPr>
          <a:lstStyle/>
          <a:p>
            <a:pPr marL="457200" indent="-457200" algn="just" eaLnBrk="1" hangingPunct="1">
              <a:lnSpc>
                <a:spcPct val="150000"/>
              </a:lnSpc>
              <a:buFont typeface="+mj-lt"/>
              <a:buAutoNum type="arabicPeriod"/>
            </a:pPr>
            <a:r>
              <a:rPr lang="en-US" sz="2300" b="1" dirty="0">
                <a:latin typeface="Times New Roman" panose="02020603050405020304" pitchFamily="18" charset="0"/>
                <a:cs typeface="Times New Roman" panose="02020603050405020304" pitchFamily="18" charset="0"/>
              </a:rPr>
              <a:t>An Overview of Optical Character Recognition (OCR) Systems and Challenges"</a:t>
            </a:r>
            <a:r>
              <a:rPr lang="en-US" sz="2300" dirty="0">
                <a:latin typeface="Times New Roman" panose="02020603050405020304" pitchFamily="18" charset="0"/>
                <a:cs typeface="Times New Roman" panose="02020603050405020304" pitchFamily="18" charset="0"/>
              </a:rPr>
              <a:t> by </a:t>
            </a:r>
            <a:r>
              <a:rPr lang="en-US" sz="2300" i="1" dirty="0">
                <a:latin typeface="Times New Roman" panose="02020603050405020304" pitchFamily="18" charset="0"/>
                <a:cs typeface="Times New Roman" panose="02020603050405020304" pitchFamily="18" charset="0"/>
              </a:rPr>
              <a:t>Smith, R. (2018)</a:t>
            </a:r>
            <a:r>
              <a:rPr lang="en-US" sz="2300" dirty="0">
                <a:latin typeface="Times New Roman" panose="02020603050405020304" pitchFamily="18" charset="0"/>
                <a:cs typeface="Times New Roman" panose="02020603050405020304" pitchFamily="18" charset="0"/>
              </a:rPr>
              <a:t>, published in the </a:t>
            </a:r>
            <a:r>
              <a:rPr lang="en-US" sz="2300" i="1" dirty="0">
                <a:latin typeface="Times New Roman" panose="02020603050405020304" pitchFamily="18" charset="0"/>
                <a:cs typeface="Times New Roman" panose="02020603050405020304" pitchFamily="18" charset="0"/>
              </a:rPr>
              <a:t>International Journal of Computer Vision.</a:t>
            </a:r>
            <a:r>
              <a:rPr lang="en-US" sz="2300" dirty="0">
                <a:latin typeface="Times New Roman" panose="02020603050405020304" pitchFamily="18" charset="0"/>
                <a:cs typeface="Times New Roman" panose="02020603050405020304" pitchFamily="18" charset="0"/>
              </a:rPr>
              <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This paper provides a comprehensive overview of OCR systems, explaining the methodologies used in traditional OCR, such as template matching and feature extraction, and the evolution towards deep learning techniques. The author highlights challenges like handwritten text recognition, noisy image handling, and multilingual text extraction. The findings emphasize the need for advanced preprocessing techniques and neural network-based approaches for better accuracy</a:t>
            </a:r>
            <a:r>
              <a:rPr lang="en-US" sz="2300" dirty="0" smtClean="0">
                <a:latin typeface="Times New Roman" panose="02020603050405020304" pitchFamily="18" charset="0"/>
                <a:cs typeface="Times New Roman" panose="02020603050405020304" pitchFamily="18" charset="0"/>
              </a:rPr>
              <a:t>.</a:t>
            </a:r>
          </a:p>
          <a:p>
            <a:pPr marL="0" indent="0" algn="just" eaLnBrk="1" hangingPunct="1">
              <a:lnSpc>
                <a:spcPct val="150000"/>
              </a:lnSpc>
              <a:buNone/>
            </a:pPr>
            <a:r>
              <a:rPr lang="en-US" sz="2300" dirty="0" smtClean="0">
                <a:latin typeface="Times New Roman" panose="02020603050405020304" pitchFamily="18" charset="0"/>
                <a:cs typeface="Times New Roman" panose="02020603050405020304" pitchFamily="18" charset="0"/>
              </a:rPr>
              <a:t>.</a:t>
            </a:r>
            <a:endParaRPr lang="en-IN" sz="2300" dirty="0">
              <a:latin typeface="Times New Roman" panose="02020603050405020304" pitchFamily="18" charset="0"/>
              <a:cs typeface="Times New Roman" panose="02020603050405020304" pitchFamily="18" charset="0"/>
            </a:endParaRPr>
          </a:p>
          <a:p>
            <a:pPr algn="just" eaLnBrk="1" hangingPunct="1">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7" name="Footer Placeholder 3"/>
          <p:cNvSpPr>
            <a:spLocks noGrp="1"/>
          </p:cNvSpPr>
          <p:nvPr>
            <p:ph type="ftr" sz="quarter" idx="11"/>
          </p:nvPr>
        </p:nvSpPr>
        <p:spPr/>
        <p:txBody>
          <a:bodyPr/>
          <a:lstStyle/>
          <a:p>
            <a:pPr>
              <a:defRPr/>
            </a:pPr>
            <a:r>
              <a:rPr lang="en-US" b="1" dirty="0" smtClean="0">
                <a:latin typeface="Times New Roman" pitchFamily="18" charset="0"/>
                <a:cs typeface="Times New Roman" pitchFamily="18" charset="0"/>
              </a:rPr>
              <a:t>5th Sem Dept. of AI&amp;DS, SJCIT</a:t>
            </a:r>
            <a:endParaRPr lang="en-US"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BA154A63-1081-40A5-84B2-54B61F186320}" type="slidenum">
              <a:rPr lang="en-US"/>
              <a:pPr>
                <a:defRPr/>
              </a:pPr>
              <a:t>5</a:t>
            </a:fld>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633663" y="1576137"/>
            <a:ext cx="10972800" cy="4525963"/>
          </a:xfrm>
        </p:spPr>
        <p:txBody>
          <a:bodyPr/>
          <a:lstStyle/>
          <a:p>
            <a:pPr marL="0" indent="0" algn="just">
              <a:lnSpc>
                <a:spcPct val="150000"/>
              </a:lnSpc>
              <a:buNone/>
            </a:pPr>
            <a:r>
              <a:rPr lang="en-US" sz="2400" b="1" dirty="0" smtClean="0">
                <a:latin typeface="Times New Roman" panose="02020603050405020304" pitchFamily="18" charset="0"/>
                <a:cs typeface="Times New Roman" panose="02020603050405020304" pitchFamily="18" charset="0"/>
              </a:rPr>
              <a:t>2. Improving </a:t>
            </a:r>
            <a:r>
              <a:rPr lang="en-US" sz="2400" b="1" dirty="0">
                <a:latin typeface="Times New Roman" panose="02020603050405020304" pitchFamily="18" charset="0"/>
                <a:cs typeface="Times New Roman" panose="02020603050405020304" pitchFamily="18" charset="0"/>
              </a:rPr>
              <a:t>Text Extraction from Noisy and Low-Resolution Images Using Image Preprocessing </a:t>
            </a:r>
            <a:r>
              <a:rPr lang="en-US" sz="2400" b="1" dirty="0" smtClean="0">
                <a:latin typeface="Times New Roman" panose="02020603050405020304" pitchFamily="18" charset="0"/>
                <a:cs typeface="Times New Roman" panose="02020603050405020304" pitchFamily="18" charset="0"/>
              </a:rPr>
              <a:t>Techniques</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by </a:t>
            </a:r>
            <a:r>
              <a:rPr lang="en-US" sz="2400" i="1" dirty="0">
                <a:latin typeface="Times New Roman" panose="02020603050405020304" pitchFamily="18" charset="0"/>
                <a:cs typeface="Times New Roman" panose="02020603050405020304" pitchFamily="18" charset="0"/>
              </a:rPr>
              <a:t>Chaudhary, A., and Gupta, R. (2019)</a:t>
            </a:r>
            <a:r>
              <a:rPr lang="en-US" sz="2400" dirty="0">
                <a:latin typeface="Times New Roman" panose="02020603050405020304" pitchFamily="18" charset="0"/>
                <a:cs typeface="Times New Roman" panose="02020603050405020304" pitchFamily="18" charset="0"/>
              </a:rPr>
              <a:t>, in the </a:t>
            </a:r>
            <a:r>
              <a:rPr lang="en-US" sz="2400" i="1" dirty="0">
                <a:latin typeface="Times New Roman" panose="02020603050405020304" pitchFamily="18" charset="0"/>
                <a:cs typeface="Times New Roman" panose="02020603050405020304" pitchFamily="18" charset="0"/>
              </a:rPr>
              <a:t>Journal of Image Processing and Artificial Intelligence.</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paper focuses on the importance of image preprocessing in OCR systems. The authors propose noise removal, grayscale conversion, and contrast enhancement techniques to optimize image quality before applying OCR engines like Tesseract. The experimental results demonstrate a notable improvement in text recognition accuracy on low-quality images</a:t>
            </a:r>
            <a:r>
              <a:rPr lang="en-US" sz="2400" dirty="0"/>
              <a:t>.</a:t>
            </a:r>
            <a:endParaRPr lang="en-IN" sz="2400" dirty="0"/>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6</a:t>
            </a:fld>
            <a:endParaRPr lang="en-US" dirty="0"/>
          </a:p>
        </p:txBody>
      </p:sp>
    </p:spTree>
    <p:extLst>
      <p:ext uri="{BB962C8B-B14F-4D97-AF65-F5344CB8AC3E}">
        <p14:creationId xmlns:p14="http://schemas.microsoft.com/office/powerpoint/2010/main" val="19233634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algn="just" eaLnBrk="1" hangingPunct="1"/>
            <a:r>
              <a:rPr lang="en-US" sz="3200" b="1" dirty="0">
                <a:latin typeface="Times New Roman" pitchFamily="18" charset="0"/>
                <a:cs typeface="Times New Roman" pitchFamily="18" charset="0"/>
              </a:rPr>
              <a:t>PROBLEM IDENTIFICATION &amp; DEFINITION</a:t>
            </a:r>
          </a:p>
        </p:txBody>
      </p:sp>
      <p:sp>
        <p:nvSpPr>
          <p:cNvPr id="7171" name="Content Placeholder 2"/>
          <p:cNvSpPr>
            <a:spLocks noGrp="1"/>
          </p:cNvSpPr>
          <p:nvPr>
            <p:ph idx="1"/>
          </p:nvPr>
        </p:nvSpPr>
        <p:spPr/>
        <p:txBody>
          <a:bodyPr>
            <a:normAutofit lnSpcReduction="10000"/>
          </a:bodyPr>
          <a:lstStyle/>
          <a:p>
            <a:pPr algn="just" eaLnBrk="1" hangingPunct="1">
              <a:lnSpc>
                <a:spcPct val="150000"/>
              </a:lnSpc>
            </a:pPr>
            <a:r>
              <a:rPr lang="en-IN" sz="2700" dirty="0">
                <a:latin typeface="Times New Roman" panose="02020603050405020304" pitchFamily="18" charset="0"/>
                <a:cs typeface="Times New Roman" panose="02020603050405020304" pitchFamily="18" charset="0"/>
              </a:rPr>
              <a:t>In many industries and daily tasks, a significant amount of information is stored in image formats, such as scanned documents, handwritten notes, photographs, and printed materials. However, extracting this information manually is time-consuming, error-prone, and inefficient, particularly when dealing with large volumes of data. Current processes often require substantial human effort to read, transcribe, and digitize text from images, leading to delays, inconsistencies, and increased operational costs.</a:t>
            </a:r>
            <a:endParaRPr lang="en-US" sz="27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F7EDBEC5-1BD0-4289-A0D0-85ADAA8AC8DD}" type="slidenum">
              <a:rPr lang="en-US"/>
              <a:pPr>
                <a:defRPr/>
              </a:pPr>
              <a:t>7</a:t>
            </a:fld>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algn="ctr" eaLnBrk="1" hangingPunct="1"/>
            <a:r>
              <a:rPr lang="en-US" sz="3200" b="1" dirty="0">
                <a:latin typeface="Times New Roman" pitchFamily="18" charset="0"/>
                <a:cs typeface="Times New Roman" pitchFamily="18" charset="0"/>
              </a:rPr>
              <a:t>SIGNIFICANCE &amp; RELEVANCE OF WORK</a:t>
            </a:r>
          </a:p>
        </p:txBody>
      </p:sp>
      <p:sp>
        <p:nvSpPr>
          <p:cNvPr id="8195" name="Content Placeholder 2"/>
          <p:cNvSpPr>
            <a:spLocks noGrp="1"/>
          </p:cNvSpPr>
          <p:nvPr>
            <p:ph idx="1"/>
          </p:nvPr>
        </p:nvSpPr>
        <p:spPr>
          <a:xfrm>
            <a:off x="633663" y="1584158"/>
            <a:ext cx="10972800" cy="4525963"/>
          </a:xfrm>
        </p:spPr>
        <p:txBody>
          <a:bodyPr/>
          <a:lstStyle/>
          <a:p>
            <a:pPr algn="just" eaLnBrk="1" hangingPunct="1">
              <a:lnSpc>
                <a:spcPct val="150000"/>
              </a:lnSpc>
            </a:pPr>
            <a:r>
              <a:rPr lang="en-US" sz="1900" dirty="0">
                <a:latin typeface="Times New Roman" panose="02020603050405020304" pitchFamily="18" charset="0"/>
                <a:cs typeface="Times New Roman" panose="02020603050405020304" pitchFamily="18" charset="0"/>
              </a:rPr>
              <a:t>Image-to-text technology streamlines workflows by automating data entry, reducing human error, and accelerating data processing, thus enabling faster decision-making. It supports accessibility by converting image-based text into formats compatible with screen readers, facilitating language translation, and providing universal access to printed or handwritten information. In document preservation, it aids in digitizing historical records, creating searchable digital libraries, and ensuring disaster recovery through secure backups. This technology finds applications in sectors like education (digitizing textbooks and notes), healthcare (integrating medical records into EHR systems), </a:t>
            </a:r>
            <a:r>
              <a:rPr lang="en-US" sz="1900" dirty="0" smtClean="0">
                <a:latin typeface="Times New Roman" panose="02020603050405020304" pitchFamily="18" charset="0"/>
                <a:cs typeface="Times New Roman" panose="02020603050405020304" pitchFamily="18" charset="0"/>
              </a:rPr>
              <a:t>and banking </a:t>
            </a:r>
            <a:r>
              <a:rPr lang="en-US" sz="1900" dirty="0">
                <a:latin typeface="Times New Roman" panose="02020603050405020304" pitchFamily="18" charset="0"/>
                <a:cs typeface="Times New Roman" panose="02020603050405020304" pitchFamily="18" charset="0"/>
              </a:rPr>
              <a:t>(automating financial document </a:t>
            </a:r>
            <a:r>
              <a:rPr lang="en-US" sz="1900" dirty="0" smtClean="0">
                <a:latin typeface="Times New Roman" panose="02020603050405020304" pitchFamily="18" charset="0"/>
                <a:cs typeface="Times New Roman" panose="02020603050405020304" pitchFamily="18" charset="0"/>
              </a:rPr>
              <a:t>processing).It </a:t>
            </a:r>
            <a:r>
              <a:rPr lang="en-US" sz="1900" dirty="0">
                <a:latin typeface="Times New Roman" panose="02020603050405020304" pitchFamily="18" charset="0"/>
                <a:cs typeface="Times New Roman" panose="02020603050405020304" pitchFamily="18" charset="0"/>
              </a:rPr>
              <a:t>enables advanced analytics by powering data mining, content categorization, and AI-driven big data applications. Modern systems overcome practical challenges by handling noisy images, diverse fonts, and real-time conversions, making them robust and versatile tools for various industries.</a:t>
            </a: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18AE424B-9980-4653-B1C1-7EB6AB2FB086}" type="slidenum">
              <a:rPr lang="en-US"/>
              <a:pPr>
                <a:defRPr/>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algn="ctr" eaLnBrk="1" hangingPunct="1"/>
            <a:r>
              <a:rPr lang="en-US" sz="3200" b="1" dirty="0">
                <a:latin typeface="Times New Roman" pitchFamily="18" charset="0"/>
                <a:cs typeface="Times New Roman" pitchFamily="18" charset="0"/>
              </a:rPr>
              <a:t>OBJECTIVES &amp; METHODOLOGY</a:t>
            </a:r>
          </a:p>
        </p:txBody>
      </p:sp>
      <p:sp>
        <p:nvSpPr>
          <p:cNvPr id="9219" name="Content Placeholder 2"/>
          <p:cNvSpPr>
            <a:spLocks noGrp="1"/>
          </p:cNvSpPr>
          <p:nvPr>
            <p:ph idx="1"/>
          </p:nvPr>
        </p:nvSpPr>
        <p:spPr/>
        <p:txBody>
          <a:bodyPr>
            <a:normAutofit lnSpcReduction="10000"/>
          </a:bodyPr>
          <a:lstStyle/>
          <a:p>
            <a:pPr marL="0" indent="0" algn="just" eaLnBrk="1" hangingPunct="1">
              <a:buNone/>
            </a:pPr>
            <a:r>
              <a:rPr lang="en-US" sz="2600" b="1" dirty="0" smtClean="0">
                <a:latin typeface="Times New Roman" panose="02020603050405020304" pitchFamily="18" charset="0"/>
                <a:cs typeface="Times New Roman" panose="02020603050405020304" pitchFamily="18" charset="0"/>
              </a:rPr>
              <a:t>OBJECTIVE</a:t>
            </a:r>
          </a:p>
          <a:p>
            <a:pPr marL="514350" indent="-514350" algn="just">
              <a:buAutoNum type="arabicPeriod"/>
            </a:pPr>
            <a:r>
              <a:rPr lang="en-US" sz="2400" b="1" dirty="0" smtClean="0">
                <a:latin typeface="Times New Roman" panose="02020603050405020304" pitchFamily="18" charset="0"/>
                <a:cs typeface="Times New Roman" panose="02020603050405020304" pitchFamily="18" charset="0"/>
              </a:rPr>
              <a:t>Develop </a:t>
            </a:r>
            <a:r>
              <a:rPr lang="en-US" sz="2400" b="1" dirty="0">
                <a:latin typeface="Times New Roman" panose="02020603050405020304" pitchFamily="18" charset="0"/>
                <a:cs typeface="Times New Roman" panose="02020603050405020304" pitchFamily="18" charset="0"/>
              </a:rPr>
              <a:t>an Automated Text Extraction </a:t>
            </a:r>
            <a:r>
              <a:rPr lang="en-US" sz="2400" b="1" dirty="0" smtClean="0">
                <a:latin typeface="Times New Roman" panose="02020603050405020304" pitchFamily="18" charset="0"/>
                <a:cs typeface="Times New Roman" panose="02020603050405020304" pitchFamily="18" charset="0"/>
              </a:rPr>
              <a:t>System</a:t>
            </a:r>
            <a:endParaRPr lang="en-IN" sz="2400" b="1" i="1" dirty="0">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Build </a:t>
            </a:r>
            <a:r>
              <a:rPr lang="en-US" sz="2000" dirty="0">
                <a:latin typeface="Times New Roman" panose="02020603050405020304" pitchFamily="18" charset="0"/>
                <a:cs typeface="Times New Roman" panose="02020603050405020304" pitchFamily="18" charset="0"/>
              </a:rPr>
              <a:t>a robust system capable of extracting text from images, regardless of font styles, sizes, or orientations.</a:t>
            </a:r>
            <a:endParaRPr lang="en-IN" sz="2000" dirty="0">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 compatibility with various image formats, such as JPEG, PNG, and PDF.</a:t>
            </a:r>
            <a:endParaRPr lang="en-IN" sz="20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2. Improve Text Recognition Accuracy</a:t>
            </a:r>
            <a:endParaRPr lang="en-IN" sz="2400" b="1" i="1" dirty="0">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Incorporate advanced Optical Character Recognition (OCR) algorithms for high precision.</a:t>
            </a:r>
            <a:endParaRPr lang="en-IN" sz="2000" dirty="0">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Address challenges such as poor image quality, background noise, and skewed text </a:t>
            </a:r>
            <a:r>
              <a:rPr lang="en-US" sz="2000" dirty="0" smtClean="0">
                <a:latin typeface="Times New Roman" panose="02020603050405020304" pitchFamily="18" charset="0"/>
                <a:cs typeface="Times New Roman" panose="02020603050405020304" pitchFamily="18" charset="0"/>
              </a:rPr>
              <a:t>alignment</a:t>
            </a:r>
          </a:p>
          <a:p>
            <a:pPr marL="0" lvl="0" indent="0" algn="just">
              <a:buNone/>
            </a:pPr>
            <a:endParaRPr lang="en-US" sz="2400" dirty="0">
              <a:latin typeface="Times New Roman" panose="02020603050405020304" pitchFamily="18" charset="0"/>
              <a:cs typeface="Times New Roman" panose="02020603050405020304" pitchFamily="18" charset="0"/>
            </a:endParaRPr>
          </a:p>
          <a:p>
            <a:pPr marL="0" lvl="0" indent="0" algn="just">
              <a:buNone/>
            </a:pPr>
            <a:endParaRPr lang="en-US" sz="2400" dirty="0" smtClean="0">
              <a:latin typeface="Times New Roman" panose="02020603050405020304" pitchFamily="18" charset="0"/>
              <a:cs typeface="Times New Roman" panose="02020603050405020304" pitchFamily="18" charset="0"/>
            </a:endParaRPr>
          </a:p>
          <a:p>
            <a:pPr marL="0" lvl="0" indent="0" algn="just">
              <a:buNone/>
            </a:pPr>
            <a:endParaRPr lang="en-US" sz="2400" dirty="0">
              <a:latin typeface="Times New Roman" panose="02020603050405020304" pitchFamily="18" charset="0"/>
              <a:cs typeface="Times New Roman" panose="02020603050405020304" pitchFamily="18" charset="0"/>
            </a:endParaRPr>
          </a:p>
          <a:p>
            <a:pPr marL="0" lvl="0" indent="0" algn="just">
              <a:buNone/>
            </a:pPr>
            <a:endParaRPr lang="en-US" sz="2400" dirty="0" smtClean="0">
              <a:latin typeface="Times New Roman" panose="02020603050405020304" pitchFamily="18" charset="0"/>
              <a:cs typeface="Times New Roman" panose="02020603050405020304" pitchFamily="18" charset="0"/>
            </a:endParaRPr>
          </a:p>
          <a:p>
            <a:pPr marL="0" lvl="0" indent="0" algn="just">
              <a:buNone/>
            </a:pPr>
            <a:endParaRPr lang="en-IN" sz="2400" dirty="0">
              <a:latin typeface="Times New Roman" panose="02020603050405020304" pitchFamily="18" charset="0"/>
              <a:cs typeface="Times New Roman" panose="02020603050405020304" pitchFamily="18" charset="0"/>
            </a:endParaRPr>
          </a:p>
          <a:p>
            <a:pPr marL="0" indent="0" algn="just" eaLnBrk="1" hangingPunct="1">
              <a:buNone/>
            </a:pP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B21ABA94-4E5E-44A2-AB02-054134BB480C}" type="slidenum">
              <a:rPr lang="en-US"/>
              <a:pPr>
                <a:defRPr/>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OBJECTIVES &amp; METHODOLOGY</a:t>
            </a:r>
            <a:endParaRPr lang="en-IN" dirty="0"/>
          </a:p>
        </p:txBody>
      </p:sp>
      <p:sp>
        <p:nvSpPr>
          <p:cNvPr id="3" name="Content Placeholder 2"/>
          <p:cNvSpPr>
            <a:spLocks noGrp="1"/>
          </p:cNvSpPr>
          <p:nvPr>
            <p:ph idx="1"/>
          </p:nvPr>
        </p:nvSpPr>
        <p:spPr/>
        <p:txBody>
          <a:bodyPr>
            <a:normAutofit lnSpcReduction="10000"/>
          </a:bodyPr>
          <a:lstStyle/>
          <a:p>
            <a:pPr marL="0" indent="0" algn="just">
              <a:buNone/>
            </a:pPr>
            <a:r>
              <a:rPr lang="en-IN" sz="2200" b="1" dirty="0" smtClean="0">
                <a:latin typeface="Times New Roman" panose="02020603050405020304" pitchFamily="18" charset="0"/>
                <a:cs typeface="Times New Roman" panose="02020603050405020304" pitchFamily="18" charset="0"/>
              </a:rPr>
              <a:t>METHODOLOGY</a:t>
            </a:r>
          </a:p>
          <a:p>
            <a:pPr algn="just">
              <a:lnSpc>
                <a:spcPct val="150000"/>
              </a:lnSpc>
            </a:pPr>
            <a:r>
              <a:rPr lang="en-US" sz="1900" dirty="0">
                <a:latin typeface="Times New Roman" panose="02020603050405020304" pitchFamily="18" charset="0"/>
                <a:cs typeface="Times New Roman" panose="02020603050405020304" pitchFamily="18" charset="0"/>
              </a:rPr>
              <a:t>The process begins with </a:t>
            </a:r>
            <a:r>
              <a:rPr lang="en-US" sz="1900" b="1" dirty="0">
                <a:latin typeface="Times New Roman" panose="02020603050405020304" pitchFamily="18" charset="0"/>
                <a:cs typeface="Times New Roman" panose="02020603050405020304" pitchFamily="18" charset="0"/>
              </a:rPr>
              <a:t>image acquisition and pre-processing</a:t>
            </a:r>
            <a:r>
              <a:rPr lang="en-US" sz="1900" dirty="0">
                <a:latin typeface="Times New Roman" panose="02020603050405020304" pitchFamily="18" charset="0"/>
                <a:cs typeface="Times New Roman" panose="02020603050405020304" pitchFamily="18" charset="0"/>
              </a:rPr>
              <a:t>, using techniques like noise reduction, binarization, deskewing, and edge detection to enhance text visibility. </a:t>
            </a:r>
            <a:r>
              <a:rPr lang="en-US" sz="1900" b="1" dirty="0">
                <a:latin typeface="Times New Roman" panose="02020603050405020304" pitchFamily="18" charset="0"/>
                <a:cs typeface="Times New Roman" panose="02020603050405020304" pitchFamily="18" charset="0"/>
              </a:rPr>
              <a:t>Text detection and localization</a:t>
            </a:r>
            <a:r>
              <a:rPr lang="en-US" sz="1900" dirty="0">
                <a:latin typeface="Times New Roman" panose="02020603050405020304" pitchFamily="18" charset="0"/>
                <a:cs typeface="Times New Roman" panose="02020603050405020304" pitchFamily="18" charset="0"/>
              </a:rPr>
              <a:t> are achieved through methods like Connected Component Analysis and bounding boxes, isolating text for OCR tools (e.g., Tesseract, EasyOCR).</a:t>
            </a:r>
          </a:p>
          <a:p>
            <a:pPr algn="just">
              <a:lnSpc>
                <a:spcPct val="150000"/>
              </a:lnSpc>
            </a:pPr>
            <a:r>
              <a:rPr lang="en-US" sz="1900" dirty="0">
                <a:latin typeface="Times New Roman" panose="02020603050405020304" pitchFamily="18" charset="0"/>
                <a:cs typeface="Times New Roman" panose="02020603050405020304" pitchFamily="18" charset="0"/>
              </a:rPr>
              <a:t>To support </a:t>
            </a:r>
            <a:r>
              <a:rPr lang="en-US" sz="1900" b="1" dirty="0">
                <a:latin typeface="Times New Roman" panose="02020603050405020304" pitchFamily="18" charset="0"/>
                <a:cs typeface="Times New Roman" panose="02020603050405020304" pitchFamily="18" charset="0"/>
              </a:rPr>
              <a:t>multilingual and complex scripts</a:t>
            </a:r>
            <a:r>
              <a:rPr lang="en-US" sz="1900" dirty="0">
                <a:latin typeface="Times New Roman" panose="02020603050405020304" pitchFamily="18" charset="0"/>
                <a:cs typeface="Times New Roman" panose="02020603050405020304" pitchFamily="18" charset="0"/>
              </a:rPr>
              <a:t>, language detection switches to appropriate OCR models, with custom deep learning models fine-tuned for handwriting or domain-specific text. Post-OCR processing structures the output into paragraphs, tables, or headings, applying NLP techniques like NER and keyword extraction for deeper analysis.</a:t>
            </a:r>
          </a:p>
          <a:p>
            <a:pPr algn="just">
              <a:lnSpc>
                <a:spcPct val="150000"/>
              </a:lnSpc>
            </a:pPr>
            <a:r>
              <a:rPr lang="en-US" sz="1900" dirty="0">
                <a:latin typeface="Times New Roman" panose="02020603050405020304" pitchFamily="18" charset="0"/>
                <a:cs typeface="Times New Roman" panose="02020603050405020304" pitchFamily="18" charset="0"/>
              </a:rPr>
              <a:t>Outputs are exported in formats like plain </a:t>
            </a:r>
            <a:r>
              <a:rPr lang="en-US" sz="1900" dirty="0" smtClean="0">
                <a:latin typeface="Times New Roman" panose="02020603050405020304" pitchFamily="18" charset="0"/>
                <a:cs typeface="Times New Roman" panose="02020603050405020304" pitchFamily="18" charset="0"/>
              </a:rPr>
              <a:t>text. Rigorous </a:t>
            </a:r>
            <a:r>
              <a:rPr lang="en-US" sz="1900" b="1" dirty="0">
                <a:latin typeface="Times New Roman" panose="02020603050405020304" pitchFamily="18" charset="0"/>
                <a:cs typeface="Times New Roman" panose="02020603050405020304" pitchFamily="18" charset="0"/>
              </a:rPr>
              <a:t>validation and testing</a:t>
            </a:r>
            <a:r>
              <a:rPr lang="en-US" sz="1900" dirty="0">
                <a:latin typeface="Times New Roman" panose="02020603050405020304" pitchFamily="18" charset="0"/>
                <a:cs typeface="Times New Roman" panose="02020603050405020304" pitchFamily="18" charset="0"/>
              </a:rPr>
              <a:t> ensure accuracy, scalability, and usability, with continuous improvements based on user feedback and new data. </a:t>
            </a:r>
          </a:p>
          <a:p>
            <a:pPr marL="0" indent="0" algn="just">
              <a:lnSpc>
                <a:spcPct val="150000"/>
              </a:lnSpc>
              <a:buNone/>
            </a:pPr>
            <a:endParaRPr lang="en-IN"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10</a:t>
            </a:fld>
            <a:endParaRPr lang="en-US" dirty="0"/>
          </a:p>
        </p:txBody>
      </p:sp>
    </p:spTree>
    <p:extLst>
      <p:ext uri="{BB962C8B-B14F-4D97-AF65-F5344CB8AC3E}">
        <p14:creationId xmlns:p14="http://schemas.microsoft.com/office/powerpoint/2010/main" val="12583323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algn="ctr" eaLnBrk="1" hangingPunct="1"/>
            <a:r>
              <a:rPr lang="en-US" sz="3200" b="1" dirty="0" smtClean="0">
                <a:latin typeface="Times New Roman" pitchFamily="18" charset="0"/>
                <a:cs typeface="Times New Roman" pitchFamily="18" charset="0"/>
              </a:rPr>
              <a:t>HARDWARE AND SOFTWARE REQUIREMENTS</a:t>
            </a:r>
            <a:endParaRPr lang="en-US" sz="3200" b="1" dirty="0">
              <a:latin typeface="Times New Roman" pitchFamily="18" charset="0"/>
              <a:cs typeface="Times New Roman" pitchFamily="18" charset="0"/>
            </a:endParaRPr>
          </a:p>
        </p:txBody>
      </p:sp>
      <p:sp>
        <p:nvSpPr>
          <p:cNvPr id="11267" name="Content Placeholder 2"/>
          <p:cNvSpPr>
            <a:spLocks noGrp="1"/>
          </p:cNvSpPr>
          <p:nvPr>
            <p:ph idx="1"/>
          </p:nvPr>
        </p:nvSpPr>
        <p:spPr/>
        <p:txBody>
          <a:bodyPr>
            <a:normAutofit/>
          </a:bodyPr>
          <a:lstStyle/>
          <a:p>
            <a:pPr algn="just" eaLnBrk="1" hangingPunct="1">
              <a:buFont typeface="Arial" charset="0"/>
              <a:buNone/>
            </a:pPr>
            <a:r>
              <a:rPr lang="en-US" sz="2600" b="1" dirty="0" smtClean="0">
                <a:latin typeface="Times New Roman" panose="02020603050405020304" pitchFamily="18" charset="0"/>
                <a:cs typeface="Times New Roman" panose="02020603050405020304" pitchFamily="18" charset="0"/>
              </a:rPr>
              <a:t>HARDWARE SPECIFICATION</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1.  </a:t>
            </a:r>
            <a:r>
              <a:rPr lang="en-IN" sz="2400" b="1" dirty="0">
                <a:latin typeface="Times New Roman" panose="02020603050405020304" pitchFamily="18" charset="0"/>
                <a:cs typeface="Times New Roman" panose="02020603050405020304" pitchFamily="18" charset="0"/>
              </a:rPr>
              <a:t>Processor (CPU</a:t>
            </a:r>
            <a:r>
              <a:rPr lang="en-IN" sz="2400" b="1" dirty="0" smtClean="0">
                <a:latin typeface="Times New Roman" panose="02020603050405020304" pitchFamily="18" charset="0"/>
                <a:cs typeface="Times New Roman" panose="02020603050405020304" pitchFamily="18" charset="0"/>
              </a:rPr>
              <a:t>):</a:t>
            </a:r>
            <a:r>
              <a:rPr lang="en-IN" sz="2200" dirty="0" smtClean="0">
                <a:latin typeface="Times New Roman" panose="02020603050405020304" pitchFamily="18" charset="0"/>
                <a:cs typeface="Times New Roman" panose="02020603050405020304" pitchFamily="18" charset="0"/>
              </a:rPr>
              <a:t>Recommended</a:t>
            </a:r>
            <a:r>
              <a:rPr lang="en-IN" sz="2200" dirty="0">
                <a:latin typeface="Times New Roman" panose="02020603050405020304" pitchFamily="18" charset="0"/>
                <a:cs typeface="Times New Roman" panose="02020603050405020304" pitchFamily="18" charset="0"/>
              </a:rPr>
              <a:t>: Intel Core i7/i9 or AMD </a:t>
            </a:r>
            <a:r>
              <a:rPr lang="en-IN" sz="2200" dirty="0" err="1">
                <a:latin typeface="Times New Roman" panose="02020603050405020304" pitchFamily="18" charset="0"/>
                <a:cs typeface="Times New Roman" panose="02020603050405020304" pitchFamily="18" charset="0"/>
              </a:rPr>
              <a:t>Ryzen</a:t>
            </a:r>
            <a:r>
              <a:rPr lang="en-IN" sz="2200" dirty="0">
                <a:latin typeface="Times New Roman" panose="02020603050405020304" pitchFamily="18" charset="0"/>
                <a:cs typeface="Times New Roman" panose="02020603050405020304" pitchFamily="18" charset="0"/>
              </a:rPr>
              <a:t> 7/9 (3.0 GHz or higher)</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2. </a:t>
            </a:r>
            <a:r>
              <a:rPr lang="en-IN" sz="2400" b="1" dirty="0">
                <a:latin typeface="Times New Roman" panose="02020603050405020304" pitchFamily="18" charset="0"/>
                <a:cs typeface="Times New Roman" panose="02020603050405020304" pitchFamily="18" charset="0"/>
              </a:rPr>
              <a:t>Graphics Processing Unit (GPU</a:t>
            </a:r>
            <a:r>
              <a:rPr lang="en-IN" sz="2400" b="1" dirty="0" smtClean="0">
                <a:latin typeface="Times New Roman" panose="02020603050405020304" pitchFamily="18" charset="0"/>
                <a:cs typeface="Times New Roman" panose="02020603050405020304" pitchFamily="18" charset="0"/>
              </a:rPr>
              <a:t>):</a:t>
            </a:r>
            <a:r>
              <a:rPr lang="en-IN" sz="2200" dirty="0" smtClean="0">
                <a:latin typeface="Times New Roman" panose="02020603050405020304" pitchFamily="18" charset="0"/>
                <a:cs typeface="Times New Roman" panose="02020603050405020304" pitchFamily="18" charset="0"/>
              </a:rPr>
              <a:t>Recommended</a:t>
            </a:r>
            <a:r>
              <a:rPr lang="en-IN" sz="2200" dirty="0">
                <a:latin typeface="Times New Roman" panose="02020603050405020304" pitchFamily="18" charset="0"/>
                <a:cs typeface="Times New Roman" panose="02020603050405020304" pitchFamily="18" charset="0"/>
              </a:rPr>
              <a:t>: NVIDIA RTX 3060 or higher (8 GB VRAM)</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3.  </a:t>
            </a:r>
            <a:r>
              <a:rPr lang="en-IN" sz="2400" b="1" dirty="0">
                <a:latin typeface="Times New Roman" panose="02020603050405020304" pitchFamily="18" charset="0"/>
                <a:cs typeface="Times New Roman" panose="02020603050405020304" pitchFamily="18" charset="0"/>
              </a:rPr>
              <a:t>Memory (RAM</a:t>
            </a:r>
            <a:r>
              <a:rPr lang="en-IN" sz="2400" b="1" dirty="0" smtClean="0">
                <a:latin typeface="Times New Roman" panose="02020603050405020304" pitchFamily="18" charset="0"/>
                <a:cs typeface="Times New Roman" panose="02020603050405020304" pitchFamily="18" charset="0"/>
              </a:rPr>
              <a:t>):</a:t>
            </a:r>
            <a:r>
              <a:rPr lang="en-IN" sz="2200" dirty="0" smtClean="0">
                <a:latin typeface="Times New Roman" panose="02020603050405020304" pitchFamily="18" charset="0"/>
                <a:cs typeface="Times New Roman" panose="02020603050405020304" pitchFamily="18" charset="0"/>
              </a:rPr>
              <a:t>Recommended</a:t>
            </a:r>
            <a:r>
              <a:rPr lang="en-IN" sz="2200" dirty="0">
                <a:latin typeface="Times New Roman" panose="02020603050405020304" pitchFamily="18" charset="0"/>
                <a:cs typeface="Times New Roman" panose="02020603050405020304" pitchFamily="18" charset="0"/>
              </a:rPr>
              <a:t>: 16 GB DDR4 or higher</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4.  </a:t>
            </a:r>
            <a:r>
              <a:rPr lang="en-IN" sz="2400" b="1" dirty="0">
                <a:latin typeface="Times New Roman" panose="02020603050405020304" pitchFamily="18" charset="0"/>
                <a:cs typeface="Times New Roman" panose="02020603050405020304" pitchFamily="18" charset="0"/>
              </a:rPr>
              <a:t>Camera or Image Input Device (Optional for Real-Time Applications</a:t>
            </a:r>
            <a:r>
              <a:rPr lang="en-IN" sz="2400" b="1" dirty="0" smtClean="0">
                <a:latin typeface="Times New Roman" panose="02020603050405020304" pitchFamily="18" charset="0"/>
                <a:cs typeface="Times New Roman" panose="02020603050405020304" pitchFamily="18" charset="0"/>
              </a:rPr>
              <a:t>):</a:t>
            </a:r>
            <a:r>
              <a:rPr lang="en-IN" sz="2200" dirty="0" smtClean="0">
                <a:latin typeface="Times New Roman" panose="02020603050405020304" pitchFamily="18" charset="0"/>
                <a:cs typeface="Times New Roman" panose="02020603050405020304" pitchFamily="18" charset="0"/>
              </a:rPr>
              <a:t>Minimum</a:t>
            </a:r>
            <a:r>
              <a:rPr lang="en-IN" sz="2200" dirty="0">
                <a:latin typeface="Times New Roman" panose="02020603050405020304" pitchFamily="18" charset="0"/>
                <a:cs typeface="Times New Roman" panose="02020603050405020304" pitchFamily="18" charset="0"/>
              </a:rPr>
              <a:t>: 12 MP resolution, USB or integrated camera</a:t>
            </a:r>
          </a:p>
          <a:p>
            <a:pPr algn="just" eaLnBrk="1" hangingPunct="1">
              <a:lnSpc>
                <a:spcPct val="160000"/>
              </a:lnSpc>
              <a:buFont typeface="Arial" charset="0"/>
              <a:buNone/>
            </a:pPr>
            <a:endParaRPr lang="en-US" sz="2400"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D285628A-1F22-47FD-9A8D-DF8F51CE94F4}" type="slidenum">
              <a:rPr lang="en-US"/>
              <a:pPr>
                <a:defRPr/>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algn="ctr" eaLnBrk="1" hangingPunct="1"/>
            <a:r>
              <a:rPr lang="en-US" sz="3200" b="1" dirty="0" smtClean="0">
                <a:latin typeface="Times New Roman" pitchFamily="18" charset="0"/>
                <a:cs typeface="Times New Roman" pitchFamily="18" charset="0"/>
              </a:rPr>
              <a:t>HARDWARE AND SOFTWARE REQUIREMENTS</a:t>
            </a:r>
            <a:endParaRPr lang="en-US" sz="3200" b="1" dirty="0">
              <a:latin typeface="Times New Roman" pitchFamily="18" charset="0"/>
              <a:cs typeface="Times New Roman" pitchFamily="18" charset="0"/>
            </a:endParaRPr>
          </a:p>
        </p:txBody>
      </p:sp>
      <p:sp>
        <p:nvSpPr>
          <p:cNvPr id="11267" name="Content Placeholder 2"/>
          <p:cNvSpPr>
            <a:spLocks noGrp="1"/>
          </p:cNvSpPr>
          <p:nvPr>
            <p:ph idx="1"/>
          </p:nvPr>
        </p:nvSpPr>
        <p:spPr/>
        <p:txBody>
          <a:bodyPr>
            <a:normAutofit/>
          </a:bodyPr>
          <a:lstStyle/>
          <a:p>
            <a:pPr algn="just" eaLnBrk="1" hangingPunct="1">
              <a:buFont typeface="Arial" charset="0"/>
              <a:buNone/>
            </a:pPr>
            <a:r>
              <a:rPr lang="en-US" sz="2600" b="1" dirty="0" smtClean="0">
                <a:latin typeface="Times New Roman" panose="02020603050405020304" pitchFamily="18" charset="0"/>
                <a:cs typeface="Times New Roman" panose="02020603050405020304" pitchFamily="18" charset="0"/>
              </a:rPr>
              <a:t>SOFTWARE SPECIFICATION</a:t>
            </a:r>
          </a:p>
          <a:p>
            <a:pPr marL="514350" lvl="0" indent="-514350" algn="just">
              <a:lnSpc>
                <a:spcPct val="150000"/>
              </a:lnSpc>
              <a:buFont typeface="+mj-lt"/>
              <a:buAutoNum type="arabicPeriod"/>
            </a:pPr>
            <a:r>
              <a:rPr lang="en-IN" sz="2600" b="1" dirty="0">
                <a:latin typeface="Times New Roman" panose="02020603050405020304" pitchFamily="18" charset="0"/>
                <a:cs typeface="Times New Roman" panose="02020603050405020304" pitchFamily="18" charset="0"/>
              </a:rPr>
              <a:t>Operating </a:t>
            </a:r>
            <a:r>
              <a:rPr lang="en-IN" sz="2600" b="1" dirty="0" smtClean="0">
                <a:latin typeface="Times New Roman" panose="02020603050405020304" pitchFamily="18" charset="0"/>
                <a:cs typeface="Times New Roman" panose="02020603050405020304" pitchFamily="18" charset="0"/>
              </a:rPr>
              <a:t>System: </a:t>
            </a:r>
            <a:r>
              <a:rPr lang="en-IN" sz="2200" dirty="0" smtClean="0">
                <a:latin typeface="Times New Roman" panose="02020603050405020304" pitchFamily="18" charset="0"/>
                <a:cs typeface="Times New Roman" panose="02020603050405020304" pitchFamily="18" charset="0"/>
              </a:rPr>
              <a:t>Windows</a:t>
            </a:r>
            <a:r>
              <a:rPr lang="en-IN" sz="2200" dirty="0">
                <a:latin typeface="Times New Roman" panose="02020603050405020304" pitchFamily="18" charset="0"/>
                <a:cs typeface="Times New Roman" panose="02020603050405020304" pitchFamily="18" charset="0"/>
              </a:rPr>
              <a:t>, Linux (Ubuntu), or </a:t>
            </a:r>
            <a:r>
              <a:rPr lang="en-IN" sz="2200" dirty="0" err="1">
                <a:latin typeface="Times New Roman" panose="02020603050405020304" pitchFamily="18" charset="0"/>
                <a:cs typeface="Times New Roman" panose="02020603050405020304" pitchFamily="18" charset="0"/>
              </a:rPr>
              <a:t>macOS</a:t>
            </a:r>
            <a:endParaRPr lang="en-IN" sz="2200" dirty="0">
              <a:latin typeface="Times New Roman" panose="02020603050405020304" pitchFamily="18" charset="0"/>
              <a:cs typeface="Times New Roman" panose="02020603050405020304" pitchFamily="18" charset="0"/>
            </a:endParaRPr>
          </a:p>
          <a:p>
            <a:pPr marL="514350" lvl="0" indent="-514350" algn="just">
              <a:lnSpc>
                <a:spcPct val="150000"/>
              </a:lnSpc>
              <a:buFont typeface="+mj-lt"/>
              <a:buAutoNum type="arabicPeriod"/>
            </a:pPr>
            <a:r>
              <a:rPr lang="en-IN" sz="2600" b="1" dirty="0">
                <a:latin typeface="Times New Roman" panose="02020603050405020304" pitchFamily="18" charset="0"/>
                <a:cs typeface="Times New Roman" panose="02020603050405020304" pitchFamily="18" charset="0"/>
              </a:rPr>
              <a:t>Programming </a:t>
            </a:r>
            <a:r>
              <a:rPr lang="en-IN" sz="2600" b="1" dirty="0" smtClean="0">
                <a:latin typeface="Times New Roman" panose="02020603050405020304" pitchFamily="18" charset="0"/>
                <a:cs typeface="Times New Roman" panose="02020603050405020304" pitchFamily="18" charset="0"/>
              </a:rPr>
              <a:t>Language:</a:t>
            </a:r>
            <a:r>
              <a:rPr lang="en-IN" sz="2600" dirty="0" smtClean="0">
                <a:latin typeface="Times New Roman" panose="02020603050405020304" pitchFamily="18" charset="0"/>
                <a:cs typeface="Times New Roman" panose="02020603050405020304" pitchFamily="18" charset="0"/>
              </a:rPr>
              <a:t> </a:t>
            </a:r>
            <a:r>
              <a:rPr lang="en-IN" sz="2200" dirty="0" smtClean="0">
                <a:latin typeface="Times New Roman" panose="02020603050405020304" pitchFamily="18" charset="0"/>
                <a:cs typeface="Times New Roman" panose="02020603050405020304" pitchFamily="18" charset="0"/>
              </a:rPr>
              <a:t>Python </a:t>
            </a:r>
            <a:r>
              <a:rPr lang="en-IN" sz="2200" dirty="0">
                <a:latin typeface="Times New Roman" panose="02020603050405020304" pitchFamily="18" charset="0"/>
                <a:cs typeface="Times New Roman" panose="02020603050405020304" pitchFamily="18" charset="0"/>
              </a:rPr>
              <a:t>(preferred), C++, or Java</a:t>
            </a:r>
          </a:p>
          <a:p>
            <a:pPr marL="514350" lvl="0" indent="-514350" algn="just">
              <a:lnSpc>
                <a:spcPct val="150000"/>
              </a:lnSpc>
              <a:buFont typeface="+mj-lt"/>
              <a:buAutoNum type="arabicPeriod"/>
            </a:pPr>
            <a:r>
              <a:rPr lang="en-IN" sz="2600" b="1" dirty="0">
                <a:latin typeface="Times New Roman" panose="02020603050405020304" pitchFamily="18" charset="0"/>
                <a:cs typeface="Times New Roman" panose="02020603050405020304" pitchFamily="18" charset="0"/>
              </a:rPr>
              <a:t>OCR </a:t>
            </a:r>
            <a:r>
              <a:rPr lang="en-IN" sz="2600" b="1" dirty="0" smtClean="0">
                <a:latin typeface="Times New Roman" panose="02020603050405020304" pitchFamily="18" charset="0"/>
                <a:cs typeface="Times New Roman" panose="02020603050405020304" pitchFamily="18" charset="0"/>
              </a:rPr>
              <a:t>Engine: </a:t>
            </a:r>
            <a:r>
              <a:rPr lang="en-IN" sz="2200" dirty="0" smtClean="0">
                <a:latin typeface="Times New Roman" panose="02020603050405020304" pitchFamily="18" charset="0"/>
                <a:cs typeface="Times New Roman" panose="02020603050405020304" pitchFamily="18" charset="0"/>
              </a:rPr>
              <a:t>Tesseract </a:t>
            </a:r>
            <a:r>
              <a:rPr lang="en-IN" sz="2200" dirty="0">
                <a:latin typeface="Times New Roman" panose="02020603050405020304" pitchFamily="18" charset="0"/>
                <a:cs typeface="Times New Roman" panose="02020603050405020304" pitchFamily="18" charset="0"/>
              </a:rPr>
              <a:t>OCR, </a:t>
            </a:r>
            <a:r>
              <a:rPr lang="en-IN" sz="2200" dirty="0" err="1">
                <a:latin typeface="Times New Roman" panose="02020603050405020304" pitchFamily="18" charset="0"/>
                <a:cs typeface="Times New Roman" panose="02020603050405020304" pitchFamily="18" charset="0"/>
              </a:rPr>
              <a:t>EasyOCR</a:t>
            </a:r>
            <a:r>
              <a:rPr lang="en-IN" sz="2200" dirty="0">
                <a:latin typeface="Times New Roman" panose="02020603050405020304" pitchFamily="18" charset="0"/>
                <a:cs typeface="Times New Roman" panose="02020603050405020304" pitchFamily="18" charset="0"/>
              </a:rPr>
              <a:t>, or Google Cloud Vision API</a:t>
            </a:r>
          </a:p>
          <a:p>
            <a:pPr marL="514350" lvl="0" indent="-514350" algn="just">
              <a:lnSpc>
                <a:spcPct val="150000"/>
              </a:lnSpc>
              <a:buFont typeface="+mj-lt"/>
              <a:buAutoNum type="arabicPeriod"/>
            </a:pPr>
            <a:r>
              <a:rPr lang="en-IN" sz="2600" b="1" dirty="0">
                <a:latin typeface="Times New Roman" panose="02020603050405020304" pitchFamily="18" charset="0"/>
                <a:cs typeface="Times New Roman" panose="02020603050405020304" pitchFamily="18" charset="0"/>
              </a:rPr>
              <a:t>Image Processing </a:t>
            </a:r>
            <a:r>
              <a:rPr lang="en-IN" sz="2600" b="1" dirty="0" smtClean="0">
                <a:latin typeface="Times New Roman" panose="02020603050405020304" pitchFamily="18" charset="0"/>
                <a:cs typeface="Times New Roman" panose="02020603050405020304" pitchFamily="18" charset="0"/>
              </a:rPr>
              <a:t>Libraries:</a:t>
            </a:r>
            <a:r>
              <a:rPr lang="en-IN" sz="2600" dirty="0" smtClean="0">
                <a:latin typeface="Times New Roman" panose="02020603050405020304" pitchFamily="18" charset="0"/>
                <a:cs typeface="Times New Roman" panose="02020603050405020304" pitchFamily="18" charset="0"/>
              </a:rPr>
              <a:t> </a:t>
            </a:r>
            <a:r>
              <a:rPr lang="en-IN" sz="2200" dirty="0" err="1" smtClean="0">
                <a:latin typeface="Times New Roman" panose="02020603050405020304" pitchFamily="18" charset="0"/>
                <a:cs typeface="Times New Roman" panose="02020603050405020304" pitchFamily="18" charset="0"/>
              </a:rPr>
              <a:t>OpenCV</a:t>
            </a:r>
            <a:r>
              <a:rPr lang="en-IN" sz="2200" dirty="0">
                <a:latin typeface="Times New Roman" panose="02020603050405020304" pitchFamily="18" charset="0"/>
                <a:cs typeface="Times New Roman" panose="02020603050405020304" pitchFamily="18" charset="0"/>
              </a:rPr>
              <a:t>, Pillow, </a:t>
            </a:r>
            <a:r>
              <a:rPr lang="en-IN" sz="2200" dirty="0" err="1">
                <a:latin typeface="Times New Roman" panose="02020603050405020304" pitchFamily="18" charset="0"/>
                <a:cs typeface="Times New Roman" panose="02020603050405020304" pitchFamily="18" charset="0"/>
              </a:rPr>
              <a:t>scikit</a:t>
            </a:r>
            <a:r>
              <a:rPr lang="en-IN" sz="2200" dirty="0">
                <a:latin typeface="Times New Roman" panose="02020603050405020304" pitchFamily="18" charset="0"/>
                <a:cs typeface="Times New Roman" panose="02020603050405020304" pitchFamily="18" charset="0"/>
              </a:rPr>
              <a:t>-image</a:t>
            </a:r>
          </a:p>
          <a:p>
            <a:pPr marL="514350" lvl="0" indent="-514350" algn="just">
              <a:lnSpc>
                <a:spcPct val="150000"/>
              </a:lnSpc>
              <a:buFont typeface="+mj-lt"/>
              <a:buAutoNum type="arabicPeriod"/>
            </a:pPr>
            <a:r>
              <a:rPr lang="en-IN" sz="2600" b="1" dirty="0" smtClean="0">
                <a:latin typeface="Times New Roman" panose="02020603050405020304" pitchFamily="18" charset="0"/>
                <a:cs typeface="Times New Roman" panose="02020603050405020304" pitchFamily="18" charset="0"/>
              </a:rPr>
              <a:t>Text </a:t>
            </a:r>
            <a:r>
              <a:rPr lang="en-IN" sz="2600" b="1" dirty="0">
                <a:latin typeface="Times New Roman" panose="02020603050405020304" pitchFamily="18" charset="0"/>
                <a:cs typeface="Times New Roman" panose="02020603050405020304" pitchFamily="18" charset="0"/>
              </a:rPr>
              <a:t>Processing </a:t>
            </a:r>
            <a:r>
              <a:rPr lang="en-IN" sz="2600" b="1" dirty="0" smtClean="0">
                <a:latin typeface="Times New Roman" panose="02020603050405020304" pitchFamily="18" charset="0"/>
                <a:cs typeface="Times New Roman" panose="02020603050405020304" pitchFamily="18" charset="0"/>
              </a:rPr>
              <a:t>Libraries:</a:t>
            </a:r>
            <a:r>
              <a:rPr lang="en-IN" sz="2600" dirty="0" smtClean="0">
                <a:latin typeface="Times New Roman" panose="02020603050405020304" pitchFamily="18" charset="0"/>
                <a:cs typeface="Times New Roman" panose="02020603050405020304" pitchFamily="18" charset="0"/>
              </a:rPr>
              <a:t> </a:t>
            </a:r>
            <a:r>
              <a:rPr lang="en-IN" sz="2200" dirty="0" smtClean="0">
                <a:latin typeface="Times New Roman" panose="02020603050405020304" pitchFamily="18" charset="0"/>
                <a:cs typeface="Times New Roman" panose="02020603050405020304" pitchFamily="18" charset="0"/>
              </a:rPr>
              <a:t>NLTK</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SpaCy</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TextBlob</a:t>
            </a:r>
            <a:endParaRPr lang="en-IN" sz="2200" dirty="0">
              <a:latin typeface="Times New Roman" panose="02020603050405020304" pitchFamily="18" charset="0"/>
              <a:cs typeface="Times New Roman" panose="02020603050405020304" pitchFamily="18" charset="0"/>
            </a:endParaRPr>
          </a:p>
          <a:p>
            <a:pPr algn="just" eaLnBrk="1" hangingPunct="1">
              <a:lnSpc>
                <a:spcPct val="150000"/>
              </a:lnSpc>
              <a:buFont typeface="Arial" charset="0"/>
              <a:buNone/>
            </a:pPr>
            <a:endParaRPr lang="en-US" sz="2600" b="1" dirty="0" smtClean="0">
              <a:latin typeface="Times New Roman" panose="02020603050405020304" pitchFamily="18" charset="0"/>
              <a:cs typeface="Times New Roman" panose="02020603050405020304" pitchFamily="18" charset="0"/>
            </a:endParaRPr>
          </a:p>
          <a:p>
            <a:pPr algn="just" eaLnBrk="1" hangingPunct="1">
              <a:buFont typeface="Arial" charset="0"/>
              <a:buNone/>
            </a:pPr>
            <a:endParaRPr lang="en-US" sz="2400"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D285628A-1F22-47FD-9A8D-DF8F51CE94F4}" type="slidenum">
              <a:rPr lang="en-US"/>
              <a:pPr>
                <a:defRPr/>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lgn="ctr"/>
            <a:r>
              <a:rPr lang="en-US" b="1" dirty="0" smtClean="0">
                <a:latin typeface="Times New Roman" panose="02020603050405020304" pitchFamily="18" charset="0"/>
                <a:cs typeface="Times New Roman" panose="02020603050405020304" pitchFamily="18" charset="0"/>
              </a:rPr>
              <a:t/>
            </a:r>
            <a:br>
              <a:rPr lang="en-US" b="1" dirty="0" smtClean="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ARCHITECTURE DIAGRAM</a:t>
            </a:r>
            <a:r>
              <a:rPr lang="en-IN" b="1" dirty="0" smtClean="0">
                <a:latin typeface="Times New Roman" panose="02020603050405020304" pitchFamily="18" charset="0"/>
                <a:cs typeface="Times New Roman" panose="02020603050405020304" pitchFamily="18" charset="0"/>
              </a:rPr>
              <a:t/>
            </a:r>
            <a:br>
              <a:rPr lang="en-IN" b="1" dirty="0" smtClean="0">
                <a:latin typeface="Times New Roman" panose="02020603050405020304" pitchFamily="18" charset="0"/>
                <a:cs typeface="Times New Roman" panose="02020603050405020304" pitchFamily="18" charset="0"/>
              </a:rPr>
            </a:br>
            <a:r>
              <a:rPr lang="en-IN" dirty="0" smtClean="0"/>
              <a:t/>
            </a:r>
            <a:br>
              <a:rPr lang="en-IN" dirty="0" smtClean="0"/>
            </a:br>
            <a:endParaRPr lang="en-IN" dirty="0"/>
          </a:p>
        </p:txBody>
      </p:sp>
      <p:sp>
        <p:nvSpPr>
          <p:cNvPr id="3" name="Content Placeholder 2"/>
          <p:cNvSpPr>
            <a:spLocks noGrp="1"/>
          </p:cNvSpPr>
          <p:nvPr>
            <p:ph idx="1"/>
          </p:nvPr>
        </p:nvSpPr>
        <p:spPr>
          <a:xfrm>
            <a:off x="513347" y="1600201"/>
            <a:ext cx="11069053" cy="4840704"/>
          </a:xfrm>
        </p:spPr>
        <p:txBody>
          <a:bodyPr/>
          <a:lstStyle/>
          <a:p>
            <a:pPr marL="0" indent="0">
              <a:buNone/>
            </a:pPr>
            <a:endParaRPr lang="en-IN" dirty="0"/>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13</a:t>
            </a:fld>
            <a:endParaRPr lang="en-US"/>
          </a:p>
        </p:txBody>
      </p:sp>
      <p:pic>
        <p:nvPicPr>
          <p:cNvPr id="6" name="Picture 5" descr="C:\Users\chara\AppData\Local\Packages\5319275A.WhatsAppDesktop_cv1g1gvanyjgm\TempState\07F75D9144912970DE5A09F5A305E10C\WhatsApp Image 2024-11-23 at 00.07.33_949b1591.jpg"/>
          <p:cNvPicPr/>
          <p:nvPr/>
        </p:nvPicPr>
        <p:blipFill>
          <a:blip r:embed="rId2">
            <a:extLst>
              <a:ext uri="{28A0092B-C50C-407E-A947-70E740481C1C}">
                <a14:useLocalDpi xmlns:a14="http://schemas.microsoft.com/office/drawing/2010/main" val="0"/>
              </a:ext>
            </a:extLst>
          </a:blip>
          <a:srcRect/>
          <a:stretch>
            <a:fillRect/>
          </a:stretch>
        </p:blipFill>
        <p:spPr bwMode="auto">
          <a:xfrm>
            <a:off x="2988043" y="2116755"/>
            <a:ext cx="6048000" cy="4248000"/>
          </a:xfrm>
          <a:prstGeom prst="rect">
            <a:avLst/>
          </a:prstGeom>
          <a:ln>
            <a:noFill/>
          </a:ln>
          <a:effectLst>
            <a:softEdge rad="112500"/>
          </a:effectLst>
        </p:spPr>
      </p:pic>
    </p:spTree>
    <p:extLst>
      <p:ext uri="{BB962C8B-B14F-4D97-AF65-F5344CB8AC3E}">
        <p14:creationId xmlns:p14="http://schemas.microsoft.com/office/powerpoint/2010/main" val="34342497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itchFamily="18" charset="0"/>
                <a:cs typeface="Times New Roman" pitchFamily="18" charset="0"/>
              </a:rPr>
              <a:t>TESTING</a:t>
            </a:r>
          </a:p>
        </p:txBody>
      </p:sp>
      <p:sp>
        <p:nvSpPr>
          <p:cNvPr id="3" name="Content Placeholder 2"/>
          <p:cNvSpPr>
            <a:spLocks noGrp="1"/>
          </p:cNvSpPr>
          <p:nvPr>
            <p:ph idx="1"/>
          </p:nvPr>
        </p:nvSpPr>
        <p:spPr/>
        <p:txBody>
          <a:bodyPr>
            <a:normAutofit fontScale="47500" lnSpcReduction="20000"/>
          </a:bodyPr>
          <a:lstStyle/>
          <a:p>
            <a:pPr marL="0" indent="0" algn="just">
              <a:lnSpc>
                <a:spcPct val="160000"/>
              </a:lnSpc>
              <a:buNone/>
            </a:pPr>
            <a:r>
              <a:rPr lang="en-US" sz="4000" b="1" dirty="0">
                <a:latin typeface="Times New Roman" panose="02020603050405020304" pitchFamily="18" charset="0"/>
                <a:cs typeface="Times New Roman" panose="02020603050405020304" pitchFamily="18" charset="0"/>
              </a:rPr>
              <a:t>Test Case 1: Upload Valid Image</a:t>
            </a:r>
            <a:endParaRPr lang="en-IN" sz="4000" b="1" dirty="0">
              <a:latin typeface="Times New Roman" panose="02020603050405020304" pitchFamily="18" charset="0"/>
              <a:cs typeface="Times New Roman" panose="02020603050405020304" pitchFamily="18" charset="0"/>
            </a:endParaRPr>
          </a:p>
          <a:p>
            <a:pPr marL="400050" lvl="1" indent="0" algn="just">
              <a:lnSpc>
                <a:spcPct val="160000"/>
              </a:lnSpc>
              <a:buNone/>
            </a:pPr>
            <a:r>
              <a:rPr lang="en-US" sz="3400" b="1" dirty="0">
                <a:latin typeface="Times New Roman" panose="02020603050405020304" pitchFamily="18" charset="0"/>
                <a:cs typeface="Times New Roman" panose="02020603050405020304" pitchFamily="18" charset="0"/>
              </a:rPr>
              <a:t>Objective</a:t>
            </a:r>
            <a:r>
              <a:rPr lang="en-US" sz="3400" dirty="0">
                <a:latin typeface="Times New Roman" panose="02020603050405020304" pitchFamily="18" charset="0"/>
                <a:cs typeface="Times New Roman" panose="02020603050405020304" pitchFamily="18" charset="0"/>
              </a:rPr>
              <a:t>: Ensure the system accepts valid image files.</a:t>
            </a:r>
            <a:endParaRPr lang="en-IN" sz="3400" dirty="0">
              <a:latin typeface="Times New Roman" panose="02020603050405020304" pitchFamily="18" charset="0"/>
              <a:cs typeface="Times New Roman" panose="02020603050405020304" pitchFamily="18" charset="0"/>
            </a:endParaRPr>
          </a:p>
          <a:p>
            <a:pPr marL="400050" lvl="1" indent="0" algn="just">
              <a:lnSpc>
                <a:spcPct val="160000"/>
              </a:lnSpc>
              <a:buNone/>
            </a:pPr>
            <a:r>
              <a:rPr lang="en-US" sz="3400" b="1" dirty="0">
                <a:latin typeface="Times New Roman" panose="02020603050405020304" pitchFamily="18" charset="0"/>
                <a:cs typeface="Times New Roman" panose="02020603050405020304" pitchFamily="18" charset="0"/>
              </a:rPr>
              <a:t>Expected Result</a:t>
            </a:r>
            <a:r>
              <a:rPr lang="en-US" sz="3400" dirty="0">
                <a:latin typeface="Times New Roman" panose="02020603050405020304" pitchFamily="18" charset="0"/>
                <a:cs typeface="Times New Roman" panose="02020603050405020304" pitchFamily="18" charset="0"/>
              </a:rPr>
              <a:t>: The image is successfully uploaded, and the system proceeds to the preprocessing </a:t>
            </a:r>
            <a:r>
              <a:rPr lang="en-US" sz="3400" dirty="0" smtClean="0">
                <a:latin typeface="Times New Roman" panose="02020603050405020304" pitchFamily="18" charset="0"/>
                <a:cs typeface="Times New Roman" panose="02020603050405020304" pitchFamily="18" charset="0"/>
              </a:rPr>
              <a:t>stage</a:t>
            </a:r>
            <a:r>
              <a:rPr lang="en-US" sz="3200" dirty="0" smtClean="0">
                <a:latin typeface="Times New Roman" panose="02020603050405020304" pitchFamily="18" charset="0"/>
                <a:cs typeface="Times New Roman" panose="02020603050405020304" pitchFamily="18" charset="0"/>
              </a:rPr>
              <a:t>.</a:t>
            </a:r>
          </a:p>
          <a:p>
            <a:pPr marL="0" indent="0" algn="just">
              <a:lnSpc>
                <a:spcPct val="160000"/>
              </a:lnSpc>
              <a:buNone/>
            </a:pPr>
            <a:r>
              <a:rPr lang="en-US" sz="4000" b="1" dirty="0">
                <a:latin typeface="Times New Roman" panose="02020603050405020304" pitchFamily="18" charset="0"/>
                <a:cs typeface="Times New Roman" panose="02020603050405020304" pitchFamily="18" charset="0"/>
              </a:rPr>
              <a:t>Test Case 2: Text Detection Accuracy</a:t>
            </a:r>
            <a:endParaRPr lang="en-IN" sz="4000" b="1" dirty="0">
              <a:latin typeface="Times New Roman" panose="02020603050405020304" pitchFamily="18" charset="0"/>
              <a:cs typeface="Times New Roman" panose="02020603050405020304" pitchFamily="18" charset="0"/>
            </a:endParaRPr>
          </a:p>
          <a:p>
            <a:pPr marL="400050" lvl="1" indent="0" algn="just">
              <a:lnSpc>
                <a:spcPct val="160000"/>
              </a:lnSpc>
              <a:buNone/>
            </a:pPr>
            <a:r>
              <a:rPr lang="en-US" sz="3300" b="1" dirty="0">
                <a:latin typeface="Times New Roman" panose="02020603050405020304" pitchFamily="18" charset="0"/>
                <a:cs typeface="Times New Roman" panose="02020603050405020304" pitchFamily="18" charset="0"/>
              </a:rPr>
              <a:t>Objective</a:t>
            </a:r>
            <a:r>
              <a:rPr lang="en-US" sz="3300" dirty="0">
                <a:latin typeface="Times New Roman" panose="02020603050405020304" pitchFamily="18" charset="0"/>
                <a:cs typeface="Times New Roman" panose="02020603050405020304" pitchFamily="18" charset="0"/>
              </a:rPr>
              <a:t>: Ensure text regions are accurately identified.</a:t>
            </a:r>
            <a:endParaRPr lang="en-IN" sz="3300" dirty="0">
              <a:latin typeface="Times New Roman" panose="02020603050405020304" pitchFamily="18" charset="0"/>
              <a:cs typeface="Times New Roman" panose="02020603050405020304" pitchFamily="18" charset="0"/>
            </a:endParaRPr>
          </a:p>
          <a:p>
            <a:pPr marL="400050" lvl="1" indent="0" algn="just">
              <a:lnSpc>
                <a:spcPct val="160000"/>
              </a:lnSpc>
              <a:buNone/>
            </a:pPr>
            <a:r>
              <a:rPr lang="en-US" sz="3300" b="1" dirty="0">
                <a:latin typeface="Times New Roman" panose="02020603050405020304" pitchFamily="18" charset="0"/>
                <a:cs typeface="Times New Roman" panose="02020603050405020304" pitchFamily="18" charset="0"/>
              </a:rPr>
              <a:t>Expected Result</a:t>
            </a:r>
            <a:r>
              <a:rPr lang="en-US" sz="3300" dirty="0">
                <a:latin typeface="Times New Roman" panose="02020603050405020304" pitchFamily="18" charset="0"/>
                <a:cs typeface="Times New Roman" panose="02020603050405020304" pitchFamily="18" charset="0"/>
              </a:rPr>
              <a:t>: The system correctly identifies all text regions and highlights them with bounding boxes.</a:t>
            </a:r>
            <a:endParaRPr lang="en-IN" sz="3300" dirty="0">
              <a:latin typeface="Times New Roman" panose="02020603050405020304" pitchFamily="18" charset="0"/>
              <a:cs typeface="Times New Roman" panose="02020603050405020304" pitchFamily="18" charset="0"/>
            </a:endParaRPr>
          </a:p>
          <a:p>
            <a:pPr marL="0" indent="0" algn="just">
              <a:lnSpc>
                <a:spcPct val="160000"/>
              </a:lnSpc>
              <a:buNone/>
            </a:pPr>
            <a:r>
              <a:rPr lang="en-US" sz="4000" b="1" dirty="0">
                <a:latin typeface="Times New Roman" panose="02020603050405020304" pitchFamily="18" charset="0"/>
                <a:cs typeface="Times New Roman" panose="02020603050405020304" pitchFamily="18" charset="0"/>
              </a:rPr>
              <a:t>Test Case 3: OCR Text Extraction</a:t>
            </a:r>
            <a:endParaRPr lang="en-IN" sz="4000" b="1" dirty="0">
              <a:latin typeface="Times New Roman" panose="02020603050405020304" pitchFamily="18" charset="0"/>
              <a:cs typeface="Times New Roman" panose="02020603050405020304" pitchFamily="18" charset="0"/>
            </a:endParaRPr>
          </a:p>
          <a:p>
            <a:pPr marL="400050" lvl="1" indent="0" algn="just">
              <a:lnSpc>
                <a:spcPct val="160000"/>
              </a:lnSpc>
              <a:buNone/>
            </a:pPr>
            <a:r>
              <a:rPr lang="en-US" sz="3300" b="1" dirty="0">
                <a:latin typeface="Times New Roman" panose="02020603050405020304" pitchFamily="18" charset="0"/>
                <a:cs typeface="Times New Roman" panose="02020603050405020304" pitchFamily="18" charset="0"/>
              </a:rPr>
              <a:t>Objective</a:t>
            </a:r>
            <a:r>
              <a:rPr lang="en-US" sz="3300" dirty="0">
                <a:latin typeface="Times New Roman" panose="02020603050405020304" pitchFamily="18" charset="0"/>
                <a:cs typeface="Times New Roman" panose="02020603050405020304" pitchFamily="18" charset="0"/>
              </a:rPr>
              <a:t>: Verify OCR extracts text accurately from detected regions.</a:t>
            </a:r>
            <a:endParaRPr lang="en-IN" sz="3300" dirty="0">
              <a:latin typeface="Times New Roman" panose="02020603050405020304" pitchFamily="18" charset="0"/>
              <a:cs typeface="Times New Roman" panose="02020603050405020304" pitchFamily="18" charset="0"/>
            </a:endParaRPr>
          </a:p>
          <a:p>
            <a:pPr marL="400050" lvl="1" indent="0" algn="just">
              <a:lnSpc>
                <a:spcPct val="160000"/>
              </a:lnSpc>
              <a:buNone/>
            </a:pPr>
            <a:r>
              <a:rPr lang="en-US" sz="3300" b="1" dirty="0">
                <a:latin typeface="Times New Roman" panose="02020603050405020304" pitchFamily="18" charset="0"/>
                <a:cs typeface="Times New Roman" panose="02020603050405020304" pitchFamily="18" charset="0"/>
              </a:rPr>
              <a:t>Expected Result</a:t>
            </a:r>
            <a:r>
              <a:rPr lang="en-US" sz="3300" dirty="0">
                <a:latin typeface="Times New Roman" panose="02020603050405020304" pitchFamily="18" charset="0"/>
                <a:cs typeface="Times New Roman" panose="02020603050405020304" pitchFamily="18" charset="0"/>
              </a:rPr>
              <a:t>: The system extracts text with over 90% accuracy.</a:t>
            </a:r>
            <a:endParaRPr lang="en-IN" sz="3300" dirty="0">
              <a:latin typeface="Times New Roman" panose="02020603050405020304" pitchFamily="18" charset="0"/>
              <a:cs typeface="Times New Roman" panose="02020603050405020304" pitchFamily="18" charset="0"/>
            </a:endParaRPr>
          </a:p>
          <a:p>
            <a:pPr marL="400050" lvl="1" indent="0" algn="just">
              <a:lnSpc>
                <a:spcPct val="160000"/>
              </a:lnSpc>
              <a:buNone/>
            </a:pPr>
            <a:endParaRPr lang="en-IN" sz="3300" dirty="0">
              <a:latin typeface="Times New Roman" panose="02020603050405020304" pitchFamily="18" charset="0"/>
              <a:cs typeface="Times New Roman" panose="02020603050405020304" pitchFamily="18" charset="0"/>
            </a:endParaRPr>
          </a:p>
          <a:p>
            <a:pPr marL="400050" lvl="1" indent="0" algn="just">
              <a:buNone/>
            </a:pPr>
            <a:endParaRPr lang="en-US" sz="22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14</a:t>
            </a:fld>
            <a:endParaRPr lang="en-US"/>
          </a:p>
        </p:txBody>
      </p:sp>
    </p:spTree>
    <p:extLst>
      <p:ext uri="{BB962C8B-B14F-4D97-AF65-F5344CB8AC3E}">
        <p14:creationId xmlns:p14="http://schemas.microsoft.com/office/powerpoint/2010/main" val="19939647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RESULTS</a:t>
            </a:r>
            <a:endParaRPr lang="en-IN" dirty="0"/>
          </a:p>
        </p:txBody>
      </p:sp>
      <p:pic>
        <p:nvPicPr>
          <p:cNvPr id="6" name="Content Placeholder 5" descr="C:\Users\chara\OneDrive\Desktop\vision\img555.jpe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82453" y="1370238"/>
            <a:ext cx="4032000" cy="2556000"/>
          </a:xfrm>
          <a:prstGeom prst="rect">
            <a:avLst/>
          </a:prstGeom>
          <a:noFill/>
          <a:ln>
            <a:noFill/>
          </a:ln>
        </p:spPr>
      </p:pic>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15</a:t>
            </a:fld>
            <a:endParaRPr lang="en-US"/>
          </a:p>
        </p:txBody>
      </p:sp>
      <p:pic>
        <p:nvPicPr>
          <p:cNvPr id="7" name="Picture 6" descr="C:\Users\chara\OneDrive\Desktop\SE\output mini project.png"/>
          <p:cNvPicPr/>
          <p:nvPr/>
        </p:nvPicPr>
        <p:blipFill>
          <a:blip r:embed="rId3">
            <a:extLst>
              <a:ext uri="{28A0092B-C50C-407E-A947-70E740481C1C}">
                <a14:useLocalDpi xmlns:a14="http://schemas.microsoft.com/office/drawing/2010/main" val="0"/>
              </a:ext>
            </a:extLst>
          </a:blip>
          <a:srcRect/>
          <a:stretch>
            <a:fillRect/>
          </a:stretch>
        </p:blipFill>
        <p:spPr bwMode="auto">
          <a:xfrm>
            <a:off x="1299412" y="4347411"/>
            <a:ext cx="9697452" cy="1620252"/>
          </a:xfrm>
          <a:prstGeom prst="rect">
            <a:avLst/>
          </a:prstGeom>
          <a:noFill/>
          <a:ln>
            <a:noFill/>
          </a:ln>
        </p:spPr>
      </p:pic>
    </p:spTree>
    <p:extLst>
      <p:ext uri="{BB962C8B-B14F-4D97-AF65-F5344CB8AC3E}">
        <p14:creationId xmlns:p14="http://schemas.microsoft.com/office/powerpoint/2010/main" val="26503527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b="1" dirty="0">
                <a:latin typeface="Times New Roman" pitchFamily="18" charset="0"/>
                <a:cs typeface="Times New Roman" pitchFamily="18" charset="0"/>
              </a:rPr>
              <a:t>CONCLUSION AND FUTURE ENHANCEMENTS</a:t>
            </a:r>
            <a:endParaRPr lang="en-IN"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marL="0" indent="0" algn="just">
              <a:buNone/>
            </a:pPr>
            <a:r>
              <a:rPr lang="en-IN" sz="2600" b="1" dirty="0" smtClean="0">
                <a:latin typeface="Times New Roman" panose="02020603050405020304" pitchFamily="18" charset="0"/>
                <a:cs typeface="Times New Roman" panose="02020603050405020304" pitchFamily="18" charset="0"/>
              </a:rPr>
              <a:t>CONCLUSION</a:t>
            </a:r>
          </a:p>
          <a:p>
            <a:pPr marL="0" indent="0" algn="just">
              <a:lnSpc>
                <a:spcPct val="150000"/>
              </a:lnSpc>
              <a:buNone/>
            </a:pPr>
            <a:r>
              <a:rPr lang="en-US" sz="2200" dirty="0" smtClean="0">
                <a:latin typeface="Times New Roman" panose="02020603050405020304" pitchFamily="18" charset="0"/>
                <a:cs typeface="Times New Roman" panose="02020603050405020304" pitchFamily="18" charset="0"/>
              </a:rPr>
              <a:t>The Image-to-Text Conversion Mini Project offers an efficient solution for extracting text from images, leveraging pre-processing techniques, feature extraction, and OCR to convert text into machine-readable formats. It automates tasks like document digitization, archival management, and real-time data processing, demonstrating robustness across varying image qualities and text types, including printed and handwritten content. With a user-friendly interface, it ensures accessibility for non-technical users. Future improvements, such as multilingual support, real-time processing, and enhanced handling of complex layouts, can further enhance its functionality, making it a valuable foundation for advanced text recognition systems.</a:t>
            </a:r>
          </a:p>
          <a:p>
            <a:pPr marL="0" indent="0" algn="just">
              <a:lnSpc>
                <a:spcPct val="150000"/>
              </a:lnSpc>
              <a:buNone/>
            </a:pPr>
            <a:endParaRPr lang="en-IN" sz="2200"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16</a:t>
            </a:fld>
            <a:endParaRPr lang="en-US"/>
          </a:p>
        </p:txBody>
      </p:sp>
    </p:spTree>
    <p:extLst>
      <p:ext uri="{BB962C8B-B14F-4D97-AF65-F5344CB8AC3E}">
        <p14:creationId xmlns:p14="http://schemas.microsoft.com/office/powerpoint/2010/main" val="4062080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b="1" dirty="0">
                <a:latin typeface="Times New Roman" pitchFamily="18" charset="0"/>
                <a:cs typeface="Times New Roman" pitchFamily="18" charset="0"/>
              </a:rPr>
              <a:t>CONCLUSION AND FUTURE ENHANCEMENTS</a:t>
            </a:r>
            <a:endParaRPr lang="en-IN"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609600" y="1291389"/>
            <a:ext cx="10972800" cy="5165558"/>
          </a:xfrm>
        </p:spPr>
        <p:txBody>
          <a:bodyPr>
            <a:normAutofit lnSpcReduction="10000"/>
          </a:bodyPr>
          <a:lstStyle/>
          <a:p>
            <a:pPr marL="0" indent="0" algn="just">
              <a:lnSpc>
                <a:spcPct val="150000"/>
              </a:lnSpc>
              <a:buNone/>
            </a:pPr>
            <a:r>
              <a:rPr lang="en-IN" sz="2600" b="1" dirty="0" smtClean="0">
                <a:latin typeface="Times New Roman" panose="02020603050405020304" pitchFamily="18" charset="0"/>
                <a:cs typeface="Times New Roman" panose="02020603050405020304" pitchFamily="18" charset="0"/>
              </a:rPr>
              <a:t>FUTURE ENHANCEMENTS</a:t>
            </a:r>
          </a:p>
          <a:p>
            <a:pPr marL="0" indent="0" algn="just">
              <a:lnSpc>
                <a:spcPct val="150000"/>
              </a:lnSpc>
              <a:buNone/>
            </a:pPr>
            <a:r>
              <a:rPr lang="en-US" sz="1900" b="1" dirty="0" smtClean="0">
                <a:latin typeface="Times New Roman" panose="02020603050405020304" pitchFamily="18" charset="0"/>
                <a:cs typeface="Times New Roman" panose="02020603050405020304" pitchFamily="18" charset="0"/>
              </a:rPr>
              <a:t>Text-to-Speech Conversion</a:t>
            </a:r>
            <a:r>
              <a:rPr lang="en-US" sz="1900" dirty="0" smtClean="0">
                <a:latin typeface="Times New Roman" panose="02020603050405020304" pitchFamily="18" charset="0"/>
                <a:cs typeface="Times New Roman" panose="02020603050405020304" pitchFamily="18" charset="0"/>
              </a:rPr>
              <a:t>: Integrate functionality to convert extracted text into natural-sounding speech for accessibility and usability.</a:t>
            </a:r>
          </a:p>
          <a:p>
            <a:pPr marL="0" indent="0" algn="just">
              <a:lnSpc>
                <a:spcPct val="150000"/>
              </a:lnSpc>
              <a:buNone/>
            </a:pPr>
            <a:r>
              <a:rPr lang="en-US" sz="1900" b="1" dirty="0" smtClean="0">
                <a:latin typeface="Times New Roman" panose="02020603050405020304" pitchFamily="18" charset="0"/>
                <a:cs typeface="Times New Roman" panose="02020603050405020304" pitchFamily="18" charset="0"/>
              </a:rPr>
              <a:t>Mobile Application Development</a:t>
            </a:r>
            <a:r>
              <a:rPr lang="en-US" sz="1900" dirty="0" smtClean="0">
                <a:latin typeface="Times New Roman" panose="02020603050405020304" pitchFamily="18" charset="0"/>
                <a:cs typeface="Times New Roman" panose="02020603050405020304" pitchFamily="18" charset="0"/>
              </a:rPr>
              <a:t>: Create a mobile app with features like offline text extraction, text-to-speech, and voice-to-text conversion.</a:t>
            </a:r>
          </a:p>
          <a:p>
            <a:pPr marL="0" indent="0" algn="just">
              <a:lnSpc>
                <a:spcPct val="150000"/>
              </a:lnSpc>
              <a:buNone/>
            </a:pPr>
            <a:r>
              <a:rPr lang="en-US" sz="1900" b="1" dirty="0" smtClean="0">
                <a:latin typeface="Times New Roman" panose="02020603050405020304" pitchFamily="18" charset="0"/>
                <a:cs typeface="Times New Roman" panose="02020603050405020304" pitchFamily="18" charset="0"/>
              </a:rPr>
              <a:t>Multilingual Support</a:t>
            </a:r>
            <a:r>
              <a:rPr lang="en-US" sz="1900" dirty="0" smtClean="0">
                <a:latin typeface="Times New Roman" panose="02020603050405020304" pitchFamily="18" charset="0"/>
                <a:cs typeface="Times New Roman" panose="02020603050405020304" pitchFamily="18" charset="0"/>
              </a:rPr>
              <a:t>: Expand capabilities to include complex languages such as Arabic, Chinese, and Indic scripts with automatic language detection.</a:t>
            </a:r>
          </a:p>
          <a:p>
            <a:pPr marL="0" indent="0" algn="just">
              <a:lnSpc>
                <a:spcPct val="150000"/>
              </a:lnSpc>
              <a:buNone/>
            </a:pPr>
            <a:r>
              <a:rPr lang="en-US" sz="1900" b="1" dirty="0" smtClean="0">
                <a:latin typeface="Times New Roman" panose="02020603050405020304" pitchFamily="18" charset="0"/>
                <a:cs typeface="Times New Roman" panose="02020603050405020304" pitchFamily="18" charset="0"/>
              </a:rPr>
              <a:t>Real-Time Processing</a:t>
            </a:r>
            <a:r>
              <a:rPr lang="en-US" sz="1900" dirty="0" smtClean="0">
                <a:latin typeface="Times New Roman" panose="02020603050405020304" pitchFamily="18" charset="0"/>
                <a:cs typeface="Times New Roman" panose="02020603050405020304" pitchFamily="18" charset="0"/>
              </a:rPr>
              <a:t>: Enable real-time text extraction from live video feeds and camera inputs on mobile devices.</a:t>
            </a:r>
          </a:p>
          <a:p>
            <a:pPr marL="0" indent="0" algn="just">
              <a:lnSpc>
                <a:spcPct val="150000"/>
              </a:lnSpc>
              <a:buNone/>
            </a:pPr>
            <a:r>
              <a:rPr lang="en-US" sz="1900" b="1" dirty="0" smtClean="0">
                <a:latin typeface="Times New Roman" panose="02020603050405020304" pitchFamily="18" charset="0"/>
                <a:cs typeface="Times New Roman" panose="02020603050405020304" pitchFamily="18" charset="0"/>
              </a:rPr>
              <a:t>AI-Driven Refinements</a:t>
            </a:r>
            <a:r>
              <a:rPr lang="en-US" sz="1900" dirty="0" smtClean="0">
                <a:latin typeface="Times New Roman" panose="02020603050405020304" pitchFamily="18" charset="0"/>
                <a:cs typeface="Times New Roman" panose="02020603050405020304" pitchFamily="18" charset="0"/>
              </a:rPr>
              <a:t>: Incorporate grammar correction, spell-checking, and content classification for cleaner output.</a:t>
            </a:r>
            <a:endParaRPr lang="en-IN" sz="1900"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81778C72-80D4-44C2-A5C0-B833B330A205}" type="slidenum">
              <a:rPr lang="en-US" smtClean="0"/>
              <a:pPr>
                <a:defRPr/>
              </a:pPr>
              <a:t>17</a:t>
            </a:fld>
            <a:endParaRPr lang="en-US"/>
          </a:p>
        </p:txBody>
      </p:sp>
    </p:spTree>
    <p:extLst>
      <p:ext uri="{BB962C8B-B14F-4D97-AF65-F5344CB8AC3E}">
        <p14:creationId xmlns:p14="http://schemas.microsoft.com/office/powerpoint/2010/main" val="4062080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3888" y="2133600"/>
            <a:ext cx="9610725" cy="3778250"/>
          </a:xfrm>
        </p:spPr>
        <p:txBody>
          <a:bodyPr rtlCol="0">
            <a:normAutofit/>
          </a:bodyPr>
          <a:lstStyle/>
          <a:p>
            <a:pPr marL="0" indent="0" algn="ctr" eaLnBrk="1" fontAlgn="auto" hangingPunct="1">
              <a:spcAft>
                <a:spcPts val="0"/>
              </a:spcAft>
              <a:buFont typeface="Arial" pitchFamily="34" charset="0"/>
              <a:buNone/>
              <a:defRPr/>
            </a:pPr>
            <a:r>
              <a:rPr lang="en-US" sz="9600" dirty="0">
                <a:solidFill>
                  <a:schemeClr val="accent1">
                    <a:lumMod val="75000"/>
                  </a:schemeClr>
                </a:solidFill>
                <a:latin typeface="Times New Roman" panose="02020603050405020304" pitchFamily="18" charset="0"/>
                <a:cs typeface="Times New Roman" panose="02020603050405020304" pitchFamily="18" charset="0"/>
              </a:rPr>
              <a:t>   </a:t>
            </a:r>
            <a:r>
              <a:rPr lang="en-US" sz="9600"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 </a:t>
            </a:r>
          </a:p>
        </p:txBody>
      </p:sp>
      <p:sp>
        <p:nvSpPr>
          <p:cNvPr id="4" name="Footer Placeholder 3"/>
          <p:cNvSpPr>
            <a:spLocks noGrp="1"/>
          </p:cNvSpPr>
          <p:nvPr>
            <p:ph type="ftr" sz="quarter" idx="11"/>
          </p:nvPr>
        </p:nvSpPr>
        <p:spPr/>
        <p:txBody>
          <a:bodyPr/>
          <a:lstStyle/>
          <a:p>
            <a:pPr>
              <a:defRPr/>
            </a:pPr>
            <a:r>
              <a:rPr lang="en-US" dirty="0" smtClean="0"/>
              <a:t>5th Sem Dept. of AI&amp;DS, SJCIT</a:t>
            </a:r>
            <a:endParaRPr lang="en-US" dirty="0"/>
          </a:p>
        </p:txBody>
      </p:sp>
      <p:sp>
        <p:nvSpPr>
          <p:cNvPr id="5" name="Slide Number Placeholder 4"/>
          <p:cNvSpPr>
            <a:spLocks noGrp="1"/>
          </p:cNvSpPr>
          <p:nvPr>
            <p:ph type="sldNum" sz="quarter" idx="12"/>
          </p:nvPr>
        </p:nvSpPr>
        <p:spPr/>
        <p:txBody>
          <a:bodyPr/>
          <a:lstStyle/>
          <a:p>
            <a:pPr>
              <a:defRPr/>
            </a:pPr>
            <a:fld id="{729643C9-1E9F-4DD0-9B72-36FDA7689087}" type="slidenum">
              <a:rPr lang="en-US"/>
              <a:pPr>
                <a:defRPr/>
              </a:pPr>
              <a:t>18</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1151</TotalTime>
  <Words>1395</Words>
  <Application>Microsoft Office PowerPoint</Application>
  <PresentationFormat>Custom</PresentationFormat>
  <Paragraphs>127</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Solstice</vt:lpstr>
      <vt:lpstr>          S J C INSTITUTE OF TECHNOLOGY         DEPARTMENT OF ARTIFICIAL INTELLIGENCE AND DATA SCIENCE</vt:lpstr>
      <vt:lpstr>CONTENTS</vt:lpstr>
      <vt:lpstr>                             ABSTRACT</vt:lpstr>
      <vt:lpstr>            INTRODUCTION</vt:lpstr>
      <vt:lpstr>LITERATURE SURVEY</vt:lpstr>
      <vt:lpstr>PowerPoint Presentation</vt:lpstr>
      <vt:lpstr>PROBLEM IDENTIFICATION &amp; DEFINITION</vt:lpstr>
      <vt:lpstr>SIGNIFICANCE &amp; RELEVANCE OF WORK</vt:lpstr>
      <vt:lpstr>OBJECTIVES &amp; METHODOLOGY</vt:lpstr>
      <vt:lpstr>OBJECTIVES &amp; METHODOLOGY</vt:lpstr>
      <vt:lpstr>HARDWARE AND SOFTWARE REQUIREMENTS</vt:lpstr>
      <vt:lpstr>HARDWARE AND SOFTWARE REQUIREMENTS</vt:lpstr>
      <vt:lpstr>  ARCHITECTURE DIAGRAM  </vt:lpstr>
      <vt:lpstr>TESTING</vt:lpstr>
      <vt:lpstr>RESULTS</vt:lpstr>
      <vt:lpstr>CONCLUSION AND FUTURE ENHANCEMENTS</vt:lpstr>
      <vt:lpstr>CONCLUSION AND FUTURE ENHANCEMENTS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mareddy charan</cp:lastModifiedBy>
  <cp:revision>98</cp:revision>
  <dcterms:created xsi:type="dcterms:W3CDTF">2018-02-20T14:40:21Z</dcterms:created>
  <dcterms:modified xsi:type="dcterms:W3CDTF">2024-12-23T11:05:55Z</dcterms:modified>
</cp:coreProperties>
</file>
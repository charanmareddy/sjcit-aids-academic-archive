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68" r:id="rId2"/>
    <p:sldId id="256" r:id="rId3"/>
    <p:sldId id="258" r:id="rId4"/>
    <p:sldId id="257" r:id="rId5"/>
    <p:sldId id="259" r:id="rId6"/>
    <p:sldId id="260" r:id="rId7"/>
    <p:sldId id="265" r:id="rId8"/>
    <p:sldId id="266" r:id="rId9"/>
    <p:sldId id="261" r:id="rId10"/>
    <p:sldId id="262" r:id="rId11"/>
    <p:sldId id="263" r:id="rId12"/>
    <p:sldId id="264"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DAA8CA3A-6146-4BE2-9E61-ABD11458B6EF}" type="datetimeFigureOut">
              <a:rPr lang="en-IN" smtClean="0"/>
              <a:t>23-11-2024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B4B19DCB-1A7C-4A1D-B63F-8AD7901A3AC0}" type="slidenum">
              <a:rPr lang="en-IN" smtClean="0"/>
              <a:t>‹#›</a:t>
            </a:fld>
            <a:endParaRPr lang="en-IN"/>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AA8CA3A-6146-4BE2-9E61-ABD11458B6EF}"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AA8CA3A-6146-4BE2-9E61-ABD11458B6EF}"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924800" y="6416675"/>
            <a:ext cx="762000" cy="365125"/>
          </a:xfrm>
        </p:spPr>
        <p:txBody>
          <a:bodyPr/>
          <a:lstStyle/>
          <a:p>
            <a:fld id="{B4B19DCB-1A7C-4A1D-B63F-8AD7901A3AC0}"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AA8CA3A-6146-4BE2-9E61-ABD11458B6EF}"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AA8CA3A-6146-4BE2-9E61-ABD11458B6EF}" type="datetimeFigureOut">
              <a:rPr lang="en-IN" smtClean="0"/>
              <a:t>23-11-2024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AA8CA3A-6146-4BE2-9E61-ABD11458B6EF}" type="datetimeFigureOut">
              <a:rPr lang="en-IN" smtClean="0"/>
              <a:t>23-11-2024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A8CA3A-6146-4BE2-9E61-ABD11458B6EF}" type="datetimeFigureOut">
              <a:rPr lang="en-IN" smtClean="0"/>
              <a:t>23-11-2024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AA8CA3A-6146-4BE2-9E61-ABD11458B6EF}"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AA8CA3A-6146-4BE2-9E61-ABD11458B6EF}"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AA8CA3A-6146-4BE2-9E61-ABD11458B6EF}"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AA8CA3A-6146-4BE2-9E61-ABD11458B6EF}"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19DCB-1A7C-4A1D-B63F-8AD7901A3AC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DAA8CA3A-6146-4BE2-9E61-ABD11458B6EF}" type="datetimeFigureOut">
              <a:rPr lang="en-IN" smtClean="0"/>
              <a:t>23-11-2024</a:t>
            </a:fld>
            <a:endParaRPr lang="en-IN"/>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B4B19DCB-1A7C-4A1D-B63F-8AD7901A3AC0}"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pypi.org/project/pytesseract/" TargetMode="External"/><Relationship Id="rId2" Type="http://schemas.openxmlformats.org/officeDocument/2006/relationships/hyperlink" Target="https://ieeexplore.ieee.org/Xplore/home.js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xmlns="" id="{44DD8720-A00F-5D7B-9C9A-5656A85908BE}"/>
              </a:ext>
            </a:extLst>
          </p:cNvPr>
          <p:cNvSpPr>
            <a:spLocks noGrp="1"/>
          </p:cNvSpPr>
          <p:nvPr>
            <p:ph type="ftr" sz="quarter" idx="11"/>
          </p:nvPr>
        </p:nvSpPr>
        <p:spPr/>
        <p:txBody>
          <a:bodyPr/>
          <a:lstStyle/>
          <a:p>
            <a:endParaRPr lang="en-IN" dirty="0"/>
          </a:p>
        </p:txBody>
      </p:sp>
      <p:pic>
        <p:nvPicPr>
          <p:cNvPr id="2050" name="Picture 2" descr="About Mutt - SJCIT | Best Engineering College Near Bengaluru">
            <a:extLst>
              <a:ext uri="{FF2B5EF4-FFF2-40B4-BE49-F238E27FC236}">
                <a16:creationId xmlns:a16="http://schemas.microsoft.com/office/drawing/2014/main" xmlns="" id="{C1C72841-450F-D294-9879-1FFC161A0E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225" y="178168"/>
            <a:ext cx="1909916" cy="129785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A8AF886D-2672-E1B6-5558-A6D5255410EA}"/>
              </a:ext>
            </a:extLst>
          </p:cNvPr>
          <p:cNvSpPr txBox="1"/>
          <p:nvPr/>
        </p:nvSpPr>
        <p:spPr>
          <a:xfrm>
            <a:off x="7585943" y="650451"/>
            <a:ext cx="575142" cy="369332"/>
          </a:xfrm>
          <a:prstGeom prst="rect">
            <a:avLst/>
          </a:prstGeom>
          <a:noFill/>
        </p:spPr>
        <p:txBody>
          <a:bodyPr wrap="square" rtlCol="0">
            <a:spAutoFit/>
          </a:bodyPr>
          <a:lstStyle/>
          <a:p>
            <a:endParaRPr lang="en-IN" dirty="0"/>
          </a:p>
        </p:txBody>
      </p:sp>
      <p:pic>
        <p:nvPicPr>
          <p:cNvPr id="2052" name="Picture 4" descr="About Mutt - SJCIT | Best Engineering College Near Bengaluru">
            <a:extLst>
              <a:ext uri="{FF2B5EF4-FFF2-40B4-BE49-F238E27FC236}">
                <a16:creationId xmlns:a16="http://schemas.microsoft.com/office/drawing/2014/main" xmlns="" id="{63CC6967-A904-4570-A44F-02DBBC6B20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5343" y="83584"/>
            <a:ext cx="1826444" cy="12502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B7C2A70F-6C11-9E07-4539-D2F0B7595546}"/>
              </a:ext>
            </a:extLst>
          </p:cNvPr>
          <p:cNvSpPr txBox="1"/>
          <p:nvPr/>
        </p:nvSpPr>
        <p:spPr>
          <a:xfrm>
            <a:off x="3281517" y="178168"/>
            <a:ext cx="2249129" cy="646331"/>
          </a:xfrm>
          <a:prstGeom prst="rect">
            <a:avLst/>
          </a:prstGeom>
          <a:noFill/>
        </p:spPr>
        <p:txBody>
          <a:bodyPr wrap="square" rtlCol="0">
            <a:spAutoFit/>
          </a:bodyPr>
          <a:lstStyle/>
          <a:p>
            <a:r>
              <a:rPr lang="en-IN" sz="1800" dirty="0">
                <a:solidFill>
                  <a:prstClr val="black"/>
                </a:solidFill>
                <a:latin typeface="Calibri"/>
                <a:cs typeface="+mn-cs"/>
              </a:rPr>
              <a:t>|| </a:t>
            </a:r>
            <a:r>
              <a:rPr lang="en-IN" sz="1800" dirty="0">
                <a:solidFill>
                  <a:prstClr val="black"/>
                </a:solidFill>
                <a:latin typeface="Times New Roman" panose="02020603050405020304" pitchFamily="18" charset="0"/>
                <a:cs typeface="Times New Roman" panose="02020603050405020304" pitchFamily="18" charset="0"/>
              </a:rPr>
              <a:t>Jai Sri Gurudev </a:t>
            </a:r>
            <a:r>
              <a:rPr lang="en-IN" sz="1800" dirty="0">
                <a:solidFill>
                  <a:prstClr val="black"/>
                </a:solidFill>
                <a:latin typeface="Calibri"/>
                <a:cs typeface="+mn-cs"/>
              </a:rPr>
              <a:t>||</a:t>
            </a:r>
          </a:p>
          <a:p>
            <a:endParaRPr lang="en-IN" dirty="0"/>
          </a:p>
        </p:txBody>
      </p:sp>
      <p:sp>
        <p:nvSpPr>
          <p:cNvPr id="13" name="TextBox 12">
            <a:extLst>
              <a:ext uri="{FF2B5EF4-FFF2-40B4-BE49-F238E27FC236}">
                <a16:creationId xmlns:a16="http://schemas.microsoft.com/office/drawing/2014/main" xmlns="" id="{E178EE1D-A523-53B8-5EA6-613B4261A1CE}"/>
              </a:ext>
            </a:extLst>
          </p:cNvPr>
          <p:cNvSpPr txBox="1"/>
          <p:nvPr/>
        </p:nvSpPr>
        <p:spPr>
          <a:xfrm>
            <a:off x="2326558" y="506532"/>
            <a:ext cx="5338916" cy="738664"/>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SJC INSTITUTE OF TECHNOLOGY</a:t>
            </a:r>
          </a:p>
          <a:p>
            <a:endParaRPr lang="en-IN" dirty="0"/>
          </a:p>
        </p:txBody>
      </p:sp>
      <p:sp>
        <p:nvSpPr>
          <p:cNvPr id="15" name="TextBox 14">
            <a:extLst>
              <a:ext uri="{FF2B5EF4-FFF2-40B4-BE49-F238E27FC236}">
                <a16:creationId xmlns:a16="http://schemas.microsoft.com/office/drawing/2014/main" xmlns="" id="{C44FF007-04BA-C34D-DCFD-CCE0F479C849}"/>
              </a:ext>
            </a:extLst>
          </p:cNvPr>
          <p:cNvSpPr txBox="1"/>
          <p:nvPr/>
        </p:nvSpPr>
        <p:spPr>
          <a:xfrm>
            <a:off x="2972794" y="916403"/>
            <a:ext cx="311137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(Affiliated to VTU ,Belgaum)</a:t>
            </a:r>
            <a:endParaRPr lang="en-IN"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xmlns="" id="{61A694EC-414F-38CE-31A6-2BC1C0D09C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5685" y="1308453"/>
            <a:ext cx="1186193" cy="878662"/>
          </a:xfrm>
          <a:prstGeom prst="rect">
            <a:avLst/>
          </a:prstGeom>
        </p:spPr>
      </p:pic>
      <p:sp>
        <p:nvSpPr>
          <p:cNvPr id="18" name="TextBox 17">
            <a:extLst>
              <a:ext uri="{FF2B5EF4-FFF2-40B4-BE49-F238E27FC236}">
                <a16:creationId xmlns:a16="http://schemas.microsoft.com/office/drawing/2014/main" xmlns="" id="{858E34A5-CC41-727F-A76B-9AF31A39ACCD}"/>
              </a:ext>
            </a:extLst>
          </p:cNvPr>
          <p:cNvSpPr txBox="1"/>
          <p:nvPr/>
        </p:nvSpPr>
        <p:spPr>
          <a:xfrm>
            <a:off x="683568" y="2390067"/>
            <a:ext cx="7654997" cy="369332"/>
          </a:xfrm>
          <a:prstGeom prst="rect">
            <a:avLst/>
          </a:prstGeom>
          <a:noFill/>
        </p:spPr>
        <p:txBody>
          <a:bodyPr wrap="square" rtlCol="0">
            <a:spAutoFit/>
          </a:bodyPr>
          <a:lstStyle/>
          <a:p>
            <a:r>
              <a:rPr lang="en-US" sz="1800"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BAAB6D6F-10A3-8E55-C649-9976D7BF835A}"/>
              </a:ext>
            </a:extLst>
          </p:cNvPr>
          <p:cNvSpPr txBox="1"/>
          <p:nvPr/>
        </p:nvSpPr>
        <p:spPr>
          <a:xfrm>
            <a:off x="2551471" y="2815153"/>
            <a:ext cx="300867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21" name="TextBox 20">
            <a:extLst>
              <a:ext uri="{FF2B5EF4-FFF2-40B4-BE49-F238E27FC236}">
                <a16:creationId xmlns:a16="http://schemas.microsoft.com/office/drawing/2014/main" xmlns="" id="{CC330673-E17D-D4FA-63DA-AA77404362AB}"/>
              </a:ext>
            </a:extLst>
          </p:cNvPr>
          <p:cNvSpPr txBox="1"/>
          <p:nvPr/>
        </p:nvSpPr>
        <p:spPr>
          <a:xfrm>
            <a:off x="428519" y="3723334"/>
            <a:ext cx="5655649" cy="2031325"/>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92D050"/>
                </a:solidFill>
                <a:latin typeface="Times New Roman" panose="02020603050405020304" pitchFamily="18" charset="0"/>
                <a:cs typeface="Times New Roman" panose="02020603050405020304" pitchFamily="18" charset="0"/>
              </a:rPr>
              <a:t>Name                                   USN</a:t>
            </a:r>
          </a:p>
          <a:p>
            <a:pPr algn="just"/>
            <a:r>
              <a:rPr lang="en-US" dirty="0" smtClean="0">
                <a:solidFill>
                  <a:schemeClr val="bg1"/>
                </a:solidFill>
                <a:latin typeface="Times New Roman" panose="02020603050405020304" pitchFamily="18" charset="0"/>
                <a:cs typeface="Times New Roman" panose="02020603050405020304" pitchFamily="18" charset="0"/>
              </a:rPr>
              <a:t>M CHARAN</a:t>
            </a:r>
            <a:r>
              <a:rPr lang="en-US" sz="1800" dirty="0" smtClean="0">
                <a:solidFill>
                  <a:schemeClr val="bg1"/>
                </a:solidFill>
                <a:latin typeface="Times New Roman" panose="02020603050405020304" pitchFamily="18" charset="0"/>
                <a:cs typeface="Times New Roman" panose="02020603050405020304" pitchFamily="18" charset="0"/>
              </a:rPr>
              <a:t>                      1SJ22AD024</a:t>
            </a:r>
            <a:endParaRPr lang="en-US" sz="1800" dirty="0">
              <a:solidFill>
                <a:schemeClr val="bg1"/>
              </a:solidFill>
              <a:latin typeface="Times New Roman" panose="02020603050405020304" pitchFamily="18" charset="0"/>
              <a:cs typeface="Times New Roman" panose="02020603050405020304" pitchFamily="18" charset="0"/>
            </a:endParaRPr>
          </a:p>
          <a:p>
            <a:pPr algn="just"/>
            <a:r>
              <a:rPr lang="en-US" dirty="0" smtClean="0">
                <a:solidFill>
                  <a:schemeClr val="bg1"/>
                </a:solidFill>
                <a:latin typeface="Times New Roman" panose="02020603050405020304" pitchFamily="18" charset="0"/>
                <a:cs typeface="Times New Roman" panose="02020603050405020304" pitchFamily="18" charset="0"/>
              </a:rPr>
              <a:t>M AKASH</a:t>
            </a:r>
            <a:r>
              <a:rPr lang="en-US" sz="1800" dirty="0" smtClean="0">
                <a:solidFill>
                  <a:schemeClr val="bg1"/>
                </a:solidFill>
                <a:latin typeface="Times New Roman" panose="02020603050405020304" pitchFamily="18" charset="0"/>
                <a:cs typeface="Times New Roman" panose="02020603050405020304" pitchFamily="18" charset="0"/>
              </a:rPr>
              <a:t>                         1SJ22AD021</a:t>
            </a:r>
            <a:endParaRPr lang="en-US" sz="1800" dirty="0">
              <a:solidFill>
                <a:schemeClr val="bg1"/>
              </a:solidFill>
              <a:latin typeface="Times New Roman" panose="02020603050405020304" pitchFamily="18" charset="0"/>
              <a:cs typeface="Times New Roman" panose="02020603050405020304" pitchFamily="18" charset="0"/>
            </a:endParaRPr>
          </a:p>
          <a:p>
            <a:pPr algn="just"/>
            <a:r>
              <a:rPr lang="en-US" dirty="0" smtClean="0">
                <a:solidFill>
                  <a:schemeClr val="bg1"/>
                </a:solidFill>
                <a:latin typeface="Times New Roman" panose="02020603050405020304" pitchFamily="18" charset="0"/>
                <a:cs typeface="Times New Roman" panose="02020603050405020304" pitchFamily="18" charset="0"/>
              </a:rPr>
              <a:t>A CHETAN</a:t>
            </a:r>
            <a:r>
              <a:rPr lang="en-US" sz="1800" dirty="0" smtClean="0">
                <a:solidFill>
                  <a:schemeClr val="bg1"/>
                </a:solidFill>
                <a:latin typeface="Times New Roman" panose="02020603050405020304" pitchFamily="18" charset="0"/>
                <a:cs typeface="Times New Roman" panose="02020603050405020304" pitchFamily="18" charset="0"/>
              </a:rPr>
              <a:t>                       1SJ22AD005</a:t>
            </a:r>
            <a:endParaRPr lang="en-US" sz="1800" dirty="0">
              <a:solidFill>
                <a:schemeClr val="bg1"/>
              </a:solidFill>
              <a:latin typeface="Times New Roman" panose="02020603050405020304" pitchFamily="18" charset="0"/>
              <a:cs typeface="Times New Roman" panose="02020603050405020304" pitchFamily="18" charset="0"/>
            </a:endParaRPr>
          </a:p>
          <a:p>
            <a:pPr algn="just"/>
            <a:r>
              <a:rPr lang="en-US" dirty="0" smtClean="0">
                <a:solidFill>
                  <a:schemeClr val="bg1"/>
                </a:solidFill>
                <a:latin typeface="Times New Roman" panose="02020603050405020304" pitchFamily="18" charset="0"/>
                <a:cs typeface="Times New Roman" panose="02020603050405020304" pitchFamily="18" charset="0"/>
              </a:rPr>
              <a:t>Y REVANT     </a:t>
            </a:r>
            <a:r>
              <a:rPr lang="en-US" dirty="0" smtClean="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                 1SJ22AD063</a:t>
            </a:r>
            <a:endParaRPr lang="en-US" sz="1800" dirty="0">
              <a:solidFill>
                <a:schemeClr val="bg1"/>
              </a:solidFill>
              <a:latin typeface="Times New Roman" panose="02020603050405020304" pitchFamily="18" charset="0"/>
              <a:cs typeface="Times New Roman" panose="02020603050405020304" pitchFamily="18" charset="0"/>
            </a:endParaRPr>
          </a:p>
          <a:p>
            <a:pPr algn="just"/>
            <a:r>
              <a:rPr lang="en-US" altLang="en-US" b="1"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xmlns="" id="{63E1D173-52B1-1198-57D1-211E856BFA03}"/>
              </a:ext>
            </a:extLst>
          </p:cNvPr>
          <p:cNvSpPr txBox="1"/>
          <p:nvPr/>
        </p:nvSpPr>
        <p:spPr>
          <a:xfrm>
            <a:off x="6270853" y="3912809"/>
            <a:ext cx="2067712"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smtClean="0">
                <a:solidFill>
                  <a:schemeClr val="bg1"/>
                </a:solidFill>
                <a:latin typeface="Times New Roman" panose="02020603050405020304" pitchFamily="18" charset="0"/>
                <a:cs typeface="Times New Roman" panose="02020603050405020304" pitchFamily="18" charset="0"/>
              </a:rPr>
              <a:t>Naveen V G</a:t>
            </a:r>
            <a:endParaRPr lang="en-US" dirty="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Assistant Professor</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4684A7C2-0927-DAE1-49C4-AD87F3B26156}"/>
              </a:ext>
            </a:extLst>
          </p:cNvPr>
          <p:cNvSpPr txBox="1"/>
          <p:nvPr/>
        </p:nvSpPr>
        <p:spPr>
          <a:xfrm>
            <a:off x="2551471" y="2815153"/>
            <a:ext cx="4564626" cy="646331"/>
          </a:xfrm>
          <a:prstGeom prst="rect">
            <a:avLst/>
          </a:prstGeom>
          <a:noFill/>
        </p:spPr>
        <p:txBody>
          <a:bodyPr wrap="square" rtlCol="0">
            <a:spAutoFit/>
          </a:bodyPr>
          <a:lstStyle/>
          <a:p>
            <a:r>
              <a:rPr lang="en-US" altLang="en-US" sz="1800" b="1" dirty="0">
                <a:solidFill>
                  <a:srgbClr val="7030A0"/>
                </a:solidFill>
                <a:latin typeface="Times New Roman" panose="02020603050405020304" pitchFamily="18" charset="0"/>
                <a:cs typeface="Times New Roman" panose="02020603050405020304" pitchFamily="18" charset="0"/>
              </a:rPr>
              <a:t>5</a:t>
            </a:r>
            <a:r>
              <a:rPr lang="en-US" altLang="en-US" sz="1800" b="1" baseline="30000" dirty="0">
                <a:solidFill>
                  <a:srgbClr val="7030A0"/>
                </a:solidFill>
                <a:latin typeface="Times New Roman" panose="02020603050405020304" pitchFamily="18" charset="0"/>
                <a:cs typeface="Times New Roman" panose="02020603050405020304" pitchFamily="18" charset="0"/>
              </a:rPr>
              <a:t>th</a:t>
            </a:r>
            <a:r>
              <a:rPr lang="en-US" altLang="en-US" sz="1800" b="1" dirty="0">
                <a:solidFill>
                  <a:srgbClr val="7030A0"/>
                </a:solidFill>
                <a:latin typeface="Times New Roman" panose="02020603050405020304" pitchFamily="18" charset="0"/>
                <a:cs typeface="Times New Roman" panose="02020603050405020304" pitchFamily="18" charset="0"/>
              </a:rPr>
              <a:t> Sem Mini-Project First Review 2024</a:t>
            </a:r>
          </a:p>
          <a:p>
            <a:endParaRPr lang="en-IN" dirty="0"/>
          </a:p>
        </p:txBody>
      </p:sp>
      <p:sp>
        <p:nvSpPr>
          <p:cNvPr id="2" name="TextBox 1">
            <a:extLst>
              <a:ext uri="{FF2B5EF4-FFF2-40B4-BE49-F238E27FC236}">
                <a16:creationId xmlns:a16="http://schemas.microsoft.com/office/drawing/2014/main" xmlns="" id="{DA248202-711E-796C-9322-294D8272F7C8}"/>
              </a:ext>
            </a:extLst>
          </p:cNvPr>
          <p:cNvSpPr txBox="1"/>
          <p:nvPr/>
        </p:nvSpPr>
        <p:spPr>
          <a:xfrm>
            <a:off x="167345" y="3324829"/>
            <a:ext cx="8422871" cy="369332"/>
          </a:xfrm>
          <a:prstGeom prst="rect">
            <a:avLst/>
          </a:prstGeom>
          <a:noFill/>
        </p:spPr>
        <p:txBody>
          <a:bodyPr wrap="square" rtlCol="0">
            <a:spAutoFit/>
          </a:bodyPr>
          <a:lstStyle/>
          <a:p>
            <a:pPr algn="ctr"/>
            <a:r>
              <a:rPr lang="en-IN" b="1" dirty="0" smtClean="0"/>
              <a:t>IMAGE –TO-TEXT CONVERSION </a:t>
            </a:r>
            <a:endParaRPr lang="en-IN" b="1" dirty="0"/>
          </a:p>
        </p:txBody>
      </p:sp>
    </p:spTree>
    <p:extLst>
      <p:ext uri="{BB962C8B-B14F-4D97-AF65-F5344CB8AC3E}">
        <p14:creationId xmlns:p14="http://schemas.microsoft.com/office/powerpoint/2010/main" val="14873874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Image-to-Text Conversion System</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73640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Table of Contents</a:t>
            </a:r>
            <a:endParaRPr lang="en-IN" dirty="0"/>
          </a:p>
        </p:txBody>
      </p:sp>
      <p:sp>
        <p:nvSpPr>
          <p:cNvPr id="3" name="Content Placeholder 2"/>
          <p:cNvSpPr>
            <a:spLocks noGrp="1"/>
          </p:cNvSpPr>
          <p:nvPr>
            <p:ph idx="1"/>
          </p:nvPr>
        </p:nvSpPr>
        <p:spPr/>
        <p:txBody>
          <a:bodyPr>
            <a:normAutofit/>
          </a:bodyPr>
          <a:lstStyle/>
          <a:p>
            <a:pPr marL="651510" indent="-514350">
              <a:buAutoNum type="arabicPeriod"/>
            </a:pPr>
            <a:r>
              <a:rPr lang="en-US" dirty="0" smtClean="0"/>
              <a:t>Problem </a:t>
            </a:r>
            <a:r>
              <a:rPr lang="en-US" dirty="0"/>
              <a:t>Statement  </a:t>
            </a:r>
            <a:endParaRPr lang="en-US" dirty="0" smtClean="0"/>
          </a:p>
          <a:p>
            <a:pPr marL="651510" indent="-514350">
              <a:buAutoNum type="arabicPeriod"/>
            </a:pPr>
            <a:r>
              <a:rPr lang="en-US" dirty="0" smtClean="0"/>
              <a:t>Abstract  </a:t>
            </a:r>
          </a:p>
          <a:p>
            <a:pPr marL="651510" indent="-514350">
              <a:buAutoNum type="arabicPeriod"/>
            </a:pPr>
            <a:r>
              <a:rPr lang="en-US" dirty="0" smtClean="0"/>
              <a:t>Introduction  </a:t>
            </a:r>
          </a:p>
          <a:p>
            <a:pPr marL="651510" indent="-514350">
              <a:buAutoNum type="arabicPeriod"/>
            </a:pPr>
            <a:r>
              <a:rPr lang="en-US" dirty="0" smtClean="0"/>
              <a:t>Existing </a:t>
            </a:r>
            <a:r>
              <a:rPr lang="en-US" dirty="0"/>
              <a:t>System  </a:t>
            </a:r>
            <a:endParaRPr lang="en-US" dirty="0" smtClean="0"/>
          </a:p>
          <a:p>
            <a:pPr marL="651510" indent="-514350">
              <a:buAutoNum type="arabicPeriod"/>
            </a:pPr>
            <a:r>
              <a:rPr lang="en-US" dirty="0" smtClean="0"/>
              <a:t>Proposed </a:t>
            </a:r>
            <a:r>
              <a:rPr lang="en-US" dirty="0"/>
              <a:t>System  </a:t>
            </a:r>
            <a:endParaRPr lang="en-US" dirty="0" smtClean="0"/>
          </a:p>
          <a:p>
            <a:pPr marL="651510" indent="-514350">
              <a:buAutoNum type="arabicPeriod"/>
            </a:pPr>
            <a:r>
              <a:rPr lang="en-US" dirty="0" smtClean="0"/>
              <a:t>Software </a:t>
            </a:r>
            <a:r>
              <a:rPr lang="en-US" dirty="0"/>
              <a:t>and Hardware Requirements  </a:t>
            </a:r>
            <a:endParaRPr lang="en-US" dirty="0" smtClean="0"/>
          </a:p>
          <a:p>
            <a:pPr marL="651510" indent="-514350">
              <a:buAutoNum type="arabicPeriod"/>
            </a:pPr>
            <a:r>
              <a:rPr lang="en-US" dirty="0" smtClean="0"/>
              <a:t>System </a:t>
            </a:r>
            <a:r>
              <a:rPr lang="en-US" dirty="0"/>
              <a:t>Architecture  </a:t>
            </a:r>
            <a:endParaRPr lang="en-US" dirty="0" smtClean="0"/>
          </a:p>
          <a:p>
            <a:pPr marL="651510" indent="-514350">
              <a:buAutoNum type="arabicPeriod"/>
            </a:pPr>
            <a:r>
              <a:rPr lang="en-US" dirty="0" smtClean="0"/>
              <a:t>Expected </a:t>
            </a:r>
            <a:r>
              <a:rPr lang="en-US" dirty="0"/>
              <a:t>Output </a:t>
            </a:r>
            <a:endParaRPr lang="en-US" dirty="0" smtClean="0"/>
          </a:p>
          <a:p>
            <a:pPr marL="651510" indent="-514350">
              <a:buAutoNum type="arabicPeriod"/>
            </a:pPr>
            <a:r>
              <a:rPr lang="en-US" dirty="0" smtClean="0"/>
              <a:t> </a:t>
            </a:r>
            <a:r>
              <a:rPr lang="en-US" dirty="0"/>
              <a:t>References</a:t>
            </a:r>
            <a:endParaRPr lang="en-IN" dirty="0"/>
          </a:p>
        </p:txBody>
      </p:sp>
    </p:spTree>
    <p:extLst>
      <p:ext uri="{BB962C8B-B14F-4D97-AF65-F5344CB8AC3E}">
        <p14:creationId xmlns:p14="http://schemas.microsoft.com/office/powerpoint/2010/main" val="11056474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Problem </a:t>
            </a:r>
            <a:r>
              <a:rPr lang="en-IN" b="1" dirty="0" smtClean="0"/>
              <a:t>Statement</a:t>
            </a:r>
            <a:r>
              <a:rPr lang="en-IN" dirty="0" smtClean="0"/>
              <a:t> </a:t>
            </a:r>
            <a:endParaRPr lang="en-IN" dirty="0"/>
          </a:p>
        </p:txBody>
      </p:sp>
      <p:sp>
        <p:nvSpPr>
          <p:cNvPr id="3" name="Content Placeholder 2"/>
          <p:cNvSpPr>
            <a:spLocks noGrp="1"/>
          </p:cNvSpPr>
          <p:nvPr>
            <p:ph idx="1"/>
          </p:nvPr>
        </p:nvSpPr>
        <p:spPr/>
        <p:txBody>
          <a:bodyPr/>
          <a:lstStyle/>
          <a:p>
            <a:pPr marL="0" indent="0" algn="just">
              <a:buNone/>
            </a:pPr>
            <a:r>
              <a:rPr lang="en-IN" dirty="0"/>
              <a:t>Millions of visually impaired people worldwide face challenges in accessing visual information. Whether it's educational materials, daily news, or social media content, the lack of accessibility tools hinders their ability to fully participate in various aspects of life.</a:t>
            </a:r>
          </a:p>
          <a:p>
            <a:pPr marL="0" indent="0" algn="just">
              <a:buNone/>
            </a:pPr>
            <a:endParaRPr lang="en-IN" dirty="0"/>
          </a:p>
        </p:txBody>
      </p:sp>
    </p:spTree>
    <p:extLst>
      <p:ext uri="{BB962C8B-B14F-4D97-AF65-F5344CB8AC3E}">
        <p14:creationId xmlns:p14="http://schemas.microsoft.com/office/powerpoint/2010/main" val="318313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Abstract</a:t>
            </a:r>
            <a:r>
              <a:rPr lang="en-IN" dirty="0" smtClean="0"/>
              <a:t/>
            </a:r>
            <a:br>
              <a:rPr lang="en-IN" dirty="0" smtClean="0"/>
            </a:br>
            <a:endParaRPr lang="en-IN" dirty="0"/>
          </a:p>
        </p:txBody>
      </p:sp>
      <p:sp>
        <p:nvSpPr>
          <p:cNvPr id="3" name="Content Placeholder 2"/>
          <p:cNvSpPr>
            <a:spLocks noGrp="1"/>
          </p:cNvSpPr>
          <p:nvPr>
            <p:ph idx="1"/>
          </p:nvPr>
        </p:nvSpPr>
        <p:spPr/>
        <p:txBody>
          <a:bodyPr>
            <a:normAutofit fontScale="70000" lnSpcReduction="20000"/>
          </a:bodyPr>
          <a:lstStyle/>
          <a:p>
            <a:pPr marL="0" indent="0" algn="just">
              <a:lnSpc>
                <a:spcPct val="120000"/>
              </a:lnSpc>
              <a:buNone/>
            </a:pPr>
            <a:r>
              <a:rPr lang="en-IN" dirty="0"/>
              <a:t>Converting image information into text is a critical task in computer vision and natural language processing with applications in accessibility, content generation, and data analysis. This project focuses on developing an automated pipeline that can accurately interpret visual data, extract relevant details, and generate descriptive text output. By combining deep learning techniques in object detection, optical character recognition (OCR), and image captioning models, the system identifies and interprets visual elements within images, such as objects, text, and contextual scenes. </a:t>
            </a:r>
            <a:r>
              <a:rPr lang="en-IN" dirty="0" smtClean="0"/>
              <a:t>The </a:t>
            </a:r>
            <a:r>
              <a:rPr lang="en-IN" dirty="0"/>
              <a:t>project aims to achieve high accuracy in translating complex visual scenes into structured text, allowing applications in fields ranging from digital accessibility for visually impaired individuals to automated metadata creation for media content</a:t>
            </a:r>
          </a:p>
        </p:txBody>
      </p:sp>
    </p:spTree>
    <p:extLst>
      <p:ext uri="{BB962C8B-B14F-4D97-AF65-F5344CB8AC3E}">
        <p14:creationId xmlns:p14="http://schemas.microsoft.com/office/powerpoint/2010/main" val="2985536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002060"/>
                </a:solidFill>
              </a:rPr>
              <a:t>Introduction</a:t>
            </a:r>
            <a:endParaRPr lang="en-IN" b="1" dirty="0">
              <a:solidFill>
                <a:srgbClr val="002060"/>
              </a:solidFill>
            </a:endParaRPr>
          </a:p>
        </p:txBody>
      </p:sp>
      <p:sp>
        <p:nvSpPr>
          <p:cNvPr id="3" name="Content Placeholder 2"/>
          <p:cNvSpPr>
            <a:spLocks noGrp="1"/>
          </p:cNvSpPr>
          <p:nvPr>
            <p:ph idx="1"/>
          </p:nvPr>
        </p:nvSpPr>
        <p:spPr/>
        <p:txBody>
          <a:bodyPr/>
          <a:lstStyle/>
          <a:p>
            <a:pPr marL="0" indent="0" algn="just">
              <a:buNone/>
            </a:pPr>
            <a:r>
              <a:rPr lang="en-US" dirty="0" smtClean="0"/>
              <a:t>This project focuses on creating a system to extract text from images and translate it into a desired language using </a:t>
            </a:r>
            <a:r>
              <a:rPr lang="en-US" b="1" dirty="0" smtClean="0"/>
              <a:t>Optical Character Recognition (OCR)</a:t>
            </a:r>
            <a:r>
              <a:rPr lang="en-US" dirty="0" smtClean="0"/>
              <a:t> and </a:t>
            </a:r>
            <a:r>
              <a:rPr lang="en-US" b="1" dirty="0" smtClean="0"/>
              <a:t>neural networks</a:t>
            </a:r>
            <a:r>
              <a:rPr lang="en-US" dirty="0" smtClean="0"/>
              <a:t> integrated with the </a:t>
            </a:r>
            <a:r>
              <a:rPr lang="en-US" b="1" dirty="0" smtClean="0"/>
              <a:t>Google Translator API</a:t>
            </a:r>
            <a:r>
              <a:rPr lang="en-US" dirty="0" smtClean="0"/>
              <a:t>. Designed for smartphone-captured images, the system addresses challenges like varied text styles, noisy backgrounds, and complex orientations.</a:t>
            </a:r>
          </a:p>
          <a:p>
            <a:pPr algn="just"/>
            <a:endParaRPr lang="en-IN" dirty="0"/>
          </a:p>
        </p:txBody>
      </p:sp>
    </p:spTree>
    <p:extLst>
      <p:ext uri="{BB962C8B-B14F-4D97-AF65-F5344CB8AC3E}">
        <p14:creationId xmlns:p14="http://schemas.microsoft.com/office/powerpoint/2010/main" val="19902317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Existing System  </a:t>
            </a:r>
            <a:br>
              <a:rPr lang="en-US" dirty="0"/>
            </a:br>
            <a:endParaRPr lang="en-IN" dirty="0"/>
          </a:p>
        </p:txBody>
      </p:sp>
      <p:sp>
        <p:nvSpPr>
          <p:cNvPr id="3" name="Content Placeholder 2"/>
          <p:cNvSpPr>
            <a:spLocks noGrp="1"/>
          </p:cNvSpPr>
          <p:nvPr>
            <p:ph idx="1"/>
          </p:nvPr>
        </p:nvSpPr>
        <p:spPr/>
        <p:txBody>
          <a:bodyPr>
            <a:normAutofit fontScale="92500" lnSpcReduction="10000"/>
          </a:bodyPr>
          <a:lstStyle/>
          <a:p>
            <a:pPr marL="137160" indent="0" algn="just">
              <a:buNone/>
            </a:pPr>
            <a:r>
              <a:rPr lang="en-US" sz="2400" b="1" dirty="0">
                <a:solidFill>
                  <a:schemeClr val="bg1"/>
                </a:solidFill>
              </a:rPr>
              <a:t>Objective</a:t>
            </a:r>
            <a:r>
              <a:rPr lang="en-US" sz="2400" dirty="0">
                <a:solidFill>
                  <a:schemeClr val="bg1"/>
                </a:solidFill>
              </a:rPr>
              <a:t>:</a:t>
            </a:r>
            <a:r>
              <a:rPr lang="en-US" sz="2400" dirty="0"/>
              <a:t> Build an OCR-based system to extract text from images such as printed documents, receipts, or handwritten notes.</a:t>
            </a:r>
          </a:p>
          <a:p>
            <a:pPr marL="137160" indent="0" algn="just">
              <a:buNone/>
            </a:pPr>
            <a:r>
              <a:rPr lang="en-US" sz="2400" b="1" dirty="0">
                <a:solidFill>
                  <a:schemeClr val="bg1"/>
                </a:solidFill>
              </a:rPr>
              <a:t>Key </a:t>
            </a:r>
            <a:r>
              <a:rPr lang="en-US" sz="2400" b="1" dirty="0" smtClean="0">
                <a:solidFill>
                  <a:schemeClr val="bg1"/>
                </a:solidFill>
              </a:rPr>
              <a:t>Features: </a:t>
            </a:r>
          </a:p>
          <a:p>
            <a:pPr marL="137160" indent="0" algn="just">
              <a:buNone/>
            </a:pPr>
            <a:r>
              <a:rPr lang="en-US" sz="2400" b="1" dirty="0" smtClean="0"/>
              <a:t>Image </a:t>
            </a:r>
            <a:r>
              <a:rPr lang="en-US" sz="2400" b="1" dirty="0"/>
              <a:t>Preprocessing</a:t>
            </a:r>
            <a:r>
              <a:rPr lang="en-US" sz="2400" dirty="0"/>
              <a:t>: Convert to grayscale, apply thresholding, and enhance text visibility.</a:t>
            </a:r>
          </a:p>
          <a:p>
            <a:pPr marL="137160" indent="0" algn="just">
              <a:buNone/>
            </a:pPr>
            <a:r>
              <a:rPr lang="en-US" sz="2400" b="1" dirty="0"/>
              <a:t>Text Detection and Recognition</a:t>
            </a:r>
            <a:r>
              <a:rPr lang="en-US" sz="2400" dirty="0"/>
              <a:t>: Use OCR to identify and extract text regions.</a:t>
            </a:r>
          </a:p>
          <a:p>
            <a:pPr marL="137160" indent="0" algn="just">
              <a:buNone/>
            </a:pPr>
            <a:r>
              <a:rPr lang="en-US" sz="2400" b="1" dirty="0" smtClean="0"/>
              <a:t>Output</a:t>
            </a:r>
            <a:r>
              <a:rPr lang="en-US" sz="2400" dirty="0" smtClean="0"/>
              <a:t>: Display </a:t>
            </a:r>
            <a:r>
              <a:rPr lang="en-US" sz="2400" dirty="0"/>
              <a:t>or save recognized text</a:t>
            </a:r>
            <a:r>
              <a:rPr lang="en-US" sz="2400" dirty="0" smtClean="0"/>
              <a:t>.</a:t>
            </a:r>
          </a:p>
          <a:p>
            <a:pPr marL="137160" indent="0">
              <a:buNone/>
            </a:pPr>
            <a:r>
              <a:rPr lang="en-IN" sz="2400" b="1" dirty="0">
                <a:solidFill>
                  <a:schemeClr val="bg1"/>
                </a:solidFill>
              </a:rPr>
              <a:t>Python Libraries</a:t>
            </a:r>
            <a:r>
              <a:rPr lang="en-IN" sz="2400" dirty="0">
                <a:solidFill>
                  <a:schemeClr val="bg1"/>
                </a:solidFill>
              </a:rPr>
              <a:t>:</a:t>
            </a:r>
          </a:p>
          <a:p>
            <a:pPr marL="137160" indent="0">
              <a:buNone/>
            </a:pPr>
            <a:r>
              <a:rPr lang="en-IN" sz="2400" dirty="0" smtClean="0"/>
              <a:t>pytesseract</a:t>
            </a:r>
            <a:r>
              <a:rPr lang="en-IN" sz="2400" dirty="0"/>
              <a:t>: Tesseract wrapper.</a:t>
            </a:r>
          </a:p>
          <a:p>
            <a:pPr marL="137160" indent="0">
              <a:buNone/>
            </a:pPr>
            <a:r>
              <a:rPr lang="en-IN" sz="2400" dirty="0" err="1"/>
              <a:t>opencv</a:t>
            </a:r>
            <a:r>
              <a:rPr lang="en-IN" sz="2400" dirty="0"/>
              <a:t>-python: Image processing.</a:t>
            </a:r>
          </a:p>
          <a:p>
            <a:pPr marL="137160" indent="0">
              <a:buNone/>
            </a:pPr>
            <a:r>
              <a:rPr lang="en-IN" sz="2400" dirty="0"/>
              <a:t>Pillow: Basic image handling.</a:t>
            </a:r>
          </a:p>
          <a:p>
            <a:pPr marL="137160" indent="0" algn="just">
              <a:buNone/>
            </a:pPr>
            <a:endParaRPr lang="en-US" sz="2400" dirty="0"/>
          </a:p>
          <a:p>
            <a:pPr marL="137160" indent="0">
              <a:buNone/>
            </a:pPr>
            <a:endParaRPr lang="en-IN" dirty="0"/>
          </a:p>
        </p:txBody>
      </p:sp>
    </p:spTree>
    <p:extLst>
      <p:ext uri="{BB962C8B-B14F-4D97-AF65-F5344CB8AC3E}">
        <p14:creationId xmlns:p14="http://schemas.microsoft.com/office/powerpoint/2010/main" val="4273920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Proposed System  </a:t>
            </a:r>
            <a:br>
              <a:rPr lang="en-US" dirty="0"/>
            </a:br>
            <a:endParaRPr lang="en-IN" dirty="0"/>
          </a:p>
        </p:txBody>
      </p:sp>
      <p:sp>
        <p:nvSpPr>
          <p:cNvPr id="3" name="Content Placeholder 2"/>
          <p:cNvSpPr>
            <a:spLocks noGrp="1"/>
          </p:cNvSpPr>
          <p:nvPr>
            <p:ph idx="1"/>
          </p:nvPr>
        </p:nvSpPr>
        <p:spPr/>
        <p:txBody>
          <a:bodyPr>
            <a:noAutofit/>
          </a:bodyPr>
          <a:lstStyle/>
          <a:p>
            <a:pPr marL="137160" indent="0" algn="just">
              <a:buNone/>
            </a:pPr>
            <a:r>
              <a:rPr lang="en-US" sz="1900" dirty="0" smtClean="0"/>
              <a:t>The </a:t>
            </a:r>
            <a:r>
              <a:rPr lang="en-US" sz="1900" dirty="0"/>
              <a:t>proposed system is designed to convert images into text using a combination of cloud-based models and </a:t>
            </a:r>
            <a:r>
              <a:rPr lang="en-US" sz="1900" dirty="0" smtClean="0"/>
              <a:t>APIs.</a:t>
            </a:r>
          </a:p>
          <a:p>
            <a:pPr marL="137160" indent="0" algn="just">
              <a:buNone/>
            </a:pPr>
            <a:r>
              <a:rPr lang="en-US" sz="1900" dirty="0" smtClean="0">
                <a:solidFill>
                  <a:schemeClr val="bg1"/>
                </a:solidFill>
              </a:rPr>
              <a:t>Input </a:t>
            </a:r>
            <a:r>
              <a:rPr lang="en-US" sz="1900" dirty="0">
                <a:solidFill>
                  <a:schemeClr val="bg1"/>
                </a:solidFill>
              </a:rPr>
              <a:t>from Python Code</a:t>
            </a:r>
            <a:r>
              <a:rPr lang="en-US" sz="1900" dirty="0" smtClean="0">
                <a:solidFill>
                  <a:schemeClr val="bg1"/>
                </a:solidFill>
              </a:rPr>
              <a:t>:</a:t>
            </a:r>
            <a:r>
              <a:rPr lang="en-US" sz="1900" dirty="0" smtClean="0"/>
              <a:t> The </a:t>
            </a:r>
            <a:r>
              <a:rPr lang="en-US" sz="1900" dirty="0"/>
              <a:t>system is initiated via a Python script, which sends an API request containing the image to be processed</a:t>
            </a:r>
            <a:r>
              <a:rPr lang="en-US" sz="1900" dirty="0" smtClean="0"/>
              <a:t>.</a:t>
            </a:r>
          </a:p>
          <a:p>
            <a:pPr marL="137160" indent="0" algn="just">
              <a:buNone/>
            </a:pPr>
            <a:r>
              <a:rPr lang="en-US" sz="1900" dirty="0" smtClean="0">
                <a:solidFill>
                  <a:schemeClr val="bg1"/>
                </a:solidFill>
              </a:rPr>
              <a:t>API </a:t>
            </a:r>
            <a:r>
              <a:rPr lang="en-US" sz="1900" dirty="0">
                <a:solidFill>
                  <a:schemeClr val="bg1"/>
                </a:solidFill>
              </a:rPr>
              <a:t>Request to Clarifai</a:t>
            </a:r>
            <a:r>
              <a:rPr lang="en-US" sz="1900" dirty="0" smtClean="0">
                <a:solidFill>
                  <a:schemeClr val="bg1"/>
                </a:solidFill>
              </a:rPr>
              <a:t>: </a:t>
            </a:r>
            <a:r>
              <a:rPr lang="en-US" sz="1900" dirty="0" smtClean="0"/>
              <a:t>The </a:t>
            </a:r>
            <a:r>
              <a:rPr lang="en-US" sz="1900" dirty="0"/>
              <a:t>image data is sent to Clarifai's model hosted in a container on cloud storage</a:t>
            </a:r>
            <a:r>
              <a:rPr lang="en-US" sz="1900" dirty="0" smtClean="0"/>
              <a:t>. Clarifai </a:t>
            </a:r>
            <a:r>
              <a:rPr lang="en-US" sz="1900" dirty="0"/>
              <a:t>processes the request using its pre-trained models for image classification and feature extraction</a:t>
            </a:r>
            <a:r>
              <a:rPr lang="en-US" sz="1900" dirty="0" smtClean="0"/>
              <a:t>.</a:t>
            </a:r>
          </a:p>
          <a:p>
            <a:pPr marL="137160" indent="0" algn="just">
              <a:buNone/>
            </a:pPr>
            <a:r>
              <a:rPr lang="en-US" sz="1900" dirty="0" smtClean="0">
                <a:solidFill>
                  <a:schemeClr val="bg1"/>
                </a:solidFill>
              </a:rPr>
              <a:t>Backend </a:t>
            </a:r>
            <a:r>
              <a:rPr lang="en-US" sz="1900" dirty="0">
                <a:solidFill>
                  <a:schemeClr val="bg1"/>
                </a:solidFill>
              </a:rPr>
              <a:t>Processing</a:t>
            </a:r>
            <a:r>
              <a:rPr lang="en-US" sz="1900" dirty="0" smtClean="0"/>
              <a:t>: Clarifai's </a:t>
            </a:r>
            <a:r>
              <a:rPr lang="en-US" sz="1900" dirty="0"/>
              <a:t>backend receives the API request and runs the model (e.g., CNN or other image classification models) to analyze the image</a:t>
            </a:r>
            <a:r>
              <a:rPr lang="en-US" sz="1900" dirty="0" smtClean="0"/>
              <a:t>. Integration </a:t>
            </a:r>
            <a:r>
              <a:rPr lang="en-US" sz="1900" dirty="0"/>
              <a:t>with OpenAI GPT-4 Vision</a:t>
            </a:r>
            <a:r>
              <a:rPr lang="en-US" sz="1900" dirty="0" smtClean="0"/>
              <a:t>: The </a:t>
            </a:r>
            <a:r>
              <a:rPr lang="en-US" sz="1900" dirty="0"/>
              <a:t>processed output is sent to the main backend, where OpenAI GPT-4 Vision is deployed for further text generation and contextual understanding</a:t>
            </a:r>
            <a:r>
              <a:rPr lang="en-US" sz="1900" dirty="0" smtClean="0"/>
              <a:t>.</a:t>
            </a:r>
          </a:p>
          <a:p>
            <a:pPr marL="137160" indent="0" algn="just">
              <a:buNone/>
            </a:pPr>
            <a:r>
              <a:rPr lang="en-US" sz="1900" dirty="0" smtClean="0">
                <a:solidFill>
                  <a:schemeClr val="bg1"/>
                </a:solidFill>
              </a:rPr>
              <a:t>Output </a:t>
            </a:r>
            <a:r>
              <a:rPr lang="en-US" sz="1900" dirty="0">
                <a:solidFill>
                  <a:schemeClr val="bg1"/>
                </a:solidFill>
              </a:rPr>
              <a:t>Delivery</a:t>
            </a:r>
            <a:r>
              <a:rPr lang="en-US" sz="1900" dirty="0" smtClean="0">
                <a:solidFill>
                  <a:schemeClr val="bg1"/>
                </a:solidFill>
              </a:rPr>
              <a:t>: </a:t>
            </a:r>
            <a:r>
              <a:rPr lang="en-US" sz="1900" dirty="0" smtClean="0"/>
              <a:t>The </a:t>
            </a:r>
            <a:r>
              <a:rPr lang="en-US" sz="1900" dirty="0"/>
              <a:t>final result, in text form, is sent back to the Python script for further use or display</a:t>
            </a:r>
            <a:r>
              <a:rPr lang="en-US" sz="1900" dirty="0" smtClean="0"/>
              <a:t>. This </a:t>
            </a:r>
            <a:r>
              <a:rPr lang="en-US" sz="1900" dirty="0"/>
              <a:t>system combines the power of Clarifai's image recognition with OpenAI GPT-4's natural language processing capabilities to provide a seamless image-to-text conversion workflow.</a:t>
            </a:r>
            <a:endParaRPr lang="en-IN" sz="1900" dirty="0"/>
          </a:p>
        </p:txBody>
      </p:sp>
    </p:spTree>
    <p:extLst>
      <p:ext uri="{BB962C8B-B14F-4D97-AF65-F5344CB8AC3E}">
        <p14:creationId xmlns:p14="http://schemas.microsoft.com/office/powerpoint/2010/main" val="6067622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Software and Hardware Requirements</a:t>
            </a:r>
            <a:endParaRPr lang="en-IN" dirty="0"/>
          </a:p>
        </p:txBody>
      </p:sp>
      <p:sp>
        <p:nvSpPr>
          <p:cNvPr id="3" name="Content Placeholder 2"/>
          <p:cNvSpPr>
            <a:spLocks noGrp="1"/>
          </p:cNvSpPr>
          <p:nvPr>
            <p:ph idx="1"/>
          </p:nvPr>
        </p:nvSpPr>
        <p:spPr>
          <a:xfrm>
            <a:off x="467544" y="1556792"/>
            <a:ext cx="8229600" cy="4709160"/>
          </a:xfrm>
        </p:spPr>
        <p:txBody>
          <a:bodyPr>
            <a:normAutofit fontScale="85000" lnSpcReduction="20000"/>
          </a:bodyPr>
          <a:lstStyle/>
          <a:p>
            <a:pPr marL="0" indent="0" algn="just">
              <a:buNone/>
            </a:pPr>
            <a:r>
              <a:rPr lang="en-IN" b="1" dirty="0">
                <a:solidFill>
                  <a:schemeClr val="bg1"/>
                </a:solidFill>
              </a:rPr>
              <a:t>Hardware:</a:t>
            </a:r>
            <a:endParaRPr lang="en-IN" dirty="0">
              <a:solidFill>
                <a:schemeClr val="bg1"/>
              </a:solidFill>
            </a:endParaRPr>
          </a:p>
          <a:p>
            <a:pPr marL="0" indent="0" algn="just">
              <a:buNone/>
            </a:pPr>
            <a:r>
              <a:rPr lang="en-IN" dirty="0" smtClean="0">
                <a:solidFill>
                  <a:schemeClr val="bg1"/>
                </a:solidFill>
              </a:rPr>
              <a:t>Microcontrollers:</a:t>
            </a:r>
            <a:r>
              <a:rPr lang="en-IN" dirty="0" smtClean="0"/>
              <a:t>  </a:t>
            </a:r>
            <a:r>
              <a:rPr lang="en-IN" dirty="0"/>
              <a:t>Camera Lenovo Essential FHD Webcam Black </a:t>
            </a:r>
            <a:endParaRPr lang="en-IN" dirty="0" smtClean="0"/>
          </a:p>
          <a:p>
            <a:pPr marL="0" indent="0" algn="just">
              <a:buNone/>
            </a:pPr>
            <a:r>
              <a:rPr lang="en-IN" dirty="0" smtClean="0">
                <a:solidFill>
                  <a:schemeClr val="bg1"/>
                </a:solidFill>
              </a:rPr>
              <a:t>Systems: </a:t>
            </a:r>
            <a:r>
              <a:rPr lang="en-IN" dirty="0" smtClean="0"/>
              <a:t>Windows, Linux</a:t>
            </a:r>
            <a:endParaRPr lang="en-IN" dirty="0"/>
          </a:p>
          <a:p>
            <a:pPr marL="0" indent="0" algn="just">
              <a:buNone/>
            </a:pPr>
            <a:r>
              <a:rPr lang="en-IN" sz="3000" b="1" dirty="0">
                <a:solidFill>
                  <a:schemeClr val="bg1"/>
                </a:solidFill>
              </a:rPr>
              <a:t>Software:</a:t>
            </a:r>
            <a:endParaRPr lang="en-IN" sz="3000" dirty="0">
              <a:solidFill>
                <a:schemeClr val="bg1"/>
              </a:solidFill>
            </a:endParaRPr>
          </a:p>
          <a:p>
            <a:pPr marL="0" indent="0" algn="just">
              <a:buNone/>
            </a:pPr>
            <a:r>
              <a:rPr lang="en-IN" dirty="0" smtClean="0">
                <a:solidFill>
                  <a:schemeClr val="bg1"/>
                </a:solidFill>
              </a:rPr>
              <a:t>Programming </a:t>
            </a:r>
            <a:r>
              <a:rPr lang="en-IN" dirty="0">
                <a:solidFill>
                  <a:schemeClr val="bg1"/>
                </a:solidFill>
              </a:rPr>
              <a:t>Languages:</a:t>
            </a:r>
            <a:r>
              <a:rPr lang="en-IN" dirty="0"/>
              <a:t> </a:t>
            </a:r>
            <a:endParaRPr lang="en-IN" dirty="0" smtClean="0"/>
          </a:p>
          <a:p>
            <a:pPr marL="0" indent="0" algn="just">
              <a:buNone/>
            </a:pPr>
            <a:r>
              <a:rPr lang="en-IN" dirty="0" smtClean="0">
                <a:solidFill>
                  <a:schemeClr val="bg1"/>
                </a:solidFill>
              </a:rPr>
              <a:t>Backend:</a:t>
            </a:r>
            <a:r>
              <a:rPr lang="en-IN" dirty="0" smtClean="0"/>
              <a:t> </a:t>
            </a:r>
            <a:r>
              <a:rPr lang="en-IN" dirty="0" smtClean="0"/>
              <a:t>Python</a:t>
            </a:r>
          </a:p>
          <a:p>
            <a:pPr marL="0" indent="0" algn="just">
              <a:buNone/>
            </a:pPr>
            <a:r>
              <a:rPr lang="en-IN" dirty="0" smtClean="0">
                <a:solidFill>
                  <a:schemeClr val="bg1"/>
                </a:solidFill>
              </a:rPr>
              <a:t>Frontend:</a:t>
            </a:r>
            <a:r>
              <a:rPr lang="en-IN" dirty="0" smtClean="0"/>
              <a:t> </a:t>
            </a:r>
            <a:r>
              <a:rPr lang="en-IN" dirty="0" smtClean="0"/>
              <a:t>HTML</a:t>
            </a:r>
            <a:r>
              <a:rPr lang="en-IN" dirty="0"/>
              <a:t>, CSS, </a:t>
            </a:r>
            <a:r>
              <a:rPr lang="en-IN" dirty="0" smtClean="0"/>
              <a:t>JavaScript </a:t>
            </a:r>
            <a:endParaRPr lang="en-IN" dirty="0"/>
          </a:p>
          <a:p>
            <a:pPr marL="0" indent="0" algn="just">
              <a:buNone/>
            </a:pPr>
            <a:r>
              <a:rPr lang="en-IN" b="1" dirty="0">
                <a:solidFill>
                  <a:schemeClr val="bg1"/>
                </a:solidFill>
              </a:rPr>
              <a:t>Encryption Algorithms:</a:t>
            </a:r>
            <a:r>
              <a:rPr lang="en-IN" dirty="0">
                <a:solidFill>
                  <a:schemeClr val="bg1"/>
                </a:solidFill>
              </a:rPr>
              <a:t> </a:t>
            </a:r>
            <a:endParaRPr lang="en-IN" dirty="0" smtClean="0">
              <a:solidFill>
                <a:schemeClr val="bg1"/>
              </a:solidFill>
            </a:endParaRPr>
          </a:p>
          <a:p>
            <a:pPr marL="0" indent="0" algn="just">
              <a:buNone/>
            </a:pPr>
            <a:r>
              <a:rPr lang="en-IN" dirty="0" smtClean="0">
                <a:solidFill>
                  <a:schemeClr val="bg1"/>
                </a:solidFill>
              </a:rPr>
              <a:t>Model Names: </a:t>
            </a:r>
            <a:r>
              <a:rPr lang="en-IN" dirty="0"/>
              <a:t>Model By </a:t>
            </a:r>
            <a:r>
              <a:rPr lang="en-IN" dirty="0" smtClean="0"/>
              <a:t>Qresearch,</a:t>
            </a:r>
          </a:p>
          <a:p>
            <a:pPr marL="0" indent="0" algn="just">
              <a:buNone/>
            </a:pPr>
            <a:r>
              <a:rPr lang="en-IN" dirty="0" smtClean="0"/>
              <a:t>llama-3-vision-alpha-hf</a:t>
            </a:r>
            <a:endParaRPr lang="en-IN" dirty="0"/>
          </a:p>
          <a:p>
            <a:pPr marL="0" indent="0" algn="just">
              <a:buNone/>
            </a:pPr>
            <a:r>
              <a:rPr lang="en-IN" dirty="0"/>
              <a:t> </a:t>
            </a:r>
            <a:r>
              <a:rPr lang="en-IN" b="1" dirty="0">
                <a:solidFill>
                  <a:schemeClr val="bg1"/>
                </a:solidFill>
              </a:rPr>
              <a:t>Post </a:t>
            </a:r>
            <a:r>
              <a:rPr lang="en-IN" b="1" dirty="0" smtClean="0">
                <a:solidFill>
                  <a:schemeClr val="bg1"/>
                </a:solidFill>
              </a:rPr>
              <a:t>Deployment </a:t>
            </a:r>
            <a:r>
              <a:rPr lang="en-IN" b="1" dirty="0">
                <a:solidFill>
                  <a:schemeClr val="bg1"/>
                </a:solidFill>
              </a:rPr>
              <a:t>Analytics:</a:t>
            </a:r>
            <a:r>
              <a:rPr lang="en-IN" dirty="0">
                <a:solidFill>
                  <a:schemeClr val="bg1"/>
                </a:solidFill>
              </a:rPr>
              <a:t> </a:t>
            </a:r>
            <a:r>
              <a:rPr lang="en-IN" dirty="0"/>
              <a:t>Prometheus Regulatory Compliance: WCAG</a:t>
            </a:r>
          </a:p>
          <a:p>
            <a:pPr algn="just"/>
            <a:endParaRPr lang="en-IN" dirty="0"/>
          </a:p>
        </p:txBody>
      </p:sp>
    </p:spTree>
    <p:extLst>
      <p:ext uri="{BB962C8B-B14F-4D97-AF65-F5344CB8AC3E}">
        <p14:creationId xmlns:p14="http://schemas.microsoft.com/office/powerpoint/2010/main" val="14908650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System Design </a:t>
            </a:r>
            <a:r>
              <a:rPr lang="en-IN" dirty="0"/>
              <a:t>/ Architecture</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95601" y="1600200"/>
            <a:ext cx="7552798" cy="4708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22506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Expected Output</a:t>
            </a:r>
            <a:endParaRPr lang="en-IN" dirty="0"/>
          </a:p>
        </p:txBody>
      </p:sp>
      <p:sp>
        <p:nvSpPr>
          <p:cNvPr id="3" name="Content Placeholder 2"/>
          <p:cNvSpPr>
            <a:spLocks noGrp="1"/>
          </p:cNvSpPr>
          <p:nvPr>
            <p:ph idx="1"/>
          </p:nvPr>
        </p:nvSpPr>
        <p:spPr/>
        <p:txBody>
          <a:bodyPr>
            <a:normAutofit fontScale="70000" lnSpcReduction="20000"/>
          </a:bodyPr>
          <a:lstStyle/>
          <a:p>
            <a:pPr marL="137160" indent="0" algn="just">
              <a:buNone/>
            </a:pPr>
            <a:r>
              <a:rPr lang="en-US" b="1" dirty="0">
                <a:solidFill>
                  <a:schemeClr val="bg1"/>
                </a:solidFill>
              </a:rPr>
              <a:t>Accurate Text Extraction</a:t>
            </a:r>
            <a:r>
              <a:rPr lang="en-US" dirty="0">
                <a:solidFill>
                  <a:schemeClr val="bg1"/>
                </a:solidFill>
              </a:rPr>
              <a:t>: </a:t>
            </a:r>
            <a:r>
              <a:rPr lang="en-US" dirty="0"/>
              <a:t>The system should effectively recognize and extract text from images with varying fonts, sizes, and orientations.</a:t>
            </a:r>
          </a:p>
          <a:p>
            <a:pPr marL="137160" indent="0" algn="just">
              <a:buNone/>
            </a:pPr>
            <a:r>
              <a:rPr lang="en-US" b="1" dirty="0">
                <a:solidFill>
                  <a:schemeClr val="bg1"/>
                </a:solidFill>
              </a:rPr>
              <a:t>Support for Multiple Formats</a:t>
            </a:r>
            <a:r>
              <a:rPr lang="en-US" dirty="0">
                <a:solidFill>
                  <a:schemeClr val="bg1"/>
                </a:solidFill>
              </a:rPr>
              <a:t>: </a:t>
            </a:r>
            <a:r>
              <a:rPr lang="en-US" dirty="0"/>
              <a:t>The input image can be in formats like PNG, JPEG, or BMP, and the tool should process them seamlessly.</a:t>
            </a:r>
          </a:p>
          <a:p>
            <a:pPr marL="137160" indent="0" algn="just">
              <a:buNone/>
            </a:pPr>
            <a:r>
              <a:rPr lang="en-US" b="1" dirty="0">
                <a:solidFill>
                  <a:schemeClr val="bg1"/>
                </a:solidFill>
              </a:rPr>
              <a:t>Readable Text Output</a:t>
            </a:r>
            <a:r>
              <a:rPr lang="en-US" dirty="0">
                <a:solidFill>
                  <a:schemeClr val="bg1"/>
                </a:solidFill>
              </a:rPr>
              <a:t>: </a:t>
            </a:r>
            <a:r>
              <a:rPr lang="en-US" dirty="0"/>
              <a:t>The extracted text should be clean and readable, with minimal errors in character recognition.</a:t>
            </a:r>
          </a:p>
          <a:p>
            <a:pPr marL="137160" indent="0" algn="just">
              <a:buNone/>
            </a:pPr>
            <a:r>
              <a:rPr lang="en-US" b="1" dirty="0">
                <a:solidFill>
                  <a:schemeClr val="bg1"/>
                </a:solidFill>
              </a:rPr>
              <a:t>Handling of Noisy Images</a:t>
            </a:r>
            <a:r>
              <a:rPr lang="en-US" dirty="0">
                <a:solidFill>
                  <a:schemeClr val="bg1"/>
                </a:solidFill>
              </a:rPr>
              <a:t>: </a:t>
            </a:r>
            <a:r>
              <a:rPr lang="en-US" dirty="0"/>
              <a:t>The system should handle challenges like noise, blurred text, or low-light conditions, providing reasonable accuracy.</a:t>
            </a:r>
          </a:p>
          <a:p>
            <a:pPr marL="137160" indent="0" algn="just">
              <a:buNone/>
            </a:pPr>
            <a:r>
              <a:rPr lang="en-US" b="1" dirty="0">
                <a:solidFill>
                  <a:schemeClr val="bg1"/>
                </a:solidFill>
              </a:rPr>
              <a:t>Language Support</a:t>
            </a:r>
            <a:r>
              <a:rPr lang="en-US" dirty="0">
                <a:solidFill>
                  <a:schemeClr val="bg1"/>
                </a:solidFill>
              </a:rPr>
              <a:t>: </a:t>
            </a:r>
            <a:r>
              <a:rPr lang="en-US" dirty="0"/>
              <a:t>If applicable, the system should identify text in multiple languages or indicate its limitations.</a:t>
            </a:r>
          </a:p>
          <a:p>
            <a:pPr marL="137160" indent="0" algn="just">
              <a:buNone/>
            </a:pPr>
            <a:r>
              <a:rPr lang="en-US" b="1" dirty="0">
                <a:solidFill>
                  <a:schemeClr val="bg1"/>
                </a:solidFill>
              </a:rPr>
              <a:t>Optional Enhancements</a:t>
            </a:r>
            <a:r>
              <a:rPr lang="en-US" dirty="0">
                <a:solidFill>
                  <a:schemeClr val="bg1"/>
                </a:solidFill>
              </a:rPr>
              <a:t>: </a:t>
            </a:r>
            <a:r>
              <a:rPr lang="en-US" dirty="0"/>
              <a:t>Features like recognizing handwritten text, text layout preservation, or extracting text from complex backgrounds can be added for advanced functionality</a:t>
            </a:r>
          </a:p>
          <a:p>
            <a:pPr algn="just"/>
            <a:endParaRPr lang="en-IN" dirty="0"/>
          </a:p>
        </p:txBody>
      </p:sp>
    </p:spTree>
    <p:extLst>
      <p:ext uri="{BB962C8B-B14F-4D97-AF65-F5344CB8AC3E}">
        <p14:creationId xmlns:p14="http://schemas.microsoft.com/office/powerpoint/2010/main" val="40318446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References:</a:t>
            </a:r>
            <a:br>
              <a:rPr lang="en-IN" dirty="0"/>
            </a:br>
            <a:endParaRPr lang="en-IN" dirty="0"/>
          </a:p>
        </p:txBody>
      </p:sp>
      <p:sp>
        <p:nvSpPr>
          <p:cNvPr id="3" name="Content Placeholder 2"/>
          <p:cNvSpPr>
            <a:spLocks noGrp="1"/>
          </p:cNvSpPr>
          <p:nvPr>
            <p:ph idx="1"/>
          </p:nvPr>
        </p:nvSpPr>
        <p:spPr/>
        <p:txBody>
          <a:bodyPr/>
          <a:lstStyle/>
          <a:p>
            <a:pPr marL="137160" indent="0" algn="just">
              <a:buNone/>
            </a:pPr>
            <a:endParaRPr lang="en-IN" dirty="0" smtClean="0"/>
          </a:p>
          <a:p>
            <a:pPr marL="137160" indent="0" algn="just">
              <a:buNone/>
            </a:pPr>
            <a:r>
              <a:rPr lang="en-IN" dirty="0">
                <a:solidFill>
                  <a:schemeClr val="bg1"/>
                </a:solidFill>
              </a:rPr>
              <a:t>Research Papers and Articles: </a:t>
            </a:r>
            <a:r>
              <a:rPr lang="en-IN" dirty="0"/>
              <a:t>A Survey on OCR Applications in Image Processing- </a:t>
            </a:r>
            <a:r>
              <a:rPr lang="en-IN" u="sng" dirty="0">
                <a:hlinkClick r:id="rId2"/>
              </a:rPr>
              <a:t>https://ieeexplore.ieee.org/Xplore/home.jsp</a:t>
            </a:r>
            <a:r>
              <a:rPr lang="en-IN" b="1" dirty="0"/>
              <a:t/>
            </a:r>
            <a:br>
              <a:rPr lang="en-IN" b="1" dirty="0"/>
            </a:br>
            <a:r>
              <a:rPr lang="en-IN" dirty="0"/>
              <a:t>Pytesseract: Python wrapper for Tesseract OCR- </a:t>
            </a:r>
            <a:r>
              <a:rPr lang="en-IN" u="sng" dirty="0">
                <a:hlinkClick r:id="rId3"/>
              </a:rPr>
              <a:t>https://pypi.org/project/pytesseract/</a:t>
            </a:r>
            <a:endParaRPr lang="en-IN" dirty="0"/>
          </a:p>
          <a:p>
            <a:pPr marL="137160" indent="0" algn="just">
              <a:buNone/>
            </a:pPr>
            <a:r>
              <a:rPr lang="en-IN" dirty="0">
                <a:solidFill>
                  <a:schemeClr val="bg1"/>
                </a:solidFill>
              </a:rPr>
              <a:t>Google Vision API: </a:t>
            </a:r>
            <a:r>
              <a:rPr lang="en-IN" dirty="0"/>
              <a:t>Cloud-based OCR tool for extracting text from images</a:t>
            </a:r>
          </a:p>
          <a:p>
            <a:pPr algn="just"/>
            <a:endParaRPr lang="en-IN" dirty="0"/>
          </a:p>
        </p:txBody>
      </p:sp>
    </p:spTree>
    <p:extLst>
      <p:ext uri="{BB962C8B-B14F-4D97-AF65-F5344CB8AC3E}">
        <p14:creationId xmlns:p14="http://schemas.microsoft.com/office/powerpoint/2010/main" val="29789001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271</TotalTime>
  <Words>802</Words>
  <Application>Microsoft Office PowerPoint</Application>
  <PresentationFormat>On-screen Show (4:3)</PresentationFormat>
  <Paragraphs>73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Apex</vt:lpstr>
      <vt:lpstr>PowerPoint Presentation</vt:lpstr>
      <vt:lpstr>Image-to-Text Conversion System</vt:lpstr>
      <vt:lpstr>Table of Contents</vt:lpstr>
      <vt:lpstr>Problem Statement </vt:lpstr>
      <vt:lpstr>Abstract </vt:lpstr>
      <vt:lpstr>Introduction</vt:lpstr>
      <vt:lpstr>Existing System   </vt:lpstr>
      <vt:lpstr>Proposed System   </vt:lpstr>
      <vt:lpstr>Software and Hardware Requirements</vt:lpstr>
      <vt:lpstr>System Design / Architecture</vt:lpstr>
      <vt:lpstr>Expected Output</vt:lpstr>
      <vt:lpstr>References: </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Image-to-Text Conversion System</dc:title>
  <dc:creator>mareddy charan</dc:creator>
  <cp:lastModifiedBy>mareddy charan</cp:lastModifiedBy>
  <cp:revision>15</cp:revision>
  <dcterms:created xsi:type="dcterms:W3CDTF">2024-11-22T16:30:05Z</dcterms:created>
  <dcterms:modified xsi:type="dcterms:W3CDTF">2024-11-23T07:09:38Z</dcterms:modified>
</cp:coreProperties>
</file>
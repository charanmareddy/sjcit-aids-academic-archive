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1"/>
  </p:notesMasterIdLst>
  <p:sldIdLst>
    <p:sldId id="256" r:id="rId3"/>
    <p:sldId id="257" r:id="rId4"/>
    <p:sldId id="258" r:id="rId5"/>
    <p:sldId id="273" r:id="rId6"/>
    <p:sldId id="275" r:id="rId7"/>
    <p:sldId id="260" r:id="rId8"/>
    <p:sldId id="274" r:id="rId9"/>
    <p:sldId id="261" r:id="rId10"/>
    <p:sldId id="263" r:id="rId11"/>
    <p:sldId id="276" r:id="rId12"/>
    <p:sldId id="265" r:id="rId13"/>
    <p:sldId id="267" r:id="rId14"/>
    <p:sldId id="268" r:id="rId15"/>
    <p:sldId id="269" r:id="rId16"/>
    <p:sldId id="278" r:id="rId17"/>
    <p:sldId id="270" r:id="rId18"/>
    <p:sldId id="279" r:id="rId19"/>
    <p:sldId id="271" r:id="rId20"/>
    <p:sldId id="280" r:id="rId21"/>
    <p:sldId id="277" r:id="rId22"/>
    <p:sldId id="281" r:id="rId23"/>
    <p:sldId id="398" r:id="rId24"/>
    <p:sldId id="399" r:id="rId25"/>
    <p:sldId id="405" r:id="rId26"/>
    <p:sldId id="400" r:id="rId27"/>
    <p:sldId id="406" r:id="rId28"/>
    <p:sldId id="402" r:id="rId29"/>
    <p:sldId id="373" r:id="rId30"/>
    <p:sldId id="401" r:id="rId31"/>
    <p:sldId id="403" r:id="rId32"/>
    <p:sldId id="272" r:id="rId33"/>
    <p:sldId id="436" r:id="rId34"/>
    <p:sldId id="437" r:id="rId35"/>
    <p:sldId id="438" r:id="rId36"/>
    <p:sldId id="439" r:id="rId37"/>
    <p:sldId id="440" r:id="rId38"/>
    <p:sldId id="441" r:id="rId39"/>
    <p:sldId id="442" r:id="rId40"/>
    <p:sldId id="443" r:id="rId41"/>
    <p:sldId id="444" r:id="rId42"/>
    <p:sldId id="445" r:id="rId43"/>
    <p:sldId id="446" r:id="rId44"/>
    <p:sldId id="447" r:id="rId45"/>
    <p:sldId id="448" r:id="rId46"/>
    <p:sldId id="449" r:id="rId47"/>
    <p:sldId id="450" r:id="rId48"/>
    <p:sldId id="451" r:id="rId49"/>
    <p:sldId id="452" r:id="rId50"/>
    <p:sldId id="453" r:id="rId51"/>
    <p:sldId id="454" r:id="rId52"/>
    <p:sldId id="455" r:id="rId53"/>
    <p:sldId id="456" r:id="rId54"/>
    <p:sldId id="457" r:id="rId55"/>
    <p:sldId id="458" r:id="rId56"/>
    <p:sldId id="459" r:id="rId57"/>
    <p:sldId id="460" r:id="rId58"/>
    <p:sldId id="461" r:id="rId59"/>
    <p:sldId id="462" r:id="rId60"/>
    <p:sldId id="463" r:id="rId61"/>
    <p:sldId id="464" r:id="rId62"/>
    <p:sldId id="465" r:id="rId63"/>
    <p:sldId id="466" r:id="rId64"/>
    <p:sldId id="467" r:id="rId65"/>
    <p:sldId id="468" r:id="rId66"/>
    <p:sldId id="469" r:id="rId67"/>
    <p:sldId id="470" r:id="rId68"/>
    <p:sldId id="471" r:id="rId69"/>
    <p:sldId id="472" r:id="rId70"/>
    <p:sldId id="473" r:id="rId71"/>
    <p:sldId id="474" r:id="rId72"/>
    <p:sldId id="475" r:id="rId73"/>
    <p:sldId id="476" r:id="rId74"/>
    <p:sldId id="477" r:id="rId75"/>
    <p:sldId id="478" r:id="rId76"/>
    <p:sldId id="479" r:id="rId77"/>
    <p:sldId id="480" r:id="rId78"/>
    <p:sldId id="481" r:id="rId79"/>
    <p:sldId id="482" r:id="rId80"/>
    <p:sldId id="483" r:id="rId81"/>
    <p:sldId id="484" r:id="rId82"/>
    <p:sldId id="485" r:id="rId83"/>
    <p:sldId id="486" r:id="rId84"/>
    <p:sldId id="487" r:id="rId85"/>
    <p:sldId id="488" r:id="rId86"/>
    <p:sldId id="489" r:id="rId87"/>
    <p:sldId id="490" r:id="rId88"/>
    <p:sldId id="491" r:id="rId89"/>
    <p:sldId id="492" r:id="rId90"/>
    <p:sldId id="575" r:id="rId91"/>
    <p:sldId id="576" r:id="rId92"/>
    <p:sldId id="577" r:id="rId93"/>
    <p:sldId id="579" r:id="rId94"/>
    <p:sldId id="580" r:id="rId95"/>
    <p:sldId id="583" r:id="rId96"/>
    <p:sldId id="582" r:id="rId97"/>
    <p:sldId id="578" r:id="rId98"/>
    <p:sldId id="493" r:id="rId99"/>
    <p:sldId id="494" r:id="rId100"/>
    <p:sldId id="495" r:id="rId101"/>
    <p:sldId id="496" r:id="rId102"/>
    <p:sldId id="497" r:id="rId103"/>
    <p:sldId id="498" r:id="rId104"/>
    <p:sldId id="499" r:id="rId105"/>
    <p:sldId id="500" r:id="rId106"/>
    <p:sldId id="501" r:id="rId107"/>
    <p:sldId id="502" r:id="rId108"/>
    <p:sldId id="503" r:id="rId109"/>
    <p:sldId id="504" r:id="rId110"/>
    <p:sldId id="505" r:id="rId111"/>
    <p:sldId id="506" r:id="rId112"/>
    <p:sldId id="507" r:id="rId113"/>
    <p:sldId id="508" r:id="rId114"/>
    <p:sldId id="509" r:id="rId115"/>
    <p:sldId id="510" r:id="rId116"/>
    <p:sldId id="511" r:id="rId117"/>
    <p:sldId id="512" r:id="rId118"/>
    <p:sldId id="513" r:id="rId119"/>
    <p:sldId id="514" r:id="rId120"/>
    <p:sldId id="515" r:id="rId121"/>
    <p:sldId id="516" r:id="rId122"/>
    <p:sldId id="517" r:id="rId123"/>
    <p:sldId id="518" r:id="rId124"/>
    <p:sldId id="519" r:id="rId125"/>
    <p:sldId id="520" r:id="rId126"/>
    <p:sldId id="521" r:id="rId127"/>
    <p:sldId id="522" r:id="rId128"/>
    <p:sldId id="523" r:id="rId129"/>
    <p:sldId id="524" r:id="rId130"/>
    <p:sldId id="525" r:id="rId131"/>
    <p:sldId id="526" r:id="rId132"/>
    <p:sldId id="527" r:id="rId133"/>
    <p:sldId id="528" r:id="rId134"/>
    <p:sldId id="529" r:id="rId135"/>
    <p:sldId id="530" r:id="rId136"/>
    <p:sldId id="531" r:id="rId137"/>
    <p:sldId id="532" r:id="rId138"/>
    <p:sldId id="533" r:id="rId139"/>
    <p:sldId id="534" r:id="rId140"/>
    <p:sldId id="535" r:id="rId141"/>
    <p:sldId id="536" r:id="rId142"/>
    <p:sldId id="537" r:id="rId143"/>
    <p:sldId id="538" r:id="rId144"/>
    <p:sldId id="539" r:id="rId145"/>
    <p:sldId id="540" r:id="rId146"/>
    <p:sldId id="541" r:id="rId147"/>
    <p:sldId id="542" r:id="rId148"/>
    <p:sldId id="543" r:id="rId149"/>
    <p:sldId id="544" r:id="rId150"/>
    <p:sldId id="545" r:id="rId151"/>
    <p:sldId id="546" r:id="rId152"/>
    <p:sldId id="547" r:id="rId153"/>
    <p:sldId id="548" r:id="rId154"/>
    <p:sldId id="549" r:id="rId155"/>
    <p:sldId id="550" r:id="rId156"/>
    <p:sldId id="551" r:id="rId157"/>
    <p:sldId id="552" r:id="rId158"/>
    <p:sldId id="553" r:id="rId159"/>
    <p:sldId id="554" r:id="rId160"/>
    <p:sldId id="555" r:id="rId161"/>
    <p:sldId id="556" r:id="rId162"/>
    <p:sldId id="557" r:id="rId163"/>
    <p:sldId id="558" r:id="rId164"/>
    <p:sldId id="559" r:id="rId165"/>
    <p:sldId id="560" r:id="rId166"/>
    <p:sldId id="561" r:id="rId167"/>
    <p:sldId id="562" r:id="rId168"/>
    <p:sldId id="563" r:id="rId169"/>
    <p:sldId id="564" r:id="rId170"/>
    <p:sldId id="565" r:id="rId171"/>
    <p:sldId id="566" r:id="rId172"/>
    <p:sldId id="567" r:id="rId173"/>
    <p:sldId id="568" r:id="rId174"/>
    <p:sldId id="569" r:id="rId175"/>
    <p:sldId id="570" r:id="rId176"/>
    <p:sldId id="571" r:id="rId177"/>
    <p:sldId id="572" r:id="rId178"/>
    <p:sldId id="573" r:id="rId179"/>
    <p:sldId id="574" r:id="rId1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notesMaster" Target="notesMasters/notesMaster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presProps" Target="presProps.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microsoft.com/office/2016/11/relationships/changesInfo" Target="changesInfos/changesInfo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ithra K" userId="c5189d35e8ee8a95" providerId="LiveId" clId="{0271FF53-797E-4F43-ADD5-90F47E048BA9}"/>
    <pc:docChg chg="undo custSel addSld delSld modSld sldOrd">
      <pc:chgData name="Pavithra K" userId="c5189d35e8ee8a95" providerId="LiveId" clId="{0271FF53-797E-4F43-ADD5-90F47E048BA9}" dt="2024-04-27T06:23:50.793" v="941" actId="113"/>
      <pc:docMkLst>
        <pc:docMk/>
      </pc:docMkLst>
      <pc:sldChg chg="addSp delSp modSp mod">
        <pc:chgData name="Pavithra K" userId="c5189d35e8ee8a95" providerId="LiveId" clId="{0271FF53-797E-4F43-ADD5-90F47E048BA9}" dt="2024-04-25T04:09:49.947" v="690" actId="27636"/>
        <pc:sldMkLst>
          <pc:docMk/>
          <pc:sldMk cId="2261347347" sldId="256"/>
        </pc:sldMkLst>
        <pc:spChg chg="mod">
          <ac:chgData name="Pavithra K" userId="c5189d35e8ee8a95" providerId="LiveId" clId="{0271FF53-797E-4F43-ADD5-90F47E048BA9}" dt="2024-04-25T04:02:47.791" v="656" actId="255"/>
          <ac:spMkLst>
            <pc:docMk/>
            <pc:sldMk cId="2261347347" sldId="256"/>
            <ac:spMk id="2" creationId="{2B8249A8-F800-446D-A3D8-01C3F7F56494}"/>
          </ac:spMkLst>
        </pc:spChg>
        <pc:spChg chg="add del mod">
          <ac:chgData name="Pavithra K" userId="c5189d35e8ee8a95" providerId="LiveId" clId="{0271FF53-797E-4F43-ADD5-90F47E048BA9}" dt="2024-04-25T04:09:49.947" v="690" actId="27636"/>
          <ac:spMkLst>
            <pc:docMk/>
            <pc:sldMk cId="2261347347" sldId="256"/>
            <ac:spMk id="3" creationId="{ACD57A43-F1AF-4B2B-BE09-DBABBA2658AC}"/>
          </ac:spMkLst>
        </pc:spChg>
        <pc:spChg chg="add del mod">
          <ac:chgData name="Pavithra K" userId="c5189d35e8ee8a95" providerId="LiveId" clId="{0271FF53-797E-4F43-ADD5-90F47E048BA9}" dt="2024-04-25T04:04:13.355" v="664" actId="478"/>
          <ac:spMkLst>
            <pc:docMk/>
            <pc:sldMk cId="2261347347" sldId="256"/>
            <ac:spMk id="4" creationId="{A7C28BA1-18BE-4F27-91A5-4E8F37F8FF45}"/>
          </ac:spMkLst>
        </pc:spChg>
        <pc:spChg chg="add del">
          <ac:chgData name="Pavithra K" userId="c5189d35e8ee8a95" providerId="LiveId" clId="{0271FF53-797E-4F43-ADD5-90F47E048BA9}" dt="2024-04-25T04:05:53.258" v="675" actId="478"/>
          <ac:spMkLst>
            <pc:docMk/>
            <pc:sldMk cId="2261347347" sldId="256"/>
            <ac:spMk id="5" creationId="{AA712B9E-E95E-4FD0-BDF7-7FFA8FF1D33A}"/>
          </ac:spMkLst>
        </pc:spChg>
        <pc:picChg chg="add mod">
          <ac:chgData name="Pavithra K" userId="c5189d35e8ee8a95" providerId="LiveId" clId="{0271FF53-797E-4F43-ADD5-90F47E048BA9}" dt="2024-04-25T04:06:20.929" v="681" actId="14100"/>
          <ac:picMkLst>
            <pc:docMk/>
            <pc:sldMk cId="2261347347" sldId="256"/>
            <ac:picMk id="1026" creationId="{BEBBF403-CB88-4C31-A2FC-4E266C7DA7BA}"/>
          </ac:picMkLst>
        </pc:picChg>
        <pc:picChg chg="add del mod">
          <ac:chgData name="Pavithra K" userId="c5189d35e8ee8a95" providerId="LiveId" clId="{0271FF53-797E-4F43-ADD5-90F47E048BA9}" dt="2024-04-25T04:08:46.886" v="685" actId="478"/>
          <ac:picMkLst>
            <pc:docMk/>
            <pc:sldMk cId="2261347347" sldId="256"/>
            <ac:picMk id="1028" creationId="{9AA35F81-E1CA-47DD-99EF-F904235054AB}"/>
          </ac:picMkLst>
        </pc:picChg>
      </pc:sldChg>
      <pc:sldChg chg="modSp mod">
        <pc:chgData name="Pavithra K" userId="c5189d35e8ee8a95" providerId="LiveId" clId="{0271FF53-797E-4F43-ADD5-90F47E048BA9}" dt="2024-04-17T06:09:12.420" v="66" actId="113"/>
        <pc:sldMkLst>
          <pc:docMk/>
          <pc:sldMk cId="997611440" sldId="258"/>
        </pc:sldMkLst>
        <pc:spChg chg="mod">
          <ac:chgData name="Pavithra K" userId="c5189d35e8ee8a95" providerId="LiveId" clId="{0271FF53-797E-4F43-ADD5-90F47E048BA9}" dt="2024-04-17T06:09:12.420" v="66" actId="113"/>
          <ac:spMkLst>
            <pc:docMk/>
            <pc:sldMk cId="997611440" sldId="258"/>
            <ac:spMk id="2" creationId="{DF6338DD-AC32-4CD6-9F4A-696FFAFEAAFE}"/>
          </ac:spMkLst>
        </pc:spChg>
      </pc:sldChg>
      <pc:sldChg chg="delSp modSp del mod">
        <pc:chgData name="Pavithra K" userId="c5189d35e8ee8a95" providerId="LiveId" clId="{0271FF53-797E-4F43-ADD5-90F47E048BA9}" dt="2024-04-17T06:14:45.770" v="99" actId="47"/>
        <pc:sldMkLst>
          <pc:docMk/>
          <pc:sldMk cId="2774469195" sldId="259"/>
        </pc:sldMkLst>
        <pc:spChg chg="del mod">
          <ac:chgData name="Pavithra K" userId="c5189d35e8ee8a95" providerId="LiveId" clId="{0271FF53-797E-4F43-ADD5-90F47E048BA9}" dt="2024-04-17T06:14:41.414" v="98" actId="478"/>
          <ac:spMkLst>
            <pc:docMk/>
            <pc:sldMk cId="2774469195" sldId="259"/>
            <ac:spMk id="2" creationId="{79F7D743-9024-4CF5-8660-DA79E4C08AB2}"/>
          </ac:spMkLst>
        </pc:spChg>
      </pc:sldChg>
      <pc:sldChg chg="modSp mod">
        <pc:chgData name="Pavithra K" userId="c5189d35e8ee8a95" providerId="LiveId" clId="{0271FF53-797E-4F43-ADD5-90F47E048BA9}" dt="2024-04-17T06:22:30.717" v="159" actId="15"/>
        <pc:sldMkLst>
          <pc:docMk/>
          <pc:sldMk cId="387933497" sldId="260"/>
        </pc:sldMkLst>
        <pc:spChg chg="mod">
          <ac:chgData name="Pavithra K" userId="c5189d35e8ee8a95" providerId="LiveId" clId="{0271FF53-797E-4F43-ADD5-90F47E048BA9}" dt="2024-04-17T06:22:30.717" v="159" actId="15"/>
          <ac:spMkLst>
            <pc:docMk/>
            <pc:sldMk cId="387933497" sldId="260"/>
            <ac:spMk id="2" creationId="{91D402B1-75FE-4127-A49A-23B7D9438393}"/>
          </ac:spMkLst>
        </pc:spChg>
      </pc:sldChg>
      <pc:sldChg chg="modSp mod">
        <pc:chgData name="Pavithra K" userId="c5189d35e8ee8a95" providerId="LiveId" clId="{0271FF53-797E-4F43-ADD5-90F47E048BA9}" dt="2024-04-27T06:23:30.899" v="940" actId="20577"/>
        <pc:sldMkLst>
          <pc:docMk/>
          <pc:sldMk cId="1830857226" sldId="261"/>
        </pc:sldMkLst>
        <pc:spChg chg="mod">
          <ac:chgData name="Pavithra K" userId="c5189d35e8ee8a95" providerId="LiveId" clId="{0271FF53-797E-4F43-ADD5-90F47E048BA9}" dt="2024-04-27T06:23:30.899" v="940" actId="20577"/>
          <ac:spMkLst>
            <pc:docMk/>
            <pc:sldMk cId="1830857226" sldId="261"/>
            <ac:spMk id="2" creationId="{58E21F51-FDB8-4929-A2D9-F87FBB3F8CAB}"/>
          </ac:spMkLst>
        </pc:spChg>
      </pc:sldChg>
      <pc:sldChg chg="modSp del mod">
        <pc:chgData name="Pavithra K" userId="c5189d35e8ee8a95" providerId="LiveId" clId="{0271FF53-797E-4F43-ADD5-90F47E048BA9}" dt="2024-04-18T05:31:50.841" v="286" actId="47"/>
        <pc:sldMkLst>
          <pc:docMk/>
          <pc:sldMk cId="3541757499" sldId="262"/>
        </pc:sldMkLst>
        <pc:spChg chg="mod">
          <ac:chgData name="Pavithra K" userId="c5189d35e8ee8a95" providerId="LiveId" clId="{0271FF53-797E-4F43-ADD5-90F47E048BA9}" dt="2024-04-17T06:37:28.395" v="274" actId="21"/>
          <ac:spMkLst>
            <pc:docMk/>
            <pc:sldMk cId="3541757499" sldId="262"/>
            <ac:spMk id="2" creationId="{2990452A-ED1E-405C-A1FD-18F65DAC81D3}"/>
          </ac:spMkLst>
        </pc:spChg>
      </pc:sldChg>
      <pc:sldChg chg="addSp delSp modSp mod">
        <pc:chgData name="Pavithra K" userId="c5189d35e8ee8a95" providerId="LiveId" clId="{0271FF53-797E-4F43-ADD5-90F47E048BA9}" dt="2024-04-18T05:46:10.634" v="348" actId="14100"/>
        <pc:sldMkLst>
          <pc:docMk/>
          <pc:sldMk cId="2337288924" sldId="263"/>
        </pc:sldMkLst>
        <pc:spChg chg="mod">
          <ac:chgData name="Pavithra K" userId="c5189d35e8ee8a95" providerId="LiveId" clId="{0271FF53-797E-4F43-ADD5-90F47E048BA9}" dt="2024-04-18T05:39:16.286" v="317" actId="20577"/>
          <ac:spMkLst>
            <pc:docMk/>
            <pc:sldMk cId="2337288924" sldId="263"/>
            <ac:spMk id="2" creationId="{4BD615ED-7E04-4E78-A3D0-C59B3FEE9A46}"/>
          </ac:spMkLst>
        </pc:spChg>
        <pc:picChg chg="add mod">
          <ac:chgData name="Pavithra K" userId="c5189d35e8ee8a95" providerId="LiveId" clId="{0271FF53-797E-4F43-ADD5-90F47E048BA9}" dt="2024-04-18T05:45:30.326" v="346" actId="14100"/>
          <ac:picMkLst>
            <pc:docMk/>
            <pc:sldMk cId="2337288924" sldId="263"/>
            <ac:picMk id="1026" creationId="{971C069E-E048-428E-B6B9-C43AE8970168}"/>
          </ac:picMkLst>
        </pc:picChg>
        <pc:picChg chg="add del mod">
          <ac:chgData name="Pavithra K" userId="c5189d35e8ee8a95" providerId="LiveId" clId="{0271FF53-797E-4F43-ADD5-90F47E048BA9}" dt="2024-04-18T05:42:46.675" v="339"/>
          <ac:picMkLst>
            <pc:docMk/>
            <pc:sldMk cId="2337288924" sldId="263"/>
            <ac:picMk id="1028" creationId="{EB5F78B1-F76A-41AA-850A-814E3DB7EC24}"/>
          </ac:picMkLst>
        </pc:picChg>
        <pc:picChg chg="add mod">
          <ac:chgData name="Pavithra K" userId="c5189d35e8ee8a95" providerId="LiveId" clId="{0271FF53-797E-4F43-ADD5-90F47E048BA9}" dt="2024-04-18T05:46:10.634" v="348" actId="14100"/>
          <ac:picMkLst>
            <pc:docMk/>
            <pc:sldMk cId="2337288924" sldId="263"/>
            <ac:picMk id="1030" creationId="{E16C08B3-F54B-4D21-8B1A-AF21E3A1DEED}"/>
          </ac:picMkLst>
        </pc:picChg>
      </pc:sldChg>
      <pc:sldChg chg="modSp del mod">
        <pc:chgData name="Pavithra K" userId="c5189d35e8ee8a95" providerId="LiveId" clId="{0271FF53-797E-4F43-ADD5-90F47E048BA9}" dt="2024-04-27T05:41:39.340" v="840" actId="47"/>
        <pc:sldMkLst>
          <pc:docMk/>
          <pc:sldMk cId="3642802026" sldId="264"/>
        </pc:sldMkLst>
        <pc:spChg chg="mod">
          <ac:chgData name="Pavithra K" userId="c5189d35e8ee8a95" providerId="LiveId" clId="{0271FF53-797E-4F43-ADD5-90F47E048BA9}" dt="2024-04-27T05:32:51.170" v="774" actId="21"/>
          <ac:spMkLst>
            <pc:docMk/>
            <pc:sldMk cId="3642802026" sldId="264"/>
            <ac:spMk id="2" creationId="{19FF5F42-64A9-4C2B-AD7B-BCFE4CB1C572}"/>
          </ac:spMkLst>
        </pc:spChg>
      </pc:sldChg>
      <pc:sldChg chg="addSp delSp modSp mod">
        <pc:chgData name="Pavithra K" userId="c5189d35e8ee8a95" providerId="LiveId" clId="{0271FF53-797E-4F43-ADD5-90F47E048BA9}" dt="2024-04-27T05:30:58.513" v="759" actId="313"/>
        <pc:sldMkLst>
          <pc:docMk/>
          <pc:sldMk cId="3998476876" sldId="265"/>
        </pc:sldMkLst>
        <pc:graphicFrameChg chg="add del mod modGraphic">
          <ac:chgData name="Pavithra K" userId="c5189d35e8ee8a95" providerId="LiveId" clId="{0271FF53-797E-4F43-ADD5-90F47E048BA9}" dt="2024-04-18T06:20:10.463" v="550" actId="478"/>
          <ac:graphicFrameMkLst>
            <pc:docMk/>
            <pc:sldMk cId="3998476876" sldId="265"/>
            <ac:graphicFrameMk id="2" creationId="{E820BD3F-7737-4ABC-90DF-8CD23E552001}"/>
          </ac:graphicFrameMkLst>
        </pc:graphicFrameChg>
        <pc:graphicFrameChg chg="add del mod modGraphic">
          <ac:chgData name="Pavithra K" userId="c5189d35e8ee8a95" providerId="LiveId" clId="{0271FF53-797E-4F43-ADD5-90F47E048BA9}" dt="2024-04-18T06:19:59.620" v="541" actId="3680"/>
          <ac:graphicFrameMkLst>
            <pc:docMk/>
            <pc:sldMk cId="3998476876" sldId="265"/>
            <ac:graphicFrameMk id="4" creationId="{F703788B-E54B-4614-B082-4FCF6F7336BE}"/>
          </ac:graphicFrameMkLst>
        </pc:graphicFrameChg>
        <pc:graphicFrameChg chg="add del mod modGraphic">
          <ac:chgData name="Pavithra K" userId="c5189d35e8ee8a95" providerId="LiveId" clId="{0271FF53-797E-4F43-ADD5-90F47E048BA9}" dt="2024-04-18T06:27:52.987" v="602" actId="478"/>
          <ac:graphicFrameMkLst>
            <pc:docMk/>
            <pc:sldMk cId="3998476876" sldId="265"/>
            <ac:graphicFrameMk id="6" creationId="{3E693528-C7D5-4D3D-B46A-2F0FA85FA21C}"/>
          </ac:graphicFrameMkLst>
        </pc:graphicFrameChg>
        <pc:graphicFrameChg chg="add del mod modGraphic">
          <ac:chgData name="Pavithra K" userId="c5189d35e8ee8a95" providerId="LiveId" clId="{0271FF53-797E-4F43-ADD5-90F47E048BA9}" dt="2024-04-18T06:26:37.208" v="589" actId="3680"/>
          <ac:graphicFrameMkLst>
            <pc:docMk/>
            <pc:sldMk cId="3998476876" sldId="265"/>
            <ac:graphicFrameMk id="8" creationId="{CD6EB679-F347-4CB6-B768-CCB3EB62CC14}"/>
          </ac:graphicFrameMkLst>
        </pc:graphicFrameChg>
        <pc:graphicFrameChg chg="add del">
          <ac:chgData name="Pavithra K" userId="c5189d35e8ee8a95" providerId="LiveId" clId="{0271FF53-797E-4F43-ADD5-90F47E048BA9}" dt="2024-04-18T06:26:53.839" v="591" actId="3680"/>
          <ac:graphicFrameMkLst>
            <pc:docMk/>
            <pc:sldMk cId="3998476876" sldId="265"/>
            <ac:graphicFrameMk id="10" creationId="{1750318A-4B8F-413D-A967-42B0405B1A70}"/>
          </ac:graphicFrameMkLst>
        </pc:graphicFrameChg>
        <pc:graphicFrameChg chg="add mod modGraphic">
          <ac:chgData name="Pavithra K" userId="c5189d35e8ee8a95" providerId="LiveId" clId="{0271FF53-797E-4F43-ADD5-90F47E048BA9}" dt="2024-04-27T05:30:58.513" v="759" actId="313"/>
          <ac:graphicFrameMkLst>
            <pc:docMk/>
            <pc:sldMk cId="3998476876" sldId="265"/>
            <ac:graphicFrameMk id="12" creationId="{8EF12C3A-68F8-4B95-913A-68D61D6BFE7F}"/>
          </ac:graphicFrameMkLst>
        </pc:graphicFrameChg>
        <pc:picChg chg="add del mod">
          <ac:chgData name="Pavithra K" userId="c5189d35e8ee8a95" providerId="LiveId" clId="{0271FF53-797E-4F43-ADD5-90F47E048BA9}" dt="2024-04-18T06:10:30.097" v="486" actId="21"/>
          <ac:picMkLst>
            <pc:docMk/>
            <pc:sldMk cId="3998476876" sldId="265"/>
            <ac:picMk id="4098" creationId="{54A83FCA-7A7D-449C-8B7E-3493A71FFD9C}"/>
          </ac:picMkLst>
        </pc:picChg>
      </pc:sldChg>
      <pc:sldChg chg="addSp delSp modSp del mod ord">
        <pc:chgData name="Pavithra K" userId="c5189d35e8ee8a95" providerId="LiveId" clId="{0271FF53-797E-4F43-ADD5-90F47E048BA9}" dt="2024-04-27T05:42:02.344" v="841" actId="47"/>
        <pc:sldMkLst>
          <pc:docMk/>
          <pc:sldMk cId="2843343946" sldId="266"/>
        </pc:sldMkLst>
        <pc:graphicFrameChg chg="add mod modGraphic">
          <ac:chgData name="Pavithra K" userId="c5189d35e8ee8a95" providerId="LiveId" clId="{0271FF53-797E-4F43-ADD5-90F47E048BA9}" dt="2024-04-27T05:16:27.269" v="694" actId="255"/>
          <ac:graphicFrameMkLst>
            <pc:docMk/>
            <pc:sldMk cId="2843343946" sldId="266"/>
            <ac:graphicFrameMk id="2" creationId="{7B597408-41A0-41FA-9254-2277D9D0B3EF}"/>
          </ac:graphicFrameMkLst>
        </pc:graphicFrameChg>
        <pc:picChg chg="add del">
          <ac:chgData name="Pavithra K" userId="c5189d35e8ee8a95" providerId="LiveId" clId="{0271FF53-797E-4F43-ADD5-90F47E048BA9}" dt="2024-04-18T06:07:04.646" v="448" actId="478"/>
          <ac:picMkLst>
            <pc:docMk/>
            <pc:sldMk cId="2843343946" sldId="266"/>
            <ac:picMk id="2" creationId="{7CC24CCD-BA7C-40AC-8253-B4074A2AE712}"/>
          </ac:picMkLst>
        </pc:picChg>
        <pc:picChg chg="add del mod">
          <ac:chgData name="Pavithra K" userId="c5189d35e8ee8a95" providerId="LiveId" clId="{0271FF53-797E-4F43-ADD5-90F47E048BA9}" dt="2024-04-18T06:07:26.665" v="452" actId="21"/>
          <ac:picMkLst>
            <pc:docMk/>
            <pc:sldMk cId="2843343946" sldId="266"/>
            <ac:picMk id="3" creationId="{4BAB7102-BDAF-476F-9865-7F587C285911}"/>
          </ac:picMkLst>
        </pc:picChg>
      </pc:sldChg>
      <pc:sldChg chg="addSp modSp mod">
        <pc:chgData name="Pavithra K" userId="c5189d35e8ee8a95" providerId="LiveId" clId="{0271FF53-797E-4F43-ADD5-90F47E048BA9}" dt="2024-04-27T05:31:33.705" v="764" actId="21"/>
        <pc:sldMkLst>
          <pc:docMk/>
          <pc:sldMk cId="1379521923" sldId="267"/>
        </pc:sldMkLst>
        <pc:graphicFrameChg chg="add mod modGraphic">
          <ac:chgData name="Pavithra K" userId="c5189d35e8ee8a95" providerId="LiveId" clId="{0271FF53-797E-4F43-ADD5-90F47E048BA9}" dt="2024-04-27T05:31:33.705" v="764" actId="21"/>
          <ac:graphicFrameMkLst>
            <pc:docMk/>
            <pc:sldMk cId="1379521923" sldId="267"/>
            <ac:graphicFrameMk id="2" creationId="{4C28CF4A-2C5E-4847-A90A-58524913B2DC}"/>
          </ac:graphicFrameMkLst>
        </pc:graphicFrameChg>
      </pc:sldChg>
      <pc:sldChg chg="addSp delSp modSp mod ord">
        <pc:chgData name="Pavithra K" userId="c5189d35e8ee8a95" providerId="LiveId" clId="{0271FF53-797E-4F43-ADD5-90F47E048BA9}" dt="2024-04-27T05:41:32.285" v="839" actId="478"/>
        <pc:sldMkLst>
          <pc:docMk/>
          <pc:sldMk cId="1122350145" sldId="268"/>
        </pc:sldMkLst>
        <pc:graphicFrameChg chg="add mod modGraphic">
          <ac:chgData name="Pavithra K" userId="c5189d35e8ee8a95" providerId="LiveId" clId="{0271FF53-797E-4F43-ADD5-90F47E048BA9}" dt="2024-04-27T05:39:19.307" v="833" actId="1076"/>
          <ac:graphicFrameMkLst>
            <pc:docMk/>
            <pc:sldMk cId="1122350145" sldId="268"/>
            <ac:graphicFrameMk id="2" creationId="{E535E7A7-18AB-4788-92F9-B8EE21446B98}"/>
          </ac:graphicFrameMkLst>
        </pc:graphicFrameChg>
        <pc:picChg chg="add del mod">
          <ac:chgData name="Pavithra K" userId="c5189d35e8ee8a95" providerId="LiveId" clId="{0271FF53-797E-4F43-ADD5-90F47E048BA9}" dt="2024-04-27T05:38:29.129" v="818" actId="21"/>
          <ac:picMkLst>
            <pc:docMk/>
            <pc:sldMk cId="1122350145" sldId="268"/>
            <ac:picMk id="4" creationId="{2FFC27D0-4A5D-42B9-8224-94D7A5A701D4}"/>
          </ac:picMkLst>
        </pc:picChg>
        <pc:picChg chg="add del mod">
          <ac:chgData name="Pavithra K" userId="c5189d35e8ee8a95" providerId="LiveId" clId="{0271FF53-797E-4F43-ADD5-90F47E048BA9}" dt="2024-04-27T05:41:32.285" v="839" actId="478"/>
          <ac:picMkLst>
            <pc:docMk/>
            <pc:sldMk cId="1122350145" sldId="268"/>
            <ac:picMk id="6" creationId="{1147526A-F32D-48BB-9D2F-0E351ED6CF69}"/>
          </ac:picMkLst>
        </pc:picChg>
        <pc:picChg chg="add del">
          <ac:chgData name="Pavithra K" userId="c5189d35e8ee8a95" providerId="LiveId" clId="{0271FF53-797E-4F43-ADD5-90F47E048BA9}" dt="2024-04-27T05:36:45.005" v="790"/>
          <ac:picMkLst>
            <pc:docMk/>
            <pc:sldMk cId="1122350145" sldId="268"/>
            <ac:picMk id="2050" creationId="{4129343B-06E6-4DDA-9A1D-8B7B0F6E12F7}"/>
          </ac:picMkLst>
        </pc:picChg>
      </pc:sldChg>
      <pc:sldChg chg="addSp delSp modSp mod">
        <pc:chgData name="Pavithra K" userId="c5189d35e8ee8a95" providerId="LiveId" clId="{0271FF53-797E-4F43-ADD5-90F47E048BA9}" dt="2024-04-27T06:23:50.793" v="941" actId="113"/>
        <pc:sldMkLst>
          <pc:docMk/>
          <pc:sldMk cId="4176781511" sldId="269"/>
        </pc:sldMkLst>
        <pc:spChg chg="add mod">
          <ac:chgData name="Pavithra K" userId="c5189d35e8ee8a95" providerId="LiveId" clId="{0271FF53-797E-4F43-ADD5-90F47E048BA9}" dt="2024-04-27T06:23:50.793" v="941" actId="113"/>
          <ac:spMkLst>
            <pc:docMk/>
            <pc:sldMk cId="4176781511" sldId="269"/>
            <ac:spMk id="2" creationId="{C89151CF-BA9F-41BA-915C-7591D5520AFD}"/>
          </ac:spMkLst>
        </pc:spChg>
        <pc:picChg chg="add del mod">
          <ac:chgData name="Pavithra K" userId="c5189d35e8ee8a95" providerId="LiveId" clId="{0271FF53-797E-4F43-ADD5-90F47E048BA9}" dt="2024-04-27T06:14:14.434" v="908" actId="478"/>
          <ac:picMkLst>
            <pc:docMk/>
            <pc:sldMk cId="4176781511" sldId="269"/>
            <ac:picMk id="4" creationId="{A00F4D0D-F1A1-4D89-815B-FDB53B718101}"/>
          </ac:picMkLst>
        </pc:picChg>
        <pc:picChg chg="add del mod">
          <ac:chgData name="Pavithra K" userId="c5189d35e8ee8a95" providerId="LiveId" clId="{0271FF53-797E-4F43-ADD5-90F47E048BA9}" dt="2024-04-27T06:09:41.321" v="893" actId="478"/>
          <ac:picMkLst>
            <pc:docMk/>
            <pc:sldMk cId="4176781511" sldId="269"/>
            <ac:picMk id="3074" creationId="{B1D454D4-05B8-4A1A-AC54-40871002C1D1}"/>
          </ac:picMkLst>
        </pc:picChg>
        <pc:picChg chg="add del mod">
          <ac:chgData name="Pavithra K" userId="c5189d35e8ee8a95" providerId="LiveId" clId="{0271FF53-797E-4F43-ADD5-90F47E048BA9}" dt="2024-04-27T06:08:27.216" v="887" actId="21"/>
          <ac:picMkLst>
            <pc:docMk/>
            <pc:sldMk cId="4176781511" sldId="269"/>
            <ac:picMk id="3076" creationId="{5839D686-B2EC-40D8-AF5C-ED832DDB48F1}"/>
          </ac:picMkLst>
        </pc:picChg>
        <pc:picChg chg="add del mod">
          <ac:chgData name="Pavithra K" userId="c5189d35e8ee8a95" providerId="LiveId" clId="{0271FF53-797E-4F43-ADD5-90F47E048BA9}" dt="2024-04-27T06:12:13.387" v="898" actId="478"/>
          <ac:picMkLst>
            <pc:docMk/>
            <pc:sldMk cId="4176781511" sldId="269"/>
            <ac:picMk id="3078" creationId="{1A908DC5-E091-4FB3-A7BA-0958CA5EDCC3}"/>
          </ac:picMkLst>
        </pc:picChg>
        <pc:picChg chg="add mod">
          <ac:chgData name="Pavithra K" userId="c5189d35e8ee8a95" providerId="LiveId" clId="{0271FF53-797E-4F43-ADD5-90F47E048BA9}" dt="2024-04-27T06:16:25.984" v="920" actId="14100"/>
          <ac:picMkLst>
            <pc:docMk/>
            <pc:sldMk cId="4176781511" sldId="269"/>
            <ac:picMk id="3080" creationId="{E78E5229-5641-4BD0-A013-926EF9F1BC49}"/>
          </ac:picMkLst>
        </pc:picChg>
        <pc:picChg chg="add del mod">
          <ac:chgData name="Pavithra K" userId="c5189d35e8ee8a95" providerId="LiveId" clId="{0271FF53-797E-4F43-ADD5-90F47E048BA9}" dt="2024-04-27T06:16:11.212" v="917" actId="14100"/>
          <ac:picMkLst>
            <pc:docMk/>
            <pc:sldMk cId="4176781511" sldId="269"/>
            <ac:picMk id="3082" creationId="{D1B3020F-C7E1-45E0-B494-5266AA60851E}"/>
          </ac:picMkLst>
        </pc:picChg>
      </pc:sldChg>
      <pc:sldChg chg="addSp modSp mod">
        <pc:chgData name="Pavithra K" userId="c5189d35e8ee8a95" providerId="LiveId" clId="{0271FF53-797E-4F43-ADD5-90F47E048BA9}" dt="2024-04-27T06:05:23.418" v="863" actId="21"/>
        <pc:sldMkLst>
          <pc:docMk/>
          <pc:sldMk cId="2027403976" sldId="270"/>
        </pc:sldMkLst>
        <pc:spChg chg="add mod">
          <ac:chgData name="Pavithra K" userId="c5189d35e8ee8a95" providerId="LiveId" clId="{0271FF53-797E-4F43-ADD5-90F47E048BA9}" dt="2024-04-27T06:05:23.418" v="863" actId="21"/>
          <ac:spMkLst>
            <pc:docMk/>
            <pc:sldMk cId="2027403976" sldId="270"/>
            <ac:spMk id="2" creationId="{3B8CAB5B-1B65-4B63-86CF-1E78A561FA6B}"/>
          </ac:spMkLst>
        </pc:spChg>
      </pc:sldChg>
      <pc:sldChg chg="addSp modSp mod">
        <pc:chgData name="Pavithra K" userId="c5189d35e8ee8a95" providerId="LiveId" clId="{0271FF53-797E-4F43-ADD5-90F47E048BA9}" dt="2024-04-27T06:06:15.272" v="874" actId="1076"/>
        <pc:sldMkLst>
          <pc:docMk/>
          <pc:sldMk cId="1617609652" sldId="271"/>
        </pc:sldMkLst>
        <pc:spChg chg="add mod">
          <ac:chgData name="Pavithra K" userId="c5189d35e8ee8a95" providerId="LiveId" clId="{0271FF53-797E-4F43-ADD5-90F47E048BA9}" dt="2024-04-27T06:06:15.272" v="874" actId="1076"/>
          <ac:spMkLst>
            <pc:docMk/>
            <pc:sldMk cId="1617609652" sldId="271"/>
            <ac:spMk id="2" creationId="{4BD1BAD7-E130-468D-BBC5-FE4C55778743}"/>
          </ac:spMkLst>
        </pc:spChg>
      </pc:sldChg>
      <pc:sldChg chg="addSp delSp modSp mod">
        <pc:chgData name="Pavithra K" userId="c5189d35e8ee8a95" providerId="LiveId" clId="{0271FF53-797E-4F43-ADD5-90F47E048BA9}" dt="2024-04-27T06:21:38.190" v="927" actId="20577"/>
        <pc:sldMkLst>
          <pc:docMk/>
          <pc:sldMk cId="2375805113" sldId="272"/>
        </pc:sldMkLst>
        <pc:spChg chg="del mod">
          <ac:chgData name="Pavithra K" userId="c5189d35e8ee8a95" providerId="LiveId" clId="{0271FF53-797E-4F43-ADD5-90F47E048BA9}" dt="2024-04-27T06:06:57.618" v="878" actId="478"/>
          <ac:spMkLst>
            <pc:docMk/>
            <pc:sldMk cId="2375805113" sldId="272"/>
            <ac:spMk id="2" creationId="{3B3166F6-9A81-4725-803F-3D70DECDD60D}"/>
          </ac:spMkLst>
        </pc:spChg>
        <pc:spChg chg="add mod">
          <ac:chgData name="Pavithra K" userId="c5189d35e8ee8a95" providerId="LiveId" clId="{0271FF53-797E-4F43-ADD5-90F47E048BA9}" dt="2024-04-27T06:21:38.190" v="927" actId="20577"/>
          <ac:spMkLst>
            <pc:docMk/>
            <pc:sldMk cId="2375805113" sldId="272"/>
            <ac:spMk id="3" creationId="{86A8172D-327F-45DD-AD8B-84C08BFB9D48}"/>
          </ac:spMkLst>
        </pc:spChg>
        <pc:spChg chg="add">
          <ac:chgData name="Pavithra K" userId="c5189d35e8ee8a95" providerId="LiveId" clId="{0271FF53-797E-4F43-ADD5-90F47E048BA9}" dt="2024-04-27T06:18:41.246" v="922"/>
          <ac:spMkLst>
            <pc:docMk/>
            <pc:sldMk cId="2375805113" sldId="272"/>
            <ac:spMk id="4" creationId="{6E812CF6-7B1F-4DDD-8831-03E28B998DDD}"/>
          </ac:spMkLst>
        </pc:spChg>
        <pc:spChg chg="add mod">
          <ac:chgData name="Pavithra K" userId="c5189d35e8ee8a95" providerId="LiveId" clId="{0271FF53-797E-4F43-ADD5-90F47E048BA9}" dt="2024-04-27T06:20:01.050" v="924" actId="1076"/>
          <ac:spMkLst>
            <pc:docMk/>
            <pc:sldMk cId="2375805113" sldId="272"/>
            <ac:spMk id="5" creationId="{BF8B04D0-95E1-4149-930C-58D835A53862}"/>
          </ac:spMkLst>
        </pc:spChg>
      </pc:sldChg>
      <pc:sldChg chg="addSp modSp new mod">
        <pc:chgData name="Pavithra K" userId="c5189d35e8ee8a95" providerId="LiveId" clId="{0271FF53-797E-4F43-ADD5-90F47E048BA9}" dt="2024-04-17T06:21:35.658" v="151" actId="20577"/>
        <pc:sldMkLst>
          <pc:docMk/>
          <pc:sldMk cId="4262438799" sldId="273"/>
        </pc:sldMkLst>
        <pc:spChg chg="add mod">
          <ac:chgData name="Pavithra K" userId="c5189d35e8ee8a95" providerId="LiveId" clId="{0271FF53-797E-4F43-ADD5-90F47E048BA9}" dt="2024-04-17T06:21:35.658" v="151" actId="20577"/>
          <ac:spMkLst>
            <pc:docMk/>
            <pc:sldMk cId="4262438799" sldId="273"/>
            <ac:spMk id="2" creationId="{9641028D-358C-4E20-9F80-5CB7F726F163}"/>
          </ac:spMkLst>
        </pc:spChg>
      </pc:sldChg>
      <pc:sldChg chg="addSp modSp new mod">
        <pc:chgData name="Pavithra K" userId="c5189d35e8ee8a95" providerId="LiveId" clId="{0271FF53-797E-4F43-ADD5-90F47E048BA9}" dt="2024-04-27T06:23:08.329" v="932" actId="20577"/>
        <pc:sldMkLst>
          <pc:docMk/>
          <pc:sldMk cId="1326069919" sldId="274"/>
        </pc:sldMkLst>
        <pc:spChg chg="add mod">
          <ac:chgData name="Pavithra K" userId="c5189d35e8ee8a95" providerId="LiveId" clId="{0271FF53-797E-4F43-ADD5-90F47E048BA9}" dt="2024-04-27T06:23:08.329" v="932" actId="20577"/>
          <ac:spMkLst>
            <pc:docMk/>
            <pc:sldMk cId="1326069919" sldId="274"/>
            <ac:spMk id="2" creationId="{27A8C73E-23BC-4C11-83E0-A692EFFE876E}"/>
          </ac:spMkLst>
        </pc:spChg>
      </pc:sldChg>
      <pc:sldChg chg="addSp delSp modSp new">
        <pc:chgData name="Pavithra K" userId="c5189d35e8ee8a95" providerId="LiveId" clId="{0271FF53-797E-4F43-ADD5-90F47E048BA9}" dt="2024-04-18T06:11:22.052" v="501" actId="1076"/>
        <pc:sldMkLst>
          <pc:docMk/>
          <pc:sldMk cId="2417851766" sldId="275"/>
        </pc:sldMkLst>
        <pc:spChg chg="add del mod">
          <ac:chgData name="Pavithra K" userId="c5189d35e8ee8a95" providerId="LiveId" clId="{0271FF53-797E-4F43-ADD5-90F47E048BA9}" dt="2024-04-18T05:54:07.310" v="377" actId="478"/>
          <ac:spMkLst>
            <pc:docMk/>
            <pc:sldMk cId="2417851766" sldId="275"/>
            <ac:spMk id="2" creationId="{F6839350-E77E-40D7-8569-F43EFB2EED3A}"/>
          </ac:spMkLst>
        </pc:spChg>
        <pc:spChg chg="add del">
          <ac:chgData name="Pavithra K" userId="c5189d35e8ee8a95" providerId="LiveId" clId="{0271FF53-797E-4F43-ADD5-90F47E048BA9}" dt="2024-04-18T05:54:04.590" v="375"/>
          <ac:spMkLst>
            <pc:docMk/>
            <pc:sldMk cId="2417851766" sldId="275"/>
            <ac:spMk id="3" creationId="{EB8A4CDF-C8AF-4668-ACB8-CFFA1417F89F}"/>
          </ac:spMkLst>
        </pc:spChg>
        <pc:spChg chg="add del mod">
          <ac:chgData name="Pavithra K" userId="c5189d35e8ee8a95" providerId="LiveId" clId="{0271FF53-797E-4F43-ADD5-90F47E048BA9}" dt="2024-04-18T05:54:03.515" v="373"/>
          <ac:spMkLst>
            <pc:docMk/>
            <pc:sldMk cId="2417851766" sldId="275"/>
            <ac:spMk id="4" creationId="{31A19708-2825-4527-B776-04A7C2BCBD98}"/>
          </ac:spMkLst>
        </pc:spChg>
        <pc:spChg chg="add del mod">
          <ac:chgData name="Pavithra K" userId="c5189d35e8ee8a95" providerId="LiveId" clId="{0271FF53-797E-4F43-ADD5-90F47E048BA9}" dt="2024-04-18T05:54:02.574" v="371"/>
          <ac:spMkLst>
            <pc:docMk/>
            <pc:sldMk cId="2417851766" sldId="275"/>
            <ac:spMk id="5" creationId="{71602FEF-395B-4D9C-A2FD-EDB736857E3E}"/>
          </ac:spMkLst>
        </pc:spChg>
        <pc:spChg chg="add">
          <ac:chgData name="Pavithra K" userId="c5189d35e8ee8a95" providerId="LiveId" clId="{0271FF53-797E-4F43-ADD5-90F47E048BA9}" dt="2024-04-18T06:00:53.949" v="404"/>
          <ac:spMkLst>
            <pc:docMk/>
            <pc:sldMk cId="2417851766" sldId="275"/>
            <ac:spMk id="6" creationId="{842C8035-FB4A-4E7B-8601-9C9112B133AE}"/>
          </ac:spMkLst>
        </pc:spChg>
        <pc:spChg chg="add del mod">
          <ac:chgData name="Pavithra K" userId="c5189d35e8ee8a95" providerId="LiveId" clId="{0271FF53-797E-4F43-ADD5-90F47E048BA9}" dt="2024-04-18T06:02:55.200" v="412" actId="1076"/>
          <ac:spMkLst>
            <pc:docMk/>
            <pc:sldMk cId="2417851766" sldId="275"/>
            <ac:spMk id="7" creationId="{E0B800D3-2564-4E1D-82AE-8D3716E83D99}"/>
          </ac:spMkLst>
        </pc:spChg>
        <pc:picChg chg="add mod">
          <ac:chgData name="Pavithra K" userId="c5189d35e8ee8a95" providerId="LiveId" clId="{0271FF53-797E-4F43-ADD5-90F47E048BA9}" dt="2024-04-18T06:09:52.975" v="476" actId="1076"/>
          <ac:picMkLst>
            <pc:docMk/>
            <pc:sldMk cId="2417851766" sldId="275"/>
            <ac:picMk id="13" creationId="{684744C5-5A84-466E-8571-3D4108466BBE}"/>
          </ac:picMkLst>
        </pc:picChg>
        <pc:picChg chg="add mod">
          <ac:chgData name="Pavithra K" userId="c5189d35e8ee8a95" providerId="LiveId" clId="{0271FF53-797E-4F43-ADD5-90F47E048BA9}" dt="2024-04-18T06:10:52.943" v="494" actId="14100"/>
          <ac:picMkLst>
            <pc:docMk/>
            <pc:sldMk cId="2417851766" sldId="275"/>
            <ac:picMk id="15" creationId="{29172942-8DFE-454C-81DA-A98C618A707C}"/>
          </ac:picMkLst>
        </pc:picChg>
        <pc:picChg chg="add del mod">
          <ac:chgData name="Pavithra K" userId="c5189d35e8ee8a95" providerId="LiveId" clId="{0271FF53-797E-4F43-ADD5-90F47E048BA9}" dt="2024-04-18T05:54:07.310" v="377" actId="478"/>
          <ac:picMkLst>
            <pc:docMk/>
            <pc:sldMk cId="2417851766" sldId="275"/>
            <ac:picMk id="2050" creationId="{7F1ED2A6-8756-434A-946E-B33D9DB95CA3}"/>
          </ac:picMkLst>
        </pc:picChg>
        <pc:picChg chg="add mod">
          <ac:chgData name="Pavithra K" userId="c5189d35e8ee8a95" providerId="LiveId" clId="{0271FF53-797E-4F43-ADD5-90F47E048BA9}" dt="2024-04-18T06:07:52.872" v="461" actId="14100"/>
          <ac:picMkLst>
            <pc:docMk/>
            <pc:sldMk cId="2417851766" sldId="275"/>
            <ac:picMk id="2060" creationId="{B7F6537F-19BE-48D1-B53A-48AE65499270}"/>
          </ac:picMkLst>
        </pc:picChg>
        <pc:picChg chg="add del mod">
          <ac:chgData name="Pavithra K" userId="c5189d35e8ee8a95" providerId="LiveId" clId="{0271FF53-797E-4F43-ADD5-90F47E048BA9}" dt="2024-04-18T06:11:22.052" v="501" actId="1076"/>
          <ac:picMkLst>
            <pc:docMk/>
            <pc:sldMk cId="2417851766" sldId="275"/>
            <ac:picMk id="2062" creationId="{7798E752-9947-4C2E-A0CF-6C5199BC7AC5}"/>
          </ac:picMkLst>
        </pc:picChg>
        <pc:picChg chg="add del mod">
          <ac:chgData name="Pavithra K" userId="c5189d35e8ee8a95" providerId="LiveId" clId="{0271FF53-797E-4F43-ADD5-90F47E048BA9}" dt="2024-04-18T06:03:42.021" v="421" actId="14100"/>
          <ac:picMkLst>
            <pc:docMk/>
            <pc:sldMk cId="2417851766" sldId="275"/>
            <ac:picMk id="2068" creationId="{34F30AB6-370C-4245-87BC-A08342FA3EA5}"/>
          </ac:picMkLst>
        </pc:picChg>
        <pc:picChg chg="add del mod">
          <ac:chgData name="Pavithra K" userId="c5189d35e8ee8a95" providerId="LiveId" clId="{0271FF53-797E-4F43-ADD5-90F47E048BA9}" dt="2024-04-18T06:06:39.080" v="444"/>
          <ac:picMkLst>
            <pc:docMk/>
            <pc:sldMk cId="2417851766" sldId="275"/>
            <ac:picMk id="2070" creationId="{46B9C770-5C83-4033-9BCB-8D756463BB42}"/>
          </ac:picMkLst>
        </pc:picChg>
        <pc:picChg chg="add del mod">
          <ac:chgData name="Pavithra K" userId="c5189d35e8ee8a95" providerId="LiveId" clId="{0271FF53-797E-4F43-ADD5-90F47E048BA9}" dt="2024-04-18T06:09:53.846" v="477"/>
          <ac:picMkLst>
            <pc:docMk/>
            <pc:sldMk cId="2417851766" sldId="275"/>
            <ac:picMk id="2072" creationId="{C55A38EF-C1C2-4343-A1BB-243072460145}"/>
          </ac:picMkLst>
        </pc:picChg>
      </pc:sldChg>
      <pc:sldChg chg="addSp modSp new">
        <pc:chgData name="Pavithra K" userId="c5189d35e8ee8a95" providerId="LiveId" clId="{0271FF53-797E-4F43-ADD5-90F47E048BA9}" dt="2024-04-18T06:16:08.073" v="512" actId="14100"/>
        <pc:sldMkLst>
          <pc:docMk/>
          <pc:sldMk cId="1058743355" sldId="276"/>
        </pc:sldMkLst>
        <pc:picChg chg="add mod">
          <ac:chgData name="Pavithra K" userId="c5189d35e8ee8a95" providerId="LiveId" clId="{0271FF53-797E-4F43-ADD5-90F47E048BA9}" dt="2024-04-18T06:16:08.073" v="512" actId="14100"/>
          <ac:picMkLst>
            <pc:docMk/>
            <pc:sldMk cId="1058743355" sldId="276"/>
            <ac:picMk id="5122" creationId="{0730C8F2-4E12-40D6-9515-BB3F09E44600}"/>
          </ac:picMkLst>
        </pc:picChg>
      </pc:sldChg>
      <pc:sldChg chg="addSp modSp new mod">
        <pc:chgData name="Pavithra K" userId="c5189d35e8ee8a95" providerId="LiveId" clId="{0271FF53-797E-4F43-ADD5-90F47E048BA9}" dt="2024-04-27T06:05:55.947" v="870" actId="1076"/>
        <pc:sldMkLst>
          <pc:docMk/>
          <pc:sldMk cId="648903043" sldId="277"/>
        </pc:sldMkLst>
        <pc:spChg chg="add mod">
          <ac:chgData name="Pavithra K" userId="c5189d35e8ee8a95" providerId="LiveId" clId="{0271FF53-797E-4F43-ADD5-90F47E048BA9}" dt="2024-04-27T06:05:55.947" v="870" actId="1076"/>
          <ac:spMkLst>
            <pc:docMk/>
            <pc:sldMk cId="648903043" sldId="277"/>
            <ac:spMk id="2" creationId="{612F4811-09DF-42F5-9F97-7D2F0DC5DBD5}"/>
          </ac:spMkLst>
        </pc:spChg>
      </pc:sldChg>
      <pc:sldChg chg="addSp modSp new">
        <pc:chgData name="Pavithra K" userId="c5189d35e8ee8a95" providerId="LiveId" clId="{0271FF53-797E-4F43-ADD5-90F47E048BA9}" dt="2024-04-27T06:16:35.960" v="921" actId="1076"/>
        <pc:sldMkLst>
          <pc:docMk/>
          <pc:sldMk cId="1668343673" sldId="278"/>
        </pc:sldMkLst>
        <pc:picChg chg="add mod">
          <ac:chgData name="Pavithra K" userId="c5189d35e8ee8a95" providerId="LiveId" clId="{0271FF53-797E-4F43-ADD5-90F47E048BA9}" dt="2024-04-27T06:16:35.960" v="921" actId="1076"/>
          <ac:picMkLst>
            <pc:docMk/>
            <pc:sldMk cId="1668343673" sldId="278"/>
            <ac:picMk id="2" creationId="{180BD237-B2AD-4B42-9C84-5CAE37C09A2E}"/>
          </ac:picMkLst>
        </pc:picChg>
      </pc:sldChg>
    </pc:docChg>
  </pc:docChgLst>
  <pc:docChgLst>
    <pc:chgData name="Pavithra K" userId="c5189d35e8ee8a95" providerId="LiveId" clId="{4F65E778-F495-4CE3-BFFA-851BDD7A3B8B}"/>
    <pc:docChg chg="custSel modSld">
      <pc:chgData name="Pavithra K" userId="c5189d35e8ee8a95" providerId="LiveId" clId="{4F65E778-F495-4CE3-BFFA-851BDD7A3B8B}" dt="2024-03-25T11:01:54.363" v="94" actId="20577"/>
      <pc:docMkLst>
        <pc:docMk/>
      </pc:docMkLst>
      <pc:sldChg chg="modSp mod">
        <pc:chgData name="Pavithra K" userId="c5189d35e8ee8a95" providerId="LiveId" clId="{4F65E778-F495-4CE3-BFFA-851BDD7A3B8B}" dt="2024-03-25T10:57:54.960" v="53" actId="113"/>
        <pc:sldMkLst>
          <pc:docMk/>
          <pc:sldMk cId="2216522054" sldId="257"/>
        </pc:sldMkLst>
        <pc:spChg chg="mod">
          <ac:chgData name="Pavithra K" userId="c5189d35e8ee8a95" providerId="LiveId" clId="{4F65E778-F495-4CE3-BFFA-851BDD7A3B8B}" dt="2024-03-25T10:57:54.960" v="53" actId="113"/>
          <ac:spMkLst>
            <pc:docMk/>
            <pc:sldMk cId="2216522054" sldId="257"/>
            <ac:spMk id="4" creationId="{F71DD39D-A1EF-438A-95A3-A696A8FCA5A2}"/>
          </ac:spMkLst>
        </pc:spChg>
      </pc:sldChg>
      <pc:sldChg chg="modSp mod">
        <pc:chgData name="Pavithra K" userId="c5189d35e8ee8a95" providerId="LiveId" clId="{4F65E778-F495-4CE3-BFFA-851BDD7A3B8B}" dt="2024-03-25T11:01:54.363" v="94" actId="20577"/>
        <pc:sldMkLst>
          <pc:docMk/>
          <pc:sldMk cId="997611440" sldId="258"/>
        </pc:sldMkLst>
        <pc:spChg chg="mod">
          <ac:chgData name="Pavithra K" userId="c5189d35e8ee8a95" providerId="LiveId" clId="{4F65E778-F495-4CE3-BFFA-851BDD7A3B8B}" dt="2024-03-25T11:01:54.363" v="94" actId="20577"/>
          <ac:spMkLst>
            <pc:docMk/>
            <pc:sldMk cId="997611440" sldId="258"/>
            <ac:spMk id="2" creationId="{DF6338DD-AC32-4CD6-9F4A-696FFAFEAAFE}"/>
          </ac:spMkLst>
        </pc:spChg>
      </pc:sldChg>
    </pc:docChg>
  </pc:docChgLst>
  <pc:docChgLst>
    <pc:chgData name="Pavithra K" userId="c5189d35e8ee8a95" providerId="LiveId" clId="{4308FA32-12B0-4C89-BB9B-7C2E9E2494EE}"/>
    <pc:docChg chg="undo custSel addSld delSld modSld sldOrd">
      <pc:chgData name="Pavithra K" userId="c5189d35e8ee8a95" providerId="LiveId" clId="{4308FA32-12B0-4C89-BB9B-7C2E9E2494EE}" dt="2024-06-04T03:42:52.958" v="296"/>
      <pc:docMkLst>
        <pc:docMk/>
      </pc:docMkLst>
      <pc:sldChg chg="addSp delSp">
        <pc:chgData name="Pavithra K" userId="c5189d35e8ee8a95" providerId="LiveId" clId="{4308FA32-12B0-4C89-BB9B-7C2E9E2494EE}" dt="2024-05-29T04:24:02.606" v="1"/>
        <pc:sldMkLst>
          <pc:docMk/>
          <pc:sldMk cId="2261347347" sldId="256"/>
        </pc:sldMkLst>
        <pc:spChg chg="add del">
          <ac:chgData name="Pavithra K" userId="c5189d35e8ee8a95" providerId="LiveId" clId="{4308FA32-12B0-4C89-BB9B-7C2E9E2494EE}" dt="2024-05-29T04:24:02.606" v="1"/>
          <ac:spMkLst>
            <pc:docMk/>
            <pc:sldMk cId="2261347347" sldId="256"/>
            <ac:spMk id="4" creationId="{A6B1F821-063D-4C33-9071-B0BF01614040}"/>
          </ac:spMkLst>
        </pc:spChg>
      </pc:sldChg>
      <pc:sldChg chg="add del">
        <pc:chgData name="Pavithra K" userId="c5189d35e8ee8a95" providerId="LiveId" clId="{4308FA32-12B0-4C89-BB9B-7C2E9E2494EE}" dt="2024-05-29T06:07:09.233" v="79" actId="47"/>
        <pc:sldMkLst>
          <pc:docMk/>
          <pc:sldMk cId="4148509872" sldId="259"/>
        </pc:sldMkLst>
      </pc:sldChg>
      <pc:sldChg chg="add del">
        <pc:chgData name="Pavithra K" userId="c5189d35e8ee8a95" providerId="LiveId" clId="{4308FA32-12B0-4C89-BB9B-7C2E9E2494EE}" dt="2024-05-29T06:07:09.233" v="79" actId="47"/>
        <pc:sldMkLst>
          <pc:docMk/>
          <pc:sldMk cId="1544386767" sldId="262"/>
        </pc:sldMkLst>
      </pc:sldChg>
      <pc:sldChg chg="add del">
        <pc:chgData name="Pavithra K" userId="c5189d35e8ee8a95" providerId="LiveId" clId="{4308FA32-12B0-4C89-BB9B-7C2E9E2494EE}" dt="2024-05-29T06:07:09.233" v="79" actId="47"/>
        <pc:sldMkLst>
          <pc:docMk/>
          <pc:sldMk cId="2249905139" sldId="264"/>
        </pc:sldMkLst>
      </pc:sldChg>
      <pc:sldChg chg="add del">
        <pc:chgData name="Pavithra K" userId="c5189d35e8ee8a95" providerId="LiveId" clId="{4308FA32-12B0-4C89-BB9B-7C2E9E2494EE}" dt="2024-05-29T06:07:09.233" v="79" actId="47"/>
        <pc:sldMkLst>
          <pc:docMk/>
          <pc:sldMk cId="693513936" sldId="266"/>
        </pc:sldMkLst>
      </pc:sldChg>
      <pc:sldChg chg="addSp delSp modSp del mod">
        <pc:chgData name="Pavithra K" userId="c5189d35e8ee8a95" providerId="LiveId" clId="{4308FA32-12B0-4C89-BB9B-7C2E9E2494EE}" dt="2024-05-29T06:07:13.189" v="80" actId="2696"/>
        <pc:sldMkLst>
          <pc:docMk/>
          <pc:sldMk cId="2375805113" sldId="272"/>
        </pc:sldMkLst>
        <pc:spChg chg="mod">
          <ac:chgData name="Pavithra K" userId="c5189d35e8ee8a95" providerId="LiveId" clId="{4308FA32-12B0-4C89-BB9B-7C2E9E2494EE}" dt="2024-05-29T05:44:53.471" v="63" actId="20577"/>
          <ac:spMkLst>
            <pc:docMk/>
            <pc:sldMk cId="2375805113" sldId="272"/>
            <ac:spMk id="3" creationId="{86A8172D-327F-45DD-AD8B-84C08BFB9D48}"/>
          </ac:spMkLst>
        </pc:spChg>
        <pc:spChg chg="add del mod">
          <ac:chgData name="Pavithra K" userId="c5189d35e8ee8a95" providerId="LiveId" clId="{4308FA32-12B0-4C89-BB9B-7C2E9E2494EE}" dt="2024-05-29T05:44:58.110" v="64" actId="478"/>
          <ac:spMkLst>
            <pc:docMk/>
            <pc:sldMk cId="2375805113" sldId="272"/>
            <ac:spMk id="4" creationId="{F16E28BE-6B52-4C20-B7C4-1CA01735D6E5}"/>
          </ac:spMkLst>
        </pc:spChg>
      </pc:sldChg>
      <pc:sldChg chg="add ord">
        <pc:chgData name="Pavithra K" userId="c5189d35e8ee8a95" providerId="LiveId" clId="{4308FA32-12B0-4C89-BB9B-7C2E9E2494EE}" dt="2024-05-29T06:07:27.449" v="83"/>
        <pc:sldMkLst>
          <pc:docMk/>
          <pc:sldMk cId="2714656618" sldId="272"/>
        </pc:sldMkLst>
      </pc:sldChg>
      <pc:sldChg chg="add del">
        <pc:chgData name="Pavithra K" userId="c5189d35e8ee8a95" providerId="LiveId" clId="{4308FA32-12B0-4C89-BB9B-7C2E9E2494EE}" dt="2024-05-29T06:07:09.233" v="79" actId="47"/>
        <pc:sldMkLst>
          <pc:docMk/>
          <pc:sldMk cId="3820197301" sldId="282"/>
        </pc:sldMkLst>
      </pc:sldChg>
      <pc:sldChg chg="add del">
        <pc:chgData name="Pavithra K" userId="c5189d35e8ee8a95" providerId="LiveId" clId="{4308FA32-12B0-4C89-BB9B-7C2E9E2494EE}" dt="2024-05-29T06:07:09.233" v="79" actId="47"/>
        <pc:sldMkLst>
          <pc:docMk/>
          <pc:sldMk cId="817079498" sldId="283"/>
        </pc:sldMkLst>
      </pc:sldChg>
      <pc:sldChg chg="add del">
        <pc:chgData name="Pavithra K" userId="c5189d35e8ee8a95" providerId="LiveId" clId="{4308FA32-12B0-4C89-BB9B-7C2E9E2494EE}" dt="2024-05-29T06:07:09.233" v="79" actId="47"/>
        <pc:sldMkLst>
          <pc:docMk/>
          <pc:sldMk cId="4041574311" sldId="285"/>
        </pc:sldMkLst>
      </pc:sldChg>
      <pc:sldChg chg="add del">
        <pc:chgData name="Pavithra K" userId="c5189d35e8ee8a95" providerId="LiveId" clId="{4308FA32-12B0-4C89-BB9B-7C2E9E2494EE}" dt="2024-05-29T06:07:09.233" v="79" actId="47"/>
        <pc:sldMkLst>
          <pc:docMk/>
          <pc:sldMk cId="4037808253" sldId="286"/>
        </pc:sldMkLst>
      </pc:sldChg>
      <pc:sldChg chg="add del">
        <pc:chgData name="Pavithra K" userId="c5189d35e8ee8a95" providerId="LiveId" clId="{4308FA32-12B0-4C89-BB9B-7C2E9E2494EE}" dt="2024-05-29T06:07:09.233" v="79" actId="47"/>
        <pc:sldMkLst>
          <pc:docMk/>
          <pc:sldMk cId="2510692053" sldId="287"/>
        </pc:sldMkLst>
      </pc:sldChg>
      <pc:sldChg chg="add del">
        <pc:chgData name="Pavithra K" userId="c5189d35e8ee8a95" providerId="LiveId" clId="{4308FA32-12B0-4C89-BB9B-7C2E9E2494EE}" dt="2024-05-29T06:07:09.233" v="79" actId="47"/>
        <pc:sldMkLst>
          <pc:docMk/>
          <pc:sldMk cId="2845985438" sldId="288"/>
        </pc:sldMkLst>
      </pc:sldChg>
      <pc:sldChg chg="add del">
        <pc:chgData name="Pavithra K" userId="c5189d35e8ee8a95" providerId="LiveId" clId="{4308FA32-12B0-4C89-BB9B-7C2E9E2494EE}" dt="2024-05-29T06:07:09.233" v="79" actId="47"/>
        <pc:sldMkLst>
          <pc:docMk/>
          <pc:sldMk cId="2824359554" sldId="289"/>
        </pc:sldMkLst>
      </pc:sldChg>
      <pc:sldChg chg="add del">
        <pc:chgData name="Pavithra K" userId="c5189d35e8ee8a95" providerId="LiveId" clId="{4308FA32-12B0-4C89-BB9B-7C2E9E2494EE}" dt="2024-05-29T06:07:09.233" v="79" actId="47"/>
        <pc:sldMkLst>
          <pc:docMk/>
          <pc:sldMk cId="3618249190" sldId="290"/>
        </pc:sldMkLst>
      </pc:sldChg>
      <pc:sldChg chg="add del">
        <pc:chgData name="Pavithra K" userId="c5189d35e8ee8a95" providerId="LiveId" clId="{4308FA32-12B0-4C89-BB9B-7C2E9E2494EE}" dt="2024-05-29T06:07:09.233" v="79" actId="47"/>
        <pc:sldMkLst>
          <pc:docMk/>
          <pc:sldMk cId="3128938739" sldId="291"/>
        </pc:sldMkLst>
      </pc:sldChg>
      <pc:sldChg chg="add del">
        <pc:chgData name="Pavithra K" userId="c5189d35e8ee8a95" providerId="LiveId" clId="{4308FA32-12B0-4C89-BB9B-7C2E9E2494EE}" dt="2024-05-29T06:07:09.233" v="79" actId="47"/>
        <pc:sldMkLst>
          <pc:docMk/>
          <pc:sldMk cId="2576070146" sldId="292"/>
        </pc:sldMkLst>
      </pc:sldChg>
      <pc:sldChg chg="add del">
        <pc:chgData name="Pavithra K" userId="c5189d35e8ee8a95" providerId="LiveId" clId="{4308FA32-12B0-4C89-BB9B-7C2E9E2494EE}" dt="2024-05-29T06:07:09.233" v="79" actId="47"/>
        <pc:sldMkLst>
          <pc:docMk/>
          <pc:sldMk cId="3231611080" sldId="293"/>
        </pc:sldMkLst>
      </pc:sldChg>
      <pc:sldChg chg="add del">
        <pc:chgData name="Pavithra K" userId="c5189d35e8ee8a95" providerId="LiveId" clId="{4308FA32-12B0-4C89-BB9B-7C2E9E2494EE}" dt="2024-05-29T06:07:09.233" v="79" actId="47"/>
        <pc:sldMkLst>
          <pc:docMk/>
          <pc:sldMk cId="1629482717" sldId="294"/>
        </pc:sldMkLst>
      </pc:sldChg>
      <pc:sldChg chg="add del">
        <pc:chgData name="Pavithra K" userId="c5189d35e8ee8a95" providerId="LiveId" clId="{4308FA32-12B0-4C89-BB9B-7C2E9E2494EE}" dt="2024-05-29T06:07:09.233" v="79" actId="47"/>
        <pc:sldMkLst>
          <pc:docMk/>
          <pc:sldMk cId="3537058971" sldId="295"/>
        </pc:sldMkLst>
      </pc:sldChg>
      <pc:sldChg chg="add del">
        <pc:chgData name="Pavithra K" userId="c5189d35e8ee8a95" providerId="LiveId" clId="{4308FA32-12B0-4C89-BB9B-7C2E9E2494EE}" dt="2024-05-29T06:07:09.233" v="79" actId="47"/>
        <pc:sldMkLst>
          <pc:docMk/>
          <pc:sldMk cId="4229533150" sldId="296"/>
        </pc:sldMkLst>
      </pc:sldChg>
      <pc:sldChg chg="add del">
        <pc:chgData name="Pavithra K" userId="c5189d35e8ee8a95" providerId="LiveId" clId="{4308FA32-12B0-4C89-BB9B-7C2E9E2494EE}" dt="2024-05-29T06:07:09.233" v="79" actId="47"/>
        <pc:sldMkLst>
          <pc:docMk/>
          <pc:sldMk cId="2935356921" sldId="297"/>
        </pc:sldMkLst>
      </pc:sldChg>
      <pc:sldChg chg="add del">
        <pc:chgData name="Pavithra K" userId="c5189d35e8ee8a95" providerId="LiveId" clId="{4308FA32-12B0-4C89-BB9B-7C2E9E2494EE}" dt="2024-05-29T06:07:09.233" v="79" actId="47"/>
        <pc:sldMkLst>
          <pc:docMk/>
          <pc:sldMk cId="4154491859" sldId="298"/>
        </pc:sldMkLst>
      </pc:sldChg>
      <pc:sldChg chg="add del">
        <pc:chgData name="Pavithra K" userId="c5189d35e8ee8a95" providerId="LiveId" clId="{4308FA32-12B0-4C89-BB9B-7C2E9E2494EE}" dt="2024-05-29T06:07:09.233" v="79" actId="47"/>
        <pc:sldMkLst>
          <pc:docMk/>
          <pc:sldMk cId="1181015377" sldId="299"/>
        </pc:sldMkLst>
      </pc:sldChg>
      <pc:sldChg chg="add del">
        <pc:chgData name="Pavithra K" userId="c5189d35e8ee8a95" providerId="LiveId" clId="{4308FA32-12B0-4C89-BB9B-7C2E9E2494EE}" dt="2024-05-29T06:07:09.233" v="79" actId="47"/>
        <pc:sldMkLst>
          <pc:docMk/>
          <pc:sldMk cId="206768742" sldId="300"/>
        </pc:sldMkLst>
      </pc:sldChg>
      <pc:sldChg chg="add del">
        <pc:chgData name="Pavithra K" userId="c5189d35e8ee8a95" providerId="LiveId" clId="{4308FA32-12B0-4C89-BB9B-7C2E9E2494EE}" dt="2024-05-29T06:07:09.233" v="79" actId="47"/>
        <pc:sldMkLst>
          <pc:docMk/>
          <pc:sldMk cId="1345926200" sldId="301"/>
        </pc:sldMkLst>
      </pc:sldChg>
      <pc:sldChg chg="add del">
        <pc:chgData name="Pavithra K" userId="c5189d35e8ee8a95" providerId="LiveId" clId="{4308FA32-12B0-4C89-BB9B-7C2E9E2494EE}" dt="2024-05-29T06:07:09.233" v="79" actId="47"/>
        <pc:sldMkLst>
          <pc:docMk/>
          <pc:sldMk cId="4132073511" sldId="302"/>
        </pc:sldMkLst>
      </pc:sldChg>
      <pc:sldChg chg="add del">
        <pc:chgData name="Pavithra K" userId="c5189d35e8ee8a95" providerId="LiveId" clId="{4308FA32-12B0-4C89-BB9B-7C2E9E2494EE}" dt="2024-05-29T06:07:09.233" v="79" actId="47"/>
        <pc:sldMkLst>
          <pc:docMk/>
          <pc:sldMk cId="3402884647" sldId="303"/>
        </pc:sldMkLst>
      </pc:sldChg>
      <pc:sldChg chg="add del">
        <pc:chgData name="Pavithra K" userId="c5189d35e8ee8a95" providerId="LiveId" clId="{4308FA32-12B0-4C89-BB9B-7C2E9E2494EE}" dt="2024-05-29T06:07:09.233" v="79" actId="47"/>
        <pc:sldMkLst>
          <pc:docMk/>
          <pc:sldMk cId="4290865954" sldId="304"/>
        </pc:sldMkLst>
      </pc:sldChg>
      <pc:sldChg chg="add del">
        <pc:chgData name="Pavithra K" userId="c5189d35e8ee8a95" providerId="LiveId" clId="{4308FA32-12B0-4C89-BB9B-7C2E9E2494EE}" dt="2024-05-29T06:07:09.233" v="79" actId="47"/>
        <pc:sldMkLst>
          <pc:docMk/>
          <pc:sldMk cId="70570760" sldId="305"/>
        </pc:sldMkLst>
      </pc:sldChg>
      <pc:sldChg chg="add del">
        <pc:chgData name="Pavithra K" userId="c5189d35e8ee8a95" providerId="LiveId" clId="{4308FA32-12B0-4C89-BB9B-7C2E9E2494EE}" dt="2024-05-29T06:07:09.233" v="79" actId="47"/>
        <pc:sldMkLst>
          <pc:docMk/>
          <pc:sldMk cId="628304861" sldId="306"/>
        </pc:sldMkLst>
      </pc:sldChg>
      <pc:sldChg chg="add del">
        <pc:chgData name="Pavithra K" userId="c5189d35e8ee8a95" providerId="LiveId" clId="{4308FA32-12B0-4C89-BB9B-7C2E9E2494EE}" dt="2024-05-29T06:07:09.233" v="79" actId="47"/>
        <pc:sldMkLst>
          <pc:docMk/>
          <pc:sldMk cId="2051466348" sldId="307"/>
        </pc:sldMkLst>
      </pc:sldChg>
      <pc:sldChg chg="add del">
        <pc:chgData name="Pavithra K" userId="c5189d35e8ee8a95" providerId="LiveId" clId="{4308FA32-12B0-4C89-BB9B-7C2E9E2494EE}" dt="2024-05-29T06:07:09.233" v="79" actId="47"/>
        <pc:sldMkLst>
          <pc:docMk/>
          <pc:sldMk cId="4109938013" sldId="308"/>
        </pc:sldMkLst>
      </pc:sldChg>
      <pc:sldChg chg="add del">
        <pc:chgData name="Pavithra K" userId="c5189d35e8ee8a95" providerId="LiveId" clId="{4308FA32-12B0-4C89-BB9B-7C2E9E2494EE}" dt="2024-05-29T06:07:09.233" v="79" actId="47"/>
        <pc:sldMkLst>
          <pc:docMk/>
          <pc:sldMk cId="3837021245" sldId="309"/>
        </pc:sldMkLst>
      </pc:sldChg>
      <pc:sldChg chg="add del">
        <pc:chgData name="Pavithra K" userId="c5189d35e8ee8a95" providerId="LiveId" clId="{4308FA32-12B0-4C89-BB9B-7C2E9E2494EE}" dt="2024-05-29T06:07:09.233" v="79" actId="47"/>
        <pc:sldMkLst>
          <pc:docMk/>
          <pc:sldMk cId="1006900527" sldId="310"/>
        </pc:sldMkLst>
      </pc:sldChg>
      <pc:sldChg chg="add del">
        <pc:chgData name="Pavithra K" userId="c5189d35e8ee8a95" providerId="LiveId" clId="{4308FA32-12B0-4C89-BB9B-7C2E9E2494EE}" dt="2024-05-29T06:07:09.233" v="79" actId="47"/>
        <pc:sldMkLst>
          <pc:docMk/>
          <pc:sldMk cId="2571295717" sldId="311"/>
        </pc:sldMkLst>
      </pc:sldChg>
      <pc:sldChg chg="add del">
        <pc:chgData name="Pavithra K" userId="c5189d35e8ee8a95" providerId="LiveId" clId="{4308FA32-12B0-4C89-BB9B-7C2E9E2494EE}" dt="2024-05-29T06:07:09.233" v="79" actId="47"/>
        <pc:sldMkLst>
          <pc:docMk/>
          <pc:sldMk cId="2700807604" sldId="312"/>
        </pc:sldMkLst>
      </pc:sldChg>
      <pc:sldChg chg="add del">
        <pc:chgData name="Pavithra K" userId="c5189d35e8ee8a95" providerId="LiveId" clId="{4308FA32-12B0-4C89-BB9B-7C2E9E2494EE}" dt="2024-05-29T06:07:09.233" v="79" actId="47"/>
        <pc:sldMkLst>
          <pc:docMk/>
          <pc:sldMk cId="1705011178" sldId="313"/>
        </pc:sldMkLst>
      </pc:sldChg>
      <pc:sldChg chg="add del">
        <pc:chgData name="Pavithra K" userId="c5189d35e8ee8a95" providerId="LiveId" clId="{4308FA32-12B0-4C89-BB9B-7C2E9E2494EE}" dt="2024-05-29T06:07:09.233" v="79" actId="47"/>
        <pc:sldMkLst>
          <pc:docMk/>
          <pc:sldMk cId="4073596094" sldId="314"/>
        </pc:sldMkLst>
      </pc:sldChg>
      <pc:sldChg chg="add del">
        <pc:chgData name="Pavithra K" userId="c5189d35e8ee8a95" providerId="LiveId" clId="{4308FA32-12B0-4C89-BB9B-7C2E9E2494EE}" dt="2024-05-29T06:07:09.233" v="79" actId="47"/>
        <pc:sldMkLst>
          <pc:docMk/>
          <pc:sldMk cId="1915992796" sldId="315"/>
        </pc:sldMkLst>
      </pc:sldChg>
      <pc:sldChg chg="add del">
        <pc:chgData name="Pavithra K" userId="c5189d35e8ee8a95" providerId="LiveId" clId="{4308FA32-12B0-4C89-BB9B-7C2E9E2494EE}" dt="2024-05-29T06:07:09.233" v="79" actId="47"/>
        <pc:sldMkLst>
          <pc:docMk/>
          <pc:sldMk cId="3335258133" sldId="316"/>
        </pc:sldMkLst>
      </pc:sldChg>
      <pc:sldChg chg="add del">
        <pc:chgData name="Pavithra K" userId="c5189d35e8ee8a95" providerId="LiveId" clId="{4308FA32-12B0-4C89-BB9B-7C2E9E2494EE}" dt="2024-05-29T06:07:09.233" v="79" actId="47"/>
        <pc:sldMkLst>
          <pc:docMk/>
          <pc:sldMk cId="575136214" sldId="317"/>
        </pc:sldMkLst>
      </pc:sldChg>
      <pc:sldChg chg="add del">
        <pc:chgData name="Pavithra K" userId="c5189d35e8ee8a95" providerId="LiveId" clId="{4308FA32-12B0-4C89-BB9B-7C2E9E2494EE}" dt="2024-05-29T06:07:09.233" v="79" actId="47"/>
        <pc:sldMkLst>
          <pc:docMk/>
          <pc:sldMk cId="1548689311" sldId="318"/>
        </pc:sldMkLst>
      </pc:sldChg>
      <pc:sldChg chg="add del">
        <pc:chgData name="Pavithra K" userId="c5189d35e8ee8a95" providerId="LiveId" clId="{4308FA32-12B0-4C89-BB9B-7C2E9E2494EE}" dt="2024-05-29T06:07:09.233" v="79" actId="47"/>
        <pc:sldMkLst>
          <pc:docMk/>
          <pc:sldMk cId="3896218716" sldId="319"/>
        </pc:sldMkLst>
      </pc:sldChg>
      <pc:sldChg chg="add del">
        <pc:chgData name="Pavithra K" userId="c5189d35e8ee8a95" providerId="LiveId" clId="{4308FA32-12B0-4C89-BB9B-7C2E9E2494EE}" dt="2024-05-29T06:07:09.233" v="79" actId="47"/>
        <pc:sldMkLst>
          <pc:docMk/>
          <pc:sldMk cId="1809991020" sldId="320"/>
        </pc:sldMkLst>
      </pc:sldChg>
      <pc:sldChg chg="add del">
        <pc:chgData name="Pavithra K" userId="c5189d35e8ee8a95" providerId="LiveId" clId="{4308FA32-12B0-4C89-BB9B-7C2E9E2494EE}" dt="2024-05-29T06:07:09.233" v="79" actId="47"/>
        <pc:sldMkLst>
          <pc:docMk/>
          <pc:sldMk cId="1596828249" sldId="321"/>
        </pc:sldMkLst>
      </pc:sldChg>
      <pc:sldChg chg="add del">
        <pc:chgData name="Pavithra K" userId="c5189d35e8ee8a95" providerId="LiveId" clId="{4308FA32-12B0-4C89-BB9B-7C2E9E2494EE}" dt="2024-05-29T06:07:09.233" v="79" actId="47"/>
        <pc:sldMkLst>
          <pc:docMk/>
          <pc:sldMk cId="2322634754" sldId="322"/>
        </pc:sldMkLst>
      </pc:sldChg>
      <pc:sldChg chg="add del">
        <pc:chgData name="Pavithra K" userId="c5189d35e8ee8a95" providerId="LiveId" clId="{4308FA32-12B0-4C89-BB9B-7C2E9E2494EE}" dt="2024-05-29T06:07:09.233" v="79" actId="47"/>
        <pc:sldMkLst>
          <pc:docMk/>
          <pc:sldMk cId="3796568579" sldId="323"/>
        </pc:sldMkLst>
      </pc:sldChg>
      <pc:sldChg chg="add del">
        <pc:chgData name="Pavithra K" userId="c5189d35e8ee8a95" providerId="LiveId" clId="{4308FA32-12B0-4C89-BB9B-7C2E9E2494EE}" dt="2024-05-29T06:07:09.233" v="79" actId="47"/>
        <pc:sldMkLst>
          <pc:docMk/>
          <pc:sldMk cId="2221175439" sldId="324"/>
        </pc:sldMkLst>
      </pc:sldChg>
      <pc:sldChg chg="add del">
        <pc:chgData name="Pavithra K" userId="c5189d35e8ee8a95" providerId="LiveId" clId="{4308FA32-12B0-4C89-BB9B-7C2E9E2494EE}" dt="2024-05-29T06:07:09.233" v="79" actId="47"/>
        <pc:sldMkLst>
          <pc:docMk/>
          <pc:sldMk cId="4144305337" sldId="325"/>
        </pc:sldMkLst>
      </pc:sldChg>
      <pc:sldChg chg="add del">
        <pc:chgData name="Pavithra K" userId="c5189d35e8ee8a95" providerId="LiveId" clId="{4308FA32-12B0-4C89-BB9B-7C2E9E2494EE}" dt="2024-05-29T06:07:09.233" v="79" actId="47"/>
        <pc:sldMkLst>
          <pc:docMk/>
          <pc:sldMk cId="1498805974" sldId="326"/>
        </pc:sldMkLst>
      </pc:sldChg>
      <pc:sldChg chg="add del">
        <pc:chgData name="Pavithra K" userId="c5189d35e8ee8a95" providerId="LiveId" clId="{4308FA32-12B0-4C89-BB9B-7C2E9E2494EE}" dt="2024-05-29T06:07:09.233" v="79" actId="47"/>
        <pc:sldMkLst>
          <pc:docMk/>
          <pc:sldMk cId="3202557314" sldId="327"/>
        </pc:sldMkLst>
      </pc:sldChg>
      <pc:sldChg chg="add del">
        <pc:chgData name="Pavithra K" userId="c5189d35e8ee8a95" providerId="LiveId" clId="{4308FA32-12B0-4C89-BB9B-7C2E9E2494EE}" dt="2024-05-29T06:07:09.233" v="79" actId="47"/>
        <pc:sldMkLst>
          <pc:docMk/>
          <pc:sldMk cId="2839670535" sldId="328"/>
        </pc:sldMkLst>
      </pc:sldChg>
      <pc:sldChg chg="add del">
        <pc:chgData name="Pavithra K" userId="c5189d35e8ee8a95" providerId="LiveId" clId="{4308FA32-12B0-4C89-BB9B-7C2E9E2494EE}" dt="2024-05-29T06:07:09.233" v="79" actId="47"/>
        <pc:sldMkLst>
          <pc:docMk/>
          <pc:sldMk cId="2005332453" sldId="329"/>
        </pc:sldMkLst>
      </pc:sldChg>
      <pc:sldChg chg="add del">
        <pc:chgData name="Pavithra K" userId="c5189d35e8ee8a95" providerId="LiveId" clId="{4308FA32-12B0-4C89-BB9B-7C2E9E2494EE}" dt="2024-05-29T06:07:09.233" v="79" actId="47"/>
        <pc:sldMkLst>
          <pc:docMk/>
          <pc:sldMk cId="3137568206" sldId="330"/>
        </pc:sldMkLst>
      </pc:sldChg>
      <pc:sldChg chg="add del">
        <pc:chgData name="Pavithra K" userId="c5189d35e8ee8a95" providerId="LiveId" clId="{4308FA32-12B0-4C89-BB9B-7C2E9E2494EE}" dt="2024-05-29T06:07:09.233" v="79" actId="47"/>
        <pc:sldMkLst>
          <pc:docMk/>
          <pc:sldMk cId="430511268" sldId="331"/>
        </pc:sldMkLst>
      </pc:sldChg>
      <pc:sldChg chg="add del">
        <pc:chgData name="Pavithra K" userId="c5189d35e8ee8a95" providerId="LiveId" clId="{4308FA32-12B0-4C89-BB9B-7C2E9E2494EE}" dt="2024-05-29T06:07:09.233" v="79" actId="47"/>
        <pc:sldMkLst>
          <pc:docMk/>
          <pc:sldMk cId="3515121938" sldId="332"/>
        </pc:sldMkLst>
      </pc:sldChg>
      <pc:sldChg chg="add del">
        <pc:chgData name="Pavithra K" userId="c5189d35e8ee8a95" providerId="LiveId" clId="{4308FA32-12B0-4C89-BB9B-7C2E9E2494EE}" dt="2024-05-29T06:07:09.233" v="79" actId="47"/>
        <pc:sldMkLst>
          <pc:docMk/>
          <pc:sldMk cId="2960904416" sldId="333"/>
        </pc:sldMkLst>
      </pc:sldChg>
      <pc:sldChg chg="add del">
        <pc:chgData name="Pavithra K" userId="c5189d35e8ee8a95" providerId="LiveId" clId="{4308FA32-12B0-4C89-BB9B-7C2E9E2494EE}" dt="2024-05-29T06:07:09.233" v="79" actId="47"/>
        <pc:sldMkLst>
          <pc:docMk/>
          <pc:sldMk cId="1717922606" sldId="334"/>
        </pc:sldMkLst>
      </pc:sldChg>
      <pc:sldChg chg="add del">
        <pc:chgData name="Pavithra K" userId="c5189d35e8ee8a95" providerId="LiveId" clId="{4308FA32-12B0-4C89-BB9B-7C2E9E2494EE}" dt="2024-05-29T06:07:09.233" v="79" actId="47"/>
        <pc:sldMkLst>
          <pc:docMk/>
          <pc:sldMk cId="1854494483" sldId="335"/>
        </pc:sldMkLst>
      </pc:sldChg>
      <pc:sldChg chg="add del">
        <pc:chgData name="Pavithra K" userId="c5189d35e8ee8a95" providerId="LiveId" clId="{4308FA32-12B0-4C89-BB9B-7C2E9E2494EE}" dt="2024-05-29T06:07:09.233" v="79" actId="47"/>
        <pc:sldMkLst>
          <pc:docMk/>
          <pc:sldMk cId="1928610058" sldId="336"/>
        </pc:sldMkLst>
      </pc:sldChg>
      <pc:sldChg chg="add del">
        <pc:chgData name="Pavithra K" userId="c5189d35e8ee8a95" providerId="LiveId" clId="{4308FA32-12B0-4C89-BB9B-7C2E9E2494EE}" dt="2024-05-29T06:07:09.233" v="79" actId="47"/>
        <pc:sldMkLst>
          <pc:docMk/>
          <pc:sldMk cId="2855819865" sldId="337"/>
        </pc:sldMkLst>
      </pc:sldChg>
      <pc:sldChg chg="add del">
        <pc:chgData name="Pavithra K" userId="c5189d35e8ee8a95" providerId="LiveId" clId="{4308FA32-12B0-4C89-BB9B-7C2E9E2494EE}" dt="2024-05-29T06:07:09.233" v="79" actId="47"/>
        <pc:sldMkLst>
          <pc:docMk/>
          <pc:sldMk cId="3206243725" sldId="338"/>
        </pc:sldMkLst>
      </pc:sldChg>
      <pc:sldChg chg="add del">
        <pc:chgData name="Pavithra K" userId="c5189d35e8ee8a95" providerId="LiveId" clId="{4308FA32-12B0-4C89-BB9B-7C2E9E2494EE}" dt="2024-05-29T06:07:09.233" v="79" actId="47"/>
        <pc:sldMkLst>
          <pc:docMk/>
          <pc:sldMk cId="3206483106" sldId="339"/>
        </pc:sldMkLst>
      </pc:sldChg>
      <pc:sldChg chg="add del">
        <pc:chgData name="Pavithra K" userId="c5189d35e8ee8a95" providerId="LiveId" clId="{4308FA32-12B0-4C89-BB9B-7C2E9E2494EE}" dt="2024-05-29T06:07:09.233" v="79" actId="47"/>
        <pc:sldMkLst>
          <pc:docMk/>
          <pc:sldMk cId="2700187118" sldId="340"/>
        </pc:sldMkLst>
      </pc:sldChg>
      <pc:sldChg chg="add del">
        <pc:chgData name="Pavithra K" userId="c5189d35e8ee8a95" providerId="LiveId" clId="{4308FA32-12B0-4C89-BB9B-7C2E9E2494EE}" dt="2024-05-29T06:07:09.233" v="79" actId="47"/>
        <pc:sldMkLst>
          <pc:docMk/>
          <pc:sldMk cId="773364342" sldId="341"/>
        </pc:sldMkLst>
      </pc:sldChg>
      <pc:sldChg chg="add del">
        <pc:chgData name="Pavithra K" userId="c5189d35e8ee8a95" providerId="LiveId" clId="{4308FA32-12B0-4C89-BB9B-7C2E9E2494EE}" dt="2024-05-29T06:07:09.233" v="79" actId="47"/>
        <pc:sldMkLst>
          <pc:docMk/>
          <pc:sldMk cId="3894292166" sldId="342"/>
        </pc:sldMkLst>
      </pc:sldChg>
      <pc:sldChg chg="add del">
        <pc:chgData name="Pavithra K" userId="c5189d35e8ee8a95" providerId="LiveId" clId="{4308FA32-12B0-4C89-BB9B-7C2E9E2494EE}" dt="2024-05-29T06:07:09.233" v="79" actId="47"/>
        <pc:sldMkLst>
          <pc:docMk/>
          <pc:sldMk cId="2747195254" sldId="343"/>
        </pc:sldMkLst>
      </pc:sldChg>
      <pc:sldChg chg="add del">
        <pc:chgData name="Pavithra K" userId="c5189d35e8ee8a95" providerId="LiveId" clId="{4308FA32-12B0-4C89-BB9B-7C2E9E2494EE}" dt="2024-05-29T06:07:09.233" v="79" actId="47"/>
        <pc:sldMkLst>
          <pc:docMk/>
          <pc:sldMk cId="774281873" sldId="344"/>
        </pc:sldMkLst>
      </pc:sldChg>
      <pc:sldChg chg="add del">
        <pc:chgData name="Pavithra K" userId="c5189d35e8ee8a95" providerId="LiveId" clId="{4308FA32-12B0-4C89-BB9B-7C2E9E2494EE}" dt="2024-05-29T06:07:09.233" v="79" actId="47"/>
        <pc:sldMkLst>
          <pc:docMk/>
          <pc:sldMk cId="1068239389" sldId="345"/>
        </pc:sldMkLst>
      </pc:sldChg>
      <pc:sldChg chg="add del">
        <pc:chgData name="Pavithra K" userId="c5189d35e8ee8a95" providerId="LiveId" clId="{4308FA32-12B0-4C89-BB9B-7C2E9E2494EE}" dt="2024-05-29T06:07:09.233" v="79" actId="47"/>
        <pc:sldMkLst>
          <pc:docMk/>
          <pc:sldMk cId="4257574324" sldId="346"/>
        </pc:sldMkLst>
      </pc:sldChg>
      <pc:sldChg chg="add del">
        <pc:chgData name="Pavithra K" userId="c5189d35e8ee8a95" providerId="LiveId" clId="{4308FA32-12B0-4C89-BB9B-7C2E9E2494EE}" dt="2024-05-29T06:07:09.233" v="79" actId="47"/>
        <pc:sldMkLst>
          <pc:docMk/>
          <pc:sldMk cId="666685457" sldId="347"/>
        </pc:sldMkLst>
      </pc:sldChg>
      <pc:sldChg chg="add del">
        <pc:chgData name="Pavithra K" userId="c5189d35e8ee8a95" providerId="LiveId" clId="{4308FA32-12B0-4C89-BB9B-7C2E9E2494EE}" dt="2024-05-29T06:07:09.233" v="79" actId="47"/>
        <pc:sldMkLst>
          <pc:docMk/>
          <pc:sldMk cId="357710637" sldId="348"/>
        </pc:sldMkLst>
      </pc:sldChg>
      <pc:sldChg chg="add del">
        <pc:chgData name="Pavithra K" userId="c5189d35e8ee8a95" providerId="LiveId" clId="{4308FA32-12B0-4C89-BB9B-7C2E9E2494EE}" dt="2024-05-29T06:07:09.233" v="79" actId="47"/>
        <pc:sldMkLst>
          <pc:docMk/>
          <pc:sldMk cId="3541143153" sldId="349"/>
        </pc:sldMkLst>
      </pc:sldChg>
      <pc:sldChg chg="add del">
        <pc:chgData name="Pavithra K" userId="c5189d35e8ee8a95" providerId="LiveId" clId="{4308FA32-12B0-4C89-BB9B-7C2E9E2494EE}" dt="2024-05-29T06:07:09.233" v="79" actId="47"/>
        <pc:sldMkLst>
          <pc:docMk/>
          <pc:sldMk cId="389376883" sldId="350"/>
        </pc:sldMkLst>
      </pc:sldChg>
      <pc:sldChg chg="add del">
        <pc:chgData name="Pavithra K" userId="c5189d35e8ee8a95" providerId="LiveId" clId="{4308FA32-12B0-4C89-BB9B-7C2E9E2494EE}" dt="2024-05-29T06:07:09.233" v="79" actId="47"/>
        <pc:sldMkLst>
          <pc:docMk/>
          <pc:sldMk cId="2560813682" sldId="351"/>
        </pc:sldMkLst>
      </pc:sldChg>
      <pc:sldChg chg="add del">
        <pc:chgData name="Pavithra K" userId="c5189d35e8ee8a95" providerId="LiveId" clId="{4308FA32-12B0-4C89-BB9B-7C2E9E2494EE}" dt="2024-05-29T06:07:09.233" v="79" actId="47"/>
        <pc:sldMkLst>
          <pc:docMk/>
          <pc:sldMk cId="1374271928" sldId="352"/>
        </pc:sldMkLst>
      </pc:sldChg>
      <pc:sldChg chg="add del">
        <pc:chgData name="Pavithra K" userId="c5189d35e8ee8a95" providerId="LiveId" clId="{4308FA32-12B0-4C89-BB9B-7C2E9E2494EE}" dt="2024-05-29T06:07:09.233" v="79" actId="47"/>
        <pc:sldMkLst>
          <pc:docMk/>
          <pc:sldMk cId="1261167656" sldId="353"/>
        </pc:sldMkLst>
      </pc:sldChg>
      <pc:sldChg chg="add del">
        <pc:chgData name="Pavithra K" userId="c5189d35e8ee8a95" providerId="LiveId" clId="{4308FA32-12B0-4C89-BB9B-7C2E9E2494EE}" dt="2024-05-29T06:07:09.233" v="79" actId="47"/>
        <pc:sldMkLst>
          <pc:docMk/>
          <pc:sldMk cId="2390003708" sldId="354"/>
        </pc:sldMkLst>
      </pc:sldChg>
      <pc:sldChg chg="add del">
        <pc:chgData name="Pavithra K" userId="c5189d35e8ee8a95" providerId="LiveId" clId="{4308FA32-12B0-4C89-BB9B-7C2E9E2494EE}" dt="2024-05-29T06:07:09.233" v="79" actId="47"/>
        <pc:sldMkLst>
          <pc:docMk/>
          <pc:sldMk cId="3635645785" sldId="355"/>
        </pc:sldMkLst>
      </pc:sldChg>
      <pc:sldChg chg="add del">
        <pc:chgData name="Pavithra K" userId="c5189d35e8ee8a95" providerId="LiveId" clId="{4308FA32-12B0-4C89-BB9B-7C2E9E2494EE}" dt="2024-05-29T06:07:09.233" v="79" actId="47"/>
        <pc:sldMkLst>
          <pc:docMk/>
          <pc:sldMk cId="3269594611" sldId="356"/>
        </pc:sldMkLst>
      </pc:sldChg>
      <pc:sldChg chg="add del">
        <pc:chgData name="Pavithra K" userId="c5189d35e8ee8a95" providerId="LiveId" clId="{4308FA32-12B0-4C89-BB9B-7C2E9E2494EE}" dt="2024-05-29T06:07:09.233" v="79" actId="47"/>
        <pc:sldMkLst>
          <pc:docMk/>
          <pc:sldMk cId="2246552974" sldId="357"/>
        </pc:sldMkLst>
      </pc:sldChg>
      <pc:sldChg chg="add del">
        <pc:chgData name="Pavithra K" userId="c5189d35e8ee8a95" providerId="LiveId" clId="{4308FA32-12B0-4C89-BB9B-7C2E9E2494EE}" dt="2024-05-29T06:07:09.233" v="79" actId="47"/>
        <pc:sldMkLst>
          <pc:docMk/>
          <pc:sldMk cId="2077874949" sldId="358"/>
        </pc:sldMkLst>
      </pc:sldChg>
      <pc:sldChg chg="add del">
        <pc:chgData name="Pavithra K" userId="c5189d35e8ee8a95" providerId="LiveId" clId="{4308FA32-12B0-4C89-BB9B-7C2E9E2494EE}" dt="2024-05-29T06:07:09.233" v="79" actId="47"/>
        <pc:sldMkLst>
          <pc:docMk/>
          <pc:sldMk cId="1568460720" sldId="359"/>
        </pc:sldMkLst>
      </pc:sldChg>
      <pc:sldChg chg="add del">
        <pc:chgData name="Pavithra K" userId="c5189d35e8ee8a95" providerId="LiveId" clId="{4308FA32-12B0-4C89-BB9B-7C2E9E2494EE}" dt="2024-05-29T06:07:09.233" v="79" actId="47"/>
        <pc:sldMkLst>
          <pc:docMk/>
          <pc:sldMk cId="3280463572" sldId="360"/>
        </pc:sldMkLst>
      </pc:sldChg>
      <pc:sldChg chg="add del">
        <pc:chgData name="Pavithra K" userId="c5189d35e8ee8a95" providerId="LiveId" clId="{4308FA32-12B0-4C89-BB9B-7C2E9E2494EE}" dt="2024-05-29T06:07:09.233" v="79" actId="47"/>
        <pc:sldMkLst>
          <pc:docMk/>
          <pc:sldMk cId="4047480382" sldId="361"/>
        </pc:sldMkLst>
      </pc:sldChg>
      <pc:sldChg chg="add del">
        <pc:chgData name="Pavithra K" userId="c5189d35e8ee8a95" providerId="LiveId" clId="{4308FA32-12B0-4C89-BB9B-7C2E9E2494EE}" dt="2024-05-29T06:07:09.233" v="79" actId="47"/>
        <pc:sldMkLst>
          <pc:docMk/>
          <pc:sldMk cId="1078070803" sldId="362"/>
        </pc:sldMkLst>
      </pc:sldChg>
      <pc:sldChg chg="add del">
        <pc:chgData name="Pavithra K" userId="c5189d35e8ee8a95" providerId="LiveId" clId="{4308FA32-12B0-4C89-BB9B-7C2E9E2494EE}" dt="2024-05-29T06:07:09.233" v="79" actId="47"/>
        <pc:sldMkLst>
          <pc:docMk/>
          <pc:sldMk cId="3096184606" sldId="363"/>
        </pc:sldMkLst>
      </pc:sldChg>
      <pc:sldChg chg="add del">
        <pc:chgData name="Pavithra K" userId="c5189d35e8ee8a95" providerId="LiveId" clId="{4308FA32-12B0-4C89-BB9B-7C2E9E2494EE}" dt="2024-05-29T06:07:09.233" v="79" actId="47"/>
        <pc:sldMkLst>
          <pc:docMk/>
          <pc:sldMk cId="1898567853" sldId="364"/>
        </pc:sldMkLst>
      </pc:sldChg>
      <pc:sldChg chg="add del">
        <pc:chgData name="Pavithra K" userId="c5189d35e8ee8a95" providerId="LiveId" clId="{4308FA32-12B0-4C89-BB9B-7C2E9E2494EE}" dt="2024-05-29T06:07:09.233" v="79" actId="47"/>
        <pc:sldMkLst>
          <pc:docMk/>
          <pc:sldMk cId="1081840796" sldId="365"/>
        </pc:sldMkLst>
      </pc:sldChg>
      <pc:sldChg chg="add del">
        <pc:chgData name="Pavithra K" userId="c5189d35e8ee8a95" providerId="LiveId" clId="{4308FA32-12B0-4C89-BB9B-7C2E9E2494EE}" dt="2024-05-29T06:07:09.233" v="79" actId="47"/>
        <pc:sldMkLst>
          <pc:docMk/>
          <pc:sldMk cId="2462071122" sldId="366"/>
        </pc:sldMkLst>
      </pc:sldChg>
      <pc:sldChg chg="add del">
        <pc:chgData name="Pavithra K" userId="c5189d35e8ee8a95" providerId="LiveId" clId="{4308FA32-12B0-4C89-BB9B-7C2E9E2494EE}" dt="2024-05-29T06:07:09.233" v="79" actId="47"/>
        <pc:sldMkLst>
          <pc:docMk/>
          <pc:sldMk cId="3507754070" sldId="367"/>
        </pc:sldMkLst>
      </pc:sldChg>
      <pc:sldChg chg="add del">
        <pc:chgData name="Pavithra K" userId="c5189d35e8ee8a95" providerId="LiveId" clId="{4308FA32-12B0-4C89-BB9B-7C2E9E2494EE}" dt="2024-05-29T06:07:09.233" v="79" actId="47"/>
        <pc:sldMkLst>
          <pc:docMk/>
          <pc:sldMk cId="2692258477" sldId="368"/>
        </pc:sldMkLst>
      </pc:sldChg>
      <pc:sldChg chg="add del">
        <pc:chgData name="Pavithra K" userId="c5189d35e8ee8a95" providerId="LiveId" clId="{4308FA32-12B0-4C89-BB9B-7C2E9E2494EE}" dt="2024-05-29T06:07:09.233" v="79" actId="47"/>
        <pc:sldMkLst>
          <pc:docMk/>
          <pc:sldMk cId="3479379129" sldId="369"/>
        </pc:sldMkLst>
      </pc:sldChg>
      <pc:sldChg chg="add del">
        <pc:chgData name="Pavithra K" userId="c5189d35e8ee8a95" providerId="LiveId" clId="{4308FA32-12B0-4C89-BB9B-7C2E9E2494EE}" dt="2024-05-29T06:07:09.233" v="79" actId="47"/>
        <pc:sldMkLst>
          <pc:docMk/>
          <pc:sldMk cId="4096368046" sldId="370"/>
        </pc:sldMkLst>
      </pc:sldChg>
      <pc:sldChg chg="add del">
        <pc:chgData name="Pavithra K" userId="c5189d35e8ee8a95" providerId="LiveId" clId="{4308FA32-12B0-4C89-BB9B-7C2E9E2494EE}" dt="2024-05-29T06:07:09.233" v="79" actId="47"/>
        <pc:sldMkLst>
          <pc:docMk/>
          <pc:sldMk cId="200342517" sldId="371"/>
        </pc:sldMkLst>
      </pc:sldChg>
      <pc:sldChg chg="add del">
        <pc:chgData name="Pavithra K" userId="c5189d35e8ee8a95" providerId="LiveId" clId="{4308FA32-12B0-4C89-BB9B-7C2E9E2494EE}" dt="2024-05-29T06:07:09.233" v="79" actId="47"/>
        <pc:sldMkLst>
          <pc:docMk/>
          <pc:sldMk cId="1922900943" sldId="372"/>
        </pc:sldMkLst>
      </pc:sldChg>
      <pc:sldChg chg="add">
        <pc:chgData name="Pavithra K" userId="c5189d35e8ee8a95" providerId="LiveId" clId="{4308FA32-12B0-4C89-BB9B-7C2E9E2494EE}" dt="2024-05-29T06:01:10.015" v="65"/>
        <pc:sldMkLst>
          <pc:docMk/>
          <pc:sldMk cId="1099186132" sldId="373"/>
        </pc:sldMkLst>
      </pc:sldChg>
      <pc:sldChg chg="add del">
        <pc:chgData name="Pavithra K" userId="c5189d35e8ee8a95" providerId="LiveId" clId="{4308FA32-12B0-4C89-BB9B-7C2E9E2494EE}" dt="2024-05-29T06:07:09.233" v="79" actId="47"/>
        <pc:sldMkLst>
          <pc:docMk/>
          <pc:sldMk cId="1090401062" sldId="374"/>
        </pc:sldMkLst>
      </pc:sldChg>
      <pc:sldChg chg="add del">
        <pc:chgData name="Pavithra K" userId="c5189d35e8ee8a95" providerId="LiveId" clId="{4308FA32-12B0-4C89-BB9B-7C2E9E2494EE}" dt="2024-05-29T06:07:09.233" v="79" actId="47"/>
        <pc:sldMkLst>
          <pc:docMk/>
          <pc:sldMk cId="2709234868" sldId="375"/>
        </pc:sldMkLst>
      </pc:sldChg>
      <pc:sldChg chg="add del">
        <pc:chgData name="Pavithra K" userId="c5189d35e8ee8a95" providerId="LiveId" clId="{4308FA32-12B0-4C89-BB9B-7C2E9E2494EE}" dt="2024-05-29T06:07:09.233" v="79" actId="47"/>
        <pc:sldMkLst>
          <pc:docMk/>
          <pc:sldMk cId="2455539417" sldId="376"/>
        </pc:sldMkLst>
      </pc:sldChg>
      <pc:sldChg chg="add del">
        <pc:chgData name="Pavithra K" userId="c5189d35e8ee8a95" providerId="LiveId" clId="{4308FA32-12B0-4C89-BB9B-7C2E9E2494EE}" dt="2024-05-29T06:07:09.233" v="79" actId="47"/>
        <pc:sldMkLst>
          <pc:docMk/>
          <pc:sldMk cId="2673434014" sldId="377"/>
        </pc:sldMkLst>
      </pc:sldChg>
      <pc:sldChg chg="add del">
        <pc:chgData name="Pavithra K" userId="c5189d35e8ee8a95" providerId="LiveId" clId="{4308FA32-12B0-4C89-BB9B-7C2E9E2494EE}" dt="2024-05-29T06:07:09.233" v="79" actId="47"/>
        <pc:sldMkLst>
          <pc:docMk/>
          <pc:sldMk cId="722213409" sldId="378"/>
        </pc:sldMkLst>
      </pc:sldChg>
      <pc:sldChg chg="add del">
        <pc:chgData name="Pavithra K" userId="c5189d35e8ee8a95" providerId="LiveId" clId="{4308FA32-12B0-4C89-BB9B-7C2E9E2494EE}" dt="2024-05-29T06:07:09.233" v="79" actId="47"/>
        <pc:sldMkLst>
          <pc:docMk/>
          <pc:sldMk cId="1876150251" sldId="379"/>
        </pc:sldMkLst>
      </pc:sldChg>
      <pc:sldChg chg="add del">
        <pc:chgData name="Pavithra K" userId="c5189d35e8ee8a95" providerId="LiveId" clId="{4308FA32-12B0-4C89-BB9B-7C2E9E2494EE}" dt="2024-05-29T06:07:09.233" v="79" actId="47"/>
        <pc:sldMkLst>
          <pc:docMk/>
          <pc:sldMk cId="1694615293" sldId="380"/>
        </pc:sldMkLst>
      </pc:sldChg>
      <pc:sldChg chg="add del">
        <pc:chgData name="Pavithra K" userId="c5189d35e8ee8a95" providerId="LiveId" clId="{4308FA32-12B0-4C89-BB9B-7C2E9E2494EE}" dt="2024-05-29T06:07:09.233" v="79" actId="47"/>
        <pc:sldMkLst>
          <pc:docMk/>
          <pc:sldMk cId="3711127759" sldId="381"/>
        </pc:sldMkLst>
      </pc:sldChg>
      <pc:sldChg chg="add del">
        <pc:chgData name="Pavithra K" userId="c5189d35e8ee8a95" providerId="LiveId" clId="{4308FA32-12B0-4C89-BB9B-7C2E9E2494EE}" dt="2024-05-29T06:07:09.233" v="79" actId="47"/>
        <pc:sldMkLst>
          <pc:docMk/>
          <pc:sldMk cId="1648121984" sldId="382"/>
        </pc:sldMkLst>
      </pc:sldChg>
      <pc:sldChg chg="add del">
        <pc:chgData name="Pavithra K" userId="c5189d35e8ee8a95" providerId="LiveId" clId="{4308FA32-12B0-4C89-BB9B-7C2E9E2494EE}" dt="2024-05-29T06:07:09.233" v="79" actId="47"/>
        <pc:sldMkLst>
          <pc:docMk/>
          <pc:sldMk cId="1097255199" sldId="383"/>
        </pc:sldMkLst>
      </pc:sldChg>
      <pc:sldChg chg="add del">
        <pc:chgData name="Pavithra K" userId="c5189d35e8ee8a95" providerId="LiveId" clId="{4308FA32-12B0-4C89-BB9B-7C2E9E2494EE}" dt="2024-05-29T06:07:09.233" v="79" actId="47"/>
        <pc:sldMkLst>
          <pc:docMk/>
          <pc:sldMk cId="2572686226" sldId="384"/>
        </pc:sldMkLst>
      </pc:sldChg>
      <pc:sldChg chg="add del">
        <pc:chgData name="Pavithra K" userId="c5189d35e8ee8a95" providerId="LiveId" clId="{4308FA32-12B0-4C89-BB9B-7C2E9E2494EE}" dt="2024-05-29T06:07:09.233" v="79" actId="47"/>
        <pc:sldMkLst>
          <pc:docMk/>
          <pc:sldMk cId="3015585266" sldId="385"/>
        </pc:sldMkLst>
      </pc:sldChg>
      <pc:sldChg chg="add del">
        <pc:chgData name="Pavithra K" userId="c5189d35e8ee8a95" providerId="LiveId" clId="{4308FA32-12B0-4C89-BB9B-7C2E9E2494EE}" dt="2024-05-29T06:07:09.233" v="79" actId="47"/>
        <pc:sldMkLst>
          <pc:docMk/>
          <pc:sldMk cId="1154234909" sldId="386"/>
        </pc:sldMkLst>
      </pc:sldChg>
      <pc:sldChg chg="add del">
        <pc:chgData name="Pavithra K" userId="c5189d35e8ee8a95" providerId="LiveId" clId="{4308FA32-12B0-4C89-BB9B-7C2E9E2494EE}" dt="2024-05-29T06:07:09.233" v="79" actId="47"/>
        <pc:sldMkLst>
          <pc:docMk/>
          <pc:sldMk cId="2195512684" sldId="387"/>
        </pc:sldMkLst>
      </pc:sldChg>
      <pc:sldChg chg="add del">
        <pc:chgData name="Pavithra K" userId="c5189d35e8ee8a95" providerId="LiveId" clId="{4308FA32-12B0-4C89-BB9B-7C2E9E2494EE}" dt="2024-05-29T06:07:09.233" v="79" actId="47"/>
        <pc:sldMkLst>
          <pc:docMk/>
          <pc:sldMk cId="1655449282" sldId="388"/>
        </pc:sldMkLst>
      </pc:sldChg>
      <pc:sldChg chg="add del">
        <pc:chgData name="Pavithra K" userId="c5189d35e8ee8a95" providerId="LiveId" clId="{4308FA32-12B0-4C89-BB9B-7C2E9E2494EE}" dt="2024-05-29T06:07:09.233" v="79" actId="47"/>
        <pc:sldMkLst>
          <pc:docMk/>
          <pc:sldMk cId="558499784" sldId="389"/>
        </pc:sldMkLst>
      </pc:sldChg>
      <pc:sldChg chg="add del">
        <pc:chgData name="Pavithra K" userId="c5189d35e8ee8a95" providerId="LiveId" clId="{4308FA32-12B0-4C89-BB9B-7C2E9E2494EE}" dt="2024-05-29T06:07:09.233" v="79" actId="47"/>
        <pc:sldMkLst>
          <pc:docMk/>
          <pc:sldMk cId="2835757645" sldId="390"/>
        </pc:sldMkLst>
      </pc:sldChg>
      <pc:sldChg chg="add del">
        <pc:chgData name="Pavithra K" userId="c5189d35e8ee8a95" providerId="LiveId" clId="{4308FA32-12B0-4C89-BB9B-7C2E9E2494EE}" dt="2024-05-29T06:07:09.233" v="79" actId="47"/>
        <pc:sldMkLst>
          <pc:docMk/>
          <pc:sldMk cId="2186653183" sldId="391"/>
        </pc:sldMkLst>
      </pc:sldChg>
      <pc:sldChg chg="add del">
        <pc:chgData name="Pavithra K" userId="c5189d35e8ee8a95" providerId="LiveId" clId="{4308FA32-12B0-4C89-BB9B-7C2E9E2494EE}" dt="2024-05-29T06:07:09.233" v="79" actId="47"/>
        <pc:sldMkLst>
          <pc:docMk/>
          <pc:sldMk cId="1841577062" sldId="392"/>
        </pc:sldMkLst>
      </pc:sldChg>
      <pc:sldChg chg="add del">
        <pc:chgData name="Pavithra K" userId="c5189d35e8ee8a95" providerId="LiveId" clId="{4308FA32-12B0-4C89-BB9B-7C2E9E2494EE}" dt="2024-05-29T06:07:09.233" v="79" actId="47"/>
        <pc:sldMkLst>
          <pc:docMk/>
          <pc:sldMk cId="3406821541" sldId="394"/>
        </pc:sldMkLst>
      </pc:sldChg>
      <pc:sldChg chg="add del">
        <pc:chgData name="Pavithra K" userId="c5189d35e8ee8a95" providerId="LiveId" clId="{4308FA32-12B0-4C89-BB9B-7C2E9E2494EE}" dt="2024-05-29T06:07:09.233" v="79" actId="47"/>
        <pc:sldMkLst>
          <pc:docMk/>
          <pc:sldMk cId="830964449" sldId="395"/>
        </pc:sldMkLst>
      </pc:sldChg>
      <pc:sldChg chg="add del">
        <pc:chgData name="Pavithra K" userId="c5189d35e8ee8a95" providerId="LiveId" clId="{4308FA32-12B0-4C89-BB9B-7C2E9E2494EE}" dt="2024-05-29T06:07:09.233" v="79" actId="47"/>
        <pc:sldMkLst>
          <pc:docMk/>
          <pc:sldMk cId="2330452530" sldId="396"/>
        </pc:sldMkLst>
      </pc:sldChg>
      <pc:sldChg chg="add del">
        <pc:chgData name="Pavithra K" userId="c5189d35e8ee8a95" providerId="LiveId" clId="{4308FA32-12B0-4C89-BB9B-7C2E9E2494EE}" dt="2024-05-29T06:07:09.233" v="79" actId="47"/>
        <pc:sldMkLst>
          <pc:docMk/>
          <pc:sldMk cId="3083124150" sldId="397"/>
        </pc:sldMkLst>
      </pc:sldChg>
      <pc:sldChg chg="modSp add del mod">
        <pc:chgData name="Pavithra K" userId="c5189d35e8ee8a95" providerId="LiveId" clId="{4308FA32-12B0-4C89-BB9B-7C2E9E2494EE}" dt="2024-05-29T05:38:08.421" v="23" actId="14100"/>
        <pc:sldMkLst>
          <pc:docMk/>
          <pc:sldMk cId="2199552797" sldId="398"/>
        </pc:sldMkLst>
        <pc:spChg chg="mod">
          <ac:chgData name="Pavithra K" userId="c5189d35e8ee8a95" providerId="LiveId" clId="{4308FA32-12B0-4C89-BB9B-7C2E9E2494EE}" dt="2024-05-29T05:38:08.421" v="23" actId="14100"/>
          <ac:spMkLst>
            <pc:docMk/>
            <pc:sldMk cId="2199552797" sldId="398"/>
            <ac:spMk id="2" creationId="{8C78E3A6-ACB2-4A55-B161-F4F1C7E3CA6E}"/>
          </ac:spMkLst>
        </pc:spChg>
      </pc:sldChg>
      <pc:sldChg chg="modSp add del mod">
        <pc:chgData name="Pavithra K" userId="c5189d35e8ee8a95" providerId="LiveId" clId="{4308FA32-12B0-4C89-BB9B-7C2E9E2494EE}" dt="2024-05-29T05:39:03.637" v="25" actId="20577"/>
        <pc:sldMkLst>
          <pc:docMk/>
          <pc:sldMk cId="3110729178" sldId="399"/>
        </pc:sldMkLst>
        <pc:spChg chg="mod">
          <ac:chgData name="Pavithra K" userId="c5189d35e8ee8a95" providerId="LiveId" clId="{4308FA32-12B0-4C89-BB9B-7C2E9E2494EE}" dt="2024-05-29T05:39:03.637" v="25" actId="20577"/>
          <ac:spMkLst>
            <pc:docMk/>
            <pc:sldMk cId="3110729178" sldId="399"/>
            <ac:spMk id="2" creationId="{569FBF82-FABE-4888-8676-088F7E438805}"/>
          </ac:spMkLst>
        </pc:spChg>
      </pc:sldChg>
      <pc:sldChg chg="modSp add del mod">
        <pc:chgData name="Pavithra K" userId="c5189d35e8ee8a95" providerId="LiveId" clId="{4308FA32-12B0-4C89-BB9B-7C2E9E2494EE}" dt="2024-05-29T05:39:18.051" v="29" actId="123"/>
        <pc:sldMkLst>
          <pc:docMk/>
          <pc:sldMk cId="250035582" sldId="400"/>
        </pc:sldMkLst>
        <pc:spChg chg="mod">
          <ac:chgData name="Pavithra K" userId="c5189d35e8ee8a95" providerId="LiveId" clId="{4308FA32-12B0-4C89-BB9B-7C2E9E2494EE}" dt="2024-05-29T05:39:18.051" v="29" actId="123"/>
          <ac:spMkLst>
            <pc:docMk/>
            <pc:sldMk cId="250035582" sldId="400"/>
            <ac:spMk id="2" creationId="{99561CBE-7292-40D8-9371-48AF9C1C6E06}"/>
          </ac:spMkLst>
        </pc:spChg>
      </pc:sldChg>
      <pc:sldChg chg="modSp add del mod">
        <pc:chgData name="Pavithra K" userId="c5189d35e8ee8a95" providerId="LiveId" clId="{4308FA32-12B0-4C89-BB9B-7C2E9E2494EE}" dt="2024-05-29T05:40:04.638" v="42" actId="14100"/>
        <pc:sldMkLst>
          <pc:docMk/>
          <pc:sldMk cId="3667907394" sldId="401"/>
        </pc:sldMkLst>
        <pc:spChg chg="mod">
          <ac:chgData name="Pavithra K" userId="c5189d35e8ee8a95" providerId="LiveId" clId="{4308FA32-12B0-4C89-BB9B-7C2E9E2494EE}" dt="2024-05-29T05:40:04.638" v="42" actId="14100"/>
          <ac:spMkLst>
            <pc:docMk/>
            <pc:sldMk cId="3667907394" sldId="401"/>
            <ac:spMk id="2" creationId="{FCD53640-EEF6-4C76-AE41-1BDE7C8A06C1}"/>
          </ac:spMkLst>
        </pc:spChg>
      </pc:sldChg>
      <pc:sldChg chg="modSp add del mod">
        <pc:chgData name="Pavithra K" userId="c5189d35e8ee8a95" providerId="LiveId" clId="{4308FA32-12B0-4C89-BB9B-7C2E9E2494EE}" dt="2024-05-29T05:39:45.745" v="37" actId="403"/>
        <pc:sldMkLst>
          <pc:docMk/>
          <pc:sldMk cId="2688393590" sldId="402"/>
        </pc:sldMkLst>
        <pc:spChg chg="mod">
          <ac:chgData name="Pavithra K" userId="c5189d35e8ee8a95" providerId="LiveId" clId="{4308FA32-12B0-4C89-BB9B-7C2E9E2494EE}" dt="2024-05-29T05:39:45.745" v="37" actId="403"/>
          <ac:spMkLst>
            <pc:docMk/>
            <pc:sldMk cId="2688393590" sldId="402"/>
            <ac:spMk id="2" creationId="{57ACD2A3-224F-464C-9244-4E8351B704A6}"/>
          </ac:spMkLst>
        </pc:spChg>
      </pc:sldChg>
      <pc:sldChg chg="addSp modSp add del">
        <pc:chgData name="Pavithra K" userId="c5189d35e8ee8a95" providerId="LiveId" clId="{4308FA32-12B0-4C89-BB9B-7C2E9E2494EE}" dt="2024-05-29T05:43:04.261" v="45" actId="14100"/>
        <pc:sldMkLst>
          <pc:docMk/>
          <pc:sldMk cId="2428500806" sldId="403"/>
        </pc:sldMkLst>
        <pc:picChg chg="add mod">
          <ac:chgData name="Pavithra K" userId="c5189d35e8ee8a95" providerId="LiveId" clId="{4308FA32-12B0-4C89-BB9B-7C2E9E2494EE}" dt="2024-05-29T05:43:04.261" v="45" actId="14100"/>
          <ac:picMkLst>
            <pc:docMk/>
            <pc:sldMk cId="2428500806" sldId="403"/>
            <ac:picMk id="1026" creationId="{43BD1F19-00D0-44C6-8B39-82F38407DE11}"/>
          </ac:picMkLst>
        </pc:picChg>
      </pc:sldChg>
      <pc:sldChg chg="delSp modSp add del mod">
        <pc:chgData name="Pavithra K" userId="c5189d35e8ee8a95" providerId="LiveId" clId="{4308FA32-12B0-4C89-BB9B-7C2E9E2494EE}" dt="2024-05-29T05:43:49.474" v="57" actId="47"/>
        <pc:sldMkLst>
          <pc:docMk/>
          <pc:sldMk cId="1145487025" sldId="404"/>
        </pc:sldMkLst>
        <pc:spChg chg="del mod">
          <ac:chgData name="Pavithra K" userId="c5189d35e8ee8a95" providerId="LiveId" clId="{4308FA32-12B0-4C89-BB9B-7C2E9E2494EE}" dt="2024-05-29T05:43:34.029" v="50"/>
          <ac:spMkLst>
            <pc:docMk/>
            <pc:sldMk cId="1145487025" sldId="404"/>
            <ac:spMk id="2" creationId="{F29F7EAE-6862-4EBE-891B-0DAC3B670876}"/>
          </ac:spMkLst>
        </pc:spChg>
      </pc:sldChg>
      <pc:sldChg chg="modSp add del mod">
        <pc:chgData name="Pavithra K" userId="c5189d35e8ee8a95" providerId="LiveId" clId="{4308FA32-12B0-4C89-BB9B-7C2E9E2494EE}" dt="2024-05-29T05:37:37.997" v="18" actId="1076"/>
        <pc:sldMkLst>
          <pc:docMk/>
          <pc:sldMk cId="3988637059" sldId="405"/>
        </pc:sldMkLst>
        <pc:spChg chg="mod">
          <ac:chgData name="Pavithra K" userId="c5189d35e8ee8a95" providerId="LiveId" clId="{4308FA32-12B0-4C89-BB9B-7C2E9E2494EE}" dt="2024-05-29T05:37:31.175" v="16" actId="403"/>
          <ac:spMkLst>
            <pc:docMk/>
            <pc:sldMk cId="3988637059" sldId="405"/>
            <ac:spMk id="3" creationId="{794DCDD6-9557-4076-9120-DE482F7D1C71}"/>
          </ac:spMkLst>
        </pc:spChg>
        <pc:picChg chg="mod">
          <ac:chgData name="Pavithra K" userId="c5189d35e8ee8a95" providerId="LiveId" clId="{4308FA32-12B0-4C89-BB9B-7C2E9E2494EE}" dt="2024-05-29T05:37:37.997" v="18" actId="1076"/>
          <ac:picMkLst>
            <pc:docMk/>
            <pc:sldMk cId="3988637059" sldId="405"/>
            <ac:picMk id="4" creationId="{1C29A2CE-4ECA-4B04-B907-9E2A64C66505}"/>
          </ac:picMkLst>
        </pc:picChg>
      </pc:sldChg>
      <pc:sldChg chg="modSp add del mod">
        <pc:chgData name="Pavithra K" userId="c5189d35e8ee8a95" providerId="LiveId" clId="{4308FA32-12B0-4C89-BB9B-7C2E9E2494EE}" dt="2024-05-29T05:39:32.976" v="33" actId="123"/>
        <pc:sldMkLst>
          <pc:docMk/>
          <pc:sldMk cId="1360268899" sldId="406"/>
        </pc:sldMkLst>
        <pc:spChg chg="mod">
          <ac:chgData name="Pavithra K" userId="c5189d35e8ee8a95" providerId="LiveId" clId="{4308FA32-12B0-4C89-BB9B-7C2E9E2494EE}" dt="2024-05-29T05:39:32.976" v="33" actId="123"/>
          <ac:spMkLst>
            <pc:docMk/>
            <pc:sldMk cId="1360268899" sldId="406"/>
            <ac:spMk id="2" creationId="{D9294099-4F1B-4FCF-8342-5998CE450697}"/>
          </ac:spMkLst>
        </pc:spChg>
      </pc:sldChg>
      <pc:sldChg chg="add del">
        <pc:chgData name="Pavithra K" userId="c5189d35e8ee8a95" providerId="LiveId" clId="{4308FA32-12B0-4C89-BB9B-7C2E9E2494EE}" dt="2024-05-29T06:07:09.233" v="79" actId="47"/>
        <pc:sldMkLst>
          <pc:docMk/>
          <pc:sldMk cId="2247209956" sldId="407"/>
        </pc:sldMkLst>
      </pc:sldChg>
      <pc:sldChg chg="add del">
        <pc:chgData name="Pavithra K" userId="c5189d35e8ee8a95" providerId="LiveId" clId="{4308FA32-12B0-4C89-BB9B-7C2E9E2494EE}" dt="2024-05-29T06:07:09.233" v="79" actId="47"/>
        <pc:sldMkLst>
          <pc:docMk/>
          <pc:sldMk cId="2812938500" sldId="408"/>
        </pc:sldMkLst>
      </pc:sldChg>
      <pc:sldChg chg="add del">
        <pc:chgData name="Pavithra K" userId="c5189d35e8ee8a95" providerId="LiveId" clId="{4308FA32-12B0-4C89-BB9B-7C2E9E2494EE}" dt="2024-05-29T06:07:09.233" v="79" actId="47"/>
        <pc:sldMkLst>
          <pc:docMk/>
          <pc:sldMk cId="4089528551" sldId="409"/>
        </pc:sldMkLst>
      </pc:sldChg>
      <pc:sldChg chg="add del">
        <pc:chgData name="Pavithra K" userId="c5189d35e8ee8a95" providerId="LiveId" clId="{4308FA32-12B0-4C89-BB9B-7C2E9E2494EE}" dt="2024-05-29T06:07:09.233" v="79" actId="47"/>
        <pc:sldMkLst>
          <pc:docMk/>
          <pc:sldMk cId="2827691222" sldId="410"/>
        </pc:sldMkLst>
      </pc:sldChg>
      <pc:sldChg chg="add del">
        <pc:chgData name="Pavithra K" userId="c5189d35e8ee8a95" providerId="LiveId" clId="{4308FA32-12B0-4C89-BB9B-7C2E9E2494EE}" dt="2024-05-29T06:07:09.233" v="79" actId="47"/>
        <pc:sldMkLst>
          <pc:docMk/>
          <pc:sldMk cId="4149778200" sldId="411"/>
        </pc:sldMkLst>
      </pc:sldChg>
      <pc:sldChg chg="add del">
        <pc:chgData name="Pavithra K" userId="c5189d35e8ee8a95" providerId="LiveId" clId="{4308FA32-12B0-4C89-BB9B-7C2E9E2494EE}" dt="2024-05-29T06:07:09.233" v="79" actId="47"/>
        <pc:sldMkLst>
          <pc:docMk/>
          <pc:sldMk cId="1383774127" sldId="412"/>
        </pc:sldMkLst>
      </pc:sldChg>
      <pc:sldChg chg="add del">
        <pc:chgData name="Pavithra K" userId="c5189d35e8ee8a95" providerId="LiveId" clId="{4308FA32-12B0-4C89-BB9B-7C2E9E2494EE}" dt="2024-05-29T06:07:09.233" v="79" actId="47"/>
        <pc:sldMkLst>
          <pc:docMk/>
          <pc:sldMk cId="2904263350" sldId="413"/>
        </pc:sldMkLst>
      </pc:sldChg>
      <pc:sldChg chg="add del">
        <pc:chgData name="Pavithra K" userId="c5189d35e8ee8a95" providerId="LiveId" clId="{4308FA32-12B0-4C89-BB9B-7C2E9E2494EE}" dt="2024-05-29T06:07:09.233" v="79" actId="47"/>
        <pc:sldMkLst>
          <pc:docMk/>
          <pc:sldMk cId="1745717744" sldId="414"/>
        </pc:sldMkLst>
      </pc:sldChg>
      <pc:sldChg chg="add del">
        <pc:chgData name="Pavithra K" userId="c5189d35e8ee8a95" providerId="LiveId" clId="{4308FA32-12B0-4C89-BB9B-7C2E9E2494EE}" dt="2024-05-29T06:07:09.233" v="79" actId="47"/>
        <pc:sldMkLst>
          <pc:docMk/>
          <pc:sldMk cId="110469750" sldId="415"/>
        </pc:sldMkLst>
      </pc:sldChg>
      <pc:sldChg chg="add del">
        <pc:chgData name="Pavithra K" userId="c5189d35e8ee8a95" providerId="LiveId" clId="{4308FA32-12B0-4C89-BB9B-7C2E9E2494EE}" dt="2024-05-29T06:07:09.233" v="79" actId="47"/>
        <pc:sldMkLst>
          <pc:docMk/>
          <pc:sldMk cId="944433761" sldId="416"/>
        </pc:sldMkLst>
      </pc:sldChg>
      <pc:sldChg chg="add del">
        <pc:chgData name="Pavithra K" userId="c5189d35e8ee8a95" providerId="LiveId" clId="{4308FA32-12B0-4C89-BB9B-7C2E9E2494EE}" dt="2024-05-29T06:07:09.233" v="79" actId="47"/>
        <pc:sldMkLst>
          <pc:docMk/>
          <pc:sldMk cId="3701383281" sldId="417"/>
        </pc:sldMkLst>
      </pc:sldChg>
      <pc:sldChg chg="add del">
        <pc:chgData name="Pavithra K" userId="c5189d35e8ee8a95" providerId="LiveId" clId="{4308FA32-12B0-4C89-BB9B-7C2E9E2494EE}" dt="2024-05-29T06:07:09.233" v="79" actId="47"/>
        <pc:sldMkLst>
          <pc:docMk/>
          <pc:sldMk cId="2076007484" sldId="418"/>
        </pc:sldMkLst>
      </pc:sldChg>
      <pc:sldChg chg="add del">
        <pc:chgData name="Pavithra K" userId="c5189d35e8ee8a95" providerId="LiveId" clId="{4308FA32-12B0-4C89-BB9B-7C2E9E2494EE}" dt="2024-05-29T06:07:09.233" v="79" actId="47"/>
        <pc:sldMkLst>
          <pc:docMk/>
          <pc:sldMk cId="2536489907" sldId="419"/>
        </pc:sldMkLst>
      </pc:sldChg>
      <pc:sldChg chg="add del">
        <pc:chgData name="Pavithra K" userId="c5189d35e8ee8a95" providerId="LiveId" clId="{4308FA32-12B0-4C89-BB9B-7C2E9E2494EE}" dt="2024-05-29T06:07:09.233" v="79" actId="47"/>
        <pc:sldMkLst>
          <pc:docMk/>
          <pc:sldMk cId="3732949599" sldId="420"/>
        </pc:sldMkLst>
      </pc:sldChg>
      <pc:sldChg chg="add del">
        <pc:chgData name="Pavithra K" userId="c5189d35e8ee8a95" providerId="LiveId" clId="{4308FA32-12B0-4C89-BB9B-7C2E9E2494EE}" dt="2024-05-29T06:07:09.233" v="79" actId="47"/>
        <pc:sldMkLst>
          <pc:docMk/>
          <pc:sldMk cId="4188568149" sldId="421"/>
        </pc:sldMkLst>
      </pc:sldChg>
      <pc:sldChg chg="add del">
        <pc:chgData name="Pavithra K" userId="c5189d35e8ee8a95" providerId="LiveId" clId="{4308FA32-12B0-4C89-BB9B-7C2E9E2494EE}" dt="2024-05-29T06:07:09.233" v="79" actId="47"/>
        <pc:sldMkLst>
          <pc:docMk/>
          <pc:sldMk cId="335910565" sldId="422"/>
        </pc:sldMkLst>
      </pc:sldChg>
      <pc:sldChg chg="add del">
        <pc:chgData name="Pavithra K" userId="c5189d35e8ee8a95" providerId="LiveId" clId="{4308FA32-12B0-4C89-BB9B-7C2E9E2494EE}" dt="2024-05-29T06:07:09.233" v="79" actId="47"/>
        <pc:sldMkLst>
          <pc:docMk/>
          <pc:sldMk cId="4129535344" sldId="423"/>
        </pc:sldMkLst>
      </pc:sldChg>
      <pc:sldChg chg="add del">
        <pc:chgData name="Pavithra K" userId="c5189d35e8ee8a95" providerId="LiveId" clId="{4308FA32-12B0-4C89-BB9B-7C2E9E2494EE}" dt="2024-05-29T06:07:09.233" v="79" actId="47"/>
        <pc:sldMkLst>
          <pc:docMk/>
          <pc:sldMk cId="2668985877" sldId="424"/>
        </pc:sldMkLst>
      </pc:sldChg>
      <pc:sldChg chg="add del">
        <pc:chgData name="Pavithra K" userId="c5189d35e8ee8a95" providerId="LiveId" clId="{4308FA32-12B0-4C89-BB9B-7C2E9E2494EE}" dt="2024-05-29T06:07:09.233" v="79" actId="47"/>
        <pc:sldMkLst>
          <pc:docMk/>
          <pc:sldMk cId="1387867352" sldId="425"/>
        </pc:sldMkLst>
      </pc:sldChg>
      <pc:sldChg chg="add del">
        <pc:chgData name="Pavithra K" userId="c5189d35e8ee8a95" providerId="LiveId" clId="{4308FA32-12B0-4C89-BB9B-7C2E9E2494EE}" dt="2024-05-29T06:07:09.233" v="79" actId="47"/>
        <pc:sldMkLst>
          <pc:docMk/>
          <pc:sldMk cId="1107129856" sldId="426"/>
        </pc:sldMkLst>
      </pc:sldChg>
      <pc:sldChg chg="add del">
        <pc:chgData name="Pavithra K" userId="c5189d35e8ee8a95" providerId="LiveId" clId="{4308FA32-12B0-4C89-BB9B-7C2E9E2494EE}" dt="2024-05-29T06:07:09.233" v="79" actId="47"/>
        <pc:sldMkLst>
          <pc:docMk/>
          <pc:sldMk cId="163815120" sldId="427"/>
        </pc:sldMkLst>
      </pc:sldChg>
      <pc:sldChg chg="add del">
        <pc:chgData name="Pavithra K" userId="c5189d35e8ee8a95" providerId="LiveId" clId="{4308FA32-12B0-4C89-BB9B-7C2E9E2494EE}" dt="2024-05-29T06:07:09.233" v="79" actId="47"/>
        <pc:sldMkLst>
          <pc:docMk/>
          <pc:sldMk cId="1603843966" sldId="428"/>
        </pc:sldMkLst>
      </pc:sldChg>
      <pc:sldChg chg="add del">
        <pc:chgData name="Pavithra K" userId="c5189d35e8ee8a95" providerId="LiveId" clId="{4308FA32-12B0-4C89-BB9B-7C2E9E2494EE}" dt="2024-05-29T06:07:09.233" v="79" actId="47"/>
        <pc:sldMkLst>
          <pc:docMk/>
          <pc:sldMk cId="2268999263" sldId="429"/>
        </pc:sldMkLst>
      </pc:sldChg>
      <pc:sldChg chg="add del">
        <pc:chgData name="Pavithra K" userId="c5189d35e8ee8a95" providerId="LiveId" clId="{4308FA32-12B0-4C89-BB9B-7C2E9E2494EE}" dt="2024-05-29T06:07:09.233" v="79" actId="47"/>
        <pc:sldMkLst>
          <pc:docMk/>
          <pc:sldMk cId="1827526180" sldId="430"/>
        </pc:sldMkLst>
      </pc:sldChg>
      <pc:sldChg chg="add del">
        <pc:chgData name="Pavithra K" userId="c5189d35e8ee8a95" providerId="LiveId" clId="{4308FA32-12B0-4C89-BB9B-7C2E9E2494EE}" dt="2024-05-29T06:07:09.233" v="79" actId="47"/>
        <pc:sldMkLst>
          <pc:docMk/>
          <pc:sldMk cId="3072632295" sldId="431"/>
        </pc:sldMkLst>
      </pc:sldChg>
      <pc:sldChg chg="add del">
        <pc:chgData name="Pavithra K" userId="c5189d35e8ee8a95" providerId="LiveId" clId="{4308FA32-12B0-4C89-BB9B-7C2E9E2494EE}" dt="2024-05-29T06:07:09.233" v="79" actId="47"/>
        <pc:sldMkLst>
          <pc:docMk/>
          <pc:sldMk cId="2797156774" sldId="432"/>
        </pc:sldMkLst>
      </pc:sldChg>
      <pc:sldChg chg="add del">
        <pc:chgData name="Pavithra K" userId="c5189d35e8ee8a95" providerId="LiveId" clId="{4308FA32-12B0-4C89-BB9B-7C2E9E2494EE}" dt="2024-05-29T06:07:09.233" v="79" actId="47"/>
        <pc:sldMkLst>
          <pc:docMk/>
          <pc:sldMk cId="1181904483" sldId="433"/>
        </pc:sldMkLst>
      </pc:sldChg>
      <pc:sldChg chg="add del">
        <pc:chgData name="Pavithra K" userId="c5189d35e8ee8a95" providerId="LiveId" clId="{4308FA32-12B0-4C89-BB9B-7C2E9E2494EE}" dt="2024-05-29T06:07:09.233" v="79" actId="47"/>
        <pc:sldMkLst>
          <pc:docMk/>
          <pc:sldMk cId="2889452134" sldId="434"/>
        </pc:sldMkLst>
      </pc:sldChg>
      <pc:sldChg chg="add del">
        <pc:chgData name="Pavithra K" userId="c5189d35e8ee8a95" providerId="LiveId" clId="{4308FA32-12B0-4C89-BB9B-7C2E9E2494EE}" dt="2024-05-29T06:07:09.233" v="79" actId="47"/>
        <pc:sldMkLst>
          <pc:docMk/>
          <pc:sldMk cId="1777665730" sldId="435"/>
        </pc:sldMkLst>
      </pc:sldChg>
      <pc:sldChg chg="modSp add mod">
        <pc:chgData name="Pavithra K" userId="c5189d35e8ee8a95" providerId="LiveId" clId="{4308FA32-12B0-4C89-BB9B-7C2E9E2494EE}" dt="2024-05-29T06:06:23.988" v="75" actId="27636"/>
        <pc:sldMkLst>
          <pc:docMk/>
          <pc:sldMk cId="2220335684" sldId="436"/>
        </pc:sldMkLst>
        <pc:spChg chg="mod">
          <ac:chgData name="Pavithra K" userId="c5189d35e8ee8a95" providerId="LiveId" clId="{4308FA32-12B0-4C89-BB9B-7C2E9E2494EE}" dt="2024-05-29T06:06:23.988" v="75" actId="27636"/>
          <ac:spMkLst>
            <pc:docMk/>
            <pc:sldMk cId="2220335684" sldId="436"/>
            <ac:spMk id="3" creationId="{00000000-0000-0000-0000-000000000000}"/>
          </ac:spMkLst>
        </pc:spChg>
      </pc:sldChg>
      <pc:sldChg chg="add">
        <pc:chgData name="Pavithra K" userId="c5189d35e8ee8a95" providerId="LiveId" clId="{4308FA32-12B0-4C89-BB9B-7C2E9E2494EE}" dt="2024-05-29T06:06:23.921" v="74"/>
        <pc:sldMkLst>
          <pc:docMk/>
          <pc:sldMk cId="543746834" sldId="437"/>
        </pc:sldMkLst>
      </pc:sldChg>
      <pc:sldChg chg="add">
        <pc:chgData name="Pavithra K" userId="c5189d35e8ee8a95" providerId="LiveId" clId="{4308FA32-12B0-4C89-BB9B-7C2E9E2494EE}" dt="2024-05-29T06:06:23.921" v="74"/>
        <pc:sldMkLst>
          <pc:docMk/>
          <pc:sldMk cId="759064451" sldId="438"/>
        </pc:sldMkLst>
      </pc:sldChg>
      <pc:sldChg chg="add">
        <pc:chgData name="Pavithra K" userId="c5189d35e8ee8a95" providerId="LiveId" clId="{4308FA32-12B0-4C89-BB9B-7C2E9E2494EE}" dt="2024-05-29T06:06:23.921" v="74"/>
        <pc:sldMkLst>
          <pc:docMk/>
          <pc:sldMk cId="115767719" sldId="439"/>
        </pc:sldMkLst>
      </pc:sldChg>
      <pc:sldChg chg="add">
        <pc:chgData name="Pavithra K" userId="c5189d35e8ee8a95" providerId="LiveId" clId="{4308FA32-12B0-4C89-BB9B-7C2E9E2494EE}" dt="2024-05-29T06:06:23.921" v="74"/>
        <pc:sldMkLst>
          <pc:docMk/>
          <pc:sldMk cId="919455785" sldId="440"/>
        </pc:sldMkLst>
      </pc:sldChg>
      <pc:sldChg chg="add">
        <pc:chgData name="Pavithra K" userId="c5189d35e8ee8a95" providerId="LiveId" clId="{4308FA32-12B0-4C89-BB9B-7C2E9E2494EE}" dt="2024-05-29T06:06:23.921" v="74"/>
        <pc:sldMkLst>
          <pc:docMk/>
          <pc:sldMk cId="897017084" sldId="441"/>
        </pc:sldMkLst>
      </pc:sldChg>
      <pc:sldChg chg="add">
        <pc:chgData name="Pavithra K" userId="c5189d35e8ee8a95" providerId="LiveId" clId="{4308FA32-12B0-4C89-BB9B-7C2E9E2494EE}" dt="2024-05-29T06:06:23.921" v="74"/>
        <pc:sldMkLst>
          <pc:docMk/>
          <pc:sldMk cId="126480679" sldId="442"/>
        </pc:sldMkLst>
      </pc:sldChg>
      <pc:sldChg chg="add">
        <pc:chgData name="Pavithra K" userId="c5189d35e8ee8a95" providerId="LiveId" clId="{4308FA32-12B0-4C89-BB9B-7C2E9E2494EE}" dt="2024-05-29T06:06:23.921" v="74"/>
        <pc:sldMkLst>
          <pc:docMk/>
          <pc:sldMk cId="2220125994" sldId="443"/>
        </pc:sldMkLst>
      </pc:sldChg>
      <pc:sldChg chg="add">
        <pc:chgData name="Pavithra K" userId="c5189d35e8ee8a95" providerId="LiveId" clId="{4308FA32-12B0-4C89-BB9B-7C2E9E2494EE}" dt="2024-05-29T06:06:23.921" v="74"/>
        <pc:sldMkLst>
          <pc:docMk/>
          <pc:sldMk cId="2279814435" sldId="444"/>
        </pc:sldMkLst>
      </pc:sldChg>
      <pc:sldChg chg="add setBg">
        <pc:chgData name="Pavithra K" userId="c5189d35e8ee8a95" providerId="LiveId" clId="{4308FA32-12B0-4C89-BB9B-7C2E9E2494EE}" dt="2024-05-29T06:06:23.921" v="74"/>
        <pc:sldMkLst>
          <pc:docMk/>
          <pc:sldMk cId="1004820191" sldId="445"/>
        </pc:sldMkLst>
      </pc:sldChg>
      <pc:sldChg chg="add setBg">
        <pc:chgData name="Pavithra K" userId="c5189d35e8ee8a95" providerId="LiveId" clId="{4308FA32-12B0-4C89-BB9B-7C2E9E2494EE}" dt="2024-05-29T06:06:23.921" v="74"/>
        <pc:sldMkLst>
          <pc:docMk/>
          <pc:sldMk cId="4234947767" sldId="446"/>
        </pc:sldMkLst>
      </pc:sldChg>
      <pc:sldChg chg="add">
        <pc:chgData name="Pavithra K" userId="c5189d35e8ee8a95" providerId="LiveId" clId="{4308FA32-12B0-4C89-BB9B-7C2E9E2494EE}" dt="2024-05-29T06:06:23.921" v="74"/>
        <pc:sldMkLst>
          <pc:docMk/>
          <pc:sldMk cId="2441645155" sldId="447"/>
        </pc:sldMkLst>
      </pc:sldChg>
      <pc:sldChg chg="add">
        <pc:chgData name="Pavithra K" userId="c5189d35e8ee8a95" providerId="LiveId" clId="{4308FA32-12B0-4C89-BB9B-7C2E9E2494EE}" dt="2024-05-29T06:06:23.921" v="74"/>
        <pc:sldMkLst>
          <pc:docMk/>
          <pc:sldMk cId="558169169" sldId="448"/>
        </pc:sldMkLst>
      </pc:sldChg>
      <pc:sldChg chg="add">
        <pc:chgData name="Pavithra K" userId="c5189d35e8ee8a95" providerId="LiveId" clId="{4308FA32-12B0-4C89-BB9B-7C2E9E2494EE}" dt="2024-05-29T06:06:23.921" v="74"/>
        <pc:sldMkLst>
          <pc:docMk/>
          <pc:sldMk cId="1029405679" sldId="449"/>
        </pc:sldMkLst>
      </pc:sldChg>
      <pc:sldChg chg="add">
        <pc:chgData name="Pavithra K" userId="c5189d35e8ee8a95" providerId="LiveId" clId="{4308FA32-12B0-4C89-BB9B-7C2E9E2494EE}" dt="2024-05-29T06:06:23.921" v="74"/>
        <pc:sldMkLst>
          <pc:docMk/>
          <pc:sldMk cId="2313790989" sldId="450"/>
        </pc:sldMkLst>
      </pc:sldChg>
      <pc:sldChg chg="add">
        <pc:chgData name="Pavithra K" userId="c5189d35e8ee8a95" providerId="LiveId" clId="{4308FA32-12B0-4C89-BB9B-7C2E9E2494EE}" dt="2024-05-29T06:06:23.921" v="74"/>
        <pc:sldMkLst>
          <pc:docMk/>
          <pc:sldMk cId="3893127537" sldId="451"/>
        </pc:sldMkLst>
      </pc:sldChg>
      <pc:sldChg chg="add">
        <pc:chgData name="Pavithra K" userId="c5189d35e8ee8a95" providerId="LiveId" clId="{4308FA32-12B0-4C89-BB9B-7C2E9E2494EE}" dt="2024-05-29T06:06:23.921" v="74"/>
        <pc:sldMkLst>
          <pc:docMk/>
          <pc:sldMk cId="1865167813" sldId="452"/>
        </pc:sldMkLst>
      </pc:sldChg>
      <pc:sldChg chg="add">
        <pc:chgData name="Pavithra K" userId="c5189d35e8ee8a95" providerId="LiveId" clId="{4308FA32-12B0-4C89-BB9B-7C2E9E2494EE}" dt="2024-05-29T06:06:23.921" v="74"/>
        <pc:sldMkLst>
          <pc:docMk/>
          <pc:sldMk cId="1878839058" sldId="453"/>
        </pc:sldMkLst>
      </pc:sldChg>
      <pc:sldChg chg="add">
        <pc:chgData name="Pavithra K" userId="c5189d35e8ee8a95" providerId="LiveId" clId="{4308FA32-12B0-4C89-BB9B-7C2E9E2494EE}" dt="2024-05-29T06:06:23.921" v="74"/>
        <pc:sldMkLst>
          <pc:docMk/>
          <pc:sldMk cId="2818723996" sldId="454"/>
        </pc:sldMkLst>
      </pc:sldChg>
      <pc:sldChg chg="add">
        <pc:chgData name="Pavithra K" userId="c5189d35e8ee8a95" providerId="LiveId" clId="{4308FA32-12B0-4C89-BB9B-7C2E9E2494EE}" dt="2024-05-29T06:06:23.921" v="74"/>
        <pc:sldMkLst>
          <pc:docMk/>
          <pc:sldMk cId="4251450962" sldId="455"/>
        </pc:sldMkLst>
      </pc:sldChg>
      <pc:sldChg chg="add">
        <pc:chgData name="Pavithra K" userId="c5189d35e8ee8a95" providerId="LiveId" clId="{4308FA32-12B0-4C89-BB9B-7C2E9E2494EE}" dt="2024-05-29T06:06:23.921" v="74"/>
        <pc:sldMkLst>
          <pc:docMk/>
          <pc:sldMk cId="2320984463" sldId="456"/>
        </pc:sldMkLst>
      </pc:sldChg>
      <pc:sldChg chg="add">
        <pc:chgData name="Pavithra K" userId="c5189d35e8ee8a95" providerId="LiveId" clId="{4308FA32-12B0-4C89-BB9B-7C2E9E2494EE}" dt="2024-05-29T06:06:23.921" v="74"/>
        <pc:sldMkLst>
          <pc:docMk/>
          <pc:sldMk cId="59754952" sldId="457"/>
        </pc:sldMkLst>
      </pc:sldChg>
      <pc:sldChg chg="add">
        <pc:chgData name="Pavithra K" userId="c5189d35e8ee8a95" providerId="LiveId" clId="{4308FA32-12B0-4C89-BB9B-7C2E9E2494EE}" dt="2024-05-29T06:06:23.921" v="74"/>
        <pc:sldMkLst>
          <pc:docMk/>
          <pc:sldMk cId="256578858" sldId="458"/>
        </pc:sldMkLst>
      </pc:sldChg>
      <pc:sldChg chg="add">
        <pc:chgData name="Pavithra K" userId="c5189d35e8ee8a95" providerId="LiveId" clId="{4308FA32-12B0-4C89-BB9B-7C2E9E2494EE}" dt="2024-05-29T06:06:23.921" v="74"/>
        <pc:sldMkLst>
          <pc:docMk/>
          <pc:sldMk cId="1193275369" sldId="459"/>
        </pc:sldMkLst>
      </pc:sldChg>
      <pc:sldChg chg="add">
        <pc:chgData name="Pavithra K" userId="c5189d35e8ee8a95" providerId="LiveId" clId="{4308FA32-12B0-4C89-BB9B-7C2E9E2494EE}" dt="2024-05-29T06:06:23.921" v="74"/>
        <pc:sldMkLst>
          <pc:docMk/>
          <pc:sldMk cId="1885137379" sldId="460"/>
        </pc:sldMkLst>
      </pc:sldChg>
      <pc:sldChg chg="add">
        <pc:chgData name="Pavithra K" userId="c5189d35e8ee8a95" providerId="LiveId" clId="{4308FA32-12B0-4C89-BB9B-7C2E9E2494EE}" dt="2024-05-29T06:06:23.921" v="74"/>
        <pc:sldMkLst>
          <pc:docMk/>
          <pc:sldMk cId="2166566860" sldId="461"/>
        </pc:sldMkLst>
      </pc:sldChg>
      <pc:sldChg chg="add">
        <pc:chgData name="Pavithra K" userId="c5189d35e8ee8a95" providerId="LiveId" clId="{4308FA32-12B0-4C89-BB9B-7C2E9E2494EE}" dt="2024-05-29T06:06:23.921" v="74"/>
        <pc:sldMkLst>
          <pc:docMk/>
          <pc:sldMk cId="1696116651" sldId="462"/>
        </pc:sldMkLst>
      </pc:sldChg>
      <pc:sldChg chg="add">
        <pc:chgData name="Pavithra K" userId="c5189d35e8ee8a95" providerId="LiveId" clId="{4308FA32-12B0-4C89-BB9B-7C2E9E2494EE}" dt="2024-05-29T06:06:23.921" v="74"/>
        <pc:sldMkLst>
          <pc:docMk/>
          <pc:sldMk cId="3651727375" sldId="463"/>
        </pc:sldMkLst>
      </pc:sldChg>
      <pc:sldChg chg="add">
        <pc:chgData name="Pavithra K" userId="c5189d35e8ee8a95" providerId="LiveId" clId="{4308FA32-12B0-4C89-BB9B-7C2E9E2494EE}" dt="2024-05-29T06:06:23.921" v="74"/>
        <pc:sldMkLst>
          <pc:docMk/>
          <pc:sldMk cId="2459963085" sldId="464"/>
        </pc:sldMkLst>
      </pc:sldChg>
      <pc:sldChg chg="add">
        <pc:chgData name="Pavithra K" userId="c5189d35e8ee8a95" providerId="LiveId" clId="{4308FA32-12B0-4C89-BB9B-7C2E9E2494EE}" dt="2024-05-29T06:06:23.921" v="74"/>
        <pc:sldMkLst>
          <pc:docMk/>
          <pc:sldMk cId="2007980093" sldId="465"/>
        </pc:sldMkLst>
      </pc:sldChg>
      <pc:sldChg chg="add">
        <pc:chgData name="Pavithra K" userId="c5189d35e8ee8a95" providerId="LiveId" clId="{4308FA32-12B0-4C89-BB9B-7C2E9E2494EE}" dt="2024-05-29T06:06:23.921" v="74"/>
        <pc:sldMkLst>
          <pc:docMk/>
          <pc:sldMk cId="2662612057" sldId="466"/>
        </pc:sldMkLst>
      </pc:sldChg>
      <pc:sldChg chg="add">
        <pc:chgData name="Pavithra K" userId="c5189d35e8ee8a95" providerId="LiveId" clId="{4308FA32-12B0-4C89-BB9B-7C2E9E2494EE}" dt="2024-05-29T06:06:23.921" v="74"/>
        <pc:sldMkLst>
          <pc:docMk/>
          <pc:sldMk cId="4169300419" sldId="467"/>
        </pc:sldMkLst>
      </pc:sldChg>
      <pc:sldChg chg="add">
        <pc:chgData name="Pavithra K" userId="c5189d35e8ee8a95" providerId="LiveId" clId="{4308FA32-12B0-4C89-BB9B-7C2E9E2494EE}" dt="2024-05-29T06:06:23.921" v="74"/>
        <pc:sldMkLst>
          <pc:docMk/>
          <pc:sldMk cId="2408262712" sldId="468"/>
        </pc:sldMkLst>
      </pc:sldChg>
      <pc:sldChg chg="add">
        <pc:chgData name="Pavithra K" userId="c5189d35e8ee8a95" providerId="LiveId" clId="{4308FA32-12B0-4C89-BB9B-7C2E9E2494EE}" dt="2024-05-29T06:06:23.921" v="74"/>
        <pc:sldMkLst>
          <pc:docMk/>
          <pc:sldMk cId="2233399717" sldId="469"/>
        </pc:sldMkLst>
      </pc:sldChg>
      <pc:sldChg chg="add">
        <pc:chgData name="Pavithra K" userId="c5189d35e8ee8a95" providerId="LiveId" clId="{4308FA32-12B0-4C89-BB9B-7C2E9E2494EE}" dt="2024-05-29T06:06:23.921" v="74"/>
        <pc:sldMkLst>
          <pc:docMk/>
          <pc:sldMk cId="2948737566" sldId="470"/>
        </pc:sldMkLst>
      </pc:sldChg>
      <pc:sldChg chg="modSp add mod">
        <pc:chgData name="Pavithra K" userId="c5189d35e8ee8a95" providerId="LiveId" clId="{4308FA32-12B0-4C89-BB9B-7C2E9E2494EE}" dt="2024-05-29T06:06:24.001" v="76" actId="27636"/>
        <pc:sldMkLst>
          <pc:docMk/>
          <pc:sldMk cId="3774861571" sldId="471"/>
        </pc:sldMkLst>
        <pc:spChg chg="mod">
          <ac:chgData name="Pavithra K" userId="c5189d35e8ee8a95" providerId="LiveId" clId="{4308FA32-12B0-4C89-BB9B-7C2E9E2494EE}" dt="2024-05-29T06:06:24.001" v="76" actId="27636"/>
          <ac:spMkLst>
            <pc:docMk/>
            <pc:sldMk cId="3774861571" sldId="471"/>
            <ac:spMk id="3" creationId="{00000000-0000-0000-0000-000000000000}"/>
          </ac:spMkLst>
        </pc:spChg>
      </pc:sldChg>
      <pc:sldChg chg="add">
        <pc:chgData name="Pavithra K" userId="c5189d35e8ee8a95" providerId="LiveId" clId="{4308FA32-12B0-4C89-BB9B-7C2E9E2494EE}" dt="2024-05-29T06:06:23.921" v="74"/>
        <pc:sldMkLst>
          <pc:docMk/>
          <pc:sldMk cId="1316056777" sldId="472"/>
        </pc:sldMkLst>
      </pc:sldChg>
      <pc:sldChg chg="add">
        <pc:chgData name="Pavithra K" userId="c5189d35e8ee8a95" providerId="LiveId" clId="{4308FA32-12B0-4C89-BB9B-7C2E9E2494EE}" dt="2024-05-29T06:06:23.921" v="74"/>
        <pc:sldMkLst>
          <pc:docMk/>
          <pc:sldMk cId="3248012823" sldId="473"/>
        </pc:sldMkLst>
      </pc:sldChg>
      <pc:sldChg chg="add">
        <pc:chgData name="Pavithra K" userId="c5189d35e8ee8a95" providerId="LiveId" clId="{4308FA32-12B0-4C89-BB9B-7C2E9E2494EE}" dt="2024-05-29T06:06:23.921" v="74"/>
        <pc:sldMkLst>
          <pc:docMk/>
          <pc:sldMk cId="3107870570" sldId="474"/>
        </pc:sldMkLst>
      </pc:sldChg>
      <pc:sldChg chg="add">
        <pc:chgData name="Pavithra K" userId="c5189d35e8ee8a95" providerId="LiveId" clId="{4308FA32-12B0-4C89-BB9B-7C2E9E2494EE}" dt="2024-05-29T06:06:23.921" v="74"/>
        <pc:sldMkLst>
          <pc:docMk/>
          <pc:sldMk cId="1075023363" sldId="475"/>
        </pc:sldMkLst>
      </pc:sldChg>
      <pc:sldChg chg="add">
        <pc:chgData name="Pavithra K" userId="c5189d35e8ee8a95" providerId="LiveId" clId="{4308FA32-12B0-4C89-BB9B-7C2E9E2494EE}" dt="2024-05-29T06:06:23.921" v="74"/>
        <pc:sldMkLst>
          <pc:docMk/>
          <pc:sldMk cId="2877961664" sldId="476"/>
        </pc:sldMkLst>
      </pc:sldChg>
      <pc:sldChg chg="add">
        <pc:chgData name="Pavithra K" userId="c5189d35e8ee8a95" providerId="LiveId" clId="{4308FA32-12B0-4C89-BB9B-7C2E9E2494EE}" dt="2024-05-29T06:06:23.921" v="74"/>
        <pc:sldMkLst>
          <pc:docMk/>
          <pc:sldMk cId="3951798086" sldId="477"/>
        </pc:sldMkLst>
      </pc:sldChg>
      <pc:sldChg chg="add">
        <pc:chgData name="Pavithra K" userId="c5189d35e8ee8a95" providerId="LiveId" clId="{4308FA32-12B0-4C89-BB9B-7C2E9E2494EE}" dt="2024-05-29T06:06:23.921" v="74"/>
        <pc:sldMkLst>
          <pc:docMk/>
          <pc:sldMk cId="1391659673" sldId="478"/>
        </pc:sldMkLst>
      </pc:sldChg>
      <pc:sldChg chg="add">
        <pc:chgData name="Pavithra K" userId="c5189d35e8ee8a95" providerId="LiveId" clId="{4308FA32-12B0-4C89-BB9B-7C2E9E2494EE}" dt="2024-05-29T06:06:23.921" v="74"/>
        <pc:sldMkLst>
          <pc:docMk/>
          <pc:sldMk cId="297216123" sldId="479"/>
        </pc:sldMkLst>
      </pc:sldChg>
      <pc:sldChg chg="add">
        <pc:chgData name="Pavithra K" userId="c5189d35e8ee8a95" providerId="LiveId" clId="{4308FA32-12B0-4C89-BB9B-7C2E9E2494EE}" dt="2024-05-29T06:06:23.921" v="74"/>
        <pc:sldMkLst>
          <pc:docMk/>
          <pc:sldMk cId="1063041062" sldId="480"/>
        </pc:sldMkLst>
      </pc:sldChg>
      <pc:sldChg chg="add">
        <pc:chgData name="Pavithra K" userId="c5189d35e8ee8a95" providerId="LiveId" clId="{4308FA32-12B0-4C89-BB9B-7C2E9E2494EE}" dt="2024-05-29T06:06:23.921" v="74"/>
        <pc:sldMkLst>
          <pc:docMk/>
          <pc:sldMk cId="214601193" sldId="481"/>
        </pc:sldMkLst>
      </pc:sldChg>
      <pc:sldChg chg="add">
        <pc:chgData name="Pavithra K" userId="c5189d35e8ee8a95" providerId="LiveId" clId="{4308FA32-12B0-4C89-BB9B-7C2E9E2494EE}" dt="2024-05-29T06:06:23.921" v="74"/>
        <pc:sldMkLst>
          <pc:docMk/>
          <pc:sldMk cId="2123317708" sldId="482"/>
        </pc:sldMkLst>
      </pc:sldChg>
      <pc:sldChg chg="add">
        <pc:chgData name="Pavithra K" userId="c5189d35e8ee8a95" providerId="LiveId" clId="{4308FA32-12B0-4C89-BB9B-7C2E9E2494EE}" dt="2024-05-29T06:06:23.921" v="74"/>
        <pc:sldMkLst>
          <pc:docMk/>
          <pc:sldMk cId="3153882098" sldId="483"/>
        </pc:sldMkLst>
      </pc:sldChg>
      <pc:sldChg chg="add">
        <pc:chgData name="Pavithra K" userId="c5189d35e8ee8a95" providerId="LiveId" clId="{4308FA32-12B0-4C89-BB9B-7C2E9E2494EE}" dt="2024-05-29T06:06:23.921" v="74"/>
        <pc:sldMkLst>
          <pc:docMk/>
          <pc:sldMk cId="4217196734" sldId="484"/>
        </pc:sldMkLst>
      </pc:sldChg>
      <pc:sldChg chg="add">
        <pc:chgData name="Pavithra K" userId="c5189d35e8ee8a95" providerId="LiveId" clId="{4308FA32-12B0-4C89-BB9B-7C2E9E2494EE}" dt="2024-05-29T06:06:23.921" v="74"/>
        <pc:sldMkLst>
          <pc:docMk/>
          <pc:sldMk cId="8544299" sldId="485"/>
        </pc:sldMkLst>
      </pc:sldChg>
      <pc:sldChg chg="add">
        <pc:chgData name="Pavithra K" userId="c5189d35e8ee8a95" providerId="LiveId" clId="{4308FA32-12B0-4C89-BB9B-7C2E9E2494EE}" dt="2024-05-29T06:06:23.921" v="74"/>
        <pc:sldMkLst>
          <pc:docMk/>
          <pc:sldMk cId="851435625" sldId="486"/>
        </pc:sldMkLst>
      </pc:sldChg>
      <pc:sldChg chg="add">
        <pc:chgData name="Pavithra K" userId="c5189d35e8ee8a95" providerId="LiveId" clId="{4308FA32-12B0-4C89-BB9B-7C2E9E2494EE}" dt="2024-05-29T06:06:23.921" v="74"/>
        <pc:sldMkLst>
          <pc:docMk/>
          <pc:sldMk cId="1915272211" sldId="487"/>
        </pc:sldMkLst>
      </pc:sldChg>
      <pc:sldChg chg="add">
        <pc:chgData name="Pavithra K" userId="c5189d35e8ee8a95" providerId="LiveId" clId="{4308FA32-12B0-4C89-BB9B-7C2E9E2494EE}" dt="2024-05-29T06:06:23.921" v="74"/>
        <pc:sldMkLst>
          <pc:docMk/>
          <pc:sldMk cId="1901218815" sldId="488"/>
        </pc:sldMkLst>
      </pc:sldChg>
      <pc:sldChg chg="add">
        <pc:chgData name="Pavithra K" userId="c5189d35e8ee8a95" providerId="LiveId" clId="{4308FA32-12B0-4C89-BB9B-7C2E9E2494EE}" dt="2024-05-29T06:06:23.921" v="74"/>
        <pc:sldMkLst>
          <pc:docMk/>
          <pc:sldMk cId="188903209" sldId="489"/>
        </pc:sldMkLst>
      </pc:sldChg>
      <pc:sldChg chg="add">
        <pc:chgData name="Pavithra K" userId="c5189d35e8ee8a95" providerId="LiveId" clId="{4308FA32-12B0-4C89-BB9B-7C2E9E2494EE}" dt="2024-05-29T06:06:23.921" v="74"/>
        <pc:sldMkLst>
          <pc:docMk/>
          <pc:sldMk cId="2853386074" sldId="490"/>
        </pc:sldMkLst>
      </pc:sldChg>
      <pc:sldChg chg="add">
        <pc:chgData name="Pavithra K" userId="c5189d35e8ee8a95" providerId="LiveId" clId="{4308FA32-12B0-4C89-BB9B-7C2E9E2494EE}" dt="2024-05-29T06:06:23.921" v="74"/>
        <pc:sldMkLst>
          <pc:docMk/>
          <pc:sldMk cId="1820360165" sldId="491"/>
        </pc:sldMkLst>
      </pc:sldChg>
      <pc:sldChg chg="addSp delSp modSp add mod">
        <pc:chgData name="Pavithra K" userId="c5189d35e8ee8a95" providerId="LiveId" clId="{4308FA32-12B0-4C89-BB9B-7C2E9E2494EE}" dt="2024-05-29T09:49:43.148" v="163" actId="113"/>
        <pc:sldMkLst>
          <pc:docMk/>
          <pc:sldMk cId="260518273" sldId="492"/>
        </pc:sldMkLst>
        <pc:spChg chg="add del mod">
          <ac:chgData name="Pavithra K" userId="c5189d35e8ee8a95" providerId="LiveId" clId="{4308FA32-12B0-4C89-BB9B-7C2E9E2494EE}" dt="2024-05-29T09:49:17.432" v="159" actId="11529"/>
          <ac:spMkLst>
            <pc:docMk/>
            <pc:sldMk cId="260518273" sldId="492"/>
            <ac:spMk id="2" creationId="{8BCA4F7F-354C-4B78-B9B1-66F7E4DDF3D5}"/>
          </ac:spMkLst>
        </pc:spChg>
        <pc:spChg chg="mod">
          <ac:chgData name="Pavithra K" userId="c5189d35e8ee8a95" providerId="LiveId" clId="{4308FA32-12B0-4C89-BB9B-7C2E9E2494EE}" dt="2024-05-29T09:49:43.148" v="163" actId="113"/>
          <ac:spMkLst>
            <pc:docMk/>
            <pc:sldMk cId="260518273" sldId="492"/>
            <ac:spMk id="3" creationId="{00000000-0000-0000-0000-000000000000}"/>
          </ac:spMkLst>
        </pc:spChg>
        <pc:spChg chg="add mod">
          <ac:chgData name="Pavithra K" userId="c5189d35e8ee8a95" providerId="LiveId" clId="{4308FA32-12B0-4C89-BB9B-7C2E9E2494EE}" dt="2024-05-29T09:49:32.559" v="161" actId="1076"/>
          <ac:spMkLst>
            <pc:docMk/>
            <pc:sldMk cId="260518273" sldId="492"/>
            <ac:spMk id="4" creationId="{C34AC47E-BF2D-4FFA-9B4C-E3FB925A9ECB}"/>
          </ac:spMkLst>
        </pc:spChg>
      </pc:sldChg>
      <pc:sldChg chg="add">
        <pc:chgData name="Pavithra K" userId="c5189d35e8ee8a95" providerId="LiveId" clId="{4308FA32-12B0-4C89-BB9B-7C2E9E2494EE}" dt="2024-05-29T06:06:23.921" v="74"/>
        <pc:sldMkLst>
          <pc:docMk/>
          <pc:sldMk cId="3377596683" sldId="493"/>
        </pc:sldMkLst>
      </pc:sldChg>
      <pc:sldChg chg="add">
        <pc:chgData name="Pavithra K" userId="c5189d35e8ee8a95" providerId="LiveId" clId="{4308FA32-12B0-4C89-BB9B-7C2E9E2494EE}" dt="2024-05-29T06:06:23.921" v="74"/>
        <pc:sldMkLst>
          <pc:docMk/>
          <pc:sldMk cId="866970321" sldId="494"/>
        </pc:sldMkLst>
      </pc:sldChg>
      <pc:sldChg chg="modSp add mod">
        <pc:chgData name="Pavithra K" userId="c5189d35e8ee8a95" providerId="LiveId" clId="{4308FA32-12B0-4C89-BB9B-7C2E9E2494EE}" dt="2024-05-29T10:29:20.704" v="257" actId="255"/>
        <pc:sldMkLst>
          <pc:docMk/>
          <pc:sldMk cId="1398292113" sldId="495"/>
        </pc:sldMkLst>
        <pc:spChg chg="mod">
          <ac:chgData name="Pavithra K" userId="c5189d35e8ee8a95" providerId="LiveId" clId="{4308FA32-12B0-4C89-BB9B-7C2E9E2494EE}" dt="2024-05-29T10:29:20.704" v="257" actId="255"/>
          <ac:spMkLst>
            <pc:docMk/>
            <pc:sldMk cId="1398292113" sldId="495"/>
            <ac:spMk id="4" creationId="{FD9B7105-EB60-4C1C-B861-DB0D9884F34C}"/>
          </ac:spMkLst>
        </pc:spChg>
      </pc:sldChg>
      <pc:sldChg chg="add">
        <pc:chgData name="Pavithra K" userId="c5189d35e8ee8a95" providerId="LiveId" clId="{4308FA32-12B0-4C89-BB9B-7C2E9E2494EE}" dt="2024-05-29T06:06:23.921" v="74"/>
        <pc:sldMkLst>
          <pc:docMk/>
          <pc:sldMk cId="1711654519" sldId="496"/>
        </pc:sldMkLst>
      </pc:sldChg>
      <pc:sldChg chg="add">
        <pc:chgData name="Pavithra K" userId="c5189d35e8ee8a95" providerId="LiveId" clId="{4308FA32-12B0-4C89-BB9B-7C2E9E2494EE}" dt="2024-05-29T06:06:23.921" v="74"/>
        <pc:sldMkLst>
          <pc:docMk/>
          <pc:sldMk cId="3509446219" sldId="497"/>
        </pc:sldMkLst>
      </pc:sldChg>
      <pc:sldChg chg="add ord">
        <pc:chgData name="Pavithra K" userId="c5189d35e8ee8a95" providerId="LiveId" clId="{4308FA32-12B0-4C89-BB9B-7C2E9E2494EE}" dt="2024-06-04T03:42:52.958" v="296"/>
        <pc:sldMkLst>
          <pc:docMk/>
          <pc:sldMk cId="1882477075" sldId="498"/>
        </pc:sldMkLst>
      </pc:sldChg>
      <pc:sldChg chg="add setBg">
        <pc:chgData name="Pavithra K" userId="c5189d35e8ee8a95" providerId="LiveId" clId="{4308FA32-12B0-4C89-BB9B-7C2E9E2494EE}" dt="2024-05-29T06:06:23.921" v="74"/>
        <pc:sldMkLst>
          <pc:docMk/>
          <pc:sldMk cId="2564434848" sldId="499"/>
        </pc:sldMkLst>
      </pc:sldChg>
      <pc:sldChg chg="add">
        <pc:chgData name="Pavithra K" userId="c5189d35e8ee8a95" providerId="LiveId" clId="{4308FA32-12B0-4C89-BB9B-7C2E9E2494EE}" dt="2024-05-29T06:06:23.921" v="74"/>
        <pc:sldMkLst>
          <pc:docMk/>
          <pc:sldMk cId="1594447197" sldId="500"/>
        </pc:sldMkLst>
      </pc:sldChg>
      <pc:sldChg chg="add">
        <pc:chgData name="Pavithra K" userId="c5189d35e8ee8a95" providerId="LiveId" clId="{4308FA32-12B0-4C89-BB9B-7C2E9E2494EE}" dt="2024-05-29T06:06:23.921" v="74"/>
        <pc:sldMkLst>
          <pc:docMk/>
          <pc:sldMk cId="3694267803" sldId="501"/>
        </pc:sldMkLst>
      </pc:sldChg>
      <pc:sldChg chg="add">
        <pc:chgData name="Pavithra K" userId="c5189d35e8ee8a95" providerId="LiveId" clId="{4308FA32-12B0-4C89-BB9B-7C2E9E2494EE}" dt="2024-05-29T06:06:23.921" v="74"/>
        <pc:sldMkLst>
          <pc:docMk/>
          <pc:sldMk cId="4088201321" sldId="502"/>
        </pc:sldMkLst>
      </pc:sldChg>
      <pc:sldChg chg="add">
        <pc:chgData name="Pavithra K" userId="c5189d35e8ee8a95" providerId="LiveId" clId="{4308FA32-12B0-4C89-BB9B-7C2E9E2494EE}" dt="2024-05-29T06:06:23.921" v="74"/>
        <pc:sldMkLst>
          <pc:docMk/>
          <pc:sldMk cId="565838623" sldId="503"/>
        </pc:sldMkLst>
      </pc:sldChg>
      <pc:sldChg chg="add">
        <pc:chgData name="Pavithra K" userId="c5189d35e8ee8a95" providerId="LiveId" clId="{4308FA32-12B0-4C89-BB9B-7C2E9E2494EE}" dt="2024-05-29T06:06:23.921" v="74"/>
        <pc:sldMkLst>
          <pc:docMk/>
          <pc:sldMk cId="2676247806" sldId="504"/>
        </pc:sldMkLst>
      </pc:sldChg>
      <pc:sldChg chg="add">
        <pc:chgData name="Pavithra K" userId="c5189d35e8ee8a95" providerId="LiveId" clId="{4308FA32-12B0-4C89-BB9B-7C2E9E2494EE}" dt="2024-05-29T06:06:23.921" v="74"/>
        <pc:sldMkLst>
          <pc:docMk/>
          <pc:sldMk cId="3332402802" sldId="505"/>
        </pc:sldMkLst>
      </pc:sldChg>
      <pc:sldChg chg="add">
        <pc:chgData name="Pavithra K" userId="c5189d35e8ee8a95" providerId="LiveId" clId="{4308FA32-12B0-4C89-BB9B-7C2E9E2494EE}" dt="2024-05-29T06:06:23.921" v="74"/>
        <pc:sldMkLst>
          <pc:docMk/>
          <pc:sldMk cId="2787576013" sldId="506"/>
        </pc:sldMkLst>
      </pc:sldChg>
      <pc:sldChg chg="add">
        <pc:chgData name="Pavithra K" userId="c5189d35e8ee8a95" providerId="LiveId" clId="{4308FA32-12B0-4C89-BB9B-7C2E9E2494EE}" dt="2024-05-29T06:06:23.921" v="74"/>
        <pc:sldMkLst>
          <pc:docMk/>
          <pc:sldMk cId="1591714135" sldId="507"/>
        </pc:sldMkLst>
      </pc:sldChg>
      <pc:sldChg chg="add">
        <pc:chgData name="Pavithra K" userId="c5189d35e8ee8a95" providerId="LiveId" clId="{4308FA32-12B0-4C89-BB9B-7C2E9E2494EE}" dt="2024-05-29T06:06:23.921" v="74"/>
        <pc:sldMkLst>
          <pc:docMk/>
          <pc:sldMk cId="1823250898" sldId="508"/>
        </pc:sldMkLst>
      </pc:sldChg>
      <pc:sldChg chg="add">
        <pc:chgData name="Pavithra K" userId="c5189d35e8ee8a95" providerId="LiveId" clId="{4308FA32-12B0-4C89-BB9B-7C2E9E2494EE}" dt="2024-05-29T06:06:23.921" v="74"/>
        <pc:sldMkLst>
          <pc:docMk/>
          <pc:sldMk cId="1139460349" sldId="509"/>
        </pc:sldMkLst>
      </pc:sldChg>
      <pc:sldChg chg="add">
        <pc:chgData name="Pavithra K" userId="c5189d35e8ee8a95" providerId="LiveId" clId="{4308FA32-12B0-4C89-BB9B-7C2E9E2494EE}" dt="2024-05-29T06:06:23.921" v="74"/>
        <pc:sldMkLst>
          <pc:docMk/>
          <pc:sldMk cId="842184227" sldId="510"/>
        </pc:sldMkLst>
      </pc:sldChg>
      <pc:sldChg chg="add">
        <pc:chgData name="Pavithra K" userId="c5189d35e8ee8a95" providerId="LiveId" clId="{4308FA32-12B0-4C89-BB9B-7C2E9E2494EE}" dt="2024-05-29T06:06:23.921" v="74"/>
        <pc:sldMkLst>
          <pc:docMk/>
          <pc:sldMk cId="3435444670" sldId="511"/>
        </pc:sldMkLst>
      </pc:sldChg>
      <pc:sldChg chg="add">
        <pc:chgData name="Pavithra K" userId="c5189d35e8ee8a95" providerId="LiveId" clId="{4308FA32-12B0-4C89-BB9B-7C2E9E2494EE}" dt="2024-05-29T06:06:23.921" v="74"/>
        <pc:sldMkLst>
          <pc:docMk/>
          <pc:sldMk cId="3087852625" sldId="512"/>
        </pc:sldMkLst>
      </pc:sldChg>
      <pc:sldChg chg="add">
        <pc:chgData name="Pavithra K" userId="c5189d35e8ee8a95" providerId="LiveId" clId="{4308FA32-12B0-4C89-BB9B-7C2E9E2494EE}" dt="2024-05-29T06:06:23.921" v="74"/>
        <pc:sldMkLst>
          <pc:docMk/>
          <pc:sldMk cId="636219574" sldId="513"/>
        </pc:sldMkLst>
      </pc:sldChg>
      <pc:sldChg chg="add">
        <pc:chgData name="Pavithra K" userId="c5189d35e8ee8a95" providerId="LiveId" clId="{4308FA32-12B0-4C89-BB9B-7C2E9E2494EE}" dt="2024-05-29T06:06:23.921" v="74"/>
        <pc:sldMkLst>
          <pc:docMk/>
          <pc:sldMk cId="473689088" sldId="514"/>
        </pc:sldMkLst>
      </pc:sldChg>
      <pc:sldChg chg="add">
        <pc:chgData name="Pavithra K" userId="c5189d35e8ee8a95" providerId="LiveId" clId="{4308FA32-12B0-4C89-BB9B-7C2E9E2494EE}" dt="2024-05-29T06:06:23.921" v="74"/>
        <pc:sldMkLst>
          <pc:docMk/>
          <pc:sldMk cId="1832476764" sldId="515"/>
        </pc:sldMkLst>
      </pc:sldChg>
      <pc:sldChg chg="add">
        <pc:chgData name="Pavithra K" userId="c5189d35e8ee8a95" providerId="LiveId" clId="{4308FA32-12B0-4C89-BB9B-7C2E9E2494EE}" dt="2024-05-29T06:06:23.921" v="74"/>
        <pc:sldMkLst>
          <pc:docMk/>
          <pc:sldMk cId="77993847" sldId="516"/>
        </pc:sldMkLst>
      </pc:sldChg>
      <pc:sldChg chg="modSp add mod">
        <pc:chgData name="Pavithra K" userId="c5189d35e8ee8a95" providerId="LiveId" clId="{4308FA32-12B0-4C89-BB9B-7C2E9E2494EE}" dt="2024-05-29T06:06:24.009" v="77" actId="27636"/>
        <pc:sldMkLst>
          <pc:docMk/>
          <pc:sldMk cId="341845525" sldId="517"/>
        </pc:sldMkLst>
        <pc:spChg chg="mod">
          <ac:chgData name="Pavithra K" userId="c5189d35e8ee8a95" providerId="LiveId" clId="{4308FA32-12B0-4C89-BB9B-7C2E9E2494EE}" dt="2024-05-29T06:06:24.009" v="77" actId="27636"/>
          <ac:spMkLst>
            <pc:docMk/>
            <pc:sldMk cId="341845525" sldId="517"/>
            <ac:spMk id="3" creationId="{00000000-0000-0000-0000-000000000000}"/>
          </ac:spMkLst>
        </pc:spChg>
      </pc:sldChg>
      <pc:sldChg chg="add">
        <pc:chgData name="Pavithra K" userId="c5189d35e8ee8a95" providerId="LiveId" clId="{4308FA32-12B0-4C89-BB9B-7C2E9E2494EE}" dt="2024-05-29T06:06:23.921" v="74"/>
        <pc:sldMkLst>
          <pc:docMk/>
          <pc:sldMk cId="3098636685" sldId="518"/>
        </pc:sldMkLst>
      </pc:sldChg>
      <pc:sldChg chg="add">
        <pc:chgData name="Pavithra K" userId="c5189d35e8ee8a95" providerId="LiveId" clId="{4308FA32-12B0-4C89-BB9B-7C2E9E2494EE}" dt="2024-05-29T06:06:23.921" v="74"/>
        <pc:sldMkLst>
          <pc:docMk/>
          <pc:sldMk cId="4053797948" sldId="519"/>
        </pc:sldMkLst>
      </pc:sldChg>
      <pc:sldChg chg="add">
        <pc:chgData name="Pavithra K" userId="c5189d35e8ee8a95" providerId="LiveId" clId="{4308FA32-12B0-4C89-BB9B-7C2E9E2494EE}" dt="2024-05-29T06:06:23.921" v="74"/>
        <pc:sldMkLst>
          <pc:docMk/>
          <pc:sldMk cId="433807432" sldId="520"/>
        </pc:sldMkLst>
      </pc:sldChg>
      <pc:sldChg chg="add">
        <pc:chgData name="Pavithra K" userId="c5189d35e8ee8a95" providerId="LiveId" clId="{4308FA32-12B0-4C89-BB9B-7C2E9E2494EE}" dt="2024-05-29T06:06:23.921" v="74"/>
        <pc:sldMkLst>
          <pc:docMk/>
          <pc:sldMk cId="1042200097" sldId="521"/>
        </pc:sldMkLst>
      </pc:sldChg>
      <pc:sldChg chg="add">
        <pc:chgData name="Pavithra K" userId="c5189d35e8ee8a95" providerId="LiveId" clId="{4308FA32-12B0-4C89-BB9B-7C2E9E2494EE}" dt="2024-05-29T06:06:23.921" v="74"/>
        <pc:sldMkLst>
          <pc:docMk/>
          <pc:sldMk cId="3186658301" sldId="522"/>
        </pc:sldMkLst>
      </pc:sldChg>
      <pc:sldChg chg="add">
        <pc:chgData name="Pavithra K" userId="c5189d35e8ee8a95" providerId="LiveId" clId="{4308FA32-12B0-4C89-BB9B-7C2E9E2494EE}" dt="2024-05-29T06:06:23.921" v="74"/>
        <pc:sldMkLst>
          <pc:docMk/>
          <pc:sldMk cId="3177610944" sldId="523"/>
        </pc:sldMkLst>
      </pc:sldChg>
      <pc:sldChg chg="add">
        <pc:chgData name="Pavithra K" userId="c5189d35e8ee8a95" providerId="LiveId" clId="{4308FA32-12B0-4C89-BB9B-7C2E9E2494EE}" dt="2024-05-29T06:06:23.921" v="74"/>
        <pc:sldMkLst>
          <pc:docMk/>
          <pc:sldMk cId="289812535" sldId="524"/>
        </pc:sldMkLst>
      </pc:sldChg>
      <pc:sldChg chg="add">
        <pc:chgData name="Pavithra K" userId="c5189d35e8ee8a95" providerId="LiveId" clId="{4308FA32-12B0-4C89-BB9B-7C2E9E2494EE}" dt="2024-05-29T06:06:23.921" v="74"/>
        <pc:sldMkLst>
          <pc:docMk/>
          <pc:sldMk cId="435004171" sldId="525"/>
        </pc:sldMkLst>
      </pc:sldChg>
      <pc:sldChg chg="add">
        <pc:chgData name="Pavithra K" userId="c5189d35e8ee8a95" providerId="LiveId" clId="{4308FA32-12B0-4C89-BB9B-7C2E9E2494EE}" dt="2024-05-29T06:06:23.921" v="74"/>
        <pc:sldMkLst>
          <pc:docMk/>
          <pc:sldMk cId="3181952713" sldId="526"/>
        </pc:sldMkLst>
      </pc:sldChg>
      <pc:sldChg chg="modSp add mod">
        <pc:chgData name="Pavithra K" userId="c5189d35e8ee8a95" providerId="LiveId" clId="{4308FA32-12B0-4C89-BB9B-7C2E9E2494EE}" dt="2024-05-29T06:09:33.272" v="94" actId="14100"/>
        <pc:sldMkLst>
          <pc:docMk/>
          <pc:sldMk cId="480028448" sldId="527"/>
        </pc:sldMkLst>
        <pc:spChg chg="mod">
          <ac:chgData name="Pavithra K" userId="c5189d35e8ee8a95" providerId="LiveId" clId="{4308FA32-12B0-4C89-BB9B-7C2E9E2494EE}" dt="2024-05-29T06:09:33.272" v="94" actId="14100"/>
          <ac:spMkLst>
            <pc:docMk/>
            <pc:sldMk cId="480028448" sldId="527"/>
            <ac:spMk id="2" creationId="{949C5763-875D-46DC-8AA5-2E8618096E0B}"/>
          </ac:spMkLst>
        </pc:spChg>
      </pc:sldChg>
      <pc:sldChg chg="add">
        <pc:chgData name="Pavithra K" userId="c5189d35e8ee8a95" providerId="LiveId" clId="{4308FA32-12B0-4C89-BB9B-7C2E9E2494EE}" dt="2024-05-29T06:06:23.921" v="74"/>
        <pc:sldMkLst>
          <pc:docMk/>
          <pc:sldMk cId="1611066376" sldId="528"/>
        </pc:sldMkLst>
      </pc:sldChg>
      <pc:sldChg chg="add">
        <pc:chgData name="Pavithra K" userId="c5189d35e8ee8a95" providerId="LiveId" clId="{4308FA32-12B0-4C89-BB9B-7C2E9E2494EE}" dt="2024-05-29T06:06:23.921" v="74"/>
        <pc:sldMkLst>
          <pc:docMk/>
          <pc:sldMk cId="2317376772" sldId="529"/>
        </pc:sldMkLst>
      </pc:sldChg>
      <pc:sldChg chg="add">
        <pc:chgData name="Pavithra K" userId="c5189d35e8ee8a95" providerId="LiveId" clId="{4308FA32-12B0-4C89-BB9B-7C2E9E2494EE}" dt="2024-05-29T06:06:23.921" v="74"/>
        <pc:sldMkLst>
          <pc:docMk/>
          <pc:sldMk cId="1156786080" sldId="530"/>
        </pc:sldMkLst>
      </pc:sldChg>
      <pc:sldChg chg="add">
        <pc:chgData name="Pavithra K" userId="c5189d35e8ee8a95" providerId="LiveId" clId="{4308FA32-12B0-4C89-BB9B-7C2E9E2494EE}" dt="2024-05-29T06:06:23.921" v="74"/>
        <pc:sldMkLst>
          <pc:docMk/>
          <pc:sldMk cId="3871330069" sldId="531"/>
        </pc:sldMkLst>
      </pc:sldChg>
      <pc:sldChg chg="add">
        <pc:chgData name="Pavithra K" userId="c5189d35e8ee8a95" providerId="LiveId" clId="{4308FA32-12B0-4C89-BB9B-7C2E9E2494EE}" dt="2024-05-29T06:06:23.921" v="74"/>
        <pc:sldMkLst>
          <pc:docMk/>
          <pc:sldMk cId="94662878" sldId="532"/>
        </pc:sldMkLst>
      </pc:sldChg>
      <pc:sldChg chg="add">
        <pc:chgData name="Pavithra K" userId="c5189d35e8ee8a95" providerId="LiveId" clId="{4308FA32-12B0-4C89-BB9B-7C2E9E2494EE}" dt="2024-05-29T06:06:23.921" v="74"/>
        <pc:sldMkLst>
          <pc:docMk/>
          <pc:sldMk cId="2161332808" sldId="533"/>
        </pc:sldMkLst>
      </pc:sldChg>
      <pc:sldChg chg="add">
        <pc:chgData name="Pavithra K" userId="c5189d35e8ee8a95" providerId="LiveId" clId="{4308FA32-12B0-4C89-BB9B-7C2E9E2494EE}" dt="2024-05-29T06:06:23.921" v="74"/>
        <pc:sldMkLst>
          <pc:docMk/>
          <pc:sldMk cId="2787176075" sldId="534"/>
        </pc:sldMkLst>
      </pc:sldChg>
      <pc:sldChg chg="add">
        <pc:chgData name="Pavithra K" userId="c5189d35e8ee8a95" providerId="LiveId" clId="{4308FA32-12B0-4C89-BB9B-7C2E9E2494EE}" dt="2024-05-29T06:06:23.921" v="74"/>
        <pc:sldMkLst>
          <pc:docMk/>
          <pc:sldMk cId="700909420" sldId="535"/>
        </pc:sldMkLst>
      </pc:sldChg>
      <pc:sldChg chg="add">
        <pc:chgData name="Pavithra K" userId="c5189d35e8ee8a95" providerId="LiveId" clId="{4308FA32-12B0-4C89-BB9B-7C2E9E2494EE}" dt="2024-05-29T06:06:23.921" v="74"/>
        <pc:sldMkLst>
          <pc:docMk/>
          <pc:sldMk cId="353402712" sldId="536"/>
        </pc:sldMkLst>
      </pc:sldChg>
      <pc:sldChg chg="modSp add mod">
        <pc:chgData name="Pavithra K" userId="c5189d35e8ee8a95" providerId="LiveId" clId="{4308FA32-12B0-4C89-BB9B-7C2E9E2494EE}" dt="2024-05-31T05:39:13.045" v="294" actId="123"/>
        <pc:sldMkLst>
          <pc:docMk/>
          <pc:sldMk cId="4051418534" sldId="537"/>
        </pc:sldMkLst>
        <pc:spChg chg="mod">
          <ac:chgData name="Pavithra K" userId="c5189d35e8ee8a95" providerId="LiveId" clId="{4308FA32-12B0-4C89-BB9B-7C2E9E2494EE}" dt="2024-05-31T05:39:13.045" v="294" actId="123"/>
          <ac:spMkLst>
            <pc:docMk/>
            <pc:sldMk cId="4051418534" sldId="537"/>
            <ac:spMk id="2" creationId="{00000000-0000-0000-0000-000000000000}"/>
          </ac:spMkLst>
        </pc:spChg>
      </pc:sldChg>
      <pc:sldChg chg="add">
        <pc:chgData name="Pavithra K" userId="c5189d35e8ee8a95" providerId="LiveId" clId="{4308FA32-12B0-4C89-BB9B-7C2E9E2494EE}" dt="2024-05-29T06:06:23.921" v="74"/>
        <pc:sldMkLst>
          <pc:docMk/>
          <pc:sldMk cId="1410489246" sldId="538"/>
        </pc:sldMkLst>
      </pc:sldChg>
      <pc:sldChg chg="add">
        <pc:chgData name="Pavithra K" userId="c5189d35e8ee8a95" providerId="LiveId" clId="{4308FA32-12B0-4C89-BB9B-7C2E9E2494EE}" dt="2024-05-29T06:06:23.921" v="74"/>
        <pc:sldMkLst>
          <pc:docMk/>
          <pc:sldMk cId="3621651657" sldId="539"/>
        </pc:sldMkLst>
      </pc:sldChg>
      <pc:sldChg chg="add">
        <pc:chgData name="Pavithra K" userId="c5189d35e8ee8a95" providerId="LiveId" clId="{4308FA32-12B0-4C89-BB9B-7C2E9E2494EE}" dt="2024-05-29T06:06:23.921" v="74"/>
        <pc:sldMkLst>
          <pc:docMk/>
          <pc:sldMk cId="66127114" sldId="540"/>
        </pc:sldMkLst>
      </pc:sldChg>
      <pc:sldChg chg="add">
        <pc:chgData name="Pavithra K" userId="c5189d35e8ee8a95" providerId="LiveId" clId="{4308FA32-12B0-4C89-BB9B-7C2E9E2494EE}" dt="2024-05-29T06:06:23.921" v="74"/>
        <pc:sldMkLst>
          <pc:docMk/>
          <pc:sldMk cId="3157140148" sldId="541"/>
        </pc:sldMkLst>
      </pc:sldChg>
      <pc:sldChg chg="add">
        <pc:chgData name="Pavithra K" userId="c5189d35e8ee8a95" providerId="LiveId" clId="{4308FA32-12B0-4C89-BB9B-7C2E9E2494EE}" dt="2024-05-29T06:06:23.921" v="74"/>
        <pc:sldMkLst>
          <pc:docMk/>
          <pc:sldMk cId="491636313" sldId="542"/>
        </pc:sldMkLst>
      </pc:sldChg>
      <pc:sldChg chg="add">
        <pc:chgData name="Pavithra K" userId="c5189d35e8ee8a95" providerId="LiveId" clId="{4308FA32-12B0-4C89-BB9B-7C2E9E2494EE}" dt="2024-05-29T06:06:23.921" v="74"/>
        <pc:sldMkLst>
          <pc:docMk/>
          <pc:sldMk cId="1476489484" sldId="543"/>
        </pc:sldMkLst>
      </pc:sldChg>
      <pc:sldChg chg="add">
        <pc:chgData name="Pavithra K" userId="c5189d35e8ee8a95" providerId="LiveId" clId="{4308FA32-12B0-4C89-BB9B-7C2E9E2494EE}" dt="2024-05-29T06:06:23.921" v="74"/>
        <pc:sldMkLst>
          <pc:docMk/>
          <pc:sldMk cId="621267213" sldId="544"/>
        </pc:sldMkLst>
      </pc:sldChg>
      <pc:sldChg chg="add">
        <pc:chgData name="Pavithra K" userId="c5189d35e8ee8a95" providerId="LiveId" clId="{4308FA32-12B0-4C89-BB9B-7C2E9E2494EE}" dt="2024-05-29T06:06:23.921" v="74"/>
        <pc:sldMkLst>
          <pc:docMk/>
          <pc:sldMk cId="4217913194" sldId="545"/>
        </pc:sldMkLst>
      </pc:sldChg>
      <pc:sldChg chg="modSp add mod">
        <pc:chgData name="Pavithra K" userId="c5189d35e8ee8a95" providerId="LiveId" clId="{4308FA32-12B0-4C89-BB9B-7C2E9E2494EE}" dt="2024-05-29T06:06:24.025" v="78" actId="27636"/>
        <pc:sldMkLst>
          <pc:docMk/>
          <pc:sldMk cId="2658166200" sldId="546"/>
        </pc:sldMkLst>
        <pc:spChg chg="mod">
          <ac:chgData name="Pavithra K" userId="c5189d35e8ee8a95" providerId="LiveId" clId="{4308FA32-12B0-4C89-BB9B-7C2E9E2494EE}" dt="2024-05-29T06:06:24.025" v="78" actId="27636"/>
          <ac:spMkLst>
            <pc:docMk/>
            <pc:sldMk cId="2658166200" sldId="546"/>
            <ac:spMk id="3" creationId="{00000000-0000-0000-0000-000000000000}"/>
          </ac:spMkLst>
        </pc:spChg>
      </pc:sldChg>
      <pc:sldChg chg="add">
        <pc:chgData name="Pavithra K" userId="c5189d35e8ee8a95" providerId="LiveId" clId="{4308FA32-12B0-4C89-BB9B-7C2E9E2494EE}" dt="2024-05-29T06:06:23.921" v="74"/>
        <pc:sldMkLst>
          <pc:docMk/>
          <pc:sldMk cId="3378381732" sldId="547"/>
        </pc:sldMkLst>
      </pc:sldChg>
      <pc:sldChg chg="add">
        <pc:chgData name="Pavithra K" userId="c5189d35e8ee8a95" providerId="LiveId" clId="{4308FA32-12B0-4C89-BB9B-7C2E9E2494EE}" dt="2024-05-29T06:06:23.921" v="74"/>
        <pc:sldMkLst>
          <pc:docMk/>
          <pc:sldMk cId="368495304" sldId="548"/>
        </pc:sldMkLst>
      </pc:sldChg>
      <pc:sldChg chg="add">
        <pc:chgData name="Pavithra K" userId="c5189d35e8ee8a95" providerId="LiveId" clId="{4308FA32-12B0-4C89-BB9B-7C2E9E2494EE}" dt="2024-05-29T06:06:23.921" v="74"/>
        <pc:sldMkLst>
          <pc:docMk/>
          <pc:sldMk cId="3098533528" sldId="549"/>
        </pc:sldMkLst>
      </pc:sldChg>
      <pc:sldChg chg="modSp add mod">
        <pc:chgData name="Pavithra K" userId="c5189d35e8ee8a95" providerId="LiveId" clId="{4308FA32-12B0-4C89-BB9B-7C2E9E2494EE}" dt="2024-05-29T06:09:08.032" v="92" actId="255"/>
        <pc:sldMkLst>
          <pc:docMk/>
          <pc:sldMk cId="3038462445" sldId="550"/>
        </pc:sldMkLst>
        <pc:spChg chg="mod">
          <ac:chgData name="Pavithra K" userId="c5189d35e8ee8a95" providerId="LiveId" clId="{4308FA32-12B0-4C89-BB9B-7C2E9E2494EE}" dt="2024-05-29T06:09:08.032" v="92" actId="255"/>
          <ac:spMkLst>
            <pc:docMk/>
            <pc:sldMk cId="3038462445" sldId="550"/>
            <ac:spMk id="2" creationId="{A02B0857-24B1-4F1E-8997-5C18213F4654}"/>
          </ac:spMkLst>
        </pc:spChg>
      </pc:sldChg>
      <pc:sldChg chg="modSp add mod">
        <pc:chgData name="Pavithra K" userId="c5189d35e8ee8a95" providerId="LiveId" clId="{4308FA32-12B0-4C89-BB9B-7C2E9E2494EE}" dt="2024-05-29T06:08:32.939" v="86" actId="255"/>
        <pc:sldMkLst>
          <pc:docMk/>
          <pc:sldMk cId="2353346310" sldId="551"/>
        </pc:sldMkLst>
        <pc:spChg chg="mod">
          <ac:chgData name="Pavithra K" userId="c5189d35e8ee8a95" providerId="LiveId" clId="{4308FA32-12B0-4C89-BB9B-7C2E9E2494EE}" dt="2024-05-29T06:08:32.939" v="86" actId="255"/>
          <ac:spMkLst>
            <pc:docMk/>
            <pc:sldMk cId="2353346310" sldId="551"/>
            <ac:spMk id="2" creationId="{47AF5656-4FDE-4DED-AD60-7809D00C791E}"/>
          </ac:spMkLst>
        </pc:spChg>
      </pc:sldChg>
      <pc:sldChg chg="add">
        <pc:chgData name="Pavithra K" userId="c5189d35e8ee8a95" providerId="LiveId" clId="{4308FA32-12B0-4C89-BB9B-7C2E9E2494EE}" dt="2024-05-29T06:06:23.921" v="74"/>
        <pc:sldMkLst>
          <pc:docMk/>
          <pc:sldMk cId="3159850357" sldId="552"/>
        </pc:sldMkLst>
      </pc:sldChg>
      <pc:sldChg chg="add">
        <pc:chgData name="Pavithra K" userId="c5189d35e8ee8a95" providerId="LiveId" clId="{4308FA32-12B0-4C89-BB9B-7C2E9E2494EE}" dt="2024-05-29T06:06:23.921" v="74"/>
        <pc:sldMkLst>
          <pc:docMk/>
          <pc:sldMk cId="1527741214" sldId="553"/>
        </pc:sldMkLst>
      </pc:sldChg>
      <pc:sldChg chg="add">
        <pc:chgData name="Pavithra K" userId="c5189d35e8ee8a95" providerId="LiveId" clId="{4308FA32-12B0-4C89-BB9B-7C2E9E2494EE}" dt="2024-05-29T06:06:23.921" v="74"/>
        <pc:sldMkLst>
          <pc:docMk/>
          <pc:sldMk cId="985981575" sldId="554"/>
        </pc:sldMkLst>
      </pc:sldChg>
      <pc:sldChg chg="add">
        <pc:chgData name="Pavithra K" userId="c5189d35e8ee8a95" providerId="LiveId" clId="{4308FA32-12B0-4C89-BB9B-7C2E9E2494EE}" dt="2024-05-29T06:06:23.921" v="74"/>
        <pc:sldMkLst>
          <pc:docMk/>
          <pc:sldMk cId="397175283" sldId="555"/>
        </pc:sldMkLst>
      </pc:sldChg>
      <pc:sldChg chg="add">
        <pc:chgData name="Pavithra K" userId="c5189d35e8ee8a95" providerId="LiveId" clId="{4308FA32-12B0-4C89-BB9B-7C2E9E2494EE}" dt="2024-05-29T06:06:23.921" v="74"/>
        <pc:sldMkLst>
          <pc:docMk/>
          <pc:sldMk cId="2025459584" sldId="556"/>
        </pc:sldMkLst>
      </pc:sldChg>
      <pc:sldChg chg="add">
        <pc:chgData name="Pavithra K" userId="c5189d35e8ee8a95" providerId="LiveId" clId="{4308FA32-12B0-4C89-BB9B-7C2E9E2494EE}" dt="2024-05-29T06:06:23.921" v="74"/>
        <pc:sldMkLst>
          <pc:docMk/>
          <pc:sldMk cId="2247338294" sldId="557"/>
        </pc:sldMkLst>
      </pc:sldChg>
      <pc:sldChg chg="add">
        <pc:chgData name="Pavithra K" userId="c5189d35e8ee8a95" providerId="LiveId" clId="{4308FA32-12B0-4C89-BB9B-7C2E9E2494EE}" dt="2024-05-29T06:06:23.921" v="74"/>
        <pc:sldMkLst>
          <pc:docMk/>
          <pc:sldMk cId="432094724" sldId="558"/>
        </pc:sldMkLst>
      </pc:sldChg>
      <pc:sldChg chg="add">
        <pc:chgData name="Pavithra K" userId="c5189d35e8ee8a95" providerId="LiveId" clId="{4308FA32-12B0-4C89-BB9B-7C2E9E2494EE}" dt="2024-05-29T06:06:23.921" v="74"/>
        <pc:sldMkLst>
          <pc:docMk/>
          <pc:sldMk cId="2599622794" sldId="559"/>
        </pc:sldMkLst>
      </pc:sldChg>
      <pc:sldChg chg="add">
        <pc:chgData name="Pavithra K" userId="c5189d35e8ee8a95" providerId="LiveId" clId="{4308FA32-12B0-4C89-BB9B-7C2E9E2494EE}" dt="2024-05-29T06:06:23.921" v="74"/>
        <pc:sldMkLst>
          <pc:docMk/>
          <pc:sldMk cId="541878323" sldId="560"/>
        </pc:sldMkLst>
      </pc:sldChg>
      <pc:sldChg chg="add">
        <pc:chgData name="Pavithra K" userId="c5189d35e8ee8a95" providerId="LiveId" clId="{4308FA32-12B0-4C89-BB9B-7C2E9E2494EE}" dt="2024-05-29T06:06:23.921" v="74"/>
        <pc:sldMkLst>
          <pc:docMk/>
          <pc:sldMk cId="2128337495" sldId="561"/>
        </pc:sldMkLst>
      </pc:sldChg>
      <pc:sldChg chg="add">
        <pc:chgData name="Pavithra K" userId="c5189d35e8ee8a95" providerId="LiveId" clId="{4308FA32-12B0-4C89-BB9B-7C2E9E2494EE}" dt="2024-05-29T06:06:23.921" v="74"/>
        <pc:sldMkLst>
          <pc:docMk/>
          <pc:sldMk cId="3013475554" sldId="562"/>
        </pc:sldMkLst>
      </pc:sldChg>
      <pc:sldChg chg="add">
        <pc:chgData name="Pavithra K" userId="c5189d35e8ee8a95" providerId="LiveId" clId="{4308FA32-12B0-4C89-BB9B-7C2E9E2494EE}" dt="2024-05-29T06:06:23.921" v="74"/>
        <pc:sldMkLst>
          <pc:docMk/>
          <pc:sldMk cId="97699733" sldId="563"/>
        </pc:sldMkLst>
      </pc:sldChg>
      <pc:sldChg chg="add">
        <pc:chgData name="Pavithra K" userId="c5189d35e8ee8a95" providerId="LiveId" clId="{4308FA32-12B0-4C89-BB9B-7C2E9E2494EE}" dt="2024-05-29T06:06:23.921" v="74"/>
        <pc:sldMkLst>
          <pc:docMk/>
          <pc:sldMk cId="2509717089" sldId="564"/>
        </pc:sldMkLst>
      </pc:sldChg>
      <pc:sldChg chg="add">
        <pc:chgData name="Pavithra K" userId="c5189d35e8ee8a95" providerId="LiveId" clId="{4308FA32-12B0-4C89-BB9B-7C2E9E2494EE}" dt="2024-05-29T06:06:23.921" v="74"/>
        <pc:sldMkLst>
          <pc:docMk/>
          <pc:sldMk cId="3876899608" sldId="565"/>
        </pc:sldMkLst>
      </pc:sldChg>
      <pc:sldChg chg="add">
        <pc:chgData name="Pavithra K" userId="c5189d35e8ee8a95" providerId="LiveId" clId="{4308FA32-12B0-4C89-BB9B-7C2E9E2494EE}" dt="2024-05-29T06:06:23.921" v="74"/>
        <pc:sldMkLst>
          <pc:docMk/>
          <pc:sldMk cId="2434743577" sldId="566"/>
        </pc:sldMkLst>
      </pc:sldChg>
      <pc:sldChg chg="add">
        <pc:chgData name="Pavithra K" userId="c5189d35e8ee8a95" providerId="LiveId" clId="{4308FA32-12B0-4C89-BB9B-7C2E9E2494EE}" dt="2024-05-29T06:06:23.921" v="74"/>
        <pc:sldMkLst>
          <pc:docMk/>
          <pc:sldMk cId="3095850598" sldId="567"/>
        </pc:sldMkLst>
      </pc:sldChg>
      <pc:sldChg chg="add">
        <pc:chgData name="Pavithra K" userId="c5189d35e8ee8a95" providerId="LiveId" clId="{4308FA32-12B0-4C89-BB9B-7C2E9E2494EE}" dt="2024-05-29T06:06:23.921" v="74"/>
        <pc:sldMkLst>
          <pc:docMk/>
          <pc:sldMk cId="673395607" sldId="568"/>
        </pc:sldMkLst>
      </pc:sldChg>
      <pc:sldChg chg="add">
        <pc:chgData name="Pavithra K" userId="c5189d35e8ee8a95" providerId="LiveId" clId="{4308FA32-12B0-4C89-BB9B-7C2E9E2494EE}" dt="2024-05-29T06:06:23.921" v="74"/>
        <pc:sldMkLst>
          <pc:docMk/>
          <pc:sldMk cId="1488039854" sldId="569"/>
        </pc:sldMkLst>
      </pc:sldChg>
      <pc:sldChg chg="add">
        <pc:chgData name="Pavithra K" userId="c5189d35e8ee8a95" providerId="LiveId" clId="{4308FA32-12B0-4C89-BB9B-7C2E9E2494EE}" dt="2024-05-29T06:06:23.921" v="74"/>
        <pc:sldMkLst>
          <pc:docMk/>
          <pc:sldMk cId="3014306122" sldId="570"/>
        </pc:sldMkLst>
      </pc:sldChg>
      <pc:sldChg chg="add">
        <pc:chgData name="Pavithra K" userId="c5189d35e8ee8a95" providerId="LiveId" clId="{4308FA32-12B0-4C89-BB9B-7C2E9E2494EE}" dt="2024-05-29T06:06:23.921" v="74"/>
        <pc:sldMkLst>
          <pc:docMk/>
          <pc:sldMk cId="2328545569" sldId="571"/>
        </pc:sldMkLst>
      </pc:sldChg>
      <pc:sldChg chg="add">
        <pc:chgData name="Pavithra K" userId="c5189d35e8ee8a95" providerId="LiveId" clId="{4308FA32-12B0-4C89-BB9B-7C2E9E2494EE}" dt="2024-05-29T06:06:23.921" v="74"/>
        <pc:sldMkLst>
          <pc:docMk/>
          <pc:sldMk cId="4042371190" sldId="572"/>
        </pc:sldMkLst>
      </pc:sldChg>
      <pc:sldChg chg="add">
        <pc:chgData name="Pavithra K" userId="c5189d35e8ee8a95" providerId="LiveId" clId="{4308FA32-12B0-4C89-BB9B-7C2E9E2494EE}" dt="2024-05-29T06:06:23.921" v="74"/>
        <pc:sldMkLst>
          <pc:docMk/>
          <pc:sldMk cId="138669648" sldId="573"/>
        </pc:sldMkLst>
      </pc:sldChg>
      <pc:sldChg chg="add">
        <pc:chgData name="Pavithra K" userId="c5189d35e8ee8a95" providerId="LiveId" clId="{4308FA32-12B0-4C89-BB9B-7C2E9E2494EE}" dt="2024-05-29T06:06:23.921" v="74"/>
        <pc:sldMkLst>
          <pc:docMk/>
          <pc:sldMk cId="1139718349" sldId="574"/>
        </pc:sldMkLst>
      </pc:sldChg>
      <pc:sldChg chg="addSp delSp modSp new">
        <pc:chgData name="Pavithra K" userId="c5189d35e8ee8a95" providerId="LiveId" clId="{4308FA32-12B0-4C89-BB9B-7C2E9E2494EE}" dt="2024-05-29T06:31:18.598" v="116" actId="14100"/>
        <pc:sldMkLst>
          <pc:docMk/>
          <pc:sldMk cId="3679422915" sldId="575"/>
        </pc:sldMkLst>
        <pc:picChg chg="add del mod">
          <ac:chgData name="Pavithra K" userId="c5189d35e8ee8a95" providerId="LiveId" clId="{4308FA32-12B0-4C89-BB9B-7C2E9E2494EE}" dt="2024-05-29T06:27:17.143" v="102"/>
          <ac:picMkLst>
            <pc:docMk/>
            <pc:sldMk cId="3679422915" sldId="575"/>
            <ac:picMk id="1026" creationId="{4C640C9F-2751-465B-A920-A5239BF38617}"/>
          </ac:picMkLst>
        </pc:picChg>
        <pc:picChg chg="add mod">
          <ac:chgData name="Pavithra K" userId="c5189d35e8ee8a95" providerId="LiveId" clId="{4308FA32-12B0-4C89-BB9B-7C2E9E2494EE}" dt="2024-05-29T06:31:18.598" v="116" actId="14100"/>
          <ac:picMkLst>
            <pc:docMk/>
            <pc:sldMk cId="3679422915" sldId="575"/>
            <ac:picMk id="1028" creationId="{524072D9-B6B6-4908-A0AE-F48B5B0B2B79}"/>
          </ac:picMkLst>
        </pc:picChg>
      </pc:sldChg>
      <pc:sldChg chg="addSp modSp new">
        <pc:chgData name="Pavithra K" userId="c5189d35e8ee8a95" providerId="LiveId" clId="{4308FA32-12B0-4C89-BB9B-7C2E9E2494EE}" dt="2024-05-29T06:31:00.059" v="111" actId="14100"/>
        <pc:sldMkLst>
          <pc:docMk/>
          <pc:sldMk cId="3742819095" sldId="576"/>
        </pc:sldMkLst>
        <pc:picChg chg="add mod">
          <ac:chgData name="Pavithra K" userId="c5189d35e8ee8a95" providerId="LiveId" clId="{4308FA32-12B0-4C89-BB9B-7C2E9E2494EE}" dt="2024-05-29T06:31:00.059" v="111" actId="14100"/>
          <ac:picMkLst>
            <pc:docMk/>
            <pc:sldMk cId="3742819095" sldId="576"/>
            <ac:picMk id="2050" creationId="{D873DE00-4D8F-48B6-AC06-4AA39F630A1A}"/>
          </ac:picMkLst>
        </pc:picChg>
      </pc:sldChg>
      <pc:sldChg chg="addSp modSp new mod">
        <pc:chgData name="Pavithra K" userId="c5189d35e8ee8a95" providerId="LiveId" clId="{4308FA32-12B0-4C89-BB9B-7C2E9E2494EE}" dt="2024-05-29T10:16:48.943" v="209" actId="11"/>
        <pc:sldMkLst>
          <pc:docMk/>
          <pc:sldMk cId="947148815" sldId="577"/>
        </pc:sldMkLst>
        <pc:spChg chg="add mod">
          <ac:chgData name="Pavithra K" userId="c5189d35e8ee8a95" providerId="LiveId" clId="{4308FA32-12B0-4C89-BB9B-7C2E9E2494EE}" dt="2024-05-29T10:16:48.943" v="209" actId="11"/>
          <ac:spMkLst>
            <pc:docMk/>
            <pc:sldMk cId="947148815" sldId="577"/>
            <ac:spMk id="2" creationId="{00896E40-C4C1-4EE0-BDE8-F296C4366394}"/>
          </ac:spMkLst>
        </pc:spChg>
      </pc:sldChg>
      <pc:sldChg chg="addSp modSp new mod">
        <pc:chgData name="Pavithra K" userId="c5189d35e8ee8a95" providerId="LiveId" clId="{4308FA32-12B0-4C89-BB9B-7C2E9E2494EE}" dt="2024-05-29T10:33:34.181" v="290" actId="12"/>
        <pc:sldMkLst>
          <pc:docMk/>
          <pc:sldMk cId="3257811041" sldId="578"/>
        </pc:sldMkLst>
        <pc:spChg chg="add mod">
          <ac:chgData name="Pavithra K" userId="c5189d35e8ee8a95" providerId="LiveId" clId="{4308FA32-12B0-4C89-BB9B-7C2E9E2494EE}" dt="2024-05-29T10:33:34.181" v="290" actId="12"/>
          <ac:spMkLst>
            <pc:docMk/>
            <pc:sldMk cId="3257811041" sldId="578"/>
            <ac:spMk id="2" creationId="{F2B487F6-3001-4A48-8E7E-A546977C053F}"/>
          </ac:spMkLst>
        </pc:spChg>
      </pc:sldChg>
      <pc:sldChg chg="addSp delSp modSp new">
        <pc:chgData name="Pavithra K" userId="c5189d35e8ee8a95" providerId="LiveId" clId="{4308FA32-12B0-4C89-BB9B-7C2E9E2494EE}" dt="2024-05-29T10:19:50.396" v="223" actId="14100"/>
        <pc:sldMkLst>
          <pc:docMk/>
          <pc:sldMk cId="172061987" sldId="579"/>
        </pc:sldMkLst>
        <pc:picChg chg="add del mod">
          <ac:chgData name="Pavithra K" userId="c5189d35e8ee8a95" providerId="LiveId" clId="{4308FA32-12B0-4C89-BB9B-7C2E9E2494EE}" dt="2024-05-29T10:18:37.456" v="216" actId="478"/>
          <ac:picMkLst>
            <pc:docMk/>
            <pc:sldMk cId="172061987" sldId="579"/>
            <ac:picMk id="1026" creationId="{6288D634-32D6-4851-8918-39C9205E5A2D}"/>
          </ac:picMkLst>
        </pc:picChg>
        <pc:picChg chg="add mod">
          <ac:chgData name="Pavithra K" userId="c5189d35e8ee8a95" providerId="LiveId" clId="{4308FA32-12B0-4C89-BB9B-7C2E9E2494EE}" dt="2024-05-29T10:19:50.396" v="223" actId="14100"/>
          <ac:picMkLst>
            <pc:docMk/>
            <pc:sldMk cId="172061987" sldId="579"/>
            <ac:picMk id="1028" creationId="{20DC1447-B46B-45A4-AA1F-6D5399054248}"/>
          </ac:picMkLst>
        </pc:picChg>
      </pc:sldChg>
      <pc:sldChg chg="addSp modSp new mod">
        <pc:chgData name="Pavithra K" userId="c5189d35e8ee8a95" providerId="LiveId" clId="{4308FA32-12B0-4C89-BB9B-7C2E9E2494EE}" dt="2024-05-29T10:32:56.531" v="284" actId="20577"/>
        <pc:sldMkLst>
          <pc:docMk/>
          <pc:sldMk cId="2992395400" sldId="580"/>
        </pc:sldMkLst>
        <pc:spChg chg="add mod">
          <ac:chgData name="Pavithra K" userId="c5189d35e8ee8a95" providerId="LiveId" clId="{4308FA32-12B0-4C89-BB9B-7C2E9E2494EE}" dt="2024-05-29T10:32:56.531" v="284" actId="20577"/>
          <ac:spMkLst>
            <pc:docMk/>
            <pc:sldMk cId="2992395400" sldId="580"/>
            <ac:spMk id="2" creationId="{16C8DF02-ED5F-4A28-A358-552D4A7797DD}"/>
          </ac:spMkLst>
        </pc:spChg>
      </pc:sldChg>
      <pc:sldChg chg="addSp delSp modSp new del">
        <pc:chgData name="Pavithra K" userId="c5189d35e8ee8a95" providerId="LiveId" clId="{4308FA32-12B0-4C89-BB9B-7C2E9E2494EE}" dt="2024-05-29T10:27:03.390" v="249" actId="47"/>
        <pc:sldMkLst>
          <pc:docMk/>
          <pc:sldMk cId="1754589540" sldId="581"/>
        </pc:sldMkLst>
        <pc:picChg chg="add del mod">
          <ac:chgData name="Pavithra K" userId="c5189d35e8ee8a95" providerId="LiveId" clId="{4308FA32-12B0-4C89-BB9B-7C2E9E2494EE}" dt="2024-05-29T10:26:59.110" v="248" actId="478"/>
          <ac:picMkLst>
            <pc:docMk/>
            <pc:sldMk cId="1754589540" sldId="581"/>
            <ac:picMk id="2050" creationId="{6E97E53C-1F0F-41EB-A899-14378BC9BE44}"/>
          </ac:picMkLst>
        </pc:picChg>
      </pc:sldChg>
      <pc:sldChg chg="addSp modSp new">
        <pc:chgData name="Pavithra K" userId="c5189d35e8ee8a95" providerId="LiveId" clId="{4308FA32-12B0-4C89-BB9B-7C2E9E2494EE}" dt="2024-05-29T10:26:36.545" v="247" actId="14100"/>
        <pc:sldMkLst>
          <pc:docMk/>
          <pc:sldMk cId="1366439299" sldId="582"/>
        </pc:sldMkLst>
        <pc:picChg chg="add mod">
          <ac:chgData name="Pavithra K" userId="c5189d35e8ee8a95" providerId="LiveId" clId="{4308FA32-12B0-4C89-BB9B-7C2E9E2494EE}" dt="2024-05-29T10:26:36.545" v="247" actId="14100"/>
          <ac:picMkLst>
            <pc:docMk/>
            <pc:sldMk cId="1366439299" sldId="582"/>
            <ac:picMk id="3074" creationId="{17E05321-9376-4D2A-BED9-79852856BFC7}"/>
          </ac:picMkLst>
        </pc:picChg>
      </pc:sldChg>
      <pc:sldChg chg="addSp modSp new mod">
        <pc:chgData name="Pavithra K" userId="c5189d35e8ee8a95" providerId="LiveId" clId="{4308FA32-12B0-4C89-BB9B-7C2E9E2494EE}" dt="2024-05-29T10:29:51.779" v="263" actId="113"/>
        <pc:sldMkLst>
          <pc:docMk/>
          <pc:sldMk cId="3807308174" sldId="583"/>
        </pc:sldMkLst>
        <pc:spChg chg="add mod">
          <ac:chgData name="Pavithra K" userId="c5189d35e8ee8a95" providerId="LiveId" clId="{4308FA32-12B0-4C89-BB9B-7C2E9E2494EE}" dt="2024-05-29T10:29:51.779" v="263" actId="113"/>
          <ac:spMkLst>
            <pc:docMk/>
            <pc:sldMk cId="3807308174" sldId="583"/>
            <ac:spMk id="2" creationId="{57572580-DCA2-4E70-8E60-A832B2639A6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3F735E-DFD4-45D2-A6A6-8A31DA66B0E6}" type="datetimeFigureOut">
              <a:rPr lang="en-IN" smtClean="0"/>
              <a:t>04-06-2024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C69262-DBBF-47C6-A324-8B6B038F7BEF}" type="slidenum">
              <a:rPr lang="en-IN" smtClean="0"/>
              <a:t>‹#›</a:t>
            </a:fld>
            <a:endParaRPr lang="en-IN"/>
          </a:p>
        </p:txBody>
      </p:sp>
    </p:spTree>
    <p:extLst>
      <p:ext uri="{BB962C8B-B14F-4D97-AF65-F5344CB8AC3E}">
        <p14:creationId xmlns:p14="http://schemas.microsoft.com/office/powerpoint/2010/main" val="4044546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C69262-DBBF-47C6-A324-8B6B038F7BEF}" type="slidenum">
              <a:rPr lang="en-IN" smtClean="0"/>
              <a:t>21</a:t>
            </a:fld>
            <a:endParaRPr lang="en-IN"/>
          </a:p>
        </p:txBody>
      </p:sp>
    </p:spTree>
    <p:extLst>
      <p:ext uri="{BB962C8B-B14F-4D97-AF65-F5344CB8AC3E}">
        <p14:creationId xmlns:p14="http://schemas.microsoft.com/office/powerpoint/2010/main" val="1047238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Explain about Purification of</a:t>
            </a:r>
            <a:r>
              <a:rPr lang="en-IN" baseline="0" dirty="0"/>
              <a:t> DNA, </a:t>
            </a:r>
            <a:r>
              <a:rPr lang="en-IN" dirty="0"/>
              <a:t>PCR,</a:t>
            </a:r>
            <a:r>
              <a:rPr lang="en-IN" baseline="0" dirty="0"/>
              <a:t> Gel electrophoresis-banding, DNA profile </a:t>
            </a:r>
            <a:endParaRPr lang="en-IN" dirty="0"/>
          </a:p>
        </p:txBody>
      </p:sp>
      <p:sp>
        <p:nvSpPr>
          <p:cNvPr id="4" name="Slide Number Placeholder 3"/>
          <p:cNvSpPr>
            <a:spLocks noGrp="1"/>
          </p:cNvSpPr>
          <p:nvPr>
            <p:ph type="sldNum" sz="quarter" idx="10"/>
          </p:nvPr>
        </p:nvSpPr>
        <p:spPr/>
        <p:txBody>
          <a:bodyPr/>
          <a:lstStyle/>
          <a:p>
            <a:fld id="{36E0CAA6-3A0D-4747-A5CC-0685A8D24E8B}" type="slidenum">
              <a:rPr lang="en-IN" smtClean="0"/>
              <a:t>147</a:t>
            </a:fld>
            <a:endParaRPr lang="en-IN"/>
          </a:p>
        </p:txBody>
      </p:sp>
    </p:spTree>
    <p:extLst>
      <p:ext uri="{BB962C8B-B14F-4D97-AF65-F5344CB8AC3E}">
        <p14:creationId xmlns:p14="http://schemas.microsoft.com/office/powerpoint/2010/main" val="3474437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Apoptosis-</a:t>
            </a:r>
            <a:r>
              <a:rPr lang="en-IN" baseline="0" dirty="0"/>
              <a:t> regulated form of cell death </a:t>
            </a:r>
            <a:endParaRPr lang="en-IN" dirty="0"/>
          </a:p>
        </p:txBody>
      </p:sp>
      <p:sp>
        <p:nvSpPr>
          <p:cNvPr id="4" name="Slide Number Placeholder 3"/>
          <p:cNvSpPr>
            <a:spLocks noGrp="1"/>
          </p:cNvSpPr>
          <p:nvPr>
            <p:ph type="sldNum" sz="quarter" idx="10"/>
          </p:nvPr>
        </p:nvSpPr>
        <p:spPr/>
        <p:txBody>
          <a:bodyPr/>
          <a:lstStyle/>
          <a:p>
            <a:fld id="{D5299FAA-03E9-4E13-9B49-54B5B0F27183}" type="slidenum">
              <a:rPr lang="en-IN" smtClean="0"/>
              <a:t>162</a:t>
            </a:fld>
            <a:endParaRPr lang="en-IN"/>
          </a:p>
        </p:txBody>
      </p:sp>
    </p:spTree>
    <p:extLst>
      <p:ext uri="{BB962C8B-B14F-4D97-AF65-F5344CB8AC3E}">
        <p14:creationId xmlns:p14="http://schemas.microsoft.com/office/powerpoint/2010/main" val="2614784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Complete</a:t>
            </a:r>
            <a:r>
              <a:rPr lang="en-IN" baseline="0" dirty="0"/>
              <a:t> all amino acids, incomplete- lack 1 or 2 amino acids</a:t>
            </a:r>
            <a:endParaRPr lang="en-IN" dirty="0"/>
          </a:p>
        </p:txBody>
      </p:sp>
      <p:sp>
        <p:nvSpPr>
          <p:cNvPr id="4" name="Slide Number Placeholder 3"/>
          <p:cNvSpPr>
            <a:spLocks noGrp="1"/>
          </p:cNvSpPr>
          <p:nvPr>
            <p:ph type="sldNum" sz="quarter" idx="10"/>
          </p:nvPr>
        </p:nvSpPr>
        <p:spPr/>
        <p:txBody>
          <a:bodyPr/>
          <a:lstStyle/>
          <a:p>
            <a:fld id="{D5299FAA-03E9-4E13-9B49-54B5B0F27183}" type="slidenum">
              <a:rPr lang="en-IN" smtClean="0"/>
              <a:t>164</a:t>
            </a:fld>
            <a:endParaRPr lang="en-IN"/>
          </a:p>
        </p:txBody>
      </p:sp>
    </p:spTree>
    <p:extLst>
      <p:ext uri="{BB962C8B-B14F-4D97-AF65-F5344CB8AC3E}">
        <p14:creationId xmlns:p14="http://schemas.microsoft.com/office/powerpoint/2010/main" val="3275841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D8598-BB96-46DE-81AE-BE6D5B21E7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5508F2-AEF6-4D22-A72D-47A588F917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0FBA05-E9BD-4A28-9181-512B26AD781B}"/>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5" name="Footer Placeholder 4">
            <a:extLst>
              <a:ext uri="{FF2B5EF4-FFF2-40B4-BE49-F238E27FC236}">
                <a16:creationId xmlns:a16="http://schemas.microsoft.com/office/drawing/2014/main" id="{A57A9D1B-6BE5-4A68-ACA8-179B3E60A0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173B71-0A37-4DDE-B3A5-AACB62C3FA2D}"/>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3258441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DA982-A808-40B4-B67D-B65FEE4930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EEA98E-D0A4-40C0-A072-56E029D2B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FBF191-6E8F-4B58-94FC-607D1C455365}"/>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5" name="Footer Placeholder 4">
            <a:extLst>
              <a:ext uri="{FF2B5EF4-FFF2-40B4-BE49-F238E27FC236}">
                <a16:creationId xmlns:a16="http://schemas.microsoft.com/office/drawing/2014/main" id="{E2693427-059B-4959-BE8D-F8EAB49E0E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1D232D-A0A5-42E3-9260-EE9604D73B67}"/>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1515437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8205-145E-4A4B-85D4-FC550BA4B0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00094F-2C62-4C25-B10E-DEB634B7F5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22B952-E3CC-4BB0-B1AA-2D7825B3DAFE}"/>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5" name="Footer Placeholder 4">
            <a:extLst>
              <a:ext uri="{FF2B5EF4-FFF2-40B4-BE49-F238E27FC236}">
                <a16:creationId xmlns:a16="http://schemas.microsoft.com/office/drawing/2014/main" id="{1492293A-0BFF-4CD0-A0E1-E749DF699D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93B28F-8B84-4E09-A553-A87AFA9CA944}"/>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2206830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DEA50-F5CA-491F-B045-04A7C304F1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D6E9C9-23C4-4F8B-8D8D-121202978B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E8333-B4A1-4981-AB76-7E0A0478A0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C9158B-FB98-407A-B934-9F6B3EC26684}"/>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6" name="Footer Placeholder 5">
            <a:extLst>
              <a:ext uri="{FF2B5EF4-FFF2-40B4-BE49-F238E27FC236}">
                <a16:creationId xmlns:a16="http://schemas.microsoft.com/office/drawing/2014/main" id="{5FABD56F-195C-4C6C-BD02-69A0C10DBC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E572A9-6538-404B-BB00-B920924F6FBB}"/>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4099955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9FB9A-E29A-4794-8642-DF15726E8E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C3074A-7D34-4AE9-8AD4-5A42707D68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CE5257-AC97-4395-B717-29C9908C3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7F0A07-6FFD-4F8D-85C1-9CF4B0BDC3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7C961E-7F59-4351-85DD-47894DAEFE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2B027A-F13D-47A8-91AC-451774E204E5}"/>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8" name="Footer Placeholder 7">
            <a:extLst>
              <a:ext uri="{FF2B5EF4-FFF2-40B4-BE49-F238E27FC236}">
                <a16:creationId xmlns:a16="http://schemas.microsoft.com/office/drawing/2014/main" id="{394EED00-D296-470C-983C-A50D1BD2C4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CCB711-147C-421B-8C73-00373C25D3DC}"/>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1277324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3A7D6-C5C9-4A0E-ACB1-775C748001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A2566D-D20B-453B-BA72-50B96721235C}"/>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4" name="Footer Placeholder 3">
            <a:extLst>
              <a:ext uri="{FF2B5EF4-FFF2-40B4-BE49-F238E27FC236}">
                <a16:creationId xmlns:a16="http://schemas.microsoft.com/office/drawing/2014/main" id="{ABCF2ED7-EBE0-4088-BF2C-DC7D425227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6AA327-84BA-472C-97B8-18DA3BD925D3}"/>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976346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FDE2CB-F495-4A01-A00D-D0F729321C0C}"/>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3" name="Footer Placeholder 2">
            <a:extLst>
              <a:ext uri="{FF2B5EF4-FFF2-40B4-BE49-F238E27FC236}">
                <a16:creationId xmlns:a16="http://schemas.microsoft.com/office/drawing/2014/main" id="{B8F97729-9C41-4D4E-A88B-1E04B41D008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545210-B0D4-4253-B763-7D5ACC603DDD}"/>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68503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F65B-1E57-4135-BD0D-A4C05FF7B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9ADE70-2159-41FE-8352-621A40828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3C84A8-0F1A-45E6-A14B-9038E39DC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EDD3B-1068-4866-9FCC-D3515CB4D063}"/>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6" name="Footer Placeholder 5">
            <a:extLst>
              <a:ext uri="{FF2B5EF4-FFF2-40B4-BE49-F238E27FC236}">
                <a16:creationId xmlns:a16="http://schemas.microsoft.com/office/drawing/2014/main" id="{AF85EB98-C0FC-4DA7-B2B0-CD237E6E98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4A7629-9CDD-4B01-8245-78B468187DCD}"/>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190191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E29ED-8CD0-454E-B831-865398D782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66AF5B-0DF8-4E69-B3FB-9A5EBE644C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94B4AE-0EFA-4148-8430-80DC27C52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854C46-4D96-4131-BC4B-B70A2ADDF1D2}"/>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6" name="Footer Placeholder 5">
            <a:extLst>
              <a:ext uri="{FF2B5EF4-FFF2-40B4-BE49-F238E27FC236}">
                <a16:creationId xmlns:a16="http://schemas.microsoft.com/office/drawing/2014/main" id="{1276C47F-5481-42C2-964C-91286B72F3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9B8771-D0D4-4526-A279-114EF6ECF91F}"/>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416426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6388-E76A-47FC-9E35-12574C5611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13B13E-5B02-46E5-9E36-FA5FB91FC9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C1568A-4EED-4144-A156-9EAC80FB86C5}"/>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5" name="Footer Placeholder 4">
            <a:extLst>
              <a:ext uri="{FF2B5EF4-FFF2-40B4-BE49-F238E27FC236}">
                <a16:creationId xmlns:a16="http://schemas.microsoft.com/office/drawing/2014/main" id="{FF58F8AE-2B52-495F-B91C-C3826E7558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AF91C6-53D3-4347-B922-91E2A0891531}"/>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4168236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EEA43C-9848-4C3D-9E19-20AF2F51C5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E5AF1E-27FF-4F69-8AD8-8FD75D726F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4B9114-0E31-48A0-9584-123621214167}"/>
              </a:ext>
            </a:extLst>
          </p:cNvPr>
          <p:cNvSpPr>
            <a:spLocks noGrp="1"/>
          </p:cNvSpPr>
          <p:nvPr>
            <p:ph type="dt" sz="half" idx="10"/>
          </p:nvPr>
        </p:nvSpPr>
        <p:spPr/>
        <p:txBody>
          <a:bodyPr/>
          <a:lstStyle/>
          <a:p>
            <a:fld id="{1C0D880B-71A4-4C89-80D0-5F9F356E66FC}" type="datetimeFigureOut">
              <a:rPr lang="en-IN" smtClean="0"/>
              <a:t>04-06-2024</a:t>
            </a:fld>
            <a:endParaRPr lang="en-IN"/>
          </a:p>
        </p:txBody>
      </p:sp>
      <p:sp>
        <p:nvSpPr>
          <p:cNvPr id="5" name="Footer Placeholder 4">
            <a:extLst>
              <a:ext uri="{FF2B5EF4-FFF2-40B4-BE49-F238E27FC236}">
                <a16:creationId xmlns:a16="http://schemas.microsoft.com/office/drawing/2014/main" id="{941DF252-C77E-4A0A-B1A1-AF7EB564E4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5A6476-B836-4DD0-AAFA-1A9F2338E192}"/>
              </a:ext>
            </a:extLst>
          </p:cNvPr>
          <p:cNvSpPr>
            <a:spLocks noGrp="1"/>
          </p:cNvSpPr>
          <p:nvPr>
            <p:ph type="sldNum" sz="quarter" idx="12"/>
          </p:nvPr>
        </p:nvSpPr>
        <p:spPr/>
        <p:txBody>
          <a:bodyPr/>
          <a:lstStyle/>
          <a:p>
            <a:fld id="{7B1A055C-0954-4E07-9170-C28933252F71}" type="slidenum">
              <a:rPr lang="en-IN" smtClean="0"/>
              <a:t>‹#›</a:t>
            </a:fld>
            <a:endParaRPr lang="en-IN"/>
          </a:p>
        </p:txBody>
      </p:sp>
    </p:spTree>
    <p:extLst>
      <p:ext uri="{BB962C8B-B14F-4D97-AF65-F5344CB8AC3E}">
        <p14:creationId xmlns:p14="http://schemas.microsoft.com/office/powerpoint/2010/main" val="602259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36745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4072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5596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7689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4317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3752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295368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5475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94092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9839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00262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F5E9A7-644C-46B1-B3DE-446352BCB2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4DA1EA-F96F-4EBD-A9E4-096984AEC7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AAEA1D-1F3B-4702-969F-C342ECB441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0D880B-71A4-4C89-80D0-5F9F356E66FC}" type="datetimeFigureOut">
              <a:rPr lang="en-IN" smtClean="0"/>
              <a:t>04-06-2024</a:t>
            </a:fld>
            <a:endParaRPr lang="en-IN"/>
          </a:p>
        </p:txBody>
      </p:sp>
      <p:sp>
        <p:nvSpPr>
          <p:cNvPr id="5" name="Footer Placeholder 4">
            <a:extLst>
              <a:ext uri="{FF2B5EF4-FFF2-40B4-BE49-F238E27FC236}">
                <a16:creationId xmlns:a16="http://schemas.microsoft.com/office/drawing/2014/main" id="{C99B8FB5-3CBD-4B70-A6E8-33BEC76D74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53EBC81-3B5D-4EC1-B121-36A3D44249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1A055C-0954-4E07-9170-C28933252F71}" type="slidenum">
              <a:rPr lang="en-IN" smtClean="0"/>
              <a:t>‹#›</a:t>
            </a:fld>
            <a:endParaRPr lang="en-IN"/>
          </a:p>
        </p:txBody>
      </p:sp>
    </p:spTree>
    <p:extLst>
      <p:ext uri="{BB962C8B-B14F-4D97-AF65-F5344CB8AC3E}">
        <p14:creationId xmlns:p14="http://schemas.microsoft.com/office/powerpoint/2010/main" val="2972296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969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gif"/><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stemcells.nih.gov/info/basics/1.htm" TargetMode="External"/><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ijmsweb.com/stem-cells-current-applications-and-future-prospects/#ref18"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ijmsweb.com/stem-cells-current-applications-and-future-prospects/#ref31" TargetMode="External"/><Relationship Id="rId2" Type="http://schemas.openxmlformats.org/officeDocument/2006/relationships/hyperlink" Target="https://ijmsweb.com/stem-cells-current-applications-and-future-prospects/#ref30" TargetMode="External"/><Relationship Id="rId1" Type="http://schemas.openxmlformats.org/officeDocument/2006/relationships/slideLayout" Target="../slideLayouts/slideLayout7.xml"/><Relationship Id="rId6" Type="http://schemas.openxmlformats.org/officeDocument/2006/relationships/hyperlink" Target="https://ijmsweb.com/stem-cells-current-applications-and-future-prospects/#ref33" TargetMode="External"/><Relationship Id="rId5" Type="http://schemas.openxmlformats.org/officeDocument/2006/relationships/hyperlink" Target="https://ijmsweb.com/stem-cells-current-applications-and-future-prospects/#ref2" TargetMode="External"/><Relationship Id="rId4" Type="http://schemas.openxmlformats.org/officeDocument/2006/relationships/hyperlink" Target="https://ijmsweb.com/stem-cells-current-applications-and-future-prospects/#ref32"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hyperlink" Target="https://www.betterhealth.vic.gov.au/health/healthyliving/fish" TargetMode="External"/><Relationship Id="rId2" Type="http://schemas.openxmlformats.org/officeDocument/2006/relationships/hyperlink" Target="https://www.betterhealth.vic.gov.au/health/healthyliving/Meat-and-poultry" TargetMode="External"/><Relationship Id="rId1" Type="http://schemas.openxmlformats.org/officeDocument/2006/relationships/slideLayout" Target="../slideLayouts/slideLayout18.xml"/><Relationship Id="rId4" Type="http://schemas.openxmlformats.org/officeDocument/2006/relationships/hyperlink" Target="https://www.betterhealth.vic.gov.au/health/healthyliving/cereals-and-wholegrain-foods" TargetMode="Externa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8" Type="http://schemas.openxmlformats.org/officeDocument/2006/relationships/hyperlink" Target="https://microbenotes.com/" TargetMode="External"/><Relationship Id="rId3" Type="http://schemas.openxmlformats.org/officeDocument/2006/relationships/hyperlink" Target="https://microbenotes.com/stem-cells/" TargetMode="External"/><Relationship Id="rId7" Type="http://schemas.openxmlformats.org/officeDocument/2006/relationships/hyperlink" Target="https://my.clevelandclinic.org/health/articles/22464-hormones" TargetMode="External"/><Relationship Id="rId2" Type="http://schemas.openxmlformats.org/officeDocument/2006/relationships/hyperlink" Target="https://ijmsweb.com/stem-cells-current-applications-and-future-prospects/" TargetMode="External"/><Relationship Id="rId1" Type="http://schemas.openxmlformats.org/officeDocument/2006/relationships/slideLayout" Target="../slideLayouts/slideLayout7.xml"/><Relationship Id="rId6" Type="http://schemas.openxmlformats.org/officeDocument/2006/relationships/hyperlink" Target="https://www.vedantu.com/biology/hormones" TargetMode="External"/><Relationship Id="rId5" Type="http://schemas.openxmlformats.org/officeDocument/2006/relationships/hyperlink" Target="https://www.healthlinkbc.ca/healthy-eating-physical-activity/food-and-nutrition/nutrients/vitamins-their-functions-and-sources" TargetMode="External"/><Relationship Id="rId4" Type="http://schemas.openxmlformats.org/officeDocument/2006/relationships/hyperlink" Target="https://www.betterhealth.vic.gov.au/health/healthyliving/Vitamins-and-minerals#:~:text=Vitamins%20and%20minerals%20are%20essential,if%20consumed%20in%20large%20amounts"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microbenotes.com/benedicts-test/"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microbenotes.com/tca-cycle-citric-acid-cycle-or-krebs-cycle/" TargetMode="External"/><Relationship Id="rId2" Type="http://schemas.openxmlformats.org/officeDocument/2006/relationships/hyperlink" Target="https://microbenotes.com/glycolysis/"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hyperlink" Target="https://www.creative-enzymes.com/resource/application-of-enzymes-in-detergent-industry_61.html#:~:text=Proteases%2C%20lipases%2C%20amylases%20are%20the,but%20also%20provide%20environmental%20benefits" TargetMode="External"/><Relationship Id="rId2" Type="http://schemas.openxmlformats.org/officeDocument/2006/relationships/hyperlink" Target="http://ijariie.com/AdminUploadPdf/ENZYMES_IN_TEXTILE_CHEMICAL_PROCESSING_ijariie16204.pdf" TargetMode="External"/><Relationship Id="rId1" Type="http://schemas.openxmlformats.org/officeDocument/2006/relationships/slideLayout" Target="../slideLayouts/slideLayout7.xml"/><Relationship Id="rId4" Type="http://schemas.openxmlformats.org/officeDocument/2006/relationships/hyperlink" Target="https://www.creative-enzymes.com/resource/application-of-enzymes-in-textile-industry_62.html" TargetMode="External"/></Relationships>
</file>

<file path=ppt/slides/_rels/slide9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hyperlink" Target="https://www.geeksforgeeks.org/vitamins/" TargetMode="External"/><Relationship Id="rId2" Type="http://schemas.openxmlformats.org/officeDocument/2006/relationships/hyperlink" Target="https://www.geeksforgeeks.org/hormones/" TargetMode="Externa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eg"/><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g"/><Relationship Id="rId1" Type="http://schemas.openxmlformats.org/officeDocument/2006/relationships/slideLayout" Target="../slideLayouts/slideLayout7.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249A8-F800-446D-A3D8-01C3F7F56494}"/>
              </a:ext>
            </a:extLst>
          </p:cNvPr>
          <p:cNvSpPr>
            <a:spLocks noGrp="1"/>
          </p:cNvSpPr>
          <p:nvPr>
            <p:ph type="ctrTitle"/>
          </p:nvPr>
        </p:nvSpPr>
        <p:spPr>
          <a:xfrm>
            <a:off x="1158240" y="787789"/>
            <a:ext cx="9144000" cy="1055079"/>
          </a:xfrm>
        </p:spPr>
        <p:txBody>
          <a:bodyPr>
            <a:normAutofit/>
          </a:bodyPr>
          <a:lstStyle/>
          <a:p>
            <a:r>
              <a:rPr lang="en-US" sz="6600" b="1" dirty="0">
                <a:latin typeface="Algerian" panose="04020705040A02060702" pitchFamily="82" charset="0"/>
              </a:rPr>
              <a:t>CELLs</a:t>
            </a:r>
            <a:endParaRPr lang="en-IN" sz="6600" b="1" dirty="0">
              <a:latin typeface="Algerian" panose="04020705040A02060702" pitchFamily="82" charset="0"/>
            </a:endParaRPr>
          </a:p>
        </p:txBody>
      </p:sp>
      <p:sp>
        <p:nvSpPr>
          <p:cNvPr id="3" name="Subtitle 2">
            <a:extLst>
              <a:ext uri="{FF2B5EF4-FFF2-40B4-BE49-F238E27FC236}">
                <a16:creationId xmlns:a16="http://schemas.microsoft.com/office/drawing/2014/main" id="{ACD57A43-F1AF-4B2B-BE09-DBABBA2658AC}"/>
              </a:ext>
            </a:extLst>
          </p:cNvPr>
          <p:cNvSpPr>
            <a:spLocks noGrp="1"/>
          </p:cNvSpPr>
          <p:nvPr>
            <p:ph type="subTitle" idx="1"/>
          </p:nvPr>
        </p:nvSpPr>
        <p:spPr>
          <a:xfrm>
            <a:off x="8553157" y="5588821"/>
            <a:ext cx="3242603" cy="1082074"/>
          </a:xfrm>
        </p:spPr>
        <p:txBody>
          <a:bodyPr vert="horz" lIns="91440" tIns="45720" rIns="91440" bIns="45720" rtlCol="0">
            <a:normAutofit fontScale="77500" lnSpcReduction="20000"/>
          </a:bodyPr>
          <a:lstStyle/>
          <a:p>
            <a:pPr>
              <a:spcBef>
                <a:spcPct val="20000"/>
              </a:spcBef>
            </a:pPr>
            <a:r>
              <a:rPr lang="en-IN" sz="3200" dirty="0">
                <a:solidFill>
                  <a:schemeClr val="tx1">
                    <a:tint val="75000"/>
                  </a:schemeClr>
                </a:solidFill>
              </a:rPr>
              <a:t>Pavithra K</a:t>
            </a:r>
          </a:p>
          <a:p>
            <a:pPr>
              <a:spcBef>
                <a:spcPct val="20000"/>
              </a:spcBef>
            </a:pPr>
            <a:r>
              <a:rPr lang="en-IN" sz="3200" dirty="0">
                <a:solidFill>
                  <a:schemeClr val="tx1">
                    <a:tint val="75000"/>
                  </a:schemeClr>
                </a:solidFill>
              </a:rPr>
              <a:t>Assistant professor of </a:t>
            </a:r>
          </a:p>
          <a:p>
            <a:pPr>
              <a:spcBef>
                <a:spcPct val="20000"/>
              </a:spcBef>
            </a:pPr>
            <a:r>
              <a:rPr lang="en-IN" sz="3200" dirty="0">
                <a:solidFill>
                  <a:schemeClr val="tx1">
                    <a:tint val="75000"/>
                  </a:schemeClr>
                </a:solidFill>
              </a:rPr>
              <a:t>Basic Science</a:t>
            </a:r>
          </a:p>
          <a:p>
            <a:pPr>
              <a:spcBef>
                <a:spcPct val="20000"/>
              </a:spcBef>
            </a:pPr>
            <a:endParaRPr lang="en-IN" sz="3200" dirty="0">
              <a:solidFill>
                <a:schemeClr val="tx1">
                  <a:tint val="75000"/>
                </a:schemeClr>
              </a:solidFill>
            </a:endParaRPr>
          </a:p>
        </p:txBody>
      </p:sp>
      <p:pic>
        <p:nvPicPr>
          <p:cNvPr id="1026" name="Picture 2" descr="a computer graphic illustration of a cell floating against a black background, other cells are visible around the edges of the image">
            <a:extLst>
              <a:ext uri="{FF2B5EF4-FFF2-40B4-BE49-F238E27FC236}">
                <a16:creationId xmlns:a16="http://schemas.microsoft.com/office/drawing/2014/main" id="{BEBBF403-CB88-4C31-A2FC-4E266C7DA7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268" y="2043763"/>
            <a:ext cx="6051452" cy="3344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1347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1DD39D-A1EF-438A-95A3-A696A8FCA5A2}"/>
              </a:ext>
            </a:extLst>
          </p:cNvPr>
          <p:cNvSpPr/>
          <p:nvPr/>
        </p:nvSpPr>
        <p:spPr>
          <a:xfrm>
            <a:off x="0" y="0"/>
            <a:ext cx="12070080" cy="700858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300" dirty="0"/>
              <a:t>A structure containing a mass of cytoplasm surrounded by semi-permeable membrane called plasma membrane is called a cell. </a:t>
            </a:r>
          </a:p>
          <a:p>
            <a:pPr marL="342900" indent="-342900" algn="just">
              <a:lnSpc>
                <a:spcPct val="150000"/>
              </a:lnSpc>
              <a:buFont typeface="Arial" panose="020B0604020202020204" pitchFamily="34" charset="0"/>
              <a:buChar char="•"/>
            </a:pPr>
            <a:r>
              <a:rPr lang="en-US" sz="2300" dirty="0"/>
              <a:t>It encloses cytoplasm, many cell organelles along with nucleus or nuclear material. </a:t>
            </a:r>
          </a:p>
          <a:p>
            <a:pPr marL="342900" indent="-342900" algn="just">
              <a:lnSpc>
                <a:spcPct val="150000"/>
              </a:lnSpc>
              <a:buFont typeface="Arial" panose="020B0604020202020204" pitchFamily="34" charset="0"/>
              <a:buChar char="•"/>
            </a:pPr>
            <a:r>
              <a:rPr lang="en-IN" sz="2300" b="1" dirty="0"/>
              <a:t>Robert Hooke </a:t>
            </a:r>
            <a:r>
              <a:rPr lang="en-IN" sz="2300" dirty="0"/>
              <a:t>(1665) </a:t>
            </a:r>
            <a:r>
              <a:rPr lang="en-US" sz="2400" dirty="0"/>
              <a:t>with the help of light microscope discovered that a section of cork is made up of small cavities surrounded by firm walls. He used the term </a:t>
            </a:r>
            <a:r>
              <a:rPr lang="en-US" sz="2400" b="1" dirty="0"/>
              <a:t>“cell” </a:t>
            </a:r>
            <a:r>
              <a:rPr lang="en-US" sz="2400" dirty="0"/>
              <a:t>for the first time to describe his investigations on the “texture of a piece of cork”</a:t>
            </a:r>
            <a:endParaRPr lang="en-IN" sz="2300" dirty="0"/>
          </a:p>
          <a:p>
            <a:pPr marL="342900" indent="-342900" algn="just">
              <a:lnSpc>
                <a:spcPct val="150000"/>
              </a:lnSpc>
              <a:buFont typeface="Arial" panose="020B0604020202020204" pitchFamily="34" charset="0"/>
              <a:buChar char="•"/>
            </a:pPr>
            <a:r>
              <a:rPr lang="en-US" sz="2300" dirty="0"/>
              <a:t>On the basis of organization of membranes, variety and structure of cytoplasmic organelles and complexity of nuclear region, the cells are classified into two types: </a:t>
            </a:r>
            <a:r>
              <a:rPr lang="en-US" sz="2300" b="1" dirty="0"/>
              <a:t>Prokaryotic cell and Eukaryotic cell</a:t>
            </a:r>
            <a:r>
              <a:rPr lang="en-US" sz="2300" dirty="0"/>
              <a:t>. These terms were suggested by</a:t>
            </a:r>
            <a:r>
              <a:rPr lang="en-US" sz="2300" b="1" dirty="0"/>
              <a:t> Hans </a:t>
            </a:r>
            <a:r>
              <a:rPr lang="en-US" sz="2300" b="1" dirty="0" err="1"/>
              <a:t>Ris</a:t>
            </a:r>
            <a:r>
              <a:rPr lang="en-US" sz="2300" b="1" dirty="0"/>
              <a:t> in 1960s. </a:t>
            </a:r>
          </a:p>
          <a:p>
            <a:pPr marL="342900" indent="-342900" algn="just">
              <a:lnSpc>
                <a:spcPct val="150000"/>
              </a:lnSpc>
              <a:buFont typeface="Arial" panose="020B0604020202020204" pitchFamily="34" charset="0"/>
              <a:buChar char="•"/>
            </a:pPr>
            <a:r>
              <a:rPr lang="en-US" sz="2300" dirty="0"/>
              <a:t> A cell was defined as </a:t>
            </a:r>
            <a:r>
              <a:rPr lang="en-US" sz="2300" b="1" dirty="0"/>
              <a:t>“unit of biological activity delimited by a semi permeable membrane and capable of self-reproduction in a medium free of other living systems” </a:t>
            </a:r>
            <a:r>
              <a:rPr lang="en-US" sz="2300" dirty="0"/>
              <a:t>by Loewy and </a:t>
            </a:r>
            <a:r>
              <a:rPr lang="en-US" sz="2300" dirty="0" err="1"/>
              <a:t>Siekevitz</a:t>
            </a:r>
            <a:r>
              <a:rPr lang="en-US" sz="2300" dirty="0"/>
              <a:t> (1963). </a:t>
            </a:r>
          </a:p>
          <a:p>
            <a:pPr marL="342900" indent="-342900" algn="just">
              <a:lnSpc>
                <a:spcPct val="150000"/>
              </a:lnSpc>
              <a:buFont typeface="Arial" panose="020B0604020202020204" pitchFamily="34" charset="0"/>
              <a:buChar char="•"/>
            </a:pPr>
            <a:endParaRPr lang="en-IN" sz="2300" dirty="0"/>
          </a:p>
        </p:txBody>
      </p:sp>
    </p:spTree>
    <p:extLst>
      <p:ext uri="{BB962C8B-B14F-4D97-AF65-F5344CB8AC3E}">
        <p14:creationId xmlns:p14="http://schemas.microsoft.com/office/powerpoint/2010/main" val="2216522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6338DD-AC32-4CD6-9F4A-696FFAFEAAFE}"/>
              </a:ext>
            </a:extLst>
          </p:cNvPr>
          <p:cNvSpPr/>
          <p:nvPr/>
        </p:nvSpPr>
        <p:spPr>
          <a:xfrm>
            <a:off x="0" y="0"/>
            <a:ext cx="12192000" cy="6817251"/>
          </a:xfrm>
          <a:prstGeom prst="rect">
            <a:avLst/>
          </a:prstGeom>
        </p:spPr>
        <p:txBody>
          <a:bodyPr wrap="square">
            <a:spAutoFit/>
          </a:bodyPr>
          <a:lstStyle/>
          <a:p>
            <a:pPr algn="just"/>
            <a:r>
              <a:rPr lang="en-US" sz="2300" b="1" dirty="0">
                <a:solidFill>
                  <a:schemeClr val="accent1">
                    <a:lumMod val="75000"/>
                  </a:schemeClr>
                </a:solidFill>
              </a:rPr>
              <a:t>BASIC COMPONENTS OF PROKARYOTIC AND EUKARYOTIC CELL </a:t>
            </a:r>
          </a:p>
          <a:p>
            <a:pPr algn="just"/>
            <a:r>
              <a:rPr lang="en-US" sz="2300" b="1" dirty="0"/>
              <a:t>Prokaryotic Cells - </a:t>
            </a:r>
            <a:r>
              <a:rPr lang="en-US" sz="2300" dirty="0"/>
              <a:t>primitive cells and have simple structural organization. </a:t>
            </a:r>
          </a:p>
          <a:p>
            <a:pPr marL="342900" indent="-342900" algn="just">
              <a:buFont typeface="Arial" panose="020B0604020202020204" pitchFamily="34" charset="0"/>
              <a:buChar char="•"/>
            </a:pPr>
            <a:r>
              <a:rPr lang="en-US" sz="2300" dirty="0"/>
              <a:t>It has a single membrane system. </a:t>
            </a:r>
          </a:p>
          <a:p>
            <a:pPr marL="342900" indent="-342900" algn="just">
              <a:buFont typeface="Arial" panose="020B0604020202020204" pitchFamily="34" charset="0"/>
              <a:buChar char="•"/>
            </a:pPr>
            <a:r>
              <a:rPr lang="en-US" sz="2300" dirty="0"/>
              <a:t>bacteria, viruses, blue-green algae, mycoplasmas, </a:t>
            </a:r>
            <a:r>
              <a:rPr lang="en-US" sz="2300" dirty="0" err="1"/>
              <a:t>rickettsias</a:t>
            </a:r>
            <a:r>
              <a:rPr lang="en-US" sz="2300" dirty="0"/>
              <a:t>, spirochetes. Cyanobacteria or blue green algae are the largest and most complex prokaryote, in which photosynthesis of higher plants type have evolved. </a:t>
            </a:r>
          </a:p>
          <a:p>
            <a:pPr marL="342900" indent="-342900" algn="just">
              <a:buFont typeface="Arial" panose="020B0604020202020204" pitchFamily="34" charset="0"/>
              <a:buChar char="•"/>
            </a:pPr>
            <a:r>
              <a:rPr lang="en-US" sz="2300" dirty="0"/>
              <a:t>Prokaryotes - in the kingdom Monera and the super kingdom </a:t>
            </a:r>
            <a:r>
              <a:rPr lang="en-US" sz="2300" dirty="0" err="1"/>
              <a:t>Prokaryota</a:t>
            </a:r>
            <a:r>
              <a:rPr lang="en-US" sz="2300" dirty="0"/>
              <a:t>. </a:t>
            </a:r>
          </a:p>
          <a:p>
            <a:pPr marL="342900" indent="-342900" algn="just">
              <a:buFont typeface="Arial" panose="020B0604020202020204" pitchFamily="34" charset="0"/>
              <a:buChar char="•"/>
            </a:pPr>
            <a:r>
              <a:rPr lang="en-US" sz="2300" dirty="0"/>
              <a:t>characters: 1. The size of prokaryotic cells ranges between 1 to 10 µm. They occur in a variety of forms. 2. Prokaryotic cell consists of three main components: </a:t>
            </a:r>
          </a:p>
          <a:p>
            <a:pPr algn="just"/>
            <a:r>
              <a:rPr lang="en-US" sz="2300" dirty="0"/>
              <a:t>(I) </a:t>
            </a:r>
            <a:r>
              <a:rPr lang="en-US" sz="2300" b="1" dirty="0"/>
              <a:t>Outer covering</a:t>
            </a:r>
            <a:r>
              <a:rPr lang="en-US" sz="2300" dirty="0"/>
              <a:t>: It is composed of inner cell or plasma membrane, middle cell wall and outer slimy capsule. </a:t>
            </a:r>
          </a:p>
          <a:p>
            <a:pPr marL="342900" indent="-342900" algn="just">
              <a:buFont typeface="Arial" panose="020B0604020202020204" pitchFamily="34" charset="0"/>
              <a:buChar char="•"/>
            </a:pPr>
            <a:r>
              <a:rPr lang="en-US" sz="2300" dirty="0"/>
              <a:t>a. </a:t>
            </a:r>
            <a:r>
              <a:rPr lang="en-US" sz="2300" b="1" dirty="0"/>
              <a:t>Cell membrane</a:t>
            </a:r>
            <a:r>
              <a:rPr lang="en-US" sz="2300" dirty="0"/>
              <a:t>: Cell membrane made up of lipids and proteins, </a:t>
            </a:r>
          </a:p>
          <a:p>
            <a:pPr marL="800100" lvl="1" indent="-342900" algn="just">
              <a:buSzPct val="90000"/>
              <a:buFont typeface="Arial" panose="020B0604020202020204" pitchFamily="34" charset="0"/>
              <a:buChar char="•"/>
            </a:pPr>
            <a:r>
              <a:rPr lang="en-US" sz="2300" dirty="0"/>
              <a:t>is thin and flexible and controls the movement of molecules across the cell. </a:t>
            </a:r>
          </a:p>
          <a:p>
            <a:pPr marL="800100" lvl="1" indent="-342900" algn="just">
              <a:buSzPct val="90000"/>
              <a:buFont typeface="Arial" panose="020B0604020202020204" pitchFamily="34" charset="0"/>
              <a:buChar char="•"/>
            </a:pPr>
            <a:r>
              <a:rPr lang="en-US" sz="2300" dirty="0"/>
              <a:t>Respiratory enzymes are carried by it for energy releasing reactions. </a:t>
            </a:r>
          </a:p>
          <a:p>
            <a:pPr marL="800100" lvl="1" indent="-342900" algn="just">
              <a:buSzPct val="90000"/>
              <a:buFont typeface="Arial" panose="020B0604020202020204" pitchFamily="34" charset="0"/>
              <a:buChar char="•"/>
            </a:pPr>
            <a:r>
              <a:rPr lang="en-US" sz="2300" dirty="0"/>
              <a:t>Mesosomes, the in-folds of plasma membrane bears respiratory enzymes and these are considered analogous to mitochondria of eukaryotic cells. </a:t>
            </a:r>
          </a:p>
          <a:p>
            <a:pPr marL="800100" lvl="1" indent="-342900" algn="just">
              <a:buSzPct val="90000"/>
              <a:buFont typeface="Arial" panose="020B0604020202020204" pitchFamily="34" charset="0"/>
              <a:buChar char="•"/>
            </a:pPr>
            <a:r>
              <a:rPr lang="en-US" sz="2300" dirty="0"/>
              <a:t>the pigments and enzymes molecules that absorb and convert the light into chemical energy in photosynthetic cells are also associated with the plasma membrane’s in-folds called </a:t>
            </a:r>
            <a:r>
              <a:rPr lang="en-US" sz="2300" b="1" dirty="0"/>
              <a:t>photosynthetic lamella</a:t>
            </a:r>
            <a:r>
              <a:rPr lang="en-US" sz="2300" dirty="0"/>
              <a:t>. </a:t>
            </a:r>
          </a:p>
        </p:txBody>
      </p:sp>
    </p:spTree>
    <p:extLst>
      <p:ext uri="{BB962C8B-B14F-4D97-AF65-F5344CB8AC3E}">
        <p14:creationId xmlns:p14="http://schemas.microsoft.com/office/powerpoint/2010/main" val="997611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41028D-358C-4E20-9F80-5CB7F726F163}"/>
              </a:ext>
            </a:extLst>
          </p:cNvPr>
          <p:cNvSpPr/>
          <p:nvPr/>
        </p:nvSpPr>
        <p:spPr>
          <a:xfrm>
            <a:off x="106680" y="0"/>
            <a:ext cx="11978640" cy="5755422"/>
          </a:xfrm>
          <a:prstGeom prst="rect">
            <a:avLst/>
          </a:prstGeom>
        </p:spPr>
        <p:txBody>
          <a:bodyPr wrap="square">
            <a:spAutoFit/>
          </a:bodyPr>
          <a:lstStyle/>
          <a:p>
            <a:pPr marL="342900" indent="-342900" algn="just">
              <a:buFont typeface="Arial" panose="020B0604020202020204" pitchFamily="34" charset="0"/>
              <a:buChar char="•"/>
            </a:pPr>
            <a:r>
              <a:rPr lang="en-US" sz="2300" dirty="0"/>
              <a:t>b</a:t>
            </a:r>
            <a:r>
              <a:rPr lang="en-US" sz="2300" b="1" dirty="0"/>
              <a:t>. Cell wall </a:t>
            </a:r>
            <a:r>
              <a:rPr lang="en-US" sz="2300" dirty="0"/>
              <a:t>: It is a rigid or semi-rigid non-living structure that surrounds the cell membrane </a:t>
            </a:r>
          </a:p>
          <a:p>
            <a:pPr marL="800100" lvl="1" indent="-342900" algn="just">
              <a:buFont typeface="Arial" panose="020B0604020202020204" pitchFamily="34" charset="0"/>
              <a:buChar char="•"/>
            </a:pPr>
            <a:r>
              <a:rPr lang="en-US" sz="2300" dirty="0"/>
              <a:t>Chemically it is composed of peptidoglycans.</a:t>
            </a:r>
          </a:p>
          <a:p>
            <a:pPr marL="800100" lvl="1" indent="-342900" algn="just">
              <a:buFont typeface="Arial" panose="020B0604020202020204" pitchFamily="34" charset="0"/>
              <a:buChar char="•"/>
            </a:pPr>
            <a:r>
              <a:rPr lang="en-US" sz="2300" dirty="0"/>
              <a:t>Some bacteria such as mycoplasmas lack cell wall.</a:t>
            </a:r>
          </a:p>
          <a:p>
            <a:pPr marL="342900" indent="-342900" algn="just">
              <a:buFont typeface="Arial" panose="020B0604020202020204" pitchFamily="34" charset="0"/>
              <a:buChar char="•"/>
            </a:pPr>
            <a:r>
              <a:rPr lang="en-US" sz="2300" dirty="0"/>
              <a:t>c. </a:t>
            </a:r>
            <a:r>
              <a:rPr lang="en-US" sz="2300" b="1" dirty="0"/>
              <a:t>Slimy capsule</a:t>
            </a:r>
            <a:r>
              <a:rPr lang="en-US" sz="2300" dirty="0"/>
              <a:t>: A gelatinous coat outside the cell wall is the slimy capsule. </a:t>
            </a:r>
          </a:p>
          <a:p>
            <a:pPr algn="just"/>
            <a:r>
              <a:rPr lang="en-US" sz="2300" b="1" dirty="0"/>
              <a:t>(II) Cytoplasm</a:t>
            </a:r>
            <a:r>
              <a:rPr lang="en-US" sz="2300" dirty="0"/>
              <a:t>: Prokaryotic cytoplasm contains proteins, lipids, glycogen and inorganic ions along with enzymes for biosynthetic reactions and ribosomes, tRNA and mRNA for protein synthesis. Prokaryotic cytoplasm has some special features as follows: </a:t>
            </a:r>
          </a:p>
          <a:p>
            <a:pPr marL="342900" indent="-342900" algn="just">
              <a:buFont typeface="Arial" panose="020B0604020202020204" pitchFamily="34" charset="0"/>
              <a:buChar char="•"/>
            </a:pPr>
            <a:r>
              <a:rPr lang="en-US" sz="2300" dirty="0"/>
              <a:t>a. It </a:t>
            </a:r>
            <a:r>
              <a:rPr lang="en-US" sz="2300" b="1" dirty="0"/>
              <a:t>lacks cell organelles </a:t>
            </a:r>
            <a:r>
              <a:rPr lang="en-US" sz="2300" dirty="0"/>
              <a:t>like endoplasmic reticulum, mitochondria, Golgi apparatus, Centrosomes, vacuoles, Lysosomes, microfilaments, intermediate filaments and microtubules.</a:t>
            </a:r>
          </a:p>
          <a:p>
            <a:pPr marL="342900" indent="-342900" algn="just">
              <a:buFont typeface="Arial" panose="020B0604020202020204" pitchFamily="34" charset="0"/>
              <a:buChar char="•"/>
            </a:pPr>
            <a:r>
              <a:rPr lang="en-US" sz="2300" dirty="0"/>
              <a:t>b. The </a:t>
            </a:r>
            <a:r>
              <a:rPr lang="en-US" sz="2300" b="1" dirty="0"/>
              <a:t>only cytoplasmic organelle found in prokaryotic cells is the ribosomes</a:t>
            </a:r>
            <a:r>
              <a:rPr lang="en-US" sz="2300" dirty="0"/>
              <a:t>. They are smaller than eukaryotic ribosomes i.e., </a:t>
            </a:r>
            <a:r>
              <a:rPr lang="en-US" sz="2300" b="1" dirty="0"/>
              <a:t>70S</a:t>
            </a:r>
            <a:r>
              <a:rPr lang="en-US" sz="2300" dirty="0"/>
              <a:t> and lie free in the cytoplasm.</a:t>
            </a:r>
          </a:p>
          <a:p>
            <a:pPr marL="342900" indent="-342900" algn="just">
              <a:buFont typeface="Arial" panose="020B0604020202020204" pitchFamily="34" charset="0"/>
              <a:buChar char="•"/>
            </a:pPr>
            <a:r>
              <a:rPr lang="en-US" sz="2300" dirty="0"/>
              <a:t>c. </a:t>
            </a:r>
            <a:r>
              <a:rPr lang="en-US" sz="2300" b="1" dirty="0"/>
              <a:t>Gas vacuoles </a:t>
            </a:r>
            <a:r>
              <a:rPr lang="en-US" sz="2300" dirty="0"/>
              <a:t>are also formed in some prokaryotic cells. </a:t>
            </a:r>
          </a:p>
          <a:p>
            <a:pPr marL="342900" indent="-342900" algn="just">
              <a:buFont typeface="Arial" panose="020B0604020202020204" pitchFamily="34" charset="0"/>
              <a:buChar char="•"/>
            </a:pPr>
            <a:r>
              <a:rPr lang="en-US" sz="2300" dirty="0"/>
              <a:t>d. They may contain deposits of </a:t>
            </a:r>
            <a:r>
              <a:rPr lang="en-US" sz="2300" b="1" dirty="0"/>
              <a:t>polysaccharides or inorganic phosphates. </a:t>
            </a:r>
          </a:p>
          <a:p>
            <a:pPr marL="342900" indent="-342900" algn="just">
              <a:buFont typeface="Arial" panose="020B0604020202020204" pitchFamily="34" charset="0"/>
              <a:buChar char="•"/>
            </a:pPr>
            <a:r>
              <a:rPr lang="en-US" sz="2300" dirty="0"/>
              <a:t>(III) </a:t>
            </a:r>
            <a:r>
              <a:rPr lang="en-US" sz="2300" b="1" dirty="0"/>
              <a:t>Nucleoid:</a:t>
            </a:r>
            <a:r>
              <a:rPr lang="en-US" sz="2300" dirty="0"/>
              <a:t> Nuclear envelope is absent in prokaryotic cell and the genetic material lies directly into the cytoplasm. Such nuclear material is known as nucleoid. Nucleoid consists of greatly coiled single pro-chromosome.</a:t>
            </a:r>
            <a:endParaRPr lang="en-IN" sz="2300" dirty="0"/>
          </a:p>
        </p:txBody>
      </p:sp>
    </p:spTree>
    <p:extLst>
      <p:ext uri="{BB962C8B-B14F-4D97-AF65-F5344CB8AC3E}">
        <p14:creationId xmlns:p14="http://schemas.microsoft.com/office/powerpoint/2010/main" val="4262438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0" name="Picture 12" descr="Prokaryotic Cell: Definition, Examples, &amp; Structure">
            <a:extLst>
              <a:ext uri="{FF2B5EF4-FFF2-40B4-BE49-F238E27FC236}">
                <a16:creationId xmlns:a16="http://schemas.microsoft.com/office/drawing/2014/main" id="{B7F6537F-19BE-48D1-B53A-48AE654992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500"/>
          <a:stretch/>
        </p:blipFill>
        <p:spPr bwMode="auto">
          <a:xfrm>
            <a:off x="6953250" y="3067050"/>
            <a:ext cx="5215224" cy="373380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16" descr="Prokaryotic Cell Structure &amp; Function">
            <a:extLst>
              <a:ext uri="{FF2B5EF4-FFF2-40B4-BE49-F238E27FC236}">
                <a16:creationId xmlns:a16="http://schemas.microsoft.com/office/drawing/2014/main" id="{842C8035-FB4A-4E7B-8601-9C9112B133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18" descr="Prokaryotic Cell Structure &amp; Function">
            <a:extLst>
              <a:ext uri="{FF2B5EF4-FFF2-40B4-BE49-F238E27FC236}">
                <a16:creationId xmlns:a16="http://schemas.microsoft.com/office/drawing/2014/main" id="{E0B800D3-2564-4E1D-82AE-8D3716E83D99}"/>
              </a:ext>
            </a:extLst>
          </p:cNvPr>
          <p:cNvSpPr>
            <a:spLocks noChangeAspect="1" noChangeArrowheads="1"/>
          </p:cNvSpPr>
          <p:nvPr/>
        </p:nvSpPr>
        <p:spPr bwMode="auto">
          <a:xfrm>
            <a:off x="58674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8" name="Picture 20" descr="Prokaryotic Cells Advanced Higher Biology. Prokaryotic Cells “ pro ” –  before“ karyo “– nucleus Prokaryotes were probably the first forms of life  on earth. - ppt download">
            <a:extLst>
              <a:ext uri="{FF2B5EF4-FFF2-40B4-BE49-F238E27FC236}">
                <a16:creationId xmlns:a16="http://schemas.microsoft.com/office/drawing/2014/main" id="{34F30AB6-370C-4245-87BC-A08342FA3E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83" t="8889"/>
          <a:stretch/>
        </p:blipFill>
        <p:spPr bwMode="auto">
          <a:xfrm>
            <a:off x="23526" y="95250"/>
            <a:ext cx="6929724" cy="67627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2" descr="Differences Between Bacteria and Viruses">
            <a:extLst>
              <a:ext uri="{FF2B5EF4-FFF2-40B4-BE49-F238E27FC236}">
                <a16:creationId xmlns:a16="http://schemas.microsoft.com/office/drawing/2014/main" id="{684744C5-5A84-466E-8571-3D4108466B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923" t="36425" b="2150"/>
          <a:stretch/>
        </p:blipFill>
        <p:spPr bwMode="auto">
          <a:xfrm>
            <a:off x="6953249" y="57150"/>
            <a:ext cx="5215223" cy="2999578"/>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Top 95+ Pictures Label The Transmission Electron Micrograph Of The Cell  Sharp">
            <a:extLst>
              <a:ext uri="{FF2B5EF4-FFF2-40B4-BE49-F238E27FC236}">
                <a16:creationId xmlns:a16="http://schemas.microsoft.com/office/drawing/2014/main" id="{7798E752-9947-4C2E-A0CF-6C5199BC7A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9401" y="2716033"/>
            <a:ext cx="1576673" cy="11211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Liberty Science Center :: COVID-19: Words to Know">
            <a:extLst>
              <a:ext uri="{FF2B5EF4-FFF2-40B4-BE49-F238E27FC236}">
                <a16:creationId xmlns:a16="http://schemas.microsoft.com/office/drawing/2014/main" id="{29172942-8DFE-454C-81DA-A98C618A707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806" t="22065" r="25806" b="29758"/>
          <a:stretch/>
        </p:blipFill>
        <p:spPr bwMode="auto">
          <a:xfrm>
            <a:off x="10896600" y="0"/>
            <a:ext cx="1271872" cy="1121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851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402B1-75FE-4127-A49A-23B7D9438393}"/>
              </a:ext>
            </a:extLst>
          </p:cNvPr>
          <p:cNvSpPr/>
          <p:nvPr/>
        </p:nvSpPr>
        <p:spPr>
          <a:xfrm>
            <a:off x="0" y="0"/>
            <a:ext cx="12192000" cy="6817251"/>
          </a:xfrm>
          <a:prstGeom prst="rect">
            <a:avLst/>
          </a:prstGeom>
        </p:spPr>
        <p:txBody>
          <a:bodyPr wrap="square">
            <a:spAutoFit/>
          </a:bodyPr>
          <a:lstStyle/>
          <a:p>
            <a:pPr algn="just"/>
            <a:r>
              <a:rPr lang="en-US" sz="2300" b="1" dirty="0"/>
              <a:t>Eukaryotic Cells </a:t>
            </a:r>
            <a:r>
              <a:rPr lang="en-US" sz="2300" dirty="0"/>
              <a:t>The internal organization of eukaryotic cell is </a:t>
            </a:r>
            <a:r>
              <a:rPr lang="en-US" sz="2300" b="1" dirty="0"/>
              <a:t>more developed </a:t>
            </a:r>
            <a:r>
              <a:rPr lang="en-US" sz="2300" dirty="0"/>
              <a:t>than prokaryotic cells from which they are believed to have been evolved. </a:t>
            </a:r>
          </a:p>
          <a:p>
            <a:pPr marL="342900" indent="-342900" algn="just">
              <a:buFont typeface="Arial" panose="020B0604020202020204" pitchFamily="34" charset="0"/>
              <a:buChar char="•"/>
            </a:pPr>
            <a:r>
              <a:rPr lang="en-US" sz="2300" dirty="0"/>
              <a:t>They are evolved to have double membrane system. </a:t>
            </a:r>
          </a:p>
          <a:p>
            <a:pPr marL="342900" indent="-342900" algn="just">
              <a:buFont typeface="Arial" panose="020B0604020202020204" pitchFamily="34" charset="0"/>
              <a:buChar char="•"/>
            </a:pPr>
            <a:r>
              <a:rPr lang="en-US" sz="2300" dirty="0"/>
              <a:t>Primary membranes - surrounds the cell, celled cell or plasma membrane </a:t>
            </a:r>
          </a:p>
          <a:p>
            <a:pPr marL="342900" indent="-342900" algn="just">
              <a:buFont typeface="Arial" panose="020B0604020202020204" pitchFamily="34" charset="0"/>
              <a:buChar char="•"/>
            </a:pPr>
            <a:r>
              <a:rPr lang="en-US" sz="2300" dirty="0"/>
              <a:t>Secondary membrane - surround the nucleus and other cellular organelles. </a:t>
            </a:r>
          </a:p>
          <a:p>
            <a:pPr marL="342900" indent="-342900" algn="just">
              <a:buFont typeface="Arial" panose="020B0604020202020204" pitchFamily="34" charset="0"/>
              <a:buChar char="•"/>
            </a:pPr>
            <a:r>
              <a:rPr lang="en-US" sz="2300" dirty="0"/>
              <a:t>Eukaryotic cells occur in protists, fungi, plants and animals. </a:t>
            </a:r>
          </a:p>
          <a:p>
            <a:pPr algn="just"/>
            <a:r>
              <a:rPr lang="en-US" sz="2300" dirty="0"/>
              <a:t>Eukaryotic cells have the following characteristics: </a:t>
            </a:r>
          </a:p>
          <a:p>
            <a:pPr marL="457200" indent="-457200" algn="just">
              <a:buAutoNum type="arabicPeriod"/>
            </a:pPr>
            <a:r>
              <a:rPr lang="en-US" sz="2300" dirty="0"/>
              <a:t>Number- In </a:t>
            </a:r>
            <a:r>
              <a:rPr lang="en-US" sz="2300" b="1" dirty="0"/>
              <a:t>multicellular</a:t>
            </a:r>
            <a:r>
              <a:rPr lang="en-US" sz="2300" dirty="0"/>
              <a:t> organisms the numbers of cells are correlated with the body size. The human blood contains about 30 quadrillion (3 × 1015) corpuscles and a 60 kg human being has about 60 × 1015 cells. </a:t>
            </a:r>
          </a:p>
          <a:p>
            <a:pPr marL="457200" indent="-457200" algn="just">
              <a:buAutoNum type="arabicPeriod"/>
            </a:pPr>
            <a:r>
              <a:rPr lang="en-US" sz="2300" dirty="0"/>
              <a:t>Shape- A cell may be spherical, cuboidal, oval, disc-like, polygonal, columnar, spindle like or irregular. </a:t>
            </a:r>
          </a:p>
          <a:p>
            <a:pPr marL="457200" indent="-457200" algn="just">
              <a:buAutoNum type="arabicPeriod"/>
            </a:pPr>
            <a:r>
              <a:rPr lang="en-US" sz="2300" dirty="0"/>
              <a:t>Size- Most of the eukaryotic cells is microscopic and their size ranges between 10 to 100µm. Nerve cells are the longest having the size of its fiber to be of few meters long. Human cells generally range from 20 to 30µm. </a:t>
            </a:r>
          </a:p>
          <a:p>
            <a:pPr marL="457200" indent="-457200" algn="just">
              <a:buAutoNum type="arabicPeriod"/>
            </a:pPr>
            <a:r>
              <a:rPr lang="en-US" sz="2300" dirty="0"/>
              <a:t>Components of a cell- Three main components of the eukaryotic cells are cell membrane, cytoplasm and nucleus. </a:t>
            </a:r>
          </a:p>
          <a:p>
            <a:pPr algn="just"/>
            <a:r>
              <a:rPr lang="en-US" sz="2300" dirty="0"/>
              <a:t>	(</a:t>
            </a:r>
            <a:r>
              <a:rPr lang="en-US" sz="2300" dirty="0" err="1"/>
              <a:t>i</a:t>
            </a:r>
            <a:r>
              <a:rPr lang="en-US" sz="2300" dirty="0"/>
              <a:t>) Cell membrane- It is composed of lipid-protein complex. </a:t>
            </a:r>
          </a:p>
          <a:p>
            <a:pPr marL="1257300" lvl="2" indent="-342900" algn="just">
              <a:buFont typeface="Arial" panose="020B0604020202020204" pitchFamily="34" charset="0"/>
              <a:buChar char="•"/>
            </a:pPr>
            <a:r>
              <a:rPr lang="en-US" sz="2300" dirty="0"/>
              <a:t>It lacks respiratory enzymes.</a:t>
            </a:r>
            <a:endParaRPr lang="en-IN" sz="2300" dirty="0"/>
          </a:p>
        </p:txBody>
      </p:sp>
    </p:spTree>
    <p:extLst>
      <p:ext uri="{BB962C8B-B14F-4D97-AF65-F5344CB8AC3E}">
        <p14:creationId xmlns:p14="http://schemas.microsoft.com/office/powerpoint/2010/main" val="387933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A8C73E-23BC-4C11-83E0-A692EFFE876E}"/>
              </a:ext>
            </a:extLst>
          </p:cNvPr>
          <p:cNvSpPr/>
          <p:nvPr/>
        </p:nvSpPr>
        <p:spPr>
          <a:xfrm>
            <a:off x="0" y="0"/>
            <a:ext cx="12192000" cy="6324808"/>
          </a:xfrm>
          <a:prstGeom prst="rect">
            <a:avLst/>
          </a:prstGeom>
        </p:spPr>
        <p:txBody>
          <a:bodyPr wrap="square">
            <a:spAutoFit/>
          </a:bodyPr>
          <a:lstStyle/>
          <a:p>
            <a:pPr algn="just"/>
            <a:r>
              <a:rPr lang="en-US" sz="2300" dirty="0"/>
              <a:t>In certain protists, many fungi and all plant cells, the cell membrane is covered by a thick, rigid non-living cell wall that protects and supports the cell. In prokaryotes the cell wall surrounding the plasma membrane has a different structure in comparison to eukaryotes.</a:t>
            </a:r>
          </a:p>
          <a:p>
            <a:pPr algn="just"/>
            <a:r>
              <a:rPr lang="en-US" sz="2400" dirty="0"/>
              <a:t>(ii) Cytoplasm- The cytoplasm or the </a:t>
            </a:r>
            <a:r>
              <a:rPr lang="en-US" sz="2400" dirty="0" err="1"/>
              <a:t>cytosome</a:t>
            </a:r>
            <a:r>
              <a:rPr lang="en-US" sz="2400" dirty="0"/>
              <a:t> is a semi-fluid, homogeneous, translucent ground substance known as cytoplasmic matrix or cytosol which is present between the cell membrane and the nucleus. </a:t>
            </a:r>
          </a:p>
          <a:p>
            <a:pPr algn="just"/>
            <a:r>
              <a:rPr lang="en-US" sz="2400" dirty="0"/>
              <a:t>The eukaryotic cytoplasm has the following features:- </a:t>
            </a:r>
          </a:p>
          <a:p>
            <a:pPr algn="just"/>
            <a:r>
              <a:rPr lang="en-US" sz="2400" dirty="0"/>
              <a:t>a. </a:t>
            </a:r>
            <a:r>
              <a:rPr lang="en-US" sz="2400" b="1" dirty="0"/>
              <a:t>Organelles</a:t>
            </a:r>
            <a:r>
              <a:rPr lang="en-US" sz="2400" dirty="0"/>
              <a:t>: The organized structures having the specific functions and capacity of growth and multiplication in some cases are known as organelles. </a:t>
            </a:r>
          </a:p>
          <a:p>
            <a:pPr lvl="1" algn="just"/>
            <a:r>
              <a:rPr lang="en-US" sz="2400" dirty="0"/>
              <a:t>These organelles are described as follows: I. </a:t>
            </a:r>
            <a:r>
              <a:rPr lang="en-US" sz="2400" b="1" dirty="0"/>
              <a:t>Mitochondria:</a:t>
            </a:r>
            <a:r>
              <a:rPr lang="en-US" sz="2400" dirty="0"/>
              <a:t> The rod like or globule shaped structures scattered in the cytoplasm are found singly or in groups. It contain </a:t>
            </a:r>
            <a:r>
              <a:rPr lang="en-US" sz="2400" b="1" dirty="0"/>
              <a:t>DNA molecules and ribosomes</a:t>
            </a:r>
            <a:r>
              <a:rPr lang="en-US" sz="2400" dirty="0"/>
              <a:t>, they synthesize certain proteins. They produce the </a:t>
            </a:r>
            <a:r>
              <a:rPr lang="en-US" sz="2400" b="1" dirty="0"/>
              <a:t>energy </a:t>
            </a:r>
            <a:r>
              <a:rPr lang="en-US" sz="2400" dirty="0"/>
              <a:t>and reserve it in the form of </a:t>
            </a:r>
            <a:r>
              <a:rPr lang="en-US" sz="2400" b="1" dirty="0"/>
              <a:t>adenosine triphosphate (ATP).  Power house of cell.</a:t>
            </a:r>
          </a:p>
          <a:p>
            <a:pPr lvl="1" algn="just"/>
            <a:r>
              <a:rPr lang="en-US" sz="2400" dirty="0"/>
              <a:t>II. </a:t>
            </a:r>
            <a:r>
              <a:rPr lang="en-US" sz="2400" b="1" dirty="0"/>
              <a:t>Centrosomes</a:t>
            </a:r>
            <a:r>
              <a:rPr lang="en-US" sz="2400" dirty="0"/>
              <a:t>: near the nucleus, that includes a specialized portion of cytoplasm, called centrospheres. Its matrix is called </a:t>
            </a:r>
            <a:r>
              <a:rPr lang="en-US" sz="2400" dirty="0" err="1"/>
              <a:t>kinoplasm</a:t>
            </a:r>
            <a:r>
              <a:rPr lang="en-US" sz="2400" dirty="0"/>
              <a:t> that bears two rounded bodies the “centrioles”. Both the centrioles are arranged at right angle to each other. Centrioles form the </a:t>
            </a:r>
            <a:r>
              <a:rPr lang="en-US" sz="2400" b="1" dirty="0"/>
              <a:t>spindles of microtubules at the time of cell division</a:t>
            </a:r>
            <a:r>
              <a:rPr lang="en-US" sz="2400" dirty="0"/>
              <a:t>. Centrioles are </a:t>
            </a:r>
            <a:r>
              <a:rPr lang="en-US" sz="2400" b="1" dirty="0"/>
              <a:t>absent in plant cell.</a:t>
            </a:r>
            <a:endParaRPr lang="en-IN" sz="2300" dirty="0"/>
          </a:p>
        </p:txBody>
      </p:sp>
    </p:spTree>
    <p:extLst>
      <p:ext uri="{BB962C8B-B14F-4D97-AF65-F5344CB8AC3E}">
        <p14:creationId xmlns:p14="http://schemas.microsoft.com/office/powerpoint/2010/main" val="1326069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E21F51-FDB8-4929-A2D9-F87FBB3F8CAB}"/>
              </a:ext>
            </a:extLst>
          </p:cNvPr>
          <p:cNvSpPr/>
          <p:nvPr/>
        </p:nvSpPr>
        <p:spPr>
          <a:xfrm>
            <a:off x="0" y="0"/>
            <a:ext cx="12192000" cy="5555367"/>
          </a:xfrm>
          <a:prstGeom prst="rect">
            <a:avLst/>
          </a:prstGeom>
        </p:spPr>
        <p:txBody>
          <a:bodyPr wrap="square">
            <a:spAutoFit/>
          </a:bodyPr>
          <a:lstStyle/>
          <a:p>
            <a:pPr algn="just"/>
            <a:r>
              <a:rPr lang="en-US" sz="2300" dirty="0"/>
              <a:t>III. </a:t>
            </a:r>
            <a:r>
              <a:rPr lang="en-US" sz="2300" b="1" dirty="0"/>
              <a:t>Golgi bodies: </a:t>
            </a:r>
            <a:r>
              <a:rPr lang="en-US" sz="2300" dirty="0"/>
              <a:t>These are the stack of flattened parallel-arranged sacs and vesicles found in association of endoplasmic reticulum. In plant cells the Golgi complex is called </a:t>
            </a:r>
            <a:r>
              <a:rPr lang="en-US" sz="2300" dirty="0" err="1"/>
              <a:t>dictyosome</a:t>
            </a:r>
            <a:r>
              <a:rPr lang="en-US" sz="2300" dirty="0"/>
              <a:t> that secretes required materials for the formation of cell. The functions as a </a:t>
            </a:r>
            <a:r>
              <a:rPr lang="en-US" sz="2300" b="1" dirty="0"/>
              <a:t>factory in which proteins received from the ER are further processed and sorted for transport </a:t>
            </a:r>
            <a:r>
              <a:rPr lang="en-US" sz="2300" dirty="0"/>
              <a:t>to their eventual destinations: lysosomes, the plasma membrane, or secretion.</a:t>
            </a:r>
          </a:p>
          <a:p>
            <a:pPr algn="just"/>
            <a:r>
              <a:rPr lang="en-US" sz="2400" b="1" dirty="0"/>
              <a:t>IV. Plastids</a:t>
            </a:r>
            <a:r>
              <a:rPr lang="en-US" sz="2400" dirty="0"/>
              <a:t>: These organelles are </a:t>
            </a:r>
            <a:r>
              <a:rPr lang="en-US" sz="2400" b="1" dirty="0"/>
              <a:t>found in plant cells and are absent in animal cells</a:t>
            </a:r>
            <a:r>
              <a:rPr lang="en-US" sz="2400" dirty="0"/>
              <a:t>. They may be colored like chloroplast or chromoplasts or colorless like leucoplast. </a:t>
            </a:r>
          </a:p>
          <a:p>
            <a:pPr algn="just"/>
            <a:r>
              <a:rPr lang="en-US" sz="2400" dirty="0"/>
              <a:t>V. </a:t>
            </a:r>
            <a:r>
              <a:rPr lang="en-US" sz="2400" b="1" dirty="0"/>
              <a:t>Ribosome’s</a:t>
            </a:r>
            <a:r>
              <a:rPr lang="en-US" sz="2400" dirty="0"/>
              <a:t>: Ribosome is the minute spherical structures that originate in nucleolus and are found attached with the membrane of endoplasmic reticulum and in the cytoplasm. They are mainly composed of </a:t>
            </a:r>
            <a:r>
              <a:rPr lang="en-US" sz="2400" b="1" dirty="0"/>
              <a:t>ribonucleic acids (RNA) and protein</a:t>
            </a:r>
            <a:r>
              <a:rPr lang="en-US" sz="2400" dirty="0"/>
              <a:t>. They are mainly responsible for </a:t>
            </a:r>
            <a:r>
              <a:rPr lang="en-US" sz="2400" b="1" dirty="0"/>
              <a:t>protein synthesis</a:t>
            </a:r>
          </a:p>
          <a:p>
            <a:pPr algn="just"/>
            <a:r>
              <a:rPr lang="en-US" sz="2400" dirty="0"/>
              <a:t>	</a:t>
            </a:r>
          </a:p>
          <a:p>
            <a:pPr algn="just"/>
            <a:r>
              <a:rPr lang="en-US" sz="2400" b="1" dirty="0"/>
              <a:t>B. Inclusions</a:t>
            </a:r>
            <a:r>
              <a:rPr lang="en-US" sz="2400" dirty="0"/>
              <a:t>: These are the non-living or </a:t>
            </a:r>
            <a:r>
              <a:rPr lang="en-US" sz="2400" dirty="0" err="1"/>
              <a:t>deutoplasmic</a:t>
            </a:r>
            <a:r>
              <a:rPr lang="en-US" sz="2400" dirty="0"/>
              <a:t> structures which are incapable of growth and multiplication. such as starch grains, glycogen granules, aleurone grains, fat droplets, pigment granules and inorganic crystals.</a:t>
            </a:r>
            <a:endParaRPr lang="en-IN" sz="2300" dirty="0"/>
          </a:p>
        </p:txBody>
      </p:sp>
    </p:spTree>
    <p:extLst>
      <p:ext uri="{BB962C8B-B14F-4D97-AF65-F5344CB8AC3E}">
        <p14:creationId xmlns:p14="http://schemas.microsoft.com/office/powerpoint/2010/main" val="183085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D615ED-7E04-4E78-A3D0-C59B3FEE9A46}"/>
              </a:ext>
            </a:extLst>
          </p:cNvPr>
          <p:cNvSpPr/>
          <p:nvPr/>
        </p:nvSpPr>
        <p:spPr>
          <a:xfrm>
            <a:off x="0" y="0"/>
            <a:ext cx="12015216" cy="2215991"/>
          </a:xfrm>
          <a:prstGeom prst="rect">
            <a:avLst/>
          </a:prstGeom>
        </p:spPr>
        <p:txBody>
          <a:bodyPr wrap="square">
            <a:spAutoFit/>
          </a:bodyPr>
          <a:lstStyle/>
          <a:p>
            <a:pPr algn="just"/>
            <a:r>
              <a:rPr lang="en-US" sz="2300" dirty="0"/>
              <a:t>	C. </a:t>
            </a:r>
            <a:r>
              <a:rPr lang="en-US" sz="2300" b="1" dirty="0"/>
              <a:t>Cytoplasm</a:t>
            </a:r>
            <a:r>
              <a:rPr lang="en-US" sz="2300" dirty="0"/>
              <a:t> the gelatinous liquid that fills the inside of a cell. It is composed of water, salts, and various organic molecules. </a:t>
            </a:r>
          </a:p>
          <a:p>
            <a:pPr algn="just"/>
            <a:r>
              <a:rPr lang="en-US" sz="2300" dirty="0"/>
              <a:t>	D. </a:t>
            </a:r>
            <a:r>
              <a:rPr lang="en-US" sz="2300" b="1" dirty="0"/>
              <a:t>Nucleus</a:t>
            </a:r>
            <a:r>
              <a:rPr lang="en-US" sz="2300" dirty="0"/>
              <a:t>: In a eukaryotic cell the genetic material is enclosed by a distinct nuclear envelope that forms a prominent spherical organelle the “Nucleus”. The nuclear envelope bears pores for the exchange of materials between the cytoplasm and the nucleoplasm.</a:t>
            </a:r>
          </a:p>
          <a:p>
            <a:pPr algn="just"/>
            <a:endParaRPr lang="en-IN" sz="2300" dirty="0"/>
          </a:p>
        </p:txBody>
      </p:sp>
      <p:pic>
        <p:nvPicPr>
          <p:cNvPr id="1026" name="Picture 2" descr="Real Cell Gallery">
            <a:extLst>
              <a:ext uri="{FF2B5EF4-FFF2-40B4-BE49-F238E27FC236}">
                <a16:creationId xmlns:a16="http://schemas.microsoft.com/office/drawing/2014/main" id="{971C069E-E048-428E-B6B9-C43AE8970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84" y="1755837"/>
            <a:ext cx="6297169" cy="49192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lant Cell Model: Nutrition, Parts &amp; Project">
            <a:extLst>
              <a:ext uri="{FF2B5EF4-FFF2-40B4-BE49-F238E27FC236}">
                <a16:creationId xmlns:a16="http://schemas.microsoft.com/office/drawing/2014/main" id="{E16C08B3-F54B-4D21-8B1A-AF21E3A1DE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10"/>
          <a:stretch/>
        </p:blipFill>
        <p:spPr bwMode="auto">
          <a:xfrm>
            <a:off x="6473953" y="1755837"/>
            <a:ext cx="5541263" cy="5102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288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0730C8F2-4E12-40D6-9515-BB3F09E44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164" y="0"/>
            <a:ext cx="11679381" cy="6815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743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8EF12C3A-68F8-4B95-913A-68D61D6BFE7F}"/>
              </a:ext>
            </a:extLst>
          </p:cNvPr>
          <p:cNvGraphicFramePr>
            <a:graphicFrameLocks noGrp="1"/>
          </p:cNvGraphicFramePr>
          <p:nvPr>
            <p:extLst>
              <p:ext uri="{D42A27DB-BD31-4B8C-83A1-F6EECF244321}">
                <p14:modId xmlns:p14="http://schemas.microsoft.com/office/powerpoint/2010/main" val="1727233612"/>
              </p:ext>
            </p:extLst>
          </p:nvPr>
        </p:nvGraphicFramePr>
        <p:xfrm>
          <a:off x="0" y="-1"/>
          <a:ext cx="12192000" cy="6829855"/>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2847508424"/>
                    </a:ext>
                  </a:extLst>
                </a:gridCol>
                <a:gridCol w="6096000">
                  <a:extLst>
                    <a:ext uri="{9D8B030D-6E8A-4147-A177-3AD203B41FA5}">
                      <a16:colId xmlns:a16="http://schemas.microsoft.com/office/drawing/2014/main" val="1930391296"/>
                    </a:ext>
                  </a:extLst>
                </a:gridCol>
              </a:tblGrid>
              <a:tr h="2945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b="1" dirty="0"/>
                        <a:t>Prokaryotic Cells</a:t>
                      </a:r>
                      <a:endParaRPr lang="en-IN" sz="23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b="1" dirty="0"/>
                        <a:t>Eukaryotic Cells </a:t>
                      </a:r>
                      <a:endParaRPr lang="en-IN" sz="2300" b="1" dirty="0"/>
                    </a:p>
                  </a:txBody>
                  <a:tcPr/>
                </a:tc>
                <a:extLst>
                  <a:ext uri="{0D108BD9-81ED-4DB2-BD59-A6C34878D82A}">
                    <a16:rowId xmlns:a16="http://schemas.microsoft.com/office/drawing/2014/main" val="1323806749"/>
                  </a:ext>
                </a:extLst>
              </a:tr>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300" dirty="0"/>
                        <a:t>1. A prokaryotic cell is surrounded by a single membrane layer. </a:t>
                      </a:r>
                      <a:endParaRPr lang="en-IN" sz="230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300" dirty="0"/>
                        <a:t>1. A eukaryotic cell is surrounded by a double membrane layer</a:t>
                      </a:r>
                      <a:endParaRPr lang="en-IN" sz="2300" dirty="0"/>
                    </a:p>
                  </a:txBody>
                  <a:tcPr/>
                </a:tc>
                <a:extLst>
                  <a:ext uri="{0D108BD9-81ED-4DB2-BD59-A6C34878D82A}">
                    <a16:rowId xmlns:a16="http://schemas.microsoft.com/office/drawing/2014/main" val="3217661552"/>
                  </a:ext>
                </a:extLst>
              </a:tr>
              <a:tr h="672895">
                <a:tc>
                  <a:txBody>
                    <a:bodyPr/>
                    <a:lstStyle/>
                    <a:p>
                      <a:pPr algn="just"/>
                      <a:r>
                        <a:rPr lang="en-US" sz="2300" dirty="0"/>
                        <a:t>2. In most cases the cell wall surrounds the plasma membrane and it is composed of carbohydrates, lipids proteins and certain amino acids. </a:t>
                      </a:r>
                      <a:endParaRPr lang="en-IN" sz="2300" dirty="0"/>
                    </a:p>
                  </a:txBody>
                  <a:tcPr/>
                </a:tc>
                <a:tc>
                  <a:txBody>
                    <a:bodyPr/>
                    <a:lstStyle/>
                    <a:p>
                      <a:pPr algn="just"/>
                      <a:r>
                        <a:rPr lang="en-US" sz="2300" dirty="0"/>
                        <a:t>2. Cell wall is present in protists, most fungi and plants and is composed of chitin in most fungi and or cellulose in others.</a:t>
                      </a:r>
                      <a:endParaRPr lang="en-IN" sz="2300" dirty="0"/>
                    </a:p>
                  </a:txBody>
                  <a:tcPr/>
                </a:tc>
                <a:extLst>
                  <a:ext uri="{0D108BD9-81ED-4DB2-BD59-A6C34878D82A}">
                    <a16:rowId xmlns:a16="http://schemas.microsoft.com/office/drawing/2014/main" val="205345125"/>
                  </a:ext>
                </a:extLst>
              </a:tr>
              <a:tr h="672895">
                <a:tc>
                  <a:txBody>
                    <a:bodyPr/>
                    <a:lstStyle/>
                    <a:p>
                      <a:pPr algn="just"/>
                      <a:r>
                        <a:rPr lang="en-US" sz="2300" dirty="0"/>
                        <a:t>3. Respiratory enzymes are present on cell membranes. </a:t>
                      </a:r>
                      <a:endParaRPr lang="en-IN" sz="2300" dirty="0"/>
                    </a:p>
                  </a:txBody>
                  <a:tcPr/>
                </a:tc>
                <a:tc>
                  <a:txBody>
                    <a:bodyPr/>
                    <a:lstStyle/>
                    <a:p>
                      <a:pPr algn="just"/>
                      <a:r>
                        <a:rPr lang="en-US" sz="2300" dirty="0"/>
                        <a:t>3. Absent on the cell membrane </a:t>
                      </a:r>
                      <a:endParaRPr lang="en-IN" sz="2300" dirty="0"/>
                    </a:p>
                  </a:txBody>
                  <a:tcPr/>
                </a:tc>
                <a:extLst>
                  <a:ext uri="{0D108BD9-81ED-4DB2-BD59-A6C34878D82A}">
                    <a16:rowId xmlns:a16="http://schemas.microsoft.com/office/drawing/2014/main" val="3624176088"/>
                  </a:ext>
                </a:extLst>
              </a:tr>
              <a:tr h="672895">
                <a:tc>
                  <a:txBody>
                    <a:bodyPr/>
                    <a:lstStyle/>
                    <a:p>
                      <a:pPr algn="just"/>
                      <a:r>
                        <a:rPr lang="en-US" sz="2300" dirty="0"/>
                        <a:t>4. Thylakoids occurs free in cytoplasm. </a:t>
                      </a:r>
                      <a:endParaRPr lang="en-IN" sz="2300" dirty="0"/>
                    </a:p>
                  </a:txBody>
                  <a:tcPr/>
                </a:tc>
                <a:tc>
                  <a:txBody>
                    <a:bodyPr/>
                    <a:lstStyle/>
                    <a:p>
                      <a:pPr algn="just"/>
                      <a:r>
                        <a:rPr lang="en-US" sz="2300" dirty="0"/>
                        <a:t>4. They occur within the chloroplast</a:t>
                      </a:r>
                      <a:endParaRPr lang="en-IN" sz="2300" dirty="0"/>
                    </a:p>
                  </a:txBody>
                  <a:tcPr/>
                </a:tc>
                <a:extLst>
                  <a:ext uri="{0D108BD9-81ED-4DB2-BD59-A6C34878D82A}">
                    <a16:rowId xmlns:a16="http://schemas.microsoft.com/office/drawing/2014/main" val="3791660605"/>
                  </a:ext>
                </a:extLst>
              </a:tr>
              <a:tr h="672895">
                <a:tc>
                  <a:txBody>
                    <a:bodyPr/>
                    <a:lstStyle/>
                    <a:p>
                      <a:pPr algn="just"/>
                      <a:r>
                        <a:rPr lang="en-US" sz="2300" dirty="0"/>
                        <a:t>5. Cytoplasm lacks organelles like centrosomes, endoplasmic reticulum, mitochondria, Golgi apparatus, microfilaments, intermediate filaments, microtubules </a:t>
                      </a:r>
                      <a:r>
                        <a:rPr lang="en-US" sz="2300" kern="1200" dirty="0">
                          <a:solidFill>
                            <a:schemeClr val="tx1"/>
                          </a:solidFill>
                          <a:latin typeface="+mn-lt"/>
                          <a:ea typeface="+mn-ea"/>
                          <a:cs typeface="+mn-cs"/>
                        </a:rPr>
                        <a:t>and micro bodies. </a:t>
                      </a:r>
                      <a:r>
                        <a:rPr lang="en-US" sz="2300" dirty="0"/>
                        <a:t>While ribosomes are present</a:t>
                      </a:r>
                      <a:endParaRPr lang="en-IN" sz="2300" dirty="0"/>
                    </a:p>
                  </a:txBody>
                  <a:tcPr/>
                </a:tc>
                <a:tc>
                  <a:txBody>
                    <a:bodyPr/>
                    <a:lstStyle/>
                    <a:p>
                      <a:pPr algn="just"/>
                      <a:r>
                        <a:rPr lang="en-US" sz="2300" dirty="0"/>
                        <a:t>5. All the cell organelles are present in the cell along with ribosomes. </a:t>
                      </a:r>
                      <a:endParaRPr lang="en-IN" sz="2300" dirty="0"/>
                    </a:p>
                  </a:txBody>
                  <a:tcPr/>
                </a:tc>
                <a:extLst>
                  <a:ext uri="{0D108BD9-81ED-4DB2-BD59-A6C34878D82A}">
                    <a16:rowId xmlns:a16="http://schemas.microsoft.com/office/drawing/2014/main" val="1900748748"/>
                  </a:ext>
                </a:extLst>
              </a:tr>
              <a:tr h="672895">
                <a:tc>
                  <a:txBody>
                    <a:bodyPr/>
                    <a:lstStyle/>
                    <a:p>
                      <a:pPr algn="just"/>
                      <a:r>
                        <a:rPr lang="en-US" sz="2300" dirty="0"/>
                        <a:t>6. Gas vacuoles may occur while sap vacuoles are absent. </a:t>
                      </a:r>
                      <a:endParaRPr lang="en-IN" sz="2300" dirty="0"/>
                    </a:p>
                  </a:txBody>
                  <a:tcPr/>
                </a:tc>
                <a:tc>
                  <a:txBody>
                    <a:bodyPr/>
                    <a:lstStyle/>
                    <a:p>
                      <a:pPr algn="just"/>
                      <a:r>
                        <a:rPr lang="en-US" sz="2300" dirty="0"/>
                        <a:t>6. Sap vacuoles are commonly present.</a:t>
                      </a:r>
                    </a:p>
                  </a:txBody>
                  <a:tcPr/>
                </a:tc>
                <a:extLst>
                  <a:ext uri="{0D108BD9-81ED-4DB2-BD59-A6C34878D82A}">
                    <a16:rowId xmlns:a16="http://schemas.microsoft.com/office/drawing/2014/main" val="2062253758"/>
                  </a:ext>
                </a:extLst>
              </a:tr>
            </a:tbl>
          </a:graphicData>
        </a:graphic>
      </p:graphicFrame>
    </p:spTree>
    <p:extLst>
      <p:ext uri="{BB962C8B-B14F-4D97-AF65-F5344CB8AC3E}">
        <p14:creationId xmlns:p14="http://schemas.microsoft.com/office/powerpoint/2010/main" val="3998476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C28CF4A-2C5E-4847-A90A-58524913B2DC}"/>
              </a:ext>
            </a:extLst>
          </p:cNvPr>
          <p:cNvGraphicFramePr>
            <a:graphicFrameLocks noGrp="1"/>
          </p:cNvGraphicFramePr>
          <p:nvPr>
            <p:extLst>
              <p:ext uri="{D42A27DB-BD31-4B8C-83A1-F6EECF244321}">
                <p14:modId xmlns:p14="http://schemas.microsoft.com/office/powerpoint/2010/main" val="1611926497"/>
              </p:ext>
            </p:extLst>
          </p:nvPr>
        </p:nvGraphicFramePr>
        <p:xfrm>
          <a:off x="112541" y="112542"/>
          <a:ext cx="11929404" cy="6671226"/>
        </p:xfrm>
        <a:graphic>
          <a:graphicData uri="http://schemas.openxmlformats.org/drawingml/2006/table">
            <a:tbl>
              <a:tblPr firstRow="1" bandRow="1">
                <a:tableStyleId>{5940675A-B579-460E-94D1-54222C63F5DA}</a:tableStyleId>
              </a:tblPr>
              <a:tblGrid>
                <a:gridCol w="5964702">
                  <a:extLst>
                    <a:ext uri="{9D8B030D-6E8A-4147-A177-3AD203B41FA5}">
                      <a16:colId xmlns:a16="http://schemas.microsoft.com/office/drawing/2014/main" val="1055317010"/>
                    </a:ext>
                  </a:extLst>
                </a:gridCol>
                <a:gridCol w="5964702">
                  <a:extLst>
                    <a:ext uri="{9D8B030D-6E8A-4147-A177-3AD203B41FA5}">
                      <a16:colId xmlns:a16="http://schemas.microsoft.com/office/drawing/2014/main" val="3030547364"/>
                    </a:ext>
                  </a:extLst>
                </a:gridCol>
              </a:tblGrid>
              <a:tr h="923410">
                <a:tc>
                  <a:txBody>
                    <a:bodyPr/>
                    <a:lstStyle/>
                    <a:p>
                      <a:pPr algn="just"/>
                      <a:r>
                        <a:rPr lang="en-US" sz="2400" kern="1200" dirty="0">
                          <a:solidFill>
                            <a:schemeClr val="tx1"/>
                          </a:solidFill>
                          <a:latin typeface="+mn-lt"/>
                          <a:ea typeface="+mn-ea"/>
                          <a:cs typeface="+mn-cs"/>
                        </a:rPr>
                        <a:t>7. 70S ribosomes are present that lie free in cytoplasm or attached to mRNA. </a:t>
                      </a:r>
                      <a:endParaRPr lang="en-IN" sz="2400" kern="1200" dirty="0">
                        <a:solidFill>
                          <a:schemeClr val="tx1"/>
                        </a:solidFill>
                        <a:latin typeface="+mn-lt"/>
                        <a:ea typeface="+mn-ea"/>
                        <a:cs typeface="+mn-cs"/>
                      </a:endParaRPr>
                    </a:p>
                  </a:txBody>
                  <a:tcPr/>
                </a:tc>
                <a:tc>
                  <a:txBody>
                    <a:bodyPr/>
                    <a:lstStyle/>
                    <a:p>
                      <a:pPr algn="just"/>
                      <a:r>
                        <a:rPr lang="en-US" sz="2400" kern="1200" dirty="0">
                          <a:solidFill>
                            <a:schemeClr val="tx1"/>
                          </a:solidFill>
                          <a:latin typeface="+mn-lt"/>
                          <a:ea typeface="+mn-ea"/>
                          <a:cs typeface="+mn-cs"/>
                        </a:rPr>
                        <a:t>7. 80S ribosome’s are present, either free or bound to ER and nuclear envelope or mRNA.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1313202605"/>
                  </a:ext>
                </a:extLst>
              </a:tr>
              <a:tr h="923410">
                <a:tc>
                  <a:txBody>
                    <a:bodyPr/>
                    <a:lstStyle/>
                    <a:p>
                      <a:pPr algn="just"/>
                      <a:r>
                        <a:rPr lang="en-US" sz="2400" dirty="0"/>
                        <a:t>8. Endocytosis and exocytose do not occur. </a:t>
                      </a:r>
                      <a:endParaRPr lang="en-IN" sz="2400" kern="1200" dirty="0">
                        <a:solidFill>
                          <a:schemeClr val="tx1"/>
                        </a:solidFill>
                        <a:latin typeface="+mn-lt"/>
                        <a:ea typeface="+mn-ea"/>
                        <a:cs typeface="+mn-cs"/>
                      </a:endParaRPr>
                    </a:p>
                  </a:txBody>
                  <a:tcPr/>
                </a:tc>
                <a:tc>
                  <a:txBody>
                    <a:bodyPr/>
                    <a:lstStyle/>
                    <a:p>
                      <a:pPr algn="just"/>
                      <a:r>
                        <a:rPr lang="en-US" sz="2400" dirty="0"/>
                        <a:t>8. These processes take place in many protists and in animals.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562033531"/>
                  </a:ext>
                </a:extLst>
              </a:tr>
              <a:tr h="1333815">
                <a:tc>
                  <a:txBody>
                    <a:bodyPr/>
                    <a:lstStyle/>
                    <a:p>
                      <a:pPr algn="just"/>
                      <a:r>
                        <a:rPr lang="en-US" sz="2400" dirty="0"/>
                        <a:t>9. Process of meiosis or gamete formation or true fertilization does not occur. </a:t>
                      </a:r>
                      <a:endParaRPr lang="en-IN" sz="2400" kern="1200" dirty="0">
                        <a:solidFill>
                          <a:schemeClr val="tx1"/>
                        </a:solidFill>
                        <a:latin typeface="+mn-lt"/>
                        <a:ea typeface="+mn-ea"/>
                        <a:cs typeface="+mn-cs"/>
                      </a:endParaRPr>
                    </a:p>
                  </a:txBody>
                  <a:tcPr/>
                </a:tc>
                <a:tc>
                  <a:txBody>
                    <a:bodyPr/>
                    <a:lstStyle/>
                    <a:p>
                      <a:pPr algn="just"/>
                      <a:r>
                        <a:rPr lang="en-US" sz="2400" dirty="0"/>
                        <a:t>9. In these cells the process of meiosis, gamete formation and true fertilization occur in most cases of sexual reproduction.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2668450738"/>
                  </a:ext>
                </a:extLst>
              </a:tr>
              <a:tr h="923410">
                <a:tc>
                  <a:txBody>
                    <a:bodyPr/>
                    <a:lstStyle/>
                    <a:p>
                      <a:pPr algn="just"/>
                      <a:r>
                        <a:rPr lang="en-US" sz="2400" dirty="0"/>
                        <a:t>10. Cells are haploid. </a:t>
                      </a:r>
                      <a:endParaRPr lang="en-IN" sz="2400" kern="1200" dirty="0">
                        <a:solidFill>
                          <a:schemeClr val="tx1"/>
                        </a:solidFill>
                        <a:latin typeface="+mn-lt"/>
                        <a:ea typeface="+mn-ea"/>
                        <a:cs typeface="+mn-cs"/>
                      </a:endParaRPr>
                    </a:p>
                  </a:txBody>
                  <a:tcPr/>
                </a:tc>
                <a:tc>
                  <a:txBody>
                    <a:bodyPr/>
                    <a:lstStyle/>
                    <a:p>
                      <a:pPr algn="just"/>
                      <a:r>
                        <a:rPr lang="en-US" sz="2400" dirty="0"/>
                        <a:t>10. Cells are diploid, while haploid cells also occur.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2241338726"/>
                  </a:ext>
                </a:extLst>
              </a:tr>
              <a:tr h="1744221">
                <a:tc>
                  <a:txBody>
                    <a:bodyPr/>
                    <a:lstStyle/>
                    <a:p>
                      <a:pPr algn="just"/>
                      <a:r>
                        <a:rPr lang="en-US" sz="2400" dirty="0"/>
                        <a:t>11. Nuclear envelope is absent and nuclear material lie in cytoplasm and is called nucleoid. Nucleoid contains a single chromosome. </a:t>
                      </a:r>
                      <a:endParaRPr lang="en-IN" sz="2400" kern="1200" dirty="0">
                        <a:solidFill>
                          <a:schemeClr val="tx1"/>
                        </a:solidFill>
                        <a:latin typeface="+mn-lt"/>
                        <a:ea typeface="+mn-ea"/>
                        <a:cs typeface="+mn-cs"/>
                      </a:endParaRPr>
                    </a:p>
                  </a:txBody>
                  <a:tcPr/>
                </a:tc>
                <a:tc>
                  <a:txBody>
                    <a:bodyPr/>
                    <a:lstStyle/>
                    <a:p>
                      <a:pPr algn="just"/>
                      <a:r>
                        <a:rPr lang="en-US" sz="2400" dirty="0"/>
                        <a:t>11. Nuclear envelope surrounds the nuclear material. The structure is called nucleus. It contains two to many chromosomes.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4081665866"/>
                  </a:ext>
                </a:extLst>
              </a:tr>
              <a:tr h="513006">
                <a:tc>
                  <a:txBody>
                    <a:bodyPr/>
                    <a:lstStyle/>
                    <a:p>
                      <a:pPr algn="just"/>
                      <a:r>
                        <a:rPr lang="en-US" sz="2400" dirty="0"/>
                        <a:t>12. Nucleolus absent. </a:t>
                      </a:r>
                      <a:endParaRPr lang="en-IN" sz="2400" kern="1200" dirty="0">
                        <a:solidFill>
                          <a:schemeClr val="tx1"/>
                        </a:solidFill>
                        <a:latin typeface="+mn-lt"/>
                        <a:ea typeface="+mn-ea"/>
                        <a:cs typeface="+mn-cs"/>
                      </a:endParaRPr>
                    </a:p>
                  </a:txBody>
                  <a:tcPr/>
                </a:tc>
                <a:tc>
                  <a:txBody>
                    <a:bodyPr/>
                    <a:lstStyle/>
                    <a:p>
                      <a:pPr algn="just"/>
                      <a:r>
                        <a:rPr lang="en-US" sz="2400" dirty="0"/>
                        <a:t>12. One or more nucleoli are present within the nucleus.</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2701992855"/>
                  </a:ext>
                </a:extLst>
              </a:tr>
            </a:tbl>
          </a:graphicData>
        </a:graphic>
      </p:graphicFrame>
    </p:spTree>
    <p:extLst>
      <p:ext uri="{BB962C8B-B14F-4D97-AF65-F5344CB8AC3E}">
        <p14:creationId xmlns:p14="http://schemas.microsoft.com/office/powerpoint/2010/main" val="1379521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535E7A7-18AB-4788-92F9-B8EE21446B98}"/>
              </a:ext>
            </a:extLst>
          </p:cNvPr>
          <p:cNvGraphicFramePr>
            <a:graphicFrameLocks noGrp="1"/>
          </p:cNvGraphicFramePr>
          <p:nvPr>
            <p:extLst>
              <p:ext uri="{D42A27DB-BD31-4B8C-83A1-F6EECF244321}">
                <p14:modId xmlns:p14="http://schemas.microsoft.com/office/powerpoint/2010/main" val="818144433"/>
              </p:ext>
            </p:extLst>
          </p:nvPr>
        </p:nvGraphicFramePr>
        <p:xfrm>
          <a:off x="0" y="98474"/>
          <a:ext cx="11957538" cy="4319624"/>
        </p:xfrm>
        <a:graphic>
          <a:graphicData uri="http://schemas.openxmlformats.org/drawingml/2006/table">
            <a:tbl>
              <a:tblPr firstRow="1" bandRow="1">
                <a:tableStyleId>{5940675A-B579-460E-94D1-54222C63F5DA}</a:tableStyleId>
              </a:tblPr>
              <a:tblGrid>
                <a:gridCol w="5978769">
                  <a:extLst>
                    <a:ext uri="{9D8B030D-6E8A-4147-A177-3AD203B41FA5}">
                      <a16:colId xmlns:a16="http://schemas.microsoft.com/office/drawing/2014/main" val="1965649964"/>
                    </a:ext>
                  </a:extLst>
                </a:gridCol>
                <a:gridCol w="5978769">
                  <a:extLst>
                    <a:ext uri="{9D8B030D-6E8A-4147-A177-3AD203B41FA5}">
                      <a16:colId xmlns:a16="http://schemas.microsoft.com/office/drawing/2014/main" val="3125379307"/>
                    </a:ext>
                  </a:extLst>
                </a:gridCol>
              </a:tblGrid>
              <a:tr h="1382402">
                <a:tc>
                  <a:txBody>
                    <a:bodyPr/>
                    <a:lstStyle/>
                    <a:p>
                      <a:pPr algn="just"/>
                      <a:r>
                        <a:rPr lang="en-US" sz="2400" dirty="0"/>
                        <a:t>13. Circular DNA is present without associated proteins. </a:t>
                      </a:r>
                      <a:endParaRPr lang="en-IN" sz="2400" kern="1200" dirty="0">
                        <a:solidFill>
                          <a:schemeClr val="tx1"/>
                        </a:solidFill>
                        <a:latin typeface="+mn-lt"/>
                        <a:ea typeface="+mn-ea"/>
                        <a:cs typeface="+mn-cs"/>
                      </a:endParaRPr>
                    </a:p>
                  </a:txBody>
                  <a:tcPr/>
                </a:tc>
                <a:tc>
                  <a:txBody>
                    <a:bodyPr/>
                    <a:lstStyle/>
                    <a:p>
                      <a:pPr algn="just"/>
                      <a:r>
                        <a:rPr lang="en-US" sz="2400" dirty="0"/>
                        <a:t>13. Nuclear DNA is linear and is associated with proteins, while extra nuclear DNA is present without proteins.</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705884137"/>
                  </a:ext>
                </a:extLst>
              </a:tr>
              <a:tr h="1382402">
                <a:tc>
                  <a:txBody>
                    <a:bodyPr/>
                    <a:lstStyle/>
                    <a:p>
                      <a:pPr marL="0" algn="just" defTabSz="914400" rtl="0" eaLnBrk="1" latinLnBrk="0" hangingPunct="1"/>
                      <a:r>
                        <a:rPr lang="en-US" sz="2400" kern="1200" dirty="0">
                          <a:solidFill>
                            <a:schemeClr val="tx1"/>
                          </a:solidFill>
                          <a:latin typeface="+mn-lt"/>
                          <a:ea typeface="+mn-ea"/>
                          <a:cs typeface="+mn-cs"/>
                        </a:rPr>
                        <a:t>14. Flagella if present are simple, consist of a single fibril and are formed of a protein flagellin. </a:t>
                      </a:r>
                      <a:endParaRPr lang="en-IN" sz="2400" kern="1200" dirty="0">
                        <a:solidFill>
                          <a:schemeClr val="tx1"/>
                        </a:solidFill>
                        <a:latin typeface="+mn-lt"/>
                        <a:ea typeface="+mn-ea"/>
                        <a:cs typeface="+mn-cs"/>
                      </a:endParaRPr>
                    </a:p>
                  </a:txBody>
                  <a:tcPr/>
                </a:tc>
                <a:tc>
                  <a:txBody>
                    <a:bodyPr/>
                    <a:lstStyle/>
                    <a:p>
                      <a:pPr marL="0" algn="just" defTabSz="914400" rtl="0" eaLnBrk="1" latinLnBrk="0" hangingPunct="1"/>
                      <a:r>
                        <a:rPr lang="en-US" sz="2400" kern="1200" dirty="0">
                          <a:solidFill>
                            <a:schemeClr val="tx1"/>
                          </a:solidFill>
                          <a:latin typeface="+mn-lt"/>
                          <a:ea typeface="+mn-ea"/>
                          <a:cs typeface="+mn-cs"/>
                        </a:rPr>
                        <a:t>14. Flagella, if present are complex, have 9+2 pattern of microtubules formed of a protein tubulin.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2875778206"/>
                  </a:ext>
                </a:extLst>
              </a:tr>
              <a:tr h="765847">
                <a:tc>
                  <a:txBody>
                    <a:bodyPr/>
                    <a:lstStyle/>
                    <a:p>
                      <a:pPr marL="0" algn="just" defTabSz="914400" rtl="0" eaLnBrk="1" latinLnBrk="0" hangingPunct="1"/>
                      <a:r>
                        <a:rPr lang="en-US" sz="2400" kern="1200" dirty="0">
                          <a:solidFill>
                            <a:schemeClr val="tx1"/>
                          </a:solidFill>
                          <a:latin typeface="+mn-lt"/>
                          <a:ea typeface="+mn-ea"/>
                          <a:cs typeface="+mn-cs"/>
                        </a:rPr>
                        <a:t>15. Plasmids and pili occur in many prokaryotic cells. </a:t>
                      </a:r>
                      <a:endParaRPr lang="en-IN" sz="2400" kern="1200" dirty="0">
                        <a:solidFill>
                          <a:schemeClr val="tx1"/>
                        </a:solidFill>
                        <a:latin typeface="+mn-lt"/>
                        <a:ea typeface="+mn-ea"/>
                        <a:cs typeface="+mn-cs"/>
                      </a:endParaRPr>
                    </a:p>
                  </a:txBody>
                  <a:tcPr/>
                </a:tc>
                <a:tc>
                  <a:txBody>
                    <a:bodyPr/>
                    <a:lstStyle/>
                    <a:p>
                      <a:pPr marL="0" algn="just" defTabSz="914400" rtl="0" eaLnBrk="1" latinLnBrk="0" hangingPunct="1"/>
                      <a:r>
                        <a:rPr lang="en-US" sz="2400" kern="1200" dirty="0">
                          <a:solidFill>
                            <a:schemeClr val="tx1"/>
                          </a:solidFill>
                          <a:latin typeface="+mn-lt"/>
                          <a:ea typeface="+mn-ea"/>
                          <a:cs typeface="+mn-cs"/>
                        </a:rPr>
                        <a:t>15. These structures are absent.</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646527388"/>
                  </a:ext>
                </a:extLst>
              </a:tr>
              <a:tr h="731860">
                <a:tc>
                  <a:txBody>
                    <a:bodyPr/>
                    <a:lstStyle/>
                    <a:p>
                      <a:pPr marL="0" algn="just" defTabSz="914400" rtl="0" eaLnBrk="1" latinLnBrk="0" hangingPunct="1"/>
                      <a:r>
                        <a:rPr lang="en-US" sz="2400" kern="1200" dirty="0">
                          <a:solidFill>
                            <a:schemeClr val="tx1"/>
                          </a:solidFill>
                          <a:latin typeface="+mn-lt"/>
                          <a:ea typeface="+mn-ea"/>
                          <a:cs typeface="+mn-cs"/>
                        </a:rPr>
                        <a:t>16. Most prokaryotes are asexual organisms. </a:t>
                      </a:r>
                      <a:endParaRPr lang="en-IN" sz="2400" kern="1200" dirty="0">
                        <a:solidFill>
                          <a:schemeClr val="tx1"/>
                        </a:solidFill>
                        <a:latin typeface="+mn-lt"/>
                        <a:ea typeface="+mn-ea"/>
                        <a:cs typeface="+mn-cs"/>
                      </a:endParaRPr>
                    </a:p>
                  </a:txBody>
                  <a:tcPr/>
                </a:tc>
                <a:tc>
                  <a:txBody>
                    <a:bodyPr/>
                    <a:lstStyle/>
                    <a:p>
                      <a:pPr marL="0" algn="just" defTabSz="914400" rtl="0" eaLnBrk="1" latinLnBrk="0" hangingPunct="1"/>
                      <a:r>
                        <a:rPr lang="en-US" sz="2400" kern="1200" dirty="0">
                          <a:solidFill>
                            <a:schemeClr val="tx1"/>
                          </a:solidFill>
                          <a:latin typeface="+mn-lt"/>
                          <a:ea typeface="+mn-ea"/>
                          <a:cs typeface="+mn-cs"/>
                        </a:rPr>
                        <a:t>16. Most of them are sexual organisms. </a:t>
                      </a:r>
                      <a:endParaRPr lang="en-IN" sz="2400" kern="1200" dirty="0">
                        <a:solidFill>
                          <a:schemeClr val="tx1"/>
                        </a:solidFill>
                        <a:latin typeface="+mn-lt"/>
                        <a:ea typeface="+mn-ea"/>
                        <a:cs typeface="+mn-cs"/>
                      </a:endParaRPr>
                    </a:p>
                  </a:txBody>
                  <a:tcPr/>
                </a:tc>
                <a:extLst>
                  <a:ext uri="{0D108BD9-81ED-4DB2-BD59-A6C34878D82A}">
                    <a16:rowId xmlns:a16="http://schemas.microsoft.com/office/drawing/2014/main" val="1857829223"/>
                  </a:ext>
                </a:extLst>
              </a:tr>
            </a:tbl>
          </a:graphicData>
        </a:graphic>
      </p:graphicFrame>
    </p:spTree>
    <p:extLst>
      <p:ext uri="{BB962C8B-B14F-4D97-AF65-F5344CB8AC3E}">
        <p14:creationId xmlns:p14="http://schemas.microsoft.com/office/powerpoint/2010/main" val="1122350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Definition of hematopoietic stem cell ...">
            <a:extLst>
              <a:ext uri="{FF2B5EF4-FFF2-40B4-BE49-F238E27FC236}">
                <a16:creationId xmlns:a16="http://schemas.microsoft.com/office/drawing/2014/main" id="{E78E5229-5641-4BD0-A013-926EF9F1BC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923"/>
          <a:stretch/>
        </p:blipFill>
        <p:spPr bwMode="auto">
          <a:xfrm>
            <a:off x="2616591" y="3429000"/>
            <a:ext cx="4332848" cy="34289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89151CF-BA9F-41BA-915C-7591D5520AFD}"/>
              </a:ext>
            </a:extLst>
          </p:cNvPr>
          <p:cNvSpPr/>
          <p:nvPr/>
        </p:nvSpPr>
        <p:spPr>
          <a:xfrm>
            <a:off x="0" y="197346"/>
            <a:ext cx="12192000" cy="6278642"/>
          </a:xfrm>
          <a:prstGeom prst="rect">
            <a:avLst/>
          </a:prstGeom>
        </p:spPr>
        <p:txBody>
          <a:bodyPr wrap="square">
            <a:spAutoFit/>
          </a:bodyPr>
          <a:lstStyle/>
          <a:p>
            <a:r>
              <a:rPr lang="en-US" sz="2400" b="1" dirty="0"/>
              <a:t>Stem cells </a:t>
            </a:r>
            <a:r>
              <a:rPr lang="en-US" sz="2400" dirty="0"/>
              <a:t>are cells that do not yet have a specific role and can become almost any cell that is required. They can also regenerate damaged tissue under the right conditions.</a:t>
            </a:r>
            <a:br>
              <a:rPr lang="en-US" sz="2400" dirty="0"/>
            </a:br>
            <a:r>
              <a:rPr lang="en-US" sz="2400" dirty="0"/>
              <a:t>Stem cells originate from </a:t>
            </a:r>
            <a:r>
              <a:rPr lang="en-US" sz="2400" b="1" dirty="0"/>
              <a:t>two main </a:t>
            </a:r>
            <a:r>
              <a:rPr lang="en-US" sz="2400" b="1" dirty="0">
                <a:hlinkClick r:id="rId3">
                  <a:extLst>
                    <a:ext uri="{A12FA001-AC4F-418D-AE19-62706E023703}">
                      <ahyp:hlinkClr xmlns:ahyp="http://schemas.microsoft.com/office/drawing/2018/hyperlinkcolor" val="tx"/>
                    </a:ext>
                  </a:extLst>
                </a:hlinkClick>
              </a:rPr>
              <a:t>sources</a:t>
            </a:r>
            <a:r>
              <a:rPr lang="en-US" sz="2400" dirty="0"/>
              <a:t>: </a:t>
            </a:r>
            <a:r>
              <a:rPr lang="en-US" sz="2400" b="1" dirty="0"/>
              <a:t>adult body tissues and embryos</a:t>
            </a:r>
            <a:r>
              <a:rPr lang="en-US" sz="2400" dirty="0"/>
              <a:t>.</a:t>
            </a:r>
          </a:p>
          <a:p>
            <a:r>
              <a:rPr lang="en-IN" sz="2400" b="1" dirty="0"/>
              <a:t>Adult stem cells</a:t>
            </a:r>
          </a:p>
          <a:p>
            <a:r>
              <a:rPr lang="en-US" sz="2400" dirty="0"/>
              <a:t>A person’s body contains stem cells throughout their life. The body can use these stem cells whenever it needs them. The cells are in a non-specific state, but they are more specialized than embryonic stem cells. They remain in this state until the body needs them for a specific purpose, say, as skin or muscle cells.</a:t>
            </a:r>
          </a:p>
          <a:p>
            <a:r>
              <a:rPr lang="en-US" sz="2400" dirty="0"/>
              <a:t>Stem cells are present inside different types of tissue. Scientists have found stem cells in tissues, including:</a:t>
            </a:r>
          </a:p>
          <a:p>
            <a:pPr marL="457200" indent="-457200">
              <a:buFont typeface="+mj-lt"/>
              <a:buAutoNum type="arabicPeriod"/>
            </a:pPr>
            <a:r>
              <a:rPr lang="en-US" sz="2400" dirty="0"/>
              <a:t>the brain</a:t>
            </a:r>
          </a:p>
          <a:p>
            <a:pPr marL="457200" indent="-457200">
              <a:buFont typeface="+mj-lt"/>
              <a:buAutoNum type="arabicPeriod"/>
            </a:pPr>
            <a:r>
              <a:rPr lang="en-US" sz="2400" dirty="0"/>
              <a:t>bone marrow</a:t>
            </a:r>
          </a:p>
          <a:p>
            <a:pPr marL="457200" indent="-457200">
              <a:buFont typeface="+mj-lt"/>
              <a:buAutoNum type="arabicPeriod"/>
            </a:pPr>
            <a:r>
              <a:rPr lang="en-US" sz="2400" dirty="0"/>
              <a:t>blood and blood vessels</a:t>
            </a:r>
          </a:p>
          <a:p>
            <a:pPr marL="457200" indent="-457200">
              <a:buFont typeface="+mj-lt"/>
              <a:buAutoNum type="arabicPeriod"/>
            </a:pPr>
            <a:r>
              <a:rPr lang="en-US" sz="2400" dirty="0"/>
              <a:t>skeletal muscles</a:t>
            </a:r>
          </a:p>
          <a:p>
            <a:pPr marL="457200" indent="-457200">
              <a:buFont typeface="+mj-lt"/>
              <a:buAutoNum type="arabicPeriod"/>
            </a:pPr>
            <a:r>
              <a:rPr lang="en-US" sz="2400" dirty="0"/>
              <a:t>skin</a:t>
            </a:r>
          </a:p>
          <a:p>
            <a:pPr marL="457200" indent="-457200">
              <a:buFont typeface="+mj-lt"/>
              <a:buAutoNum type="arabicPeriod"/>
            </a:pPr>
            <a:r>
              <a:rPr lang="en-US" sz="2400" dirty="0"/>
              <a:t>the liver</a:t>
            </a:r>
          </a:p>
          <a:p>
            <a:endParaRPr lang="en-IN" dirty="0"/>
          </a:p>
        </p:txBody>
      </p:sp>
      <p:pic>
        <p:nvPicPr>
          <p:cNvPr id="3082" name="Picture 10" descr="Human Stem Cell Applications. | Download Scientific Diagram">
            <a:extLst>
              <a:ext uri="{FF2B5EF4-FFF2-40B4-BE49-F238E27FC236}">
                <a16:creationId xmlns:a16="http://schemas.microsoft.com/office/drawing/2014/main" id="{D1B3020F-C7E1-45E0-B494-5266AA6085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331"/>
          <a:stretch/>
        </p:blipFill>
        <p:spPr bwMode="auto">
          <a:xfrm>
            <a:off x="6822831" y="3429000"/>
            <a:ext cx="5205046"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781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otential applications of different stem cells">
            <a:extLst>
              <a:ext uri="{FF2B5EF4-FFF2-40B4-BE49-F238E27FC236}">
                <a16:creationId xmlns:a16="http://schemas.microsoft.com/office/drawing/2014/main" id="{180BD237-B2AD-4B42-9C84-5CAE37C09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88" y="98474"/>
            <a:ext cx="10733649" cy="658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343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8CAB5B-1B65-4B63-86CF-1E78A561FA6B}"/>
              </a:ext>
            </a:extLst>
          </p:cNvPr>
          <p:cNvSpPr/>
          <p:nvPr/>
        </p:nvSpPr>
        <p:spPr>
          <a:xfrm>
            <a:off x="0" y="0"/>
            <a:ext cx="12192000" cy="6740307"/>
          </a:xfrm>
          <a:prstGeom prst="rect">
            <a:avLst/>
          </a:prstGeom>
        </p:spPr>
        <p:txBody>
          <a:bodyPr wrap="square">
            <a:spAutoFit/>
          </a:bodyPr>
          <a:lstStyle/>
          <a:p>
            <a:pPr algn="just" fontAlgn="base"/>
            <a:r>
              <a:rPr lang="en-US" sz="2400" dirty="0"/>
              <a:t>Stem cells are being used in a wide variety of ways ranging from developing artificial organs for research and transplantation to even mitochondrial therapy. Some of these developments are–</a:t>
            </a:r>
          </a:p>
          <a:p>
            <a:pPr algn="just" fontAlgn="base"/>
            <a:r>
              <a:rPr lang="en-US" sz="2400" b="1" dirty="0"/>
              <a:t>HSC transplantation</a:t>
            </a:r>
            <a:r>
              <a:rPr lang="en-US" sz="2400" dirty="0"/>
              <a:t>(</a:t>
            </a:r>
            <a:r>
              <a:rPr lang="en-IN" sz="2400" dirty="0"/>
              <a:t>hematopoietic stem cell (HSC))</a:t>
            </a:r>
            <a:endParaRPr lang="en-US" sz="2400" dirty="0"/>
          </a:p>
          <a:p>
            <a:pPr algn="just" fontAlgn="base"/>
            <a:r>
              <a:rPr lang="en-US" sz="2400" dirty="0"/>
              <a:t>Healthy HSCs can be transplanted into patients </a:t>
            </a:r>
            <a:r>
              <a:rPr lang="en-US" sz="2400" b="1" dirty="0"/>
              <a:t>suffering from </a:t>
            </a:r>
            <a:r>
              <a:rPr lang="en-US" sz="2400" dirty="0"/>
              <a:t>various types of bone marrow or blood disorders such as </a:t>
            </a:r>
            <a:r>
              <a:rPr lang="en-US" sz="2400" b="1" dirty="0"/>
              <a:t>leukemia, lymphoma, and tumors to replace the dysfunctional bone marrow cells</a:t>
            </a:r>
            <a:r>
              <a:rPr lang="en-US" sz="2400" dirty="0"/>
              <a:t>. The transfer can be autologous (cells originating from the patient), allogeneic (cells originating from a different person), or syngeneic (cells originating from identical twins).Bone marrow transplants have a long history and have become a standard medical procedure. </a:t>
            </a:r>
          </a:p>
          <a:p>
            <a:pPr algn="just" fontAlgn="base"/>
            <a:r>
              <a:rPr lang="en-US" sz="2400" b="1" dirty="0"/>
              <a:t>HSC therapy (HSCT)</a:t>
            </a:r>
          </a:p>
          <a:p>
            <a:pPr algn="just" fontAlgn="base"/>
            <a:r>
              <a:rPr lang="en-US" sz="2400" dirty="0"/>
              <a:t>HSCT has been used to treat </a:t>
            </a:r>
            <a:r>
              <a:rPr lang="en-US" sz="2400" b="1" dirty="0"/>
              <a:t>multiple sclerosis </a:t>
            </a:r>
            <a:r>
              <a:rPr lang="en-US" sz="2400" dirty="0"/>
              <a:t>in clinical trials. Multiple sclerosis is an </a:t>
            </a:r>
            <a:r>
              <a:rPr lang="en-US" sz="2400" b="1" dirty="0"/>
              <a:t>autoimmune disease targeting the central nervous system</a:t>
            </a:r>
            <a:r>
              <a:rPr lang="en-US" sz="2400" dirty="0"/>
              <a:t>. The traditional approach for the treatment of multiple sclerosis is disease-modifying therapy (DMT). DMT targets the immune system by modulating it, alternating the immune cell trafficking, or reducing the immune cell population. However, it requires long-term administration and can have serious side effects. </a:t>
            </a:r>
          </a:p>
          <a:p>
            <a:pPr algn="just" fontAlgn="base"/>
            <a:r>
              <a:rPr lang="en-US" sz="2400" b="1" dirty="0"/>
              <a:t>Placental stem cell therapy</a:t>
            </a:r>
          </a:p>
          <a:p>
            <a:pPr algn="just" fontAlgn="base"/>
            <a:r>
              <a:rPr lang="en-US" sz="2400" dirty="0"/>
              <a:t>In healing and curing diseases in various parts of the body such as Alzheimer’s, liver diseases, pancreatic diseases, myocardial infarction, muscle dystrophy, lung fibrosis, and large lytic lesions in bones. They also have applications in tissue engineering. </a:t>
            </a:r>
          </a:p>
        </p:txBody>
      </p:sp>
    </p:spTree>
    <p:extLst>
      <p:ext uri="{BB962C8B-B14F-4D97-AF65-F5344CB8AC3E}">
        <p14:creationId xmlns:p14="http://schemas.microsoft.com/office/powerpoint/2010/main" val="2027403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382BAA-4022-4B38-8ABF-2007D6781E8B}"/>
              </a:ext>
            </a:extLst>
          </p:cNvPr>
          <p:cNvSpPr/>
          <p:nvPr/>
        </p:nvSpPr>
        <p:spPr>
          <a:xfrm>
            <a:off x="0" y="0"/>
            <a:ext cx="12192000" cy="7109639"/>
          </a:xfrm>
          <a:prstGeom prst="rect">
            <a:avLst/>
          </a:prstGeom>
        </p:spPr>
        <p:txBody>
          <a:bodyPr wrap="square">
            <a:spAutoFit/>
          </a:bodyPr>
          <a:lstStyle/>
          <a:p>
            <a:pPr fontAlgn="base"/>
            <a:r>
              <a:rPr lang="en-US" sz="2400" b="1" dirty="0"/>
              <a:t>Autologous limbal stem cells (</a:t>
            </a:r>
            <a:r>
              <a:rPr lang="en-US" sz="2400" b="1" dirty="0" err="1"/>
              <a:t>holoclar</a:t>
            </a:r>
            <a:r>
              <a:rPr lang="en-US" sz="2400" b="1" dirty="0"/>
              <a:t>) transplantation</a:t>
            </a:r>
          </a:p>
          <a:p>
            <a:pPr fontAlgn="base"/>
            <a:r>
              <a:rPr lang="en-US" sz="2400" dirty="0"/>
              <a:t>Autologous limbal cell culture contains stem cells (holoclones) that can be used to treat patients with </a:t>
            </a:r>
            <a:r>
              <a:rPr lang="en-US" sz="2400" b="1" dirty="0"/>
              <a:t>loss of corneal epithelium. </a:t>
            </a:r>
            <a:r>
              <a:rPr lang="en-US" sz="2400" dirty="0"/>
              <a:t>Burns to the eye may lead to loss of vision by destroying the limbus or causing limbal stem cell deficiency. </a:t>
            </a:r>
            <a:r>
              <a:rPr lang="en-US" sz="2400" dirty="0" err="1"/>
              <a:t>Holoclar</a:t>
            </a:r>
            <a:r>
              <a:rPr lang="en-US" sz="2400" dirty="0"/>
              <a:t> has been formally approved in Europe for moderate to severe limbal stem cell deficiency in adults.</a:t>
            </a:r>
          </a:p>
          <a:p>
            <a:pPr fontAlgn="base"/>
            <a:r>
              <a:rPr lang="en-US" sz="2400" b="1" i="1" dirty="0">
                <a:solidFill>
                  <a:srgbClr val="000000"/>
                </a:solidFill>
                <a:latin typeface="inherit"/>
              </a:rPr>
              <a:t>Development toward artificial organ engineering</a:t>
            </a:r>
          </a:p>
          <a:p>
            <a:pPr fontAlgn="base"/>
            <a:r>
              <a:rPr lang="en-US" sz="2400" dirty="0"/>
              <a:t>When stem cells are cultured in a 3D environment, in permissive growth conditions without any external input, they multiply and differentiate into structures like their origin. These structures mimic organs, including providing the niche for stem cells, and are called “organoids.” These organoids are used for various studies.</a:t>
            </a:r>
          </a:p>
          <a:p>
            <a:pPr fontAlgn="base"/>
            <a:r>
              <a:rPr lang="en-US" sz="2400" b="1" i="1" dirty="0">
                <a:solidFill>
                  <a:srgbClr val="000000"/>
                </a:solidFill>
                <a:latin typeface="inherit"/>
              </a:rPr>
              <a:t>Hollow organ engineering</a:t>
            </a:r>
          </a:p>
          <a:p>
            <a:pPr fontAlgn="base"/>
            <a:r>
              <a:rPr lang="en-US" sz="2400" dirty="0"/>
              <a:t>Stem cells show promising results in the engineering of hollow organs such as trachea and vagina. Stem cells can be used to engineer new trachea for patients suffering due to mustard gas.</a:t>
            </a:r>
            <a:endParaRPr lang="en-US" sz="2400" baseline="30000" dirty="0"/>
          </a:p>
          <a:p>
            <a:pPr fontAlgn="base"/>
            <a:r>
              <a:rPr lang="en-US" sz="2400" b="1" i="1" dirty="0">
                <a:solidFill>
                  <a:srgbClr val="000000"/>
                </a:solidFill>
                <a:latin typeface="inherit"/>
              </a:rPr>
              <a:t>Anti-aging effects</a:t>
            </a:r>
          </a:p>
          <a:p>
            <a:pPr fontAlgn="base"/>
            <a:r>
              <a:rPr lang="en-US" sz="2400" dirty="0"/>
              <a:t>The aging process is characterized by molecular mechanisms, including DNA damage, telomere shortening, loss of </a:t>
            </a:r>
            <a:r>
              <a:rPr lang="en-US" sz="2400" dirty="0" err="1"/>
              <a:t>proteostasis</a:t>
            </a:r>
            <a:r>
              <a:rPr lang="en-US" sz="2400" dirty="0"/>
              <a:t>, mitochondrial dysfunction, and stem cell exhaustion.</a:t>
            </a:r>
            <a:r>
              <a:rPr lang="en-US" sz="2400" baseline="30000" dirty="0"/>
              <a:t>[</a:t>
            </a:r>
            <a:r>
              <a:rPr lang="en-US" sz="2400" baseline="30000" dirty="0">
                <a:solidFill>
                  <a:srgbClr val="337AB7"/>
                </a:solidFill>
                <a:hlinkClick r:id="rId2" tooltip="Modelling the molecular mechanisms of aging"/>
              </a:rPr>
              <a:t>18</a:t>
            </a:r>
            <a:r>
              <a:rPr lang="en-US" sz="2400" baseline="30000" dirty="0"/>
              <a:t>]</a:t>
            </a:r>
            <a:r>
              <a:rPr lang="en-US" sz="2400" dirty="0"/>
              <a:t> </a:t>
            </a:r>
            <a:r>
              <a:rPr lang="en-US" sz="2400" b="1" dirty="0"/>
              <a:t>Adipose-derived stem cells promote mitophagy and increase mitochondrial production, </a:t>
            </a:r>
            <a:r>
              <a:rPr lang="en-US" sz="2400" dirty="0"/>
              <a:t>changing the cell metabolism to resemble youthful cells. </a:t>
            </a:r>
          </a:p>
          <a:p>
            <a:pPr fontAlgn="base"/>
            <a:endParaRPr lang="en-US" sz="2400" dirty="0"/>
          </a:p>
        </p:txBody>
      </p:sp>
    </p:spTree>
    <p:extLst>
      <p:ext uri="{BB962C8B-B14F-4D97-AF65-F5344CB8AC3E}">
        <p14:creationId xmlns:p14="http://schemas.microsoft.com/office/powerpoint/2010/main" val="1134127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234E58-87CC-4F72-997C-1EE8A67E3D38}"/>
              </a:ext>
            </a:extLst>
          </p:cNvPr>
          <p:cNvSpPr/>
          <p:nvPr/>
        </p:nvSpPr>
        <p:spPr>
          <a:xfrm>
            <a:off x="0" y="0"/>
            <a:ext cx="12192000" cy="6278642"/>
          </a:xfrm>
          <a:prstGeom prst="rect">
            <a:avLst/>
          </a:prstGeom>
        </p:spPr>
        <p:txBody>
          <a:bodyPr wrap="square">
            <a:spAutoFit/>
          </a:bodyPr>
          <a:lstStyle/>
          <a:p>
            <a:pPr fontAlgn="base"/>
            <a:r>
              <a:rPr lang="en-US" sz="2400" b="1" dirty="0"/>
              <a:t>Minimizing mitochondrial injury</a:t>
            </a:r>
          </a:p>
          <a:p>
            <a:pPr fontAlgn="base"/>
            <a:r>
              <a:rPr lang="en-US" sz="2400" dirty="0"/>
              <a:t>Mitochondrial dysfunction -</a:t>
            </a:r>
            <a:r>
              <a:rPr lang="en-US" sz="2400" dirty="0" err="1"/>
              <a:t>bneurodegenerative</a:t>
            </a:r>
            <a:r>
              <a:rPr lang="en-US" sz="2400" dirty="0"/>
              <a:t> disorders, cardiac diseases, sepsis, cancer, diabetes, and fluoroquinolone-associated disability. MSCs accelerate mitochondrial recovery, promote mitophagy, and induce the transfer of healthy mitochondria in cells suffering from mitochondrial damage or dysfunction.</a:t>
            </a:r>
          </a:p>
          <a:p>
            <a:pPr fontAlgn="base"/>
            <a:r>
              <a:rPr lang="en-US" sz="2400" b="1" dirty="0"/>
              <a:t>Treatment of diabetes</a:t>
            </a:r>
          </a:p>
          <a:p>
            <a:pPr fontAlgn="base"/>
            <a:r>
              <a:rPr lang="en-US" sz="2400" dirty="0"/>
              <a:t>Diabetes mellitus can be caused by lifestyle choices and genetic inheritance (type 2 diabetes), autoimmune causes (type 1 diabetes), or even hormonal changes due to pregnancy (gestational diabetes).Stem cells can solve this problem by directly healing the pancreatic cells. In addition, diabetes-related injuries such as non-healing wounds are being treated using stem cells.</a:t>
            </a:r>
          </a:p>
          <a:p>
            <a:pPr fontAlgn="base"/>
            <a:r>
              <a:rPr lang="en-US" sz="2400" b="1" dirty="0"/>
              <a:t>Disease modeling and study of differentiation</a:t>
            </a:r>
          </a:p>
          <a:p>
            <a:pPr fontAlgn="base"/>
            <a:r>
              <a:rPr lang="en-US" sz="2400" dirty="0"/>
              <a:t>Since their development, iPSCs have been used by scientists in a variety of ways for studying the </a:t>
            </a:r>
            <a:r>
              <a:rPr lang="en-US" sz="2400" b="1" dirty="0"/>
              <a:t>pathogenesis of diseases,</a:t>
            </a:r>
            <a:r>
              <a:rPr lang="en-US" sz="2400" dirty="0"/>
              <a:t> for inventing novel ways of iPSC formation, for studying the </a:t>
            </a:r>
            <a:r>
              <a:rPr lang="en-US" sz="2400" b="1" dirty="0"/>
              <a:t>inheritance of genetic diseases</a:t>
            </a:r>
            <a:r>
              <a:rPr lang="en-US" sz="2400" dirty="0"/>
              <a:t>, for studying </a:t>
            </a:r>
            <a:r>
              <a:rPr lang="en-US" sz="2400" b="1" dirty="0"/>
              <a:t>neurodegenerative diseases,</a:t>
            </a:r>
            <a:r>
              <a:rPr lang="en-US" sz="2400" dirty="0"/>
              <a:t> etc. (pluripotent stem cells (PSCs) which can differentiate into any of the three germ layers but not any extraembryonic structure (placenta).</a:t>
            </a:r>
            <a:endParaRPr lang="en-IN" sz="2400" dirty="0"/>
          </a:p>
          <a:p>
            <a:pPr fontAlgn="base"/>
            <a:endParaRPr lang="en-US" b="1" i="1" dirty="0">
              <a:solidFill>
                <a:srgbClr val="000000"/>
              </a:solidFill>
              <a:latin typeface="inherit"/>
            </a:endParaRPr>
          </a:p>
        </p:txBody>
      </p:sp>
    </p:spTree>
    <p:extLst>
      <p:ext uri="{BB962C8B-B14F-4D97-AF65-F5344CB8AC3E}">
        <p14:creationId xmlns:p14="http://schemas.microsoft.com/office/powerpoint/2010/main" val="1617609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635C42-8887-4026-A735-087E1852A059}"/>
              </a:ext>
            </a:extLst>
          </p:cNvPr>
          <p:cNvSpPr/>
          <p:nvPr/>
        </p:nvSpPr>
        <p:spPr>
          <a:xfrm>
            <a:off x="0" y="0"/>
            <a:ext cx="12192000" cy="4893647"/>
          </a:xfrm>
          <a:prstGeom prst="rect">
            <a:avLst/>
          </a:prstGeom>
        </p:spPr>
        <p:txBody>
          <a:bodyPr wrap="square">
            <a:spAutoFit/>
          </a:bodyPr>
          <a:lstStyle/>
          <a:p>
            <a:pPr fontAlgn="base"/>
            <a:r>
              <a:rPr lang="en-US" sz="2400" b="1" dirty="0"/>
              <a:t>Cell-free therapy</a:t>
            </a:r>
          </a:p>
          <a:p>
            <a:pPr fontAlgn="base"/>
            <a:r>
              <a:rPr lang="en-US" sz="2400" dirty="0"/>
              <a:t>Cell-derived membrane-bound vesicles and extracellular vesicles (EVs) from stem cells The use of EVs reduces the risks and limitations of cell-based therapy, being non-invasive, crossing blood–brain barrier, and being non-tumorous.</a:t>
            </a:r>
          </a:p>
          <a:p>
            <a:pPr fontAlgn="base"/>
            <a:r>
              <a:rPr lang="en-US" sz="2400" b="1" dirty="0"/>
              <a:t>Wound healing</a:t>
            </a:r>
          </a:p>
          <a:p>
            <a:pPr fontAlgn="base"/>
            <a:r>
              <a:rPr lang="en-US" sz="2400" dirty="0"/>
              <a:t>Stem cells promote cell proliferation and cell differentiation at the wound site, </a:t>
            </a:r>
          </a:p>
          <a:p>
            <a:pPr fontAlgn="base"/>
            <a:r>
              <a:rPr lang="en-US" sz="2400" b="1" dirty="0"/>
              <a:t>Treatment of burn wounds</a:t>
            </a:r>
          </a:p>
          <a:p>
            <a:pPr fontAlgn="base"/>
            <a:r>
              <a:rPr lang="en-US" sz="2400" dirty="0"/>
              <a:t>Using stem cells by direct injection, tissue-engineered grafts or exosome treatment shows promising results in burn wound healing.</a:t>
            </a:r>
          </a:p>
          <a:p>
            <a:pPr fontAlgn="base"/>
            <a:r>
              <a:rPr lang="en-US" sz="2400" b="1" dirty="0"/>
              <a:t>Significance in research</a:t>
            </a:r>
          </a:p>
          <a:p>
            <a:pPr fontAlgn="base"/>
            <a:r>
              <a:rPr lang="en-US" sz="2400" dirty="0"/>
              <a:t>Stem cells are being used to study diseases such as congenital heart disease, and neurodevelopmental defects and for the study of the effects of the environment on cell and tissue development.</a:t>
            </a:r>
            <a:endParaRPr lang="en-US" dirty="0"/>
          </a:p>
        </p:txBody>
      </p:sp>
    </p:spTree>
    <p:extLst>
      <p:ext uri="{BB962C8B-B14F-4D97-AF65-F5344CB8AC3E}">
        <p14:creationId xmlns:p14="http://schemas.microsoft.com/office/powerpoint/2010/main" val="3254402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2F4811-09DF-42F5-9F97-7D2F0DC5DBD5}"/>
              </a:ext>
            </a:extLst>
          </p:cNvPr>
          <p:cNvSpPr/>
          <p:nvPr/>
        </p:nvSpPr>
        <p:spPr>
          <a:xfrm>
            <a:off x="0" y="0"/>
            <a:ext cx="12192000" cy="6817251"/>
          </a:xfrm>
          <a:prstGeom prst="rect">
            <a:avLst/>
          </a:prstGeom>
        </p:spPr>
        <p:txBody>
          <a:bodyPr wrap="square">
            <a:spAutoFit/>
          </a:bodyPr>
          <a:lstStyle/>
          <a:p>
            <a:pPr fontAlgn="base"/>
            <a:r>
              <a:rPr lang="en-US" sz="2300" b="1" dirty="0">
                <a:solidFill>
                  <a:srgbClr val="006F3B"/>
                </a:solidFill>
                <a:latin typeface="inherit"/>
              </a:rPr>
              <a:t>CURRENT LIMITATIONS</a:t>
            </a:r>
          </a:p>
          <a:p>
            <a:pPr fontAlgn="base"/>
            <a:r>
              <a:rPr lang="en-US" sz="2300" dirty="0"/>
              <a:t>Many factors are currently holding back stem cell research, causing its slow development.</a:t>
            </a:r>
          </a:p>
          <a:p>
            <a:pPr fontAlgn="base"/>
            <a:r>
              <a:rPr lang="en-US" sz="2300" dirty="0"/>
              <a:t>Some of these factors are as follows – </a:t>
            </a:r>
          </a:p>
          <a:p>
            <a:pPr marL="342900" indent="-342900" fontAlgn="base">
              <a:buFont typeface="Arial" panose="020B0604020202020204" pitchFamily="34" charset="0"/>
              <a:buChar char="•"/>
            </a:pPr>
            <a:r>
              <a:rPr lang="en-US" sz="2300" dirty="0"/>
              <a:t>problems in culturing most stem cells,</a:t>
            </a:r>
            <a:r>
              <a:rPr lang="en-US" sz="2300" baseline="30000" dirty="0"/>
              <a:t>[</a:t>
            </a:r>
            <a:r>
              <a:rPr lang="en-US" sz="2300" baseline="30000" dirty="0">
                <a:solidFill>
                  <a:srgbClr val="337AB7"/>
                </a:solidFill>
                <a:hlinkClick r:id="rId2" tooltip="Stem cells: Promises versus limitations"/>
              </a:rPr>
              <a:t>30</a:t>
            </a:r>
            <a:r>
              <a:rPr lang="en-US" sz="2300" baseline="30000" dirty="0"/>
              <a:t>]</a:t>
            </a:r>
            <a:r>
              <a:rPr lang="en-US" sz="2300" dirty="0"/>
              <a:t> conventional 2D culturing techniques being </a:t>
            </a:r>
            <a:r>
              <a:rPr lang="en-US" sz="2300" b="1" dirty="0"/>
              <a:t>expensive</a:t>
            </a:r>
            <a:r>
              <a:rPr lang="en-US" sz="2300" dirty="0"/>
              <a:t> and </a:t>
            </a:r>
            <a:r>
              <a:rPr lang="en-US" sz="2300" b="1" dirty="0"/>
              <a:t>inefficient</a:t>
            </a:r>
            <a:r>
              <a:rPr lang="en-US" sz="2300" dirty="0"/>
              <a:t> for culturing stem cells, </a:t>
            </a:r>
            <a:r>
              <a:rPr lang="en-US" sz="2300" b="1" dirty="0"/>
              <a:t>difficulty in mimicking </a:t>
            </a:r>
            <a:r>
              <a:rPr lang="en-US" sz="2300" dirty="0"/>
              <a:t>the stem cell niche, </a:t>
            </a:r>
            <a:r>
              <a:rPr lang="en-US" sz="2300" b="1" dirty="0"/>
              <a:t>loss of capacity to differentiate during culturing</a:t>
            </a:r>
            <a:r>
              <a:rPr lang="en-US" sz="2300" dirty="0"/>
              <a:t>, </a:t>
            </a:r>
            <a:r>
              <a:rPr lang="en-US" sz="2300" b="1" dirty="0"/>
              <a:t>lack of standardized 3D culturing techniques, lack of proper scale up techniques, </a:t>
            </a:r>
            <a:r>
              <a:rPr lang="en-US" sz="2300" dirty="0"/>
              <a:t>etc.</a:t>
            </a:r>
            <a:r>
              <a:rPr lang="en-US" sz="2300" baseline="30000" dirty="0"/>
              <a:t>[</a:t>
            </a:r>
            <a:r>
              <a:rPr lang="en-US" sz="2300" baseline="30000" dirty="0">
                <a:solidFill>
                  <a:srgbClr val="337AB7"/>
                </a:solidFill>
                <a:hlinkClick r:id="rId3" tooltip="Advances and challenges in stem cell culture"/>
              </a:rPr>
              <a:t>31</a:t>
            </a:r>
            <a:r>
              <a:rPr lang="en-US" sz="2300" baseline="30000" dirty="0"/>
              <a:t>]</a:t>
            </a:r>
            <a:endParaRPr lang="en-US" sz="2300" dirty="0"/>
          </a:p>
          <a:p>
            <a:pPr marL="342900" indent="-342900" fontAlgn="base">
              <a:buFont typeface="Arial" panose="020B0604020202020204" pitchFamily="34" charset="0"/>
              <a:buChar char="•"/>
            </a:pPr>
            <a:r>
              <a:rPr lang="en-US" sz="2300" dirty="0"/>
              <a:t>PSCs may result in the formation of teratoma (benign tumors, containing tissues of all germ layers) when injected into the body.</a:t>
            </a:r>
            <a:r>
              <a:rPr lang="en-US" sz="2300" baseline="30000" dirty="0"/>
              <a:t>[</a:t>
            </a:r>
            <a:r>
              <a:rPr lang="en-US" sz="2300" baseline="30000" dirty="0">
                <a:solidFill>
                  <a:srgbClr val="337AB7"/>
                </a:solidFill>
                <a:hlinkClick r:id="rId4" tooltip="Donor-derived brain tumor following neural stem cell transplantation in an ataxia telangiectasia patient"/>
              </a:rPr>
              <a:t>32</a:t>
            </a:r>
            <a:r>
              <a:rPr lang="en-US" sz="2300" baseline="30000" dirty="0"/>
              <a:t>]</a:t>
            </a:r>
            <a:endParaRPr lang="en-US" sz="2300" dirty="0"/>
          </a:p>
          <a:p>
            <a:pPr marL="342900" indent="-342900" fontAlgn="base">
              <a:buFont typeface="Arial" panose="020B0604020202020204" pitchFamily="34" charset="0"/>
              <a:buChar char="•"/>
            </a:pPr>
            <a:r>
              <a:rPr lang="en-US" sz="2300" dirty="0"/>
              <a:t>Cultures studying placental stem cells all result in a mixture of different types of cells; it is challenging to get specialized cells in high purity in a sustainable way.</a:t>
            </a:r>
            <a:r>
              <a:rPr lang="en-US" sz="2300" baseline="30000" dirty="0"/>
              <a:t>[</a:t>
            </a:r>
            <a:r>
              <a:rPr lang="en-US" sz="2300" baseline="30000" dirty="0">
                <a:solidFill>
                  <a:srgbClr val="337AB7"/>
                </a:solidFill>
                <a:hlinkClick r:id="rId5" tooltip="Placental-derived stem cells: Culture, differentiation and challenges"/>
              </a:rPr>
              <a:t>2</a:t>
            </a:r>
            <a:r>
              <a:rPr lang="en-US" sz="2300" baseline="30000" dirty="0"/>
              <a:t>]</a:t>
            </a:r>
            <a:endParaRPr lang="en-US" sz="2300" dirty="0"/>
          </a:p>
          <a:p>
            <a:pPr marL="342900" indent="-342900" fontAlgn="base">
              <a:buFont typeface="Arial" panose="020B0604020202020204" pitchFamily="34" charset="0"/>
              <a:buChar char="•"/>
            </a:pPr>
            <a:r>
              <a:rPr lang="en-US" sz="2300" dirty="0"/>
              <a:t>Furthermore, the introduction of stem cells into the body can result in an immune response.</a:t>
            </a:r>
            <a:r>
              <a:rPr lang="en-US" sz="2300" baseline="30000" dirty="0"/>
              <a:t>[</a:t>
            </a:r>
            <a:r>
              <a:rPr lang="en-US" sz="2300" baseline="30000" dirty="0">
                <a:solidFill>
                  <a:srgbClr val="337AB7"/>
                </a:solidFill>
                <a:hlinkClick r:id="rId6" tooltip="Cardiac regeneration: Cardiac and vascular biology"/>
              </a:rPr>
              <a:t>33</a:t>
            </a:r>
            <a:r>
              <a:rPr lang="en-US" sz="2300" baseline="30000" dirty="0"/>
              <a:t>]</a:t>
            </a:r>
            <a:endParaRPr lang="en-US" sz="2300" dirty="0"/>
          </a:p>
          <a:p>
            <a:pPr marL="342900" indent="-342900" fontAlgn="base">
              <a:buFont typeface="Arial" panose="020B0604020202020204" pitchFamily="34" charset="0"/>
              <a:buChar char="•"/>
            </a:pPr>
            <a:r>
              <a:rPr lang="en-US" sz="2300" dirty="0"/>
              <a:t>Therefore, better and more efficient therapies need to be developed.</a:t>
            </a:r>
          </a:p>
          <a:p>
            <a:pPr fontAlgn="base"/>
            <a:r>
              <a:rPr lang="en-US" sz="2300" b="1" dirty="0">
                <a:solidFill>
                  <a:srgbClr val="006F3B"/>
                </a:solidFill>
                <a:latin typeface="inherit"/>
              </a:rPr>
              <a:t>FUTURE PROSPECTS</a:t>
            </a:r>
          </a:p>
          <a:p>
            <a:pPr fontAlgn="base"/>
            <a:r>
              <a:rPr lang="en-US" sz="2300" b="1" i="1" dirty="0">
                <a:solidFill>
                  <a:srgbClr val="000000"/>
                </a:solidFill>
                <a:latin typeface="inherit"/>
              </a:rPr>
              <a:t>Stem cells in gene editing</a:t>
            </a:r>
          </a:p>
          <a:p>
            <a:pPr fontAlgn="base"/>
            <a:r>
              <a:rPr lang="en-US" sz="2300" dirty="0"/>
              <a:t>Gene-edited stem cells may be used to treat genetic diseases and lessen the chance of damaging mutations being passed onto future generations.</a:t>
            </a:r>
          </a:p>
          <a:p>
            <a:pPr fontAlgn="base"/>
            <a:r>
              <a:rPr lang="en-US" sz="2300" b="1" i="1" dirty="0">
                <a:solidFill>
                  <a:srgbClr val="000000"/>
                </a:solidFill>
                <a:latin typeface="inherit"/>
              </a:rPr>
              <a:t>Stem cells for autoimmune illnesses</a:t>
            </a:r>
          </a:p>
          <a:p>
            <a:pPr fontAlgn="base"/>
            <a:r>
              <a:rPr lang="en-US" sz="2300" dirty="0"/>
              <a:t>The immune deficiencies suffered due to AIDS can be treated using stem cells.</a:t>
            </a:r>
          </a:p>
        </p:txBody>
      </p:sp>
    </p:spTree>
    <p:extLst>
      <p:ext uri="{BB962C8B-B14F-4D97-AF65-F5344CB8AC3E}">
        <p14:creationId xmlns:p14="http://schemas.microsoft.com/office/powerpoint/2010/main" val="648903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0C15B8-C330-436C-B6A6-5DF524D28C5E}"/>
              </a:ext>
            </a:extLst>
          </p:cNvPr>
          <p:cNvSpPr/>
          <p:nvPr/>
        </p:nvSpPr>
        <p:spPr>
          <a:xfrm>
            <a:off x="0" y="0"/>
            <a:ext cx="12192000" cy="5755422"/>
          </a:xfrm>
          <a:prstGeom prst="rect">
            <a:avLst/>
          </a:prstGeom>
        </p:spPr>
        <p:txBody>
          <a:bodyPr wrap="square">
            <a:spAutoFit/>
          </a:bodyPr>
          <a:lstStyle/>
          <a:p>
            <a:pPr fontAlgn="base"/>
            <a:r>
              <a:rPr lang="en-US" sz="2300" b="1" i="1" dirty="0">
                <a:solidFill>
                  <a:srgbClr val="000000"/>
                </a:solidFill>
                <a:latin typeface="inherit"/>
              </a:rPr>
              <a:t>Regenerative medicine</a:t>
            </a:r>
          </a:p>
          <a:p>
            <a:pPr fontAlgn="base"/>
            <a:r>
              <a:rPr lang="en-US" sz="2300" dirty="0"/>
              <a:t>In the field of regenerative medicine, damaged or diseased tissues and organs can be repaired or replaced with healthy cells derived from stem cells. This could revolutionize the treatment of conditions such as heart disease, Parkinson’s, spinal cord injuries, and more.</a:t>
            </a:r>
          </a:p>
          <a:p>
            <a:pPr fontAlgn="base"/>
            <a:r>
              <a:rPr lang="en-US" sz="2300" b="1" i="1" dirty="0">
                <a:solidFill>
                  <a:srgbClr val="000000"/>
                </a:solidFill>
                <a:latin typeface="inherit"/>
              </a:rPr>
              <a:t>Personalized medicine</a:t>
            </a:r>
          </a:p>
          <a:p>
            <a:pPr fontAlgn="base"/>
            <a:r>
              <a:rPr lang="en-US" sz="2300" dirty="0"/>
              <a:t>With the advent of iPSCs, it is now possible to derive stem cells from a patient’s cells, creating an unlimited source of personalized cells for therapeutic use. IPSCs can be genetically matched to the patient, significantly reducing the risk of immune rejection, and enabling tailored treatments for various medical conditions.</a:t>
            </a:r>
          </a:p>
          <a:p>
            <a:pPr fontAlgn="base"/>
            <a:r>
              <a:rPr lang="en-US" sz="2300" b="1" i="1" dirty="0">
                <a:solidFill>
                  <a:srgbClr val="000000"/>
                </a:solidFill>
                <a:latin typeface="inherit"/>
              </a:rPr>
              <a:t>Tissue engineering</a:t>
            </a:r>
          </a:p>
          <a:p>
            <a:pPr fontAlgn="base"/>
            <a:r>
              <a:rPr lang="en-US" sz="2300" dirty="0"/>
              <a:t>Organoids can be used for drug testing, disease modeling, and personalized medicine, paving the way for more precise and efficient treatments.</a:t>
            </a:r>
          </a:p>
          <a:p>
            <a:pPr fontAlgn="base"/>
            <a:r>
              <a:rPr lang="en-US" sz="2300" b="1" i="1" dirty="0">
                <a:solidFill>
                  <a:srgbClr val="000000"/>
                </a:solidFill>
                <a:latin typeface="inherit"/>
              </a:rPr>
              <a:t>Artificial organs and body parts</a:t>
            </a:r>
          </a:p>
          <a:p>
            <a:pPr fontAlgn="base"/>
            <a:r>
              <a:rPr lang="en-US" sz="2300" dirty="0"/>
              <a:t>In the not-so-distant future, we might witness the creation of fully functional artificial organs and body parts using stem cells. This could potentially alleviate the organ shortage for transplants and provide customized solutions for patients in need.</a:t>
            </a:r>
          </a:p>
        </p:txBody>
      </p:sp>
    </p:spTree>
    <p:extLst>
      <p:ext uri="{BB962C8B-B14F-4D97-AF65-F5344CB8AC3E}">
        <p14:creationId xmlns:p14="http://schemas.microsoft.com/office/powerpoint/2010/main" val="711795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78E3A6-ACB2-4A55-B161-F4F1C7E3CA6E}"/>
              </a:ext>
            </a:extLst>
          </p:cNvPr>
          <p:cNvSpPr/>
          <p:nvPr/>
        </p:nvSpPr>
        <p:spPr>
          <a:xfrm>
            <a:off x="0" y="1"/>
            <a:ext cx="12070080" cy="5632311"/>
          </a:xfrm>
          <a:prstGeom prst="rect">
            <a:avLst/>
          </a:prstGeom>
        </p:spPr>
        <p:txBody>
          <a:bodyPr wrap="square">
            <a:spAutoFit/>
          </a:bodyPr>
          <a:lstStyle/>
          <a:p>
            <a:pPr algn="just"/>
            <a:r>
              <a:rPr lang="en-US" sz="2400" b="1" dirty="0">
                <a:solidFill>
                  <a:prstClr val="black"/>
                </a:solidFill>
                <a:latin typeface="Calibri"/>
              </a:rPr>
              <a:t>Vitamins</a:t>
            </a:r>
            <a:r>
              <a:rPr lang="en-US" sz="2400" dirty="0">
                <a:solidFill>
                  <a:prstClr val="black"/>
                </a:solidFill>
                <a:latin typeface="Calibri"/>
              </a:rPr>
              <a:t> are essential nutrients that play critical roles in maintaining our health and wellbeing. </a:t>
            </a:r>
          </a:p>
          <a:p>
            <a:pPr algn="just"/>
            <a:r>
              <a:rPr lang="en-US" sz="2400" b="1" dirty="0">
                <a:solidFill>
                  <a:prstClr val="black"/>
                </a:solidFill>
                <a:latin typeface="Calibri"/>
              </a:rPr>
              <a:t>Properties of Vitamins </a:t>
            </a:r>
          </a:p>
          <a:p>
            <a:pPr marL="342900" indent="-342900" algn="just">
              <a:buFont typeface="Arial" panose="020B0604020202020204" pitchFamily="34" charset="0"/>
              <a:buChar char="•"/>
            </a:pPr>
            <a:r>
              <a:rPr lang="en-US" sz="2400" b="1" dirty="0">
                <a:solidFill>
                  <a:prstClr val="black"/>
                </a:solidFill>
                <a:latin typeface="Calibri"/>
              </a:rPr>
              <a:t>Organic Compounds: </a:t>
            </a:r>
            <a:r>
              <a:rPr lang="en-US" sz="2400" dirty="0">
                <a:solidFill>
                  <a:prstClr val="black"/>
                </a:solidFill>
                <a:latin typeface="Calibri"/>
              </a:rPr>
              <a:t>Vitamins are organic compounds containing carbon, hydrogen, and oxygen. </a:t>
            </a:r>
          </a:p>
          <a:p>
            <a:pPr marL="342900" indent="-342900" algn="just">
              <a:buFont typeface="Arial" panose="020B0604020202020204" pitchFamily="34" charset="0"/>
              <a:buChar char="•"/>
            </a:pPr>
            <a:r>
              <a:rPr lang="en-US" sz="2400" b="1" dirty="0">
                <a:solidFill>
                  <a:prstClr val="black"/>
                </a:solidFill>
                <a:latin typeface="Calibri"/>
              </a:rPr>
              <a:t>Essential Nutrients: </a:t>
            </a:r>
            <a:r>
              <a:rPr lang="en-US" sz="2400" dirty="0">
                <a:solidFill>
                  <a:prstClr val="black"/>
                </a:solidFill>
                <a:latin typeface="Calibri"/>
              </a:rPr>
              <a:t>They are vital for proper physiological function but are not produced in sufficient quantities by the body, necessitating external intake. </a:t>
            </a:r>
          </a:p>
          <a:p>
            <a:pPr marL="342900" indent="-342900" algn="just">
              <a:buFont typeface="Arial" panose="020B0604020202020204" pitchFamily="34" charset="0"/>
              <a:buChar char="•"/>
            </a:pPr>
            <a:r>
              <a:rPr lang="en-US" sz="2400" b="1" dirty="0">
                <a:solidFill>
                  <a:prstClr val="black"/>
                </a:solidFill>
                <a:latin typeface="Calibri"/>
              </a:rPr>
              <a:t>Micronutrients</a:t>
            </a:r>
            <a:r>
              <a:rPr lang="en-US" sz="2400" dirty="0">
                <a:solidFill>
                  <a:prstClr val="black"/>
                </a:solidFill>
                <a:latin typeface="Calibri"/>
              </a:rPr>
              <a:t>: Required in small amounts compared to macronutrients like proteins and carbohydrates. </a:t>
            </a:r>
          </a:p>
          <a:p>
            <a:pPr marL="342900" indent="-342900" algn="just">
              <a:buFont typeface="Arial" panose="020B0604020202020204" pitchFamily="34" charset="0"/>
              <a:buChar char="•"/>
            </a:pPr>
            <a:r>
              <a:rPr lang="en-US" sz="2400" b="1" dirty="0">
                <a:solidFill>
                  <a:prstClr val="black"/>
                </a:solidFill>
                <a:latin typeface="Calibri"/>
              </a:rPr>
              <a:t>Coenzymes or Precursors</a:t>
            </a:r>
            <a:r>
              <a:rPr lang="en-US" sz="2400" dirty="0">
                <a:solidFill>
                  <a:prstClr val="black"/>
                </a:solidFill>
                <a:latin typeface="Calibri"/>
              </a:rPr>
              <a:t>: Many vitamins serve as coenzymes or precursors for the synthesis of coenzymes that participate in various metabolic reactions.</a:t>
            </a:r>
          </a:p>
          <a:p>
            <a:pPr marL="457200" indent="-457200" algn="just" fontAlgn="base">
              <a:buFont typeface="+mj-lt"/>
              <a:buAutoNum type="arabicPeriod"/>
            </a:pPr>
            <a:r>
              <a:rPr lang="en-US" sz="2400" b="1" dirty="0">
                <a:solidFill>
                  <a:prstClr val="black"/>
                </a:solidFill>
                <a:latin typeface="Calibri"/>
              </a:rPr>
              <a:t>The fat-soluble vitamins </a:t>
            </a:r>
            <a:r>
              <a:rPr lang="en-US" sz="2400" dirty="0">
                <a:solidFill>
                  <a:prstClr val="black"/>
                </a:solidFill>
                <a:latin typeface="Calibri"/>
              </a:rPr>
              <a:t>— A, D, E, and K — dissolve in fat and are </a:t>
            </a:r>
            <a:r>
              <a:rPr lang="en-US" sz="2400" b="1" dirty="0">
                <a:solidFill>
                  <a:prstClr val="black"/>
                </a:solidFill>
                <a:latin typeface="Calibri"/>
              </a:rPr>
              <a:t>stored in your body.</a:t>
            </a:r>
          </a:p>
          <a:p>
            <a:pPr marL="457200" indent="-457200" algn="just" fontAlgn="base">
              <a:buFont typeface="+mj-lt"/>
              <a:buAutoNum type="arabicPeriod"/>
            </a:pPr>
            <a:r>
              <a:rPr lang="en-US" sz="2400" b="1" dirty="0">
                <a:solidFill>
                  <a:prstClr val="black"/>
                </a:solidFill>
                <a:latin typeface="Calibri"/>
              </a:rPr>
              <a:t>The water-soluble vitamins </a:t>
            </a:r>
            <a:r>
              <a:rPr lang="en-US" sz="2400" dirty="0">
                <a:solidFill>
                  <a:prstClr val="black"/>
                </a:solidFill>
                <a:latin typeface="Calibri"/>
              </a:rPr>
              <a:t>— C and the B-complex vitamins (such as vitamins B6, B12, niacin, riboflavin, and folate) — dissolve in water. Your body </a:t>
            </a:r>
            <a:r>
              <a:rPr lang="en-US" sz="2400" b="1" dirty="0">
                <a:solidFill>
                  <a:prstClr val="black"/>
                </a:solidFill>
                <a:latin typeface="Calibri"/>
              </a:rPr>
              <a:t>can't store these vitamins</a:t>
            </a:r>
            <a:r>
              <a:rPr lang="en-US" sz="2400" dirty="0">
                <a:solidFill>
                  <a:prstClr val="black"/>
                </a:solidFill>
                <a:latin typeface="Calibri"/>
              </a:rPr>
              <a:t>. Any B or C vitamins that your body doesn't use travels through the bloodstream and is lost (mostly when you pee). So you need a fresh supply of these vitamins every day.</a:t>
            </a:r>
          </a:p>
        </p:txBody>
      </p:sp>
    </p:spTree>
    <p:extLst>
      <p:ext uri="{BB962C8B-B14F-4D97-AF65-F5344CB8AC3E}">
        <p14:creationId xmlns:p14="http://schemas.microsoft.com/office/powerpoint/2010/main" val="2199552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9FBF82-FABE-4888-8676-088F7E438805}"/>
              </a:ext>
            </a:extLst>
          </p:cNvPr>
          <p:cNvSpPr/>
          <p:nvPr/>
        </p:nvSpPr>
        <p:spPr>
          <a:xfrm>
            <a:off x="0" y="-29817"/>
            <a:ext cx="12192000" cy="6109365"/>
          </a:xfrm>
          <a:prstGeom prst="rect">
            <a:avLst/>
          </a:prstGeom>
        </p:spPr>
        <p:txBody>
          <a:bodyPr wrap="square">
            <a:spAutoFit/>
          </a:bodyPr>
          <a:lstStyle/>
          <a:p>
            <a:pPr algn="just"/>
            <a:r>
              <a:rPr lang="en-IN" sz="2300" b="1" dirty="0">
                <a:solidFill>
                  <a:prstClr val="black"/>
                </a:solidFill>
                <a:latin typeface="Calibri"/>
              </a:rPr>
              <a:t>Functions of Vitamins </a:t>
            </a:r>
            <a:r>
              <a:rPr lang="en-IN" sz="2300" dirty="0">
                <a:solidFill>
                  <a:prstClr val="black"/>
                </a:solidFill>
                <a:latin typeface="Calibri"/>
              </a:rPr>
              <a:t>with its Supplies </a:t>
            </a:r>
          </a:p>
          <a:p>
            <a:pPr marL="457200" indent="-457200" algn="just">
              <a:buFont typeface="+mj-lt"/>
              <a:buAutoNum type="arabicPeriod"/>
            </a:pPr>
            <a:r>
              <a:rPr lang="en-IN" sz="2300" b="1" dirty="0">
                <a:solidFill>
                  <a:prstClr val="black"/>
                </a:solidFill>
                <a:latin typeface="Calibri"/>
              </a:rPr>
              <a:t>Vitamin A (Retinol): </a:t>
            </a:r>
            <a:r>
              <a:rPr lang="en-IN" sz="2300" dirty="0">
                <a:solidFill>
                  <a:prstClr val="black"/>
                </a:solidFill>
                <a:latin typeface="Calibri"/>
              </a:rPr>
              <a:t>Essential for vision, immune function, and skin health. Found in carrots, sweet potatoes, and spinach.</a:t>
            </a:r>
          </a:p>
          <a:p>
            <a:pPr marL="457200" indent="-457200" algn="just">
              <a:buFont typeface="+mj-lt"/>
              <a:buAutoNum type="arabicPeriod"/>
            </a:pPr>
            <a:r>
              <a:rPr lang="en-IN" sz="2300" b="1" dirty="0">
                <a:solidFill>
                  <a:prstClr val="black"/>
                </a:solidFill>
                <a:latin typeface="Calibri"/>
              </a:rPr>
              <a:t>Vitamin B Complex: </a:t>
            </a:r>
            <a:r>
              <a:rPr lang="en-IN" sz="2300" dirty="0">
                <a:solidFill>
                  <a:prstClr val="black"/>
                </a:solidFill>
                <a:latin typeface="Calibri"/>
              </a:rPr>
              <a:t>Various B vitamins contribute to energy metabolism, red blood cell formation, and nerve function. Found in </a:t>
            </a:r>
            <a:r>
              <a:rPr lang="en-US" sz="2300" dirty="0">
                <a:solidFill>
                  <a:prstClr val="black"/>
                </a:solidFill>
                <a:latin typeface="Calibri"/>
              </a:rPr>
              <a:t> </a:t>
            </a:r>
            <a:r>
              <a:rPr lang="en-US" sz="2300" dirty="0">
                <a:solidFill>
                  <a:prstClr val="black"/>
                </a:solidFill>
                <a:latin typeface="Calibri"/>
                <a:hlinkClick r:id="rId2">
                  <a:extLst>
                    <a:ext uri="{A12FA001-AC4F-418D-AE19-62706E023703}">
                      <ahyp:hlinkClr xmlns:ahyp="http://schemas.microsoft.com/office/drawing/2018/hyperlinkcolor" val="tx"/>
                    </a:ext>
                  </a:extLst>
                </a:hlinkClick>
              </a:rPr>
              <a:t>lean meat</a:t>
            </a:r>
            <a:r>
              <a:rPr lang="en-US" sz="2300" dirty="0">
                <a:solidFill>
                  <a:prstClr val="black"/>
                </a:solidFill>
                <a:latin typeface="Calibri"/>
              </a:rPr>
              <a:t>, </a:t>
            </a:r>
            <a:r>
              <a:rPr lang="en-US" sz="2300" dirty="0">
                <a:solidFill>
                  <a:prstClr val="black"/>
                </a:solidFill>
                <a:latin typeface="Calibri"/>
                <a:hlinkClick r:id="rId3">
                  <a:extLst>
                    <a:ext uri="{A12FA001-AC4F-418D-AE19-62706E023703}">
                      <ahyp:hlinkClr xmlns:ahyp="http://schemas.microsoft.com/office/drawing/2018/hyperlinkcolor" val="tx"/>
                    </a:ext>
                  </a:extLst>
                </a:hlinkClick>
              </a:rPr>
              <a:t>fish</a:t>
            </a:r>
            <a:r>
              <a:rPr lang="en-US" sz="2300" dirty="0">
                <a:solidFill>
                  <a:prstClr val="black"/>
                </a:solidFill>
                <a:latin typeface="Calibri"/>
              </a:rPr>
              <a:t>, </a:t>
            </a:r>
            <a:r>
              <a:rPr lang="en-US" sz="2300" dirty="0">
                <a:solidFill>
                  <a:prstClr val="black"/>
                </a:solidFill>
                <a:latin typeface="Calibri"/>
                <a:hlinkClick r:id="rId4">
                  <a:extLst>
                    <a:ext uri="{A12FA001-AC4F-418D-AE19-62706E023703}">
                      <ahyp:hlinkClr xmlns:ahyp="http://schemas.microsoft.com/office/drawing/2018/hyperlinkcolor" val="tx"/>
                    </a:ext>
                  </a:extLst>
                </a:hlinkClick>
              </a:rPr>
              <a:t>wholegrains</a:t>
            </a:r>
            <a:r>
              <a:rPr lang="en-US" sz="2300" dirty="0">
                <a:solidFill>
                  <a:prstClr val="black"/>
                </a:solidFill>
                <a:latin typeface="Calibri"/>
              </a:rPr>
              <a:t>, fruit, vegetables and legumes,</a:t>
            </a:r>
            <a:r>
              <a:rPr lang="en-IN" sz="2300" dirty="0">
                <a:solidFill>
                  <a:prstClr val="black"/>
                </a:solidFill>
                <a:latin typeface="Calibri"/>
              </a:rPr>
              <a:t> Eggs, nuts, sweet potatoes. </a:t>
            </a:r>
          </a:p>
          <a:p>
            <a:pPr lvl="1"/>
            <a:r>
              <a:rPr lang="en-IN" sz="2300" dirty="0">
                <a:solidFill>
                  <a:prstClr val="black"/>
                </a:solidFill>
                <a:latin typeface="Calibri"/>
              </a:rPr>
              <a:t>The 8 types of vitamin B are:</a:t>
            </a:r>
          </a:p>
          <a:p>
            <a:pPr marL="800100" lvl="1" indent="-342900">
              <a:buFont typeface="+mj-lt"/>
              <a:buAutoNum type="arabicPeriod"/>
            </a:pPr>
            <a:r>
              <a:rPr lang="en-IN" sz="2300" dirty="0">
                <a:solidFill>
                  <a:prstClr val="black"/>
                </a:solidFill>
                <a:latin typeface="Calibri"/>
              </a:rPr>
              <a:t>Thiamine (B1)</a:t>
            </a:r>
          </a:p>
          <a:p>
            <a:pPr marL="800100" lvl="1" indent="-342900">
              <a:buFont typeface="+mj-lt"/>
              <a:buAutoNum type="arabicPeriod"/>
            </a:pPr>
            <a:r>
              <a:rPr lang="en-IN" sz="2300" dirty="0">
                <a:solidFill>
                  <a:prstClr val="black"/>
                </a:solidFill>
                <a:latin typeface="Calibri"/>
              </a:rPr>
              <a:t>Riboflavin (B2)</a:t>
            </a:r>
          </a:p>
          <a:p>
            <a:pPr marL="800100" lvl="1" indent="-342900">
              <a:buFont typeface="+mj-lt"/>
              <a:buAutoNum type="arabicPeriod"/>
            </a:pPr>
            <a:r>
              <a:rPr lang="en-IN" sz="2300" dirty="0">
                <a:solidFill>
                  <a:prstClr val="black"/>
                </a:solidFill>
                <a:latin typeface="Calibri"/>
              </a:rPr>
              <a:t>Niacin (B3)</a:t>
            </a:r>
          </a:p>
          <a:p>
            <a:pPr marL="800100" lvl="1" indent="-342900">
              <a:buFont typeface="+mj-lt"/>
              <a:buAutoNum type="arabicPeriod"/>
            </a:pPr>
            <a:r>
              <a:rPr lang="en-IN" sz="2300" dirty="0">
                <a:solidFill>
                  <a:prstClr val="black"/>
                </a:solidFill>
                <a:latin typeface="Calibri"/>
              </a:rPr>
              <a:t>Pantothenic acid (B5)</a:t>
            </a:r>
          </a:p>
          <a:p>
            <a:pPr marL="800100" lvl="1" indent="-342900">
              <a:buFont typeface="+mj-lt"/>
              <a:buAutoNum type="arabicPeriod"/>
            </a:pPr>
            <a:r>
              <a:rPr lang="en-IN" sz="2300" dirty="0">
                <a:solidFill>
                  <a:prstClr val="black"/>
                </a:solidFill>
                <a:latin typeface="Calibri"/>
              </a:rPr>
              <a:t>Pyridoxine (B6)</a:t>
            </a:r>
          </a:p>
          <a:p>
            <a:pPr marL="800100" lvl="1" indent="-342900">
              <a:buFont typeface="+mj-lt"/>
              <a:buAutoNum type="arabicPeriod"/>
            </a:pPr>
            <a:r>
              <a:rPr lang="en-IN" sz="2300" dirty="0">
                <a:solidFill>
                  <a:prstClr val="black"/>
                </a:solidFill>
                <a:latin typeface="Calibri"/>
              </a:rPr>
              <a:t>Biotin (B7)</a:t>
            </a:r>
          </a:p>
          <a:p>
            <a:pPr marL="800100" lvl="1" indent="-342900">
              <a:buFont typeface="+mj-lt"/>
              <a:buAutoNum type="arabicPeriod"/>
            </a:pPr>
            <a:r>
              <a:rPr lang="en-IN" sz="2300" dirty="0">
                <a:solidFill>
                  <a:prstClr val="black"/>
                </a:solidFill>
                <a:latin typeface="Calibri"/>
              </a:rPr>
              <a:t>Folate or ‘folic acid’ when included in supplements (B9)</a:t>
            </a:r>
          </a:p>
          <a:p>
            <a:pPr marL="800100" lvl="1" indent="-342900">
              <a:buFont typeface="+mj-lt"/>
              <a:buAutoNum type="arabicPeriod"/>
            </a:pPr>
            <a:r>
              <a:rPr lang="en-IN" sz="2300" dirty="0">
                <a:solidFill>
                  <a:prstClr val="black"/>
                </a:solidFill>
                <a:latin typeface="Calibri"/>
              </a:rPr>
              <a:t>Cyanocobalamin (B12).</a:t>
            </a:r>
          </a:p>
          <a:p>
            <a:pPr marL="457200" indent="-457200" algn="just">
              <a:buFont typeface="+mj-lt"/>
              <a:buAutoNum type="arabicPeriod"/>
            </a:pPr>
            <a:r>
              <a:rPr lang="en-IN" sz="2300" b="1" dirty="0">
                <a:solidFill>
                  <a:prstClr val="black"/>
                </a:solidFill>
                <a:latin typeface="Calibri"/>
              </a:rPr>
              <a:t>Vitamin C (Ascorbic Acid): </a:t>
            </a:r>
            <a:r>
              <a:rPr lang="en-IN" sz="2300" dirty="0">
                <a:solidFill>
                  <a:prstClr val="black"/>
                </a:solidFill>
                <a:latin typeface="Calibri"/>
              </a:rPr>
              <a:t>Promotes collagen synthesis, boosts the immune system, and acts as an antioxidant. Citrus fruits, strawberries, bell peppers. </a:t>
            </a:r>
          </a:p>
        </p:txBody>
      </p:sp>
    </p:spTree>
    <p:extLst>
      <p:ext uri="{BB962C8B-B14F-4D97-AF65-F5344CB8AC3E}">
        <p14:creationId xmlns:p14="http://schemas.microsoft.com/office/powerpoint/2010/main" val="3110729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4DCDD6-9557-4076-9120-DE482F7D1C71}"/>
              </a:ext>
            </a:extLst>
          </p:cNvPr>
          <p:cNvSpPr/>
          <p:nvPr/>
        </p:nvSpPr>
        <p:spPr>
          <a:xfrm>
            <a:off x="0" y="0"/>
            <a:ext cx="12192000" cy="2308324"/>
          </a:xfrm>
          <a:prstGeom prst="rect">
            <a:avLst/>
          </a:prstGeom>
        </p:spPr>
        <p:txBody>
          <a:bodyPr wrap="square">
            <a:spAutoFit/>
          </a:bodyPr>
          <a:lstStyle/>
          <a:p>
            <a:pPr marL="457200" indent="-457200" algn="just">
              <a:buFont typeface="+mj-lt"/>
              <a:buAutoNum type="arabicPeriod" startAt="4"/>
            </a:pPr>
            <a:r>
              <a:rPr lang="en-IN" sz="2400" b="1" dirty="0">
                <a:solidFill>
                  <a:prstClr val="black"/>
                </a:solidFill>
                <a:latin typeface="Calibri"/>
              </a:rPr>
              <a:t>Vitamin D (Calciferol): </a:t>
            </a:r>
            <a:r>
              <a:rPr lang="en-IN" sz="2400" dirty="0">
                <a:solidFill>
                  <a:prstClr val="black"/>
                </a:solidFill>
                <a:latin typeface="Calibri"/>
              </a:rPr>
              <a:t>Critical for calcium absorption, bone health, and immune function. Sun exposure, fatty fish, fortified dairy products. </a:t>
            </a:r>
          </a:p>
          <a:p>
            <a:pPr marL="457200" indent="-457200" algn="just">
              <a:buFont typeface="+mj-lt"/>
              <a:buAutoNum type="arabicPeriod" startAt="4"/>
            </a:pPr>
            <a:r>
              <a:rPr lang="en-IN" sz="2400" b="1" dirty="0">
                <a:solidFill>
                  <a:prstClr val="black"/>
                </a:solidFill>
                <a:latin typeface="Calibri"/>
              </a:rPr>
              <a:t>Vitamin E (Tocopherol): </a:t>
            </a:r>
            <a:r>
              <a:rPr lang="en-IN" sz="2400" dirty="0">
                <a:solidFill>
                  <a:prstClr val="black"/>
                </a:solidFill>
                <a:latin typeface="Calibri"/>
              </a:rPr>
              <a:t>Acts as an antioxidant, protecting cells from damage. Nuts, seeds, vegetable oils. </a:t>
            </a:r>
          </a:p>
          <a:p>
            <a:pPr marL="457200" indent="-457200" algn="just">
              <a:buFont typeface="+mj-lt"/>
              <a:buAutoNum type="arabicPeriod" startAt="4"/>
            </a:pPr>
            <a:r>
              <a:rPr lang="en-IN" sz="2400" b="1" dirty="0">
                <a:solidFill>
                  <a:prstClr val="black"/>
                </a:solidFill>
                <a:latin typeface="Calibri"/>
              </a:rPr>
              <a:t>Vitamin K (Phylloquinone): </a:t>
            </a:r>
            <a:r>
              <a:rPr lang="en-IN" sz="2400" dirty="0">
                <a:solidFill>
                  <a:prstClr val="black"/>
                </a:solidFill>
                <a:latin typeface="Calibri"/>
              </a:rPr>
              <a:t>Essential for blood clotting and bone health. Leafy greens, broccoli, soybean oil. </a:t>
            </a:r>
          </a:p>
        </p:txBody>
      </p:sp>
      <p:pic>
        <p:nvPicPr>
          <p:cNvPr id="4" name="Picture 3">
            <a:extLst>
              <a:ext uri="{FF2B5EF4-FFF2-40B4-BE49-F238E27FC236}">
                <a16:creationId xmlns:a16="http://schemas.microsoft.com/office/drawing/2014/main" id="{1C29A2CE-4ECA-4B04-B907-9E2A64C66505}"/>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5027" b="93071" l="5707" r="93478"/>
                    </a14:imgEffect>
                  </a14:imgLayer>
                </a14:imgProps>
              </a:ext>
            </a:extLst>
          </a:blip>
          <a:srcRect l="5556" t="4687" r="5556" b="4687"/>
          <a:stretch/>
        </p:blipFill>
        <p:spPr>
          <a:xfrm>
            <a:off x="3048000" y="1873298"/>
            <a:ext cx="6096000" cy="5155809"/>
          </a:xfrm>
          <a:prstGeom prst="rect">
            <a:avLst/>
          </a:prstGeom>
        </p:spPr>
      </p:pic>
    </p:spTree>
    <p:extLst>
      <p:ext uri="{BB962C8B-B14F-4D97-AF65-F5344CB8AC3E}">
        <p14:creationId xmlns:p14="http://schemas.microsoft.com/office/powerpoint/2010/main" val="3988637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561CBE-7292-40D8-9371-48AF9C1C6E06}"/>
              </a:ext>
            </a:extLst>
          </p:cNvPr>
          <p:cNvSpPr/>
          <p:nvPr/>
        </p:nvSpPr>
        <p:spPr>
          <a:xfrm>
            <a:off x="0" y="0"/>
            <a:ext cx="12084148" cy="6001643"/>
          </a:xfrm>
          <a:prstGeom prst="rect">
            <a:avLst/>
          </a:prstGeom>
        </p:spPr>
        <p:txBody>
          <a:bodyPr wrap="square">
            <a:spAutoFit/>
          </a:bodyPr>
          <a:lstStyle/>
          <a:p>
            <a:pPr algn="just"/>
            <a:r>
              <a:rPr lang="en-US" sz="2400" b="1" dirty="0">
                <a:solidFill>
                  <a:prstClr val="black"/>
                </a:solidFill>
                <a:latin typeface="Calibri"/>
              </a:rPr>
              <a:t>Hormones</a:t>
            </a:r>
            <a:r>
              <a:rPr lang="en-US" sz="2400" dirty="0">
                <a:solidFill>
                  <a:prstClr val="black"/>
                </a:solidFill>
                <a:latin typeface="Calibri"/>
              </a:rPr>
              <a:t> are chemical messengers produced by glands in the endocrine system that regulate various physiological processes in the body. </a:t>
            </a:r>
          </a:p>
          <a:p>
            <a:pPr marL="342900" indent="-342900" algn="just">
              <a:buFont typeface="Arial" panose="020B0604020202020204" pitchFamily="34" charset="0"/>
              <a:buChar char="•"/>
            </a:pPr>
            <a:r>
              <a:rPr lang="en-US" sz="2400" dirty="0">
                <a:solidFill>
                  <a:prstClr val="black"/>
                </a:solidFill>
                <a:latin typeface="Calibri"/>
              </a:rPr>
              <a:t>They travel through the bloodstream to target organs and tissues, influencing functions such as growth, metabolism, and mood. Hormones play a crucial role in maintaining homeostasis and overall health. </a:t>
            </a:r>
          </a:p>
          <a:p>
            <a:pPr algn="just"/>
            <a:r>
              <a:rPr lang="en-US" sz="2400" b="1" dirty="0">
                <a:solidFill>
                  <a:prstClr val="black"/>
                </a:solidFill>
                <a:latin typeface="Calibri"/>
              </a:rPr>
              <a:t>Properties of Hormones </a:t>
            </a:r>
          </a:p>
          <a:p>
            <a:pPr marL="342900" indent="-342900" algn="just">
              <a:buFont typeface="Arial" panose="020B0604020202020204" pitchFamily="34" charset="0"/>
              <a:buChar char="•"/>
            </a:pPr>
            <a:r>
              <a:rPr lang="en-US" sz="2400" b="1" dirty="0">
                <a:solidFill>
                  <a:prstClr val="black"/>
                </a:solidFill>
                <a:latin typeface="Calibri"/>
              </a:rPr>
              <a:t>Chemical Messengers</a:t>
            </a:r>
            <a:r>
              <a:rPr lang="en-US" sz="2400" dirty="0">
                <a:solidFill>
                  <a:prstClr val="black"/>
                </a:solidFill>
                <a:latin typeface="Calibri"/>
              </a:rPr>
              <a:t>: Hormones are specialized chemical messengers that facilitate communication between cells and organs in the body. </a:t>
            </a:r>
          </a:p>
          <a:p>
            <a:pPr marL="342900" indent="-342900" algn="just">
              <a:buFont typeface="Arial" panose="020B0604020202020204" pitchFamily="34" charset="0"/>
              <a:buChar char="•"/>
            </a:pPr>
            <a:r>
              <a:rPr lang="en-US" sz="2400" b="1" dirty="0">
                <a:solidFill>
                  <a:prstClr val="black"/>
                </a:solidFill>
                <a:latin typeface="Calibri"/>
              </a:rPr>
              <a:t>Produced by Endocrine Glands</a:t>
            </a:r>
            <a:r>
              <a:rPr lang="en-US" sz="2400" dirty="0">
                <a:solidFill>
                  <a:prstClr val="black"/>
                </a:solidFill>
                <a:latin typeface="Calibri"/>
              </a:rPr>
              <a:t>: Hormones are primarily synthesized and secreted by endocrine glands, such as the thyroid, adrenal, and pituitary glands. </a:t>
            </a:r>
            <a:endParaRPr lang="en-US" sz="2400" b="1" dirty="0">
              <a:solidFill>
                <a:prstClr val="black"/>
              </a:solidFill>
              <a:latin typeface="Calibri"/>
            </a:endParaRPr>
          </a:p>
          <a:p>
            <a:pPr marL="342900" indent="-342900" algn="just">
              <a:buFont typeface="Arial" panose="020B0604020202020204" pitchFamily="34" charset="0"/>
              <a:buChar char="•"/>
            </a:pPr>
            <a:r>
              <a:rPr lang="en-US" sz="2400" b="1" dirty="0">
                <a:solidFill>
                  <a:prstClr val="black"/>
                </a:solidFill>
                <a:latin typeface="Calibri"/>
              </a:rPr>
              <a:t>Regulation of Physiological Processes: </a:t>
            </a:r>
            <a:r>
              <a:rPr lang="en-US" sz="2400" dirty="0">
                <a:solidFill>
                  <a:prstClr val="black"/>
                </a:solidFill>
                <a:latin typeface="Calibri"/>
              </a:rPr>
              <a:t>They play a crucial role in regulating various physiological processes, ensuring balance and coordination in the body. </a:t>
            </a:r>
          </a:p>
          <a:p>
            <a:pPr marL="342900" indent="-342900" algn="just">
              <a:buFont typeface="Arial" panose="020B0604020202020204" pitchFamily="34" charset="0"/>
              <a:buChar char="•"/>
            </a:pPr>
            <a:r>
              <a:rPr lang="en-US" sz="2400" b="1" dirty="0">
                <a:solidFill>
                  <a:prstClr val="black"/>
                </a:solidFill>
                <a:latin typeface="Calibri"/>
              </a:rPr>
              <a:t>Transported in the Bloodstream: </a:t>
            </a:r>
            <a:r>
              <a:rPr lang="en-US" sz="2400" dirty="0">
                <a:solidFill>
                  <a:prstClr val="black"/>
                </a:solidFill>
                <a:latin typeface="Calibri"/>
              </a:rPr>
              <a:t>Once produced, hormones are released into the bloodstream, allowing them to travel to distant target cells or organs. </a:t>
            </a:r>
          </a:p>
          <a:p>
            <a:pPr marL="342900" indent="-342900" algn="just">
              <a:buFont typeface="Arial" panose="020B0604020202020204" pitchFamily="34" charset="0"/>
              <a:buChar char="•"/>
            </a:pPr>
            <a:r>
              <a:rPr lang="en-US" sz="2400" b="1" dirty="0">
                <a:solidFill>
                  <a:prstClr val="black"/>
                </a:solidFill>
                <a:latin typeface="Calibri"/>
              </a:rPr>
              <a:t>Target-Specific Actions</a:t>
            </a:r>
            <a:r>
              <a:rPr lang="en-US" sz="2400" dirty="0">
                <a:solidFill>
                  <a:prstClr val="black"/>
                </a:solidFill>
                <a:latin typeface="Calibri"/>
              </a:rPr>
              <a:t>: Each hormone has specific target cells or organs where it exerts its effects, influencing cellular activities. </a:t>
            </a:r>
          </a:p>
        </p:txBody>
      </p:sp>
    </p:spTree>
    <p:extLst>
      <p:ext uri="{BB962C8B-B14F-4D97-AF65-F5344CB8AC3E}">
        <p14:creationId xmlns:p14="http://schemas.microsoft.com/office/powerpoint/2010/main" val="250035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294099-4F1B-4FCF-8342-5998CE450697}"/>
              </a:ext>
            </a:extLst>
          </p:cNvPr>
          <p:cNvSpPr/>
          <p:nvPr/>
        </p:nvSpPr>
        <p:spPr>
          <a:xfrm>
            <a:off x="0" y="0"/>
            <a:ext cx="12056012" cy="3785652"/>
          </a:xfrm>
          <a:prstGeom prst="rect">
            <a:avLst/>
          </a:prstGeom>
        </p:spPr>
        <p:txBody>
          <a:bodyPr wrap="square">
            <a:spAutoFit/>
          </a:bodyPr>
          <a:lstStyle/>
          <a:p>
            <a:pPr marL="342900" indent="-342900" algn="just">
              <a:buFont typeface="Arial" panose="020B0604020202020204" pitchFamily="34" charset="0"/>
              <a:buChar char="•"/>
            </a:pPr>
            <a:r>
              <a:rPr lang="en-US" sz="2400" b="1" dirty="0">
                <a:solidFill>
                  <a:prstClr val="black"/>
                </a:solidFill>
                <a:latin typeface="Calibri"/>
              </a:rPr>
              <a:t>Control over Metabolism</a:t>
            </a:r>
            <a:r>
              <a:rPr lang="en-US" sz="2400" dirty="0">
                <a:solidFill>
                  <a:prstClr val="black"/>
                </a:solidFill>
                <a:latin typeface="Calibri"/>
              </a:rPr>
              <a:t>: Hormones contribute to the regulation of metabolism, influencing processes like energy production and utilization. </a:t>
            </a:r>
          </a:p>
          <a:p>
            <a:pPr marL="342900" indent="-342900" algn="just">
              <a:buFont typeface="Arial" panose="020B0604020202020204" pitchFamily="34" charset="0"/>
              <a:buChar char="•"/>
            </a:pPr>
            <a:r>
              <a:rPr lang="en-US" sz="2400" b="1" dirty="0">
                <a:solidFill>
                  <a:prstClr val="black"/>
                </a:solidFill>
                <a:latin typeface="Calibri"/>
              </a:rPr>
              <a:t>Influence on Growth and Development</a:t>
            </a:r>
            <a:r>
              <a:rPr lang="en-US" sz="2400" dirty="0">
                <a:solidFill>
                  <a:prstClr val="black"/>
                </a:solidFill>
                <a:latin typeface="Calibri"/>
              </a:rPr>
              <a:t>: Growth hormones, for example, impact growth and development, especially during childhood and adolescence. </a:t>
            </a:r>
          </a:p>
          <a:p>
            <a:pPr marL="342900" indent="-342900" algn="just">
              <a:buFont typeface="Arial" panose="020B0604020202020204" pitchFamily="34" charset="0"/>
              <a:buChar char="•"/>
            </a:pPr>
            <a:r>
              <a:rPr lang="en-US" sz="2400" b="1" dirty="0">
                <a:solidFill>
                  <a:prstClr val="black"/>
                </a:solidFill>
                <a:latin typeface="Calibri"/>
              </a:rPr>
              <a:t>Role in Reproduction: </a:t>
            </a:r>
            <a:r>
              <a:rPr lang="en-US" sz="2400" dirty="0">
                <a:solidFill>
                  <a:prstClr val="black"/>
                </a:solidFill>
                <a:latin typeface="Calibri"/>
              </a:rPr>
              <a:t>Reproductive hormones, such as estrogen and testosterone, play a key role in the reproductive system, influencing fertility and secondary sexual characteristics. </a:t>
            </a:r>
          </a:p>
          <a:p>
            <a:pPr marL="342900" indent="-342900" algn="just">
              <a:buFont typeface="Arial" panose="020B0604020202020204" pitchFamily="34" charset="0"/>
              <a:buChar char="•"/>
            </a:pPr>
            <a:r>
              <a:rPr lang="en-US" sz="2400" b="1" dirty="0">
                <a:solidFill>
                  <a:prstClr val="black"/>
                </a:solidFill>
                <a:latin typeface="Calibri"/>
              </a:rPr>
              <a:t>Feedback Mechanisms: </a:t>
            </a:r>
            <a:r>
              <a:rPr lang="en-US" sz="2400" dirty="0">
                <a:solidFill>
                  <a:prstClr val="black"/>
                </a:solidFill>
                <a:latin typeface="Calibri"/>
              </a:rPr>
              <a:t>Hormonal release is often regulated by feedback mechanisms, maintaining homeostasis and preventing excessive hormone levels. </a:t>
            </a:r>
          </a:p>
          <a:p>
            <a:pPr marL="342900" indent="-342900" algn="just">
              <a:buFont typeface="Arial" panose="020B0604020202020204" pitchFamily="34" charset="0"/>
              <a:buChar char="•"/>
            </a:pPr>
            <a:r>
              <a:rPr lang="en-US" sz="2400" b="1" dirty="0">
                <a:solidFill>
                  <a:prstClr val="black"/>
                </a:solidFill>
                <a:latin typeface="Calibri"/>
              </a:rPr>
              <a:t>Responses to Stress: </a:t>
            </a:r>
            <a:r>
              <a:rPr lang="en-US" sz="2400" dirty="0">
                <a:solidFill>
                  <a:prstClr val="black"/>
                </a:solidFill>
                <a:latin typeface="Calibri"/>
              </a:rPr>
              <a:t>Certain hormones, like cortisol, respond to stress by mobilizing energy reserves and preparing the body for a "fight or flight" response.</a:t>
            </a:r>
          </a:p>
        </p:txBody>
      </p:sp>
    </p:spTree>
    <p:extLst>
      <p:ext uri="{BB962C8B-B14F-4D97-AF65-F5344CB8AC3E}">
        <p14:creationId xmlns:p14="http://schemas.microsoft.com/office/powerpoint/2010/main" val="1360268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ACD2A3-224F-464C-9244-4E8351B704A6}"/>
              </a:ext>
            </a:extLst>
          </p:cNvPr>
          <p:cNvSpPr/>
          <p:nvPr/>
        </p:nvSpPr>
        <p:spPr>
          <a:xfrm>
            <a:off x="-1" y="1"/>
            <a:ext cx="12041945" cy="6370975"/>
          </a:xfrm>
          <a:prstGeom prst="rect">
            <a:avLst/>
          </a:prstGeom>
        </p:spPr>
        <p:txBody>
          <a:bodyPr wrap="square">
            <a:spAutoFit/>
          </a:bodyPr>
          <a:lstStyle/>
          <a:p>
            <a:pPr algn="just"/>
            <a:r>
              <a:rPr lang="en-US" sz="2400" b="1" dirty="0">
                <a:solidFill>
                  <a:prstClr val="black"/>
                </a:solidFill>
                <a:latin typeface="Calibri"/>
              </a:rPr>
              <a:t>Functions of Hormones with Examples </a:t>
            </a:r>
          </a:p>
          <a:p>
            <a:pPr marL="342900" indent="-342900" algn="just">
              <a:buFont typeface="Arial" panose="020B0604020202020204" pitchFamily="34" charset="0"/>
              <a:buChar char="•"/>
            </a:pPr>
            <a:r>
              <a:rPr lang="en-US" sz="2400" b="1" dirty="0">
                <a:solidFill>
                  <a:prstClr val="black"/>
                </a:solidFill>
                <a:latin typeface="Calibri"/>
              </a:rPr>
              <a:t>Regulation of Metabolism: </a:t>
            </a:r>
            <a:r>
              <a:rPr lang="en-US" sz="2400" dirty="0">
                <a:solidFill>
                  <a:prstClr val="black"/>
                </a:solidFill>
                <a:latin typeface="Calibri"/>
              </a:rPr>
              <a:t>Example: Insulin and Glucagon.</a:t>
            </a:r>
          </a:p>
          <a:p>
            <a:pPr marL="800100" lvl="1" indent="-342900" algn="just">
              <a:buFont typeface="Arial" panose="020B0604020202020204" pitchFamily="34" charset="0"/>
              <a:buChar char="•"/>
            </a:pPr>
            <a:r>
              <a:rPr lang="en-US" sz="2400" dirty="0">
                <a:solidFill>
                  <a:prstClr val="black"/>
                </a:solidFill>
                <a:latin typeface="Calibri"/>
              </a:rPr>
              <a:t> Function: Insulin lowers blood sugar levels by promoting glucose uptake in cells, while glucagon increases blood sugar levels by stimulating the release of glucose from the liver. </a:t>
            </a:r>
          </a:p>
          <a:p>
            <a:pPr marL="342900" indent="-342900" algn="just">
              <a:buFont typeface="Arial" panose="020B0604020202020204" pitchFamily="34" charset="0"/>
              <a:buChar char="•"/>
            </a:pPr>
            <a:r>
              <a:rPr lang="en-US" sz="2400" b="1" dirty="0">
                <a:solidFill>
                  <a:prstClr val="black"/>
                </a:solidFill>
                <a:latin typeface="Calibri"/>
              </a:rPr>
              <a:t>Growth and Development: </a:t>
            </a:r>
            <a:r>
              <a:rPr lang="en-US" sz="2400" dirty="0">
                <a:solidFill>
                  <a:prstClr val="black"/>
                </a:solidFill>
                <a:latin typeface="Calibri"/>
              </a:rPr>
              <a:t>Example: Growth Hormone (GH). </a:t>
            </a:r>
          </a:p>
          <a:p>
            <a:pPr marL="800100" lvl="1" indent="-342900" algn="just">
              <a:buFont typeface="Arial" panose="020B0604020202020204" pitchFamily="34" charset="0"/>
              <a:buChar char="•"/>
            </a:pPr>
            <a:r>
              <a:rPr lang="en-US" sz="2400" dirty="0">
                <a:solidFill>
                  <a:prstClr val="black"/>
                </a:solidFill>
                <a:latin typeface="Calibri"/>
              </a:rPr>
              <a:t>Function: GH stimulates growth, cell reproduction, and regeneration, influencing overall growth during childhood and adolescence. </a:t>
            </a:r>
          </a:p>
          <a:p>
            <a:pPr marL="342900" indent="-342900" algn="just">
              <a:buFont typeface="Arial" panose="020B0604020202020204" pitchFamily="34" charset="0"/>
              <a:buChar char="•"/>
            </a:pPr>
            <a:r>
              <a:rPr lang="en-US" sz="2400" b="1" dirty="0">
                <a:solidFill>
                  <a:prstClr val="black"/>
                </a:solidFill>
                <a:latin typeface="Calibri"/>
              </a:rPr>
              <a:t>Maintenance of Water and Electrolyte Balance: </a:t>
            </a:r>
            <a:r>
              <a:rPr lang="en-US" sz="2400" dirty="0">
                <a:solidFill>
                  <a:prstClr val="black"/>
                </a:solidFill>
                <a:latin typeface="Calibri"/>
              </a:rPr>
              <a:t>Example: Antidiuretic Hormone (ADH). </a:t>
            </a:r>
          </a:p>
          <a:p>
            <a:pPr marL="800100" lvl="1" indent="-342900" algn="just">
              <a:buFont typeface="Arial" panose="020B0604020202020204" pitchFamily="34" charset="0"/>
              <a:buChar char="•"/>
            </a:pPr>
            <a:r>
              <a:rPr lang="en-US" sz="2400" dirty="0">
                <a:solidFill>
                  <a:prstClr val="black"/>
                </a:solidFill>
                <a:latin typeface="Calibri"/>
              </a:rPr>
              <a:t>Function: ADH regulates water reabsorption in the kidneys, helping to maintain proper water balance in the body. </a:t>
            </a:r>
          </a:p>
          <a:p>
            <a:pPr marL="342900" indent="-342900" algn="just">
              <a:buFont typeface="Arial" panose="020B0604020202020204" pitchFamily="34" charset="0"/>
              <a:buChar char="•"/>
            </a:pPr>
            <a:r>
              <a:rPr lang="en-US" sz="2400" b="1" dirty="0">
                <a:solidFill>
                  <a:prstClr val="black"/>
                </a:solidFill>
                <a:latin typeface="Calibri"/>
              </a:rPr>
              <a:t>Reproductive Functions</a:t>
            </a:r>
            <a:r>
              <a:rPr lang="en-US" sz="2400" dirty="0">
                <a:solidFill>
                  <a:prstClr val="black"/>
                </a:solidFill>
                <a:latin typeface="Calibri"/>
              </a:rPr>
              <a:t>: Examples: Estrogen and Testosterone. </a:t>
            </a:r>
          </a:p>
          <a:p>
            <a:pPr marL="800100" lvl="1" indent="-342900" algn="just">
              <a:buFont typeface="Arial" panose="020B0604020202020204" pitchFamily="34" charset="0"/>
              <a:buChar char="•"/>
            </a:pPr>
            <a:r>
              <a:rPr lang="en-US" sz="2400" dirty="0">
                <a:solidFill>
                  <a:prstClr val="black"/>
                </a:solidFill>
                <a:latin typeface="Calibri"/>
              </a:rPr>
              <a:t>Function: Estrogen regulates the menstrual cycle and supports the development of secondary sexual characteristics in females, while testosterone plays a key role in male reproductive functions. </a:t>
            </a:r>
          </a:p>
          <a:p>
            <a:pPr marL="342900" indent="-342900" algn="just">
              <a:buFont typeface="Arial" panose="020B0604020202020204" pitchFamily="34" charset="0"/>
              <a:buChar char="•"/>
            </a:pPr>
            <a:r>
              <a:rPr lang="en-US" sz="2400" b="1" dirty="0">
                <a:solidFill>
                  <a:prstClr val="black"/>
                </a:solidFill>
                <a:latin typeface="Calibri"/>
              </a:rPr>
              <a:t>Stress Response: </a:t>
            </a:r>
            <a:r>
              <a:rPr lang="en-US" sz="2400" dirty="0">
                <a:solidFill>
                  <a:prstClr val="black"/>
                </a:solidFill>
                <a:latin typeface="Calibri"/>
              </a:rPr>
              <a:t>Example: Cortisol. </a:t>
            </a:r>
          </a:p>
          <a:p>
            <a:pPr marL="800100" lvl="1" indent="-342900" algn="just">
              <a:buFont typeface="Arial" panose="020B0604020202020204" pitchFamily="34" charset="0"/>
              <a:buChar char="•"/>
            </a:pPr>
            <a:r>
              <a:rPr lang="en-US" sz="2400" dirty="0">
                <a:solidFill>
                  <a:prstClr val="black"/>
                </a:solidFill>
                <a:latin typeface="Calibri"/>
              </a:rPr>
              <a:t>Function: Cortisol, often termed the "stress hormone," helps the body respond to stress by increasing glucose levels and suppressing the immune system.</a:t>
            </a:r>
            <a:endParaRPr lang="en-IN" sz="2400" dirty="0">
              <a:solidFill>
                <a:prstClr val="black"/>
              </a:solidFill>
              <a:latin typeface="Calibri"/>
            </a:endParaRPr>
          </a:p>
        </p:txBody>
      </p:sp>
    </p:spTree>
    <p:extLst>
      <p:ext uri="{BB962C8B-B14F-4D97-AF65-F5344CB8AC3E}">
        <p14:creationId xmlns:p14="http://schemas.microsoft.com/office/powerpoint/2010/main" val="2688393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1069" y="-152400"/>
            <a:ext cx="8915400" cy="7201972"/>
          </a:xfrm>
          <a:prstGeom prst="rect">
            <a:avLst/>
          </a:prstGeom>
        </p:spPr>
        <p:txBody>
          <a:bodyPr wrap="square">
            <a:spAutoFit/>
          </a:bodyPr>
          <a:lstStyle/>
          <a:p>
            <a:pPr algn="just">
              <a:lnSpc>
                <a:spcPct val="150000"/>
              </a:lnSpc>
            </a:pPr>
            <a:r>
              <a:rPr lang="en-US" sz="2800" dirty="0">
                <a:solidFill>
                  <a:srgbClr val="9BBB59">
                    <a:lumMod val="75000"/>
                  </a:srgbClr>
                </a:solidFill>
                <a:latin typeface="Calibri"/>
              </a:rPr>
              <a:t>Plant Based Proteins </a:t>
            </a:r>
          </a:p>
          <a:p>
            <a:pPr marL="457200" indent="-457200" algn="just">
              <a:lnSpc>
                <a:spcPct val="150000"/>
              </a:lnSpc>
              <a:buFont typeface="Wingdings" pitchFamily="2" charset="2"/>
              <a:buChar char="§"/>
            </a:pPr>
            <a:r>
              <a:rPr lang="en-US" sz="2800" dirty="0">
                <a:solidFill>
                  <a:prstClr val="black"/>
                </a:solidFill>
                <a:latin typeface="Calibri"/>
              </a:rPr>
              <a:t>Proteins derived from plant sources - legumes, grains, nuts, and seeds. </a:t>
            </a:r>
          </a:p>
          <a:p>
            <a:pPr marL="457200" indent="-457200" algn="just">
              <a:lnSpc>
                <a:spcPct val="150000"/>
              </a:lnSpc>
              <a:buFont typeface="Wingdings" pitchFamily="2" charset="2"/>
              <a:buChar char="§"/>
            </a:pPr>
            <a:r>
              <a:rPr lang="en-US" sz="2800" dirty="0">
                <a:solidFill>
                  <a:prstClr val="black"/>
                </a:solidFill>
                <a:latin typeface="Calibri"/>
              </a:rPr>
              <a:t>Alternative to animal-based proteins - for those following a vegetarian or vegan diet. </a:t>
            </a:r>
          </a:p>
          <a:p>
            <a:pPr marL="457200" indent="-457200" algn="just">
              <a:lnSpc>
                <a:spcPct val="150000"/>
              </a:lnSpc>
              <a:buFont typeface="Wingdings" pitchFamily="2" charset="2"/>
              <a:buChar char="§"/>
            </a:pPr>
            <a:r>
              <a:rPr lang="en-US" sz="2800" dirty="0">
                <a:solidFill>
                  <a:prstClr val="black"/>
                </a:solidFill>
                <a:latin typeface="Calibri"/>
              </a:rPr>
              <a:t>Examples: soy protein, pea protein, lentil protein, chickpea protein, and hemp protein. </a:t>
            </a:r>
          </a:p>
          <a:p>
            <a:pPr marL="457200" indent="-457200" algn="just">
              <a:lnSpc>
                <a:spcPct val="150000"/>
              </a:lnSpc>
              <a:buFont typeface="Wingdings" pitchFamily="2" charset="2"/>
              <a:buChar char="§"/>
            </a:pPr>
            <a:r>
              <a:rPr lang="en-US" sz="2800" dirty="0">
                <a:solidFill>
                  <a:prstClr val="black"/>
                </a:solidFill>
                <a:latin typeface="Calibri"/>
              </a:rPr>
              <a:t>Choose a high-quality product - free of artificial additives and preservatives.</a:t>
            </a:r>
          </a:p>
          <a:p>
            <a:pPr marL="457200" indent="-457200" algn="just">
              <a:lnSpc>
                <a:spcPct val="150000"/>
              </a:lnSpc>
              <a:buFont typeface="Wingdings" pitchFamily="2" charset="2"/>
              <a:buChar char="§"/>
            </a:pPr>
            <a:r>
              <a:rPr lang="en-US" sz="2800" dirty="0">
                <a:solidFill>
                  <a:prstClr val="black"/>
                </a:solidFill>
                <a:latin typeface="Calibri"/>
              </a:rPr>
              <a:t>consult a healthcare professional before starting to use any new protein supplement.</a:t>
            </a:r>
          </a:p>
        </p:txBody>
      </p:sp>
    </p:spTree>
    <p:extLst>
      <p:ext uri="{BB962C8B-B14F-4D97-AF65-F5344CB8AC3E}">
        <p14:creationId xmlns:p14="http://schemas.microsoft.com/office/powerpoint/2010/main" val="1099186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D53640-EEF6-4C76-AE41-1BDE7C8A06C1}"/>
              </a:ext>
            </a:extLst>
          </p:cNvPr>
          <p:cNvSpPr/>
          <p:nvPr/>
        </p:nvSpPr>
        <p:spPr>
          <a:xfrm>
            <a:off x="0" y="0"/>
            <a:ext cx="12070080" cy="5632311"/>
          </a:xfrm>
          <a:prstGeom prst="rect">
            <a:avLst/>
          </a:prstGeom>
        </p:spPr>
        <p:txBody>
          <a:bodyPr wrap="square">
            <a:spAutoFit/>
          </a:bodyPr>
          <a:lstStyle/>
          <a:p>
            <a:pPr marL="342900" indent="-342900" algn="just">
              <a:buFont typeface="Arial" panose="020B0604020202020204" pitchFamily="34" charset="0"/>
              <a:buChar char="•"/>
            </a:pPr>
            <a:r>
              <a:rPr lang="en-IN" sz="2400" b="1" dirty="0">
                <a:solidFill>
                  <a:prstClr val="black"/>
                </a:solidFill>
                <a:latin typeface="Calibri"/>
              </a:rPr>
              <a:t>Regulation of Calcium Levels: </a:t>
            </a:r>
            <a:r>
              <a:rPr lang="en-IN" sz="2400" dirty="0">
                <a:solidFill>
                  <a:prstClr val="black"/>
                </a:solidFill>
                <a:latin typeface="Calibri"/>
              </a:rPr>
              <a:t>Example: Parathyroid Hormone (PTH). </a:t>
            </a:r>
          </a:p>
          <a:p>
            <a:pPr marL="800100" lvl="1" indent="-342900" algn="just">
              <a:buFont typeface="Arial" panose="020B0604020202020204" pitchFamily="34" charset="0"/>
              <a:buChar char="•"/>
            </a:pPr>
            <a:r>
              <a:rPr lang="en-IN" sz="2400" dirty="0">
                <a:solidFill>
                  <a:prstClr val="black"/>
                </a:solidFill>
                <a:latin typeface="Calibri"/>
              </a:rPr>
              <a:t>Function: PTH regulates calcium levels in the blood by promoting calcium absorption in the intestines and releasing calcium from bones. </a:t>
            </a:r>
          </a:p>
          <a:p>
            <a:pPr marL="342900" indent="-342900" algn="just">
              <a:buFont typeface="Arial" panose="020B0604020202020204" pitchFamily="34" charset="0"/>
              <a:buChar char="•"/>
            </a:pPr>
            <a:r>
              <a:rPr lang="en-IN" sz="2400" b="1" dirty="0">
                <a:solidFill>
                  <a:prstClr val="black"/>
                </a:solidFill>
                <a:latin typeface="Calibri"/>
              </a:rPr>
              <a:t>Thyroid Function: </a:t>
            </a:r>
            <a:r>
              <a:rPr lang="en-IN" sz="2400" dirty="0">
                <a:solidFill>
                  <a:prstClr val="black"/>
                </a:solidFill>
                <a:latin typeface="Calibri"/>
              </a:rPr>
              <a:t>Examples: Thyroid Hormones (T3 and T4). </a:t>
            </a:r>
          </a:p>
          <a:p>
            <a:pPr marL="800100" lvl="1" indent="-342900" algn="just">
              <a:buFont typeface="Arial" panose="020B0604020202020204" pitchFamily="34" charset="0"/>
              <a:buChar char="•"/>
            </a:pPr>
            <a:r>
              <a:rPr lang="en-IN" sz="2400" dirty="0">
                <a:solidFill>
                  <a:prstClr val="black"/>
                </a:solidFill>
                <a:latin typeface="Calibri"/>
              </a:rPr>
              <a:t>Function: Thyroid hormones influence metabolism, energy production, and overall cellular activity. </a:t>
            </a:r>
          </a:p>
          <a:p>
            <a:pPr marL="342900" indent="-342900" algn="just">
              <a:buFont typeface="Arial" panose="020B0604020202020204" pitchFamily="34" charset="0"/>
              <a:buChar char="•"/>
            </a:pPr>
            <a:r>
              <a:rPr lang="en-IN" sz="2400" b="1" dirty="0">
                <a:solidFill>
                  <a:prstClr val="black"/>
                </a:solidFill>
                <a:latin typeface="Calibri"/>
              </a:rPr>
              <a:t>Blood Pressure Regulation: </a:t>
            </a:r>
            <a:r>
              <a:rPr lang="en-IN" sz="2400" dirty="0">
                <a:solidFill>
                  <a:prstClr val="black"/>
                </a:solidFill>
                <a:latin typeface="Calibri"/>
              </a:rPr>
              <a:t>Example: Renin and Aldosterone. </a:t>
            </a:r>
          </a:p>
          <a:p>
            <a:pPr marL="800100" lvl="1" indent="-342900" algn="just">
              <a:buFont typeface="Arial" panose="020B0604020202020204" pitchFamily="34" charset="0"/>
              <a:buChar char="•"/>
            </a:pPr>
            <a:r>
              <a:rPr lang="en-IN" sz="2400" dirty="0">
                <a:solidFill>
                  <a:prstClr val="black"/>
                </a:solidFill>
                <a:latin typeface="Calibri"/>
              </a:rPr>
              <a:t>Function: Renin initiates a cascade that leads to aldosterone release, which, in turn, regulates sodium and water balance, impacting blood pressure. </a:t>
            </a:r>
          </a:p>
          <a:p>
            <a:pPr marL="342900" indent="-342900" algn="just">
              <a:buFont typeface="Arial" panose="020B0604020202020204" pitchFamily="34" charset="0"/>
              <a:buChar char="•"/>
            </a:pPr>
            <a:r>
              <a:rPr lang="en-IN" sz="2400" b="1" dirty="0">
                <a:solidFill>
                  <a:prstClr val="black"/>
                </a:solidFill>
                <a:latin typeface="Calibri"/>
              </a:rPr>
              <a:t>Inflammatory Response</a:t>
            </a:r>
            <a:r>
              <a:rPr lang="en-IN" sz="2400" dirty="0">
                <a:solidFill>
                  <a:prstClr val="black"/>
                </a:solidFill>
                <a:latin typeface="Calibri"/>
              </a:rPr>
              <a:t>: Example: Prostaglandins.</a:t>
            </a:r>
          </a:p>
          <a:p>
            <a:pPr marL="800100" lvl="1" indent="-342900" algn="just">
              <a:buFont typeface="Arial" panose="020B0604020202020204" pitchFamily="34" charset="0"/>
              <a:buChar char="•"/>
            </a:pPr>
            <a:r>
              <a:rPr lang="en-IN" sz="2400" dirty="0">
                <a:solidFill>
                  <a:prstClr val="black"/>
                </a:solidFill>
                <a:latin typeface="Calibri"/>
              </a:rPr>
              <a:t>Function: Prostaglandins are involved in the inflammatory response, contributing to processes like fever, pain, and swelling. </a:t>
            </a:r>
          </a:p>
          <a:p>
            <a:pPr marL="342900" indent="-342900" algn="just">
              <a:buFont typeface="Arial" panose="020B0604020202020204" pitchFamily="34" charset="0"/>
              <a:buChar char="•"/>
            </a:pPr>
            <a:r>
              <a:rPr lang="en-IN" sz="2400" b="1" dirty="0">
                <a:solidFill>
                  <a:prstClr val="black"/>
                </a:solidFill>
                <a:latin typeface="Calibri"/>
              </a:rPr>
              <a:t>Mood and Sleep Regulation: </a:t>
            </a:r>
            <a:r>
              <a:rPr lang="en-IN" sz="2400" dirty="0">
                <a:solidFill>
                  <a:prstClr val="black"/>
                </a:solidFill>
                <a:latin typeface="Calibri"/>
              </a:rPr>
              <a:t>Example: Melatonin. </a:t>
            </a:r>
          </a:p>
          <a:p>
            <a:pPr marL="800100" lvl="1" indent="-342900" algn="just">
              <a:buFont typeface="Arial" panose="020B0604020202020204" pitchFamily="34" charset="0"/>
              <a:buChar char="•"/>
            </a:pPr>
            <a:r>
              <a:rPr lang="en-IN" sz="2400" dirty="0">
                <a:solidFill>
                  <a:prstClr val="black"/>
                </a:solidFill>
                <a:latin typeface="Calibri"/>
              </a:rPr>
              <a:t>Function: Melatonin regulates the sleep-wake cycle, influencing circadian rhythms and promoting sleep. </a:t>
            </a:r>
          </a:p>
        </p:txBody>
      </p:sp>
    </p:spTree>
    <p:extLst>
      <p:ext uri="{BB962C8B-B14F-4D97-AF65-F5344CB8AC3E}">
        <p14:creationId xmlns:p14="http://schemas.microsoft.com/office/powerpoint/2010/main" val="3667907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are Hormones?">
            <a:extLst>
              <a:ext uri="{FF2B5EF4-FFF2-40B4-BE49-F238E27FC236}">
                <a16:creationId xmlns:a16="http://schemas.microsoft.com/office/drawing/2014/main" id="{43BD1F19-00D0-44C6-8B39-82F38407D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508" y="137341"/>
            <a:ext cx="7568418" cy="6724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8500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6A8172D-327F-45DD-AD8B-84C08BFB9D48}"/>
              </a:ext>
            </a:extLst>
          </p:cNvPr>
          <p:cNvSpPr/>
          <p:nvPr/>
        </p:nvSpPr>
        <p:spPr>
          <a:xfrm>
            <a:off x="0" y="1"/>
            <a:ext cx="12192000" cy="5555367"/>
          </a:xfrm>
          <a:prstGeom prst="rect">
            <a:avLst/>
          </a:prstGeom>
        </p:spPr>
        <p:txBody>
          <a:bodyPr wrap="square">
            <a:spAutoFit/>
          </a:bodyPr>
          <a:lstStyle/>
          <a:p>
            <a:pPr marL="342900" indent="-342900">
              <a:buFont typeface="Arial" panose="020B0604020202020204" pitchFamily="34" charset="0"/>
              <a:buChar char="•"/>
            </a:pPr>
            <a:r>
              <a:rPr lang="en-IN" sz="2300" dirty="0"/>
              <a:t>CELL &amp; MOLECULAR BIOLOGY(</a:t>
            </a:r>
            <a:r>
              <a:rPr lang="en-US" sz="2300" dirty="0"/>
              <a:t>DEPARTMENT OF ZOOLOGY SCHOOL OF SCIENCES UTTARAKHAND OPEN UNIVERSITY)</a:t>
            </a:r>
            <a:endParaRPr lang="en-IN" sz="2300" dirty="0">
              <a:hlinkClick r:id="rId2"/>
            </a:endParaRPr>
          </a:p>
          <a:p>
            <a:pPr marL="342900" indent="-342900">
              <a:buFont typeface="Arial" panose="020B0604020202020204" pitchFamily="34" charset="0"/>
              <a:buChar char="•"/>
            </a:pPr>
            <a:r>
              <a:rPr lang="en-IN" sz="2300" dirty="0">
                <a:hlinkClick r:id="rId2"/>
              </a:rPr>
              <a:t>https://ijmsweb.com/stem-cells-current-applications-and-future-prospects/</a:t>
            </a:r>
            <a:endParaRPr lang="en-IN" sz="2300" dirty="0"/>
          </a:p>
          <a:p>
            <a:pPr marL="342900" indent="-342900">
              <a:buFont typeface="Arial" panose="020B0604020202020204" pitchFamily="34" charset="0"/>
              <a:buChar char="•"/>
            </a:pPr>
            <a:r>
              <a:rPr lang="en-IN" sz="2300" dirty="0">
                <a:hlinkClick r:id="rId3"/>
              </a:rPr>
              <a:t>https://microbenotes.com/stem-cells/</a:t>
            </a:r>
            <a:endParaRPr lang="en-IN" sz="2300" dirty="0"/>
          </a:p>
          <a:p>
            <a:pPr marL="342900" indent="-342900">
              <a:buFont typeface="Arial" panose="020B0604020202020204" pitchFamily="34" charset="0"/>
              <a:buChar char="•"/>
            </a:pPr>
            <a:r>
              <a:rPr lang="en-IN" sz="2400" dirty="0">
                <a:solidFill>
                  <a:prstClr val="black"/>
                </a:solidFill>
                <a:hlinkClick r:id="rId4"/>
              </a:rPr>
              <a:t>https://www.betterhealth.vic.gov.au/health/healthyliving/Vitamins-and-minerals#:~:text=Vitamins%20and%20minerals%20are%20essential,if%20consumed%20in%20large%20amounts</a:t>
            </a:r>
            <a:r>
              <a:rPr lang="en-IN" sz="2400" dirty="0">
                <a:solidFill>
                  <a:prstClr val="black"/>
                </a:solidFill>
              </a:rPr>
              <a:t>.</a:t>
            </a:r>
          </a:p>
          <a:p>
            <a:pPr marL="342900" indent="-342900">
              <a:buFont typeface="Arial" panose="020B0604020202020204" pitchFamily="34" charset="0"/>
              <a:buChar char="•"/>
            </a:pPr>
            <a:r>
              <a:rPr lang="en-IN" sz="2400" dirty="0">
                <a:solidFill>
                  <a:prstClr val="black"/>
                </a:solidFill>
                <a:hlinkClick r:id="rId5"/>
              </a:rPr>
              <a:t>https://www.healthlinkbc.ca/healthy-eating-physical-activity/food-and-nutrition/nutrients/vitamins-their-functions-and-sources</a:t>
            </a:r>
            <a:endParaRPr lang="en-IN" sz="2400" dirty="0">
              <a:solidFill>
                <a:prstClr val="black"/>
              </a:solidFill>
            </a:endParaRPr>
          </a:p>
          <a:p>
            <a:pPr marL="342900" indent="-342900">
              <a:buFont typeface="Arial" panose="020B0604020202020204" pitchFamily="34" charset="0"/>
              <a:buChar char="•"/>
            </a:pPr>
            <a:r>
              <a:rPr lang="en-IN" sz="2400" dirty="0">
                <a:solidFill>
                  <a:prstClr val="black"/>
                </a:solidFill>
                <a:hlinkClick r:id="rId6"/>
              </a:rPr>
              <a:t>https://www.vedantu.com/biology/hormones</a:t>
            </a:r>
            <a:endParaRPr lang="en-IN" sz="2400" dirty="0">
              <a:solidFill>
                <a:prstClr val="black"/>
              </a:solidFill>
            </a:endParaRPr>
          </a:p>
          <a:p>
            <a:pPr marL="342900" indent="-342900">
              <a:buFont typeface="Arial" panose="020B0604020202020204" pitchFamily="34" charset="0"/>
              <a:buChar char="•"/>
            </a:pPr>
            <a:r>
              <a:rPr lang="en-IN" sz="2400" dirty="0">
                <a:solidFill>
                  <a:prstClr val="black"/>
                </a:solidFill>
                <a:hlinkClick r:id="rId7"/>
              </a:rPr>
              <a:t>https://my.clevelandclinic.org/health/articles/22464-hormones</a:t>
            </a:r>
            <a:endParaRPr lang="en-IN" sz="2400" dirty="0">
              <a:solidFill>
                <a:prstClr val="black"/>
              </a:solidFill>
            </a:endParaRPr>
          </a:p>
          <a:p>
            <a:pPr marL="342900" indent="-342900">
              <a:buFont typeface="Arial" panose="020B0604020202020204" pitchFamily="34" charset="0"/>
              <a:buChar char="•"/>
            </a:pPr>
            <a:r>
              <a:rPr lang="en-IN" sz="2400" dirty="0">
                <a:hlinkClick r:id="rId8"/>
              </a:rPr>
              <a:t>https://microbenotes.com</a:t>
            </a:r>
            <a:endParaRPr lang="en-IN" sz="2400" dirty="0"/>
          </a:p>
          <a:p>
            <a:pPr marL="342900" indent="-342900">
              <a:buFont typeface="Arial" panose="020B0604020202020204" pitchFamily="34" charset="0"/>
              <a:buChar char="•"/>
            </a:pPr>
            <a:endParaRPr lang="en-IN" sz="2400" dirty="0">
              <a:solidFill>
                <a:prstClr val="black"/>
              </a:solidFill>
            </a:endParaRPr>
          </a:p>
          <a:p>
            <a:pPr marL="342900" indent="-342900">
              <a:buFont typeface="Arial" panose="020B0604020202020204" pitchFamily="34" charset="0"/>
              <a:buChar char="•"/>
            </a:pPr>
            <a:endParaRPr lang="en-IN" sz="2400" dirty="0">
              <a:solidFill>
                <a:prstClr val="black"/>
              </a:solidFill>
            </a:endParaRPr>
          </a:p>
          <a:p>
            <a:endParaRPr lang="en-IN" sz="2300" dirty="0"/>
          </a:p>
        </p:txBody>
      </p:sp>
    </p:spTree>
    <p:extLst>
      <p:ext uri="{BB962C8B-B14F-4D97-AF65-F5344CB8AC3E}">
        <p14:creationId xmlns:p14="http://schemas.microsoft.com/office/powerpoint/2010/main" val="2714656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762001"/>
            <a:ext cx="7772400" cy="1470025"/>
          </a:xfrm>
        </p:spPr>
        <p:txBody>
          <a:bodyPr/>
          <a:lstStyle/>
          <a:p>
            <a:r>
              <a:rPr lang="en-IN" sz="5400" dirty="0">
                <a:solidFill>
                  <a:srgbClr val="00B050"/>
                </a:solidFill>
                <a:latin typeface="Arial Black" pitchFamily="34" charset="0"/>
              </a:rPr>
              <a:t>CARBOHYDRATES</a:t>
            </a:r>
            <a:endParaRPr lang="en-IN" dirty="0">
              <a:solidFill>
                <a:srgbClr val="00B050"/>
              </a:solidFill>
              <a:latin typeface="Arial Black" pitchFamily="34" charset="0"/>
            </a:endParaRPr>
          </a:p>
        </p:txBody>
      </p:sp>
      <p:sp>
        <p:nvSpPr>
          <p:cNvPr id="3" name="Subtitle 2"/>
          <p:cNvSpPr>
            <a:spLocks noGrp="1"/>
          </p:cNvSpPr>
          <p:nvPr>
            <p:ph type="subTitle" idx="1"/>
          </p:nvPr>
        </p:nvSpPr>
        <p:spPr>
          <a:xfrm>
            <a:off x="7696200" y="5410200"/>
            <a:ext cx="2743200" cy="1066800"/>
          </a:xfrm>
        </p:spPr>
        <p:txBody>
          <a:bodyPr>
            <a:normAutofit fontScale="92500" lnSpcReduction="10000"/>
          </a:bodyPr>
          <a:lstStyle/>
          <a:p>
            <a:r>
              <a:rPr lang="en-IN" dirty="0"/>
              <a:t>Pavithra K</a:t>
            </a:r>
          </a:p>
          <a:p>
            <a:r>
              <a:rPr lang="en-IN" dirty="0"/>
              <a:t>Assistant professor of basic science</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3810" b="18504"/>
          <a:stretch/>
        </p:blipFill>
        <p:spPr>
          <a:xfrm>
            <a:off x="2438400" y="2388636"/>
            <a:ext cx="7086600" cy="2413519"/>
          </a:xfrm>
          <a:prstGeom prst="rect">
            <a:avLst/>
          </a:prstGeom>
        </p:spPr>
      </p:pic>
    </p:spTree>
    <p:extLst>
      <p:ext uri="{BB962C8B-B14F-4D97-AF65-F5344CB8AC3E}">
        <p14:creationId xmlns:p14="http://schemas.microsoft.com/office/powerpoint/2010/main" val="2220335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6400" y="2"/>
            <a:ext cx="8839200" cy="7294305"/>
          </a:xfrm>
          <a:prstGeom prst="rect">
            <a:avLst/>
          </a:prstGeom>
          <a:noFill/>
        </p:spPr>
        <p:txBody>
          <a:bodyPr wrap="square" rtlCol="0">
            <a:spAutoFit/>
          </a:bodyPr>
          <a:lstStyle/>
          <a:p>
            <a:pPr algn="just">
              <a:lnSpc>
                <a:spcPct val="150000"/>
              </a:lnSpc>
            </a:pPr>
            <a:r>
              <a:rPr lang="en-IN" sz="3200" b="1" dirty="0"/>
              <a:t>CARBOHYDRATES</a:t>
            </a:r>
            <a:endParaRPr lang="en-IN" sz="2800" b="1" dirty="0"/>
          </a:p>
          <a:p>
            <a:pPr marL="457200" indent="-457200" algn="just">
              <a:lnSpc>
                <a:spcPct val="150000"/>
              </a:lnSpc>
              <a:buFont typeface="Arial" pitchFamily="34" charset="0"/>
              <a:buChar char="•"/>
            </a:pPr>
            <a:r>
              <a:rPr lang="en-US" sz="2800" dirty="0"/>
              <a:t>Organic compounds - important source of energy for living organisms. </a:t>
            </a:r>
          </a:p>
          <a:p>
            <a:pPr marL="457200" indent="-457200" algn="just">
              <a:lnSpc>
                <a:spcPct val="150000"/>
              </a:lnSpc>
              <a:buFont typeface="Arial" pitchFamily="34" charset="0"/>
              <a:buChar char="•"/>
            </a:pPr>
            <a:r>
              <a:rPr lang="en-US" sz="2800" dirty="0"/>
              <a:t>Carbon (C), hydrogen (H), and oxygen (O) atoms  </a:t>
            </a:r>
          </a:p>
          <a:p>
            <a:pPr marL="457200" indent="-457200" algn="just">
              <a:lnSpc>
                <a:spcPct val="150000"/>
              </a:lnSpc>
              <a:buFont typeface="Arial" pitchFamily="34" charset="0"/>
              <a:buChar char="•"/>
            </a:pPr>
            <a:r>
              <a:rPr lang="en-US" sz="2800" dirty="0"/>
              <a:t>Classified based on their molecular structure and function. </a:t>
            </a:r>
          </a:p>
          <a:p>
            <a:pPr marL="457200" indent="-457200" algn="just">
              <a:lnSpc>
                <a:spcPct val="150000"/>
              </a:lnSpc>
              <a:buFont typeface="Arial" pitchFamily="34" charset="0"/>
              <a:buChar char="•"/>
            </a:pPr>
            <a:r>
              <a:rPr lang="en-US" sz="2800" dirty="0"/>
              <a:t>General formula is </a:t>
            </a:r>
            <a:r>
              <a:rPr lang="en-US" sz="2800" dirty="0" err="1"/>
              <a:t>C</a:t>
            </a:r>
            <a:r>
              <a:rPr lang="en-US" sz="2800" baseline="-25000" dirty="0" err="1"/>
              <a:t>n</a:t>
            </a:r>
            <a:r>
              <a:rPr lang="en-US" sz="2800" dirty="0"/>
              <a:t>(H</a:t>
            </a:r>
            <a:r>
              <a:rPr lang="en-US" sz="2800" baseline="-25000" dirty="0"/>
              <a:t>2</a:t>
            </a:r>
            <a:r>
              <a:rPr lang="en-US" sz="2800" dirty="0"/>
              <a:t>O)</a:t>
            </a:r>
            <a:r>
              <a:rPr lang="en-US" sz="2800" baseline="-25000" dirty="0"/>
              <a:t>n</a:t>
            </a:r>
            <a:r>
              <a:rPr lang="en-US" sz="2800" dirty="0"/>
              <a:t>.</a:t>
            </a:r>
          </a:p>
          <a:p>
            <a:pPr marL="457200" indent="-457200" algn="just">
              <a:lnSpc>
                <a:spcPct val="150000"/>
              </a:lnSpc>
              <a:buFont typeface="Arial" pitchFamily="34" charset="0"/>
              <a:buChar char="•"/>
            </a:pPr>
            <a:r>
              <a:rPr lang="en-US" sz="2800" dirty="0"/>
              <a:t>Carbohydrates are essential components of biological systems and play a crucial role in maintaining the health and survival of living organisms</a:t>
            </a:r>
          </a:p>
          <a:p>
            <a:pPr marL="457200" indent="-457200" algn="just">
              <a:lnSpc>
                <a:spcPct val="150000"/>
              </a:lnSpc>
              <a:buFont typeface="Arial" pitchFamily="34" charset="0"/>
              <a:buChar char="•"/>
            </a:pPr>
            <a:endParaRPr lang="en-IN" sz="2800" dirty="0"/>
          </a:p>
        </p:txBody>
      </p:sp>
      <p:sp>
        <p:nvSpPr>
          <p:cNvPr id="3" name="Rectangle 2"/>
          <p:cNvSpPr/>
          <p:nvPr/>
        </p:nvSpPr>
        <p:spPr>
          <a:xfrm>
            <a:off x="4038600" y="2948067"/>
            <a:ext cx="4724400" cy="461665"/>
          </a:xfrm>
          <a:prstGeom prst="rect">
            <a:avLst/>
          </a:prstGeom>
        </p:spPr>
        <p:txBody>
          <a:bodyPr wrap="square">
            <a:spAutoFit/>
          </a:bodyPr>
          <a:lstStyle/>
          <a:p>
            <a:r>
              <a:rPr lang="en-US" sz="2400" dirty="0"/>
              <a:t>.</a:t>
            </a:r>
            <a:endParaRPr lang="en-IN" sz="2400" dirty="0"/>
          </a:p>
        </p:txBody>
      </p:sp>
    </p:spTree>
    <p:extLst>
      <p:ext uri="{BB962C8B-B14F-4D97-AF65-F5344CB8AC3E}">
        <p14:creationId xmlns:p14="http://schemas.microsoft.com/office/powerpoint/2010/main" val="543746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30976" t="-2299" r="-1606" b="-5882"/>
          <a:stretch/>
        </p:blipFill>
        <p:spPr>
          <a:xfrm>
            <a:off x="7155873" y="3048001"/>
            <a:ext cx="3311906" cy="3465285"/>
          </a:xfrm>
          <a:prstGeom prst="rect">
            <a:avLst/>
          </a:prstGeom>
        </p:spPr>
      </p:pic>
      <p:sp>
        <p:nvSpPr>
          <p:cNvPr id="2" name="Rectangle 1"/>
          <p:cNvSpPr/>
          <p:nvPr/>
        </p:nvSpPr>
        <p:spPr>
          <a:xfrm>
            <a:off x="1586346" y="195858"/>
            <a:ext cx="9081654" cy="3385542"/>
          </a:xfrm>
          <a:prstGeom prst="rect">
            <a:avLst/>
          </a:prstGeom>
        </p:spPr>
        <p:txBody>
          <a:bodyPr wrap="square">
            <a:spAutoFit/>
          </a:bodyPr>
          <a:lstStyle/>
          <a:p>
            <a:r>
              <a:rPr lang="en-US" sz="3200" b="1" dirty="0"/>
              <a:t>MONOSACCHARIDES</a:t>
            </a:r>
            <a:r>
              <a:rPr lang="en-US" sz="2800" dirty="0"/>
              <a:t> </a:t>
            </a:r>
          </a:p>
          <a:p>
            <a:pPr marL="342900" indent="-342900" algn="just">
              <a:lnSpc>
                <a:spcPct val="200000"/>
              </a:lnSpc>
              <a:buFont typeface="Arial" pitchFamily="34" charset="0"/>
              <a:buChar char="•"/>
            </a:pPr>
            <a:r>
              <a:rPr lang="en-US" sz="2800" dirty="0"/>
              <a:t>Simplest form of carbohydrates </a:t>
            </a:r>
          </a:p>
          <a:p>
            <a:pPr marL="342900" indent="-342900">
              <a:lnSpc>
                <a:spcPct val="150000"/>
              </a:lnSpc>
              <a:buFont typeface="Arial" pitchFamily="34" charset="0"/>
              <a:buChar char="•"/>
            </a:pPr>
            <a:r>
              <a:rPr lang="en-US" sz="2800" dirty="0" err="1"/>
              <a:t>Eg</a:t>
            </a:r>
            <a:r>
              <a:rPr lang="en-US" sz="2800" dirty="0"/>
              <a:t> : glucose and fructose</a:t>
            </a:r>
          </a:p>
          <a:p>
            <a:pPr marL="342900" indent="-342900">
              <a:lnSpc>
                <a:spcPct val="150000"/>
              </a:lnSpc>
              <a:buFont typeface="Arial" pitchFamily="34" charset="0"/>
              <a:buChar char="•"/>
            </a:pPr>
            <a:r>
              <a:rPr lang="en-US" sz="2800" dirty="0"/>
              <a:t>Soluble in water </a:t>
            </a:r>
          </a:p>
          <a:p>
            <a:pPr marL="342900" indent="-342900">
              <a:lnSpc>
                <a:spcPct val="150000"/>
              </a:lnSpc>
              <a:buFont typeface="Arial" pitchFamily="34" charset="0"/>
              <a:buChar char="•"/>
            </a:pPr>
            <a:r>
              <a:rPr lang="en-US" sz="2800" dirty="0"/>
              <a:t>Primary source of energy for the body</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362" t="19848" r="34893" b="7576"/>
          <a:stretch/>
        </p:blipFill>
        <p:spPr>
          <a:xfrm>
            <a:off x="1828800" y="4343400"/>
            <a:ext cx="4876800" cy="1659082"/>
          </a:xfrm>
          <a:prstGeom prst="rect">
            <a:avLst/>
          </a:prstGeom>
        </p:spPr>
      </p:pic>
    </p:spTree>
    <p:extLst>
      <p:ext uri="{BB962C8B-B14F-4D97-AF65-F5344CB8AC3E}">
        <p14:creationId xmlns:p14="http://schemas.microsoft.com/office/powerpoint/2010/main" val="759064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381001"/>
            <a:ext cx="8763000" cy="3631763"/>
          </a:xfrm>
          <a:prstGeom prst="rect">
            <a:avLst/>
          </a:prstGeom>
        </p:spPr>
        <p:txBody>
          <a:bodyPr wrap="square">
            <a:spAutoFit/>
          </a:bodyPr>
          <a:lstStyle/>
          <a:p>
            <a:pPr algn="just">
              <a:lnSpc>
                <a:spcPct val="150000"/>
              </a:lnSpc>
            </a:pPr>
            <a:r>
              <a:rPr lang="en-US" sz="3200" b="1" dirty="0"/>
              <a:t>DISACCHARIDES</a:t>
            </a:r>
            <a:r>
              <a:rPr lang="en-US" sz="2800" dirty="0"/>
              <a:t> </a:t>
            </a:r>
          </a:p>
          <a:p>
            <a:pPr marL="342900" indent="-342900" algn="just">
              <a:lnSpc>
                <a:spcPct val="200000"/>
              </a:lnSpc>
              <a:buFont typeface="Arial" pitchFamily="34" charset="0"/>
              <a:buChar char="•"/>
            </a:pPr>
            <a:r>
              <a:rPr lang="en-US" sz="2800" dirty="0"/>
              <a:t>Formed by the condensation of two </a:t>
            </a:r>
            <a:r>
              <a:rPr lang="en-US" sz="2800" dirty="0" err="1"/>
              <a:t>monosaccharides</a:t>
            </a:r>
            <a:endParaRPr lang="en-US" sz="2800" dirty="0"/>
          </a:p>
          <a:p>
            <a:pPr marL="342900" indent="-342900" algn="just">
              <a:lnSpc>
                <a:spcPct val="150000"/>
              </a:lnSpc>
              <a:buFont typeface="Arial" pitchFamily="34" charset="0"/>
              <a:buChar char="•"/>
            </a:pPr>
            <a:r>
              <a:rPr lang="en-US" sz="2800" dirty="0" err="1"/>
              <a:t>Eg</a:t>
            </a:r>
            <a:r>
              <a:rPr lang="en-US" sz="2800" dirty="0"/>
              <a:t> : sucrose, lactose, and maltose</a:t>
            </a:r>
          </a:p>
          <a:p>
            <a:pPr marL="342900" indent="-342900" algn="just">
              <a:lnSpc>
                <a:spcPct val="150000"/>
              </a:lnSpc>
              <a:buFont typeface="Arial" pitchFamily="34" charset="0"/>
              <a:buChar char="•"/>
            </a:pPr>
            <a:r>
              <a:rPr lang="en-US" sz="2800" dirty="0"/>
              <a:t>Found in sugar - broken down into </a:t>
            </a:r>
            <a:r>
              <a:rPr lang="en-US" sz="2800" dirty="0" err="1"/>
              <a:t>monosaccharides</a:t>
            </a:r>
            <a:r>
              <a:rPr lang="en-US" sz="2800" dirty="0"/>
              <a:t> during digestion</a:t>
            </a:r>
            <a:endParaRPr lang="en-IN" sz="2800"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23613" b="8855"/>
          <a:stretch/>
        </p:blipFill>
        <p:spPr>
          <a:xfrm>
            <a:off x="1752600" y="4012764"/>
            <a:ext cx="8610600" cy="2464237"/>
          </a:xfrm>
          <a:prstGeom prst="rect">
            <a:avLst/>
          </a:prstGeom>
        </p:spPr>
      </p:pic>
    </p:spTree>
    <p:extLst>
      <p:ext uri="{BB962C8B-B14F-4D97-AF65-F5344CB8AC3E}">
        <p14:creationId xmlns:p14="http://schemas.microsoft.com/office/powerpoint/2010/main" val="115767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5861"/>
            <a:ext cx="8915400" cy="5570756"/>
          </a:xfrm>
          <a:prstGeom prst="rect">
            <a:avLst/>
          </a:prstGeom>
        </p:spPr>
        <p:txBody>
          <a:bodyPr wrap="square">
            <a:spAutoFit/>
          </a:bodyPr>
          <a:lstStyle/>
          <a:p>
            <a:pPr algn="just">
              <a:lnSpc>
                <a:spcPct val="150000"/>
              </a:lnSpc>
            </a:pPr>
            <a:r>
              <a:rPr lang="en-US" sz="3200" b="1" dirty="0"/>
              <a:t>POLYSACCHARIDES</a:t>
            </a:r>
            <a:endParaRPr lang="en-US" sz="2800" b="1" dirty="0"/>
          </a:p>
          <a:p>
            <a:pPr marL="342900" indent="-342900" algn="just">
              <a:lnSpc>
                <a:spcPct val="200000"/>
              </a:lnSpc>
              <a:buFont typeface="Arial" pitchFamily="34" charset="0"/>
              <a:buChar char="•"/>
            </a:pPr>
            <a:r>
              <a:rPr lang="en-US" sz="2800" dirty="0"/>
              <a:t>Long chains of </a:t>
            </a:r>
            <a:r>
              <a:rPr lang="en-US" sz="2800" dirty="0" err="1"/>
              <a:t>monosaccharides</a:t>
            </a:r>
            <a:r>
              <a:rPr lang="en-US" sz="2800" dirty="0"/>
              <a:t> linked together</a:t>
            </a:r>
          </a:p>
          <a:p>
            <a:pPr marL="342900" indent="-342900" algn="just">
              <a:lnSpc>
                <a:spcPct val="150000"/>
              </a:lnSpc>
              <a:buFont typeface="Arial" pitchFamily="34" charset="0"/>
              <a:buChar char="•"/>
            </a:pPr>
            <a:r>
              <a:rPr lang="en-US" sz="2800" dirty="0"/>
              <a:t>Serve as storage molecules for energy - </a:t>
            </a:r>
            <a:r>
              <a:rPr lang="en-US" sz="2800" b="1" dirty="0"/>
              <a:t>glycogen</a:t>
            </a:r>
            <a:r>
              <a:rPr lang="en-US" sz="2800" dirty="0"/>
              <a:t> in </a:t>
            </a:r>
            <a:r>
              <a:rPr lang="en-US" sz="2800" b="1" dirty="0"/>
              <a:t>animals, starch</a:t>
            </a:r>
            <a:r>
              <a:rPr lang="en-US" sz="2800" dirty="0"/>
              <a:t> in </a:t>
            </a:r>
            <a:r>
              <a:rPr lang="en-US" sz="2800" b="1" dirty="0"/>
              <a:t>plants</a:t>
            </a:r>
            <a:endParaRPr lang="en-US" sz="2800" dirty="0"/>
          </a:p>
          <a:p>
            <a:pPr marL="342900" indent="-342900" algn="just">
              <a:lnSpc>
                <a:spcPct val="150000"/>
              </a:lnSpc>
              <a:buFont typeface="Arial" pitchFamily="34" charset="0"/>
              <a:buChar char="•"/>
            </a:pPr>
            <a:r>
              <a:rPr lang="en-US" sz="2800" dirty="0"/>
              <a:t>Provide structure and support - </a:t>
            </a:r>
            <a:r>
              <a:rPr lang="en-US" sz="2800" b="1" dirty="0"/>
              <a:t>cellulose</a:t>
            </a:r>
            <a:r>
              <a:rPr lang="en-US" sz="2800" dirty="0"/>
              <a:t> in </a:t>
            </a:r>
            <a:r>
              <a:rPr lang="en-US" sz="2800" b="1" dirty="0"/>
              <a:t>plant cell walls</a:t>
            </a:r>
            <a:endParaRPr lang="en-US" sz="2800" dirty="0"/>
          </a:p>
          <a:p>
            <a:pPr marL="342900" indent="-342900" algn="just">
              <a:lnSpc>
                <a:spcPct val="150000"/>
              </a:lnSpc>
              <a:buFont typeface="Arial" pitchFamily="34" charset="0"/>
              <a:buChar char="•"/>
            </a:pPr>
            <a:r>
              <a:rPr lang="en-US" sz="2800" dirty="0"/>
              <a:t>Cellular processes - cellular signaling and recognition, and in regulating gene expression</a:t>
            </a:r>
            <a:r>
              <a:rPr lang="en-US" sz="2400" dirty="0"/>
              <a:t>.</a:t>
            </a:r>
            <a:endParaRPr lang="en-IN" sz="2400" dirty="0"/>
          </a:p>
        </p:txBody>
      </p:sp>
    </p:spTree>
    <p:extLst>
      <p:ext uri="{BB962C8B-B14F-4D97-AF65-F5344CB8AC3E}">
        <p14:creationId xmlns:p14="http://schemas.microsoft.com/office/powerpoint/2010/main" val="919455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6897"/>
          <a:stretch/>
        </p:blipFill>
        <p:spPr>
          <a:xfrm>
            <a:off x="1525556" y="-17106"/>
            <a:ext cx="8990045" cy="6875105"/>
          </a:xfrm>
          <a:prstGeom prst="rect">
            <a:avLst/>
          </a:prstGeom>
        </p:spPr>
      </p:pic>
    </p:spTree>
    <p:extLst>
      <p:ext uri="{BB962C8B-B14F-4D97-AF65-F5344CB8AC3E}">
        <p14:creationId xmlns:p14="http://schemas.microsoft.com/office/powerpoint/2010/main" val="8970170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931083"/>
            <a:ext cx="9144000" cy="4995834"/>
          </a:xfrm>
          <a:prstGeom prst="rect">
            <a:avLst/>
          </a:prstGeom>
        </p:spPr>
      </p:pic>
      <p:sp>
        <p:nvSpPr>
          <p:cNvPr id="4" name="TextBox 3"/>
          <p:cNvSpPr txBox="1"/>
          <p:nvPr/>
        </p:nvSpPr>
        <p:spPr>
          <a:xfrm>
            <a:off x="1752600" y="164069"/>
            <a:ext cx="3352800" cy="584775"/>
          </a:xfrm>
          <a:prstGeom prst="rect">
            <a:avLst/>
          </a:prstGeom>
          <a:noFill/>
        </p:spPr>
        <p:txBody>
          <a:bodyPr wrap="square" rtlCol="0">
            <a:spAutoFit/>
          </a:bodyPr>
          <a:lstStyle/>
          <a:p>
            <a:r>
              <a:rPr lang="en-IN" sz="3200" b="1" dirty="0">
                <a:solidFill>
                  <a:schemeClr val="accent4">
                    <a:lumMod val="75000"/>
                  </a:schemeClr>
                </a:solidFill>
              </a:rPr>
              <a:t>STARCH</a:t>
            </a:r>
          </a:p>
        </p:txBody>
      </p:sp>
    </p:spTree>
    <p:extLst>
      <p:ext uri="{BB962C8B-B14F-4D97-AF65-F5344CB8AC3E}">
        <p14:creationId xmlns:p14="http://schemas.microsoft.com/office/powerpoint/2010/main" val="126480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143FC0-9C34-4488-9769-AF04CA532B46}"/>
              </a:ext>
            </a:extLst>
          </p:cNvPr>
          <p:cNvSpPr/>
          <p:nvPr/>
        </p:nvSpPr>
        <p:spPr>
          <a:xfrm>
            <a:off x="1524000" y="1"/>
            <a:ext cx="9044609" cy="4524315"/>
          </a:xfrm>
          <a:prstGeom prst="rect">
            <a:avLst/>
          </a:prstGeom>
        </p:spPr>
        <p:txBody>
          <a:bodyPr wrap="square">
            <a:spAutoFit/>
          </a:bodyPr>
          <a:lstStyle/>
          <a:p>
            <a:pPr algn="just"/>
            <a:r>
              <a:rPr lang="en-US" sz="2400" b="1" dirty="0">
                <a:solidFill>
                  <a:srgbClr val="0070C0"/>
                </a:solidFill>
              </a:rPr>
              <a:t>Properties of Carbohydrates</a:t>
            </a:r>
          </a:p>
          <a:p>
            <a:pPr algn="just"/>
            <a:r>
              <a:rPr lang="en-US" sz="2400" b="1" dirty="0">
                <a:solidFill>
                  <a:srgbClr val="C00000"/>
                </a:solidFill>
              </a:rPr>
              <a:t>Physical Properties of Carbohydrates </a:t>
            </a:r>
          </a:p>
          <a:p>
            <a:pPr marL="342900" indent="-342900" algn="just">
              <a:buFont typeface="Arial" panose="020B0604020202020204" pitchFamily="34" charset="0"/>
              <a:buChar char="•"/>
            </a:pPr>
            <a:r>
              <a:rPr lang="en-US" sz="2400" b="1" dirty="0"/>
              <a:t>Stereoisomerism</a:t>
            </a:r>
            <a:r>
              <a:rPr lang="en-US" sz="2400" dirty="0"/>
              <a:t> – Compound shaving the same structural formula but they differ in spatial configuration. </a:t>
            </a:r>
          </a:p>
          <a:p>
            <a:pPr algn="just"/>
            <a:r>
              <a:rPr lang="en-US" sz="2400" dirty="0"/>
              <a:t>	Example: Glucose has two isomers with respect to the 	penultimate carbon atom. They are D-glucose and L-glucose.</a:t>
            </a:r>
          </a:p>
          <a:p>
            <a:pPr marL="342900" indent="-342900" algn="just">
              <a:buFont typeface="Arial" panose="020B0604020202020204" pitchFamily="34" charset="0"/>
              <a:buChar char="•"/>
            </a:pPr>
            <a:r>
              <a:rPr lang="en-US" sz="2400" b="1" dirty="0"/>
              <a:t>Optical Activity </a:t>
            </a:r>
            <a:r>
              <a:rPr lang="en-US" sz="2400" dirty="0"/>
              <a:t>– It is the rotation of plane-polarized light forming (+) glucose and (-) glucose.</a:t>
            </a:r>
          </a:p>
          <a:p>
            <a:pPr marL="342900" indent="-342900" algn="just">
              <a:buFont typeface="Arial" panose="020B0604020202020204" pitchFamily="34" charset="0"/>
              <a:buChar char="•"/>
            </a:pPr>
            <a:r>
              <a:rPr lang="en-US" sz="2400" b="1" dirty="0" err="1"/>
              <a:t>Diastereo</a:t>
            </a:r>
            <a:r>
              <a:rPr lang="en-US" sz="2400" b="1" dirty="0"/>
              <a:t> isomers </a:t>
            </a:r>
            <a:r>
              <a:rPr lang="en-US" sz="2400" dirty="0"/>
              <a:t>– It the configurational changes with regard to C2, C3, or C4 in glucose. Example: Mannose, galactose.</a:t>
            </a:r>
          </a:p>
          <a:p>
            <a:pPr marL="342900" indent="-342900" algn="just">
              <a:buFont typeface="Arial" panose="020B0604020202020204" pitchFamily="34" charset="0"/>
              <a:buChar char="•"/>
            </a:pPr>
            <a:r>
              <a:rPr lang="en-US" sz="2400" b="1" dirty="0" err="1"/>
              <a:t>Annomerism</a:t>
            </a:r>
            <a:r>
              <a:rPr lang="en-US" sz="2400" dirty="0"/>
              <a:t> – It is the spatial configuration with respect to the first carbon atom in aldoses and the second carbon atom in ketoses. </a:t>
            </a:r>
          </a:p>
        </p:txBody>
      </p:sp>
    </p:spTree>
    <p:extLst>
      <p:ext uri="{BB962C8B-B14F-4D97-AF65-F5344CB8AC3E}">
        <p14:creationId xmlns:p14="http://schemas.microsoft.com/office/powerpoint/2010/main" val="22201259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195885-C11C-46AA-8C25-8FC04ABDEE5C}"/>
              </a:ext>
            </a:extLst>
          </p:cNvPr>
          <p:cNvSpPr/>
          <p:nvPr/>
        </p:nvSpPr>
        <p:spPr>
          <a:xfrm>
            <a:off x="1524001" y="1"/>
            <a:ext cx="8991600" cy="6523375"/>
          </a:xfrm>
          <a:prstGeom prst="rect">
            <a:avLst/>
          </a:prstGeom>
        </p:spPr>
        <p:txBody>
          <a:bodyPr wrap="square">
            <a:spAutoFit/>
          </a:bodyPr>
          <a:lstStyle/>
          <a:p>
            <a:pPr algn="just"/>
            <a:r>
              <a:rPr lang="en-US" sz="2400" dirty="0">
                <a:solidFill>
                  <a:srgbClr val="C00000"/>
                </a:solidFill>
              </a:rPr>
              <a:t>Chemical Properties of Carbohydrates </a:t>
            </a:r>
          </a:p>
          <a:p>
            <a:pPr marL="342900" indent="-342900" algn="just">
              <a:buFont typeface="Arial" panose="020B0604020202020204" pitchFamily="34" charset="0"/>
              <a:buChar char="•"/>
            </a:pPr>
            <a:r>
              <a:rPr lang="en-US" sz="2400" b="1" dirty="0" err="1"/>
              <a:t>Osazone</a:t>
            </a:r>
            <a:r>
              <a:rPr lang="en-US" sz="2400" b="1" dirty="0"/>
              <a:t> formation</a:t>
            </a:r>
            <a:r>
              <a:rPr lang="en-US" sz="2400" dirty="0"/>
              <a:t>: </a:t>
            </a:r>
            <a:r>
              <a:rPr lang="en-US" sz="2400" dirty="0" err="1"/>
              <a:t>Osazone</a:t>
            </a:r>
            <a:r>
              <a:rPr lang="en-US" sz="2400" dirty="0"/>
              <a:t> are carbohydrate derivatives when sugars are reacted with an excess of </a:t>
            </a:r>
            <a:r>
              <a:rPr lang="en-US" sz="2400" dirty="0" err="1"/>
              <a:t>phenylhydrazine</a:t>
            </a:r>
            <a:r>
              <a:rPr lang="en-US" sz="2400" dirty="0"/>
              <a:t>. </a:t>
            </a:r>
            <a:r>
              <a:rPr lang="en-US" sz="2400" dirty="0" err="1"/>
              <a:t>eg.</a:t>
            </a:r>
            <a:r>
              <a:rPr lang="en-US" sz="2400" dirty="0"/>
              <a:t> </a:t>
            </a:r>
            <a:r>
              <a:rPr lang="en-US" sz="2400" dirty="0" err="1"/>
              <a:t>Glucosazone</a:t>
            </a:r>
            <a:endParaRPr lang="en-US" sz="2400" dirty="0"/>
          </a:p>
          <a:p>
            <a:pPr marL="342900" indent="-342900" algn="just">
              <a:buFont typeface="Arial" panose="020B0604020202020204" pitchFamily="34" charset="0"/>
              <a:buChar char="•"/>
            </a:pPr>
            <a:r>
              <a:rPr lang="en-US" sz="2400" b="1" dirty="0">
                <a:hlinkClick r:id="rId2">
                  <a:extLst>
                    <a:ext uri="{A12FA001-AC4F-418D-AE19-62706E023703}">
                      <ahyp:hlinkClr xmlns:ahyp="http://schemas.microsoft.com/office/drawing/2018/hyperlinkcolor" val="tx"/>
                    </a:ext>
                  </a:extLst>
                </a:hlinkClick>
              </a:rPr>
              <a:t>Benedict’s test</a:t>
            </a:r>
            <a:r>
              <a:rPr lang="en-US" sz="2400" b="1" dirty="0"/>
              <a:t>: </a:t>
            </a:r>
            <a:r>
              <a:rPr lang="en-US" sz="2400" dirty="0"/>
              <a:t>Reducing sugars when heated in the presence of an </a:t>
            </a:r>
            <a:r>
              <a:rPr lang="en-US" sz="2400" b="1" dirty="0"/>
              <a:t>alkali gets converted to powerful reducing species known as enediols.</a:t>
            </a:r>
            <a:r>
              <a:rPr lang="en-US" sz="2400" dirty="0"/>
              <a:t> When Benedict’s reagent solution and reducing sugars are heated together, the solution changes its color to </a:t>
            </a:r>
            <a:r>
              <a:rPr lang="en-US" sz="2400" b="1" dirty="0"/>
              <a:t>orange-red/ brick red.</a:t>
            </a:r>
          </a:p>
          <a:p>
            <a:pPr marL="342900" indent="-342900" algn="just">
              <a:buFont typeface="Arial" panose="020B0604020202020204" pitchFamily="34" charset="0"/>
              <a:buChar char="•"/>
            </a:pPr>
            <a:r>
              <a:rPr lang="en-US" sz="2400" b="1" dirty="0"/>
              <a:t>Oxidation: </a:t>
            </a:r>
            <a:r>
              <a:rPr lang="en-US" sz="2400" dirty="0"/>
              <a:t>Monosaccharides are reducing sugars if their carbonyl groups oxidize to give carboxylic acids. In Benedict’s test, D-glucose is oxidized to D-gluconic acid thus, glucose is considered a reducing sugar.</a:t>
            </a:r>
          </a:p>
          <a:p>
            <a:pPr marL="342900" indent="-342900" algn="just">
              <a:buFont typeface="Arial" panose="020B0604020202020204" pitchFamily="34" charset="0"/>
              <a:buChar char="•"/>
            </a:pPr>
            <a:r>
              <a:rPr lang="en-US" sz="2400" b="1" dirty="0"/>
              <a:t>Reduction to alcohols: </a:t>
            </a:r>
            <a:r>
              <a:rPr lang="en-US" sz="2400" dirty="0"/>
              <a:t>The C=O groups in open-chain forms of carbohydrates can be reduced to alcohols by sodium borohydride, NaBH4, or catalytic hydrogenation (H2, Ni, EtOH/H2O). The products are known as “alditols”.</a:t>
            </a:r>
          </a:p>
        </p:txBody>
      </p:sp>
    </p:spTree>
    <p:extLst>
      <p:ext uri="{BB962C8B-B14F-4D97-AF65-F5344CB8AC3E}">
        <p14:creationId xmlns:p14="http://schemas.microsoft.com/office/powerpoint/2010/main" val="22798144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B56B8-92CB-4F05-92B9-27082892929E}"/>
              </a:ext>
            </a:extLst>
          </p:cNvPr>
          <p:cNvSpPr/>
          <p:nvPr/>
        </p:nvSpPr>
        <p:spPr>
          <a:xfrm>
            <a:off x="1524000" y="0"/>
            <a:ext cx="8991600" cy="6939336"/>
          </a:xfrm>
          <a:prstGeom prst="rect">
            <a:avLst/>
          </a:prstGeom>
        </p:spPr>
        <p:txBody>
          <a:bodyPr wrap="square">
            <a:spAutoFit/>
          </a:bodyPr>
          <a:lstStyle/>
          <a:p>
            <a:pPr algn="just">
              <a:lnSpc>
                <a:spcPct val="150000"/>
              </a:lnSpc>
            </a:pPr>
            <a:r>
              <a:rPr lang="en-US" sz="2300" b="1" dirty="0">
                <a:solidFill>
                  <a:srgbClr val="C00000"/>
                </a:solidFill>
              </a:rPr>
              <a:t>Functions of carbohydrates </a:t>
            </a:r>
          </a:p>
          <a:p>
            <a:pPr marL="457200" indent="-457200" algn="just">
              <a:lnSpc>
                <a:spcPct val="150000"/>
              </a:lnSpc>
              <a:buFont typeface="+mj-lt"/>
              <a:buAutoNum type="arabicPeriod"/>
            </a:pPr>
            <a:r>
              <a:rPr lang="en-US" sz="2300" dirty="0"/>
              <a:t>They are the most abundant dietary source of energy (4kcal/gram) for all living beings.</a:t>
            </a:r>
          </a:p>
          <a:p>
            <a:pPr marL="457200" indent="-457200" algn="just">
              <a:lnSpc>
                <a:spcPct val="150000"/>
              </a:lnSpc>
              <a:buFont typeface="+mj-lt"/>
              <a:buAutoNum type="arabicPeriod"/>
            </a:pPr>
            <a:r>
              <a:rPr lang="en-US" sz="2300" dirty="0"/>
              <a:t>instant sources of energy. Glucose is broken down by </a:t>
            </a:r>
            <a:r>
              <a:rPr lang="en-US" sz="2300" dirty="0">
                <a:hlinkClick r:id="rId2">
                  <a:extLst>
                    <a:ext uri="{A12FA001-AC4F-418D-AE19-62706E023703}">
                      <ahyp:hlinkClr xmlns:ahyp="http://schemas.microsoft.com/office/drawing/2018/hyperlinkcolor" val="tx"/>
                    </a:ext>
                  </a:extLst>
                </a:hlinkClick>
              </a:rPr>
              <a:t>glycolysis</a:t>
            </a:r>
            <a:r>
              <a:rPr lang="en-US" sz="2300" dirty="0"/>
              <a:t>/ </a:t>
            </a:r>
            <a:r>
              <a:rPr lang="en-US" sz="2300" dirty="0" err="1">
                <a:hlinkClick r:id="rId3">
                  <a:extLst>
                    <a:ext uri="{A12FA001-AC4F-418D-AE19-62706E023703}">
                      <ahyp:hlinkClr xmlns:ahyp="http://schemas.microsoft.com/office/drawing/2018/hyperlinkcolor" val="tx"/>
                    </a:ext>
                  </a:extLst>
                </a:hlinkClick>
              </a:rPr>
              <a:t>Kreb’s</a:t>
            </a:r>
            <a:r>
              <a:rPr lang="en-US" sz="2300" dirty="0">
                <a:hlinkClick r:id="rId3">
                  <a:extLst>
                    <a:ext uri="{A12FA001-AC4F-418D-AE19-62706E023703}">
                      <ahyp:hlinkClr xmlns:ahyp="http://schemas.microsoft.com/office/drawing/2018/hyperlinkcolor" val="tx"/>
                    </a:ext>
                  </a:extLst>
                </a:hlinkClick>
              </a:rPr>
              <a:t> cycle</a:t>
            </a:r>
            <a:r>
              <a:rPr lang="en-US" sz="2300" dirty="0"/>
              <a:t> to yield ATP.</a:t>
            </a:r>
          </a:p>
          <a:p>
            <a:pPr marL="457200" indent="-457200" algn="just">
              <a:lnSpc>
                <a:spcPct val="150000"/>
              </a:lnSpc>
              <a:buFont typeface="+mj-lt"/>
              <a:buAutoNum type="arabicPeriod"/>
            </a:pPr>
            <a:r>
              <a:rPr lang="en-US" sz="2300" dirty="0"/>
              <a:t>Energy stores - as glycogen in animals and starch in plants.</a:t>
            </a:r>
          </a:p>
          <a:p>
            <a:pPr marL="457200" indent="-457200" algn="just">
              <a:lnSpc>
                <a:spcPct val="150000"/>
              </a:lnSpc>
              <a:buFont typeface="+mj-lt"/>
              <a:buAutoNum type="arabicPeriod"/>
            </a:pPr>
            <a:r>
              <a:rPr lang="en-US" sz="2300" dirty="0"/>
              <a:t>Structural elements in the cell walls of bacteria (peptidoglycan or murein), plants (cellulose), and animals (chitin). </a:t>
            </a:r>
          </a:p>
          <a:p>
            <a:pPr marL="457200" indent="-457200" algn="just">
              <a:lnSpc>
                <a:spcPct val="150000"/>
              </a:lnSpc>
              <a:buFont typeface="+mj-lt"/>
              <a:buAutoNum type="arabicPeriod"/>
            </a:pPr>
            <a:r>
              <a:rPr lang="en-US" sz="2300" dirty="0"/>
              <a:t>Carbohydrates are intermediates in the biosynthesis of fats and proteins.</a:t>
            </a:r>
          </a:p>
          <a:p>
            <a:pPr marL="457200" indent="-457200" algn="just">
              <a:lnSpc>
                <a:spcPct val="150000"/>
              </a:lnSpc>
              <a:buFont typeface="+mj-lt"/>
              <a:buAutoNum type="arabicPeriod"/>
            </a:pPr>
            <a:r>
              <a:rPr lang="en-US" sz="2300" dirty="0"/>
              <a:t>Carbohydrates aid in the regulation of nerve tissue and is the energy source for the brain. </a:t>
            </a:r>
          </a:p>
          <a:p>
            <a:pPr algn="just">
              <a:lnSpc>
                <a:spcPct val="150000"/>
              </a:lnSpc>
            </a:pPr>
            <a:endParaRPr lang="en-US" sz="2300" dirty="0"/>
          </a:p>
        </p:txBody>
      </p:sp>
    </p:spTree>
    <p:extLst>
      <p:ext uri="{BB962C8B-B14F-4D97-AF65-F5344CB8AC3E}">
        <p14:creationId xmlns:p14="http://schemas.microsoft.com/office/powerpoint/2010/main" val="10048201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795328-CC11-4B77-9908-4391BCEA6B05}"/>
              </a:ext>
            </a:extLst>
          </p:cNvPr>
          <p:cNvSpPr/>
          <p:nvPr/>
        </p:nvSpPr>
        <p:spPr>
          <a:xfrm>
            <a:off x="1524000" y="228601"/>
            <a:ext cx="8991600" cy="6408421"/>
          </a:xfrm>
          <a:prstGeom prst="rect">
            <a:avLst/>
          </a:prstGeom>
        </p:spPr>
        <p:txBody>
          <a:bodyPr wrap="square">
            <a:spAutoFit/>
          </a:bodyPr>
          <a:lstStyle/>
          <a:p>
            <a:pPr marL="457200" indent="-457200" algn="just">
              <a:lnSpc>
                <a:spcPct val="150000"/>
              </a:lnSpc>
              <a:buFont typeface="+mj-lt"/>
              <a:buAutoNum type="arabicPeriod" startAt="7"/>
            </a:pPr>
            <a:r>
              <a:rPr lang="en-US" sz="2300" dirty="0"/>
              <a:t>Carbohydrates get associated with lipids and proteins to form surface antigens, receptor molecules, vitamins, and antibiotics. </a:t>
            </a:r>
          </a:p>
          <a:p>
            <a:pPr marL="457200" indent="-457200" algn="just">
              <a:lnSpc>
                <a:spcPct val="150000"/>
              </a:lnSpc>
              <a:buFont typeface="+mj-lt"/>
              <a:buAutoNum type="arabicPeriod" startAt="7"/>
            </a:pPr>
            <a:r>
              <a:rPr lang="en-US" sz="2300" dirty="0"/>
              <a:t>Formation of the structural framework of RNA and DNA (ribonucleic acid and deoxyribonucleic acid). </a:t>
            </a:r>
          </a:p>
          <a:p>
            <a:pPr marL="457200" indent="-457200" algn="just">
              <a:lnSpc>
                <a:spcPct val="150000"/>
              </a:lnSpc>
              <a:buFont typeface="+mj-lt"/>
              <a:buAutoNum type="arabicPeriod" startAt="7"/>
            </a:pPr>
            <a:r>
              <a:rPr lang="en-IN" sz="2300" dirty="0"/>
              <a:t>Constituent of connective tissues.</a:t>
            </a:r>
            <a:endParaRPr lang="en-US" sz="2300" dirty="0"/>
          </a:p>
          <a:p>
            <a:pPr marL="457200" indent="-457200" algn="just">
              <a:lnSpc>
                <a:spcPct val="150000"/>
              </a:lnSpc>
              <a:buFont typeface="+mj-lt"/>
              <a:buAutoNum type="arabicPeriod" startAt="10"/>
            </a:pPr>
            <a:r>
              <a:rPr lang="en-US" sz="2300" dirty="0"/>
              <a:t>Carbohydrates that are rich in fiber content help to prevent constipation</a:t>
            </a:r>
          </a:p>
          <a:p>
            <a:pPr marL="457200" indent="-457200" algn="just">
              <a:lnSpc>
                <a:spcPct val="150000"/>
              </a:lnSpc>
              <a:buFont typeface="+mj-lt"/>
              <a:buAutoNum type="arabicPeriod" startAt="10"/>
            </a:pPr>
            <a:r>
              <a:rPr lang="en-US" sz="2300" dirty="0"/>
              <a:t>Stored carbohydrates act as an energy source instead of proteins.</a:t>
            </a:r>
          </a:p>
          <a:p>
            <a:pPr marL="457200" indent="-457200" algn="just">
              <a:lnSpc>
                <a:spcPct val="150000"/>
              </a:lnSpc>
              <a:buFont typeface="+mj-lt"/>
              <a:buAutoNum type="arabicPeriod" startAt="10"/>
            </a:pPr>
            <a:r>
              <a:rPr lang="en-US" sz="2300" dirty="0"/>
              <a:t>modulation of the immune system.</a:t>
            </a:r>
          </a:p>
          <a:p>
            <a:pPr marL="457200" indent="-457200" algn="just">
              <a:lnSpc>
                <a:spcPct val="150000"/>
              </a:lnSpc>
              <a:buFont typeface="+mj-lt"/>
              <a:buAutoNum type="arabicPeriod" startAt="10"/>
            </a:pPr>
            <a:r>
              <a:rPr lang="en-US" sz="2300" dirty="0"/>
              <a:t>They are linked to many proteins and lipids. Such linked carbohydrates are important in cell-cell communication and in interactions between cells and other elements in the cellular environment</a:t>
            </a:r>
            <a:r>
              <a:rPr lang="en-US" dirty="0"/>
              <a:t>.</a:t>
            </a:r>
          </a:p>
        </p:txBody>
      </p:sp>
    </p:spTree>
    <p:extLst>
      <p:ext uri="{BB962C8B-B14F-4D97-AF65-F5344CB8AC3E}">
        <p14:creationId xmlns:p14="http://schemas.microsoft.com/office/powerpoint/2010/main" val="4234947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3959" y="381001"/>
            <a:ext cx="8839200" cy="6144439"/>
          </a:xfrm>
          <a:prstGeom prst="rect">
            <a:avLst/>
          </a:prstGeom>
        </p:spPr>
        <p:txBody>
          <a:bodyPr wrap="square">
            <a:spAutoFit/>
          </a:bodyPr>
          <a:lstStyle/>
          <a:p>
            <a:pPr algn="just">
              <a:lnSpc>
                <a:spcPct val="200000"/>
              </a:lnSpc>
            </a:pPr>
            <a:r>
              <a:rPr lang="en-US" sz="3200" b="1" dirty="0"/>
              <a:t>Industrial Applications of Carbohydrates </a:t>
            </a:r>
          </a:p>
          <a:p>
            <a:pPr marL="457200" indent="-457200" algn="just">
              <a:lnSpc>
                <a:spcPct val="200000"/>
              </a:lnSpc>
              <a:buFont typeface="+mj-lt"/>
              <a:buAutoNum type="arabicPeriod"/>
            </a:pPr>
            <a:r>
              <a:rPr lang="en-US" sz="2400" b="1" dirty="0"/>
              <a:t>Food and Beverage: </a:t>
            </a:r>
            <a:r>
              <a:rPr lang="en-US" sz="2400" dirty="0"/>
              <a:t>Sweeteners, thickeners, and stabilizers </a:t>
            </a:r>
          </a:p>
          <a:p>
            <a:pPr lvl="6" algn="just">
              <a:lnSpc>
                <a:spcPct val="200000"/>
              </a:lnSpc>
            </a:pPr>
            <a:r>
              <a:rPr lang="en-US" sz="2400" dirty="0"/>
              <a:t>Energy sources - sports drinks and energy bars.</a:t>
            </a:r>
          </a:p>
          <a:p>
            <a:pPr marL="457200" indent="-457200" algn="just">
              <a:lnSpc>
                <a:spcPct val="200000"/>
              </a:lnSpc>
              <a:buFont typeface="+mj-lt"/>
              <a:buAutoNum type="arabicPeriod"/>
            </a:pPr>
            <a:r>
              <a:rPr lang="en-US" sz="2400" b="1" dirty="0"/>
              <a:t>Pharmaceuticals: </a:t>
            </a:r>
            <a:r>
              <a:rPr lang="en-US" sz="2400" dirty="0"/>
              <a:t>Excipients in pharmaceutical formulations to improve the stability, solubility, and bioavailability of drugs.   Source of energy - medical nutrition products.</a:t>
            </a:r>
          </a:p>
          <a:p>
            <a:pPr marL="457200" indent="-457200" algn="just">
              <a:lnSpc>
                <a:spcPct val="200000"/>
              </a:lnSpc>
              <a:buFont typeface="+mj-lt"/>
              <a:buAutoNum type="arabicPeriod"/>
            </a:pPr>
            <a:r>
              <a:rPr lang="en-US" sz="2400" b="1" dirty="0"/>
              <a:t>Cosmetics</a:t>
            </a:r>
            <a:r>
              <a:rPr lang="en-US" sz="2400" dirty="0"/>
              <a:t>: Moisturizers, shampoos, and conditioners, to provide hydration and improve skin and hair health.</a:t>
            </a:r>
            <a:endParaRPr lang="en-IN" sz="2400" dirty="0"/>
          </a:p>
        </p:txBody>
      </p:sp>
    </p:spTree>
    <p:extLst>
      <p:ext uri="{BB962C8B-B14F-4D97-AF65-F5344CB8AC3E}">
        <p14:creationId xmlns:p14="http://schemas.microsoft.com/office/powerpoint/2010/main" val="24416451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349588"/>
            <a:ext cx="8686800" cy="5262979"/>
          </a:xfrm>
          <a:prstGeom prst="rect">
            <a:avLst/>
          </a:prstGeom>
        </p:spPr>
        <p:txBody>
          <a:bodyPr wrap="square">
            <a:spAutoFit/>
          </a:bodyPr>
          <a:lstStyle/>
          <a:p>
            <a:pPr marL="457200" indent="-457200" algn="just">
              <a:lnSpc>
                <a:spcPct val="200000"/>
              </a:lnSpc>
              <a:buAutoNum type="arabicPeriod" startAt="3"/>
            </a:pPr>
            <a:r>
              <a:rPr lang="en-US" sz="2800" b="1" dirty="0"/>
              <a:t>Biotechnology</a:t>
            </a:r>
            <a:r>
              <a:rPr lang="en-US" sz="2800" dirty="0"/>
              <a:t>: production of biodegradable plastics, biofuels and other renewable energy sources.</a:t>
            </a:r>
          </a:p>
          <a:p>
            <a:pPr marL="457200" indent="-457200" algn="just">
              <a:lnSpc>
                <a:spcPct val="200000"/>
              </a:lnSpc>
              <a:buAutoNum type="arabicPeriod" startAt="3"/>
            </a:pPr>
            <a:r>
              <a:rPr lang="en-US" sz="2800" b="1" dirty="0"/>
              <a:t>Research</a:t>
            </a:r>
            <a:r>
              <a:rPr lang="en-US" sz="2800" dirty="0"/>
              <a:t>: research tools - immunology, virology, and cellular     biology. </a:t>
            </a:r>
          </a:p>
          <a:p>
            <a:pPr lvl="1" algn="just">
              <a:lnSpc>
                <a:spcPct val="200000"/>
              </a:lnSpc>
            </a:pPr>
            <a:r>
              <a:rPr lang="en-US" sz="2800" dirty="0"/>
              <a:t>ligands in protein-carbohydrate interactions and as probes to study cellular signaling pathways</a:t>
            </a:r>
            <a:endParaRPr lang="en-IN" sz="2800" dirty="0"/>
          </a:p>
        </p:txBody>
      </p:sp>
    </p:spTree>
    <p:extLst>
      <p:ext uri="{BB962C8B-B14F-4D97-AF65-F5344CB8AC3E}">
        <p14:creationId xmlns:p14="http://schemas.microsoft.com/office/powerpoint/2010/main" val="558169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0811" y="152400"/>
            <a:ext cx="9047189" cy="6647974"/>
          </a:xfrm>
          <a:prstGeom prst="rect">
            <a:avLst/>
          </a:prstGeom>
        </p:spPr>
        <p:txBody>
          <a:bodyPr wrap="square">
            <a:spAutoFit/>
          </a:bodyPr>
          <a:lstStyle/>
          <a:p>
            <a:pPr marL="54000" algn="just">
              <a:lnSpc>
                <a:spcPct val="150000"/>
              </a:lnSpc>
            </a:pPr>
            <a:r>
              <a:rPr lang="en-US" sz="3200" b="1" dirty="0">
                <a:solidFill>
                  <a:schemeClr val="accent6">
                    <a:lumMod val="50000"/>
                  </a:schemeClr>
                </a:solidFill>
              </a:rPr>
              <a:t>CELLULOSE-BASED WATER FILTERS </a:t>
            </a:r>
            <a:endParaRPr lang="en-US" sz="3200" dirty="0">
              <a:solidFill>
                <a:schemeClr val="accent6">
                  <a:lumMod val="50000"/>
                </a:schemeClr>
              </a:solidFill>
            </a:endParaRPr>
          </a:p>
          <a:p>
            <a:pPr marL="54000" indent="-285750" algn="just">
              <a:lnSpc>
                <a:spcPct val="150000"/>
              </a:lnSpc>
              <a:buFont typeface="Arial" pitchFamily="34" charset="0"/>
              <a:buChar char="•"/>
            </a:pPr>
            <a:r>
              <a:rPr lang="en-US" sz="2800" dirty="0"/>
              <a:t>Made from cellulose-a carbohydrate polymer found in plant cell walls. </a:t>
            </a:r>
          </a:p>
          <a:p>
            <a:pPr marL="54000" indent="-285750" algn="just">
              <a:lnSpc>
                <a:spcPct val="150000"/>
              </a:lnSpc>
              <a:buFont typeface="Arial" pitchFamily="34" charset="0"/>
              <a:buChar char="•"/>
            </a:pPr>
            <a:r>
              <a:rPr lang="en-US" sz="2800" dirty="0"/>
              <a:t>Properties Cellulose- high mechanical strength ,hydrophilic</a:t>
            </a:r>
          </a:p>
          <a:p>
            <a:pPr marL="54000" indent="-285750" algn="just">
              <a:lnSpc>
                <a:spcPct val="150000"/>
              </a:lnSpc>
              <a:buFont typeface="Arial" pitchFamily="34" charset="0"/>
              <a:buChar char="•"/>
            </a:pPr>
            <a:r>
              <a:rPr lang="en-US" sz="2800" dirty="0"/>
              <a:t>It remove particles, pathogens, and other contaminants from water</a:t>
            </a:r>
          </a:p>
          <a:p>
            <a:pPr marL="54000" indent="-285750" algn="just">
              <a:lnSpc>
                <a:spcPct val="150000"/>
              </a:lnSpc>
              <a:buFont typeface="Arial" pitchFamily="34" charset="0"/>
              <a:buChar char="•"/>
            </a:pPr>
            <a:r>
              <a:rPr lang="en-US" sz="2800" dirty="0"/>
              <a:t>Widely used - household, industrial, and agricultural applications. </a:t>
            </a:r>
          </a:p>
          <a:p>
            <a:pPr marL="54000" indent="-285750" algn="just">
              <a:lnSpc>
                <a:spcPct val="150000"/>
              </a:lnSpc>
              <a:buFont typeface="Arial" pitchFamily="34" charset="0"/>
              <a:buChar char="•"/>
            </a:pPr>
            <a:r>
              <a:rPr lang="en-US" sz="2800" dirty="0"/>
              <a:t>Environment friendly alternative to traditional filters - biodegradable and produced from renewable resources. </a:t>
            </a:r>
          </a:p>
        </p:txBody>
      </p:sp>
    </p:spTree>
    <p:extLst>
      <p:ext uri="{BB962C8B-B14F-4D97-AF65-F5344CB8AC3E}">
        <p14:creationId xmlns:p14="http://schemas.microsoft.com/office/powerpoint/2010/main" val="1029405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36227"/>
            <a:ext cx="8839200" cy="6186309"/>
          </a:xfrm>
          <a:prstGeom prst="rect">
            <a:avLst/>
          </a:prstGeom>
        </p:spPr>
        <p:txBody>
          <a:bodyPr wrap="square">
            <a:spAutoFit/>
          </a:bodyPr>
          <a:lstStyle/>
          <a:p>
            <a:pPr algn="just">
              <a:lnSpc>
                <a:spcPct val="150000"/>
              </a:lnSpc>
            </a:pPr>
            <a:r>
              <a:rPr lang="en-US" sz="3200" b="1" dirty="0"/>
              <a:t>Properties of cellulose based water filter </a:t>
            </a:r>
          </a:p>
          <a:p>
            <a:pPr marL="285750" indent="-285750" algn="just">
              <a:lnSpc>
                <a:spcPct val="150000"/>
              </a:lnSpc>
              <a:buFont typeface="Arial" pitchFamily="34" charset="0"/>
              <a:buChar char="•"/>
            </a:pPr>
            <a:r>
              <a:rPr lang="en-US" sz="2800" b="1" dirty="0"/>
              <a:t>High Porosity</a:t>
            </a:r>
            <a:r>
              <a:rPr lang="en-US" sz="2400" dirty="0"/>
              <a:t>: efficiently remove impurities and contaminants from water. </a:t>
            </a:r>
          </a:p>
          <a:p>
            <a:pPr marL="285750" indent="-285750" algn="just">
              <a:lnSpc>
                <a:spcPct val="150000"/>
              </a:lnSpc>
              <a:buFont typeface="Arial" pitchFamily="34" charset="0"/>
              <a:buChar char="•"/>
            </a:pPr>
            <a:r>
              <a:rPr lang="en-US" sz="2400" b="1" dirty="0"/>
              <a:t> </a:t>
            </a:r>
            <a:r>
              <a:rPr lang="en-US" sz="2800" b="1" dirty="0"/>
              <a:t>Biodegradability</a:t>
            </a:r>
            <a:r>
              <a:rPr lang="en-US" sz="2400" b="1" dirty="0"/>
              <a:t>: </a:t>
            </a:r>
            <a:r>
              <a:rPr lang="en-US" sz="2400" dirty="0"/>
              <a:t>made from cellulose, which reduces their impact on the environment compared to synthetic polymer filters.</a:t>
            </a:r>
          </a:p>
          <a:p>
            <a:pPr marL="285750" indent="-285750" algn="just">
              <a:lnSpc>
                <a:spcPct val="150000"/>
              </a:lnSpc>
              <a:buFont typeface="Arial" pitchFamily="34" charset="0"/>
              <a:buChar char="•"/>
            </a:pPr>
            <a:r>
              <a:rPr lang="en-US" sz="2800" b="1" dirty="0"/>
              <a:t>Cost-effective</a:t>
            </a:r>
            <a:r>
              <a:rPr lang="en-US" sz="2400" b="1" dirty="0"/>
              <a:t>: </a:t>
            </a:r>
            <a:r>
              <a:rPr lang="en-US" sz="2400" dirty="0"/>
              <a:t>more affordable than traditional synthetic polymer filters, making them accessible to a wider range of consumers and communities.</a:t>
            </a:r>
          </a:p>
          <a:p>
            <a:pPr marL="285750" indent="-285750" algn="just">
              <a:lnSpc>
                <a:spcPct val="150000"/>
              </a:lnSpc>
              <a:buFont typeface="Arial" pitchFamily="34" charset="0"/>
              <a:buChar char="•"/>
            </a:pPr>
            <a:r>
              <a:rPr lang="en-US" sz="2800" b="1" dirty="0"/>
              <a:t>Renewable resource</a:t>
            </a:r>
            <a:r>
              <a:rPr lang="en-US" sz="2400" b="1" dirty="0"/>
              <a:t>: </a:t>
            </a:r>
            <a:r>
              <a:rPr lang="en-US" sz="2400" dirty="0"/>
              <a:t>cellulose, reducing the dependency on non-renewable resources. </a:t>
            </a:r>
            <a:endParaRPr lang="en-IN" sz="2400" dirty="0"/>
          </a:p>
        </p:txBody>
      </p:sp>
    </p:spTree>
    <p:extLst>
      <p:ext uri="{BB962C8B-B14F-4D97-AF65-F5344CB8AC3E}">
        <p14:creationId xmlns:p14="http://schemas.microsoft.com/office/powerpoint/2010/main" val="2313790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612846"/>
            <a:ext cx="8610600" cy="4893647"/>
          </a:xfrm>
          <a:prstGeom prst="rect">
            <a:avLst/>
          </a:prstGeom>
        </p:spPr>
        <p:txBody>
          <a:bodyPr wrap="square">
            <a:spAutoFit/>
          </a:bodyPr>
          <a:lstStyle/>
          <a:p>
            <a:pPr marL="342900" indent="-342900" algn="just">
              <a:lnSpc>
                <a:spcPct val="200000"/>
              </a:lnSpc>
              <a:buFont typeface="Arial" pitchFamily="34" charset="0"/>
              <a:buChar char="•"/>
            </a:pPr>
            <a:r>
              <a:rPr lang="en-US" sz="2800" b="1" dirty="0"/>
              <a:t>Good mechanical strength</a:t>
            </a:r>
            <a:r>
              <a:rPr lang="en-US" sz="2400" dirty="0"/>
              <a:t>: allowing them to maintain their structure and perform effectively over time. </a:t>
            </a:r>
          </a:p>
          <a:p>
            <a:pPr marL="342900" indent="-342900" algn="just">
              <a:lnSpc>
                <a:spcPct val="200000"/>
              </a:lnSpc>
              <a:buFont typeface="Arial" pitchFamily="34" charset="0"/>
              <a:buChar char="•"/>
            </a:pPr>
            <a:r>
              <a:rPr lang="en-US" sz="2800" b="1" dirty="0"/>
              <a:t>Chemical resistance</a:t>
            </a:r>
            <a:r>
              <a:rPr lang="en-US" sz="2400" b="1" dirty="0"/>
              <a:t>: </a:t>
            </a:r>
            <a:r>
              <a:rPr lang="en-US" sz="2400" dirty="0"/>
              <a:t>resistant to most acids and bases, and can be used in a wide range of water treatment applications. </a:t>
            </a:r>
          </a:p>
          <a:p>
            <a:pPr marL="342900" indent="-342900" algn="just">
              <a:lnSpc>
                <a:spcPct val="200000"/>
              </a:lnSpc>
              <a:buFont typeface="Arial" pitchFamily="34" charset="0"/>
              <a:buChar char="•"/>
            </a:pPr>
            <a:r>
              <a:rPr lang="en-US" sz="2800" b="1" dirty="0"/>
              <a:t>Large surface area</a:t>
            </a:r>
            <a:r>
              <a:rPr lang="en-US" sz="2800" dirty="0"/>
              <a:t>: </a:t>
            </a:r>
            <a:r>
              <a:rPr lang="en-US" sz="2400" dirty="0"/>
              <a:t>enhances their filtration capabilities and reduces the frequency of filter replacement.</a:t>
            </a:r>
            <a:endParaRPr lang="en-IN" sz="2400" dirty="0"/>
          </a:p>
        </p:txBody>
      </p:sp>
    </p:spTree>
    <p:extLst>
      <p:ext uri="{BB962C8B-B14F-4D97-AF65-F5344CB8AC3E}">
        <p14:creationId xmlns:p14="http://schemas.microsoft.com/office/powerpoint/2010/main" val="3893127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9144000" cy="6370975"/>
          </a:xfrm>
          <a:prstGeom prst="rect">
            <a:avLst/>
          </a:prstGeom>
        </p:spPr>
        <p:txBody>
          <a:bodyPr wrap="square">
            <a:spAutoFit/>
          </a:bodyPr>
          <a:lstStyle/>
          <a:p>
            <a:pPr algn="just">
              <a:lnSpc>
                <a:spcPct val="150000"/>
              </a:lnSpc>
            </a:pPr>
            <a:r>
              <a:rPr lang="en-US" sz="3200" b="1" dirty="0"/>
              <a:t>Importance of cellulose based water filters</a:t>
            </a:r>
          </a:p>
          <a:p>
            <a:pPr marL="342900" indent="-342900" algn="just">
              <a:lnSpc>
                <a:spcPct val="150000"/>
              </a:lnSpc>
              <a:buFont typeface="Arial" pitchFamily="34" charset="0"/>
              <a:buChar char="•"/>
            </a:pPr>
            <a:r>
              <a:rPr lang="en-US" sz="2400" b="1" dirty="0"/>
              <a:t>Safe and clean water</a:t>
            </a:r>
            <a:r>
              <a:rPr lang="en-US" sz="2400" dirty="0"/>
              <a:t>: used in household, industrial, and agricultural </a:t>
            </a:r>
          </a:p>
          <a:p>
            <a:pPr marL="342900" indent="-342900" algn="just">
              <a:lnSpc>
                <a:spcPct val="150000"/>
              </a:lnSpc>
              <a:buFont typeface="Arial" pitchFamily="34" charset="0"/>
              <a:buChar char="•"/>
            </a:pPr>
            <a:r>
              <a:rPr lang="en-US" sz="2400" b="1" dirty="0"/>
              <a:t>Sustainability</a:t>
            </a:r>
            <a:r>
              <a:rPr lang="en-US" sz="2400" dirty="0"/>
              <a:t>: made from a renewable resource, cellulose, and are biodegradable, reducing impact on the environment - promoting sustainability in water treatment processes.</a:t>
            </a:r>
          </a:p>
          <a:p>
            <a:pPr marL="342900" indent="-342900" algn="just">
              <a:lnSpc>
                <a:spcPct val="150000"/>
              </a:lnSpc>
              <a:buFont typeface="Arial" pitchFamily="34" charset="0"/>
              <a:buChar char="•"/>
            </a:pPr>
            <a:r>
              <a:rPr lang="en-US" sz="2400" dirty="0"/>
              <a:t> </a:t>
            </a:r>
            <a:r>
              <a:rPr lang="en-US" sz="2400" b="1" dirty="0"/>
              <a:t>Affordability</a:t>
            </a:r>
          </a:p>
          <a:p>
            <a:pPr marL="342900" indent="-342900" algn="just">
              <a:lnSpc>
                <a:spcPct val="150000"/>
              </a:lnSpc>
              <a:buFont typeface="Arial" pitchFamily="34" charset="0"/>
              <a:buChar char="•"/>
            </a:pPr>
            <a:r>
              <a:rPr lang="en-US" sz="2400" b="1" dirty="0"/>
              <a:t>Versatility</a:t>
            </a:r>
            <a:r>
              <a:rPr lang="en-US" sz="2400" dirty="0"/>
              <a:t>: used in various types of filtration systems - produced in different sizes and shapes to fit specific needs. </a:t>
            </a:r>
          </a:p>
          <a:p>
            <a:pPr marL="342900" indent="-342900" algn="just">
              <a:lnSpc>
                <a:spcPct val="150000"/>
              </a:lnSpc>
              <a:buFont typeface="Arial" pitchFamily="34" charset="0"/>
              <a:buChar char="•"/>
            </a:pPr>
            <a:r>
              <a:rPr lang="en-US" sz="2400" b="1" dirty="0"/>
              <a:t>Alternative</a:t>
            </a:r>
            <a:r>
              <a:rPr lang="en-US" sz="2400" dirty="0"/>
              <a:t> </a:t>
            </a:r>
            <a:r>
              <a:rPr lang="en-US" sz="2400" b="1" dirty="0"/>
              <a:t>to synthetic filters</a:t>
            </a:r>
            <a:r>
              <a:rPr lang="en-US" sz="2400" dirty="0"/>
              <a:t>: environment friendly alternative to traditional synthetic polymer filters- reducing the dependency on nonrenewable resources and reducing waste. </a:t>
            </a:r>
            <a:endParaRPr lang="en-IN" sz="2400" dirty="0"/>
          </a:p>
        </p:txBody>
      </p:sp>
    </p:spTree>
    <p:extLst>
      <p:ext uri="{BB962C8B-B14F-4D97-AF65-F5344CB8AC3E}">
        <p14:creationId xmlns:p14="http://schemas.microsoft.com/office/powerpoint/2010/main" val="1865167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228600"/>
            <a:ext cx="8846820" cy="8094524"/>
          </a:xfrm>
          <a:prstGeom prst="rect">
            <a:avLst/>
          </a:prstGeom>
        </p:spPr>
        <p:txBody>
          <a:bodyPr wrap="square">
            <a:spAutoFit/>
          </a:bodyPr>
          <a:lstStyle/>
          <a:p>
            <a:pPr>
              <a:lnSpc>
                <a:spcPct val="200000"/>
              </a:lnSpc>
            </a:pPr>
            <a:r>
              <a:rPr lang="en-US" sz="3600" dirty="0"/>
              <a:t>Advantages of cellulose based water filters</a:t>
            </a:r>
          </a:p>
          <a:p>
            <a:pPr marL="342900" indent="-342900">
              <a:lnSpc>
                <a:spcPct val="200000"/>
              </a:lnSpc>
              <a:buFont typeface="Arial" pitchFamily="34" charset="0"/>
              <a:buChar char="•"/>
            </a:pPr>
            <a:r>
              <a:rPr lang="en-US" sz="2800" dirty="0"/>
              <a:t>Environmentally friendly</a:t>
            </a:r>
          </a:p>
          <a:p>
            <a:pPr marL="342900" indent="-342900">
              <a:lnSpc>
                <a:spcPct val="200000"/>
              </a:lnSpc>
              <a:buFont typeface="Arial" pitchFamily="34" charset="0"/>
              <a:buChar char="•"/>
            </a:pPr>
            <a:r>
              <a:rPr lang="en-US" sz="2800" dirty="0"/>
              <a:t>Cost-effective </a:t>
            </a:r>
          </a:p>
          <a:p>
            <a:pPr marL="342900" indent="-342900">
              <a:lnSpc>
                <a:spcPct val="200000"/>
              </a:lnSpc>
              <a:buFont typeface="Arial" pitchFamily="34" charset="0"/>
              <a:buChar char="•"/>
            </a:pPr>
            <a:r>
              <a:rPr lang="en-US" sz="2800" dirty="0"/>
              <a:t>High porosity</a:t>
            </a:r>
          </a:p>
          <a:p>
            <a:pPr marL="342900" indent="-342900">
              <a:lnSpc>
                <a:spcPct val="200000"/>
              </a:lnSpc>
              <a:buFont typeface="Arial" pitchFamily="34" charset="0"/>
              <a:buChar char="•"/>
            </a:pPr>
            <a:r>
              <a:rPr lang="en-US" sz="2800" dirty="0"/>
              <a:t>Versatile</a:t>
            </a:r>
          </a:p>
          <a:p>
            <a:pPr marL="342900" indent="-342900">
              <a:lnSpc>
                <a:spcPct val="200000"/>
              </a:lnSpc>
              <a:buFont typeface="Arial" pitchFamily="34" charset="0"/>
              <a:buChar char="•"/>
            </a:pPr>
            <a:r>
              <a:rPr lang="en-US" sz="2800" dirty="0"/>
              <a:t>Good mechanical strength</a:t>
            </a:r>
          </a:p>
          <a:p>
            <a:pPr marL="342900" indent="-342900">
              <a:lnSpc>
                <a:spcPct val="200000"/>
              </a:lnSpc>
              <a:buFont typeface="Arial" pitchFamily="34" charset="0"/>
              <a:buChar char="•"/>
            </a:pPr>
            <a:r>
              <a:rPr lang="en-US" sz="2800" dirty="0"/>
              <a:t>Chemical resistance</a:t>
            </a:r>
          </a:p>
          <a:p>
            <a:pPr marL="342900" indent="-342900">
              <a:lnSpc>
                <a:spcPct val="200000"/>
              </a:lnSpc>
              <a:buFont typeface="Arial" pitchFamily="34" charset="0"/>
              <a:buChar char="•"/>
            </a:pPr>
            <a:r>
              <a:rPr lang="en-US" sz="2800" dirty="0"/>
              <a:t>Large surface area</a:t>
            </a:r>
          </a:p>
          <a:p>
            <a:pPr marL="342900" indent="-342900">
              <a:lnSpc>
                <a:spcPct val="200000"/>
              </a:lnSpc>
              <a:buFont typeface="Arial" pitchFamily="34" charset="0"/>
              <a:buChar char="•"/>
            </a:pPr>
            <a:endParaRPr lang="en-IN" sz="2800" dirty="0"/>
          </a:p>
        </p:txBody>
      </p:sp>
    </p:spTree>
    <p:extLst>
      <p:ext uri="{BB962C8B-B14F-4D97-AF65-F5344CB8AC3E}">
        <p14:creationId xmlns:p14="http://schemas.microsoft.com/office/powerpoint/2010/main" val="1878839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0212" y="25658"/>
            <a:ext cx="8815388" cy="6801862"/>
          </a:xfrm>
          <a:prstGeom prst="rect">
            <a:avLst/>
          </a:prstGeom>
        </p:spPr>
        <p:txBody>
          <a:bodyPr wrap="square">
            <a:spAutoFit/>
          </a:bodyPr>
          <a:lstStyle/>
          <a:p>
            <a:pPr algn="just"/>
            <a:r>
              <a:rPr lang="en-US" sz="3600" b="1" dirty="0"/>
              <a:t>Limitations of cellulose based water filters </a:t>
            </a:r>
          </a:p>
          <a:p>
            <a:pPr algn="just"/>
            <a:endParaRPr lang="en-US" sz="3600" b="1" dirty="0"/>
          </a:p>
          <a:p>
            <a:pPr marL="342900" indent="-342900" algn="just">
              <a:buFont typeface="Arial" pitchFamily="34" charset="0"/>
              <a:buChar char="•"/>
            </a:pPr>
            <a:r>
              <a:rPr lang="en-US" sz="2800" b="1" dirty="0"/>
              <a:t>Low resistance to high temperature</a:t>
            </a:r>
            <a:r>
              <a:rPr lang="en-US" sz="2800" dirty="0"/>
              <a:t>: lose their structural integrity - exposed to high temperatures.</a:t>
            </a:r>
          </a:p>
          <a:p>
            <a:pPr marL="342900" indent="-342900" algn="just">
              <a:buFont typeface="Arial" pitchFamily="34" charset="0"/>
              <a:buChar char="•"/>
            </a:pPr>
            <a:r>
              <a:rPr lang="en-US" sz="2800" b="1" dirty="0"/>
              <a:t>Low filtration efficiency for certain contaminants: </a:t>
            </a:r>
            <a:r>
              <a:rPr lang="en-US" sz="2800" dirty="0"/>
              <a:t>not efficient -  for heavy metals, from water. </a:t>
            </a:r>
          </a:p>
          <a:p>
            <a:pPr marL="342900" indent="-342900" algn="just">
              <a:buFont typeface="Arial" pitchFamily="34" charset="0"/>
              <a:buChar char="•"/>
            </a:pPr>
            <a:r>
              <a:rPr lang="en-US" sz="2800" b="1" dirty="0"/>
              <a:t>Limited lifespan</a:t>
            </a:r>
            <a:r>
              <a:rPr lang="en-US" sz="2800" dirty="0"/>
              <a:t>: need to replaced more frequently compared to synthetic polymer filters.</a:t>
            </a:r>
          </a:p>
          <a:p>
            <a:pPr marL="342900" indent="-342900" algn="just">
              <a:buFont typeface="Arial" pitchFamily="34" charset="0"/>
              <a:buChar char="•"/>
            </a:pPr>
            <a:r>
              <a:rPr lang="en-US" sz="2800" b="1" dirty="0"/>
              <a:t>Difficult to sterilize</a:t>
            </a:r>
            <a:r>
              <a:rPr lang="en-US" sz="2800" dirty="0"/>
              <a:t>: increasing the risk of contamination.</a:t>
            </a:r>
          </a:p>
          <a:p>
            <a:pPr marL="342900" indent="-342900" algn="just">
              <a:buFont typeface="Arial" pitchFamily="34" charset="0"/>
              <a:buChar char="•"/>
            </a:pPr>
            <a:r>
              <a:rPr lang="en-US" sz="2800" b="1" dirty="0"/>
              <a:t>May clog easily</a:t>
            </a:r>
            <a:r>
              <a:rPr lang="en-US" sz="2800" dirty="0"/>
              <a:t>: exposed to high levels of contaminants- reducing their filtration efficiency-requiring frequent replacement.</a:t>
            </a:r>
          </a:p>
          <a:p>
            <a:pPr marL="342900" indent="-342900" algn="just">
              <a:buFont typeface="Arial" pitchFamily="34" charset="0"/>
              <a:buChar char="•"/>
            </a:pPr>
            <a:r>
              <a:rPr lang="en-US" sz="2800" b="1" dirty="0"/>
              <a:t>May affect water taste</a:t>
            </a:r>
            <a:r>
              <a:rPr lang="en-US" sz="2800" dirty="0"/>
              <a:t>: by absorbing or releasing certain chemicals or minerals, reducing the quality of the purified water.</a:t>
            </a:r>
            <a:endParaRPr lang="en-IN" sz="2800" dirty="0"/>
          </a:p>
        </p:txBody>
      </p:sp>
    </p:spTree>
    <p:extLst>
      <p:ext uri="{BB962C8B-B14F-4D97-AF65-F5344CB8AC3E}">
        <p14:creationId xmlns:p14="http://schemas.microsoft.com/office/powerpoint/2010/main" val="28187239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45720"/>
            <a:ext cx="8915400" cy="5909310"/>
          </a:xfrm>
          <a:prstGeom prst="rect">
            <a:avLst/>
          </a:prstGeom>
        </p:spPr>
        <p:txBody>
          <a:bodyPr wrap="square">
            <a:spAutoFit/>
          </a:bodyPr>
          <a:lstStyle/>
          <a:p>
            <a:pPr algn="just">
              <a:lnSpc>
                <a:spcPct val="150000"/>
              </a:lnSpc>
            </a:pPr>
            <a:r>
              <a:rPr lang="en-US" sz="2800" b="1" dirty="0"/>
              <a:t>Construction of cellulose-based water filters </a:t>
            </a:r>
          </a:p>
          <a:p>
            <a:pPr algn="just">
              <a:lnSpc>
                <a:spcPct val="150000"/>
              </a:lnSpc>
            </a:pPr>
            <a:r>
              <a:rPr lang="en-US" sz="2800" b="1" dirty="0"/>
              <a:t>Steps: 1. Cellulose Material Selection: </a:t>
            </a:r>
            <a:r>
              <a:rPr lang="en-US" sz="2800" dirty="0"/>
              <a:t>depend on the desired properties such as strength, porosity, and chemical resistance. Common cellulose materials - paper, cotton, and wood fibers.</a:t>
            </a:r>
          </a:p>
          <a:p>
            <a:pPr algn="just">
              <a:lnSpc>
                <a:spcPct val="150000"/>
              </a:lnSpc>
            </a:pPr>
            <a:r>
              <a:rPr lang="en-US" sz="2800" dirty="0"/>
              <a:t>S</a:t>
            </a:r>
            <a:r>
              <a:rPr lang="en-US" sz="2800" b="1" dirty="0"/>
              <a:t>tep: 2. Cellulose Preparation: </a:t>
            </a:r>
            <a:r>
              <a:rPr lang="en-US" sz="2800" dirty="0"/>
              <a:t>cutting into small pieces, washing to remove impurities, and drying for use.</a:t>
            </a:r>
          </a:p>
          <a:p>
            <a:pPr algn="just">
              <a:lnSpc>
                <a:spcPct val="150000"/>
              </a:lnSpc>
            </a:pPr>
            <a:r>
              <a:rPr lang="en-US" sz="2800" b="1" dirty="0"/>
              <a:t>Step: 3. Cellulose Layer Formation</a:t>
            </a:r>
            <a:r>
              <a:rPr lang="en-US" sz="2800" dirty="0"/>
              <a:t>: stacking it or compacting it using heat and pressure.</a:t>
            </a:r>
          </a:p>
        </p:txBody>
      </p:sp>
    </p:spTree>
    <p:extLst>
      <p:ext uri="{BB962C8B-B14F-4D97-AF65-F5344CB8AC3E}">
        <p14:creationId xmlns:p14="http://schemas.microsoft.com/office/powerpoint/2010/main" val="4251450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15301"/>
            <a:ext cx="8915400" cy="6555641"/>
          </a:xfrm>
          <a:prstGeom prst="rect">
            <a:avLst/>
          </a:prstGeom>
        </p:spPr>
        <p:txBody>
          <a:bodyPr wrap="square">
            <a:spAutoFit/>
          </a:bodyPr>
          <a:lstStyle/>
          <a:p>
            <a:pPr algn="just">
              <a:lnSpc>
                <a:spcPct val="150000"/>
              </a:lnSpc>
            </a:pPr>
            <a:r>
              <a:rPr lang="en-US" sz="2800" b="1" dirty="0"/>
              <a:t>Step: 4. Filter Medium </a:t>
            </a:r>
            <a:r>
              <a:rPr lang="en-US" sz="2800" b="1" dirty="0" err="1"/>
              <a:t>Attachment</a:t>
            </a:r>
            <a:r>
              <a:rPr lang="en-US" sz="2800" dirty="0" err="1"/>
              <a:t>:mesh</a:t>
            </a:r>
            <a:r>
              <a:rPr lang="en-US" sz="2800" dirty="0"/>
              <a:t> or a support structure to provide stability and increase the filter surface area</a:t>
            </a:r>
            <a:r>
              <a:rPr lang="en-US" sz="2400" dirty="0"/>
              <a:t>. </a:t>
            </a:r>
          </a:p>
          <a:p>
            <a:pPr algn="just">
              <a:lnSpc>
                <a:spcPct val="150000"/>
              </a:lnSpc>
            </a:pPr>
            <a:r>
              <a:rPr lang="en-US" sz="2800" b="1" dirty="0"/>
              <a:t>Step: 5. Chemical Treatment: </a:t>
            </a:r>
            <a:r>
              <a:rPr lang="en-US" sz="2800" dirty="0"/>
              <a:t>to modify its properties -increasing its </a:t>
            </a:r>
            <a:r>
              <a:rPr lang="en-US" sz="2800" dirty="0" err="1"/>
              <a:t>hydrophilicity</a:t>
            </a:r>
            <a:r>
              <a:rPr lang="en-US" sz="2800" dirty="0"/>
              <a:t> or adding antimicrobial agents</a:t>
            </a:r>
            <a:endParaRPr lang="en-IN" sz="2800" dirty="0"/>
          </a:p>
          <a:p>
            <a:pPr algn="just">
              <a:lnSpc>
                <a:spcPct val="150000"/>
              </a:lnSpc>
            </a:pPr>
            <a:r>
              <a:rPr lang="en-US" sz="2800" b="1" dirty="0"/>
              <a:t>Step: 6. Housing Assembly: </a:t>
            </a:r>
            <a:r>
              <a:rPr lang="en-US" sz="2800" dirty="0"/>
              <a:t>housing that provides a means to attach it to a water source and to collect the filtered water. </a:t>
            </a:r>
          </a:p>
          <a:p>
            <a:pPr algn="just">
              <a:lnSpc>
                <a:spcPct val="150000"/>
              </a:lnSpc>
            </a:pPr>
            <a:r>
              <a:rPr lang="en-US" sz="2800" b="1" dirty="0"/>
              <a:t>Step: 7. Filter Testing: </a:t>
            </a:r>
            <a:r>
              <a:rPr lang="en-US" sz="2800" dirty="0"/>
              <a:t>to ensure that it meets the desired specifications, - filtration efficiency and flow rate. </a:t>
            </a:r>
          </a:p>
        </p:txBody>
      </p:sp>
    </p:spTree>
    <p:extLst>
      <p:ext uri="{BB962C8B-B14F-4D97-AF65-F5344CB8AC3E}">
        <p14:creationId xmlns:p14="http://schemas.microsoft.com/office/powerpoint/2010/main" val="2320984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83702" y="923435"/>
            <a:ext cx="8686800" cy="5863785"/>
          </a:xfrm>
          <a:prstGeom prst="rect">
            <a:avLst/>
          </a:prstGeom>
        </p:spPr>
        <p:txBody>
          <a:bodyPr wrap="square">
            <a:spAutoFit/>
          </a:bodyPr>
          <a:lstStyle/>
          <a:p>
            <a:pPr algn="just">
              <a:lnSpc>
                <a:spcPct val="200000"/>
              </a:lnSpc>
            </a:pPr>
            <a:r>
              <a:rPr lang="en-US" sz="3200" dirty="0"/>
              <a:t>The cellulose material - cellulose acetate - synthetic form of cellulose</a:t>
            </a:r>
          </a:p>
          <a:p>
            <a:pPr algn="just">
              <a:lnSpc>
                <a:spcPct val="200000"/>
              </a:lnSpc>
            </a:pPr>
            <a:r>
              <a:rPr lang="en-US" sz="3200" dirty="0"/>
              <a:t>Properties - good chemical resistance, high porosity, and high flow rate , low-cost material</a:t>
            </a:r>
          </a:p>
          <a:p>
            <a:pPr algn="just">
              <a:lnSpc>
                <a:spcPct val="200000"/>
              </a:lnSpc>
            </a:pPr>
            <a:r>
              <a:rPr lang="en-US" sz="3200" dirty="0"/>
              <a:t>Other cellulose materials such as paper, cotton, and wood fibers may also be used</a:t>
            </a:r>
            <a:endParaRPr lang="en-IN" sz="3200" dirty="0"/>
          </a:p>
        </p:txBody>
      </p:sp>
      <p:sp>
        <p:nvSpPr>
          <p:cNvPr id="3" name="TextBox 2"/>
          <p:cNvSpPr txBox="1"/>
          <p:nvPr/>
        </p:nvSpPr>
        <p:spPr>
          <a:xfrm>
            <a:off x="1524000" y="277104"/>
            <a:ext cx="8915400" cy="646331"/>
          </a:xfrm>
          <a:prstGeom prst="rect">
            <a:avLst/>
          </a:prstGeom>
          <a:noFill/>
        </p:spPr>
        <p:txBody>
          <a:bodyPr wrap="square" rtlCol="0">
            <a:spAutoFit/>
          </a:bodyPr>
          <a:lstStyle/>
          <a:p>
            <a:pPr algn="just"/>
            <a:r>
              <a:rPr lang="en-US" sz="3200" b="1" dirty="0"/>
              <a:t>Cellulose</a:t>
            </a:r>
            <a:r>
              <a:rPr lang="en-US" sz="3600" b="1" dirty="0"/>
              <a:t> </a:t>
            </a:r>
            <a:r>
              <a:rPr lang="en-US" sz="3200" b="1" dirty="0"/>
              <a:t>material</a:t>
            </a:r>
            <a:r>
              <a:rPr lang="en-US" sz="3600" b="1" dirty="0"/>
              <a:t> </a:t>
            </a:r>
            <a:r>
              <a:rPr lang="en-US" sz="3200" b="1" dirty="0"/>
              <a:t>used in house hold water filters</a:t>
            </a:r>
            <a:endParaRPr lang="en-IN" sz="3200" dirty="0"/>
          </a:p>
        </p:txBody>
      </p:sp>
    </p:spTree>
    <p:extLst>
      <p:ext uri="{BB962C8B-B14F-4D97-AF65-F5344CB8AC3E}">
        <p14:creationId xmlns:p14="http://schemas.microsoft.com/office/powerpoint/2010/main" val="597549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22789" r="681"/>
          <a:stretch/>
        </p:blipFill>
        <p:spPr>
          <a:xfrm>
            <a:off x="1688840" y="798731"/>
            <a:ext cx="4198776" cy="36576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5393" y="3616706"/>
            <a:ext cx="4684553" cy="3286393"/>
          </a:xfrm>
          <a:prstGeom prst="rect">
            <a:avLst/>
          </a:prstGeom>
        </p:spPr>
      </p:pic>
      <p:sp>
        <p:nvSpPr>
          <p:cNvPr id="4" name="TextBox 3"/>
          <p:cNvSpPr txBox="1"/>
          <p:nvPr/>
        </p:nvSpPr>
        <p:spPr>
          <a:xfrm>
            <a:off x="4178852" y="107830"/>
            <a:ext cx="4114800" cy="646331"/>
          </a:xfrm>
          <a:prstGeom prst="rect">
            <a:avLst/>
          </a:prstGeom>
          <a:noFill/>
        </p:spPr>
        <p:txBody>
          <a:bodyPr wrap="square" rtlCol="0">
            <a:spAutoFit/>
          </a:bodyPr>
          <a:lstStyle/>
          <a:p>
            <a:r>
              <a:rPr lang="en-US" sz="3600" dirty="0"/>
              <a:t>CELLULOSE  ACETATE</a:t>
            </a:r>
            <a:endParaRPr lang="en-IN" sz="3600" dirty="0"/>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21941" y="754160"/>
            <a:ext cx="4572000" cy="2758880"/>
          </a:xfrm>
          <a:prstGeom prst="rect">
            <a:avLst/>
          </a:prstGeom>
          <a:ln w="12700">
            <a:solidFill>
              <a:schemeClr val="tx1"/>
            </a:solidFill>
          </a:ln>
        </p:spPr>
      </p:pic>
    </p:spTree>
    <p:extLst>
      <p:ext uri="{BB962C8B-B14F-4D97-AF65-F5344CB8AC3E}">
        <p14:creationId xmlns:p14="http://schemas.microsoft.com/office/powerpoint/2010/main" val="2565788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0" y="23447"/>
            <a:ext cx="8991600" cy="6186309"/>
          </a:xfrm>
          <a:prstGeom prst="rect">
            <a:avLst/>
          </a:prstGeom>
        </p:spPr>
        <p:txBody>
          <a:bodyPr wrap="square">
            <a:spAutoFit/>
          </a:bodyPr>
          <a:lstStyle/>
          <a:p>
            <a:pPr lvl="1" algn="just">
              <a:lnSpc>
                <a:spcPct val="150000"/>
              </a:lnSpc>
            </a:pPr>
            <a:r>
              <a:rPr lang="en-US" sz="3600" b="1" dirty="0">
                <a:solidFill>
                  <a:schemeClr val="accent6">
                    <a:lumMod val="50000"/>
                  </a:schemeClr>
                </a:solidFill>
              </a:rPr>
              <a:t>BIOPLASTIC POLYHYDROXYALKANOATES (PHAs)</a:t>
            </a:r>
          </a:p>
          <a:p>
            <a:pPr marL="342900" indent="-342900" algn="just">
              <a:lnSpc>
                <a:spcPct val="150000"/>
              </a:lnSpc>
              <a:buFont typeface="Arial" pitchFamily="34" charset="0"/>
              <a:buChar char="•"/>
            </a:pPr>
            <a:r>
              <a:rPr lang="en-US" sz="3200" dirty="0"/>
              <a:t>Biodegradable and biocompatible polyesters produced by microorganisms - bacteria and fungi. </a:t>
            </a:r>
          </a:p>
          <a:p>
            <a:pPr marL="342900" indent="-342900" algn="just">
              <a:lnSpc>
                <a:spcPct val="150000"/>
              </a:lnSpc>
              <a:buFont typeface="Arial" pitchFamily="34" charset="0"/>
              <a:buChar char="•"/>
            </a:pPr>
            <a:r>
              <a:rPr lang="en-US" sz="3200" dirty="0"/>
              <a:t>Made from renewable resources - sugar and cornstarch </a:t>
            </a:r>
          </a:p>
          <a:p>
            <a:pPr marL="342900" indent="-342900" algn="just">
              <a:lnSpc>
                <a:spcPct val="150000"/>
              </a:lnSpc>
              <a:buFont typeface="Arial" pitchFamily="34" charset="0"/>
              <a:buChar char="•"/>
            </a:pPr>
            <a:r>
              <a:rPr lang="en-US" sz="3200" dirty="0"/>
              <a:t>Environmentally friendly alternative - traditional petroleum-based plastics</a:t>
            </a:r>
            <a:endParaRPr lang="en-IN" sz="3200" dirty="0"/>
          </a:p>
        </p:txBody>
      </p:sp>
    </p:spTree>
    <p:extLst>
      <p:ext uri="{BB962C8B-B14F-4D97-AF65-F5344CB8AC3E}">
        <p14:creationId xmlns:p14="http://schemas.microsoft.com/office/powerpoint/2010/main" val="1193275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8851373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76200"/>
            <a:ext cx="8839200" cy="6647974"/>
          </a:xfrm>
          <a:prstGeom prst="rect">
            <a:avLst/>
          </a:prstGeom>
        </p:spPr>
        <p:txBody>
          <a:bodyPr wrap="square">
            <a:spAutoFit/>
          </a:bodyPr>
          <a:lstStyle/>
          <a:p>
            <a:pPr algn="just">
              <a:lnSpc>
                <a:spcPct val="150000"/>
              </a:lnSpc>
            </a:pPr>
            <a:r>
              <a:rPr lang="en-US" sz="3200" b="1" dirty="0"/>
              <a:t>Properties of PHA </a:t>
            </a:r>
          </a:p>
          <a:p>
            <a:pPr marL="457200" indent="-457200" algn="just">
              <a:lnSpc>
                <a:spcPct val="150000"/>
              </a:lnSpc>
              <a:buFont typeface="+mj-lt"/>
              <a:buAutoNum type="arabicPeriod"/>
            </a:pPr>
            <a:r>
              <a:rPr lang="en-US" sz="2800" dirty="0"/>
              <a:t>Biodegradability: break down into water and carbon dioxide- reducing their impact on the environment.</a:t>
            </a:r>
          </a:p>
          <a:p>
            <a:pPr marL="457200" indent="-457200" algn="just">
              <a:lnSpc>
                <a:spcPct val="150000"/>
              </a:lnSpc>
              <a:buFont typeface="+mj-lt"/>
              <a:buAutoNum type="arabicPeriod"/>
            </a:pPr>
            <a:r>
              <a:rPr lang="en-US" sz="2800" dirty="0"/>
              <a:t>Biocompatibility: used in medical devices- sutures and implants, without causing adverse reactions in the body. </a:t>
            </a:r>
          </a:p>
          <a:p>
            <a:pPr marL="457200" indent="-457200" algn="just">
              <a:lnSpc>
                <a:spcPct val="150000"/>
              </a:lnSpc>
              <a:buFont typeface="+mj-lt"/>
              <a:buAutoNum type="arabicPeriod"/>
            </a:pPr>
            <a:r>
              <a:rPr lang="en-US" sz="2800" dirty="0"/>
              <a:t>Mechanical properties: similar as traditional petroleum based plastics - suitable for various applications.</a:t>
            </a:r>
          </a:p>
          <a:p>
            <a:pPr marL="457200" indent="-457200" algn="just">
              <a:lnSpc>
                <a:spcPct val="150000"/>
              </a:lnSpc>
              <a:buFont typeface="+mj-lt"/>
              <a:buAutoNum type="arabicPeriod"/>
            </a:pPr>
            <a:r>
              <a:rPr lang="en-US" sz="2800" dirty="0"/>
              <a:t>Processing: processed using conventional plastic processing techniques - injection molding, blow molding, and extrusion.</a:t>
            </a:r>
            <a:endParaRPr lang="en-IN" sz="2800" dirty="0"/>
          </a:p>
        </p:txBody>
      </p:sp>
    </p:spTree>
    <p:extLst>
      <p:ext uri="{BB962C8B-B14F-4D97-AF65-F5344CB8AC3E}">
        <p14:creationId xmlns:p14="http://schemas.microsoft.com/office/powerpoint/2010/main" val="21665668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8882" y="38790"/>
            <a:ext cx="9067800" cy="6647974"/>
          </a:xfrm>
          <a:prstGeom prst="rect">
            <a:avLst/>
          </a:prstGeom>
        </p:spPr>
        <p:txBody>
          <a:bodyPr wrap="square">
            <a:spAutoFit/>
          </a:bodyPr>
          <a:lstStyle/>
          <a:p>
            <a:pPr algn="just">
              <a:lnSpc>
                <a:spcPct val="150000"/>
              </a:lnSpc>
            </a:pPr>
            <a:r>
              <a:rPr lang="en-US" sz="3200" b="1" dirty="0"/>
              <a:t>Engineering applications of PHA bio plastic</a:t>
            </a:r>
            <a:r>
              <a:rPr lang="en-US" sz="2800" b="1" dirty="0"/>
              <a:t> </a:t>
            </a:r>
          </a:p>
          <a:p>
            <a:pPr marL="457200" indent="-457200" algn="just">
              <a:lnSpc>
                <a:spcPct val="150000"/>
              </a:lnSpc>
              <a:buFont typeface="Arial" pitchFamily="34" charset="0"/>
              <a:buChar char="•"/>
            </a:pPr>
            <a:r>
              <a:rPr lang="en-US" sz="2800" dirty="0"/>
              <a:t>Packaging: food containers, beverage cups, and clamshell containers.</a:t>
            </a:r>
          </a:p>
          <a:p>
            <a:pPr marL="457200" indent="-457200" algn="just">
              <a:lnSpc>
                <a:spcPct val="150000"/>
              </a:lnSpc>
              <a:buFont typeface="Arial" pitchFamily="34" charset="0"/>
              <a:buChar char="•"/>
            </a:pPr>
            <a:r>
              <a:rPr lang="en-US" sz="2800" dirty="0"/>
              <a:t>Medical Devices: PHA is biocompatible and can be used in the manufacture of medical devices - sutures, implants, and drug delivery systems.</a:t>
            </a:r>
          </a:p>
          <a:p>
            <a:pPr marL="457200" indent="-457200" algn="just">
              <a:lnSpc>
                <a:spcPct val="150000"/>
              </a:lnSpc>
              <a:buFont typeface="Arial" pitchFamily="34" charset="0"/>
              <a:buChar char="•"/>
            </a:pPr>
            <a:r>
              <a:rPr lang="en-US" sz="2800" dirty="0"/>
              <a:t>Textiles: production of biodegradable textiles and  composites for construction and furniture. </a:t>
            </a:r>
          </a:p>
          <a:p>
            <a:pPr marL="457200" indent="-457200" algn="just">
              <a:lnSpc>
                <a:spcPct val="150000"/>
              </a:lnSpc>
              <a:buFont typeface="Arial" pitchFamily="34" charset="0"/>
              <a:buChar char="•"/>
            </a:pPr>
            <a:r>
              <a:rPr lang="en-US" sz="2800" dirty="0"/>
              <a:t>Agricultural Mulch Films: production of biodegradable mulch films to reduce soil erosion and conserve moisture</a:t>
            </a:r>
            <a:endParaRPr lang="en-IN" sz="2800" dirty="0"/>
          </a:p>
        </p:txBody>
      </p:sp>
    </p:spTree>
    <p:extLst>
      <p:ext uri="{BB962C8B-B14F-4D97-AF65-F5344CB8AC3E}">
        <p14:creationId xmlns:p14="http://schemas.microsoft.com/office/powerpoint/2010/main" val="16961166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8991600" cy="6555641"/>
          </a:xfrm>
          <a:prstGeom prst="rect">
            <a:avLst/>
          </a:prstGeom>
        </p:spPr>
        <p:txBody>
          <a:bodyPr wrap="square">
            <a:spAutoFit/>
          </a:bodyPr>
          <a:lstStyle/>
          <a:p>
            <a:pPr marL="342900" indent="-342900" algn="just">
              <a:lnSpc>
                <a:spcPct val="150000"/>
              </a:lnSpc>
              <a:buFont typeface="Arial" pitchFamily="34" charset="0"/>
              <a:buChar char="•"/>
            </a:pPr>
            <a:r>
              <a:rPr lang="en-US" sz="2800" dirty="0"/>
              <a:t>Consumer Goods: production - toys, phone cases, and water bottles.</a:t>
            </a:r>
          </a:p>
          <a:p>
            <a:pPr marL="342900" indent="-342900" algn="just">
              <a:lnSpc>
                <a:spcPct val="150000"/>
              </a:lnSpc>
              <a:buFont typeface="Arial" pitchFamily="34" charset="0"/>
              <a:buChar char="•"/>
            </a:pPr>
            <a:r>
              <a:rPr lang="en-US" sz="2800" dirty="0"/>
              <a:t>Automotive Parts: production of biodegradable automotive parts - air ducts and headlamp covers </a:t>
            </a:r>
          </a:p>
          <a:p>
            <a:pPr marL="342900" indent="-342900" algn="just">
              <a:lnSpc>
                <a:spcPct val="150000"/>
              </a:lnSpc>
              <a:buFont typeface="Arial" pitchFamily="34" charset="0"/>
              <a:buChar char="•"/>
            </a:pPr>
            <a:r>
              <a:rPr lang="en-US" sz="2800" dirty="0"/>
              <a:t>Electronic Devices: production of biodegradable components in electronic devices - smartphones and laptops.</a:t>
            </a:r>
          </a:p>
          <a:p>
            <a:pPr marL="342900" indent="-342900" algn="just">
              <a:lnSpc>
                <a:spcPct val="150000"/>
              </a:lnSpc>
              <a:buFont typeface="Arial" pitchFamily="34" charset="0"/>
              <a:buChar char="•"/>
            </a:pPr>
            <a:r>
              <a:rPr lang="en-US" sz="2800" dirty="0"/>
              <a:t>Aerospace: production of biodegradable parts in aerospace applications - insulation and cable management.</a:t>
            </a:r>
          </a:p>
        </p:txBody>
      </p:sp>
    </p:spTree>
    <p:extLst>
      <p:ext uri="{BB962C8B-B14F-4D97-AF65-F5344CB8AC3E}">
        <p14:creationId xmlns:p14="http://schemas.microsoft.com/office/powerpoint/2010/main" val="36517273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152401"/>
            <a:ext cx="8763000" cy="4280531"/>
          </a:xfrm>
          <a:prstGeom prst="rect">
            <a:avLst/>
          </a:prstGeom>
        </p:spPr>
        <p:txBody>
          <a:bodyPr wrap="square">
            <a:spAutoFit/>
          </a:bodyPr>
          <a:lstStyle/>
          <a:p>
            <a:pPr marL="342900" indent="-342900" algn="just">
              <a:lnSpc>
                <a:spcPct val="200000"/>
              </a:lnSpc>
              <a:buFont typeface="Arial" pitchFamily="34" charset="0"/>
              <a:buChar char="•"/>
            </a:pPr>
            <a:r>
              <a:rPr lang="en-US" sz="2800" dirty="0"/>
              <a:t>Sporting Goods: PHA is used for the production of biodegradable sporting goods - golf tees and fishing lures.</a:t>
            </a:r>
          </a:p>
          <a:p>
            <a:pPr marL="342900" indent="-342900" algn="just">
              <a:lnSpc>
                <a:spcPct val="200000"/>
              </a:lnSpc>
              <a:buFont typeface="Arial" pitchFamily="34" charset="0"/>
              <a:buChar char="•"/>
            </a:pPr>
            <a:r>
              <a:rPr lang="en-US" sz="2800" dirty="0"/>
              <a:t>Construction: PHA is used for the production of biodegradable insulation and soundproofing materials</a:t>
            </a:r>
            <a:endParaRPr lang="en-IN" sz="2800" dirty="0"/>
          </a:p>
        </p:txBody>
      </p:sp>
    </p:spTree>
    <p:extLst>
      <p:ext uri="{BB962C8B-B14F-4D97-AF65-F5344CB8AC3E}">
        <p14:creationId xmlns:p14="http://schemas.microsoft.com/office/powerpoint/2010/main" val="24599630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0"/>
            <a:ext cx="8839200" cy="6647974"/>
          </a:xfrm>
          <a:prstGeom prst="rect">
            <a:avLst/>
          </a:prstGeom>
        </p:spPr>
        <p:txBody>
          <a:bodyPr wrap="square">
            <a:spAutoFit/>
          </a:bodyPr>
          <a:lstStyle/>
          <a:p>
            <a:pPr>
              <a:lnSpc>
                <a:spcPct val="150000"/>
              </a:lnSpc>
            </a:pPr>
            <a:r>
              <a:rPr lang="en-US" sz="3200" b="1" dirty="0">
                <a:solidFill>
                  <a:schemeClr val="accent6">
                    <a:lumMod val="50000"/>
                  </a:schemeClr>
                </a:solidFill>
              </a:rPr>
              <a:t>PLA AS BIOPLASTIC POLYLACTIC ACID (PLA)</a:t>
            </a:r>
          </a:p>
          <a:p>
            <a:pPr algn="just">
              <a:lnSpc>
                <a:spcPct val="150000"/>
              </a:lnSpc>
            </a:pPr>
            <a:r>
              <a:rPr lang="en-US" sz="2800" dirty="0"/>
              <a:t>Made from corn starch, sugarcane, or other natural resources. </a:t>
            </a:r>
          </a:p>
          <a:p>
            <a:pPr algn="just">
              <a:lnSpc>
                <a:spcPct val="150000"/>
              </a:lnSpc>
            </a:pPr>
            <a:r>
              <a:rPr lang="en-US" sz="2800" dirty="0"/>
              <a:t>Sustainable alternative to traditional petroleum-based plastics in various applications - packaging, disposable tableware, and 3D printing. </a:t>
            </a:r>
          </a:p>
          <a:p>
            <a:pPr algn="just">
              <a:lnSpc>
                <a:spcPct val="150000"/>
              </a:lnSpc>
            </a:pPr>
            <a:r>
              <a:rPr lang="en-US" sz="2800" dirty="0"/>
              <a:t>PLA is biodegradable in industrial composting facilities, it may not break down in the environment as quickly </a:t>
            </a:r>
          </a:p>
          <a:p>
            <a:pPr algn="just">
              <a:lnSpc>
                <a:spcPct val="150000"/>
              </a:lnSpc>
            </a:pPr>
            <a:r>
              <a:rPr lang="en-US" sz="2800" dirty="0"/>
              <a:t>May still have negative impacts on wildlife and ecosystems if not properly disposed of.</a:t>
            </a:r>
            <a:endParaRPr lang="en-IN" sz="2800" dirty="0"/>
          </a:p>
        </p:txBody>
      </p:sp>
    </p:spTree>
    <p:extLst>
      <p:ext uri="{BB962C8B-B14F-4D97-AF65-F5344CB8AC3E}">
        <p14:creationId xmlns:p14="http://schemas.microsoft.com/office/powerpoint/2010/main" val="20079800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1" y="1371600"/>
            <a:ext cx="7023653" cy="3962400"/>
          </a:xfrm>
          <a:prstGeom prst="rect">
            <a:avLst/>
          </a:prstGeom>
        </p:spPr>
      </p:pic>
    </p:spTree>
    <p:extLst>
      <p:ext uri="{BB962C8B-B14F-4D97-AF65-F5344CB8AC3E}">
        <p14:creationId xmlns:p14="http://schemas.microsoft.com/office/powerpoint/2010/main" val="26626120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76200"/>
            <a:ext cx="8915400" cy="6647974"/>
          </a:xfrm>
          <a:prstGeom prst="rect">
            <a:avLst/>
          </a:prstGeom>
        </p:spPr>
        <p:txBody>
          <a:bodyPr wrap="square">
            <a:spAutoFit/>
          </a:bodyPr>
          <a:lstStyle/>
          <a:p>
            <a:pPr algn="just">
              <a:lnSpc>
                <a:spcPct val="150000"/>
              </a:lnSpc>
            </a:pPr>
            <a:r>
              <a:rPr lang="en-US" sz="3200" b="1" dirty="0"/>
              <a:t>Properties of PLA as </a:t>
            </a:r>
            <a:r>
              <a:rPr lang="en-US" sz="3200" b="1" dirty="0" err="1"/>
              <a:t>bioplastic</a:t>
            </a:r>
            <a:r>
              <a:rPr lang="en-US" sz="3200" b="1" dirty="0"/>
              <a:t> </a:t>
            </a:r>
            <a:endParaRPr lang="en-US" sz="2800" dirty="0"/>
          </a:p>
          <a:p>
            <a:pPr marL="514350" indent="-514350" algn="just">
              <a:lnSpc>
                <a:spcPct val="150000"/>
              </a:lnSpc>
              <a:buFont typeface="+mj-lt"/>
              <a:buAutoNum type="arabicPeriod"/>
            </a:pPr>
            <a:r>
              <a:rPr lang="en-US" sz="2800" b="1" dirty="0"/>
              <a:t>Biodegradable</a:t>
            </a:r>
            <a:r>
              <a:rPr lang="en-US" sz="2800" dirty="0"/>
              <a:t>: broken down by microorganisms in industrial composting facilities, reducing waste in landfills. </a:t>
            </a:r>
          </a:p>
          <a:p>
            <a:pPr marL="514350" indent="-514350" algn="just">
              <a:lnSpc>
                <a:spcPct val="150000"/>
              </a:lnSpc>
              <a:buFont typeface="+mj-lt"/>
              <a:buAutoNum type="arabicPeriod"/>
            </a:pPr>
            <a:r>
              <a:rPr lang="en-US" sz="2800" b="1" dirty="0"/>
              <a:t>Renewable</a:t>
            </a:r>
            <a:r>
              <a:rPr lang="en-US" sz="2800" dirty="0"/>
              <a:t>: renewable resources such as corn starch or sugarcane, reducing dependence on finite petroleum resources.</a:t>
            </a:r>
          </a:p>
          <a:p>
            <a:pPr marL="514350" indent="-514350" algn="just">
              <a:lnSpc>
                <a:spcPct val="150000"/>
              </a:lnSpc>
              <a:buFont typeface="+mj-lt"/>
              <a:buAutoNum type="arabicPeriod"/>
            </a:pPr>
            <a:r>
              <a:rPr lang="en-US" sz="2800" b="1" dirty="0"/>
              <a:t>Clear/Transparent</a:t>
            </a:r>
            <a:r>
              <a:rPr lang="en-US" sz="2800" dirty="0"/>
              <a:t>: PLA has a clear and transparent appearance, making it suitable for packaging applications.</a:t>
            </a:r>
            <a:endParaRPr lang="en-IN" sz="2800" dirty="0"/>
          </a:p>
        </p:txBody>
      </p:sp>
    </p:spTree>
    <p:extLst>
      <p:ext uri="{BB962C8B-B14F-4D97-AF65-F5344CB8AC3E}">
        <p14:creationId xmlns:p14="http://schemas.microsoft.com/office/powerpoint/2010/main" val="41693004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76400" y="228600"/>
            <a:ext cx="8763000" cy="6488828"/>
          </a:xfrm>
          <a:prstGeom prst="rect">
            <a:avLst/>
          </a:prstGeom>
        </p:spPr>
        <p:txBody>
          <a:bodyPr wrap="square">
            <a:spAutoFit/>
          </a:bodyPr>
          <a:lstStyle/>
          <a:p>
            <a:pPr marL="514350" indent="-514350" algn="just">
              <a:lnSpc>
                <a:spcPct val="150000"/>
              </a:lnSpc>
              <a:buFont typeface="+mj-lt"/>
              <a:buAutoNum type="arabicPeriod" startAt="4"/>
            </a:pPr>
            <a:r>
              <a:rPr lang="en-US" sz="2800" b="1" dirty="0"/>
              <a:t>Heat-resistant</a:t>
            </a:r>
            <a:r>
              <a:rPr lang="en-US" sz="2800" dirty="0"/>
              <a:t>: low melting temperature and is not recommended for high heat applications, but it can maintain its shape and stability up to 60°C.</a:t>
            </a:r>
          </a:p>
          <a:p>
            <a:pPr marL="514350" indent="-514350" algn="just">
              <a:lnSpc>
                <a:spcPct val="150000"/>
              </a:lnSpc>
              <a:buFont typeface="+mj-lt"/>
              <a:buAutoNum type="arabicPeriod" startAt="4"/>
            </a:pPr>
            <a:r>
              <a:rPr lang="en-US" sz="2800" b="1" dirty="0"/>
              <a:t>Biocompatible</a:t>
            </a:r>
            <a:r>
              <a:rPr lang="en-US" sz="2800" dirty="0"/>
              <a:t>: PLA is non-toxic and biocompatible, making it suitable for food packaging and medical devices.</a:t>
            </a:r>
          </a:p>
          <a:p>
            <a:pPr marL="514350" indent="-514350" algn="just">
              <a:lnSpc>
                <a:spcPct val="150000"/>
              </a:lnSpc>
              <a:buFont typeface="+mj-lt"/>
              <a:buAutoNum type="arabicPeriod" startAt="4"/>
            </a:pPr>
            <a:r>
              <a:rPr lang="en-US" sz="2800" b="1" dirty="0"/>
              <a:t>Stiffness and Strength</a:t>
            </a:r>
            <a:r>
              <a:rPr lang="en-US" sz="2800" dirty="0"/>
              <a:t>: good stiffness and strength, but not as strong as traditional petroleum-based plastics.</a:t>
            </a:r>
          </a:p>
          <a:p>
            <a:pPr marL="514350" indent="-514350" algn="just">
              <a:lnSpc>
                <a:spcPct val="150000"/>
              </a:lnSpc>
              <a:buFont typeface="+mj-lt"/>
              <a:buAutoNum type="arabicPeriod" startAt="4"/>
            </a:pPr>
            <a:r>
              <a:rPr lang="en-US" sz="2800" b="1" dirty="0"/>
              <a:t>Printability</a:t>
            </a:r>
            <a:r>
              <a:rPr lang="en-US" sz="2800" dirty="0"/>
              <a:t>: used in 3D printing due to its good printability and ease of use.</a:t>
            </a:r>
            <a:endParaRPr lang="en-IN" sz="2800" dirty="0"/>
          </a:p>
        </p:txBody>
      </p:sp>
    </p:spTree>
    <p:extLst>
      <p:ext uri="{BB962C8B-B14F-4D97-AF65-F5344CB8AC3E}">
        <p14:creationId xmlns:p14="http://schemas.microsoft.com/office/powerpoint/2010/main" val="24082627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97347"/>
            <a:ext cx="9296400" cy="6001643"/>
          </a:xfrm>
          <a:prstGeom prst="rect">
            <a:avLst/>
          </a:prstGeom>
        </p:spPr>
        <p:txBody>
          <a:bodyPr wrap="square">
            <a:spAutoFit/>
          </a:bodyPr>
          <a:lstStyle/>
          <a:p>
            <a:pPr algn="just">
              <a:lnSpc>
                <a:spcPct val="150000"/>
              </a:lnSpc>
            </a:pPr>
            <a:r>
              <a:rPr lang="en-US" sz="3200" dirty="0"/>
              <a:t>Engineering applications of PLA </a:t>
            </a:r>
            <a:r>
              <a:rPr lang="en-US" sz="3200" dirty="0" err="1"/>
              <a:t>bioplastic</a:t>
            </a:r>
            <a:r>
              <a:rPr lang="en-US" sz="3200" dirty="0"/>
              <a:t> </a:t>
            </a:r>
          </a:p>
          <a:p>
            <a:pPr marL="457200" indent="-457200" algn="just">
              <a:lnSpc>
                <a:spcPct val="150000"/>
              </a:lnSpc>
              <a:buFont typeface="Arial" pitchFamily="34" charset="0"/>
              <a:buChar char="•"/>
            </a:pPr>
            <a:r>
              <a:rPr lang="en-US" sz="2800" dirty="0"/>
              <a:t>Automotive parts: production of biodegradable automotive parts such as air ducts and headlamp covers. </a:t>
            </a:r>
          </a:p>
          <a:p>
            <a:pPr marL="457200" indent="-457200" algn="just">
              <a:lnSpc>
                <a:spcPct val="150000"/>
              </a:lnSpc>
              <a:buFont typeface="Arial" pitchFamily="34" charset="0"/>
              <a:buChar char="•"/>
            </a:pPr>
            <a:r>
              <a:rPr lang="en-US" sz="2800" dirty="0"/>
              <a:t>Electronic Devices: PLA is used for the production of biodegradable components in electronic devices such as smartphones and laptops. </a:t>
            </a:r>
          </a:p>
          <a:p>
            <a:pPr marL="457200" indent="-457200" algn="just">
              <a:lnSpc>
                <a:spcPct val="150000"/>
              </a:lnSpc>
              <a:buFont typeface="Arial" pitchFamily="34" charset="0"/>
              <a:buChar char="•"/>
            </a:pPr>
            <a:r>
              <a:rPr lang="en-US" sz="2800" dirty="0" err="1"/>
              <a:t>Erospace</a:t>
            </a:r>
            <a:r>
              <a:rPr lang="en-US" sz="2800" dirty="0"/>
              <a:t>: PLA is used for the production of biodegradable parts in aerospace applications, such as insulation and cable management. </a:t>
            </a:r>
          </a:p>
        </p:txBody>
      </p:sp>
    </p:spTree>
    <p:extLst>
      <p:ext uri="{BB962C8B-B14F-4D97-AF65-F5344CB8AC3E}">
        <p14:creationId xmlns:p14="http://schemas.microsoft.com/office/powerpoint/2010/main" val="22333997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1923" y="1"/>
            <a:ext cx="8991600" cy="6555641"/>
          </a:xfrm>
          <a:prstGeom prst="rect">
            <a:avLst/>
          </a:prstGeom>
        </p:spPr>
        <p:txBody>
          <a:bodyPr wrap="square">
            <a:spAutoFit/>
          </a:bodyPr>
          <a:lstStyle/>
          <a:p>
            <a:pPr marL="457200" indent="-457200" algn="just">
              <a:lnSpc>
                <a:spcPct val="150000"/>
              </a:lnSpc>
              <a:buFont typeface="Arial" pitchFamily="34" charset="0"/>
              <a:buChar char="•"/>
            </a:pPr>
            <a:r>
              <a:rPr lang="en-US" sz="2800" dirty="0"/>
              <a:t>Sporting Goods: production of biodegradable sporting goods such as golf tees and fishing lures. </a:t>
            </a:r>
          </a:p>
          <a:p>
            <a:pPr marL="457200" indent="-457200" algn="just">
              <a:lnSpc>
                <a:spcPct val="150000"/>
              </a:lnSpc>
              <a:buFont typeface="Arial" pitchFamily="34" charset="0"/>
              <a:buChar char="•"/>
            </a:pPr>
            <a:r>
              <a:rPr lang="en-US" sz="2800" dirty="0"/>
              <a:t>Construction: production of biodegradable insulation and soundproofing materials.</a:t>
            </a:r>
          </a:p>
          <a:p>
            <a:pPr marL="457200" indent="-457200" algn="just">
              <a:lnSpc>
                <a:spcPct val="150000"/>
              </a:lnSpc>
              <a:buFont typeface="Arial" pitchFamily="34" charset="0"/>
              <a:buChar char="•"/>
            </a:pPr>
            <a:r>
              <a:rPr lang="en-US" sz="2800" dirty="0"/>
              <a:t>Agricultural Equipment: production of biodegradable parts in agricultural equipment such as seed trays and greenhouse film.</a:t>
            </a:r>
          </a:p>
          <a:p>
            <a:pPr marL="457200" indent="-457200" algn="just">
              <a:lnSpc>
                <a:spcPct val="150000"/>
              </a:lnSpc>
              <a:buFont typeface="Arial" pitchFamily="34" charset="0"/>
              <a:buChar char="•"/>
            </a:pPr>
            <a:r>
              <a:rPr lang="en-US" sz="2800" dirty="0"/>
              <a:t>Medical Equipment: production of biodegradable components in medical equipment such as diagnostic equipment and hospital beds</a:t>
            </a:r>
            <a:endParaRPr lang="en-IN" sz="2800" dirty="0"/>
          </a:p>
        </p:txBody>
      </p:sp>
    </p:spTree>
    <p:extLst>
      <p:ext uri="{BB962C8B-B14F-4D97-AF65-F5344CB8AC3E}">
        <p14:creationId xmlns:p14="http://schemas.microsoft.com/office/powerpoint/2010/main" val="29487375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4035" y="1709355"/>
            <a:ext cx="7772400" cy="1470025"/>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IN" sz="7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Bahnschrift SemiBold SemiConden" pitchFamily="34" charset="0"/>
              </a:rPr>
              <a:t>ENZYMES</a:t>
            </a:r>
            <a:endParaRPr lang="en-IN"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Bahnschrift SemiBold SemiConden" pitchFamily="34" charset="0"/>
            </a:endParaRPr>
          </a:p>
        </p:txBody>
      </p:sp>
      <p:sp>
        <p:nvSpPr>
          <p:cNvPr id="3" name="Subtitle 2"/>
          <p:cNvSpPr>
            <a:spLocks noGrp="1"/>
          </p:cNvSpPr>
          <p:nvPr>
            <p:ph type="subTitle" idx="1"/>
          </p:nvPr>
        </p:nvSpPr>
        <p:spPr>
          <a:xfrm>
            <a:off x="7010400" y="5334000"/>
            <a:ext cx="3505200" cy="1371600"/>
          </a:xfrm>
        </p:spPr>
        <p:txBody>
          <a:bodyPr>
            <a:normAutofit/>
          </a:bodyPr>
          <a:lstStyle/>
          <a:p>
            <a:r>
              <a:rPr lang="en-IN" dirty="0"/>
              <a:t>Pavithra K</a:t>
            </a:r>
          </a:p>
          <a:p>
            <a:r>
              <a:rPr lang="en-IN" dirty="0"/>
              <a:t>Assistant Professor of Basic Science </a:t>
            </a:r>
          </a:p>
        </p:txBody>
      </p:sp>
      <p:pic>
        <p:nvPicPr>
          <p:cNvPr id="1026" name="Picture 2" descr="C:\Users\asus\Pictures\Saved Pictures\enzyme-structures-enzyme-space-filling-model-11569043804x2cqlgw69d.png"/>
          <p:cNvPicPr>
            <a:picLocks noChangeAspect="1" noChangeArrowheads="1"/>
          </p:cNvPicPr>
          <p:nvPr/>
        </p:nvPicPr>
        <p:blipFill rotWithShape="1">
          <a:blip r:embed="rId2">
            <a:extLst>
              <a:ext uri="{28A0092B-C50C-407E-A947-70E740481C1C}">
                <a14:useLocalDpi xmlns:a14="http://schemas.microsoft.com/office/drawing/2010/main" val="0"/>
              </a:ext>
            </a:extLst>
          </a:blip>
          <a:srcRect l="1745" t="35578" r="1411" b="35575"/>
          <a:stretch/>
        </p:blipFill>
        <p:spPr bwMode="auto">
          <a:xfrm>
            <a:off x="1752600" y="3174124"/>
            <a:ext cx="865527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8615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833" t="26227" r="2500" b="6735"/>
          <a:stretch/>
        </p:blipFill>
        <p:spPr>
          <a:xfrm>
            <a:off x="1721069" y="4267201"/>
            <a:ext cx="8839200" cy="2467303"/>
          </a:xfrm>
          <a:prstGeom prst="rect">
            <a:avLst/>
          </a:prstGeom>
        </p:spPr>
      </p:pic>
      <p:sp>
        <p:nvSpPr>
          <p:cNvPr id="2" name="Rectangle 1"/>
          <p:cNvSpPr/>
          <p:nvPr/>
        </p:nvSpPr>
        <p:spPr>
          <a:xfrm>
            <a:off x="1613338" y="-194442"/>
            <a:ext cx="9054662" cy="4616648"/>
          </a:xfrm>
          <a:prstGeom prst="rect">
            <a:avLst/>
          </a:prstGeom>
        </p:spPr>
        <p:txBody>
          <a:bodyPr wrap="square">
            <a:spAutoFit/>
          </a:bodyPr>
          <a:lstStyle/>
          <a:p>
            <a:pPr marL="457200" indent="-457200" algn="just">
              <a:lnSpc>
                <a:spcPct val="150000"/>
              </a:lnSpc>
              <a:buFont typeface="Wingdings" pitchFamily="2" charset="2"/>
              <a:buChar char="§"/>
            </a:pPr>
            <a:r>
              <a:rPr lang="en-US" sz="2800" dirty="0"/>
              <a:t>Enzymes are proteins that act as catalysts in biological reactions. </a:t>
            </a:r>
          </a:p>
          <a:p>
            <a:pPr marL="457200" indent="-457200" algn="just">
              <a:lnSpc>
                <a:spcPct val="150000"/>
              </a:lnSpc>
              <a:buFont typeface="Wingdings" pitchFamily="2" charset="2"/>
              <a:buChar char="§"/>
            </a:pPr>
            <a:r>
              <a:rPr lang="en-US" sz="2800" dirty="0"/>
              <a:t>They speed up the rate of chemical reactions without being consumed in the process. </a:t>
            </a:r>
          </a:p>
          <a:p>
            <a:pPr marL="457200" indent="-457200" algn="just">
              <a:lnSpc>
                <a:spcPct val="150000"/>
              </a:lnSpc>
              <a:buFont typeface="Wingdings" pitchFamily="2" charset="2"/>
              <a:buChar char="§"/>
            </a:pPr>
            <a:r>
              <a:rPr lang="en-US" sz="2800" dirty="0"/>
              <a:t>Enzymes are specific to the type of reaction they catalyze.</a:t>
            </a:r>
          </a:p>
          <a:p>
            <a:pPr marL="457200" indent="-457200" algn="just">
              <a:lnSpc>
                <a:spcPct val="150000"/>
              </a:lnSpc>
              <a:buFont typeface="Wingdings" pitchFamily="2" charset="2"/>
              <a:buChar char="§"/>
            </a:pPr>
            <a:r>
              <a:rPr lang="en-US" sz="2800" dirty="0"/>
              <a:t> Enzymes play a crucial role in various metabolic pathways, digestion, and cellular respiration.</a:t>
            </a:r>
            <a:endParaRPr lang="en-IN" sz="2800" dirty="0"/>
          </a:p>
        </p:txBody>
      </p:sp>
    </p:spTree>
    <p:extLst>
      <p:ext uri="{BB962C8B-B14F-4D97-AF65-F5344CB8AC3E}">
        <p14:creationId xmlns:p14="http://schemas.microsoft.com/office/powerpoint/2010/main" val="13160567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1221" y="60831"/>
            <a:ext cx="9067800" cy="6555641"/>
          </a:xfrm>
          <a:prstGeom prst="rect">
            <a:avLst/>
          </a:prstGeom>
        </p:spPr>
        <p:txBody>
          <a:bodyPr wrap="square">
            <a:spAutoFit/>
          </a:bodyPr>
          <a:lstStyle/>
          <a:p>
            <a:pPr algn="just">
              <a:lnSpc>
                <a:spcPct val="150000"/>
              </a:lnSpc>
            </a:pPr>
            <a:r>
              <a:rPr lang="en-US" sz="2800" b="1" dirty="0">
                <a:solidFill>
                  <a:schemeClr val="accent3">
                    <a:lumMod val="50000"/>
                  </a:schemeClr>
                </a:solidFill>
              </a:rPr>
              <a:t>PROPERTIES OF ENZYMES FOR ENGINEERING APPLICATIONS </a:t>
            </a:r>
          </a:p>
          <a:p>
            <a:pPr marL="514350" indent="-514350" algn="just">
              <a:lnSpc>
                <a:spcPct val="150000"/>
              </a:lnSpc>
              <a:buFont typeface="+mj-lt"/>
              <a:buAutoNum type="arabicPeriod"/>
            </a:pPr>
            <a:r>
              <a:rPr lang="en-US" sz="2800" b="1" dirty="0"/>
              <a:t>Specificity</a:t>
            </a:r>
            <a:r>
              <a:rPr lang="en-US" sz="2800" dirty="0"/>
              <a:t>: </a:t>
            </a:r>
          </a:p>
          <a:p>
            <a:pPr marL="514350" indent="-514350" algn="just">
              <a:lnSpc>
                <a:spcPct val="150000"/>
              </a:lnSpc>
              <a:buFont typeface="+mj-lt"/>
              <a:buAutoNum type="arabicPeriod"/>
            </a:pPr>
            <a:r>
              <a:rPr lang="en-US" sz="2800" b="1" dirty="0"/>
              <a:t>Reactivity</a:t>
            </a:r>
            <a:r>
              <a:rPr lang="en-US" sz="2800" dirty="0"/>
              <a:t>: Enzymes increase the rate of chemical reactions without being consumed in the process.</a:t>
            </a:r>
          </a:p>
          <a:p>
            <a:pPr marL="514350" indent="-514350" algn="just">
              <a:lnSpc>
                <a:spcPct val="150000"/>
              </a:lnSpc>
              <a:buFont typeface="+mj-lt"/>
              <a:buAutoNum type="arabicPeriod"/>
            </a:pPr>
            <a:r>
              <a:rPr lang="en-US" sz="2800" b="1" dirty="0"/>
              <a:t>Stability</a:t>
            </a:r>
            <a:r>
              <a:rPr lang="en-US" sz="2800" dirty="0"/>
              <a:t>: Enzymes are generally stable at a wide range of temperatures and pH values</a:t>
            </a:r>
          </a:p>
          <a:p>
            <a:pPr marL="514350" indent="-514350" algn="just">
              <a:lnSpc>
                <a:spcPct val="150000"/>
              </a:lnSpc>
              <a:buFont typeface="+mj-lt"/>
              <a:buAutoNum type="arabicPeriod"/>
            </a:pPr>
            <a:r>
              <a:rPr lang="en-US" sz="2800" b="1" dirty="0"/>
              <a:t>Renewability</a:t>
            </a:r>
            <a:r>
              <a:rPr lang="en-US" sz="2800" dirty="0"/>
              <a:t>: alternative to traditional chemical catalysts.</a:t>
            </a:r>
          </a:p>
          <a:p>
            <a:pPr marL="514350" indent="-514350" algn="just">
              <a:lnSpc>
                <a:spcPct val="150000"/>
              </a:lnSpc>
              <a:buFont typeface="+mj-lt"/>
              <a:buAutoNum type="arabicPeriod"/>
            </a:pPr>
            <a:r>
              <a:rPr lang="en-US" sz="2800" b="1" dirty="0"/>
              <a:t>Cost-effectiveness</a:t>
            </a:r>
            <a:r>
              <a:rPr lang="en-US" sz="2800" dirty="0"/>
              <a:t>: Enzymes can be produced in large quantities through fermentation.</a:t>
            </a:r>
            <a:endParaRPr lang="en-IN" sz="2800" dirty="0"/>
          </a:p>
        </p:txBody>
      </p:sp>
    </p:spTree>
    <p:extLst>
      <p:ext uri="{BB962C8B-B14F-4D97-AF65-F5344CB8AC3E}">
        <p14:creationId xmlns:p14="http://schemas.microsoft.com/office/powerpoint/2010/main" val="32480128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D0E019-1860-43C8-B78D-BC6899E21802}"/>
              </a:ext>
            </a:extLst>
          </p:cNvPr>
          <p:cNvPicPr>
            <a:picLocks noChangeAspect="1"/>
          </p:cNvPicPr>
          <p:nvPr/>
        </p:nvPicPr>
        <p:blipFill>
          <a:blip r:embed="rId2"/>
          <a:stretch>
            <a:fillRect/>
          </a:stretch>
        </p:blipFill>
        <p:spPr>
          <a:xfrm>
            <a:off x="1524000" y="-13252"/>
            <a:ext cx="9198877" cy="6871252"/>
          </a:xfrm>
          <a:prstGeom prst="rect">
            <a:avLst/>
          </a:prstGeom>
        </p:spPr>
      </p:pic>
    </p:spTree>
    <p:extLst>
      <p:ext uri="{BB962C8B-B14F-4D97-AF65-F5344CB8AC3E}">
        <p14:creationId xmlns:p14="http://schemas.microsoft.com/office/powerpoint/2010/main" val="31078705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7FB894-6994-4748-B5E6-264217828E69}"/>
              </a:ext>
            </a:extLst>
          </p:cNvPr>
          <p:cNvSpPr/>
          <p:nvPr/>
        </p:nvSpPr>
        <p:spPr>
          <a:xfrm>
            <a:off x="1494183" y="228600"/>
            <a:ext cx="9094304" cy="5832366"/>
          </a:xfrm>
          <a:prstGeom prst="rect">
            <a:avLst/>
          </a:prstGeom>
        </p:spPr>
        <p:txBody>
          <a:bodyPr wrap="square">
            <a:spAutoFit/>
          </a:bodyPr>
          <a:lstStyle/>
          <a:p>
            <a:pPr algn="just"/>
            <a:r>
              <a:rPr lang="en-US" sz="2400" b="1" dirty="0">
                <a:solidFill>
                  <a:schemeClr val="accent3">
                    <a:lumMod val="50000"/>
                  </a:schemeClr>
                </a:solidFill>
              </a:rPr>
              <a:t>PROPERTIES OF ENZYME</a:t>
            </a:r>
            <a:endParaRPr lang="en-US" sz="2300" dirty="0"/>
          </a:p>
          <a:p>
            <a:pPr marL="342900" indent="-342900" algn="just">
              <a:buFont typeface="Arial" panose="020B0604020202020204" pitchFamily="34" charset="0"/>
              <a:buChar char="•"/>
            </a:pPr>
            <a:r>
              <a:rPr lang="en-US" sz="2300" dirty="0"/>
              <a:t>Enzymes are complex macromolecules with high molecular weight.</a:t>
            </a:r>
          </a:p>
          <a:p>
            <a:pPr marL="342900" indent="-342900" algn="just">
              <a:buFont typeface="Arial" panose="020B0604020202020204" pitchFamily="34" charset="0"/>
              <a:buChar char="•"/>
            </a:pPr>
            <a:r>
              <a:rPr lang="en-US" sz="2300" dirty="0"/>
              <a:t>They catalyze biochemical reactions in a cell. </a:t>
            </a:r>
          </a:p>
          <a:p>
            <a:pPr marL="342900" indent="-342900" algn="just">
              <a:buFont typeface="Arial" panose="020B0604020202020204" pitchFamily="34" charset="0"/>
              <a:buChar char="•"/>
            </a:pPr>
            <a:r>
              <a:rPr lang="en-US" sz="2300" dirty="0"/>
              <a:t>They help in the breakdown of large molecules into smaller molecules or bring together two smaller molecules to form a larger molecule.</a:t>
            </a:r>
          </a:p>
          <a:p>
            <a:pPr marL="342900" indent="-342900" algn="just">
              <a:buFont typeface="Arial" panose="020B0604020202020204" pitchFamily="34" charset="0"/>
              <a:buChar char="•"/>
            </a:pPr>
            <a:r>
              <a:rPr lang="en-US" sz="2300" dirty="0"/>
              <a:t>Enzymes do not start a reaction. However, they help in accelerating it.</a:t>
            </a:r>
          </a:p>
          <a:p>
            <a:pPr marL="342900" indent="-342900" algn="just">
              <a:buFont typeface="Arial" panose="020B0604020202020204" pitchFamily="34" charset="0"/>
              <a:buChar char="•"/>
            </a:pPr>
            <a:r>
              <a:rPr lang="en-US" sz="2300" dirty="0"/>
              <a:t>Enzymes affect the rate of biochemical reaction and not the direction. </a:t>
            </a:r>
          </a:p>
          <a:p>
            <a:pPr marL="342900" indent="-342900" algn="just">
              <a:buFont typeface="Arial" panose="020B0604020202020204" pitchFamily="34" charset="0"/>
              <a:buChar char="•"/>
            </a:pPr>
            <a:r>
              <a:rPr lang="en-US" sz="2300" dirty="0"/>
              <a:t>Most of the enzymes have a high turnover number. Turnover number of an enzyme is the number of molecules of a substance that is acted upon by an enzyme per minute. High turnover number of enzymes increases the efficiency of the reaction.</a:t>
            </a:r>
          </a:p>
          <a:p>
            <a:pPr marL="342900" indent="-342900" algn="just">
              <a:buFont typeface="Arial" panose="020B0604020202020204" pitchFamily="34" charset="0"/>
              <a:buChar char="•"/>
            </a:pPr>
            <a:r>
              <a:rPr lang="en-US" sz="2300" dirty="0"/>
              <a:t>Enzymes are specific in action.</a:t>
            </a:r>
          </a:p>
          <a:p>
            <a:pPr marL="342900" indent="-342900" algn="just">
              <a:buFont typeface="Arial" panose="020B0604020202020204" pitchFamily="34" charset="0"/>
              <a:buChar char="•"/>
            </a:pPr>
            <a:r>
              <a:rPr lang="en-US" sz="2300" dirty="0"/>
              <a:t>Enzymatic activity decreases with increase in temperature.</a:t>
            </a:r>
          </a:p>
          <a:p>
            <a:pPr marL="342900" indent="-342900" algn="just">
              <a:buFont typeface="Arial" panose="020B0604020202020204" pitchFamily="34" charset="0"/>
              <a:buChar char="•"/>
            </a:pPr>
            <a:r>
              <a:rPr lang="en-US" sz="2300" dirty="0"/>
              <a:t>They show maximum activity at an optimum pH of 6 – 8.</a:t>
            </a:r>
          </a:p>
          <a:p>
            <a:pPr marL="342900" indent="-342900" algn="just">
              <a:buFont typeface="Arial" panose="020B0604020202020204" pitchFamily="34" charset="0"/>
              <a:buChar char="•"/>
            </a:pPr>
            <a:r>
              <a:rPr lang="en-US" sz="2300" dirty="0"/>
              <a:t>The velocity of enzyme increases with an increase in substrate concentration and then, ultimately reaches maximum velocity.</a:t>
            </a:r>
            <a:endParaRPr lang="en-IN" sz="2300" dirty="0"/>
          </a:p>
        </p:txBody>
      </p:sp>
    </p:spTree>
    <p:extLst>
      <p:ext uri="{BB962C8B-B14F-4D97-AF65-F5344CB8AC3E}">
        <p14:creationId xmlns:p14="http://schemas.microsoft.com/office/powerpoint/2010/main" val="10750233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4AE5AD-56BE-4C5C-BA3A-E3CADFBE299C}"/>
              </a:ext>
            </a:extLst>
          </p:cNvPr>
          <p:cNvSpPr/>
          <p:nvPr/>
        </p:nvSpPr>
        <p:spPr>
          <a:xfrm>
            <a:off x="1524000" y="228601"/>
            <a:ext cx="8991600" cy="5401479"/>
          </a:xfrm>
          <a:prstGeom prst="rect">
            <a:avLst/>
          </a:prstGeom>
        </p:spPr>
        <p:txBody>
          <a:bodyPr wrap="square">
            <a:spAutoFit/>
          </a:bodyPr>
          <a:lstStyle/>
          <a:p>
            <a:pPr algn="just"/>
            <a:r>
              <a:rPr lang="en-US" sz="2400" b="1" dirty="0">
                <a:solidFill>
                  <a:srgbClr val="444444"/>
                </a:solidFill>
                <a:latin typeface="Poppins"/>
              </a:rPr>
              <a:t>FUNCTIONS OF ENZYME</a:t>
            </a:r>
          </a:p>
          <a:p>
            <a:pPr algn="just">
              <a:buFont typeface="+mj-lt"/>
              <a:buAutoNum type="arabicPeriod"/>
            </a:pPr>
            <a:r>
              <a:rPr lang="en-US" sz="2300" dirty="0">
                <a:solidFill>
                  <a:srgbClr val="444444"/>
                </a:solidFill>
                <a:latin typeface="Poppins"/>
              </a:rPr>
              <a:t>Enzymes help in signal transduction. The most common enzyme used in the process includes protein kinase that catalyzes the phosphorylation of proteins.</a:t>
            </a:r>
          </a:p>
          <a:p>
            <a:pPr algn="just">
              <a:buFont typeface="+mj-lt"/>
              <a:buAutoNum type="arabicPeriod"/>
            </a:pPr>
            <a:r>
              <a:rPr lang="en-US" sz="2300" dirty="0">
                <a:solidFill>
                  <a:srgbClr val="444444"/>
                </a:solidFill>
                <a:latin typeface="Poppins"/>
              </a:rPr>
              <a:t>They break down large molecules into smaller substances that can be easily absorbed by the body.</a:t>
            </a:r>
          </a:p>
          <a:p>
            <a:pPr algn="just">
              <a:buFont typeface="+mj-lt"/>
              <a:buAutoNum type="arabicPeriod"/>
            </a:pPr>
            <a:r>
              <a:rPr lang="en-US" sz="2300" dirty="0">
                <a:solidFill>
                  <a:srgbClr val="444444"/>
                </a:solidFill>
                <a:latin typeface="Poppins"/>
              </a:rPr>
              <a:t>They help in generating energy in the body. ATP synthase is the enzyme involved in the synthesis of energy.</a:t>
            </a:r>
          </a:p>
          <a:p>
            <a:pPr algn="just">
              <a:buFont typeface="+mj-lt"/>
              <a:buAutoNum type="arabicPeriod"/>
            </a:pPr>
            <a:r>
              <a:rPr lang="en-US" sz="2300" dirty="0">
                <a:solidFill>
                  <a:srgbClr val="444444"/>
                </a:solidFill>
                <a:latin typeface="Poppins"/>
              </a:rPr>
              <a:t>Enzymes are responsible for the movement of ions across the plasma membrane.</a:t>
            </a:r>
          </a:p>
          <a:p>
            <a:pPr algn="just">
              <a:buFont typeface="+mj-lt"/>
              <a:buAutoNum type="arabicPeriod"/>
            </a:pPr>
            <a:r>
              <a:rPr lang="en-US" sz="2300" dirty="0">
                <a:solidFill>
                  <a:srgbClr val="444444"/>
                </a:solidFill>
                <a:latin typeface="Poppins"/>
              </a:rPr>
              <a:t>Enzymes perform a number of biochemical reactions, including oxidation, reduction, hydrolysis, etc. to eliminate the non-nutritive substances from the body.</a:t>
            </a:r>
          </a:p>
          <a:p>
            <a:pPr algn="just">
              <a:buFont typeface="+mj-lt"/>
              <a:buAutoNum type="arabicPeriod"/>
            </a:pPr>
            <a:r>
              <a:rPr lang="en-US" sz="2300" dirty="0">
                <a:solidFill>
                  <a:srgbClr val="444444"/>
                </a:solidFill>
                <a:latin typeface="Poppins"/>
              </a:rPr>
              <a:t>They function to reorganize the internal structure of the cell to regulate cellular activities.</a:t>
            </a:r>
          </a:p>
        </p:txBody>
      </p:sp>
    </p:spTree>
    <p:extLst>
      <p:ext uri="{BB962C8B-B14F-4D97-AF65-F5344CB8AC3E}">
        <p14:creationId xmlns:p14="http://schemas.microsoft.com/office/powerpoint/2010/main" val="28779616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9144000" cy="6555641"/>
          </a:xfrm>
          <a:prstGeom prst="rect">
            <a:avLst/>
          </a:prstGeom>
        </p:spPr>
        <p:txBody>
          <a:bodyPr wrap="square">
            <a:spAutoFit/>
          </a:bodyPr>
          <a:lstStyle/>
          <a:p>
            <a:pPr algn="just">
              <a:lnSpc>
                <a:spcPct val="150000"/>
              </a:lnSpc>
            </a:pPr>
            <a:r>
              <a:rPr lang="en-US" sz="2800" b="1" dirty="0">
                <a:solidFill>
                  <a:schemeClr val="accent3">
                    <a:lumMod val="50000"/>
                  </a:schemeClr>
                </a:solidFill>
              </a:rPr>
              <a:t>ENGINEERING APPLICATIONS OF ENZYMES</a:t>
            </a:r>
          </a:p>
          <a:p>
            <a:pPr marL="514350" indent="-514350" algn="just">
              <a:lnSpc>
                <a:spcPct val="150000"/>
              </a:lnSpc>
              <a:buFont typeface="+mj-lt"/>
              <a:buAutoNum type="arabicPeriod"/>
            </a:pPr>
            <a:r>
              <a:rPr lang="en-US" sz="2800" b="1" dirty="0"/>
              <a:t>Bioremediation</a:t>
            </a:r>
            <a:r>
              <a:rPr lang="en-US" sz="2800" dirty="0"/>
              <a:t>: Enzymes are used to break down pollutants in the environment, such as oils, pesticides, and toxic waste.</a:t>
            </a:r>
          </a:p>
          <a:p>
            <a:pPr marL="514350" indent="-514350" algn="just">
              <a:lnSpc>
                <a:spcPct val="150000"/>
              </a:lnSpc>
              <a:buFont typeface="+mj-lt"/>
              <a:buAutoNum type="arabicPeriod"/>
            </a:pPr>
            <a:r>
              <a:rPr lang="en-US" sz="2800" b="1" dirty="0"/>
              <a:t>Biofuel production</a:t>
            </a:r>
            <a:r>
              <a:rPr lang="en-US" sz="2800" dirty="0"/>
              <a:t>: Enzymes are used to convert plant material into biofuels, such as ethanol and biodiesel.</a:t>
            </a:r>
          </a:p>
          <a:p>
            <a:pPr marL="514350" indent="-514350" algn="just">
              <a:lnSpc>
                <a:spcPct val="150000"/>
              </a:lnSpc>
              <a:buFont typeface="+mj-lt"/>
              <a:buAutoNum type="arabicPeriod"/>
            </a:pPr>
            <a:r>
              <a:rPr lang="en-US" sz="2800" b="1" dirty="0"/>
              <a:t>Food and beverage production</a:t>
            </a:r>
            <a:r>
              <a:rPr lang="en-US" sz="2800" dirty="0"/>
              <a:t>: such as baking, brewing, cheese making, and juice production. </a:t>
            </a:r>
          </a:p>
          <a:p>
            <a:pPr marL="514350" indent="-514350" algn="just">
              <a:lnSpc>
                <a:spcPct val="150000"/>
              </a:lnSpc>
              <a:buFont typeface="+mj-lt"/>
              <a:buAutoNum type="arabicPeriod"/>
            </a:pPr>
            <a:r>
              <a:rPr lang="en-US" sz="2800" b="1" dirty="0"/>
              <a:t>Textile production</a:t>
            </a:r>
            <a:r>
              <a:rPr lang="en-US" sz="2800" dirty="0"/>
              <a:t>: Enzymes are used to remove stains, whiten fabrics, and improve the softness of textiles. </a:t>
            </a:r>
          </a:p>
        </p:txBody>
      </p:sp>
    </p:spTree>
    <p:extLst>
      <p:ext uri="{BB962C8B-B14F-4D97-AF65-F5344CB8AC3E}">
        <p14:creationId xmlns:p14="http://schemas.microsoft.com/office/powerpoint/2010/main" val="39517980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2"/>
            <a:ext cx="8991600" cy="5262979"/>
          </a:xfrm>
          <a:prstGeom prst="rect">
            <a:avLst/>
          </a:prstGeom>
        </p:spPr>
        <p:txBody>
          <a:bodyPr wrap="square">
            <a:spAutoFit/>
          </a:bodyPr>
          <a:lstStyle/>
          <a:p>
            <a:pPr marL="514350" indent="-514350" algn="just">
              <a:lnSpc>
                <a:spcPct val="200000"/>
              </a:lnSpc>
              <a:buFont typeface="+mj-lt"/>
              <a:buAutoNum type="arabicPeriod" startAt="5"/>
            </a:pPr>
            <a:r>
              <a:rPr lang="en-US" sz="2800" b="1" dirty="0"/>
              <a:t>Detergents</a:t>
            </a:r>
            <a:r>
              <a:rPr lang="en-US" sz="2800" dirty="0"/>
              <a:t>: in laundry detergents to break down protein, starch, and lipid stains.</a:t>
            </a:r>
          </a:p>
          <a:p>
            <a:pPr marL="514350" indent="-514350" algn="just">
              <a:lnSpc>
                <a:spcPct val="200000"/>
              </a:lnSpc>
              <a:buFont typeface="+mj-lt"/>
              <a:buAutoNum type="arabicPeriod" startAt="5"/>
            </a:pPr>
            <a:r>
              <a:rPr lang="en-US" sz="2800" b="1" dirty="0"/>
              <a:t>Pharmaceuticals</a:t>
            </a:r>
            <a:r>
              <a:rPr lang="en-US" sz="2800" dirty="0"/>
              <a:t>: such as antibiotics and vaccines. </a:t>
            </a:r>
          </a:p>
          <a:p>
            <a:pPr marL="514350" indent="-514350" algn="just">
              <a:lnSpc>
                <a:spcPct val="200000"/>
              </a:lnSpc>
              <a:buFont typeface="+mj-lt"/>
              <a:buAutoNum type="arabicPeriod" startAt="5"/>
            </a:pPr>
            <a:r>
              <a:rPr lang="en-US" sz="2800" b="1" dirty="0"/>
              <a:t>Research and biotechnology</a:t>
            </a:r>
            <a:r>
              <a:rPr lang="en-US" sz="2800" dirty="0"/>
              <a:t>: Enzymes are used as tools in genetic engineering, protein engineering, and molecular biology.</a:t>
            </a:r>
            <a:endParaRPr lang="en-IN" sz="2800" dirty="0"/>
          </a:p>
        </p:txBody>
      </p:sp>
    </p:spTree>
    <p:extLst>
      <p:ext uri="{BB962C8B-B14F-4D97-AF65-F5344CB8AC3E}">
        <p14:creationId xmlns:p14="http://schemas.microsoft.com/office/powerpoint/2010/main" val="13916596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7138" y="58768"/>
            <a:ext cx="9067800" cy="5262979"/>
          </a:xfrm>
          <a:prstGeom prst="rect">
            <a:avLst/>
          </a:prstGeom>
        </p:spPr>
        <p:txBody>
          <a:bodyPr wrap="square">
            <a:spAutoFit/>
          </a:bodyPr>
          <a:lstStyle/>
          <a:p>
            <a:pPr algn="just">
              <a:lnSpc>
                <a:spcPct val="150000"/>
              </a:lnSpc>
            </a:pPr>
            <a:r>
              <a:rPr lang="en-US" sz="2800" dirty="0">
                <a:solidFill>
                  <a:schemeClr val="accent3">
                    <a:lumMod val="50000"/>
                  </a:schemeClr>
                </a:solidFill>
              </a:rPr>
              <a:t>BIOSENSORS</a:t>
            </a:r>
            <a:r>
              <a:rPr lang="en-US" sz="2800" dirty="0"/>
              <a:t> are analytical devices that combine a biological recognition element with a transducer to detect and quantify target </a:t>
            </a:r>
            <a:r>
              <a:rPr lang="en-US" sz="2800" dirty="0" err="1"/>
              <a:t>analytes</a:t>
            </a:r>
            <a:r>
              <a:rPr lang="en-US" sz="2800" dirty="0"/>
              <a:t>. </a:t>
            </a:r>
          </a:p>
          <a:p>
            <a:pPr marL="457200" indent="-457200" algn="just">
              <a:lnSpc>
                <a:spcPct val="150000"/>
              </a:lnSpc>
              <a:buFont typeface="Arial" pitchFamily="34" charset="0"/>
              <a:buChar char="•"/>
            </a:pPr>
            <a:r>
              <a:rPr lang="en-US" sz="2800" dirty="0"/>
              <a:t>The biological recognition element can be an enzyme, antibody, nucleic acid, or other biological molecule that specifically interacts with the target </a:t>
            </a:r>
            <a:r>
              <a:rPr lang="en-US" sz="2800" dirty="0" err="1"/>
              <a:t>analyte</a:t>
            </a:r>
            <a:r>
              <a:rPr lang="en-US" sz="2800" dirty="0"/>
              <a:t>. </a:t>
            </a:r>
          </a:p>
          <a:p>
            <a:pPr marL="457200" indent="-457200" algn="just">
              <a:lnSpc>
                <a:spcPct val="150000"/>
              </a:lnSpc>
              <a:buFont typeface="Arial" pitchFamily="34" charset="0"/>
              <a:buChar char="•"/>
            </a:pPr>
            <a:r>
              <a:rPr lang="en-US" sz="2800" dirty="0"/>
              <a:t>The transducer converts the biological response into an electrical signal that can be quantified and interpreted.</a:t>
            </a:r>
          </a:p>
        </p:txBody>
      </p:sp>
    </p:spTree>
    <p:extLst>
      <p:ext uri="{BB962C8B-B14F-4D97-AF65-F5344CB8AC3E}">
        <p14:creationId xmlns:p14="http://schemas.microsoft.com/office/powerpoint/2010/main" val="2972161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52400"/>
            <a:ext cx="9067800" cy="7201972"/>
          </a:xfrm>
          <a:prstGeom prst="rect">
            <a:avLst/>
          </a:prstGeom>
        </p:spPr>
        <p:txBody>
          <a:bodyPr wrap="square">
            <a:spAutoFit/>
          </a:bodyPr>
          <a:lstStyle/>
          <a:p>
            <a:pPr algn="just">
              <a:lnSpc>
                <a:spcPct val="150000"/>
              </a:lnSpc>
            </a:pPr>
            <a:r>
              <a:rPr lang="en-US" sz="2800" dirty="0"/>
              <a:t>Biosensors have a wide range of applications in the fields of medicine, environmental monitoring, and food safety. </a:t>
            </a:r>
          </a:p>
          <a:p>
            <a:pPr marL="514350" indent="-514350" algn="just">
              <a:lnSpc>
                <a:spcPct val="150000"/>
              </a:lnSpc>
              <a:buFont typeface="+mj-lt"/>
              <a:buAutoNum type="arabicPeriod"/>
            </a:pPr>
            <a:r>
              <a:rPr lang="en-US" sz="2800" dirty="0"/>
              <a:t>Biosensors can be used to </a:t>
            </a:r>
            <a:r>
              <a:rPr lang="en-US" sz="2800" b="1" dirty="0"/>
              <a:t>monitor blood glucose levels</a:t>
            </a:r>
            <a:r>
              <a:rPr lang="en-US" sz="2800" dirty="0"/>
              <a:t> in patients with diabetes, </a:t>
            </a:r>
          </a:p>
          <a:p>
            <a:pPr marL="514350" indent="-514350" algn="just">
              <a:lnSpc>
                <a:spcPct val="150000"/>
              </a:lnSpc>
              <a:buFont typeface="+mj-lt"/>
              <a:buAutoNum type="arabicPeriod"/>
            </a:pPr>
            <a:r>
              <a:rPr lang="en-US" sz="2800" dirty="0"/>
              <a:t>Detect contaminants in water and food, and monitor environmental pollutants. </a:t>
            </a:r>
          </a:p>
          <a:p>
            <a:pPr algn="just">
              <a:lnSpc>
                <a:spcPct val="150000"/>
              </a:lnSpc>
            </a:pPr>
            <a:r>
              <a:rPr lang="en-US" sz="2800" b="1" dirty="0"/>
              <a:t>Advantages</a:t>
            </a:r>
            <a:r>
              <a:rPr lang="en-US" sz="2800" dirty="0"/>
              <a:t>: including rapid response time, high sensitivity, Specificity, portability. </a:t>
            </a:r>
          </a:p>
          <a:p>
            <a:pPr marL="457200" indent="-457200" algn="just">
              <a:lnSpc>
                <a:spcPct val="150000"/>
              </a:lnSpc>
              <a:buFont typeface="Arial" pitchFamily="34" charset="0"/>
              <a:buChar char="•"/>
            </a:pPr>
            <a:r>
              <a:rPr lang="en-US" sz="2800" dirty="0"/>
              <a:t>They can be designed to be disposable and cost-effective, making them a useful tool in various industries and applications.</a:t>
            </a:r>
            <a:endParaRPr lang="en-IN" sz="2800" dirty="0"/>
          </a:p>
        </p:txBody>
      </p:sp>
    </p:spTree>
    <p:extLst>
      <p:ext uri="{BB962C8B-B14F-4D97-AF65-F5344CB8AC3E}">
        <p14:creationId xmlns:p14="http://schemas.microsoft.com/office/powerpoint/2010/main" val="10630410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1883" y="6753"/>
            <a:ext cx="9067800" cy="6555641"/>
          </a:xfrm>
          <a:prstGeom prst="rect">
            <a:avLst/>
          </a:prstGeom>
        </p:spPr>
        <p:txBody>
          <a:bodyPr wrap="square">
            <a:spAutoFit/>
          </a:bodyPr>
          <a:lstStyle/>
          <a:p>
            <a:pPr algn="just">
              <a:lnSpc>
                <a:spcPct val="150000"/>
              </a:lnSpc>
            </a:pPr>
            <a:r>
              <a:rPr lang="en-US" sz="2800" dirty="0">
                <a:solidFill>
                  <a:schemeClr val="accent3">
                    <a:lumMod val="50000"/>
                  </a:schemeClr>
                </a:solidFill>
              </a:rPr>
              <a:t>ENZYMES USED IN BIOSENSORS </a:t>
            </a:r>
          </a:p>
          <a:p>
            <a:pPr marL="514350" indent="-514350" algn="just">
              <a:lnSpc>
                <a:spcPct val="150000"/>
              </a:lnSpc>
              <a:buFont typeface="+mj-lt"/>
              <a:buAutoNum type="arabicPeriod"/>
            </a:pPr>
            <a:r>
              <a:rPr lang="en-US" sz="2800" b="1" dirty="0"/>
              <a:t>Glucose oxidase </a:t>
            </a:r>
            <a:r>
              <a:rPr lang="en-US" sz="2800" dirty="0"/>
              <a:t>(</a:t>
            </a:r>
            <a:r>
              <a:rPr lang="en-US" sz="2800" dirty="0" err="1"/>
              <a:t>GOx</a:t>
            </a:r>
            <a:r>
              <a:rPr lang="en-US" sz="2800" dirty="0"/>
              <a:t>): Used in blood glucose monitoring for people with diabetes. The enzyme oxidizes glucose to gluconic acid and hydrogen peroxide, which is then detected by a transducer to quantify glucose levels in the blood. </a:t>
            </a:r>
          </a:p>
          <a:p>
            <a:pPr marL="514350" indent="-514350" algn="just">
              <a:lnSpc>
                <a:spcPct val="150000"/>
              </a:lnSpc>
              <a:buFont typeface="+mj-lt"/>
              <a:buAutoNum type="arabicPeriod"/>
            </a:pPr>
            <a:r>
              <a:rPr lang="en-US" sz="2800" b="1" dirty="0"/>
              <a:t>Lactate oxidase (</a:t>
            </a:r>
            <a:r>
              <a:rPr lang="en-US" sz="2800" b="1" dirty="0" err="1"/>
              <a:t>LOx</a:t>
            </a:r>
            <a:r>
              <a:rPr lang="en-US" sz="2800" b="1" dirty="0"/>
              <a:t>): </a:t>
            </a:r>
            <a:r>
              <a:rPr lang="en-US" sz="2800" dirty="0"/>
              <a:t>Used in the determination of lactate levels in biological fluids, such as blood and urine. </a:t>
            </a:r>
            <a:r>
              <a:rPr lang="en-US" sz="2800" dirty="0" err="1"/>
              <a:t>LOx</a:t>
            </a:r>
            <a:r>
              <a:rPr lang="en-US" sz="2800" dirty="0"/>
              <a:t> oxidizes lactate to pyruvate, which is then detected by a transducer.</a:t>
            </a:r>
          </a:p>
        </p:txBody>
      </p:sp>
    </p:spTree>
    <p:extLst>
      <p:ext uri="{BB962C8B-B14F-4D97-AF65-F5344CB8AC3E}">
        <p14:creationId xmlns:p14="http://schemas.microsoft.com/office/powerpoint/2010/main" val="2146011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92317" y="-209239"/>
            <a:ext cx="8991600" cy="7201972"/>
          </a:xfrm>
          <a:prstGeom prst="rect">
            <a:avLst/>
          </a:prstGeom>
        </p:spPr>
        <p:txBody>
          <a:bodyPr wrap="square">
            <a:spAutoFit/>
          </a:bodyPr>
          <a:lstStyle/>
          <a:p>
            <a:pPr marL="514350" indent="-514350" algn="just">
              <a:lnSpc>
                <a:spcPct val="150000"/>
              </a:lnSpc>
              <a:buFont typeface="+mj-lt"/>
              <a:buAutoNum type="arabicPeriod" startAt="3"/>
            </a:pPr>
            <a:r>
              <a:rPr lang="en-US" sz="2800" b="1" dirty="0"/>
              <a:t>Cholinesterase (</a:t>
            </a:r>
            <a:r>
              <a:rPr lang="en-US" sz="2800" b="1" dirty="0" err="1"/>
              <a:t>ChE</a:t>
            </a:r>
            <a:r>
              <a:rPr lang="en-US" sz="2800" b="1" dirty="0"/>
              <a:t>): </a:t>
            </a:r>
            <a:r>
              <a:rPr lang="en-US" sz="2800" dirty="0"/>
              <a:t>detection of </a:t>
            </a:r>
            <a:r>
              <a:rPr lang="en-US" sz="2800" dirty="0" err="1"/>
              <a:t>organo</a:t>
            </a:r>
            <a:r>
              <a:rPr lang="en-US" sz="2800" dirty="0"/>
              <a:t>-phosphorus pesticides and nerve agents. </a:t>
            </a:r>
            <a:r>
              <a:rPr lang="en-US" sz="2800" dirty="0" err="1"/>
              <a:t>ChE</a:t>
            </a:r>
            <a:r>
              <a:rPr lang="en-US" sz="2800" dirty="0"/>
              <a:t> hydrolyzes acetylcholine - decrease in acetylcholine levels is detected by a transducer to quantify the presence of the toxic substances.</a:t>
            </a:r>
          </a:p>
          <a:p>
            <a:pPr marL="514350" indent="-514350" algn="just">
              <a:lnSpc>
                <a:spcPct val="150000"/>
              </a:lnSpc>
              <a:buFont typeface="+mj-lt"/>
              <a:buAutoNum type="arabicPeriod" startAt="3"/>
            </a:pPr>
            <a:r>
              <a:rPr lang="en-US" sz="2800" b="1" dirty="0"/>
              <a:t>Alkaline phosphatase (ALP): </a:t>
            </a:r>
            <a:r>
              <a:rPr lang="en-US" sz="2800" dirty="0"/>
              <a:t>detection of </a:t>
            </a:r>
            <a:r>
              <a:rPr lang="en-US" sz="2800" dirty="0" err="1"/>
              <a:t>iP</a:t>
            </a:r>
            <a:r>
              <a:rPr lang="en-US" sz="2800" dirty="0"/>
              <a:t>, those found in wastewater and fertilizers. ALP catalyzes the hydrolysis of phosphates to produce a signal that can be quantified.</a:t>
            </a:r>
          </a:p>
          <a:p>
            <a:pPr marL="514350" indent="-514350" algn="just">
              <a:lnSpc>
                <a:spcPct val="150000"/>
              </a:lnSpc>
              <a:buFont typeface="+mj-lt"/>
              <a:buAutoNum type="arabicPeriod" startAt="3"/>
            </a:pPr>
            <a:r>
              <a:rPr lang="en-US" sz="2800" b="1" dirty="0"/>
              <a:t>Urease</a:t>
            </a:r>
            <a:r>
              <a:rPr lang="en-US" sz="2800" dirty="0"/>
              <a:t>: detection of urea levels in urine. Urease catalyzes the hydrolysis of urea to produce NH</a:t>
            </a:r>
            <a:r>
              <a:rPr lang="en-US" sz="2800" baseline="-25000" dirty="0"/>
              <a:t>4</a:t>
            </a:r>
            <a:r>
              <a:rPr lang="en-US" sz="2800" dirty="0"/>
              <a:t> and CO</a:t>
            </a:r>
            <a:r>
              <a:rPr lang="en-US" sz="2800" baseline="-25000" dirty="0"/>
              <a:t>2</a:t>
            </a:r>
            <a:r>
              <a:rPr lang="en-US" sz="2800" dirty="0"/>
              <a:t>, which can be quantified by a transducer. </a:t>
            </a:r>
            <a:endParaRPr lang="en-IN" sz="2800" dirty="0"/>
          </a:p>
        </p:txBody>
      </p:sp>
    </p:spTree>
    <p:extLst>
      <p:ext uri="{BB962C8B-B14F-4D97-AF65-F5344CB8AC3E}">
        <p14:creationId xmlns:p14="http://schemas.microsoft.com/office/powerpoint/2010/main" val="21233177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067800" cy="5909310"/>
          </a:xfrm>
          <a:prstGeom prst="rect">
            <a:avLst/>
          </a:prstGeom>
        </p:spPr>
        <p:txBody>
          <a:bodyPr wrap="square">
            <a:spAutoFit/>
          </a:bodyPr>
          <a:lstStyle/>
          <a:p>
            <a:pPr algn="just">
              <a:lnSpc>
                <a:spcPct val="150000"/>
              </a:lnSpc>
            </a:pPr>
            <a:r>
              <a:rPr lang="en-US" sz="2800" dirty="0"/>
              <a:t>Glucose-Oxidase in Biosensors</a:t>
            </a:r>
          </a:p>
          <a:p>
            <a:pPr marL="457200" indent="-457200" algn="just">
              <a:lnSpc>
                <a:spcPct val="150000"/>
              </a:lnSpc>
              <a:buFont typeface="Arial" pitchFamily="34" charset="0"/>
              <a:buChar char="•"/>
            </a:pPr>
            <a:r>
              <a:rPr lang="en-US" sz="2800" dirty="0"/>
              <a:t>Glucose oxidase (</a:t>
            </a:r>
            <a:r>
              <a:rPr lang="en-US" sz="2800" dirty="0" err="1"/>
              <a:t>GOx</a:t>
            </a:r>
            <a:r>
              <a:rPr lang="en-US" sz="2800" dirty="0"/>
              <a:t>) - for the detection of glucose levels in blood and urine. </a:t>
            </a:r>
          </a:p>
          <a:p>
            <a:pPr marL="457200" indent="-457200" algn="just">
              <a:lnSpc>
                <a:spcPct val="150000"/>
              </a:lnSpc>
              <a:buFont typeface="Arial" pitchFamily="34" charset="0"/>
              <a:buChar char="•"/>
            </a:pPr>
            <a:r>
              <a:rPr lang="en-US" sz="2800" dirty="0" err="1"/>
              <a:t>GOx</a:t>
            </a:r>
            <a:r>
              <a:rPr lang="en-US" sz="2800" dirty="0"/>
              <a:t> is typically immobilized on a substrate, such as a polymeric film, to ensure stability and specificity. </a:t>
            </a:r>
          </a:p>
          <a:p>
            <a:pPr marL="457200" indent="-457200" algn="just">
              <a:lnSpc>
                <a:spcPct val="150000"/>
              </a:lnSpc>
              <a:buFont typeface="Arial" pitchFamily="34" charset="0"/>
              <a:buChar char="•"/>
            </a:pPr>
            <a:r>
              <a:rPr lang="en-US" sz="2800" dirty="0"/>
              <a:t>The transducer in the biosensor can be an electrode, a fluorescence-based system, or other type of sensor, depending on the desired level of sensitivity and specificity.</a:t>
            </a:r>
            <a:endParaRPr lang="en-IN" sz="2800" dirty="0"/>
          </a:p>
        </p:txBody>
      </p:sp>
    </p:spTree>
    <p:extLst>
      <p:ext uri="{BB962C8B-B14F-4D97-AF65-F5344CB8AC3E}">
        <p14:creationId xmlns:p14="http://schemas.microsoft.com/office/powerpoint/2010/main" val="31538820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8991600" cy="6555641"/>
          </a:xfrm>
          <a:prstGeom prst="rect">
            <a:avLst/>
          </a:prstGeom>
        </p:spPr>
        <p:txBody>
          <a:bodyPr wrap="square">
            <a:spAutoFit/>
          </a:bodyPr>
          <a:lstStyle/>
          <a:p>
            <a:pPr algn="just">
              <a:lnSpc>
                <a:spcPct val="150000"/>
              </a:lnSpc>
            </a:pPr>
            <a:r>
              <a:rPr lang="en-US" sz="2800" b="1" dirty="0">
                <a:solidFill>
                  <a:schemeClr val="accent3">
                    <a:lumMod val="50000"/>
                  </a:schemeClr>
                </a:solidFill>
              </a:rPr>
              <a:t>Advantages of Biosensors </a:t>
            </a:r>
          </a:p>
          <a:p>
            <a:pPr marL="514350" indent="-514350" algn="just">
              <a:lnSpc>
                <a:spcPct val="150000"/>
              </a:lnSpc>
              <a:buFont typeface="+mj-lt"/>
              <a:buAutoNum type="arabicPeriod"/>
            </a:pPr>
            <a:r>
              <a:rPr lang="en-US" sz="2800" b="1" dirty="0"/>
              <a:t>Sensitivity</a:t>
            </a:r>
            <a:r>
              <a:rPr lang="en-US" sz="2800" dirty="0"/>
              <a:t>: Biosensors are highly sensitive and can detect target </a:t>
            </a:r>
            <a:r>
              <a:rPr lang="en-US" sz="2800" dirty="0" err="1"/>
              <a:t>analytes</a:t>
            </a:r>
            <a:r>
              <a:rPr lang="en-US" sz="2800" dirty="0"/>
              <a:t> at low concentrations.</a:t>
            </a:r>
          </a:p>
          <a:p>
            <a:pPr marL="514350" indent="-514350" algn="just">
              <a:lnSpc>
                <a:spcPct val="150000"/>
              </a:lnSpc>
              <a:buFont typeface="+mj-lt"/>
              <a:buAutoNum type="arabicPeriod"/>
            </a:pPr>
            <a:r>
              <a:rPr lang="en-US" sz="2800" b="1" dirty="0"/>
              <a:t>Specificity</a:t>
            </a:r>
            <a:r>
              <a:rPr lang="en-US" sz="2800" dirty="0"/>
              <a:t>: - minimizes interference from other substances in the sample.</a:t>
            </a:r>
          </a:p>
          <a:p>
            <a:pPr marL="514350" indent="-514350" algn="just">
              <a:lnSpc>
                <a:spcPct val="150000"/>
              </a:lnSpc>
              <a:buFont typeface="+mj-lt"/>
              <a:buAutoNum type="arabicPeriod"/>
            </a:pPr>
            <a:r>
              <a:rPr lang="en-US" sz="2800" b="1" dirty="0"/>
              <a:t>Rapid response time</a:t>
            </a:r>
            <a:r>
              <a:rPr lang="en-US" sz="2800" dirty="0"/>
              <a:t>: - useful in situations where quick results are required.</a:t>
            </a:r>
          </a:p>
          <a:p>
            <a:pPr marL="514350" indent="-514350" algn="just">
              <a:lnSpc>
                <a:spcPct val="150000"/>
              </a:lnSpc>
              <a:buFont typeface="+mj-lt"/>
              <a:buAutoNum type="arabicPeriod"/>
            </a:pPr>
            <a:r>
              <a:rPr lang="en-US" sz="2800" b="1" dirty="0"/>
              <a:t>Portability</a:t>
            </a:r>
            <a:r>
              <a:rPr lang="en-US" sz="2800" dirty="0"/>
              <a:t>: - useful in field applications and remote locations.</a:t>
            </a:r>
          </a:p>
          <a:p>
            <a:pPr marL="514350" indent="-514350" algn="just">
              <a:lnSpc>
                <a:spcPct val="150000"/>
              </a:lnSpc>
              <a:buFont typeface="+mj-lt"/>
              <a:buAutoNum type="arabicPeriod"/>
            </a:pPr>
            <a:r>
              <a:rPr lang="en-US" sz="2800" b="1" dirty="0"/>
              <a:t>Cost-effectiveness</a:t>
            </a:r>
            <a:r>
              <a:rPr lang="en-US" sz="2800" dirty="0"/>
              <a:t>:</a:t>
            </a:r>
            <a:endParaRPr lang="en-IN" sz="2800" dirty="0"/>
          </a:p>
        </p:txBody>
      </p:sp>
    </p:spTree>
    <p:extLst>
      <p:ext uri="{BB962C8B-B14F-4D97-AF65-F5344CB8AC3E}">
        <p14:creationId xmlns:p14="http://schemas.microsoft.com/office/powerpoint/2010/main" val="42171967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52400"/>
            <a:ext cx="9067800" cy="7201972"/>
          </a:xfrm>
          <a:prstGeom prst="rect">
            <a:avLst/>
          </a:prstGeom>
        </p:spPr>
        <p:txBody>
          <a:bodyPr wrap="square">
            <a:spAutoFit/>
          </a:bodyPr>
          <a:lstStyle/>
          <a:p>
            <a:pPr algn="just">
              <a:lnSpc>
                <a:spcPct val="150000"/>
              </a:lnSpc>
            </a:pPr>
            <a:r>
              <a:rPr lang="en-US" sz="2800" dirty="0">
                <a:solidFill>
                  <a:schemeClr val="accent3">
                    <a:lumMod val="50000"/>
                  </a:schemeClr>
                </a:solidFill>
              </a:rPr>
              <a:t>Limitations of Biosensors </a:t>
            </a:r>
          </a:p>
          <a:p>
            <a:pPr marL="514350" indent="-514350" algn="just">
              <a:lnSpc>
                <a:spcPct val="150000"/>
              </a:lnSpc>
              <a:buFont typeface="+mj-lt"/>
              <a:buAutoNum type="arabicPeriod"/>
            </a:pPr>
            <a:r>
              <a:rPr lang="en-US" sz="2800" b="1" dirty="0"/>
              <a:t>Stability</a:t>
            </a:r>
            <a:r>
              <a:rPr lang="en-US" sz="2800" dirty="0"/>
              <a:t>: Biosensors can be affected by environmental conditions, such as temperature and pH, which can lead to degradation of the biological recognition element and loss of sensitivity.</a:t>
            </a:r>
          </a:p>
          <a:p>
            <a:pPr marL="514350" indent="-514350" algn="just">
              <a:lnSpc>
                <a:spcPct val="150000"/>
              </a:lnSpc>
              <a:buFont typeface="+mj-lt"/>
              <a:buAutoNum type="arabicPeriod"/>
            </a:pPr>
            <a:r>
              <a:rPr lang="en-US" sz="2800" b="1" dirty="0"/>
              <a:t>Interferences</a:t>
            </a:r>
            <a:r>
              <a:rPr lang="en-US" sz="2800" dirty="0"/>
              <a:t>: Biosensors can be affected by other substances in the sample, which can interfere with the performance of the biosensor.</a:t>
            </a:r>
          </a:p>
          <a:p>
            <a:pPr marL="514350" indent="-514350" algn="just">
              <a:lnSpc>
                <a:spcPct val="150000"/>
              </a:lnSpc>
              <a:buFont typeface="+mj-lt"/>
              <a:buAutoNum type="arabicPeriod"/>
            </a:pPr>
            <a:r>
              <a:rPr lang="en-US" sz="2800" b="1" dirty="0"/>
              <a:t>Calibration</a:t>
            </a:r>
            <a:r>
              <a:rPr lang="en-US" sz="2800" dirty="0"/>
              <a:t>: Biosensors may require frequent calibration to ensure accuracy, which can increase the time and cost associated with using the biosensor. </a:t>
            </a:r>
          </a:p>
        </p:txBody>
      </p:sp>
    </p:spTree>
    <p:extLst>
      <p:ext uri="{BB962C8B-B14F-4D97-AF65-F5344CB8AC3E}">
        <p14:creationId xmlns:p14="http://schemas.microsoft.com/office/powerpoint/2010/main" val="85442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8991600" cy="6488828"/>
          </a:xfrm>
          <a:prstGeom prst="rect">
            <a:avLst/>
          </a:prstGeom>
        </p:spPr>
        <p:txBody>
          <a:bodyPr wrap="square">
            <a:spAutoFit/>
          </a:bodyPr>
          <a:lstStyle/>
          <a:p>
            <a:pPr marL="514350" indent="-514350" algn="just">
              <a:lnSpc>
                <a:spcPct val="150000"/>
              </a:lnSpc>
              <a:buFont typeface="+mj-lt"/>
              <a:buAutoNum type="arabicPeriod" startAt="4"/>
            </a:pPr>
            <a:r>
              <a:rPr lang="en-US" sz="2800" b="1" dirty="0"/>
              <a:t>Limited shelf-life: </a:t>
            </a:r>
            <a:r>
              <a:rPr lang="en-US" sz="2800" dirty="0"/>
              <a:t>Biosensors have a limited shelf-life, and the biological recognition element may degrade over time, leading to decreased sensitivity and specificity.</a:t>
            </a:r>
          </a:p>
          <a:p>
            <a:pPr marL="514350" indent="-514350" algn="just">
              <a:lnSpc>
                <a:spcPct val="150000"/>
              </a:lnSpc>
              <a:buFont typeface="+mj-lt"/>
              <a:buAutoNum type="arabicPeriod" startAt="4"/>
            </a:pPr>
            <a:r>
              <a:rPr lang="en-US" sz="2800" b="1" dirty="0"/>
              <a:t>Complexity</a:t>
            </a:r>
            <a:r>
              <a:rPr lang="en-US" sz="2800" dirty="0"/>
              <a:t>: Biosensors can be complex to manufacture and use, requiring specialized equipment and expertise to operate effectively</a:t>
            </a:r>
          </a:p>
          <a:p>
            <a:pPr algn="just">
              <a:lnSpc>
                <a:spcPct val="150000"/>
              </a:lnSpc>
            </a:pPr>
            <a:r>
              <a:rPr lang="en-US" sz="2800" dirty="0"/>
              <a:t>Despite these limitations, biosensors have proven to be a valuable tool in various industries and applications, and research is ongoing to improve their performance and reduce limitations.</a:t>
            </a:r>
            <a:endParaRPr lang="en-IN" sz="2800" dirty="0"/>
          </a:p>
        </p:txBody>
      </p:sp>
    </p:spTree>
    <p:extLst>
      <p:ext uri="{BB962C8B-B14F-4D97-AF65-F5344CB8AC3E}">
        <p14:creationId xmlns:p14="http://schemas.microsoft.com/office/powerpoint/2010/main" val="8514356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79189"/>
            <a:ext cx="9067800" cy="6555641"/>
          </a:xfrm>
          <a:prstGeom prst="rect">
            <a:avLst/>
          </a:prstGeom>
        </p:spPr>
        <p:txBody>
          <a:bodyPr wrap="square">
            <a:spAutoFit/>
          </a:bodyPr>
          <a:lstStyle/>
          <a:p>
            <a:pPr algn="just">
              <a:lnSpc>
                <a:spcPct val="150000"/>
              </a:lnSpc>
            </a:pPr>
            <a:r>
              <a:rPr lang="en-US" sz="2800" b="1" dirty="0" err="1">
                <a:solidFill>
                  <a:schemeClr val="accent3">
                    <a:lumMod val="50000"/>
                  </a:schemeClr>
                </a:solidFill>
              </a:rPr>
              <a:t>Lignolytic</a:t>
            </a:r>
            <a:r>
              <a:rPr lang="en-US" sz="2800" b="1" dirty="0">
                <a:solidFill>
                  <a:schemeClr val="accent3">
                    <a:lumMod val="50000"/>
                  </a:schemeClr>
                </a:solidFill>
              </a:rPr>
              <a:t> Enzyme in Bio-Bleaching </a:t>
            </a:r>
          </a:p>
          <a:p>
            <a:pPr marL="457200" indent="-457200" algn="just">
              <a:lnSpc>
                <a:spcPct val="150000"/>
              </a:lnSpc>
              <a:buFont typeface="Wingdings" pitchFamily="2" charset="2"/>
              <a:buChar char="§"/>
            </a:pPr>
            <a:r>
              <a:rPr lang="en-US" sz="2800" dirty="0"/>
              <a:t>Bio-bleaching is a process that uses biological agents, such as enzymes, to remove color and brighten fibers, paper, and textiles.</a:t>
            </a:r>
          </a:p>
          <a:p>
            <a:pPr marL="457200" indent="-457200" algn="just">
              <a:lnSpc>
                <a:spcPct val="150000"/>
              </a:lnSpc>
              <a:buFont typeface="Wingdings" pitchFamily="2" charset="2"/>
              <a:buChar char="§"/>
            </a:pPr>
            <a:r>
              <a:rPr lang="en-US" sz="2800" dirty="0"/>
              <a:t>It is a sustainable alternative to traditional chemical bleaching methods that use harsh chemicals, such as hydrogen peroxide and chlorine.</a:t>
            </a:r>
          </a:p>
          <a:p>
            <a:pPr marL="457200" indent="-457200" algn="just">
              <a:lnSpc>
                <a:spcPct val="150000"/>
              </a:lnSpc>
              <a:buFont typeface="Wingdings" pitchFamily="2" charset="2"/>
              <a:buChar char="§"/>
            </a:pPr>
            <a:r>
              <a:rPr lang="en-US" sz="2800" dirty="0"/>
              <a:t>These enzymes catalyze the oxidation of colored impurities in the fibers, resulting in a brighter and more uniform color.</a:t>
            </a:r>
          </a:p>
        </p:txBody>
      </p:sp>
    </p:spTree>
    <p:extLst>
      <p:ext uri="{BB962C8B-B14F-4D97-AF65-F5344CB8AC3E}">
        <p14:creationId xmlns:p14="http://schemas.microsoft.com/office/powerpoint/2010/main" val="19152722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9255" y="-152400"/>
            <a:ext cx="9144000" cy="7201972"/>
          </a:xfrm>
          <a:prstGeom prst="rect">
            <a:avLst/>
          </a:prstGeom>
        </p:spPr>
        <p:txBody>
          <a:bodyPr wrap="square">
            <a:spAutoFit/>
          </a:bodyPr>
          <a:lstStyle/>
          <a:p>
            <a:pPr algn="just">
              <a:lnSpc>
                <a:spcPct val="150000"/>
              </a:lnSpc>
            </a:pPr>
            <a:r>
              <a:rPr lang="en-US" sz="2800" b="1" dirty="0">
                <a:solidFill>
                  <a:schemeClr val="accent3">
                    <a:lumMod val="50000"/>
                  </a:schemeClr>
                </a:solidFill>
              </a:rPr>
              <a:t>Advantages of Bio-Bleaching</a:t>
            </a:r>
          </a:p>
          <a:p>
            <a:pPr marL="514350" indent="-514350" algn="just">
              <a:lnSpc>
                <a:spcPct val="150000"/>
              </a:lnSpc>
              <a:buFont typeface="+mj-lt"/>
              <a:buAutoNum type="arabicPeriod"/>
            </a:pPr>
            <a:r>
              <a:rPr lang="en-US" sz="2800" b="1" dirty="0"/>
              <a:t>Sustainability</a:t>
            </a:r>
            <a:r>
              <a:rPr lang="en-US" sz="2800" dirty="0"/>
              <a:t>: Bio-bleaching uses biological agents, such as enzymes, which are renewable and biodegradable.</a:t>
            </a:r>
          </a:p>
          <a:p>
            <a:pPr marL="514350" indent="-514350" algn="just">
              <a:lnSpc>
                <a:spcPct val="150000"/>
              </a:lnSpc>
              <a:buFont typeface="+mj-lt"/>
              <a:buAutoNum type="arabicPeriod"/>
            </a:pPr>
            <a:r>
              <a:rPr lang="en-US" sz="2800" b="1" dirty="0"/>
              <a:t>Improved product quality: </a:t>
            </a:r>
            <a:r>
              <a:rPr lang="en-US" sz="2800" dirty="0"/>
              <a:t>Bio-bleaching can result in higher brightness and a more uniform color compared to traditional chemical bleaching, leading to improved product quality.</a:t>
            </a:r>
          </a:p>
          <a:p>
            <a:pPr marL="514350" indent="-514350" algn="just">
              <a:lnSpc>
                <a:spcPct val="150000"/>
              </a:lnSpc>
              <a:buFont typeface="+mj-lt"/>
              <a:buAutoNum type="arabicPeriod"/>
            </a:pPr>
            <a:r>
              <a:rPr lang="en-US" sz="2800" b="1" dirty="0"/>
              <a:t>Reduced energy consumption</a:t>
            </a:r>
            <a:r>
              <a:rPr lang="en-US" sz="2800" dirty="0"/>
              <a:t>: Bio-bleaching typically requires lower energy input compared to chemical bleaching methods, reducing energy consumption and associated costs.</a:t>
            </a:r>
          </a:p>
        </p:txBody>
      </p:sp>
    </p:spTree>
    <p:extLst>
      <p:ext uri="{BB962C8B-B14F-4D97-AF65-F5344CB8AC3E}">
        <p14:creationId xmlns:p14="http://schemas.microsoft.com/office/powerpoint/2010/main" val="19012188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52401"/>
            <a:ext cx="9067800" cy="5262979"/>
          </a:xfrm>
          <a:prstGeom prst="rect">
            <a:avLst/>
          </a:prstGeom>
        </p:spPr>
        <p:txBody>
          <a:bodyPr wrap="square">
            <a:spAutoFit/>
          </a:bodyPr>
          <a:lstStyle/>
          <a:p>
            <a:pPr marL="514350" indent="-514350" algn="just">
              <a:lnSpc>
                <a:spcPct val="150000"/>
              </a:lnSpc>
              <a:buFont typeface="+mj-lt"/>
              <a:buAutoNum type="arabicPeriod" startAt="4"/>
            </a:pPr>
            <a:r>
              <a:rPr lang="en-US" sz="2800" b="1" dirty="0"/>
              <a:t>Elimination of hazardous chemicals: </a:t>
            </a:r>
            <a:r>
              <a:rPr lang="en-US" sz="2800" dirty="0"/>
              <a:t>Bio-bleaching eliminates the use of harsh chemicals, such as hydrogen peroxide and chlorine, which can be hazardous to workers and the environment.</a:t>
            </a:r>
          </a:p>
          <a:p>
            <a:pPr marL="514350" indent="-514350" algn="just">
              <a:lnSpc>
                <a:spcPct val="150000"/>
              </a:lnSpc>
              <a:buFont typeface="+mj-lt"/>
              <a:buAutoNum type="arabicPeriod" startAt="4"/>
            </a:pPr>
            <a:r>
              <a:rPr lang="en-US" sz="2800" b="1" dirty="0"/>
              <a:t>Lower production of harmful by-products</a:t>
            </a:r>
            <a:r>
              <a:rPr lang="en-US" sz="2800" dirty="0"/>
              <a:t>: Bio-bleaching reduces the formation of harmful by-products, such as dioxins, that can be produced during traditional chemical bleaching methods</a:t>
            </a:r>
            <a:endParaRPr lang="en-IN" sz="2800" dirty="0"/>
          </a:p>
        </p:txBody>
      </p:sp>
    </p:spTree>
    <p:extLst>
      <p:ext uri="{BB962C8B-B14F-4D97-AF65-F5344CB8AC3E}">
        <p14:creationId xmlns:p14="http://schemas.microsoft.com/office/powerpoint/2010/main" val="1889032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2"/>
            <a:ext cx="9144000" cy="6555641"/>
          </a:xfrm>
          <a:prstGeom prst="rect">
            <a:avLst/>
          </a:prstGeom>
        </p:spPr>
        <p:txBody>
          <a:bodyPr wrap="square">
            <a:spAutoFit/>
          </a:bodyPr>
          <a:lstStyle/>
          <a:p>
            <a:pPr algn="just">
              <a:lnSpc>
                <a:spcPct val="150000"/>
              </a:lnSpc>
            </a:pPr>
            <a:r>
              <a:rPr lang="en-US" sz="2800" b="1" dirty="0">
                <a:solidFill>
                  <a:schemeClr val="accent3">
                    <a:lumMod val="50000"/>
                  </a:schemeClr>
                </a:solidFill>
              </a:rPr>
              <a:t>Limitations of Bio-bleaching </a:t>
            </a:r>
          </a:p>
          <a:p>
            <a:pPr marL="514350" indent="-514350" algn="just">
              <a:lnSpc>
                <a:spcPct val="150000"/>
              </a:lnSpc>
              <a:buFont typeface="+mj-lt"/>
              <a:buAutoNum type="arabicPeriod"/>
            </a:pPr>
            <a:r>
              <a:rPr lang="en-US" sz="2800" b="1" dirty="0"/>
              <a:t>High cost of enzyme production</a:t>
            </a:r>
            <a:r>
              <a:rPr lang="en-US" sz="2800" dirty="0"/>
              <a:t>: making the process more expensive compared to traditional chemical bleaching methods.</a:t>
            </a:r>
          </a:p>
          <a:p>
            <a:pPr marL="514350" indent="-514350" algn="just">
              <a:lnSpc>
                <a:spcPct val="150000"/>
              </a:lnSpc>
              <a:buFont typeface="+mj-lt"/>
              <a:buAutoNum type="arabicPeriod"/>
            </a:pPr>
            <a:r>
              <a:rPr lang="en-US" sz="2800" b="1" dirty="0"/>
              <a:t>Low efficiency compared to chemical bleaching: </a:t>
            </a:r>
            <a:r>
              <a:rPr lang="en-US" sz="2800" dirty="0"/>
              <a:t>requiring longer processing times and higher enzyme doses. </a:t>
            </a:r>
          </a:p>
          <a:p>
            <a:pPr marL="514350" indent="-514350" algn="just">
              <a:lnSpc>
                <a:spcPct val="150000"/>
              </a:lnSpc>
              <a:buFont typeface="+mj-lt"/>
              <a:buAutoNum type="arabicPeriod"/>
            </a:pPr>
            <a:r>
              <a:rPr lang="en-US" sz="2800" b="1" dirty="0"/>
              <a:t>Need for further research:</a:t>
            </a:r>
          </a:p>
          <a:p>
            <a:pPr marL="514350" indent="-514350" algn="just">
              <a:lnSpc>
                <a:spcPct val="150000"/>
              </a:lnSpc>
              <a:buFont typeface="+mj-lt"/>
              <a:buAutoNum type="arabicPeriod"/>
            </a:pPr>
            <a:r>
              <a:rPr lang="en-US" sz="2800" b="1" dirty="0"/>
              <a:t>Lack of widespread implementation: </a:t>
            </a:r>
            <a:r>
              <a:rPr lang="en-US" sz="2800" dirty="0"/>
              <a:t>The widespread implementation of bio-bleaching is limited by factors</a:t>
            </a:r>
            <a:endParaRPr lang="en-US" sz="2800" b="1" dirty="0"/>
          </a:p>
          <a:p>
            <a:pPr algn="just">
              <a:lnSpc>
                <a:spcPct val="150000"/>
              </a:lnSpc>
            </a:pPr>
            <a:endParaRPr lang="en-US" sz="2800" b="1" dirty="0"/>
          </a:p>
        </p:txBody>
      </p:sp>
    </p:spTree>
    <p:extLst>
      <p:ext uri="{BB962C8B-B14F-4D97-AF65-F5344CB8AC3E}">
        <p14:creationId xmlns:p14="http://schemas.microsoft.com/office/powerpoint/2010/main" val="28533860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1"/>
            <a:ext cx="9144000" cy="6555641"/>
          </a:xfrm>
          <a:prstGeom prst="rect">
            <a:avLst/>
          </a:prstGeom>
        </p:spPr>
        <p:txBody>
          <a:bodyPr wrap="square">
            <a:spAutoFit/>
          </a:bodyPr>
          <a:lstStyle/>
          <a:p>
            <a:pPr marL="457200" indent="-457200" algn="just">
              <a:lnSpc>
                <a:spcPct val="150000"/>
              </a:lnSpc>
              <a:buFont typeface="Arial" pitchFamily="34" charset="0"/>
              <a:buChar char="•"/>
            </a:pPr>
            <a:r>
              <a:rPr lang="en-US" sz="2800" dirty="0" err="1"/>
              <a:t>Lignolytic</a:t>
            </a:r>
            <a:r>
              <a:rPr lang="en-US" sz="2800" dirty="0"/>
              <a:t> enzymes, such as </a:t>
            </a:r>
            <a:r>
              <a:rPr lang="en-US" sz="2800" dirty="0" err="1"/>
              <a:t>laccases</a:t>
            </a:r>
            <a:r>
              <a:rPr lang="en-US" sz="2800" dirty="0"/>
              <a:t>, peroxidases, and manganese peroxidases, are used in bio-bleaching </a:t>
            </a:r>
          </a:p>
          <a:p>
            <a:pPr marL="457200" indent="-457200" algn="just">
              <a:lnSpc>
                <a:spcPct val="150000"/>
              </a:lnSpc>
              <a:buFont typeface="Arial" pitchFamily="34" charset="0"/>
              <a:buChar char="•"/>
            </a:pPr>
            <a:r>
              <a:rPr lang="en-US" sz="2800" b="1" dirty="0" err="1"/>
              <a:t>Laccases</a:t>
            </a:r>
            <a:r>
              <a:rPr lang="en-US" sz="2800" dirty="0"/>
              <a:t> are copper-containing oxidases that catalyze the oxidation of lignin, a complex polymer found in plant cell walls, as well as other compounds such as phenols and aryl alcohols. </a:t>
            </a:r>
          </a:p>
          <a:p>
            <a:pPr marL="457200" indent="-457200" algn="just">
              <a:lnSpc>
                <a:spcPct val="150000"/>
              </a:lnSpc>
              <a:buFont typeface="Arial" pitchFamily="34" charset="0"/>
              <a:buChar char="•"/>
            </a:pPr>
            <a:r>
              <a:rPr lang="en-US" sz="2800" b="1" dirty="0"/>
              <a:t>Peroxidases</a:t>
            </a:r>
            <a:r>
              <a:rPr lang="en-US" sz="2800" dirty="0"/>
              <a:t> are enzymes that use hydrogen peroxide to oxidize organic compounds. </a:t>
            </a:r>
          </a:p>
          <a:p>
            <a:pPr marL="457200" indent="-457200" algn="just">
              <a:lnSpc>
                <a:spcPct val="150000"/>
              </a:lnSpc>
              <a:buFont typeface="Arial" pitchFamily="34" charset="0"/>
              <a:buChar char="•"/>
            </a:pPr>
            <a:r>
              <a:rPr lang="en-US" sz="2800" b="1" dirty="0"/>
              <a:t>Manganese peroxidases </a:t>
            </a:r>
            <a:r>
              <a:rPr lang="en-US" sz="2800" dirty="0"/>
              <a:t>are enzymes that use hydrogen peroxide to oxidize lignin and other compounds. </a:t>
            </a:r>
          </a:p>
        </p:txBody>
      </p:sp>
    </p:spTree>
    <p:extLst>
      <p:ext uri="{BB962C8B-B14F-4D97-AF65-F5344CB8AC3E}">
        <p14:creationId xmlns:p14="http://schemas.microsoft.com/office/powerpoint/2010/main" val="18203601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3218" y="152400"/>
            <a:ext cx="11549576" cy="6004080"/>
          </a:xfrm>
          <a:prstGeom prst="rect">
            <a:avLst/>
          </a:prstGeom>
        </p:spPr>
        <p:txBody>
          <a:bodyPr wrap="square">
            <a:spAutoFit/>
          </a:bodyPr>
          <a:lstStyle/>
          <a:p>
            <a:pPr marL="457200" indent="-457200" algn="just">
              <a:lnSpc>
                <a:spcPct val="200000"/>
              </a:lnSpc>
              <a:buFont typeface="Arial" pitchFamily="34" charset="0"/>
              <a:buChar char="•"/>
            </a:pPr>
            <a:r>
              <a:rPr lang="en-US" sz="2800" dirty="0"/>
              <a:t>The </a:t>
            </a:r>
            <a:r>
              <a:rPr lang="en-US" sz="2800" dirty="0" err="1"/>
              <a:t>lignolytic</a:t>
            </a:r>
            <a:r>
              <a:rPr lang="en-US" sz="2800" dirty="0"/>
              <a:t> enzymes used in bio-bleaching are typically produced by fungi or bacteria, and are immobilized on a support, such as a ceramic bead or a cellulosic matrix, to ensure stability and prolonged activity.</a:t>
            </a:r>
          </a:p>
          <a:p>
            <a:pPr marL="457200" indent="-457200" algn="just">
              <a:lnSpc>
                <a:spcPct val="200000"/>
              </a:lnSpc>
              <a:buFont typeface="Arial" pitchFamily="34" charset="0"/>
              <a:buChar char="•"/>
            </a:pPr>
            <a:r>
              <a:rPr lang="en-US" sz="2800" dirty="0"/>
              <a:t>The immobilized enzymes are then added to the fibers, where they catalyze the oxidation of colored impurities, resulting in a brighter and more uniform color. </a:t>
            </a:r>
          </a:p>
          <a:p>
            <a:pPr algn="just">
              <a:lnSpc>
                <a:spcPct val="200000"/>
              </a:lnSpc>
            </a:pPr>
            <a:r>
              <a:rPr lang="en-IN" sz="2800" b="1" dirty="0">
                <a:solidFill>
                  <a:srgbClr val="C00000"/>
                </a:solidFill>
              </a:rPr>
              <a:t>ENZYMES IN FOOD PROCESSING </a:t>
            </a:r>
          </a:p>
        </p:txBody>
      </p:sp>
      <p:sp>
        <p:nvSpPr>
          <p:cNvPr id="4" name="Arrow: Right 3">
            <a:extLst>
              <a:ext uri="{FF2B5EF4-FFF2-40B4-BE49-F238E27FC236}">
                <a16:creationId xmlns:a16="http://schemas.microsoft.com/office/drawing/2014/main" id="{C34AC47E-BF2D-4FFA-9B4C-E3FB925A9ECB}"/>
              </a:ext>
            </a:extLst>
          </p:cNvPr>
          <p:cNvSpPr/>
          <p:nvPr/>
        </p:nvSpPr>
        <p:spPr>
          <a:xfrm>
            <a:off x="5205046" y="5718518"/>
            <a:ext cx="1575582" cy="1828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05182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524072D9-B6B6-4908-A0AE-F48B5B0B2B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18"/>
          <a:stretch/>
        </p:blipFill>
        <p:spPr bwMode="auto">
          <a:xfrm>
            <a:off x="0" y="0"/>
            <a:ext cx="1211228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4229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873DE00-4D8F-48B6-AC06-4AA39F630A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97"/>
          <a:stretch/>
        </p:blipFill>
        <p:spPr bwMode="auto">
          <a:xfrm>
            <a:off x="0" y="0"/>
            <a:ext cx="1204194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8190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96E40-C4C1-4EE0-BDE8-F296C4366394}"/>
              </a:ext>
            </a:extLst>
          </p:cNvPr>
          <p:cNvSpPr/>
          <p:nvPr/>
        </p:nvSpPr>
        <p:spPr>
          <a:xfrm>
            <a:off x="-1" y="0"/>
            <a:ext cx="12032673" cy="6817251"/>
          </a:xfrm>
          <a:prstGeom prst="rect">
            <a:avLst/>
          </a:prstGeom>
        </p:spPr>
        <p:txBody>
          <a:bodyPr wrap="square">
            <a:spAutoFit/>
          </a:bodyPr>
          <a:lstStyle/>
          <a:p>
            <a:r>
              <a:rPr lang="en-US" sz="2300" b="1" dirty="0">
                <a:solidFill>
                  <a:srgbClr val="09122B"/>
                </a:solidFill>
                <a:latin typeface="Arial" panose="020B0604020202020204" pitchFamily="34" charset="0"/>
              </a:rPr>
              <a:t>Enzymes in detergents </a:t>
            </a:r>
            <a:r>
              <a:rPr lang="en-US" sz="2300" dirty="0">
                <a:solidFill>
                  <a:srgbClr val="09122B"/>
                </a:solidFill>
                <a:latin typeface="Arial" panose="020B0604020202020204" pitchFamily="34" charset="0"/>
              </a:rPr>
              <a:t>and contribute to cleaning of laundry and dishes in an efficient, environmentally mild, and energy-saving manner. </a:t>
            </a:r>
          </a:p>
          <a:p>
            <a:r>
              <a:rPr lang="en-US" sz="2300" dirty="0">
                <a:solidFill>
                  <a:srgbClr val="09122B"/>
                </a:solidFill>
                <a:latin typeface="Arial" panose="020B0604020202020204" pitchFamily="34" charset="0"/>
              </a:rPr>
              <a:t>Proteases, lipases, amylases are the major class of detergent enzymes, each provides specific benefits for application in laundry and automatic dishwashing. </a:t>
            </a:r>
          </a:p>
          <a:p>
            <a:r>
              <a:rPr lang="en-US" sz="2300" dirty="0">
                <a:solidFill>
                  <a:srgbClr val="09122B"/>
                </a:solidFill>
                <a:latin typeface="Arial" panose="020B0604020202020204" pitchFamily="34" charset="0"/>
              </a:rPr>
              <a:t>Cellulases contribute to overall fabric care by rejuvenating or maintaining the new appearance of washed garments.</a:t>
            </a:r>
          </a:p>
          <a:p>
            <a:pPr marL="457200" indent="-457200">
              <a:buFont typeface="+mj-lt"/>
              <a:buAutoNum type="arabicPeriod"/>
            </a:pPr>
            <a:r>
              <a:rPr lang="en-IN" sz="2300" b="1" dirty="0"/>
              <a:t>Proteases-</a:t>
            </a:r>
            <a:r>
              <a:rPr lang="en-US" sz="2300" dirty="0"/>
              <a:t>protein stains such as grass, blood, egg, and human sweat are removed through proteolysis.</a:t>
            </a:r>
            <a:r>
              <a:rPr lang="en-US" sz="2300" dirty="0">
                <a:solidFill>
                  <a:srgbClr val="09122B"/>
                </a:solidFill>
                <a:latin typeface="Arial" panose="020B0604020202020204" pitchFamily="34" charset="0"/>
              </a:rPr>
              <a:t> Proteases are the first to be used extensively in laundry detergents, which not only raise the level of cleaning, but also provide environmental benefits.</a:t>
            </a:r>
          </a:p>
          <a:p>
            <a:pPr marL="457200" indent="-457200">
              <a:buFont typeface="+mj-lt"/>
              <a:buAutoNum type="arabicPeriod"/>
            </a:pPr>
            <a:r>
              <a:rPr lang="en-IN" sz="2300" b="1" dirty="0"/>
              <a:t>Lipases-</a:t>
            </a:r>
            <a:r>
              <a:rPr lang="en-IN" sz="2300" dirty="0"/>
              <a:t>strong hydrophobicity, fats and oils are difficult to remove from laundry at low temperatures. Lipases </a:t>
            </a:r>
            <a:r>
              <a:rPr lang="en-IN" sz="2300" dirty="0" err="1"/>
              <a:t>hydrolyze</a:t>
            </a:r>
            <a:r>
              <a:rPr lang="en-IN" sz="2300" dirty="0"/>
              <a:t> triglyceride to more hydrophilic mono- and diglycerides, free fatty acids, and glycerol.</a:t>
            </a:r>
            <a:endParaRPr lang="en-US" sz="2300" dirty="0"/>
          </a:p>
          <a:p>
            <a:pPr marL="457200" indent="-457200">
              <a:buFont typeface="+mj-lt"/>
              <a:buAutoNum type="arabicPeriod"/>
            </a:pPr>
            <a:r>
              <a:rPr lang="en-IN" sz="2300" b="1" dirty="0"/>
              <a:t>Amylases-</a:t>
            </a:r>
            <a:r>
              <a:rPr lang="en-US" sz="2300" dirty="0"/>
              <a:t>detergents for laundry and automatic dishwashing, amylases facilitate the removal of starch-containing stains, e.g., pasta, potato, gravy, chocolate, and baby food.</a:t>
            </a:r>
          </a:p>
          <a:p>
            <a:r>
              <a:rPr lang="en-US" sz="2300" dirty="0">
                <a:solidFill>
                  <a:srgbClr val="09122B"/>
                </a:solidFill>
                <a:latin typeface="Arial" panose="020B0604020202020204" pitchFamily="34" charset="0"/>
              </a:rPr>
              <a:t>Lipases and amylases are joined proteases in improving detergent efficacy, especially for household laundering at lower temperatures and, in industrial cleaning operations, at lower pH levels.</a:t>
            </a:r>
            <a:endParaRPr lang="en-US" sz="2300" dirty="0"/>
          </a:p>
          <a:p>
            <a:pPr marL="457200" indent="-457200">
              <a:buFont typeface="+mj-lt"/>
              <a:buAutoNum type="arabicPeriod" startAt="4"/>
            </a:pPr>
            <a:r>
              <a:rPr lang="en-IN" sz="2300" b="1" dirty="0"/>
              <a:t>Cellulases-</a:t>
            </a:r>
            <a:r>
              <a:rPr lang="en-US" sz="2300" dirty="0"/>
              <a:t>Cellulases are applied in detergents to make cotton fabrics regain and maintain clear colors, a smooth surface, and softness. </a:t>
            </a:r>
          </a:p>
        </p:txBody>
      </p:sp>
    </p:spTree>
    <p:extLst>
      <p:ext uri="{BB962C8B-B14F-4D97-AF65-F5344CB8AC3E}">
        <p14:creationId xmlns:p14="http://schemas.microsoft.com/office/powerpoint/2010/main" val="9471488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pplication Of Enzyme In Detergent Industry, 49% OFF">
            <a:extLst>
              <a:ext uri="{FF2B5EF4-FFF2-40B4-BE49-F238E27FC236}">
                <a16:creationId xmlns:a16="http://schemas.microsoft.com/office/drawing/2014/main" id="{20DC1447-B46B-45A4-AA1F-6D5399054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74" y="0"/>
            <a:ext cx="12077225"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619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C8DF02-ED5F-4A28-A358-552D4A7797DD}"/>
              </a:ext>
            </a:extLst>
          </p:cNvPr>
          <p:cNvSpPr/>
          <p:nvPr/>
        </p:nvSpPr>
        <p:spPr>
          <a:xfrm>
            <a:off x="-1" y="166255"/>
            <a:ext cx="12032673" cy="4893647"/>
          </a:xfrm>
          <a:prstGeom prst="rect">
            <a:avLst/>
          </a:prstGeom>
        </p:spPr>
        <p:txBody>
          <a:bodyPr wrap="square">
            <a:spAutoFit/>
          </a:bodyPr>
          <a:lstStyle/>
          <a:p>
            <a:r>
              <a:rPr lang="en-US" sz="2400" b="1" dirty="0">
                <a:solidFill>
                  <a:srgbClr val="09122B"/>
                </a:solidFill>
                <a:latin typeface="Arial" panose="020B0604020202020204" pitchFamily="34" charset="0"/>
              </a:rPr>
              <a:t>Enzymes used in textile processing</a:t>
            </a:r>
            <a:endParaRPr lang="en-US" sz="2400" dirty="0">
              <a:solidFill>
                <a:srgbClr val="09122B"/>
              </a:solidFill>
              <a:latin typeface="Arial" panose="020B0604020202020204" pitchFamily="34" charset="0"/>
            </a:endParaRPr>
          </a:p>
          <a:p>
            <a:pPr marL="342900" indent="-342900">
              <a:buFont typeface="Arial" panose="020B0604020202020204" pitchFamily="34" charset="0"/>
              <a:buChar char="•"/>
            </a:pPr>
            <a:r>
              <a:rPr lang="en-US" sz="2400" dirty="0">
                <a:solidFill>
                  <a:srgbClr val="09122B"/>
                </a:solidFill>
                <a:latin typeface="Arial" panose="020B0604020202020204" pitchFamily="34" charset="0"/>
              </a:rPr>
              <a:t>Enzymatic </a:t>
            </a:r>
            <a:r>
              <a:rPr lang="en-US" sz="2400" dirty="0" err="1">
                <a:solidFill>
                  <a:srgbClr val="09122B"/>
                </a:solidFill>
                <a:latin typeface="Arial" panose="020B0604020202020204" pitchFamily="34" charset="0"/>
              </a:rPr>
              <a:t>desizing</a:t>
            </a:r>
            <a:endParaRPr lang="en-US" sz="2400" dirty="0">
              <a:solidFill>
                <a:srgbClr val="09122B"/>
              </a:solidFill>
              <a:latin typeface="Arial" panose="020B0604020202020204" pitchFamily="34" charset="0"/>
            </a:endParaRPr>
          </a:p>
          <a:p>
            <a:r>
              <a:rPr lang="en-US" sz="2400" dirty="0">
                <a:solidFill>
                  <a:srgbClr val="09122B"/>
                </a:solidFill>
                <a:latin typeface="Arial" panose="020B0604020202020204" pitchFamily="34" charset="0"/>
              </a:rPr>
              <a:t>	Amylases are used to remove starch-based size for improved and uniform wet 	processing in the textile industry</a:t>
            </a:r>
          </a:p>
          <a:p>
            <a:pPr marL="342900" indent="-342900">
              <a:buFont typeface="Arial" panose="020B0604020202020204" pitchFamily="34" charset="0"/>
              <a:buChar char="•"/>
            </a:pPr>
            <a:r>
              <a:rPr lang="en-US" sz="2400" dirty="0"/>
              <a:t>Enzymatic Scouring</a:t>
            </a:r>
          </a:p>
          <a:p>
            <a:r>
              <a:rPr lang="en-US" sz="2400" dirty="0"/>
              <a:t>	Scouring is the removal of non-cellulosic material present on the surface of the cotton. 	In generally cellulase and pectinase are combined and used for </a:t>
            </a:r>
            <a:r>
              <a:rPr lang="en-US" sz="2400" dirty="0" err="1"/>
              <a:t>Bioscouring</a:t>
            </a:r>
            <a:r>
              <a:rPr lang="en-US" sz="2400" dirty="0"/>
              <a:t>.</a:t>
            </a:r>
          </a:p>
          <a:p>
            <a:pPr marL="342900" indent="-342900">
              <a:buFont typeface="Arial" panose="020B0604020202020204" pitchFamily="34" charset="0"/>
              <a:buChar char="•"/>
            </a:pPr>
            <a:r>
              <a:rPr lang="en-IN" sz="2400" dirty="0"/>
              <a:t>Enzymatic Bleaching</a:t>
            </a:r>
          </a:p>
          <a:p>
            <a:pPr marL="342900" indent="-342900">
              <a:buFont typeface="Arial" panose="020B0604020202020204" pitchFamily="34" charset="0"/>
              <a:buChar char="•"/>
            </a:pPr>
            <a:r>
              <a:rPr lang="en-US" sz="2400" dirty="0"/>
              <a:t>Biopolishing</a:t>
            </a:r>
          </a:p>
          <a:p>
            <a:r>
              <a:rPr lang="en-US" sz="2400" dirty="0"/>
              <a:t>	Biopolishing is a finishing process that improves fabric quality by mainly reducing fuzziness and pilling property of cellulosic fiber. The objective of the process is the elimination of micro fibrils of cotton through the action of cellulase enzyme.</a:t>
            </a:r>
          </a:p>
          <a:p>
            <a:endParaRPr lang="en-US" sz="2400" b="0" i="0" dirty="0">
              <a:solidFill>
                <a:srgbClr val="09122B"/>
              </a:solidFill>
              <a:effectLst/>
              <a:latin typeface="Arial" panose="020B0604020202020204" pitchFamily="34" charset="0"/>
            </a:endParaRPr>
          </a:p>
        </p:txBody>
      </p:sp>
    </p:spTree>
    <p:extLst>
      <p:ext uri="{BB962C8B-B14F-4D97-AF65-F5344CB8AC3E}">
        <p14:creationId xmlns:p14="http://schemas.microsoft.com/office/powerpoint/2010/main" val="29923954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572580-DCA2-4E70-8E60-A832B2639A62}"/>
              </a:ext>
            </a:extLst>
          </p:cNvPr>
          <p:cNvSpPr/>
          <p:nvPr/>
        </p:nvSpPr>
        <p:spPr>
          <a:xfrm>
            <a:off x="1" y="166255"/>
            <a:ext cx="12032672" cy="4401205"/>
          </a:xfrm>
          <a:prstGeom prst="rect">
            <a:avLst/>
          </a:prstGeom>
        </p:spPr>
        <p:txBody>
          <a:bodyPr wrap="square">
            <a:spAutoFit/>
          </a:bodyPr>
          <a:lstStyle/>
          <a:p>
            <a:pPr algn="just" fontAlgn="base"/>
            <a:r>
              <a:rPr lang="en-US" sz="2800" b="1" dirty="0">
                <a:latin typeface="Nunito"/>
              </a:rPr>
              <a:t>Benefits of Using Enzymes in Textile Processing Industry</a:t>
            </a:r>
          </a:p>
          <a:p>
            <a:pPr algn="just" fontAlgn="base"/>
            <a:r>
              <a:rPr lang="en-US" sz="2800" dirty="0">
                <a:latin typeface="Nunito"/>
              </a:rPr>
              <a:t>1. Enzymes quicken the process by accelerating the rate of reaction.</a:t>
            </a:r>
            <a:br>
              <a:rPr lang="en-US" sz="2800" dirty="0">
                <a:latin typeface="Nunito"/>
              </a:rPr>
            </a:br>
            <a:r>
              <a:rPr lang="en-US" sz="2800" dirty="0">
                <a:latin typeface="Nunito"/>
              </a:rPr>
              <a:t>2. Enzymes can be recycled as catalysts as they accelerate the reaction without any change in their chemical structure.</a:t>
            </a:r>
          </a:p>
          <a:p>
            <a:pPr algn="just" fontAlgn="base"/>
            <a:r>
              <a:rPr lang="en-US" sz="2800" dirty="0">
                <a:latin typeface="Nunito"/>
              </a:rPr>
              <a:t>3. Enzymes can be used at room temperature and milder conditions and are easy to use and control.</a:t>
            </a:r>
          </a:p>
          <a:p>
            <a:pPr algn="just" fontAlgn="base"/>
            <a:r>
              <a:rPr lang="en-US" sz="2800" dirty="0">
                <a:latin typeface="Nunito"/>
              </a:rPr>
              <a:t>4. Enzymes are an eco-friendly option to toxic chemicals, these are bio-degradable, non-polluting, and safe to use.</a:t>
            </a:r>
          </a:p>
          <a:p>
            <a:pPr algn="just" fontAlgn="base"/>
            <a:r>
              <a:rPr lang="en-US" sz="2800" dirty="0">
                <a:latin typeface="Nunito"/>
              </a:rPr>
              <a:t>5. Enzymes work on specific substrates or compounds only. So, there is no issue of one enzyme interfering with the other’s process and messing up the textiles</a:t>
            </a:r>
            <a:r>
              <a:rPr lang="en-US" sz="2300" b="1" dirty="0">
                <a:solidFill>
                  <a:srgbClr val="757575"/>
                </a:solidFill>
                <a:latin typeface="Open Sans"/>
              </a:rPr>
              <a:t>.</a:t>
            </a:r>
            <a:endParaRPr lang="en-US" sz="2300" b="1" i="0" dirty="0">
              <a:solidFill>
                <a:srgbClr val="757575"/>
              </a:solidFill>
              <a:effectLst/>
              <a:latin typeface="Open Sans"/>
            </a:endParaRPr>
          </a:p>
        </p:txBody>
      </p:sp>
    </p:spTree>
    <p:extLst>
      <p:ext uri="{BB962C8B-B14F-4D97-AF65-F5344CB8AC3E}">
        <p14:creationId xmlns:p14="http://schemas.microsoft.com/office/powerpoint/2010/main" val="38073081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elevance of Microbial Enzymes in Textile Industries Emphasizing Metabolic  Engineering Panorama">
            <a:extLst>
              <a:ext uri="{FF2B5EF4-FFF2-40B4-BE49-F238E27FC236}">
                <a16:creationId xmlns:a16="http://schemas.microsoft.com/office/drawing/2014/main" id="{17E05321-9376-4D2A-BED9-79852856BF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073" y="949"/>
            <a:ext cx="11596254" cy="6893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4392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B487F6-3001-4A48-8E7E-A546977C053F}"/>
              </a:ext>
            </a:extLst>
          </p:cNvPr>
          <p:cNvSpPr/>
          <p:nvPr/>
        </p:nvSpPr>
        <p:spPr>
          <a:xfrm>
            <a:off x="0" y="0"/>
            <a:ext cx="12192000" cy="4247317"/>
          </a:xfrm>
          <a:prstGeom prst="rect">
            <a:avLst/>
          </a:prstGeom>
        </p:spPr>
        <p:txBody>
          <a:bodyPr wrap="square">
            <a:spAutoFit/>
          </a:bodyPr>
          <a:lstStyle/>
          <a:p>
            <a:pPr marL="457200" indent="-457200">
              <a:buFont typeface="Arial" panose="020B0604020202020204" pitchFamily="34" charset="0"/>
              <a:buChar char="•"/>
            </a:pPr>
            <a:r>
              <a:rPr lang="en-IN" sz="2800" dirty="0">
                <a:hlinkClick r:id="rId2"/>
              </a:rPr>
              <a:t>http://ijariie.com/AdminUploadPdf/ENZYMES_IN_TEXTILE_CHEMICAL_PROCESSING_ijariie16204.pdf</a:t>
            </a:r>
            <a:endParaRPr lang="en-IN" sz="2800" dirty="0"/>
          </a:p>
          <a:p>
            <a:pPr marL="457200" indent="-457200">
              <a:buFont typeface="Arial" panose="020B0604020202020204" pitchFamily="34" charset="0"/>
              <a:buChar char="•"/>
            </a:pPr>
            <a:r>
              <a:rPr lang="en-IN" sz="2800" dirty="0">
                <a:hlinkClick r:id="rId3"/>
              </a:rPr>
              <a:t>https://www.creative-enzymes.com/resource/application-of-enzymes-in-detergent-industry_61.html#:~:text=Proteases%2C%20lipases%2C%20amylases%20are%20the,but%20also%20provide%20environmental%20benefits</a:t>
            </a:r>
            <a:r>
              <a:rPr lang="en-IN" sz="2800" dirty="0"/>
              <a:t>.</a:t>
            </a:r>
          </a:p>
          <a:p>
            <a:pPr marL="457200" indent="-457200">
              <a:buFont typeface="Arial" panose="020B0604020202020204" pitchFamily="34" charset="0"/>
              <a:buChar char="•"/>
            </a:pPr>
            <a:r>
              <a:rPr lang="en-IN" sz="2800" dirty="0">
                <a:hlinkClick r:id="rId4"/>
              </a:rPr>
              <a:t>https://www.creative-enzymes.com/resource/application-of-enzymes-in-textile-industry_62.html</a:t>
            </a:r>
            <a:endParaRPr lang="en-IN" sz="2800" dirty="0"/>
          </a:p>
          <a:p>
            <a:endParaRPr lang="en-IN" sz="2800" dirty="0"/>
          </a:p>
          <a:p>
            <a:endParaRPr lang="en-IN" dirty="0"/>
          </a:p>
        </p:txBody>
      </p:sp>
    </p:spTree>
    <p:extLst>
      <p:ext uri="{BB962C8B-B14F-4D97-AF65-F5344CB8AC3E}">
        <p14:creationId xmlns:p14="http://schemas.microsoft.com/office/powerpoint/2010/main" val="325781104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backgroundRemoval t="9524" b="89683" l="0" r="100000"/>
                    </a14:imgEffect>
                  </a14:imgLayer>
                </a14:imgProps>
              </a:ext>
              <a:ext uri="{28A0092B-C50C-407E-A947-70E740481C1C}">
                <a14:useLocalDpi xmlns:a14="http://schemas.microsoft.com/office/drawing/2010/main" val="0"/>
              </a:ext>
            </a:extLst>
          </a:blip>
          <a:stretch>
            <a:fillRect/>
          </a:stretch>
        </p:blipFill>
        <p:spPr>
          <a:xfrm>
            <a:off x="1524000" y="2667000"/>
            <a:ext cx="9144000" cy="3276600"/>
          </a:xfrm>
          <a:prstGeom prst="rect">
            <a:avLst/>
          </a:prstGeom>
        </p:spPr>
      </p:pic>
      <p:sp>
        <p:nvSpPr>
          <p:cNvPr id="2" name="Title 1"/>
          <p:cNvSpPr>
            <a:spLocks noGrp="1"/>
          </p:cNvSpPr>
          <p:nvPr>
            <p:ph type="ctrTitle"/>
          </p:nvPr>
        </p:nvSpPr>
        <p:spPr>
          <a:xfrm>
            <a:off x="2209800" y="1524001"/>
            <a:ext cx="7772400" cy="1470025"/>
          </a:xfrm>
        </p:spPr>
        <p:txBody>
          <a:bodyPr/>
          <a:lstStyle/>
          <a:p>
            <a:r>
              <a:rPr lang="en-IN" b="1" dirty="0">
                <a:latin typeface="Algerian" pitchFamily="82" charset="0"/>
              </a:rPr>
              <a:t>LIPIDS</a:t>
            </a:r>
          </a:p>
        </p:txBody>
      </p:sp>
      <p:sp>
        <p:nvSpPr>
          <p:cNvPr id="4" name="Subtitle 2"/>
          <p:cNvSpPr>
            <a:spLocks noGrp="1"/>
          </p:cNvSpPr>
          <p:nvPr>
            <p:ph type="subTitle" idx="1"/>
          </p:nvPr>
        </p:nvSpPr>
        <p:spPr>
          <a:xfrm>
            <a:off x="7467600" y="5181600"/>
            <a:ext cx="3200400" cy="1371600"/>
          </a:xfrm>
        </p:spPr>
        <p:txBody>
          <a:bodyPr>
            <a:noAutofit/>
          </a:bodyPr>
          <a:lstStyle/>
          <a:p>
            <a:r>
              <a:rPr lang="en-IN" dirty="0"/>
              <a:t>Pavithra K</a:t>
            </a:r>
          </a:p>
          <a:p>
            <a:r>
              <a:rPr lang="en-IN" dirty="0"/>
              <a:t>Assistant professor of basic science</a:t>
            </a:r>
          </a:p>
        </p:txBody>
      </p:sp>
    </p:spTree>
    <p:extLst>
      <p:ext uri="{BB962C8B-B14F-4D97-AF65-F5344CB8AC3E}">
        <p14:creationId xmlns:p14="http://schemas.microsoft.com/office/powerpoint/2010/main" val="33775966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76400" y="152401"/>
            <a:ext cx="8915400" cy="1318181"/>
          </a:xfrm>
          <a:prstGeom prst="rect">
            <a:avLst/>
          </a:prstGeom>
        </p:spPr>
        <p:txBody>
          <a:bodyPr wrap="square">
            <a:spAutoFit/>
          </a:bodyPr>
          <a:lstStyle/>
          <a:p>
            <a:pPr algn="just">
              <a:lnSpc>
                <a:spcPct val="150000"/>
              </a:lnSpc>
            </a:pPr>
            <a:r>
              <a:rPr lang="en-US" sz="2800" dirty="0"/>
              <a:t>Lipids are a group of organic compounds that include fats, oils, waxes, and some hormones. </a:t>
            </a:r>
            <a:endParaRPr lang="en-IN" sz="2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470581"/>
            <a:ext cx="8915400" cy="5053584"/>
          </a:xfrm>
          <a:prstGeom prst="rect">
            <a:avLst/>
          </a:prstGeom>
        </p:spPr>
      </p:pic>
    </p:spTree>
    <p:extLst>
      <p:ext uri="{BB962C8B-B14F-4D97-AF65-F5344CB8AC3E}">
        <p14:creationId xmlns:p14="http://schemas.microsoft.com/office/powerpoint/2010/main" val="86697032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9B7105-EB60-4C1C-B861-DB0D9884F34C}"/>
              </a:ext>
            </a:extLst>
          </p:cNvPr>
          <p:cNvSpPr/>
          <p:nvPr/>
        </p:nvSpPr>
        <p:spPr>
          <a:xfrm>
            <a:off x="436417" y="1"/>
            <a:ext cx="11596255" cy="6124754"/>
          </a:xfrm>
          <a:prstGeom prst="rect">
            <a:avLst/>
          </a:prstGeom>
        </p:spPr>
        <p:txBody>
          <a:bodyPr wrap="square">
            <a:spAutoFit/>
          </a:bodyPr>
          <a:lstStyle/>
          <a:p>
            <a:pPr algn="just" fontAlgn="base"/>
            <a:r>
              <a:rPr lang="en-US" sz="2800" b="1" dirty="0">
                <a:latin typeface="Nunito"/>
              </a:rPr>
              <a:t>Lipids Structure</a:t>
            </a:r>
          </a:p>
          <a:p>
            <a:pPr algn="just" fontAlgn="base"/>
            <a:r>
              <a:rPr lang="en-US" sz="2800" dirty="0">
                <a:latin typeface="Nunito"/>
              </a:rPr>
              <a:t>Lipid monomers are glycerol and fatty acids. The lipid structure is as follows:</a:t>
            </a:r>
          </a:p>
          <a:p>
            <a:pPr marL="342900" indent="-342900" algn="just" fontAlgn="base">
              <a:buFont typeface="Arial" panose="020B0604020202020204" pitchFamily="34" charset="0"/>
              <a:buChar char="•"/>
            </a:pPr>
            <a:r>
              <a:rPr lang="en-US" sz="2800" dirty="0">
                <a:latin typeface="Nunito"/>
              </a:rPr>
              <a:t>Fatty acids are a type of lipids that consists of long hydrocarbon chains with a carboxyl group (COOH) at one end.</a:t>
            </a:r>
          </a:p>
          <a:p>
            <a:pPr marL="342900" indent="-342900" algn="just" fontAlgn="base">
              <a:buFont typeface="Arial" panose="020B0604020202020204" pitchFamily="34" charset="0"/>
              <a:buChar char="•"/>
            </a:pPr>
            <a:r>
              <a:rPr lang="en-US" sz="2800" dirty="0">
                <a:latin typeface="Nunito"/>
              </a:rPr>
              <a:t>In lipids, such as triglycerides, the glycerol molecule function as a backbone. Glycerol molecule consists of three carbon atoms with a hydroxyl group attached to them.</a:t>
            </a:r>
          </a:p>
          <a:p>
            <a:pPr marL="342900" indent="-342900" algn="just" fontAlgn="base">
              <a:buFont typeface="Arial" panose="020B0604020202020204" pitchFamily="34" charset="0"/>
              <a:buChar char="•"/>
            </a:pPr>
            <a:r>
              <a:rPr lang="en-US" sz="2800" dirty="0">
                <a:latin typeface="Nunito"/>
              </a:rPr>
              <a:t>Glycerol are linked to the fatty acid through ester bonds, that forms triglycerides.</a:t>
            </a:r>
          </a:p>
          <a:p>
            <a:pPr marL="342900" indent="-342900" algn="just" fontAlgn="base">
              <a:buFont typeface="Arial" panose="020B0604020202020204" pitchFamily="34" charset="0"/>
              <a:buChar char="•"/>
            </a:pPr>
            <a:r>
              <a:rPr lang="en-US" sz="2800" dirty="0">
                <a:latin typeface="Nunito"/>
              </a:rPr>
              <a:t>The hydrocarbon chains of fatty acids are hydrophobic, that is repelling water.</a:t>
            </a:r>
          </a:p>
          <a:p>
            <a:pPr marL="342900" indent="-342900" algn="just" fontAlgn="base">
              <a:buFont typeface="Arial" panose="020B0604020202020204" pitchFamily="34" charset="0"/>
              <a:buChar char="•"/>
            </a:pPr>
            <a:r>
              <a:rPr lang="en-US" sz="2800" dirty="0">
                <a:latin typeface="Nunito"/>
              </a:rPr>
              <a:t>In lipids like phospholipids, a hydrophilic phosphate group is attached to the glycerol, while the fatty acid chains remain hydrophobic, resulting in an amphipathic molecule.</a:t>
            </a:r>
          </a:p>
        </p:txBody>
      </p:sp>
    </p:spTree>
    <p:extLst>
      <p:ext uri="{BB962C8B-B14F-4D97-AF65-F5344CB8AC3E}">
        <p14:creationId xmlns:p14="http://schemas.microsoft.com/office/powerpoint/2010/main" val="13982921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1"/>
            <a:ext cx="8991600" cy="6555641"/>
          </a:xfrm>
          <a:prstGeom prst="rect">
            <a:avLst/>
          </a:prstGeom>
        </p:spPr>
        <p:txBody>
          <a:bodyPr wrap="square">
            <a:spAutoFit/>
          </a:bodyPr>
          <a:lstStyle/>
          <a:p>
            <a:pPr algn="just">
              <a:lnSpc>
                <a:spcPct val="150000"/>
              </a:lnSpc>
            </a:pPr>
            <a:r>
              <a:rPr lang="en-US" sz="2800" b="1" dirty="0">
                <a:solidFill>
                  <a:schemeClr val="accent3">
                    <a:lumMod val="75000"/>
                  </a:schemeClr>
                </a:solidFill>
              </a:rPr>
              <a:t>Role of Lipids </a:t>
            </a:r>
          </a:p>
          <a:p>
            <a:pPr marL="514350" indent="-514350" algn="just">
              <a:lnSpc>
                <a:spcPct val="150000"/>
              </a:lnSpc>
              <a:buFont typeface="+mj-lt"/>
              <a:buAutoNum type="arabicPeriod"/>
            </a:pPr>
            <a:r>
              <a:rPr lang="en-US" sz="2800" b="1" dirty="0"/>
              <a:t>Energy storage</a:t>
            </a:r>
            <a:r>
              <a:rPr lang="en-US" sz="2800" dirty="0"/>
              <a:t>: source of stored energy in the body -broken down to release energy when it is needed. </a:t>
            </a:r>
          </a:p>
          <a:p>
            <a:pPr marL="514350" indent="-514350" algn="just">
              <a:lnSpc>
                <a:spcPct val="150000"/>
              </a:lnSpc>
              <a:buFont typeface="+mj-lt"/>
              <a:buAutoNum type="arabicPeriod"/>
            </a:pPr>
            <a:r>
              <a:rPr lang="en-US" sz="2800" b="1" dirty="0"/>
              <a:t>Insulation</a:t>
            </a:r>
            <a:r>
              <a:rPr lang="en-US" sz="2800" dirty="0"/>
              <a:t>: Lipids help to insulate the body, helping to regulate temperature and protect against heat loss.</a:t>
            </a:r>
          </a:p>
          <a:p>
            <a:pPr marL="514350" indent="-514350" algn="just">
              <a:lnSpc>
                <a:spcPct val="150000"/>
              </a:lnSpc>
              <a:buFont typeface="+mj-lt"/>
              <a:buAutoNum type="arabicPeriod"/>
            </a:pPr>
            <a:r>
              <a:rPr lang="en-US" sz="2800" b="1" dirty="0"/>
              <a:t>Cell membrane structure</a:t>
            </a:r>
            <a:r>
              <a:rPr lang="en-US" sz="2800" dirty="0"/>
              <a:t>: major component of cell membranes, helping to maintain their fluidity and stability.</a:t>
            </a:r>
          </a:p>
          <a:p>
            <a:pPr marL="514350" indent="-514350" algn="just">
              <a:lnSpc>
                <a:spcPct val="150000"/>
              </a:lnSpc>
              <a:buFont typeface="+mj-lt"/>
              <a:buAutoNum type="arabicPeriod"/>
            </a:pPr>
            <a:r>
              <a:rPr lang="en-US" sz="2800" b="1" dirty="0"/>
              <a:t>Hormone synthesis</a:t>
            </a:r>
            <a:r>
              <a:rPr lang="en-US" sz="2800" dirty="0"/>
              <a:t>: Some lipids - cholesterol, are precursors to hormones</a:t>
            </a:r>
          </a:p>
        </p:txBody>
      </p:sp>
    </p:spTree>
    <p:extLst>
      <p:ext uri="{BB962C8B-B14F-4D97-AF65-F5344CB8AC3E}">
        <p14:creationId xmlns:p14="http://schemas.microsoft.com/office/powerpoint/2010/main" val="17116545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9144000" cy="6555641"/>
          </a:xfrm>
          <a:prstGeom prst="rect">
            <a:avLst/>
          </a:prstGeom>
        </p:spPr>
        <p:txBody>
          <a:bodyPr wrap="square">
            <a:spAutoFit/>
          </a:bodyPr>
          <a:lstStyle/>
          <a:p>
            <a:pPr marL="514350" indent="-514350" algn="just">
              <a:lnSpc>
                <a:spcPct val="150000"/>
              </a:lnSpc>
              <a:buFont typeface="+mj-lt"/>
              <a:buAutoNum type="arabicPeriod" startAt="5"/>
            </a:pPr>
            <a:r>
              <a:rPr lang="en-US" sz="2800" b="1" dirty="0"/>
              <a:t>Transport</a:t>
            </a:r>
            <a:r>
              <a:rPr lang="en-US" sz="2800" dirty="0"/>
              <a:t>: Lipids are soluble in fat, but not in water. This makes them ideal for carrying fats soluble vitamins and other lipophilic compounds through the bloodstream. </a:t>
            </a:r>
          </a:p>
          <a:p>
            <a:pPr algn="just">
              <a:lnSpc>
                <a:spcPct val="150000"/>
              </a:lnSpc>
            </a:pPr>
            <a:endParaRPr lang="en-US" sz="2800" dirty="0"/>
          </a:p>
          <a:p>
            <a:pPr algn="just">
              <a:lnSpc>
                <a:spcPct val="150000"/>
              </a:lnSpc>
            </a:pPr>
            <a:r>
              <a:rPr lang="en-US" sz="2800" dirty="0"/>
              <a:t>There are several types of lipids - saturated and unsaturated fats, phospholipids, and steroids. </a:t>
            </a:r>
          </a:p>
          <a:p>
            <a:pPr algn="just">
              <a:lnSpc>
                <a:spcPct val="150000"/>
              </a:lnSpc>
            </a:pPr>
            <a:r>
              <a:rPr lang="en-US" sz="2800" dirty="0"/>
              <a:t>It is important to have a balanced diet that includes a moderate amount of healthy lipids - monounsaturated and polyunsaturated fats, while limiting the intake of saturated and trans fats. </a:t>
            </a:r>
            <a:endParaRPr lang="en-IN" sz="2800" dirty="0"/>
          </a:p>
        </p:txBody>
      </p:sp>
    </p:spTree>
    <p:extLst>
      <p:ext uri="{BB962C8B-B14F-4D97-AF65-F5344CB8AC3E}">
        <p14:creationId xmlns:p14="http://schemas.microsoft.com/office/powerpoint/2010/main" val="35094462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8D468D-D5F8-4ACC-87FD-BAF4083FA678}"/>
              </a:ext>
            </a:extLst>
          </p:cNvPr>
          <p:cNvSpPr/>
          <p:nvPr/>
        </p:nvSpPr>
        <p:spPr>
          <a:xfrm>
            <a:off x="1524000" y="0"/>
            <a:ext cx="8991600" cy="6463308"/>
          </a:xfrm>
          <a:prstGeom prst="rect">
            <a:avLst/>
          </a:prstGeom>
        </p:spPr>
        <p:txBody>
          <a:bodyPr wrap="square">
            <a:spAutoFit/>
          </a:bodyPr>
          <a:lstStyle/>
          <a:p>
            <a:pPr algn="just" fontAlgn="base"/>
            <a:r>
              <a:rPr lang="en-US" sz="2300" b="1" dirty="0">
                <a:solidFill>
                  <a:srgbClr val="273239"/>
                </a:solidFill>
                <a:latin typeface="Nunito"/>
              </a:rPr>
              <a:t>Properties of Lipids</a:t>
            </a:r>
          </a:p>
          <a:p>
            <a:pPr algn="just" fontAlgn="base"/>
            <a:r>
              <a:rPr lang="en-US" sz="2300" dirty="0">
                <a:solidFill>
                  <a:srgbClr val="273239"/>
                </a:solidFill>
                <a:latin typeface="Nunito"/>
              </a:rPr>
              <a:t>They are organic compounds formed of fats and oils. Lipids produce high energy and perform different functions within a living organism, such as:</a:t>
            </a:r>
          </a:p>
          <a:p>
            <a:pPr marL="342900" indent="-342900" algn="just" fontAlgn="base">
              <a:buFont typeface="Arial" panose="020B0604020202020204" pitchFamily="34" charset="0"/>
              <a:buChar char="•"/>
            </a:pPr>
            <a:r>
              <a:rPr lang="en-US" sz="2300" dirty="0">
                <a:latin typeface="Nunito"/>
              </a:rPr>
              <a:t>Lipids stored in kidney.</a:t>
            </a:r>
          </a:p>
          <a:p>
            <a:pPr marL="342900" indent="-342900" algn="just" fontAlgn="base">
              <a:buFont typeface="Arial" panose="020B0604020202020204" pitchFamily="34" charset="0"/>
              <a:buChar char="•"/>
            </a:pPr>
            <a:r>
              <a:rPr lang="en-US" sz="2300" dirty="0">
                <a:latin typeface="Nunito"/>
              </a:rPr>
              <a:t>Lipids are generally hydrophobic, meaning they repel water and do not dissolve in it.</a:t>
            </a:r>
          </a:p>
          <a:p>
            <a:pPr marL="342900" indent="-342900" algn="just" fontAlgn="base">
              <a:buFont typeface="Arial" panose="020B0604020202020204" pitchFamily="34" charset="0"/>
              <a:buChar char="•"/>
            </a:pPr>
            <a:r>
              <a:rPr lang="en-US" sz="2300" dirty="0">
                <a:latin typeface="Nunito"/>
              </a:rPr>
              <a:t>Lipids are formed from hydrocarbon chains, and they are heterogeneous in nature.</a:t>
            </a:r>
          </a:p>
          <a:p>
            <a:pPr marL="342900" indent="-342900" algn="just" fontAlgn="base">
              <a:buFont typeface="Arial" panose="020B0604020202020204" pitchFamily="34" charset="0"/>
              <a:buChar char="•"/>
            </a:pPr>
            <a:r>
              <a:rPr lang="en-US" sz="2300" dirty="0">
                <a:latin typeface="Nunito"/>
              </a:rPr>
              <a:t>Fats and oils, in the form of triglycerides, are efficient energy storage molecules, providing a concentrated source of energy when broken down.</a:t>
            </a:r>
          </a:p>
          <a:p>
            <a:pPr marL="342900" indent="-342900" algn="just" fontAlgn="base">
              <a:buFont typeface="Arial" panose="020B0604020202020204" pitchFamily="34" charset="0"/>
              <a:buChar char="•"/>
            </a:pPr>
            <a:r>
              <a:rPr lang="en-US" sz="2300" dirty="0">
                <a:latin typeface="Nunito"/>
              </a:rPr>
              <a:t>Phospholipids are essential components of cell membranes, forming the lipid bilayer that defines cellular boundaries. They help in the selective permeability of a cell membrane.</a:t>
            </a:r>
          </a:p>
          <a:p>
            <a:pPr marL="342900" indent="-342900" algn="just" fontAlgn="base">
              <a:buFont typeface="Arial" panose="020B0604020202020204" pitchFamily="34" charset="0"/>
              <a:buChar char="•"/>
            </a:pPr>
            <a:r>
              <a:rPr lang="en-US" sz="2300" dirty="0">
                <a:latin typeface="Nunito"/>
              </a:rPr>
              <a:t>Lipids like cholesterol and steroid </a:t>
            </a:r>
            <a:r>
              <a:rPr lang="en-US" sz="2300" u="sng" dirty="0">
                <a:latin typeface="Nunito"/>
                <a:hlinkClick r:id="rId2">
                  <a:extLst>
                    <a:ext uri="{A12FA001-AC4F-418D-AE19-62706E023703}">
                      <ahyp:hlinkClr xmlns:ahyp="http://schemas.microsoft.com/office/drawing/2018/hyperlinkcolor" val="tx"/>
                    </a:ext>
                  </a:extLst>
                </a:hlinkClick>
              </a:rPr>
              <a:t>hormones</a:t>
            </a:r>
            <a:r>
              <a:rPr lang="en-US" sz="2300" dirty="0">
                <a:latin typeface="Nunito"/>
              </a:rPr>
              <a:t> consists of four-ring structure and function in membrane fluidity and cellular signaling.</a:t>
            </a:r>
          </a:p>
          <a:p>
            <a:pPr marL="342900" indent="-342900" algn="just" fontAlgn="base">
              <a:buFont typeface="Arial" panose="020B0604020202020204" pitchFamily="34" charset="0"/>
              <a:buChar char="•"/>
            </a:pPr>
            <a:r>
              <a:rPr lang="en-US" sz="2300" dirty="0">
                <a:latin typeface="Nunito"/>
              </a:rPr>
              <a:t>Lipids provide essential fatty acids that the body cannot produce on its own and allow the absorption of fat-soluble </a:t>
            </a:r>
            <a:r>
              <a:rPr lang="en-US" sz="2300" u="sng" dirty="0">
                <a:latin typeface="Nunito"/>
                <a:hlinkClick r:id="rId3">
                  <a:extLst>
                    <a:ext uri="{A12FA001-AC4F-418D-AE19-62706E023703}">
                      <ahyp:hlinkClr xmlns:ahyp="http://schemas.microsoft.com/office/drawing/2018/hyperlinkcolor" val="tx"/>
                    </a:ext>
                  </a:extLst>
                </a:hlinkClick>
              </a:rPr>
              <a:t>vitamins</a:t>
            </a:r>
            <a:r>
              <a:rPr lang="en-US" sz="2300" dirty="0">
                <a:latin typeface="Nunito"/>
              </a:rPr>
              <a:t>.</a:t>
            </a:r>
          </a:p>
        </p:txBody>
      </p:sp>
    </p:spTree>
    <p:extLst>
      <p:ext uri="{BB962C8B-B14F-4D97-AF65-F5344CB8AC3E}">
        <p14:creationId xmlns:p14="http://schemas.microsoft.com/office/powerpoint/2010/main" val="18824770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FEAC98-7405-48D8-8E71-2A3F98C97AF2}"/>
              </a:ext>
            </a:extLst>
          </p:cNvPr>
          <p:cNvSpPr/>
          <p:nvPr/>
        </p:nvSpPr>
        <p:spPr>
          <a:xfrm>
            <a:off x="1524000" y="1"/>
            <a:ext cx="9144000" cy="6817251"/>
          </a:xfrm>
          <a:prstGeom prst="rect">
            <a:avLst/>
          </a:prstGeom>
        </p:spPr>
        <p:txBody>
          <a:bodyPr wrap="square">
            <a:spAutoFit/>
          </a:bodyPr>
          <a:lstStyle/>
          <a:p>
            <a:pPr algn="just" fontAlgn="base"/>
            <a:r>
              <a:rPr lang="en-US" sz="2300" b="1" dirty="0">
                <a:latin typeface="Nunito"/>
              </a:rPr>
              <a:t>Lipids Function</a:t>
            </a:r>
          </a:p>
          <a:p>
            <a:pPr marL="342900" indent="-342900" algn="just" fontAlgn="base">
              <a:buFont typeface="Arial" panose="020B0604020202020204" pitchFamily="34" charset="0"/>
              <a:buChar char="•"/>
            </a:pPr>
            <a:r>
              <a:rPr lang="en-US" sz="2300" dirty="0">
                <a:latin typeface="Nunito"/>
              </a:rPr>
              <a:t>Lipids, like adipose tissue, act as insulators and help to maintain body temperature by reducing heat loss.</a:t>
            </a:r>
          </a:p>
          <a:p>
            <a:pPr marL="342900" indent="-342900" algn="just" fontAlgn="base">
              <a:buFont typeface="Arial" panose="020B0604020202020204" pitchFamily="34" charset="0"/>
              <a:buChar char="•"/>
            </a:pPr>
            <a:r>
              <a:rPr lang="en-US" sz="2300" dirty="0">
                <a:latin typeface="Nunito"/>
              </a:rPr>
              <a:t>Lipids, especially triglycerides, act as energy storage in organisms, providing a reserve of metabolic fuel.</a:t>
            </a:r>
          </a:p>
          <a:p>
            <a:pPr marL="342900" indent="-342900" algn="just" fontAlgn="base">
              <a:buFont typeface="Arial" panose="020B0604020202020204" pitchFamily="34" charset="0"/>
              <a:buChar char="•"/>
            </a:pPr>
            <a:r>
              <a:rPr lang="en-US" sz="2300" dirty="0">
                <a:latin typeface="Nunito"/>
              </a:rPr>
              <a:t>Phospholipids form the lipid bilayers of cell membranes and regulate the passage of molecules in and out of cells.</a:t>
            </a:r>
          </a:p>
          <a:p>
            <a:pPr marL="342900" indent="-342900" algn="just" fontAlgn="base">
              <a:buFont typeface="Arial" panose="020B0604020202020204" pitchFamily="34" charset="0"/>
              <a:buChar char="•"/>
            </a:pPr>
            <a:r>
              <a:rPr lang="en-US" sz="2300" dirty="0">
                <a:latin typeface="Nunito"/>
              </a:rPr>
              <a:t>Protecting the plant leaves from direct heat and drying.</a:t>
            </a:r>
          </a:p>
          <a:p>
            <a:pPr marL="342900" indent="-342900" algn="just" fontAlgn="base">
              <a:buFont typeface="Arial" panose="020B0604020202020204" pitchFamily="34" charset="0"/>
              <a:buChar char="•"/>
            </a:pPr>
            <a:r>
              <a:rPr lang="en-US" sz="2300" dirty="0">
                <a:latin typeface="Nunito"/>
              </a:rPr>
              <a:t>Steroid hormones, derived from cholesterol, play vital roles in regulating various physiological processes, including metabolism, growth, and reproduction.</a:t>
            </a:r>
          </a:p>
          <a:p>
            <a:pPr marL="342900" indent="-342900" algn="just" fontAlgn="base">
              <a:buFont typeface="Arial" panose="020B0604020202020204" pitchFamily="34" charset="0"/>
              <a:buChar char="•"/>
            </a:pPr>
            <a:r>
              <a:rPr lang="en-US" sz="2300" dirty="0">
                <a:latin typeface="Nunito"/>
              </a:rPr>
              <a:t>It acts as the structural component of the body and also acts as the hydrophobic barrier.</a:t>
            </a:r>
          </a:p>
          <a:p>
            <a:pPr marL="342900" indent="-342900" algn="just" fontAlgn="base">
              <a:buFont typeface="Arial" panose="020B0604020202020204" pitchFamily="34" charset="0"/>
              <a:buChar char="•"/>
            </a:pPr>
            <a:r>
              <a:rPr lang="en-US" sz="2300" dirty="0">
                <a:latin typeface="Nunito"/>
              </a:rPr>
              <a:t>In plants, lipids can be stored as oils in seeds, providing a source of energy for germination and early growth.</a:t>
            </a:r>
          </a:p>
          <a:p>
            <a:pPr marL="342900" indent="-342900" algn="just" fontAlgn="base">
              <a:buFont typeface="Arial" panose="020B0604020202020204" pitchFamily="34" charset="0"/>
              <a:buChar char="•"/>
            </a:pPr>
            <a:r>
              <a:rPr lang="en-US" sz="2300" dirty="0">
                <a:latin typeface="Nunito"/>
              </a:rPr>
              <a:t>Lipids form waterproofing structures, such as the waxy cuticle on plant leaves or the oil on the feathers of water birds.</a:t>
            </a:r>
          </a:p>
          <a:p>
            <a:pPr marL="342900" indent="-342900" algn="just" fontAlgn="base">
              <a:buFont typeface="Arial" panose="020B0604020202020204" pitchFamily="34" charset="0"/>
              <a:buChar char="•"/>
            </a:pPr>
            <a:r>
              <a:rPr lang="en-US" sz="2300" dirty="0">
                <a:latin typeface="Nunito"/>
              </a:rPr>
              <a:t>It provides color to many fruits and vegetables with the presence of carotenoid pigment.</a:t>
            </a:r>
          </a:p>
        </p:txBody>
      </p:sp>
    </p:spTree>
    <p:extLst>
      <p:ext uri="{BB962C8B-B14F-4D97-AF65-F5344CB8AC3E}">
        <p14:creationId xmlns:p14="http://schemas.microsoft.com/office/powerpoint/2010/main" val="25644348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70835"/>
            <a:ext cx="8991600" cy="6555641"/>
          </a:xfrm>
          <a:prstGeom prst="rect">
            <a:avLst/>
          </a:prstGeom>
        </p:spPr>
        <p:txBody>
          <a:bodyPr wrap="square">
            <a:spAutoFit/>
          </a:bodyPr>
          <a:lstStyle/>
          <a:p>
            <a:pPr algn="just">
              <a:lnSpc>
                <a:spcPct val="150000"/>
              </a:lnSpc>
            </a:pPr>
            <a:r>
              <a:rPr lang="en-US" sz="2800" b="1" dirty="0">
                <a:solidFill>
                  <a:schemeClr val="accent3">
                    <a:lumMod val="75000"/>
                  </a:schemeClr>
                </a:solidFill>
              </a:rPr>
              <a:t>Engineering Applications of Lipids </a:t>
            </a:r>
          </a:p>
          <a:p>
            <a:pPr marL="514350" indent="-514350" algn="just">
              <a:lnSpc>
                <a:spcPct val="150000"/>
              </a:lnSpc>
              <a:buFont typeface="+mj-lt"/>
              <a:buAutoNum type="arabicPeriod"/>
            </a:pPr>
            <a:r>
              <a:rPr lang="en-US" sz="2800" b="1" dirty="0"/>
              <a:t>Cosmetics</a:t>
            </a:r>
            <a:r>
              <a:rPr lang="en-US" sz="2800" dirty="0"/>
              <a:t>: - moisturizers, to improve skin hydration and texture.</a:t>
            </a:r>
          </a:p>
          <a:p>
            <a:pPr marL="514350" indent="-514350" algn="just">
              <a:lnSpc>
                <a:spcPct val="150000"/>
              </a:lnSpc>
              <a:buFont typeface="+mj-lt"/>
              <a:buAutoNum type="arabicPeriod"/>
            </a:pPr>
            <a:r>
              <a:rPr lang="en-US" sz="2800" b="1" dirty="0"/>
              <a:t>Food industry: </a:t>
            </a:r>
            <a:r>
              <a:rPr lang="en-US" sz="2800" dirty="0"/>
              <a:t>food products - margarine and frying oils, to improve texture, flavor, and shelf life. </a:t>
            </a:r>
          </a:p>
          <a:p>
            <a:pPr marL="514350" indent="-514350" algn="just">
              <a:lnSpc>
                <a:spcPct val="150000"/>
              </a:lnSpc>
              <a:buFont typeface="+mj-lt"/>
              <a:buAutoNum type="arabicPeriod"/>
            </a:pPr>
            <a:r>
              <a:rPr lang="en-US" sz="2800" b="1" dirty="0"/>
              <a:t>Medical devices: </a:t>
            </a:r>
            <a:r>
              <a:rPr lang="en-US" sz="2800" dirty="0"/>
              <a:t>Lipids are used in medical devices - lipid-based drug delivery systems, to improve the delivery and efficacy of drugs.</a:t>
            </a:r>
          </a:p>
          <a:p>
            <a:pPr marL="514350" indent="-514350" algn="just">
              <a:lnSpc>
                <a:spcPct val="150000"/>
              </a:lnSpc>
              <a:buFont typeface="+mj-lt"/>
              <a:buAutoNum type="arabicPeriod"/>
            </a:pPr>
            <a:r>
              <a:rPr lang="en-US" sz="2800" b="1" dirty="0"/>
              <a:t>Biofuels</a:t>
            </a:r>
            <a:r>
              <a:rPr lang="en-US" sz="2800" dirty="0"/>
              <a:t>: Lipids - vegetable oils and animal fats, can be converted into biofuels, such as biodiesel and bioethanol.</a:t>
            </a:r>
          </a:p>
        </p:txBody>
      </p:sp>
    </p:spTree>
    <p:extLst>
      <p:ext uri="{BB962C8B-B14F-4D97-AF65-F5344CB8AC3E}">
        <p14:creationId xmlns:p14="http://schemas.microsoft.com/office/powerpoint/2010/main" val="15944471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
            <a:ext cx="8915400" cy="6555641"/>
          </a:xfrm>
          <a:prstGeom prst="rect">
            <a:avLst/>
          </a:prstGeom>
        </p:spPr>
        <p:txBody>
          <a:bodyPr wrap="square">
            <a:spAutoFit/>
          </a:bodyPr>
          <a:lstStyle/>
          <a:p>
            <a:pPr marL="514350" indent="-514350" algn="just">
              <a:lnSpc>
                <a:spcPct val="150000"/>
              </a:lnSpc>
              <a:buFont typeface="+mj-lt"/>
              <a:buAutoNum type="arabicPeriod" startAt="5"/>
            </a:pPr>
            <a:r>
              <a:rPr lang="en-US" sz="2800" b="1" dirty="0"/>
              <a:t>Surface modification</a:t>
            </a:r>
            <a:r>
              <a:rPr lang="en-US" sz="2800" dirty="0"/>
              <a:t>: modify the surface properties of materials, such as metals and polymers, to improve their performance and biocompatibility.</a:t>
            </a:r>
          </a:p>
          <a:p>
            <a:pPr marL="514350" indent="-514350" algn="just">
              <a:lnSpc>
                <a:spcPct val="150000"/>
              </a:lnSpc>
              <a:buFont typeface="+mj-lt"/>
              <a:buAutoNum type="arabicPeriod" startAt="5"/>
            </a:pPr>
            <a:r>
              <a:rPr lang="en-US" sz="2800" b="1" dirty="0"/>
              <a:t>Surfactants</a:t>
            </a:r>
            <a:r>
              <a:rPr lang="en-US" sz="2800" dirty="0"/>
              <a:t>: which are compounds that reduce surface tension and improve the mixing of oil and water-based substances. </a:t>
            </a:r>
          </a:p>
          <a:p>
            <a:pPr algn="just">
              <a:lnSpc>
                <a:spcPct val="150000"/>
              </a:lnSpc>
            </a:pPr>
            <a:r>
              <a:rPr lang="en-US" sz="2800" dirty="0"/>
              <a:t>It is important to note that the properties and applications of lipids can vary depending on the specific type of lipid and the processing method used. </a:t>
            </a:r>
          </a:p>
          <a:p>
            <a:pPr algn="just">
              <a:lnSpc>
                <a:spcPct val="150000"/>
              </a:lnSpc>
            </a:pPr>
            <a:r>
              <a:rPr lang="en-US" sz="2800" dirty="0"/>
              <a:t>Researches are has been going on.</a:t>
            </a:r>
            <a:endParaRPr lang="en-IN" sz="2800" dirty="0"/>
          </a:p>
        </p:txBody>
      </p:sp>
    </p:spTree>
    <p:extLst>
      <p:ext uri="{BB962C8B-B14F-4D97-AF65-F5344CB8AC3E}">
        <p14:creationId xmlns:p14="http://schemas.microsoft.com/office/powerpoint/2010/main" val="36942678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71145" y="1"/>
            <a:ext cx="8991600" cy="6555641"/>
          </a:xfrm>
          <a:prstGeom prst="rect">
            <a:avLst/>
          </a:prstGeom>
        </p:spPr>
        <p:txBody>
          <a:bodyPr wrap="square">
            <a:spAutoFit/>
          </a:bodyPr>
          <a:lstStyle/>
          <a:p>
            <a:pPr algn="just">
              <a:lnSpc>
                <a:spcPct val="150000"/>
              </a:lnSpc>
            </a:pPr>
            <a:r>
              <a:rPr lang="en-US" sz="2800" b="1" dirty="0">
                <a:solidFill>
                  <a:schemeClr val="accent3">
                    <a:lumMod val="75000"/>
                  </a:schemeClr>
                </a:solidFill>
              </a:rPr>
              <a:t>Lipids as Biodiesel </a:t>
            </a:r>
          </a:p>
          <a:p>
            <a:pPr marL="457200" indent="-457200" algn="just">
              <a:lnSpc>
                <a:spcPct val="150000"/>
              </a:lnSpc>
              <a:buFont typeface="Arial" pitchFamily="34" charset="0"/>
              <a:buChar char="•"/>
            </a:pPr>
            <a:r>
              <a:rPr lang="en-US" sz="2800" dirty="0"/>
              <a:t>Lipids can be converted into biodiesel, which is a </a:t>
            </a:r>
            <a:r>
              <a:rPr lang="en-US" sz="2800" b="1" dirty="0"/>
              <a:t>renewable source of energy</a:t>
            </a:r>
            <a:r>
              <a:rPr lang="en-US" sz="2800" dirty="0"/>
              <a:t>. </a:t>
            </a:r>
          </a:p>
          <a:p>
            <a:pPr marL="457200" indent="-457200" algn="just">
              <a:lnSpc>
                <a:spcPct val="150000"/>
              </a:lnSpc>
              <a:buFont typeface="Arial" pitchFamily="34" charset="0"/>
              <a:buChar char="•"/>
            </a:pPr>
            <a:r>
              <a:rPr lang="en-US" sz="2800" dirty="0"/>
              <a:t>Biodiesel is typically produced by </a:t>
            </a:r>
            <a:r>
              <a:rPr lang="en-US" sz="2800" dirty="0" err="1"/>
              <a:t>transesterifying</a:t>
            </a:r>
            <a:r>
              <a:rPr lang="en-US" sz="2800" dirty="0"/>
              <a:t> vegetable oils or animal fats with an alcohol - methanol, to form methyl esters. </a:t>
            </a:r>
          </a:p>
          <a:p>
            <a:pPr marL="457200" indent="-457200" algn="just">
              <a:lnSpc>
                <a:spcPct val="150000"/>
              </a:lnSpc>
              <a:buFont typeface="Arial" pitchFamily="34" charset="0"/>
              <a:buChar char="•"/>
            </a:pPr>
            <a:r>
              <a:rPr lang="en-US" sz="2800" dirty="0"/>
              <a:t>The resulting biodiesel can be used as a drop-in replacement for traditional diesel fuel in internal combustion engines.</a:t>
            </a:r>
          </a:p>
          <a:p>
            <a:pPr algn="just">
              <a:lnSpc>
                <a:spcPct val="150000"/>
              </a:lnSpc>
            </a:pPr>
            <a:endParaRPr lang="en-IN" sz="2800" dirty="0"/>
          </a:p>
        </p:txBody>
      </p:sp>
    </p:spTree>
    <p:extLst>
      <p:ext uri="{BB962C8B-B14F-4D97-AF65-F5344CB8AC3E}">
        <p14:creationId xmlns:p14="http://schemas.microsoft.com/office/powerpoint/2010/main" val="408820132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9255" y="-152400"/>
            <a:ext cx="8991600" cy="7201972"/>
          </a:xfrm>
          <a:prstGeom prst="rect">
            <a:avLst/>
          </a:prstGeom>
        </p:spPr>
        <p:txBody>
          <a:bodyPr wrap="square">
            <a:spAutoFit/>
          </a:bodyPr>
          <a:lstStyle/>
          <a:p>
            <a:pPr algn="just">
              <a:lnSpc>
                <a:spcPct val="150000"/>
              </a:lnSpc>
            </a:pPr>
            <a:r>
              <a:rPr lang="en-US" sz="2800" b="1" dirty="0">
                <a:solidFill>
                  <a:schemeClr val="accent3">
                    <a:lumMod val="75000"/>
                  </a:schemeClr>
                </a:solidFill>
              </a:rPr>
              <a:t>Advantages</a:t>
            </a:r>
            <a:r>
              <a:rPr lang="en-US" sz="2800" dirty="0"/>
              <a:t> </a:t>
            </a:r>
          </a:p>
          <a:p>
            <a:pPr marL="457200" indent="-457200" algn="just">
              <a:lnSpc>
                <a:spcPct val="150000"/>
              </a:lnSpc>
              <a:buFont typeface="Arial" pitchFamily="34" charset="0"/>
              <a:buChar char="•"/>
            </a:pPr>
            <a:r>
              <a:rPr lang="en-US" sz="2800" b="1" dirty="0"/>
              <a:t>Renewability</a:t>
            </a:r>
            <a:r>
              <a:rPr lang="en-US" sz="2800" dirty="0"/>
              <a:t>: Lipids are a renewable resource - produced from a variety of sources - vegetable oils, animal fats, and microalgae. </a:t>
            </a:r>
          </a:p>
          <a:p>
            <a:pPr marL="457200" indent="-457200" algn="just">
              <a:lnSpc>
                <a:spcPct val="150000"/>
              </a:lnSpc>
              <a:buFont typeface="Arial" pitchFamily="34" charset="0"/>
              <a:buChar char="•"/>
            </a:pPr>
            <a:r>
              <a:rPr lang="en-US" sz="2800" b="1" dirty="0"/>
              <a:t>Reduced emissions: </a:t>
            </a:r>
            <a:r>
              <a:rPr lang="en-US" sz="2800" dirty="0"/>
              <a:t>reducing the impact on the environment and public health.</a:t>
            </a:r>
          </a:p>
          <a:p>
            <a:pPr marL="457200" indent="-457200" algn="just">
              <a:lnSpc>
                <a:spcPct val="150000"/>
              </a:lnSpc>
              <a:buFont typeface="Arial" pitchFamily="34" charset="0"/>
              <a:buChar char="•"/>
            </a:pPr>
            <a:r>
              <a:rPr lang="en-US" sz="2800" b="1" dirty="0"/>
              <a:t>Improved performance</a:t>
            </a:r>
            <a:r>
              <a:rPr lang="en-US" sz="2800" dirty="0"/>
              <a:t>: Biodiesel can improve engine performance, increasing fuel efficiency and reducing engine wear and tear.</a:t>
            </a:r>
          </a:p>
          <a:p>
            <a:pPr marL="457200" indent="-457200" algn="just">
              <a:lnSpc>
                <a:spcPct val="150000"/>
              </a:lnSpc>
              <a:buFont typeface="Arial" pitchFamily="34" charset="0"/>
              <a:buChar char="•"/>
            </a:pPr>
            <a:r>
              <a:rPr lang="en-US" sz="2800" b="1" dirty="0"/>
              <a:t>Biodegradability</a:t>
            </a:r>
            <a:r>
              <a:rPr lang="en-US" sz="2800" dirty="0"/>
              <a:t>: reduces environmental contamination in the event of a spill. </a:t>
            </a:r>
          </a:p>
        </p:txBody>
      </p:sp>
    </p:spTree>
    <p:extLst>
      <p:ext uri="{BB962C8B-B14F-4D97-AF65-F5344CB8AC3E}">
        <p14:creationId xmlns:p14="http://schemas.microsoft.com/office/powerpoint/2010/main" val="5658386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76200"/>
            <a:ext cx="8915400" cy="5909310"/>
          </a:xfrm>
          <a:prstGeom prst="rect">
            <a:avLst/>
          </a:prstGeom>
        </p:spPr>
        <p:txBody>
          <a:bodyPr wrap="square">
            <a:spAutoFit/>
          </a:bodyPr>
          <a:lstStyle/>
          <a:p>
            <a:pPr algn="just">
              <a:lnSpc>
                <a:spcPct val="150000"/>
              </a:lnSpc>
            </a:pPr>
            <a:r>
              <a:rPr lang="en-US" sz="2800" dirty="0"/>
              <a:t>Limitations to the use of lipids as biodiesel</a:t>
            </a:r>
          </a:p>
          <a:p>
            <a:pPr marL="457200" indent="-457200" algn="just">
              <a:lnSpc>
                <a:spcPct val="150000"/>
              </a:lnSpc>
              <a:buFont typeface="Arial" pitchFamily="34" charset="0"/>
              <a:buChar char="•"/>
            </a:pPr>
            <a:r>
              <a:rPr lang="en-US" sz="2800" dirty="0"/>
              <a:t>higher production costs: compared to traditional diesel fuel</a:t>
            </a:r>
          </a:p>
          <a:p>
            <a:pPr marL="457200" indent="-457200" algn="just">
              <a:lnSpc>
                <a:spcPct val="150000"/>
              </a:lnSpc>
              <a:buFont typeface="Arial" pitchFamily="34" charset="0"/>
              <a:buChar char="•"/>
            </a:pPr>
            <a:r>
              <a:rPr lang="en-US" sz="2800" dirty="0"/>
              <a:t>Need for more efficient and cost effective processing methods.</a:t>
            </a:r>
          </a:p>
          <a:p>
            <a:pPr marL="457200" indent="-457200" algn="just">
              <a:lnSpc>
                <a:spcPct val="150000"/>
              </a:lnSpc>
              <a:buFont typeface="Arial" pitchFamily="34" charset="0"/>
              <a:buChar char="•"/>
            </a:pPr>
            <a:endParaRPr lang="en-US" sz="2800" dirty="0"/>
          </a:p>
          <a:p>
            <a:pPr algn="just">
              <a:lnSpc>
                <a:spcPct val="150000"/>
              </a:lnSpc>
            </a:pPr>
            <a:r>
              <a:rPr lang="en-US" sz="2800" dirty="0"/>
              <a:t>Nevertheless, the use of lipids as biodiesel has the potential to play an important role in the transition towards a more sustainable energy system</a:t>
            </a:r>
            <a:endParaRPr lang="en-IN" sz="2800" dirty="0"/>
          </a:p>
        </p:txBody>
      </p:sp>
    </p:spTree>
    <p:extLst>
      <p:ext uri="{BB962C8B-B14F-4D97-AF65-F5344CB8AC3E}">
        <p14:creationId xmlns:p14="http://schemas.microsoft.com/office/powerpoint/2010/main" val="26762478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00200" y="-152400"/>
            <a:ext cx="8915400" cy="7109639"/>
          </a:xfrm>
          <a:prstGeom prst="rect">
            <a:avLst/>
          </a:prstGeom>
        </p:spPr>
        <p:txBody>
          <a:bodyPr wrap="square">
            <a:spAutoFit/>
          </a:bodyPr>
          <a:lstStyle/>
          <a:p>
            <a:pPr algn="just">
              <a:lnSpc>
                <a:spcPct val="150000"/>
              </a:lnSpc>
            </a:pPr>
            <a:r>
              <a:rPr lang="en-US" sz="2800" b="1" dirty="0">
                <a:solidFill>
                  <a:schemeClr val="accent3">
                    <a:lumMod val="75000"/>
                  </a:schemeClr>
                </a:solidFill>
              </a:rPr>
              <a:t>Process of Obtaining Biodiesel from Lipids</a:t>
            </a:r>
          </a:p>
          <a:p>
            <a:pPr marL="514350" indent="-514350" algn="just">
              <a:lnSpc>
                <a:spcPct val="150000"/>
              </a:lnSpc>
              <a:buFont typeface="+mj-lt"/>
              <a:buAutoNum type="arabicPeriod"/>
            </a:pPr>
            <a:r>
              <a:rPr lang="en-US" sz="2800" b="1" dirty="0"/>
              <a:t>Raw material preparation</a:t>
            </a:r>
            <a:r>
              <a:rPr lang="en-US" sz="2800" dirty="0"/>
              <a:t>: The lipids, such as vegetable oils or animal fats, are </a:t>
            </a:r>
            <a:r>
              <a:rPr lang="en-US" sz="2800" b="1" dirty="0"/>
              <a:t>collected</a:t>
            </a:r>
            <a:r>
              <a:rPr lang="en-US" sz="2800" dirty="0"/>
              <a:t> and </a:t>
            </a:r>
            <a:r>
              <a:rPr lang="en-US" sz="2800" b="1" dirty="0"/>
              <a:t>purified</a:t>
            </a:r>
            <a:r>
              <a:rPr lang="en-US" sz="2800" dirty="0"/>
              <a:t> to remove impurities.</a:t>
            </a:r>
          </a:p>
          <a:p>
            <a:pPr marL="514350" indent="-514350" algn="just">
              <a:lnSpc>
                <a:spcPct val="150000"/>
              </a:lnSpc>
              <a:buFont typeface="+mj-lt"/>
              <a:buAutoNum type="arabicPeriod"/>
            </a:pPr>
            <a:r>
              <a:rPr lang="en-US" sz="2800" b="1" dirty="0"/>
              <a:t>Trans-esterification</a:t>
            </a:r>
            <a:r>
              <a:rPr lang="en-US" sz="2800" dirty="0"/>
              <a:t>: The purified lipids are mixed with an alcohol - methanol, and a catalyst - sodium hydroxide, to produce fatty acid methyl esters (FAME) - the main components of biodiesel. </a:t>
            </a:r>
          </a:p>
          <a:p>
            <a:pPr marL="514350" indent="-514350" algn="just">
              <a:lnSpc>
                <a:spcPct val="150000"/>
              </a:lnSpc>
              <a:buFont typeface="+mj-lt"/>
              <a:buAutoNum type="arabicPeriod"/>
            </a:pPr>
            <a:r>
              <a:rPr lang="en-US" sz="2800" b="1" dirty="0"/>
              <a:t>Separation</a:t>
            </a:r>
            <a:r>
              <a:rPr lang="en-US" sz="2800" dirty="0"/>
              <a:t>: into two layers: the </a:t>
            </a:r>
            <a:r>
              <a:rPr lang="en-US" sz="2400" b="1" dirty="0"/>
              <a:t>upper layer </a:t>
            </a:r>
            <a:r>
              <a:rPr lang="en-US" sz="2800" dirty="0"/>
              <a:t>contains the </a:t>
            </a:r>
            <a:r>
              <a:rPr lang="en-US" sz="2400" b="1" dirty="0"/>
              <a:t>FAME (biodiesel) </a:t>
            </a:r>
            <a:r>
              <a:rPr lang="en-US" sz="2800" dirty="0"/>
              <a:t>and the </a:t>
            </a:r>
            <a:r>
              <a:rPr lang="en-US" sz="2400" b="1" dirty="0"/>
              <a:t>lower layer </a:t>
            </a:r>
            <a:r>
              <a:rPr lang="en-US" sz="2800" dirty="0"/>
              <a:t>contains the </a:t>
            </a:r>
            <a:r>
              <a:rPr lang="en-US" sz="2400" b="1" dirty="0"/>
              <a:t>glycerol (byproduct).</a:t>
            </a:r>
          </a:p>
        </p:txBody>
      </p:sp>
    </p:spTree>
    <p:extLst>
      <p:ext uri="{BB962C8B-B14F-4D97-AF65-F5344CB8AC3E}">
        <p14:creationId xmlns:p14="http://schemas.microsoft.com/office/powerpoint/2010/main" val="33324028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3924" y="7884"/>
            <a:ext cx="9067800" cy="6555641"/>
          </a:xfrm>
          <a:prstGeom prst="rect">
            <a:avLst/>
          </a:prstGeom>
        </p:spPr>
        <p:txBody>
          <a:bodyPr wrap="square">
            <a:spAutoFit/>
          </a:bodyPr>
          <a:lstStyle/>
          <a:p>
            <a:pPr marL="514350" indent="-514350" algn="just">
              <a:lnSpc>
                <a:spcPct val="150000"/>
              </a:lnSpc>
              <a:buFont typeface="+mj-lt"/>
              <a:buAutoNum type="arabicPeriod" startAt="4"/>
            </a:pPr>
            <a:r>
              <a:rPr lang="en-US" sz="2800" b="1" dirty="0"/>
              <a:t>Washing and drying:</a:t>
            </a:r>
            <a:r>
              <a:rPr lang="en-US" sz="2800" dirty="0"/>
              <a:t> The biodiesel is washed with water to remove any residual alcohol and soap that was formed during the trans esterification reaction. The biodiesel is then dried to remove any remaining moisture.</a:t>
            </a:r>
          </a:p>
          <a:p>
            <a:pPr marL="514350" indent="-514350" algn="just">
              <a:lnSpc>
                <a:spcPct val="150000"/>
              </a:lnSpc>
              <a:buFont typeface="+mj-lt"/>
              <a:buAutoNum type="arabicPeriod" startAt="4"/>
            </a:pPr>
            <a:r>
              <a:rPr lang="en-US" sz="2800" b="1" dirty="0"/>
              <a:t>Purification</a:t>
            </a:r>
            <a:r>
              <a:rPr lang="en-US" sz="2800" dirty="0"/>
              <a:t>: The biodiesel is further purified to remove any impurities and improve its quality. </a:t>
            </a:r>
          </a:p>
          <a:p>
            <a:pPr marL="514350" indent="-514350" algn="just">
              <a:lnSpc>
                <a:spcPct val="150000"/>
              </a:lnSpc>
              <a:buFont typeface="+mj-lt"/>
              <a:buAutoNum type="arabicPeriod" startAt="4"/>
            </a:pPr>
            <a:r>
              <a:rPr lang="en-US" sz="2800" b="1" dirty="0"/>
              <a:t>Final product</a:t>
            </a:r>
            <a:r>
              <a:rPr lang="en-US" sz="2800" dirty="0"/>
              <a:t>: The purified biodiesel is then stored and distributed for use as a fuel. </a:t>
            </a:r>
          </a:p>
          <a:p>
            <a:pPr algn="just">
              <a:lnSpc>
                <a:spcPct val="150000"/>
              </a:lnSpc>
            </a:pPr>
            <a:r>
              <a:rPr lang="en-US" sz="2800" dirty="0"/>
              <a:t>Exact process can vary depending on the specific type of lipid and the desired quality of the final product. </a:t>
            </a:r>
            <a:endParaRPr lang="en-IN" sz="2800" dirty="0"/>
          </a:p>
        </p:txBody>
      </p:sp>
    </p:spTree>
    <p:extLst>
      <p:ext uri="{BB962C8B-B14F-4D97-AF65-F5344CB8AC3E}">
        <p14:creationId xmlns:p14="http://schemas.microsoft.com/office/powerpoint/2010/main" val="27875760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71297" y="1159"/>
            <a:ext cx="9067800" cy="6555641"/>
          </a:xfrm>
          <a:prstGeom prst="rect">
            <a:avLst/>
          </a:prstGeom>
        </p:spPr>
        <p:txBody>
          <a:bodyPr wrap="square">
            <a:spAutoFit/>
          </a:bodyPr>
          <a:lstStyle/>
          <a:p>
            <a:pPr algn="just">
              <a:lnSpc>
                <a:spcPct val="150000"/>
              </a:lnSpc>
            </a:pPr>
            <a:r>
              <a:rPr lang="en-US" sz="2800" b="1" dirty="0">
                <a:solidFill>
                  <a:schemeClr val="accent3">
                    <a:lumMod val="75000"/>
                  </a:schemeClr>
                </a:solidFill>
              </a:rPr>
              <a:t>Lipids as Cleaning Agents/Detergents </a:t>
            </a:r>
          </a:p>
          <a:p>
            <a:pPr marL="514350" indent="-514350" algn="just">
              <a:lnSpc>
                <a:spcPct val="150000"/>
              </a:lnSpc>
              <a:buFont typeface="+mj-lt"/>
              <a:buAutoNum type="arabicPeriod"/>
            </a:pPr>
            <a:r>
              <a:rPr lang="en-US" sz="2800" b="1" dirty="0"/>
              <a:t>Personal care products</a:t>
            </a:r>
            <a:r>
              <a:rPr lang="en-US" sz="2800" dirty="0"/>
              <a:t>: Lipids, such as fatty acids and glycerides - used as emulsifiers and surfactants in personal care products - shampoos, soaps, and lotions. </a:t>
            </a:r>
          </a:p>
          <a:p>
            <a:pPr marL="514350" indent="-514350" algn="just">
              <a:lnSpc>
                <a:spcPct val="150000"/>
              </a:lnSpc>
              <a:buFont typeface="+mj-lt"/>
              <a:buAutoNum type="arabicPeriod"/>
            </a:pPr>
            <a:r>
              <a:rPr lang="en-US" sz="2800" b="1" dirty="0"/>
              <a:t>Industrial cleaning</a:t>
            </a:r>
            <a:r>
              <a:rPr lang="en-US" sz="2800" dirty="0"/>
              <a:t>: such as metal cleaning, degreasing, and stain removal.</a:t>
            </a:r>
          </a:p>
          <a:p>
            <a:pPr marL="514350" indent="-514350" algn="just">
              <a:lnSpc>
                <a:spcPct val="150000"/>
              </a:lnSpc>
              <a:buFont typeface="+mj-lt"/>
              <a:buAutoNum type="arabicPeriod"/>
            </a:pPr>
            <a:r>
              <a:rPr lang="en-US" sz="2800" b="1" dirty="0"/>
              <a:t>Laundry detergents</a:t>
            </a:r>
            <a:r>
              <a:rPr lang="en-US" sz="2800" dirty="0"/>
              <a:t>: to improve their cleaning performance. </a:t>
            </a:r>
          </a:p>
          <a:p>
            <a:pPr marL="514350" indent="-514350" algn="just">
              <a:lnSpc>
                <a:spcPct val="150000"/>
              </a:lnSpc>
              <a:buFont typeface="+mj-lt"/>
              <a:buAutoNum type="arabicPeriod"/>
            </a:pPr>
            <a:r>
              <a:rPr lang="en-US" sz="2800" b="1" dirty="0"/>
              <a:t>Cleaning agents for hard surfaces</a:t>
            </a:r>
            <a:r>
              <a:rPr lang="en-US" sz="2800" dirty="0"/>
              <a:t>: such as floors, countertops, and walls, to remove dirt and grime. </a:t>
            </a:r>
          </a:p>
        </p:txBody>
      </p:sp>
    </p:spTree>
    <p:extLst>
      <p:ext uri="{BB962C8B-B14F-4D97-AF65-F5344CB8AC3E}">
        <p14:creationId xmlns:p14="http://schemas.microsoft.com/office/powerpoint/2010/main" val="15917141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50276" y="51252"/>
            <a:ext cx="8991600" cy="6555641"/>
          </a:xfrm>
          <a:prstGeom prst="rect">
            <a:avLst/>
          </a:prstGeom>
        </p:spPr>
        <p:txBody>
          <a:bodyPr wrap="square">
            <a:spAutoFit/>
          </a:bodyPr>
          <a:lstStyle/>
          <a:p>
            <a:pPr algn="just">
              <a:lnSpc>
                <a:spcPct val="150000"/>
              </a:lnSpc>
            </a:pPr>
            <a:r>
              <a:rPr lang="en-US" sz="2800" b="1" dirty="0"/>
              <a:t>Properties of lipid</a:t>
            </a:r>
            <a:r>
              <a:rPr lang="en-US" sz="2800" dirty="0"/>
              <a:t> - suitable to cleaning agents</a:t>
            </a:r>
          </a:p>
          <a:p>
            <a:pPr marL="457200" indent="-457200" algn="just">
              <a:lnSpc>
                <a:spcPct val="150000"/>
              </a:lnSpc>
              <a:buFont typeface="Arial" pitchFamily="34" charset="0"/>
              <a:buChar char="•"/>
            </a:pPr>
            <a:r>
              <a:rPr lang="en-US" sz="2800" dirty="0"/>
              <a:t>Ability to emulsify and dissolve grease and oils. </a:t>
            </a:r>
          </a:p>
          <a:p>
            <a:pPr marL="457200" indent="-457200" algn="just">
              <a:lnSpc>
                <a:spcPct val="150000"/>
              </a:lnSpc>
              <a:buFont typeface="Arial" pitchFamily="34" charset="0"/>
              <a:buChar char="•"/>
            </a:pPr>
            <a:r>
              <a:rPr lang="en-US" sz="2800" dirty="0"/>
              <a:t>Lipids can form micelles, which are tiny spherical structures that can surround and trap dirt particles, making it easier to remove them. </a:t>
            </a:r>
          </a:p>
          <a:p>
            <a:pPr algn="just">
              <a:lnSpc>
                <a:spcPct val="150000"/>
              </a:lnSpc>
            </a:pPr>
            <a:r>
              <a:rPr lang="en-US" sz="2800" dirty="0"/>
              <a:t>Not all lipids are equally effective as cleaning agents and that the specific properties of each lipid can impact its performance. </a:t>
            </a:r>
          </a:p>
          <a:p>
            <a:pPr algn="just">
              <a:lnSpc>
                <a:spcPct val="150000"/>
              </a:lnSpc>
            </a:pPr>
            <a:r>
              <a:rPr lang="en-US" sz="2800" dirty="0"/>
              <a:t>Further research is needed to optimize the use of lipids as cleaning agents and to identify new and more effective.</a:t>
            </a:r>
            <a:endParaRPr lang="en-IN" sz="2800" dirty="0"/>
          </a:p>
        </p:txBody>
      </p:sp>
    </p:spTree>
    <p:extLst>
      <p:ext uri="{BB962C8B-B14F-4D97-AF65-F5344CB8AC3E}">
        <p14:creationId xmlns:p14="http://schemas.microsoft.com/office/powerpoint/2010/main" val="18232508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1"/>
            <a:ext cx="9144000" cy="6740307"/>
          </a:xfrm>
          <a:prstGeom prst="rect">
            <a:avLst/>
          </a:prstGeom>
        </p:spPr>
        <p:txBody>
          <a:bodyPr wrap="square">
            <a:spAutoFit/>
          </a:bodyPr>
          <a:lstStyle/>
          <a:p>
            <a:pPr algn="just">
              <a:lnSpc>
                <a:spcPct val="150000"/>
              </a:lnSpc>
            </a:pPr>
            <a:r>
              <a:rPr lang="en-US" sz="2800" b="1" dirty="0"/>
              <a:t>Examples of lipids used as cleaning agent </a:t>
            </a:r>
          </a:p>
          <a:p>
            <a:pPr marL="514350" indent="-514350" algn="just">
              <a:lnSpc>
                <a:spcPct val="150000"/>
              </a:lnSpc>
              <a:buFont typeface="+mj-lt"/>
              <a:buAutoNum type="alphaLcPeriod"/>
            </a:pPr>
            <a:r>
              <a:rPr lang="en-US" sz="2800" b="1" dirty="0"/>
              <a:t>Soap</a:t>
            </a:r>
            <a:r>
              <a:rPr lang="en-US" sz="2400" dirty="0"/>
              <a:t>: Soap is a traditional cleaning agent made from the reaction of an alkali with a fat or oil. Soaps are made from various types of lipids, including animal fats and vegetable oils.</a:t>
            </a:r>
          </a:p>
          <a:p>
            <a:pPr marL="514350" indent="-514350" algn="just">
              <a:lnSpc>
                <a:spcPct val="150000"/>
              </a:lnSpc>
              <a:buFont typeface="+mj-lt"/>
              <a:buAutoNum type="alphaLcPeriod"/>
            </a:pPr>
            <a:r>
              <a:rPr lang="en-US" sz="2800" b="1" dirty="0"/>
              <a:t>Fatty</a:t>
            </a:r>
            <a:r>
              <a:rPr lang="en-US" sz="2400" b="1" dirty="0"/>
              <a:t> </a:t>
            </a:r>
            <a:r>
              <a:rPr lang="en-US" sz="2800" b="1" dirty="0"/>
              <a:t>acids</a:t>
            </a:r>
            <a:r>
              <a:rPr lang="en-US" sz="2400" dirty="0"/>
              <a:t>: such as stearic acid, can be used as cleaning agents in personal care products, such as bar soaps and shampoos.</a:t>
            </a:r>
          </a:p>
          <a:p>
            <a:pPr marL="514350" indent="-514350" algn="just">
              <a:lnSpc>
                <a:spcPct val="150000"/>
              </a:lnSpc>
              <a:buFont typeface="+mj-lt"/>
              <a:buAutoNum type="alphaLcPeriod"/>
            </a:pPr>
            <a:r>
              <a:rPr lang="en-US" sz="2800" b="1" dirty="0"/>
              <a:t>Glycerol</a:t>
            </a:r>
            <a:r>
              <a:rPr lang="en-US" sz="2400" b="1" dirty="0"/>
              <a:t>: </a:t>
            </a:r>
            <a:r>
              <a:rPr lang="en-US" sz="2400" dirty="0"/>
              <a:t>Glycerol is a byproduct of soap production including household cleaners and industrial cleaning solutions.</a:t>
            </a:r>
          </a:p>
          <a:p>
            <a:pPr marL="514350" indent="-514350" algn="just">
              <a:lnSpc>
                <a:spcPct val="150000"/>
              </a:lnSpc>
              <a:buFont typeface="+mj-lt"/>
              <a:buAutoNum type="alphaLcPeriod"/>
            </a:pPr>
            <a:r>
              <a:rPr lang="en-US" sz="2800" b="1" dirty="0"/>
              <a:t>Fatty alcohols</a:t>
            </a:r>
            <a:r>
              <a:rPr lang="en-US" sz="2400" dirty="0"/>
              <a:t>: Fatty alcohols, such as lauryl alcohol, can be used as cleaning agents in personal care products and industrial cleaning solutions</a:t>
            </a:r>
          </a:p>
        </p:txBody>
      </p:sp>
    </p:spTree>
    <p:extLst>
      <p:ext uri="{BB962C8B-B14F-4D97-AF65-F5344CB8AC3E}">
        <p14:creationId xmlns:p14="http://schemas.microsoft.com/office/powerpoint/2010/main" val="11394603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31883" y="15378"/>
            <a:ext cx="9067800" cy="6555641"/>
          </a:xfrm>
          <a:prstGeom prst="rect">
            <a:avLst/>
          </a:prstGeom>
        </p:spPr>
        <p:txBody>
          <a:bodyPr wrap="square">
            <a:spAutoFit/>
          </a:bodyPr>
          <a:lstStyle/>
          <a:p>
            <a:pPr algn="just">
              <a:lnSpc>
                <a:spcPct val="150000"/>
              </a:lnSpc>
            </a:pPr>
            <a:r>
              <a:rPr lang="en-US" sz="2800" b="1" dirty="0"/>
              <a:t>Advantages of lipids as cleaning agents/detergents</a:t>
            </a:r>
          </a:p>
          <a:p>
            <a:pPr marL="514350" indent="-514350" algn="just">
              <a:lnSpc>
                <a:spcPct val="150000"/>
              </a:lnSpc>
              <a:buFont typeface="+mj-lt"/>
              <a:buAutoNum type="arabicPeriod"/>
            </a:pPr>
            <a:r>
              <a:rPr lang="en-US" sz="2800" b="1" dirty="0"/>
              <a:t>Biodegradability</a:t>
            </a:r>
            <a:r>
              <a:rPr lang="en-US" sz="2800" dirty="0"/>
              <a:t>: </a:t>
            </a:r>
          </a:p>
          <a:p>
            <a:pPr marL="514350" indent="-514350" algn="just">
              <a:lnSpc>
                <a:spcPct val="150000"/>
              </a:lnSpc>
              <a:buFont typeface="+mj-lt"/>
              <a:buAutoNum type="arabicPeriod"/>
            </a:pPr>
            <a:r>
              <a:rPr lang="en-US" sz="2800" b="1" dirty="0"/>
              <a:t>Renewable resources</a:t>
            </a:r>
            <a:r>
              <a:rPr lang="en-US" sz="2800" dirty="0"/>
              <a:t>:  - crops, and are not based on finite fossil fuels like some synthetic cleaning agents.</a:t>
            </a:r>
          </a:p>
          <a:p>
            <a:pPr marL="514350" indent="-514350" algn="just">
              <a:lnSpc>
                <a:spcPct val="150000"/>
              </a:lnSpc>
              <a:buFont typeface="+mj-lt"/>
              <a:buAutoNum type="arabicPeriod"/>
            </a:pPr>
            <a:r>
              <a:rPr lang="en-US" sz="2800" b="1" dirty="0"/>
              <a:t>Effectiveness: </a:t>
            </a:r>
            <a:r>
              <a:rPr lang="en-US" sz="2800" dirty="0"/>
              <a:t>Lipids have excellent grease-cutting and emulsifying properties, making them effective cleaning agents.</a:t>
            </a:r>
          </a:p>
          <a:p>
            <a:pPr marL="514350" indent="-514350" algn="just">
              <a:lnSpc>
                <a:spcPct val="150000"/>
              </a:lnSpc>
              <a:buFont typeface="+mj-lt"/>
              <a:buAutoNum type="arabicPeriod"/>
            </a:pPr>
            <a:r>
              <a:rPr lang="en-US" sz="2800" b="1" dirty="0"/>
              <a:t>Mildness</a:t>
            </a:r>
            <a:r>
              <a:rPr lang="en-US" sz="2800" dirty="0"/>
              <a:t>: Lipids </a:t>
            </a:r>
            <a:r>
              <a:rPr lang="en-US" sz="2800" dirty="0" err="1"/>
              <a:t>armild</a:t>
            </a:r>
            <a:r>
              <a:rPr lang="en-US" sz="2800" dirty="0"/>
              <a:t> and gentle, making them suitable for use in personal care products and for cleaning delicate materials, such as silk and wool. </a:t>
            </a:r>
            <a:endParaRPr lang="en-IN" sz="2800" dirty="0"/>
          </a:p>
        </p:txBody>
      </p:sp>
    </p:spTree>
    <p:extLst>
      <p:ext uri="{BB962C8B-B14F-4D97-AF65-F5344CB8AC3E}">
        <p14:creationId xmlns:p14="http://schemas.microsoft.com/office/powerpoint/2010/main" val="8421842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3955"/>
            <a:ext cx="8915400" cy="5909310"/>
          </a:xfrm>
          <a:prstGeom prst="rect">
            <a:avLst/>
          </a:prstGeom>
        </p:spPr>
        <p:txBody>
          <a:bodyPr wrap="square">
            <a:spAutoFit/>
          </a:bodyPr>
          <a:lstStyle/>
          <a:p>
            <a:pPr marL="514350" indent="-514350" algn="just">
              <a:lnSpc>
                <a:spcPct val="150000"/>
              </a:lnSpc>
              <a:buFont typeface="+mj-lt"/>
              <a:buAutoNum type="arabicPeriod" startAt="5"/>
            </a:pPr>
            <a:r>
              <a:rPr lang="en-US" sz="2800" b="1" dirty="0"/>
              <a:t>Cost-effective</a:t>
            </a:r>
            <a:r>
              <a:rPr lang="en-US" sz="2800" dirty="0"/>
              <a:t>: less expensive than synthetic cleaning agents, especially when obtained from low-cost feed stocks, such as vegetable oils. </a:t>
            </a:r>
          </a:p>
          <a:p>
            <a:pPr marL="514350" indent="-514350" algn="just">
              <a:lnSpc>
                <a:spcPct val="150000"/>
              </a:lnSpc>
              <a:buFont typeface="+mj-lt"/>
              <a:buAutoNum type="arabicPeriod" startAt="5"/>
            </a:pPr>
            <a:r>
              <a:rPr lang="en-US" sz="2800" b="1" dirty="0"/>
              <a:t>Customizability</a:t>
            </a:r>
            <a:r>
              <a:rPr lang="en-US" sz="2800" dirty="0"/>
              <a:t>: Lipids can be modified and customized to improve their cleaning performance and to meet specific application needs.</a:t>
            </a:r>
          </a:p>
          <a:p>
            <a:pPr algn="just">
              <a:lnSpc>
                <a:spcPct val="150000"/>
              </a:lnSpc>
            </a:pPr>
            <a:r>
              <a:rPr lang="en-US" sz="2800" dirty="0"/>
              <a:t>Not all lipids are equally effective as cleaning agents and that the specific properties of each lipid can impact its performance. </a:t>
            </a:r>
            <a:endParaRPr lang="en-IN" sz="2800" dirty="0"/>
          </a:p>
        </p:txBody>
      </p:sp>
    </p:spTree>
    <p:extLst>
      <p:ext uri="{BB962C8B-B14F-4D97-AF65-F5344CB8AC3E}">
        <p14:creationId xmlns:p14="http://schemas.microsoft.com/office/powerpoint/2010/main" val="34354446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0"/>
            <a:ext cx="8991600" cy="5909310"/>
          </a:xfrm>
          <a:prstGeom prst="rect">
            <a:avLst/>
          </a:prstGeom>
        </p:spPr>
        <p:txBody>
          <a:bodyPr wrap="square">
            <a:spAutoFit/>
          </a:bodyPr>
          <a:lstStyle/>
          <a:p>
            <a:pPr algn="just">
              <a:lnSpc>
                <a:spcPct val="150000"/>
              </a:lnSpc>
            </a:pPr>
            <a:r>
              <a:rPr lang="en-US" sz="2800" b="1" dirty="0">
                <a:solidFill>
                  <a:schemeClr val="accent3">
                    <a:lumMod val="75000"/>
                  </a:schemeClr>
                </a:solidFill>
              </a:rPr>
              <a:t>Limitations of lipid as cleaning agent</a:t>
            </a:r>
          </a:p>
          <a:p>
            <a:pPr marL="457200" indent="-457200" algn="just">
              <a:lnSpc>
                <a:spcPct val="150000"/>
              </a:lnSpc>
              <a:buFont typeface="Wingdings" pitchFamily="2" charset="2"/>
              <a:buChar char="Ø"/>
            </a:pPr>
            <a:r>
              <a:rPr lang="en-US" sz="2800" b="1" dirty="0"/>
              <a:t>Stability</a:t>
            </a:r>
            <a:r>
              <a:rPr lang="en-US" sz="2800" dirty="0"/>
              <a:t>: Some lipids can be susceptible to oxidation and degradation.</a:t>
            </a:r>
          </a:p>
          <a:p>
            <a:pPr marL="457200" indent="-457200" algn="just">
              <a:lnSpc>
                <a:spcPct val="150000"/>
              </a:lnSpc>
              <a:buFont typeface="Wingdings" pitchFamily="2" charset="2"/>
              <a:buChar char="Ø"/>
            </a:pPr>
            <a:r>
              <a:rPr lang="en-US" sz="2800" b="1" dirty="0"/>
              <a:t>Compatibility</a:t>
            </a:r>
            <a:r>
              <a:rPr lang="en-US" sz="2800" dirty="0"/>
              <a:t>: Some lipids may not be compatible with certain surfaces or materials, and may cause staining or damage.</a:t>
            </a:r>
          </a:p>
          <a:p>
            <a:pPr marL="457200" indent="-457200" algn="just">
              <a:lnSpc>
                <a:spcPct val="150000"/>
              </a:lnSpc>
              <a:buFont typeface="Wingdings" pitchFamily="2" charset="2"/>
              <a:buChar char="Ø"/>
            </a:pPr>
            <a:r>
              <a:rPr lang="en-US" sz="2800" b="1" dirty="0"/>
              <a:t>Cost</a:t>
            </a:r>
            <a:r>
              <a:rPr lang="en-US" sz="2800" dirty="0"/>
              <a:t>: Although lipids can be less expensive - the cost can vary depending on the source of the lipids and the processing methods used.</a:t>
            </a:r>
          </a:p>
        </p:txBody>
      </p:sp>
    </p:spTree>
    <p:extLst>
      <p:ext uri="{BB962C8B-B14F-4D97-AF65-F5344CB8AC3E}">
        <p14:creationId xmlns:p14="http://schemas.microsoft.com/office/powerpoint/2010/main" val="30878526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9144000" cy="6555641"/>
          </a:xfrm>
          <a:prstGeom prst="rect">
            <a:avLst/>
          </a:prstGeom>
        </p:spPr>
        <p:txBody>
          <a:bodyPr wrap="square">
            <a:spAutoFit/>
          </a:bodyPr>
          <a:lstStyle/>
          <a:p>
            <a:pPr marL="457200" indent="-457200" algn="just">
              <a:lnSpc>
                <a:spcPct val="150000"/>
              </a:lnSpc>
              <a:buFont typeface="Wingdings" pitchFamily="2" charset="2"/>
              <a:buChar char="Ø"/>
            </a:pPr>
            <a:r>
              <a:rPr lang="en-US" sz="2800" b="1" dirty="0"/>
              <a:t>Availability</a:t>
            </a:r>
            <a:r>
              <a:rPr lang="en-US" sz="2800" dirty="0"/>
              <a:t>: may be limited by the availability of feed stocks, such as crops and animal fats, and the need for processing and refining. </a:t>
            </a:r>
            <a:endParaRPr lang="en-IN" sz="2800" dirty="0"/>
          </a:p>
          <a:p>
            <a:pPr marL="457200" indent="-457200" algn="just">
              <a:lnSpc>
                <a:spcPct val="150000"/>
              </a:lnSpc>
              <a:buFont typeface="Wingdings" pitchFamily="2" charset="2"/>
              <a:buChar char="Ø"/>
            </a:pPr>
            <a:r>
              <a:rPr lang="en-US" sz="2800" b="1" dirty="0"/>
              <a:t>Performance</a:t>
            </a:r>
            <a:r>
              <a:rPr lang="en-US" sz="2800" dirty="0"/>
              <a:t>: vary depending on the specific properties of each lipid and the type of soil or stain being removed. Some lipids may not perform as well as synthetic cleaning agents in certain applications.</a:t>
            </a:r>
          </a:p>
          <a:p>
            <a:pPr marL="457200" indent="-457200" algn="just">
              <a:lnSpc>
                <a:spcPct val="150000"/>
              </a:lnSpc>
              <a:buFont typeface="Wingdings" pitchFamily="2" charset="2"/>
              <a:buChar char="Ø"/>
            </a:pPr>
            <a:r>
              <a:rPr lang="en-US" sz="2800" b="1" dirty="0"/>
              <a:t>Regulation</a:t>
            </a:r>
            <a:r>
              <a:rPr lang="en-US" sz="2800" dirty="0"/>
              <a:t>: The use of lipids as cleaning agents is regulated by government agencies, and specific requirements may vary from country to country. </a:t>
            </a:r>
          </a:p>
        </p:txBody>
      </p:sp>
    </p:spTree>
    <p:extLst>
      <p:ext uri="{BB962C8B-B14F-4D97-AF65-F5344CB8AC3E}">
        <p14:creationId xmlns:p14="http://schemas.microsoft.com/office/powerpoint/2010/main" val="6362195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228600"/>
            <a:ext cx="9067800" cy="7201972"/>
          </a:xfrm>
          <a:prstGeom prst="rect">
            <a:avLst/>
          </a:prstGeom>
        </p:spPr>
        <p:txBody>
          <a:bodyPr wrap="square">
            <a:spAutoFit/>
          </a:bodyPr>
          <a:lstStyle/>
          <a:p>
            <a:pPr algn="just">
              <a:lnSpc>
                <a:spcPct val="150000"/>
              </a:lnSpc>
            </a:pPr>
            <a:r>
              <a:rPr lang="en-US" sz="2800" b="1" dirty="0">
                <a:solidFill>
                  <a:schemeClr val="accent3">
                    <a:lumMod val="75000"/>
                  </a:schemeClr>
                </a:solidFill>
              </a:rPr>
              <a:t>Working principle of lipids as cleaning agent </a:t>
            </a:r>
          </a:p>
          <a:p>
            <a:pPr marL="457200" indent="-457200" algn="just">
              <a:lnSpc>
                <a:spcPct val="150000"/>
              </a:lnSpc>
              <a:buFont typeface="Courier New" pitchFamily="49" charset="0"/>
              <a:buChar char="o"/>
            </a:pPr>
            <a:r>
              <a:rPr lang="en-US" sz="2800" dirty="0"/>
              <a:t>It is based on their ability to dissolve grease and oils. </a:t>
            </a:r>
          </a:p>
          <a:p>
            <a:pPr marL="457200" indent="-457200" algn="just">
              <a:lnSpc>
                <a:spcPct val="150000"/>
              </a:lnSpc>
              <a:buFont typeface="Courier New" pitchFamily="49" charset="0"/>
              <a:buChar char="o"/>
            </a:pPr>
            <a:r>
              <a:rPr lang="en-US" sz="2800" dirty="0"/>
              <a:t>Lipids are composed of </a:t>
            </a:r>
            <a:r>
              <a:rPr lang="en-US" sz="2800" b="1" dirty="0"/>
              <a:t>hydrophobic</a:t>
            </a:r>
            <a:r>
              <a:rPr lang="en-US" sz="2800" dirty="0"/>
              <a:t> and </a:t>
            </a:r>
            <a:r>
              <a:rPr lang="en-US" sz="2800" b="1" dirty="0"/>
              <a:t>hydrophilic</a:t>
            </a:r>
            <a:r>
              <a:rPr lang="en-US" sz="2800" dirty="0"/>
              <a:t> regions - surround grease and oils, effectively breaking them down into smaller particles that can be more easily removed. </a:t>
            </a:r>
          </a:p>
          <a:p>
            <a:pPr marL="457200" indent="-457200" algn="just">
              <a:lnSpc>
                <a:spcPct val="150000"/>
              </a:lnSpc>
              <a:buFont typeface="Courier New" pitchFamily="49" charset="0"/>
              <a:buChar char="o"/>
            </a:pPr>
            <a:r>
              <a:rPr lang="en-US" sz="2800" dirty="0"/>
              <a:t>When a lipid-based cleaning agent is applied to a surface, the </a:t>
            </a:r>
            <a:r>
              <a:rPr lang="en-US" sz="2800" b="1" dirty="0"/>
              <a:t>hydrophobic</a:t>
            </a:r>
            <a:r>
              <a:rPr lang="en-US" sz="2800" dirty="0"/>
              <a:t> regions of the lipid molecule </a:t>
            </a:r>
            <a:r>
              <a:rPr lang="en-US" sz="2800" b="1" dirty="0"/>
              <a:t>surround and dissolve grease and oils</a:t>
            </a:r>
            <a:r>
              <a:rPr lang="en-US" sz="2800" dirty="0"/>
              <a:t>, while the </a:t>
            </a:r>
            <a:r>
              <a:rPr lang="en-US" sz="2800" b="1" dirty="0"/>
              <a:t>hydrophilic</a:t>
            </a:r>
            <a:r>
              <a:rPr lang="en-US" sz="2800" dirty="0"/>
              <a:t> regions </a:t>
            </a:r>
            <a:r>
              <a:rPr lang="en-US" sz="2800" b="1" dirty="0"/>
              <a:t>interact with water</a:t>
            </a:r>
            <a:r>
              <a:rPr lang="en-US" sz="2800" dirty="0"/>
              <a:t>, allowing the mixture to be rinsed away. </a:t>
            </a:r>
            <a:endParaRPr lang="en-IN" sz="2800" dirty="0"/>
          </a:p>
        </p:txBody>
      </p:sp>
    </p:spTree>
    <p:extLst>
      <p:ext uri="{BB962C8B-B14F-4D97-AF65-F5344CB8AC3E}">
        <p14:creationId xmlns:p14="http://schemas.microsoft.com/office/powerpoint/2010/main" val="47368908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152400"/>
            <a:ext cx="8991600" cy="7201972"/>
          </a:xfrm>
          <a:prstGeom prst="rect">
            <a:avLst/>
          </a:prstGeom>
        </p:spPr>
        <p:txBody>
          <a:bodyPr wrap="square">
            <a:spAutoFit/>
          </a:bodyPr>
          <a:lstStyle/>
          <a:p>
            <a:pPr marL="457200" indent="-457200" algn="just">
              <a:lnSpc>
                <a:spcPct val="150000"/>
              </a:lnSpc>
              <a:buFont typeface="Courier New" pitchFamily="49" charset="0"/>
              <a:buChar char="o"/>
            </a:pPr>
            <a:r>
              <a:rPr lang="en-US" sz="2800" dirty="0"/>
              <a:t>The combination of the lipid and water also forms an emulsion- helps to suspend and remove dirt and debris. </a:t>
            </a:r>
          </a:p>
          <a:p>
            <a:pPr marL="457200" indent="-457200" algn="just">
              <a:lnSpc>
                <a:spcPct val="150000"/>
              </a:lnSpc>
              <a:buFont typeface="Courier New" pitchFamily="49" charset="0"/>
              <a:buChar char="o"/>
            </a:pPr>
            <a:r>
              <a:rPr lang="en-US" sz="2800" dirty="0"/>
              <a:t>In addition, some lipids have additional properties, such as </a:t>
            </a:r>
            <a:r>
              <a:rPr lang="en-US" sz="2800" b="1" dirty="0"/>
              <a:t>foaming or lathering capabilities</a:t>
            </a:r>
            <a:r>
              <a:rPr lang="en-US" sz="2800" dirty="0"/>
              <a:t>, - enhance their cleaning performance. </a:t>
            </a:r>
          </a:p>
          <a:p>
            <a:pPr marL="457200" indent="-457200" algn="just">
              <a:lnSpc>
                <a:spcPct val="150000"/>
              </a:lnSpc>
              <a:buFont typeface="Courier New" pitchFamily="49" charset="0"/>
              <a:buChar char="o"/>
            </a:pPr>
            <a:r>
              <a:rPr lang="en-US" sz="2800" dirty="0"/>
              <a:t>For example, fatty alcohols can be used as foaming agents in shampoos, while soap is known for its lathering properties. </a:t>
            </a:r>
          </a:p>
          <a:p>
            <a:pPr marL="457200" indent="-457200" algn="just">
              <a:lnSpc>
                <a:spcPct val="150000"/>
              </a:lnSpc>
              <a:buFont typeface="Courier New" pitchFamily="49" charset="0"/>
              <a:buChar char="o"/>
            </a:pPr>
            <a:r>
              <a:rPr lang="en-US" sz="2800" dirty="0"/>
              <a:t>These additional properties can help to loosen and remove dirt and debris, making the cleaning process more effective.</a:t>
            </a:r>
            <a:endParaRPr lang="en-IN" sz="2800" dirty="0"/>
          </a:p>
        </p:txBody>
      </p:sp>
    </p:spTree>
    <p:extLst>
      <p:ext uri="{BB962C8B-B14F-4D97-AF65-F5344CB8AC3E}">
        <p14:creationId xmlns:p14="http://schemas.microsoft.com/office/powerpoint/2010/main" val="18324767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7799384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914400"/>
            <a:ext cx="7772400" cy="1524000"/>
          </a:xfrm>
          <a:ln>
            <a:solidFill>
              <a:schemeClr val="tx1"/>
            </a:solidFill>
          </a:ln>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Black" pitchFamily="34" charset="0"/>
              </a:rPr>
              <a:t>NUCLEIC</a:t>
            </a:r>
            <a:r>
              <a:rPr 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Black" pitchFamily="34" charset="0"/>
              </a:rPr>
              <a:t> </a:t>
            </a: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Black" pitchFamily="34" charset="0"/>
              </a:rPr>
              <a:t>ACIDS</a:t>
            </a:r>
            <a:endParaRPr lang="en-IN"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Black" pitchFamily="34" charset="0"/>
            </a:endParaRPr>
          </a:p>
        </p:txBody>
      </p:sp>
      <p:sp>
        <p:nvSpPr>
          <p:cNvPr id="3" name="Subtitle 2"/>
          <p:cNvSpPr>
            <a:spLocks noGrp="1"/>
          </p:cNvSpPr>
          <p:nvPr>
            <p:ph type="subTitle" idx="1"/>
          </p:nvPr>
        </p:nvSpPr>
        <p:spPr>
          <a:xfrm>
            <a:off x="7772400" y="5791200"/>
            <a:ext cx="2743200" cy="838200"/>
          </a:xfrm>
        </p:spPr>
        <p:txBody>
          <a:bodyPr>
            <a:normAutofit fontScale="70000" lnSpcReduction="20000"/>
          </a:bodyPr>
          <a:lstStyle/>
          <a:p>
            <a:r>
              <a:rPr lang="en-IN" dirty="0"/>
              <a:t>Pavithra K </a:t>
            </a:r>
          </a:p>
          <a:p>
            <a:r>
              <a:rPr lang="en-IN" dirty="0"/>
              <a:t>Assistant professor of Basic science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52448" y="2790495"/>
            <a:ext cx="4114800" cy="285355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8421" y="2790497"/>
            <a:ext cx="4495800" cy="2853559"/>
          </a:xfrm>
          <a:prstGeom prst="rect">
            <a:avLst/>
          </a:prstGeom>
        </p:spPr>
      </p:pic>
    </p:spTree>
    <p:extLst>
      <p:ext uri="{BB962C8B-B14F-4D97-AF65-F5344CB8AC3E}">
        <p14:creationId xmlns:p14="http://schemas.microsoft.com/office/powerpoint/2010/main" val="3418455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0"/>
            <a:ext cx="8915400" cy="6781800"/>
          </a:xfrm>
        </p:spPr>
        <p:txBody>
          <a:bodyPr>
            <a:noAutofit/>
          </a:bodyPr>
          <a:lstStyle/>
          <a:p>
            <a:pPr marL="400050" lvl="1" indent="0" algn="just">
              <a:lnSpc>
                <a:spcPct val="150000"/>
              </a:lnSpc>
              <a:buNone/>
            </a:pPr>
            <a:r>
              <a:rPr lang="en-US" b="1" dirty="0">
                <a:solidFill>
                  <a:srgbClr val="FF0000"/>
                </a:solidFill>
              </a:rPr>
              <a:t>NUCLEIC ACIDS</a:t>
            </a:r>
          </a:p>
          <a:p>
            <a:pPr marL="0" indent="0" algn="just">
              <a:lnSpc>
                <a:spcPct val="150000"/>
              </a:lnSpc>
              <a:buNone/>
            </a:pPr>
            <a:r>
              <a:rPr lang="en-US" dirty="0"/>
              <a:t>Nucleic acids are biopolymers that play a crucial role in the storage and transfer of genetic information in all living organisms. </a:t>
            </a:r>
          </a:p>
          <a:p>
            <a:pPr marL="0" indent="0" algn="just">
              <a:lnSpc>
                <a:spcPct val="150000"/>
              </a:lnSpc>
              <a:buNone/>
            </a:pPr>
            <a:r>
              <a:rPr lang="en-US" dirty="0"/>
              <a:t>Two types of nucleic acids</a:t>
            </a:r>
          </a:p>
          <a:p>
            <a:pPr marL="514350" indent="-514350" algn="just">
              <a:lnSpc>
                <a:spcPct val="150000"/>
              </a:lnSpc>
              <a:buFont typeface="+mj-lt"/>
              <a:buAutoNum type="arabicPeriod"/>
            </a:pPr>
            <a:r>
              <a:rPr lang="en-US" dirty="0">
                <a:solidFill>
                  <a:schemeClr val="accent3">
                    <a:lumMod val="75000"/>
                  </a:schemeClr>
                </a:solidFill>
              </a:rPr>
              <a:t>Deoxyribonucleic acid (DNA): </a:t>
            </a:r>
            <a:r>
              <a:rPr lang="en-US" dirty="0"/>
              <a:t>DNA is the genetic material that carries the instructions for the development, functioning, and reproduction of all living organisms.</a:t>
            </a:r>
          </a:p>
        </p:txBody>
      </p:sp>
    </p:spTree>
    <p:extLst>
      <p:ext uri="{BB962C8B-B14F-4D97-AF65-F5344CB8AC3E}">
        <p14:creationId xmlns:p14="http://schemas.microsoft.com/office/powerpoint/2010/main" val="30986366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48145" t="22797" r="2785" b="11748"/>
          <a:stretch/>
        </p:blipFill>
        <p:spPr>
          <a:xfrm>
            <a:off x="4724402" y="-18393"/>
            <a:ext cx="5943599" cy="6839607"/>
          </a:xfr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8268" r="69483" b="850"/>
          <a:stretch/>
        </p:blipFill>
        <p:spPr>
          <a:xfrm>
            <a:off x="1828801" y="1968063"/>
            <a:ext cx="2790497" cy="4678829"/>
          </a:xfrm>
          <a:prstGeom prst="rect">
            <a:avLst/>
          </a:prstGeom>
        </p:spPr>
      </p:pic>
      <p:sp>
        <p:nvSpPr>
          <p:cNvPr id="7" name="TextBox 6"/>
          <p:cNvSpPr txBox="1"/>
          <p:nvPr/>
        </p:nvSpPr>
        <p:spPr>
          <a:xfrm>
            <a:off x="1524000" y="712406"/>
            <a:ext cx="3200400" cy="523220"/>
          </a:xfrm>
          <a:prstGeom prst="rect">
            <a:avLst/>
          </a:prstGeom>
          <a:noFill/>
        </p:spPr>
        <p:txBody>
          <a:bodyPr wrap="square" rtlCol="0">
            <a:spAutoFit/>
          </a:bodyPr>
          <a:lstStyle/>
          <a:p>
            <a:r>
              <a:rPr lang="en-IN" sz="2800" dirty="0"/>
              <a:t>STRUCTURE OF DNA</a:t>
            </a:r>
          </a:p>
        </p:txBody>
      </p:sp>
    </p:spTree>
    <p:extLst>
      <p:ext uri="{BB962C8B-B14F-4D97-AF65-F5344CB8AC3E}">
        <p14:creationId xmlns:p14="http://schemas.microsoft.com/office/powerpoint/2010/main" val="405379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6BD14FE-FA37-42F1-8451-C60DBD754DB7}"/>
              </a:ext>
            </a:extLst>
          </p:cNvPr>
          <p:cNvSpPr/>
          <p:nvPr/>
        </p:nvSpPr>
        <p:spPr>
          <a:xfrm>
            <a:off x="1524000" y="0"/>
            <a:ext cx="9144000" cy="6801862"/>
          </a:xfrm>
          <a:prstGeom prst="rect">
            <a:avLst/>
          </a:prstGeom>
        </p:spPr>
        <p:txBody>
          <a:bodyPr wrap="square">
            <a:spAutoFit/>
          </a:bodyPr>
          <a:lstStyle/>
          <a:p>
            <a:pPr algn="just"/>
            <a:r>
              <a:rPr lang="en-US" sz="2000" b="1" dirty="0">
                <a:solidFill>
                  <a:srgbClr val="000000"/>
                </a:solidFill>
                <a:latin typeface="-apple-system"/>
              </a:rPr>
              <a:t>Structure and Composition of DNA (Deoxyribonucleic acid)</a:t>
            </a:r>
            <a:endParaRPr lang="en-US" sz="2000" dirty="0">
              <a:solidFill>
                <a:srgbClr val="000000"/>
              </a:solidFill>
              <a:latin typeface="-apple-system"/>
            </a:endParaRPr>
          </a:p>
          <a:p>
            <a:pPr marL="342900" indent="-342900" algn="just">
              <a:buFont typeface="+mj-lt"/>
              <a:buAutoNum type="arabicPeriod"/>
            </a:pPr>
            <a:r>
              <a:rPr lang="en-US" sz="2000" dirty="0">
                <a:solidFill>
                  <a:srgbClr val="000000"/>
                </a:solidFill>
                <a:latin typeface="-apple-system"/>
              </a:rPr>
              <a:t>DNA is made of two helical chains that intertwine with each other to form a double helix. The most widely accepted structure of DNA is right-handed helix DNA also known as the B-form of DNA, which is 1.9 nm in diameter.</a:t>
            </a:r>
          </a:p>
          <a:p>
            <a:pPr marL="342900" indent="-342900" algn="just">
              <a:buFont typeface="+mj-lt"/>
              <a:buAutoNum type="arabicPeriod"/>
            </a:pPr>
            <a:r>
              <a:rPr lang="en-US" sz="2000" dirty="0">
                <a:solidFill>
                  <a:srgbClr val="000000"/>
                </a:solidFill>
                <a:latin typeface="-apple-system"/>
              </a:rPr>
              <a:t>These helical chains run anti-parallel to each other, one polynucleotide chain runs from 5’ to 3’ and the other polynucleotide chain runs from 3’ to 5’. These chains are connected to each other via nitrogen bases through hydrogen bonding.</a:t>
            </a:r>
          </a:p>
          <a:p>
            <a:pPr marL="342900" indent="-342900" algn="just">
              <a:buFont typeface="+mj-lt"/>
              <a:buAutoNum type="arabicPeriod"/>
            </a:pPr>
            <a:r>
              <a:rPr lang="en-US" sz="2000" dirty="0">
                <a:solidFill>
                  <a:srgbClr val="000000"/>
                </a:solidFill>
                <a:latin typeface="-apple-system"/>
              </a:rPr>
              <a:t>Hydrogen bonding contributes to the specificity of base pairing. Adenine preferentially pairs with Thymine through 2 hydrogen bonds. Similarly, Cytosine preferentially pairs with Guanine through 3 hydrogen bonds. </a:t>
            </a:r>
          </a:p>
          <a:p>
            <a:pPr marL="342900" indent="-342900" algn="just">
              <a:buFont typeface="+mj-lt"/>
              <a:buAutoNum type="arabicPeriod"/>
            </a:pPr>
            <a:r>
              <a:rPr lang="en-US" sz="2000" dirty="0">
                <a:solidFill>
                  <a:srgbClr val="000000"/>
                </a:solidFill>
                <a:latin typeface="-apple-system"/>
              </a:rPr>
              <a:t>We can even say, that the base pairing happens when Pyrimidines pair with Purines because Pyrimidines refers to the single ring structure of Thymine and Cytosine and Purines refers to double-ring structures, Adenine and Thymine.</a:t>
            </a:r>
          </a:p>
          <a:p>
            <a:pPr marL="342900" indent="-342900" algn="just">
              <a:buFont typeface="+mj-lt"/>
              <a:buAutoNum type="arabicPeriod"/>
            </a:pPr>
            <a:r>
              <a:rPr lang="en-US" sz="2000" dirty="0">
                <a:solidFill>
                  <a:srgbClr val="000000"/>
                </a:solidFill>
                <a:latin typeface="-apple-system"/>
              </a:rPr>
              <a:t>The base pairs A = T and G ≡ C are known as complementary base pairs. Hence, the amount of Adenine is equal to the amount of Thymine, and the amount of Guanine is equal to the amount of Cytosine.</a:t>
            </a:r>
          </a:p>
          <a:p>
            <a:pPr marL="342900" indent="-342900" algn="just">
              <a:buFont typeface="+mj-lt"/>
              <a:buAutoNum type="arabicPeriod"/>
            </a:pPr>
            <a:r>
              <a:rPr lang="en-US" sz="2000" dirty="0">
                <a:solidFill>
                  <a:srgbClr val="000000"/>
                </a:solidFill>
                <a:latin typeface="-apple-system"/>
              </a:rPr>
              <a:t>The geometry of the DNA is influenced by the distance between the backbones and the angle at which the nitrogenous bases are attached to the backbone.</a:t>
            </a:r>
          </a:p>
          <a:p>
            <a:pPr marL="342900" indent="-342900" algn="just">
              <a:buFont typeface="+mj-lt"/>
              <a:buAutoNum type="arabicPeriod"/>
            </a:pPr>
            <a:r>
              <a:rPr lang="en-US" sz="2000" dirty="0">
                <a:solidFill>
                  <a:srgbClr val="000000"/>
                </a:solidFill>
                <a:latin typeface="-apple-system"/>
              </a:rPr>
              <a:t>The major groove occurs when the backbones are far apart from each other and the minor groove occurs when they are close.</a:t>
            </a:r>
          </a:p>
          <a:p>
            <a:pPr marL="342900" indent="-342900" algn="just">
              <a:buFont typeface="+mj-lt"/>
              <a:buAutoNum type="arabicPeriod"/>
            </a:pPr>
            <a:r>
              <a:rPr lang="en-US" sz="2000" dirty="0">
                <a:solidFill>
                  <a:srgbClr val="000000"/>
                </a:solidFill>
                <a:latin typeface="-apple-system"/>
              </a:rPr>
              <a:t>The regularity of the helical structure forms two repeating and alternating spaces: Major and Minor grooves.</a:t>
            </a:r>
          </a:p>
        </p:txBody>
      </p:sp>
    </p:spTree>
    <p:extLst>
      <p:ext uri="{BB962C8B-B14F-4D97-AF65-F5344CB8AC3E}">
        <p14:creationId xmlns:p14="http://schemas.microsoft.com/office/powerpoint/2010/main" val="4338074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15FE44-9DF1-480B-A5BC-A0FA9F523806}"/>
              </a:ext>
            </a:extLst>
          </p:cNvPr>
          <p:cNvSpPr/>
          <p:nvPr/>
        </p:nvSpPr>
        <p:spPr>
          <a:xfrm>
            <a:off x="1524000" y="0"/>
            <a:ext cx="9144000" cy="2862322"/>
          </a:xfrm>
          <a:prstGeom prst="rect">
            <a:avLst/>
          </a:prstGeom>
        </p:spPr>
        <p:txBody>
          <a:bodyPr wrap="square">
            <a:spAutoFit/>
          </a:bodyPr>
          <a:lstStyle/>
          <a:p>
            <a:pPr marL="342900" indent="-342900" algn="just">
              <a:buFont typeface="+mj-lt"/>
              <a:buAutoNum type="arabicPeriod" startAt="9"/>
            </a:pPr>
            <a:r>
              <a:rPr lang="en-US" sz="2000" dirty="0">
                <a:solidFill>
                  <a:srgbClr val="000000"/>
                </a:solidFill>
                <a:latin typeface="-apple-system"/>
              </a:rPr>
              <a:t>These groves act on base-pair recognition and binding sites for protein, the major groove contains base pair specific information while the minor groove is largely base-pair nonspecific, caused by protein interactions in the grooves</a:t>
            </a:r>
          </a:p>
          <a:p>
            <a:pPr marL="342900" indent="-342900" algn="just">
              <a:buFont typeface="+mj-lt"/>
              <a:buAutoNum type="arabicPeriod" startAt="9"/>
            </a:pPr>
            <a:r>
              <a:rPr lang="en-US" sz="2000" dirty="0">
                <a:solidFill>
                  <a:srgbClr val="000000"/>
                </a:solidFill>
                <a:latin typeface="-apple-system"/>
              </a:rPr>
              <a:t>The double-helical structure of DNA is highly regular, each turn of the helix measures approximately 10 base pairs. In addition to hydrogen bonding in between the bases, the staging of bases also stabilizes the structure, there are pi-pi interactions between staged aromatic rings of the bases.</a:t>
            </a:r>
          </a:p>
          <a:p>
            <a:pPr marL="342900" indent="-342900" algn="just">
              <a:buFont typeface="+mj-lt"/>
              <a:buAutoNum type="arabicPeriod" startAt="9"/>
            </a:pPr>
            <a:r>
              <a:rPr lang="en-US" sz="2000" dirty="0">
                <a:solidFill>
                  <a:srgbClr val="000000"/>
                </a:solidFill>
                <a:latin typeface="-apple-system"/>
              </a:rPr>
              <a:t>The distance between each turn is 3.4 nm.</a:t>
            </a:r>
          </a:p>
          <a:p>
            <a:pPr marL="342900" indent="-342900" algn="just">
              <a:buFont typeface="+mj-lt"/>
              <a:buAutoNum type="arabicPeriod" startAt="9"/>
            </a:pPr>
            <a:r>
              <a:rPr lang="en-US" sz="2000" dirty="0">
                <a:solidFill>
                  <a:srgbClr val="000000"/>
                </a:solidFill>
                <a:latin typeface="-apple-system"/>
              </a:rPr>
              <a:t>The major groove is 2.2 nm wide and the minor groove is 1.1 nm wide.</a:t>
            </a:r>
          </a:p>
        </p:txBody>
      </p:sp>
    </p:spTree>
    <p:extLst>
      <p:ext uri="{BB962C8B-B14F-4D97-AF65-F5344CB8AC3E}">
        <p14:creationId xmlns:p14="http://schemas.microsoft.com/office/powerpoint/2010/main" val="104220009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A8C4389-A4AE-43DD-9121-8D20373207E2}"/>
              </a:ext>
            </a:extLst>
          </p:cNvPr>
          <p:cNvSpPr/>
          <p:nvPr/>
        </p:nvSpPr>
        <p:spPr>
          <a:xfrm>
            <a:off x="1507435" y="33131"/>
            <a:ext cx="9008166" cy="6817251"/>
          </a:xfrm>
          <a:prstGeom prst="rect">
            <a:avLst/>
          </a:prstGeom>
        </p:spPr>
        <p:txBody>
          <a:bodyPr wrap="square">
            <a:spAutoFit/>
          </a:bodyPr>
          <a:lstStyle/>
          <a:p>
            <a:pPr algn="just"/>
            <a:r>
              <a:rPr lang="en-US" sz="2300" b="1" dirty="0">
                <a:solidFill>
                  <a:srgbClr val="000000"/>
                </a:solidFill>
                <a:latin typeface="-apple-system"/>
              </a:rPr>
              <a:t>Properties of DNA (Deoxyribonucleic acid)</a:t>
            </a:r>
            <a:endParaRPr lang="en-US" sz="2300" dirty="0">
              <a:solidFill>
                <a:srgbClr val="000000"/>
              </a:solidFill>
              <a:latin typeface="-apple-system"/>
            </a:endParaRPr>
          </a:p>
          <a:p>
            <a:pPr marL="457200" indent="-457200" algn="just">
              <a:buFont typeface="+mj-lt"/>
              <a:buAutoNum type="arabicPeriod"/>
            </a:pPr>
            <a:r>
              <a:rPr lang="en-US" sz="2300" dirty="0">
                <a:solidFill>
                  <a:srgbClr val="000000"/>
                </a:solidFill>
                <a:latin typeface="-apple-system"/>
              </a:rPr>
              <a:t>DNA is made up of two helical strands that are coiled around the same axis. If coiled from right it is known as right-handed helices DNA and if coiled from left then it is known as left-handed helices. However, the right-handed helices DNA is the most stable and thus the structure of it is to be referred to as the standard.</a:t>
            </a:r>
          </a:p>
          <a:p>
            <a:pPr marL="457200" indent="-457200" algn="just">
              <a:buFont typeface="+mj-lt"/>
              <a:buAutoNum type="arabicPeriod"/>
            </a:pPr>
            <a:r>
              <a:rPr lang="en-US" sz="2300" dirty="0">
                <a:solidFill>
                  <a:srgbClr val="000000"/>
                </a:solidFill>
                <a:latin typeface="-apple-system"/>
              </a:rPr>
              <a:t>The two chains of helices run antiparallel to each other. Thus, one strand runs 5’ to 3’ and another strand runs from 3’ to 5’.</a:t>
            </a:r>
          </a:p>
          <a:p>
            <a:pPr marL="457200" indent="-457200" algn="just">
              <a:buFont typeface="+mj-lt"/>
              <a:buAutoNum type="arabicPeriod"/>
            </a:pPr>
            <a:r>
              <a:rPr lang="en-US" sz="2300" dirty="0">
                <a:solidFill>
                  <a:srgbClr val="000000"/>
                </a:solidFill>
                <a:latin typeface="-apple-system"/>
              </a:rPr>
              <a:t>Both the strands denature on heating and can renature or say hybridize on cooling. However, the temperature on which these strands are separately permanently is referred to as melting temperature and varies according to the specific sequence of DNA.</a:t>
            </a:r>
          </a:p>
          <a:p>
            <a:pPr marL="457200" indent="-457200" algn="just">
              <a:buFont typeface="+mj-lt"/>
              <a:buAutoNum type="arabicPeriod"/>
            </a:pPr>
            <a:r>
              <a:rPr lang="en-US" sz="2300" dirty="0">
                <a:solidFill>
                  <a:srgbClr val="000000"/>
                </a:solidFill>
                <a:latin typeface="-apple-system"/>
              </a:rPr>
              <a:t>For instance, the region of higher concentration of C-G has a higher melting temperature cause these bases are bonded with three hydrogen bonds, which require more energy to break than the region of higher concentration A-T which are bonded only with two hydrogen bonds.</a:t>
            </a:r>
          </a:p>
          <a:p>
            <a:pPr marL="457200" indent="-457200" algn="just">
              <a:buFont typeface="+mj-lt"/>
              <a:buAutoNum type="arabicPeriod"/>
            </a:pPr>
            <a:r>
              <a:rPr lang="en-US" sz="2300" dirty="0">
                <a:solidFill>
                  <a:srgbClr val="000000"/>
                </a:solidFill>
                <a:latin typeface="-apple-system"/>
              </a:rPr>
              <a:t>These nitrogenous bases store genetic information and thus encode for amino acids which give rise to proteins.</a:t>
            </a:r>
          </a:p>
        </p:txBody>
      </p:sp>
    </p:spTree>
    <p:extLst>
      <p:ext uri="{BB962C8B-B14F-4D97-AF65-F5344CB8AC3E}">
        <p14:creationId xmlns:p14="http://schemas.microsoft.com/office/powerpoint/2010/main" val="31866583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EF404E-F1E0-485A-A870-9D74053C48D5}"/>
              </a:ext>
            </a:extLst>
          </p:cNvPr>
          <p:cNvSpPr/>
          <p:nvPr/>
        </p:nvSpPr>
        <p:spPr>
          <a:xfrm>
            <a:off x="1524000" y="-19878"/>
            <a:ext cx="9144000" cy="4339650"/>
          </a:xfrm>
          <a:prstGeom prst="rect">
            <a:avLst/>
          </a:prstGeom>
        </p:spPr>
        <p:txBody>
          <a:bodyPr wrap="square">
            <a:spAutoFit/>
          </a:bodyPr>
          <a:lstStyle/>
          <a:p>
            <a:pPr algn="just"/>
            <a:r>
              <a:rPr lang="en-US" sz="2300" b="1" dirty="0"/>
              <a:t>FUNCTION OF DNA</a:t>
            </a:r>
          </a:p>
          <a:p>
            <a:pPr marL="342900" indent="-342900" algn="just">
              <a:buFont typeface="Arial" panose="020B0604020202020204" pitchFamily="34" charset="0"/>
              <a:buChar char="•"/>
            </a:pPr>
            <a:r>
              <a:rPr lang="en-US" sz="2300" dirty="0"/>
              <a:t>DNA stores complete genetic information that requires to specify an organism.</a:t>
            </a:r>
          </a:p>
          <a:p>
            <a:pPr marL="342900" indent="-342900" algn="just">
              <a:buFont typeface="Arial" panose="020B0604020202020204" pitchFamily="34" charset="0"/>
              <a:buChar char="•"/>
            </a:pPr>
            <a:r>
              <a:rPr lang="en-US" sz="2300" dirty="0"/>
              <a:t>It is the source of information that is needed in order to synthesize cellular proteins, and other macromolecules required by an organism.</a:t>
            </a:r>
          </a:p>
          <a:p>
            <a:pPr marL="342900" indent="-342900" algn="just">
              <a:buFont typeface="Arial" panose="020B0604020202020204" pitchFamily="34" charset="0"/>
              <a:buChar char="•"/>
            </a:pPr>
            <a:r>
              <a:rPr lang="en-US" sz="2300" dirty="0"/>
              <a:t>It is responsible for identifying and determining the individuality of the given organism.</a:t>
            </a:r>
          </a:p>
          <a:p>
            <a:pPr marL="342900" indent="-342900" algn="just">
              <a:buFont typeface="Arial" panose="020B0604020202020204" pitchFamily="34" charset="0"/>
              <a:buChar char="•"/>
            </a:pPr>
            <a:r>
              <a:rPr lang="en-US" sz="2300" dirty="0"/>
              <a:t>It can also be taken as a targeted element during the diagnosis of a particular disease. </a:t>
            </a:r>
          </a:p>
          <a:p>
            <a:pPr marL="342900" indent="-342900" algn="just">
              <a:buFont typeface="Arial" panose="020B0604020202020204" pitchFamily="34" charset="0"/>
              <a:buChar char="•"/>
            </a:pPr>
            <a:r>
              <a:rPr lang="en-US" sz="2300" dirty="0"/>
              <a:t>It can replicate to give rise to two daughter cells and transfer one copy to the daughter cells during cell division. Thus, maintaining the genetic materials from generation to generation.</a:t>
            </a:r>
          </a:p>
        </p:txBody>
      </p:sp>
    </p:spTree>
    <p:extLst>
      <p:ext uri="{BB962C8B-B14F-4D97-AF65-F5344CB8AC3E}">
        <p14:creationId xmlns:p14="http://schemas.microsoft.com/office/powerpoint/2010/main" val="317761094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00200" y="152400"/>
            <a:ext cx="9067800" cy="2677656"/>
          </a:xfrm>
          <a:prstGeom prst="rect">
            <a:avLst/>
          </a:prstGeom>
        </p:spPr>
        <p:txBody>
          <a:bodyPr wrap="square">
            <a:spAutoFit/>
          </a:bodyPr>
          <a:lstStyle/>
          <a:p>
            <a:pPr marL="514350" indent="-514350" algn="just">
              <a:lnSpc>
                <a:spcPct val="150000"/>
              </a:lnSpc>
              <a:buFont typeface="+mj-lt"/>
              <a:buAutoNum type="arabicPeriod" startAt="2"/>
            </a:pPr>
            <a:r>
              <a:rPr lang="en-US" sz="2800" dirty="0">
                <a:solidFill>
                  <a:schemeClr val="accent3">
                    <a:lumMod val="75000"/>
                  </a:schemeClr>
                </a:solidFill>
              </a:rPr>
              <a:t>Ribonucleic acid (RNA): </a:t>
            </a:r>
            <a:r>
              <a:rPr lang="en-US" sz="2800" dirty="0"/>
              <a:t>RNA is involved in the expression of the genetic information stored in DNA by carrying the message from the DNA to the ribosome, where it is used to build proteins.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0566" y="2095310"/>
            <a:ext cx="4027944" cy="4762690"/>
          </a:xfrm>
          <a:prstGeom prst="rect">
            <a:avLst/>
          </a:prstGeom>
        </p:spPr>
      </p:pic>
      <p:sp>
        <p:nvSpPr>
          <p:cNvPr id="6" name="TextBox 5"/>
          <p:cNvSpPr txBox="1"/>
          <p:nvPr/>
        </p:nvSpPr>
        <p:spPr>
          <a:xfrm>
            <a:off x="1752600" y="2763243"/>
            <a:ext cx="5181600" cy="3970318"/>
          </a:xfrm>
          <a:prstGeom prst="rect">
            <a:avLst/>
          </a:prstGeom>
          <a:noFill/>
        </p:spPr>
        <p:txBody>
          <a:bodyPr wrap="square" rtlCol="0">
            <a:spAutoFit/>
          </a:bodyPr>
          <a:lstStyle/>
          <a:p>
            <a:pPr marL="457200" indent="-457200" algn="just">
              <a:lnSpc>
                <a:spcPct val="150000"/>
              </a:lnSpc>
              <a:buFont typeface="Arial" pitchFamily="34" charset="0"/>
              <a:buChar char="•"/>
            </a:pPr>
            <a:r>
              <a:rPr lang="en-US" sz="2800" dirty="0"/>
              <a:t>RNA is a single-stranded molecule </a:t>
            </a:r>
          </a:p>
          <a:p>
            <a:pPr marL="457200" indent="-457200" algn="just">
              <a:lnSpc>
                <a:spcPct val="150000"/>
              </a:lnSpc>
              <a:buFont typeface="Arial" pitchFamily="34" charset="0"/>
              <a:buChar char="•"/>
            </a:pPr>
            <a:r>
              <a:rPr lang="en-US" sz="2800" dirty="0"/>
              <a:t>Sugar(ribose) + Phosphate group  + Nitrogenous base </a:t>
            </a:r>
          </a:p>
          <a:p>
            <a:pPr marL="457200" indent="-457200" algn="just">
              <a:lnSpc>
                <a:spcPct val="150000"/>
              </a:lnSpc>
              <a:buFont typeface="Arial" pitchFamily="34" charset="0"/>
              <a:buChar char="•"/>
            </a:pPr>
            <a:r>
              <a:rPr lang="en-US" sz="2800" dirty="0"/>
              <a:t>Adenine, Guanine, Cytosine, and Uracil). </a:t>
            </a:r>
            <a:endParaRPr lang="en-IN" sz="3600"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80690" t="70776"/>
          <a:stretch/>
        </p:blipFill>
        <p:spPr>
          <a:xfrm>
            <a:off x="9144001" y="4945270"/>
            <a:ext cx="1263869" cy="1912731"/>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78854" t="40078" r="2508" b="45777"/>
          <a:stretch/>
        </p:blipFill>
        <p:spPr>
          <a:xfrm>
            <a:off x="7024456" y="2297752"/>
            <a:ext cx="1825380" cy="1263723"/>
          </a:xfrm>
          <a:prstGeom prst="rect">
            <a:avLst/>
          </a:prstGeom>
        </p:spPr>
      </p:pic>
    </p:spTree>
    <p:extLst>
      <p:ext uri="{BB962C8B-B14F-4D97-AF65-F5344CB8AC3E}">
        <p14:creationId xmlns:p14="http://schemas.microsoft.com/office/powerpoint/2010/main" val="28981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A60C0E-48AC-4BC4-98A6-AFD6B41A9D35}"/>
              </a:ext>
            </a:extLst>
          </p:cNvPr>
          <p:cNvSpPr/>
          <p:nvPr/>
        </p:nvSpPr>
        <p:spPr>
          <a:xfrm>
            <a:off x="1524000" y="152400"/>
            <a:ext cx="9087678" cy="6092488"/>
          </a:xfrm>
          <a:prstGeom prst="rect">
            <a:avLst/>
          </a:prstGeom>
        </p:spPr>
        <p:txBody>
          <a:bodyPr wrap="square">
            <a:spAutoFit/>
          </a:bodyPr>
          <a:lstStyle/>
          <a:p>
            <a:r>
              <a:rPr lang="en-IN" sz="2000" b="1" dirty="0"/>
              <a:t>Structure of RNA</a:t>
            </a:r>
            <a:endParaRPr lang="en-IN" sz="2000" dirty="0"/>
          </a:p>
          <a:p>
            <a:pPr marL="285750" indent="-285750">
              <a:buFont typeface="Arial" panose="020B0604020202020204" pitchFamily="34" charset="0"/>
              <a:buChar char="•"/>
            </a:pPr>
            <a:endParaRPr lang="en-US" sz="2000" dirty="0">
              <a:solidFill>
                <a:srgbClr val="000000"/>
              </a:solidFill>
              <a:latin typeface="-apple-system"/>
            </a:endParaRPr>
          </a:p>
          <a:p>
            <a:pPr marL="285750" indent="-285750">
              <a:buFont typeface="Arial" panose="020B0604020202020204" pitchFamily="34" charset="0"/>
              <a:buChar char="•"/>
            </a:pPr>
            <a:r>
              <a:rPr lang="en-US" sz="2000" dirty="0">
                <a:solidFill>
                  <a:srgbClr val="000000"/>
                </a:solidFill>
                <a:latin typeface="-apple-system"/>
              </a:rPr>
              <a:t>RNA is a typical single-stranded biopolymer of ribonucleotides bonded with each other via a phosphodiester bond.</a:t>
            </a:r>
          </a:p>
          <a:p>
            <a:pPr marL="285750" indent="-285750">
              <a:buFont typeface="Arial" panose="020B0604020202020204" pitchFamily="34" charset="0"/>
              <a:buChar char="•"/>
            </a:pPr>
            <a:r>
              <a:rPr lang="en-US" sz="2000" dirty="0">
                <a:solidFill>
                  <a:srgbClr val="000000"/>
                </a:solidFill>
                <a:latin typeface="-apple-system"/>
              </a:rPr>
              <a:t>An RNA strand is synthesized in the 5’ to 3’ direction from a locally single-stranded region of DNA.</a:t>
            </a:r>
          </a:p>
          <a:p>
            <a:pPr marL="285750" indent="-285750">
              <a:buFont typeface="Arial" panose="020B0604020202020204" pitchFamily="34" charset="0"/>
              <a:buChar char="•"/>
            </a:pPr>
            <a:r>
              <a:rPr lang="en-US" sz="2000" dirty="0">
                <a:solidFill>
                  <a:srgbClr val="000000"/>
                </a:solidFill>
                <a:latin typeface="-apple-system"/>
              </a:rPr>
              <a:t>It has ribose sugars that are attached to four bases: Adenine, Guanine, Uracil, and Cytosine. Ribose sugar has an extra OH- group in 2’ Carbon as compared to deoxyribose sugar in DNA.</a:t>
            </a:r>
          </a:p>
          <a:p>
            <a:pPr marL="285750" indent="-285750">
              <a:buFont typeface="Arial" panose="020B0604020202020204" pitchFamily="34" charset="0"/>
              <a:buChar char="•"/>
            </a:pPr>
            <a:r>
              <a:rPr lang="en-US" sz="2000" dirty="0">
                <a:solidFill>
                  <a:srgbClr val="000000"/>
                </a:solidFill>
                <a:latin typeface="-apple-system"/>
              </a:rPr>
              <a:t>This extra OH- group in RNA, has led them to be synthesized for short-term functions.</a:t>
            </a:r>
          </a:p>
          <a:p>
            <a:pPr marL="285750" indent="-285750">
              <a:buFont typeface="Arial" panose="020B0604020202020204" pitchFamily="34" charset="0"/>
              <a:buChar char="•"/>
            </a:pPr>
            <a:r>
              <a:rPr lang="en-US" sz="2000" dirty="0">
                <a:solidFill>
                  <a:srgbClr val="000000"/>
                </a:solidFill>
                <a:latin typeface="-apple-system"/>
              </a:rPr>
              <a:t>The three-dimensional structure of RNA is critical to its stability and function.</a:t>
            </a:r>
          </a:p>
          <a:p>
            <a:pPr marL="285750" indent="-285750">
              <a:buFont typeface="Arial" panose="020B0604020202020204" pitchFamily="34" charset="0"/>
              <a:buChar char="•"/>
            </a:pPr>
            <a:r>
              <a:rPr lang="en-US" sz="2000" dirty="0">
                <a:solidFill>
                  <a:srgbClr val="000000"/>
                </a:solidFill>
                <a:latin typeface="-apple-system"/>
              </a:rPr>
              <a:t>RNA being a single-stranded molecule can form a complex structure by allowing its ribose sugars and bases to be modified on the action of cellular enzymes (that attach chemical groups), to perform different functions.</a:t>
            </a:r>
          </a:p>
          <a:p>
            <a:pPr marL="285750" indent="-285750">
              <a:buFont typeface="Arial" panose="020B0604020202020204" pitchFamily="34" charset="0"/>
              <a:buChar char="•"/>
            </a:pPr>
            <a:r>
              <a:rPr lang="en-US" sz="2000" dirty="0">
                <a:solidFill>
                  <a:srgbClr val="000000"/>
                </a:solidFill>
                <a:latin typeface="-apple-system"/>
              </a:rPr>
              <a:t>They are even capable of folding on themselves and showing intramolecular hydrogen bonding between complementary strands, making it a double-stranded molecule to exhibit specific function.</a:t>
            </a:r>
            <a:br>
              <a:rPr lang="en-US" sz="2000" dirty="0">
                <a:solidFill>
                  <a:srgbClr val="000000"/>
                </a:solidFill>
                <a:latin typeface="-apple-system"/>
              </a:rPr>
            </a:br>
            <a:endParaRPr lang="en-IN" sz="2000" dirty="0"/>
          </a:p>
        </p:txBody>
      </p:sp>
    </p:spTree>
    <p:extLst>
      <p:ext uri="{BB962C8B-B14F-4D97-AF65-F5344CB8AC3E}">
        <p14:creationId xmlns:p14="http://schemas.microsoft.com/office/powerpoint/2010/main" val="4350041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26699A-AD68-4671-978C-4438FF896175}"/>
              </a:ext>
            </a:extLst>
          </p:cNvPr>
          <p:cNvSpPr/>
          <p:nvPr/>
        </p:nvSpPr>
        <p:spPr>
          <a:xfrm>
            <a:off x="1524000" y="76201"/>
            <a:ext cx="9067800" cy="5847755"/>
          </a:xfrm>
          <a:prstGeom prst="rect">
            <a:avLst/>
          </a:prstGeom>
        </p:spPr>
        <p:txBody>
          <a:bodyPr wrap="square">
            <a:spAutoFit/>
          </a:bodyPr>
          <a:lstStyle/>
          <a:p>
            <a:pPr algn="just"/>
            <a:r>
              <a:rPr lang="en-US" sz="2200" b="1" dirty="0">
                <a:solidFill>
                  <a:srgbClr val="000000"/>
                </a:solidFill>
                <a:latin typeface="-apple-system"/>
              </a:rPr>
              <a:t>Properties of RNA</a:t>
            </a:r>
            <a:endParaRPr lang="en-US" sz="2200" dirty="0">
              <a:solidFill>
                <a:srgbClr val="000000"/>
              </a:solidFill>
              <a:latin typeface="-apple-system"/>
            </a:endParaRPr>
          </a:p>
          <a:p>
            <a:pPr marL="285750" indent="-285750" algn="just">
              <a:buFont typeface="Arial" panose="020B0604020202020204" pitchFamily="34" charset="0"/>
              <a:buChar char="•"/>
            </a:pPr>
            <a:r>
              <a:rPr lang="en-US" sz="2200" dirty="0">
                <a:solidFill>
                  <a:srgbClr val="000000"/>
                </a:solidFill>
                <a:latin typeface="-apple-system"/>
              </a:rPr>
              <a:t>RNA is a single-stranded molecule and not a double helix, one of the consequences of this, is that RNA can form a variety of three-dimensional molecular complexes than DNA.</a:t>
            </a:r>
          </a:p>
          <a:p>
            <a:pPr marL="285750" indent="-285750" algn="just">
              <a:buFont typeface="Arial" panose="020B0604020202020204" pitchFamily="34" charset="0"/>
              <a:buChar char="•"/>
            </a:pPr>
            <a:r>
              <a:rPr lang="en-US" sz="2200" dirty="0">
                <a:solidFill>
                  <a:srgbClr val="000000"/>
                </a:solidFill>
                <a:latin typeface="-apple-system"/>
              </a:rPr>
              <a:t>RNA has ribose sugar in its nucleotides, rather than deoxyribose. These two sugars differ from each other in the presence or absence of an Oxygen atom.</a:t>
            </a:r>
          </a:p>
          <a:p>
            <a:pPr marL="285750" indent="-285750" algn="just">
              <a:buFont typeface="Arial" panose="020B0604020202020204" pitchFamily="34" charset="0"/>
              <a:buChar char="•"/>
            </a:pPr>
            <a:r>
              <a:rPr lang="en-US" sz="2200" dirty="0">
                <a:solidFill>
                  <a:srgbClr val="000000"/>
                </a:solidFill>
                <a:latin typeface="-apple-system"/>
              </a:rPr>
              <a:t>Ribose sugar is also a cyclical structure consisting of 5 Carbon and one Oxygen just like DNA. But the major difference is the presence of extra OH group in 2’ Carbon of ribose which is absent in deoxyribose sugar. </a:t>
            </a:r>
          </a:p>
          <a:p>
            <a:pPr marL="285750" indent="-285750" algn="just">
              <a:buFont typeface="Arial" panose="020B0604020202020204" pitchFamily="34" charset="0"/>
              <a:buChar char="•"/>
            </a:pPr>
            <a:r>
              <a:rPr lang="en-US" sz="2200" dirty="0">
                <a:solidFill>
                  <a:srgbClr val="000000"/>
                </a:solidFill>
                <a:latin typeface="-apple-system"/>
              </a:rPr>
              <a:t>The OH group in 2’ Carbon makes the RNA molecule prone to hydrolysis.</a:t>
            </a:r>
          </a:p>
          <a:p>
            <a:pPr marL="285750" indent="-285750" algn="just">
              <a:buFont typeface="Arial" panose="020B0604020202020204" pitchFamily="34" charset="0"/>
              <a:buChar char="•"/>
            </a:pPr>
            <a:r>
              <a:rPr lang="en-US" sz="2200" dirty="0">
                <a:solidFill>
                  <a:srgbClr val="000000"/>
                </a:solidFill>
                <a:latin typeface="-apple-system"/>
              </a:rPr>
              <a:t>Some studies have also concluded that this chemical liability of RNA due to extra OH- the group has led to DNA being the genetic storehouse as it lacks OH group in 2’Carbon making it more stable to hold information.</a:t>
            </a:r>
          </a:p>
          <a:p>
            <a:pPr marL="285750" indent="-285750" algn="just">
              <a:buFont typeface="Arial" panose="020B0604020202020204" pitchFamily="34" charset="0"/>
              <a:buChar char="•"/>
            </a:pPr>
            <a:r>
              <a:rPr lang="en-US" sz="2200" dirty="0">
                <a:solidFill>
                  <a:srgbClr val="000000"/>
                </a:solidFill>
                <a:latin typeface="-apple-system"/>
              </a:rPr>
              <a:t>RNA nucleotides carry the nitrogenous bases, Purines, and Pyrimidines. But in RNA in place of Pyrimidine Thymine, Uracil is present which too forms hydrogen bonding with Adenine just as Thymine does in DNA molecule.</a:t>
            </a:r>
          </a:p>
        </p:txBody>
      </p:sp>
    </p:spTree>
    <p:extLst>
      <p:ext uri="{BB962C8B-B14F-4D97-AF65-F5344CB8AC3E}">
        <p14:creationId xmlns:p14="http://schemas.microsoft.com/office/powerpoint/2010/main" val="31819527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9C5763-875D-46DC-8AA5-2E8618096E0B}"/>
              </a:ext>
            </a:extLst>
          </p:cNvPr>
          <p:cNvSpPr/>
          <p:nvPr/>
        </p:nvSpPr>
        <p:spPr>
          <a:xfrm>
            <a:off x="337625" y="152401"/>
            <a:ext cx="11338560" cy="5047536"/>
          </a:xfrm>
          <a:prstGeom prst="rect">
            <a:avLst/>
          </a:prstGeom>
        </p:spPr>
        <p:txBody>
          <a:bodyPr wrap="square">
            <a:spAutoFit/>
          </a:bodyPr>
          <a:lstStyle/>
          <a:p>
            <a:pPr algn="just"/>
            <a:r>
              <a:rPr lang="en-US" sz="2300" b="1" dirty="0">
                <a:solidFill>
                  <a:srgbClr val="000000"/>
                </a:solidFill>
              </a:rPr>
              <a:t>Functions of RNA</a:t>
            </a:r>
            <a:endParaRPr lang="en-US" sz="2300" dirty="0">
              <a:solidFill>
                <a:srgbClr val="000000"/>
              </a:solidFill>
            </a:endParaRPr>
          </a:p>
          <a:p>
            <a:pPr marL="342900" indent="-342900" algn="just">
              <a:buFont typeface="Arial" panose="020B0604020202020204" pitchFamily="34" charset="0"/>
              <a:buChar char="•"/>
            </a:pPr>
            <a:r>
              <a:rPr lang="en-US" sz="2300" dirty="0">
                <a:solidFill>
                  <a:srgbClr val="000000"/>
                </a:solidFill>
              </a:rPr>
              <a:t>The prime function of RNA is in protein synthesis.</a:t>
            </a:r>
          </a:p>
          <a:p>
            <a:pPr marL="342900" indent="-342900" algn="just">
              <a:buFont typeface="Arial" panose="020B0604020202020204" pitchFamily="34" charset="0"/>
              <a:buChar char="•"/>
            </a:pPr>
            <a:r>
              <a:rPr lang="en-US" sz="2300" dirty="0">
                <a:solidFill>
                  <a:srgbClr val="000000"/>
                </a:solidFill>
              </a:rPr>
              <a:t>Without RNA, the information encoded in DNA could have never been transcribed to make essential proteins that a cell needs to maintain its integrity. </a:t>
            </a:r>
          </a:p>
          <a:p>
            <a:pPr marL="342900" indent="-342900" algn="just">
              <a:buFont typeface="Arial" panose="020B0604020202020204" pitchFamily="34" charset="0"/>
              <a:buChar char="•"/>
            </a:pPr>
            <a:r>
              <a:rPr lang="en-US" sz="2300" dirty="0">
                <a:solidFill>
                  <a:srgbClr val="000000"/>
                </a:solidFill>
              </a:rPr>
              <a:t>mRNAs have now been widely used in pharmaceutical industries to synthesize potential vaccines.</a:t>
            </a:r>
          </a:p>
          <a:p>
            <a:pPr marL="342900" indent="-342900" algn="just">
              <a:buFont typeface="Arial" panose="020B0604020202020204" pitchFamily="34" charset="0"/>
              <a:buChar char="•"/>
            </a:pPr>
            <a:r>
              <a:rPr lang="en-US" sz="2300" dirty="0">
                <a:solidFill>
                  <a:srgbClr val="000000"/>
                </a:solidFill>
              </a:rPr>
              <a:t>Moreover, mRNAs are now used to develop new categories of medicines</a:t>
            </a:r>
          </a:p>
          <a:p>
            <a:pPr marL="342900" indent="-342900" algn="just">
              <a:buFont typeface="Arial" panose="020B0604020202020204" pitchFamily="34" charset="0"/>
              <a:buChar char="•"/>
            </a:pPr>
            <a:r>
              <a:rPr lang="en-US" sz="2300" dirty="0">
                <a:solidFill>
                  <a:srgbClr val="000000"/>
                </a:solidFill>
              </a:rPr>
              <a:t>mRNAs have made the formation of the cDNA library possible.</a:t>
            </a:r>
          </a:p>
          <a:p>
            <a:pPr marL="342900" indent="-342900" algn="just">
              <a:buFont typeface="Arial" panose="020B0604020202020204" pitchFamily="34" charset="0"/>
              <a:buChar char="•"/>
            </a:pPr>
            <a:r>
              <a:rPr lang="en-US" sz="2300" dirty="0">
                <a:solidFill>
                  <a:srgbClr val="000000"/>
                </a:solidFill>
              </a:rPr>
              <a:t>rRNAs are structural units of Ribosomes, which are essential organelles during protein synthesis.</a:t>
            </a:r>
          </a:p>
          <a:p>
            <a:pPr marL="342900" indent="-342900" algn="just">
              <a:buFont typeface="Arial" panose="020B0604020202020204" pitchFamily="34" charset="0"/>
              <a:buChar char="•"/>
            </a:pPr>
            <a:r>
              <a:rPr lang="en-US" sz="2300" dirty="0">
                <a:solidFill>
                  <a:srgbClr val="000000"/>
                </a:solidFill>
              </a:rPr>
              <a:t>Ribozymes can help suppress the expression of specific mRNA by cleaving them out without relying on the host’s machinery.</a:t>
            </a:r>
          </a:p>
          <a:p>
            <a:pPr marL="342900" indent="-342900" algn="just">
              <a:buFont typeface="Arial" panose="020B0604020202020204" pitchFamily="34" charset="0"/>
              <a:buChar char="•"/>
            </a:pPr>
            <a:r>
              <a:rPr lang="en-US" sz="2300" dirty="0">
                <a:solidFill>
                  <a:srgbClr val="000000"/>
                </a:solidFill>
              </a:rPr>
              <a:t>Artificial antisense RNAs are capable of arresting protein synthesis by binding with the mRNAs, which have contributed to the human’s ability to combat diseases and mutations.  </a:t>
            </a:r>
          </a:p>
        </p:txBody>
      </p:sp>
    </p:spTree>
    <p:extLst>
      <p:ext uri="{BB962C8B-B14F-4D97-AF65-F5344CB8AC3E}">
        <p14:creationId xmlns:p14="http://schemas.microsoft.com/office/powerpoint/2010/main" val="4800284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985000"/>
          </a:xfrm>
          <a:prstGeom prst="rect">
            <a:avLst/>
          </a:prstGeom>
        </p:spPr>
      </p:pic>
    </p:spTree>
    <p:extLst>
      <p:ext uri="{BB962C8B-B14F-4D97-AF65-F5344CB8AC3E}">
        <p14:creationId xmlns:p14="http://schemas.microsoft.com/office/powerpoint/2010/main" val="161106637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76400" y="76200"/>
            <a:ext cx="8839200" cy="6647974"/>
          </a:xfrm>
          <a:prstGeom prst="rect">
            <a:avLst/>
          </a:prstGeom>
        </p:spPr>
        <p:txBody>
          <a:bodyPr wrap="square">
            <a:spAutoFit/>
          </a:bodyPr>
          <a:lstStyle/>
          <a:p>
            <a:pPr marL="457200" indent="-457200" algn="just">
              <a:lnSpc>
                <a:spcPct val="150000"/>
              </a:lnSpc>
              <a:buFont typeface="Wingdings" pitchFamily="2" charset="2"/>
              <a:buChar char="v"/>
            </a:pPr>
            <a:r>
              <a:rPr lang="en-US" sz="3200" dirty="0">
                <a:solidFill>
                  <a:schemeClr val="accent2">
                    <a:lumMod val="75000"/>
                  </a:schemeClr>
                </a:solidFill>
              </a:rPr>
              <a:t>DNA VACCINE</a:t>
            </a:r>
          </a:p>
          <a:p>
            <a:pPr marL="457200" indent="-457200" algn="just">
              <a:lnSpc>
                <a:spcPct val="150000"/>
              </a:lnSpc>
              <a:buFont typeface="Wingdings" pitchFamily="2" charset="2"/>
              <a:buChar char="§"/>
            </a:pPr>
            <a:r>
              <a:rPr lang="en-US" sz="2800" dirty="0"/>
              <a:t>A DNA vaccine is a type of vaccine that uses a piece of viral or bacterial DNA to stimulate an immune response against the pathogen. </a:t>
            </a:r>
          </a:p>
          <a:p>
            <a:pPr marL="457200" indent="-457200" algn="just">
              <a:lnSpc>
                <a:spcPct val="150000"/>
              </a:lnSpc>
              <a:buFont typeface="Wingdings" pitchFamily="2" charset="2"/>
              <a:buChar char="§"/>
            </a:pPr>
            <a:r>
              <a:rPr lang="en-US" sz="2800" dirty="0"/>
              <a:t>The vaccine works by introducing the pathogen's DNA into the body, where it is taken up by cells and used to produce viral or bacterial proteins. </a:t>
            </a:r>
          </a:p>
          <a:p>
            <a:pPr marL="457200" indent="-457200" algn="just">
              <a:lnSpc>
                <a:spcPct val="150000"/>
              </a:lnSpc>
              <a:buFont typeface="Wingdings" pitchFamily="2" charset="2"/>
              <a:buChar char="§"/>
            </a:pPr>
            <a:r>
              <a:rPr lang="en-US" sz="2800" dirty="0"/>
              <a:t>These proteins are then displayed on the surface of the cells, which triggers an immune response and the production of antibodies against the pathogen. </a:t>
            </a:r>
          </a:p>
        </p:txBody>
      </p:sp>
    </p:spTree>
    <p:extLst>
      <p:ext uri="{BB962C8B-B14F-4D97-AF65-F5344CB8AC3E}">
        <p14:creationId xmlns:p14="http://schemas.microsoft.com/office/powerpoint/2010/main" val="23173767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0"/>
            <a:ext cx="8839200" cy="6124754"/>
          </a:xfrm>
          <a:prstGeom prst="rect">
            <a:avLst/>
          </a:prstGeom>
        </p:spPr>
        <p:txBody>
          <a:bodyPr wrap="square">
            <a:spAutoFit/>
          </a:bodyPr>
          <a:lstStyle/>
          <a:p>
            <a:pPr marL="457200" indent="-457200" algn="just">
              <a:lnSpc>
                <a:spcPct val="200000"/>
              </a:lnSpc>
              <a:buFont typeface="Wingdings" pitchFamily="2" charset="2"/>
              <a:buChar char="§"/>
            </a:pPr>
            <a:r>
              <a:rPr lang="en-US" sz="2800" dirty="0"/>
              <a:t>DNA vaccines are being actively researched and developed for a range of diseases</a:t>
            </a:r>
          </a:p>
          <a:p>
            <a:pPr marL="457200" indent="-457200" algn="just">
              <a:lnSpc>
                <a:spcPct val="200000"/>
              </a:lnSpc>
              <a:buFont typeface="Wingdings" pitchFamily="2" charset="2"/>
              <a:buChar char="§"/>
            </a:pPr>
            <a:r>
              <a:rPr lang="en-US" sz="2800" dirty="0"/>
              <a:t>Cancer, rabies, influenza, and human immunodeficiency virus (HIV). </a:t>
            </a:r>
          </a:p>
          <a:p>
            <a:pPr algn="just">
              <a:lnSpc>
                <a:spcPct val="200000"/>
              </a:lnSpc>
            </a:pPr>
            <a:r>
              <a:rPr lang="en-US" sz="2800" dirty="0"/>
              <a:t>The technology is still in its early stages, it has the potential to revolutionize the field of vaccine development and provide new treatment options for a range of diseases.</a:t>
            </a:r>
            <a:endParaRPr lang="en-IN" sz="2800" dirty="0"/>
          </a:p>
        </p:txBody>
      </p:sp>
    </p:spTree>
    <p:extLst>
      <p:ext uri="{BB962C8B-B14F-4D97-AF65-F5344CB8AC3E}">
        <p14:creationId xmlns:p14="http://schemas.microsoft.com/office/powerpoint/2010/main" val="115678608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228602"/>
            <a:ext cx="8839200" cy="6001643"/>
          </a:xfrm>
          <a:prstGeom prst="rect">
            <a:avLst/>
          </a:prstGeom>
        </p:spPr>
        <p:txBody>
          <a:bodyPr wrap="square">
            <a:spAutoFit/>
          </a:bodyPr>
          <a:lstStyle/>
          <a:p>
            <a:pPr algn="just">
              <a:lnSpc>
                <a:spcPct val="150000"/>
              </a:lnSpc>
            </a:pPr>
            <a:r>
              <a:rPr lang="en-US" sz="3200" dirty="0">
                <a:solidFill>
                  <a:schemeClr val="tx2">
                    <a:lumMod val="60000"/>
                    <a:lumOff val="40000"/>
                  </a:schemeClr>
                </a:solidFill>
              </a:rPr>
              <a:t>DNA Vaccine for Rabies </a:t>
            </a:r>
          </a:p>
          <a:p>
            <a:pPr marL="457200" indent="-457200" algn="just">
              <a:lnSpc>
                <a:spcPct val="150000"/>
              </a:lnSpc>
              <a:buFont typeface="Wingdings" pitchFamily="2" charset="2"/>
              <a:buChar char="§"/>
            </a:pPr>
            <a:r>
              <a:rPr lang="en-US" sz="2800" dirty="0"/>
              <a:t>A type of vaccine that uses a piece of rabies virus DNA to stimulate an immune response against the virus. </a:t>
            </a:r>
          </a:p>
          <a:p>
            <a:pPr marL="457200" indent="-457200" algn="just">
              <a:lnSpc>
                <a:spcPct val="150000"/>
              </a:lnSpc>
              <a:buFont typeface="Wingdings" pitchFamily="2" charset="2"/>
              <a:buChar char="§"/>
            </a:pPr>
            <a:r>
              <a:rPr lang="en-US" sz="2800" dirty="0"/>
              <a:t>The vaccine works by introducing the rabies virus DNA into the body, where it is taken up by cells and used to produce viral proteins. </a:t>
            </a:r>
          </a:p>
          <a:p>
            <a:pPr marL="457200" indent="-457200" algn="just">
              <a:lnSpc>
                <a:spcPct val="150000"/>
              </a:lnSpc>
              <a:buFont typeface="Wingdings" pitchFamily="2" charset="2"/>
              <a:buChar char="§"/>
            </a:pPr>
            <a:r>
              <a:rPr lang="en-US" sz="2800" dirty="0"/>
              <a:t>These viral proteins are then displayed on the surface of the cells, which triggers an immune response and the production of antibodies against the rabies virus.</a:t>
            </a:r>
            <a:endParaRPr lang="en-IN" sz="2800" dirty="0"/>
          </a:p>
        </p:txBody>
      </p:sp>
    </p:spTree>
    <p:extLst>
      <p:ext uri="{BB962C8B-B14F-4D97-AF65-F5344CB8AC3E}">
        <p14:creationId xmlns:p14="http://schemas.microsoft.com/office/powerpoint/2010/main" val="387133006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659" t="11232" r="2418" b="31494"/>
          <a:stretch/>
        </p:blipFill>
        <p:spPr>
          <a:xfrm>
            <a:off x="2362201" y="228600"/>
            <a:ext cx="7220607" cy="6481198"/>
          </a:xfrm>
          <a:prstGeom prst="rect">
            <a:avLst/>
          </a:prstGeom>
        </p:spPr>
      </p:pic>
    </p:spTree>
    <p:extLst>
      <p:ext uri="{BB962C8B-B14F-4D97-AF65-F5344CB8AC3E}">
        <p14:creationId xmlns:p14="http://schemas.microsoft.com/office/powerpoint/2010/main" val="9466287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
            <a:ext cx="8839200" cy="3323987"/>
          </a:xfrm>
          <a:prstGeom prst="rect">
            <a:avLst/>
          </a:prstGeom>
        </p:spPr>
        <p:txBody>
          <a:bodyPr wrap="square">
            <a:spAutoFit/>
          </a:bodyPr>
          <a:lstStyle/>
          <a:p>
            <a:pPr algn="just">
              <a:lnSpc>
                <a:spcPct val="150000"/>
              </a:lnSpc>
            </a:pPr>
            <a:r>
              <a:rPr lang="en-US" sz="2800" dirty="0"/>
              <a:t>Importance of DNA vaccine for rabies</a:t>
            </a:r>
          </a:p>
          <a:p>
            <a:pPr marL="457200" indent="-457200" algn="just">
              <a:lnSpc>
                <a:spcPct val="150000"/>
              </a:lnSpc>
              <a:buFont typeface="Arial" pitchFamily="34" charset="0"/>
              <a:buChar char="•"/>
            </a:pPr>
            <a:r>
              <a:rPr lang="en-US" sz="2800" dirty="0"/>
              <a:t>Ability to stimulate a strong immune response </a:t>
            </a:r>
          </a:p>
          <a:p>
            <a:pPr marL="457200" indent="-457200" algn="just">
              <a:lnSpc>
                <a:spcPct val="150000"/>
              </a:lnSpc>
              <a:buFont typeface="Arial" pitchFamily="34" charset="0"/>
              <a:buChar char="•"/>
            </a:pPr>
            <a:r>
              <a:rPr lang="en-US" sz="2800" dirty="0"/>
              <a:t>Long-lasting immune response </a:t>
            </a:r>
          </a:p>
          <a:p>
            <a:pPr marL="457200" indent="-457200" algn="just">
              <a:lnSpc>
                <a:spcPct val="150000"/>
              </a:lnSpc>
              <a:buFont typeface="Arial" pitchFamily="34" charset="0"/>
              <a:buChar char="•"/>
            </a:pPr>
            <a:r>
              <a:rPr lang="en-US" sz="2800" dirty="0"/>
              <a:t>Fewer doses required</a:t>
            </a:r>
          </a:p>
          <a:p>
            <a:pPr marL="457200" indent="-457200" algn="just">
              <a:lnSpc>
                <a:spcPct val="150000"/>
              </a:lnSpc>
              <a:buFont typeface="Arial" pitchFamily="34" charset="0"/>
              <a:buChar char="•"/>
            </a:pPr>
            <a:r>
              <a:rPr lang="en-US" sz="2800" dirty="0"/>
              <a:t>ease of manufacture and storage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9000" y="1219200"/>
            <a:ext cx="2971800" cy="178308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3232457"/>
            <a:ext cx="7086600" cy="3596640"/>
          </a:xfrm>
          <a:prstGeom prst="rect">
            <a:avLst/>
          </a:prstGeom>
        </p:spPr>
      </p:pic>
    </p:spTree>
    <p:extLst>
      <p:ext uri="{BB962C8B-B14F-4D97-AF65-F5344CB8AC3E}">
        <p14:creationId xmlns:p14="http://schemas.microsoft.com/office/powerpoint/2010/main" val="216133280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0"/>
            <a:ext cx="8839200" cy="6555641"/>
          </a:xfrm>
          <a:prstGeom prst="rect">
            <a:avLst/>
          </a:prstGeom>
        </p:spPr>
        <p:txBody>
          <a:bodyPr wrap="square">
            <a:spAutoFit/>
          </a:bodyPr>
          <a:lstStyle/>
          <a:p>
            <a:pPr algn="just">
              <a:lnSpc>
                <a:spcPct val="150000"/>
              </a:lnSpc>
            </a:pPr>
            <a:r>
              <a:rPr lang="en-US" sz="2800" dirty="0"/>
              <a:t>DNA vaccines have several key advantages</a:t>
            </a:r>
          </a:p>
          <a:p>
            <a:pPr marL="514350" indent="-514350" algn="just">
              <a:lnSpc>
                <a:spcPct val="150000"/>
              </a:lnSpc>
              <a:buFont typeface="+mj-lt"/>
              <a:buAutoNum type="arabicPeriod"/>
            </a:pPr>
            <a:r>
              <a:rPr lang="en-US" sz="2800" dirty="0"/>
              <a:t>Efficacy: highly effective in preventing rabies infection in both animal and human trials - as a traditional vaccine in protecting dogs against rabies.</a:t>
            </a:r>
          </a:p>
          <a:p>
            <a:pPr marL="514350" indent="-514350" algn="just">
              <a:lnSpc>
                <a:spcPct val="150000"/>
              </a:lnSpc>
              <a:buFont typeface="+mj-lt"/>
              <a:buAutoNum type="arabicPeriod"/>
            </a:pPr>
            <a:r>
              <a:rPr lang="en-US" sz="2800" dirty="0"/>
              <a:t>Long-lasting protection: stimulate a strong and long-lasting immune response - provide protection for extended periods of time.</a:t>
            </a:r>
          </a:p>
          <a:p>
            <a:pPr marL="514350" indent="-514350" algn="just">
              <a:lnSpc>
                <a:spcPct val="150000"/>
              </a:lnSpc>
              <a:buFont typeface="+mj-lt"/>
              <a:buAutoNum type="arabicPeriod"/>
            </a:pPr>
            <a:r>
              <a:rPr lang="en-US" sz="2800" dirty="0"/>
              <a:t>Ease of administration: they can be given via injection or even delivered orally - useful in areas with medical facilities are limited.</a:t>
            </a:r>
          </a:p>
        </p:txBody>
      </p:sp>
    </p:spTree>
    <p:extLst>
      <p:ext uri="{BB962C8B-B14F-4D97-AF65-F5344CB8AC3E}">
        <p14:creationId xmlns:p14="http://schemas.microsoft.com/office/powerpoint/2010/main" val="278717607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1"/>
            <a:ext cx="8839200" cy="3323987"/>
          </a:xfrm>
          <a:prstGeom prst="rect">
            <a:avLst/>
          </a:prstGeom>
        </p:spPr>
        <p:txBody>
          <a:bodyPr wrap="square">
            <a:spAutoFit/>
          </a:bodyPr>
          <a:lstStyle/>
          <a:p>
            <a:pPr marL="514350" indent="-514350" algn="just">
              <a:lnSpc>
                <a:spcPct val="150000"/>
              </a:lnSpc>
              <a:buFont typeface="+mj-lt"/>
              <a:buAutoNum type="arabicPeriod" startAt="4"/>
            </a:pPr>
            <a:r>
              <a:rPr lang="en-US" sz="2800" dirty="0"/>
              <a:t>Cost-effective: inexpensive to produce compared to traditional vaccines</a:t>
            </a:r>
          </a:p>
          <a:p>
            <a:pPr marL="514350" indent="-514350" algn="just">
              <a:lnSpc>
                <a:spcPct val="150000"/>
              </a:lnSpc>
              <a:buFont typeface="+mj-lt"/>
              <a:buAutoNum type="arabicPeriod" startAt="4"/>
            </a:pPr>
            <a:r>
              <a:rPr lang="en-US" sz="2800" dirty="0"/>
              <a:t> Reduced risk of side effects: DNA vaccines do not contain live virus particles - safer and have a lower risk of side effects compared to traditional vaccines</a:t>
            </a:r>
            <a:endParaRPr lang="en-IN" sz="2800" dirty="0"/>
          </a:p>
        </p:txBody>
      </p:sp>
    </p:spTree>
    <p:extLst>
      <p:ext uri="{BB962C8B-B14F-4D97-AF65-F5344CB8AC3E}">
        <p14:creationId xmlns:p14="http://schemas.microsoft.com/office/powerpoint/2010/main" val="7009094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58848"/>
            <a:ext cx="8915400" cy="6555641"/>
          </a:xfrm>
          <a:prstGeom prst="rect">
            <a:avLst/>
          </a:prstGeom>
        </p:spPr>
        <p:txBody>
          <a:bodyPr wrap="square">
            <a:spAutoFit/>
          </a:bodyPr>
          <a:lstStyle/>
          <a:p>
            <a:pPr marL="457200" indent="-457200" algn="just">
              <a:lnSpc>
                <a:spcPct val="150000"/>
              </a:lnSpc>
              <a:buFont typeface="Wingdings" pitchFamily="2" charset="2"/>
              <a:buChar char="v"/>
            </a:pPr>
            <a:r>
              <a:rPr lang="en-US" sz="2800" dirty="0">
                <a:solidFill>
                  <a:schemeClr val="accent2">
                    <a:lumMod val="75000"/>
                  </a:schemeClr>
                </a:solidFill>
              </a:rPr>
              <a:t>RNA Vaccines RNA </a:t>
            </a:r>
          </a:p>
          <a:p>
            <a:pPr marL="457200" indent="-457200" algn="just">
              <a:lnSpc>
                <a:spcPct val="150000"/>
              </a:lnSpc>
              <a:buFont typeface="Wingdings" pitchFamily="2" charset="2"/>
              <a:buChar char="§"/>
            </a:pPr>
            <a:r>
              <a:rPr lang="en-US" sz="2800" dirty="0"/>
              <a:t>Vaccines are a type of vaccine that use genetic material from a pathogen, in the form of RNA, to stimulate an immune response against the disease. </a:t>
            </a:r>
          </a:p>
          <a:p>
            <a:pPr marL="457200" indent="-457200" algn="just">
              <a:lnSpc>
                <a:spcPct val="150000"/>
              </a:lnSpc>
              <a:buFont typeface="Wingdings" pitchFamily="2" charset="2"/>
              <a:buChar char="§"/>
            </a:pPr>
            <a:r>
              <a:rPr lang="en-US" sz="2800" dirty="0"/>
              <a:t>The vaccine works by introducing the pathogen's RNA into the body, where it is taken up by cells and used to produce viral or bacterial proteins. </a:t>
            </a:r>
          </a:p>
          <a:p>
            <a:pPr marL="457200" indent="-457200" algn="just">
              <a:lnSpc>
                <a:spcPct val="150000"/>
              </a:lnSpc>
              <a:buFont typeface="Wingdings" pitchFamily="2" charset="2"/>
              <a:buChar char="§"/>
            </a:pPr>
            <a:r>
              <a:rPr lang="en-US" sz="2800" dirty="0"/>
              <a:t>These proteins are then displayed on the surface of the cells, which triggers an immune response and the production of antibodies against the pathogen. </a:t>
            </a:r>
          </a:p>
        </p:txBody>
      </p:sp>
    </p:spTree>
    <p:extLst>
      <p:ext uri="{BB962C8B-B14F-4D97-AF65-F5344CB8AC3E}">
        <p14:creationId xmlns:p14="http://schemas.microsoft.com/office/powerpoint/2010/main" val="35340271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152401"/>
            <a:ext cx="8763000" cy="6001643"/>
          </a:xfrm>
          <a:prstGeom prst="rect">
            <a:avLst/>
          </a:prstGeom>
        </p:spPr>
        <p:txBody>
          <a:bodyPr wrap="square">
            <a:spAutoFit/>
          </a:bodyPr>
          <a:lstStyle/>
          <a:p>
            <a:pPr marL="457200" indent="-457200" algn="just">
              <a:lnSpc>
                <a:spcPct val="150000"/>
              </a:lnSpc>
              <a:buFont typeface="Wingdings" pitchFamily="2" charset="2"/>
              <a:buChar char="Ø"/>
            </a:pPr>
            <a:r>
              <a:rPr lang="en-US" sz="2800" dirty="0"/>
              <a:t>Advantages of RNA vaccines</a:t>
            </a:r>
          </a:p>
          <a:p>
            <a:pPr marL="457200" indent="-457200" algn="just">
              <a:lnSpc>
                <a:spcPct val="150000"/>
              </a:lnSpc>
              <a:buFont typeface="Arial" pitchFamily="34" charset="0"/>
              <a:buChar char="•"/>
            </a:pPr>
            <a:r>
              <a:rPr lang="en-US" sz="2800" dirty="0"/>
              <a:t>Faster production time </a:t>
            </a:r>
          </a:p>
          <a:p>
            <a:pPr marL="457200" indent="-457200" algn="just">
              <a:lnSpc>
                <a:spcPct val="150000"/>
              </a:lnSpc>
              <a:buFont typeface="Arial" pitchFamily="34" charset="0"/>
              <a:buChar char="•"/>
            </a:pPr>
            <a:r>
              <a:rPr lang="en-US" sz="2800" dirty="0"/>
              <a:t>Ability to target multiple antigens</a:t>
            </a:r>
          </a:p>
          <a:p>
            <a:pPr marL="457200" indent="-457200" algn="just">
              <a:lnSpc>
                <a:spcPct val="150000"/>
              </a:lnSpc>
              <a:buFont typeface="Arial" pitchFamily="34" charset="0"/>
              <a:buChar char="•"/>
            </a:pPr>
            <a:r>
              <a:rPr lang="en-US" sz="2800" dirty="0"/>
              <a:t>RNA vaccines can be manufactured quickly</a:t>
            </a:r>
          </a:p>
          <a:p>
            <a:pPr marL="457200" indent="-457200" algn="just">
              <a:lnSpc>
                <a:spcPct val="150000"/>
              </a:lnSpc>
              <a:buFont typeface="Arial" pitchFamily="34" charset="0"/>
              <a:buChar char="•"/>
            </a:pPr>
            <a:r>
              <a:rPr lang="en-US" sz="2800" dirty="0"/>
              <a:t>Safer than traditional vaccines, as they do not contain any live virus or bacteria that could cause disease. </a:t>
            </a:r>
          </a:p>
          <a:p>
            <a:pPr algn="just">
              <a:lnSpc>
                <a:spcPct val="150000"/>
              </a:lnSpc>
            </a:pPr>
            <a:endParaRPr lang="en-US" sz="2800" dirty="0"/>
          </a:p>
          <a:p>
            <a:pPr algn="just">
              <a:lnSpc>
                <a:spcPct val="150000"/>
              </a:lnSpc>
            </a:pPr>
            <a:r>
              <a:rPr lang="en-US" sz="2800" dirty="0"/>
              <a:t>RNA vaccines are currently being developed and tested for  COVID 19, influenza, and cancer.</a:t>
            </a:r>
            <a:endParaRPr lang="en-IN" sz="2800" dirty="0"/>
          </a:p>
        </p:txBody>
      </p:sp>
    </p:spTree>
    <p:extLst>
      <p:ext uri="{BB962C8B-B14F-4D97-AF65-F5344CB8AC3E}">
        <p14:creationId xmlns:p14="http://schemas.microsoft.com/office/powerpoint/2010/main" val="40514185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152400"/>
            <a:ext cx="8915400" cy="7201972"/>
          </a:xfrm>
          <a:prstGeom prst="rect">
            <a:avLst/>
          </a:prstGeom>
        </p:spPr>
        <p:txBody>
          <a:bodyPr wrap="square">
            <a:spAutoFit/>
          </a:bodyPr>
          <a:lstStyle/>
          <a:p>
            <a:pPr algn="just">
              <a:lnSpc>
                <a:spcPct val="150000"/>
              </a:lnSpc>
            </a:pPr>
            <a:r>
              <a:rPr lang="en-US" sz="2800" dirty="0">
                <a:solidFill>
                  <a:schemeClr val="tx2">
                    <a:lumMod val="60000"/>
                    <a:lumOff val="40000"/>
                  </a:schemeClr>
                </a:solidFill>
              </a:rPr>
              <a:t>RNA Vaccines for Covid19 </a:t>
            </a:r>
          </a:p>
          <a:p>
            <a:pPr marL="457200" indent="-457200" algn="just">
              <a:lnSpc>
                <a:spcPct val="150000"/>
              </a:lnSpc>
              <a:buFont typeface="Arial" pitchFamily="34" charset="0"/>
              <a:buChar char="•"/>
            </a:pPr>
            <a:r>
              <a:rPr lang="en-US" sz="2800" dirty="0"/>
              <a:t>Vaccine that use genetic material from the SARS-CoV-2</a:t>
            </a:r>
          </a:p>
          <a:p>
            <a:pPr marL="457200" indent="-457200" algn="just">
              <a:lnSpc>
                <a:spcPct val="150000"/>
              </a:lnSpc>
              <a:buFont typeface="Arial" pitchFamily="34" charset="0"/>
              <a:buChar char="•"/>
            </a:pPr>
            <a:r>
              <a:rPr lang="en-US" sz="2800" dirty="0"/>
              <a:t>The vaccine works by introducing the virus's RNA into the body, where it is taken up by cells and used to produce viral proteins. </a:t>
            </a:r>
          </a:p>
          <a:p>
            <a:pPr marL="457200" indent="-457200" algn="just">
              <a:lnSpc>
                <a:spcPct val="150000"/>
              </a:lnSpc>
              <a:buFont typeface="Arial" pitchFamily="34" charset="0"/>
              <a:buChar char="•"/>
            </a:pPr>
            <a:r>
              <a:rPr lang="en-US" sz="2800" dirty="0"/>
              <a:t>These proteins are then displayed on the surface of the cells, which triggers an immune response and the production of antibodies against the virus. </a:t>
            </a:r>
          </a:p>
          <a:p>
            <a:pPr algn="just">
              <a:lnSpc>
                <a:spcPct val="150000"/>
              </a:lnSpc>
            </a:pPr>
            <a:r>
              <a:rPr lang="en-US" sz="2800" dirty="0"/>
              <a:t>The first RNA vaccine for COVID 19 the Pfizer-</a:t>
            </a:r>
            <a:r>
              <a:rPr lang="en-US" sz="2800" dirty="0" err="1"/>
              <a:t>BioNTech</a:t>
            </a:r>
            <a:r>
              <a:rPr lang="en-US" sz="2800" dirty="0"/>
              <a:t> vaccine and </a:t>
            </a:r>
            <a:r>
              <a:rPr lang="en-US" sz="2800" dirty="0" err="1"/>
              <a:t>Moderna</a:t>
            </a:r>
            <a:r>
              <a:rPr lang="en-US" sz="2800" dirty="0"/>
              <a:t> vaccine are authorized for emergency use in December 2020 </a:t>
            </a:r>
          </a:p>
        </p:txBody>
      </p:sp>
    </p:spTree>
    <p:extLst>
      <p:ext uri="{BB962C8B-B14F-4D97-AF65-F5344CB8AC3E}">
        <p14:creationId xmlns:p14="http://schemas.microsoft.com/office/powerpoint/2010/main" val="14104892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3353"/>
          <a:stretch/>
        </p:blipFill>
        <p:spPr>
          <a:xfrm>
            <a:off x="1558160" y="0"/>
            <a:ext cx="9324373" cy="6858000"/>
          </a:xfrm>
          <a:prstGeom prst="rect">
            <a:avLst/>
          </a:prstGeom>
        </p:spPr>
      </p:pic>
    </p:spTree>
    <p:extLst>
      <p:ext uri="{BB962C8B-B14F-4D97-AF65-F5344CB8AC3E}">
        <p14:creationId xmlns:p14="http://schemas.microsoft.com/office/powerpoint/2010/main" val="36216516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0"/>
            <a:ext cx="8915400" cy="7201972"/>
          </a:xfrm>
          <a:prstGeom prst="rect">
            <a:avLst/>
          </a:prstGeom>
        </p:spPr>
        <p:txBody>
          <a:bodyPr wrap="square">
            <a:spAutoFit/>
          </a:bodyPr>
          <a:lstStyle/>
          <a:p>
            <a:pPr algn="just">
              <a:lnSpc>
                <a:spcPct val="150000"/>
              </a:lnSpc>
            </a:pPr>
            <a:r>
              <a:rPr lang="en-US" sz="2800" dirty="0"/>
              <a:t>Importance of RNA vaccine for </a:t>
            </a:r>
            <a:r>
              <a:rPr lang="en-US" sz="2800" dirty="0" err="1"/>
              <a:t>Covid</a:t>
            </a:r>
            <a:r>
              <a:rPr lang="en-US" sz="2800" dirty="0"/>
              <a:t> 19 </a:t>
            </a:r>
          </a:p>
          <a:p>
            <a:pPr marL="514350" indent="-514350" algn="just">
              <a:lnSpc>
                <a:spcPct val="150000"/>
              </a:lnSpc>
              <a:buFont typeface="+mj-lt"/>
              <a:buAutoNum type="arabicPeriod"/>
            </a:pPr>
            <a:r>
              <a:rPr lang="en-US" sz="2800" dirty="0"/>
              <a:t>High efficacy: The Pfizer-</a:t>
            </a:r>
            <a:r>
              <a:rPr lang="en-US" sz="2800" dirty="0" err="1"/>
              <a:t>BioNTech</a:t>
            </a:r>
            <a:r>
              <a:rPr lang="en-US" sz="2800" dirty="0"/>
              <a:t> and </a:t>
            </a:r>
            <a:r>
              <a:rPr lang="en-US" sz="2800" dirty="0" err="1"/>
              <a:t>Moderna</a:t>
            </a:r>
            <a:r>
              <a:rPr lang="en-US" sz="2800" dirty="0"/>
              <a:t> mRNA vaccines - reported efficacy rates of around 95% in clinical trials.</a:t>
            </a:r>
          </a:p>
          <a:p>
            <a:pPr marL="514350" indent="-514350" algn="just">
              <a:lnSpc>
                <a:spcPct val="150000"/>
              </a:lnSpc>
              <a:buFont typeface="+mj-lt"/>
              <a:buAutoNum type="arabicPeriod"/>
            </a:pPr>
            <a:r>
              <a:rPr lang="en-US" sz="2800" dirty="0"/>
              <a:t>Rapid development: rapidly developed and manufactured, making them particularly useful in the context of a pandemic. </a:t>
            </a:r>
          </a:p>
          <a:p>
            <a:pPr algn="just">
              <a:lnSpc>
                <a:spcPct val="150000"/>
              </a:lnSpc>
            </a:pPr>
            <a:r>
              <a:rPr lang="en-US" sz="2800" dirty="0"/>
              <a:t>The Pfizer-</a:t>
            </a:r>
            <a:r>
              <a:rPr lang="en-US" sz="2800" dirty="0" err="1"/>
              <a:t>BioNTech</a:t>
            </a:r>
            <a:r>
              <a:rPr lang="en-US" sz="2800" dirty="0"/>
              <a:t> vaccine, for instance, was developed in under a year, and went from the initial discovery of the viral genome to emergency use authorization in less than 11 months.</a:t>
            </a:r>
          </a:p>
        </p:txBody>
      </p:sp>
    </p:spTree>
    <p:extLst>
      <p:ext uri="{BB962C8B-B14F-4D97-AF65-F5344CB8AC3E}">
        <p14:creationId xmlns:p14="http://schemas.microsoft.com/office/powerpoint/2010/main" val="6612711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3186" y="152401"/>
            <a:ext cx="8839200" cy="6555641"/>
          </a:xfrm>
          <a:prstGeom prst="rect">
            <a:avLst/>
          </a:prstGeom>
        </p:spPr>
        <p:txBody>
          <a:bodyPr wrap="square">
            <a:spAutoFit/>
          </a:bodyPr>
          <a:lstStyle/>
          <a:p>
            <a:pPr marL="514350" indent="-514350" algn="just">
              <a:lnSpc>
                <a:spcPct val="150000"/>
              </a:lnSpc>
              <a:buFont typeface="+mj-lt"/>
              <a:buAutoNum type="arabicPeriod" startAt="3"/>
            </a:pPr>
            <a:r>
              <a:rPr lang="en-US" sz="2800" dirty="0"/>
              <a:t> Easy to modify: to target new strains or variants of the virus. </a:t>
            </a:r>
          </a:p>
          <a:p>
            <a:pPr algn="just">
              <a:lnSpc>
                <a:spcPct val="150000"/>
              </a:lnSpc>
            </a:pPr>
            <a:r>
              <a:rPr lang="en-US" sz="2800" dirty="0"/>
              <a:t>This means that if a new variant emerges that is resistant to the existing vaccines, it is possible to quickly modify the vaccine to provide protection against the new strain. </a:t>
            </a:r>
          </a:p>
          <a:p>
            <a:pPr marL="514350" indent="-514350" algn="just">
              <a:lnSpc>
                <a:spcPct val="150000"/>
              </a:lnSpc>
              <a:buAutoNum type="arabicPeriod" startAt="4"/>
            </a:pPr>
            <a:r>
              <a:rPr lang="en-US" sz="2800" dirty="0"/>
              <a:t>Safe: - not contain any live virus particles. They work by instructing cells to produce a harmless piece of the virus</a:t>
            </a:r>
          </a:p>
          <a:p>
            <a:pPr marL="514350" indent="-514350" algn="just">
              <a:lnSpc>
                <a:spcPct val="150000"/>
              </a:lnSpc>
              <a:buAutoNum type="arabicPeriod" startAt="4"/>
            </a:pPr>
            <a:r>
              <a:rPr lang="en-US" sz="2800" dirty="0"/>
              <a:t>Potential for broader use: used in the prevention of other infectious diseases, such as influenza, HIV, and </a:t>
            </a:r>
            <a:r>
              <a:rPr lang="en-US" sz="2800" dirty="0" err="1"/>
              <a:t>Zika</a:t>
            </a:r>
            <a:r>
              <a:rPr lang="en-US" sz="2800" dirty="0"/>
              <a:t>, as well as in the treatment of cancer.</a:t>
            </a:r>
            <a:endParaRPr lang="en-IN" sz="2800" dirty="0"/>
          </a:p>
        </p:txBody>
      </p:sp>
    </p:spTree>
    <p:extLst>
      <p:ext uri="{BB962C8B-B14F-4D97-AF65-F5344CB8AC3E}">
        <p14:creationId xmlns:p14="http://schemas.microsoft.com/office/powerpoint/2010/main" val="315714014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7713" y="58767"/>
            <a:ext cx="8915400" cy="5047536"/>
          </a:xfrm>
          <a:prstGeom prst="rect">
            <a:avLst/>
          </a:prstGeom>
        </p:spPr>
        <p:txBody>
          <a:bodyPr wrap="square">
            <a:spAutoFit/>
          </a:bodyPr>
          <a:lstStyle/>
          <a:p>
            <a:pPr algn="just">
              <a:lnSpc>
                <a:spcPct val="150000"/>
              </a:lnSpc>
            </a:pPr>
            <a:r>
              <a:rPr lang="en-US" sz="2800" dirty="0"/>
              <a:t>Forensics   </a:t>
            </a:r>
          </a:p>
          <a:p>
            <a:pPr algn="just">
              <a:lnSpc>
                <a:spcPct val="200000"/>
              </a:lnSpc>
            </a:pPr>
            <a:r>
              <a:rPr lang="en-US" sz="2800" dirty="0">
                <a:solidFill>
                  <a:schemeClr val="accent1">
                    <a:lumMod val="75000"/>
                  </a:schemeClr>
                </a:solidFill>
              </a:rPr>
              <a:t>DNA Fingerprinting </a:t>
            </a:r>
            <a:r>
              <a:rPr lang="en-US" sz="2400" dirty="0">
                <a:solidFill>
                  <a:schemeClr val="accent1">
                    <a:lumMod val="75000"/>
                  </a:schemeClr>
                </a:solidFill>
              </a:rPr>
              <a:t>(DNA profiling or genetic fingerprinting)</a:t>
            </a:r>
          </a:p>
          <a:p>
            <a:pPr algn="just">
              <a:lnSpc>
                <a:spcPct val="200000"/>
              </a:lnSpc>
            </a:pPr>
            <a:r>
              <a:rPr lang="en-US" sz="2800" dirty="0"/>
              <a:t>Technique used in forensic science to identify an individual based on their unique DNA profile.</a:t>
            </a:r>
          </a:p>
          <a:p>
            <a:pPr marL="457200" indent="-457200" algn="just">
              <a:lnSpc>
                <a:spcPct val="200000"/>
              </a:lnSpc>
              <a:buFont typeface="Arial" pitchFamily="34" charset="0"/>
              <a:buChar char="•"/>
            </a:pPr>
            <a:r>
              <a:rPr lang="en-US" sz="2800" dirty="0"/>
              <a:t>The process involves analyzing specific regions(markers) of an individual's DNA - vary from person to person. </a:t>
            </a:r>
          </a:p>
        </p:txBody>
      </p:sp>
      <p:sp>
        <p:nvSpPr>
          <p:cNvPr id="5" name="Right Arrow 4"/>
          <p:cNvSpPr/>
          <p:nvPr/>
        </p:nvSpPr>
        <p:spPr>
          <a:xfrm>
            <a:off x="3453961" y="402021"/>
            <a:ext cx="2667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lumMod val="85000"/>
                  <a:lumOff val="15000"/>
                </a:schemeClr>
              </a:solidFill>
            </a:endParaRPr>
          </a:p>
        </p:txBody>
      </p:sp>
    </p:spTree>
    <p:extLst>
      <p:ext uri="{BB962C8B-B14F-4D97-AF65-F5344CB8AC3E}">
        <p14:creationId xmlns:p14="http://schemas.microsoft.com/office/powerpoint/2010/main" val="4916363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0634" y="50455"/>
            <a:ext cx="8931166" cy="6558077"/>
          </a:xfrm>
          <a:prstGeom prst="rect">
            <a:avLst/>
          </a:prstGeom>
        </p:spPr>
        <p:txBody>
          <a:bodyPr wrap="square">
            <a:spAutoFit/>
          </a:bodyPr>
          <a:lstStyle/>
          <a:p>
            <a:pPr algn="just">
              <a:lnSpc>
                <a:spcPct val="150000"/>
              </a:lnSpc>
            </a:pPr>
            <a:r>
              <a:rPr lang="en-US" sz="3100" dirty="0"/>
              <a:t>Working of DNA fingerprinting </a:t>
            </a:r>
          </a:p>
          <a:p>
            <a:pPr marL="514350" indent="-514350" algn="just">
              <a:lnSpc>
                <a:spcPct val="150000"/>
              </a:lnSpc>
              <a:buFont typeface="+mj-lt"/>
              <a:buAutoNum type="arabicPeriod"/>
            </a:pPr>
            <a:r>
              <a:rPr lang="en-US" sz="2800" dirty="0"/>
              <a:t>Sample collection: DNA is extracted from a biological sample - blood, semen, or hair. The sample is then purified and processed to isolate the DNA.</a:t>
            </a:r>
          </a:p>
          <a:p>
            <a:pPr marL="514350" indent="-514350" algn="just">
              <a:lnSpc>
                <a:spcPct val="150000"/>
              </a:lnSpc>
              <a:buFont typeface="+mj-lt"/>
              <a:buAutoNum type="arabicPeriod"/>
            </a:pPr>
            <a:r>
              <a:rPr lang="en-US" sz="2800" dirty="0"/>
              <a:t>DNA amplification: by polymerase chain reaction (PCR)- which allows for more accurate analysis</a:t>
            </a:r>
          </a:p>
          <a:p>
            <a:pPr marL="514350" indent="-514350" algn="just">
              <a:lnSpc>
                <a:spcPct val="150000"/>
              </a:lnSpc>
              <a:buFont typeface="+mj-lt"/>
              <a:buAutoNum type="arabicPeriod"/>
            </a:pPr>
            <a:r>
              <a:rPr lang="en-US" sz="2800" dirty="0"/>
              <a:t>DNA analysis: using gel electrophoresis - a DNA profile is generated.</a:t>
            </a:r>
          </a:p>
          <a:p>
            <a:pPr marL="514350" indent="-514350" algn="just">
              <a:lnSpc>
                <a:spcPct val="150000"/>
              </a:lnSpc>
              <a:buFont typeface="+mj-lt"/>
              <a:buAutoNum type="arabicPeriod"/>
            </a:pPr>
            <a:r>
              <a:rPr lang="en-US" sz="2800" dirty="0"/>
              <a:t>DNA comparison: The DNA profile compared to the DNA profiles of suspects or victims -  to determine match.</a:t>
            </a:r>
            <a:endParaRPr lang="en-IN" sz="2800" dirty="0"/>
          </a:p>
        </p:txBody>
      </p:sp>
    </p:spTree>
    <p:extLst>
      <p:ext uri="{BB962C8B-B14F-4D97-AF65-F5344CB8AC3E}">
        <p14:creationId xmlns:p14="http://schemas.microsoft.com/office/powerpoint/2010/main" val="147648948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707" r="3613"/>
          <a:stretch/>
        </p:blipFill>
        <p:spPr>
          <a:xfrm>
            <a:off x="6114394" y="1676400"/>
            <a:ext cx="4401207" cy="501015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228600"/>
            <a:ext cx="4572000" cy="3200400"/>
          </a:xfrm>
          <a:prstGeom prst="rect">
            <a:avLst/>
          </a:prstGeom>
        </p:spPr>
      </p:pic>
    </p:spTree>
    <p:extLst>
      <p:ext uri="{BB962C8B-B14F-4D97-AF65-F5344CB8AC3E}">
        <p14:creationId xmlns:p14="http://schemas.microsoft.com/office/powerpoint/2010/main" val="62126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6628" y="-152400"/>
            <a:ext cx="9144000" cy="7201972"/>
          </a:xfrm>
          <a:prstGeom prst="rect">
            <a:avLst/>
          </a:prstGeom>
        </p:spPr>
        <p:txBody>
          <a:bodyPr wrap="square">
            <a:spAutoFit/>
          </a:bodyPr>
          <a:lstStyle/>
          <a:p>
            <a:pPr marL="457200" indent="-457200" algn="just">
              <a:lnSpc>
                <a:spcPct val="150000"/>
              </a:lnSpc>
              <a:buFont typeface="Wingdings" pitchFamily="2" charset="2"/>
              <a:buChar char="§"/>
            </a:pPr>
            <a:r>
              <a:rPr lang="en-US" sz="2800" dirty="0"/>
              <a:t>DNA comparison is typically done manually</a:t>
            </a:r>
          </a:p>
          <a:p>
            <a:pPr marL="457200" indent="-457200" algn="just">
              <a:lnSpc>
                <a:spcPct val="150000"/>
              </a:lnSpc>
              <a:buFont typeface="Wingdings" pitchFamily="2" charset="2"/>
              <a:buChar char="§"/>
            </a:pPr>
            <a:r>
              <a:rPr lang="en-US" sz="2800" dirty="0"/>
              <a:t>Artificial intelligence (AI) - development of automated DNA profiling systems.</a:t>
            </a:r>
          </a:p>
          <a:p>
            <a:pPr marL="457200" indent="-457200" algn="just">
              <a:lnSpc>
                <a:spcPct val="150000"/>
              </a:lnSpc>
              <a:buFont typeface="Wingdings" pitchFamily="2" charset="2"/>
              <a:buChar char="§"/>
            </a:pPr>
            <a:r>
              <a:rPr lang="en-US" sz="2800" dirty="0"/>
              <a:t>The DNA profile consists of a series of bands on a gel- represent specific DNA fragments. </a:t>
            </a:r>
          </a:p>
          <a:p>
            <a:pPr marL="457200" indent="-457200" algn="just">
              <a:lnSpc>
                <a:spcPct val="150000"/>
              </a:lnSpc>
              <a:buFont typeface="Wingdings" pitchFamily="2" charset="2"/>
              <a:buChar char="§"/>
            </a:pPr>
            <a:r>
              <a:rPr lang="en-US" sz="2800" dirty="0"/>
              <a:t>Forensic DNA fingerprinting - critical tool in criminal investigations to link individuals to crime scenes and exonerate innocent individuals / wrongly accused person.</a:t>
            </a:r>
          </a:p>
          <a:p>
            <a:pPr marL="457200" indent="-457200" algn="just">
              <a:lnSpc>
                <a:spcPct val="150000"/>
              </a:lnSpc>
              <a:buFont typeface="Wingdings" pitchFamily="2" charset="2"/>
              <a:buChar char="§"/>
            </a:pPr>
            <a:r>
              <a:rPr lang="en-US" sz="2800" dirty="0"/>
              <a:t>It has also been used to identify victims of natural disasters and mass casualties, and to resolve paternity disputes.</a:t>
            </a:r>
          </a:p>
        </p:txBody>
      </p:sp>
    </p:spTree>
    <p:extLst>
      <p:ext uri="{BB962C8B-B14F-4D97-AF65-F5344CB8AC3E}">
        <p14:creationId xmlns:p14="http://schemas.microsoft.com/office/powerpoint/2010/main" val="421791319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ackgroundRemoval t="4432" b="100000" l="1739" r="97935">
                        <a14:foregroundMark x1="45109" y1="58574" x2="50326" y2="54143"/>
                        <a14:foregroundMark x1="22826" y1="40655" x2="22826" y2="40655"/>
                        <a14:foregroundMark x1="11196" y1="23507" x2="11196" y2="23507"/>
                        <a14:foregroundMark x1="85109" y1="29865" x2="85109" y2="29865"/>
                        <a14:foregroundMark x1="69457" y1="71676" x2="69457" y2="71676"/>
                        <a14:foregroundMark x1="35435" y1="76879" x2="35435" y2="76879"/>
                      </a14:backgroundRemoval>
                    </a14:imgEffect>
                  </a14:imgLayer>
                </a14:imgProps>
              </a:ext>
              <a:ext uri="{28A0092B-C50C-407E-A947-70E740481C1C}">
                <a14:useLocalDpi xmlns:a14="http://schemas.microsoft.com/office/drawing/2010/main" val="0"/>
              </a:ext>
            </a:extLst>
          </a:blip>
          <a:stretch>
            <a:fillRect/>
          </a:stretch>
        </p:blipFill>
        <p:spPr>
          <a:xfrm>
            <a:off x="2617076" y="1799897"/>
            <a:ext cx="7010400" cy="3954780"/>
          </a:xfrm>
          <a:prstGeom prst="rect">
            <a:avLst/>
          </a:prstGeom>
        </p:spPr>
      </p:pic>
      <p:sp>
        <p:nvSpPr>
          <p:cNvPr id="2" name="Title 1"/>
          <p:cNvSpPr>
            <a:spLocks noGrp="1"/>
          </p:cNvSpPr>
          <p:nvPr>
            <p:ph type="ctrTitle"/>
          </p:nvPr>
        </p:nvSpPr>
        <p:spPr>
          <a:xfrm>
            <a:off x="2236076" y="1865587"/>
            <a:ext cx="7772400" cy="1470025"/>
          </a:xfrm>
        </p:spPr>
        <p:txBody>
          <a:bodyPr/>
          <a:lstStyle/>
          <a:p>
            <a:r>
              <a:rPr lang="en-US" sz="5400" b="1" dirty="0">
                <a:latin typeface="Algerian" pitchFamily="82" charset="0"/>
              </a:rPr>
              <a:t>PROTEINS</a:t>
            </a:r>
            <a:endParaRPr lang="en-IN" b="1" dirty="0">
              <a:latin typeface="Algerian" pitchFamily="82" charset="0"/>
            </a:endParaRPr>
          </a:p>
        </p:txBody>
      </p:sp>
      <p:sp>
        <p:nvSpPr>
          <p:cNvPr id="3" name="Subtitle 2"/>
          <p:cNvSpPr>
            <a:spLocks noGrp="1"/>
          </p:cNvSpPr>
          <p:nvPr>
            <p:ph type="subTitle" idx="1"/>
          </p:nvPr>
        </p:nvSpPr>
        <p:spPr>
          <a:xfrm>
            <a:off x="6705600" y="5334000"/>
            <a:ext cx="3733800" cy="1219200"/>
          </a:xfrm>
        </p:spPr>
        <p:txBody>
          <a:bodyPr>
            <a:normAutofit/>
          </a:bodyPr>
          <a:lstStyle/>
          <a:p>
            <a:r>
              <a:rPr lang="en-IN" dirty="0"/>
              <a:t>Pavithra K</a:t>
            </a:r>
          </a:p>
          <a:p>
            <a:r>
              <a:rPr lang="en-IN" dirty="0"/>
              <a:t>Assistant professor of basic science</a:t>
            </a:r>
          </a:p>
        </p:txBody>
      </p:sp>
    </p:spTree>
    <p:extLst>
      <p:ext uri="{BB962C8B-B14F-4D97-AF65-F5344CB8AC3E}">
        <p14:creationId xmlns:p14="http://schemas.microsoft.com/office/powerpoint/2010/main" val="265816620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00200" y="152401"/>
            <a:ext cx="8915400" cy="6555641"/>
          </a:xfrm>
          <a:prstGeom prst="rect">
            <a:avLst/>
          </a:prstGeom>
        </p:spPr>
        <p:txBody>
          <a:bodyPr wrap="square">
            <a:spAutoFit/>
          </a:bodyPr>
          <a:lstStyle/>
          <a:p>
            <a:pPr marL="457200" indent="-457200" algn="just">
              <a:lnSpc>
                <a:spcPct val="150000"/>
              </a:lnSpc>
              <a:buFont typeface="Wingdings" pitchFamily="2" charset="2"/>
              <a:buChar char="§"/>
            </a:pPr>
            <a:r>
              <a:rPr lang="en-US" sz="2800" dirty="0"/>
              <a:t>Proteins are large, complex molecules </a:t>
            </a:r>
          </a:p>
          <a:p>
            <a:pPr marL="457200" indent="-457200" algn="just">
              <a:lnSpc>
                <a:spcPct val="150000"/>
              </a:lnSpc>
              <a:buFont typeface="Wingdings" pitchFamily="2" charset="2"/>
              <a:buChar char="§"/>
            </a:pPr>
            <a:r>
              <a:rPr lang="en-US" sz="2800" dirty="0"/>
              <a:t>Made up of chains of smaller building blocks - amino acids. </a:t>
            </a:r>
          </a:p>
          <a:p>
            <a:pPr marL="457200" indent="-457200" algn="just">
              <a:lnSpc>
                <a:spcPct val="150000"/>
              </a:lnSpc>
              <a:buFont typeface="Wingdings" pitchFamily="2" charset="2"/>
              <a:buChar char="§"/>
            </a:pPr>
            <a:r>
              <a:rPr lang="en-US" sz="2800" dirty="0"/>
              <a:t>They play a vital role in the structure, function, and regulation of cells, tissues, and organs.</a:t>
            </a:r>
          </a:p>
          <a:p>
            <a:pPr marL="457200" indent="-457200" algn="just">
              <a:lnSpc>
                <a:spcPct val="150000"/>
              </a:lnSpc>
              <a:buFont typeface="Wingdings" pitchFamily="2" charset="2"/>
              <a:buChar char="§"/>
            </a:pPr>
            <a:r>
              <a:rPr lang="en-US" sz="2800" dirty="0"/>
              <a:t>Proteins are also involved in immune responses, hormone regulation, and muscle contraction. </a:t>
            </a:r>
          </a:p>
          <a:p>
            <a:pPr marL="457200" indent="-457200" algn="just">
              <a:lnSpc>
                <a:spcPct val="150000"/>
              </a:lnSpc>
              <a:buFont typeface="Wingdings" pitchFamily="2" charset="2"/>
              <a:buChar char="§"/>
            </a:pPr>
            <a:r>
              <a:rPr lang="en-US" sz="2800" dirty="0"/>
              <a:t>The structure of a protein determines its function, and the sequence of amino acids in a protein determines its structure. </a:t>
            </a:r>
          </a:p>
        </p:txBody>
      </p:sp>
    </p:spTree>
    <p:extLst>
      <p:ext uri="{BB962C8B-B14F-4D97-AF65-F5344CB8AC3E}">
        <p14:creationId xmlns:p14="http://schemas.microsoft.com/office/powerpoint/2010/main" val="337838173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0"/>
            <a:ext cx="8839200" cy="7201972"/>
          </a:xfrm>
          <a:prstGeom prst="rect">
            <a:avLst/>
          </a:prstGeom>
        </p:spPr>
        <p:txBody>
          <a:bodyPr wrap="square">
            <a:spAutoFit/>
          </a:bodyPr>
          <a:lstStyle/>
          <a:p>
            <a:pPr marL="457200" indent="-457200" algn="just">
              <a:lnSpc>
                <a:spcPct val="150000"/>
              </a:lnSpc>
              <a:buFont typeface="Wingdings" pitchFamily="2" charset="2"/>
              <a:buChar char="§"/>
            </a:pPr>
            <a:r>
              <a:rPr lang="en-US" sz="2800" dirty="0"/>
              <a:t>20 different types of amino acids - Specific sequence of amino acids in a protein determines its unique structure and function.</a:t>
            </a:r>
          </a:p>
          <a:p>
            <a:pPr marL="457200" indent="-457200" algn="just">
              <a:lnSpc>
                <a:spcPct val="150000"/>
              </a:lnSpc>
              <a:buFont typeface="Wingdings" pitchFamily="2" charset="2"/>
              <a:buChar char="§"/>
            </a:pPr>
            <a:r>
              <a:rPr lang="en-US" sz="2800" dirty="0"/>
              <a:t>Understanding the structure and function is a major focus of biomedical research for developing new treatments and therapies for the diseases.</a:t>
            </a:r>
          </a:p>
          <a:p>
            <a:pPr marL="457200" indent="-457200" algn="just">
              <a:lnSpc>
                <a:spcPct val="150000"/>
              </a:lnSpc>
              <a:buFont typeface="Wingdings" pitchFamily="2" charset="2"/>
              <a:buChar char="§"/>
            </a:pPr>
            <a:r>
              <a:rPr lang="en-US" sz="2800" dirty="0"/>
              <a:t>Proteins play a critical role in many biological processes </a:t>
            </a:r>
          </a:p>
          <a:p>
            <a:pPr marL="457200" indent="-457200" algn="just">
              <a:lnSpc>
                <a:spcPct val="150000"/>
              </a:lnSpc>
              <a:buFont typeface="Wingdings" pitchFamily="2" charset="2"/>
              <a:buChar char="§"/>
            </a:pPr>
            <a:r>
              <a:rPr lang="en-US" sz="2800" dirty="0"/>
              <a:t>Dysfunction is involved in the development of many diseases - cancer, heart disease, and neurological disorders.</a:t>
            </a:r>
          </a:p>
          <a:p>
            <a:pPr marL="457200" indent="-457200" algn="just">
              <a:lnSpc>
                <a:spcPct val="150000"/>
              </a:lnSpc>
              <a:buFont typeface="Wingdings" pitchFamily="2" charset="2"/>
              <a:buChar char="§"/>
            </a:pPr>
            <a:endParaRPr lang="en-US" sz="2800" dirty="0"/>
          </a:p>
        </p:txBody>
      </p:sp>
    </p:spTree>
    <p:extLst>
      <p:ext uri="{BB962C8B-B14F-4D97-AF65-F5344CB8AC3E}">
        <p14:creationId xmlns:p14="http://schemas.microsoft.com/office/powerpoint/2010/main" val="36849530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sus\Pictures\Saved Pictures\main-qimg-ad186ee1b780f0108a675886ab0e1e46-pjlq.jpeg"/>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a:stretch>
            <a:fillRect/>
          </a:stretch>
        </p:blipFill>
        <p:spPr bwMode="auto">
          <a:xfrm>
            <a:off x="6540062" y="273269"/>
            <a:ext cx="4127938" cy="6400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371600" y="-207579"/>
            <a:ext cx="5257800" cy="7201972"/>
          </a:xfrm>
          <a:prstGeom prst="rect">
            <a:avLst/>
          </a:prstGeom>
        </p:spPr>
        <p:txBody>
          <a:bodyPr wrap="square">
            <a:spAutoFit/>
          </a:bodyPr>
          <a:lstStyle/>
          <a:p>
            <a:pPr marL="457200" indent="-457200" algn="just">
              <a:lnSpc>
                <a:spcPct val="150000"/>
              </a:lnSpc>
              <a:buFont typeface="Wingdings" pitchFamily="2" charset="2"/>
              <a:buChar char="§"/>
            </a:pPr>
            <a:r>
              <a:rPr lang="en-US" sz="2800" dirty="0"/>
              <a:t>Proteins are synthesized by cells from the genetic information encoded in DNA. </a:t>
            </a:r>
          </a:p>
          <a:p>
            <a:pPr marL="457200" indent="-457200" algn="just">
              <a:lnSpc>
                <a:spcPct val="150000"/>
              </a:lnSpc>
              <a:buFont typeface="Wingdings" pitchFamily="2" charset="2"/>
              <a:buChar char="§"/>
            </a:pPr>
            <a:r>
              <a:rPr lang="en-US" sz="2800" dirty="0"/>
              <a:t>It begins when the genetic code for a particular protein is transcribed into messenger RNA (mRNA) in nucleus </a:t>
            </a:r>
          </a:p>
          <a:p>
            <a:pPr marL="457200" indent="-457200" algn="just">
              <a:lnSpc>
                <a:spcPct val="150000"/>
              </a:lnSpc>
              <a:buFont typeface="Wingdings" pitchFamily="2" charset="2"/>
              <a:buChar char="§"/>
            </a:pPr>
            <a:r>
              <a:rPr lang="en-US" sz="2800" dirty="0"/>
              <a:t>mRNA transported out of the nucleus to cytoplasm then it translated into protein by ribosomes. </a:t>
            </a:r>
            <a:endParaRPr lang="en-IN" sz="2800" dirty="0"/>
          </a:p>
        </p:txBody>
      </p:sp>
    </p:spTree>
    <p:extLst>
      <p:ext uri="{BB962C8B-B14F-4D97-AF65-F5344CB8AC3E}">
        <p14:creationId xmlns:p14="http://schemas.microsoft.com/office/powerpoint/2010/main" val="309853352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2B0857-24B1-4F1E-8997-5C18213F4654}"/>
              </a:ext>
            </a:extLst>
          </p:cNvPr>
          <p:cNvSpPr/>
          <p:nvPr/>
        </p:nvSpPr>
        <p:spPr>
          <a:xfrm>
            <a:off x="0" y="1"/>
            <a:ext cx="12084148" cy="6232475"/>
          </a:xfrm>
          <a:prstGeom prst="rect">
            <a:avLst/>
          </a:prstGeom>
        </p:spPr>
        <p:txBody>
          <a:bodyPr wrap="square">
            <a:spAutoFit/>
          </a:bodyPr>
          <a:lstStyle/>
          <a:p>
            <a:pPr algn="just"/>
            <a:r>
              <a:rPr lang="en-US" sz="2100" b="1" dirty="0">
                <a:solidFill>
                  <a:srgbClr val="000000"/>
                </a:solidFill>
                <a:latin typeface="-apple-system"/>
              </a:rPr>
              <a:t>Properties of Proteins</a:t>
            </a:r>
            <a:endParaRPr lang="en-US" sz="2100" dirty="0">
              <a:solidFill>
                <a:srgbClr val="000000"/>
              </a:solidFill>
              <a:latin typeface="-apple-system"/>
            </a:endParaRPr>
          </a:p>
          <a:p>
            <a:pPr algn="just"/>
            <a:r>
              <a:rPr lang="en-US" sz="2100" b="1" dirty="0">
                <a:solidFill>
                  <a:srgbClr val="000000"/>
                </a:solidFill>
                <a:latin typeface="-apple-system"/>
              </a:rPr>
              <a:t>Solubility in Water</a:t>
            </a:r>
            <a:endParaRPr lang="en-US" sz="2100" dirty="0">
              <a:solidFill>
                <a:srgbClr val="000000"/>
              </a:solidFill>
              <a:latin typeface="-apple-system"/>
            </a:endParaRPr>
          </a:p>
          <a:p>
            <a:pPr algn="just">
              <a:buFont typeface="Arial" panose="020B0604020202020204" pitchFamily="34" charset="0"/>
              <a:buChar char="•"/>
            </a:pPr>
            <a:r>
              <a:rPr lang="en-US" sz="2100" dirty="0">
                <a:solidFill>
                  <a:srgbClr val="000000"/>
                </a:solidFill>
                <a:latin typeface="-apple-system"/>
              </a:rPr>
              <a:t>The relationship of proteins with water is complex.</a:t>
            </a:r>
          </a:p>
          <a:p>
            <a:pPr algn="just">
              <a:buFont typeface="Arial" panose="020B0604020202020204" pitchFamily="34" charset="0"/>
              <a:buChar char="•"/>
            </a:pPr>
            <a:r>
              <a:rPr lang="en-US" sz="2100" dirty="0">
                <a:solidFill>
                  <a:srgbClr val="000000"/>
                </a:solidFill>
                <a:latin typeface="-apple-system"/>
              </a:rPr>
              <a:t>The secondary structure of proteins depends largely on the interaction of peptide bonds with water through hydrogen bonds.</a:t>
            </a:r>
          </a:p>
          <a:p>
            <a:pPr algn="just">
              <a:buFont typeface="Arial" panose="020B0604020202020204" pitchFamily="34" charset="0"/>
              <a:buChar char="•"/>
            </a:pPr>
            <a:r>
              <a:rPr lang="en-US" sz="2100" dirty="0">
                <a:solidFill>
                  <a:srgbClr val="000000"/>
                </a:solidFill>
                <a:latin typeface="-apple-system"/>
              </a:rPr>
              <a:t>Hydrogen bonds are also formed between protein (alpha and beta structures) and water. The protein-rich static ball is more soluble than the helical structures.</a:t>
            </a:r>
          </a:p>
          <a:p>
            <a:pPr algn="just">
              <a:buFont typeface="Arial" panose="020B0604020202020204" pitchFamily="34" charset="0"/>
              <a:buChar char="•"/>
            </a:pPr>
            <a:r>
              <a:rPr lang="en-US" sz="2100" dirty="0">
                <a:solidFill>
                  <a:srgbClr val="000000"/>
                </a:solidFill>
                <a:latin typeface="-apple-system"/>
              </a:rPr>
              <a:t>At the tertiary structure, water causes the orientation of the chains and hydrophilic radicals to the outside of the molecule, while the hydrophobic chains and radicals tend to react with each other within the molecule (hydrophobic effect).</a:t>
            </a:r>
          </a:p>
          <a:p>
            <a:pPr algn="just"/>
            <a:r>
              <a:rPr lang="en-US" sz="2100" b="1" dirty="0">
                <a:solidFill>
                  <a:srgbClr val="000000"/>
                </a:solidFill>
                <a:latin typeface="-apple-system"/>
              </a:rPr>
              <a:t>Denaturation and Renaturation</a:t>
            </a:r>
            <a:endParaRPr lang="en-US" sz="2100" dirty="0">
              <a:solidFill>
                <a:srgbClr val="000000"/>
              </a:solidFill>
              <a:latin typeface="-apple-system"/>
            </a:endParaRPr>
          </a:p>
          <a:p>
            <a:pPr algn="just">
              <a:buFont typeface="Arial" panose="020B0604020202020204" pitchFamily="34" charset="0"/>
              <a:buChar char="•"/>
            </a:pPr>
            <a:r>
              <a:rPr lang="en-US" sz="2100" dirty="0">
                <a:solidFill>
                  <a:srgbClr val="000000"/>
                </a:solidFill>
                <a:latin typeface="-apple-system"/>
              </a:rPr>
              <a:t>Proteins can be denatured by agents such as heat and urea that cause the unfolding of polypeptide chains without causing hydrolysis of peptide bonds.</a:t>
            </a:r>
          </a:p>
          <a:p>
            <a:pPr algn="just">
              <a:buFont typeface="Arial" panose="020B0604020202020204" pitchFamily="34" charset="0"/>
              <a:buChar char="•"/>
            </a:pPr>
            <a:r>
              <a:rPr lang="en-US" sz="2100" dirty="0">
                <a:solidFill>
                  <a:srgbClr val="000000"/>
                </a:solidFill>
                <a:latin typeface="-apple-system"/>
              </a:rPr>
              <a:t>The denaturing agents destroy secondary and tertiary structures, without affecting the primary structure.</a:t>
            </a:r>
          </a:p>
          <a:p>
            <a:pPr algn="just">
              <a:buFont typeface="Arial" panose="020B0604020202020204" pitchFamily="34" charset="0"/>
              <a:buChar char="•"/>
            </a:pPr>
            <a:r>
              <a:rPr lang="en-US" sz="2100" dirty="0">
                <a:solidFill>
                  <a:srgbClr val="000000"/>
                </a:solidFill>
                <a:latin typeface="-apple-system"/>
              </a:rPr>
              <a:t>If a denatured protein returns to its native state after the denaturing agent is removed, the process is called renaturation.</a:t>
            </a:r>
          </a:p>
          <a:p>
            <a:pPr algn="just"/>
            <a:r>
              <a:rPr lang="en-US" sz="2100" dirty="0">
                <a:solidFill>
                  <a:srgbClr val="000000"/>
                </a:solidFill>
                <a:latin typeface="-apple-system"/>
              </a:rPr>
              <a:t>Some of the denaturing agents include</a:t>
            </a:r>
          </a:p>
          <a:p>
            <a:pPr algn="just"/>
            <a:r>
              <a:rPr lang="en-US" sz="2100" b="1" dirty="0">
                <a:solidFill>
                  <a:srgbClr val="000000"/>
                </a:solidFill>
                <a:latin typeface="-apple-system"/>
              </a:rPr>
              <a:t>Physical agents</a:t>
            </a:r>
            <a:r>
              <a:rPr lang="en-US" sz="2100" dirty="0">
                <a:solidFill>
                  <a:srgbClr val="000000"/>
                </a:solidFill>
                <a:latin typeface="-apple-system"/>
              </a:rPr>
              <a:t>: Heat, radiation, pH</a:t>
            </a:r>
          </a:p>
          <a:p>
            <a:pPr algn="just"/>
            <a:r>
              <a:rPr lang="en-US" sz="2100" b="1" dirty="0">
                <a:solidFill>
                  <a:srgbClr val="000000"/>
                </a:solidFill>
                <a:latin typeface="-apple-system"/>
              </a:rPr>
              <a:t>Chemical agents</a:t>
            </a:r>
            <a:r>
              <a:rPr lang="en-US" sz="2100" dirty="0">
                <a:solidFill>
                  <a:srgbClr val="000000"/>
                </a:solidFill>
                <a:latin typeface="-apple-system"/>
              </a:rPr>
              <a:t>: Urea solution which forms new hydrogen bonds in the protein, organic solvents, detergents.</a:t>
            </a:r>
          </a:p>
        </p:txBody>
      </p:sp>
    </p:spTree>
    <p:extLst>
      <p:ext uri="{BB962C8B-B14F-4D97-AF65-F5344CB8AC3E}">
        <p14:creationId xmlns:p14="http://schemas.microsoft.com/office/powerpoint/2010/main" val="303846244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AF5656-4FDE-4DED-AD60-7809D00C791E}"/>
              </a:ext>
            </a:extLst>
          </p:cNvPr>
          <p:cNvSpPr/>
          <p:nvPr/>
        </p:nvSpPr>
        <p:spPr>
          <a:xfrm>
            <a:off x="0" y="1"/>
            <a:ext cx="12192000" cy="6817251"/>
          </a:xfrm>
          <a:prstGeom prst="rect">
            <a:avLst/>
          </a:prstGeom>
        </p:spPr>
        <p:txBody>
          <a:bodyPr wrap="square">
            <a:spAutoFit/>
          </a:bodyPr>
          <a:lstStyle/>
          <a:p>
            <a:pPr algn="just"/>
            <a:r>
              <a:rPr lang="en-US" sz="2300" b="1" dirty="0">
                <a:solidFill>
                  <a:srgbClr val="000000"/>
                </a:solidFill>
                <a:latin typeface="-apple-system"/>
              </a:rPr>
              <a:t>Coagulation</a:t>
            </a:r>
            <a:endParaRPr lang="en-US" sz="2300" dirty="0">
              <a:solidFill>
                <a:srgbClr val="000000"/>
              </a:solidFill>
              <a:latin typeface="-apple-system"/>
            </a:endParaRPr>
          </a:p>
          <a:p>
            <a:pPr algn="just"/>
            <a:r>
              <a:rPr lang="en-US" sz="2300" dirty="0">
                <a:solidFill>
                  <a:srgbClr val="000000"/>
                </a:solidFill>
                <a:latin typeface="-apple-system"/>
              </a:rPr>
              <a:t>When proteins are denatured by heat, they form insoluble aggregates known as coagulum. All the proteins are not heat coagulable, only a few like the albumins, globulins are heat coagulable.</a:t>
            </a:r>
          </a:p>
          <a:p>
            <a:pPr algn="just"/>
            <a:r>
              <a:rPr lang="en-US" sz="2300" b="1" dirty="0">
                <a:solidFill>
                  <a:srgbClr val="000000"/>
                </a:solidFill>
                <a:latin typeface="-apple-system"/>
              </a:rPr>
              <a:t>Isoelectric point</a:t>
            </a:r>
            <a:endParaRPr lang="en-US" sz="2300" dirty="0">
              <a:solidFill>
                <a:srgbClr val="000000"/>
              </a:solidFill>
              <a:latin typeface="-apple-system"/>
            </a:endParaRPr>
          </a:p>
          <a:p>
            <a:pPr algn="just">
              <a:buFont typeface="Arial" panose="020B0604020202020204" pitchFamily="34" charset="0"/>
              <a:buChar char="•"/>
            </a:pPr>
            <a:r>
              <a:rPr lang="en-US" sz="2300" dirty="0">
                <a:solidFill>
                  <a:srgbClr val="000000"/>
                </a:solidFill>
                <a:latin typeface="-apple-system"/>
              </a:rPr>
              <a:t>The isoelectric point (</a:t>
            </a:r>
            <a:r>
              <a:rPr lang="en-US" sz="2300" dirty="0" err="1">
                <a:solidFill>
                  <a:srgbClr val="000000"/>
                </a:solidFill>
                <a:latin typeface="-apple-system"/>
              </a:rPr>
              <a:t>pI</a:t>
            </a:r>
            <a:r>
              <a:rPr lang="en-US" sz="2300" dirty="0">
                <a:solidFill>
                  <a:srgbClr val="000000"/>
                </a:solidFill>
                <a:latin typeface="-apple-system"/>
              </a:rPr>
              <a:t>) is the pH at which the number of positive charges equals the number of negative charges, and the overall charge on the amino acid is zero.</a:t>
            </a:r>
          </a:p>
          <a:p>
            <a:pPr algn="just">
              <a:buFont typeface="Arial" panose="020B0604020202020204" pitchFamily="34" charset="0"/>
              <a:buChar char="•"/>
            </a:pPr>
            <a:r>
              <a:rPr lang="en-US" sz="2300" dirty="0">
                <a:solidFill>
                  <a:srgbClr val="000000"/>
                </a:solidFill>
                <a:latin typeface="-apple-system"/>
              </a:rPr>
              <a:t>At this point, when subjected to an electric field the proteins do not move either towards anode or cathode, hence this property is used to isolate proteins.</a:t>
            </a:r>
          </a:p>
          <a:p>
            <a:pPr algn="just"/>
            <a:r>
              <a:rPr lang="en-US" sz="2300" b="1" dirty="0">
                <a:solidFill>
                  <a:srgbClr val="000000"/>
                </a:solidFill>
                <a:latin typeface="-apple-system"/>
              </a:rPr>
              <a:t>Molecular Weights of Proteins</a:t>
            </a:r>
            <a:endParaRPr lang="en-US" sz="2300" dirty="0">
              <a:solidFill>
                <a:srgbClr val="000000"/>
              </a:solidFill>
              <a:latin typeface="-apple-system"/>
            </a:endParaRPr>
          </a:p>
          <a:p>
            <a:pPr algn="just">
              <a:buFont typeface="Arial" panose="020B0604020202020204" pitchFamily="34" charset="0"/>
              <a:buChar char="•"/>
            </a:pPr>
            <a:r>
              <a:rPr lang="en-US" sz="2300" dirty="0">
                <a:solidFill>
                  <a:srgbClr val="000000"/>
                </a:solidFill>
                <a:latin typeface="-apple-system"/>
              </a:rPr>
              <a:t>The average molecular weight of an amino acid is taken to be 110.</a:t>
            </a:r>
          </a:p>
          <a:p>
            <a:pPr algn="just">
              <a:buFont typeface="Arial" panose="020B0604020202020204" pitchFamily="34" charset="0"/>
              <a:buChar char="•"/>
            </a:pPr>
            <a:r>
              <a:rPr lang="en-US" sz="2300" dirty="0">
                <a:solidFill>
                  <a:srgbClr val="000000"/>
                </a:solidFill>
                <a:latin typeface="-apple-system"/>
              </a:rPr>
              <a:t>The total number of amino acids in a protein multiplied by 110 gives the approximate molecular weight of that protein.</a:t>
            </a:r>
          </a:p>
          <a:p>
            <a:pPr algn="just">
              <a:buFont typeface="Arial" panose="020B0604020202020204" pitchFamily="34" charset="0"/>
              <a:buChar char="•"/>
            </a:pPr>
            <a:r>
              <a:rPr lang="en-US" sz="2300" dirty="0">
                <a:solidFill>
                  <a:srgbClr val="000000"/>
                </a:solidFill>
                <a:latin typeface="-apple-system"/>
              </a:rPr>
              <a:t>Different proteins have different amino acid compositions and hence their molecular weights differ.</a:t>
            </a:r>
          </a:p>
          <a:p>
            <a:pPr algn="just">
              <a:buFont typeface="Arial" panose="020B0604020202020204" pitchFamily="34" charset="0"/>
              <a:buChar char="•"/>
            </a:pPr>
            <a:r>
              <a:rPr lang="en-US" sz="2300" dirty="0">
                <a:solidFill>
                  <a:srgbClr val="000000"/>
                </a:solidFill>
                <a:latin typeface="-apple-system"/>
              </a:rPr>
              <a:t>The molecular weights of proteins range from 5000 to 10</a:t>
            </a:r>
            <a:r>
              <a:rPr lang="en-US" sz="2300" baseline="30000" dirty="0">
                <a:solidFill>
                  <a:srgbClr val="000000"/>
                </a:solidFill>
                <a:latin typeface="-apple-system"/>
              </a:rPr>
              <a:t>9 </a:t>
            </a:r>
            <a:r>
              <a:rPr lang="en-US" sz="2300" dirty="0">
                <a:solidFill>
                  <a:srgbClr val="000000"/>
                </a:solidFill>
                <a:latin typeface="-apple-system"/>
              </a:rPr>
              <a:t>Daltons. </a:t>
            </a:r>
          </a:p>
          <a:p>
            <a:pPr algn="just"/>
            <a:r>
              <a:rPr lang="en-US" sz="2300" b="1" dirty="0">
                <a:solidFill>
                  <a:srgbClr val="000000"/>
                </a:solidFill>
                <a:latin typeface="-apple-system"/>
              </a:rPr>
              <a:t>Posttranslational modifications</a:t>
            </a:r>
            <a:endParaRPr lang="en-US" sz="2300" dirty="0">
              <a:solidFill>
                <a:srgbClr val="000000"/>
              </a:solidFill>
              <a:latin typeface="-apple-system"/>
            </a:endParaRPr>
          </a:p>
          <a:p>
            <a:pPr algn="just">
              <a:buFont typeface="Arial" panose="020B0604020202020204" pitchFamily="34" charset="0"/>
              <a:buChar char="•"/>
            </a:pPr>
            <a:r>
              <a:rPr lang="en-US" sz="2300" dirty="0">
                <a:solidFill>
                  <a:srgbClr val="000000"/>
                </a:solidFill>
                <a:latin typeface="-apple-system"/>
              </a:rPr>
              <a:t>It occurs after the protein has been synthesized on the ribosome.</a:t>
            </a:r>
          </a:p>
          <a:p>
            <a:pPr algn="just">
              <a:buFont typeface="Arial" panose="020B0604020202020204" pitchFamily="34" charset="0"/>
              <a:buChar char="•"/>
            </a:pPr>
            <a:r>
              <a:rPr lang="en-US" sz="2300" dirty="0">
                <a:solidFill>
                  <a:srgbClr val="000000"/>
                </a:solidFill>
                <a:latin typeface="-apple-system"/>
              </a:rPr>
              <a:t>Phosphorylation, glycosylation, ADP ribosylation, methylation, hydroxylation, and acetylation affect the charge and the interactions between amino acid residues, altering the three-dimensional configuration and, thus, the function of the protein.</a:t>
            </a:r>
          </a:p>
        </p:txBody>
      </p:sp>
    </p:spTree>
    <p:extLst>
      <p:ext uri="{BB962C8B-B14F-4D97-AF65-F5344CB8AC3E}">
        <p14:creationId xmlns:p14="http://schemas.microsoft.com/office/powerpoint/2010/main" val="235334631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00200" y="152401"/>
            <a:ext cx="8915400" cy="6555641"/>
          </a:xfrm>
          <a:prstGeom prst="rect">
            <a:avLst/>
          </a:prstGeom>
        </p:spPr>
        <p:txBody>
          <a:bodyPr wrap="square">
            <a:spAutoFit/>
          </a:bodyPr>
          <a:lstStyle/>
          <a:p>
            <a:pPr algn="just"/>
            <a:r>
              <a:rPr lang="en-US" sz="2800" dirty="0"/>
              <a:t>Functions of Proteins </a:t>
            </a:r>
          </a:p>
          <a:p>
            <a:pPr marL="514350" indent="-514350" algn="just">
              <a:buAutoNum type="arabicPeriod"/>
            </a:pPr>
            <a:r>
              <a:rPr lang="en-US" sz="2800" b="1" dirty="0">
                <a:solidFill>
                  <a:schemeClr val="accent3">
                    <a:lumMod val="75000"/>
                  </a:schemeClr>
                </a:solidFill>
              </a:rPr>
              <a:t>Catalyzing chemical reactions </a:t>
            </a:r>
            <a:endParaRPr lang="en-US" sz="2800" b="1" dirty="0"/>
          </a:p>
          <a:p>
            <a:pPr marL="914400" lvl="1" indent="-457200" algn="just">
              <a:buFont typeface="Arial" pitchFamily="34" charset="0"/>
              <a:buChar char="•"/>
            </a:pPr>
            <a:r>
              <a:rPr lang="en-US" sz="2800" b="1" dirty="0"/>
              <a:t>Amylase</a:t>
            </a:r>
            <a:r>
              <a:rPr lang="en-US" sz="2800" dirty="0"/>
              <a:t>: Enzyme that breaks down starch into simple sugars - glucose and maltose. It is found in saliva and pancreatic juice. </a:t>
            </a:r>
          </a:p>
          <a:p>
            <a:pPr marL="914400" lvl="1" indent="-457200" algn="just">
              <a:buFont typeface="Arial" pitchFamily="34" charset="0"/>
              <a:buChar char="•"/>
            </a:pPr>
            <a:r>
              <a:rPr lang="en-US" sz="2800" b="1" dirty="0"/>
              <a:t>Lipase</a:t>
            </a:r>
            <a:r>
              <a:rPr lang="en-US" sz="2800" dirty="0"/>
              <a:t>: breaks down fats- fatty acids and glycerol. It is found in the pancreas and small intestine. </a:t>
            </a:r>
          </a:p>
          <a:p>
            <a:pPr marL="914400" lvl="1" indent="-457200" algn="just">
              <a:buFont typeface="Arial" pitchFamily="34" charset="0"/>
              <a:buChar char="•"/>
            </a:pPr>
            <a:r>
              <a:rPr lang="en-US" sz="2800" b="1" dirty="0"/>
              <a:t>Catalase</a:t>
            </a:r>
            <a:r>
              <a:rPr lang="en-US" sz="2800" dirty="0"/>
              <a:t>: converts hydrogen peroxide - water and oxygen. It is found in most cells of the body.</a:t>
            </a:r>
          </a:p>
          <a:p>
            <a:pPr marL="914400" lvl="1" indent="-457200" algn="just">
              <a:buFont typeface="Arial" pitchFamily="34" charset="0"/>
              <a:buChar char="•"/>
            </a:pPr>
            <a:r>
              <a:rPr lang="en-US" sz="2800" b="1" dirty="0"/>
              <a:t>Trypsin</a:t>
            </a:r>
            <a:r>
              <a:rPr lang="en-US" sz="2800" dirty="0"/>
              <a:t>: breaks down proteins - smaller peptides. It is produced in the pancreas and released into the small intestine. </a:t>
            </a:r>
          </a:p>
          <a:p>
            <a:pPr marL="914400" lvl="1" indent="-457200" algn="just">
              <a:buFont typeface="Arial" pitchFamily="34" charset="0"/>
              <a:buChar char="•"/>
            </a:pPr>
            <a:r>
              <a:rPr lang="en-US" sz="2800" b="1" dirty="0"/>
              <a:t>ATP synthase</a:t>
            </a:r>
            <a:r>
              <a:rPr lang="en-US" sz="2800" dirty="0"/>
              <a:t>: synthesis of ATP (adenosine triphosphate) from ADP (adenosine </a:t>
            </a:r>
            <a:r>
              <a:rPr lang="en-US" sz="2800" dirty="0" err="1"/>
              <a:t>diphosphate</a:t>
            </a:r>
            <a:r>
              <a:rPr lang="en-US" sz="2800" dirty="0"/>
              <a:t>) and phosphate. It is found in the mitochondria of cells. </a:t>
            </a:r>
            <a:endParaRPr lang="en-IN" sz="2800" dirty="0"/>
          </a:p>
        </p:txBody>
      </p:sp>
    </p:spTree>
    <p:extLst>
      <p:ext uri="{BB962C8B-B14F-4D97-AF65-F5344CB8AC3E}">
        <p14:creationId xmlns:p14="http://schemas.microsoft.com/office/powerpoint/2010/main" val="315985035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0"/>
            <a:ext cx="8839200" cy="5909310"/>
          </a:xfrm>
          <a:prstGeom prst="rect">
            <a:avLst/>
          </a:prstGeom>
        </p:spPr>
        <p:txBody>
          <a:bodyPr wrap="square">
            <a:spAutoFit/>
          </a:bodyPr>
          <a:lstStyle/>
          <a:p>
            <a:pPr marL="514350" indent="-514350" algn="just">
              <a:lnSpc>
                <a:spcPct val="150000"/>
              </a:lnSpc>
              <a:buAutoNum type="arabicPeriod" startAt="2"/>
            </a:pPr>
            <a:r>
              <a:rPr lang="en-US" sz="2800" b="1" dirty="0">
                <a:solidFill>
                  <a:schemeClr val="accent3">
                    <a:lumMod val="75000"/>
                  </a:schemeClr>
                </a:solidFill>
              </a:rPr>
              <a:t>Transporting molecules</a:t>
            </a:r>
          </a:p>
          <a:p>
            <a:pPr marL="914400" lvl="1" indent="-457200" algn="just">
              <a:lnSpc>
                <a:spcPct val="150000"/>
              </a:lnSpc>
              <a:buFont typeface="Arial" pitchFamily="34" charset="0"/>
              <a:buChar char="•"/>
            </a:pPr>
            <a:r>
              <a:rPr lang="en-US" sz="2800" b="1" dirty="0"/>
              <a:t>Hemoglobin</a:t>
            </a:r>
            <a:r>
              <a:rPr lang="en-US" sz="2800" dirty="0"/>
              <a:t>: protein in red blood cells - transports oxygen from the lungs to the tissues in the body. </a:t>
            </a:r>
          </a:p>
          <a:p>
            <a:pPr marL="914400" lvl="1" indent="-457200" algn="just">
              <a:lnSpc>
                <a:spcPct val="150000"/>
              </a:lnSpc>
              <a:buFont typeface="Arial" pitchFamily="34" charset="0"/>
              <a:buChar char="•"/>
            </a:pPr>
            <a:r>
              <a:rPr lang="en-US" sz="2800" b="1" dirty="0"/>
              <a:t>Albumin:</a:t>
            </a:r>
            <a:r>
              <a:rPr lang="en-US" sz="2800" dirty="0"/>
              <a:t> found in blood plasma - transport various substances - hormones, fatty acids, and drugs throughout the body.</a:t>
            </a:r>
          </a:p>
          <a:p>
            <a:pPr marL="914400" lvl="1" indent="-457200" algn="just">
              <a:lnSpc>
                <a:spcPct val="150000"/>
              </a:lnSpc>
              <a:buFont typeface="Arial" pitchFamily="34" charset="0"/>
              <a:buChar char="•"/>
            </a:pPr>
            <a:r>
              <a:rPr lang="en-US" sz="2800" b="1" dirty="0"/>
              <a:t>Transferrin</a:t>
            </a:r>
            <a:r>
              <a:rPr lang="en-US" sz="2800" dirty="0"/>
              <a:t>: transports iron in the blood from the site of absorption, in the gut to the bone marrow, liver, and other tissues that require it.</a:t>
            </a:r>
          </a:p>
        </p:txBody>
      </p:sp>
    </p:spTree>
    <p:extLst>
      <p:ext uri="{BB962C8B-B14F-4D97-AF65-F5344CB8AC3E}">
        <p14:creationId xmlns:p14="http://schemas.microsoft.com/office/powerpoint/2010/main" val="152774121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52401"/>
            <a:ext cx="8839200" cy="5262979"/>
          </a:xfrm>
          <a:prstGeom prst="rect">
            <a:avLst/>
          </a:prstGeom>
        </p:spPr>
        <p:txBody>
          <a:bodyPr wrap="square">
            <a:spAutoFit/>
          </a:bodyPr>
          <a:lstStyle/>
          <a:p>
            <a:pPr marL="914400" lvl="1" indent="-457200" algn="just">
              <a:lnSpc>
                <a:spcPct val="150000"/>
              </a:lnSpc>
              <a:buFont typeface="Arial" pitchFamily="34" charset="0"/>
              <a:buChar char="•"/>
            </a:pPr>
            <a:r>
              <a:rPr lang="en-US" sz="2800" b="1" dirty="0" err="1"/>
              <a:t>Apolipoproteins</a:t>
            </a:r>
            <a:r>
              <a:rPr lang="en-US" sz="2800" b="1" dirty="0"/>
              <a:t>:</a:t>
            </a:r>
            <a:r>
              <a:rPr lang="en-US" sz="2800" dirty="0"/>
              <a:t> a family of proteins - transport lipids (fats) in the bloodstream.</a:t>
            </a:r>
          </a:p>
          <a:p>
            <a:pPr lvl="2" algn="just">
              <a:lnSpc>
                <a:spcPct val="150000"/>
              </a:lnSpc>
            </a:pPr>
            <a:r>
              <a:rPr lang="en-US" sz="2800" dirty="0"/>
              <a:t>Examples: </a:t>
            </a:r>
            <a:r>
              <a:rPr lang="en-US" sz="2800" dirty="0" err="1"/>
              <a:t>ApoA</a:t>
            </a:r>
            <a:r>
              <a:rPr lang="en-US" sz="2800" dirty="0"/>
              <a:t>, </a:t>
            </a:r>
            <a:r>
              <a:rPr lang="en-US" sz="2800" dirty="0" err="1"/>
              <a:t>ApoB</a:t>
            </a:r>
            <a:r>
              <a:rPr lang="en-US" sz="2800" dirty="0"/>
              <a:t>, and </a:t>
            </a:r>
            <a:r>
              <a:rPr lang="en-US" sz="2800" dirty="0" err="1"/>
              <a:t>ApoE</a:t>
            </a:r>
            <a:r>
              <a:rPr lang="en-US" sz="2800" dirty="0"/>
              <a:t>.</a:t>
            </a:r>
            <a:endParaRPr lang="en-IN" sz="2800" dirty="0"/>
          </a:p>
          <a:p>
            <a:pPr marL="914400" lvl="1" indent="-457200" algn="just">
              <a:lnSpc>
                <a:spcPct val="150000"/>
              </a:lnSpc>
              <a:buFont typeface="Arial" pitchFamily="34" charset="0"/>
              <a:buChar char="•"/>
            </a:pPr>
            <a:r>
              <a:rPr lang="en-US" sz="2800" b="1" dirty="0"/>
              <a:t>Ferritin</a:t>
            </a:r>
            <a:r>
              <a:rPr lang="en-US" sz="2800" dirty="0"/>
              <a:t>: protein that stores iron in a non-toxic form in liver, spleen, and bone marrow. </a:t>
            </a:r>
          </a:p>
          <a:p>
            <a:pPr marL="914400" lvl="1" indent="-457200" algn="just">
              <a:lnSpc>
                <a:spcPct val="150000"/>
              </a:lnSpc>
              <a:buFont typeface="Arial" pitchFamily="34" charset="0"/>
              <a:buChar char="•"/>
            </a:pPr>
            <a:r>
              <a:rPr lang="en-US" sz="2800" b="1" dirty="0"/>
              <a:t>Glut transporters</a:t>
            </a:r>
            <a:r>
              <a:rPr lang="en-US" sz="2800" dirty="0"/>
              <a:t>: a family of proteins that transport glucose and other sugars across cell membranes. Examples : GLUT1 and GLUT4</a:t>
            </a:r>
            <a:endParaRPr lang="en-IN" dirty="0"/>
          </a:p>
        </p:txBody>
      </p:sp>
    </p:spTree>
    <p:extLst>
      <p:ext uri="{BB962C8B-B14F-4D97-AF65-F5344CB8AC3E}">
        <p14:creationId xmlns:p14="http://schemas.microsoft.com/office/powerpoint/2010/main" val="98598157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0"/>
            <a:ext cx="8686800" cy="5909310"/>
          </a:xfrm>
          <a:prstGeom prst="rect">
            <a:avLst/>
          </a:prstGeom>
        </p:spPr>
        <p:txBody>
          <a:bodyPr wrap="square">
            <a:spAutoFit/>
          </a:bodyPr>
          <a:lstStyle/>
          <a:p>
            <a:pPr algn="just">
              <a:lnSpc>
                <a:spcPct val="150000"/>
              </a:lnSpc>
            </a:pPr>
            <a:r>
              <a:rPr lang="en-US" sz="2800" b="1" dirty="0">
                <a:solidFill>
                  <a:schemeClr val="accent3">
                    <a:lumMod val="75000"/>
                  </a:schemeClr>
                </a:solidFill>
              </a:rPr>
              <a:t>3.  Providing mechanical support </a:t>
            </a:r>
          </a:p>
          <a:p>
            <a:pPr marL="914400" lvl="1" indent="-457200" algn="just">
              <a:lnSpc>
                <a:spcPct val="150000"/>
              </a:lnSpc>
              <a:buFont typeface="Arial" pitchFamily="34" charset="0"/>
              <a:buChar char="•"/>
            </a:pPr>
            <a:r>
              <a:rPr lang="en-US" sz="2800" b="1" dirty="0"/>
              <a:t>Collagen</a:t>
            </a:r>
            <a:r>
              <a:rPr lang="en-US" sz="2800" dirty="0"/>
              <a:t>: structural protein in the body and provides support to tissues - skin, tendons, cartilage, bone, and teeth. </a:t>
            </a:r>
          </a:p>
          <a:p>
            <a:pPr marL="914400" lvl="1" indent="-457200" algn="just">
              <a:lnSpc>
                <a:spcPct val="150000"/>
              </a:lnSpc>
              <a:buFont typeface="Arial" pitchFamily="34" charset="0"/>
              <a:buChar char="•"/>
            </a:pPr>
            <a:r>
              <a:rPr lang="en-US" sz="2800" b="1" dirty="0"/>
              <a:t>Elastin</a:t>
            </a:r>
            <a:r>
              <a:rPr lang="en-US" sz="2800" dirty="0"/>
              <a:t>: protein that provides elasticity and </a:t>
            </a:r>
            <a:r>
              <a:rPr lang="en-US" sz="2800" dirty="0" err="1"/>
              <a:t>stretchability</a:t>
            </a:r>
            <a:r>
              <a:rPr lang="en-US" sz="2800" dirty="0"/>
              <a:t> to tissues - skin, lungs, arteries, and ligaments.</a:t>
            </a:r>
          </a:p>
          <a:p>
            <a:pPr marL="914400" lvl="1" indent="-457200" algn="just">
              <a:lnSpc>
                <a:spcPct val="150000"/>
              </a:lnSpc>
              <a:buFont typeface="Arial" pitchFamily="34" charset="0"/>
              <a:buChar char="•"/>
            </a:pPr>
            <a:r>
              <a:rPr lang="en-US" sz="2800" b="1" dirty="0"/>
              <a:t>Keratin: </a:t>
            </a:r>
            <a:r>
              <a:rPr lang="en-US" sz="2800" dirty="0"/>
              <a:t>protein that forms the structural basis of hair, nails, and the outer layer of skin.</a:t>
            </a:r>
          </a:p>
        </p:txBody>
      </p:sp>
    </p:spTree>
    <p:extLst>
      <p:ext uri="{BB962C8B-B14F-4D97-AF65-F5344CB8AC3E}">
        <p14:creationId xmlns:p14="http://schemas.microsoft.com/office/powerpoint/2010/main" val="39717528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6911" y="81643"/>
            <a:ext cx="8839200" cy="6555641"/>
          </a:xfrm>
          <a:prstGeom prst="rect">
            <a:avLst/>
          </a:prstGeom>
        </p:spPr>
        <p:txBody>
          <a:bodyPr wrap="square">
            <a:spAutoFit/>
          </a:bodyPr>
          <a:lstStyle/>
          <a:p>
            <a:pPr marL="914400" lvl="1" indent="-457200" algn="just">
              <a:lnSpc>
                <a:spcPct val="150000"/>
              </a:lnSpc>
              <a:buFont typeface="Arial" pitchFamily="34" charset="0"/>
              <a:buChar char="•"/>
            </a:pPr>
            <a:r>
              <a:rPr lang="en-US" sz="2800" b="1" dirty="0"/>
              <a:t>Actin and Myosin</a:t>
            </a:r>
            <a:r>
              <a:rPr lang="en-US" sz="2800" dirty="0"/>
              <a:t>: proteins that are involved in muscle contraction and provide the mechanical force required for movement. </a:t>
            </a:r>
          </a:p>
          <a:p>
            <a:pPr marL="914400" lvl="1" indent="-457200" algn="just">
              <a:lnSpc>
                <a:spcPct val="150000"/>
              </a:lnSpc>
              <a:buFont typeface="Arial" pitchFamily="34" charset="0"/>
              <a:buChar char="•"/>
            </a:pPr>
            <a:r>
              <a:rPr lang="en-US" sz="2800" b="1" dirty="0"/>
              <a:t>Tubulin:</a:t>
            </a:r>
            <a:r>
              <a:rPr lang="en-US" sz="2800" dirty="0"/>
              <a:t> protein - forms the structural basis of microtubules - provide support to cells </a:t>
            </a:r>
          </a:p>
          <a:p>
            <a:pPr lvl="2" algn="just">
              <a:lnSpc>
                <a:spcPct val="150000"/>
              </a:lnSpc>
            </a:pPr>
            <a:r>
              <a:rPr lang="en-US" sz="2800" dirty="0"/>
              <a:t>involved in various cellular processes - cell division and intracellular transport.</a:t>
            </a:r>
          </a:p>
          <a:p>
            <a:pPr marL="914400" lvl="1" indent="-457200" algn="just">
              <a:lnSpc>
                <a:spcPct val="150000"/>
              </a:lnSpc>
              <a:buFont typeface="Arial" pitchFamily="34" charset="0"/>
              <a:buChar char="•"/>
            </a:pPr>
            <a:r>
              <a:rPr lang="en-US" sz="2800" b="1" dirty="0" err="1"/>
              <a:t>Laminin</a:t>
            </a:r>
            <a:r>
              <a:rPr lang="en-US" sz="2800" dirty="0"/>
              <a:t>: protein - forms part of the extracellular matrix and provides structural support to cells in tissues - skin, muscles, and organs.</a:t>
            </a:r>
            <a:endParaRPr lang="en-IN" sz="2800" dirty="0"/>
          </a:p>
        </p:txBody>
      </p:sp>
    </p:spTree>
    <p:extLst>
      <p:ext uri="{BB962C8B-B14F-4D97-AF65-F5344CB8AC3E}">
        <p14:creationId xmlns:p14="http://schemas.microsoft.com/office/powerpoint/2010/main" val="202545958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7884"/>
            <a:ext cx="8839200" cy="6555641"/>
          </a:xfrm>
          <a:prstGeom prst="rect">
            <a:avLst/>
          </a:prstGeom>
        </p:spPr>
        <p:txBody>
          <a:bodyPr wrap="square">
            <a:spAutoFit/>
          </a:bodyPr>
          <a:lstStyle/>
          <a:p>
            <a:pPr algn="just">
              <a:lnSpc>
                <a:spcPct val="150000"/>
              </a:lnSpc>
            </a:pPr>
            <a:r>
              <a:rPr lang="en-US" sz="2800" b="1" dirty="0">
                <a:solidFill>
                  <a:schemeClr val="accent3">
                    <a:lumMod val="75000"/>
                  </a:schemeClr>
                </a:solidFill>
              </a:rPr>
              <a:t>4.</a:t>
            </a:r>
            <a:r>
              <a:rPr lang="en-US" sz="2800" b="1" dirty="0"/>
              <a:t>  </a:t>
            </a:r>
            <a:r>
              <a:rPr lang="en-US" sz="2800" b="1" dirty="0">
                <a:solidFill>
                  <a:schemeClr val="accent3">
                    <a:lumMod val="75000"/>
                  </a:schemeClr>
                </a:solidFill>
              </a:rPr>
              <a:t> Regulating cell behavior</a:t>
            </a:r>
          </a:p>
          <a:p>
            <a:pPr marL="914400" lvl="1" indent="-457200" algn="just">
              <a:lnSpc>
                <a:spcPct val="150000"/>
              </a:lnSpc>
              <a:buFont typeface="Arial" pitchFamily="34" charset="0"/>
              <a:buChar char="•"/>
            </a:pPr>
            <a:r>
              <a:rPr lang="en-US" sz="2800" b="1" dirty="0"/>
              <a:t>Receptor proteins</a:t>
            </a:r>
            <a:r>
              <a:rPr lang="en-US" sz="2800" dirty="0"/>
              <a:t>: located on the surface of cells -bind to specific signaling molecules - hormones, growth factors, and neurotransmitters -  and they trigger a cellular response - a change in gene expression or the activation of an intracellular signaling pathway.</a:t>
            </a:r>
          </a:p>
          <a:p>
            <a:pPr marL="914400" lvl="1" indent="-457200" algn="just">
              <a:lnSpc>
                <a:spcPct val="150000"/>
              </a:lnSpc>
              <a:buFont typeface="Arial" pitchFamily="34" charset="0"/>
              <a:buChar char="•"/>
            </a:pPr>
            <a:r>
              <a:rPr lang="en-US" sz="2800" b="1" dirty="0"/>
              <a:t>Enzymes</a:t>
            </a:r>
            <a:r>
              <a:rPr lang="en-US" sz="2800" dirty="0"/>
              <a:t>: proteins - catalyze specific chemical reactions in the body - kinases (phosphorylation) and phosphatases (</a:t>
            </a:r>
            <a:r>
              <a:rPr lang="en-US" sz="2800" dirty="0" err="1"/>
              <a:t>dephosphorylation</a:t>
            </a:r>
            <a:r>
              <a:rPr lang="en-US" sz="2800" dirty="0"/>
              <a:t>). </a:t>
            </a:r>
          </a:p>
        </p:txBody>
      </p:sp>
    </p:spTree>
    <p:extLst>
      <p:ext uri="{BB962C8B-B14F-4D97-AF65-F5344CB8AC3E}">
        <p14:creationId xmlns:p14="http://schemas.microsoft.com/office/powerpoint/2010/main" val="224733829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234" y="-152400"/>
            <a:ext cx="9007366" cy="7848302"/>
          </a:xfrm>
          <a:prstGeom prst="rect">
            <a:avLst/>
          </a:prstGeom>
        </p:spPr>
        <p:txBody>
          <a:bodyPr wrap="square">
            <a:spAutoFit/>
          </a:bodyPr>
          <a:lstStyle/>
          <a:p>
            <a:pPr marL="914400" lvl="1" indent="-457200" algn="just">
              <a:lnSpc>
                <a:spcPct val="150000"/>
              </a:lnSpc>
              <a:buFont typeface="Arial" pitchFamily="34" charset="0"/>
              <a:buChar char="•"/>
            </a:pPr>
            <a:r>
              <a:rPr lang="en-US" sz="2800" b="1" dirty="0"/>
              <a:t>Cytoskeleton proteins</a:t>
            </a:r>
            <a:r>
              <a:rPr lang="en-US" sz="2800" dirty="0"/>
              <a:t>: actin and tubulin, play a critical role in regulating cell shape, movement, and division.</a:t>
            </a:r>
          </a:p>
          <a:p>
            <a:pPr marL="914400" lvl="1" indent="-457200" algn="just">
              <a:lnSpc>
                <a:spcPct val="150000"/>
              </a:lnSpc>
              <a:buFont typeface="Arial" pitchFamily="34" charset="0"/>
              <a:buChar char="•"/>
            </a:pPr>
            <a:r>
              <a:rPr lang="en-US" sz="2800" b="1" dirty="0"/>
              <a:t>Transcription factors: </a:t>
            </a:r>
            <a:r>
              <a:rPr lang="en-US" sz="2800" dirty="0"/>
              <a:t>proteins that bind to DNA and regulate gene expression and regulating cellular differentiation, proliferation, and apoptosis. </a:t>
            </a:r>
          </a:p>
          <a:p>
            <a:pPr marL="914400" lvl="1" indent="-457200" algn="just">
              <a:lnSpc>
                <a:spcPct val="150000"/>
              </a:lnSpc>
              <a:buFont typeface="Arial" pitchFamily="34" charset="0"/>
              <a:buChar char="•"/>
            </a:pPr>
            <a:r>
              <a:rPr lang="en-US" sz="2800" b="1" dirty="0"/>
              <a:t>Adhesion proteins: </a:t>
            </a:r>
            <a:r>
              <a:rPr lang="en-US" sz="2800" dirty="0"/>
              <a:t>involved in cell-to-cell and cell to matrix adhesion- their regulating cell behavior - cell migration, tissue development, and wound healing.</a:t>
            </a:r>
          </a:p>
          <a:p>
            <a:pPr marL="914400" lvl="1" indent="-457200" algn="just">
              <a:lnSpc>
                <a:spcPct val="150000"/>
              </a:lnSpc>
              <a:buFont typeface="Arial" pitchFamily="34" charset="0"/>
              <a:buChar char="•"/>
            </a:pPr>
            <a:r>
              <a:rPr lang="en-US" sz="2800" b="1" dirty="0"/>
              <a:t>Ion channels</a:t>
            </a:r>
            <a:r>
              <a:rPr lang="en-US" sz="2800" dirty="0"/>
              <a:t>: are proteins that allow ions to move across the cell membrane, they regulating cellular excitability and communication.</a:t>
            </a:r>
          </a:p>
          <a:p>
            <a:pPr marL="914400" lvl="1" indent="-457200" algn="just">
              <a:lnSpc>
                <a:spcPct val="150000"/>
              </a:lnSpc>
              <a:buFont typeface="Arial" pitchFamily="34" charset="0"/>
              <a:buChar char="•"/>
            </a:pPr>
            <a:endParaRPr lang="en-US" sz="2800" dirty="0"/>
          </a:p>
        </p:txBody>
      </p:sp>
    </p:spTree>
    <p:extLst>
      <p:ext uri="{BB962C8B-B14F-4D97-AF65-F5344CB8AC3E}">
        <p14:creationId xmlns:p14="http://schemas.microsoft.com/office/powerpoint/2010/main" val="43209472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13338" y="-5255"/>
            <a:ext cx="8915400" cy="7201972"/>
          </a:xfrm>
          <a:prstGeom prst="rect">
            <a:avLst/>
          </a:prstGeom>
        </p:spPr>
        <p:txBody>
          <a:bodyPr wrap="square">
            <a:spAutoFit/>
          </a:bodyPr>
          <a:lstStyle/>
          <a:p>
            <a:pPr algn="just">
              <a:lnSpc>
                <a:spcPct val="150000"/>
              </a:lnSpc>
            </a:pPr>
            <a:r>
              <a:rPr lang="en-US" sz="2800" dirty="0"/>
              <a:t>PROTEINS AS FOOD </a:t>
            </a:r>
          </a:p>
          <a:p>
            <a:pPr marL="457200" indent="-457200" algn="just">
              <a:lnSpc>
                <a:spcPct val="150000"/>
              </a:lnSpc>
              <a:buFont typeface="Wingdings" pitchFamily="2" charset="2"/>
              <a:buChar char="§"/>
            </a:pPr>
            <a:r>
              <a:rPr lang="en-US" sz="2800" dirty="0"/>
              <a:t>Proteins are essential nutrients that provide the body with amino acids, which are the building blocks of the body's tissues.</a:t>
            </a:r>
          </a:p>
          <a:p>
            <a:pPr marL="457200" indent="-457200" algn="just">
              <a:lnSpc>
                <a:spcPct val="150000"/>
              </a:lnSpc>
              <a:buFont typeface="Wingdings" pitchFamily="2" charset="2"/>
              <a:buChar char="§"/>
            </a:pPr>
            <a:r>
              <a:rPr lang="en-US" sz="2800" dirty="0"/>
              <a:t>Proteins are found in many different foods - meat, poultry, fish, dairy products, beans, lentils, tofu, and eggs. </a:t>
            </a:r>
          </a:p>
          <a:p>
            <a:pPr marL="457200" indent="-457200" algn="just">
              <a:lnSpc>
                <a:spcPct val="150000"/>
              </a:lnSpc>
              <a:buFont typeface="Wingdings" pitchFamily="2" charset="2"/>
              <a:buChar char="§"/>
            </a:pPr>
            <a:r>
              <a:rPr lang="en-US" sz="2800" dirty="0"/>
              <a:t>Proteins are a vital component of a healthy diet - they help to build and repair tissues, support immune function, and regulate various metabolic processes.</a:t>
            </a:r>
          </a:p>
          <a:p>
            <a:pPr marL="457200" indent="-457200" algn="just">
              <a:lnSpc>
                <a:spcPct val="150000"/>
              </a:lnSpc>
              <a:buFont typeface="Wingdings" pitchFamily="2" charset="2"/>
              <a:buChar char="§"/>
            </a:pPr>
            <a:endParaRPr lang="en-IN" sz="2800" dirty="0"/>
          </a:p>
        </p:txBody>
      </p:sp>
    </p:spTree>
    <p:extLst>
      <p:ext uri="{BB962C8B-B14F-4D97-AF65-F5344CB8AC3E}">
        <p14:creationId xmlns:p14="http://schemas.microsoft.com/office/powerpoint/2010/main" val="259962279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76201"/>
            <a:ext cx="8915400" cy="5909310"/>
          </a:xfrm>
          <a:prstGeom prst="rect">
            <a:avLst/>
          </a:prstGeom>
        </p:spPr>
        <p:txBody>
          <a:bodyPr wrap="square">
            <a:spAutoFit/>
          </a:bodyPr>
          <a:lstStyle/>
          <a:p>
            <a:pPr marL="457200" indent="-457200" algn="just">
              <a:lnSpc>
                <a:spcPct val="150000"/>
              </a:lnSpc>
              <a:buFont typeface="Wingdings" pitchFamily="2" charset="2"/>
              <a:buChar char="§"/>
            </a:pPr>
            <a:r>
              <a:rPr lang="en-US" sz="2800" dirty="0"/>
              <a:t>The body uses proteins as a source of energy when carbohydrates and fats are not available. </a:t>
            </a:r>
          </a:p>
          <a:p>
            <a:pPr marL="457200" indent="-457200" algn="just">
              <a:lnSpc>
                <a:spcPct val="150000"/>
              </a:lnSpc>
              <a:buFont typeface="Wingdings" pitchFamily="2" charset="2"/>
              <a:buChar char="§"/>
            </a:pPr>
            <a:r>
              <a:rPr lang="en-US" sz="2800" dirty="0"/>
              <a:t>The quality of proteins in food is determined by the types of amino acids they contain, as well as the amount of each type of amino acid. </a:t>
            </a:r>
          </a:p>
          <a:p>
            <a:pPr marL="457200" indent="-457200" algn="just">
              <a:lnSpc>
                <a:spcPct val="150000"/>
              </a:lnSpc>
              <a:buFont typeface="Wingdings" pitchFamily="2" charset="2"/>
              <a:buChar char="§"/>
            </a:pPr>
            <a:r>
              <a:rPr lang="en-US" sz="2800" dirty="0"/>
              <a:t>To ensure adequate protein intake, it is important to consume a variety of protein-rich foods and to include both complete and incomplete protein sources in the diet.</a:t>
            </a:r>
            <a:endParaRPr lang="en-IN" sz="2800" dirty="0"/>
          </a:p>
        </p:txBody>
      </p:sp>
    </p:spTree>
    <p:extLst>
      <p:ext uri="{BB962C8B-B14F-4D97-AF65-F5344CB8AC3E}">
        <p14:creationId xmlns:p14="http://schemas.microsoft.com/office/powerpoint/2010/main" val="54187832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76201"/>
            <a:ext cx="8839200" cy="6555641"/>
          </a:xfrm>
          <a:prstGeom prst="rect">
            <a:avLst/>
          </a:prstGeom>
        </p:spPr>
        <p:txBody>
          <a:bodyPr wrap="square">
            <a:spAutoFit/>
          </a:bodyPr>
          <a:lstStyle/>
          <a:p>
            <a:pPr algn="just">
              <a:lnSpc>
                <a:spcPct val="150000"/>
              </a:lnSpc>
            </a:pPr>
            <a:r>
              <a:rPr lang="en-US" sz="2800" b="1" dirty="0"/>
              <a:t>WHEY PROTEIN AS FOOD </a:t>
            </a:r>
          </a:p>
          <a:p>
            <a:pPr marL="457200" indent="-457200" algn="just">
              <a:lnSpc>
                <a:spcPct val="150000"/>
              </a:lnSpc>
              <a:buFont typeface="Wingdings" pitchFamily="2" charset="2"/>
              <a:buChar char="§"/>
            </a:pPr>
            <a:r>
              <a:rPr lang="en-US" sz="2800" dirty="0"/>
              <a:t>A type of protein derived from the liquid that separates from milk during the cheese-making process. </a:t>
            </a:r>
          </a:p>
          <a:p>
            <a:pPr marL="457200" indent="-457200" algn="just">
              <a:lnSpc>
                <a:spcPct val="150000"/>
              </a:lnSpc>
              <a:buFont typeface="Wingdings" pitchFamily="2" charset="2"/>
              <a:buChar char="§"/>
            </a:pPr>
            <a:r>
              <a:rPr lang="en-US" sz="2800" dirty="0"/>
              <a:t>It is a complete protein, meaning it contains all of the essential amino acids in highly branched form - needs to build and repair tissues.</a:t>
            </a:r>
          </a:p>
          <a:p>
            <a:pPr marL="457200" indent="-457200" algn="just">
              <a:lnSpc>
                <a:spcPct val="150000"/>
              </a:lnSpc>
              <a:buFont typeface="Wingdings" pitchFamily="2" charset="2"/>
              <a:buChar char="§"/>
            </a:pPr>
            <a:r>
              <a:rPr lang="en-US" sz="2800" dirty="0"/>
              <a:t>It is used as a dietary supplement by athletes, bodybuilders.</a:t>
            </a:r>
          </a:p>
          <a:p>
            <a:pPr marL="457200" indent="-457200" algn="just">
              <a:lnSpc>
                <a:spcPct val="150000"/>
              </a:lnSpc>
              <a:buFont typeface="Wingdings" pitchFamily="2" charset="2"/>
              <a:buChar char="§"/>
            </a:pPr>
            <a:r>
              <a:rPr lang="en-US" sz="2800" dirty="0"/>
              <a:t>It is commonly added to smoothies, shakes, and other beverages, and available in powder form. </a:t>
            </a:r>
            <a:endParaRPr lang="en-IN" sz="2800" dirty="0"/>
          </a:p>
        </p:txBody>
      </p:sp>
    </p:spTree>
    <p:extLst>
      <p:ext uri="{BB962C8B-B14F-4D97-AF65-F5344CB8AC3E}">
        <p14:creationId xmlns:p14="http://schemas.microsoft.com/office/powerpoint/2010/main" val="212833749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3848" y="304800"/>
            <a:ext cx="8915400" cy="5909310"/>
          </a:xfrm>
          <a:prstGeom prst="rect">
            <a:avLst/>
          </a:prstGeom>
        </p:spPr>
        <p:txBody>
          <a:bodyPr wrap="square">
            <a:spAutoFit/>
          </a:bodyPr>
          <a:lstStyle/>
          <a:p>
            <a:pPr marL="457200" indent="-457200" algn="just">
              <a:lnSpc>
                <a:spcPct val="150000"/>
              </a:lnSpc>
              <a:buFont typeface="Wingdings" pitchFamily="2" charset="2"/>
              <a:buChar char="§"/>
            </a:pPr>
            <a:r>
              <a:rPr lang="en-US" sz="2800" dirty="0"/>
              <a:t>Compared to other types of protein it is rapidly absorbed by the body.</a:t>
            </a:r>
          </a:p>
          <a:p>
            <a:pPr marL="457200" indent="-457200" algn="just">
              <a:lnSpc>
                <a:spcPct val="150000"/>
              </a:lnSpc>
              <a:buFont typeface="Wingdings" pitchFamily="2" charset="2"/>
              <a:buChar char="§"/>
            </a:pPr>
            <a:r>
              <a:rPr lang="en-US" sz="2800" dirty="0"/>
              <a:t>Good source of essential nutrients - calcium, potassium, and vitamins B2 and B12. </a:t>
            </a:r>
          </a:p>
          <a:p>
            <a:pPr marL="457200" indent="-457200" algn="just">
              <a:lnSpc>
                <a:spcPct val="150000"/>
              </a:lnSpc>
              <a:buFont typeface="Wingdings" pitchFamily="2" charset="2"/>
              <a:buChar char="§"/>
            </a:pPr>
            <a:r>
              <a:rPr lang="en-US" sz="2800" dirty="0"/>
              <a:t>However, not all whey protein products are equal in terms of quality, purity, and nutrient content. </a:t>
            </a:r>
          </a:p>
          <a:p>
            <a:pPr marL="457200" indent="-457200" algn="just">
              <a:lnSpc>
                <a:spcPct val="150000"/>
              </a:lnSpc>
              <a:buFont typeface="Wingdings" pitchFamily="2" charset="2"/>
              <a:buChar char="§"/>
            </a:pPr>
            <a:r>
              <a:rPr lang="en-US" sz="2800" dirty="0"/>
              <a:t>Some whey protein supplements may contain added sugars, artificial sweeteners, or other ingredients that can be harmful to health.</a:t>
            </a:r>
            <a:endParaRPr lang="en-IN" sz="2800" dirty="0"/>
          </a:p>
        </p:txBody>
      </p:sp>
    </p:spTree>
    <p:extLst>
      <p:ext uri="{BB962C8B-B14F-4D97-AF65-F5344CB8AC3E}">
        <p14:creationId xmlns:p14="http://schemas.microsoft.com/office/powerpoint/2010/main" val="301347555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8159" y="84084"/>
            <a:ext cx="8991600" cy="6555641"/>
          </a:xfrm>
          <a:prstGeom prst="rect">
            <a:avLst/>
          </a:prstGeom>
        </p:spPr>
        <p:txBody>
          <a:bodyPr wrap="square">
            <a:spAutoFit/>
          </a:bodyPr>
          <a:lstStyle/>
          <a:p>
            <a:pPr algn="just">
              <a:lnSpc>
                <a:spcPct val="150000"/>
              </a:lnSpc>
            </a:pPr>
            <a:r>
              <a:rPr lang="en-US" sz="2800" b="1" dirty="0">
                <a:solidFill>
                  <a:schemeClr val="accent3">
                    <a:lumMod val="75000"/>
                  </a:schemeClr>
                </a:solidFill>
              </a:rPr>
              <a:t>Use of whey protein as food</a:t>
            </a:r>
          </a:p>
          <a:p>
            <a:pPr marL="457200" indent="-457200" algn="just">
              <a:lnSpc>
                <a:spcPct val="150000"/>
              </a:lnSpc>
              <a:buFont typeface="Arial" pitchFamily="34" charset="0"/>
              <a:buChar char="•"/>
            </a:pPr>
            <a:r>
              <a:rPr lang="en-US" sz="2800" b="1" dirty="0"/>
              <a:t>Sports nutrition</a:t>
            </a:r>
            <a:r>
              <a:rPr lang="en-US" sz="2800" dirty="0"/>
              <a:t>: it help to build and repair muscle tissue - after intense exercise, and increase overall muscle mass.</a:t>
            </a:r>
          </a:p>
          <a:p>
            <a:pPr marL="457200" indent="-457200" algn="just">
              <a:lnSpc>
                <a:spcPct val="150000"/>
              </a:lnSpc>
              <a:buFont typeface="Arial" pitchFamily="34" charset="0"/>
              <a:buChar char="•"/>
            </a:pPr>
            <a:r>
              <a:rPr lang="en-US" sz="2800" b="1" dirty="0"/>
              <a:t>Weight management</a:t>
            </a:r>
            <a:r>
              <a:rPr lang="en-US" sz="2800" dirty="0"/>
              <a:t>: Whey protein help manage weight - by increasing satiety and reducing appetite - weight loss by preserving muscle mass while reducing body fat. </a:t>
            </a:r>
          </a:p>
          <a:p>
            <a:pPr marL="457200" indent="-457200" algn="just">
              <a:lnSpc>
                <a:spcPct val="150000"/>
              </a:lnSpc>
              <a:buFont typeface="Arial" pitchFamily="34" charset="0"/>
              <a:buChar char="•"/>
            </a:pPr>
            <a:r>
              <a:rPr lang="en-US" sz="2800" b="1" dirty="0"/>
              <a:t>Health promotion: </a:t>
            </a:r>
            <a:r>
              <a:rPr lang="en-US" sz="2800" dirty="0"/>
              <a:t>Whey protein is rich in essential amino acids - various health benefits-improved immune function, lower </a:t>
            </a:r>
            <a:r>
              <a:rPr lang="en-US" sz="2800" dirty="0" err="1"/>
              <a:t>bp</a:t>
            </a:r>
            <a:r>
              <a:rPr lang="en-US" sz="2800" dirty="0"/>
              <a:t>, and reduced risk of cardiovascular disease. </a:t>
            </a:r>
            <a:endParaRPr lang="en-IN" sz="2800" dirty="0"/>
          </a:p>
        </p:txBody>
      </p:sp>
    </p:spTree>
    <p:extLst>
      <p:ext uri="{BB962C8B-B14F-4D97-AF65-F5344CB8AC3E}">
        <p14:creationId xmlns:p14="http://schemas.microsoft.com/office/powerpoint/2010/main" val="9769973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1145" y="152401"/>
            <a:ext cx="8915400" cy="3323987"/>
          </a:xfrm>
          <a:prstGeom prst="rect">
            <a:avLst/>
          </a:prstGeom>
        </p:spPr>
        <p:txBody>
          <a:bodyPr wrap="square">
            <a:spAutoFit/>
          </a:bodyPr>
          <a:lstStyle/>
          <a:p>
            <a:pPr marL="457200" indent="-457200" algn="just">
              <a:lnSpc>
                <a:spcPct val="150000"/>
              </a:lnSpc>
              <a:buFont typeface="Arial" pitchFamily="34" charset="0"/>
              <a:buChar char="•"/>
            </a:pPr>
            <a:r>
              <a:rPr lang="en-US" sz="2800" b="1" dirty="0"/>
              <a:t>Meal replacement: </a:t>
            </a:r>
            <a:r>
              <a:rPr lang="en-US" sz="2800" dirty="0"/>
              <a:t>either as a drink or in a variety of food products.  - it is a quick and convenient source of protein </a:t>
            </a:r>
          </a:p>
          <a:p>
            <a:pPr algn="just">
              <a:lnSpc>
                <a:spcPct val="150000"/>
              </a:lnSpc>
            </a:pPr>
            <a:endParaRPr lang="en-US" sz="2800" dirty="0"/>
          </a:p>
          <a:p>
            <a:pPr algn="just">
              <a:lnSpc>
                <a:spcPct val="150000"/>
              </a:lnSpc>
            </a:pPr>
            <a:r>
              <a:rPr lang="en-US" sz="2800" dirty="0"/>
              <a:t>Talk to a healthcare professional before to use whey protein</a:t>
            </a:r>
            <a:endParaRPr lang="en-IN" sz="2800" dirty="0"/>
          </a:p>
        </p:txBody>
      </p:sp>
    </p:spTree>
    <p:extLst>
      <p:ext uri="{BB962C8B-B14F-4D97-AF65-F5344CB8AC3E}">
        <p14:creationId xmlns:p14="http://schemas.microsoft.com/office/powerpoint/2010/main" val="250971708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76200"/>
            <a:ext cx="8915400" cy="6555641"/>
          </a:xfrm>
          <a:prstGeom prst="rect">
            <a:avLst/>
          </a:prstGeom>
        </p:spPr>
        <p:txBody>
          <a:bodyPr wrap="square">
            <a:spAutoFit/>
          </a:bodyPr>
          <a:lstStyle/>
          <a:p>
            <a:pPr algn="ctr">
              <a:lnSpc>
                <a:spcPct val="150000"/>
              </a:lnSpc>
            </a:pPr>
            <a:r>
              <a:rPr lang="en-US" sz="2800" dirty="0">
                <a:solidFill>
                  <a:schemeClr val="accent3">
                    <a:lumMod val="75000"/>
                  </a:schemeClr>
                </a:solidFill>
              </a:rPr>
              <a:t>MEAT ANALOGS OF PROTEIN </a:t>
            </a:r>
          </a:p>
          <a:p>
            <a:pPr algn="ctr">
              <a:lnSpc>
                <a:spcPct val="150000"/>
              </a:lnSpc>
            </a:pPr>
            <a:r>
              <a:rPr lang="en-US" sz="2800" dirty="0"/>
              <a:t>(meat substitutes or meat alternatives)</a:t>
            </a:r>
            <a:endParaRPr lang="en-US" sz="3600" dirty="0"/>
          </a:p>
          <a:p>
            <a:pPr marL="457200" indent="-457200" algn="just">
              <a:lnSpc>
                <a:spcPct val="150000"/>
              </a:lnSpc>
              <a:buFont typeface="Wingdings" pitchFamily="2" charset="2"/>
              <a:buChar char="§"/>
            </a:pPr>
            <a:r>
              <a:rPr lang="en-US" sz="2800" dirty="0"/>
              <a:t>Plant-based foods designed to mimic the taste, texture, and appearance of meat. </a:t>
            </a:r>
          </a:p>
          <a:p>
            <a:pPr marL="457200" indent="-457200" algn="just">
              <a:lnSpc>
                <a:spcPct val="150000"/>
              </a:lnSpc>
              <a:buFont typeface="Wingdings" pitchFamily="2" charset="2"/>
              <a:buChar char="§"/>
            </a:pPr>
            <a:r>
              <a:rPr lang="en-US" sz="2800" dirty="0"/>
              <a:t>They are made from soy protein, wheat protein, pea protein, and other plant-based ingredient - fortified with vitamins and minerals </a:t>
            </a:r>
          </a:p>
          <a:p>
            <a:pPr marL="457200" indent="-457200" algn="just">
              <a:lnSpc>
                <a:spcPct val="150000"/>
              </a:lnSpc>
              <a:buFont typeface="Wingdings" pitchFamily="2" charset="2"/>
              <a:buChar char="§"/>
            </a:pPr>
            <a:r>
              <a:rPr lang="en-US" sz="2800" dirty="0"/>
              <a:t>Alternative to meat vegetarians, vegans, and those who are looking to reduce their meat consumption for health or ethical reasons. </a:t>
            </a:r>
          </a:p>
        </p:txBody>
      </p:sp>
    </p:spTree>
    <p:extLst>
      <p:ext uri="{BB962C8B-B14F-4D97-AF65-F5344CB8AC3E}">
        <p14:creationId xmlns:p14="http://schemas.microsoft.com/office/powerpoint/2010/main" val="38768996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2"/>
            <a:ext cx="9067800" cy="5842497"/>
          </a:xfrm>
          <a:prstGeom prst="rect">
            <a:avLst/>
          </a:prstGeom>
        </p:spPr>
        <p:txBody>
          <a:bodyPr wrap="square">
            <a:spAutoFit/>
          </a:bodyPr>
          <a:lstStyle/>
          <a:p>
            <a:pPr marL="457200" indent="-457200" algn="just">
              <a:lnSpc>
                <a:spcPct val="150000"/>
              </a:lnSpc>
              <a:buFont typeface="Wingdings" pitchFamily="2" charset="2"/>
              <a:buChar char="§"/>
            </a:pPr>
            <a:r>
              <a:rPr lang="en-US" sz="2800" dirty="0"/>
              <a:t>There are many different types of meat analogs available, including burgers, sausages, meatballs, deli slices, and more. </a:t>
            </a:r>
          </a:p>
          <a:p>
            <a:pPr marL="457200" indent="-457200" algn="just">
              <a:lnSpc>
                <a:spcPct val="150000"/>
              </a:lnSpc>
              <a:buFont typeface="Wingdings" pitchFamily="2" charset="2"/>
              <a:buChar char="§"/>
            </a:pPr>
            <a:r>
              <a:rPr lang="en-US" sz="2800" dirty="0"/>
              <a:t>Some to mimic specific types of meat, such as chicken, beef, or pork, others are marketed as a more generic "meat-like" product.</a:t>
            </a:r>
          </a:p>
          <a:p>
            <a:pPr marL="457200" indent="-457200" algn="just">
              <a:lnSpc>
                <a:spcPct val="150000"/>
              </a:lnSpc>
              <a:buFont typeface="Wingdings" pitchFamily="2" charset="2"/>
              <a:buChar char="§"/>
            </a:pPr>
            <a:r>
              <a:rPr lang="en-US" sz="2800" dirty="0"/>
              <a:t>Choose meat analogs - look for products  with high protein and low added sugars, fats, and other harmful ingredients. </a:t>
            </a:r>
            <a:endParaRPr lang="en-IN" sz="2800" dirty="0"/>
          </a:p>
        </p:txBody>
      </p:sp>
    </p:spTree>
    <p:extLst>
      <p:ext uri="{BB962C8B-B14F-4D97-AF65-F5344CB8AC3E}">
        <p14:creationId xmlns:p14="http://schemas.microsoft.com/office/powerpoint/2010/main" val="243474357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7201972"/>
          </a:xfrm>
          <a:prstGeom prst="rect">
            <a:avLst/>
          </a:prstGeom>
        </p:spPr>
        <p:txBody>
          <a:bodyPr wrap="square">
            <a:spAutoFit/>
          </a:bodyPr>
          <a:lstStyle/>
          <a:p>
            <a:pPr algn="just">
              <a:lnSpc>
                <a:spcPct val="150000"/>
              </a:lnSpc>
            </a:pPr>
            <a:r>
              <a:rPr lang="en-US" sz="2800" dirty="0"/>
              <a:t>Examples of meat analogs of protein as food</a:t>
            </a:r>
          </a:p>
          <a:p>
            <a:pPr marL="571500" indent="-571500" algn="just">
              <a:lnSpc>
                <a:spcPct val="150000"/>
              </a:lnSpc>
              <a:buFont typeface="+mj-lt"/>
              <a:buAutoNum type="romanLcPeriod"/>
            </a:pPr>
            <a:r>
              <a:rPr lang="en-US" sz="2800" b="1" dirty="0"/>
              <a:t>Tofu</a:t>
            </a:r>
            <a:r>
              <a:rPr lang="en-US" sz="2800" dirty="0"/>
              <a:t>: Made from soybeans - used in a variety of dishes, -stir-fries, salads, and smoothies. </a:t>
            </a:r>
          </a:p>
          <a:p>
            <a:pPr marL="571500" indent="-571500" algn="just">
              <a:lnSpc>
                <a:spcPct val="150000"/>
              </a:lnSpc>
              <a:buFont typeface="+mj-lt"/>
              <a:buAutoNum type="romanLcPeriod"/>
            </a:pPr>
            <a:r>
              <a:rPr lang="en-US" sz="2800" b="1" dirty="0"/>
              <a:t>Tempeh</a:t>
            </a:r>
            <a:r>
              <a:rPr lang="en-US" sz="2800" dirty="0"/>
              <a:t>: made from fermented soybeans and has a nutty flavor and firm texture. It can be sliced and used in sandwiches or salads, or crumbled and used as a meat substitute in tacos or spaghetti sauces. </a:t>
            </a:r>
          </a:p>
          <a:p>
            <a:pPr marL="571500" indent="-571500" algn="just">
              <a:lnSpc>
                <a:spcPct val="150000"/>
              </a:lnSpc>
              <a:buFont typeface="+mj-lt"/>
              <a:buAutoNum type="romanLcPeriod"/>
            </a:pPr>
            <a:r>
              <a:rPr lang="en-US" sz="2800" b="1" dirty="0" err="1"/>
              <a:t>Seitan</a:t>
            </a:r>
            <a:r>
              <a:rPr lang="en-US" sz="2800" dirty="0"/>
              <a:t> or wheat meat or wheat protein : made from wheat gluten – has a chewy, meat-like texture. It can be used as a substitute for beef or pork </a:t>
            </a:r>
          </a:p>
          <a:p>
            <a:pPr marL="571500" indent="-571500" algn="just">
              <a:lnSpc>
                <a:spcPct val="150000"/>
              </a:lnSpc>
              <a:buFont typeface="+mj-lt"/>
              <a:buAutoNum type="romanLcPeriod"/>
            </a:pPr>
            <a:endParaRPr lang="en-IN" sz="2800" dirty="0"/>
          </a:p>
        </p:txBody>
      </p:sp>
    </p:spTree>
    <p:extLst>
      <p:ext uri="{BB962C8B-B14F-4D97-AF65-F5344CB8AC3E}">
        <p14:creationId xmlns:p14="http://schemas.microsoft.com/office/powerpoint/2010/main" val="309585059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0"/>
            <a:ext cx="8915400" cy="5909310"/>
          </a:xfrm>
          <a:prstGeom prst="rect">
            <a:avLst/>
          </a:prstGeom>
        </p:spPr>
        <p:txBody>
          <a:bodyPr wrap="square">
            <a:spAutoFit/>
          </a:bodyPr>
          <a:lstStyle/>
          <a:p>
            <a:pPr marL="571500" indent="-571500" algn="just">
              <a:lnSpc>
                <a:spcPct val="150000"/>
              </a:lnSpc>
              <a:buFont typeface="+mj-lt"/>
              <a:buAutoNum type="romanLcPeriod" startAt="4"/>
            </a:pPr>
            <a:r>
              <a:rPr lang="en-US" sz="2800" b="1" dirty="0"/>
              <a:t>Veggie burgers</a:t>
            </a:r>
            <a:r>
              <a:rPr lang="en-US" sz="2800" dirty="0"/>
              <a:t>: Made from plant-based ingredients - soy protein, grains, and vegetables</a:t>
            </a:r>
          </a:p>
          <a:p>
            <a:pPr algn="just">
              <a:lnSpc>
                <a:spcPct val="150000"/>
              </a:lnSpc>
            </a:pPr>
            <a:r>
              <a:rPr lang="en-US" sz="2800" dirty="0"/>
              <a:t>       that can be grilled or baked and served on a bun.</a:t>
            </a:r>
          </a:p>
          <a:p>
            <a:pPr marL="571500" indent="-571500" algn="just">
              <a:lnSpc>
                <a:spcPct val="150000"/>
              </a:lnSpc>
              <a:buFont typeface="+mj-lt"/>
              <a:buAutoNum type="romanLcPeriod" startAt="5"/>
            </a:pPr>
            <a:r>
              <a:rPr lang="en-US" sz="2800" b="1" dirty="0"/>
              <a:t>Meatless meatballs</a:t>
            </a:r>
            <a:r>
              <a:rPr lang="en-US" sz="2800" dirty="0"/>
              <a:t>: Made from plant-based ingredients - soy protein, grains, and vegetables, it is tasty and protein-rich alternative to traditional meatballs. </a:t>
            </a:r>
          </a:p>
          <a:p>
            <a:pPr marL="571500" indent="-571500" algn="just">
              <a:lnSpc>
                <a:spcPct val="150000"/>
              </a:lnSpc>
              <a:buFont typeface="+mj-lt"/>
              <a:buAutoNum type="romanLcPeriod" startAt="5"/>
            </a:pPr>
            <a:r>
              <a:rPr lang="en-US" sz="2800" b="1" dirty="0"/>
              <a:t>Plant-based sausages</a:t>
            </a:r>
            <a:r>
              <a:rPr lang="en-US" sz="2800" dirty="0"/>
              <a:t>: Made from soy protein, pea protein, or other plant-based ingredients - protein-rich alternative to traditional sausages.</a:t>
            </a:r>
            <a:endParaRPr lang="en-IN" sz="2800" dirty="0"/>
          </a:p>
        </p:txBody>
      </p:sp>
    </p:spTree>
    <p:extLst>
      <p:ext uri="{BB962C8B-B14F-4D97-AF65-F5344CB8AC3E}">
        <p14:creationId xmlns:p14="http://schemas.microsoft.com/office/powerpoint/2010/main" val="67339560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12069"/>
          <a:stretch/>
        </p:blipFill>
        <p:spPr>
          <a:xfrm>
            <a:off x="7578113" y="95250"/>
            <a:ext cx="2892972" cy="264795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3003" y="190500"/>
            <a:ext cx="2935111" cy="2552700"/>
          </a:xfrm>
          <a:prstGeom prst="rect">
            <a:avLst/>
          </a:prstGeom>
        </p:spPr>
      </p:pic>
      <p:pic>
        <p:nvPicPr>
          <p:cNvPr id="1026" name="Picture 2" descr="C:\Users\asus\Pictures\Saved Pictures\maxresdefault.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57979" y="122183"/>
            <a:ext cx="2932443" cy="259408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sus\Pictures\Saved Pictures\vegan-meatballs-1.jpg"/>
          <p:cNvPicPr>
            <a:picLocks noChangeAspect="1" noChangeArrowheads="1"/>
          </p:cNvPicPr>
          <p:nvPr/>
        </p:nvPicPr>
        <p:blipFill rotWithShape="1">
          <a:blip r:embed="rId5">
            <a:extLst>
              <a:ext uri="{28A0092B-C50C-407E-A947-70E740481C1C}">
                <a14:useLocalDpi xmlns:a14="http://schemas.microsoft.com/office/drawing/2010/main" val="0"/>
              </a:ext>
            </a:extLst>
          </a:blip>
          <a:srcRect l="-1830" t="8159" r="1830" b="20674"/>
          <a:stretch/>
        </p:blipFill>
        <p:spPr bwMode="auto">
          <a:xfrm>
            <a:off x="6781800" y="3452648"/>
            <a:ext cx="320040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asus\Pictures\Saved Pictures\vegan-sausages-6-1360x907.jpg"/>
          <p:cNvPicPr>
            <a:picLocks noChangeAspect="1" noChangeArrowheads="1"/>
          </p:cNvPicPr>
          <p:nvPr/>
        </p:nvPicPr>
        <p:blipFill rotWithShape="1">
          <a:blip r:embed="rId6">
            <a:extLst>
              <a:ext uri="{28A0092B-C50C-407E-A947-70E740481C1C}">
                <a14:useLocalDpi xmlns:a14="http://schemas.microsoft.com/office/drawing/2010/main" val="0"/>
              </a:ext>
            </a:extLst>
          </a:blip>
          <a:srcRect l="8012" t="20573" r="5639"/>
          <a:stretch/>
        </p:blipFill>
        <p:spPr bwMode="auto">
          <a:xfrm>
            <a:off x="2590800" y="3452649"/>
            <a:ext cx="3405198" cy="3047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286000" y="2743200"/>
            <a:ext cx="1676400" cy="369332"/>
          </a:xfrm>
          <a:prstGeom prst="rect">
            <a:avLst/>
          </a:prstGeom>
          <a:noFill/>
        </p:spPr>
        <p:txBody>
          <a:bodyPr wrap="square" rtlCol="0">
            <a:spAutoFit/>
          </a:bodyPr>
          <a:lstStyle/>
          <a:p>
            <a:r>
              <a:rPr lang="en-IN" dirty="0"/>
              <a:t>Tofu</a:t>
            </a:r>
          </a:p>
        </p:txBody>
      </p:sp>
      <p:sp>
        <p:nvSpPr>
          <p:cNvPr id="8" name="TextBox 7"/>
          <p:cNvSpPr txBox="1"/>
          <p:nvPr/>
        </p:nvSpPr>
        <p:spPr>
          <a:xfrm>
            <a:off x="5486400" y="2743200"/>
            <a:ext cx="1143000" cy="369332"/>
          </a:xfrm>
          <a:prstGeom prst="rect">
            <a:avLst/>
          </a:prstGeom>
          <a:noFill/>
        </p:spPr>
        <p:txBody>
          <a:bodyPr wrap="square" rtlCol="0">
            <a:spAutoFit/>
          </a:bodyPr>
          <a:lstStyle/>
          <a:p>
            <a:r>
              <a:rPr lang="en-IN" dirty="0"/>
              <a:t>Tempeh</a:t>
            </a:r>
          </a:p>
        </p:txBody>
      </p:sp>
      <p:sp>
        <p:nvSpPr>
          <p:cNvPr id="9" name="TextBox 8"/>
          <p:cNvSpPr txBox="1"/>
          <p:nvPr/>
        </p:nvSpPr>
        <p:spPr>
          <a:xfrm>
            <a:off x="8382000" y="2765691"/>
            <a:ext cx="1524000" cy="369332"/>
          </a:xfrm>
          <a:prstGeom prst="rect">
            <a:avLst/>
          </a:prstGeom>
          <a:noFill/>
        </p:spPr>
        <p:txBody>
          <a:bodyPr wrap="square" rtlCol="0">
            <a:spAutoFit/>
          </a:bodyPr>
          <a:lstStyle/>
          <a:p>
            <a:r>
              <a:rPr lang="en-US" dirty="0" err="1"/>
              <a:t>Seitan</a:t>
            </a:r>
            <a:endParaRPr lang="en-IN" dirty="0"/>
          </a:p>
        </p:txBody>
      </p:sp>
      <p:sp>
        <p:nvSpPr>
          <p:cNvPr id="11" name="TextBox 10"/>
          <p:cNvSpPr txBox="1"/>
          <p:nvPr/>
        </p:nvSpPr>
        <p:spPr>
          <a:xfrm>
            <a:off x="3429000" y="6400800"/>
            <a:ext cx="2362200" cy="369332"/>
          </a:xfrm>
          <a:prstGeom prst="rect">
            <a:avLst/>
          </a:prstGeom>
          <a:noFill/>
        </p:spPr>
        <p:txBody>
          <a:bodyPr wrap="square" rtlCol="0">
            <a:spAutoFit/>
          </a:bodyPr>
          <a:lstStyle/>
          <a:p>
            <a:r>
              <a:rPr lang="en-IN" dirty="0"/>
              <a:t>Plant based sausage </a:t>
            </a:r>
          </a:p>
        </p:txBody>
      </p:sp>
      <p:sp>
        <p:nvSpPr>
          <p:cNvPr id="12" name="TextBox 11"/>
          <p:cNvSpPr txBox="1"/>
          <p:nvPr/>
        </p:nvSpPr>
        <p:spPr>
          <a:xfrm>
            <a:off x="7578114" y="6400800"/>
            <a:ext cx="2175487" cy="369332"/>
          </a:xfrm>
          <a:prstGeom prst="rect">
            <a:avLst/>
          </a:prstGeom>
          <a:noFill/>
        </p:spPr>
        <p:txBody>
          <a:bodyPr wrap="square" rtlCol="0">
            <a:spAutoFit/>
          </a:bodyPr>
          <a:lstStyle/>
          <a:p>
            <a:r>
              <a:rPr lang="en-IN" dirty="0"/>
              <a:t>Meatless meatballs</a:t>
            </a:r>
          </a:p>
        </p:txBody>
      </p:sp>
    </p:spTree>
    <p:extLst>
      <p:ext uri="{BB962C8B-B14F-4D97-AF65-F5344CB8AC3E}">
        <p14:creationId xmlns:p14="http://schemas.microsoft.com/office/powerpoint/2010/main" val="148803985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1069" y="-152400"/>
            <a:ext cx="8915400" cy="7201972"/>
          </a:xfrm>
          <a:prstGeom prst="rect">
            <a:avLst/>
          </a:prstGeom>
        </p:spPr>
        <p:txBody>
          <a:bodyPr wrap="square">
            <a:spAutoFit/>
          </a:bodyPr>
          <a:lstStyle/>
          <a:p>
            <a:pPr algn="just">
              <a:lnSpc>
                <a:spcPct val="150000"/>
              </a:lnSpc>
            </a:pPr>
            <a:r>
              <a:rPr lang="en-US" sz="2800" dirty="0">
                <a:solidFill>
                  <a:schemeClr val="accent3">
                    <a:lumMod val="75000"/>
                  </a:schemeClr>
                </a:solidFill>
              </a:rPr>
              <a:t>Plant Based Proteins </a:t>
            </a:r>
          </a:p>
          <a:p>
            <a:pPr marL="457200" indent="-457200" algn="just">
              <a:lnSpc>
                <a:spcPct val="150000"/>
              </a:lnSpc>
              <a:buFont typeface="Wingdings" pitchFamily="2" charset="2"/>
              <a:buChar char="§"/>
            </a:pPr>
            <a:r>
              <a:rPr lang="en-US" sz="2800" dirty="0"/>
              <a:t>Proteins derived from plant sources - legumes, grains, nuts, and seeds. </a:t>
            </a:r>
          </a:p>
          <a:p>
            <a:pPr marL="457200" indent="-457200" algn="just">
              <a:lnSpc>
                <a:spcPct val="150000"/>
              </a:lnSpc>
              <a:buFont typeface="Wingdings" pitchFamily="2" charset="2"/>
              <a:buChar char="§"/>
            </a:pPr>
            <a:r>
              <a:rPr lang="en-US" sz="2800" dirty="0"/>
              <a:t>Alternative to animal-based proteins - for those following a vegetarian or vegan diet. </a:t>
            </a:r>
          </a:p>
          <a:p>
            <a:pPr marL="457200" indent="-457200" algn="just">
              <a:lnSpc>
                <a:spcPct val="150000"/>
              </a:lnSpc>
              <a:buFont typeface="Wingdings" pitchFamily="2" charset="2"/>
              <a:buChar char="§"/>
            </a:pPr>
            <a:r>
              <a:rPr lang="en-US" sz="2800" dirty="0"/>
              <a:t>Examples: soy protein, pea protein, lentil protein, chickpea protein, and hemp protein. </a:t>
            </a:r>
          </a:p>
          <a:p>
            <a:pPr marL="457200" indent="-457200" algn="just">
              <a:lnSpc>
                <a:spcPct val="150000"/>
              </a:lnSpc>
              <a:buFont typeface="Wingdings" pitchFamily="2" charset="2"/>
              <a:buChar char="§"/>
            </a:pPr>
            <a:r>
              <a:rPr lang="en-US" sz="2800" dirty="0"/>
              <a:t>Choose a high-quality product - free of artificial additives and preservatives.</a:t>
            </a:r>
          </a:p>
          <a:p>
            <a:pPr marL="457200" indent="-457200" algn="just">
              <a:lnSpc>
                <a:spcPct val="150000"/>
              </a:lnSpc>
              <a:buFont typeface="Wingdings" pitchFamily="2" charset="2"/>
              <a:buChar char="§"/>
            </a:pPr>
            <a:r>
              <a:rPr lang="en-US" sz="2800" dirty="0"/>
              <a:t>consult a healthcare professional before starting to use any new protein supplement.</a:t>
            </a:r>
          </a:p>
        </p:txBody>
      </p:sp>
    </p:spTree>
    <p:extLst>
      <p:ext uri="{BB962C8B-B14F-4D97-AF65-F5344CB8AC3E}">
        <p14:creationId xmlns:p14="http://schemas.microsoft.com/office/powerpoint/2010/main" val="301430612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5256"/>
            <a:ext cx="9067800" cy="6555641"/>
          </a:xfrm>
          <a:prstGeom prst="rect">
            <a:avLst/>
          </a:prstGeom>
        </p:spPr>
        <p:txBody>
          <a:bodyPr wrap="square">
            <a:spAutoFit/>
          </a:bodyPr>
          <a:lstStyle/>
          <a:p>
            <a:pPr algn="just">
              <a:lnSpc>
                <a:spcPct val="150000"/>
              </a:lnSpc>
            </a:pPr>
            <a:r>
              <a:rPr lang="en-US" sz="2800" dirty="0">
                <a:solidFill>
                  <a:schemeClr val="accent3">
                    <a:lumMod val="75000"/>
                  </a:schemeClr>
                </a:solidFill>
              </a:rPr>
              <a:t>Benefits of plant-based proteins: </a:t>
            </a:r>
          </a:p>
          <a:p>
            <a:pPr marL="514350" indent="-514350" algn="just">
              <a:lnSpc>
                <a:spcPct val="150000"/>
              </a:lnSpc>
              <a:buFont typeface="+mj-lt"/>
              <a:buAutoNum type="arabicPeriod"/>
            </a:pPr>
            <a:r>
              <a:rPr lang="en-US" sz="2800" b="1" dirty="0"/>
              <a:t>Sustainable: </a:t>
            </a:r>
            <a:r>
              <a:rPr lang="en-US" sz="2800" dirty="0"/>
              <a:t>more environmentally sustainable than animal based sources – require fewer resources to produce and generate fewer greenhouse gas emissions. </a:t>
            </a:r>
            <a:endParaRPr lang="en-IN" sz="2800" dirty="0"/>
          </a:p>
          <a:p>
            <a:pPr marL="514350" indent="-514350" algn="just">
              <a:lnSpc>
                <a:spcPct val="150000"/>
              </a:lnSpc>
              <a:buFont typeface="+mj-lt"/>
              <a:buAutoNum type="arabicPeriod" startAt="2"/>
            </a:pPr>
            <a:r>
              <a:rPr lang="en-US" sz="2800" b="1" dirty="0"/>
              <a:t>Nutrient-rich</a:t>
            </a:r>
            <a:r>
              <a:rPr lang="en-US" sz="2800" dirty="0"/>
              <a:t>: Many plant-based protein sources are rich in other essential nutrients - fiber, vitamins, and minerals. </a:t>
            </a:r>
          </a:p>
          <a:p>
            <a:pPr marL="514350" indent="-514350" algn="just">
              <a:lnSpc>
                <a:spcPct val="150000"/>
              </a:lnSpc>
              <a:buFont typeface="+mj-lt"/>
              <a:buAutoNum type="arabicPeriod" startAt="2"/>
            </a:pPr>
            <a:r>
              <a:rPr lang="en-US" sz="2800" b="1" dirty="0"/>
              <a:t>Versatile</a:t>
            </a:r>
            <a:r>
              <a:rPr lang="en-US" sz="2800" dirty="0"/>
              <a:t>: Plant-based proteins can be used in a variety of ways, including as a protein supplement, in smoothies, or as an ingredient in various recipes. </a:t>
            </a:r>
          </a:p>
          <a:p>
            <a:pPr algn="just">
              <a:lnSpc>
                <a:spcPct val="150000"/>
              </a:lnSpc>
            </a:pPr>
            <a:endParaRPr lang="en-IN" sz="2800" dirty="0"/>
          </a:p>
        </p:txBody>
      </p:sp>
    </p:spTree>
    <p:extLst>
      <p:ext uri="{BB962C8B-B14F-4D97-AF65-F5344CB8AC3E}">
        <p14:creationId xmlns:p14="http://schemas.microsoft.com/office/powerpoint/2010/main" val="232854556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152402"/>
            <a:ext cx="8686800" cy="4401205"/>
          </a:xfrm>
          <a:prstGeom prst="rect">
            <a:avLst/>
          </a:prstGeom>
        </p:spPr>
        <p:txBody>
          <a:bodyPr wrap="square">
            <a:spAutoFit/>
          </a:bodyPr>
          <a:lstStyle/>
          <a:p>
            <a:pPr marL="514350" indent="-514350" algn="just">
              <a:lnSpc>
                <a:spcPct val="200000"/>
              </a:lnSpc>
              <a:buFont typeface="+mj-lt"/>
              <a:buAutoNum type="arabicPeriod" startAt="4"/>
            </a:pPr>
            <a:r>
              <a:rPr lang="en-US" sz="2800" b="1" dirty="0"/>
              <a:t>Hypoallergenic</a:t>
            </a:r>
            <a:r>
              <a:rPr lang="en-US" sz="2800" dirty="0"/>
              <a:t>: better tolerated than animal-based proteins - good option for people with food allergies or sensitivities.</a:t>
            </a:r>
          </a:p>
          <a:p>
            <a:pPr marL="514350" indent="-514350" algn="just">
              <a:lnSpc>
                <a:spcPct val="200000"/>
              </a:lnSpc>
              <a:buFont typeface="+mj-lt"/>
              <a:buAutoNum type="arabicPeriod" startAt="4"/>
            </a:pPr>
            <a:r>
              <a:rPr lang="en-US" sz="2800" b="1" dirty="0"/>
              <a:t>Cost-effective</a:t>
            </a:r>
            <a:r>
              <a:rPr lang="en-US" sz="2800" dirty="0"/>
              <a:t>: more affordable than animal-based sources, making them a more accessible option.</a:t>
            </a:r>
          </a:p>
        </p:txBody>
      </p:sp>
    </p:spTree>
    <p:extLst>
      <p:ext uri="{BB962C8B-B14F-4D97-AF65-F5344CB8AC3E}">
        <p14:creationId xmlns:p14="http://schemas.microsoft.com/office/powerpoint/2010/main" val="404237119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76400" y="26276"/>
            <a:ext cx="8839200" cy="5909310"/>
          </a:xfrm>
          <a:prstGeom prst="rect">
            <a:avLst/>
          </a:prstGeom>
        </p:spPr>
        <p:txBody>
          <a:bodyPr wrap="square">
            <a:spAutoFit/>
          </a:bodyPr>
          <a:lstStyle/>
          <a:p>
            <a:pPr algn="just">
              <a:lnSpc>
                <a:spcPct val="150000"/>
              </a:lnSpc>
            </a:pPr>
            <a:r>
              <a:rPr lang="en-US" sz="2800" b="1" dirty="0"/>
              <a:t>Uses of plant based proteins </a:t>
            </a:r>
          </a:p>
          <a:p>
            <a:pPr marL="514350" indent="-514350" algn="just">
              <a:lnSpc>
                <a:spcPct val="150000"/>
              </a:lnSpc>
              <a:buFont typeface="+mj-lt"/>
              <a:buAutoNum type="arabicPeriod"/>
            </a:pPr>
            <a:r>
              <a:rPr lang="en-US" sz="2800" b="1" dirty="0"/>
              <a:t>Dietary supplements</a:t>
            </a:r>
            <a:r>
              <a:rPr lang="en-US" sz="2800" dirty="0"/>
              <a:t>: Plant-based proteins are sold as powders, bars, and other supplements, making them a convenient way to add protein to a diet.</a:t>
            </a:r>
          </a:p>
          <a:p>
            <a:pPr marL="514350" indent="-514350" algn="just">
              <a:lnSpc>
                <a:spcPct val="150000"/>
              </a:lnSpc>
              <a:buFont typeface="+mj-lt"/>
              <a:buAutoNum type="arabicPeriod"/>
            </a:pPr>
            <a:r>
              <a:rPr lang="en-US" sz="2800" dirty="0"/>
              <a:t> </a:t>
            </a:r>
            <a:r>
              <a:rPr lang="en-US" sz="2800" b="1" dirty="0"/>
              <a:t>Food products: - </a:t>
            </a:r>
            <a:r>
              <a:rPr lang="en-US" sz="2800" dirty="0"/>
              <a:t>plant-based meat analogs, protein bars, and smoothies.</a:t>
            </a:r>
          </a:p>
          <a:p>
            <a:pPr marL="514350" indent="-514350" algn="just">
              <a:lnSpc>
                <a:spcPct val="150000"/>
              </a:lnSpc>
              <a:buFont typeface="+mj-lt"/>
              <a:buAutoNum type="arabicPeriod"/>
            </a:pPr>
            <a:r>
              <a:rPr lang="en-US" sz="2800" b="1" dirty="0"/>
              <a:t>Health and wellness: </a:t>
            </a:r>
            <a:r>
              <a:rPr lang="en-US" sz="2800" dirty="0"/>
              <a:t>due to their lower saturated fat and cholesterol content.</a:t>
            </a:r>
          </a:p>
          <a:p>
            <a:pPr marL="514350" indent="-514350" algn="just">
              <a:lnSpc>
                <a:spcPct val="150000"/>
              </a:lnSpc>
              <a:buFont typeface="+mj-lt"/>
              <a:buAutoNum type="arabicPeriod"/>
            </a:pPr>
            <a:r>
              <a:rPr lang="en-US" sz="2800" b="1" dirty="0"/>
              <a:t>Vegetarian and vegan diets</a:t>
            </a:r>
            <a:r>
              <a:rPr lang="en-US" sz="2800" dirty="0"/>
              <a:t>: </a:t>
            </a:r>
          </a:p>
        </p:txBody>
      </p:sp>
    </p:spTree>
    <p:extLst>
      <p:ext uri="{BB962C8B-B14F-4D97-AF65-F5344CB8AC3E}">
        <p14:creationId xmlns:p14="http://schemas.microsoft.com/office/powerpoint/2010/main" val="13866964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
            <a:ext cx="8991600" cy="5262979"/>
          </a:xfrm>
          <a:prstGeom prst="rect">
            <a:avLst/>
          </a:prstGeom>
        </p:spPr>
        <p:txBody>
          <a:bodyPr wrap="square">
            <a:spAutoFit/>
          </a:bodyPr>
          <a:lstStyle/>
          <a:p>
            <a:pPr algn="just">
              <a:lnSpc>
                <a:spcPct val="150000"/>
              </a:lnSpc>
            </a:pPr>
            <a:r>
              <a:rPr lang="en-US" sz="2800" b="1" dirty="0"/>
              <a:t>5.  </a:t>
            </a:r>
            <a:r>
              <a:rPr lang="en-US" sz="2800" b="1"/>
              <a:t>Fitness </a:t>
            </a:r>
            <a:r>
              <a:rPr lang="en-US" sz="2800" b="1" dirty="0"/>
              <a:t>and sports nutrition</a:t>
            </a:r>
            <a:r>
              <a:rPr lang="en-US" sz="2800" dirty="0"/>
              <a:t>: used by athletes and fitness enthusiasts to support muscle recovery and growth. </a:t>
            </a:r>
          </a:p>
          <a:p>
            <a:pPr algn="just">
              <a:lnSpc>
                <a:spcPct val="150000"/>
              </a:lnSpc>
            </a:pPr>
            <a:endParaRPr lang="en-US" sz="2800" dirty="0"/>
          </a:p>
          <a:p>
            <a:pPr algn="just">
              <a:lnSpc>
                <a:spcPct val="150000"/>
              </a:lnSpc>
            </a:pPr>
            <a:r>
              <a:rPr lang="en-US" sz="2800" dirty="0"/>
              <a:t>It is also important to remember that plant-based proteins may not contain all of the essential amino acids found in animal-based proteins, so it may be necessary to consume a variety of plant-based protein sources to ensure adequate protein intake.</a:t>
            </a:r>
            <a:endParaRPr lang="en-IN" sz="2800" dirty="0"/>
          </a:p>
        </p:txBody>
      </p:sp>
    </p:spTree>
    <p:extLst>
      <p:ext uri="{BB962C8B-B14F-4D97-AF65-F5344CB8AC3E}">
        <p14:creationId xmlns:p14="http://schemas.microsoft.com/office/powerpoint/2010/main" val="1139718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TotalTime>
  <Words>14870</Words>
  <Application>Microsoft Office PowerPoint</Application>
  <PresentationFormat>Widescreen</PresentationFormat>
  <Paragraphs>860</Paragraphs>
  <Slides>178</Slides>
  <Notes>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178</vt:i4>
      </vt:variant>
    </vt:vector>
  </HeadingPairs>
  <TitlesOfParts>
    <vt:vector size="193" baseType="lpstr">
      <vt:lpstr>Algerian</vt:lpstr>
      <vt:lpstr>-apple-system</vt:lpstr>
      <vt:lpstr>Arial</vt:lpstr>
      <vt:lpstr>Arial Black</vt:lpstr>
      <vt:lpstr>Bahnschrift SemiBold SemiConden</vt:lpstr>
      <vt:lpstr>Calibri</vt:lpstr>
      <vt:lpstr>Calibri Light</vt:lpstr>
      <vt:lpstr>Courier New</vt:lpstr>
      <vt:lpstr>inherit</vt:lpstr>
      <vt:lpstr>Nunito</vt:lpstr>
      <vt:lpstr>Open Sans</vt:lpstr>
      <vt:lpstr>Poppins</vt:lpstr>
      <vt:lpstr>Wingdings</vt:lpstr>
      <vt:lpstr>Office Theme</vt:lpstr>
      <vt:lpstr>1_Office Theme</vt:lpstr>
      <vt:lpstr>CELLs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CARBOHYDRATES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ENZYMES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LIPIDS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NUCLEIC ACIDS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PROTEINS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pavithra k</dc:creator>
  <cp:lastModifiedBy>Pavithra K</cp:lastModifiedBy>
  <cp:revision>19</cp:revision>
  <dcterms:created xsi:type="dcterms:W3CDTF">2024-03-09T05:16:50Z</dcterms:created>
  <dcterms:modified xsi:type="dcterms:W3CDTF">2024-06-04T04:18:57Z</dcterms:modified>
</cp:coreProperties>
</file>
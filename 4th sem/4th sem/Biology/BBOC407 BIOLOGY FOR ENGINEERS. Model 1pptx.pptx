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3" r:id="rId6"/>
    <p:sldId id="271" r:id="rId7"/>
    <p:sldId id="260" r:id="rId8"/>
    <p:sldId id="261" r:id="rId9"/>
    <p:sldId id="264" r:id="rId10"/>
    <p:sldId id="265" r:id="rId11"/>
    <p:sldId id="268" r:id="rId12"/>
    <p:sldId id="269" r:id="rId13"/>
    <p:sldId id="272" r:id="rId14"/>
    <p:sldId id="275" r:id="rId15"/>
    <p:sldId id="273" r:id="rId16"/>
    <p:sldId id="274" r:id="rId17"/>
    <p:sldId id="276" r:id="rId18"/>
    <p:sldId id="277" r:id="rId19"/>
    <p:sldId id="278" r:id="rId20"/>
    <p:sldId id="279" r:id="rId21"/>
    <p:sldId id="280" r:id="rId22"/>
    <p:sldId id="281" r:id="rId23"/>
    <p:sldId id="282" r:id="rId24"/>
    <p:sldId id="283"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6" r:id="rId45"/>
    <p:sldId id="307" r:id="rId46"/>
    <p:sldId id="308" r:id="rId47"/>
    <p:sldId id="309" r:id="rId48"/>
    <p:sldId id="311" r:id="rId49"/>
    <p:sldId id="310" r:id="rId50"/>
    <p:sldId id="312" r:id="rId51"/>
    <p:sldId id="313" r:id="rId52"/>
    <p:sldId id="314"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2" d="100"/>
          <a:sy n="62"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6548118-1C15-41F5-AC96-CC3F7B0929E5}" type="datetimeFigureOut">
              <a:rPr lang="en-US" smtClean="0"/>
              <a:pPr/>
              <a:t>5/22/2024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6548118-1C15-41F5-AC96-CC3F7B0929E5}" type="datetimeFigureOut">
              <a:rPr lang="en-US" smtClean="0"/>
              <a:pPr/>
              <a:t>5/22/2024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6548118-1C15-41F5-AC96-CC3F7B0929E5}" type="datetimeFigureOut">
              <a:rPr lang="en-US" smtClean="0"/>
              <a:pPr/>
              <a:t>5/22/2024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6548118-1C15-41F5-AC96-CC3F7B0929E5}" type="datetimeFigureOut">
              <a:rPr lang="en-US" smtClean="0"/>
              <a:pPr/>
              <a:t>5/22/2024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6548118-1C15-41F5-AC96-CC3F7B0929E5}" type="datetimeFigureOut">
              <a:rPr lang="en-US" smtClean="0"/>
              <a:pPr/>
              <a:t>5/22/2024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6548118-1C15-41F5-AC96-CC3F7B0929E5}" type="datetimeFigureOut">
              <a:rPr lang="en-US" smtClean="0"/>
              <a:pPr/>
              <a:t>5/22/2024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548118-1C15-41F5-AC96-CC3F7B0929E5}" type="datetimeFigureOut">
              <a:rPr lang="en-US" smtClean="0"/>
              <a:pPr/>
              <a:t>5/22/2024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548118-1C15-41F5-AC96-CC3F7B0929E5}" type="datetimeFigureOut">
              <a:rPr lang="en-US" smtClean="0"/>
              <a:pPr/>
              <a:t>5/22/2024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548118-1C15-41F5-AC96-CC3F7B0929E5}" type="datetimeFigureOut">
              <a:rPr lang="en-US" smtClean="0"/>
              <a:pPr/>
              <a:t>5/22/2024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6548118-1C15-41F5-AC96-CC3F7B0929E5}" type="datetimeFigureOut">
              <a:rPr lang="en-US" smtClean="0"/>
              <a:pPr/>
              <a:t>5/22/2024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6548118-1C15-41F5-AC96-CC3F7B0929E5}" type="datetimeFigureOut">
              <a:rPr lang="en-US" smtClean="0"/>
              <a:pPr/>
              <a:t>5/22/2024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73744E-C655-4F6A-9B51-3945613CCE7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548118-1C15-41F5-AC96-CC3F7B0929E5}" type="datetimeFigureOut">
              <a:rPr lang="en-US" smtClean="0"/>
              <a:pPr/>
              <a:t>5/22/2024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73744E-C655-4F6A-9B51-3945613CCE7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
            <a:ext cx="7772400" cy="857232"/>
          </a:xfrm>
        </p:spPr>
        <p:txBody>
          <a:bodyPr>
            <a:normAutofit fontScale="90000"/>
          </a:bodyPr>
          <a:lstStyle/>
          <a:p>
            <a:r>
              <a:rPr lang="en-IN" sz="3200" b="1" dirty="0" smtClean="0">
                <a:solidFill>
                  <a:schemeClr val="accent6">
                    <a:lumMod val="50000"/>
                  </a:schemeClr>
                </a:solidFill>
              </a:rPr>
              <a:t>BIOLOGY FOR ENGINEERS</a:t>
            </a:r>
            <a:r>
              <a:rPr lang="en-IN" sz="3600" dirty="0" smtClean="0">
                <a:solidFill>
                  <a:schemeClr val="accent6">
                    <a:lumMod val="50000"/>
                  </a:schemeClr>
                </a:solidFill>
              </a:rPr>
              <a:t/>
            </a:r>
            <a:br>
              <a:rPr lang="en-IN" sz="3600" dirty="0" smtClean="0">
                <a:solidFill>
                  <a:schemeClr val="accent6">
                    <a:lumMod val="50000"/>
                  </a:schemeClr>
                </a:solidFill>
              </a:rPr>
            </a:br>
            <a:r>
              <a:rPr lang="en-IN" sz="2400" dirty="0" smtClean="0">
                <a:solidFill>
                  <a:srgbClr val="FF0000"/>
                </a:solidFill>
              </a:rPr>
              <a:t>MODULE -I</a:t>
            </a:r>
            <a:endParaRPr lang="en-IN" dirty="0"/>
          </a:p>
        </p:txBody>
      </p:sp>
      <p:sp>
        <p:nvSpPr>
          <p:cNvPr id="3" name="Subtitle 2"/>
          <p:cNvSpPr>
            <a:spLocks noGrp="1"/>
          </p:cNvSpPr>
          <p:nvPr>
            <p:ph type="subTitle" idx="1"/>
          </p:nvPr>
        </p:nvSpPr>
        <p:spPr>
          <a:xfrm>
            <a:off x="0" y="785794"/>
            <a:ext cx="9144000" cy="6072206"/>
          </a:xfrm>
        </p:spPr>
        <p:txBody>
          <a:bodyPr>
            <a:noAutofit/>
          </a:bodyPr>
          <a:lstStyle/>
          <a:p>
            <a:pPr algn="just"/>
            <a:r>
              <a:rPr lang="en-IN" sz="1900" dirty="0" smtClean="0">
                <a:solidFill>
                  <a:schemeClr val="accent1"/>
                </a:solidFill>
              </a:rPr>
              <a:t>INTRODUCTION TO BIOLOGY</a:t>
            </a:r>
            <a:r>
              <a:rPr lang="en-IN" sz="1900" dirty="0" smtClean="0">
                <a:solidFill>
                  <a:schemeClr val="tx1"/>
                </a:solidFill>
              </a:rPr>
              <a:t>: The cell: the basic unit of life, Structure, and functions of a cell. The Plant Cell and animal cell, Prokaryotic and Eukaryotic cells, Stem cells and their application. </a:t>
            </a:r>
            <a:r>
              <a:rPr lang="en-IN" sz="1900" dirty="0" err="1" smtClean="0">
                <a:solidFill>
                  <a:schemeClr val="tx1"/>
                </a:solidFill>
              </a:rPr>
              <a:t>Biomolecules</a:t>
            </a:r>
            <a:r>
              <a:rPr lang="en-IN" sz="1900" dirty="0" smtClean="0">
                <a:solidFill>
                  <a:schemeClr val="tx1"/>
                </a:solidFill>
              </a:rPr>
              <a:t>: Properties and functions of Carbohydrates, Nucleic acids, proteins, lipids. Importance of special </a:t>
            </a:r>
            <a:r>
              <a:rPr lang="en-IN" sz="1900" dirty="0" err="1" smtClean="0">
                <a:solidFill>
                  <a:schemeClr val="tx1"/>
                </a:solidFill>
              </a:rPr>
              <a:t>biomolecules</a:t>
            </a:r>
            <a:r>
              <a:rPr lang="en-IN" sz="1900" dirty="0" smtClean="0">
                <a:solidFill>
                  <a:schemeClr val="tx1"/>
                </a:solidFill>
              </a:rPr>
              <a:t>; Enzymes (Classification with one example each), Properties and functions), vitamins, and hormones.</a:t>
            </a:r>
          </a:p>
          <a:p>
            <a:r>
              <a:rPr lang="en-IN" sz="1900" dirty="0" smtClean="0">
                <a:solidFill>
                  <a:srgbClr val="00B050"/>
                </a:solidFill>
              </a:rPr>
              <a:t>THE CELL </a:t>
            </a:r>
          </a:p>
          <a:p>
            <a:pPr algn="just"/>
            <a:r>
              <a:rPr lang="en-IN" sz="1900" dirty="0" smtClean="0">
                <a:solidFill>
                  <a:schemeClr val="tx1"/>
                </a:solidFill>
              </a:rPr>
              <a:t>The cell is the basic unit of Life. The cell provides minimum requirements to perform essential life properties such as organization, metabolism, responsiveness, movements, and reproduction to live independently. Hence, it ensures 1. Independent existence</a:t>
            </a:r>
          </a:p>
          <a:p>
            <a:pPr algn="just"/>
            <a:r>
              <a:rPr lang="en-IN" sz="1900" dirty="0" smtClean="0">
                <a:solidFill>
                  <a:schemeClr val="tx1"/>
                </a:solidFill>
              </a:rPr>
              <a:t> 2. Performing the vital functions of life.</a:t>
            </a:r>
          </a:p>
          <a:p>
            <a:pPr algn="just"/>
            <a:r>
              <a:rPr lang="en-IN" sz="1900" b="1" dirty="0" smtClean="0">
                <a:solidFill>
                  <a:schemeClr val="tx1"/>
                </a:solidFill>
              </a:rPr>
              <a:t>Robert Hooke </a:t>
            </a:r>
            <a:r>
              <a:rPr lang="en-IN" sz="1900" dirty="0" smtClean="0">
                <a:solidFill>
                  <a:schemeClr val="tx1"/>
                </a:solidFill>
              </a:rPr>
              <a:t>discovered the cell in 1665, later </a:t>
            </a:r>
            <a:r>
              <a:rPr lang="en-IN" sz="1900" b="1" dirty="0" smtClean="0">
                <a:solidFill>
                  <a:schemeClr val="tx1"/>
                </a:solidFill>
              </a:rPr>
              <a:t>Anton Van Leeuwenhoek</a:t>
            </a:r>
            <a:r>
              <a:rPr lang="en-IN" sz="1900" dirty="0" smtClean="0">
                <a:solidFill>
                  <a:schemeClr val="tx1"/>
                </a:solidFill>
              </a:rPr>
              <a:t> discovered free living algae Spirogyra cells in water in the pond in 1674. Robert Brown later discovered the nucleus.</a:t>
            </a:r>
          </a:p>
          <a:p>
            <a:pPr algn="just"/>
            <a:r>
              <a:rPr lang="en-IN" sz="1900" dirty="0" smtClean="0">
                <a:solidFill>
                  <a:schemeClr val="tx1"/>
                </a:solidFill>
              </a:rPr>
              <a:t>Cells are built from </a:t>
            </a:r>
            <a:r>
              <a:rPr lang="en-IN" sz="1900" dirty="0" err="1" smtClean="0">
                <a:solidFill>
                  <a:schemeClr val="tx1"/>
                </a:solidFill>
              </a:rPr>
              <a:t>Biomolecules</a:t>
            </a:r>
            <a:r>
              <a:rPr lang="en-IN" sz="1900" dirty="0" smtClean="0">
                <a:solidFill>
                  <a:schemeClr val="tx1"/>
                </a:solidFill>
              </a:rPr>
              <a:t> such as carbohydrates, Lipids, Proteins, and Nucleic acids. They exhibit variations in their size (In the Human body, the Largest cell is the ovum and the smallest cell is the sperm), shape (round, spherical or elongated), life span (white blood cells only live for about 13 days, whereas red blood cells live for about 120 days) and function (Organ specific). Cells that have a similar structure and function form tissues. A cell can form a whole organism as in unicellular like bacteria, or it may be part of the </a:t>
            </a:r>
            <a:r>
              <a:rPr lang="en-IN" sz="1900" dirty="0" err="1" smtClean="0">
                <a:solidFill>
                  <a:schemeClr val="tx1"/>
                </a:solidFill>
              </a:rPr>
              <a:t>multicellular</a:t>
            </a:r>
            <a:r>
              <a:rPr lang="en-IN" sz="1900" dirty="0" smtClean="0">
                <a:solidFill>
                  <a:schemeClr val="tx1"/>
                </a:solidFill>
              </a:rPr>
              <a:t> like Humans.</a:t>
            </a:r>
          </a:p>
          <a:p>
            <a:endParaRPr lang="en-IN" sz="1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0"/>
            <a:ext cx="7772400" cy="642941"/>
          </a:xfrm>
        </p:spPr>
        <p:txBody>
          <a:bodyPr>
            <a:normAutofit/>
          </a:bodyPr>
          <a:lstStyle/>
          <a:p>
            <a:r>
              <a:rPr lang="en-IN" sz="3200" dirty="0" smtClean="0">
                <a:solidFill>
                  <a:srgbClr val="7030A0"/>
                </a:solidFill>
              </a:rPr>
              <a:t>STRUCTURE AND FUNCTIONS OF A CELL</a:t>
            </a:r>
            <a:endParaRPr lang="en-IN" sz="3200" dirty="0">
              <a:solidFill>
                <a:srgbClr val="7030A0"/>
              </a:solidFill>
            </a:endParaRPr>
          </a:p>
        </p:txBody>
      </p:sp>
      <p:sp>
        <p:nvSpPr>
          <p:cNvPr id="3" name="Subtitle 2"/>
          <p:cNvSpPr>
            <a:spLocks noGrp="1"/>
          </p:cNvSpPr>
          <p:nvPr>
            <p:ph type="subTitle" idx="1"/>
          </p:nvPr>
        </p:nvSpPr>
        <p:spPr>
          <a:xfrm>
            <a:off x="214282" y="642918"/>
            <a:ext cx="8643998" cy="6215082"/>
          </a:xfrm>
        </p:spPr>
        <p:txBody>
          <a:bodyPr>
            <a:noAutofit/>
          </a:bodyPr>
          <a:lstStyle/>
          <a:p>
            <a:pPr algn="just"/>
            <a:r>
              <a:rPr lang="en-IN" sz="2300" dirty="0" smtClean="0">
                <a:solidFill>
                  <a:schemeClr val="tx1"/>
                </a:solidFill>
              </a:rPr>
              <a:t>Understanding cell structure and functions is key to understanding life processes. Structure: </a:t>
            </a:r>
          </a:p>
          <a:p>
            <a:pPr marL="269875" indent="-269875" algn="just"/>
            <a:r>
              <a:rPr lang="en-IN" sz="2300" dirty="0" smtClean="0">
                <a:solidFill>
                  <a:schemeClr val="tx1"/>
                </a:solidFill>
              </a:rPr>
              <a:t>1.</a:t>
            </a:r>
            <a:r>
              <a:rPr lang="en-IN" sz="2300" dirty="0" smtClean="0">
                <a:solidFill>
                  <a:schemeClr val="accent1"/>
                </a:solidFill>
              </a:rPr>
              <a:t>Plasma Membrane</a:t>
            </a:r>
            <a:r>
              <a:rPr lang="en-IN" sz="2300" dirty="0" smtClean="0">
                <a:solidFill>
                  <a:schemeClr val="tx1"/>
                </a:solidFill>
              </a:rPr>
              <a:t>: Surrounds the cell, regulating the passage of substances. </a:t>
            </a:r>
          </a:p>
          <a:p>
            <a:pPr marL="514350" indent="-514350" algn="just"/>
            <a:r>
              <a:rPr lang="en-IN" sz="2300" dirty="0" smtClean="0">
                <a:solidFill>
                  <a:schemeClr val="tx1"/>
                </a:solidFill>
              </a:rPr>
              <a:t>2.</a:t>
            </a:r>
            <a:r>
              <a:rPr lang="en-IN" sz="2300" dirty="0" smtClean="0">
                <a:solidFill>
                  <a:schemeClr val="accent1"/>
                </a:solidFill>
              </a:rPr>
              <a:t>Cytoplasm</a:t>
            </a:r>
            <a:r>
              <a:rPr lang="en-IN" sz="2300" dirty="0" smtClean="0">
                <a:solidFill>
                  <a:schemeClr val="tx1"/>
                </a:solidFill>
              </a:rPr>
              <a:t>: Jelly-like substance filling the cell, containing organelles. </a:t>
            </a:r>
          </a:p>
          <a:p>
            <a:pPr marL="179388" indent="-179388" algn="just"/>
            <a:r>
              <a:rPr lang="en-IN" sz="2300" dirty="0" smtClean="0">
                <a:solidFill>
                  <a:schemeClr val="tx1"/>
                </a:solidFill>
              </a:rPr>
              <a:t>3.</a:t>
            </a:r>
            <a:r>
              <a:rPr lang="en-IN" sz="2300" dirty="0" smtClean="0">
                <a:solidFill>
                  <a:schemeClr val="accent1"/>
                </a:solidFill>
              </a:rPr>
              <a:t>Nucleus</a:t>
            </a:r>
            <a:r>
              <a:rPr lang="en-IN" sz="2300" dirty="0" smtClean="0">
                <a:solidFill>
                  <a:schemeClr val="tx1"/>
                </a:solidFill>
              </a:rPr>
              <a:t>: Houses genetic material (DNA), controlling cell activities. For preliminary reference </a:t>
            </a:r>
          </a:p>
          <a:p>
            <a:pPr marL="514350" indent="-514350" algn="just"/>
            <a:r>
              <a:rPr lang="en-IN" sz="2300" dirty="0" smtClean="0">
                <a:solidFill>
                  <a:schemeClr val="tx1"/>
                </a:solidFill>
              </a:rPr>
              <a:t>4. </a:t>
            </a:r>
            <a:r>
              <a:rPr lang="en-IN" sz="2300" dirty="0" smtClean="0">
                <a:solidFill>
                  <a:srgbClr val="FF0000"/>
                </a:solidFill>
              </a:rPr>
              <a:t>Organelles: </a:t>
            </a:r>
            <a:r>
              <a:rPr lang="en-IN" sz="2300" dirty="0" smtClean="0">
                <a:solidFill>
                  <a:schemeClr val="tx1"/>
                </a:solidFill>
              </a:rPr>
              <a:t>Specialized structures: </a:t>
            </a:r>
          </a:p>
          <a:p>
            <a:pPr indent="90488" algn="just"/>
            <a:r>
              <a:rPr lang="en-IN" sz="2300" dirty="0" smtClean="0">
                <a:solidFill>
                  <a:schemeClr val="tx1"/>
                </a:solidFill>
              </a:rPr>
              <a:t>a. </a:t>
            </a:r>
            <a:r>
              <a:rPr lang="en-IN" sz="2300" dirty="0" smtClean="0">
                <a:solidFill>
                  <a:schemeClr val="accent1"/>
                </a:solidFill>
              </a:rPr>
              <a:t>Endoplasmic Reticulum</a:t>
            </a:r>
            <a:r>
              <a:rPr lang="en-IN" sz="2300" dirty="0" smtClean="0">
                <a:solidFill>
                  <a:schemeClr val="tx1"/>
                </a:solidFill>
              </a:rPr>
              <a:t>: Involved in protein and lipid metabolism.</a:t>
            </a:r>
          </a:p>
          <a:p>
            <a:pPr indent="90488" algn="just"/>
            <a:r>
              <a:rPr lang="en-IN" sz="2300" dirty="0" smtClean="0">
                <a:solidFill>
                  <a:schemeClr val="tx1"/>
                </a:solidFill>
              </a:rPr>
              <a:t> b. </a:t>
            </a:r>
            <a:r>
              <a:rPr lang="en-IN" sz="2300" dirty="0" smtClean="0">
                <a:solidFill>
                  <a:schemeClr val="accent1"/>
                </a:solidFill>
              </a:rPr>
              <a:t>Golgi Apparatus</a:t>
            </a:r>
            <a:r>
              <a:rPr lang="en-IN" sz="2300" dirty="0" smtClean="0">
                <a:solidFill>
                  <a:schemeClr val="tx1"/>
                </a:solidFill>
              </a:rPr>
              <a:t>: Modifies, sorts, and packages molecules. </a:t>
            </a:r>
          </a:p>
          <a:p>
            <a:pPr indent="90488" algn="just"/>
            <a:r>
              <a:rPr lang="en-IN" sz="2300" dirty="0" smtClean="0">
                <a:solidFill>
                  <a:schemeClr val="tx1"/>
                </a:solidFill>
              </a:rPr>
              <a:t>c</a:t>
            </a:r>
            <a:r>
              <a:rPr lang="en-IN" sz="2300" dirty="0" smtClean="0">
                <a:solidFill>
                  <a:schemeClr val="accent1"/>
                </a:solidFill>
              </a:rPr>
              <a:t>.  Mitochondria</a:t>
            </a:r>
            <a:r>
              <a:rPr lang="en-IN" sz="2300" dirty="0" smtClean="0">
                <a:solidFill>
                  <a:schemeClr val="tx1"/>
                </a:solidFill>
              </a:rPr>
              <a:t>: Generates energy through respiration. </a:t>
            </a:r>
          </a:p>
          <a:p>
            <a:pPr indent="90488" algn="just"/>
            <a:r>
              <a:rPr lang="en-IN" sz="2300" dirty="0" smtClean="0">
                <a:solidFill>
                  <a:schemeClr val="tx1"/>
                </a:solidFill>
              </a:rPr>
              <a:t>d. </a:t>
            </a:r>
            <a:r>
              <a:rPr lang="en-IN" sz="2300" dirty="0" err="1" smtClean="0">
                <a:solidFill>
                  <a:schemeClr val="accent1"/>
                </a:solidFill>
              </a:rPr>
              <a:t>Lysosomes</a:t>
            </a:r>
            <a:r>
              <a:rPr lang="en-IN" sz="2300" dirty="0" smtClean="0">
                <a:solidFill>
                  <a:schemeClr val="tx1"/>
                </a:solidFill>
              </a:rPr>
              <a:t>: Break down waste materials. </a:t>
            </a:r>
          </a:p>
          <a:p>
            <a:pPr indent="90488" algn="just"/>
            <a:r>
              <a:rPr lang="en-IN" sz="2300" dirty="0" smtClean="0">
                <a:solidFill>
                  <a:schemeClr val="tx1"/>
                </a:solidFill>
              </a:rPr>
              <a:t>e</a:t>
            </a:r>
            <a:r>
              <a:rPr lang="en-IN" sz="2300" dirty="0" smtClean="0">
                <a:solidFill>
                  <a:schemeClr val="accent1"/>
                </a:solidFill>
              </a:rPr>
              <a:t>. </a:t>
            </a:r>
            <a:r>
              <a:rPr lang="en-IN" sz="2300" dirty="0" err="1" smtClean="0">
                <a:solidFill>
                  <a:schemeClr val="accent1"/>
                </a:solidFill>
              </a:rPr>
              <a:t>Ribosomes</a:t>
            </a:r>
            <a:r>
              <a:rPr lang="en-IN" sz="2300" dirty="0" smtClean="0">
                <a:solidFill>
                  <a:schemeClr val="tx1"/>
                </a:solidFill>
              </a:rPr>
              <a:t>: Sites of protein synthesis. </a:t>
            </a:r>
          </a:p>
          <a:p>
            <a:pPr indent="90488" algn="just"/>
            <a:r>
              <a:rPr lang="en-IN" sz="2300" dirty="0" smtClean="0">
                <a:solidFill>
                  <a:schemeClr val="tx1"/>
                </a:solidFill>
              </a:rPr>
              <a:t>f. </a:t>
            </a:r>
            <a:r>
              <a:rPr lang="en-IN" sz="2300" dirty="0" err="1" smtClean="0">
                <a:solidFill>
                  <a:schemeClr val="accent1"/>
                </a:solidFill>
              </a:rPr>
              <a:t>Centrioles</a:t>
            </a:r>
            <a:r>
              <a:rPr lang="en-IN" sz="2300" dirty="0" smtClean="0">
                <a:solidFill>
                  <a:schemeClr val="tx1"/>
                </a:solidFill>
              </a:rPr>
              <a:t> (in animals): Assist in cell division. </a:t>
            </a:r>
          </a:p>
          <a:p>
            <a:pPr indent="90488" algn="just"/>
            <a:r>
              <a:rPr lang="en-IN" sz="2300" dirty="0" err="1" smtClean="0">
                <a:solidFill>
                  <a:schemeClr val="tx1"/>
                </a:solidFill>
              </a:rPr>
              <a:t>g.</a:t>
            </a:r>
            <a:r>
              <a:rPr lang="en-IN" sz="2300" dirty="0" err="1" smtClean="0">
                <a:solidFill>
                  <a:schemeClr val="accent1"/>
                </a:solidFill>
              </a:rPr>
              <a:t>Cytoskeleton</a:t>
            </a:r>
            <a:r>
              <a:rPr lang="en-IN" sz="2300" dirty="0" smtClean="0">
                <a:solidFill>
                  <a:schemeClr val="tx1"/>
                </a:solidFill>
              </a:rPr>
              <a:t>: Provides structural support and aids in cell movement.</a:t>
            </a:r>
            <a:endParaRPr lang="en-IN" sz="2300"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a:xfrm>
            <a:off x="1357290" y="5072074"/>
            <a:ext cx="6400800" cy="781040"/>
          </a:xfrm>
        </p:spPr>
        <p:txBody>
          <a:bodyPr/>
          <a:lstStyle/>
          <a:p>
            <a:r>
              <a:rPr lang="en-IN" dirty="0" smtClean="0"/>
              <a:t>Structure of the Cell</a:t>
            </a:r>
            <a:endParaRPr lang="en-IN" dirty="0"/>
          </a:p>
        </p:txBody>
      </p:sp>
      <p:pic>
        <p:nvPicPr>
          <p:cNvPr id="4" name="Picture 2" descr="Basic structure of a mammalian cell. | Download Scientific Diagram"/>
          <p:cNvPicPr>
            <a:picLocks noChangeAspect="1" noChangeArrowheads="1"/>
          </p:cNvPicPr>
          <p:nvPr/>
        </p:nvPicPr>
        <p:blipFill>
          <a:blip r:embed="rId2"/>
          <a:srcRect/>
          <a:stretch>
            <a:fillRect/>
          </a:stretch>
        </p:blipFill>
        <p:spPr bwMode="auto">
          <a:xfrm>
            <a:off x="357158" y="0"/>
            <a:ext cx="8429684" cy="521495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1"/>
            <a:ext cx="7772400" cy="1000108"/>
          </a:xfrm>
        </p:spPr>
        <p:txBody>
          <a:bodyPr/>
          <a:lstStyle/>
          <a:p>
            <a:r>
              <a:rPr lang="en-IN" dirty="0" smtClean="0">
                <a:solidFill>
                  <a:srgbClr val="00B050"/>
                </a:solidFill>
              </a:rPr>
              <a:t>Functions:</a:t>
            </a:r>
            <a:endParaRPr lang="en-IN" dirty="0">
              <a:solidFill>
                <a:srgbClr val="00B050"/>
              </a:solidFill>
            </a:endParaRPr>
          </a:p>
        </p:txBody>
      </p:sp>
      <p:sp>
        <p:nvSpPr>
          <p:cNvPr id="3" name="Subtitle 2"/>
          <p:cNvSpPr>
            <a:spLocks noGrp="1"/>
          </p:cNvSpPr>
          <p:nvPr>
            <p:ph type="subTitle" idx="1"/>
          </p:nvPr>
        </p:nvSpPr>
        <p:spPr>
          <a:xfrm>
            <a:off x="214282" y="928670"/>
            <a:ext cx="8929718" cy="5715040"/>
          </a:xfrm>
        </p:spPr>
        <p:txBody>
          <a:bodyPr>
            <a:normAutofit lnSpcReduction="10000"/>
          </a:bodyPr>
          <a:lstStyle/>
          <a:p>
            <a:pPr marL="514350" indent="-514350" algn="just"/>
            <a:r>
              <a:rPr lang="en-IN" dirty="0" smtClean="0">
                <a:solidFill>
                  <a:schemeClr val="tx1"/>
                </a:solidFill>
              </a:rPr>
              <a:t>1. </a:t>
            </a:r>
            <a:r>
              <a:rPr lang="en-IN" dirty="0" smtClean="0">
                <a:solidFill>
                  <a:srgbClr val="00B0F0"/>
                </a:solidFill>
              </a:rPr>
              <a:t>Respiration</a:t>
            </a:r>
            <a:r>
              <a:rPr lang="en-IN" dirty="0" smtClean="0">
                <a:solidFill>
                  <a:schemeClr val="tx1"/>
                </a:solidFill>
              </a:rPr>
              <a:t>: Converts glucose into ATP for energy. </a:t>
            </a:r>
          </a:p>
          <a:p>
            <a:pPr marL="514350" indent="-514350" algn="just"/>
            <a:r>
              <a:rPr lang="en-IN" dirty="0" smtClean="0">
                <a:solidFill>
                  <a:schemeClr val="tx1"/>
                </a:solidFill>
              </a:rPr>
              <a:t>2. </a:t>
            </a:r>
            <a:r>
              <a:rPr lang="en-IN" dirty="0" smtClean="0">
                <a:solidFill>
                  <a:srgbClr val="00B0F0"/>
                </a:solidFill>
              </a:rPr>
              <a:t>Protein Synthesis</a:t>
            </a:r>
            <a:r>
              <a:rPr lang="en-IN" dirty="0" smtClean="0">
                <a:solidFill>
                  <a:schemeClr val="tx1"/>
                </a:solidFill>
              </a:rPr>
              <a:t>: Translates genetic information into proteins. </a:t>
            </a:r>
          </a:p>
          <a:p>
            <a:pPr marL="514350" indent="-514350" algn="just"/>
            <a:r>
              <a:rPr lang="en-IN" dirty="0" smtClean="0">
                <a:solidFill>
                  <a:schemeClr val="tx1"/>
                </a:solidFill>
              </a:rPr>
              <a:t>3. </a:t>
            </a:r>
            <a:r>
              <a:rPr lang="en-IN" dirty="0" smtClean="0">
                <a:solidFill>
                  <a:srgbClr val="00B0F0"/>
                </a:solidFill>
              </a:rPr>
              <a:t>Storage and Processing</a:t>
            </a:r>
            <a:r>
              <a:rPr lang="en-IN" dirty="0" smtClean="0">
                <a:solidFill>
                  <a:schemeClr val="tx1"/>
                </a:solidFill>
              </a:rPr>
              <a:t>: Synthesizes, modifies, and transports molecules. </a:t>
            </a:r>
          </a:p>
          <a:p>
            <a:pPr marL="514350" indent="-514350" algn="just"/>
            <a:r>
              <a:rPr lang="en-IN" dirty="0" smtClean="0">
                <a:solidFill>
                  <a:schemeClr val="tx1"/>
                </a:solidFill>
              </a:rPr>
              <a:t>4. </a:t>
            </a:r>
            <a:r>
              <a:rPr lang="en-IN" dirty="0" smtClean="0">
                <a:solidFill>
                  <a:srgbClr val="00B0F0"/>
                </a:solidFill>
              </a:rPr>
              <a:t>Cellular Communication</a:t>
            </a:r>
            <a:r>
              <a:rPr lang="en-IN" dirty="0" smtClean="0">
                <a:solidFill>
                  <a:schemeClr val="tx1"/>
                </a:solidFill>
              </a:rPr>
              <a:t>: Signals between cells via various molecules. </a:t>
            </a:r>
          </a:p>
          <a:p>
            <a:pPr marL="514350" indent="-514350" algn="just"/>
            <a:r>
              <a:rPr lang="en-IN" dirty="0" smtClean="0">
                <a:solidFill>
                  <a:schemeClr val="tx1"/>
                </a:solidFill>
              </a:rPr>
              <a:t>5. </a:t>
            </a:r>
            <a:r>
              <a:rPr lang="en-IN" dirty="0" smtClean="0">
                <a:solidFill>
                  <a:srgbClr val="00B0F0"/>
                </a:solidFill>
              </a:rPr>
              <a:t>Waste Management</a:t>
            </a:r>
            <a:r>
              <a:rPr lang="en-IN" dirty="0" smtClean="0">
                <a:solidFill>
                  <a:schemeClr val="tx1"/>
                </a:solidFill>
              </a:rPr>
              <a:t>: Breaks down and recycles cellular waste. </a:t>
            </a:r>
          </a:p>
          <a:p>
            <a:pPr marL="514350" indent="-514350" algn="just"/>
            <a:r>
              <a:rPr lang="en-IN" dirty="0" smtClean="0">
                <a:solidFill>
                  <a:schemeClr val="tx1"/>
                </a:solidFill>
              </a:rPr>
              <a:t>6. </a:t>
            </a:r>
            <a:r>
              <a:rPr lang="en-IN" dirty="0" smtClean="0">
                <a:solidFill>
                  <a:srgbClr val="00B0F0"/>
                </a:solidFill>
              </a:rPr>
              <a:t>Cell Division</a:t>
            </a:r>
            <a:r>
              <a:rPr lang="en-IN" dirty="0" smtClean="0">
                <a:solidFill>
                  <a:schemeClr val="tx1"/>
                </a:solidFill>
              </a:rPr>
              <a:t>: Replicates cells for growth, repair, and reproduction</a:t>
            </a:r>
          </a:p>
          <a:p>
            <a:pPr marL="514350" indent="-514350" algn="just"/>
            <a:endParaRPr lang="en-IN"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pic>
        <p:nvPicPr>
          <p:cNvPr id="20482" name="Picture 2" descr="difference between plant cell and animal cell. ​ - Brainly.in"/>
          <p:cNvPicPr>
            <a:picLocks noChangeAspect="1" noChangeArrowheads="1"/>
          </p:cNvPicPr>
          <p:nvPr/>
        </p:nvPicPr>
        <p:blipFill>
          <a:blip r:embed="rId2"/>
          <a:srcRect/>
          <a:stretch>
            <a:fillRect/>
          </a:stretch>
        </p:blipFill>
        <p:spPr bwMode="auto">
          <a:xfrm>
            <a:off x="285720" y="0"/>
            <a:ext cx="8501122" cy="664371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sp>
        <p:nvSpPr>
          <p:cNvPr id="25602" name="AutoShape 2" descr="Structure of animal and plant cell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5604" name="AutoShape 4" descr="Structure of animal and plant cell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5606" name="AutoShape 6" descr="Structure of animal and plant cell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5608" name="AutoShape 8" descr="Structure of animal and plant cell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25610" name="Picture 10" descr="Difference Between Plant and Animal Cells"/>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Autofit/>
          </a:bodyPr>
          <a:lstStyle/>
          <a:p>
            <a:r>
              <a:rPr lang="en-IN" sz="3200" dirty="0" smtClean="0">
                <a:solidFill>
                  <a:schemeClr val="accent4"/>
                </a:solidFill>
              </a:rPr>
              <a:t>Prokaryotic and Eukaryotic cell</a:t>
            </a:r>
            <a:endParaRPr lang="en-IN" sz="3200" dirty="0">
              <a:solidFill>
                <a:schemeClr val="accent4"/>
              </a:solidFill>
            </a:endParaRPr>
          </a:p>
        </p:txBody>
      </p:sp>
      <p:sp>
        <p:nvSpPr>
          <p:cNvPr id="3" name="Text Placeholder 2"/>
          <p:cNvSpPr>
            <a:spLocks noGrp="1"/>
          </p:cNvSpPr>
          <p:nvPr>
            <p:ph type="body" idx="1"/>
          </p:nvPr>
        </p:nvSpPr>
        <p:spPr>
          <a:xfrm>
            <a:off x="457200" y="1142984"/>
            <a:ext cx="4040188" cy="1031891"/>
          </a:xfrm>
        </p:spPr>
        <p:txBody>
          <a:bodyPr>
            <a:normAutofit fontScale="92500" lnSpcReduction="10000"/>
          </a:bodyPr>
          <a:lstStyle/>
          <a:p>
            <a:r>
              <a:rPr lang="en-IN" dirty="0" smtClean="0"/>
              <a:t>In Prokaryotic cell lack of nucleus instead of nucleus </a:t>
            </a:r>
            <a:r>
              <a:rPr lang="en-IN" dirty="0" err="1" smtClean="0"/>
              <a:t>nucleoid</a:t>
            </a:r>
            <a:r>
              <a:rPr lang="en-IN" dirty="0" smtClean="0"/>
              <a:t> is present.</a:t>
            </a:r>
            <a:endParaRPr lang="en-IN" dirty="0"/>
          </a:p>
        </p:txBody>
      </p:sp>
      <p:pic>
        <p:nvPicPr>
          <p:cNvPr id="17410" name="Picture 2" descr="File:Average prokaryote cell- en.svg - Wikipedia"/>
          <p:cNvPicPr>
            <a:picLocks noGrp="1" noChangeAspect="1" noChangeArrowheads="1"/>
          </p:cNvPicPr>
          <p:nvPr>
            <p:ph sz="half" idx="2"/>
          </p:nvPr>
        </p:nvPicPr>
        <p:blipFill>
          <a:blip r:embed="rId2"/>
          <a:srcRect/>
          <a:stretch>
            <a:fillRect/>
          </a:stretch>
        </p:blipFill>
        <p:spPr bwMode="auto">
          <a:xfrm>
            <a:off x="-285784" y="2214554"/>
            <a:ext cx="4783172" cy="4429156"/>
          </a:xfrm>
          <a:prstGeom prst="rect">
            <a:avLst/>
          </a:prstGeom>
          <a:noFill/>
        </p:spPr>
      </p:pic>
      <p:sp>
        <p:nvSpPr>
          <p:cNvPr id="5" name="Text Placeholder 4"/>
          <p:cNvSpPr>
            <a:spLocks noGrp="1"/>
          </p:cNvSpPr>
          <p:nvPr>
            <p:ph type="body" sz="quarter" idx="3"/>
          </p:nvPr>
        </p:nvSpPr>
        <p:spPr>
          <a:xfrm>
            <a:off x="4645025" y="1142984"/>
            <a:ext cx="4041775" cy="1031891"/>
          </a:xfrm>
        </p:spPr>
        <p:txBody>
          <a:bodyPr>
            <a:normAutofit fontScale="92500" lnSpcReduction="10000"/>
          </a:bodyPr>
          <a:lstStyle/>
          <a:p>
            <a:r>
              <a:rPr lang="en-IN" dirty="0" smtClean="0"/>
              <a:t>In Eukaryotic cell well developed nucleus and nuclear membrane is present.</a:t>
            </a:r>
            <a:endParaRPr lang="en-IN" dirty="0"/>
          </a:p>
        </p:txBody>
      </p:sp>
      <p:pic>
        <p:nvPicPr>
          <p:cNvPr id="17412" name="Picture 4" descr="Eukaryotic cells Diagram | Quizlet"/>
          <p:cNvPicPr>
            <a:picLocks noGrp="1" noChangeAspect="1" noChangeArrowheads="1"/>
          </p:cNvPicPr>
          <p:nvPr>
            <p:ph sz="quarter" idx="4"/>
          </p:nvPr>
        </p:nvPicPr>
        <p:blipFill>
          <a:blip r:embed="rId3"/>
          <a:stretch>
            <a:fillRect/>
          </a:stretch>
        </p:blipFill>
        <p:spPr bwMode="auto">
          <a:xfrm>
            <a:off x="4645025" y="2401977"/>
            <a:ext cx="4041775" cy="3497083"/>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pic>
        <p:nvPicPr>
          <p:cNvPr id="19458" name="Picture 2" descr="https://archive.nptel.ac.in/content/storage2/courses/102103012/module1/lec1/images/6.pn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1"/>
            <a:ext cx="7772400" cy="714355"/>
          </a:xfrm>
        </p:spPr>
        <p:txBody>
          <a:bodyPr>
            <a:normAutofit/>
          </a:bodyPr>
          <a:lstStyle/>
          <a:p>
            <a:r>
              <a:rPr lang="en-IN" sz="3600" dirty="0" smtClean="0"/>
              <a:t>Stem Cells and their Application </a:t>
            </a:r>
            <a:endParaRPr lang="en-IN" sz="3600" dirty="0"/>
          </a:p>
        </p:txBody>
      </p:sp>
      <p:sp>
        <p:nvSpPr>
          <p:cNvPr id="3" name="Subtitle 2"/>
          <p:cNvSpPr>
            <a:spLocks noGrp="1"/>
          </p:cNvSpPr>
          <p:nvPr>
            <p:ph type="subTitle" idx="1"/>
          </p:nvPr>
        </p:nvSpPr>
        <p:spPr>
          <a:xfrm>
            <a:off x="214282" y="642918"/>
            <a:ext cx="8643998" cy="6215082"/>
          </a:xfrm>
        </p:spPr>
        <p:txBody>
          <a:bodyPr>
            <a:noAutofit/>
          </a:bodyPr>
          <a:lstStyle/>
          <a:p>
            <a:r>
              <a:rPr lang="en-IN" sz="2400" dirty="0" smtClean="0">
                <a:solidFill>
                  <a:srgbClr val="C00000"/>
                </a:solidFill>
              </a:rPr>
              <a:t>Introduction</a:t>
            </a:r>
            <a:r>
              <a:rPr lang="en-IN" sz="2400" dirty="0" smtClean="0"/>
              <a:t> </a:t>
            </a:r>
          </a:p>
          <a:p>
            <a:pPr algn="just"/>
            <a:r>
              <a:rPr lang="en-IN" sz="2400" dirty="0" smtClean="0">
                <a:solidFill>
                  <a:schemeClr val="tx1"/>
                </a:solidFill>
              </a:rPr>
              <a:t>Stem cells are unique cells with the remarkable ability to develop into various specialized cell types in the body. </a:t>
            </a:r>
          </a:p>
          <a:p>
            <a:pPr algn="just"/>
            <a:r>
              <a:rPr lang="en-IN" sz="2400" dirty="0" smtClean="0">
                <a:solidFill>
                  <a:schemeClr val="tx1"/>
                </a:solidFill>
              </a:rPr>
              <a:t>They play a crucial role in growth, tissue repair, and maintaining the body's overall health. </a:t>
            </a:r>
          </a:p>
          <a:p>
            <a:pPr algn="just"/>
            <a:r>
              <a:rPr lang="en-IN" sz="2400" dirty="0" smtClean="0">
                <a:solidFill>
                  <a:srgbClr val="0070C0"/>
                </a:solidFill>
              </a:rPr>
              <a:t>Types of Stem Cells</a:t>
            </a:r>
            <a:r>
              <a:rPr lang="en-IN" sz="2400" dirty="0" smtClean="0"/>
              <a:t> </a:t>
            </a:r>
          </a:p>
          <a:p>
            <a:pPr marL="457200" indent="-457200" algn="just"/>
            <a:r>
              <a:rPr lang="en-IN" sz="2400" dirty="0" smtClean="0">
                <a:solidFill>
                  <a:srgbClr val="00B050"/>
                </a:solidFill>
              </a:rPr>
              <a:t>1. Embryonic Stem Cells</a:t>
            </a:r>
            <a:r>
              <a:rPr lang="en-IN" sz="2400" dirty="0" smtClean="0"/>
              <a:t>: </a:t>
            </a:r>
            <a:r>
              <a:rPr lang="en-IN" sz="2400" dirty="0" smtClean="0">
                <a:solidFill>
                  <a:schemeClr val="tx1"/>
                </a:solidFill>
              </a:rPr>
              <a:t>Derived from embryos, these cells have the potential to become any cell type in the body. </a:t>
            </a:r>
          </a:p>
          <a:p>
            <a:pPr marL="457200" indent="-457200" algn="just">
              <a:buAutoNum type="arabicPeriod" startAt="2"/>
            </a:pPr>
            <a:r>
              <a:rPr lang="en-IN" sz="2400" dirty="0" smtClean="0">
                <a:solidFill>
                  <a:srgbClr val="00B050"/>
                </a:solidFill>
              </a:rPr>
              <a:t>Adult or Somatic Stem Cells</a:t>
            </a:r>
            <a:r>
              <a:rPr lang="en-IN" sz="2400" dirty="0" smtClean="0"/>
              <a:t>: </a:t>
            </a:r>
            <a:r>
              <a:rPr lang="en-IN" sz="2400" dirty="0" smtClean="0">
                <a:solidFill>
                  <a:schemeClr val="tx1"/>
                </a:solidFill>
              </a:rPr>
              <a:t>Found in various tissues, they specialize in generating cells specific to their tissue of origin.</a:t>
            </a:r>
          </a:p>
          <a:p>
            <a:pPr marL="457200" indent="-457200" algn="just"/>
            <a:r>
              <a:rPr lang="en-IN" sz="2400" dirty="0" smtClean="0">
                <a:solidFill>
                  <a:srgbClr val="0070C0"/>
                </a:solidFill>
              </a:rPr>
              <a:t>They possess two main characteristics</a:t>
            </a:r>
          </a:p>
          <a:p>
            <a:pPr marL="457200" indent="-457200" algn="just"/>
            <a:r>
              <a:rPr lang="en-IN" sz="2400" dirty="0" smtClean="0">
                <a:solidFill>
                  <a:schemeClr val="tx1"/>
                </a:solidFill>
              </a:rPr>
              <a:t>1.</a:t>
            </a:r>
            <a:r>
              <a:rPr lang="en-IN" sz="2400" dirty="0" smtClean="0">
                <a:solidFill>
                  <a:srgbClr val="00B050"/>
                </a:solidFill>
              </a:rPr>
              <a:t>Self-Renewal</a:t>
            </a:r>
            <a:r>
              <a:rPr lang="en-IN" sz="2400" dirty="0" smtClean="0">
                <a:solidFill>
                  <a:schemeClr val="tx1"/>
                </a:solidFill>
              </a:rPr>
              <a:t>: The ability to divide and produce more stem cells, maintaining a renewable source for further differentiation.</a:t>
            </a:r>
          </a:p>
          <a:p>
            <a:pPr marL="457200" indent="-457200" algn="just"/>
            <a:r>
              <a:rPr lang="en-IN" sz="2400" dirty="0" smtClean="0">
                <a:solidFill>
                  <a:schemeClr val="tx1"/>
                </a:solidFill>
              </a:rPr>
              <a:t>2.</a:t>
            </a:r>
            <a:r>
              <a:rPr lang="en-IN" sz="2400" dirty="0" smtClean="0">
                <a:solidFill>
                  <a:srgbClr val="00B050"/>
                </a:solidFill>
              </a:rPr>
              <a:t>Differentation</a:t>
            </a:r>
            <a:r>
              <a:rPr lang="en-IN" sz="2400" dirty="0" smtClean="0">
                <a:solidFill>
                  <a:schemeClr val="tx1"/>
                </a:solidFill>
              </a:rPr>
              <a:t>: The potential to differentiate into various cell types depending on their environment and the signals they receive.</a:t>
            </a:r>
          </a:p>
          <a:p>
            <a:pPr marL="457200" indent="-457200" algn="just"/>
            <a:endParaRPr lang="en-IN" sz="2400" dirty="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0"/>
            <a:ext cx="7772400" cy="571480"/>
          </a:xfrm>
        </p:spPr>
        <p:txBody>
          <a:bodyPr>
            <a:normAutofit fontScale="90000"/>
          </a:bodyPr>
          <a:lstStyle/>
          <a:p>
            <a:r>
              <a:rPr lang="en-IN" dirty="0" smtClean="0"/>
              <a:t>Applications</a:t>
            </a:r>
            <a:endParaRPr lang="en-IN" dirty="0"/>
          </a:p>
        </p:txBody>
      </p:sp>
      <p:sp>
        <p:nvSpPr>
          <p:cNvPr id="3" name="Subtitle 2"/>
          <p:cNvSpPr>
            <a:spLocks noGrp="1"/>
          </p:cNvSpPr>
          <p:nvPr>
            <p:ph type="subTitle" idx="1"/>
          </p:nvPr>
        </p:nvSpPr>
        <p:spPr>
          <a:xfrm>
            <a:off x="0" y="571480"/>
            <a:ext cx="9144000" cy="6286520"/>
          </a:xfrm>
        </p:spPr>
        <p:txBody>
          <a:bodyPr>
            <a:noAutofit/>
          </a:bodyPr>
          <a:lstStyle/>
          <a:p>
            <a:pPr marL="514350" indent="-514350" algn="just"/>
            <a:r>
              <a:rPr lang="en-IN" sz="2000" dirty="0" smtClean="0">
                <a:solidFill>
                  <a:schemeClr val="tx1"/>
                </a:solidFill>
              </a:rPr>
              <a:t>1. </a:t>
            </a:r>
            <a:r>
              <a:rPr lang="en-IN" sz="2000" dirty="0" smtClean="0">
                <a:solidFill>
                  <a:schemeClr val="accent2"/>
                </a:solidFill>
              </a:rPr>
              <a:t>Regenerative Medicine </a:t>
            </a:r>
          </a:p>
          <a:p>
            <a:pPr marL="269875" indent="-269875" algn="just">
              <a:buFont typeface="Wingdings" pitchFamily="2" charset="2"/>
              <a:buChar char="§"/>
            </a:pPr>
            <a:r>
              <a:rPr lang="en-IN" sz="2000" dirty="0" smtClean="0">
                <a:solidFill>
                  <a:schemeClr val="tx1"/>
                </a:solidFill>
              </a:rPr>
              <a:t>Tissue Repair: Stem cells are used to regenerate damaged or diseased tissues, aiding in organ repair. </a:t>
            </a:r>
          </a:p>
          <a:p>
            <a:pPr marL="269875" indent="-269875" algn="just">
              <a:buFont typeface="Wingdings" pitchFamily="2" charset="2"/>
              <a:buChar char="§"/>
            </a:pPr>
            <a:r>
              <a:rPr lang="en-IN" sz="2000" dirty="0" smtClean="0">
                <a:solidFill>
                  <a:schemeClr val="tx1"/>
                </a:solidFill>
              </a:rPr>
              <a:t> </a:t>
            </a:r>
            <a:r>
              <a:rPr lang="en-IN" sz="2000" dirty="0" err="1" smtClean="0">
                <a:solidFill>
                  <a:schemeClr val="tx1"/>
                </a:solidFill>
              </a:rPr>
              <a:t>Orthopedic</a:t>
            </a:r>
            <a:r>
              <a:rPr lang="en-IN" sz="2000" dirty="0" smtClean="0">
                <a:solidFill>
                  <a:schemeClr val="tx1"/>
                </a:solidFill>
              </a:rPr>
              <a:t> Treatments: Applied in bone and joint disorders for enhanced healing. </a:t>
            </a:r>
          </a:p>
          <a:p>
            <a:pPr marL="514350" indent="-514350" algn="just"/>
            <a:r>
              <a:rPr lang="en-IN" sz="2000" dirty="0" smtClean="0">
                <a:solidFill>
                  <a:schemeClr val="tx1"/>
                </a:solidFill>
              </a:rPr>
              <a:t>2. </a:t>
            </a:r>
            <a:r>
              <a:rPr lang="en-IN" sz="2000" dirty="0" smtClean="0">
                <a:solidFill>
                  <a:schemeClr val="accent2"/>
                </a:solidFill>
              </a:rPr>
              <a:t>Treatment of Diseases </a:t>
            </a:r>
          </a:p>
          <a:p>
            <a:pPr marL="269875" indent="-269875" algn="just">
              <a:buFont typeface="Wingdings" pitchFamily="2" charset="2"/>
              <a:buChar char="§"/>
            </a:pPr>
            <a:r>
              <a:rPr lang="en-IN" sz="2000" dirty="0" smtClean="0">
                <a:solidFill>
                  <a:schemeClr val="tx1"/>
                </a:solidFill>
              </a:rPr>
              <a:t> Blood Disorders: Stem cells are used in treating conditions like </a:t>
            </a:r>
            <a:r>
              <a:rPr lang="en-IN" sz="2000" dirty="0" err="1" smtClean="0">
                <a:solidFill>
                  <a:schemeClr val="tx1"/>
                </a:solidFill>
              </a:rPr>
              <a:t>leukemia</a:t>
            </a:r>
            <a:r>
              <a:rPr lang="en-IN" sz="2000" dirty="0" smtClean="0">
                <a:solidFill>
                  <a:schemeClr val="tx1"/>
                </a:solidFill>
              </a:rPr>
              <a:t> and </a:t>
            </a:r>
            <a:r>
              <a:rPr lang="en-IN" sz="2000" dirty="0" err="1" smtClean="0">
                <a:solidFill>
                  <a:schemeClr val="tx1"/>
                </a:solidFill>
              </a:rPr>
              <a:t>anemia</a:t>
            </a:r>
            <a:r>
              <a:rPr lang="en-IN" sz="2000" dirty="0" smtClean="0">
                <a:solidFill>
                  <a:schemeClr val="tx1"/>
                </a:solidFill>
              </a:rPr>
              <a:t>. </a:t>
            </a:r>
            <a:endParaRPr lang="en-IN" sz="2000" dirty="0">
              <a:solidFill>
                <a:schemeClr val="tx1"/>
              </a:solidFill>
            </a:endParaRPr>
          </a:p>
          <a:p>
            <a:pPr marL="269875" indent="-269875" algn="just">
              <a:buFont typeface="Wingdings" pitchFamily="2" charset="2"/>
              <a:buChar char="§"/>
            </a:pPr>
            <a:r>
              <a:rPr lang="en-IN" sz="2000" dirty="0" smtClean="0">
                <a:solidFill>
                  <a:schemeClr val="tx1"/>
                </a:solidFill>
              </a:rPr>
              <a:t>Neurological Disorders: Research explores their potential for treating conditions like Parkinson's and Alzheimer's.</a:t>
            </a:r>
          </a:p>
          <a:p>
            <a:pPr marL="514350" indent="-514350" algn="just"/>
            <a:r>
              <a:rPr lang="en-IN" sz="2000" dirty="0" smtClean="0">
                <a:solidFill>
                  <a:schemeClr val="tx1"/>
                </a:solidFill>
              </a:rPr>
              <a:t> 3. </a:t>
            </a:r>
            <a:r>
              <a:rPr lang="en-IN" sz="2000" dirty="0" smtClean="0">
                <a:solidFill>
                  <a:schemeClr val="accent2"/>
                </a:solidFill>
              </a:rPr>
              <a:t>Drug Development and Testing </a:t>
            </a:r>
          </a:p>
          <a:p>
            <a:pPr marL="269875" indent="-269875" algn="just">
              <a:buFont typeface="Wingdings" pitchFamily="2" charset="2"/>
              <a:buChar char="§"/>
            </a:pPr>
            <a:r>
              <a:rPr lang="en-IN" sz="2000" dirty="0" smtClean="0">
                <a:solidFill>
                  <a:schemeClr val="tx1"/>
                </a:solidFill>
              </a:rPr>
              <a:t> Stem cells serve as a valuable model for testing new drugs, predicting their effects on human cells.</a:t>
            </a:r>
          </a:p>
          <a:p>
            <a:pPr marL="514350" indent="-514350" algn="just"/>
            <a:r>
              <a:rPr lang="en-IN" sz="2000" dirty="0" smtClean="0">
                <a:solidFill>
                  <a:schemeClr val="tx1"/>
                </a:solidFill>
              </a:rPr>
              <a:t> 4. </a:t>
            </a:r>
            <a:r>
              <a:rPr lang="en-IN" sz="2000" dirty="0" smtClean="0">
                <a:solidFill>
                  <a:schemeClr val="accent2"/>
                </a:solidFill>
              </a:rPr>
              <a:t>Understanding Disease Mechanisms </a:t>
            </a:r>
          </a:p>
          <a:p>
            <a:pPr marL="269875" indent="-269875" algn="just">
              <a:buFont typeface="Wingdings" pitchFamily="2" charset="2"/>
              <a:buChar char="§"/>
            </a:pPr>
            <a:r>
              <a:rPr lang="en-IN" sz="2000" dirty="0" smtClean="0">
                <a:solidFill>
                  <a:schemeClr val="tx1"/>
                </a:solidFill>
              </a:rPr>
              <a:t>Studying stem cells provides insights into the development and progression of diseases. </a:t>
            </a:r>
          </a:p>
          <a:p>
            <a:pPr marL="514350" indent="-514350" algn="just"/>
            <a:r>
              <a:rPr lang="en-IN" sz="2000" dirty="0" smtClean="0">
                <a:solidFill>
                  <a:schemeClr val="tx1"/>
                </a:solidFill>
              </a:rPr>
              <a:t>5. </a:t>
            </a:r>
            <a:r>
              <a:rPr lang="en-IN" sz="2000" dirty="0" smtClean="0">
                <a:solidFill>
                  <a:schemeClr val="accent2"/>
                </a:solidFill>
              </a:rPr>
              <a:t>Cell-Based Therapies </a:t>
            </a:r>
          </a:p>
          <a:p>
            <a:pPr marL="269875" indent="-269875" algn="just">
              <a:buFont typeface="Wingdings" pitchFamily="2" charset="2"/>
              <a:buChar char="§"/>
            </a:pPr>
            <a:r>
              <a:rPr lang="en-IN" sz="2000" dirty="0" smtClean="0">
                <a:solidFill>
                  <a:schemeClr val="tx1"/>
                </a:solidFill>
              </a:rPr>
              <a:t>Stem cells offer a foundation for developing cell-based therapies, addressing various medical conditions.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214291"/>
            <a:ext cx="7772400" cy="785818"/>
          </a:xfrm>
        </p:spPr>
        <p:txBody>
          <a:bodyPr>
            <a:normAutofit/>
          </a:bodyPr>
          <a:lstStyle/>
          <a:p>
            <a:pPr algn="l"/>
            <a:r>
              <a:rPr lang="en-IN" sz="2400" dirty="0" smtClean="0">
                <a:solidFill>
                  <a:schemeClr val="accent2"/>
                </a:solidFill>
              </a:rPr>
              <a:t>6.Personalized Medicine</a:t>
            </a:r>
            <a:endParaRPr lang="en-IN" sz="2400" dirty="0">
              <a:solidFill>
                <a:schemeClr val="accent2"/>
              </a:solidFill>
            </a:endParaRPr>
          </a:p>
        </p:txBody>
      </p:sp>
      <p:sp>
        <p:nvSpPr>
          <p:cNvPr id="3" name="Subtitle 2"/>
          <p:cNvSpPr>
            <a:spLocks noGrp="1"/>
          </p:cNvSpPr>
          <p:nvPr>
            <p:ph type="subTitle" idx="1"/>
          </p:nvPr>
        </p:nvSpPr>
        <p:spPr>
          <a:xfrm>
            <a:off x="428596" y="714356"/>
            <a:ext cx="8501122" cy="5429288"/>
          </a:xfrm>
        </p:spPr>
        <p:txBody>
          <a:bodyPr>
            <a:normAutofit/>
          </a:bodyPr>
          <a:lstStyle/>
          <a:p>
            <a:pPr marL="90488" algn="just">
              <a:buFont typeface="Wingdings" pitchFamily="2" charset="2"/>
              <a:buChar char="§"/>
            </a:pPr>
            <a:r>
              <a:rPr lang="en-IN" sz="2000" dirty="0" smtClean="0">
                <a:solidFill>
                  <a:schemeClr val="tx1"/>
                </a:solidFill>
              </a:rPr>
              <a:t> </a:t>
            </a:r>
            <a:r>
              <a:rPr lang="en-IN" sz="2400" dirty="0" smtClean="0">
                <a:solidFill>
                  <a:schemeClr val="tx1"/>
                </a:solidFill>
              </a:rPr>
              <a:t>Tailoring treatments based on an individual's genetic makeup, utilizing stem cells for personalized therapies. </a:t>
            </a:r>
          </a:p>
          <a:p>
            <a:pPr marL="90488" algn="just">
              <a:buFont typeface="Wingdings" pitchFamily="2" charset="2"/>
              <a:buChar char="§"/>
            </a:pPr>
            <a:endParaRPr lang="en-IN" sz="2400" dirty="0">
              <a:solidFill>
                <a:schemeClr val="tx1"/>
              </a:solidFill>
            </a:endParaRPr>
          </a:p>
          <a:p>
            <a:pPr marL="90488" algn="just">
              <a:buFont typeface="Wingdings" pitchFamily="2" charset="2"/>
              <a:buChar char="§"/>
            </a:pPr>
            <a:endParaRPr lang="en-IN" sz="2400" dirty="0" smtClean="0">
              <a:solidFill>
                <a:schemeClr val="tx1"/>
              </a:solidFill>
            </a:endParaRPr>
          </a:p>
          <a:p>
            <a:pPr marL="90488" algn="just">
              <a:buFont typeface="Wingdings" pitchFamily="2" charset="2"/>
              <a:buChar char="§"/>
            </a:pPr>
            <a:endParaRPr lang="en-IN" sz="2400" dirty="0">
              <a:solidFill>
                <a:schemeClr val="tx1"/>
              </a:solidFill>
            </a:endParaRPr>
          </a:p>
          <a:p>
            <a:pPr marL="90488" algn="just">
              <a:buFont typeface="Wingdings" pitchFamily="2" charset="2"/>
              <a:buChar char="§"/>
            </a:pPr>
            <a:endParaRPr lang="en-IN" sz="2400" dirty="0" smtClean="0">
              <a:solidFill>
                <a:schemeClr val="tx1"/>
              </a:solidFill>
            </a:endParaRPr>
          </a:p>
          <a:p>
            <a:pPr marL="90488" algn="just">
              <a:buFont typeface="Wingdings" pitchFamily="2" charset="2"/>
              <a:buChar char="§"/>
            </a:pPr>
            <a:endParaRPr lang="en-IN" sz="2400" dirty="0">
              <a:solidFill>
                <a:schemeClr val="tx1"/>
              </a:solidFill>
            </a:endParaRPr>
          </a:p>
          <a:p>
            <a:pPr marL="90488" algn="just">
              <a:buFont typeface="Wingdings" pitchFamily="2" charset="2"/>
              <a:buChar char="§"/>
            </a:pPr>
            <a:endParaRPr lang="en-IN" sz="2400" dirty="0" smtClean="0">
              <a:solidFill>
                <a:schemeClr val="tx1"/>
              </a:solidFill>
            </a:endParaRPr>
          </a:p>
          <a:p>
            <a:pPr marL="90488" algn="just">
              <a:buFont typeface="Wingdings" pitchFamily="2" charset="2"/>
              <a:buChar char="§"/>
            </a:pPr>
            <a:endParaRPr lang="en-IN" sz="2400" dirty="0">
              <a:solidFill>
                <a:schemeClr val="tx1"/>
              </a:solidFill>
            </a:endParaRPr>
          </a:p>
          <a:p>
            <a:pPr marL="90488" algn="just">
              <a:buFont typeface="Wingdings" pitchFamily="2" charset="2"/>
              <a:buChar char="§"/>
            </a:pPr>
            <a:endParaRPr lang="en-IN" sz="2400" dirty="0" smtClean="0">
              <a:solidFill>
                <a:schemeClr val="tx1"/>
              </a:solidFill>
            </a:endParaRPr>
          </a:p>
          <a:p>
            <a:pPr marL="90488" algn="just">
              <a:buFont typeface="Wingdings" pitchFamily="2" charset="2"/>
              <a:buChar char="§"/>
            </a:pPr>
            <a:endParaRPr lang="en-IN" sz="2400" dirty="0">
              <a:solidFill>
                <a:schemeClr val="tx1"/>
              </a:solidFill>
            </a:endParaRPr>
          </a:p>
          <a:p>
            <a:pPr marL="90488" algn="just"/>
            <a:r>
              <a:rPr lang="en-IN" sz="2800" dirty="0" smtClean="0">
                <a:solidFill>
                  <a:srgbClr val="FF0000"/>
                </a:solidFill>
              </a:rPr>
              <a:t>Embryonic stem cells                                   Adult stem cells</a:t>
            </a:r>
            <a:endParaRPr lang="en-IN" sz="2800" dirty="0">
              <a:solidFill>
                <a:srgbClr val="FF0000"/>
              </a:solidFill>
            </a:endParaRPr>
          </a:p>
        </p:txBody>
      </p:sp>
      <p:pic>
        <p:nvPicPr>
          <p:cNvPr id="21506" name="Picture 2" descr="Adult Stem Cell - an overview | ScienceDirect Topics"/>
          <p:cNvPicPr>
            <a:picLocks noChangeAspect="1" noChangeArrowheads="1"/>
          </p:cNvPicPr>
          <p:nvPr/>
        </p:nvPicPr>
        <p:blipFill>
          <a:blip r:embed="rId2"/>
          <a:srcRect/>
          <a:stretch>
            <a:fillRect/>
          </a:stretch>
        </p:blipFill>
        <p:spPr bwMode="auto">
          <a:xfrm>
            <a:off x="5705475" y="2071678"/>
            <a:ext cx="3438525" cy="3209926"/>
          </a:xfrm>
          <a:prstGeom prst="rect">
            <a:avLst/>
          </a:prstGeom>
          <a:noFill/>
        </p:spPr>
      </p:pic>
      <p:pic>
        <p:nvPicPr>
          <p:cNvPr id="21508" name="Picture 4" descr="What Are Embryonic Stem Cells and How Can They Help Us? · Frontiers for  Young Minds"/>
          <p:cNvPicPr>
            <a:picLocks noChangeAspect="1" noChangeArrowheads="1"/>
          </p:cNvPicPr>
          <p:nvPr/>
        </p:nvPicPr>
        <p:blipFill>
          <a:blip r:embed="rId3"/>
          <a:srcRect/>
          <a:stretch>
            <a:fillRect/>
          </a:stretch>
        </p:blipFill>
        <p:spPr bwMode="auto">
          <a:xfrm>
            <a:off x="0" y="1928802"/>
            <a:ext cx="5572131" cy="3314707"/>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285729"/>
            <a:ext cx="8715436" cy="928694"/>
          </a:xfrm>
        </p:spPr>
        <p:txBody>
          <a:bodyPr>
            <a:normAutofit/>
          </a:bodyPr>
          <a:lstStyle/>
          <a:p>
            <a:r>
              <a:rPr lang="en-IN" sz="3600" dirty="0" smtClean="0">
                <a:solidFill>
                  <a:srgbClr val="002060"/>
                </a:solidFill>
              </a:rPr>
              <a:t>Introduction and Importance of </a:t>
            </a:r>
            <a:r>
              <a:rPr lang="en-IN" sz="3600" dirty="0" err="1" smtClean="0">
                <a:solidFill>
                  <a:srgbClr val="002060"/>
                </a:solidFill>
              </a:rPr>
              <a:t>Biomolecules</a:t>
            </a:r>
            <a:endParaRPr lang="en-IN" sz="3600" dirty="0">
              <a:solidFill>
                <a:srgbClr val="002060"/>
              </a:solidFill>
            </a:endParaRPr>
          </a:p>
        </p:txBody>
      </p:sp>
      <p:sp>
        <p:nvSpPr>
          <p:cNvPr id="3" name="Subtitle 2"/>
          <p:cNvSpPr>
            <a:spLocks noGrp="1"/>
          </p:cNvSpPr>
          <p:nvPr>
            <p:ph type="subTitle" idx="1"/>
          </p:nvPr>
        </p:nvSpPr>
        <p:spPr>
          <a:xfrm>
            <a:off x="214282" y="1214422"/>
            <a:ext cx="8643998" cy="5286412"/>
          </a:xfrm>
        </p:spPr>
        <p:txBody>
          <a:bodyPr>
            <a:normAutofit lnSpcReduction="10000"/>
          </a:bodyPr>
          <a:lstStyle/>
          <a:p>
            <a:pPr algn="l"/>
            <a:r>
              <a:rPr lang="en-IN" sz="2000" dirty="0" smtClean="0">
                <a:solidFill>
                  <a:srgbClr val="C00000"/>
                </a:solidFill>
              </a:rPr>
              <a:t>Introduction to </a:t>
            </a:r>
            <a:r>
              <a:rPr lang="en-IN" sz="2000" dirty="0" err="1" smtClean="0">
                <a:solidFill>
                  <a:srgbClr val="C00000"/>
                </a:solidFill>
              </a:rPr>
              <a:t>Biomolecules</a:t>
            </a:r>
            <a:r>
              <a:rPr lang="en-IN" sz="2000" dirty="0" smtClean="0">
                <a:solidFill>
                  <a:srgbClr val="C00000"/>
                </a:solidFill>
              </a:rPr>
              <a:t>:</a:t>
            </a:r>
          </a:p>
          <a:p>
            <a:pPr algn="just">
              <a:buFont typeface="Wingdings" pitchFamily="2" charset="2"/>
              <a:buChar char="§"/>
            </a:pPr>
            <a:r>
              <a:rPr lang="en-IN" sz="2000" dirty="0" err="1" smtClean="0">
                <a:solidFill>
                  <a:schemeClr val="tx1"/>
                </a:solidFill>
              </a:rPr>
              <a:t>Biomolecules</a:t>
            </a:r>
            <a:r>
              <a:rPr lang="en-IN" sz="2000" dirty="0" smtClean="0">
                <a:solidFill>
                  <a:schemeClr val="tx1"/>
                </a:solidFill>
              </a:rPr>
              <a:t> are essential molecules that make up the building blocks of life.</a:t>
            </a:r>
            <a:br>
              <a:rPr lang="en-IN" sz="2000" dirty="0" smtClean="0">
                <a:solidFill>
                  <a:schemeClr val="tx1"/>
                </a:solidFill>
              </a:rPr>
            </a:br>
            <a:r>
              <a:rPr lang="en-IN" sz="2000" dirty="0" smtClean="0">
                <a:solidFill>
                  <a:schemeClr val="tx1"/>
                </a:solidFill>
              </a:rPr>
              <a:t> These diverse compounds play crucial roles in the structure and functioning of living organisms.      </a:t>
            </a:r>
          </a:p>
          <a:p>
            <a:pPr algn="just">
              <a:buFont typeface="Wingdings" pitchFamily="2" charset="2"/>
              <a:buChar char="§"/>
            </a:pPr>
            <a:r>
              <a:rPr lang="en-IN" sz="2000" dirty="0" smtClean="0">
                <a:solidFill>
                  <a:schemeClr val="tx1"/>
                </a:solidFill>
              </a:rPr>
              <a:t>Among the key </a:t>
            </a:r>
            <a:r>
              <a:rPr lang="en-IN" sz="2000" dirty="0" err="1" smtClean="0">
                <a:solidFill>
                  <a:schemeClr val="tx1"/>
                </a:solidFill>
              </a:rPr>
              <a:t>biomolecules</a:t>
            </a:r>
            <a:r>
              <a:rPr lang="en-IN" sz="2000" dirty="0" smtClean="0">
                <a:solidFill>
                  <a:schemeClr val="tx1"/>
                </a:solidFill>
              </a:rPr>
              <a:t> are carbohydrates, nucleic acids, proteins, and lipids, each contributing uniquely to the intricate tapestry of life.</a:t>
            </a:r>
          </a:p>
          <a:p>
            <a:pPr algn="just"/>
            <a:endParaRPr lang="en-IN" sz="2000" dirty="0" smtClean="0"/>
          </a:p>
          <a:p>
            <a:pPr algn="just"/>
            <a:r>
              <a:rPr lang="en-IN" sz="2000" dirty="0" smtClean="0">
                <a:solidFill>
                  <a:srgbClr val="C00000"/>
                </a:solidFill>
              </a:rPr>
              <a:t>Importance of </a:t>
            </a:r>
            <a:r>
              <a:rPr lang="en-IN" sz="2000" dirty="0" err="1" smtClean="0">
                <a:solidFill>
                  <a:srgbClr val="C00000"/>
                </a:solidFill>
              </a:rPr>
              <a:t>Biomolecules</a:t>
            </a:r>
            <a:r>
              <a:rPr lang="en-IN" sz="2000" dirty="0" smtClean="0">
                <a:solidFill>
                  <a:srgbClr val="C00000"/>
                </a:solidFill>
              </a:rPr>
              <a:t>: </a:t>
            </a:r>
          </a:p>
          <a:p>
            <a:pPr marL="274638" indent="-274638" algn="just">
              <a:buAutoNum type="arabicPeriod"/>
            </a:pPr>
            <a:r>
              <a:rPr lang="en-IN" sz="2000" dirty="0" smtClean="0">
                <a:solidFill>
                  <a:schemeClr val="tx1"/>
                </a:solidFill>
              </a:rPr>
              <a:t>Carbohydrates: They play a vital role in </a:t>
            </a:r>
            <a:r>
              <a:rPr lang="en-IN" sz="2000" dirty="0" err="1" smtClean="0">
                <a:solidFill>
                  <a:schemeClr val="tx1"/>
                </a:solidFill>
              </a:rPr>
              <a:t>fueling</a:t>
            </a:r>
            <a:r>
              <a:rPr lang="en-IN" sz="2000" dirty="0" smtClean="0">
                <a:solidFill>
                  <a:schemeClr val="tx1"/>
                </a:solidFill>
              </a:rPr>
              <a:t> various cellular processes, supporting growth, and facilitating quick energy release.</a:t>
            </a:r>
          </a:p>
          <a:p>
            <a:pPr marL="274638" indent="-274638" algn="just"/>
            <a:r>
              <a:rPr lang="en-IN" sz="2000" dirty="0" smtClean="0">
                <a:solidFill>
                  <a:schemeClr val="tx1"/>
                </a:solidFill>
              </a:rPr>
              <a:t> 2. Nucleic Acids: They are fundamental for inheritance, genetic diversity, and the synthesis of proteins essential for life processes. </a:t>
            </a:r>
          </a:p>
          <a:p>
            <a:pPr marL="274638" indent="-274638" algn="just"/>
            <a:r>
              <a:rPr lang="en-IN" sz="2000" dirty="0" smtClean="0">
                <a:solidFill>
                  <a:schemeClr val="tx1"/>
                </a:solidFill>
              </a:rPr>
              <a:t>3. Proteins: They contribute to the regulation of biological processes, cellular structure, and the catalysis of biochemical reactions. </a:t>
            </a:r>
          </a:p>
          <a:p>
            <a:pPr marL="274638" indent="-274638" algn="just"/>
            <a:r>
              <a:rPr lang="en-IN" sz="2000" dirty="0" smtClean="0">
                <a:solidFill>
                  <a:schemeClr val="tx1"/>
                </a:solidFill>
              </a:rPr>
              <a:t>4. Lipids: They are crucial for maintaining cell integrity, providing a protective barrier, and serving as reserve energy sources.</a:t>
            </a:r>
            <a:endParaRPr lang="en-IN" sz="2000" dirty="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1"/>
            <a:ext cx="7772400" cy="1000108"/>
          </a:xfrm>
        </p:spPr>
        <p:txBody>
          <a:bodyPr/>
          <a:lstStyle/>
          <a:p>
            <a:r>
              <a:rPr lang="en-IN" dirty="0" smtClean="0"/>
              <a:t>Carbohydrates</a:t>
            </a:r>
            <a:endParaRPr lang="en-IN" dirty="0"/>
          </a:p>
        </p:txBody>
      </p:sp>
      <p:sp>
        <p:nvSpPr>
          <p:cNvPr id="3" name="Subtitle 2"/>
          <p:cNvSpPr>
            <a:spLocks noGrp="1"/>
          </p:cNvSpPr>
          <p:nvPr>
            <p:ph type="subTitle" idx="1"/>
          </p:nvPr>
        </p:nvSpPr>
        <p:spPr>
          <a:xfrm>
            <a:off x="214282" y="785794"/>
            <a:ext cx="8501122" cy="5143536"/>
          </a:xfrm>
        </p:spPr>
        <p:txBody>
          <a:bodyPr>
            <a:normAutofit/>
          </a:bodyPr>
          <a:lstStyle/>
          <a:p>
            <a:pPr algn="just"/>
            <a:r>
              <a:rPr lang="en-IN" sz="2400" dirty="0" smtClean="0">
                <a:solidFill>
                  <a:schemeClr val="tx1"/>
                </a:solidFill>
              </a:rPr>
              <a:t>Carbohydrates are a class of organic compounds that play a crucial role in biology and are an important source of energy for living organisms. They are composed of carbon (C), hydrogen (H), and oxygen (O) atoms and are classified based on their molecular structure and function. General formula is </a:t>
            </a:r>
            <a:r>
              <a:rPr lang="en-IN" sz="2400" dirty="0" err="1" smtClean="0">
                <a:solidFill>
                  <a:schemeClr val="tx1"/>
                </a:solidFill>
              </a:rPr>
              <a:t>Cn</a:t>
            </a:r>
            <a:r>
              <a:rPr lang="en-IN" sz="2400" dirty="0" smtClean="0">
                <a:solidFill>
                  <a:schemeClr val="tx1"/>
                </a:solidFill>
              </a:rPr>
              <a:t>(H2O)n. </a:t>
            </a:r>
          </a:p>
          <a:p>
            <a:pPr algn="just"/>
            <a:r>
              <a:rPr lang="en-IN" sz="2400" dirty="0" err="1" smtClean="0">
                <a:solidFill>
                  <a:srgbClr val="00B0F0"/>
                </a:solidFill>
                <a:latin typeface="+mj-lt"/>
              </a:rPr>
              <a:t>Monosaccharides</a:t>
            </a:r>
            <a:r>
              <a:rPr lang="en-IN" sz="2400" dirty="0" smtClean="0">
                <a:solidFill>
                  <a:srgbClr val="00B0F0"/>
                </a:solidFill>
                <a:latin typeface="+mj-lt"/>
              </a:rPr>
              <a:t> </a:t>
            </a:r>
          </a:p>
          <a:p>
            <a:pPr algn="just"/>
            <a:r>
              <a:rPr lang="en-IN" sz="2400" dirty="0" smtClean="0">
                <a:solidFill>
                  <a:schemeClr val="tx1"/>
                </a:solidFill>
              </a:rPr>
              <a:t>These are the simplest form of carbohydrates and include glucose and fructose. They are easily soluble in water and serve as the primary source of energy for the body.</a:t>
            </a: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p:txBody>
      </p:sp>
      <p:pic>
        <p:nvPicPr>
          <p:cNvPr id="4098" name="Picture 2" descr="Monosaccharides (Simple Sugars) Definition, List, Examples of Foods"/>
          <p:cNvPicPr>
            <a:picLocks noChangeAspect="1" noChangeArrowheads="1"/>
          </p:cNvPicPr>
          <p:nvPr/>
        </p:nvPicPr>
        <p:blipFill>
          <a:blip r:embed="rId2"/>
          <a:srcRect/>
          <a:stretch>
            <a:fillRect/>
          </a:stretch>
        </p:blipFill>
        <p:spPr bwMode="auto">
          <a:xfrm>
            <a:off x="1357290" y="4286256"/>
            <a:ext cx="5934075" cy="2571744"/>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571479"/>
            <a:ext cx="8643998" cy="571505"/>
          </a:xfrm>
        </p:spPr>
        <p:txBody>
          <a:bodyPr>
            <a:noAutofit/>
          </a:bodyPr>
          <a:lstStyle/>
          <a:p>
            <a:pPr algn="l"/>
            <a:r>
              <a:rPr lang="en-IN" sz="3200" dirty="0" smtClean="0"/>
              <a:t>Disaccharides </a:t>
            </a:r>
            <a:br>
              <a:rPr lang="en-IN" sz="3200" dirty="0" smtClean="0"/>
            </a:br>
            <a:r>
              <a:rPr lang="en-IN" sz="3200" dirty="0" smtClean="0"/>
              <a:t/>
            </a:r>
            <a:br>
              <a:rPr lang="en-IN" sz="3200" dirty="0" smtClean="0"/>
            </a:br>
            <a:endParaRPr lang="en-IN" sz="3200" dirty="0"/>
          </a:p>
        </p:txBody>
      </p:sp>
      <p:sp>
        <p:nvSpPr>
          <p:cNvPr id="3" name="Subtitle 2"/>
          <p:cNvSpPr>
            <a:spLocks noGrp="1"/>
          </p:cNvSpPr>
          <p:nvPr>
            <p:ph type="subTitle" idx="1"/>
          </p:nvPr>
        </p:nvSpPr>
        <p:spPr>
          <a:xfrm>
            <a:off x="285720" y="571480"/>
            <a:ext cx="8143932" cy="4781568"/>
          </a:xfrm>
        </p:spPr>
        <p:txBody>
          <a:bodyPr>
            <a:normAutofit/>
          </a:bodyPr>
          <a:lstStyle/>
          <a:p>
            <a:pPr algn="just"/>
            <a:r>
              <a:rPr lang="en-IN" sz="2800" dirty="0" smtClean="0">
                <a:solidFill>
                  <a:schemeClr val="tx1"/>
                </a:solidFill>
              </a:rPr>
              <a:t>These are formed by the condensation of two </a:t>
            </a:r>
            <a:r>
              <a:rPr lang="en-IN" sz="2800" dirty="0" err="1" smtClean="0">
                <a:solidFill>
                  <a:schemeClr val="tx1"/>
                </a:solidFill>
              </a:rPr>
              <a:t>monosaccharides</a:t>
            </a:r>
            <a:r>
              <a:rPr lang="en-IN" sz="2800" dirty="0" smtClean="0">
                <a:solidFill>
                  <a:schemeClr val="tx1"/>
                </a:solidFill>
              </a:rPr>
              <a:t> and include sucrose, lactose, and maltose. They are commonly found in sugar and are broken down into </a:t>
            </a:r>
            <a:r>
              <a:rPr lang="en-IN" sz="2800" dirty="0" err="1" smtClean="0">
                <a:solidFill>
                  <a:schemeClr val="tx1"/>
                </a:solidFill>
              </a:rPr>
              <a:t>monosaccharides</a:t>
            </a:r>
            <a:r>
              <a:rPr lang="en-IN" sz="2800" dirty="0" smtClean="0">
                <a:solidFill>
                  <a:schemeClr val="tx1"/>
                </a:solidFill>
              </a:rPr>
              <a:t> during digestion.</a:t>
            </a:r>
            <a:endParaRPr lang="en-IN" sz="2800" dirty="0">
              <a:solidFill>
                <a:schemeClr val="tx1"/>
              </a:solidFill>
            </a:endParaRPr>
          </a:p>
        </p:txBody>
      </p:sp>
      <p:pic>
        <p:nvPicPr>
          <p:cNvPr id="3074" name="Picture 2" descr="Disaccharide Examples - What Is a Disaccharide?"/>
          <p:cNvPicPr>
            <a:picLocks noChangeAspect="1" noChangeArrowheads="1"/>
          </p:cNvPicPr>
          <p:nvPr/>
        </p:nvPicPr>
        <p:blipFill>
          <a:blip r:embed="rId2"/>
          <a:srcRect/>
          <a:stretch>
            <a:fillRect/>
          </a:stretch>
        </p:blipFill>
        <p:spPr bwMode="auto">
          <a:xfrm>
            <a:off x="285720" y="2428868"/>
            <a:ext cx="8358246" cy="4429132"/>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285728"/>
            <a:ext cx="7772400" cy="500065"/>
          </a:xfrm>
        </p:spPr>
        <p:txBody>
          <a:bodyPr>
            <a:noAutofit/>
          </a:bodyPr>
          <a:lstStyle/>
          <a:p>
            <a:pPr algn="l"/>
            <a:r>
              <a:rPr lang="en-IN" sz="2800" dirty="0" smtClean="0"/>
              <a:t>Polysaccharides</a:t>
            </a:r>
            <a:endParaRPr lang="en-IN" sz="3200" dirty="0"/>
          </a:p>
        </p:txBody>
      </p:sp>
      <p:sp>
        <p:nvSpPr>
          <p:cNvPr id="3" name="Subtitle 2"/>
          <p:cNvSpPr>
            <a:spLocks noGrp="1"/>
          </p:cNvSpPr>
          <p:nvPr>
            <p:ph type="subTitle" idx="1"/>
          </p:nvPr>
        </p:nvSpPr>
        <p:spPr>
          <a:xfrm>
            <a:off x="285720" y="714356"/>
            <a:ext cx="8358246" cy="5643602"/>
          </a:xfrm>
        </p:spPr>
        <p:txBody>
          <a:bodyPr>
            <a:normAutofit/>
          </a:bodyPr>
          <a:lstStyle/>
          <a:p>
            <a:pPr algn="just"/>
            <a:r>
              <a:rPr lang="en-IN" sz="2400" dirty="0" smtClean="0">
                <a:solidFill>
                  <a:schemeClr val="tx1"/>
                </a:solidFill>
              </a:rPr>
              <a:t>These are long chains of </a:t>
            </a:r>
            <a:r>
              <a:rPr lang="en-IN" sz="2400" dirty="0" err="1" smtClean="0">
                <a:solidFill>
                  <a:schemeClr val="tx1"/>
                </a:solidFill>
              </a:rPr>
              <a:t>monosaccharides</a:t>
            </a:r>
            <a:r>
              <a:rPr lang="en-IN" sz="2400" dirty="0" smtClean="0">
                <a:solidFill>
                  <a:schemeClr val="tx1"/>
                </a:solidFill>
              </a:rPr>
              <a:t> linked together. They serve as storage molecules for energy, such as glycogen in animals and starch in plants, and also provide structure and support, such as cellulose in plant cell walls. In addition to their role as energy sources, carbohydrates also play important roles in cellular processes, such as cellular </a:t>
            </a:r>
            <a:r>
              <a:rPr lang="en-IN" sz="2400" dirty="0" err="1" smtClean="0">
                <a:solidFill>
                  <a:schemeClr val="tx1"/>
                </a:solidFill>
              </a:rPr>
              <a:t>signaling</a:t>
            </a:r>
            <a:r>
              <a:rPr lang="en-IN" sz="2400" dirty="0" smtClean="0">
                <a:solidFill>
                  <a:schemeClr val="tx1"/>
                </a:solidFill>
              </a:rPr>
              <a:t> and recognition, and in regulating gene expression.</a:t>
            </a:r>
            <a:endParaRPr lang="en-IN" sz="2400" dirty="0">
              <a:solidFill>
                <a:schemeClr val="tx1"/>
              </a:solidFill>
            </a:endParaRPr>
          </a:p>
        </p:txBody>
      </p:sp>
      <p:pic>
        <p:nvPicPr>
          <p:cNvPr id="2052" name="Picture 4" descr="Importance Of Polysaccharides - Starch, Cellulose, and Glycogen"/>
          <p:cNvPicPr>
            <a:picLocks noChangeAspect="1" noChangeArrowheads="1"/>
          </p:cNvPicPr>
          <p:nvPr/>
        </p:nvPicPr>
        <p:blipFill>
          <a:blip r:embed="rId2"/>
          <a:srcRect/>
          <a:stretch>
            <a:fillRect/>
          </a:stretch>
        </p:blipFill>
        <p:spPr bwMode="auto">
          <a:xfrm>
            <a:off x="357158" y="3429000"/>
            <a:ext cx="7929618" cy="3071834"/>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214290"/>
            <a:ext cx="7772400" cy="500065"/>
          </a:xfrm>
        </p:spPr>
        <p:txBody>
          <a:bodyPr>
            <a:normAutofit fontScale="90000"/>
          </a:bodyPr>
          <a:lstStyle/>
          <a:p>
            <a:r>
              <a:rPr lang="en-IN" sz="3600" dirty="0" smtClean="0"/>
              <a:t>Industrial Applications of Carbohydrates </a:t>
            </a:r>
            <a:endParaRPr lang="en-IN" dirty="0"/>
          </a:p>
        </p:txBody>
      </p:sp>
      <p:sp>
        <p:nvSpPr>
          <p:cNvPr id="3" name="Subtitle 2"/>
          <p:cNvSpPr>
            <a:spLocks noGrp="1"/>
          </p:cNvSpPr>
          <p:nvPr>
            <p:ph type="subTitle" idx="1"/>
          </p:nvPr>
        </p:nvSpPr>
        <p:spPr>
          <a:xfrm>
            <a:off x="214282" y="785794"/>
            <a:ext cx="8715436" cy="5786478"/>
          </a:xfrm>
        </p:spPr>
        <p:txBody>
          <a:bodyPr>
            <a:normAutofit fontScale="70000" lnSpcReduction="20000"/>
          </a:bodyPr>
          <a:lstStyle/>
          <a:p>
            <a:pPr algn="just"/>
            <a:r>
              <a:rPr lang="en-IN" dirty="0" smtClean="0">
                <a:solidFill>
                  <a:schemeClr val="tx1"/>
                </a:solidFill>
              </a:rPr>
              <a:t>Carbohydrates have a wide range of applications in various industries, including: </a:t>
            </a:r>
          </a:p>
          <a:p>
            <a:pPr algn="just"/>
            <a:r>
              <a:rPr lang="en-IN" dirty="0" smtClean="0">
                <a:solidFill>
                  <a:srgbClr val="FF0000"/>
                </a:solidFill>
              </a:rPr>
              <a:t>Food and Beverage</a:t>
            </a:r>
            <a:r>
              <a:rPr lang="en-IN" dirty="0" smtClean="0"/>
              <a:t>: </a:t>
            </a:r>
            <a:r>
              <a:rPr lang="en-IN" dirty="0" smtClean="0">
                <a:solidFill>
                  <a:schemeClr val="tx1"/>
                </a:solidFill>
              </a:rPr>
              <a:t>Carbohydrates are widely used as sweeteners, thickeners, and stabilizers in food and beverage products. They are also used as energy sources in sports drinks and energy bars. </a:t>
            </a:r>
          </a:p>
          <a:p>
            <a:pPr algn="just"/>
            <a:r>
              <a:rPr lang="en-IN" dirty="0" smtClean="0">
                <a:solidFill>
                  <a:schemeClr val="tx1"/>
                </a:solidFill>
              </a:rPr>
              <a:t> </a:t>
            </a:r>
            <a:r>
              <a:rPr lang="en-IN" dirty="0" smtClean="0">
                <a:solidFill>
                  <a:srgbClr val="FF0000"/>
                </a:solidFill>
              </a:rPr>
              <a:t>Pharmaceuticals</a:t>
            </a:r>
            <a:r>
              <a:rPr lang="en-IN" dirty="0" smtClean="0">
                <a:solidFill>
                  <a:schemeClr val="tx1"/>
                </a:solidFill>
              </a:rPr>
              <a:t>: Carbohydrates are used as </a:t>
            </a:r>
            <a:r>
              <a:rPr lang="en-IN" dirty="0" err="1" smtClean="0">
                <a:solidFill>
                  <a:schemeClr val="tx1"/>
                </a:solidFill>
              </a:rPr>
              <a:t>excipients</a:t>
            </a:r>
            <a:r>
              <a:rPr lang="en-IN" dirty="0" smtClean="0">
                <a:solidFill>
                  <a:schemeClr val="tx1"/>
                </a:solidFill>
              </a:rPr>
              <a:t> in pharmaceutical formulations to improve the stability, solubility, and bioavailability of drugs. They are also used as a source of energy in medical nutrition products. </a:t>
            </a:r>
          </a:p>
          <a:p>
            <a:pPr algn="just"/>
            <a:r>
              <a:rPr lang="en-IN" dirty="0" smtClean="0">
                <a:solidFill>
                  <a:srgbClr val="FF0000"/>
                </a:solidFill>
              </a:rPr>
              <a:t>Cosmetics</a:t>
            </a:r>
            <a:r>
              <a:rPr lang="en-IN" dirty="0" smtClean="0"/>
              <a:t>: </a:t>
            </a:r>
            <a:r>
              <a:rPr lang="en-IN" dirty="0" smtClean="0">
                <a:solidFill>
                  <a:schemeClr val="tx1"/>
                </a:solidFill>
              </a:rPr>
              <a:t>Carbohydrates are used in cosmetic products, such as moisturizers, shampoos, and conditioners, to provide hydration and improve skin and hair health.</a:t>
            </a:r>
            <a:r>
              <a:rPr lang="en-IN" dirty="0" smtClean="0"/>
              <a:t> </a:t>
            </a:r>
          </a:p>
          <a:p>
            <a:pPr algn="just"/>
            <a:r>
              <a:rPr lang="en-IN" dirty="0" smtClean="0">
                <a:solidFill>
                  <a:srgbClr val="FF0000"/>
                </a:solidFill>
              </a:rPr>
              <a:t>Biotechnology</a:t>
            </a:r>
            <a:r>
              <a:rPr lang="en-IN" dirty="0" smtClean="0"/>
              <a:t>: </a:t>
            </a:r>
            <a:r>
              <a:rPr lang="en-IN" dirty="0" smtClean="0">
                <a:solidFill>
                  <a:schemeClr val="tx1"/>
                </a:solidFill>
              </a:rPr>
              <a:t>Carbohydrates are widely used in the production of biodegradable plastics, </a:t>
            </a:r>
            <a:r>
              <a:rPr lang="en-IN" dirty="0" err="1" smtClean="0">
                <a:solidFill>
                  <a:schemeClr val="tx1"/>
                </a:solidFill>
              </a:rPr>
              <a:t>biofuels</a:t>
            </a:r>
            <a:r>
              <a:rPr lang="en-IN" dirty="0" smtClean="0">
                <a:solidFill>
                  <a:schemeClr val="tx1"/>
                </a:solidFill>
              </a:rPr>
              <a:t>, and other renewable energy sources.</a:t>
            </a:r>
          </a:p>
          <a:p>
            <a:pPr algn="just"/>
            <a:r>
              <a:rPr lang="en-IN" dirty="0" smtClean="0"/>
              <a:t> </a:t>
            </a:r>
            <a:r>
              <a:rPr lang="en-IN" dirty="0" smtClean="0">
                <a:solidFill>
                  <a:srgbClr val="FF0000"/>
                </a:solidFill>
              </a:rPr>
              <a:t>Research: </a:t>
            </a:r>
            <a:r>
              <a:rPr lang="en-IN" dirty="0" smtClean="0">
                <a:solidFill>
                  <a:schemeClr val="tx1"/>
                </a:solidFill>
              </a:rPr>
              <a:t>Carbohydrates are widely used as research tools in the fields of immunology, virology, and cellular biology. They are used as </a:t>
            </a:r>
            <a:r>
              <a:rPr lang="en-IN" dirty="0" err="1" smtClean="0">
                <a:solidFill>
                  <a:schemeClr val="tx1"/>
                </a:solidFill>
              </a:rPr>
              <a:t>ligands</a:t>
            </a:r>
            <a:r>
              <a:rPr lang="en-IN" dirty="0" smtClean="0">
                <a:solidFill>
                  <a:schemeClr val="tx1"/>
                </a:solidFill>
              </a:rPr>
              <a:t> in protein-carbohydrate interactions and as probes to study cellular </a:t>
            </a:r>
            <a:r>
              <a:rPr lang="en-IN" dirty="0" err="1" smtClean="0">
                <a:solidFill>
                  <a:schemeClr val="tx1"/>
                </a:solidFill>
              </a:rPr>
              <a:t>signaling</a:t>
            </a:r>
            <a:r>
              <a:rPr lang="en-IN" dirty="0" smtClean="0">
                <a:solidFill>
                  <a:schemeClr val="tx1"/>
                </a:solidFill>
              </a:rPr>
              <a:t> pathways.</a:t>
            </a:r>
            <a:endParaRPr lang="en-IN" dirty="0">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7224" y="214290"/>
            <a:ext cx="7772400" cy="512757"/>
          </a:xfrm>
        </p:spPr>
        <p:txBody>
          <a:bodyPr>
            <a:noAutofit/>
          </a:bodyPr>
          <a:lstStyle/>
          <a:p>
            <a:pPr algn="l"/>
            <a:r>
              <a:rPr lang="en-IN" sz="3600" dirty="0" smtClean="0">
                <a:solidFill>
                  <a:schemeClr val="tx2"/>
                </a:solidFill>
              </a:rPr>
              <a:t>Nucleic Acids</a:t>
            </a:r>
            <a:endParaRPr lang="en-IN" sz="3600" dirty="0">
              <a:solidFill>
                <a:schemeClr val="tx2"/>
              </a:solidFill>
            </a:endParaRPr>
          </a:p>
        </p:txBody>
      </p:sp>
      <p:sp>
        <p:nvSpPr>
          <p:cNvPr id="3" name="Subtitle 2"/>
          <p:cNvSpPr>
            <a:spLocks noGrp="1"/>
          </p:cNvSpPr>
          <p:nvPr>
            <p:ph type="subTitle" idx="1"/>
          </p:nvPr>
        </p:nvSpPr>
        <p:spPr>
          <a:xfrm>
            <a:off x="285720" y="714356"/>
            <a:ext cx="8572560" cy="5786478"/>
          </a:xfrm>
        </p:spPr>
        <p:txBody>
          <a:bodyPr>
            <a:normAutofit/>
          </a:bodyPr>
          <a:lstStyle/>
          <a:p>
            <a:pPr algn="just"/>
            <a:r>
              <a:rPr lang="en-IN" sz="2400" dirty="0" smtClean="0">
                <a:solidFill>
                  <a:schemeClr val="tx1"/>
                </a:solidFill>
              </a:rPr>
              <a:t>Nucleic acids are biopolymers that play a crucial role in the storage and transfer of genetic information in all living organisms. </a:t>
            </a:r>
          </a:p>
          <a:p>
            <a:pPr algn="just"/>
            <a:r>
              <a:rPr lang="en-IN" sz="2400" dirty="0" smtClean="0">
                <a:solidFill>
                  <a:schemeClr val="tx1"/>
                </a:solidFill>
              </a:rPr>
              <a:t>There are two types of nucleic acids: </a:t>
            </a:r>
          </a:p>
          <a:p>
            <a:pPr algn="just"/>
            <a:r>
              <a:rPr lang="en-IN" sz="2400" dirty="0" smtClean="0">
                <a:solidFill>
                  <a:schemeClr val="tx1"/>
                </a:solidFill>
              </a:rPr>
              <a:t> Deoxyribonucleic acid (DNA): DNA is the genetic material that carries the instructions for the development, functioning, and reproduction of all living organisms. DNA is a double-stranded helix structure </a:t>
            </a:r>
            <a:r>
              <a:rPr lang="en-IN" sz="2400" smtClean="0">
                <a:solidFill>
                  <a:schemeClr val="tx1"/>
                </a:solidFill>
              </a:rPr>
              <a:t>composed of(</a:t>
            </a:r>
            <a:r>
              <a:rPr lang="en-IN" sz="2400" dirty="0" err="1" smtClean="0">
                <a:solidFill>
                  <a:schemeClr val="tx1"/>
                </a:solidFill>
              </a:rPr>
              <a:t>deoxyribose</a:t>
            </a:r>
            <a:r>
              <a:rPr lang="en-IN" sz="2400" dirty="0" smtClean="0">
                <a:solidFill>
                  <a:schemeClr val="tx1"/>
                </a:solidFill>
              </a:rPr>
              <a:t>), a phosphate group, and a nitrogenous base (adenine, guanine, cytosine, or thymine).</a:t>
            </a:r>
          </a:p>
          <a:p>
            <a:pPr algn="just"/>
            <a:r>
              <a:rPr lang="en-IN" sz="2400" dirty="0" smtClean="0">
                <a:solidFill>
                  <a:schemeClr val="tx1"/>
                </a:solidFill>
              </a:rPr>
              <a:t>Ribonucleic acid (RNA): RNA is involved in the expression of the genetic information stored in DNA by carrying the message from the DNA to the ribosome, where it is used to build proteins. RNA is a single-stranded molecule composed of nucleotides, which consist of a sugar (ribose), a phosphate group, and a nitrogenous base (adenine, guanine, cytosine, or </a:t>
            </a:r>
            <a:r>
              <a:rPr lang="en-IN" sz="2400" dirty="0" err="1" smtClean="0">
                <a:solidFill>
                  <a:schemeClr val="tx1"/>
                </a:solidFill>
              </a:rPr>
              <a:t>uracil</a:t>
            </a:r>
            <a:r>
              <a:rPr lang="en-IN" sz="2400" dirty="0" smtClean="0">
                <a:solidFill>
                  <a:schemeClr val="tx1"/>
                </a:solidFill>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a:xfrm>
            <a:off x="357158" y="5000636"/>
            <a:ext cx="8786842" cy="1500198"/>
          </a:xfrm>
        </p:spPr>
        <p:txBody>
          <a:bodyPr>
            <a:noAutofit/>
          </a:bodyPr>
          <a:lstStyle/>
          <a:p>
            <a:pPr algn="just"/>
            <a:r>
              <a:rPr lang="en-IN" sz="2400" dirty="0" smtClean="0">
                <a:solidFill>
                  <a:schemeClr val="tx1"/>
                </a:solidFill>
              </a:rPr>
              <a:t>Both DNA and RNA play essential roles in the functioning of cells and organisms, and their structures and interactions with other molecules are the basis for many biological processes such as replication, transcription, and translation.</a:t>
            </a:r>
            <a:endParaRPr lang="en-IN" sz="2400" dirty="0">
              <a:solidFill>
                <a:schemeClr val="tx1"/>
              </a:solidFill>
            </a:endParaRPr>
          </a:p>
        </p:txBody>
      </p:sp>
      <p:pic>
        <p:nvPicPr>
          <p:cNvPr id="29698" name="Picture 2" descr="Structure of DNA and RNA. Deoxyribonucleic acid. Ribonucleic acid.  Difference between the nitrogenous bases of DNA and RNA. Stock Vector |  Adobe Stock"/>
          <p:cNvPicPr>
            <a:picLocks noChangeAspect="1" noChangeArrowheads="1"/>
          </p:cNvPicPr>
          <p:nvPr/>
        </p:nvPicPr>
        <p:blipFill>
          <a:blip r:embed="rId2"/>
          <a:srcRect/>
          <a:stretch>
            <a:fillRect/>
          </a:stretch>
        </p:blipFill>
        <p:spPr bwMode="auto">
          <a:xfrm>
            <a:off x="0" y="0"/>
            <a:ext cx="8429652" cy="5067291"/>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0"/>
            <a:ext cx="7772400" cy="655633"/>
          </a:xfrm>
        </p:spPr>
        <p:txBody>
          <a:bodyPr>
            <a:normAutofit/>
          </a:bodyPr>
          <a:lstStyle/>
          <a:p>
            <a:pPr algn="l"/>
            <a:r>
              <a:rPr lang="en-IN" sz="2800" dirty="0" smtClean="0"/>
              <a:t>Proteins </a:t>
            </a:r>
            <a:endParaRPr lang="en-IN" sz="2800" dirty="0"/>
          </a:p>
        </p:txBody>
      </p:sp>
      <p:sp>
        <p:nvSpPr>
          <p:cNvPr id="3" name="Subtitle 2"/>
          <p:cNvSpPr>
            <a:spLocks noGrp="1"/>
          </p:cNvSpPr>
          <p:nvPr>
            <p:ph type="subTitle" idx="1"/>
          </p:nvPr>
        </p:nvSpPr>
        <p:spPr>
          <a:xfrm>
            <a:off x="214282" y="642918"/>
            <a:ext cx="8715436" cy="6215082"/>
          </a:xfrm>
        </p:spPr>
        <p:txBody>
          <a:bodyPr>
            <a:normAutofit fontScale="85000" lnSpcReduction="20000"/>
          </a:bodyPr>
          <a:lstStyle/>
          <a:p>
            <a:pPr algn="just"/>
            <a:r>
              <a:rPr lang="en-IN" dirty="0" smtClean="0">
                <a:solidFill>
                  <a:schemeClr val="tx1"/>
                </a:solidFill>
              </a:rPr>
              <a:t>Proteins are large, complex molecules made up of chains of smaller building blocks called amino acids. They play a vital role in the structure, function, and regulation of cells, tissues, and organs.</a:t>
            </a:r>
          </a:p>
          <a:p>
            <a:pPr algn="just"/>
            <a:r>
              <a:rPr lang="en-IN" dirty="0" smtClean="0">
                <a:solidFill>
                  <a:schemeClr val="tx1"/>
                </a:solidFill>
              </a:rPr>
              <a:t>There are 20 standard amino acids that serve as the building blocks of proteins. Essential Amino Acids (9):</a:t>
            </a:r>
          </a:p>
          <a:p>
            <a:pPr algn="just"/>
            <a:r>
              <a:rPr lang="en-IN" dirty="0" smtClean="0">
                <a:solidFill>
                  <a:schemeClr val="tx1"/>
                </a:solidFill>
              </a:rPr>
              <a:t> 1. </a:t>
            </a:r>
            <a:r>
              <a:rPr lang="en-IN" dirty="0" err="1" smtClean="0">
                <a:solidFill>
                  <a:schemeClr val="tx1"/>
                </a:solidFill>
              </a:rPr>
              <a:t>Histidine</a:t>
            </a:r>
            <a:r>
              <a:rPr lang="en-IN" dirty="0" smtClean="0">
                <a:solidFill>
                  <a:schemeClr val="tx1"/>
                </a:solidFill>
              </a:rPr>
              <a:t> </a:t>
            </a:r>
          </a:p>
          <a:p>
            <a:pPr algn="just"/>
            <a:r>
              <a:rPr lang="en-IN" dirty="0" smtClean="0">
                <a:solidFill>
                  <a:schemeClr val="tx1"/>
                </a:solidFill>
              </a:rPr>
              <a:t>2. </a:t>
            </a:r>
            <a:r>
              <a:rPr lang="en-IN" dirty="0" err="1" smtClean="0">
                <a:solidFill>
                  <a:schemeClr val="tx1"/>
                </a:solidFill>
              </a:rPr>
              <a:t>Isoleucine</a:t>
            </a:r>
            <a:r>
              <a:rPr lang="en-IN" dirty="0" smtClean="0">
                <a:solidFill>
                  <a:schemeClr val="tx1"/>
                </a:solidFill>
              </a:rPr>
              <a:t> </a:t>
            </a:r>
          </a:p>
          <a:p>
            <a:pPr algn="just"/>
            <a:r>
              <a:rPr lang="en-IN" dirty="0" smtClean="0">
                <a:solidFill>
                  <a:schemeClr val="tx1"/>
                </a:solidFill>
              </a:rPr>
              <a:t>3. </a:t>
            </a:r>
            <a:r>
              <a:rPr lang="en-IN" dirty="0" err="1" smtClean="0">
                <a:solidFill>
                  <a:schemeClr val="tx1"/>
                </a:solidFill>
              </a:rPr>
              <a:t>Leucine</a:t>
            </a:r>
            <a:r>
              <a:rPr lang="en-IN" dirty="0" smtClean="0">
                <a:solidFill>
                  <a:schemeClr val="tx1"/>
                </a:solidFill>
              </a:rPr>
              <a:t> </a:t>
            </a:r>
          </a:p>
          <a:p>
            <a:pPr algn="just"/>
            <a:r>
              <a:rPr lang="en-IN" dirty="0" smtClean="0">
                <a:solidFill>
                  <a:schemeClr val="tx1"/>
                </a:solidFill>
              </a:rPr>
              <a:t>4. Lysine </a:t>
            </a:r>
          </a:p>
          <a:p>
            <a:pPr algn="just"/>
            <a:r>
              <a:rPr lang="en-IN" dirty="0" smtClean="0">
                <a:solidFill>
                  <a:schemeClr val="tx1"/>
                </a:solidFill>
              </a:rPr>
              <a:t>5. </a:t>
            </a:r>
            <a:r>
              <a:rPr lang="en-IN" dirty="0" err="1" smtClean="0">
                <a:solidFill>
                  <a:schemeClr val="tx1"/>
                </a:solidFill>
              </a:rPr>
              <a:t>Methionine</a:t>
            </a:r>
            <a:r>
              <a:rPr lang="en-IN" dirty="0" smtClean="0">
                <a:solidFill>
                  <a:schemeClr val="tx1"/>
                </a:solidFill>
              </a:rPr>
              <a:t> </a:t>
            </a:r>
          </a:p>
          <a:p>
            <a:pPr algn="just"/>
            <a:r>
              <a:rPr lang="en-IN" dirty="0" smtClean="0">
                <a:solidFill>
                  <a:schemeClr val="tx1"/>
                </a:solidFill>
              </a:rPr>
              <a:t>6. Phenylalanine </a:t>
            </a:r>
          </a:p>
          <a:p>
            <a:pPr algn="just"/>
            <a:r>
              <a:rPr lang="en-IN" dirty="0" smtClean="0">
                <a:solidFill>
                  <a:schemeClr val="tx1"/>
                </a:solidFill>
              </a:rPr>
              <a:t>7. </a:t>
            </a:r>
            <a:r>
              <a:rPr lang="en-IN" dirty="0" err="1" smtClean="0">
                <a:solidFill>
                  <a:schemeClr val="tx1"/>
                </a:solidFill>
              </a:rPr>
              <a:t>Threonine</a:t>
            </a:r>
            <a:r>
              <a:rPr lang="en-IN" dirty="0" smtClean="0">
                <a:solidFill>
                  <a:schemeClr val="tx1"/>
                </a:solidFill>
              </a:rPr>
              <a:t> </a:t>
            </a:r>
          </a:p>
          <a:p>
            <a:pPr algn="just"/>
            <a:r>
              <a:rPr lang="en-IN" dirty="0" smtClean="0">
                <a:solidFill>
                  <a:schemeClr val="tx1"/>
                </a:solidFill>
              </a:rPr>
              <a:t>8. Tryptophan </a:t>
            </a:r>
          </a:p>
          <a:p>
            <a:pPr algn="just"/>
            <a:r>
              <a:rPr lang="en-IN" dirty="0" smtClean="0">
                <a:solidFill>
                  <a:schemeClr val="tx1"/>
                </a:solidFill>
              </a:rPr>
              <a:t>9. </a:t>
            </a:r>
            <a:r>
              <a:rPr lang="en-IN" dirty="0" err="1" smtClean="0">
                <a:solidFill>
                  <a:schemeClr val="tx1"/>
                </a:solidFill>
              </a:rPr>
              <a:t>Valine</a:t>
            </a:r>
            <a:endParaRPr lang="en-IN" dirty="0">
              <a:solidFill>
                <a:schemeClr val="tx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83320"/>
          </a:xfrm>
        </p:spPr>
        <p:txBody>
          <a:bodyPr>
            <a:normAutofit fontScale="90000"/>
          </a:bodyPr>
          <a:lstStyle/>
          <a:p>
            <a:pPr algn="l"/>
            <a:r>
              <a:rPr lang="en-IN" sz="2800" dirty="0" smtClean="0"/>
              <a:t>Non-Essential Amino Acids (11): </a:t>
            </a:r>
            <a:br>
              <a:rPr lang="en-IN" sz="2800" dirty="0" smtClean="0"/>
            </a:br>
            <a:r>
              <a:rPr lang="en-IN" sz="2800" dirty="0" smtClean="0"/>
              <a:t>1. </a:t>
            </a:r>
            <a:r>
              <a:rPr lang="en-IN" sz="2800" dirty="0" err="1" smtClean="0"/>
              <a:t>Alanine</a:t>
            </a:r>
            <a:r>
              <a:rPr lang="en-IN" sz="2800" dirty="0" smtClean="0"/>
              <a:t> </a:t>
            </a:r>
            <a:br>
              <a:rPr lang="en-IN" sz="2800" dirty="0" smtClean="0"/>
            </a:br>
            <a:r>
              <a:rPr lang="en-IN" sz="2800" dirty="0" smtClean="0"/>
              <a:t>2. </a:t>
            </a:r>
            <a:r>
              <a:rPr lang="en-IN" sz="2800" dirty="0" err="1" smtClean="0"/>
              <a:t>Arginine</a:t>
            </a:r>
            <a:r>
              <a:rPr lang="en-IN" sz="2800" dirty="0" smtClean="0"/>
              <a:t> </a:t>
            </a:r>
            <a:br>
              <a:rPr lang="en-IN" sz="2800" dirty="0" smtClean="0"/>
            </a:br>
            <a:r>
              <a:rPr lang="en-IN" sz="2800" dirty="0" smtClean="0"/>
              <a:t>3. </a:t>
            </a:r>
            <a:r>
              <a:rPr lang="en-IN" sz="2800" dirty="0" err="1" smtClean="0"/>
              <a:t>Asparagine</a:t>
            </a:r>
            <a:r>
              <a:rPr lang="en-IN" sz="2800" dirty="0" smtClean="0"/>
              <a:t> </a:t>
            </a:r>
            <a:br>
              <a:rPr lang="en-IN" sz="2800" dirty="0" smtClean="0"/>
            </a:br>
            <a:r>
              <a:rPr lang="en-IN" sz="2800" dirty="0" smtClean="0"/>
              <a:t>4. Aspartic Acid </a:t>
            </a:r>
            <a:br>
              <a:rPr lang="en-IN" sz="2800" dirty="0" smtClean="0"/>
            </a:br>
            <a:r>
              <a:rPr lang="en-IN" sz="2800" dirty="0" smtClean="0"/>
              <a:t>5. </a:t>
            </a:r>
            <a:r>
              <a:rPr lang="en-IN" sz="2800" dirty="0" err="1" smtClean="0"/>
              <a:t>Cysteine</a:t>
            </a:r>
            <a:r>
              <a:rPr lang="en-IN" sz="2800" dirty="0" smtClean="0"/>
              <a:t> </a:t>
            </a:r>
            <a:br>
              <a:rPr lang="en-IN" sz="2800" dirty="0" smtClean="0"/>
            </a:br>
            <a:r>
              <a:rPr lang="en-IN" sz="2800" dirty="0" smtClean="0"/>
              <a:t>6. </a:t>
            </a:r>
            <a:r>
              <a:rPr lang="en-IN" sz="2800" dirty="0" err="1" smtClean="0"/>
              <a:t>Glutamic</a:t>
            </a:r>
            <a:r>
              <a:rPr lang="en-IN" sz="2800" dirty="0" smtClean="0"/>
              <a:t> Acid </a:t>
            </a:r>
            <a:br>
              <a:rPr lang="en-IN" sz="2800" dirty="0" smtClean="0"/>
            </a:br>
            <a:r>
              <a:rPr lang="en-IN" sz="2800" dirty="0" smtClean="0"/>
              <a:t>7. Glutamine </a:t>
            </a:r>
            <a:br>
              <a:rPr lang="en-IN" sz="2800" dirty="0" smtClean="0"/>
            </a:br>
            <a:r>
              <a:rPr lang="en-IN" sz="2800" dirty="0" smtClean="0"/>
              <a:t>8. </a:t>
            </a:r>
            <a:r>
              <a:rPr lang="en-IN" sz="2800" dirty="0" err="1" smtClean="0"/>
              <a:t>Glycine</a:t>
            </a:r>
            <a:r>
              <a:rPr lang="en-IN" sz="2800" dirty="0" smtClean="0"/>
              <a:t> </a:t>
            </a:r>
            <a:br>
              <a:rPr lang="en-IN" sz="2800" dirty="0" smtClean="0"/>
            </a:br>
            <a:r>
              <a:rPr lang="en-IN" sz="2800" dirty="0" smtClean="0"/>
              <a:t>9. </a:t>
            </a:r>
            <a:r>
              <a:rPr lang="en-IN" sz="2800" dirty="0" err="1" smtClean="0"/>
              <a:t>Proline</a:t>
            </a:r>
            <a:r>
              <a:rPr lang="en-IN" sz="2800" dirty="0" smtClean="0"/>
              <a:t> </a:t>
            </a:r>
            <a:br>
              <a:rPr lang="en-IN" sz="2800" dirty="0" smtClean="0"/>
            </a:br>
            <a:r>
              <a:rPr lang="en-IN" sz="2800" dirty="0" smtClean="0"/>
              <a:t>10. Serine </a:t>
            </a:r>
            <a:br>
              <a:rPr lang="en-IN" sz="2800" dirty="0" smtClean="0"/>
            </a:br>
            <a:r>
              <a:rPr lang="en-IN" sz="2800" dirty="0" smtClean="0"/>
              <a:t>11. Tyrosine</a:t>
            </a:r>
            <a:br>
              <a:rPr lang="en-IN" sz="2800" dirty="0" smtClean="0"/>
            </a:br>
            <a:r>
              <a:rPr lang="en-IN" sz="2800" dirty="0" smtClean="0"/>
              <a:t> Essential amino acids cannot be synthesized by the body and must be obtained through the diet, while non-essential amino acids can be synthesized by the body.</a:t>
            </a:r>
            <a:endParaRPr lang="en-IN"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0"/>
            <a:ext cx="7772400" cy="642942"/>
          </a:xfrm>
        </p:spPr>
        <p:txBody>
          <a:bodyPr>
            <a:normAutofit/>
          </a:bodyPr>
          <a:lstStyle/>
          <a:p>
            <a:pPr algn="l"/>
            <a:r>
              <a:rPr lang="en-IN" sz="3200" dirty="0" smtClean="0"/>
              <a:t>Lipids</a:t>
            </a:r>
            <a:endParaRPr lang="en-IN" sz="3200" dirty="0"/>
          </a:p>
        </p:txBody>
      </p:sp>
      <p:sp>
        <p:nvSpPr>
          <p:cNvPr id="3" name="Subtitle 2"/>
          <p:cNvSpPr>
            <a:spLocks noGrp="1"/>
          </p:cNvSpPr>
          <p:nvPr>
            <p:ph type="subTitle" idx="1"/>
          </p:nvPr>
        </p:nvSpPr>
        <p:spPr>
          <a:xfrm>
            <a:off x="285720" y="642918"/>
            <a:ext cx="8429684" cy="5857916"/>
          </a:xfrm>
        </p:spPr>
        <p:txBody>
          <a:bodyPr>
            <a:normAutofit fontScale="92500" lnSpcReduction="10000"/>
          </a:bodyPr>
          <a:lstStyle/>
          <a:p>
            <a:pPr algn="just"/>
            <a:r>
              <a:rPr lang="en-IN" sz="2400" dirty="0" smtClean="0">
                <a:solidFill>
                  <a:schemeClr val="tx1"/>
                </a:solidFill>
              </a:rPr>
              <a:t>Lipids are a group of organic compounds that include fats, oils, waxes, and some hormones.</a:t>
            </a: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endParaRPr lang="en-IN" sz="2400" dirty="0" smtClean="0">
              <a:solidFill>
                <a:schemeClr val="tx1"/>
              </a:solidFill>
            </a:endParaRPr>
          </a:p>
          <a:p>
            <a:pPr algn="just"/>
            <a:r>
              <a:rPr lang="en-IN" sz="2400" dirty="0" smtClean="0">
                <a:solidFill>
                  <a:srgbClr val="FF0000"/>
                </a:solidFill>
              </a:rPr>
              <a:t>Schematic representation of lipid molecule, </a:t>
            </a:r>
            <a:r>
              <a:rPr lang="en-IN" sz="2400" dirty="0" err="1" smtClean="0">
                <a:solidFill>
                  <a:srgbClr val="FF0000"/>
                </a:solidFill>
              </a:rPr>
              <a:t>bilayer</a:t>
            </a:r>
            <a:r>
              <a:rPr lang="en-IN" sz="2400" dirty="0" smtClean="0">
                <a:solidFill>
                  <a:srgbClr val="FF0000"/>
                </a:solidFill>
              </a:rPr>
              <a:t> formation, and </a:t>
            </a:r>
            <a:r>
              <a:rPr lang="en-IN" sz="2400" dirty="0" err="1" smtClean="0">
                <a:solidFill>
                  <a:srgbClr val="FF0000"/>
                </a:solidFill>
              </a:rPr>
              <a:t>miscelle</a:t>
            </a:r>
            <a:r>
              <a:rPr lang="en-IN" sz="2400" dirty="0" smtClean="0">
                <a:solidFill>
                  <a:srgbClr val="FF0000"/>
                </a:solidFill>
              </a:rPr>
              <a:t> formation.</a:t>
            </a:r>
            <a:endParaRPr lang="en-IN" sz="2400" dirty="0">
              <a:solidFill>
                <a:srgbClr val="FF0000"/>
              </a:solidFill>
            </a:endParaRPr>
          </a:p>
        </p:txBody>
      </p:sp>
      <p:pic>
        <p:nvPicPr>
          <p:cNvPr id="32770" name="Picture 2" descr="450+ Lipid Bilayer Stock Photos, Pictures &amp; Royalty-Free Images - iStock |  Cell membrane, Phospholipid, Membrane"/>
          <p:cNvPicPr>
            <a:picLocks noChangeAspect="1" noChangeArrowheads="1"/>
          </p:cNvPicPr>
          <p:nvPr/>
        </p:nvPicPr>
        <p:blipFill>
          <a:blip r:embed="rId2"/>
          <a:srcRect/>
          <a:stretch>
            <a:fillRect/>
          </a:stretch>
        </p:blipFill>
        <p:spPr bwMode="auto">
          <a:xfrm>
            <a:off x="500034" y="1571612"/>
            <a:ext cx="8143932" cy="392909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pic>
        <p:nvPicPr>
          <p:cNvPr id="31746" name="Picture 2" descr="Fatty Acids, Triglycerides and Phospholipids – Biological Molecules Ep 4 -  Zoë Huggett Tutorials"/>
          <p:cNvPicPr>
            <a:picLocks noChangeAspect="1" noChangeArrowheads="1"/>
          </p:cNvPicPr>
          <p:nvPr/>
        </p:nvPicPr>
        <p:blipFill>
          <a:blip r:embed="rId2"/>
          <a:srcRect/>
          <a:stretch>
            <a:fillRect/>
          </a:stretch>
        </p:blipFill>
        <p:spPr bwMode="auto">
          <a:xfrm>
            <a:off x="357158" y="0"/>
            <a:ext cx="8501122" cy="6596041"/>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285729"/>
            <a:ext cx="7772400" cy="642942"/>
          </a:xfrm>
        </p:spPr>
        <p:txBody>
          <a:bodyPr>
            <a:normAutofit/>
          </a:bodyPr>
          <a:lstStyle/>
          <a:p>
            <a:r>
              <a:rPr lang="en-IN" sz="3200" dirty="0" smtClean="0"/>
              <a:t>Properties and Functions of Carbohydrates</a:t>
            </a:r>
            <a:endParaRPr lang="en-IN" sz="3200" dirty="0"/>
          </a:p>
        </p:txBody>
      </p:sp>
      <p:sp>
        <p:nvSpPr>
          <p:cNvPr id="3" name="Subtitle 2"/>
          <p:cNvSpPr>
            <a:spLocks noGrp="1"/>
          </p:cNvSpPr>
          <p:nvPr>
            <p:ph type="subTitle" idx="1"/>
          </p:nvPr>
        </p:nvSpPr>
        <p:spPr>
          <a:xfrm>
            <a:off x="285720" y="1000108"/>
            <a:ext cx="8858280" cy="5643602"/>
          </a:xfrm>
        </p:spPr>
        <p:txBody>
          <a:bodyPr>
            <a:normAutofit fontScale="85000" lnSpcReduction="10000"/>
          </a:bodyPr>
          <a:lstStyle/>
          <a:p>
            <a:pPr algn="l"/>
            <a:r>
              <a:rPr lang="en-IN" dirty="0" smtClean="0">
                <a:solidFill>
                  <a:srgbClr val="FF0000"/>
                </a:solidFill>
              </a:rPr>
              <a:t>Properties</a:t>
            </a:r>
            <a:endParaRPr lang="en-IN" sz="2400" dirty="0" smtClean="0">
              <a:solidFill>
                <a:srgbClr val="FF0000"/>
              </a:solidFill>
            </a:endParaRPr>
          </a:p>
          <a:p>
            <a:pPr algn="l"/>
            <a:r>
              <a:rPr lang="en-IN" dirty="0" smtClean="0">
                <a:solidFill>
                  <a:srgbClr val="00B0F0"/>
                </a:solidFill>
              </a:rPr>
              <a:t>1.Chemical Composition: </a:t>
            </a:r>
          </a:p>
          <a:p>
            <a:pPr algn="l">
              <a:buFont typeface="Wingdings" pitchFamily="2" charset="2"/>
              <a:buChar char="§"/>
            </a:pPr>
            <a:r>
              <a:rPr lang="en-IN" dirty="0" smtClean="0">
                <a:solidFill>
                  <a:schemeClr val="tx1"/>
                </a:solidFill>
              </a:rPr>
              <a:t> Composition: Carbohydrates are organic compounds composed of carbon, hydrogen, and oxygen in a ratio of 1:2:1. </a:t>
            </a:r>
          </a:p>
          <a:p>
            <a:pPr algn="l">
              <a:buFont typeface="Wingdings" pitchFamily="2" charset="2"/>
              <a:buChar char="§"/>
            </a:pPr>
            <a:r>
              <a:rPr lang="en-IN" dirty="0" smtClean="0">
                <a:solidFill>
                  <a:schemeClr val="tx1"/>
                </a:solidFill>
              </a:rPr>
              <a:t>Monomers: The basic building blocks of carbohydrates are </a:t>
            </a:r>
            <a:r>
              <a:rPr lang="en-IN" dirty="0" err="1" smtClean="0">
                <a:solidFill>
                  <a:schemeClr val="tx1"/>
                </a:solidFill>
              </a:rPr>
              <a:t>monosaccharides</a:t>
            </a:r>
            <a:r>
              <a:rPr lang="en-IN" dirty="0" smtClean="0">
                <a:solidFill>
                  <a:schemeClr val="tx1"/>
                </a:solidFill>
              </a:rPr>
              <a:t>, such as glucose and fructose. </a:t>
            </a:r>
          </a:p>
          <a:p>
            <a:pPr algn="l"/>
            <a:r>
              <a:rPr lang="en-IN" dirty="0" smtClean="0">
                <a:solidFill>
                  <a:srgbClr val="00B0F0"/>
                </a:solidFill>
              </a:rPr>
              <a:t>2. Solubility: </a:t>
            </a:r>
          </a:p>
          <a:p>
            <a:pPr algn="l">
              <a:buFont typeface="Wingdings" pitchFamily="2" charset="2"/>
              <a:buChar char="§"/>
            </a:pPr>
            <a:r>
              <a:rPr lang="en-IN" dirty="0" smtClean="0">
                <a:solidFill>
                  <a:schemeClr val="tx1"/>
                </a:solidFill>
              </a:rPr>
              <a:t>Water Solubility: Most carbohydrates are soluble in water due to their hydrophilic nature. </a:t>
            </a:r>
          </a:p>
          <a:p>
            <a:pPr algn="l"/>
            <a:r>
              <a:rPr lang="en-IN" dirty="0" smtClean="0">
                <a:solidFill>
                  <a:srgbClr val="00B0F0"/>
                </a:solidFill>
              </a:rPr>
              <a:t>3. Classification: </a:t>
            </a:r>
          </a:p>
          <a:p>
            <a:pPr algn="just">
              <a:buFont typeface="Wingdings" pitchFamily="2" charset="2"/>
              <a:buChar char="§"/>
            </a:pPr>
            <a:r>
              <a:rPr lang="en-IN" dirty="0" smtClean="0">
                <a:solidFill>
                  <a:schemeClr val="tx1"/>
                </a:solidFill>
              </a:rPr>
              <a:t>Simple and Complex: Carbohydrates are classified into simple sugars (</a:t>
            </a:r>
            <a:r>
              <a:rPr lang="en-IN" dirty="0" err="1" smtClean="0">
                <a:solidFill>
                  <a:schemeClr val="tx1"/>
                </a:solidFill>
              </a:rPr>
              <a:t>monosaccharides</a:t>
            </a:r>
            <a:r>
              <a:rPr lang="en-IN" dirty="0" smtClean="0">
                <a:solidFill>
                  <a:schemeClr val="tx1"/>
                </a:solidFill>
              </a:rPr>
              <a:t> and disaccharides) and complex carbohydrates (polysaccharides).</a:t>
            </a:r>
            <a:endParaRPr lang="en-IN" dirty="0">
              <a:solidFill>
                <a:schemeClr val="tx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0"/>
            <a:ext cx="7772400" cy="357189"/>
          </a:xfrm>
        </p:spPr>
        <p:txBody>
          <a:bodyPr>
            <a:normAutofit fontScale="90000"/>
          </a:bodyPr>
          <a:lstStyle/>
          <a:p>
            <a:pPr algn="l"/>
            <a:r>
              <a:rPr lang="en-IN" sz="3600" dirty="0" smtClean="0">
                <a:solidFill>
                  <a:srgbClr val="C00000"/>
                </a:solidFill>
              </a:rPr>
              <a:t>Functions</a:t>
            </a:r>
            <a:endParaRPr lang="en-IN" sz="3600" dirty="0">
              <a:solidFill>
                <a:srgbClr val="C00000"/>
              </a:solidFill>
            </a:endParaRPr>
          </a:p>
        </p:txBody>
      </p:sp>
      <p:sp>
        <p:nvSpPr>
          <p:cNvPr id="3" name="Subtitle 2"/>
          <p:cNvSpPr>
            <a:spLocks noGrp="1"/>
          </p:cNvSpPr>
          <p:nvPr>
            <p:ph type="subTitle" idx="1"/>
          </p:nvPr>
        </p:nvSpPr>
        <p:spPr>
          <a:xfrm>
            <a:off x="0" y="428604"/>
            <a:ext cx="9144000" cy="6429396"/>
          </a:xfrm>
        </p:spPr>
        <p:txBody>
          <a:bodyPr>
            <a:noAutofit/>
          </a:bodyPr>
          <a:lstStyle/>
          <a:p>
            <a:pPr marL="514350" indent="-514350" algn="just"/>
            <a:r>
              <a:rPr lang="en-IN" sz="2100" dirty="0" smtClean="0">
                <a:solidFill>
                  <a:srgbClr val="92D050"/>
                </a:solidFill>
              </a:rPr>
              <a:t>1. Energy Source: </a:t>
            </a:r>
          </a:p>
          <a:p>
            <a:pPr marL="274638" indent="-274638" algn="just">
              <a:buFont typeface="Wingdings" pitchFamily="2" charset="2"/>
              <a:buChar char="§"/>
            </a:pPr>
            <a:r>
              <a:rPr lang="en-IN" sz="2100" dirty="0" smtClean="0"/>
              <a:t> </a:t>
            </a:r>
            <a:r>
              <a:rPr lang="en-IN" sz="2100" dirty="0" smtClean="0">
                <a:solidFill>
                  <a:srgbClr val="00B0F0"/>
                </a:solidFill>
              </a:rPr>
              <a:t>Primary Role: </a:t>
            </a:r>
            <a:r>
              <a:rPr lang="en-IN" sz="2100" dirty="0" smtClean="0">
                <a:solidFill>
                  <a:schemeClr val="tx1"/>
                </a:solidFill>
              </a:rPr>
              <a:t>Carbohydrates serve as a primary source of energy for living organisms.</a:t>
            </a:r>
          </a:p>
          <a:p>
            <a:pPr marL="274638" indent="-274638" algn="just">
              <a:buFont typeface="Wingdings" pitchFamily="2" charset="2"/>
              <a:buChar char="§"/>
            </a:pPr>
            <a:r>
              <a:rPr lang="en-IN" sz="2100" dirty="0" smtClean="0"/>
              <a:t> </a:t>
            </a:r>
            <a:r>
              <a:rPr lang="en-IN" sz="2100" dirty="0" smtClean="0">
                <a:solidFill>
                  <a:srgbClr val="00B0F0"/>
                </a:solidFill>
              </a:rPr>
              <a:t>Conversion: </a:t>
            </a:r>
            <a:r>
              <a:rPr lang="en-IN" sz="2100" dirty="0" err="1" smtClean="0">
                <a:solidFill>
                  <a:schemeClr val="tx1"/>
                </a:solidFill>
              </a:rPr>
              <a:t>Monosaccharides</a:t>
            </a:r>
            <a:r>
              <a:rPr lang="en-IN" sz="2100" dirty="0" smtClean="0">
                <a:solidFill>
                  <a:schemeClr val="tx1"/>
                </a:solidFill>
              </a:rPr>
              <a:t> are converted into ATP, the energy currency of cells.</a:t>
            </a:r>
          </a:p>
          <a:p>
            <a:pPr marL="514350" indent="-514350" algn="just"/>
            <a:r>
              <a:rPr lang="en-IN" sz="2100" dirty="0" smtClean="0"/>
              <a:t> </a:t>
            </a:r>
            <a:r>
              <a:rPr lang="en-IN" sz="2100" dirty="0" smtClean="0">
                <a:solidFill>
                  <a:srgbClr val="92D050"/>
                </a:solidFill>
              </a:rPr>
              <a:t>2. Energy Storage:</a:t>
            </a:r>
            <a:r>
              <a:rPr lang="en-IN" sz="2100" dirty="0" smtClean="0"/>
              <a:t> </a:t>
            </a:r>
          </a:p>
          <a:p>
            <a:pPr marL="274638" indent="-274638" algn="just">
              <a:buFont typeface="Wingdings" pitchFamily="2" charset="2"/>
              <a:buChar char="§"/>
            </a:pPr>
            <a:r>
              <a:rPr lang="en-IN" sz="2100" dirty="0" smtClean="0">
                <a:solidFill>
                  <a:srgbClr val="00B0F0"/>
                </a:solidFill>
              </a:rPr>
              <a:t>Glycogen (in Animals): </a:t>
            </a:r>
            <a:r>
              <a:rPr lang="en-IN" sz="2100" dirty="0" smtClean="0">
                <a:solidFill>
                  <a:schemeClr val="tx1"/>
                </a:solidFill>
              </a:rPr>
              <a:t>Excess glucose is stored in the form of glycogen in animals, primarily in the liver and muscles. </a:t>
            </a:r>
          </a:p>
          <a:p>
            <a:pPr marL="274638" indent="-274638" algn="just">
              <a:buFont typeface="Wingdings" pitchFamily="2" charset="2"/>
              <a:buChar char="§"/>
            </a:pPr>
            <a:r>
              <a:rPr lang="en-IN" sz="2100" dirty="0" smtClean="0"/>
              <a:t> </a:t>
            </a:r>
            <a:r>
              <a:rPr lang="en-IN" sz="2100" dirty="0" smtClean="0">
                <a:solidFill>
                  <a:srgbClr val="00B0F0"/>
                </a:solidFill>
              </a:rPr>
              <a:t>Starch (in Plants): </a:t>
            </a:r>
            <a:r>
              <a:rPr lang="en-IN" sz="2100" dirty="0" smtClean="0">
                <a:solidFill>
                  <a:schemeClr val="tx1"/>
                </a:solidFill>
              </a:rPr>
              <a:t>Plants store surplus glucose as starch in various plant tissues. </a:t>
            </a:r>
          </a:p>
          <a:p>
            <a:pPr marL="514350" indent="-514350" algn="just"/>
            <a:r>
              <a:rPr lang="en-IN" sz="2100" dirty="0" smtClean="0">
                <a:solidFill>
                  <a:srgbClr val="92D050"/>
                </a:solidFill>
              </a:rPr>
              <a:t>3. Structural Support: </a:t>
            </a:r>
          </a:p>
          <a:p>
            <a:pPr marL="274638" indent="-274638" algn="just"/>
            <a:r>
              <a:rPr lang="en-IN" sz="2100" dirty="0" smtClean="0">
                <a:solidFill>
                  <a:srgbClr val="00B0F0"/>
                </a:solidFill>
              </a:rPr>
              <a:t>Cellulose (in Plants): </a:t>
            </a:r>
            <a:r>
              <a:rPr lang="en-IN" sz="2100" dirty="0" smtClean="0">
                <a:solidFill>
                  <a:schemeClr val="tx1"/>
                </a:solidFill>
              </a:rPr>
              <a:t>Carbohydrates contribute to the structural support of plant cell walls through the formation of cellulose. </a:t>
            </a:r>
          </a:p>
          <a:p>
            <a:pPr marL="514350" indent="-514350" algn="just"/>
            <a:r>
              <a:rPr lang="en-IN" sz="2100" dirty="0" smtClean="0">
                <a:solidFill>
                  <a:srgbClr val="92D050"/>
                </a:solidFill>
              </a:rPr>
              <a:t>4. Transport of Energy: </a:t>
            </a:r>
          </a:p>
          <a:p>
            <a:pPr marL="274638" indent="-274638" algn="just"/>
            <a:r>
              <a:rPr lang="en-IN" sz="2100" dirty="0" smtClean="0">
                <a:solidFill>
                  <a:srgbClr val="00B0F0"/>
                </a:solidFill>
              </a:rPr>
              <a:t>Sucrose: </a:t>
            </a:r>
            <a:r>
              <a:rPr lang="en-IN" sz="2100" dirty="0" smtClean="0">
                <a:solidFill>
                  <a:schemeClr val="tx1"/>
                </a:solidFill>
              </a:rPr>
              <a:t>Carbohydrates like sucrose facilitate the transport of energy in the form of sugars within plants.</a:t>
            </a:r>
          </a:p>
          <a:p>
            <a:pPr marL="514350" indent="-514350" algn="just"/>
            <a:r>
              <a:rPr lang="en-IN" sz="2100" dirty="0" smtClean="0">
                <a:solidFill>
                  <a:srgbClr val="92D050"/>
                </a:solidFill>
              </a:rPr>
              <a:t> 5. Quick Energy Release: </a:t>
            </a:r>
          </a:p>
          <a:p>
            <a:pPr marL="514350" indent="-514350" algn="just"/>
            <a:r>
              <a:rPr lang="en-IN" sz="2100" dirty="0" smtClean="0">
                <a:solidFill>
                  <a:srgbClr val="00B0F0"/>
                </a:solidFill>
              </a:rPr>
              <a:t>Glucose: </a:t>
            </a:r>
            <a:r>
              <a:rPr lang="en-IN" sz="2100" dirty="0" smtClean="0">
                <a:solidFill>
                  <a:schemeClr val="tx1"/>
                </a:solidFill>
              </a:rPr>
              <a:t>Rapid breakdown of glucose provides quick energy for cellular processes.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500042"/>
            <a:ext cx="7772400" cy="428628"/>
          </a:xfrm>
        </p:spPr>
        <p:txBody>
          <a:bodyPr>
            <a:noAutofit/>
          </a:bodyPr>
          <a:lstStyle/>
          <a:p>
            <a:pPr marL="514350" indent="-514350" algn="l"/>
            <a:r>
              <a:rPr lang="en-IN" sz="2800" dirty="0" smtClean="0">
                <a:solidFill>
                  <a:srgbClr val="92D050"/>
                </a:solidFill>
              </a:rPr>
              <a:t>6. Metabolic Regulation: </a:t>
            </a:r>
            <a:br>
              <a:rPr lang="en-IN" sz="2800" dirty="0" smtClean="0">
                <a:solidFill>
                  <a:srgbClr val="92D050"/>
                </a:solidFill>
              </a:rPr>
            </a:br>
            <a:r>
              <a:rPr lang="en-IN" sz="2800" dirty="0" smtClean="0"/>
              <a:t/>
            </a:r>
            <a:br>
              <a:rPr lang="en-IN" sz="2800" dirty="0" smtClean="0"/>
            </a:br>
            <a:endParaRPr lang="en-IN" sz="2800" dirty="0"/>
          </a:p>
        </p:txBody>
      </p:sp>
      <p:sp>
        <p:nvSpPr>
          <p:cNvPr id="3" name="Subtitle 2"/>
          <p:cNvSpPr>
            <a:spLocks noGrp="1"/>
          </p:cNvSpPr>
          <p:nvPr>
            <p:ph type="subTitle" idx="1"/>
          </p:nvPr>
        </p:nvSpPr>
        <p:spPr>
          <a:xfrm>
            <a:off x="285720" y="500042"/>
            <a:ext cx="8643998" cy="5786478"/>
          </a:xfrm>
        </p:spPr>
        <p:txBody>
          <a:bodyPr>
            <a:normAutofit fontScale="92500" lnSpcReduction="10000"/>
          </a:bodyPr>
          <a:lstStyle/>
          <a:p>
            <a:pPr algn="just"/>
            <a:r>
              <a:rPr lang="en-IN" sz="2800" dirty="0" smtClean="0">
                <a:solidFill>
                  <a:srgbClr val="00B0F0"/>
                </a:solidFill>
              </a:rPr>
              <a:t>Blood Sugar Regulation: </a:t>
            </a:r>
            <a:r>
              <a:rPr lang="en-IN" sz="2800" dirty="0" smtClean="0">
                <a:solidFill>
                  <a:schemeClr val="tx1"/>
                </a:solidFill>
              </a:rPr>
              <a:t>Carbohydrates play a role in regulating blood sugar levels, ensuring a steady energy supply.</a:t>
            </a:r>
          </a:p>
          <a:p>
            <a:pPr algn="just"/>
            <a:r>
              <a:rPr lang="en-IN" sz="2800" dirty="0" smtClean="0">
                <a:solidFill>
                  <a:schemeClr val="accent2"/>
                </a:solidFill>
              </a:rPr>
              <a:t>Properties and Functions of Nucleic Acids</a:t>
            </a:r>
          </a:p>
          <a:p>
            <a:pPr algn="just"/>
            <a:r>
              <a:rPr lang="en-IN" sz="2800" dirty="0" smtClean="0">
                <a:solidFill>
                  <a:schemeClr val="tx1"/>
                </a:solidFill>
              </a:rPr>
              <a:t>Understanding the properties and functions of nucleic acids is fundamental to comprehending the mechanisms of heredity, genetic disorders, and cellular processes.</a:t>
            </a:r>
          </a:p>
          <a:p>
            <a:pPr algn="just"/>
            <a:r>
              <a:rPr lang="en-IN" sz="2800" dirty="0" smtClean="0">
                <a:solidFill>
                  <a:srgbClr val="7030A0"/>
                </a:solidFill>
              </a:rPr>
              <a:t>Properties of Nucleic Acids</a:t>
            </a:r>
          </a:p>
          <a:p>
            <a:pPr marL="514350" indent="-514350" algn="just">
              <a:buAutoNum type="arabicPeriod"/>
            </a:pPr>
            <a:r>
              <a:rPr lang="en-IN" sz="2800" dirty="0" smtClean="0">
                <a:solidFill>
                  <a:srgbClr val="00B0F0"/>
                </a:solidFill>
              </a:rPr>
              <a:t>Polymer Structure: </a:t>
            </a:r>
            <a:r>
              <a:rPr lang="en-IN" sz="2800" dirty="0" smtClean="0">
                <a:solidFill>
                  <a:schemeClr val="tx1"/>
                </a:solidFill>
              </a:rPr>
              <a:t>Nucleic acids are polymers composed of nucleotide monomers linked together. </a:t>
            </a:r>
          </a:p>
          <a:p>
            <a:pPr marL="514350" indent="-514350" algn="just"/>
            <a:r>
              <a:rPr lang="en-IN" sz="2800" dirty="0" smtClean="0">
                <a:solidFill>
                  <a:srgbClr val="00B0F0"/>
                </a:solidFill>
              </a:rPr>
              <a:t>2. Nucleotide Composition: </a:t>
            </a:r>
            <a:r>
              <a:rPr lang="en-IN" sz="2800" dirty="0" smtClean="0">
                <a:solidFill>
                  <a:schemeClr val="tx1"/>
                </a:solidFill>
              </a:rPr>
              <a:t>Each nucleotide consists of a sugar molecule, a phosphate group, and a nitrogenous base. </a:t>
            </a:r>
          </a:p>
          <a:p>
            <a:pPr marL="514350" indent="-514350" algn="just"/>
            <a:r>
              <a:rPr lang="en-IN" sz="2800" dirty="0" smtClean="0">
                <a:solidFill>
                  <a:srgbClr val="00B0F0"/>
                </a:solidFill>
              </a:rPr>
              <a:t>3. Sequence Specificity: </a:t>
            </a:r>
            <a:r>
              <a:rPr lang="en-IN" sz="2800" dirty="0" smtClean="0">
                <a:solidFill>
                  <a:schemeClr val="tx1"/>
                </a:solidFill>
              </a:rPr>
              <a:t>The sequence of nitrogenous bases along the nucleic acid chain is specific and carries genetic information. </a:t>
            </a:r>
            <a:endParaRPr lang="en-IN" sz="2800" dirty="0">
              <a:solidFill>
                <a:schemeClr val="tx1"/>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1"/>
            <a:ext cx="7843838" cy="785794"/>
          </a:xfrm>
        </p:spPr>
        <p:txBody>
          <a:bodyPr>
            <a:normAutofit/>
          </a:bodyPr>
          <a:lstStyle/>
          <a:p>
            <a:pPr algn="l"/>
            <a:r>
              <a:rPr lang="en-IN" sz="2400" dirty="0" smtClean="0">
                <a:solidFill>
                  <a:srgbClr val="00B0F0"/>
                </a:solidFill>
              </a:rPr>
              <a:t>4.Double Helix (DNA): </a:t>
            </a:r>
            <a:endParaRPr lang="en-IN" sz="3600" dirty="0">
              <a:solidFill>
                <a:srgbClr val="00B0F0"/>
              </a:solidFill>
            </a:endParaRPr>
          </a:p>
        </p:txBody>
      </p:sp>
      <p:sp>
        <p:nvSpPr>
          <p:cNvPr id="3" name="Subtitle 2"/>
          <p:cNvSpPr>
            <a:spLocks noGrp="1"/>
          </p:cNvSpPr>
          <p:nvPr>
            <p:ph type="subTitle" idx="1"/>
          </p:nvPr>
        </p:nvSpPr>
        <p:spPr>
          <a:xfrm>
            <a:off x="428596" y="642918"/>
            <a:ext cx="8429684" cy="5715040"/>
          </a:xfrm>
        </p:spPr>
        <p:txBody>
          <a:bodyPr>
            <a:noAutofit/>
          </a:bodyPr>
          <a:lstStyle/>
          <a:p>
            <a:pPr algn="just"/>
            <a:r>
              <a:rPr lang="en-IN" sz="2400" dirty="0" smtClean="0">
                <a:solidFill>
                  <a:schemeClr val="tx1"/>
                </a:solidFill>
              </a:rPr>
              <a:t>DNA has a double-helix structure, where two strands wind around each other.</a:t>
            </a:r>
          </a:p>
          <a:p>
            <a:pPr algn="just"/>
            <a:r>
              <a:rPr lang="en-IN" sz="2400" dirty="0" smtClean="0"/>
              <a:t> </a:t>
            </a:r>
            <a:r>
              <a:rPr lang="en-IN" sz="2400" dirty="0" smtClean="0">
                <a:solidFill>
                  <a:srgbClr val="00B0F0"/>
                </a:solidFill>
              </a:rPr>
              <a:t>5. Single-Stranded (RNA): </a:t>
            </a:r>
          </a:p>
          <a:p>
            <a:pPr algn="just"/>
            <a:r>
              <a:rPr lang="en-IN" sz="2400" dirty="0" smtClean="0">
                <a:solidFill>
                  <a:schemeClr val="tx1"/>
                </a:solidFill>
              </a:rPr>
              <a:t>RNA is usually single-stranded, with various types like mRNA, </a:t>
            </a:r>
            <a:r>
              <a:rPr lang="en-IN" sz="2400" dirty="0" err="1" smtClean="0">
                <a:solidFill>
                  <a:schemeClr val="tx1"/>
                </a:solidFill>
              </a:rPr>
              <a:t>tRNA</a:t>
            </a:r>
            <a:r>
              <a:rPr lang="en-IN" sz="2400" dirty="0" smtClean="0">
                <a:solidFill>
                  <a:schemeClr val="tx1"/>
                </a:solidFill>
              </a:rPr>
              <a:t>, and </a:t>
            </a:r>
            <a:r>
              <a:rPr lang="en-IN" sz="2400" dirty="0" err="1" smtClean="0">
                <a:solidFill>
                  <a:schemeClr val="tx1"/>
                </a:solidFill>
              </a:rPr>
              <a:t>rRNA</a:t>
            </a:r>
            <a:r>
              <a:rPr lang="en-IN" sz="2400" dirty="0" smtClean="0">
                <a:solidFill>
                  <a:schemeClr val="tx1"/>
                </a:solidFill>
              </a:rPr>
              <a:t>. </a:t>
            </a:r>
          </a:p>
          <a:p>
            <a:pPr algn="just"/>
            <a:r>
              <a:rPr lang="en-IN" sz="2400" dirty="0" smtClean="0">
                <a:solidFill>
                  <a:srgbClr val="00B0F0"/>
                </a:solidFill>
              </a:rPr>
              <a:t>6. Genetic Code: </a:t>
            </a:r>
          </a:p>
          <a:p>
            <a:pPr algn="just"/>
            <a:r>
              <a:rPr lang="en-IN" sz="2400" dirty="0" smtClean="0">
                <a:solidFill>
                  <a:schemeClr val="tx1"/>
                </a:solidFill>
              </a:rPr>
              <a:t>Nucleic acids encode the genetic information that determines the traits and characteristics of living organisms. </a:t>
            </a:r>
          </a:p>
          <a:p>
            <a:pPr algn="just"/>
            <a:r>
              <a:rPr lang="en-IN" sz="2400" dirty="0" smtClean="0">
                <a:solidFill>
                  <a:srgbClr val="00B0F0"/>
                </a:solidFill>
              </a:rPr>
              <a:t>7. Complementary Base Pairing: </a:t>
            </a:r>
          </a:p>
          <a:p>
            <a:pPr algn="just"/>
            <a:r>
              <a:rPr lang="en-IN" sz="2400" dirty="0" smtClean="0">
                <a:solidFill>
                  <a:schemeClr val="tx1"/>
                </a:solidFill>
              </a:rPr>
              <a:t>In DNA, adenine pairs with thymine, and guanine pairs with cytosine, forming complementary base pairs. </a:t>
            </a:r>
          </a:p>
          <a:p>
            <a:pPr algn="just"/>
            <a:r>
              <a:rPr lang="en-IN" sz="2400" dirty="0" smtClean="0">
                <a:solidFill>
                  <a:srgbClr val="00B0F0"/>
                </a:solidFill>
              </a:rPr>
              <a:t>8. Role in Protein Synthesis: </a:t>
            </a:r>
          </a:p>
          <a:p>
            <a:pPr algn="just"/>
            <a:r>
              <a:rPr lang="en-IN" sz="2400" dirty="0" smtClean="0">
                <a:solidFill>
                  <a:schemeClr val="tx1"/>
                </a:solidFill>
              </a:rPr>
              <a:t>Nucleic acids facilitate protein synthesis by carrying and translating genetic instructions.</a:t>
            </a:r>
            <a:endParaRPr lang="en-IN" sz="2400" dirty="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357166"/>
            <a:ext cx="7915276" cy="571503"/>
          </a:xfrm>
        </p:spPr>
        <p:txBody>
          <a:bodyPr>
            <a:normAutofit/>
          </a:bodyPr>
          <a:lstStyle/>
          <a:p>
            <a:pPr algn="l"/>
            <a:r>
              <a:rPr lang="en-IN" sz="2200" dirty="0" smtClean="0">
                <a:solidFill>
                  <a:srgbClr val="00B0F0"/>
                </a:solidFill>
              </a:rPr>
              <a:t>9. Essential for Heredity:</a:t>
            </a:r>
            <a:endParaRPr lang="en-IN" sz="2200" dirty="0">
              <a:solidFill>
                <a:srgbClr val="00B0F0"/>
              </a:solidFill>
            </a:endParaRPr>
          </a:p>
        </p:txBody>
      </p:sp>
      <p:sp>
        <p:nvSpPr>
          <p:cNvPr id="3" name="Subtitle 2"/>
          <p:cNvSpPr>
            <a:spLocks noGrp="1"/>
          </p:cNvSpPr>
          <p:nvPr>
            <p:ph type="subTitle" idx="1"/>
          </p:nvPr>
        </p:nvSpPr>
        <p:spPr>
          <a:xfrm>
            <a:off x="214282" y="785794"/>
            <a:ext cx="8715436" cy="6072206"/>
          </a:xfrm>
        </p:spPr>
        <p:txBody>
          <a:bodyPr>
            <a:normAutofit/>
          </a:bodyPr>
          <a:lstStyle/>
          <a:p>
            <a:pPr algn="just"/>
            <a:r>
              <a:rPr lang="en-IN" sz="2200" dirty="0" smtClean="0">
                <a:solidFill>
                  <a:schemeClr val="tx1"/>
                </a:solidFill>
              </a:rPr>
              <a:t>Nucleic acids are vital for the inheritance of genetic traits from one generation to the next. </a:t>
            </a:r>
          </a:p>
          <a:p>
            <a:pPr algn="just"/>
            <a:r>
              <a:rPr lang="en-IN" sz="2200" dirty="0" smtClean="0">
                <a:solidFill>
                  <a:srgbClr val="00B0F0"/>
                </a:solidFill>
              </a:rPr>
              <a:t>10. Cellular Regulation: </a:t>
            </a:r>
          </a:p>
          <a:p>
            <a:pPr algn="just"/>
            <a:r>
              <a:rPr lang="en-IN" sz="2200" dirty="0" smtClean="0">
                <a:solidFill>
                  <a:schemeClr val="tx1"/>
                </a:solidFill>
              </a:rPr>
              <a:t>They participate in regulating cellular processes, gene expression, and various metabolic activities.</a:t>
            </a:r>
            <a:r>
              <a:rPr lang="en-IN" sz="2200" dirty="0" smtClean="0"/>
              <a:t> </a:t>
            </a:r>
          </a:p>
          <a:p>
            <a:pPr algn="just"/>
            <a:r>
              <a:rPr lang="en-IN" sz="2200" dirty="0" smtClean="0">
                <a:solidFill>
                  <a:srgbClr val="FF0000"/>
                </a:solidFill>
              </a:rPr>
              <a:t>Functions of Nucleic Acids </a:t>
            </a:r>
          </a:p>
          <a:p>
            <a:pPr marL="514350" indent="-514350" algn="just">
              <a:buAutoNum type="arabicPeriod"/>
            </a:pPr>
            <a:r>
              <a:rPr lang="en-IN" sz="2200" dirty="0" smtClean="0">
                <a:solidFill>
                  <a:srgbClr val="00B0F0"/>
                </a:solidFill>
              </a:rPr>
              <a:t>Genetic Information Storage: </a:t>
            </a:r>
            <a:r>
              <a:rPr lang="en-IN" sz="2200" dirty="0" smtClean="0">
                <a:solidFill>
                  <a:schemeClr val="tx1"/>
                </a:solidFill>
              </a:rPr>
              <a:t>Nucleic acids, particularly DNA, store and carry genetic information that dictates the hereditary characteristics of living organisms. </a:t>
            </a:r>
          </a:p>
          <a:p>
            <a:pPr marL="514350" indent="-514350" algn="just"/>
            <a:r>
              <a:rPr lang="en-IN" sz="2200" dirty="0" smtClean="0">
                <a:solidFill>
                  <a:srgbClr val="00B0F0"/>
                </a:solidFill>
              </a:rPr>
              <a:t>2. Protein Synthesis: </a:t>
            </a:r>
            <a:r>
              <a:rPr lang="en-IN" sz="2200" dirty="0" smtClean="0">
                <a:solidFill>
                  <a:schemeClr val="tx1"/>
                </a:solidFill>
              </a:rPr>
              <a:t>Nucleic acids, through the process of transcription and translation, play a crucial role in the synthesis of proteins, the building blocks of cells. </a:t>
            </a:r>
          </a:p>
          <a:p>
            <a:pPr marL="514350" indent="-514350" algn="just"/>
            <a:r>
              <a:rPr lang="en-IN" sz="2200" dirty="0" smtClean="0">
                <a:solidFill>
                  <a:srgbClr val="00B0F0"/>
                </a:solidFill>
              </a:rPr>
              <a:t>3. Cellular Regulation: </a:t>
            </a:r>
            <a:r>
              <a:rPr lang="en-IN" sz="2200" dirty="0" smtClean="0">
                <a:solidFill>
                  <a:schemeClr val="tx1"/>
                </a:solidFill>
              </a:rPr>
              <a:t>They participate in the regulation of various cellular processes, controlling gene expression and influencing the overall functioning of cells</a:t>
            </a:r>
            <a:endParaRPr lang="en-IN" sz="2200" dirty="0">
              <a:solidFill>
                <a:schemeClr val="tx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8858280" cy="785793"/>
          </a:xfrm>
        </p:spPr>
        <p:txBody>
          <a:bodyPr>
            <a:normAutofit/>
          </a:bodyPr>
          <a:lstStyle/>
          <a:p>
            <a:pPr algn="just"/>
            <a:r>
              <a:rPr lang="en-IN" sz="2000" dirty="0" smtClean="0">
                <a:solidFill>
                  <a:srgbClr val="00B0F0"/>
                </a:solidFill>
              </a:rPr>
              <a:t>4.Hereditary Transmission:</a:t>
            </a:r>
            <a:endParaRPr lang="en-IN" sz="2000" dirty="0">
              <a:solidFill>
                <a:srgbClr val="00B0F0"/>
              </a:solidFill>
            </a:endParaRPr>
          </a:p>
        </p:txBody>
      </p:sp>
      <p:sp>
        <p:nvSpPr>
          <p:cNvPr id="3" name="Subtitle 2"/>
          <p:cNvSpPr>
            <a:spLocks noGrp="1"/>
          </p:cNvSpPr>
          <p:nvPr>
            <p:ph type="subTitle" idx="1"/>
          </p:nvPr>
        </p:nvSpPr>
        <p:spPr>
          <a:xfrm>
            <a:off x="0" y="500042"/>
            <a:ext cx="9144000" cy="6357958"/>
          </a:xfrm>
        </p:spPr>
        <p:txBody>
          <a:bodyPr>
            <a:normAutofit fontScale="70000" lnSpcReduction="20000"/>
          </a:bodyPr>
          <a:lstStyle/>
          <a:p>
            <a:pPr algn="just"/>
            <a:r>
              <a:rPr lang="en-IN" dirty="0" smtClean="0">
                <a:solidFill>
                  <a:schemeClr val="tx1"/>
                </a:solidFill>
              </a:rPr>
              <a:t>Nucleic acids are responsible for transmitting hereditary traits from parents to offspring, ensuring the continuity of genetic information.</a:t>
            </a:r>
          </a:p>
          <a:p>
            <a:pPr algn="just"/>
            <a:r>
              <a:rPr lang="en-IN" dirty="0" smtClean="0">
                <a:solidFill>
                  <a:srgbClr val="00B0F0"/>
                </a:solidFill>
              </a:rPr>
              <a:t> 5. Transfer of Genetic Code:</a:t>
            </a:r>
          </a:p>
          <a:p>
            <a:pPr algn="just"/>
            <a:r>
              <a:rPr lang="en-IN" dirty="0" smtClean="0"/>
              <a:t> </a:t>
            </a:r>
            <a:r>
              <a:rPr lang="en-IN" dirty="0" smtClean="0">
                <a:solidFill>
                  <a:schemeClr val="tx1"/>
                </a:solidFill>
              </a:rPr>
              <a:t>RNA, a type of nucleic acid, carries the genetic code from DNA to the </a:t>
            </a:r>
            <a:r>
              <a:rPr lang="en-IN" dirty="0" err="1" smtClean="0">
                <a:solidFill>
                  <a:schemeClr val="tx1"/>
                </a:solidFill>
              </a:rPr>
              <a:t>ribosomes</a:t>
            </a:r>
            <a:r>
              <a:rPr lang="en-IN" dirty="0" smtClean="0">
                <a:solidFill>
                  <a:schemeClr val="tx1"/>
                </a:solidFill>
              </a:rPr>
              <a:t>, where protein synthesis occurs.</a:t>
            </a:r>
          </a:p>
          <a:p>
            <a:pPr algn="just"/>
            <a:r>
              <a:rPr lang="en-IN" dirty="0" smtClean="0">
                <a:solidFill>
                  <a:srgbClr val="00B0F0"/>
                </a:solidFill>
              </a:rPr>
              <a:t> 6. Enzymatic Activities: </a:t>
            </a:r>
          </a:p>
          <a:p>
            <a:pPr algn="just"/>
            <a:r>
              <a:rPr lang="en-IN" dirty="0" smtClean="0">
                <a:solidFill>
                  <a:schemeClr val="tx1"/>
                </a:solidFill>
              </a:rPr>
              <a:t>Some nucleic acids, like </a:t>
            </a:r>
            <a:r>
              <a:rPr lang="en-IN" dirty="0" err="1" smtClean="0">
                <a:solidFill>
                  <a:schemeClr val="tx1"/>
                </a:solidFill>
              </a:rPr>
              <a:t>ribozymes</a:t>
            </a:r>
            <a:r>
              <a:rPr lang="en-IN" dirty="0" smtClean="0">
                <a:solidFill>
                  <a:schemeClr val="tx1"/>
                </a:solidFill>
              </a:rPr>
              <a:t>, exhibit enzymatic activities, participating in biochemical reactions within cells. </a:t>
            </a:r>
          </a:p>
          <a:p>
            <a:pPr algn="just"/>
            <a:r>
              <a:rPr lang="en-IN" dirty="0" smtClean="0">
                <a:solidFill>
                  <a:srgbClr val="00B0F0"/>
                </a:solidFill>
              </a:rPr>
              <a:t>7. Energy Transfer: </a:t>
            </a:r>
          </a:p>
          <a:p>
            <a:pPr algn="just"/>
            <a:r>
              <a:rPr lang="en-IN" dirty="0" smtClean="0">
                <a:solidFill>
                  <a:schemeClr val="tx1"/>
                </a:solidFill>
              </a:rPr>
              <a:t>Nucleic acids contribute to the transfer and storage of energy in the form of adenosine </a:t>
            </a:r>
            <a:r>
              <a:rPr lang="en-IN" dirty="0" err="1" smtClean="0">
                <a:solidFill>
                  <a:schemeClr val="tx1"/>
                </a:solidFill>
              </a:rPr>
              <a:t>triphosphate</a:t>
            </a:r>
            <a:r>
              <a:rPr lang="en-IN" dirty="0" smtClean="0">
                <a:solidFill>
                  <a:schemeClr val="tx1"/>
                </a:solidFill>
              </a:rPr>
              <a:t> (ATP), a molecule crucial for cellular energy currency. </a:t>
            </a:r>
          </a:p>
          <a:p>
            <a:pPr algn="just"/>
            <a:r>
              <a:rPr lang="en-IN" dirty="0" smtClean="0">
                <a:solidFill>
                  <a:srgbClr val="00B0F0"/>
                </a:solidFill>
              </a:rPr>
              <a:t>8. Cellular </a:t>
            </a:r>
            <a:r>
              <a:rPr lang="en-IN" dirty="0" err="1" smtClean="0">
                <a:solidFill>
                  <a:srgbClr val="00B0F0"/>
                </a:solidFill>
              </a:rPr>
              <a:t>Signaling</a:t>
            </a:r>
            <a:r>
              <a:rPr lang="en-IN" dirty="0" smtClean="0">
                <a:solidFill>
                  <a:srgbClr val="00B0F0"/>
                </a:solidFill>
              </a:rPr>
              <a:t>: </a:t>
            </a:r>
          </a:p>
          <a:p>
            <a:pPr algn="just"/>
            <a:r>
              <a:rPr lang="en-IN" dirty="0" smtClean="0">
                <a:solidFill>
                  <a:schemeClr val="tx1"/>
                </a:solidFill>
              </a:rPr>
              <a:t>Certain nucleic acids are involved in cellular </a:t>
            </a:r>
            <a:r>
              <a:rPr lang="en-IN" dirty="0" err="1" smtClean="0">
                <a:solidFill>
                  <a:schemeClr val="tx1"/>
                </a:solidFill>
              </a:rPr>
              <a:t>signaling</a:t>
            </a:r>
            <a:r>
              <a:rPr lang="en-IN" dirty="0" smtClean="0">
                <a:solidFill>
                  <a:schemeClr val="tx1"/>
                </a:solidFill>
              </a:rPr>
              <a:t> pathways, influencing responses to external stimuli and environmental changes.</a:t>
            </a:r>
          </a:p>
          <a:p>
            <a:pPr algn="just"/>
            <a:r>
              <a:rPr lang="en-IN" dirty="0" smtClean="0"/>
              <a:t> </a:t>
            </a:r>
            <a:r>
              <a:rPr lang="en-IN" dirty="0" smtClean="0">
                <a:solidFill>
                  <a:srgbClr val="00B0F0"/>
                </a:solidFill>
              </a:rPr>
              <a:t>9. Maintenance of Cell Structure: </a:t>
            </a:r>
          </a:p>
          <a:p>
            <a:pPr algn="just"/>
            <a:r>
              <a:rPr lang="en-IN" dirty="0" smtClean="0">
                <a:solidFill>
                  <a:schemeClr val="tx1"/>
                </a:solidFill>
              </a:rPr>
              <a:t>Nucleic acids contribute to the maintenance and integrity of cell structures, influencing cell division and growth. </a:t>
            </a:r>
          </a:p>
          <a:p>
            <a:pPr algn="just"/>
            <a:r>
              <a:rPr lang="en-IN" dirty="0" smtClean="0">
                <a:solidFill>
                  <a:srgbClr val="00B0F0"/>
                </a:solidFill>
              </a:rPr>
              <a:t>10. Synthesis of </a:t>
            </a:r>
            <a:r>
              <a:rPr lang="en-IN" dirty="0" err="1" smtClean="0">
                <a:solidFill>
                  <a:srgbClr val="00B0F0"/>
                </a:solidFill>
              </a:rPr>
              <a:t>Biomolecules</a:t>
            </a:r>
            <a:r>
              <a:rPr lang="en-IN" dirty="0" smtClean="0">
                <a:solidFill>
                  <a:srgbClr val="00B0F0"/>
                </a:solidFill>
              </a:rPr>
              <a:t>: </a:t>
            </a:r>
          </a:p>
          <a:p>
            <a:pPr algn="just"/>
            <a:r>
              <a:rPr lang="en-IN" dirty="0" smtClean="0">
                <a:solidFill>
                  <a:schemeClr val="tx1"/>
                </a:solidFill>
              </a:rPr>
              <a:t>They are involved in the synthesis of various </a:t>
            </a:r>
            <a:r>
              <a:rPr lang="en-IN" dirty="0" err="1" smtClean="0">
                <a:solidFill>
                  <a:schemeClr val="tx1"/>
                </a:solidFill>
              </a:rPr>
              <a:t>biomolecules</a:t>
            </a:r>
            <a:r>
              <a:rPr lang="en-IN" dirty="0" smtClean="0">
                <a:solidFill>
                  <a:schemeClr val="tx1"/>
                </a:solidFill>
              </a:rPr>
              <a:t>, contributing to the overall structure and function of living organisms.</a:t>
            </a:r>
            <a:endParaRPr lang="en-IN" dirty="0">
              <a:solidFill>
                <a:schemeClr val="tx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0"/>
            <a:ext cx="8858280" cy="642942"/>
          </a:xfrm>
        </p:spPr>
        <p:txBody>
          <a:bodyPr>
            <a:normAutofit/>
          </a:bodyPr>
          <a:lstStyle/>
          <a:p>
            <a:r>
              <a:rPr lang="en-IN" sz="3200" dirty="0" smtClean="0">
                <a:solidFill>
                  <a:srgbClr val="FF0000"/>
                </a:solidFill>
              </a:rPr>
              <a:t>Properties and Functions of Proteins</a:t>
            </a:r>
            <a:endParaRPr lang="en-IN" sz="3200" dirty="0">
              <a:solidFill>
                <a:srgbClr val="FF0000"/>
              </a:solidFill>
            </a:endParaRPr>
          </a:p>
        </p:txBody>
      </p:sp>
      <p:sp>
        <p:nvSpPr>
          <p:cNvPr id="3" name="Subtitle 2"/>
          <p:cNvSpPr>
            <a:spLocks noGrp="1"/>
          </p:cNvSpPr>
          <p:nvPr>
            <p:ph type="subTitle" idx="1"/>
          </p:nvPr>
        </p:nvSpPr>
        <p:spPr>
          <a:xfrm>
            <a:off x="214282" y="714356"/>
            <a:ext cx="8715436" cy="6143644"/>
          </a:xfrm>
        </p:spPr>
        <p:txBody>
          <a:bodyPr>
            <a:normAutofit fontScale="70000" lnSpcReduction="20000"/>
          </a:bodyPr>
          <a:lstStyle/>
          <a:p>
            <a:pPr algn="just"/>
            <a:r>
              <a:rPr lang="en-IN" dirty="0" smtClean="0">
                <a:solidFill>
                  <a:srgbClr val="00B050"/>
                </a:solidFill>
              </a:rPr>
              <a:t>Properties of Proteins</a:t>
            </a:r>
          </a:p>
          <a:p>
            <a:pPr algn="just"/>
            <a:r>
              <a:rPr lang="en-IN" dirty="0" smtClean="0">
                <a:solidFill>
                  <a:srgbClr val="00B0F0"/>
                </a:solidFill>
              </a:rPr>
              <a:t> 1. Structure: </a:t>
            </a:r>
          </a:p>
          <a:p>
            <a:pPr algn="just"/>
            <a:r>
              <a:rPr lang="en-IN" dirty="0" smtClean="0"/>
              <a:t> </a:t>
            </a:r>
            <a:r>
              <a:rPr lang="en-IN" dirty="0" smtClean="0">
                <a:solidFill>
                  <a:schemeClr val="tx1"/>
                </a:solidFill>
              </a:rPr>
              <a:t>Proteins exhibit a complex three-dimensional structure determined by their amino acid sequence. </a:t>
            </a:r>
          </a:p>
          <a:p>
            <a:pPr algn="just"/>
            <a:r>
              <a:rPr lang="en-IN" dirty="0" smtClean="0">
                <a:solidFill>
                  <a:schemeClr val="tx1"/>
                </a:solidFill>
              </a:rPr>
              <a:t>They have primary, secondary (alpha helix, beta sheet), tertiary, and quaternary structural levels.</a:t>
            </a:r>
          </a:p>
          <a:p>
            <a:pPr algn="just"/>
            <a:r>
              <a:rPr lang="en-IN" dirty="0" smtClean="0">
                <a:solidFill>
                  <a:srgbClr val="00B0F0"/>
                </a:solidFill>
              </a:rPr>
              <a:t> 2. Amino Acid Composition: </a:t>
            </a:r>
          </a:p>
          <a:p>
            <a:pPr algn="just"/>
            <a:r>
              <a:rPr lang="en-IN" dirty="0" smtClean="0">
                <a:solidFill>
                  <a:schemeClr val="tx1"/>
                </a:solidFill>
              </a:rPr>
              <a:t>Proteins are composed of amino acids linked by peptide bonds. </a:t>
            </a:r>
          </a:p>
          <a:p>
            <a:pPr algn="just"/>
            <a:r>
              <a:rPr lang="en-IN" dirty="0" smtClean="0">
                <a:solidFill>
                  <a:schemeClr val="tx1"/>
                </a:solidFill>
              </a:rPr>
              <a:t>The specific arrangement of amino acids dictates the protein's structure and function. </a:t>
            </a:r>
          </a:p>
          <a:p>
            <a:pPr algn="just"/>
            <a:r>
              <a:rPr lang="en-IN" dirty="0" smtClean="0">
                <a:solidFill>
                  <a:srgbClr val="00B0F0"/>
                </a:solidFill>
              </a:rPr>
              <a:t>3. Solubility: </a:t>
            </a:r>
          </a:p>
          <a:p>
            <a:pPr algn="just"/>
            <a:r>
              <a:rPr lang="en-IN" dirty="0" smtClean="0"/>
              <a:t> </a:t>
            </a:r>
            <a:r>
              <a:rPr lang="en-IN" dirty="0" smtClean="0">
                <a:solidFill>
                  <a:schemeClr val="tx1"/>
                </a:solidFill>
              </a:rPr>
              <a:t>Proteins can vary in solubility, with some being soluble in water (hydrophilic) and others in lipids (hydrophobic). </a:t>
            </a:r>
          </a:p>
          <a:p>
            <a:pPr algn="just"/>
            <a:r>
              <a:rPr lang="en-IN" dirty="0" smtClean="0">
                <a:solidFill>
                  <a:srgbClr val="00B0F0"/>
                </a:solidFill>
              </a:rPr>
              <a:t>4. </a:t>
            </a:r>
            <a:r>
              <a:rPr lang="en-IN" dirty="0" err="1" smtClean="0">
                <a:solidFill>
                  <a:srgbClr val="00B0F0"/>
                </a:solidFill>
              </a:rPr>
              <a:t>Denaturation</a:t>
            </a:r>
            <a:r>
              <a:rPr lang="en-IN" dirty="0" smtClean="0">
                <a:solidFill>
                  <a:srgbClr val="00B0F0"/>
                </a:solidFill>
              </a:rPr>
              <a:t>: </a:t>
            </a:r>
          </a:p>
          <a:p>
            <a:pPr algn="just"/>
            <a:r>
              <a:rPr lang="en-IN" dirty="0" smtClean="0">
                <a:solidFill>
                  <a:schemeClr val="tx1"/>
                </a:solidFill>
              </a:rPr>
              <a:t>Proteins can undergo </a:t>
            </a:r>
            <a:r>
              <a:rPr lang="en-IN" dirty="0" err="1" smtClean="0">
                <a:solidFill>
                  <a:schemeClr val="tx1"/>
                </a:solidFill>
              </a:rPr>
              <a:t>denaturation</a:t>
            </a:r>
            <a:r>
              <a:rPr lang="en-IN" dirty="0" smtClean="0">
                <a:solidFill>
                  <a:schemeClr val="tx1"/>
                </a:solidFill>
              </a:rPr>
              <a:t> due to factors like heat, pH changes, or chemicals, resulting in loss of structure and function. </a:t>
            </a:r>
          </a:p>
          <a:p>
            <a:pPr algn="just"/>
            <a:r>
              <a:rPr lang="en-IN" dirty="0" smtClean="0">
                <a:solidFill>
                  <a:srgbClr val="00B0F0"/>
                </a:solidFill>
              </a:rPr>
              <a:t>5. Specificity: </a:t>
            </a:r>
          </a:p>
          <a:p>
            <a:pPr algn="just"/>
            <a:r>
              <a:rPr lang="en-IN" dirty="0" smtClean="0">
                <a:solidFill>
                  <a:schemeClr val="tx1"/>
                </a:solidFill>
              </a:rPr>
              <a:t>Proteins exhibit specificity in their interactions, with each type designed for a particular function or molecular interaction.</a:t>
            </a:r>
            <a:endParaRPr lang="en-IN" dirty="0">
              <a:solidFill>
                <a:schemeClr val="tx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1"/>
            <a:ext cx="7915276" cy="714355"/>
          </a:xfrm>
        </p:spPr>
        <p:txBody>
          <a:bodyPr>
            <a:normAutofit/>
          </a:bodyPr>
          <a:lstStyle/>
          <a:p>
            <a:pPr algn="just"/>
            <a:r>
              <a:rPr lang="en-IN" sz="2400" dirty="0" smtClean="0">
                <a:solidFill>
                  <a:srgbClr val="00B0F0"/>
                </a:solidFill>
              </a:rPr>
              <a:t>6. Biological Functions:</a:t>
            </a:r>
            <a:endParaRPr lang="en-IN" sz="2400" dirty="0">
              <a:solidFill>
                <a:srgbClr val="00B0F0"/>
              </a:solidFill>
            </a:endParaRPr>
          </a:p>
        </p:txBody>
      </p:sp>
      <p:sp>
        <p:nvSpPr>
          <p:cNvPr id="3" name="Subtitle 2"/>
          <p:cNvSpPr>
            <a:spLocks noGrp="1"/>
          </p:cNvSpPr>
          <p:nvPr>
            <p:ph type="subTitle" idx="1"/>
          </p:nvPr>
        </p:nvSpPr>
        <p:spPr>
          <a:xfrm>
            <a:off x="214282" y="571480"/>
            <a:ext cx="8572560" cy="6286520"/>
          </a:xfrm>
        </p:spPr>
        <p:txBody>
          <a:bodyPr>
            <a:noAutofit/>
          </a:bodyPr>
          <a:lstStyle/>
          <a:p>
            <a:pPr algn="just"/>
            <a:r>
              <a:rPr lang="en-IN" sz="2400" dirty="0" smtClean="0">
                <a:solidFill>
                  <a:schemeClr val="tx1"/>
                </a:solidFill>
              </a:rPr>
              <a:t>Proteins serve diverse biological roles, including enzymes for catalysis, antibodies for immune response, and structural proteins for support.</a:t>
            </a:r>
          </a:p>
          <a:p>
            <a:pPr algn="just"/>
            <a:r>
              <a:rPr lang="en-IN" sz="2400" dirty="0" smtClean="0">
                <a:solidFill>
                  <a:srgbClr val="00B0F0"/>
                </a:solidFill>
              </a:rPr>
              <a:t> 7. Flexibility: </a:t>
            </a:r>
          </a:p>
          <a:p>
            <a:pPr algn="just"/>
            <a:r>
              <a:rPr lang="en-IN" sz="2400" dirty="0" smtClean="0">
                <a:solidFill>
                  <a:schemeClr val="tx1"/>
                </a:solidFill>
              </a:rPr>
              <a:t>Proteins can change their conformation to adapt to different biological environments and perform their functions. </a:t>
            </a:r>
          </a:p>
          <a:p>
            <a:pPr algn="just"/>
            <a:r>
              <a:rPr lang="en-IN" sz="2400" dirty="0" smtClean="0">
                <a:solidFill>
                  <a:srgbClr val="00B0F0"/>
                </a:solidFill>
              </a:rPr>
              <a:t>8. Binding and Recognition: </a:t>
            </a:r>
          </a:p>
          <a:p>
            <a:pPr algn="just"/>
            <a:r>
              <a:rPr lang="en-IN" sz="2400" dirty="0" smtClean="0">
                <a:solidFill>
                  <a:schemeClr val="tx1"/>
                </a:solidFill>
              </a:rPr>
              <a:t>Proteins can bind to other molecules, facilitating cellular processes such as </a:t>
            </a:r>
            <a:r>
              <a:rPr lang="en-IN" sz="2400" dirty="0" err="1" smtClean="0">
                <a:solidFill>
                  <a:schemeClr val="tx1"/>
                </a:solidFill>
              </a:rPr>
              <a:t>signaling</a:t>
            </a:r>
            <a:r>
              <a:rPr lang="en-IN" sz="2400" dirty="0" smtClean="0">
                <a:solidFill>
                  <a:schemeClr val="tx1"/>
                </a:solidFill>
              </a:rPr>
              <a:t> and transport. </a:t>
            </a:r>
          </a:p>
          <a:p>
            <a:pPr algn="just"/>
            <a:r>
              <a:rPr lang="en-IN" sz="2400" dirty="0" smtClean="0">
                <a:solidFill>
                  <a:srgbClr val="00B0F0"/>
                </a:solidFill>
              </a:rPr>
              <a:t>9. Catalytic Activity: </a:t>
            </a:r>
          </a:p>
          <a:p>
            <a:pPr algn="just"/>
            <a:r>
              <a:rPr lang="en-IN" sz="2400" dirty="0" smtClean="0"/>
              <a:t> </a:t>
            </a:r>
            <a:r>
              <a:rPr lang="en-IN" sz="2400" dirty="0" smtClean="0">
                <a:solidFill>
                  <a:schemeClr val="tx1"/>
                </a:solidFill>
              </a:rPr>
              <a:t>Many proteins act as enzymes, accelerating biochemical reactions within cells.</a:t>
            </a:r>
          </a:p>
          <a:p>
            <a:pPr algn="just"/>
            <a:r>
              <a:rPr lang="en-IN" sz="2400" dirty="0" smtClean="0"/>
              <a:t> </a:t>
            </a:r>
            <a:r>
              <a:rPr lang="en-IN" sz="2400" dirty="0" smtClean="0">
                <a:solidFill>
                  <a:srgbClr val="00B0F0"/>
                </a:solidFill>
              </a:rPr>
              <a:t>10. Diversity: </a:t>
            </a:r>
          </a:p>
          <a:p>
            <a:pPr algn="just"/>
            <a:r>
              <a:rPr lang="en-IN" sz="2400" dirty="0" smtClean="0">
                <a:solidFill>
                  <a:schemeClr val="tx1"/>
                </a:solidFill>
              </a:rPr>
              <a:t>The diversity of proteins allows them to carry out a wide range of functions critical to cellular life.</a:t>
            </a:r>
            <a:endParaRPr lang="en-IN" sz="2400"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1"/>
            <a:ext cx="7772400" cy="928670"/>
          </a:xfrm>
        </p:spPr>
        <p:txBody>
          <a:bodyPr>
            <a:noAutofit/>
          </a:bodyPr>
          <a:lstStyle/>
          <a:p>
            <a:pPr algn="just"/>
            <a:r>
              <a:rPr lang="en-IN" sz="2400" dirty="0" smtClean="0">
                <a:solidFill>
                  <a:srgbClr val="FF0000"/>
                </a:solidFill>
              </a:rPr>
              <a:t>Functions of Proteins with Examples</a:t>
            </a:r>
            <a:endParaRPr lang="en-IN" sz="2400" dirty="0">
              <a:solidFill>
                <a:srgbClr val="FF0000"/>
              </a:solidFill>
            </a:endParaRPr>
          </a:p>
        </p:txBody>
      </p:sp>
      <p:sp>
        <p:nvSpPr>
          <p:cNvPr id="3" name="Subtitle 2"/>
          <p:cNvSpPr>
            <a:spLocks noGrp="1"/>
          </p:cNvSpPr>
          <p:nvPr>
            <p:ph type="subTitle" idx="1"/>
          </p:nvPr>
        </p:nvSpPr>
        <p:spPr>
          <a:xfrm>
            <a:off x="214282" y="642918"/>
            <a:ext cx="8715436" cy="6215082"/>
          </a:xfrm>
        </p:spPr>
        <p:txBody>
          <a:bodyPr>
            <a:noAutofit/>
          </a:bodyPr>
          <a:lstStyle/>
          <a:p>
            <a:pPr marL="92075" indent="-92075" algn="just">
              <a:buAutoNum type="arabicPeriod"/>
            </a:pPr>
            <a:r>
              <a:rPr lang="en-IN" sz="2000" dirty="0" smtClean="0">
                <a:solidFill>
                  <a:srgbClr val="00B0F0"/>
                </a:solidFill>
              </a:rPr>
              <a:t>Enzymatic Activity:</a:t>
            </a:r>
          </a:p>
          <a:p>
            <a:pPr algn="just"/>
            <a:r>
              <a:rPr lang="en-IN" sz="2000" dirty="0" smtClean="0"/>
              <a:t> </a:t>
            </a:r>
            <a:r>
              <a:rPr lang="en-IN" sz="2000" dirty="0" smtClean="0">
                <a:solidFill>
                  <a:schemeClr val="tx1"/>
                </a:solidFill>
              </a:rPr>
              <a:t>Example: </a:t>
            </a:r>
            <a:r>
              <a:rPr lang="en-IN" sz="2000" dirty="0" err="1" smtClean="0">
                <a:solidFill>
                  <a:schemeClr val="tx1"/>
                </a:solidFill>
              </a:rPr>
              <a:t>Catalase</a:t>
            </a:r>
            <a:r>
              <a:rPr lang="en-IN" sz="2000" dirty="0" smtClean="0">
                <a:solidFill>
                  <a:schemeClr val="tx1"/>
                </a:solidFill>
              </a:rPr>
              <a:t> is an enzyme that catalyzes the breakdown of hydrogen peroxide into water and oxygen. </a:t>
            </a:r>
          </a:p>
          <a:p>
            <a:pPr algn="just"/>
            <a:r>
              <a:rPr lang="en-IN" sz="2000" dirty="0" smtClean="0">
                <a:solidFill>
                  <a:srgbClr val="00B0F0"/>
                </a:solidFill>
              </a:rPr>
              <a:t>2. Structural Support: </a:t>
            </a:r>
          </a:p>
          <a:p>
            <a:pPr algn="just"/>
            <a:r>
              <a:rPr lang="en-IN" sz="2000" dirty="0" smtClean="0">
                <a:solidFill>
                  <a:schemeClr val="tx1"/>
                </a:solidFill>
              </a:rPr>
              <a:t>Example: Collagen provides structural support to connective tissues in skin, bones, and tendons.</a:t>
            </a:r>
          </a:p>
          <a:p>
            <a:pPr algn="just"/>
            <a:r>
              <a:rPr lang="en-IN" sz="2000" dirty="0" smtClean="0">
                <a:solidFill>
                  <a:srgbClr val="00B0F0"/>
                </a:solidFill>
              </a:rPr>
              <a:t> 3. Transportation: </a:t>
            </a:r>
          </a:p>
          <a:p>
            <a:pPr algn="just"/>
            <a:r>
              <a:rPr lang="en-IN" sz="2000" dirty="0" smtClean="0">
                <a:solidFill>
                  <a:schemeClr val="tx1"/>
                </a:solidFill>
              </a:rPr>
              <a:t>Example: </a:t>
            </a:r>
            <a:r>
              <a:rPr lang="en-IN" sz="2000" dirty="0" err="1" smtClean="0">
                <a:solidFill>
                  <a:schemeClr val="tx1"/>
                </a:solidFill>
              </a:rPr>
              <a:t>Hemoglobin</a:t>
            </a:r>
            <a:r>
              <a:rPr lang="en-IN" sz="2000" dirty="0" smtClean="0">
                <a:solidFill>
                  <a:schemeClr val="tx1"/>
                </a:solidFill>
              </a:rPr>
              <a:t> transports oxygen from the lungs to tissues and carries carbon dioxide back to the lungs. </a:t>
            </a:r>
          </a:p>
          <a:p>
            <a:pPr algn="just"/>
            <a:r>
              <a:rPr lang="en-IN" sz="2000" dirty="0" smtClean="0">
                <a:solidFill>
                  <a:srgbClr val="00B0F0"/>
                </a:solidFill>
              </a:rPr>
              <a:t>4. </a:t>
            </a:r>
            <a:r>
              <a:rPr lang="en-IN" sz="2000" dirty="0" err="1" smtClean="0">
                <a:solidFill>
                  <a:srgbClr val="00B0F0"/>
                </a:solidFill>
              </a:rPr>
              <a:t>Defense</a:t>
            </a:r>
            <a:r>
              <a:rPr lang="en-IN" sz="2000" dirty="0" smtClean="0">
                <a:solidFill>
                  <a:srgbClr val="00B0F0"/>
                </a:solidFill>
              </a:rPr>
              <a:t> and Immunity: </a:t>
            </a:r>
          </a:p>
          <a:p>
            <a:pPr algn="just"/>
            <a:r>
              <a:rPr lang="en-IN" sz="2000" dirty="0" smtClean="0">
                <a:solidFill>
                  <a:schemeClr val="tx1"/>
                </a:solidFill>
              </a:rPr>
              <a:t>Example: Antibodies defend against pathogens by recognizing and neutralizing foreign substances. </a:t>
            </a:r>
          </a:p>
          <a:p>
            <a:pPr algn="just"/>
            <a:r>
              <a:rPr lang="en-IN" sz="2000" dirty="0" smtClean="0">
                <a:solidFill>
                  <a:srgbClr val="00B0F0"/>
                </a:solidFill>
              </a:rPr>
              <a:t>5. Cell </a:t>
            </a:r>
            <a:r>
              <a:rPr lang="en-IN" sz="2000" dirty="0" err="1" smtClean="0">
                <a:solidFill>
                  <a:srgbClr val="00B0F0"/>
                </a:solidFill>
              </a:rPr>
              <a:t>Signaling</a:t>
            </a:r>
            <a:r>
              <a:rPr lang="en-IN" sz="2000" dirty="0" smtClean="0">
                <a:solidFill>
                  <a:srgbClr val="00B0F0"/>
                </a:solidFill>
              </a:rPr>
              <a:t>: </a:t>
            </a:r>
          </a:p>
          <a:p>
            <a:pPr algn="just"/>
            <a:r>
              <a:rPr lang="en-IN" sz="2000" dirty="0" smtClean="0">
                <a:solidFill>
                  <a:schemeClr val="tx1"/>
                </a:solidFill>
              </a:rPr>
              <a:t>Example: Insulin is a </a:t>
            </a:r>
            <a:r>
              <a:rPr lang="en-IN" sz="2000" dirty="0" err="1" smtClean="0">
                <a:solidFill>
                  <a:schemeClr val="tx1"/>
                </a:solidFill>
              </a:rPr>
              <a:t>signaling</a:t>
            </a:r>
            <a:r>
              <a:rPr lang="en-IN" sz="2000" dirty="0" smtClean="0">
                <a:solidFill>
                  <a:schemeClr val="tx1"/>
                </a:solidFill>
              </a:rPr>
              <a:t> protein that regulates glucose uptake by cells. </a:t>
            </a:r>
          </a:p>
          <a:p>
            <a:pPr algn="just"/>
            <a:r>
              <a:rPr lang="en-IN" sz="2000" dirty="0" smtClean="0">
                <a:solidFill>
                  <a:srgbClr val="00B0F0"/>
                </a:solidFill>
              </a:rPr>
              <a:t>6. Motion and Contraction: </a:t>
            </a:r>
          </a:p>
          <a:p>
            <a:pPr algn="just"/>
            <a:r>
              <a:rPr lang="en-IN" sz="2000" dirty="0" smtClean="0"/>
              <a:t> </a:t>
            </a:r>
            <a:r>
              <a:rPr lang="en-IN" sz="2000" dirty="0" smtClean="0">
                <a:solidFill>
                  <a:schemeClr val="tx1"/>
                </a:solidFill>
              </a:rPr>
              <a:t>Example: </a:t>
            </a:r>
            <a:r>
              <a:rPr lang="en-IN" sz="2000" dirty="0" err="1" smtClean="0">
                <a:solidFill>
                  <a:schemeClr val="tx1"/>
                </a:solidFill>
              </a:rPr>
              <a:t>Actin</a:t>
            </a:r>
            <a:r>
              <a:rPr lang="en-IN" sz="2000" dirty="0" smtClean="0">
                <a:solidFill>
                  <a:schemeClr val="tx1"/>
                </a:solidFill>
              </a:rPr>
              <a:t> and myosin are proteins involved in muscle contraction and cell movement. </a:t>
            </a:r>
            <a:endParaRPr lang="en-IN" sz="2000"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14291"/>
            <a:ext cx="7772400" cy="428628"/>
          </a:xfrm>
        </p:spPr>
        <p:txBody>
          <a:bodyPr>
            <a:noAutofit/>
          </a:bodyPr>
          <a:lstStyle/>
          <a:p>
            <a:pPr algn="just"/>
            <a:r>
              <a:rPr lang="en-IN" sz="2000" dirty="0" smtClean="0">
                <a:solidFill>
                  <a:srgbClr val="00B0F0"/>
                </a:solidFill>
              </a:rPr>
              <a:t>7. Hormonal Regulation:</a:t>
            </a:r>
            <a:endParaRPr lang="en-IN" sz="2000" dirty="0">
              <a:solidFill>
                <a:srgbClr val="00B0F0"/>
              </a:solidFill>
            </a:endParaRPr>
          </a:p>
        </p:txBody>
      </p:sp>
      <p:sp>
        <p:nvSpPr>
          <p:cNvPr id="3" name="Subtitle 2"/>
          <p:cNvSpPr>
            <a:spLocks noGrp="1"/>
          </p:cNvSpPr>
          <p:nvPr>
            <p:ph type="subTitle" idx="1"/>
          </p:nvPr>
        </p:nvSpPr>
        <p:spPr>
          <a:xfrm>
            <a:off x="214282" y="571480"/>
            <a:ext cx="8715436" cy="6286520"/>
          </a:xfrm>
        </p:spPr>
        <p:txBody>
          <a:bodyPr>
            <a:normAutofit lnSpcReduction="10000"/>
          </a:bodyPr>
          <a:lstStyle/>
          <a:p>
            <a:pPr algn="just"/>
            <a:r>
              <a:rPr lang="en-IN" sz="2000" dirty="0" smtClean="0"/>
              <a:t> </a:t>
            </a:r>
            <a:r>
              <a:rPr lang="en-IN" sz="2000" dirty="0" smtClean="0">
                <a:solidFill>
                  <a:schemeClr val="tx1"/>
                </a:solidFill>
              </a:rPr>
              <a:t>Example: Insulin and glucagon are hormones that regulate blood sugar levels.</a:t>
            </a:r>
          </a:p>
          <a:p>
            <a:pPr algn="just"/>
            <a:r>
              <a:rPr lang="en-IN" sz="2000" dirty="0" smtClean="0"/>
              <a:t> </a:t>
            </a:r>
            <a:r>
              <a:rPr lang="en-IN" sz="2000" dirty="0" smtClean="0">
                <a:solidFill>
                  <a:srgbClr val="00B0F0"/>
                </a:solidFill>
              </a:rPr>
              <a:t>8. Storage of Molecules: </a:t>
            </a:r>
          </a:p>
          <a:p>
            <a:pPr algn="just"/>
            <a:r>
              <a:rPr lang="en-IN" sz="2000" dirty="0" smtClean="0"/>
              <a:t> </a:t>
            </a:r>
            <a:r>
              <a:rPr lang="en-IN" sz="2000" dirty="0" smtClean="0">
                <a:solidFill>
                  <a:schemeClr val="tx1"/>
                </a:solidFill>
              </a:rPr>
              <a:t>Example: </a:t>
            </a:r>
            <a:r>
              <a:rPr lang="en-IN" sz="2000" dirty="0" err="1" smtClean="0">
                <a:solidFill>
                  <a:schemeClr val="tx1"/>
                </a:solidFill>
              </a:rPr>
              <a:t>Ferritin</a:t>
            </a:r>
            <a:r>
              <a:rPr lang="en-IN" sz="2000" dirty="0" smtClean="0">
                <a:solidFill>
                  <a:schemeClr val="tx1"/>
                </a:solidFill>
              </a:rPr>
              <a:t> stores iron in a soluble and non-toxic form in cells.</a:t>
            </a:r>
          </a:p>
          <a:p>
            <a:pPr algn="just"/>
            <a:r>
              <a:rPr lang="en-IN" sz="2000" dirty="0" smtClean="0"/>
              <a:t> </a:t>
            </a:r>
            <a:r>
              <a:rPr lang="en-IN" sz="2000" dirty="0" smtClean="0">
                <a:solidFill>
                  <a:srgbClr val="00B0F0"/>
                </a:solidFill>
              </a:rPr>
              <a:t>9. Catalysis of Metabolic Reactions: </a:t>
            </a:r>
          </a:p>
          <a:p>
            <a:pPr algn="just"/>
            <a:r>
              <a:rPr lang="en-IN" sz="2000" dirty="0" smtClean="0"/>
              <a:t> </a:t>
            </a:r>
            <a:r>
              <a:rPr lang="en-IN" sz="2000" dirty="0" smtClean="0">
                <a:solidFill>
                  <a:schemeClr val="tx1"/>
                </a:solidFill>
              </a:rPr>
              <a:t>Example: Lipase is an enzyme that catalyzes the breakdown of lipids during digestion. </a:t>
            </a:r>
          </a:p>
          <a:p>
            <a:pPr algn="just"/>
            <a:r>
              <a:rPr lang="en-IN" sz="2000" dirty="0" smtClean="0">
                <a:solidFill>
                  <a:srgbClr val="00B0F0"/>
                </a:solidFill>
              </a:rPr>
              <a:t>10. Regulation of Gene Expression: </a:t>
            </a:r>
          </a:p>
          <a:p>
            <a:pPr algn="just"/>
            <a:r>
              <a:rPr lang="en-IN" sz="2000" dirty="0" smtClean="0"/>
              <a:t> </a:t>
            </a:r>
            <a:r>
              <a:rPr lang="en-IN" sz="2000" dirty="0" smtClean="0">
                <a:solidFill>
                  <a:schemeClr val="tx1"/>
                </a:solidFill>
              </a:rPr>
              <a:t>Example: Transcription factors regulate the expression of genes during protein synthesis. </a:t>
            </a:r>
          </a:p>
          <a:p>
            <a:pPr algn="just"/>
            <a:r>
              <a:rPr lang="en-IN" sz="2000" dirty="0" smtClean="0">
                <a:solidFill>
                  <a:srgbClr val="00B0F0"/>
                </a:solidFill>
              </a:rPr>
              <a:t>11. Sensory Response: </a:t>
            </a:r>
          </a:p>
          <a:p>
            <a:pPr algn="just"/>
            <a:r>
              <a:rPr lang="en-IN" sz="2000" dirty="0" smtClean="0">
                <a:solidFill>
                  <a:schemeClr val="tx1"/>
                </a:solidFill>
              </a:rPr>
              <a:t> Example: </a:t>
            </a:r>
            <a:r>
              <a:rPr lang="en-IN" sz="2000" dirty="0" err="1" smtClean="0">
                <a:solidFill>
                  <a:schemeClr val="tx1"/>
                </a:solidFill>
              </a:rPr>
              <a:t>Rhodopsin</a:t>
            </a:r>
            <a:r>
              <a:rPr lang="en-IN" sz="2000" dirty="0" smtClean="0">
                <a:solidFill>
                  <a:schemeClr val="tx1"/>
                </a:solidFill>
              </a:rPr>
              <a:t> is a light-sensitive protein involved in vision. </a:t>
            </a:r>
          </a:p>
          <a:p>
            <a:pPr algn="just"/>
            <a:r>
              <a:rPr lang="en-IN" sz="2000" dirty="0" smtClean="0">
                <a:solidFill>
                  <a:srgbClr val="00B0F0"/>
                </a:solidFill>
              </a:rPr>
              <a:t>12. Blood Clotting: </a:t>
            </a:r>
          </a:p>
          <a:p>
            <a:pPr algn="just"/>
            <a:r>
              <a:rPr lang="en-IN" sz="2000" dirty="0" smtClean="0">
                <a:solidFill>
                  <a:schemeClr val="tx1"/>
                </a:solidFill>
              </a:rPr>
              <a:t>Example: Fibrinogen is a protein involved in the blood clotting cascade.</a:t>
            </a:r>
          </a:p>
          <a:p>
            <a:pPr algn="just"/>
            <a:r>
              <a:rPr lang="en-IN" sz="2000" dirty="0" smtClean="0">
                <a:solidFill>
                  <a:srgbClr val="00B0F0"/>
                </a:solidFill>
              </a:rPr>
              <a:t> 13. Buffering and pH Regulation: </a:t>
            </a:r>
          </a:p>
          <a:p>
            <a:pPr algn="just"/>
            <a:r>
              <a:rPr lang="en-IN" sz="2000" dirty="0" smtClean="0">
                <a:solidFill>
                  <a:schemeClr val="tx1"/>
                </a:solidFill>
              </a:rPr>
              <a:t>Example: </a:t>
            </a:r>
            <a:r>
              <a:rPr lang="en-IN" sz="2000" dirty="0" err="1" smtClean="0">
                <a:solidFill>
                  <a:schemeClr val="tx1"/>
                </a:solidFill>
              </a:rPr>
              <a:t>Hemoglobin</a:t>
            </a:r>
            <a:r>
              <a:rPr lang="en-IN" sz="2000" dirty="0" smtClean="0">
                <a:solidFill>
                  <a:schemeClr val="tx1"/>
                </a:solidFill>
              </a:rPr>
              <a:t> helps maintain the pH balance in red blood cells. </a:t>
            </a:r>
          </a:p>
          <a:p>
            <a:pPr algn="just"/>
            <a:r>
              <a:rPr lang="en-IN" sz="2000" dirty="0" smtClean="0">
                <a:solidFill>
                  <a:srgbClr val="00B0F0"/>
                </a:solidFill>
              </a:rPr>
              <a:t>14. Energy Source: </a:t>
            </a:r>
          </a:p>
          <a:p>
            <a:pPr algn="just"/>
            <a:r>
              <a:rPr lang="en-IN" sz="2000" dirty="0" smtClean="0">
                <a:solidFill>
                  <a:schemeClr val="tx1"/>
                </a:solidFill>
              </a:rPr>
              <a:t>Example: In starvation, proteins can be broken down into amino acids for energy production.</a:t>
            </a:r>
            <a:endParaRPr lang="en-IN" sz="2000"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14290"/>
            <a:ext cx="7772400" cy="571503"/>
          </a:xfrm>
        </p:spPr>
        <p:txBody>
          <a:bodyPr>
            <a:normAutofit/>
          </a:bodyPr>
          <a:lstStyle/>
          <a:p>
            <a:pPr algn="just"/>
            <a:r>
              <a:rPr lang="en-IN" sz="2400" dirty="0" smtClean="0">
                <a:solidFill>
                  <a:srgbClr val="FF0000"/>
                </a:solidFill>
              </a:rPr>
              <a:t>Properties of Lipids</a:t>
            </a:r>
            <a:endParaRPr lang="en-IN" sz="2400" dirty="0">
              <a:solidFill>
                <a:srgbClr val="FF0000"/>
              </a:solidFill>
            </a:endParaRPr>
          </a:p>
        </p:txBody>
      </p:sp>
      <p:sp>
        <p:nvSpPr>
          <p:cNvPr id="3" name="Subtitle 2"/>
          <p:cNvSpPr>
            <a:spLocks noGrp="1"/>
          </p:cNvSpPr>
          <p:nvPr>
            <p:ph type="subTitle" idx="1"/>
          </p:nvPr>
        </p:nvSpPr>
        <p:spPr>
          <a:xfrm>
            <a:off x="285720" y="714356"/>
            <a:ext cx="8643998" cy="5786478"/>
          </a:xfrm>
        </p:spPr>
        <p:txBody>
          <a:bodyPr>
            <a:normAutofit fontScale="92500" lnSpcReduction="10000"/>
          </a:bodyPr>
          <a:lstStyle/>
          <a:p>
            <a:pPr algn="just"/>
            <a:r>
              <a:rPr lang="en-IN" sz="2400" dirty="0" smtClean="0">
                <a:solidFill>
                  <a:srgbClr val="00B0F0"/>
                </a:solidFill>
              </a:rPr>
              <a:t>1.Hydrophobicity</a:t>
            </a:r>
          </a:p>
          <a:p>
            <a:pPr algn="just"/>
            <a:r>
              <a:rPr lang="en-IN" sz="2400" dirty="0" smtClean="0">
                <a:solidFill>
                  <a:schemeClr val="tx1"/>
                </a:solidFill>
              </a:rPr>
              <a:t>Lipids are characterized by their hydrophobic nature, meaning they are insoluble in water but soluble in </a:t>
            </a:r>
            <a:r>
              <a:rPr lang="en-IN" sz="2400" dirty="0" err="1" smtClean="0">
                <a:solidFill>
                  <a:schemeClr val="tx1"/>
                </a:solidFill>
              </a:rPr>
              <a:t>nonpolar</a:t>
            </a:r>
            <a:r>
              <a:rPr lang="en-IN" sz="2400" dirty="0" smtClean="0">
                <a:solidFill>
                  <a:schemeClr val="tx1"/>
                </a:solidFill>
              </a:rPr>
              <a:t> solvents such as chloroform, ether, or benzene. This property arises from the </a:t>
            </a:r>
            <a:r>
              <a:rPr lang="en-IN" sz="2400" dirty="0" err="1" smtClean="0">
                <a:solidFill>
                  <a:schemeClr val="tx1"/>
                </a:solidFill>
              </a:rPr>
              <a:t>nonpolar</a:t>
            </a:r>
            <a:r>
              <a:rPr lang="en-IN" sz="2400" dirty="0" smtClean="0">
                <a:solidFill>
                  <a:schemeClr val="tx1"/>
                </a:solidFill>
              </a:rPr>
              <a:t> hydrocarbon chains of fatty acids and the hydrophobic regions of other lipid molecules, making them inherently </a:t>
            </a:r>
            <a:r>
              <a:rPr lang="en-IN" sz="2400" dirty="0" err="1" smtClean="0">
                <a:solidFill>
                  <a:schemeClr val="tx1"/>
                </a:solidFill>
              </a:rPr>
              <a:t>repellant</a:t>
            </a:r>
            <a:r>
              <a:rPr lang="en-IN" sz="2400" dirty="0" smtClean="0">
                <a:solidFill>
                  <a:schemeClr val="tx1"/>
                </a:solidFill>
              </a:rPr>
              <a:t> to water molecular.</a:t>
            </a:r>
          </a:p>
          <a:p>
            <a:pPr algn="just"/>
            <a:r>
              <a:rPr lang="en-IN" sz="2400" dirty="0" smtClean="0">
                <a:solidFill>
                  <a:srgbClr val="00B0F0"/>
                </a:solidFill>
              </a:rPr>
              <a:t>2.</a:t>
            </a:r>
            <a:r>
              <a:rPr lang="en-IN" sz="2400" dirty="0" smtClean="0"/>
              <a:t> </a:t>
            </a:r>
            <a:r>
              <a:rPr lang="en-IN" sz="2400" dirty="0" smtClean="0">
                <a:solidFill>
                  <a:srgbClr val="00B0F0"/>
                </a:solidFill>
              </a:rPr>
              <a:t>Structural Diversity</a:t>
            </a:r>
          </a:p>
          <a:p>
            <a:pPr algn="just"/>
            <a:r>
              <a:rPr lang="en-IN" sz="2400" dirty="0" smtClean="0">
                <a:solidFill>
                  <a:schemeClr val="tx1"/>
                </a:solidFill>
              </a:rPr>
              <a:t>Common lipid classes include fatty acids, triglycerides, phospholipids, sterols, and </a:t>
            </a:r>
            <a:r>
              <a:rPr lang="en-IN" sz="2400" dirty="0" err="1" smtClean="0">
                <a:solidFill>
                  <a:schemeClr val="tx1"/>
                </a:solidFill>
              </a:rPr>
              <a:t>sphingolipids</a:t>
            </a:r>
            <a:r>
              <a:rPr lang="en-IN" sz="2400" dirty="0" smtClean="0">
                <a:solidFill>
                  <a:schemeClr val="tx1"/>
                </a:solidFill>
              </a:rPr>
              <a:t>, each with unique molecular structures and properties that contribute to their biological functions. </a:t>
            </a:r>
          </a:p>
          <a:p>
            <a:pPr algn="just"/>
            <a:r>
              <a:rPr lang="en-IN" sz="2400" dirty="0" smtClean="0">
                <a:solidFill>
                  <a:srgbClr val="00B0F0"/>
                </a:solidFill>
              </a:rPr>
              <a:t>3.</a:t>
            </a:r>
            <a:r>
              <a:rPr lang="en-IN" sz="2400" dirty="0" smtClean="0"/>
              <a:t> </a:t>
            </a:r>
            <a:r>
              <a:rPr lang="en-IN" sz="2400" dirty="0" err="1" smtClean="0">
                <a:solidFill>
                  <a:srgbClr val="00B0F0"/>
                </a:solidFill>
              </a:rPr>
              <a:t>Amphipathicity</a:t>
            </a:r>
            <a:endParaRPr lang="en-IN" sz="2400" dirty="0" smtClean="0">
              <a:solidFill>
                <a:srgbClr val="00B0F0"/>
              </a:solidFill>
            </a:endParaRPr>
          </a:p>
          <a:p>
            <a:pPr algn="just"/>
            <a:r>
              <a:rPr lang="en-IN" sz="2400" dirty="0" smtClean="0">
                <a:solidFill>
                  <a:schemeClr val="tx1"/>
                </a:solidFill>
              </a:rPr>
              <a:t>Some lipids display </a:t>
            </a:r>
            <a:r>
              <a:rPr lang="en-IN" sz="2400" dirty="0" err="1" smtClean="0">
                <a:solidFill>
                  <a:schemeClr val="tx1"/>
                </a:solidFill>
              </a:rPr>
              <a:t>amphipathic</a:t>
            </a:r>
            <a:r>
              <a:rPr lang="en-IN" sz="2400" dirty="0" smtClean="0">
                <a:solidFill>
                  <a:schemeClr val="tx1"/>
                </a:solidFill>
              </a:rPr>
              <a:t> properties, containing both hydrophilic (water-attracting) and hydrophobic (water-repelling) regions within the same molecule. Phospholipids, for example, have hydrophilic phosphate heads and hydrophobic fatty acid tails, allowing them to form lipid </a:t>
            </a:r>
            <a:r>
              <a:rPr lang="en-IN" sz="2400" dirty="0" err="1" smtClean="0">
                <a:solidFill>
                  <a:schemeClr val="tx1"/>
                </a:solidFill>
              </a:rPr>
              <a:t>bilayers</a:t>
            </a:r>
            <a:r>
              <a:rPr lang="en-IN" sz="2400" dirty="0" smtClean="0">
                <a:solidFill>
                  <a:schemeClr val="tx1"/>
                </a:solidFill>
              </a:rPr>
              <a:t> in aqueous environments such as cell membranes.</a:t>
            </a:r>
            <a:endParaRPr lang="en-IN" sz="2400" dirty="0">
              <a:solidFill>
                <a:schemeClr val="tx1"/>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285729"/>
            <a:ext cx="8715436" cy="571504"/>
          </a:xfrm>
        </p:spPr>
        <p:txBody>
          <a:bodyPr>
            <a:normAutofit/>
          </a:bodyPr>
          <a:lstStyle/>
          <a:p>
            <a:pPr algn="just"/>
            <a:r>
              <a:rPr lang="en-IN" sz="2400" dirty="0" smtClean="0">
                <a:solidFill>
                  <a:srgbClr val="00B0F0"/>
                </a:solidFill>
              </a:rPr>
              <a:t>4.Energy Storage</a:t>
            </a:r>
            <a:endParaRPr lang="en-IN" sz="2400" dirty="0">
              <a:solidFill>
                <a:srgbClr val="00B0F0"/>
              </a:solidFill>
            </a:endParaRPr>
          </a:p>
        </p:txBody>
      </p:sp>
      <p:sp>
        <p:nvSpPr>
          <p:cNvPr id="3" name="Subtitle 2"/>
          <p:cNvSpPr>
            <a:spLocks noGrp="1"/>
          </p:cNvSpPr>
          <p:nvPr>
            <p:ph type="subTitle" idx="1"/>
          </p:nvPr>
        </p:nvSpPr>
        <p:spPr>
          <a:xfrm>
            <a:off x="214282" y="714356"/>
            <a:ext cx="8643998" cy="5572164"/>
          </a:xfrm>
        </p:spPr>
        <p:txBody>
          <a:bodyPr>
            <a:normAutofit/>
          </a:bodyPr>
          <a:lstStyle/>
          <a:p>
            <a:pPr algn="just"/>
            <a:r>
              <a:rPr lang="en-IN" sz="2400" dirty="0" smtClean="0">
                <a:solidFill>
                  <a:schemeClr val="tx1"/>
                </a:solidFill>
              </a:rPr>
              <a:t>Triglycerides, the primary storage form of lipids, accumulate in adipose tissue and can be mobilized and oxidized to generate ATP, providing a long-term reservoir of energy for cellular metabolism and physical activity. </a:t>
            </a:r>
          </a:p>
          <a:p>
            <a:pPr algn="just"/>
            <a:r>
              <a:rPr lang="en-IN" sz="2400" dirty="0" smtClean="0">
                <a:solidFill>
                  <a:srgbClr val="00B0F0"/>
                </a:solidFill>
              </a:rPr>
              <a:t>5.Insulation</a:t>
            </a:r>
          </a:p>
          <a:p>
            <a:pPr algn="just"/>
            <a:r>
              <a:rPr lang="en-IN" sz="2400" dirty="0" smtClean="0">
                <a:solidFill>
                  <a:schemeClr val="tx1"/>
                </a:solidFill>
              </a:rPr>
              <a:t>Lipids act as insulators, helping to maintain body temperature and protect vital organs from temperature fluctuations and mechanical damage. Adipose tissue, composed primarily of fat cells, serves as an insulating layer beneath the skin, providing thermal insulation and cushioning for organs.</a:t>
            </a:r>
          </a:p>
          <a:p>
            <a:pPr algn="just"/>
            <a:r>
              <a:rPr lang="en-IN" sz="2400" dirty="0" smtClean="0">
                <a:solidFill>
                  <a:srgbClr val="00B0F0"/>
                </a:solidFill>
              </a:rPr>
              <a:t>6.Lubrication</a:t>
            </a:r>
          </a:p>
          <a:p>
            <a:pPr algn="just"/>
            <a:r>
              <a:rPr lang="en-IN" sz="2400" dirty="0" smtClean="0">
                <a:solidFill>
                  <a:schemeClr val="tx1"/>
                </a:solidFill>
              </a:rPr>
              <a:t>Lipid-based lubricants coat surfaces, preventing them from drying out and reducing wear and tear caused by friction between tissues, such as in joints or between skin surface.</a:t>
            </a:r>
            <a:endParaRPr lang="en-IN" sz="2400"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1"/>
            <a:ext cx="7772400" cy="428604"/>
          </a:xfrm>
        </p:spPr>
        <p:txBody>
          <a:bodyPr>
            <a:noAutofit/>
          </a:bodyPr>
          <a:lstStyle/>
          <a:p>
            <a:pPr algn="just"/>
            <a:r>
              <a:rPr lang="en-IN" sz="2400" dirty="0" smtClean="0">
                <a:solidFill>
                  <a:srgbClr val="FF0000"/>
                </a:solidFill>
              </a:rPr>
              <a:t>Functions of Lipids</a:t>
            </a:r>
            <a:endParaRPr lang="en-IN" sz="2400" dirty="0">
              <a:solidFill>
                <a:srgbClr val="FF0000"/>
              </a:solidFill>
            </a:endParaRPr>
          </a:p>
        </p:txBody>
      </p:sp>
      <p:sp>
        <p:nvSpPr>
          <p:cNvPr id="3" name="Subtitle 2"/>
          <p:cNvSpPr>
            <a:spLocks noGrp="1"/>
          </p:cNvSpPr>
          <p:nvPr>
            <p:ph type="subTitle" idx="1"/>
          </p:nvPr>
        </p:nvSpPr>
        <p:spPr>
          <a:xfrm>
            <a:off x="0" y="428604"/>
            <a:ext cx="9144000" cy="6429396"/>
          </a:xfrm>
        </p:spPr>
        <p:txBody>
          <a:bodyPr>
            <a:noAutofit/>
          </a:bodyPr>
          <a:lstStyle/>
          <a:p>
            <a:pPr algn="just"/>
            <a:r>
              <a:rPr lang="en-IN" sz="2200" dirty="0" smtClean="0">
                <a:solidFill>
                  <a:srgbClr val="00B0F0"/>
                </a:solidFill>
              </a:rPr>
              <a:t>1.Energy Storage </a:t>
            </a:r>
          </a:p>
          <a:p>
            <a:pPr algn="just"/>
            <a:r>
              <a:rPr lang="en-IN" sz="2200" dirty="0" smtClean="0">
                <a:solidFill>
                  <a:schemeClr val="tx1"/>
                </a:solidFill>
              </a:rPr>
              <a:t>Lipids serve as a concentrated energy reserve in the body, providing more than twice the energy per gram compared to carbohydrates or proteins. Triglycerides, the most common form of dietary fat, are stored in adipose tissue and can be mobilized and oxidized to generate ATP, the primary energy currency of cells</a:t>
            </a:r>
            <a:r>
              <a:rPr lang="en-IN" sz="2200" dirty="0" smtClean="0"/>
              <a:t>. </a:t>
            </a:r>
          </a:p>
          <a:p>
            <a:pPr algn="just"/>
            <a:r>
              <a:rPr lang="en-IN" sz="2200" dirty="0" smtClean="0">
                <a:solidFill>
                  <a:srgbClr val="00B0F0"/>
                </a:solidFill>
              </a:rPr>
              <a:t>2.Structural Role </a:t>
            </a:r>
          </a:p>
          <a:p>
            <a:pPr algn="just"/>
            <a:r>
              <a:rPr lang="en-IN" sz="2200" dirty="0" smtClean="0">
                <a:solidFill>
                  <a:schemeClr val="tx1"/>
                </a:solidFill>
              </a:rPr>
              <a:t>Lipids contribute to the structural integrity of cell membranes, forming a lipid </a:t>
            </a:r>
            <a:r>
              <a:rPr lang="en-IN" sz="2200" dirty="0" err="1" smtClean="0">
                <a:solidFill>
                  <a:schemeClr val="tx1"/>
                </a:solidFill>
              </a:rPr>
              <a:t>bilayer</a:t>
            </a:r>
            <a:r>
              <a:rPr lang="en-IN" sz="2200" dirty="0" smtClean="0">
                <a:solidFill>
                  <a:schemeClr val="tx1"/>
                </a:solidFill>
              </a:rPr>
              <a:t> that encloses and protects the contents of cells. Phospholipids, cholesterol, and </a:t>
            </a:r>
            <a:r>
              <a:rPr lang="en-IN" sz="2200" dirty="0" err="1" smtClean="0">
                <a:solidFill>
                  <a:schemeClr val="tx1"/>
                </a:solidFill>
              </a:rPr>
              <a:t>glycolipids</a:t>
            </a:r>
            <a:r>
              <a:rPr lang="en-IN" sz="2200" dirty="0" smtClean="0">
                <a:solidFill>
                  <a:schemeClr val="tx1"/>
                </a:solidFill>
              </a:rPr>
              <a:t> are key components of cell membranes, regulating membrane fluidity, permeability, and </a:t>
            </a:r>
            <a:r>
              <a:rPr lang="en-IN" sz="2200" dirty="0" err="1" smtClean="0">
                <a:solidFill>
                  <a:schemeClr val="tx1"/>
                </a:solidFill>
              </a:rPr>
              <a:t>signaling</a:t>
            </a:r>
            <a:r>
              <a:rPr lang="en-IN" sz="2200" dirty="0" smtClean="0">
                <a:solidFill>
                  <a:schemeClr val="tx1"/>
                </a:solidFill>
              </a:rPr>
              <a:t> processes essential for cellular function and communication.</a:t>
            </a:r>
          </a:p>
          <a:p>
            <a:pPr algn="just"/>
            <a:r>
              <a:rPr lang="en-IN" sz="2200" dirty="0" smtClean="0">
                <a:solidFill>
                  <a:srgbClr val="00B0F0"/>
                </a:solidFill>
              </a:rPr>
              <a:t>3.Hormone</a:t>
            </a:r>
          </a:p>
          <a:p>
            <a:pPr algn="just"/>
            <a:r>
              <a:rPr lang="en-IN" sz="2200" dirty="0" smtClean="0"/>
              <a:t> </a:t>
            </a:r>
            <a:r>
              <a:rPr lang="en-IN" sz="2200" dirty="0" smtClean="0">
                <a:solidFill>
                  <a:schemeClr val="tx1"/>
                </a:solidFill>
              </a:rPr>
              <a:t>Regulation Lipids play a crucial role in hormone synthesis and regulation, serving as precursors for steroid hormones such as </a:t>
            </a:r>
            <a:r>
              <a:rPr lang="en-IN" sz="2200" dirty="0" err="1" smtClean="0">
                <a:solidFill>
                  <a:schemeClr val="tx1"/>
                </a:solidFill>
              </a:rPr>
              <a:t>estrogen</a:t>
            </a:r>
            <a:r>
              <a:rPr lang="en-IN" sz="2200" dirty="0" smtClean="0">
                <a:solidFill>
                  <a:schemeClr val="tx1"/>
                </a:solidFill>
              </a:rPr>
              <a:t>, testosterone, and </a:t>
            </a:r>
            <a:r>
              <a:rPr lang="en-IN" sz="2200" dirty="0" err="1" smtClean="0">
                <a:solidFill>
                  <a:schemeClr val="tx1"/>
                </a:solidFill>
              </a:rPr>
              <a:t>cortisol</a:t>
            </a:r>
            <a:r>
              <a:rPr lang="en-IN" sz="2200" dirty="0" smtClean="0">
                <a:solidFill>
                  <a:schemeClr val="tx1"/>
                </a:solidFill>
              </a:rPr>
              <a:t>. These hormones regulate various physiological processes, including metabolism, growth, reproduction, and stress responses, exerting widespread effects on the body's functions.</a:t>
            </a:r>
            <a:endParaRPr lang="en-IN" sz="2200" dirty="0">
              <a:solidFill>
                <a:schemeClr val="tx1"/>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1"/>
            <a:ext cx="7915276" cy="714356"/>
          </a:xfrm>
        </p:spPr>
        <p:txBody>
          <a:bodyPr>
            <a:normAutofit/>
          </a:bodyPr>
          <a:lstStyle/>
          <a:p>
            <a:pPr algn="l"/>
            <a:r>
              <a:rPr lang="en-IN" sz="2200" dirty="0" smtClean="0">
                <a:solidFill>
                  <a:srgbClr val="00B0F0"/>
                </a:solidFill>
              </a:rPr>
              <a:t>4.Cell </a:t>
            </a:r>
            <a:r>
              <a:rPr lang="en-IN" sz="2200" dirty="0" err="1" smtClean="0">
                <a:solidFill>
                  <a:srgbClr val="00B0F0"/>
                </a:solidFill>
              </a:rPr>
              <a:t>Signaling</a:t>
            </a:r>
            <a:r>
              <a:rPr lang="en-IN" sz="2200" dirty="0" smtClean="0">
                <a:solidFill>
                  <a:srgbClr val="00B0F0"/>
                </a:solidFill>
              </a:rPr>
              <a:t> </a:t>
            </a:r>
            <a:endParaRPr lang="en-IN" sz="2200" dirty="0">
              <a:solidFill>
                <a:srgbClr val="00B0F0"/>
              </a:solidFill>
            </a:endParaRPr>
          </a:p>
        </p:txBody>
      </p:sp>
      <p:sp>
        <p:nvSpPr>
          <p:cNvPr id="3" name="Subtitle 2"/>
          <p:cNvSpPr>
            <a:spLocks noGrp="1"/>
          </p:cNvSpPr>
          <p:nvPr>
            <p:ph type="subTitle" idx="1"/>
          </p:nvPr>
        </p:nvSpPr>
        <p:spPr>
          <a:xfrm>
            <a:off x="285720" y="500042"/>
            <a:ext cx="8643998" cy="6357958"/>
          </a:xfrm>
        </p:spPr>
        <p:txBody>
          <a:bodyPr>
            <a:normAutofit fontScale="92500" lnSpcReduction="10000"/>
          </a:bodyPr>
          <a:lstStyle/>
          <a:p>
            <a:pPr algn="just"/>
            <a:r>
              <a:rPr lang="en-IN" sz="2400" dirty="0" smtClean="0">
                <a:solidFill>
                  <a:schemeClr val="tx1"/>
                </a:solidFill>
              </a:rPr>
              <a:t>Lipids function as </a:t>
            </a:r>
            <a:r>
              <a:rPr lang="en-IN" sz="2400" dirty="0" err="1" smtClean="0">
                <a:solidFill>
                  <a:schemeClr val="tx1"/>
                </a:solidFill>
              </a:rPr>
              <a:t>signaling</a:t>
            </a:r>
            <a:r>
              <a:rPr lang="en-IN" sz="2400" dirty="0" smtClean="0">
                <a:solidFill>
                  <a:schemeClr val="tx1"/>
                </a:solidFill>
              </a:rPr>
              <a:t> molecules in intercellular communication pathways, modulating cellular responses to environmental cues and stimuli. Lipid-derived </a:t>
            </a:r>
            <a:r>
              <a:rPr lang="en-IN" sz="2400" dirty="0" err="1" smtClean="0">
                <a:solidFill>
                  <a:schemeClr val="tx1"/>
                </a:solidFill>
              </a:rPr>
              <a:t>signaling</a:t>
            </a:r>
            <a:r>
              <a:rPr lang="en-IN" sz="2400" dirty="0" smtClean="0">
                <a:solidFill>
                  <a:schemeClr val="tx1"/>
                </a:solidFill>
              </a:rPr>
              <a:t> molecules, such as prostaglandins, </a:t>
            </a:r>
            <a:r>
              <a:rPr lang="en-IN" sz="2400" dirty="0" err="1" smtClean="0">
                <a:solidFill>
                  <a:schemeClr val="tx1"/>
                </a:solidFill>
              </a:rPr>
              <a:t>leukotrienes</a:t>
            </a:r>
            <a:r>
              <a:rPr lang="en-IN" sz="2400" dirty="0" smtClean="0">
                <a:solidFill>
                  <a:schemeClr val="tx1"/>
                </a:solidFill>
              </a:rPr>
              <a:t>, and </a:t>
            </a:r>
            <a:r>
              <a:rPr lang="en-IN" sz="2400" dirty="0" err="1" smtClean="0">
                <a:solidFill>
                  <a:schemeClr val="tx1"/>
                </a:solidFill>
              </a:rPr>
              <a:t>sphingolipids</a:t>
            </a:r>
            <a:r>
              <a:rPr lang="en-IN" sz="2400" dirty="0" smtClean="0">
                <a:solidFill>
                  <a:schemeClr val="tx1"/>
                </a:solidFill>
              </a:rPr>
              <a:t>, mediate inflammatory responses, immune function, and neuronal </a:t>
            </a:r>
            <a:r>
              <a:rPr lang="en-IN" sz="2400" dirty="0" err="1" smtClean="0">
                <a:solidFill>
                  <a:schemeClr val="tx1"/>
                </a:solidFill>
              </a:rPr>
              <a:t>signaling</a:t>
            </a:r>
            <a:r>
              <a:rPr lang="en-IN" sz="2400" dirty="0" smtClean="0">
                <a:solidFill>
                  <a:schemeClr val="tx1"/>
                </a:solidFill>
              </a:rPr>
              <a:t>, influencing diverse physiological processes.</a:t>
            </a:r>
          </a:p>
          <a:p>
            <a:pPr algn="just"/>
            <a:r>
              <a:rPr lang="en-IN" sz="2400" dirty="0" smtClean="0">
                <a:solidFill>
                  <a:srgbClr val="00B0F0"/>
                </a:solidFill>
              </a:rPr>
              <a:t>5.Absorption of Nutrients </a:t>
            </a:r>
          </a:p>
          <a:p>
            <a:pPr algn="just"/>
            <a:r>
              <a:rPr lang="en-IN" sz="2400" dirty="0" smtClean="0">
                <a:solidFill>
                  <a:schemeClr val="tx1"/>
                </a:solidFill>
              </a:rPr>
              <a:t>Lipids facilitate the absorption and transport of fat-soluble vitamins (A, D, E, and K) and other hydrophobic nutrients in the digestive system. Bile acids and lipases emulsify and break down dietary fats into absorbable forms, allowing for the For preliminary reference efficient uptake of essential nutrients across the intestinal epithelium and into the bloodstream.</a:t>
            </a:r>
          </a:p>
          <a:p>
            <a:pPr algn="just"/>
            <a:r>
              <a:rPr lang="en-IN" sz="2400" dirty="0" smtClean="0">
                <a:solidFill>
                  <a:srgbClr val="00B0F0"/>
                </a:solidFill>
              </a:rPr>
              <a:t>6.Insulation</a:t>
            </a:r>
          </a:p>
          <a:p>
            <a:pPr algn="just"/>
            <a:r>
              <a:rPr lang="en-IN" sz="2400" dirty="0" smtClean="0">
                <a:solidFill>
                  <a:schemeClr val="tx1"/>
                </a:solidFill>
              </a:rPr>
              <a:t>Lipids act as insulators, helping to maintain body temperature and protect vital organs from temperature fluctuations and mechanical damage. Adipose tissue, composed primarily of fat cells, serves as an insulating layer beneath the skin, providing thermal insulation and cushioning for organs.</a:t>
            </a:r>
          </a:p>
          <a:p>
            <a:pPr algn="just"/>
            <a:endParaRPr lang="en-IN" sz="2400" dirty="0" smtClean="0">
              <a:solidFill>
                <a:srgbClr val="00B0F0"/>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0"/>
            <a:ext cx="7772400" cy="714357"/>
          </a:xfrm>
        </p:spPr>
        <p:txBody>
          <a:bodyPr>
            <a:normAutofit fontScale="90000"/>
          </a:bodyPr>
          <a:lstStyle/>
          <a:p>
            <a:pPr algn="just"/>
            <a:r>
              <a:rPr lang="en-IN" sz="3100" dirty="0" smtClean="0">
                <a:solidFill>
                  <a:srgbClr val="FF0000"/>
                </a:solidFill>
              </a:rPr>
              <a:t>ENZYMES</a:t>
            </a:r>
            <a:r>
              <a:rPr lang="en-IN" dirty="0" smtClean="0"/>
              <a:t> </a:t>
            </a:r>
            <a:endParaRPr lang="en-IN" dirty="0"/>
          </a:p>
        </p:txBody>
      </p:sp>
      <p:sp>
        <p:nvSpPr>
          <p:cNvPr id="3" name="Subtitle 2"/>
          <p:cNvSpPr>
            <a:spLocks noGrp="1"/>
          </p:cNvSpPr>
          <p:nvPr>
            <p:ph type="subTitle" idx="1"/>
          </p:nvPr>
        </p:nvSpPr>
        <p:spPr>
          <a:xfrm>
            <a:off x="285720" y="571480"/>
            <a:ext cx="8572560" cy="6072230"/>
          </a:xfrm>
        </p:spPr>
        <p:txBody>
          <a:bodyPr>
            <a:normAutofit lnSpcReduction="10000"/>
          </a:bodyPr>
          <a:lstStyle/>
          <a:p>
            <a:pPr algn="just"/>
            <a:r>
              <a:rPr lang="en-IN" sz="2400" dirty="0" smtClean="0">
                <a:solidFill>
                  <a:schemeClr val="tx1"/>
                </a:solidFill>
              </a:rPr>
              <a:t>Enzymes are biological catalysts that accelerate biochemical reactions by lowering the activation energy required for the conversion of substrates into products. They are classified into six main classes based on the type of reaction they catalyze and the nature of their substrates.</a:t>
            </a:r>
          </a:p>
          <a:p>
            <a:pPr algn="just"/>
            <a:r>
              <a:rPr lang="en-IN" sz="2400" dirty="0" smtClean="0">
                <a:solidFill>
                  <a:schemeClr val="tx1"/>
                </a:solidFill>
              </a:rPr>
              <a:t>Such as </a:t>
            </a:r>
            <a:r>
              <a:rPr lang="en-IN" sz="2400" dirty="0" err="1" smtClean="0">
                <a:solidFill>
                  <a:schemeClr val="tx1"/>
                </a:solidFill>
              </a:rPr>
              <a:t>Oxidoreductases</a:t>
            </a:r>
            <a:r>
              <a:rPr lang="en-IN" sz="2400" dirty="0" smtClean="0">
                <a:solidFill>
                  <a:schemeClr val="tx1"/>
                </a:solidFill>
              </a:rPr>
              <a:t>, </a:t>
            </a:r>
            <a:r>
              <a:rPr lang="en-IN" sz="2400" dirty="0" err="1" smtClean="0">
                <a:solidFill>
                  <a:schemeClr val="tx1"/>
                </a:solidFill>
              </a:rPr>
              <a:t>Transferases</a:t>
            </a:r>
            <a:r>
              <a:rPr lang="en-IN" sz="2400" dirty="0" smtClean="0">
                <a:solidFill>
                  <a:schemeClr val="tx1"/>
                </a:solidFill>
              </a:rPr>
              <a:t>, </a:t>
            </a:r>
            <a:r>
              <a:rPr lang="en-IN" sz="2400" dirty="0" err="1" smtClean="0">
                <a:solidFill>
                  <a:schemeClr val="tx1"/>
                </a:solidFill>
              </a:rPr>
              <a:t>Hydrolases</a:t>
            </a:r>
            <a:r>
              <a:rPr lang="en-IN" sz="2400" dirty="0" smtClean="0">
                <a:solidFill>
                  <a:schemeClr val="tx1"/>
                </a:solidFill>
              </a:rPr>
              <a:t>, </a:t>
            </a:r>
            <a:r>
              <a:rPr lang="en-IN" sz="2400" dirty="0" err="1" smtClean="0">
                <a:solidFill>
                  <a:schemeClr val="tx1"/>
                </a:solidFill>
              </a:rPr>
              <a:t>Lyases</a:t>
            </a:r>
            <a:r>
              <a:rPr lang="en-IN" sz="2400" dirty="0" smtClean="0">
                <a:solidFill>
                  <a:schemeClr val="tx1"/>
                </a:solidFill>
              </a:rPr>
              <a:t> , </a:t>
            </a:r>
            <a:r>
              <a:rPr lang="en-IN" sz="2400" dirty="0" err="1" smtClean="0">
                <a:solidFill>
                  <a:schemeClr val="tx1"/>
                </a:solidFill>
              </a:rPr>
              <a:t>Isomerases</a:t>
            </a:r>
            <a:r>
              <a:rPr lang="en-IN" sz="2400" dirty="0" smtClean="0">
                <a:solidFill>
                  <a:schemeClr val="tx1"/>
                </a:solidFill>
              </a:rPr>
              <a:t> , </a:t>
            </a:r>
            <a:r>
              <a:rPr lang="en-IN" sz="2400" dirty="0" err="1" smtClean="0">
                <a:solidFill>
                  <a:schemeClr val="tx1"/>
                </a:solidFill>
              </a:rPr>
              <a:t>Ligases</a:t>
            </a:r>
            <a:r>
              <a:rPr lang="en-IN" sz="2400" dirty="0" smtClean="0">
                <a:solidFill>
                  <a:schemeClr val="tx1"/>
                </a:solidFill>
              </a:rPr>
              <a:t>, </a:t>
            </a:r>
          </a:p>
          <a:p>
            <a:pPr algn="just"/>
            <a:r>
              <a:rPr lang="en-IN" sz="2400" dirty="0" smtClean="0">
                <a:solidFill>
                  <a:srgbClr val="FF0000"/>
                </a:solidFill>
              </a:rPr>
              <a:t>Classification of enzymes</a:t>
            </a:r>
          </a:p>
          <a:p>
            <a:pPr algn="just"/>
            <a:r>
              <a:rPr lang="en-IN" sz="2400" dirty="0" err="1" smtClean="0">
                <a:solidFill>
                  <a:srgbClr val="00B0F0"/>
                </a:solidFill>
              </a:rPr>
              <a:t>Oxidoreductases</a:t>
            </a:r>
            <a:r>
              <a:rPr lang="en-IN" sz="2400" dirty="0" smtClean="0"/>
              <a:t>- </a:t>
            </a:r>
            <a:r>
              <a:rPr lang="en-IN" sz="2400" dirty="0" err="1" smtClean="0">
                <a:solidFill>
                  <a:schemeClr val="tx1"/>
                </a:solidFill>
              </a:rPr>
              <a:t>Oxidoreductases</a:t>
            </a:r>
            <a:r>
              <a:rPr lang="en-IN" sz="2400" dirty="0" smtClean="0">
                <a:solidFill>
                  <a:schemeClr val="tx1"/>
                </a:solidFill>
              </a:rPr>
              <a:t> catalyze oxidation-reduction reactions, involving the transfer of electrons between substrates. These enzymes typically utilize cofactors such as NAD+ or FAD as electron carriers.</a:t>
            </a:r>
          </a:p>
          <a:p>
            <a:pPr algn="just"/>
            <a:r>
              <a:rPr lang="en-IN" sz="2400" dirty="0" err="1" smtClean="0">
                <a:solidFill>
                  <a:srgbClr val="00B0F0"/>
                </a:solidFill>
              </a:rPr>
              <a:t>Transferases</a:t>
            </a:r>
            <a:r>
              <a:rPr lang="en-IN" sz="2400" dirty="0" smtClean="0"/>
              <a:t>- </a:t>
            </a:r>
            <a:r>
              <a:rPr lang="en-IN" sz="2400" dirty="0" err="1" smtClean="0">
                <a:solidFill>
                  <a:schemeClr val="tx1"/>
                </a:solidFill>
              </a:rPr>
              <a:t>Transferases</a:t>
            </a:r>
            <a:r>
              <a:rPr lang="en-IN" sz="2400" dirty="0" smtClean="0">
                <a:solidFill>
                  <a:schemeClr val="tx1"/>
                </a:solidFill>
              </a:rPr>
              <a:t> facilitate the transfer of functional groups, such as methyl, acetyl, or phosphate groups, between substrates. These enzymes play essential roles in metabolic pathways and signal transduction.</a:t>
            </a:r>
          </a:p>
          <a:p>
            <a:pPr algn="just"/>
            <a:endParaRPr lang="en-IN"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8129558" cy="500042"/>
          </a:xfrm>
        </p:spPr>
        <p:txBody>
          <a:bodyPr>
            <a:normAutofit/>
          </a:bodyPr>
          <a:lstStyle/>
          <a:p>
            <a:pPr algn="just"/>
            <a:r>
              <a:rPr lang="en-IN" sz="2400" dirty="0" err="1" smtClean="0">
                <a:solidFill>
                  <a:srgbClr val="00B0F0"/>
                </a:solidFill>
              </a:rPr>
              <a:t>Hydrolases</a:t>
            </a:r>
            <a:endParaRPr lang="en-IN" sz="2400" dirty="0">
              <a:solidFill>
                <a:srgbClr val="00B0F0"/>
              </a:solidFill>
            </a:endParaRPr>
          </a:p>
        </p:txBody>
      </p:sp>
      <p:sp>
        <p:nvSpPr>
          <p:cNvPr id="3" name="Subtitle 2"/>
          <p:cNvSpPr>
            <a:spLocks noGrp="1"/>
          </p:cNvSpPr>
          <p:nvPr>
            <p:ph type="subTitle" idx="1"/>
          </p:nvPr>
        </p:nvSpPr>
        <p:spPr>
          <a:xfrm>
            <a:off x="0" y="428604"/>
            <a:ext cx="9144000" cy="6215082"/>
          </a:xfrm>
        </p:spPr>
        <p:txBody>
          <a:bodyPr>
            <a:normAutofit lnSpcReduction="10000"/>
          </a:bodyPr>
          <a:lstStyle/>
          <a:p>
            <a:pPr algn="just"/>
            <a:r>
              <a:rPr lang="en-IN" sz="2400" dirty="0" err="1" smtClean="0">
                <a:solidFill>
                  <a:schemeClr val="tx1"/>
                </a:solidFill>
              </a:rPr>
              <a:t>Hydrolases</a:t>
            </a:r>
            <a:r>
              <a:rPr lang="en-IN" sz="2400" dirty="0" smtClean="0">
                <a:solidFill>
                  <a:schemeClr val="tx1"/>
                </a:solidFill>
              </a:rPr>
              <a:t> catalyze hydrolysis reactions, cleaving chemical bonds by adding water molecules. These enzymes are involved in the breakdown of macromolecules such as proteins, carbohydrates, and lipids.</a:t>
            </a:r>
          </a:p>
          <a:p>
            <a:pPr algn="just"/>
            <a:r>
              <a:rPr lang="en-IN" sz="2400" dirty="0" err="1" smtClean="0">
                <a:solidFill>
                  <a:srgbClr val="00B0F0"/>
                </a:solidFill>
              </a:rPr>
              <a:t>Lyases</a:t>
            </a:r>
            <a:endParaRPr lang="en-IN" sz="2400" dirty="0" smtClean="0">
              <a:solidFill>
                <a:srgbClr val="00B0F0"/>
              </a:solidFill>
            </a:endParaRPr>
          </a:p>
          <a:p>
            <a:pPr algn="just"/>
            <a:r>
              <a:rPr lang="en-IN" sz="2400" dirty="0" err="1" smtClean="0">
                <a:solidFill>
                  <a:schemeClr val="tx1"/>
                </a:solidFill>
              </a:rPr>
              <a:t>Lyases</a:t>
            </a:r>
            <a:r>
              <a:rPr lang="en-IN" sz="2400" dirty="0" smtClean="0">
                <a:solidFill>
                  <a:schemeClr val="tx1"/>
                </a:solidFill>
              </a:rPr>
              <a:t> catalyze the addition or removal of groups to double bonds or the cleavage of bonds without hydrolysis or oxidation-reduction. These enzymes participate in diverse metabolic pathways and biosynthesis.</a:t>
            </a:r>
          </a:p>
          <a:p>
            <a:pPr algn="just"/>
            <a:r>
              <a:rPr lang="en-IN" sz="2400" dirty="0" err="1" smtClean="0">
                <a:solidFill>
                  <a:srgbClr val="00B0F0"/>
                </a:solidFill>
              </a:rPr>
              <a:t>Isomerases</a:t>
            </a:r>
            <a:endParaRPr lang="en-IN" sz="2400" dirty="0" smtClean="0">
              <a:solidFill>
                <a:srgbClr val="00B0F0"/>
              </a:solidFill>
            </a:endParaRPr>
          </a:p>
          <a:p>
            <a:pPr algn="just"/>
            <a:r>
              <a:rPr lang="en-IN" sz="2400" dirty="0" err="1" smtClean="0">
                <a:solidFill>
                  <a:schemeClr val="tx1"/>
                </a:solidFill>
              </a:rPr>
              <a:t>Isomerases</a:t>
            </a:r>
            <a:r>
              <a:rPr lang="en-IN" sz="2400" dirty="0" smtClean="0">
                <a:solidFill>
                  <a:schemeClr val="tx1"/>
                </a:solidFill>
              </a:rPr>
              <a:t> catalyze the rearrangement of atoms within a molecule, resulting in the conversion between isomeric forms. These enzymes play crucial roles in maintaining metabolic equilibrium and generating biological diversity.</a:t>
            </a:r>
          </a:p>
          <a:p>
            <a:pPr algn="just"/>
            <a:r>
              <a:rPr lang="en-IN" sz="2400" dirty="0" err="1" smtClean="0">
                <a:solidFill>
                  <a:srgbClr val="00B0F0"/>
                </a:solidFill>
              </a:rPr>
              <a:t>Ligases</a:t>
            </a:r>
            <a:r>
              <a:rPr lang="en-IN" sz="2400" dirty="0" smtClean="0">
                <a:solidFill>
                  <a:srgbClr val="00B0F0"/>
                </a:solidFill>
              </a:rPr>
              <a:t> (</a:t>
            </a:r>
            <a:r>
              <a:rPr lang="en-IN" sz="2400" dirty="0" err="1" smtClean="0">
                <a:solidFill>
                  <a:srgbClr val="00B0F0"/>
                </a:solidFill>
              </a:rPr>
              <a:t>Synthetases</a:t>
            </a:r>
            <a:r>
              <a:rPr lang="en-IN" sz="2400" dirty="0" smtClean="0">
                <a:solidFill>
                  <a:srgbClr val="00B0F0"/>
                </a:solidFill>
              </a:rPr>
              <a:t>)</a:t>
            </a:r>
          </a:p>
          <a:p>
            <a:pPr algn="just"/>
            <a:r>
              <a:rPr lang="en-IN" sz="2400" dirty="0" err="1" smtClean="0">
                <a:solidFill>
                  <a:schemeClr val="tx1"/>
                </a:solidFill>
              </a:rPr>
              <a:t>Ligases</a:t>
            </a:r>
            <a:r>
              <a:rPr lang="en-IN" sz="2400" dirty="0" smtClean="0">
                <a:solidFill>
                  <a:schemeClr val="tx1"/>
                </a:solidFill>
              </a:rPr>
              <a:t>, also known as </a:t>
            </a:r>
            <a:r>
              <a:rPr lang="en-IN" sz="2400" dirty="0" err="1" smtClean="0">
                <a:solidFill>
                  <a:schemeClr val="tx1"/>
                </a:solidFill>
              </a:rPr>
              <a:t>synthetases</a:t>
            </a:r>
            <a:r>
              <a:rPr lang="en-IN" sz="2400" dirty="0" smtClean="0">
                <a:solidFill>
                  <a:schemeClr val="tx1"/>
                </a:solidFill>
              </a:rPr>
              <a:t>, catalyze the formation of bonds between molecules, often using energy from ATP hydrolysis. These enzymes are involved in DNA replication, RNA synthesis, and protein synthesis.</a:t>
            </a:r>
            <a:endParaRPr lang="en-IN" sz="2400" dirty="0">
              <a:solidFill>
                <a:schemeClr val="tx1"/>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1"/>
            <a:ext cx="7772400" cy="500041"/>
          </a:xfrm>
        </p:spPr>
        <p:txBody>
          <a:bodyPr>
            <a:normAutofit fontScale="90000"/>
          </a:bodyPr>
          <a:lstStyle/>
          <a:p>
            <a:r>
              <a:rPr lang="en-IN" sz="2800" dirty="0" smtClean="0">
                <a:solidFill>
                  <a:srgbClr val="FF0000"/>
                </a:solidFill>
              </a:rPr>
              <a:t>Properties of Enzymes</a:t>
            </a:r>
            <a:endParaRPr lang="en-IN" sz="2800" dirty="0">
              <a:solidFill>
                <a:srgbClr val="FF0000"/>
              </a:solidFill>
            </a:endParaRPr>
          </a:p>
        </p:txBody>
      </p:sp>
      <p:sp>
        <p:nvSpPr>
          <p:cNvPr id="3" name="Subtitle 2"/>
          <p:cNvSpPr>
            <a:spLocks noGrp="1"/>
          </p:cNvSpPr>
          <p:nvPr>
            <p:ph type="subTitle" idx="1"/>
          </p:nvPr>
        </p:nvSpPr>
        <p:spPr>
          <a:xfrm>
            <a:off x="0" y="285728"/>
            <a:ext cx="9144000" cy="6572272"/>
          </a:xfrm>
        </p:spPr>
        <p:txBody>
          <a:bodyPr>
            <a:noAutofit/>
          </a:bodyPr>
          <a:lstStyle/>
          <a:p>
            <a:pPr algn="just"/>
            <a:r>
              <a:rPr lang="en-IN" sz="2000" dirty="0" smtClean="0">
                <a:solidFill>
                  <a:srgbClr val="00B0F0"/>
                </a:solidFill>
              </a:rPr>
              <a:t>Specificity</a:t>
            </a:r>
          </a:p>
          <a:p>
            <a:pPr algn="just"/>
            <a:r>
              <a:rPr lang="en-IN" sz="2000" dirty="0" smtClean="0">
                <a:solidFill>
                  <a:schemeClr val="tx1"/>
                </a:solidFill>
              </a:rPr>
              <a:t>Enzymes exhibit specificity in substrate recognition and catalytic activity, interacting with specific substrates to facilitate particular biochemical reactions. This specificity arises from the complementary shapes and chemical properties of the enzyme's active site and the substrate molecule.</a:t>
            </a:r>
          </a:p>
          <a:p>
            <a:pPr algn="just"/>
            <a:r>
              <a:rPr lang="en-IN" sz="2000" dirty="0" smtClean="0">
                <a:solidFill>
                  <a:srgbClr val="00B0F0"/>
                </a:solidFill>
              </a:rPr>
              <a:t>Catalytic</a:t>
            </a:r>
          </a:p>
          <a:p>
            <a:pPr algn="just"/>
            <a:r>
              <a:rPr lang="en-IN" sz="2000" dirty="0" smtClean="0">
                <a:solidFill>
                  <a:schemeClr val="tx1"/>
                </a:solidFill>
              </a:rPr>
              <a:t>Enzymes are catalysts that accelerate biochemical reactions by lowering the activation energy required for the conversion of substrates into products. By stabilizing the transition state of the reaction, enzymes facilitate the formation of product molecules more rapidly and efficiently.</a:t>
            </a:r>
          </a:p>
          <a:p>
            <a:pPr algn="just"/>
            <a:r>
              <a:rPr lang="en-IN" sz="2000" dirty="0" smtClean="0">
                <a:solidFill>
                  <a:srgbClr val="00B0F0"/>
                </a:solidFill>
              </a:rPr>
              <a:t>Efficiency</a:t>
            </a:r>
          </a:p>
          <a:p>
            <a:pPr algn="just"/>
            <a:r>
              <a:rPr lang="en-IN" sz="2000" dirty="0" smtClean="0">
                <a:solidFill>
                  <a:schemeClr val="tx1"/>
                </a:solidFill>
              </a:rPr>
              <a:t> Enzymes are highly efficient catalysts, often capable of increasing reaction rates by millions to billions of times compared to </a:t>
            </a:r>
            <a:r>
              <a:rPr lang="en-IN" sz="2000" dirty="0" err="1" smtClean="0">
                <a:solidFill>
                  <a:schemeClr val="tx1"/>
                </a:solidFill>
              </a:rPr>
              <a:t>uncatalyzed</a:t>
            </a:r>
            <a:r>
              <a:rPr lang="en-IN" sz="2000" dirty="0" smtClean="0">
                <a:solidFill>
                  <a:schemeClr val="tx1"/>
                </a:solidFill>
              </a:rPr>
              <a:t> reactions. This high efficiency allows cells to carry out metabolic processes at rates compatible with life despite relatively mild physiological conditions.</a:t>
            </a:r>
          </a:p>
          <a:p>
            <a:pPr algn="just"/>
            <a:r>
              <a:rPr lang="en-IN" sz="2000" dirty="0" smtClean="0">
                <a:solidFill>
                  <a:srgbClr val="00B0F0"/>
                </a:solidFill>
              </a:rPr>
              <a:t> Regulation </a:t>
            </a:r>
          </a:p>
          <a:p>
            <a:pPr algn="just"/>
            <a:r>
              <a:rPr lang="en-IN" sz="2000" dirty="0" smtClean="0">
                <a:solidFill>
                  <a:schemeClr val="tx1"/>
                </a:solidFill>
              </a:rPr>
              <a:t>Enzyme activity is regulated by various factors, including substrate concentration, pH, temperature, and the presence of inhibitors or activators. These regulatory mechanisms ensure that enzyme activity is finely tuned to meet the changing metabolic demand of the cell and maintain </a:t>
            </a:r>
            <a:r>
              <a:rPr lang="en-IN" sz="2000" dirty="0" err="1" smtClean="0">
                <a:solidFill>
                  <a:schemeClr val="tx1"/>
                </a:solidFill>
              </a:rPr>
              <a:t>homeostatics</a:t>
            </a:r>
            <a:r>
              <a:rPr lang="en-IN" sz="2000" dirty="0" smtClean="0">
                <a:solidFill>
                  <a:schemeClr val="tx1"/>
                </a:solidFill>
              </a:rPr>
              <a:t>.</a:t>
            </a:r>
            <a:endParaRPr lang="en-IN" sz="2000" dirty="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214291"/>
            <a:ext cx="7915276" cy="500066"/>
          </a:xfrm>
        </p:spPr>
        <p:txBody>
          <a:bodyPr>
            <a:normAutofit/>
          </a:bodyPr>
          <a:lstStyle/>
          <a:p>
            <a:pPr algn="just"/>
            <a:r>
              <a:rPr lang="en-IN" sz="2400" dirty="0" smtClean="0">
                <a:solidFill>
                  <a:srgbClr val="00B0F0"/>
                </a:solidFill>
              </a:rPr>
              <a:t>Reusability</a:t>
            </a:r>
            <a:endParaRPr lang="en-IN" sz="2400" dirty="0">
              <a:solidFill>
                <a:srgbClr val="00B0F0"/>
              </a:solidFill>
            </a:endParaRPr>
          </a:p>
        </p:txBody>
      </p:sp>
      <p:sp>
        <p:nvSpPr>
          <p:cNvPr id="3" name="Subtitle 2"/>
          <p:cNvSpPr>
            <a:spLocks noGrp="1"/>
          </p:cNvSpPr>
          <p:nvPr>
            <p:ph type="subTitle" idx="1"/>
          </p:nvPr>
        </p:nvSpPr>
        <p:spPr>
          <a:xfrm>
            <a:off x="214282" y="714356"/>
            <a:ext cx="8715436" cy="5929354"/>
          </a:xfrm>
        </p:spPr>
        <p:txBody>
          <a:bodyPr>
            <a:normAutofit/>
          </a:bodyPr>
          <a:lstStyle/>
          <a:p>
            <a:pPr algn="just"/>
            <a:r>
              <a:rPr lang="en-IN" sz="2400" dirty="0" smtClean="0">
                <a:solidFill>
                  <a:schemeClr val="tx1"/>
                </a:solidFill>
              </a:rPr>
              <a:t>Enzymes are reusable catalysts that can catalyze multiple rounds of substrate the conversion without being consumed in the reaction. After facilitating a reaction, enzymes remain unchanged and available to catalyze subsequent reactions, making them highly economical and efficient components of cellular metabolism.</a:t>
            </a:r>
          </a:p>
          <a:p>
            <a:pPr algn="just"/>
            <a:r>
              <a:rPr lang="en-IN" sz="2400" dirty="0" smtClean="0">
                <a:solidFill>
                  <a:srgbClr val="00B0F0"/>
                </a:solidFill>
              </a:rPr>
              <a:t>Sensitivity</a:t>
            </a:r>
          </a:p>
          <a:p>
            <a:pPr algn="just"/>
            <a:r>
              <a:rPr lang="en-IN" sz="2400" dirty="0" smtClean="0">
                <a:solidFill>
                  <a:schemeClr val="tx1"/>
                </a:solidFill>
              </a:rPr>
              <a:t>Enzyme activity is sensitive to changes in environmental conditions, such as temperature and pH, which can influence enzyme structure and function. Small deviations from optimal conditions can significantly affect enzyme activity, leading to alterations in metabolic pathways and cellular function.</a:t>
            </a:r>
            <a:endParaRPr lang="en-IN" sz="2400" dirty="0">
              <a:solidFill>
                <a:schemeClr val="tx1"/>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0"/>
            <a:ext cx="8129590" cy="500066"/>
          </a:xfrm>
        </p:spPr>
        <p:txBody>
          <a:bodyPr>
            <a:normAutofit fontScale="90000"/>
          </a:bodyPr>
          <a:lstStyle/>
          <a:p>
            <a:pPr algn="just"/>
            <a:r>
              <a:rPr lang="en-IN" sz="2800" dirty="0" smtClean="0">
                <a:solidFill>
                  <a:srgbClr val="FF0000"/>
                </a:solidFill>
              </a:rPr>
              <a:t>Functions of Enzymes</a:t>
            </a:r>
            <a:endParaRPr lang="en-IN" sz="2800" dirty="0">
              <a:solidFill>
                <a:srgbClr val="FF0000"/>
              </a:solidFill>
            </a:endParaRPr>
          </a:p>
        </p:txBody>
      </p:sp>
      <p:sp>
        <p:nvSpPr>
          <p:cNvPr id="3" name="Subtitle 2"/>
          <p:cNvSpPr>
            <a:spLocks noGrp="1"/>
          </p:cNvSpPr>
          <p:nvPr>
            <p:ph type="subTitle" idx="1"/>
          </p:nvPr>
        </p:nvSpPr>
        <p:spPr>
          <a:xfrm>
            <a:off x="285720" y="500042"/>
            <a:ext cx="8501122" cy="6000792"/>
          </a:xfrm>
        </p:spPr>
        <p:txBody>
          <a:bodyPr>
            <a:normAutofit fontScale="92500" lnSpcReduction="20000"/>
          </a:bodyPr>
          <a:lstStyle/>
          <a:p>
            <a:pPr algn="just"/>
            <a:r>
              <a:rPr lang="en-IN" sz="2400" dirty="0" smtClean="0">
                <a:solidFill>
                  <a:srgbClr val="00B0F0"/>
                </a:solidFill>
              </a:rPr>
              <a:t>Catalysis </a:t>
            </a:r>
          </a:p>
          <a:p>
            <a:pPr algn="just"/>
            <a:r>
              <a:rPr lang="en-IN" sz="2400" dirty="0" smtClean="0">
                <a:solidFill>
                  <a:schemeClr val="tx1"/>
                </a:solidFill>
              </a:rPr>
              <a:t>Enzymes serve as biological catalysts, accelerating chemical reactions by lowering the activation energy required for the conversion of substrates into products. By facilitating the formation of transition states and stabilizing reaction intermediates, enzymes enhance the rate of reactions without being consumed in the process. </a:t>
            </a:r>
          </a:p>
          <a:p>
            <a:pPr algn="just"/>
            <a:r>
              <a:rPr lang="en-IN" sz="2400" dirty="0" smtClean="0">
                <a:solidFill>
                  <a:srgbClr val="00B0F0"/>
                </a:solidFill>
              </a:rPr>
              <a:t>Specificity</a:t>
            </a:r>
            <a:r>
              <a:rPr lang="en-IN" sz="2400" dirty="0" smtClean="0"/>
              <a:t> </a:t>
            </a:r>
          </a:p>
          <a:p>
            <a:pPr algn="just"/>
            <a:r>
              <a:rPr lang="en-IN" sz="2400" dirty="0" smtClean="0">
                <a:solidFill>
                  <a:schemeClr val="tx1"/>
                </a:solidFill>
              </a:rPr>
              <a:t>Enzymes exhibit high specificity for their substrates, recognizing and binding to specific molecules or chemical groups through complementary interactions at the enzyme's active site. This substrate specificity ensures that enzymes selectively catalyze particular reactions, leading to precise control over metabolic pathways and cellular processes.</a:t>
            </a:r>
          </a:p>
          <a:p>
            <a:pPr algn="just"/>
            <a:r>
              <a:rPr lang="en-IN" sz="2400" dirty="0" smtClean="0">
                <a:solidFill>
                  <a:srgbClr val="00B0F0"/>
                </a:solidFill>
              </a:rPr>
              <a:t>Regulation </a:t>
            </a:r>
          </a:p>
          <a:p>
            <a:pPr algn="just"/>
            <a:r>
              <a:rPr lang="en-IN" sz="2400" dirty="0" smtClean="0">
                <a:solidFill>
                  <a:schemeClr val="tx1"/>
                </a:solidFill>
              </a:rPr>
              <a:t>Enzyme activity is tightly regulated to maintain metabolic homeostasis and respond to changing environmental conditions. Regulation may occur through various mechanisms, including </a:t>
            </a:r>
            <a:r>
              <a:rPr lang="en-IN" sz="2400" dirty="0" err="1" smtClean="0">
                <a:solidFill>
                  <a:schemeClr val="tx1"/>
                </a:solidFill>
              </a:rPr>
              <a:t>allosteric</a:t>
            </a:r>
            <a:r>
              <a:rPr lang="en-IN" sz="2400" dirty="0" smtClean="0">
                <a:solidFill>
                  <a:schemeClr val="tx1"/>
                </a:solidFill>
              </a:rPr>
              <a:t> regulation, covalent modification, and feedback inhibition, which modulate enzyme activity in response to signals such as cellular energy level and hormonal signals.</a:t>
            </a:r>
            <a:endParaRPr lang="en-IN" sz="2400" dirty="0">
              <a:solidFill>
                <a:schemeClr val="tx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214290"/>
            <a:ext cx="7915276" cy="571504"/>
          </a:xfrm>
        </p:spPr>
        <p:txBody>
          <a:bodyPr>
            <a:normAutofit/>
          </a:bodyPr>
          <a:lstStyle/>
          <a:p>
            <a:pPr algn="just"/>
            <a:r>
              <a:rPr lang="en-IN" sz="2200" dirty="0" smtClean="0">
                <a:solidFill>
                  <a:srgbClr val="00B0F0"/>
                </a:solidFill>
              </a:rPr>
              <a:t>Metabolic Pathways</a:t>
            </a:r>
            <a:endParaRPr lang="en-IN" sz="2200" dirty="0">
              <a:solidFill>
                <a:srgbClr val="00B0F0"/>
              </a:solidFill>
            </a:endParaRPr>
          </a:p>
        </p:txBody>
      </p:sp>
      <p:sp>
        <p:nvSpPr>
          <p:cNvPr id="3" name="Subtitle 2"/>
          <p:cNvSpPr>
            <a:spLocks noGrp="1"/>
          </p:cNvSpPr>
          <p:nvPr>
            <p:ph type="subTitle" idx="1"/>
          </p:nvPr>
        </p:nvSpPr>
        <p:spPr>
          <a:xfrm>
            <a:off x="214282" y="714356"/>
            <a:ext cx="8715436" cy="5929354"/>
          </a:xfrm>
        </p:spPr>
        <p:txBody>
          <a:bodyPr>
            <a:normAutofit fontScale="92500" lnSpcReduction="10000"/>
          </a:bodyPr>
          <a:lstStyle/>
          <a:p>
            <a:pPr algn="just"/>
            <a:r>
              <a:rPr lang="en-IN" sz="2400" dirty="0" smtClean="0">
                <a:solidFill>
                  <a:schemeClr val="tx1"/>
                </a:solidFill>
              </a:rPr>
              <a:t>Enzymes participate in metabolic pathways, sequences of interconnected biochemical reactions that convert substrates into products. Within these pathways, enzymes catalyze specific steps, regulating the flow of metabolites and ensuring the coordinated synthesis, degradation, and </a:t>
            </a:r>
            <a:r>
              <a:rPr lang="en-IN" sz="2400" dirty="0" err="1" smtClean="0">
                <a:solidFill>
                  <a:schemeClr val="tx1"/>
                </a:solidFill>
              </a:rPr>
              <a:t>interconversion</a:t>
            </a:r>
            <a:r>
              <a:rPr lang="en-IN" sz="2400" dirty="0" smtClean="0">
                <a:solidFill>
                  <a:schemeClr val="tx1"/>
                </a:solidFill>
              </a:rPr>
              <a:t> of </a:t>
            </a:r>
            <a:r>
              <a:rPr lang="en-IN" sz="2400" dirty="0" err="1" smtClean="0">
                <a:solidFill>
                  <a:schemeClr val="tx1"/>
                </a:solidFill>
              </a:rPr>
              <a:t>biomolecules</a:t>
            </a:r>
            <a:r>
              <a:rPr lang="en-IN" sz="2400" dirty="0" smtClean="0">
                <a:solidFill>
                  <a:schemeClr val="tx1"/>
                </a:solidFill>
              </a:rPr>
              <a:t> essential for cellular function and survival.</a:t>
            </a:r>
          </a:p>
          <a:p>
            <a:pPr algn="just"/>
            <a:r>
              <a:rPr lang="en-IN" sz="2400" dirty="0" smtClean="0">
                <a:solidFill>
                  <a:srgbClr val="00B0F0"/>
                </a:solidFill>
              </a:rPr>
              <a:t>Signal Transduction</a:t>
            </a:r>
          </a:p>
          <a:p>
            <a:pPr algn="just"/>
            <a:r>
              <a:rPr lang="en-IN" sz="2400" dirty="0" smtClean="0"/>
              <a:t> </a:t>
            </a:r>
            <a:r>
              <a:rPr lang="en-IN" sz="2400" dirty="0" smtClean="0">
                <a:solidFill>
                  <a:schemeClr val="tx1"/>
                </a:solidFill>
              </a:rPr>
              <a:t>Enzymes play key roles in signal transduction pathways, transmitting extracellular signals into intracellular responses that regulate various cellular processes. For example, protein </a:t>
            </a:r>
            <a:r>
              <a:rPr lang="en-IN" sz="2400" dirty="0" err="1" smtClean="0">
                <a:solidFill>
                  <a:schemeClr val="tx1"/>
                </a:solidFill>
              </a:rPr>
              <a:t>kinases</a:t>
            </a:r>
            <a:r>
              <a:rPr lang="en-IN" sz="2400" dirty="0" smtClean="0">
                <a:solidFill>
                  <a:schemeClr val="tx1"/>
                </a:solidFill>
              </a:rPr>
              <a:t> and </a:t>
            </a:r>
            <a:r>
              <a:rPr lang="en-IN" sz="2400" dirty="0" err="1" smtClean="0">
                <a:solidFill>
                  <a:schemeClr val="tx1"/>
                </a:solidFill>
              </a:rPr>
              <a:t>phosphatases</a:t>
            </a:r>
            <a:r>
              <a:rPr lang="en-IN" sz="2400" dirty="0" smtClean="0">
                <a:solidFill>
                  <a:schemeClr val="tx1"/>
                </a:solidFill>
              </a:rPr>
              <a:t> catalyze the </a:t>
            </a:r>
            <a:r>
              <a:rPr lang="en-IN" sz="2400" dirty="0" err="1" smtClean="0">
                <a:solidFill>
                  <a:schemeClr val="tx1"/>
                </a:solidFill>
              </a:rPr>
              <a:t>phosphorylation</a:t>
            </a:r>
            <a:r>
              <a:rPr lang="en-IN" sz="2400" dirty="0" smtClean="0">
                <a:solidFill>
                  <a:schemeClr val="tx1"/>
                </a:solidFill>
              </a:rPr>
              <a:t> and </a:t>
            </a:r>
            <a:r>
              <a:rPr lang="en-IN" sz="2400" dirty="0" err="1" smtClean="0">
                <a:solidFill>
                  <a:schemeClr val="tx1"/>
                </a:solidFill>
              </a:rPr>
              <a:t>dephosphorylation</a:t>
            </a:r>
            <a:r>
              <a:rPr lang="en-IN" sz="2400" dirty="0" smtClean="0">
                <a:solidFill>
                  <a:schemeClr val="tx1"/>
                </a:solidFill>
              </a:rPr>
              <a:t> of target proteins, respectively, thereby modulating their activity and mediating cellular responses to stimuli. </a:t>
            </a:r>
          </a:p>
          <a:p>
            <a:pPr algn="just"/>
            <a:r>
              <a:rPr lang="en-IN" sz="2400" dirty="0" smtClean="0">
                <a:solidFill>
                  <a:srgbClr val="00B0F0"/>
                </a:solidFill>
              </a:rPr>
              <a:t>DNA Replication and Repair</a:t>
            </a:r>
            <a:r>
              <a:rPr lang="en-IN" sz="2400" dirty="0" smtClean="0"/>
              <a:t> </a:t>
            </a:r>
            <a:endParaRPr lang="en-IN" sz="2400" dirty="0" smtClean="0">
              <a:solidFill>
                <a:schemeClr val="tx1"/>
              </a:solidFill>
            </a:endParaRPr>
          </a:p>
          <a:p>
            <a:pPr algn="just"/>
            <a:r>
              <a:rPr lang="en-IN" sz="2400" dirty="0" smtClean="0">
                <a:solidFill>
                  <a:schemeClr val="tx1"/>
                </a:solidFill>
              </a:rPr>
              <a:t>Enzymes are involved in DNA replication and repair processes, ensuring the faithful transmission of genetic information and maintaining genomic stability. DNA polymerases catalyze the synthesis of new DNA strands during replication, while DNA repair enzymes correct errors and lesions in the DNA sequence, minimizing mutations and preserving genetic integrity.</a:t>
            </a:r>
            <a:endParaRPr lang="en-IN" sz="2400"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0"/>
            <a:ext cx="8429684" cy="428627"/>
          </a:xfrm>
        </p:spPr>
        <p:txBody>
          <a:bodyPr>
            <a:normAutofit fontScale="90000"/>
          </a:bodyPr>
          <a:lstStyle/>
          <a:p>
            <a:pPr algn="l"/>
            <a:r>
              <a:rPr lang="en-IN" sz="2700" dirty="0" smtClean="0">
                <a:solidFill>
                  <a:srgbClr val="00B0F0"/>
                </a:solidFill>
              </a:rPr>
              <a:t>Digestion</a:t>
            </a:r>
            <a:r>
              <a:rPr lang="en-IN" sz="2400" dirty="0" smtClean="0">
                <a:solidFill>
                  <a:srgbClr val="00B0F0"/>
                </a:solidFill>
              </a:rPr>
              <a:t> </a:t>
            </a:r>
            <a:endParaRPr lang="en-IN" sz="2400" dirty="0">
              <a:solidFill>
                <a:srgbClr val="00B0F0"/>
              </a:solidFill>
            </a:endParaRPr>
          </a:p>
        </p:txBody>
      </p:sp>
      <p:sp>
        <p:nvSpPr>
          <p:cNvPr id="3" name="Subtitle 2"/>
          <p:cNvSpPr>
            <a:spLocks noGrp="1"/>
          </p:cNvSpPr>
          <p:nvPr>
            <p:ph type="subTitle" idx="1"/>
          </p:nvPr>
        </p:nvSpPr>
        <p:spPr>
          <a:xfrm>
            <a:off x="0" y="357166"/>
            <a:ext cx="9144000" cy="6500834"/>
          </a:xfrm>
        </p:spPr>
        <p:txBody>
          <a:bodyPr>
            <a:noAutofit/>
          </a:bodyPr>
          <a:lstStyle/>
          <a:p>
            <a:pPr algn="just"/>
            <a:r>
              <a:rPr lang="en-IN" sz="2200" dirty="0" smtClean="0">
                <a:solidFill>
                  <a:schemeClr val="tx1"/>
                </a:solidFill>
              </a:rPr>
              <a:t>Enzymes facilitate the breakdown of macromolecules into smaller, more readily absorbable units during the process of digestion. Digestive enzymes, such as proteases, lipases, and </a:t>
            </a:r>
            <a:r>
              <a:rPr lang="en-IN" sz="2200" dirty="0" err="1" smtClean="0">
                <a:solidFill>
                  <a:schemeClr val="tx1"/>
                </a:solidFill>
              </a:rPr>
              <a:t>carbohydrases</a:t>
            </a:r>
            <a:r>
              <a:rPr lang="en-IN" sz="2200" dirty="0" smtClean="0">
                <a:solidFill>
                  <a:schemeClr val="tx1"/>
                </a:solidFill>
              </a:rPr>
              <a:t>, hydrolyze proteins, fats, and carbohydrates, respectively, into amino acids, fatty acids, and sugars that can be absorbed and utilized by the body for energy and growth.</a:t>
            </a:r>
          </a:p>
          <a:p>
            <a:r>
              <a:rPr lang="en-IN" sz="2400" dirty="0" smtClean="0">
                <a:solidFill>
                  <a:srgbClr val="FF0000"/>
                </a:solidFill>
              </a:rPr>
              <a:t>VITAMINS</a:t>
            </a:r>
          </a:p>
          <a:p>
            <a:pPr algn="just"/>
            <a:r>
              <a:rPr lang="en-IN" sz="2200" dirty="0" smtClean="0">
                <a:solidFill>
                  <a:schemeClr val="tx1"/>
                </a:solidFill>
              </a:rPr>
              <a:t>Vitamins are essential micronutrients that play diverse roles in maintaining health and supporting various physiological functions in the body. They are classified into two categories: fat-soluble vitamins (A, D, E, and K) and water-soluble vitamins (B vitamins and vitamin C). Fat-soluble vitamins are absorbed along with fats in the diet and are stored in the body's fatty tissues, while water-soluble vitamins dissolve in water and are excreted in urine when consumed in excess. Each vitamin has a specific chemical name and description, along with plant and animal food sources that provide significant amounts of the vitamin. Plant sources include fruits, vegetables, nuts, seeds, and grains, while animal sources include meat, poultry, fish, dairy products, and eggs. Consuming a balanced diet that includes a variety of foods rich in vitamins is essential for meeting the body's nutritional needs and maintaining optimal health. </a:t>
            </a:r>
            <a:endParaRPr lang="en-IN" sz="2200" dirty="0" smtClean="0">
              <a:solidFill>
                <a:schemeClr val="tx1"/>
              </a:solidFill>
            </a:endParaRPr>
          </a:p>
          <a:p>
            <a:pPr algn="just"/>
            <a:endParaRPr lang="en-IN" sz="2200" dirty="0">
              <a:solidFill>
                <a:srgbClr val="FF000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4282" y="-19024"/>
          <a:ext cx="8715436" cy="7162800"/>
        </p:xfrm>
        <a:graphic>
          <a:graphicData uri="http://schemas.openxmlformats.org/drawingml/2006/table">
            <a:tbl>
              <a:tblPr firstRow="1" bandRow="1">
                <a:tableStyleId>{5940675A-B579-460E-94D1-54222C63F5DA}</a:tableStyleId>
              </a:tblPr>
              <a:tblGrid>
                <a:gridCol w="1285883"/>
                <a:gridCol w="1214446"/>
                <a:gridCol w="3000396"/>
                <a:gridCol w="1571636"/>
                <a:gridCol w="1643075"/>
              </a:tblGrid>
              <a:tr h="673070">
                <a:tc>
                  <a:txBody>
                    <a:bodyPr/>
                    <a:lstStyle/>
                    <a:p>
                      <a:r>
                        <a:rPr lang="en-IN" sz="2000" dirty="0" smtClean="0"/>
                        <a:t>Vitamin </a:t>
                      </a:r>
                      <a:endParaRPr lang="en-IN" sz="2000" dirty="0"/>
                    </a:p>
                  </a:txBody>
                  <a:tcPr/>
                </a:tc>
                <a:tc>
                  <a:txBody>
                    <a:bodyPr/>
                    <a:lstStyle/>
                    <a:p>
                      <a:r>
                        <a:rPr lang="en-IN" sz="2000" dirty="0" smtClean="0"/>
                        <a:t>Chemical Name </a:t>
                      </a:r>
                      <a:endParaRPr lang="en-IN" sz="2000" dirty="0"/>
                    </a:p>
                  </a:txBody>
                  <a:tcPr/>
                </a:tc>
                <a:tc>
                  <a:txBody>
                    <a:bodyPr/>
                    <a:lstStyle/>
                    <a:p>
                      <a:r>
                        <a:rPr lang="en-IN" sz="2000" dirty="0" smtClean="0"/>
                        <a:t>Description </a:t>
                      </a:r>
                      <a:endParaRPr lang="en-IN" sz="2000" dirty="0"/>
                    </a:p>
                  </a:txBody>
                  <a:tcPr/>
                </a:tc>
                <a:tc>
                  <a:txBody>
                    <a:bodyPr/>
                    <a:lstStyle/>
                    <a:p>
                      <a:r>
                        <a:rPr lang="en-IN" sz="2000" dirty="0" smtClean="0"/>
                        <a:t>Plant Source </a:t>
                      </a:r>
                      <a:endParaRPr lang="en-IN" sz="2000" dirty="0"/>
                    </a:p>
                  </a:txBody>
                  <a:tcPr/>
                </a:tc>
                <a:tc>
                  <a:txBody>
                    <a:bodyPr/>
                    <a:lstStyle/>
                    <a:p>
                      <a:r>
                        <a:rPr lang="en-IN" sz="2000" dirty="0" smtClean="0"/>
                        <a:t>Animal Source</a:t>
                      </a:r>
                      <a:endParaRPr lang="en-IN" sz="2000" dirty="0"/>
                    </a:p>
                  </a:txBody>
                  <a:tcPr/>
                </a:tc>
              </a:tr>
              <a:tr h="1550988">
                <a:tc>
                  <a:txBody>
                    <a:bodyPr/>
                    <a:lstStyle/>
                    <a:p>
                      <a:r>
                        <a:rPr lang="en-IN" sz="2000" dirty="0" smtClean="0"/>
                        <a:t>Vitamin</a:t>
                      </a:r>
                      <a:r>
                        <a:rPr lang="en-IN" sz="2000" baseline="0" dirty="0" smtClean="0"/>
                        <a:t> A</a:t>
                      </a:r>
                      <a:endParaRPr lang="en-IN" sz="2000" dirty="0"/>
                    </a:p>
                  </a:txBody>
                  <a:tcPr/>
                </a:tc>
                <a:tc>
                  <a:txBody>
                    <a:bodyPr/>
                    <a:lstStyle/>
                    <a:p>
                      <a:r>
                        <a:rPr lang="en-IN" sz="2000" dirty="0" smtClean="0"/>
                        <a:t>Retinol</a:t>
                      </a:r>
                      <a:endParaRPr lang="en-IN" sz="2000" dirty="0"/>
                    </a:p>
                  </a:txBody>
                  <a:tcPr/>
                </a:tc>
                <a:tc>
                  <a:txBody>
                    <a:bodyPr/>
                    <a:lstStyle/>
                    <a:p>
                      <a:r>
                        <a:rPr lang="en-IN" sz="2000" dirty="0" smtClean="0"/>
                        <a:t>Essential for vision,</a:t>
                      </a:r>
                      <a:r>
                        <a:rPr lang="en-IN" sz="2000" baseline="0" dirty="0" smtClean="0"/>
                        <a:t> immune function, mucus membrane, maintaining healthy skin, Cell growth and differentiation.</a:t>
                      </a:r>
                      <a:endParaRPr lang="en-IN" sz="2000" dirty="0"/>
                    </a:p>
                  </a:txBody>
                  <a:tcPr/>
                </a:tc>
                <a:tc>
                  <a:txBody>
                    <a:bodyPr/>
                    <a:lstStyle/>
                    <a:p>
                      <a:r>
                        <a:rPr lang="en-IN" sz="2000" dirty="0" smtClean="0"/>
                        <a:t>Carrots,</a:t>
                      </a:r>
                      <a:r>
                        <a:rPr lang="en-IN" sz="2000" baseline="0" dirty="0" smtClean="0"/>
                        <a:t> Sweet potatoes, spinach kale, broccoli.</a:t>
                      </a:r>
                      <a:endParaRPr lang="en-IN" sz="2000" dirty="0"/>
                    </a:p>
                  </a:txBody>
                  <a:tcPr/>
                </a:tc>
                <a:tc>
                  <a:txBody>
                    <a:bodyPr/>
                    <a:lstStyle/>
                    <a:p>
                      <a:r>
                        <a:rPr lang="en-IN" sz="2000" dirty="0" smtClean="0"/>
                        <a:t>Liver, fish oil, Egg, Dairy product.</a:t>
                      </a:r>
                      <a:endParaRPr lang="en-IN" sz="2000" dirty="0"/>
                    </a:p>
                  </a:txBody>
                  <a:tcPr/>
                </a:tc>
              </a:tr>
              <a:tr h="1258349">
                <a:tc>
                  <a:txBody>
                    <a:bodyPr/>
                    <a:lstStyle/>
                    <a:p>
                      <a:r>
                        <a:rPr lang="en-IN" sz="2000" dirty="0" smtClean="0"/>
                        <a:t>Vitamin B₁</a:t>
                      </a:r>
                      <a:endParaRPr lang="en-IN" sz="2000" dirty="0"/>
                    </a:p>
                  </a:txBody>
                  <a:tcPr/>
                </a:tc>
                <a:tc>
                  <a:txBody>
                    <a:bodyPr/>
                    <a:lstStyle/>
                    <a:p>
                      <a:r>
                        <a:rPr lang="en-IN" sz="2000" dirty="0" smtClean="0"/>
                        <a:t>Thiamine </a:t>
                      </a:r>
                      <a:endParaRPr lang="en-IN" sz="2000" dirty="0"/>
                    </a:p>
                  </a:txBody>
                  <a:tcPr/>
                </a:tc>
                <a:tc>
                  <a:txBody>
                    <a:bodyPr/>
                    <a:lstStyle/>
                    <a:p>
                      <a:r>
                        <a:rPr lang="en-IN" sz="2000" dirty="0" smtClean="0"/>
                        <a:t>Energy metabolism, nerve function, and carbohydrate</a:t>
                      </a:r>
                    </a:p>
                    <a:p>
                      <a:r>
                        <a:rPr lang="en-IN" sz="2000" dirty="0" smtClean="0"/>
                        <a:t> metabolism.</a:t>
                      </a:r>
                      <a:endParaRPr lang="en-IN" sz="2000" dirty="0"/>
                    </a:p>
                  </a:txBody>
                  <a:tcPr/>
                </a:tc>
                <a:tc>
                  <a:txBody>
                    <a:bodyPr/>
                    <a:lstStyle/>
                    <a:p>
                      <a:r>
                        <a:rPr lang="en-IN" sz="2000" dirty="0" smtClean="0"/>
                        <a:t>Whole grains, legumes, nuts, seeds.</a:t>
                      </a:r>
                      <a:endParaRPr lang="en-IN" sz="2000" dirty="0"/>
                    </a:p>
                  </a:txBody>
                  <a:tcPr/>
                </a:tc>
                <a:tc>
                  <a:txBody>
                    <a:bodyPr/>
                    <a:lstStyle/>
                    <a:p>
                      <a:r>
                        <a:rPr lang="en-IN" sz="2000" dirty="0" smtClean="0"/>
                        <a:t>Pork, beef, organ meats, wholegrain.</a:t>
                      </a:r>
                      <a:endParaRPr lang="en-IN" sz="2000" dirty="0"/>
                    </a:p>
                  </a:txBody>
                  <a:tcPr/>
                </a:tc>
              </a:tr>
              <a:tr h="1843628">
                <a:tc>
                  <a:txBody>
                    <a:bodyPr/>
                    <a:lstStyle/>
                    <a:p>
                      <a:r>
                        <a:rPr lang="en-IN" sz="2000" dirty="0" smtClean="0"/>
                        <a:t>Vitamin B₂ </a:t>
                      </a:r>
                      <a:endParaRPr lang="en-IN" sz="2000" dirty="0"/>
                    </a:p>
                  </a:txBody>
                  <a:tcPr/>
                </a:tc>
                <a:tc>
                  <a:txBody>
                    <a:bodyPr/>
                    <a:lstStyle/>
                    <a:p>
                      <a:r>
                        <a:rPr lang="en-IN" sz="2000" dirty="0" smtClean="0"/>
                        <a:t>Riboflavin</a:t>
                      </a:r>
                      <a:endParaRPr lang="en-IN" sz="2000" dirty="0"/>
                    </a:p>
                  </a:txBody>
                  <a:tcPr/>
                </a:tc>
                <a:tc>
                  <a:txBody>
                    <a:bodyPr/>
                    <a:lstStyle/>
                    <a:p>
                      <a:r>
                        <a:rPr lang="en-IN" sz="2000" dirty="0" smtClean="0"/>
                        <a:t>Energy production, metabolism of fats, carbohydrates, and proteins, and maintenance of healthy skin and vision; acts as an antioxidant</a:t>
                      </a:r>
                      <a:endParaRPr lang="en-IN" sz="2000" dirty="0"/>
                    </a:p>
                  </a:txBody>
                  <a:tcPr/>
                </a:tc>
                <a:tc>
                  <a:txBody>
                    <a:bodyPr/>
                    <a:lstStyle/>
                    <a:p>
                      <a:r>
                        <a:rPr lang="en-IN" sz="2000" dirty="0" smtClean="0"/>
                        <a:t>Dairy products, leafy greens, almonds, mushrooms </a:t>
                      </a:r>
                      <a:endParaRPr lang="en-IN" sz="2000" dirty="0"/>
                    </a:p>
                  </a:txBody>
                  <a:tcPr/>
                </a:tc>
                <a:tc>
                  <a:txBody>
                    <a:bodyPr/>
                    <a:lstStyle/>
                    <a:p>
                      <a:r>
                        <a:rPr lang="en-IN" sz="2000" dirty="0" smtClean="0"/>
                        <a:t>Meat, poultry, fish, eggs, dairy products</a:t>
                      </a:r>
                      <a:endParaRPr lang="en-IN" sz="2000" dirty="0"/>
                    </a:p>
                  </a:txBody>
                  <a:tcPr/>
                </a:tc>
              </a:tr>
              <a:tr h="1550988">
                <a:tc>
                  <a:txBody>
                    <a:bodyPr/>
                    <a:lstStyle/>
                    <a:p>
                      <a:r>
                        <a:rPr lang="en-IN" sz="2000" dirty="0" smtClean="0"/>
                        <a:t>Vitamin B₃ </a:t>
                      </a:r>
                      <a:endParaRPr lang="en-IN" sz="2000" dirty="0"/>
                    </a:p>
                  </a:txBody>
                  <a:tcPr/>
                </a:tc>
                <a:tc>
                  <a:txBody>
                    <a:bodyPr/>
                    <a:lstStyle/>
                    <a:p>
                      <a:r>
                        <a:rPr lang="en-IN" sz="2000" dirty="0" smtClean="0"/>
                        <a:t>Niacin</a:t>
                      </a:r>
                      <a:endParaRPr lang="en-IN" sz="2000" dirty="0"/>
                    </a:p>
                  </a:txBody>
                  <a:tcPr/>
                </a:tc>
                <a:tc>
                  <a:txBody>
                    <a:bodyPr/>
                    <a:lstStyle/>
                    <a:p>
                      <a:r>
                        <a:rPr lang="en-IN" sz="2000" dirty="0" smtClean="0"/>
                        <a:t>Energy metabolism, DNA repair, and cell </a:t>
                      </a:r>
                      <a:r>
                        <a:rPr lang="en-IN" sz="2000" dirty="0" err="1" smtClean="0"/>
                        <a:t>signaling</a:t>
                      </a:r>
                      <a:r>
                        <a:rPr lang="en-IN" sz="2000" dirty="0" smtClean="0"/>
                        <a:t>. </a:t>
                      </a:r>
                      <a:endParaRPr lang="en-IN" sz="2000" dirty="0"/>
                    </a:p>
                  </a:txBody>
                  <a:tcPr/>
                </a:tc>
                <a:tc>
                  <a:txBody>
                    <a:bodyPr/>
                    <a:lstStyle/>
                    <a:p>
                      <a:r>
                        <a:rPr lang="en-IN" sz="2000" dirty="0" smtClean="0"/>
                        <a:t>Meat, poultry, fish, peanuts, whole grains</a:t>
                      </a:r>
                      <a:endParaRPr lang="en-IN"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smtClean="0"/>
                        <a:t>Legumes seeds, nuts, dairy</a:t>
                      </a:r>
                      <a:r>
                        <a:rPr lang="en-IN" sz="2000" baseline="0" dirty="0" smtClean="0"/>
                        <a:t> </a:t>
                      </a:r>
                      <a:r>
                        <a:rPr lang="en-IN" sz="2000" dirty="0" smtClean="0"/>
                        <a:t>products</a:t>
                      </a:r>
                    </a:p>
                    <a:p>
                      <a:endParaRPr lang="en-IN" sz="2000" dirty="0"/>
                    </a:p>
                  </a:txBody>
                  <a:tcP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57161" y="214293"/>
          <a:ext cx="8572557" cy="6461760"/>
        </p:xfrm>
        <a:graphic>
          <a:graphicData uri="http://schemas.openxmlformats.org/drawingml/2006/table">
            <a:tbl>
              <a:tblPr firstRow="1" bandRow="1">
                <a:tableStyleId>{5940675A-B579-460E-94D1-54222C63F5DA}</a:tableStyleId>
              </a:tblPr>
              <a:tblGrid>
                <a:gridCol w="1330223"/>
                <a:gridCol w="1330225"/>
                <a:gridCol w="3177759"/>
                <a:gridCol w="1404126"/>
                <a:gridCol w="1330224"/>
              </a:tblGrid>
              <a:tr h="654753">
                <a:tc>
                  <a:txBody>
                    <a:bodyPr/>
                    <a:lstStyle/>
                    <a:p>
                      <a:r>
                        <a:rPr lang="en-IN" sz="2000" dirty="0" smtClean="0"/>
                        <a:t>Vitamin </a:t>
                      </a:r>
                      <a:endParaRPr lang="en-IN" sz="2000" dirty="0"/>
                    </a:p>
                  </a:txBody>
                  <a:tcPr/>
                </a:tc>
                <a:tc>
                  <a:txBody>
                    <a:bodyPr/>
                    <a:lstStyle/>
                    <a:p>
                      <a:r>
                        <a:rPr lang="en-IN" sz="2000" dirty="0" smtClean="0"/>
                        <a:t>Chemical Name </a:t>
                      </a:r>
                      <a:endParaRPr lang="en-IN" sz="2000" dirty="0"/>
                    </a:p>
                  </a:txBody>
                  <a:tcPr/>
                </a:tc>
                <a:tc>
                  <a:txBody>
                    <a:bodyPr/>
                    <a:lstStyle/>
                    <a:p>
                      <a:pPr algn="just"/>
                      <a:r>
                        <a:rPr lang="en-IN" sz="2000" dirty="0" smtClean="0"/>
                        <a:t>Description </a:t>
                      </a:r>
                      <a:endParaRPr lang="en-IN" sz="2400" dirty="0"/>
                    </a:p>
                  </a:txBody>
                  <a:tcPr/>
                </a:tc>
                <a:tc>
                  <a:txBody>
                    <a:bodyPr/>
                    <a:lstStyle/>
                    <a:p>
                      <a:r>
                        <a:rPr lang="en-IN" sz="2000" dirty="0" smtClean="0"/>
                        <a:t>Plant Source </a:t>
                      </a:r>
                      <a:endParaRPr lang="en-IN" sz="2000" dirty="0"/>
                    </a:p>
                  </a:txBody>
                  <a:tcPr/>
                </a:tc>
                <a:tc>
                  <a:txBody>
                    <a:bodyPr/>
                    <a:lstStyle/>
                    <a:p>
                      <a:r>
                        <a:rPr lang="en-IN" sz="2000" dirty="0" smtClean="0"/>
                        <a:t>Animal Source</a:t>
                      </a:r>
                      <a:endParaRPr lang="en-IN" sz="2000" dirty="0"/>
                    </a:p>
                  </a:txBody>
                  <a:tcPr/>
                </a:tc>
              </a:tr>
              <a:tr h="1508779">
                <a:tc>
                  <a:txBody>
                    <a:bodyPr/>
                    <a:lstStyle/>
                    <a:p>
                      <a:r>
                        <a:rPr lang="en-IN" sz="2000" dirty="0" smtClean="0"/>
                        <a:t>Vitamin B₅. </a:t>
                      </a:r>
                      <a:endParaRPr lang="en-IN" sz="2000" dirty="0"/>
                    </a:p>
                  </a:txBody>
                  <a:tcPr/>
                </a:tc>
                <a:tc>
                  <a:txBody>
                    <a:bodyPr/>
                    <a:lstStyle/>
                    <a:p>
                      <a:r>
                        <a:rPr lang="en-IN" sz="2000" dirty="0" err="1" smtClean="0"/>
                        <a:t>Pantothenic</a:t>
                      </a:r>
                      <a:r>
                        <a:rPr lang="en-IN" sz="2000" dirty="0" smtClean="0"/>
                        <a:t> acid </a:t>
                      </a:r>
                      <a:endParaRPr lang="en-IN" sz="2000" dirty="0"/>
                    </a:p>
                  </a:txBody>
                  <a:tcPr/>
                </a:tc>
                <a:tc>
                  <a:txBody>
                    <a:bodyPr/>
                    <a:lstStyle/>
                    <a:p>
                      <a:r>
                        <a:rPr lang="en-IN" sz="2000" dirty="0" smtClean="0"/>
                        <a:t>Energy metabolism, fatty acid synthesis, and the synthesis of cholesterol, hormones, &amp; neurotransmitters</a:t>
                      </a:r>
                      <a:endParaRPr lang="en-IN" sz="2000" dirty="0"/>
                    </a:p>
                  </a:txBody>
                  <a:tcPr/>
                </a:tc>
                <a:tc>
                  <a:txBody>
                    <a:bodyPr/>
                    <a:lstStyle/>
                    <a:p>
                      <a:r>
                        <a:rPr lang="en-IN" sz="2000" dirty="0" smtClean="0"/>
                        <a:t>Avocado, mushrooms, broccoli, sweet potatoes </a:t>
                      </a:r>
                      <a:endParaRPr lang="en-IN" sz="2000" dirty="0"/>
                    </a:p>
                  </a:txBody>
                  <a:tcPr/>
                </a:tc>
                <a:tc>
                  <a:txBody>
                    <a:bodyPr/>
                    <a:lstStyle/>
                    <a:p>
                      <a:r>
                        <a:rPr lang="en-IN" sz="2000" dirty="0" smtClean="0"/>
                        <a:t>Chicken, beef, liver, whole grains </a:t>
                      </a:r>
                      <a:endParaRPr lang="en-IN" sz="2000" dirty="0"/>
                    </a:p>
                  </a:txBody>
                  <a:tcPr/>
                </a:tc>
              </a:tr>
              <a:tr h="2362804">
                <a:tc>
                  <a:txBody>
                    <a:bodyPr/>
                    <a:lstStyle/>
                    <a:p>
                      <a:r>
                        <a:rPr lang="en-IN" sz="2000" dirty="0" smtClean="0"/>
                        <a:t>Vitamin B₆</a:t>
                      </a:r>
                      <a:endParaRPr lang="en-IN" sz="2000" dirty="0"/>
                    </a:p>
                  </a:txBody>
                  <a:tcPr/>
                </a:tc>
                <a:tc>
                  <a:txBody>
                    <a:bodyPr/>
                    <a:lstStyle/>
                    <a:p>
                      <a:r>
                        <a:rPr lang="en-IN" sz="2000" dirty="0" smtClean="0"/>
                        <a:t>Pyridoxine</a:t>
                      </a:r>
                      <a:endParaRPr lang="en-IN" sz="2000" dirty="0"/>
                    </a:p>
                  </a:txBody>
                  <a:tcPr/>
                </a:tc>
                <a:tc>
                  <a:txBody>
                    <a:bodyPr/>
                    <a:lstStyle/>
                    <a:p>
                      <a:pPr algn="just"/>
                      <a:r>
                        <a:rPr lang="en-IN" sz="2000" dirty="0" smtClean="0"/>
                        <a:t>Amino acid metabolism, neurotransmitter</a:t>
                      </a:r>
                      <a:r>
                        <a:rPr lang="en-IN" sz="2000" baseline="0" dirty="0" smtClean="0"/>
                        <a:t> </a:t>
                      </a:r>
                      <a:r>
                        <a:rPr lang="en-IN" sz="2000" dirty="0" smtClean="0"/>
                        <a:t>synthesis, and the production of red blood cells. It plays a crucial role in brain development and function, immune health, and the regulation of </a:t>
                      </a:r>
                      <a:r>
                        <a:rPr lang="en-IN" sz="2000" dirty="0" err="1" smtClean="0"/>
                        <a:t>homocysteine</a:t>
                      </a:r>
                      <a:r>
                        <a:rPr lang="en-IN" sz="2000" dirty="0" smtClean="0"/>
                        <a:t> levels. </a:t>
                      </a:r>
                      <a:endParaRPr lang="en-IN" sz="2000" dirty="0"/>
                    </a:p>
                  </a:txBody>
                  <a:tcPr/>
                </a:tc>
                <a:tc>
                  <a:txBody>
                    <a:bodyPr/>
                    <a:lstStyle/>
                    <a:p>
                      <a:r>
                        <a:rPr lang="en-IN" sz="2000" dirty="0" smtClean="0"/>
                        <a:t>Chickpeas, potatoes, bananas, poultry </a:t>
                      </a:r>
                      <a:endParaRPr lang="en-IN" sz="2000" dirty="0"/>
                    </a:p>
                  </a:txBody>
                  <a:tcPr/>
                </a:tc>
                <a:tc>
                  <a:txBody>
                    <a:bodyPr/>
                    <a:lstStyle/>
                    <a:p>
                      <a:r>
                        <a:rPr lang="en-IN" sz="2000" dirty="0" smtClean="0"/>
                        <a:t>Fish, beef liver, poultry, nuts, seeds</a:t>
                      </a:r>
                      <a:endParaRPr lang="en-IN" sz="2000" dirty="0"/>
                    </a:p>
                  </a:txBody>
                  <a:tcPr/>
                </a:tc>
              </a:tr>
              <a:tr h="1508779">
                <a:tc>
                  <a:txBody>
                    <a:bodyPr/>
                    <a:lstStyle/>
                    <a:p>
                      <a:r>
                        <a:rPr lang="en-IN" sz="2000" dirty="0" smtClean="0"/>
                        <a:t>Vitamin B₇</a:t>
                      </a:r>
                      <a:endParaRPr lang="en-IN" sz="2000" dirty="0"/>
                    </a:p>
                  </a:txBody>
                  <a:tcPr/>
                </a:tc>
                <a:tc>
                  <a:txBody>
                    <a:bodyPr/>
                    <a:lstStyle/>
                    <a:p>
                      <a:r>
                        <a:rPr lang="en-IN" sz="2000" dirty="0" smtClean="0"/>
                        <a:t>Biotin </a:t>
                      </a:r>
                      <a:endParaRPr lang="en-IN" sz="2000" dirty="0"/>
                    </a:p>
                  </a:txBody>
                  <a:tcPr/>
                </a:tc>
                <a:tc>
                  <a:txBody>
                    <a:bodyPr/>
                    <a:lstStyle/>
                    <a:p>
                      <a:pPr algn="l"/>
                      <a:r>
                        <a:rPr lang="en-IN" sz="2000" dirty="0" smtClean="0"/>
                        <a:t>Essential for carbohydrate, fat, and protein metabolism.</a:t>
                      </a:r>
                      <a:endParaRPr lang="en-IN" sz="2000" dirty="0"/>
                    </a:p>
                  </a:txBody>
                  <a:tcPr/>
                </a:tc>
                <a:tc>
                  <a:txBody>
                    <a:bodyPr/>
                    <a:lstStyle/>
                    <a:p>
                      <a:r>
                        <a:rPr lang="en-IN" sz="2000" dirty="0" smtClean="0"/>
                        <a:t>Nuts, seeds, sweet potatoes, avocado </a:t>
                      </a:r>
                      <a:endParaRPr lang="en-IN" sz="2000" dirty="0"/>
                    </a:p>
                  </a:txBody>
                  <a:tcPr/>
                </a:tc>
                <a:tc>
                  <a:txBody>
                    <a:bodyPr/>
                    <a:lstStyle/>
                    <a:p>
                      <a:r>
                        <a:rPr lang="en-IN" sz="2000" dirty="0" smtClean="0"/>
                        <a:t>Eggs, liver, salmon, pork</a:t>
                      </a:r>
                      <a:endParaRPr lang="en-IN" sz="2000" dirty="0"/>
                    </a:p>
                  </a:txBody>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4281" y="0"/>
          <a:ext cx="8644000" cy="6858024"/>
        </p:xfrm>
        <a:graphic>
          <a:graphicData uri="http://schemas.openxmlformats.org/drawingml/2006/table">
            <a:tbl>
              <a:tblPr firstRow="1" bandRow="1">
                <a:tableStyleId>{5940675A-B579-460E-94D1-54222C63F5DA}</a:tableStyleId>
              </a:tblPr>
              <a:tblGrid>
                <a:gridCol w="1285885"/>
                <a:gridCol w="1571636"/>
                <a:gridCol w="2857520"/>
                <a:gridCol w="1500198"/>
                <a:gridCol w="1428761"/>
              </a:tblGrid>
              <a:tr h="642918">
                <a:tc>
                  <a:txBody>
                    <a:bodyPr/>
                    <a:lstStyle/>
                    <a:p>
                      <a:pPr algn="just"/>
                      <a:r>
                        <a:rPr lang="en-IN" sz="2000" dirty="0" smtClean="0"/>
                        <a:t>Vitamin </a:t>
                      </a:r>
                      <a:endParaRPr lang="en-IN" sz="2000" dirty="0"/>
                    </a:p>
                  </a:txBody>
                  <a:tcPr/>
                </a:tc>
                <a:tc>
                  <a:txBody>
                    <a:bodyPr/>
                    <a:lstStyle/>
                    <a:p>
                      <a:pPr algn="just"/>
                      <a:r>
                        <a:rPr lang="en-IN" sz="2000" dirty="0" smtClean="0"/>
                        <a:t>Chemical Name </a:t>
                      </a:r>
                      <a:endParaRPr lang="en-IN" sz="2000" dirty="0"/>
                    </a:p>
                  </a:txBody>
                  <a:tcPr/>
                </a:tc>
                <a:tc>
                  <a:txBody>
                    <a:bodyPr/>
                    <a:lstStyle/>
                    <a:p>
                      <a:pPr algn="just"/>
                      <a:r>
                        <a:rPr lang="en-IN" sz="2000" dirty="0" smtClean="0"/>
                        <a:t>Description </a:t>
                      </a:r>
                      <a:endParaRPr lang="en-IN" sz="2400" dirty="0"/>
                    </a:p>
                  </a:txBody>
                  <a:tcPr/>
                </a:tc>
                <a:tc>
                  <a:txBody>
                    <a:bodyPr/>
                    <a:lstStyle/>
                    <a:p>
                      <a:pPr algn="just"/>
                      <a:r>
                        <a:rPr lang="en-IN" sz="2000" dirty="0" smtClean="0"/>
                        <a:t>Plant Source </a:t>
                      </a:r>
                      <a:endParaRPr lang="en-IN" sz="2000" dirty="0"/>
                    </a:p>
                  </a:txBody>
                  <a:tcPr/>
                </a:tc>
                <a:tc>
                  <a:txBody>
                    <a:bodyPr/>
                    <a:lstStyle/>
                    <a:p>
                      <a:pPr algn="just"/>
                      <a:r>
                        <a:rPr lang="en-IN" sz="2000" dirty="0" smtClean="0"/>
                        <a:t>Animal Source</a:t>
                      </a:r>
                      <a:endParaRPr lang="en-IN" sz="2000" dirty="0"/>
                    </a:p>
                  </a:txBody>
                  <a:tcPr/>
                </a:tc>
              </a:tr>
              <a:tr h="1870704">
                <a:tc>
                  <a:txBody>
                    <a:bodyPr/>
                    <a:lstStyle/>
                    <a:p>
                      <a:pPr algn="just"/>
                      <a:r>
                        <a:rPr lang="en-IN" sz="2000" dirty="0" smtClean="0"/>
                        <a:t>Vitamin B₉</a:t>
                      </a:r>
                      <a:endParaRPr lang="en-IN" sz="2000" dirty="0"/>
                    </a:p>
                  </a:txBody>
                  <a:tcPr/>
                </a:tc>
                <a:tc>
                  <a:txBody>
                    <a:bodyPr/>
                    <a:lstStyle/>
                    <a:p>
                      <a:pPr algn="just"/>
                      <a:r>
                        <a:rPr lang="en-IN" sz="2000" dirty="0" err="1" smtClean="0"/>
                        <a:t>Folate</a:t>
                      </a:r>
                      <a:r>
                        <a:rPr lang="en-IN" sz="2000" dirty="0" smtClean="0"/>
                        <a:t> Folic acid</a:t>
                      </a:r>
                      <a:endParaRPr lang="en-IN" sz="2000" dirty="0"/>
                    </a:p>
                  </a:txBody>
                  <a:tcPr/>
                </a:tc>
                <a:tc>
                  <a:txBody>
                    <a:bodyPr/>
                    <a:lstStyle/>
                    <a:p>
                      <a:pPr algn="just"/>
                      <a:r>
                        <a:rPr lang="en-IN" sz="2000" dirty="0" smtClean="0"/>
                        <a:t>Crucial for DNA synthesis, cell division, and the formation of red blood cells. It plays a vital role in </a:t>
                      </a:r>
                      <a:r>
                        <a:rPr lang="en-IN" sz="2000" dirty="0" err="1" smtClean="0"/>
                        <a:t>fetal</a:t>
                      </a:r>
                      <a:r>
                        <a:rPr lang="en-IN" sz="2000" dirty="0" smtClean="0"/>
                        <a:t> development, preventing birth defects. </a:t>
                      </a:r>
                      <a:endParaRPr lang="en-IN" sz="2000" dirty="0"/>
                    </a:p>
                  </a:txBody>
                  <a:tcPr/>
                </a:tc>
                <a:tc>
                  <a:txBody>
                    <a:bodyPr/>
                    <a:lstStyle/>
                    <a:p>
                      <a:pPr algn="just"/>
                      <a:r>
                        <a:rPr lang="en-IN" sz="2000" dirty="0" smtClean="0"/>
                        <a:t>Leafy greens, asparagus, citrus fruits, beans </a:t>
                      </a:r>
                      <a:endParaRPr lang="en-IN" sz="200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dirty="0" smtClean="0"/>
                        <a:t>Liver, eggs, fortified grains, lentils </a:t>
                      </a:r>
                    </a:p>
                    <a:p>
                      <a:pPr algn="just"/>
                      <a:endParaRPr lang="en-IN" sz="2000" dirty="0"/>
                    </a:p>
                  </a:txBody>
                  <a:tcPr/>
                </a:tc>
              </a:tr>
              <a:tr h="2592785">
                <a:tc>
                  <a:txBody>
                    <a:bodyPr/>
                    <a:lstStyle/>
                    <a:p>
                      <a:pPr algn="just"/>
                      <a:r>
                        <a:rPr lang="en-IN" sz="2000" dirty="0" smtClean="0"/>
                        <a:t>Vitamin</a:t>
                      </a:r>
                      <a:r>
                        <a:rPr lang="en-IN" sz="2000" baseline="0" dirty="0" smtClean="0"/>
                        <a:t> B</a:t>
                      </a:r>
                      <a:r>
                        <a:rPr lang="en-IN" sz="1400" baseline="0" dirty="0" smtClean="0"/>
                        <a:t>12</a:t>
                      </a:r>
                      <a:endParaRPr lang="en-IN" sz="2000" dirty="0"/>
                    </a:p>
                  </a:txBody>
                  <a:tcPr/>
                </a:tc>
                <a:tc>
                  <a:txBody>
                    <a:bodyPr/>
                    <a:lstStyle/>
                    <a:p>
                      <a:pPr algn="just"/>
                      <a:r>
                        <a:rPr lang="en-IN" sz="2000" dirty="0" err="1" smtClean="0"/>
                        <a:t>Cobalamin</a:t>
                      </a:r>
                      <a:endParaRPr lang="en-IN" sz="2000" dirty="0"/>
                    </a:p>
                  </a:txBody>
                  <a:tcPr/>
                </a:tc>
                <a:tc>
                  <a:txBody>
                    <a:bodyPr/>
                    <a:lstStyle/>
                    <a:p>
                      <a:pPr algn="just"/>
                      <a:r>
                        <a:rPr lang="en-IN" sz="2000" dirty="0" smtClean="0"/>
                        <a:t>DNA synthesis, red blood cell formation, and neurological function. It plays a critical role in maintaining nerve cells' health and preventing a type of </a:t>
                      </a:r>
                      <a:r>
                        <a:rPr lang="en-IN" sz="2000" dirty="0" err="1" smtClean="0"/>
                        <a:t>anemia</a:t>
                      </a:r>
                      <a:r>
                        <a:rPr lang="en-IN" sz="2000" dirty="0" smtClean="0"/>
                        <a:t> called </a:t>
                      </a:r>
                      <a:r>
                        <a:rPr lang="en-IN" sz="2000" dirty="0" err="1" smtClean="0"/>
                        <a:t>megaloblastic</a:t>
                      </a:r>
                      <a:r>
                        <a:rPr lang="en-IN" sz="2000" dirty="0" smtClean="0"/>
                        <a:t> </a:t>
                      </a:r>
                      <a:r>
                        <a:rPr lang="en-IN" sz="2000" dirty="0" err="1" smtClean="0"/>
                        <a:t>anemia</a:t>
                      </a:r>
                      <a:endParaRPr lang="en-IN" sz="2000" dirty="0"/>
                    </a:p>
                  </a:txBody>
                  <a:tcPr/>
                </a:tc>
                <a:tc>
                  <a:txBody>
                    <a:bodyPr/>
                    <a:lstStyle/>
                    <a:p>
                      <a:pPr algn="just"/>
                      <a:r>
                        <a:rPr lang="en-IN" sz="2000" dirty="0" smtClean="0"/>
                        <a:t>Meat, fish,</a:t>
                      </a:r>
                      <a:r>
                        <a:rPr lang="en-IN" sz="2000" baseline="0" dirty="0" smtClean="0"/>
                        <a:t> poultry, dairy product.</a:t>
                      </a:r>
                      <a:endParaRPr lang="en-IN" sz="2000" dirty="0"/>
                    </a:p>
                  </a:txBody>
                  <a:tcPr/>
                </a:tc>
                <a:tc>
                  <a:txBody>
                    <a:bodyPr/>
                    <a:lstStyle/>
                    <a:p>
                      <a:pPr algn="just"/>
                      <a:r>
                        <a:rPr lang="en-IN" sz="2000" dirty="0" smtClean="0"/>
                        <a:t>Fortified cereals, nutritional yeast, algae.</a:t>
                      </a:r>
                      <a:endParaRPr lang="en-IN" sz="2000" dirty="0"/>
                    </a:p>
                  </a:txBody>
                  <a:tcPr/>
                </a:tc>
              </a:tr>
              <a:tr h="1643959">
                <a:tc>
                  <a:txBody>
                    <a:bodyPr/>
                    <a:lstStyle/>
                    <a:p>
                      <a:pPr algn="just"/>
                      <a:r>
                        <a:rPr lang="en-IN" sz="2000" dirty="0" smtClean="0"/>
                        <a:t>Vitamin C. </a:t>
                      </a:r>
                      <a:endParaRPr lang="en-IN" sz="2000" dirty="0"/>
                    </a:p>
                  </a:txBody>
                  <a:tcPr/>
                </a:tc>
                <a:tc>
                  <a:txBody>
                    <a:bodyPr/>
                    <a:lstStyle/>
                    <a:p>
                      <a:pPr algn="just"/>
                      <a:r>
                        <a:rPr lang="en-IN" sz="2000" dirty="0" smtClean="0"/>
                        <a:t>Ascorbic acid</a:t>
                      </a:r>
                      <a:endParaRPr lang="en-IN" sz="2000" dirty="0"/>
                    </a:p>
                  </a:txBody>
                  <a:tcPr/>
                </a:tc>
                <a:tc>
                  <a:txBody>
                    <a:bodyPr/>
                    <a:lstStyle/>
                    <a:p>
                      <a:pPr algn="just"/>
                      <a:r>
                        <a:rPr lang="en-IN" sz="2000" dirty="0" smtClean="0"/>
                        <a:t>Antioxidant that supports immune function, collagen synthesis, wound healing, and the absorption of iron</a:t>
                      </a:r>
                      <a:endParaRPr lang="en-IN" sz="2000" dirty="0"/>
                    </a:p>
                  </a:txBody>
                  <a:tcPr/>
                </a:tc>
                <a:tc>
                  <a:txBody>
                    <a:bodyPr/>
                    <a:lstStyle/>
                    <a:p>
                      <a:pPr algn="just"/>
                      <a:r>
                        <a:rPr lang="en-IN" sz="2000" dirty="0" smtClean="0"/>
                        <a:t>Citrus fruits, strawberries, bell peppers, broccoli </a:t>
                      </a:r>
                      <a:endParaRPr lang="en-IN" sz="2000" dirty="0"/>
                    </a:p>
                  </a:txBody>
                  <a:tcPr/>
                </a:tc>
                <a:tc>
                  <a:txBody>
                    <a:bodyPr/>
                    <a:lstStyle/>
                    <a:p>
                      <a:pPr algn="just"/>
                      <a:r>
                        <a:rPr lang="en-IN" sz="2000" dirty="0" smtClean="0"/>
                        <a:t>Citrus fruits, Kiwi, strawberries,</a:t>
                      </a:r>
                      <a:r>
                        <a:rPr lang="en-IN" sz="2000" baseline="0" dirty="0" smtClean="0"/>
                        <a:t> bell peppers.</a:t>
                      </a:r>
                      <a:endParaRPr lang="en-IN" sz="2000" dirty="0"/>
                    </a:p>
                  </a:txBody>
                  <a:tcPr/>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4282" y="0"/>
          <a:ext cx="8715436" cy="6787889"/>
        </p:xfrm>
        <a:graphic>
          <a:graphicData uri="http://schemas.openxmlformats.org/drawingml/2006/table">
            <a:tbl>
              <a:tblPr firstRow="1" bandRow="1">
                <a:tableStyleId>{5940675A-B579-460E-94D1-54222C63F5DA}</a:tableStyleId>
              </a:tblPr>
              <a:tblGrid>
                <a:gridCol w="1016802"/>
                <a:gridCol w="1597830"/>
                <a:gridCol w="3340918"/>
                <a:gridCol w="1452572"/>
                <a:gridCol w="1307314"/>
              </a:tblGrid>
              <a:tr h="642918">
                <a:tc>
                  <a:txBody>
                    <a:bodyPr/>
                    <a:lstStyle/>
                    <a:p>
                      <a:pPr algn="just"/>
                      <a:r>
                        <a:rPr lang="en-IN" sz="2000" dirty="0" smtClean="0"/>
                        <a:t>Vitamin </a:t>
                      </a:r>
                      <a:endParaRPr lang="en-IN" sz="2000" dirty="0"/>
                    </a:p>
                  </a:txBody>
                  <a:tcPr/>
                </a:tc>
                <a:tc>
                  <a:txBody>
                    <a:bodyPr/>
                    <a:lstStyle/>
                    <a:p>
                      <a:pPr algn="just"/>
                      <a:r>
                        <a:rPr lang="en-IN" sz="2000" dirty="0" smtClean="0"/>
                        <a:t>Chemical Name </a:t>
                      </a:r>
                      <a:endParaRPr lang="en-IN" sz="2000" dirty="0"/>
                    </a:p>
                  </a:txBody>
                  <a:tcPr/>
                </a:tc>
                <a:tc>
                  <a:txBody>
                    <a:bodyPr/>
                    <a:lstStyle/>
                    <a:p>
                      <a:pPr algn="just"/>
                      <a:r>
                        <a:rPr lang="en-IN" sz="2000" dirty="0" smtClean="0"/>
                        <a:t>Description </a:t>
                      </a:r>
                      <a:endParaRPr lang="en-IN" sz="2400" dirty="0"/>
                    </a:p>
                  </a:txBody>
                  <a:tcPr/>
                </a:tc>
                <a:tc>
                  <a:txBody>
                    <a:bodyPr/>
                    <a:lstStyle/>
                    <a:p>
                      <a:pPr algn="just"/>
                      <a:r>
                        <a:rPr lang="en-IN" sz="2000" dirty="0" smtClean="0"/>
                        <a:t>Plant Source </a:t>
                      </a:r>
                      <a:endParaRPr lang="en-IN" sz="2000" dirty="0"/>
                    </a:p>
                  </a:txBody>
                  <a:tcPr/>
                </a:tc>
                <a:tc>
                  <a:txBody>
                    <a:bodyPr/>
                    <a:lstStyle/>
                    <a:p>
                      <a:pPr algn="just"/>
                      <a:r>
                        <a:rPr lang="en-IN" sz="2000" dirty="0" smtClean="0"/>
                        <a:t>Animal Source</a:t>
                      </a:r>
                      <a:endParaRPr lang="en-IN" sz="2000" dirty="0"/>
                    </a:p>
                  </a:txBody>
                  <a:tcPr/>
                </a:tc>
              </a:tr>
              <a:tr h="1942142">
                <a:tc>
                  <a:txBody>
                    <a:bodyPr/>
                    <a:lstStyle/>
                    <a:p>
                      <a:r>
                        <a:rPr lang="en-IN" dirty="0" smtClean="0"/>
                        <a:t>Vitamin D</a:t>
                      </a:r>
                      <a:endParaRPr lang="en-IN" dirty="0"/>
                    </a:p>
                  </a:txBody>
                  <a:tcPr/>
                </a:tc>
                <a:tc>
                  <a:txBody>
                    <a:bodyPr/>
                    <a:lstStyle/>
                    <a:p>
                      <a:r>
                        <a:rPr lang="en-IN" dirty="0" err="1" smtClean="0"/>
                        <a:t>Cholecalciferol</a:t>
                      </a:r>
                      <a:r>
                        <a:rPr lang="en-IN" dirty="0" smtClean="0"/>
                        <a:t> </a:t>
                      </a:r>
                      <a:endParaRPr lang="en-IN" dirty="0"/>
                    </a:p>
                  </a:txBody>
                  <a:tcPr/>
                </a:tc>
                <a:tc>
                  <a:txBody>
                    <a:bodyPr/>
                    <a:lstStyle/>
                    <a:p>
                      <a:pPr algn="just"/>
                      <a:r>
                        <a:rPr lang="en-IN" dirty="0" smtClean="0"/>
                        <a:t>Essential for calcium absorption, bone health, and immune function. It helps regulate calcium and phosphorus levels in the blood and supports the growth and maintenance of strong bones and teeth. </a:t>
                      </a:r>
                      <a:endParaRPr lang="en-IN" dirty="0"/>
                    </a:p>
                  </a:txBody>
                  <a:tcPr/>
                </a:tc>
                <a:tc>
                  <a:txBody>
                    <a:bodyPr/>
                    <a:lstStyle/>
                    <a:p>
                      <a:pPr algn="just"/>
                      <a:r>
                        <a:rPr lang="en-IN" dirty="0" smtClean="0"/>
                        <a:t>Sunlight (UV exposure), fortified dairy products </a:t>
                      </a:r>
                      <a:endParaRPr lang="en-IN" dirty="0"/>
                    </a:p>
                  </a:txBody>
                  <a:tcPr/>
                </a:tc>
                <a:tc>
                  <a:txBody>
                    <a:bodyPr/>
                    <a:lstStyle/>
                    <a:p>
                      <a:pPr algn="just"/>
                      <a:r>
                        <a:rPr lang="en-IN" dirty="0" smtClean="0"/>
                        <a:t>Fatty</a:t>
                      </a:r>
                      <a:r>
                        <a:rPr lang="en-IN" baseline="0" dirty="0" smtClean="0"/>
                        <a:t> </a:t>
                      </a:r>
                      <a:r>
                        <a:rPr lang="en-IN" dirty="0" smtClean="0"/>
                        <a:t>fish (salmon, tuna, mackerel), egg yolks</a:t>
                      </a:r>
                      <a:endParaRPr lang="en-IN" dirty="0"/>
                    </a:p>
                  </a:txBody>
                  <a:tcPr/>
                </a:tc>
              </a:tr>
              <a:tr h="2216478">
                <a:tc>
                  <a:txBody>
                    <a:bodyPr/>
                    <a:lstStyle/>
                    <a:p>
                      <a:r>
                        <a:rPr lang="en-IN" dirty="0" smtClean="0"/>
                        <a:t>Vitamin E </a:t>
                      </a:r>
                      <a:endParaRPr lang="en-IN" dirty="0"/>
                    </a:p>
                  </a:txBody>
                  <a:tcPr/>
                </a:tc>
                <a:tc>
                  <a:txBody>
                    <a:bodyPr/>
                    <a:lstStyle/>
                    <a:p>
                      <a:r>
                        <a:rPr lang="en-IN" dirty="0" err="1" smtClean="0"/>
                        <a:t>Tocopherol</a:t>
                      </a:r>
                      <a:r>
                        <a:rPr lang="en-IN" dirty="0" smtClean="0"/>
                        <a:t> </a:t>
                      </a:r>
                      <a:endParaRPr lang="en-IN" dirty="0"/>
                    </a:p>
                  </a:txBody>
                  <a:tcPr/>
                </a:tc>
                <a:tc>
                  <a:txBody>
                    <a:bodyPr/>
                    <a:lstStyle/>
                    <a:p>
                      <a:pPr algn="just"/>
                      <a:r>
                        <a:rPr lang="en-IN" dirty="0" smtClean="0"/>
                        <a:t>An antioxidant that protects cell membranes from oxidative damage. It plays a role in immune function, skin health,</a:t>
                      </a:r>
                      <a:r>
                        <a:rPr lang="en-IN" dirty="0" smtClean="0"/>
                        <a:t> and gene expression regulation. Vitamin E also supports cardiovascular health and may reduce the risk of chronic diseases. </a:t>
                      </a:r>
                      <a:endParaRPr lang="en-IN" dirty="0"/>
                    </a:p>
                  </a:txBody>
                  <a:tcPr/>
                </a:tc>
                <a:tc>
                  <a:txBody>
                    <a:bodyPr/>
                    <a:lstStyle/>
                    <a:p>
                      <a:pPr algn="just"/>
                      <a:r>
                        <a:rPr lang="en-IN" dirty="0" smtClean="0"/>
                        <a:t>Nuts, seeds, vegetable oils, leafy greens</a:t>
                      </a:r>
                      <a:endParaRPr lang="en-IN" dirty="0"/>
                    </a:p>
                  </a:txBody>
                  <a:tcPr/>
                </a:tc>
                <a:tc>
                  <a:txBody>
                    <a:bodyPr/>
                    <a:lstStyle/>
                    <a:p>
                      <a:pPr algn="just"/>
                      <a:r>
                        <a:rPr lang="en-IN" dirty="0" smtClean="0"/>
                        <a:t>Vegetable oils, nuts, seeds, avocado </a:t>
                      </a:r>
                      <a:endParaRPr lang="en-IN" dirty="0"/>
                    </a:p>
                  </a:txBody>
                  <a:tcPr/>
                </a:tc>
              </a:tr>
              <a:tr h="1789169">
                <a:tc>
                  <a:txBody>
                    <a:bodyPr/>
                    <a:lstStyle/>
                    <a:p>
                      <a:r>
                        <a:rPr lang="en-IN" dirty="0" smtClean="0"/>
                        <a:t>Vitamin K</a:t>
                      </a:r>
                      <a:endParaRPr lang="en-IN" dirty="0"/>
                    </a:p>
                  </a:txBody>
                  <a:tcPr/>
                </a:tc>
                <a:tc>
                  <a:txBody>
                    <a:bodyPr/>
                    <a:lstStyle/>
                    <a:p>
                      <a:r>
                        <a:rPr lang="en-IN" dirty="0" err="1" smtClean="0"/>
                        <a:t>Phylloquinone</a:t>
                      </a:r>
                      <a:endParaRPr lang="en-IN" dirty="0"/>
                    </a:p>
                  </a:txBody>
                  <a:tcPr/>
                </a:tc>
                <a:tc>
                  <a:txBody>
                    <a:bodyPr/>
                    <a:lstStyle/>
                    <a:p>
                      <a:r>
                        <a:rPr lang="en-IN" dirty="0" smtClean="0"/>
                        <a:t>Essential for blood clotting, bone metabolism, and heart health. It plays a crucial role in the synthesis of clotting factors and the regulation of calcium in bones and blood vessels. </a:t>
                      </a:r>
                      <a:endParaRPr lang="en-IN" dirty="0"/>
                    </a:p>
                  </a:txBody>
                  <a:tcPr/>
                </a:tc>
                <a:tc>
                  <a:txBody>
                    <a:bodyPr/>
                    <a:lstStyle/>
                    <a:p>
                      <a:r>
                        <a:rPr lang="en-IN" dirty="0" smtClean="0"/>
                        <a:t>Leafy greens (kale, spinach, collard greens)</a:t>
                      </a:r>
                      <a:endParaRPr lang="en-IN" dirty="0"/>
                    </a:p>
                  </a:txBody>
                  <a:tcPr/>
                </a:tc>
                <a:tc>
                  <a:txBody>
                    <a:bodyPr/>
                    <a:lstStyle/>
                    <a:p>
                      <a:r>
                        <a:rPr lang="en-IN" dirty="0" smtClean="0"/>
                        <a:t>Liver, egg yolks, cheese, fermented foods</a:t>
                      </a:r>
                      <a:endParaRPr lang="en-IN" dirty="0"/>
                    </a:p>
                  </a:txBody>
                  <a:tcPr/>
                </a:tc>
              </a:tr>
            </a:tbl>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0"/>
            <a:ext cx="7772400" cy="714379"/>
          </a:xfrm>
        </p:spPr>
        <p:txBody>
          <a:bodyPr>
            <a:normAutofit/>
          </a:bodyPr>
          <a:lstStyle/>
          <a:p>
            <a:r>
              <a:rPr lang="en-IN" sz="3200" dirty="0" smtClean="0">
                <a:solidFill>
                  <a:srgbClr val="FF0000"/>
                </a:solidFill>
              </a:rPr>
              <a:t>HORMONES </a:t>
            </a:r>
            <a:endParaRPr lang="en-IN" sz="3200" dirty="0">
              <a:solidFill>
                <a:srgbClr val="FF0000"/>
              </a:solidFill>
            </a:endParaRPr>
          </a:p>
        </p:txBody>
      </p:sp>
      <p:sp>
        <p:nvSpPr>
          <p:cNvPr id="3" name="Subtitle 2"/>
          <p:cNvSpPr>
            <a:spLocks noGrp="1"/>
          </p:cNvSpPr>
          <p:nvPr>
            <p:ph type="subTitle" idx="1"/>
          </p:nvPr>
        </p:nvSpPr>
        <p:spPr>
          <a:xfrm>
            <a:off x="214282" y="642918"/>
            <a:ext cx="8715436" cy="5929354"/>
          </a:xfrm>
        </p:spPr>
        <p:txBody>
          <a:bodyPr>
            <a:noAutofit/>
          </a:bodyPr>
          <a:lstStyle/>
          <a:p>
            <a:pPr algn="just"/>
            <a:r>
              <a:rPr lang="en-IN" sz="2400" dirty="0" smtClean="0">
                <a:solidFill>
                  <a:schemeClr val="tx1"/>
                </a:solidFill>
              </a:rPr>
              <a:t>Hormones are chemical messengers produced by endocrine glands or tissues in the body that regulate various physiological processes and maintain homeostasis. Each hormone has specific functions and targets, exerting effects on cells and tissues throughout the body. Insulin, for example, regulates blood glucose levels by promoting glucose uptake and storage, while testosterone influences male sexual development and secondary sexual characteristics. </a:t>
            </a:r>
            <a:r>
              <a:rPr lang="en-IN" sz="2400" dirty="0" err="1" smtClean="0">
                <a:solidFill>
                  <a:schemeClr val="tx1"/>
                </a:solidFill>
              </a:rPr>
              <a:t>Estrogen</a:t>
            </a:r>
            <a:r>
              <a:rPr lang="en-IN" sz="2400" dirty="0" smtClean="0">
                <a:solidFill>
                  <a:schemeClr val="tx1"/>
                </a:solidFill>
              </a:rPr>
              <a:t> plays a central role in female reproductive health and bone metabolism, while </a:t>
            </a:r>
            <a:r>
              <a:rPr lang="en-IN" sz="2400" dirty="0" err="1" smtClean="0">
                <a:solidFill>
                  <a:schemeClr val="tx1"/>
                </a:solidFill>
              </a:rPr>
              <a:t>thyroxine</a:t>
            </a:r>
            <a:r>
              <a:rPr lang="en-IN" sz="2400" dirty="0" smtClean="0">
                <a:solidFill>
                  <a:schemeClr val="tx1"/>
                </a:solidFill>
              </a:rPr>
              <a:t> regulates metabolism and growth. </a:t>
            </a:r>
            <a:r>
              <a:rPr lang="en-IN" sz="2400" dirty="0" err="1" smtClean="0">
                <a:solidFill>
                  <a:schemeClr val="tx1"/>
                </a:solidFill>
              </a:rPr>
              <a:t>Cortisol</a:t>
            </a:r>
            <a:r>
              <a:rPr lang="en-IN" sz="2400" dirty="0" smtClean="0">
                <a:solidFill>
                  <a:schemeClr val="tx1"/>
                </a:solidFill>
              </a:rPr>
              <a:t> helps the body respond to stress and modulates metabolism, inflammation, and immune function. Growth hormone stimulates growth and tissue repair, while progesterone supports pregnancy and embryonic development. Adrenaline triggers the fight-or-flight response, preparing the body for action during stressful situations. These hormones work in concert to regulate physiological processes and ensure the body's overall health and well-being.</a:t>
            </a:r>
            <a:endParaRPr lang="en-IN" sz="2400" dirty="0">
              <a:solidFill>
                <a:schemeClr val="tx1"/>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1"/>
          <a:ext cx="9144000" cy="6888480"/>
        </p:xfrm>
        <a:graphic>
          <a:graphicData uri="http://schemas.openxmlformats.org/drawingml/2006/table">
            <a:tbl>
              <a:tblPr firstRow="1" bandRow="1">
                <a:tableStyleId>{5940675A-B579-460E-94D1-54222C63F5DA}</a:tableStyleId>
              </a:tblPr>
              <a:tblGrid>
                <a:gridCol w="1648920"/>
                <a:gridCol w="4494716"/>
                <a:gridCol w="1500198"/>
                <a:gridCol w="1500166"/>
              </a:tblGrid>
              <a:tr h="518160">
                <a:tc>
                  <a:txBody>
                    <a:bodyPr/>
                    <a:lstStyle/>
                    <a:p>
                      <a:pPr algn="ctr"/>
                      <a:r>
                        <a:rPr lang="en-IN" sz="2800" dirty="0" smtClean="0">
                          <a:solidFill>
                            <a:srgbClr val="0070C0"/>
                          </a:solidFill>
                        </a:rPr>
                        <a:t>Hormone </a:t>
                      </a:r>
                      <a:endParaRPr lang="en-IN" sz="2800" dirty="0">
                        <a:solidFill>
                          <a:srgbClr val="0070C0"/>
                        </a:solidFill>
                      </a:endParaRPr>
                    </a:p>
                  </a:txBody>
                  <a:tcPr/>
                </a:tc>
                <a:tc>
                  <a:txBody>
                    <a:bodyPr/>
                    <a:lstStyle/>
                    <a:p>
                      <a:pPr algn="ctr"/>
                      <a:r>
                        <a:rPr lang="en-IN" sz="2800" dirty="0" smtClean="0">
                          <a:solidFill>
                            <a:srgbClr val="0070C0"/>
                          </a:solidFill>
                        </a:rPr>
                        <a:t>Function</a:t>
                      </a:r>
                      <a:endParaRPr lang="en-IN" sz="2800" dirty="0">
                        <a:solidFill>
                          <a:srgbClr val="0070C0"/>
                        </a:solidFill>
                      </a:endParaRPr>
                    </a:p>
                  </a:txBody>
                  <a:tcPr/>
                </a:tc>
                <a:tc>
                  <a:txBody>
                    <a:bodyPr/>
                    <a:lstStyle/>
                    <a:p>
                      <a:pPr algn="ctr"/>
                      <a:r>
                        <a:rPr lang="en-IN" sz="2800" dirty="0" smtClean="0">
                          <a:solidFill>
                            <a:srgbClr val="0070C0"/>
                          </a:solidFill>
                        </a:rPr>
                        <a:t>Origin </a:t>
                      </a:r>
                      <a:endParaRPr lang="en-IN" sz="2800" dirty="0">
                        <a:solidFill>
                          <a:srgbClr val="0070C0"/>
                        </a:solidFill>
                      </a:endParaRPr>
                    </a:p>
                  </a:txBody>
                  <a:tcPr/>
                </a:tc>
                <a:tc>
                  <a:txBody>
                    <a:bodyPr/>
                    <a:lstStyle/>
                    <a:p>
                      <a:pPr algn="ctr"/>
                      <a:r>
                        <a:rPr lang="en-IN" sz="2800" dirty="0" smtClean="0">
                          <a:solidFill>
                            <a:srgbClr val="0070C0"/>
                          </a:solidFill>
                        </a:rPr>
                        <a:t>Target</a:t>
                      </a:r>
                      <a:endParaRPr lang="en-IN" sz="2800" dirty="0">
                        <a:solidFill>
                          <a:srgbClr val="0070C0"/>
                        </a:solidFill>
                      </a:endParaRPr>
                    </a:p>
                  </a:txBody>
                  <a:tcPr/>
                </a:tc>
              </a:tr>
              <a:tr h="2225040">
                <a:tc>
                  <a:txBody>
                    <a:bodyPr/>
                    <a:lstStyle/>
                    <a:p>
                      <a:r>
                        <a:rPr lang="en-IN" sz="2000" dirty="0" smtClean="0">
                          <a:solidFill>
                            <a:schemeClr val="tx1"/>
                          </a:solidFill>
                        </a:rPr>
                        <a:t>Insulin </a:t>
                      </a:r>
                      <a:endParaRPr lang="en-IN" sz="2000" dirty="0">
                        <a:solidFill>
                          <a:schemeClr val="tx1"/>
                        </a:solidFill>
                      </a:endParaRPr>
                    </a:p>
                  </a:txBody>
                  <a:tcPr/>
                </a:tc>
                <a:tc>
                  <a:txBody>
                    <a:bodyPr/>
                    <a:lstStyle/>
                    <a:p>
                      <a:pPr algn="just"/>
                      <a:r>
                        <a:rPr lang="en-IN" sz="2000" dirty="0" smtClean="0"/>
                        <a:t>Regulates blood glucose levels by facilitating glucose uptake, promoting glycogen synthesis, and inhibiting </a:t>
                      </a:r>
                      <a:r>
                        <a:rPr lang="en-IN" sz="2000" dirty="0" err="1" smtClean="0"/>
                        <a:t>gluconeogenesis</a:t>
                      </a:r>
                      <a:r>
                        <a:rPr lang="en-IN" sz="2000" dirty="0" smtClean="0"/>
                        <a:t>. It plays a crucial role in carbohydrate metabolism and helps maintain blood glucose within a narrow range.</a:t>
                      </a:r>
                      <a:endParaRPr lang="en-IN" sz="2000" dirty="0"/>
                    </a:p>
                  </a:txBody>
                  <a:tcPr/>
                </a:tc>
                <a:tc>
                  <a:txBody>
                    <a:bodyPr/>
                    <a:lstStyle/>
                    <a:p>
                      <a:pPr algn="just"/>
                      <a:r>
                        <a:rPr lang="en-IN" sz="2000" dirty="0" smtClean="0"/>
                        <a:t>Pancreas (specifically beta cells in the islets of </a:t>
                      </a:r>
                      <a:r>
                        <a:rPr lang="en-IN" sz="2000" dirty="0" err="1" smtClean="0"/>
                        <a:t>Langerhans</a:t>
                      </a:r>
                      <a:r>
                        <a:rPr lang="en-IN" sz="2000" dirty="0" smtClean="0"/>
                        <a:t>)</a:t>
                      </a:r>
                      <a:endParaRPr lang="en-IN" sz="2000" dirty="0"/>
                    </a:p>
                  </a:txBody>
                  <a:tcPr/>
                </a:tc>
                <a:tc>
                  <a:txBody>
                    <a:bodyPr/>
                    <a:lstStyle/>
                    <a:p>
                      <a:pPr algn="just"/>
                      <a:r>
                        <a:rPr lang="en-IN" sz="2000" dirty="0" smtClean="0"/>
                        <a:t>Liver, muscle, adipose tissue </a:t>
                      </a:r>
                      <a:endParaRPr lang="en-IN" sz="2000" dirty="0"/>
                    </a:p>
                  </a:txBody>
                  <a:tcPr/>
                </a:tc>
              </a:tr>
              <a:tr h="1920240">
                <a:tc>
                  <a:txBody>
                    <a:bodyPr/>
                    <a:lstStyle/>
                    <a:p>
                      <a:pPr algn="just"/>
                      <a:r>
                        <a:rPr lang="en-IN" sz="2000" dirty="0" smtClean="0"/>
                        <a:t>Testosterone</a:t>
                      </a:r>
                      <a:endParaRPr lang="en-IN" sz="2000" dirty="0"/>
                    </a:p>
                  </a:txBody>
                  <a:tcPr/>
                </a:tc>
                <a:tc>
                  <a:txBody>
                    <a:bodyPr/>
                    <a:lstStyle/>
                    <a:p>
                      <a:pPr algn="just"/>
                      <a:r>
                        <a:rPr lang="en-IN" sz="2000" dirty="0" smtClean="0"/>
                        <a:t>Development of male reproductive tissues and secondary sexual characteristics. It influences libido, muscle mass, bone density, facial hair growth, mood regulation, and energy levels. </a:t>
                      </a:r>
                      <a:endParaRPr lang="en-IN" sz="2000" dirty="0"/>
                    </a:p>
                  </a:txBody>
                  <a:tcPr/>
                </a:tc>
                <a:tc>
                  <a:txBody>
                    <a:bodyPr/>
                    <a:lstStyle/>
                    <a:p>
                      <a:pPr algn="just"/>
                      <a:r>
                        <a:rPr lang="en-IN" sz="2000" dirty="0" smtClean="0"/>
                        <a:t>Testes (in males), ovaries and adrenal glands (in females) </a:t>
                      </a:r>
                      <a:endParaRPr lang="en-IN" sz="2000" dirty="0"/>
                    </a:p>
                  </a:txBody>
                  <a:tcPr/>
                </a:tc>
                <a:tc>
                  <a:txBody>
                    <a:bodyPr/>
                    <a:lstStyle/>
                    <a:p>
                      <a:pPr algn="just"/>
                      <a:r>
                        <a:rPr lang="en-IN" sz="2000" dirty="0" smtClean="0"/>
                        <a:t>Reproductive organs, muscle, bone, brain </a:t>
                      </a:r>
                      <a:endParaRPr lang="en-IN" sz="2000" dirty="0"/>
                    </a:p>
                  </a:txBody>
                  <a:tcPr/>
                </a:tc>
              </a:tr>
              <a:tr h="2225040">
                <a:tc>
                  <a:txBody>
                    <a:bodyPr/>
                    <a:lstStyle/>
                    <a:p>
                      <a:pPr algn="just"/>
                      <a:r>
                        <a:rPr lang="en-IN" sz="2400" dirty="0" err="1" smtClean="0"/>
                        <a:t>Estrogen</a:t>
                      </a:r>
                      <a:endParaRPr lang="en-IN" sz="2400" dirty="0"/>
                    </a:p>
                  </a:txBody>
                  <a:tcPr/>
                </a:tc>
                <a:tc>
                  <a:txBody>
                    <a:bodyPr/>
                    <a:lstStyle/>
                    <a:p>
                      <a:pPr algn="just"/>
                      <a:r>
                        <a:rPr lang="en-IN" sz="2000" dirty="0" smtClean="0"/>
                        <a:t>Development and function of female reproductive organs, including the uterus, ovaries, and breasts. Regulates menstrual cycle, maintains bone density, and supports cardiovascular health. </a:t>
                      </a:r>
                      <a:r>
                        <a:rPr lang="en-IN" sz="2000" dirty="0" err="1" smtClean="0"/>
                        <a:t>Estrogen</a:t>
                      </a:r>
                      <a:r>
                        <a:rPr lang="en-IN" sz="2000" dirty="0" smtClean="0"/>
                        <a:t> also affects mood, cognition, and skin health. </a:t>
                      </a:r>
                      <a:endParaRPr lang="en-IN" sz="2000"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dirty="0" smtClean="0"/>
                        <a:t>Ovaries (mainly), adrenal glands, adipose tissue</a:t>
                      </a:r>
                    </a:p>
                    <a:p>
                      <a:pPr algn="just"/>
                      <a:endParaRPr lang="en-IN" sz="2000" dirty="0"/>
                    </a:p>
                  </a:txBody>
                  <a:tcPr/>
                </a:tc>
                <a:tc>
                  <a:txBody>
                    <a:bodyPr/>
                    <a:lstStyle/>
                    <a:p>
                      <a:pPr algn="just"/>
                      <a:r>
                        <a:rPr lang="en-IN" sz="2000" dirty="0" smtClean="0"/>
                        <a:t>Reproductive organs, bone, brain, </a:t>
                      </a:r>
                      <a:r>
                        <a:rPr lang="en-IN" sz="2000" dirty="0" err="1" smtClean="0"/>
                        <a:t>cardiovascula</a:t>
                      </a:r>
                      <a:r>
                        <a:rPr lang="en-IN" sz="2000" dirty="0" smtClean="0"/>
                        <a:t> r system</a:t>
                      </a:r>
                      <a:endParaRPr lang="en-IN" sz="2000" dirty="0"/>
                    </a:p>
                  </a:txBody>
                  <a:tcPr/>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4282" y="1"/>
          <a:ext cx="8715436" cy="6890558"/>
        </p:xfrm>
        <a:graphic>
          <a:graphicData uri="http://schemas.openxmlformats.org/drawingml/2006/table">
            <a:tbl>
              <a:tblPr firstRow="1" bandRow="1">
                <a:tableStyleId>{5940675A-B579-460E-94D1-54222C63F5DA}</a:tableStyleId>
              </a:tblPr>
              <a:tblGrid>
                <a:gridCol w="1428760"/>
                <a:gridCol w="4929222"/>
                <a:gridCol w="1071570"/>
                <a:gridCol w="1285884"/>
              </a:tblGrid>
              <a:tr h="453736">
                <a:tc>
                  <a:txBody>
                    <a:bodyPr/>
                    <a:lstStyle/>
                    <a:p>
                      <a:pPr algn="ctr"/>
                      <a:r>
                        <a:rPr lang="en-IN" sz="2400" dirty="0" smtClean="0">
                          <a:solidFill>
                            <a:srgbClr val="0070C0"/>
                          </a:solidFill>
                        </a:rPr>
                        <a:t>Hormone </a:t>
                      </a:r>
                      <a:endParaRPr lang="en-IN" sz="2400" dirty="0">
                        <a:solidFill>
                          <a:srgbClr val="0070C0"/>
                        </a:solidFill>
                      </a:endParaRPr>
                    </a:p>
                  </a:txBody>
                  <a:tcPr/>
                </a:tc>
                <a:tc>
                  <a:txBody>
                    <a:bodyPr/>
                    <a:lstStyle/>
                    <a:p>
                      <a:pPr algn="ctr"/>
                      <a:r>
                        <a:rPr lang="en-IN" sz="2400" dirty="0" smtClean="0">
                          <a:solidFill>
                            <a:srgbClr val="0070C0"/>
                          </a:solidFill>
                        </a:rPr>
                        <a:t>Function</a:t>
                      </a:r>
                      <a:endParaRPr lang="en-IN" sz="2400" dirty="0">
                        <a:solidFill>
                          <a:srgbClr val="0070C0"/>
                        </a:solidFill>
                      </a:endParaRPr>
                    </a:p>
                  </a:txBody>
                  <a:tcPr/>
                </a:tc>
                <a:tc>
                  <a:txBody>
                    <a:bodyPr/>
                    <a:lstStyle/>
                    <a:p>
                      <a:pPr algn="ctr"/>
                      <a:r>
                        <a:rPr lang="en-IN" sz="2400" dirty="0" smtClean="0">
                          <a:solidFill>
                            <a:srgbClr val="0070C0"/>
                          </a:solidFill>
                        </a:rPr>
                        <a:t>Origin </a:t>
                      </a:r>
                      <a:endParaRPr lang="en-IN" sz="2400" dirty="0">
                        <a:solidFill>
                          <a:srgbClr val="0070C0"/>
                        </a:solidFill>
                      </a:endParaRPr>
                    </a:p>
                  </a:txBody>
                  <a:tcPr/>
                </a:tc>
                <a:tc>
                  <a:txBody>
                    <a:bodyPr/>
                    <a:lstStyle/>
                    <a:p>
                      <a:pPr algn="ctr"/>
                      <a:r>
                        <a:rPr lang="en-IN" sz="2400" dirty="0" smtClean="0">
                          <a:solidFill>
                            <a:srgbClr val="0070C0"/>
                          </a:solidFill>
                        </a:rPr>
                        <a:t>Target</a:t>
                      </a:r>
                    </a:p>
                  </a:txBody>
                  <a:tcPr/>
                </a:tc>
              </a:tr>
              <a:tr h="1905692">
                <a:tc>
                  <a:txBody>
                    <a:bodyPr/>
                    <a:lstStyle/>
                    <a:p>
                      <a:pPr algn="just"/>
                      <a:r>
                        <a:rPr lang="en-IN" sz="2000" dirty="0" err="1" smtClean="0"/>
                        <a:t>Thyroxine</a:t>
                      </a:r>
                      <a:r>
                        <a:rPr lang="en-IN" sz="2000" dirty="0" smtClean="0"/>
                        <a:t> (T4)</a:t>
                      </a:r>
                      <a:endParaRPr lang="en-IN" sz="2000" dirty="0">
                        <a:solidFill>
                          <a:srgbClr val="0070C0"/>
                        </a:solidFill>
                      </a:endParaRPr>
                    </a:p>
                  </a:txBody>
                  <a:tcPr/>
                </a:tc>
                <a:tc>
                  <a:txBody>
                    <a:bodyPr/>
                    <a:lstStyle/>
                    <a:p>
                      <a:pPr algn="just"/>
                      <a:r>
                        <a:rPr lang="en-IN" sz="2000" dirty="0" smtClean="0"/>
                        <a:t>Regulates metabolism, growth, and development throughout the body. It influences cellular energy production, protein synthesis, organs &amp; tissue function. </a:t>
                      </a:r>
                      <a:r>
                        <a:rPr lang="en-IN" sz="2000" dirty="0" err="1" smtClean="0"/>
                        <a:t>Thyroxine</a:t>
                      </a:r>
                      <a:r>
                        <a:rPr lang="en-IN" sz="2000" dirty="0" smtClean="0"/>
                        <a:t> levels are crucial for maintaining metabolic balance and overall health.</a:t>
                      </a:r>
                      <a:endParaRPr lang="en-IN" sz="2000" dirty="0">
                        <a:solidFill>
                          <a:srgbClr val="0070C0"/>
                        </a:solidFill>
                      </a:endParaRPr>
                    </a:p>
                  </a:txBody>
                  <a:tcPr/>
                </a:tc>
                <a:tc>
                  <a:txBody>
                    <a:bodyPr/>
                    <a:lstStyle/>
                    <a:p>
                      <a:r>
                        <a:rPr lang="en-IN" sz="2000" dirty="0" smtClean="0"/>
                        <a:t>Thyroid gland </a:t>
                      </a:r>
                      <a:endParaRPr lang="en-IN" sz="2000" dirty="0"/>
                    </a:p>
                  </a:txBody>
                  <a:tcPr/>
                </a:tc>
                <a:tc>
                  <a:txBody>
                    <a:bodyPr/>
                    <a:lstStyle/>
                    <a:p>
                      <a:pPr algn="just"/>
                      <a:r>
                        <a:rPr lang="en-IN" sz="2000" dirty="0" smtClean="0"/>
                        <a:t>Cells </a:t>
                      </a:r>
                      <a:r>
                        <a:rPr lang="en-IN" sz="2000" dirty="0" smtClean="0"/>
                        <a:t>throughout the body </a:t>
                      </a:r>
                      <a:endParaRPr lang="en-IN" sz="2000" dirty="0">
                        <a:solidFill>
                          <a:srgbClr val="0070C0"/>
                        </a:solidFill>
                      </a:endParaRPr>
                    </a:p>
                  </a:txBody>
                  <a:tcPr/>
                </a:tc>
              </a:tr>
              <a:tr h="1905692">
                <a:tc>
                  <a:txBody>
                    <a:bodyPr/>
                    <a:lstStyle/>
                    <a:p>
                      <a:pPr algn="just"/>
                      <a:r>
                        <a:rPr lang="en-IN" sz="2000" dirty="0" err="1" smtClean="0"/>
                        <a:t>Cortisol</a:t>
                      </a:r>
                      <a:endParaRPr lang="en-IN" sz="2000" dirty="0">
                        <a:solidFill>
                          <a:srgbClr val="0070C0"/>
                        </a:solidFill>
                      </a:endParaRPr>
                    </a:p>
                  </a:txBody>
                  <a:tcPr/>
                </a:tc>
                <a:tc>
                  <a:txBody>
                    <a:bodyPr/>
                    <a:lstStyle/>
                    <a:p>
                      <a:pPr algn="just"/>
                      <a:r>
                        <a:rPr lang="en-IN" sz="2000" dirty="0" smtClean="0"/>
                        <a:t>Body's stress response, increases blood sugar levels, suppressing the immune system, and modulating metabolism. It also regulates inflammation, blood pressure, and the sleep-wake cycle. </a:t>
                      </a:r>
                      <a:r>
                        <a:rPr lang="en-IN" sz="2000" dirty="0" err="1" smtClean="0"/>
                        <a:t>Cortisol</a:t>
                      </a:r>
                      <a:r>
                        <a:rPr lang="en-IN" sz="2000" dirty="0" smtClean="0"/>
                        <a:t> helps the body cope with stress and maintain physiological equilibrium. </a:t>
                      </a:r>
                      <a:endParaRPr lang="en-IN" sz="2000" dirty="0">
                        <a:solidFill>
                          <a:srgbClr val="0070C0"/>
                        </a:solidFill>
                      </a:endParaRPr>
                    </a:p>
                  </a:txBody>
                  <a:tcPr/>
                </a:tc>
                <a:tc>
                  <a:txBody>
                    <a:bodyPr/>
                    <a:lstStyle/>
                    <a:p>
                      <a:pPr algn="just"/>
                      <a:r>
                        <a:rPr lang="en-IN" sz="2000" dirty="0" smtClean="0"/>
                        <a:t>Adrenal glands (specifically the adrenal cortex) </a:t>
                      </a:r>
                      <a:endParaRPr lang="en-IN" sz="2800" dirty="0">
                        <a:solidFill>
                          <a:srgbClr val="0070C0"/>
                        </a:solidFill>
                      </a:endParaRPr>
                    </a:p>
                  </a:txBody>
                  <a:tcPr/>
                </a:tc>
                <a:tc>
                  <a:txBody>
                    <a:bodyPr/>
                    <a:lstStyle/>
                    <a:p>
                      <a:pPr algn="ctr"/>
                      <a:r>
                        <a:rPr lang="en-IN" sz="2000" dirty="0" smtClean="0"/>
                        <a:t>Liver, muscle, immune cells</a:t>
                      </a:r>
                      <a:endParaRPr lang="en-IN" sz="2000" dirty="0" smtClean="0">
                        <a:solidFill>
                          <a:srgbClr val="0070C0"/>
                        </a:solidFill>
                      </a:endParaRPr>
                    </a:p>
                  </a:txBody>
                  <a:tcPr/>
                </a:tc>
              </a:tr>
              <a:tr h="2592878">
                <a:tc>
                  <a:txBody>
                    <a:bodyPr/>
                    <a:lstStyle/>
                    <a:p>
                      <a:pPr algn="just"/>
                      <a:r>
                        <a:rPr lang="en-IN" sz="2000" dirty="0" smtClean="0"/>
                        <a:t>Growth Hormone </a:t>
                      </a:r>
                      <a:endParaRPr lang="en-IN" sz="2000" dirty="0">
                        <a:solidFill>
                          <a:srgbClr val="0070C0"/>
                        </a:solidFill>
                      </a:endParaRPr>
                    </a:p>
                  </a:txBody>
                  <a:tcPr/>
                </a:tc>
                <a:tc>
                  <a:txBody>
                    <a:bodyPr/>
                    <a:lstStyle/>
                    <a:p>
                      <a:pPr algn="just"/>
                      <a:r>
                        <a:rPr lang="en-IN" sz="2000" dirty="0" smtClean="0"/>
                        <a:t>Growth hormone</a:t>
                      </a:r>
                      <a:r>
                        <a:rPr lang="en-IN" sz="2000" baseline="0" dirty="0" smtClean="0"/>
                        <a:t> stimulate growth, cell </a:t>
                      </a:r>
                      <a:r>
                        <a:rPr lang="en-IN" sz="2000" dirty="0" smtClean="0"/>
                        <a:t>reproduction, and regeneration. It promotes the growth of bones, muscles, and other tissues, as well as supporting protein synthesis, fat metabolism, and the utilization of nutrients for energy production. Growth hormone is crucial for growth and maintenance of tissues throughout life.</a:t>
                      </a:r>
                      <a:endParaRPr lang="en-IN" sz="2000" dirty="0">
                        <a:solidFill>
                          <a:srgbClr val="0070C0"/>
                        </a:solidFill>
                      </a:endParaRPr>
                    </a:p>
                  </a:txBody>
                  <a:tcPr/>
                </a:tc>
                <a:tc>
                  <a:txBody>
                    <a:bodyPr/>
                    <a:lstStyle/>
                    <a:p>
                      <a:pPr algn="just"/>
                      <a:r>
                        <a:rPr lang="en-IN" sz="2000" dirty="0" smtClean="0"/>
                        <a:t>Anterior pituitary gland</a:t>
                      </a:r>
                      <a:endParaRPr lang="en-IN" sz="2000" dirty="0">
                        <a:solidFill>
                          <a:srgbClr val="0070C0"/>
                        </a:solidFill>
                      </a:endParaRPr>
                    </a:p>
                  </a:txBody>
                  <a:tcPr/>
                </a:tc>
                <a:tc>
                  <a:txBody>
                    <a:bodyPr/>
                    <a:lstStyle/>
                    <a:p>
                      <a:pPr algn="just"/>
                      <a:r>
                        <a:rPr lang="en-IN" sz="2000" dirty="0" smtClean="0"/>
                        <a:t>Bones, muscles, and tissues throughout the body</a:t>
                      </a:r>
                      <a:endParaRPr lang="en-IN" sz="2000" dirty="0" smtClean="0">
                        <a:solidFill>
                          <a:srgbClr val="0070C0"/>
                        </a:solidFill>
                      </a:endParaRPr>
                    </a:p>
                  </a:txBody>
                  <a:tcP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9144000" cy="6883363"/>
        </p:xfrm>
        <a:graphic>
          <a:graphicData uri="http://schemas.openxmlformats.org/drawingml/2006/table">
            <a:tbl>
              <a:tblPr firstRow="1" bandRow="1">
                <a:tableStyleId>{5940675A-B579-460E-94D1-54222C63F5DA}</a:tableStyleId>
              </a:tblPr>
              <a:tblGrid>
                <a:gridCol w="1428728"/>
                <a:gridCol w="4929222"/>
                <a:gridCol w="1428759"/>
                <a:gridCol w="1357291"/>
              </a:tblGrid>
              <a:tr h="513043">
                <a:tc>
                  <a:txBody>
                    <a:bodyPr/>
                    <a:lstStyle/>
                    <a:p>
                      <a:pPr algn="ctr"/>
                      <a:r>
                        <a:rPr lang="en-IN" sz="2400" dirty="0" smtClean="0">
                          <a:solidFill>
                            <a:srgbClr val="0070C0"/>
                          </a:solidFill>
                        </a:rPr>
                        <a:t>Hormone </a:t>
                      </a:r>
                      <a:endParaRPr lang="en-IN" sz="2400" dirty="0">
                        <a:solidFill>
                          <a:srgbClr val="0070C0"/>
                        </a:solidFill>
                      </a:endParaRPr>
                    </a:p>
                  </a:txBody>
                  <a:tcPr/>
                </a:tc>
                <a:tc>
                  <a:txBody>
                    <a:bodyPr/>
                    <a:lstStyle/>
                    <a:p>
                      <a:pPr algn="ctr"/>
                      <a:r>
                        <a:rPr lang="en-IN" sz="2400" dirty="0" smtClean="0">
                          <a:solidFill>
                            <a:srgbClr val="0070C0"/>
                          </a:solidFill>
                        </a:rPr>
                        <a:t>Function</a:t>
                      </a:r>
                      <a:endParaRPr lang="en-IN" sz="2400" dirty="0">
                        <a:solidFill>
                          <a:srgbClr val="0070C0"/>
                        </a:solidFill>
                      </a:endParaRPr>
                    </a:p>
                  </a:txBody>
                  <a:tcPr/>
                </a:tc>
                <a:tc>
                  <a:txBody>
                    <a:bodyPr/>
                    <a:lstStyle/>
                    <a:p>
                      <a:pPr algn="ctr"/>
                      <a:r>
                        <a:rPr lang="en-IN" sz="2400" dirty="0" smtClean="0">
                          <a:solidFill>
                            <a:srgbClr val="0070C0"/>
                          </a:solidFill>
                        </a:rPr>
                        <a:t>Origin </a:t>
                      </a:r>
                      <a:endParaRPr lang="en-IN" sz="2400" dirty="0">
                        <a:solidFill>
                          <a:srgbClr val="0070C0"/>
                        </a:solidFill>
                      </a:endParaRPr>
                    </a:p>
                  </a:txBody>
                  <a:tcPr/>
                </a:tc>
                <a:tc>
                  <a:txBody>
                    <a:bodyPr/>
                    <a:lstStyle/>
                    <a:p>
                      <a:pPr algn="ctr"/>
                      <a:r>
                        <a:rPr lang="en-IN" sz="2400" dirty="0" smtClean="0">
                          <a:solidFill>
                            <a:srgbClr val="0070C0"/>
                          </a:solidFill>
                        </a:rPr>
                        <a:t>Target</a:t>
                      </a:r>
                    </a:p>
                  </a:txBody>
                  <a:tcPr/>
                </a:tc>
              </a:tr>
              <a:tr h="2487329">
                <a:tc>
                  <a:txBody>
                    <a:bodyPr/>
                    <a:lstStyle/>
                    <a:p>
                      <a:pPr algn="just"/>
                      <a:r>
                        <a:rPr lang="en-IN" sz="2000" dirty="0" smtClean="0"/>
                        <a:t>Progesterone </a:t>
                      </a:r>
                      <a:endParaRPr lang="en-IN" sz="2000" dirty="0">
                        <a:solidFill>
                          <a:srgbClr val="0070C0"/>
                        </a:solidFill>
                      </a:endParaRPr>
                    </a:p>
                  </a:txBody>
                  <a:tcPr/>
                </a:tc>
                <a:tc>
                  <a:txBody>
                    <a:bodyPr/>
                    <a:lstStyle/>
                    <a:p>
                      <a:pPr algn="just"/>
                      <a:r>
                        <a:rPr lang="en-IN" sz="2000" dirty="0" smtClean="0"/>
                        <a:t>Critical role in the menstrual cycle, pregnancy, and embryonic development. It prepares the uterus for implantation and maintains the uterine lining during pregnancy, supporting </a:t>
                      </a:r>
                      <a:r>
                        <a:rPr lang="en-IN" sz="2000" dirty="0" err="1" smtClean="0"/>
                        <a:t>fetal</a:t>
                      </a:r>
                      <a:r>
                        <a:rPr lang="en-IN" sz="2000" dirty="0" smtClean="0"/>
                        <a:t> growth and development. Progesterone is essential for reproductive health and successful pregnancy.</a:t>
                      </a:r>
                      <a:endParaRPr lang="en-IN" sz="2000" dirty="0">
                        <a:solidFill>
                          <a:srgbClr val="0070C0"/>
                        </a:solidFill>
                      </a:endParaRPr>
                    </a:p>
                  </a:txBody>
                  <a:tcPr/>
                </a:tc>
                <a:tc>
                  <a:txBody>
                    <a:bodyPr/>
                    <a:lstStyle/>
                    <a:p>
                      <a:pPr algn="just"/>
                      <a:r>
                        <a:rPr lang="en-IN" sz="2000" dirty="0" smtClean="0"/>
                        <a:t>Ovaries (mainly), adrenal glands, placenta (during pregnancy)</a:t>
                      </a:r>
                      <a:endParaRPr lang="en-IN" sz="2000" dirty="0">
                        <a:solidFill>
                          <a:srgbClr val="0070C0"/>
                        </a:solidFill>
                      </a:endParaRPr>
                    </a:p>
                  </a:txBody>
                  <a:tcPr/>
                </a:tc>
                <a:tc>
                  <a:txBody>
                    <a:bodyPr/>
                    <a:lstStyle/>
                    <a:p>
                      <a:pPr algn="just"/>
                      <a:r>
                        <a:rPr lang="en-IN" sz="2000" dirty="0" smtClean="0"/>
                        <a:t>Reproductive organs, uterus, placenta (during pregnancy) </a:t>
                      </a:r>
                      <a:endParaRPr lang="en-IN" sz="2000" dirty="0" smtClean="0">
                        <a:solidFill>
                          <a:srgbClr val="0070C0"/>
                        </a:solidFill>
                      </a:endParaRPr>
                    </a:p>
                  </a:txBody>
                  <a:tcPr/>
                </a:tc>
              </a:tr>
              <a:tr h="2100629">
                <a:tc>
                  <a:txBody>
                    <a:bodyPr/>
                    <a:lstStyle/>
                    <a:p>
                      <a:pPr algn="just"/>
                      <a:r>
                        <a:rPr lang="en-IN" sz="2000" dirty="0" err="1" smtClean="0"/>
                        <a:t>Auxins</a:t>
                      </a:r>
                      <a:endParaRPr lang="en-IN" sz="2000" dirty="0">
                        <a:solidFill>
                          <a:srgbClr val="0070C0"/>
                        </a:solidFill>
                      </a:endParaRPr>
                    </a:p>
                  </a:txBody>
                  <a:tcPr/>
                </a:tc>
                <a:tc>
                  <a:txBody>
                    <a:bodyPr/>
                    <a:lstStyle/>
                    <a:p>
                      <a:pPr algn="just"/>
                      <a:r>
                        <a:rPr lang="en-IN" sz="2000" dirty="0" err="1" smtClean="0"/>
                        <a:t>Auxins</a:t>
                      </a:r>
                      <a:r>
                        <a:rPr lang="en-IN" sz="2000" dirty="0" smtClean="0"/>
                        <a:t> regulate plant growth and development, including cell elongation, apical dominance, and root formation. They also influence tropic responses such as phototropism and </a:t>
                      </a:r>
                      <a:r>
                        <a:rPr lang="en-IN" sz="2000" dirty="0" err="1" smtClean="0"/>
                        <a:t>gravitropism</a:t>
                      </a:r>
                      <a:r>
                        <a:rPr lang="en-IN" sz="2000" dirty="0" smtClean="0"/>
                        <a:t>. </a:t>
                      </a:r>
                      <a:endParaRPr lang="en-IN" sz="2000" dirty="0">
                        <a:solidFill>
                          <a:srgbClr val="0070C0"/>
                        </a:solidFill>
                      </a:endParaRPr>
                    </a:p>
                  </a:txBody>
                  <a:tcPr/>
                </a:tc>
                <a:tc>
                  <a:txBody>
                    <a:bodyPr/>
                    <a:lstStyle/>
                    <a:p>
                      <a:pPr algn="just"/>
                      <a:r>
                        <a:rPr lang="en-IN" sz="2000" dirty="0" smtClean="0"/>
                        <a:t>Shoot apical </a:t>
                      </a:r>
                      <a:r>
                        <a:rPr lang="en-IN" sz="2000" dirty="0" err="1" smtClean="0"/>
                        <a:t>meristems</a:t>
                      </a:r>
                      <a:r>
                        <a:rPr lang="en-IN" sz="2000" dirty="0" smtClean="0"/>
                        <a:t>, young leaves, seeds.</a:t>
                      </a:r>
                      <a:endParaRPr lang="en-IN" sz="2000" dirty="0">
                        <a:solidFill>
                          <a:srgbClr val="0070C0"/>
                        </a:solidFill>
                      </a:endParaRPr>
                    </a:p>
                  </a:txBody>
                  <a:tcPr/>
                </a:tc>
                <a:tc>
                  <a:txBody>
                    <a:bodyPr/>
                    <a:lstStyle/>
                    <a:p>
                      <a:pPr algn="just"/>
                      <a:r>
                        <a:rPr lang="en-IN" sz="2000" dirty="0" smtClean="0"/>
                        <a:t>Various plant tissues, including stems, roots, and leaves .</a:t>
                      </a:r>
                      <a:endParaRPr lang="en-IN" sz="2000" dirty="0" smtClean="0">
                        <a:solidFill>
                          <a:srgbClr val="0070C0"/>
                        </a:solidFill>
                      </a:endParaRPr>
                    </a:p>
                  </a:txBody>
                  <a:tcPr/>
                </a:tc>
              </a:tr>
              <a:tr h="1518663">
                <a:tc>
                  <a:txBody>
                    <a:bodyPr/>
                    <a:lstStyle/>
                    <a:p>
                      <a:pPr algn="just"/>
                      <a:r>
                        <a:rPr lang="en-IN" sz="2000" dirty="0" smtClean="0"/>
                        <a:t>Gibberellins </a:t>
                      </a:r>
                      <a:endParaRPr lang="en-IN" sz="2000" dirty="0">
                        <a:solidFill>
                          <a:srgbClr val="0070C0"/>
                        </a:solidFill>
                      </a:endParaRPr>
                    </a:p>
                  </a:txBody>
                  <a:tcPr/>
                </a:tc>
                <a:tc>
                  <a:txBody>
                    <a:bodyPr/>
                    <a:lstStyle/>
                    <a:p>
                      <a:pPr algn="just"/>
                      <a:r>
                        <a:rPr lang="en-IN" sz="2000" dirty="0" smtClean="0"/>
                        <a:t>Gibberellins promote stem elongation, seed germination, and flowering in plants. They also regulate fruit and leaf growth and influence responses to environmental stimuli such as light and temperature changes.</a:t>
                      </a:r>
                      <a:endParaRPr lang="en-IN" sz="2000" dirty="0">
                        <a:solidFill>
                          <a:srgbClr val="0070C0"/>
                        </a:solidFill>
                      </a:endParaRPr>
                    </a:p>
                  </a:txBody>
                  <a:tcPr/>
                </a:tc>
                <a:tc>
                  <a:txBody>
                    <a:bodyPr/>
                    <a:lstStyle/>
                    <a:p>
                      <a:pPr algn="just"/>
                      <a:r>
                        <a:rPr lang="en-IN" sz="2000" dirty="0" smtClean="0"/>
                        <a:t>Shoot apical </a:t>
                      </a:r>
                      <a:r>
                        <a:rPr lang="en-IN" sz="2000" dirty="0" err="1" smtClean="0"/>
                        <a:t>meristems</a:t>
                      </a:r>
                      <a:r>
                        <a:rPr lang="en-IN" sz="2000" dirty="0" smtClean="0"/>
                        <a:t>, young leaves</a:t>
                      </a:r>
                      <a:endParaRPr lang="en-IN" sz="2000" dirty="0">
                        <a:solidFill>
                          <a:srgbClr val="0070C0"/>
                        </a:solidFill>
                      </a:endParaRPr>
                    </a:p>
                  </a:txBody>
                  <a:tcPr/>
                </a:tc>
                <a:tc>
                  <a:txBody>
                    <a:bodyPr/>
                    <a:lstStyle/>
                    <a:p>
                      <a:pPr algn="just"/>
                      <a:r>
                        <a:rPr lang="en-IN" sz="2000" dirty="0" smtClean="0"/>
                        <a:t>Stem and leaf tissues, seeds, and fruit </a:t>
                      </a:r>
                      <a:endParaRPr lang="en-IN" sz="2000" dirty="0" smtClean="0">
                        <a:solidFill>
                          <a:srgbClr val="0070C0"/>
                        </a:solidFill>
                      </a:endParaRPr>
                    </a:p>
                  </a:txBody>
                  <a:tcPr/>
                </a:tc>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9144000" cy="6858001"/>
        </p:xfrm>
        <a:graphic>
          <a:graphicData uri="http://schemas.openxmlformats.org/drawingml/2006/table">
            <a:tbl>
              <a:tblPr firstRow="1" bandRow="1">
                <a:tableStyleId>{5940675A-B579-460E-94D1-54222C63F5DA}</a:tableStyleId>
              </a:tblPr>
              <a:tblGrid>
                <a:gridCol w="1428728"/>
                <a:gridCol w="4929222"/>
                <a:gridCol w="1428759"/>
                <a:gridCol w="1357291"/>
              </a:tblGrid>
              <a:tr h="607958">
                <a:tc>
                  <a:txBody>
                    <a:bodyPr/>
                    <a:lstStyle/>
                    <a:p>
                      <a:pPr algn="ctr"/>
                      <a:r>
                        <a:rPr lang="en-IN" sz="2400" dirty="0" smtClean="0">
                          <a:solidFill>
                            <a:srgbClr val="0070C0"/>
                          </a:solidFill>
                        </a:rPr>
                        <a:t>Hormone </a:t>
                      </a:r>
                      <a:endParaRPr lang="en-IN" sz="2400" dirty="0">
                        <a:solidFill>
                          <a:srgbClr val="0070C0"/>
                        </a:solidFill>
                      </a:endParaRPr>
                    </a:p>
                  </a:txBody>
                  <a:tcPr/>
                </a:tc>
                <a:tc>
                  <a:txBody>
                    <a:bodyPr/>
                    <a:lstStyle/>
                    <a:p>
                      <a:pPr algn="ctr"/>
                      <a:r>
                        <a:rPr lang="en-IN" sz="2400" dirty="0" smtClean="0">
                          <a:solidFill>
                            <a:srgbClr val="0070C0"/>
                          </a:solidFill>
                        </a:rPr>
                        <a:t>Function</a:t>
                      </a:r>
                      <a:endParaRPr lang="en-IN" sz="2400" dirty="0">
                        <a:solidFill>
                          <a:srgbClr val="0070C0"/>
                        </a:solidFill>
                      </a:endParaRPr>
                    </a:p>
                  </a:txBody>
                  <a:tcPr/>
                </a:tc>
                <a:tc>
                  <a:txBody>
                    <a:bodyPr/>
                    <a:lstStyle/>
                    <a:p>
                      <a:pPr algn="ctr"/>
                      <a:r>
                        <a:rPr lang="en-IN" sz="2400" dirty="0" smtClean="0">
                          <a:solidFill>
                            <a:srgbClr val="0070C0"/>
                          </a:solidFill>
                        </a:rPr>
                        <a:t>Origin </a:t>
                      </a:r>
                      <a:endParaRPr lang="en-IN" sz="2400" dirty="0">
                        <a:solidFill>
                          <a:srgbClr val="0070C0"/>
                        </a:solidFill>
                      </a:endParaRPr>
                    </a:p>
                  </a:txBody>
                  <a:tcPr/>
                </a:tc>
                <a:tc>
                  <a:txBody>
                    <a:bodyPr/>
                    <a:lstStyle/>
                    <a:p>
                      <a:pPr algn="ctr"/>
                      <a:r>
                        <a:rPr lang="en-IN" sz="2400" dirty="0" smtClean="0">
                          <a:solidFill>
                            <a:srgbClr val="0070C0"/>
                          </a:solidFill>
                        </a:rPr>
                        <a:t>Target</a:t>
                      </a:r>
                    </a:p>
                  </a:txBody>
                  <a:tcPr/>
                </a:tc>
              </a:tr>
              <a:tr h="2042811">
                <a:tc>
                  <a:txBody>
                    <a:bodyPr/>
                    <a:lstStyle/>
                    <a:p>
                      <a:pPr algn="just"/>
                      <a:r>
                        <a:rPr lang="en-IN" sz="2000" dirty="0" err="1" smtClean="0"/>
                        <a:t>Cytokinins</a:t>
                      </a:r>
                      <a:endParaRPr lang="en-IN" sz="2000" dirty="0">
                        <a:solidFill>
                          <a:srgbClr val="0070C0"/>
                        </a:solidFill>
                      </a:endParaRPr>
                    </a:p>
                  </a:txBody>
                  <a:tcPr/>
                </a:tc>
                <a:tc>
                  <a:txBody>
                    <a:bodyPr/>
                    <a:lstStyle/>
                    <a:p>
                      <a:pPr algn="just"/>
                      <a:r>
                        <a:rPr lang="en-IN" sz="2000" dirty="0" err="1" smtClean="0"/>
                        <a:t>Cytokinins</a:t>
                      </a:r>
                      <a:r>
                        <a:rPr lang="en-IN" sz="2000" dirty="0" smtClean="0"/>
                        <a:t> regulate cell division and differentiation in plants, promoting shoot and root growth, and delaying senescence. They also influence apical dominance, leaf expansion, and nutrient uptake.</a:t>
                      </a:r>
                      <a:endParaRPr lang="en-IN" sz="2000" dirty="0">
                        <a:solidFill>
                          <a:srgbClr val="0070C0"/>
                        </a:solidFill>
                      </a:endParaRPr>
                    </a:p>
                  </a:txBody>
                  <a:tcPr/>
                </a:tc>
                <a:tc>
                  <a:txBody>
                    <a:bodyPr/>
                    <a:lstStyle/>
                    <a:p>
                      <a:pPr algn="just"/>
                      <a:r>
                        <a:rPr lang="en-IN" sz="2000" dirty="0" smtClean="0"/>
                        <a:t>Root apical </a:t>
                      </a:r>
                      <a:r>
                        <a:rPr lang="en-IN" sz="2000" dirty="0" err="1" smtClean="0"/>
                        <a:t>meristems</a:t>
                      </a:r>
                      <a:r>
                        <a:rPr lang="en-IN" sz="2000" dirty="0" smtClean="0"/>
                        <a:t>, developing seeds, young fruits.</a:t>
                      </a:r>
                      <a:endParaRPr lang="en-IN" sz="2000" dirty="0">
                        <a:solidFill>
                          <a:srgbClr val="0070C0"/>
                        </a:solidFill>
                      </a:endParaRPr>
                    </a:p>
                  </a:txBody>
                  <a:tcPr/>
                </a:tc>
                <a:tc>
                  <a:txBody>
                    <a:bodyPr/>
                    <a:lstStyle/>
                    <a:p>
                      <a:pPr algn="just"/>
                      <a:r>
                        <a:rPr lang="en-IN" sz="2000" dirty="0" smtClean="0"/>
                        <a:t>Shoot and root </a:t>
                      </a:r>
                      <a:r>
                        <a:rPr lang="en-IN" sz="2000" dirty="0" err="1" smtClean="0"/>
                        <a:t>meristems</a:t>
                      </a:r>
                      <a:r>
                        <a:rPr lang="en-IN" sz="2000" dirty="0" smtClean="0"/>
                        <a:t>, leaves, and developing organ.</a:t>
                      </a:r>
                      <a:endParaRPr lang="en-IN" sz="2000" dirty="0" smtClean="0">
                        <a:solidFill>
                          <a:srgbClr val="0070C0"/>
                        </a:solidFill>
                      </a:endParaRPr>
                    </a:p>
                  </a:txBody>
                  <a:tcPr/>
                </a:tc>
              </a:tr>
              <a:tr h="1840166">
                <a:tc>
                  <a:txBody>
                    <a:bodyPr/>
                    <a:lstStyle/>
                    <a:p>
                      <a:pPr algn="just"/>
                      <a:r>
                        <a:rPr lang="en-IN" sz="2000" dirty="0" err="1" smtClean="0"/>
                        <a:t>Abscisic</a:t>
                      </a:r>
                      <a:r>
                        <a:rPr lang="en-IN" sz="2000" dirty="0" smtClean="0"/>
                        <a:t> acid</a:t>
                      </a:r>
                      <a:endParaRPr lang="en-IN" sz="2000" dirty="0">
                        <a:solidFill>
                          <a:srgbClr val="0070C0"/>
                        </a:solidFill>
                      </a:endParaRPr>
                    </a:p>
                  </a:txBody>
                  <a:tcPr/>
                </a:tc>
                <a:tc>
                  <a:txBody>
                    <a:bodyPr/>
                    <a:lstStyle/>
                    <a:p>
                      <a:pPr algn="just"/>
                      <a:r>
                        <a:rPr lang="en-IN" sz="2000" dirty="0" err="1" smtClean="0"/>
                        <a:t>Abscisic</a:t>
                      </a:r>
                      <a:r>
                        <a:rPr lang="en-IN" sz="2000" dirty="0" smtClean="0"/>
                        <a:t> acid (ABA) regulates plant responses to environmental stressors such as drought, salinity, and cold temperatures. It promotes </a:t>
                      </a:r>
                      <a:r>
                        <a:rPr lang="en-IN" sz="2000" dirty="0" err="1" smtClean="0"/>
                        <a:t>stomatal</a:t>
                      </a:r>
                      <a:r>
                        <a:rPr lang="en-IN" sz="2000" dirty="0" smtClean="0"/>
                        <a:t> closure, inhibits seed germination, and induces dormancy in buds and seeds.</a:t>
                      </a:r>
                      <a:endParaRPr lang="en-IN" sz="2000" dirty="0">
                        <a:solidFill>
                          <a:srgbClr val="0070C0"/>
                        </a:solidFill>
                      </a:endParaRPr>
                    </a:p>
                  </a:txBody>
                  <a:tcPr/>
                </a:tc>
                <a:tc>
                  <a:txBody>
                    <a:bodyPr/>
                    <a:lstStyle/>
                    <a:p>
                      <a:pPr algn="just"/>
                      <a:r>
                        <a:rPr lang="en-IN" sz="2000" dirty="0" smtClean="0"/>
                        <a:t>Leaves, stems, roots, and seeds </a:t>
                      </a:r>
                      <a:endParaRPr lang="en-IN" sz="2000" dirty="0">
                        <a:solidFill>
                          <a:srgbClr val="0070C0"/>
                        </a:solidFill>
                      </a:endParaRPr>
                    </a:p>
                  </a:txBody>
                  <a:tcPr/>
                </a:tc>
                <a:tc>
                  <a:txBody>
                    <a:bodyPr/>
                    <a:lstStyle/>
                    <a:p>
                      <a:pPr algn="just"/>
                      <a:r>
                        <a:rPr lang="en-IN" sz="2000" dirty="0" smtClean="0"/>
                        <a:t>Guard cells, seeds, and buds </a:t>
                      </a:r>
                      <a:endParaRPr lang="en-IN" sz="2000" dirty="0" smtClean="0">
                        <a:solidFill>
                          <a:srgbClr val="0070C0"/>
                        </a:solidFill>
                      </a:endParaRPr>
                    </a:p>
                  </a:txBody>
                  <a:tcPr/>
                </a:tc>
              </a:tr>
              <a:tr h="2367066">
                <a:tc>
                  <a:txBody>
                    <a:bodyPr/>
                    <a:lstStyle/>
                    <a:p>
                      <a:pPr algn="just"/>
                      <a:r>
                        <a:rPr lang="en-IN" sz="2000" dirty="0" smtClean="0"/>
                        <a:t>Ethylene</a:t>
                      </a:r>
                      <a:endParaRPr lang="en-IN" sz="2000" dirty="0">
                        <a:solidFill>
                          <a:srgbClr val="0070C0"/>
                        </a:solidFill>
                      </a:endParaRPr>
                    </a:p>
                  </a:txBody>
                  <a:tcPr/>
                </a:tc>
                <a:tc>
                  <a:txBody>
                    <a:bodyPr/>
                    <a:lstStyle/>
                    <a:p>
                      <a:pPr algn="just"/>
                      <a:r>
                        <a:rPr lang="en-IN" sz="2000" dirty="0" smtClean="0"/>
                        <a:t> Ethylene</a:t>
                      </a:r>
                      <a:r>
                        <a:rPr lang="en-IN" sz="2000" baseline="0" dirty="0" smtClean="0"/>
                        <a:t> is involved in various aspects of plant growth and development, including fruit </a:t>
                      </a:r>
                      <a:r>
                        <a:rPr lang="en-IN" sz="2000" dirty="0" smtClean="0"/>
                        <a:t>ripening, leaf senescence, and abscission (shedding of leaves and fruits). It also regulates responses to mechanical stress.</a:t>
                      </a:r>
                      <a:endParaRPr lang="en-IN" sz="2000" dirty="0">
                        <a:solidFill>
                          <a:srgbClr val="0070C0"/>
                        </a:solidFill>
                      </a:endParaRPr>
                    </a:p>
                  </a:txBody>
                  <a:tcPr/>
                </a:tc>
                <a:tc>
                  <a:txBody>
                    <a:bodyPr/>
                    <a:lstStyle/>
                    <a:p>
                      <a:pPr algn="just"/>
                      <a:r>
                        <a:rPr lang="en-IN" sz="2000" dirty="0" smtClean="0"/>
                        <a:t>Ripening fruits aging leaves, and nodes of stems </a:t>
                      </a:r>
                      <a:endParaRPr lang="en-IN" sz="2000" dirty="0">
                        <a:solidFill>
                          <a:srgbClr val="0070C0"/>
                        </a:solidFill>
                      </a:endParaRPr>
                    </a:p>
                  </a:txBody>
                  <a:tcPr/>
                </a:tc>
                <a:tc>
                  <a:txBody>
                    <a:bodyPr/>
                    <a:lstStyle/>
                    <a:p>
                      <a:pPr algn="just"/>
                      <a:r>
                        <a:rPr lang="en-IN" sz="2000" dirty="0" smtClean="0"/>
                        <a:t>Various</a:t>
                      </a:r>
                      <a:r>
                        <a:rPr lang="en-IN" sz="2000" baseline="0" dirty="0" smtClean="0"/>
                        <a:t> plant tissue </a:t>
                      </a:r>
                      <a:r>
                        <a:rPr lang="en-IN" sz="2000" dirty="0" smtClean="0"/>
                        <a:t>including fruit, leaves, and roots</a:t>
                      </a:r>
                      <a:endParaRPr lang="en-IN" sz="2000" dirty="0" smtClean="0">
                        <a:solidFill>
                          <a:srgbClr val="0070C0"/>
                        </a:solidFill>
                      </a:endParaRPr>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4710</TotalTime>
  <Words>6068</Words>
  <Application>Microsoft Office PowerPoint</Application>
  <PresentationFormat>On-screen Show (4:3)</PresentationFormat>
  <Paragraphs>466</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BIOLOGY FOR ENGINEERS MODULE -I</vt:lpstr>
      <vt:lpstr>STRUCTURE AND FUNCTIONS OF A CELL</vt:lpstr>
      <vt:lpstr>Slide 3</vt:lpstr>
      <vt:lpstr>Functions:</vt:lpstr>
      <vt:lpstr>Slide 5</vt:lpstr>
      <vt:lpstr>Slide 6</vt:lpstr>
      <vt:lpstr>Prokaryotic and Eukaryotic cell</vt:lpstr>
      <vt:lpstr>Slide 8</vt:lpstr>
      <vt:lpstr>Stem Cells and their Application </vt:lpstr>
      <vt:lpstr>Applications</vt:lpstr>
      <vt:lpstr>6.Personalized Medicine</vt:lpstr>
      <vt:lpstr>Introduction and Importance of Biomolecules</vt:lpstr>
      <vt:lpstr>Carbohydrates</vt:lpstr>
      <vt:lpstr>Disaccharides   </vt:lpstr>
      <vt:lpstr>Polysaccharides</vt:lpstr>
      <vt:lpstr>Industrial Applications of Carbohydrates </vt:lpstr>
      <vt:lpstr>Nucleic Acids</vt:lpstr>
      <vt:lpstr>Slide 18</vt:lpstr>
      <vt:lpstr>Proteins </vt:lpstr>
      <vt:lpstr>Non-Essential Amino Acids (11):  1. Alanine  2. Arginine  3. Asparagine  4. Aspartic Acid  5. Cysteine  6. Glutamic Acid  7. Glutamine  8. Glycine  9. Proline  10. Serine  11. Tyrosine  Essential amino acids cannot be synthesized by the body and must be obtained through the diet, while non-essential amino acids can be synthesized by the body.</vt:lpstr>
      <vt:lpstr>Lipids</vt:lpstr>
      <vt:lpstr>Slide 22</vt:lpstr>
      <vt:lpstr>Properties and Functions of Carbohydrates</vt:lpstr>
      <vt:lpstr>Functions</vt:lpstr>
      <vt:lpstr>6. Metabolic Regulation:   </vt:lpstr>
      <vt:lpstr>4.Double Helix (DNA): </vt:lpstr>
      <vt:lpstr>9. Essential for Heredity:</vt:lpstr>
      <vt:lpstr>4.Hereditary Transmission:</vt:lpstr>
      <vt:lpstr>Properties and Functions of Proteins</vt:lpstr>
      <vt:lpstr>6. Biological Functions:</vt:lpstr>
      <vt:lpstr>Functions of Proteins with Examples</vt:lpstr>
      <vt:lpstr>7. Hormonal Regulation:</vt:lpstr>
      <vt:lpstr>Properties of Lipids</vt:lpstr>
      <vt:lpstr>4.Energy Storage</vt:lpstr>
      <vt:lpstr>Functions of Lipids</vt:lpstr>
      <vt:lpstr>4.Cell Signaling </vt:lpstr>
      <vt:lpstr>ENZYMES </vt:lpstr>
      <vt:lpstr>Hydrolases</vt:lpstr>
      <vt:lpstr>Properties of Enzymes</vt:lpstr>
      <vt:lpstr>Reusability</vt:lpstr>
      <vt:lpstr>Functions of Enzymes</vt:lpstr>
      <vt:lpstr>Metabolic Pathways</vt:lpstr>
      <vt:lpstr>Digestion </vt:lpstr>
      <vt:lpstr>Slide 44</vt:lpstr>
      <vt:lpstr>Slide 45</vt:lpstr>
      <vt:lpstr>Slide 46</vt:lpstr>
      <vt:lpstr>Slide 47</vt:lpstr>
      <vt:lpstr>HORMONES </vt:lpstr>
      <vt:lpstr>Slide 49</vt:lpstr>
      <vt:lpstr>Slide 50</vt:lpstr>
      <vt:lpstr>Slide 51</vt:lpstr>
      <vt:lpstr>Slide 52</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FOR ENGINEERS MODULE -I</dc:title>
  <dc:creator>srina</dc:creator>
  <cp:lastModifiedBy>srina</cp:lastModifiedBy>
  <cp:revision>30</cp:revision>
  <dcterms:created xsi:type="dcterms:W3CDTF">2024-05-03T06:03:48Z</dcterms:created>
  <dcterms:modified xsi:type="dcterms:W3CDTF">2024-05-22T06:07:30Z</dcterms:modified>
</cp:coreProperties>
</file>